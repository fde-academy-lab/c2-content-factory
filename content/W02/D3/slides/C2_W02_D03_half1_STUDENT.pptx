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the marketing lead's words aloud and leave them up. Marketing now works with</a:t>
            </a:r>
          </a:p>
          <a:p>
            <a:r>
              <a:t>the data team, and today's ask has three parts: a protect list per segment, a flag on falling</a:t>
            </a:r>
          </a:p>
          <a:p>
            <a:r>
              <a:t>spend, and Meera's plan line. The day asks one question and climbs it in six chapters: which</a:t>
            </a:r>
          </a:p>
          <a:p>
            <a:r>
              <a:t>members should Marketing protect before they drift, and is Q2 on track against the plan line? Five</a:t>
            </a:r>
          </a:p>
          <a:p>
            <a:r>
              <a:t>chapters run this morning and the sixth after lunch. Then the ladder.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day's question, then the six chapter questions in order: each is the</a:t>
            </a:r>
          </a:p>
          <a:p>
            <a:r>
              <a:t>question the answer before it raises, and each chapter closes on its own answer with a number.</a:t>
            </a:r>
          </a:p>
          <a:p>
            <a:r>
              <a:t>Chapter 6 runs after lunch, before the afternoon's tentative IITGN block. Then who is asking.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head of Retail-Plus's words: "Ties matter. If two members spent the</a:t>
            </a:r>
          </a:p>
          <a:p>
            <a:r>
              <a:t>same, I want them ranked the same, and I want to know how many made the top fifty, not forty-nine</a:t>
            </a:r>
          </a:p>
          <a:p>
            <a:r>
              <a:t>because of a tie." Q2 is July to September 2026. Revenue today is booked revenue, every order at</a:t>
            </a:r>
          </a:p>
          <a:p>
            <a:r>
              <a:t>its amount whatever its status, which is how Monday's suite reached Rs 9,84,00,000 for Q2. Kalpa</a:t>
            </a:r>
          </a:p>
          <a:p>
            <a:r>
              <a:t>Retail has four segments: Business (corporate buyers, orders in lakhs), Retail-Core (everyday</a:t>
            </a:r>
          </a:p>
          <a:p>
            <a:r>
              <a:t>shoppers), Retail-Plus (the paid membership tier) and Student. Then what each one needs.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Say when each gets answered: the list in chapters 1 to 3, the flag in chapter 4,</a:t>
            </a:r>
          </a:p>
          <a:p>
            <a:r>
              <a:t>the plan in chapter 5, and the calls Marketing makes in chapter 6, after lunch. Hold anyone who</a:t>
            </a:r>
          </a:p>
          <a:p>
            <a:r>
              <a:t>wants to start typing; the thinking comes first. Then the question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Pairs take two minutes to write it one way with GROUP BY. Let somebody try GROUP BY</a:t>
            </a:r>
          </a:p>
          <a:p>
            <a:r>
              <a:t>segment and somebody LIMIT 50, and credit the attempt whether or not it works. Letters in chat. Then</a:t>
            </a:r>
          </a:p>
          <a:p>
            <a:r>
              <a:t>the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c. Draw this with the room and leave it up all day: it is the day's</a:t>
            </a:r>
          </a:p>
          <a:p>
            <a:r>
              <a:t>picture, and the cheat sheet's first panel carries it. Every ask on S3 keeps the rows and asks about</a:t>
            </a:r>
          </a:p>
          <a:p>
            <a:r>
              <a:t>each row's neighbours. Then the three windows the day builds.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Name the functions only as the morning meets them: row_number, rank and</a:t>
            </a:r>
          </a:p>
          <a:p>
            <a:r>
              <a:t>dense_rank for the place, lag for the month before, sum for the total so far. Then the six topics.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minute S6 gave up. Read the six topics in the curriculum's words and the chapter</a:t>
            </a:r>
          </a:p>
          <a:p>
            <a:r>
              <a:t>that teaches each, then walk the map once: Monday's GROUP BY, run order and named steps and</a:t>
            </a:r>
          </a:p>
          <a:p>
            <a:r>
              <a:t>Tuesday's joined table at the top, the window under them, and every topic hanging off it. Each topic</a:t>
            </a:r>
          </a:p>
          <a:p>
            <a:r>
              <a:t>arrives in its chapter as the answer to one of the asks on S2, so name them here and teach none of</a:t>
            </a:r>
          </a:p>
          <a:p>
            <a:r>
              <a:t>them yet. Then chapter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Notebook C2_W02_D03_01_top_fifty and sql/C2_W02_D03_01_top_fifty_STUDENT.sql</a:t>
            </a:r>
          </a:p>
          <a:p>
            <a:r>
              <a:t>run beside it, and the notebook's numbered sections are the questions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five questions. Each gets its answer before the next is asked, and the</a:t>
            </a:r>
          </a:p>
          <a:p>
            <a:r>
              <a:t>chapter's last slide answers all five beside the review of Kavya Nair, the senior analyst who checks</a:t>
            </a:r>
          </a:p>
          <a:p>
            <a:r>
              <a:t>every number before it leaves the team. Then the need.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member is one customer on the customers table, and 227 of Kalpa's 340 members</a:t>
            </a:r>
          </a:p>
          <a:p>
            <a:r>
              <a:t>placed a Q2 order. Monday's suite put Q2 at Rs 9,84,00,000 on 462 orders. Then a company whose</a:t>
            </a:r>
          </a:p>
          <a:p>
            <a:r>
              <a:t>members carry most of its money.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Source: Starbucks' card, loyalty and mobile dashboard for the third quarter of</a:t>
            </a:r>
          </a:p>
          <a:p>
            <a:r>
              <a:t>fiscal 2026, the quarter that ended on 28 June 2026, checked 1 October 2026. The 59 percent is the</a:t>
            </a:r>
          </a:p>
          <a:p>
            <a:r>
              <a:t>share of money tendered at company-operated US stores by Starbucks Rewards members; say "tender",</a:t>
            </a:r>
          </a:p>
          <a:p>
            <a:r>
              <a:t>which is the dashboard's word. Then four ways Kalpa could rank.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LIMIT counts rows across the whole result, so B needs one query per segment, four</a:t>
            </a:r>
          </a:p>
          <a:p>
            <a:r>
              <a:t>in all, and each reads the 462 Q2 orders again: 1,848 reads, where C reads them once. A reads as</a:t>
            </a:r>
          </a:p>
          <a:p>
            <a:r>
              <a:t>much and keeps 188 rows, fifty of each segment's orders and Student's 38, and every row is an order,</a:t>
            </a:r>
          </a:p>
          <a:p>
            <a:r>
              <a:t>which the chapter comes back to. D breaks the data platform lead's rule, "query it, do not export</a:t>
            </a:r>
          </a:p>
          <a:p>
            <a:r>
              <a:t>it". Do not say how many members the four lists hold, since S30 asks the room. Then the picture of</a:t>
            </a:r>
          </a:p>
          <a:p>
            <a:r>
              <a:t>option 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 CTE, a named step written WITH name AS (...), is Monday's tool. Then predict the</a:t>
            </a:r>
          </a:p>
          <a:p>
            <a:r>
              <a:t>first step.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before the notebook cell runs.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c. The figures are Q2 revenue per member who bought: Business 35</a:t>
            </a:r>
          </a:p>
          <a:p>
            <a:r>
              <a:t>members on Rs 9,75,84,600, Retail-Plus 76 on Rs 4,13,380, Retail-Core 96 on Rs 3,66,250, Student 20</a:t>
            </a:r>
          </a:p>
          <a:p>
            <a:r>
              <a:t>on Rs 35,770. Ask what that gap does to one list across the whole book. Then predict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three segments, and every Business buyer is on the list. Ranked</a:t>
            </a:r>
          </a:p>
          <a:p>
            <a:r>
              <a:t>across the whole book, any Business buyer outranks every retail member. Hold that thought for</a:t>
            </a:r>
          </a:p>
          <a:p>
            <a:r>
              <a:t>chapter 2. First, the list a hurried analyst sends.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notebook 01, section 3. Ask the room first: how many members do fifty rows name?</a:t>
            </a:r>
          </a:p>
          <a:p>
            <a:r>
              <a:t>Then run it. Two companies hold five places each and eleven more hold two or three. The decision it</a:t>
            </a:r>
          </a:p>
          <a:p>
            <a:r>
              <a:t>misleads: Marketing rings 28 companies, two of them five times, and not one member of the tier it</a:t>
            </a:r>
          </a:p>
          <a:p>
            <a:r>
              <a:t>is worried about. Then why.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check is one line, count(DISTINCT customer_id) beside count(*), and it belongs</a:t>
            </a:r>
          </a:p>
          <a:p>
            <a:r>
              <a:t>on every list before it leaves the team. Then the fix.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This is S15's list, built on the right unit. Then a second route that shares no SQL.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slip in the window's ORDER BY could not move this list, since the two share no</a:t>
            </a:r>
          </a:p>
          <a:p>
            <a:r>
              <a:t>code. It moves 462 rows out of the warehouse to confirm what the query returns in 50, so it runs as</a:t>
            </a:r>
          </a:p>
          <a:p>
            <a:r>
              <a:t>the check and the query is what Marketing gets. Then the 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tag says how often screens ask it: [S] a staple asked everywhere, [F]</a:t>
            </a:r>
          </a:p>
          <a:p>
            <a:r>
              <a:t>frequent at global capability centres and product companies, [D] a differentiator. One breath for</a:t>
            </a:r>
          </a:p>
          <a:p>
            <a:r>
              <a:t>the interview: GROUP BY collapses a group to one row; a window keeps every row and adds a column,</a:t>
            </a:r>
          </a:p>
          <a:p>
            <a:r>
              <a:t>such as a place. The answer raises chapter 2's question: Marketing asked for fifty in each segment.</a:t>
            </a:r>
          </a:p>
          <a:p>
            <a:r>
              <a:t>Then chapter 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Notebook C2_W02_D03_02_each_segment and its .sql file 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1 found the whole-book list: 35 Business, 11 Retail-Plus, 4 Retail-Core</a:t>
            </a:r>
          </a:p>
          <a:p>
            <a:r>
              <a:t>and no Student. Read the five questions, then the need.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ask's last three words. Then a company that ranks inside each group.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Source: Amazon's help page on Best Sellers Rank, checked 1 October 2026. JEE</a:t>
            </a:r>
          </a:p>
          <a:p>
            <a:r>
              <a:t>Advanced does the same with people: it publishes a rank list</a:t>
            </a:r>
          </a:p>
          <a:p>
            <a:r>
              <a:t>inside each category beside the common list, and in 2026 the OBC-NCL rank 1 stood third on the</a:t>
            </a:r>
          </a:p>
          <a:p>
            <a:r>
              <a:t>common list and the GEN-EWS rank 1 sixth (the results release of 1 June 2026). Then the options.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16,617 is 35 squared plus 96 squared plus 76 squared plus 20 squared: B sets every</a:t>
            </a:r>
          </a:p>
          <a:p>
            <a:r>
              <a:t>member against every member of the same segment. A reads the 462 Q2 orders once per query. MySQL</a:t>
            </a:r>
          </a:p>
          <a:p>
            <a:r>
              <a:t>first shipped window functions in its 8.0 line, generally available from April 2018. Then the</a:t>
            </a:r>
          </a:p>
          <a:p>
            <a:r>
              <a:t>picture.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partition says whose rows belong together; the ORDER BY inside the brackets</a:t>
            </a:r>
          </a:p>
          <a:p>
            <a:r>
              <a:t>says who comes first within them. Then the GROUP BY attempts.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Then the answer, and the second attempt.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a. GROUP BY can say how much each segment booked; it cannot say who</a:t>
            </a:r>
          </a:p>
          <a:p>
            <a:r>
              <a:t>leads each one. Then the quickest per-segment list.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notebook 02, section 2. Ask first: how many Retail-Plus members does this give?</a:t>
            </a:r>
          </a:p>
          <a:p>
            <a:r>
              <a:t>Then run it. Sent as "the top fifty in each segment", it tells Marketing to protect 11 Retail-Plus</a:t>
            </a:r>
          </a:p>
          <a:p>
            <a:r>
              <a:t>members, the tier it worries about, and tells the Student team it has nobody worth a call. Then why.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Only Business looks right, because all its buyers rank above every retail member.</a:t>
            </a:r>
          </a:p>
          <a:p>
            <a:r>
              <a:t>The check turns Marketing's rule, fifty or every buyer, into one number per segment, and it flags</a:t>
            </a:r>
          </a:p>
          <a:p>
            <a:r>
              <a:t>three of the four lists. Then the fix.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Fifty is a cap: Business and Student have fewer than fifty Q2</a:t>
            </a:r>
          </a:p>
          <a:p>
            <a:r>
              <a:t>buyers, so their lists hold every buyer. Then an error the room may meet on the way.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and never longer. Somebody writes the filter in WHERE; Postgres prints "ERROR:</a:t>
            </a:r>
          </a:p>
          <a:p>
            <a:r>
              <a:t>window functions are not allowed in WHERE". Read the last line, point at Monday's drawing of the</a:t>
            </a:r>
          </a:p>
          <a:p>
            <a:r>
              <a:t>order a query runs in, move the place into a CTE, and move on. Then the same filter on five</a:t>
            </a:r>
          </a:p>
          <a:p>
            <a:r>
              <a:t>invented members.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members and their spend are invented, small enough to count by eye. Read step</a:t>
            </a:r>
          </a:p>
          <a:p>
            <a:r>
              <a:t>1's five places (A 1, B 2, C 3 in North; D 1, E 2 in South), then step 2's four rows, and pose the</a:t>
            </a:r>
          </a:p>
          <a:p>
            <a:r>
              <a:t>check. Its answer: Postgres runs it, since spend is a column that exists before WHERE; C is dropped</a:t>
            </a:r>
          </a:p>
          <a:p>
            <a:r>
              <a:t>first and the four left are numbered A 1, D 2, B 3, E 4. A filter on a column runs before the</a:t>
            </a:r>
          </a:p>
          <a:p>
            <a:r>
              <a:t>window and changes what it numbers; a filter on the window's own value waits for the step outside.</a:t>
            </a:r>
          </a:p>
          <a:p>
            <a:r>
              <a:t>Writing WHERE place &lt;= 2 in step 1 fails too, with ERROR: column "place" does not exist, because</a:t>
            </a:r>
          </a:p>
          <a:p>
            <a:r>
              <a:t>WHERE cannot see a name SELECT gives. Then a second route with no window.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Each piece sits in brackets so its ORDER BY and LIMIT apply to it alone. A slip in</a:t>
            </a:r>
          </a:p>
          <a:p>
            <a:r>
              <a:t>the window's PARTITION BY could not move this list. Then the 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breath for the first: a window with PARTITION BY the group numbers the rows</a:t>
            </a:r>
          </a:p>
          <a:p>
            <a:r>
              <a:t>inside each group and keeps them all, where GROUP BY collapses each group to one row and LIMIT</a:t>
            </a:r>
          </a:p>
          <a:p>
            <a:r>
              <a:t>counts across the whole result. Each list was cut by row_number, with the customer id deciding any</a:t>
            </a:r>
          </a:p>
          <a:p>
            <a:r>
              <a:t>two members who booked the same. Then chapter 3, the head of Retail-Plus's question.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Notebook C2_W02_D03_03_tie_rule, its .sql file, the guided build</a:t>
            </a:r>
          </a:p>
          <a:p>
            <a:r>
              <a:t>(exercises/guided/C2_W02_D03_tie_STUDENT.md) and the companion page's section 04, the tie, run beside</a:t>
            </a:r>
          </a:p>
          <a:p>
            <a:r>
              <a:t>it; the page's later parts stay folded until after chapter 6. Never cut the tie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2's lists were cut by row_number, with the customer id deciding any two</a:t>
            </a:r>
          </a:p>
          <a:p>
            <a:r>
              <a:t>members who booked the same. Read the six questions, and say what the line is. Then the need.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Two members tie when their Q2 revenue is the same to the rupee. Then a company that</a:t>
            </a:r>
          </a:p>
          <a:p>
            <a:r>
              <a:t>writes its tiebreaker down, and a race that shows the head's rule.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aa.com, upgrades for status members, checked 1 October 2026: "If the upgrade type</a:t>
            </a:r>
          </a:p>
          <a:p>
            <a:r>
              <a:t>and 12-month Loyalty Point value are the same, we'll look at the booking code then date / time of</a:t>
            </a:r>
          </a:p>
          <a:p>
            <a:r>
              <a:t>the request to determine priority." Tokyo 2020 men's high jump final, 1 August 2021: Barshim of</a:t>
            </a:r>
          </a:p>
          <a:p>
            <a:r>
              <a:t>Qatar and Tamberi of Italy both cleared 2.37 m and shared the gold, and Nedasekau of Belarus, who</a:t>
            </a:r>
          </a:p>
          <a:p>
            <a:r>
              <a:t>also cleared 2.37 m, was placed third with the bronze; no silver (World Athletics results, checked</a:t>
            </a:r>
          </a:p>
          <a:p>
            <a:r>
              <a:t>1 October 2026). Then the four rules.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Whole ties only has no function of its own: count(*) OVER (PARTITION BY</a:t>
            </a:r>
          </a:p>
          <a:p>
            <a:r>
              <a:t>q2_revenue) gives each member the number who share their figure, and rank + tied_with - 1 is the</a:t>
            </a:r>
          </a:p>
          <a:p>
            <a:r>
              <a:t>last place the tie reaches. A good tiebreaker under a cap is a business reason, such as more Q2</a:t>
            </a:r>
          </a:p>
          <a:p>
            <a:r>
              <a:t>orders first. Then each rule's count on an invented top four.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Then the four counts.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This is the forty-nine or fifty-one the head of Retail-Plus</a:t>
            </a:r>
          </a:p>
          <a:p>
            <a:r>
              <a:t>spoke of, at four in place of fifty. Then the numbering behind those counts, on six members.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Pairs write all three columns on paper first, ROW_NUMBER, RANK and DENSE_RANK,</a:t>
            </a:r>
          </a:p>
          <a:p>
            <a:r>
              <a:t>then letters in chat for RANK. The members are invented.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ROW_NUMBER puts A ahead of B only because the tiebreaker sorts A</a:t>
            </a:r>
          </a:p>
          <a:p>
            <a:r>
              <a:t>first. Then the same four counts on Kalpa.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03, step 3. Retail-Core, the everyday shoppers, has 96 Q2 buyers.</a:t>
            </a:r>
          </a:p>
          <a:p>
            <a:r>
              <a:t>Ask first: a hurried analyst reads "ties ranked the same" and picks DENSE_RANK because its numbers</a:t>
            </a:r>
          </a:p>
          <a:p>
            <a:r>
              <a:t>never skip; how many members does it ship? Then run it. The decision it misleads: a list labelled</a:t>
            </a:r>
          </a:p>
          <a:p>
            <a:r>
              <a:t>top fifty that carries 52, two of whom tie with nobody. Then why.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Each tie higher up costs DENSE_RANK one number, so its 50 falls on C-0094, the</a:t>
            </a:r>
          </a:p>
          <a:p>
            <a:r>
              <a:t>52nd member. Nobody ties at Retail-Core's line: the fiftieth booked Rs 2,980 and the 51st Rs 2,950.</a:t>
            </a:r>
          </a:p>
          <a:p>
            <a:r>
              <a:t>Then the fix.</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Then the head of Retail-Plus's own segment, which the room counts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Every learner runs the cell in notebook 03's step 4 and writes the sentence</a:t>
            </a:r>
          </a:p>
          <a:p>
            <a:r>
              <a:t>before anyone shares a number. If a learner's four numbers differ, point them at the notebook's</a:t>
            </a:r>
          </a:p>
          <a:p>
            <a:r>
              <a:t>instruction to read the members around fiftieth place with block c3_core_line changed to</a:t>
            </a:r>
          </a:p>
          <a:p>
            <a:r>
              <a:t>Retail-Plus. Do not read any count aloud; the day sheet carries it for the debrief. Then a second</a:t>
            </a:r>
          </a:p>
          <a:p>
            <a:r>
              <a:t>route that needs no window.</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member ties with the fiftieth exactly when they booked the same figure, so the</a:t>
            </a:r>
          </a:p>
          <a:p>
            <a:r>
              <a:t>count includes every tie at the line, as RANK does. It shares no window with RANK, so a slip in a</a:t>
            </a:r>
          </a:p>
          <a:p>
            <a:r>
              <a:t>PARTITION BY could not move it. Then the 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breath for the second: RANK, and the report can ship more than N when a tie</a:t>
            </a:r>
          </a:p>
          <a:p>
            <a:r>
              <a:t>straddles the line, so it states the count; DENSE_RANK can ship more than N even with no tie at the</a:t>
            </a:r>
          </a:p>
          <a:p>
            <a:r>
              <a:t>line; ROW_NUMBER always ships N and hides the tie. Then the break, and chapter 4 after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after the ten-minute break. Notebook C2_W02_D03_04_falling_spend and its .sql</a:t>
            </a:r>
          </a:p>
          <a:p>
            <a:r>
              <a:t>file 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protect lists are built; this is Marketing's second ask. Read the six</a:t>
            </a:r>
          </a:p>
          <a:p>
            <a:r>
              <a:t>questions. Then the need.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flag reads September, the last month: September below the month before, and</a:t>
            </a:r>
          </a:p>
          <a:p>
            <a:r>
              <a:t>that month below the one before it. Then a company that judges each customer against their own past.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Square Support Center, the page on customer groups and filters, checked 1 October</a:t>
            </a:r>
          </a:p>
          <a:p>
            <a:r>
              <a:t>2026: its "Lapsed" group is "customers who were regulars, but haven't visited in the last six</a:t>
            </a:r>
          </a:p>
          <a:p>
            <a:r>
              <a:t>weeks", a regular having visited three times in the last six months. Then four ways to compare a</a:t>
            </a:r>
          </a:p>
          <a:p>
            <a:r>
              <a:t>month with the month before.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book holds 752 member-months, one row per member per month with an order, for</a:t>
            </a:r>
          </a:p>
          <a:p>
            <a:r>
              <a:t>301 members who bought at least once; 118 ordered in September. Then the picture of LAG.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Then predict on one member.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C-0040 of Retail-Core bought in all six months. Letters in chat.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Then LEAD, the row after.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lead 1 row against the spend row: each month carries the next month's</a:t>
            </a:r>
          </a:p>
          <a:p>
            <a:r>
              <a:t>figure, and September carries NULL, as April did under LAG on S55. The check's answer: August and</a:t>
            </a:r>
          </a:p>
          <a:p>
            <a:r>
              <a:t>September, since no row sits two after them; lead(spend, 2) on July reads September's Rs 4,520.</a:t>
            </a:r>
          </a:p>
          <a:p>
            <a:r>
              <a:t>The row cuts LEAD first when time is short: keep the rule line and drop the table. Then the</a:t>
            </a:r>
          </a:p>
          <a:p>
            <a:r>
              <a:t>quickest version of the flag.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then run it.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04, section 3. The answer is b. Then why it happens.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With no PARTITION BY the window is the whole table, so LAG runs from one member's</a:t>
            </a:r>
          </a:p>
          <a:p>
            <a:r>
              <a:t>last row into the next member's first. C-0132 bought only in July and September, so LAG's second</a:t>
            </a:r>
          </a:p>
          <a:p>
            <a:r>
              <a:t>step back from that September is C-0131's July. Then the fix.</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Then a second route that shares no window.</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Python groups the rows by member and sorts each member's months itself, then flags</a:t>
            </a:r>
          </a:p>
          <a:p>
            <a:r>
              <a:t>a member whose last month is September and whose last three months each fall. Both routes read the</a:t>
            </a:r>
          </a:p>
          <a:p>
            <a:r>
              <a:t>month before as the member's previous row of months. Then the 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breath for the first: one row per customer per month, lag one and two over a</a:t>
            </a:r>
          </a:p>
          <a:p>
            <a:r>
              <a:t>window partitioned by the customer and ordered by month, and keep the rows that fall twice. Chapter</a:t>
            </a:r>
          </a:p>
          <a:p>
            <a:r>
              <a:t>6 comes back to these sixteen before Marketing rings any of them. Then chapter 5.</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Notebook C2_W02_D03_05_against_plan and its .sql file 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questions. Then the need.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plan line is a small table, plan_line: 13 weeks from Monday 6 July, Rs 75,69,230</a:t>
            </a:r>
          </a:p>
          <a:p>
            <a:r>
              <a:t>each, Rs 9,83,99,990 in all. Mid-quarter is the end of the seventh plan week, the week of 17 August.</a:t>
            </a:r>
          </a:p>
          <a:p>
            <a:r>
              <a:t>Then a company that read its quarter while it ran.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Target's second quarter of 2022 began on 1 May 2022. On 7 June 2022 Target said it</a:t>
            </a:r>
          </a:p>
          <a:p>
            <a:r>
              <a:t>"now expects its second-quarter operating margin rate will be in a range around 2%", after</a:t>
            </a:r>
          </a:p>
          <a:p>
            <a:r>
              <a:t>markdowns to clear excess inventory. Sources: Target's releases of 18 May, 7 June and 17 August</a:t>
            </a:r>
          </a:p>
          <a:p>
            <a:r>
              <a:t>2022, checked 1 October 2026. Then four ways to accumulate.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6,006 is the 462 Q2 orders read once for each of the 13 plan weeks. The self-join</a:t>
            </a:r>
          </a:p>
          <a:p>
            <a:r>
              <a:t>reads the orders once for the weekly totals too, then works through 91 week pairs, 13 times 14 over</a:t>
            </a:r>
          </a:p>
          <a:p>
            <a:r>
              <a:t>2. Then the picture of a running total.</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Then the quickest build.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build starts from the plan's weeks and attaches each week's booked revenue by</a:t>
            </a:r>
          </a:p>
          <a:p>
            <a:r>
              <a:t>the Monday its orders fall in. Letters in chat, then run it.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05, section 1. The answer the table gives is b. Ask the room what they</a:t>
            </a:r>
          </a:p>
          <a:p>
            <a:r>
              <a:t>would check before sending it. Then why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LEFT JOIN that starts from the plan's weeks keeps only the plan's weeks, so the</a:t>
            </a:r>
          </a:p>
          <a:p>
            <a:r>
              <a:t>25 orders of 1 to 5 July, Rs 15,39,820, never enter. Tuesday's rule holds here: a join is done only</a:t>
            </a:r>
          </a:p>
          <a:p>
            <a:r>
              <a:t>when its rows are explained. Then the fix.</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Then mid-quarter, where Meera reads it.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b. The lead peaked at Rs 2,16,69,660 at the end of the week of 3</a:t>
            </a:r>
          </a:p>
          <a:p>
            <a:r>
              <a:t>August and shrank from there to Rs 10 at the close, because one July week paid for the weeks after</a:t>
            </a:r>
          </a:p>
          <a:p>
            <a:r>
              <a:t>it. Then a question at the grain of an order.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Rows that share the window's ORDER BY value are peers, and the default running sum</a:t>
            </a:r>
          </a:p>
          <a:p>
            <a:r>
              <a:t>adds all of a row's peers at once. Letters in chat.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answer is b. By date alone, all twelve orders show the day's closing total, so</a:t>
            </a:r>
          </a:p>
          <a:p>
            <a:r>
              <a:t>no row can say which order crossed Rs 3.5 crore; with the order id added, KR-00580's step is the one</a:t>
            </a:r>
          </a:p>
          <a:p>
            <a:r>
              <a:t>that crosses. Then the same rule on four invented orders.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taken from S75. The orders are invented. ROW_NUMBER by date alone numbers the two 2 July orders in</a:t>
            </a:r>
          </a:p>
          <a:p>
            <a:r>
              <a:t>whatever order the rows arrive: on Postgres 16, listing A-3 first gives A-3 the 2 and A-2 the 3.</a:t>
            </a:r>
          </a:p>
          <a:p>
            <a:r>
              <a:t>The SUM by date gives both peers the day's close, Rs 600, on every run, so it repeats and names no</a:t>
            </a:r>
          </a:p>
          <a:p>
            <a:r>
              <a:t>order. The check's answer: the SUM by date and order id, whose step from Rs 400 to Rs 600 is A-3's,</a:t>
            </a:r>
          </a:p>
          <a:p>
            <a:r>
              <a:t>by the stated tiebreak; the date-only SUM shows Rs 600 on both and names neither. Typed as one query</a:t>
            </a:r>
          </a:p>
          <a:p>
            <a:r>
              <a:t>with all three windows, Postgres sorts once by date and order id and the swap hides, so run the</a:t>
            </a:r>
          </a:p>
          <a:p>
            <a:r>
              <a:t>ROW_NUMBER column alone with A-3 listed first to see it. Then a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plain sums share no code with the window or with the greatest() fix. Then the</a:t>
            </a:r>
          </a:p>
          <a:p>
            <a:r>
              <a:t>chapter's answers.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breath for the second: whether every row made it in, by setting the last</a:t>
            </a:r>
          </a:p>
          <a:p>
            <a:r>
              <a:t>cumulative value beside the independent total and looking for rows outside the join's calendar.</a:t>
            </a:r>
          </a:p>
          <a:p>
            <a:r>
              <a:t>After lunch, chapter 6 brings the members back: Marketing wants to ring the flagged members on the</a:t>
            </a:r>
          </a:p>
          <a:p>
            <a:r>
              <a:t>protect lists, and one of them says they were on holiday.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10.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 Id="rId5" Type="http://schemas.openxmlformats.org/officeDocument/2006/relationships/image" Target="../media/image16.png"/><Relationship Id="rId6"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 Id="rId5"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image" Target="../media/image10.png"/><Relationship Id="rId6"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3.xml"/><Relationship Id="rId5" Type="http://schemas.openxmlformats.org/officeDocument/2006/relationships/image" Target="../media/image16.png"/><Relationship Id="rId6"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 Id="rId5"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 Id="rId5" Type="http://schemas.openxmlformats.org/officeDocument/2006/relationships/image" Target="../media/image3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8.xml"/><Relationship Id="rId5" Type="http://schemas.openxmlformats.org/officeDocument/2006/relationships/image" Target="../media/image16.png"/><Relationship Id="rId6"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0.xml"/><Relationship Id="rId5" Type="http://schemas.openxmlformats.org/officeDocument/2006/relationships/image" Target="../media/image3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6.xml"/><Relationship Id="rId5" Type="http://schemas.openxmlformats.org/officeDocument/2006/relationships/image" Target="../media/image3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7.xml"/><Relationship Id="rId5" Type="http://schemas.openxmlformats.org/officeDocument/2006/relationships/image" Target="../media/image3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33.png"/><Relationship Id="rId6" Type="http://schemas.openxmlformats.org/officeDocument/2006/relationships/image" Target="../media/image15.png"/><Relationship Id="rId7" Type="http://schemas.openxmlformats.org/officeDocument/2006/relationships/image" Target="../media/image7.png"/><Relationship Id="rId8"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5.xml"/><Relationship Id="rId5" Type="http://schemas.openxmlformats.org/officeDocument/2006/relationships/image" Target="../media/image10.png"/><Relationship Id="rId6" Type="http://schemas.openxmlformats.org/officeDocument/2006/relationships/image" Target="../media/image3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8.xml"/><Relationship Id="rId5" Type="http://schemas.openxmlformats.org/officeDocument/2006/relationships/image" Target="../media/image4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0.xml"/><Relationship Id="rId5" Type="http://schemas.openxmlformats.org/officeDocument/2006/relationships/image" Target="../media/image4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notesSlide" Target="../notesSlides/notesSlide8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479576"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WEDNESDAY  ·  MORNING</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Who do we protect before they drift?</a:t>
            </a:r>
          </a:p>
        </p:txBody>
      </p:sp>
      <p:sp>
        <p:nvSpPr>
          <p:cNvPr id="9" name="TextBox 8"/>
          <p:cNvSpPr txBox="1"/>
          <p:nvPr/>
        </p:nvSpPr>
        <p:spPr>
          <a:xfrm>
            <a:off x="621792" y="3635756"/>
            <a:ext cx="10033711" cy="1291336"/>
          </a:xfrm>
          <a:prstGeom prst="rect">
            <a:avLst/>
          </a:prstGeom>
          <a:noFill/>
        </p:spPr>
        <p:txBody>
          <a:bodyPr wrap="square" anchor="t" lIns="0" rIns="0" tIns="0" bIns="0">
            <a:spAutoFit/>
          </a:bodyPr>
          <a:lstStyle/>
          <a:p>
            <a:pPr algn="l"/>
            <a:r>
              <a:rPr sz="1900" b="0" i="1">
                <a:solidFill>
                  <a:srgbClr val="D9A7FF"/>
                </a:solidFill>
                <a:latin typeface="Georgia"/>
              </a:rPr>
              <a:t>“Retail-Plus frequency is the problem, so we want to protect our best members before they drift. Give us the top fifty customers by Q2 revenue in each segment, and flag anyone whose monthly spend has fallen for two months running.”</a:t>
            </a:r>
          </a:p>
        </p:txBody>
      </p:sp>
      <p:sp>
        <p:nvSpPr>
          <p:cNvPr id="10" name="TextBox 9"/>
          <p:cNvSpPr txBox="1"/>
          <p:nvPr/>
        </p:nvSpPr>
        <p:spPr>
          <a:xfrm>
            <a:off x="621792" y="4981956"/>
            <a:ext cx="10033711" cy="218186"/>
          </a:xfrm>
          <a:prstGeom prst="rect">
            <a:avLst/>
          </a:prstGeom>
          <a:noFill/>
        </p:spPr>
        <p:txBody>
          <a:bodyPr wrap="square" anchor="t" lIns="0" rIns="0" tIns="0" bIns="0">
            <a:spAutoFit/>
          </a:bodyPr>
          <a:lstStyle/>
          <a:p>
            <a:pPr algn="l"/>
            <a:r>
              <a:rPr sz="1100" b="0" i="0">
                <a:solidFill>
                  <a:srgbClr val="CFC9EE"/>
                </a:solidFill>
                <a:latin typeface="Calibri"/>
              </a:rPr>
              <a:t>The marketing lead, Kalpa Retail, to the data and AI team at Kalpa's Global Capability Centre</a:t>
            </a:r>
          </a:p>
        </p:txBody>
      </p:sp>
      <p:sp>
        <p:nvSpPr>
          <p:cNvPr id="11" name="TextBox 10"/>
          <p:cNvSpPr txBox="1"/>
          <p:nvPr/>
        </p:nvSpPr>
        <p:spPr>
          <a:xfrm>
            <a:off x="621792"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556758"/>
            <a:ext cx="1484185" cy="185166"/>
          </a:xfrm>
          <a:prstGeom prst="rect">
            <a:avLst/>
          </a:prstGeom>
          <a:noFill/>
        </p:spPr>
        <p:txBody>
          <a:bodyPr wrap="square" anchor="t" lIns="0" rIns="0" tIns="0" bIns="0">
            <a:spAutoFit/>
          </a:bodyPr>
          <a:lstStyle/>
          <a:p>
            <a:pPr algn="l"/>
            <a:r>
              <a:rPr sz="900" b="0" i="0">
                <a:solidFill>
                  <a:srgbClr val="FFFFFF"/>
                </a:solidFill>
                <a:latin typeface="Calibri"/>
              </a:rPr>
              <a:t>Who are the top fifty?</a:t>
            </a:r>
          </a:p>
        </p:txBody>
      </p:sp>
      <p:sp>
        <p:nvSpPr>
          <p:cNvPr id="13" name="TextBox 12"/>
          <p:cNvSpPr txBox="1"/>
          <p:nvPr/>
        </p:nvSpPr>
        <p:spPr>
          <a:xfrm>
            <a:off x="2672905"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056953" y="5556758"/>
            <a:ext cx="1484185" cy="185166"/>
          </a:xfrm>
          <a:prstGeom prst="rect">
            <a:avLst/>
          </a:prstGeom>
          <a:noFill/>
        </p:spPr>
        <p:txBody>
          <a:bodyPr wrap="square" anchor="t" lIns="0" rIns="0" tIns="0" bIns="0">
            <a:spAutoFit/>
          </a:bodyPr>
          <a:lstStyle/>
          <a:p>
            <a:pPr algn="l"/>
            <a:r>
              <a:rPr sz="900" b="0" i="0">
                <a:solidFill>
                  <a:srgbClr val="FFFFFF"/>
                </a:solidFill>
                <a:latin typeface="Calibri"/>
              </a:rPr>
              <a:t>Top fifty per segment?</a:t>
            </a:r>
          </a:p>
        </p:txBody>
      </p:sp>
      <p:sp>
        <p:nvSpPr>
          <p:cNvPr id="15" name="TextBox 14"/>
          <p:cNvSpPr txBox="1"/>
          <p:nvPr/>
        </p:nvSpPr>
        <p:spPr>
          <a:xfrm>
            <a:off x="4724019"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108067" y="5556758"/>
            <a:ext cx="1484185" cy="185166"/>
          </a:xfrm>
          <a:prstGeom prst="rect">
            <a:avLst/>
          </a:prstGeom>
          <a:noFill/>
        </p:spPr>
        <p:txBody>
          <a:bodyPr wrap="square" anchor="t" lIns="0" rIns="0" tIns="0" bIns="0">
            <a:spAutoFit/>
          </a:bodyPr>
          <a:lstStyle/>
          <a:p>
            <a:pPr algn="l"/>
            <a:r>
              <a:rPr sz="900" b="0" i="0">
                <a:solidFill>
                  <a:srgbClr val="FFFFFF"/>
                </a:solidFill>
                <a:latin typeface="Calibri"/>
              </a:rPr>
              <a:t>Who makes it at a tie?</a:t>
            </a:r>
          </a:p>
        </p:txBody>
      </p:sp>
      <p:sp>
        <p:nvSpPr>
          <p:cNvPr id="17" name="TextBox 16"/>
          <p:cNvSpPr txBox="1"/>
          <p:nvPr/>
        </p:nvSpPr>
        <p:spPr>
          <a:xfrm>
            <a:off x="6775132"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159180" y="5556758"/>
            <a:ext cx="1543335" cy="185166"/>
          </a:xfrm>
          <a:prstGeom prst="rect">
            <a:avLst/>
          </a:prstGeom>
          <a:noFill/>
        </p:spPr>
        <p:txBody>
          <a:bodyPr wrap="square" anchor="t" lIns="0" rIns="0" tIns="0" bIns="0">
            <a:spAutoFit/>
          </a:bodyPr>
          <a:lstStyle/>
          <a:p>
            <a:pPr algn="l"/>
            <a:r>
              <a:rPr sz="900" b="0" i="0">
                <a:solidFill>
                  <a:srgbClr val="FFFFFF"/>
                </a:solidFill>
                <a:latin typeface="Calibri"/>
              </a:rPr>
              <a:t>Whose spend is falling?</a:t>
            </a:r>
          </a:p>
        </p:txBody>
      </p:sp>
      <p:sp>
        <p:nvSpPr>
          <p:cNvPr id="19" name="TextBox 18"/>
          <p:cNvSpPr txBox="1"/>
          <p:nvPr/>
        </p:nvSpPr>
        <p:spPr>
          <a:xfrm>
            <a:off x="8885396"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20" name="TextBox 19"/>
          <p:cNvSpPr txBox="1"/>
          <p:nvPr/>
        </p:nvSpPr>
        <p:spPr>
          <a:xfrm>
            <a:off x="9269444" y="5556758"/>
            <a:ext cx="1484185" cy="185166"/>
          </a:xfrm>
          <a:prstGeom prst="rect">
            <a:avLst/>
          </a:prstGeom>
          <a:noFill/>
        </p:spPr>
        <p:txBody>
          <a:bodyPr wrap="square" anchor="t" lIns="0" rIns="0" tIns="0" bIns="0">
            <a:spAutoFit/>
          </a:bodyPr>
          <a:lstStyle/>
          <a:p>
            <a:pPr algn="l"/>
            <a:r>
              <a:rPr sz="900" b="0" i="0">
                <a:solidFill>
                  <a:srgbClr val="FFFFFF"/>
                </a:solidFill>
                <a:latin typeface="Calibri"/>
              </a:rPr>
              <a:t>On track against plan?</a:t>
            </a:r>
          </a:p>
        </p:txBody>
      </p:sp>
      <p:sp>
        <p:nvSpPr>
          <p:cNvPr id="21" name="TextBox 2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 we protect before they drift?</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86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questions take us from the list to the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members should Marketing protect before they drift, and is Q2 on track against the plan line?</a:t>
            </a:r>
          </a:p>
        </p:txBody>
      </p:sp>
      <p:sp>
        <p:nvSpPr>
          <p:cNvPr id="9" name="Rectangle 8"/>
          <p:cNvSpPr/>
          <p:nvPr/>
        </p:nvSpPr>
        <p:spPr>
          <a:xfrm>
            <a:off x="1381734" y="2523744"/>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1</a:t>
            </a:r>
          </a:p>
        </p:txBody>
      </p:sp>
      <p:sp>
        <p:nvSpPr>
          <p:cNvPr id="11" name="Oval 10"/>
          <p:cNvSpPr/>
          <p:nvPr/>
        </p:nvSpPr>
        <p:spPr>
          <a:xfrm>
            <a:off x="1281150"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Who are the top fifty?</a:t>
            </a:r>
          </a:p>
        </p:txBody>
      </p:sp>
      <p:sp>
        <p:nvSpPr>
          <p:cNvPr id="14" name="TextBox 13"/>
          <p:cNvSpPr txBox="1"/>
          <p:nvPr/>
        </p:nvSpPr>
        <p:spPr>
          <a:xfrm>
            <a:off x="694944"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Fifty members, counted as members</a:t>
            </a:r>
          </a:p>
        </p:txBody>
      </p:sp>
      <p:sp>
        <p:nvSpPr>
          <p:cNvPr id="15" name="TextBox 14"/>
          <p:cNvSpPr txBox="1"/>
          <p:nvPr/>
        </p:nvSpPr>
        <p:spPr>
          <a:xfrm>
            <a:off x="241599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2</a:t>
            </a:r>
          </a:p>
        </p:txBody>
      </p:sp>
      <p:sp>
        <p:nvSpPr>
          <p:cNvPr id="16" name="Oval 15"/>
          <p:cNvSpPr/>
          <p:nvPr/>
        </p:nvSpPr>
        <p:spPr>
          <a:xfrm>
            <a:off x="316679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415997" y="2843784"/>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580589"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Top fifty per segment?</a:t>
            </a:r>
          </a:p>
        </p:txBody>
      </p:sp>
      <p:sp>
        <p:nvSpPr>
          <p:cNvPr id="19" name="TextBox 18"/>
          <p:cNvSpPr txBox="1"/>
          <p:nvPr/>
        </p:nvSpPr>
        <p:spPr>
          <a:xfrm>
            <a:off x="2580589"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One list for each of four segments</a:t>
            </a:r>
          </a:p>
        </p:txBody>
      </p:sp>
      <p:sp>
        <p:nvSpPr>
          <p:cNvPr id="20" name="TextBox 19"/>
          <p:cNvSpPr txBox="1"/>
          <p:nvPr/>
        </p:nvSpPr>
        <p:spPr>
          <a:xfrm>
            <a:off x="430164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3</a:t>
            </a:r>
          </a:p>
        </p:txBody>
      </p:sp>
      <p:sp>
        <p:nvSpPr>
          <p:cNvPr id="21" name="Oval 20"/>
          <p:cNvSpPr/>
          <p:nvPr/>
        </p:nvSpPr>
        <p:spPr>
          <a:xfrm>
            <a:off x="505244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301642" y="2843784"/>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66234"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Who makes it at a tie?</a:t>
            </a:r>
          </a:p>
        </p:txBody>
      </p:sp>
      <p:sp>
        <p:nvSpPr>
          <p:cNvPr id="24" name="TextBox 23"/>
          <p:cNvSpPr txBox="1"/>
          <p:nvPr/>
        </p:nvSpPr>
        <p:spPr>
          <a:xfrm>
            <a:off x="4466234"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The head of Retail-Plus's rule</a:t>
            </a:r>
          </a:p>
        </p:txBody>
      </p:sp>
      <p:sp>
        <p:nvSpPr>
          <p:cNvPr id="25" name="TextBox 24"/>
          <p:cNvSpPr txBox="1"/>
          <p:nvPr/>
        </p:nvSpPr>
        <p:spPr>
          <a:xfrm>
            <a:off x="618728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4</a:t>
            </a:r>
          </a:p>
        </p:txBody>
      </p:sp>
      <p:sp>
        <p:nvSpPr>
          <p:cNvPr id="26" name="Oval 25"/>
          <p:cNvSpPr/>
          <p:nvPr/>
        </p:nvSpPr>
        <p:spPr>
          <a:xfrm>
            <a:off x="6938086"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187287" y="2843784"/>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51879"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Whose spend is falling?</a:t>
            </a:r>
          </a:p>
        </p:txBody>
      </p:sp>
      <p:sp>
        <p:nvSpPr>
          <p:cNvPr id="29" name="TextBox 28"/>
          <p:cNvSpPr txBox="1"/>
          <p:nvPr/>
        </p:nvSpPr>
        <p:spPr>
          <a:xfrm>
            <a:off x="6351879"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Each member against their own month</a:t>
            </a:r>
          </a:p>
        </p:txBody>
      </p:sp>
      <p:sp>
        <p:nvSpPr>
          <p:cNvPr id="30" name="TextBox 29"/>
          <p:cNvSpPr txBox="1"/>
          <p:nvPr/>
        </p:nvSpPr>
        <p:spPr>
          <a:xfrm>
            <a:off x="807293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5</a:t>
            </a:r>
          </a:p>
        </p:txBody>
      </p:sp>
      <p:sp>
        <p:nvSpPr>
          <p:cNvPr id="31" name="Oval 30"/>
          <p:cNvSpPr/>
          <p:nvPr/>
        </p:nvSpPr>
        <p:spPr>
          <a:xfrm>
            <a:off x="882373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072932" y="2843784"/>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37524" y="2990088"/>
            <a:ext cx="1373581" cy="465836"/>
          </a:xfrm>
          <a:prstGeom prst="rect">
            <a:avLst/>
          </a:prstGeom>
          <a:noFill/>
        </p:spPr>
        <p:txBody>
          <a:bodyPr wrap="square" anchor="t" lIns="0" rIns="0" tIns="0" bIns="0">
            <a:spAutoFit/>
          </a:bodyPr>
          <a:lstStyle/>
          <a:p>
            <a:pPr algn="l"/>
            <a:r>
              <a:rPr sz="1300" b="1" i="0">
                <a:solidFill>
                  <a:srgbClr val="1A0F5C"/>
                </a:solidFill>
                <a:latin typeface="Calibri"/>
              </a:rPr>
              <a:t>On track against plan?</a:t>
            </a:r>
          </a:p>
        </p:txBody>
      </p:sp>
      <p:sp>
        <p:nvSpPr>
          <p:cNvPr id="34" name="TextBox 33"/>
          <p:cNvSpPr txBox="1"/>
          <p:nvPr/>
        </p:nvSpPr>
        <p:spPr>
          <a:xfrm>
            <a:off x="8237524" y="3492500"/>
            <a:ext cx="1373581" cy="366776"/>
          </a:xfrm>
          <a:prstGeom prst="rect">
            <a:avLst/>
          </a:prstGeom>
          <a:noFill/>
        </p:spPr>
        <p:txBody>
          <a:bodyPr wrap="square" anchor="t" lIns="0" rIns="0" tIns="0" bIns="0">
            <a:spAutoFit/>
          </a:bodyPr>
          <a:lstStyle/>
          <a:p>
            <a:pPr algn="l"/>
            <a:r>
              <a:rPr sz="1000" b="0" i="0">
                <a:solidFill>
                  <a:srgbClr val="6B6690"/>
                </a:solidFill>
                <a:latin typeface="Calibri"/>
              </a:rPr>
              <a:t>Q2 to date, week by week</a:t>
            </a:r>
          </a:p>
        </p:txBody>
      </p:sp>
      <p:sp>
        <p:nvSpPr>
          <p:cNvPr id="35" name="TextBox 34"/>
          <p:cNvSpPr txBox="1"/>
          <p:nvPr/>
        </p:nvSpPr>
        <p:spPr>
          <a:xfrm>
            <a:off x="9958578"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6</a:t>
            </a:r>
          </a:p>
        </p:txBody>
      </p:sp>
      <p:sp>
        <p:nvSpPr>
          <p:cNvPr id="36" name="Oval 35"/>
          <p:cNvSpPr/>
          <p:nvPr/>
        </p:nvSpPr>
        <p:spPr>
          <a:xfrm>
            <a:off x="10709376"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958578" y="2843784"/>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123170" y="2990088"/>
            <a:ext cx="1373581" cy="465836"/>
          </a:xfrm>
          <a:prstGeom prst="rect">
            <a:avLst/>
          </a:prstGeom>
          <a:noFill/>
        </p:spPr>
        <p:txBody>
          <a:bodyPr wrap="square" anchor="t" lIns="0" rIns="0" tIns="0" bIns="0">
            <a:spAutoFit/>
          </a:bodyPr>
          <a:lstStyle/>
          <a:p>
            <a:pPr algn="l"/>
            <a:r>
              <a:rPr sz="1300" b="1" i="0">
                <a:solidFill>
                  <a:srgbClr val="FFFFFF"/>
                </a:solidFill>
                <a:latin typeface="Calibri"/>
              </a:rPr>
              <a:t>Who does Marketing call?</a:t>
            </a:r>
          </a:p>
        </p:txBody>
      </p:sp>
      <p:sp>
        <p:nvSpPr>
          <p:cNvPr id="39" name="TextBox 38"/>
          <p:cNvSpPr txBox="1"/>
          <p:nvPr/>
        </p:nvSpPr>
        <p:spPr>
          <a:xfrm>
            <a:off x="10123170" y="3492500"/>
            <a:ext cx="1373581" cy="366776"/>
          </a:xfrm>
          <a:prstGeom prst="rect">
            <a:avLst/>
          </a:prstGeom>
          <a:noFill/>
        </p:spPr>
        <p:txBody>
          <a:bodyPr wrap="square" anchor="t" lIns="0" rIns="0" tIns="0" bIns="0">
            <a:spAutoFit/>
          </a:bodyPr>
          <a:lstStyle/>
          <a:p>
            <a:pPr algn="l"/>
            <a:r>
              <a:rPr sz="1000" b="0" i="0">
                <a:solidFill>
                  <a:srgbClr val="CFC9EE"/>
                </a:solidFill>
                <a:latin typeface="Calibri"/>
              </a:rPr>
              <a:t>The flag, checked before the calls</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42" name="Oval 4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44" name="Oval 4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46" name="Oval 4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48" name="Oval 4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50" name="TextBox 4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86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asks: a list, a flag and the plan line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is asking, and what does each of them want by Monday?</a:t>
            </a:r>
          </a:p>
        </p:txBody>
      </p:sp>
      <p:sp>
        <p:nvSpPr>
          <p:cNvPr id="9" name="Rounded Rectangle 8"/>
          <p:cNvSpPr/>
          <p:nvPr/>
        </p:nvSpPr>
        <p:spPr>
          <a:xfrm>
            <a:off x="530352" y="1956816"/>
            <a:ext cx="3588410"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gaphone_76c78891bb4f.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MARKETING</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The marketing lead</a:t>
            </a:r>
          </a:p>
        </p:txBody>
      </p:sp>
      <p:sp>
        <p:nvSpPr>
          <p:cNvPr id="14" name="TextBox 13"/>
          <p:cNvSpPr txBox="1"/>
          <p:nvPr/>
        </p:nvSpPr>
        <p:spPr>
          <a:xfrm>
            <a:off x="731519" y="3303524"/>
            <a:ext cx="3186074" cy="763016"/>
          </a:xfrm>
          <a:prstGeom prst="rect">
            <a:avLst/>
          </a:prstGeom>
          <a:noFill/>
        </p:spPr>
        <p:txBody>
          <a:bodyPr wrap="square" anchor="t" lIns="0" rIns="0" tIns="0" bIns="0">
            <a:spAutoFit/>
          </a:bodyPr>
          <a:lstStyle/>
          <a:p>
            <a:pPr algn="l"/>
            <a:r>
              <a:rPr sz="1100" b="0" i="0">
                <a:solidFill>
                  <a:srgbClr val="CFC9EE"/>
                </a:solidFill>
                <a:latin typeface="Calibri"/>
              </a:rPr>
              <a:t>Owns acquisition and campaigns. Wants each segment's top fifty by Q2 revenue and a flag on members whose monthly spend fell two months running.</a:t>
            </a:r>
          </a:p>
        </p:txBody>
      </p:sp>
      <p:sp>
        <p:nvSpPr>
          <p:cNvPr id="15" name="Rounded Rectangle 14"/>
          <p:cNvSpPr/>
          <p:nvPr/>
        </p:nvSpPr>
        <p:spPr>
          <a:xfrm>
            <a:off x="430164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rown_50cb0a914c82.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RETAIL-PLUS</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head of Retail-Plus</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Owns the paid membership tier. Wants members who spent the same ranked the same, and the count that made the list.</a:t>
            </a:r>
          </a:p>
        </p:txBody>
      </p:sp>
      <p:sp>
        <p:nvSpPr>
          <p:cNvPr id="21" name="Rounded Rectangle 20"/>
          <p:cNvSpPr/>
          <p:nvPr/>
        </p:nvSpPr>
        <p:spPr>
          <a:xfrm>
            <a:off x="807293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art-line_ded8d80bd4f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CEO</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Meera Raghavan</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Wants Q2 revenue to accumulate week by week against the plan line, to know by mid-quarter whether to act.</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9" name="Oval 2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1" name="Oval 3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3" name="Oval 3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5" name="Oval 34"/>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3 / 86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wrong answer costs offers, members or a campaign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person need from the data team, and what does a wrong answer cost them?</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"Give us the top fifty customers by Q2 revenue in each segment, and flag anyone whose monthly spend has fallen for two months running."</a:t>
            </a:r>
          </a:p>
        </p:txBody>
      </p:sp>
      <p:graphicFrame>
        <p:nvGraphicFramePr>
          <p:cNvPr id="14" name="Table 13"/>
          <p:cNvGraphicFramePr>
            <a:graphicFrameLocks noGrp="1"/>
          </p:cNvGraphicFramePr>
          <p:nvPr/>
        </p:nvGraphicFramePr>
        <p:xfrm>
          <a:off x="530352" y="3243072"/>
          <a:ext cx="11130989" cy="2505456"/>
        </p:xfrm>
        <a:graphic>
          <a:graphicData uri="http://schemas.openxmlformats.org/drawingml/2006/table">
            <a:tbl>
              <a:tblPr firstRow="0" bandRow="0">
                <a:tableStyleId>{2D5ABB26-0587-4C30-8999-92F81FD0307C}</a:tableStyleId>
              </a:tblPr>
              <a:tblGrid>
                <a:gridCol w="1950554"/>
                <a:gridCol w="2858401"/>
                <a:gridCol w="2934055"/>
                <a:gridCol w="3387979"/>
              </a:tblGrid>
              <a:tr h="335280">
                <a:tc>
                  <a:txBody>
                    <a:bodyPr/>
                    <a:lstStyle/>
                    <a:p>
                      <a:r>
                        <a:rPr sz="1250" b="1" i="0">
                          <a:solidFill>
                            <a:srgbClr val="FFFFFF"/>
                          </a:solidFill>
                          <a:latin typeface="Calibri"/>
                        </a:rPr>
                        <a:t>Who</a:t>
                      </a:r>
                    </a:p>
                  </a:txBody>
                  <a:tcPr marL="101600" marR="101600" marT="38100" marB="38100" anchor="ctr">
                    <a:solidFill>
                      <a:srgbClr val="1A0F5C"/>
                    </a:solidFill>
                  </a:tcPr>
                </a:tc>
                <a:tc>
                  <a:txBody>
                    <a:bodyPr/>
                    <a:lstStyle/>
                    <a:p>
                      <a:r>
                        <a:rPr sz="1250" b="1" i="0">
                          <a:solidFill>
                            <a:srgbClr val="FFFFFF"/>
                          </a:solidFill>
                          <a:latin typeface="Calibri"/>
                        </a:rPr>
                        <a:t>Their question</a:t>
                      </a:r>
                    </a:p>
                  </a:txBody>
                  <a:tcPr marL="101600" marR="101600" marT="38100" marB="38100" anchor="ctr">
                    <a:solidFill>
                      <a:srgbClr val="1A0F5C"/>
                    </a:solidFill>
                  </a:tcPr>
                </a:tc>
                <a:tc>
                  <a:txBody>
                    <a:bodyPr/>
                    <a:lstStyle/>
                    <a:p>
                      <a:r>
                        <a:rPr sz="1250" b="1" i="0">
                          <a:solidFill>
                            <a:srgbClr val="FFFFFF"/>
                          </a:solidFill>
                          <a:latin typeface="Calibri"/>
                        </a:rPr>
                        <a:t>What answers it</a:t>
                      </a:r>
                    </a:p>
                  </a:txBody>
                  <a:tcPr marL="101600" marR="101600" marT="38100" marB="38100" anchor="ctr">
                    <a:solidFill>
                      <a:srgbClr val="1A0F5C"/>
                    </a:solidFill>
                  </a:tcPr>
                </a:tc>
                <a:tc>
                  <a:txBody>
                    <a:bodyPr/>
                    <a:lstStyle/>
                    <a:p>
                      <a:r>
                        <a:rPr sz="1250" b="1" i="0">
                          <a:solidFill>
                            <a:srgbClr val="FFFFFF"/>
                          </a:solidFill>
                          <a:latin typeface="Calibri"/>
                        </a:rPr>
                        <a:t>A wrong answer costs</a:t>
                      </a:r>
                    </a:p>
                  </a:txBody>
                  <a:tcPr marL="101600" marR="101600" marT="38100" marB="38100" anchor="ctr">
                    <a:solidFill>
                      <a:srgbClr val="1A0F5C"/>
                    </a:solidFill>
                  </a:tcPr>
                </a:tc>
              </a:tr>
              <a:tr h="542544">
                <a:tc>
                  <a:txBody>
                    <a:bodyPr/>
                    <a:lstStyle/>
                    <a:p>
                      <a:r>
                        <a:rPr sz="1200" b="0" i="0">
                          <a:solidFill>
                            <a:srgbClr val="1A1440"/>
                          </a:solidFill>
                          <a:latin typeface="Calibri"/>
                        </a:rPr>
                        <a:t>The marketing lead</a:t>
                      </a:r>
                    </a:p>
                  </a:txBody>
                  <a:tcPr marL="101600" marR="101600" marT="38100" marB="38100" anchor="ctr">
                    <a:solidFill>
                      <a:srgbClr val="FFFFFF"/>
                    </a:solidFill>
                  </a:tcPr>
                </a:tc>
                <a:tc>
                  <a:txBody>
                    <a:bodyPr/>
                    <a:lstStyle/>
                    <a:p>
                      <a:r>
                        <a:rPr sz="1200" b="0" i="0">
                          <a:solidFill>
                            <a:srgbClr val="1A1440"/>
                          </a:solidFill>
                          <a:latin typeface="Calibri"/>
                        </a:rPr>
                        <a:t>Whom do we protect in each segment?</a:t>
                      </a:r>
                    </a:p>
                  </a:txBody>
                  <a:tcPr marL="101600" marR="101600" marT="38100" marB="38100" anchor="ctr">
                    <a:solidFill>
                      <a:srgbClr val="FFFFFF"/>
                    </a:solidFill>
                  </a:tcPr>
                </a:tc>
                <a:tc>
                  <a:txBody>
                    <a:bodyPr/>
                    <a:lstStyle/>
                    <a:p>
                      <a:r>
                        <a:rPr sz="1200" b="0" i="0">
                          <a:solidFill>
                            <a:srgbClr val="1A1440"/>
                          </a:solidFill>
                          <a:latin typeface="Calibri"/>
                        </a:rPr>
                        <a:t>A ranked list per segment</a:t>
                      </a:r>
                    </a:p>
                  </a:txBody>
                  <a:tcPr marL="101600" marR="101600" marT="38100" marB="38100" anchor="ctr">
                    <a:solidFill>
                      <a:srgbClr val="FFFFFF"/>
                    </a:solidFill>
                  </a:tcPr>
                </a:tc>
                <a:tc>
                  <a:txBody>
                    <a:bodyPr/>
                    <a:lstStyle/>
                    <a:p>
                      <a:r>
                        <a:rPr sz="1200" b="0" i="0">
                          <a:solidFill>
                            <a:srgbClr val="1A1440"/>
                          </a:solidFill>
                          <a:latin typeface="Calibri"/>
                        </a:rPr>
                        <a:t>Offers spent on the wrong members</a:t>
                      </a:r>
                    </a:p>
                  </a:txBody>
                  <a:tcPr marL="101600" marR="101600" marT="38100" marB="38100" anchor="ctr">
                    <a:solidFill>
                      <a:srgbClr val="FFFFFF"/>
                    </a:solidFill>
                  </a:tcPr>
                </a:tc>
              </a:tr>
              <a:tr h="542544">
                <a:tc>
                  <a:txBody>
                    <a:bodyPr/>
                    <a:lstStyle/>
                    <a:p>
                      <a:r>
                        <a:rPr sz="1200" b="0" i="0">
                          <a:solidFill>
                            <a:srgbClr val="1A1440"/>
                          </a:solidFill>
                          <a:latin typeface="Calibri"/>
                        </a:rPr>
                        <a:t>The head of Retail-Plus</a:t>
                      </a:r>
                    </a:p>
                  </a:txBody>
                  <a:tcPr marL="101600" marR="101600" marT="38100" marB="38100" anchor="ctr">
                    <a:solidFill>
                      <a:srgbClr val="F4F2FA"/>
                    </a:solidFill>
                  </a:tcPr>
                </a:tc>
                <a:tc>
                  <a:txBody>
                    <a:bodyPr/>
                    <a:lstStyle/>
                    <a:p>
                      <a:r>
                        <a:rPr sz="1200" b="0" i="0">
                          <a:solidFill>
                            <a:srgbClr val="1A1440"/>
                          </a:solidFill>
                          <a:latin typeface="Calibri"/>
                        </a:rPr>
                        <a:t>How many made the list, ties kept?</a:t>
                      </a:r>
                    </a:p>
                  </a:txBody>
                  <a:tcPr marL="101600" marR="101600" marT="38100" marB="38100" anchor="ctr">
                    <a:solidFill>
                      <a:srgbClr val="F4F2FA"/>
                    </a:solidFill>
                  </a:tcPr>
                </a:tc>
                <a:tc>
                  <a:txBody>
                    <a:bodyPr/>
                    <a:lstStyle/>
                    <a:p>
                      <a:r>
                        <a:rPr sz="1200" b="0" i="0">
                          <a:solidFill>
                            <a:srgbClr val="1A1440"/>
                          </a:solidFill>
                          <a:latin typeface="Calibri"/>
                        </a:rPr>
                        <a:t>A tie rule and its count</a:t>
                      </a:r>
                    </a:p>
                  </a:txBody>
                  <a:tcPr marL="101600" marR="101600" marT="38100" marB="38100" anchor="ctr">
                    <a:solidFill>
                      <a:srgbClr val="F4F2FA"/>
                    </a:solidFill>
                  </a:tcPr>
                </a:tc>
                <a:tc>
                  <a:txBody>
                    <a:bodyPr/>
                    <a:lstStyle/>
                    <a:p>
                      <a:r>
                        <a:rPr sz="1200" b="0" i="0">
                          <a:solidFill>
                            <a:srgbClr val="1A1440"/>
                          </a:solidFill>
                          <a:latin typeface="Calibri"/>
                        </a:rPr>
                        <a:t>A member dropped by a coin toss</a:t>
                      </a:r>
                    </a:p>
                  </a:txBody>
                  <a:tcPr marL="101600" marR="101600" marT="38100" marB="38100" anchor="ctr">
                    <a:solidFill>
                      <a:srgbClr val="F4F2FA"/>
                    </a:solidFill>
                  </a:tcPr>
                </a:tc>
              </a:tr>
              <a:tr h="542544">
                <a:tc>
                  <a:txBody>
                    <a:bodyPr/>
                    <a:lstStyle/>
                    <a:p>
                      <a:r>
                        <a:rPr sz="1200" b="0" i="0">
                          <a:solidFill>
                            <a:srgbClr val="1A1440"/>
                          </a:solidFill>
                          <a:latin typeface="Calibri"/>
                        </a:rPr>
                        <a:t>The marketing lead</a:t>
                      </a:r>
                    </a:p>
                  </a:txBody>
                  <a:tcPr marL="101600" marR="101600" marT="38100" marB="38100" anchor="ctr">
                    <a:solidFill>
                      <a:srgbClr val="FFFFFF"/>
                    </a:solidFill>
                  </a:tcPr>
                </a:tc>
                <a:tc>
                  <a:txBody>
                    <a:bodyPr/>
                    <a:lstStyle/>
                    <a:p>
                      <a:r>
                        <a:rPr sz="1200" b="0" i="0">
                          <a:solidFill>
                            <a:srgbClr val="1A1440"/>
                          </a:solidFill>
                          <a:latin typeface="Calibri"/>
                        </a:rPr>
                        <a:t>Whose spend is slipping?</a:t>
                      </a:r>
                    </a:p>
                  </a:txBody>
                  <a:tcPr marL="101600" marR="101600" marT="38100" marB="38100" anchor="ctr">
                    <a:solidFill>
                      <a:srgbClr val="FFFFFF"/>
                    </a:solidFill>
                  </a:tcPr>
                </a:tc>
                <a:tc>
                  <a:txBody>
                    <a:bodyPr/>
                    <a:lstStyle/>
                    <a:p>
                      <a:r>
                        <a:rPr sz="1200" b="0" i="0">
                          <a:solidFill>
                            <a:srgbClr val="1A1440"/>
                          </a:solidFill>
                          <a:latin typeface="Calibri"/>
                        </a:rPr>
                        <a:t>Each member against their own month</a:t>
                      </a:r>
                    </a:p>
                  </a:txBody>
                  <a:tcPr marL="101600" marR="101600" marT="38100" marB="38100" anchor="ctr">
                    <a:solidFill>
                      <a:srgbClr val="FFFFFF"/>
                    </a:solidFill>
                  </a:tcPr>
                </a:tc>
                <a:tc>
                  <a:txBody>
                    <a:bodyPr/>
                    <a:lstStyle/>
                    <a:p>
                      <a:r>
                        <a:rPr sz="1200" b="0" i="0">
                          <a:solidFill>
                            <a:srgbClr val="1A1440"/>
                          </a:solidFill>
                          <a:latin typeface="Calibri"/>
                        </a:rPr>
                        <a:t>Calls that accuse loyal members</a:t>
                      </a:r>
                    </a:p>
                  </a:txBody>
                  <a:tcPr marL="101600" marR="101600" marT="38100" marB="38100" anchor="ctr">
                    <a:solidFill>
                      <a:srgbClr val="FFFFFF"/>
                    </a:solidFill>
                  </a:tcPr>
                </a:tc>
              </a:tr>
              <a:tr h="542544">
                <a:tc>
                  <a:txBody>
                    <a:bodyPr/>
                    <a:lstStyle/>
                    <a:p>
                      <a:r>
                        <a:rPr sz="1200" b="0" i="0">
                          <a:solidFill>
                            <a:srgbClr val="1A1440"/>
                          </a:solidFill>
                          <a:latin typeface="Calibri"/>
                        </a:rPr>
                        <a:t>Meera Raghavan</a:t>
                      </a:r>
                    </a:p>
                  </a:txBody>
                  <a:tcPr marL="101600" marR="101600" marT="38100" marB="38100" anchor="ctr">
                    <a:solidFill>
                      <a:srgbClr val="F4F2FA"/>
                    </a:solidFill>
                  </a:tcPr>
                </a:tc>
                <a:tc>
                  <a:txBody>
                    <a:bodyPr/>
                    <a:lstStyle/>
                    <a:p>
                      <a:r>
                        <a:rPr sz="1200" b="0" i="0">
                          <a:solidFill>
                            <a:srgbClr val="1A1440"/>
                          </a:solidFill>
                          <a:latin typeface="Calibri"/>
                        </a:rPr>
                        <a:t>Is Q2 on track?</a:t>
                      </a:r>
                    </a:p>
                  </a:txBody>
                  <a:tcPr marL="101600" marR="101600" marT="38100" marB="38100" anchor="ctr">
                    <a:solidFill>
                      <a:srgbClr val="F4F2FA"/>
                    </a:solidFill>
                  </a:tcPr>
                </a:tc>
                <a:tc>
                  <a:txBody>
                    <a:bodyPr/>
                    <a:lstStyle/>
                    <a:p>
                      <a:r>
                        <a:rPr sz="1200" b="0" i="0">
                          <a:solidFill>
                            <a:srgbClr val="1A1440"/>
                          </a:solidFill>
                          <a:latin typeface="Calibri"/>
                        </a:rPr>
                        <a:t>Revenue to date against plan to date</a:t>
                      </a:r>
                    </a:p>
                  </a:txBody>
                  <a:tcPr marL="101600" marR="101600" marT="38100" marB="38100" anchor="ctr">
                    <a:solidFill>
                      <a:srgbClr val="F4F2FA"/>
                    </a:solidFill>
                  </a:tcPr>
                </a:tc>
                <a:tc>
                  <a:txBody>
                    <a:bodyPr/>
                    <a:lstStyle/>
                    <a:p>
                      <a:r>
                        <a:rPr sz="1200" b="0" i="0">
                          <a:solidFill>
                            <a:srgbClr val="1A1440"/>
                          </a:solidFill>
                          <a:latin typeface="Calibri"/>
                        </a:rPr>
                        <a:t>A campaign chasing a gap that is not there</a:t>
                      </a:r>
                    </a:p>
                  </a:txBody>
                  <a:tcPr marL="101600" marR="101600" marT="38100" marB="38100" anchor="ctr">
                    <a:solidFill>
                      <a:srgbClr val="F4F2FA"/>
                    </a:solidFill>
                  </a:tcPr>
                </a:tc>
              </a:tr>
            </a:tbl>
          </a:graphicData>
        </a:graphic>
      </p:graphicFrame>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3" name="Oval 22"/>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4 / 86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can one GROUP BY give each top fifty?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GROUP BY, the tool the room already knows, return each segment's top fifty?</a:t>
            </a:r>
          </a:p>
        </p:txBody>
      </p:sp>
      <p:pic>
        <p:nvPicPr>
          <p:cNvPr id="9" name="mermaid diagram" descr="770a3fadea706e50.png"/>
          <p:cNvPicPr>
            <a:picLocks noChangeAspect="1"/>
          </p:cNvPicPr>
          <p:nvPr/>
        </p:nvPicPr>
        <p:blipFill>
          <a:blip r:embed="rId5"/>
          <a:stretch>
            <a:fillRect/>
          </a:stretch>
        </p:blipFill>
        <p:spPr>
          <a:xfrm>
            <a:off x="1781022" y="1956816"/>
            <a:ext cx="8629650" cy="871537"/>
          </a:xfrm>
          <a:prstGeom prst="rect">
            <a:avLst/>
          </a:prstGeom>
        </p:spPr>
      </p:pic>
      <p:sp>
        <p:nvSpPr>
          <p:cNvPr id="10" name="Rounded Rectangle 9"/>
          <p:cNvSpPr/>
          <p:nvPr/>
        </p:nvSpPr>
        <p:spPr>
          <a:xfrm>
            <a:off x="530352" y="2974657"/>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02673"/>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93529"/>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Can one GROUP BY return each segment's top fifty members, as a letter? a) yes, GROUP BY segment with LIMIT 50; b) yes, GROUP BY member with LIMIT 50; c) no, GROUP BY returns one row per group and keeps no member below it; d) no, SQL cannot rank at all.</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5 / 86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no, GROUP BY collapses what the asks keep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GROUP BY, the tool the room already knows, return each segment's top fifty?</a:t>
            </a:r>
          </a:p>
        </p:txBody>
      </p:sp>
      <p:pic>
        <p:nvPicPr>
          <p:cNvPr id="9" name="mermaid diagram" descr="03fde1f5e6e97dfb.png"/>
          <p:cNvPicPr>
            <a:picLocks noChangeAspect="1"/>
          </p:cNvPicPr>
          <p:nvPr/>
        </p:nvPicPr>
        <p:blipFill>
          <a:blip r:embed="rId6"/>
          <a:stretch>
            <a:fillRect/>
          </a:stretch>
        </p:blipFill>
        <p:spPr>
          <a:xfrm>
            <a:off x="1981047" y="1956816"/>
            <a:ext cx="8229600" cy="2300287"/>
          </a:xfrm>
          <a:prstGeom prst="rect">
            <a:avLst/>
          </a:prstGeom>
        </p:spPr>
      </p:pic>
      <p:sp>
        <p:nvSpPr>
          <p:cNvPr id="10" name="Rounded Rectangle 9"/>
          <p:cNvSpPr/>
          <p:nvPr/>
        </p:nvSpPr>
        <p:spPr>
          <a:xfrm>
            <a:off x="530352" y="4403407"/>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73563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4845367"/>
            <a:ext cx="237744" cy="237744"/>
          </a:xfrm>
          <a:prstGeom prst="rect">
            <a:avLst/>
          </a:prstGeom>
        </p:spPr>
      </p:pic>
      <p:sp>
        <p:nvSpPr>
          <p:cNvPr id="13" name="TextBox 12"/>
          <p:cNvSpPr txBox="1"/>
          <p:nvPr/>
        </p:nvSpPr>
        <p:spPr>
          <a:xfrm>
            <a:off x="1399031" y="454971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769167"/>
            <a:ext cx="9987991" cy="682752"/>
          </a:xfrm>
          <a:prstGeom prst="rect">
            <a:avLst/>
          </a:prstGeom>
          <a:noFill/>
        </p:spPr>
        <p:txBody>
          <a:bodyPr wrap="square" anchor="t" lIns="0" rIns="0" tIns="0" bIns="0">
            <a:spAutoFit/>
          </a:bodyPr>
          <a:lstStyle/>
          <a:p>
            <a:r>
              <a:rPr sz="1500" b="0" i="0">
                <a:solidFill>
                  <a:srgbClr val="1A1440"/>
                </a:solidFill>
                <a:latin typeface="Calibri"/>
              </a:rPr>
              <a:t>GROUP BY answers how much per group and keeps nothing below the group. A window function computes over related rows and keeps every row, adding one column: a place, a previous month, or a total so far.</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3" name="Oval 22"/>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6 / 86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ask is a window: a place, a month, a total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of the three asks need the window to add to every row?</a:t>
            </a:r>
          </a:p>
        </p:txBody>
      </p:sp>
      <p:pic>
        <p:nvPicPr>
          <p:cNvPr id="9" name="mermaid diagram" descr="72972bbe8635c445.png"/>
          <p:cNvPicPr>
            <a:picLocks noChangeAspect="1"/>
          </p:cNvPicPr>
          <p:nvPr/>
        </p:nvPicPr>
        <p:blipFill>
          <a:blip r:embed="rId5"/>
          <a:stretch>
            <a:fillRect/>
          </a:stretch>
        </p:blipFill>
        <p:spPr>
          <a:xfrm>
            <a:off x="3402653" y="1956816"/>
            <a:ext cx="5386387" cy="2714625"/>
          </a:xfrm>
          <a:prstGeom prst="rect">
            <a:avLst/>
          </a:prstGeom>
        </p:spPr>
      </p:pic>
      <p:sp>
        <p:nvSpPr>
          <p:cNvPr id="10" name="TextBox 9"/>
          <p:cNvSpPr txBox="1"/>
          <p:nvPr/>
        </p:nvSpPr>
        <p:spPr>
          <a:xfrm>
            <a:off x="530352" y="4817745"/>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window is written function() OVER (PARTITION BY ... ORDER BY ...): the partition says whose rows belong together, and the order says which row comes before which.</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5" name="Oval 14"/>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19" name="Oval 18"/>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7 / 86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Today teaches SQL window functions in six topics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today teach?</a:t>
            </a:r>
          </a:p>
        </p:txBody>
      </p:sp>
      <p:pic>
        <p:nvPicPr>
          <p:cNvPr id="9" name="mermaid diagram" descr="8c9146e02051b291.png"/>
          <p:cNvPicPr>
            <a:picLocks noChangeAspect="1"/>
          </p:cNvPicPr>
          <p:nvPr/>
        </p:nvPicPr>
        <p:blipFill>
          <a:blip r:embed="rId5"/>
          <a:stretch>
            <a:fillRect/>
          </a:stretch>
        </p:blipFill>
        <p:spPr>
          <a:xfrm>
            <a:off x="530352" y="2620005"/>
            <a:ext cx="4786326" cy="2642116"/>
          </a:xfrm>
          <a:prstGeom prst="rect">
            <a:avLst/>
          </a:prstGeom>
        </p:spPr>
      </p:pic>
      <p:graphicFrame>
        <p:nvGraphicFramePr>
          <p:cNvPr id="10" name="Table 9"/>
          <p:cNvGraphicFramePr>
            <a:graphicFrameLocks noGrp="1"/>
          </p:cNvGraphicFramePr>
          <p:nvPr/>
        </p:nvGraphicFramePr>
        <p:xfrm>
          <a:off x="5761917" y="1938528"/>
          <a:ext cx="5899423" cy="4005072"/>
        </p:xfrm>
        <a:graphic>
          <a:graphicData uri="http://schemas.openxmlformats.org/drawingml/2006/table">
            <a:tbl>
              <a:tblPr firstRow="0" bandRow="0">
                <a:tableStyleId>{2D5ABB26-0587-4C30-8999-92F81FD0307C}</a:tableStyleId>
              </a:tblPr>
              <a:tblGrid>
                <a:gridCol w="2275480"/>
                <a:gridCol w="2177011"/>
                <a:gridCol w="1446932"/>
              </a:tblGrid>
              <a:tr h="542544">
                <a:tc>
                  <a:txBody>
                    <a:bodyPr/>
                    <a:lstStyle/>
                    <a:p>
                      <a:r>
                        <a:rPr sz="1250" b="1" i="0">
                          <a:solidFill>
                            <a:srgbClr val="FFFFFF"/>
                          </a:solidFill>
                          <a:latin typeface="Calibri"/>
                        </a:rPr>
                        <a:t>Topic, in the curriculum's words</a:t>
                      </a:r>
                    </a:p>
                  </a:txBody>
                  <a:tcPr marL="101600" marR="101600" marT="38100" marB="38100" anchor="ctr">
                    <a:solidFill>
                      <a:srgbClr val="1A0F5C"/>
                    </a:solidFill>
                  </a:tcPr>
                </a:tc>
                <a:tc>
                  <a:txBody>
                    <a:bodyPr/>
                    <a:lstStyle/>
                    <a:p>
                      <a:r>
                        <a:rPr sz="1250" b="1" i="0">
                          <a:solidFill>
                            <a:srgbClr val="FFFFFF"/>
                          </a:solidFill>
                          <a:latin typeface="Calibri"/>
                        </a:rPr>
                        <a:t>Chapter</a:t>
                      </a:r>
                    </a:p>
                  </a:txBody>
                  <a:tcPr marL="101600" marR="101600" marT="38100" marB="38100" anchor="ctr">
                    <a:solidFill>
                      <a:srgbClr val="1A0F5C"/>
                    </a:solidFill>
                  </a:tcPr>
                </a:tc>
                <a:tc>
                  <a:txBody>
                    <a:bodyPr/>
                    <a:lstStyle/>
                    <a:p>
                      <a:r>
                        <a:rPr sz="1250" b="1" i="0">
                          <a:solidFill>
                            <a:srgbClr val="FFFFFF"/>
                          </a:solidFill>
                          <a:latin typeface="Calibri"/>
                        </a:rPr>
                        <a:t>Minutes</a:t>
                      </a:r>
                    </a:p>
                  </a:txBody>
                  <a:tcPr marL="101600" marR="101600" marT="38100" marB="38100" anchor="ctr">
                    <a:solidFill>
                      <a:srgbClr val="1A0F5C"/>
                    </a:solidFill>
                  </a:tcPr>
                </a:tc>
              </a:tr>
              <a:tr h="749808">
                <a:tc>
                  <a:txBody>
                    <a:bodyPr/>
                    <a:lstStyle/>
                    <a:p>
                      <a:r>
                        <a:rPr sz="1200" b="0" i="0">
                          <a:solidFill>
                            <a:srgbClr val="1A1440"/>
                          </a:solidFill>
                          <a:latin typeface="Calibri"/>
                        </a:rPr>
                        <a:t>ROW_NUMBER, RANK and DENSE_RANK, and what a tie does to each</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30</a:t>
                      </a:r>
                    </a:p>
                  </a:txBody>
                  <a:tcPr marL="101600" marR="101600" marT="38100" marB="38100" anchor="ctr">
                    <a:solidFill>
                      <a:srgbClr val="FFFFFF"/>
                    </a:solidFill>
                  </a:tcPr>
                </a:tc>
              </a:tr>
              <a:tr h="542544">
                <a:tc>
                  <a:txBody>
                    <a:bodyPr/>
                    <a:lstStyle/>
                    <a:p>
                      <a:r>
                        <a:rPr sz="1200" b="0" i="0">
                          <a:solidFill>
                            <a:srgbClr val="1A1440"/>
                          </a:solidFill>
                          <a:latin typeface="Calibri"/>
                        </a:rPr>
                        <a:t>PARTITION BY; ORDER BY inside the window</a:t>
                      </a:r>
                    </a:p>
                  </a:txBody>
                  <a:tcPr marL="101600" marR="101600" marT="38100" marB="38100" anchor="ctr">
                    <a:solidFill>
                      <a:srgbClr val="F4F2FA"/>
                    </a:solidFill>
                  </a:tcPr>
                </a:tc>
                <a:tc>
                  <a:txBody>
                    <a:bodyPr/>
                    <a:lstStyle/>
                    <a:p>
                      <a:r>
                        <a:rPr sz="1200" b="0" i="0">
                          <a:solidFill>
                            <a:srgbClr val="1A1440"/>
                          </a:solidFill>
                          <a:latin typeface="Calibri"/>
                        </a:rPr>
                        <a:t>2, with ORDER BY from 1</a:t>
                      </a:r>
                    </a:p>
                  </a:txBody>
                  <a:tcPr marL="101600" marR="101600" marT="38100" marB="38100" anchor="ctr">
                    <a:solidFill>
                      <a:srgbClr val="F4F2FA"/>
                    </a:solidFill>
                  </a:tcPr>
                </a:tc>
                <a:tc>
                  <a:txBody>
                    <a:bodyPr/>
                    <a:lstStyle/>
                    <a:p>
                      <a:r>
                        <a:rPr sz="1200" b="0" i="0">
                          <a:solidFill>
                            <a:srgbClr val="1A1440"/>
                          </a:solidFill>
                          <a:latin typeface="Calibri"/>
                        </a:rPr>
                        <a:t>30 each</a:t>
                      </a:r>
                    </a:p>
                  </a:txBody>
                  <a:tcPr marL="101600" marR="101600" marT="38100" marB="38100" anchor="ctr">
                    <a:solidFill>
                      <a:srgbClr val="F4F2FA"/>
                    </a:solidFill>
                  </a:tcPr>
                </a:tc>
              </a:tr>
              <a:tr h="542544">
                <a:tc>
                  <a:txBody>
                    <a:bodyPr/>
                    <a:lstStyle/>
                    <a:p>
                      <a:r>
                        <a:rPr sz="1200" b="0" i="0">
                          <a:solidFill>
                            <a:srgbClr val="1A1440"/>
                          </a:solidFill>
                          <a:latin typeface="Calibri"/>
                        </a:rPr>
                        <a:t>Top-N per group</a:t>
                      </a:r>
                    </a:p>
                  </a:txBody>
                  <a:tcPr marL="101600" marR="101600" marT="38100" marB="38100" anchor="ctr">
                    <a:solidFill>
                      <a:srgbClr val="FFFFFF"/>
                    </a:solidFill>
                  </a:tcPr>
                </a:tc>
                <a:tc>
                  <a:txBody>
                    <a:bodyPr/>
                    <a:lstStyle/>
                    <a:p>
                      <a:r>
                        <a:rPr sz="1200" b="0" i="0">
                          <a:solidFill>
                            <a:srgbClr val="1A1440"/>
                          </a:solidFill>
                          <a:latin typeface="Calibri"/>
                        </a:rPr>
                        <a:t>2</a:t>
                      </a:r>
                    </a:p>
                  </a:txBody>
                  <a:tcPr marL="101600" marR="101600" marT="38100" marB="38100" anchor="ctr">
                    <a:solidFill>
                      <a:srgbClr val="FFFFFF"/>
                    </a:solidFill>
                  </a:tcPr>
                </a:tc>
                <a:tc>
                  <a:txBody>
                    <a:bodyPr/>
                    <a:lstStyle/>
                    <a:p>
                      <a:r>
                        <a:rPr sz="1200" b="0" i="0">
                          <a:solidFill>
                            <a:srgbClr val="1A1440"/>
                          </a:solidFill>
                          <a:latin typeface="Calibri"/>
                        </a:rPr>
                        <a:t>within chapter 2's 30</a:t>
                      </a:r>
                    </a:p>
                  </a:txBody>
                  <a:tcPr marL="101600" marR="101600" marT="38100" marB="38100" anchor="ctr">
                    <a:solidFill>
                      <a:srgbClr val="FFFFFF"/>
                    </a:solidFill>
                  </a:tcPr>
                </a:tc>
              </a:tr>
              <a:tr h="542544">
                <a:tc>
                  <a:txBody>
                    <a:bodyPr/>
                    <a:lstStyle/>
                    <a:p>
                      <a:r>
                        <a:rPr sz="1200" b="0" i="0">
                          <a:solidFill>
                            <a:srgbClr val="1A1440"/>
                          </a:solidFill>
                          <a:latin typeface="Calibri"/>
                        </a:rPr>
                        <a:t>LAG and LEAD; month-on-month comparison per customer</a:t>
                      </a:r>
                    </a:p>
                  </a:txBody>
                  <a:tcPr marL="101600" marR="101600" marT="38100" marB="38100" anchor="ctr">
                    <a:solidFill>
                      <a:srgbClr val="F4F2FA"/>
                    </a:solidFill>
                  </a:tcPr>
                </a:tc>
                <a:tc>
                  <a:txBody>
                    <a:bodyPr/>
                    <a:lstStyle/>
                    <a:p>
                      <a:r>
                        <a:rPr sz="1200" b="0" i="0">
                          <a:solidFill>
                            <a:srgbClr val="1A1440"/>
                          </a:solidFill>
                          <a:latin typeface="Calibri"/>
                        </a:rPr>
                        <a:t>4, then 6 against calendar months</a:t>
                      </a:r>
                    </a:p>
                  </a:txBody>
                  <a:tcPr marL="101600" marR="101600" marT="38100" marB="38100" anchor="ctr">
                    <a:solidFill>
                      <a:srgbClr val="F4F2FA"/>
                    </a:solidFill>
                  </a:tcPr>
                </a:tc>
                <a:tc>
                  <a:txBody>
                    <a:bodyPr/>
                    <a:lstStyle/>
                    <a:p>
                      <a:r>
                        <a:rPr sz="1200" b="0" i="0">
                          <a:solidFill>
                            <a:srgbClr val="1A1440"/>
                          </a:solidFill>
                          <a:latin typeface="Calibri"/>
                        </a:rPr>
                        <a:t>30 each</a:t>
                      </a:r>
                    </a:p>
                  </a:txBody>
                  <a:tcPr marL="101600" marR="101600" marT="38100" marB="38100" anchor="ctr">
                    <a:solidFill>
                      <a:srgbClr val="F4F2FA"/>
                    </a:solidFill>
                  </a:tcPr>
                </a:tc>
              </a:tr>
              <a:tr h="542544">
                <a:tc>
                  <a:txBody>
                    <a:bodyPr/>
                    <a:lstStyle/>
                    <a:p>
                      <a:r>
                        <a:rPr sz="1200" b="0" i="0">
                          <a:solidFill>
                            <a:srgbClr val="1A1440"/>
                          </a:solidFill>
                          <a:latin typeface="Calibri"/>
                        </a:rPr>
                        <a:t>Running totals and determinism</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30</a:t>
                      </a:r>
                    </a:p>
                  </a:txBody>
                  <a:tcPr marL="101600" marR="101600" marT="38100" marB="38100" anchor="ctr">
                    <a:solidFill>
                      <a:srgbClr val="FFFFFF"/>
                    </a:solidFill>
                  </a:tcPr>
                </a:tc>
              </a:tr>
              <a:tr h="542544">
                <a:tc>
                  <a:txBody>
                    <a:bodyPr/>
                    <a:lstStyle/>
                    <a:p>
                      <a:r>
                        <a:rPr sz="1200" b="0" i="0">
                          <a:solidFill>
                            <a:srgbClr val="1A1440"/>
                          </a:solidFill>
                          <a:latin typeface="Calibri"/>
                        </a:rPr>
                        <a:t>Filtering on a window via a CTE</a:t>
                      </a:r>
                    </a:p>
                  </a:txBody>
                  <a:tcPr marL="101600" marR="101600" marT="38100" marB="38100" anchor="ctr">
                    <a:solidFill>
                      <a:srgbClr val="F4F2FA"/>
                    </a:solidFill>
                  </a:tcPr>
                </a:tc>
                <a:tc>
                  <a:txBody>
                    <a:bodyPr/>
                    <a:lstStyle/>
                    <a:p>
                      <a:r>
                        <a:rPr sz="1200" b="0" i="0">
                          <a:solidFill>
                            <a:srgbClr val="1A1440"/>
                          </a:solidFill>
                          <a:latin typeface="Calibri"/>
                        </a:rPr>
                        <a:t>2, first used in 1</a:t>
                      </a:r>
                    </a:p>
                  </a:txBody>
                  <a:tcPr marL="101600" marR="101600" marT="38100" marB="38100" anchor="ctr">
                    <a:solidFill>
                      <a:srgbClr val="F4F2FA"/>
                    </a:solidFill>
                  </a:tcPr>
                </a:tc>
                <a:tc>
                  <a:txBody>
                    <a:bodyPr/>
                    <a:lstStyle/>
                    <a:p>
                      <a:r>
                        <a:rPr sz="1200" b="0" i="0">
                          <a:solidFill>
                            <a:srgbClr val="1A1440"/>
                          </a:solidFill>
                          <a:latin typeface="Calibri"/>
                        </a:rPr>
                        <a:t>3 of chapter 2's 30</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5" name="Oval 14"/>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19" name="Oval 18"/>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S6a  ·  8 / 86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ORDER BY inside the window</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Who are the top fifty?</a:t>
            </a:r>
          </a:p>
        </p:txBody>
      </p:sp>
      <p:sp>
        <p:nvSpPr>
          <p:cNvPr id="10" name="TextBox 9"/>
          <p:cNvSpPr txBox="1"/>
          <p:nvPr/>
        </p:nvSpPr>
        <p:spPr>
          <a:xfrm>
            <a:off x="731519" y="3931920"/>
            <a:ext cx="9509760" cy="284226"/>
          </a:xfrm>
          <a:prstGeom prst="rect">
            <a:avLst/>
          </a:prstGeom>
          <a:noFill/>
        </p:spPr>
        <p:txBody>
          <a:bodyPr wrap="square" anchor="t" lIns="0" rIns="0" tIns="0" bIns="0">
            <a:spAutoFit/>
          </a:bodyPr>
          <a:lstStyle/>
          <a:p>
            <a:pPr algn="l"/>
            <a:r>
              <a:rPr sz="1500" b="0" i="0">
                <a:solidFill>
                  <a:srgbClr val="E4E1F1"/>
                </a:solidFill>
                <a:latin typeface="Calibri"/>
              </a:rPr>
              <a:t>Which fifty members spent the most in Q2, the list Marketing's protect budget starts from?</a:t>
            </a:r>
          </a:p>
        </p:txBody>
      </p:sp>
      <p:sp>
        <p:nvSpPr>
          <p:cNvPr id="11" name="Rounded Rectangle 10"/>
          <p:cNvSpPr/>
          <p:nvPr/>
        </p:nvSpPr>
        <p:spPr>
          <a:xfrm>
            <a:off x="731519"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Who are the top fifty?</a:t>
            </a:r>
          </a:p>
        </p:txBody>
      </p:sp>
      <p:sp>
        <p:nvSpPr>
          <p:cNvPr id="12" name="Rounded Rectangle 11"/>
          <p:cNvSpPr/>
          <p:nvPr/>
        </p:nvSpPr>
        <p:spPr>
          <a:xfrm>
            <a:off x="250975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Top fifty per segment?</a:t>
            </a:r>
          </a:p>
        </p:txBody>
      </p:sp>
      <p:sp>
        <p:nvSpPr>
          <p:cNvPr id="13" name="Rounded Rectangle 12"/>
          <p:cNvSpPr/>
          <p:nvPr/>
        </p:nvSpPr>
        <p:spPr>
          <a:xfrm>
            <a:off x="428799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makes it at a tie?</a:t>
            </a:r>
          </a:p>
        </p:txBody>
      </p:sp>
      <p:sp>
        <p:nvSpPr>
          <p:cNvPr id="14" name="Rounded Rectangle 13"/>
          <p:cNvSpPr/>
          <p:nvPr/>
        </p:nvSpPr>
        <p:spPr>
          <a:xfrm>
            <a:off x="606623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Whose spend is falling?</a:t>
            </a:r>
          </a:p>
        </p:txBody>
      </p:sp>
      <p:sp>
        <p:nvSpPr>
          <p:cNvPr id="15" name="Rounded Rectangle 14"/>
          <p:cNvSpPr/>
          <p:nvPr/>
        </p:nvSpPr>
        <p:spPr>
          <a:xfrm>
            <a:off x="790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On track against plan?</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 we protect before they drift?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9 / 86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Answering it for Marketing: five questions on the 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top fifty, and which questions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marketing lead spends the protect budget, a call from the member team and a renewal offer, on the members this list names. A list built on the wrong unit sends offers to the wrong people: each best member it misses is one nobody calls, and each one it repeats is a call made twice.</a:t>
            </a:r>
          </a:p>
        </p:txBody>
      </p:sp>
      <p:sp>
        <p:nvSpPr>
          <p:cNvPr id="12" name="Rectangle 11"/>
          <p:cNvSpPr/>
          <p:nvPr/>
        </p:nvSpPr>
        <p:spPr>
          <a:xfrm>
            <a:off x="1570299" y="37627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46971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750710" cy="465836"/>
          </a:xfrm>
          <a:prstGeom prst="rect">
            <a:avLst/>
          </a:prstGeom>
          <a:noFill/>
        </p:spPr>
        <p:txBody>
          <a:bodyPr wrap="square" anchor="t" lIns="0" rIns="0" tIns="0" bIns="0">
            <a:spAutoFit/>
          </a:bodyPr>
          <a:lstStyle/>
          <a:p>
            <a:pPr algn="l"/>
            <a:r>
              <a:rPr sz="1300" b="1" i="0">
                <a:solidFill>
                  <a:srgbClr val="1A0F5C"/>
                </a:solidFill>
                <a:latin typeface="Calibri"/>
              </a:rPr>
              <a:t>Which way, at what cost?</a:t>
            </a:r>
          </a:p>
        </p:txBody>
      </p:sp>
      <p:sp>
        <p:nvSpPr>
          <p:cNvPr id="17" name="TextBox 16"/>
          <p:cNvSpPr txBox="1"/>
          <p:nvPr/>
        </p:nvSpPr>
        <p:spPr>
          <a:xfrm>
            <a:off x="694944" y="4731512"/>
            <a:ext cx="1750710" cy="201676"/>
          </a:xfrm>
          <a:prstGeom prst="rect">
            <a:avLst/>
          </a:prstGeom>
          <a:noFill/>
        </p:spPr>
        <p:txBody>
          <a:bodyPr wrap="square" anchor="t" lIns="0" rIns="0" tIns="0" bIns="0">
            <a:spAutoFit/>
          </a:bodyPr>
          <a:lstStyle/>
          <a:p>
            <a:pPr algn="l"/>
            <a:r>
              <a:rPr sz="1000" b="0" i="0">
                <a:solidFill>
                  <a:srgbClr val="6B6690"/>
                </a:solidFill>
                <a:latin typeface="Calibri"/>
              </a:rPr>
              <a:t>Four ways to rank</a:t>
            </a:r>
          </a:p>
        </p:txBody>
      </p:sp>
      <p:sp>
        <p:nvSpPr>
          <p:cNvPr id="18" name="TextBox 17"/>
          <p:cNvSpPr txBox="1"/>
          <p:nvPr/>
        </p:nvSpPr>
        <p:spPr>
          <a:xfrm>
            <a:off x="2793126"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732489"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4229100"/>
            <a:ext cx="1750710" cy="465836"/>
          </a:xfrm>
          <a:prstGeom prst="rect">
            <a:avLst/>
          </a:prstGeom>
          <a:noFill/>
        </p:spPr>
        <p:txBody>
          <a:bodyPr wrap="square" anchor="t" lIns="0" rIns="0" tIns="0" bIns="0">
            <a:spAutoFit/>
          </a:bodyPr>
          <a:lstStyle/>
          <a:p>
            <a:pPr algn="l"/>
            <a:r>
              <a:rPr sz="1300" b="1" i="0">
                <a:solidFill>
                  <a:srgbClr val="1A0F5C"/>
                </a:solidFill>
                <a:latin typeface="Calibri"/>
              </a:rPr>
              <a:t>What did each member book?</a:t>
            </a:r>
          </a:p>
        </p:txBody>
      </p:sp>
      <p:sp>
        <p:nvSpPr>
          <p:cNvPr id="22" name="TextBox 21"/>
          <p:cNvSpPr txBox="1"/>
          <p:nvPr/>
        </p:nvSpPr>
        <p:spPr>
          <a:xfrm>
            <a:off x="2957718" y="4731512"/>
            <a:ext cx="1750710" cy="201676"/>
          </a:xfrm>
          <a:prstGeom prst="rect">
            <a:avLst/>
          </a:prstGeom>
          <a:noFill/>
        </p:spPr>
        <p:txBody>
          <a:bodyPr wrap="square" anchor="t" lIns="0" rIns="0" tIns="0" bIns="0">
            <a:spAutoFit/>
          </a:bodyPr>
          <a:lstStyle/>
          <a:p>
            <a:pPr algn="l"/>
            <a:r>
              <a:rPr sz="1000" b="0" i="0">
                <a:solidFill>
                  <a:srgbClr val="6B6690"/>
                </a:solidFill>
                <a:latin typeface="Calibri"/>
              </a:rPr>
              <a:t>One row per member</a:t>
            </a:r>
          </a:p>
        </p:txBody>
      </p:sp>
      <p:sp>
        <p:nvSpPr>
          <p:cNvPr id="23" name="TextBox 22"/>
          <p:cNvSpPr txBox="1"/>
          <p:nvPr/>
        </p:nvSpPr>
        <p:spPr>
          <a:xfrm>
            <a:off x="5055900"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995263"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4229100"/>
            <a:ext cx="1750710" cy="465836"/>
          </a:xfrm>
          <a:prstGeom prst="rect">
            <a:avLst/>
          </a:prstGeom>
          <a:noFill/>
        </p:spPr>
        <p:txBody>
          <a:bodyPr wrap="square" anchor="t" lIns="0" rIns="0" tIns="0" bIns="0">
            <a:spAutoFit/>
          </a:bodyPr>
          <a:lstStyle/>
          <a:p>
            <a:pPr algn="l"/>
            <a:r>
              <a:rPr sz="1300" b="1" i="0">
                <a:solidFill>
                  <a:srgbClr val="1A0F5C"/>
                </a:solidFill>
                <a:latin typeface="Calibri"/>
              </a:rPr>
              <a:t>Which fifty, from which segments?</a:t>
            </a:r>
          </a:p>
        </p:txBody>
      </p:sp>
      <p:sp>
        <p:nvSpPr>
          <p:cNvPr id="27" name="TextBox 26"/>
          <p:cNvSpPr txBox="1"/>
          <p:nvPr/>
        </p:nvSpPr>
        <p:spPr>
          <a:xfrm>
            <a:off x="5220492" y="4731512"/>
            <a:ext cx="1750710" cy="201676"/>
          </a:xfrm>
          <a:prstGeom prst="rect">
            <a:avLst/>
          </a:prstGeom>
          <a:noFill/>
        </p:spPr>
        <p:txBody>
          <a:bodyPr wrap="square" anchor="t" lIns="0" rIns="0" tIns="0" bIns="0">
            <a:spAutoFit/>
          </a:bodyPr>
          <a:lstStyle/>
          <a:p>
            <a:pPr algn="l"/>
            <a:r>
              <a:rPr sz="1000" b="0" i="0">
                <a:solidFill>
                  <a:srgbClr val="6B6690"/>
                </a:solidFill>
                <a:latin typeface="Calibri"/>
              </a:rPr>
              <a:t>Numbered in a window</a:t>
            </a:r>
          </a:p>
        </p:txBody>
      </p:sp>
      <p:sp>
        <p:nvSpPr>
          <p:cNvPr id="28" name="TextBox 27"/>
          <p:cNvSpPr txBox="1"/>
          <p:nvPr/>
        </p:nvSpPr>
        <p:spPr>
          <a:xfrm>
            <a:off x="7318674"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8258037"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4229100"/>
            <a:ext cx="1750710" cy="465836"/>
          </a:xfrm>
          <a:prstGeom prst="rect">
            <a:avLst/>
          </a:prstGeom>
          <a:noFill/>
        </p:spPr>
        <p:txBody>
          <a:bodyPr wrap="square" anchor="t" lIns="0" rIns="0" tIns="0" bIns="0">
            <a:spAutoFit/>
          </a:bodyPr>
          <a:lstStyle/>
          <a:p>
            <a:pPr algn="l"/>
            <a:r>
              <a:rPr sz="1300" b="1" i="0">
                <a:solidFill>
                  <a:srgbClr val="1A0F5C"/>
                </a:solidFill>
                <a:latin typeface="Calibri"/>
              </a:rPr>
              <a:t>What does the quick list give?</a:t>
            </a:r>
          </a:p>
        </p:txBody>
      </p:sp>
      <p:sp>
        <p:nvSpPr>
          <p:cNvPr id="32" name="TextBox 31"/>
          <p:cNvSpPr txBox="1"/>
          <p:nvPr/>
        </p:nvSpPr>
        <p:spPr>
          <a:xfrm>
            <a:off x="7483266" y="4731512"/>
            <a:ext cx="1750710" cy="201676"/>
          </a:xfrm>
          <a:prstGeom prst="rect">
            <a:avLst/>
          </a:prstGeom>
          <a:noFill/>
        </p:spPr>
        <p:txBody>
          <a:bodyPr wrap="square" anchor="t" lIns="0" rIns="0" tIns="0" bIns="0">
            <a:spAutoFit/>
          </a:bodyPr>
          <a:lstStyle/>
          <a:p>
            <a:pPr algn="l"/>
            <a:r>
              <a:rPr sz="1000" b="0" i="0">
                <a:solidFill>
                  <a:srgbClr val="6B6690"/>
                </a:solidFill>
                <a:latin typeface="Calibri"/>
              </a:rPr>
              <a:t>The fifty biggest orders</a:t>
            </a:r>
          </a:p>
        </p:txBody>
      </p:sp>
      <p:sp>
        <p:nvSpPr>
          <p:cNvPr id="33" name="TextBox 32"/>
          <p:cNvSpPr txBox="1"/>
          <p:nvPr/>
        </p:nvSpPr>
        <p:spPr>
          <a:xfrm>
            <a:off x="9581448"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10520812"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4082796"/>
            <a:ext cx="2079894"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4229100"/>
            <a:ext cx="1750710" cy="251205"/>
          </a:xfrm>
          <a:prstGeom prst="rect">
            <a:avLst/>
          </a:prstGeom>
          <a:noFill/>
        </p:spPr>
        <p:txBody>
          <a:bodyPr wrap="square" anchor="t" lIns="0" rIns="0" tIns="0" bIns="0">
            <a:spAutoFit/>
          </a:bodyPr>
          <a:lstStyle/>
          <a:p>
            <a:pPr algn="l"/>
            <a:r>
              <a:rPr sz="1300" b="1" i="0">
                <a:solidFill>
                  <a:srgbClr val="FFFFFF"/>
                </a:solidFill>
                <a:latin typeface="Calibri"/>
              </a:rPr>
              <a:t>Does Python agree?</a:t>
            </a:r>
          </a:p>
        </p:txBody>
      </p:sp>
      <p:sp>
        <p:nvSpPr>
          <p:cNvPr id="37" name="TextBox 36"/>
          <p:cNvSpPr txBox="1"/>
          <p:nvPr/>
        </p:nvSpPr>
        <p:spPr>
          <a:xfrm>
            <a:off x="9746040" y="4516882"/>
            <a:ext cx="1750710" cy="201676"/>
          </a:xfrm>
          <a:prstGeom prst="rect">
            <a:avLst/>
          </a:prstGeom>
          <a:noFill/>
        </p:spPr>
        <p:txBody>
          <a:bodyPr wrap="square" anchor="t" lIns="0" rIns="0" tIns="0" bIns="0">
            <a:spAutoFit/>
          </a:bodyPr>
          <a:lstStyle/>
          <a:p>
            <a:pPr algn="l"/>
            <a:r>
              <a:rPr sz="1000" b="0" i="0">
                <a:solidFill>
                  <a:srgbClr val="CFC9EE"/>
                </a:solidFill>
                <a:latin typeface="Calibri"/>
              </a:rPr>
              <a:t>A sort with no SQL</a:t>
            </a:r>
          </a:p>
        </p:txBody>
      </p:sp>
      <p:sp>
        <p:nvSpPr>
          <p:cNvPr id="38" name="Oval 3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40" name="Oval 39"/>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42" name="Oval 4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44" name="Oval 43"/>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46" name="Oval 4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86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needs members, ranked by what they booked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Marketing need before the member team rings anyone, and what does a wrong list cost?</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gaphone_df6318bcf2f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marketing lead</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Spends the protect budget, a call and a renewal offer, on the members this list names.</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banknote_b59e4eff765a.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Q2 revenue per member</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Booked revenue of every Q2 order the member placed, whatever its status. Q2 booked Rs 9,84,00,000.</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LIST COSTS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Calls to the wrong people</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A best member nobody rings, or one member rung twice.</a:t>
            </a:r>
          </a:p>
        </p:txBody>
      </p:sp>
      <p:sp>
        <p:nvSpPr>
          <p:cNvPr id="27" name="Rounded Rectangle 26"/>
          <p:cNvSpPr/>
          <p:nvPr/>
        </p:nvSpPr>
        <p:spPr>
          <a:xfrm>
            <a:off x="530352" y="4294124"/>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4968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essage-square_028dbd132a0a.png"/>
          <p:cNvPicPr>
            <a:picLocks noChangeAspect="1"/>
          </p:cNvPicPr>
          <p:nvPr/>
        </p:nvPicPr>
        <p:blipFill>
          <a:blip r:embed="rId7"/>
          <a:stretch>
            <a:fillRect/>
          </a:stretch>
        </p:blipFill>
        <p:spPr>
          <a:xfrm>
            <a:off x="868680" y="4606544"/>
            <a:ext cx="237744" cy="237744"/>
          </a:xfrm>
          <a:prstGeom prst="rect">
            <a:avLst/>
          </a:prstGeom>
        </p:spPr>
      </p:pic>
      <p:sp>
        <p:nvSpPr>
          <p:cNvPr id="30" name="TextBox 29"/>
          <p:cNvSpPr txBox="1"/>
          <p:nvPr/>
        </p:nvSpPr>
        <p:spPr>
          <a:xfrm>
            <a:off x="1399031" y="4440428"/>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1" name="TextBox 30"/>
          <p:cNvSpPr txBox="1"/>
          <p:nvPr/>
        </p:nvSpPr>
        <p:spPr>
          <a:xfrm>
            <a:off x="1399031" y="4659884"/>
            <a:ext cx="9987991" cy="423672"/>
          </a:xfrm>
          <a:prstGeom prst="rect">
            <a:avLst/>
          </a:prstGeom>
          <a:noFill/>
        </p:spPr>
        <p:txBody>
          <a:bodyPr wrap="square" anchor="t" lIns="0" rIns="0" tIns="0" bIns="0">
            <a:spAutoFit/>
          </a:bodyPr>
          <a:lstStyle/>
          <a:p>
            <a:r>
              <a:rPr sz="1500" b="0" i="0">
                <a:solidFill>
                  <a:srgbClr val="FFFFFF"/>
                </a:solidFill>
                <a:latin typeface="Calibri"/>
              </a:rPr>
              <a:t>"Give us the top fifty customers by Q2 revenue."</a:t>
            </a:r>
          </a:p>
        </p:txBody>
      </p:sp>
      <p:sp>
        <p:nvSpPr>
          <p:cNvPr id="32" name="Oval 3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34" name="Oval 3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6" name="Oval 3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8" name="Oval 3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40" name="Oval 3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Starbucks members made 59% of US store tender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company's money come mostly from its members, so the list of members matters?</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59%</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 US STORE TENDER</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from Rewards members, Q3 FY26</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35.8 M</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ACTIVE US MEMBERS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in the 90 days to 28 June 2026</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bug_39ada6eff46d.png"/>
          <p:cNvPicPr>
            <a:picLocks noChangeAspect="1"/>
          </p:cNvPicPr>
          <p:nvPr/>
        </p:nvPicPr>
        <p:blipFill>
          <a:blip r:embed="rId4"/>
          <a:stretch>
            <a:fillRect/>
          </a:stretch>
        </p:blipFill>
        <p:spPr>
          <a:xfrm>
            <a:off x="868680" y="3861816"/>
            <a:ext cx="237744" cy="237744"/>
          </a:xfrm>
          <a:prstGeom prst="rect">
            <a:avLst/>
          </a:prstGeom>
        </p:spPr>
      </p:pic>
      <p:sp>
        <p:nvSpPr>
          <p:cNvPr id="20" name="TextBox 19"/>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1" name="TextBox 20"/>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When members carry more than half of the money, a retention offer that reaches the wrong members leaves the money that matters unprotected.</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24" name="Oval 2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6" name="Oval 2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8" name="Oval 2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0" name="Oval 2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Group, then number in a window: one query, one read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could the team build a ranked list, and what would each way cost?</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3856658"/>
                <a:gridCol w="2134267"/>
                <a:gridCol w="2747438"/>
                <a:gridCol w="2392626"/>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One row is</a:t>
                      </a:r>
                    </a:p>
                  </a:txBody>
                  <a:tcPr marL="101600" marR="101600" marT="38100" marB="38100" anchor="ctr">
                    <a:solidFill>
                      <a:srgbClr val="1A0F5C"/>
                    </a:solidFill>
                  </a:tcPr>
                </a:tc>
                <a:tc>
                  <a:txBody>
                    <a:bodyPr/>
                    <a:lstStyle/>
                    <a:p>
                      <a:r>
                        <a:rPr sz="1250" b="1" i="0">
                          <a:solidFill>
                            <a:srgbClr val="FFFFFF"/>
                          </a:solidFill>
                          <a:latin typeface="Calibri"/>
                        </a:rPr>
                        <a:t>For the four segment lists</a:t>
                      </a:r>
                    </a:p>
                  </a:txBody>
                  <a:tcPr marL="101600" marR="101600" marT="38100" marB="38100" anchor="ctr">
                    <a:solidFill>
                      <a:srgbClr val="1A0F5C"/>
                    </a:solidFill>
                  </a:tcPr>
                </a:tc>
                <a:tc>
                  <a:txBody>
                    <a:bodyPr/>
                    <a:lstStyle/>
                    <a:p>
                      <a:r>
                        <a:rPr sz="1250" b="1" i="0">
                          <a:solidFill>
                            <a:srgbClr val="FFFFFF"/>
                          </a:solidFill>
                          <a:latin typeface="Calibri"/>
                        </a:rPr>
                        <a:t>Order rows read</a:t>
                      </a:r>
                    </a:p>
                  </a:txBody>
                  <a:tcPr marL="101600" marR="101600" marT="38100" marB="38100" anchor="ctr">
                    <a:solidFill>
                      <a:srgbClr val="1A0F5C"/>
                    </a:solidFill>
                  </a:tcPr>
                </a:tc>
              </a:tr>
              <a:tr h="335280">
                <a:tc>
                  <a:txBody>
                    <a:bodyPr/>
                    <a:lstStyle/>
                    <a:p>
                      <a:r>
                        <a:rPr sz="1200" b="0" i="0">
                          <a:solidFill>
                            <a:srgbClr val="1A1440"/>
                          </a:solidFill>
                          <a:latin typeface="Calibri"/>
                        </a:rPr>
                        <a:t>A. Sort the Q2 orders, keep 50</a:t>
                      </a:r>
                    </a:p>
                  </a:txBody>
                  <a:tcPr marL="101600" marR="101600" marT="38100" marB="38100" anchor="ctr">
                    <a:solidFill>
                      <a:srgbClr val="FFFFFF"/>
                    </a:solidFill>
                  </a:tcPr>
                </a:tc>
                <a:tc>
                  <a:txBody>
                    <a:bodyPr/>
                    <a:lstStyle/>
                    <a:p>
                      <a:r>
                        <a:rPr sz="1200" b="0" i="0">
                          <a:solidFill>
                            <a:srgbClr val="1A1440"/>
                          </a:solidFill>
                          <a:latin typeface="Calibri"/>
                        </a:rPr>
                        <a:t>an order</a:t>
                      </a:r>
                    </a:p>
                  </a:txBody>
                  <a:tcPr marL="101600" marR="101600" marT="38100" marB="38100" anchor="ctr">
                    <a:solidFill>
                      <a:srgbClr val="FFFFFF"/>
                    </a:solidFill>
                  </a:tcPr>
                </a:tc>
                <a:tc>
                  <a:txBody>
                    <a:bodyPr/>
                    <a:lstStyle/>
                    <a:p>
                      <a:r>
                        <a:rPr sz="1200" b="0" i="0">
                          <a:solidFill>
                            <a:srgbClr val="1A1440"/>
                          </a:solidFill>
                          <a:latin typeface="Calibri"/>
                        </a:rPr>
                        <a:t>4 sorts, 188 orders kept</a:t>
                      </a:r>
                    </a:p>
                  </a:txBody>
                  <a:tcPr marL="101600" marR="101600" marT="38100" marB="38100" anchor="ctr">
                    <a:solidFill>
                      <a:srgbClr val="FFFFFF"/>
                    </a:solidFill>
                  </a:tcPr>
                </a:tc>
                <a:tc>
                  <a:txBody>
                    <a:bodyPr/>
                    <a:lstStyle/>
                    <a:p>
                      <a:r>
                        <a:rPr sz="1200" b="0" i="0">
                          <a:solidFill>
                            <a:srgbClr val="1A1440"/>
                          </a:solidFill>
                          <a:latin typeface="Calibri"/>
                        </a:rPr>
                        <a:t>1,848, the 462 four times</a:t>
                      </a:r>
                    </a:p>
                  </a:txBody>
                  <a:tcPr marL="101600" marR="101600" marT="38100" marB="38100" anchor="ctr">
                    <a:solidFill>
                      <a:srgbClr val="FFFFFF"/>
                    </a:solidFill>
                  </a:tcPr>
                </a:tc>
              </a:tr>
              <a:tr h="335280">
                <a:tc>
                  <a:txBody>
                    <a:bodyPr/>
                    <a:lstStyle/>
                    <a:p>
                      <a:r>
                        <a:rPr sz="1200" b="0" i="0">
                          <a:solidFill>
                            <a:srgbClr val="1A1440"/>
                          </a:solidFill>
                          <a:latin typeface="Calibri"/>
                        </a:rPr>
                        <a:t>B. Group by member, sort, LIMIT 50</a:t>
                      </a:r>
                    </a:p>
                  </a:txBody>
                  <a:tcPr marL="101600" marR="101600" marT="38100" marB="38100" anchor="ctr">
                    <a:solidFill>
                      <a:srgbClr val="F4F2FA"/>
                    </a:solidFill>
                  </a:tcPr>
                </a:tc>
                <a:tc>
                  <a:txBody>
                    <a:bodyPr/>
                    <a:lstStyle/>
                    <a:p>
                      <a:r>
                        <a:rPr sz="1200" b="0" i="0">
                          <a:solidFill>
                            <a:srgbClr val="1A1440"/>
                          </a:solidFill>
                          <a:latin typeface="Calibri"/>
                        </a:rPr>
                        <a:t>a member</a:t>
                      </a:r>
                    </a:p>
                  </a:txBody>
                  <a:tcPr marL="101600" marR="101600" marT="38100" marB="38100" anchor="ctr">
                    <a:solidFill>
                      <a:srgbClr val="F4F2FA"/>
                    </a:solidFill>
                  </a:tcPr>
                </a:tc>
                <a:tc>
                  <a:txBody>
                    <a:bodyPr/>
                    <a:lstStyle/>
                    <a:p>
                      <a:r>
                        <a:rPr sz="1200" b="0" i="0">
                          <a:solidFill>
                            <a:srgbClr val="1A1440"/>
                          </a:solidFill>
                          <a:latin typeface="Calibri"/>
                        </a:rPr>
                        <a:t>4 queries glued</a:t>
                      </a:r>
                    </a:p>
                  </a:txBody>
                  <a:tcPr marL="101600" marR="101600" marT="38100" marB="38100" anchor="ctr">
                    <a:solidFill>
                      <a:srgbClr val="F4F2FA"/>
                    </a:solidFill>
                  </a:tcPr>
                </a:tc>
                <a:tc>
                  <a:txBody>
                    <a:bodyPr/>
                    <a:lstStyle/>
                    <a:p>
                      <a:r>
                        <a:rPr sz="1200" b="0" i="0">
                          <a:solidFill>
                            <a:srgbClr val="1A1440"/>
                          </a:solidFill>
                          <a:latin typeface="Calibri"/>
                        </a:rPr>
                        <a:t>1,848, the 462 four times</a:t>
                      </a:r>
                    </a:p>
                  </a:txBody>
                  <a:tcPr marL="101600" marR="101600" marT="38100" marB="38100" anchor="ctr">
                    <a:solidFill>
                      <a:srgbClr val="F4F2FA"/>
                    </a:solidFill>
                  </a:tcPr>
                </a:tc>
              </a:tr>
              <a:tr h="335280">
                <a:tc>
                  <a:txBody>
                    <a:bodyPr/>
                    <a:lstStyle/>
                    <a:p>
                      <a:r>
                        <a:rPr sz="1200" b="0" i="0">
                          <a:solidFill>
                            <a:srgbClr val="1A1440"/>
                          </a:solidFill>
                          <a:latin typeface="Calibri"/>
                        </a:rPr>
                        <a:t>C. Group, number in a window, keep 1 to 50</a:t>
                      </a:r>
                    </a:p>
                  </a:txBody>
                  <a:tcPr marL="101600" marR="101600" marT="38100" marB="38100" anchor="ctr">
                    <a:solidFill>
                      <a:srgbClr val="FFFFFF"/>
                    </a:solidFill>
                  </a:tcPr>
                </a:tc>
                <a:tc>
                  <a:txBody>
                    <a:bodyPr/>
                    <a:lstStyle/>
                    <a:p>
                      <a:r>
                        <a:rPr sz="1200" b="0" i="0">
                          <a:solidFill>
                            <a:srgbClr val="1A1440"/>
                          </a:solidFill>
                          <a:latin typeface="Calibri"/>
                        </a:rPr>
                        <a:t>a member and its place</a:t>
                      </a:r>
                    </a:p>
                  </a:txBody>
                  <a:tcPr marL="101600" marR="101600" marT="38100" marB="38100" anchor="ctr">
                    <a:solidFill>
                      <a:srgbClr val="FFFFFF"/>
                    </a:solidFill>
                  </a:tcPr>
                </a:tc>
                <a:tc>
                  <a:txBody>
                    <a:bodyPr/>
                    <a:lstStyle/>
                    <a:p>
                      <a:r>
                        <a:rPr sz="1200" b="0" i="0">
                          <a:solidFill>
                            <a:srgbClr val="1A1440"/>
                          </a:solidFill>
                          <a:latin typeface="Calibri"/>
                        </a:rPr>
                        <a:t>1 query, with one more phrase</a:t>
                      </a:r>
                    </a:p>
                  </a:txBody>
                  <a:tcPr marL="101600" marR="101600" marT="38100" marB="38100" anchor="ctr">
                    <a:solidFill>
                      <a:srgbClr val="FFFFFF"/>
                    </a:solidFill>
                  </a:tcPr>
                </a:tc>
                <a:tc>
                  <a:txBody>
                    <a:bodyPr/>
                    <a:lstStyle/>
                    <a:p>
                      <a:r>
                        <a:rPr sz="1200" b="0" i="0">
                          <a:solidFill>
                            <a:srgbClr val="1A1440"/>
                          </a:solidFill>
                          <a:latin typeface="Calibri"/>
                        </a:rPr>
                        <a:t>462, once</a:t>
                      </a:r>
                    </a:p>
                  </a:txBody>
                  <a:tcPr marL="101600" marR="101600" marT="38100" marB="38100" anchor="ctr">
                    <a:solidFill>
                      <a:srgbClr val="FFFFFF"/>
                    </a:solidFill>
                  </a:tcPr>
                </a:tc>
              </a:tr>
              <a:tr h="335280">
                <a:tc>
                  <a:txBody>
                    <a:bodyPr/>
                    <a:lstStyle/>
                    <a:p>
                      <a:r>
                        <a:rPr sz="1200" b="0" i="0">
                          <a:solidFill>
                            <a:srgbClr val="1A1440"/>
                          </a:solidFill>
                          <a:latin typeface="Calibri"/>
                        </a:rPr>
                        <a:t>D. Export and sort by hand</a:t>
                      </a:r>
                    </a:p>
                  </a:txBody>
                  <a:tcPr marL="101600" marR="101600" marT="38100" marB="38100" anchor="ctr">
                    <a:solidFill>
                      <a:srgbClr val="F4F2FA"/>
                    </a:solidFill>
                  </a:tcPr>
                </a:tc>
                <a:tc>
                  <a:txBody>
                    <a:bodyPr/>
                    <a:lstStyle/>
                    <a:p>
                      <a:r>
                        <a:rPr sz="1200" b="0" i="0">
                          <a:solidFill>
                            <a:srgbClr val="1A1440"/>
                          </a:solidFill>
                          <a:latin typeface="Calibri"/>
                        </a:rPr>
                        <a:t>anything</a:t>
                      </a:r>
                    </a:p>
                  </a:txBody>
                  <a:tcPr marL="101600" marR="101600" marT="38100" marB="38100" anchor="ctr">
                    <a:solidFill>
                      <a:srgbClr val="F4F2FA"/>
                    </a:solidFill>
                  </a:tcPr>
                </a:tc>
                <a:tc>
                  <a:txBody>
                    <a:bodyPr/>
                    <a:lstStyle/>
                    <a:p>
                      <a:r>
                        <a:rPr sz="1200" b="0" i="0">
                          <a:solidFill>
                            <a:srgbClr val="1A1440"/>
                          </a:solidFill>
                          <a:latin typeface="Calibri"/>
                        </a:rPr>
                        <a:t>4 sorts by hand</a:t>
                      </a:r>
                    </a:p>
                  </a:txBody>
                  <a:tcPr marL="101600" marR="101600" marT="38100" marB="38100" anchor="ctr">
                    <a:solidFill>
                      <a:srgbClr val="F4F2FA"/>
                    </a:solidFill>
                  </a:tcPr>
                </a:tc>
                <a:tc>
                  <a:txBody>
                    <a:bodyPr/>
                    <a:lstStyle/>
                    <a:p>
                      <a:r>
                        <a:rPr sz="1200" b="0" i="0">
                          <a:solidFill>
                            <a:srgbClr val="1A1440"/>
                          </a:solidFill>
                          <a:latin typeface="Calibri"/>
                        </a:rPr>
                        <a:t>all 462, exported</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8915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C, because Marketing's ask is per segment, C reads the orders once, and the place has to be a column a later step can count. What would switch it: one overall list to read by eye, where B is shorter and returns the same fifty.</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13 / 86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named step adds up; a window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option C do to the rows, step by step?</a:t>
            </a:r>
          </a:p>
        </p:txBody>
      </p:sp>
      <p:pic>
        <p:nvPicPr>
          <p:cNvPr id="9" name="mermaid diagram" descr="7c1b2b40d677cc69.png"/>
          <p:cNvPicPr>
            <a:picLocks noChangeAspect="1"/>
          </p:cNvPicPr>
          <p:nvPr/>
        </p:nvPicPr>
        <p:blipFill>
          <a:blip r:embed="rId5"/>
          <a:stretch>
            <a:fillRect/>
          </a:stretch>
        </p:blipFill>
        <p:spPr>
          <a:xfrm>
            <a:off x="738035" y="1956816"/>
            <a:ext cx="10715625" cy="1371600"/>
          </a:xfrm>
          <a:prstGeom prst="rect">
            <a:avLst/>
          </a:prstGeom>
        </p:spPr>
      </p:pic>
      <p:sp>
        <p:nvSpPr>
          <p:cNvPr id="10" name="TextBox 9"/>
          <p:cNvSpPr txBox="1"/>
          <p:nvPr/>
        </p:nvSpPr>
        <p:spPr>
          <a:xfrm>
            <a:off x="530352" y="347472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customer id after the revenue in the window's ORDER BY decides any two members who booked the same, so the numbering is the same on every run. Chapter 3 asks whether that is fair.</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5" name="Oval 14"/>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19" name="Oval 18"/>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86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rows, one per member?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each member book in Q2?</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o.customer_id, c.segment, count(*) AS q2_orders, sum(o.amount) AS q2_revenue</a:t>
            </a:r>
          </a:p>
          <a:p>
            <a:pPr>
              <a:spcAft>
                <a:spcPts val="200"/>
              </a:spcAft>
            </a:pPr>
            <a:r>
              <a:rPr sz="1400" b="0" i="0">
                <a:solidFill>
                  <a:srgbClr val="E4E1F1"/>
                </a:solidFill>
                <a:latin typeface="Consolas"/>
              </a:rPr>
              <a:t>FROM   orders o JOIN customers c USING (customer_id)</a:t>
            </a:r>
          </a:p>
          <a:p>
            <a:pPr>
              <a:spcAft>
                <a:spcPts val="200"/>
              </a:spcAft>
            </a:pPr>
            <a:r>
              <a:rPr sz="1400" b="0" i="0">
                <a:solidFill>
                  <a:srgbClr val="E4E1F1"/>
                </a:solidFill>
                <a:latin typeface="Consolas"/>
              </a:rPr>
              <a:t>WHERE  o.quarter = 'Q2'</a:t>
            </a:r>
          </a:p>
          <a:p>
            <a:pPr>
              <a:spcAft>
                <a:spcPts val="200"/>
              </a:spcAft>
            </a:pPr>
            <a:r>
              <a:rPr sz="1400" b="0" i="0">
                <a:solidFill>
                  <a:srgbClr val="E4E1F1"/>
                </a:solidFill>
                <a:latin typeface="Consolas"/>
              </a:rPr>
              <a:t>GROUP  BY o.customer_id, c.segment;</a:t>
            </a:r>
          </a:p>
        </p:txBody>
      </p:sp>
      <p:sp>
        <p:nvSpPr>
          <p:cNvPr id="14" name="Rounded Rectangle 13"/>
          <p:cNvSpPr/>
          <p:nvPr/>
        </p:nvSpPr>
        <p:spPr>
          <a:xfrm>
            <a:off x="530352" y="358851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71652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70738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How many rows come back, as a letter? a) 462, one per Q2 order; b) 340, one per member on the customers table; c) 227; d) 50.</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1" name="Oval 2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3" name="Oval 2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5" name="Oval 24"/>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86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227 members; Business books lakhs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each member book in Q2?</a:t>
            </a:r>
          </a:p>
        </p:txBody>
      </p:sp>
      <p:sp>
        <p:nvSpPr>
          <p:cNvPr id="9" name="TextBox 8"/>
          <p:cNvSpPr txBox="1"/>
          <p:nvPr/>
        </p:nvSpPr>
        <p:spPr>
          <a:xfrm>
            <a:off x="530352" y="1956816"/>
            <a:ext cx="2577007" cy="380999"/>
          </a:xfrm>
          <a:prstGeom prst="rect">
            <a:avLst/>
          </a:prstGeom>
          <a:noFill/>
        </p:spPr>
        <p:txBody>
          <a:bodyPr wrap="square" anchor="t" lIns="0" rIns="0" tIns="0" bIns="0">
            <a:spAutoFit/>
          </a:bodyPr>
          <a:lstStyle/>
          <a:p>
            <a:pPr algn="l"/>
            <a:r>
              <a:rPr sz="2400" b="0" i="0">
                <a:solidFill>
                  <a:srgbClr val="5B3FD6"/>
                </a:solidFill>
                <a:latin typeface="Georgia"/>
              </a:rPr>
              <a:t>Rs 27.9 lakh</a:t>
            </a:r>
          </a:p>
        </p:txBody>
      </p:sp>
      <p:sp>
        <p:nvSpPr>
          <p:cNvPr id="10" name="TextBox 9"/>
          <p:cNvSpPr txBox="1"/>
          <p:nvPr/>
        </p:nvSpPr>
        <p:spPr>
          <a:xfrm>
            <a:off x="530352" y="23743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BUSINESS</a:t>
            </a:r>
          </a:p>
        </p:txBody>
      </p:sp>
      <p:sp>
        <p:nvSpPr>
          <p:cNvPr id="11" name="TextBox 10"/>
          <p:cNvSpPr txBox="1"/>
          <p:nvPr/>
        </p:nvSpPr>
        <p:spPr>
          <a:xfrm>
            <a:off x="530352" y="2575560"/>
            <a:ext cx="2577007" cy="193421"/>
          </a:xfrm>
          <a:prstGeom prst="rect">
            <a:avLst/>
          </a:prstGeom>
          <a:noFill/>
        </p:spPr>
        <p:txBody>
          <a:bodyPr wrap="square" anchor="t" lIns="0" rIns="0" tIns="0" bIns="0">
            <a:spAutoFit/>
          </a:bodyPr>
          <a:lstStyle/>
          <a:p>
            <a:pPr algn="l"/>
            <a:r>
              <a:rPr sz="950" b="0" i="0">
                <a:solidFill>
                  <a:srgbClr val="6B6690"/>
                </a:solidFill>
                <a:latin typeface="Calibri"/>
              </a:rPr>
              <a:t>per member who bought, 35 members</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380999"/>
          </a:xfrm>
          <a:prstGeom prst="rect">
            <a:avLst/>
          </a:prstGeom>
          <a:noFill/>
        </p:spPr>
        <p:txBody>
          <a:bodyPr wrap="square" anchor="t" lIns="0" rIns="0" tIns="0" bIns="0">
            <a:spAutoFit/>
          </a:bodyPr>
          <a:lstStyle/>
          <a:p>
            <a:pPr algn="l"/>
            <a:r>
              <a:rPr sz="2400" b="0" i="0">
                <a:solidFill>
                  <a:srgbClr val="5B3FD6"/>
                </a:solidFill>
                <a:latin typeface="Georgia"/>
              </a:rPr>
              <a:t>Rs 5,400</a:t>
            </a:r>
          </a:p>
        </p:txBody>
      </p:sp>
      <p:sp>
        <p:nvSpPr>
          <p:cNvPr id="14" name="TextBox 13"/>
          <p:cNvSpPr txBox="1"/>
          <p:nvPr/>
        </p:nvSpPr>
        <p:spPr>
          <a:xfrm>
            <a:off x="3381679" y="23743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RETAIL-PLUS</a:t>
            </a:r>
          </a:p>
        </p:txBody>
      </p:sp>
      <p:sp>
        <p:nvSpPr>
          <p:cNvPr id="15" name="TextBox 14"/>
          <p:cNvSpPr txBox="1"/>
          <p:nvPr/>
        </p:nvSpPr>
        <p:spPr>
          <a:xfrm>
            <a:off x="3381679" y="2575560"/>
            <a:ext cx="2577007" cy="193421"/>
          </a:xfrm>
          <a:prstGeom prst="rect">
            <a:avLst/>
          </a:prstGeom>
          <a:noFill/>
        </p:spPr>
        <p:txBody>
          <a:bodyPr wrap="square" anchor="t" lIns="0" rIns="0" tIns="0" bIns="0">
            <a:spAutoFit/>
          </a:bodyPr>
          <a:lstStyle/>
          <a:p>
            <a:pPr algn="l"/>
            <a:r>
              <a:rPr sz="950" b="0" i="0">
                <a:solidFill>
                  <a:srgbClr val="6B6690"/>
                </a:solidFill>
                <a:latin typeface="Calibri"/>
              </a:rPr>
              <a:t>per member who bought, 76 members</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380999"/>
          </a:xfrm>
          <a:prstGeom prst="rect">
            <a:avLst/>
          </a:prstGeom>
          <a:noFill/>
        </p:spPr>
        <p:txBody>
          <a:bodyPr wrap="square" anchor="t" lIns="0" rIns="0" tIns="0" bIns="0">
            <a:spAutoFit/>
          </a:bodyPr>
          <a:lstStyle/>
          <a:p>
            <a:pPr algn="l"/>
            <a:r>
              <a:rPr sz="2400" b="0" i="0">
                <a:solidFill>
                  <a:srgbClr val="5B3FD6"/>
                </a:solidFill>
                <a:latin typeface="Georgia"/>
              </a:rPr>
              <a:t>Rs 3,800</a:t>
            </a:r>
          </a:p>
        </p:txBody>
      </p:sp>
      <p:sp>
        <p:nvSpPr>
          <p:cNvPr id="18" name="TextBox 17"/>
          <p:cNvSpPr txBox="1"/>
          <p:nvPr/>
        </p:nvSpPr>
        <p:spPr>
          <a:xfrm>
            <a:off x="6233007" y="23743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RETAIL-CORE</a:t>
            </a:r>
          </a:p>
        </p:txBody>
      </p:sp>
      <p:sp>
        <p:nvSpPr>
          <p:cNvPr id="19" name="TextBox 18"/>
          <p:cNvSpPr txBox="1"/>
          <p:nvPr/>
        </p:nvSpPr>
        <p:spPr>
          <a:xfrm>
            <a:off x="6233007" y="2575560"/>
            <a:ext cx="2577007" cy="193421"/>
          </a:xfrm>
          <a:prstGeom prst="rect">
            <a:avLst/>
          </a:prstGeom>
          <a:noFill/>
        </p:spPr>
        <p:txBody>
          <a:bodyPr wrap="square" anchor="t" lIns="0" rIns="0" tIns="0" bIns="0">
            <a:spAutoFit/>
          </a:bodyPr>
          <a:lstStyle/>
          <a:p>
            <a:pPr algn="l"/>
            <a:r>
              <a:rPr sz="950" b="0" i="0">
                <a:solidFill>
                  <a:srgbClr val="6B6690"/>
                </a:solidFill>
                <a:latin typeface="Calibri"/>
              </a:rPr>
              <a:t>per member who bought, 96 members</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380999"/>
          </a:xfrm>
          <a:prstGeom prst="rect">
            <a:avLst/>
          </a:prstGeom>
          <a:noFill/>
        </p:spPr>
        <p:txBody>
          <a:bodyPr wrap="square" anchor="t" lIns="0" rIns="0" tIns="0" bIns="0">
            <a:spAutoFit/>
          </a:bodyPr>
          <a:lstStyle/>
          <a:p>
            <a:pPr algn="l"/>
            <a:r>
              <a:rPr sz="2400" b="0" i="0">
                <a:solidFill>
                  <a:srgbClr val="5B3FD6"/>
                </a:solidFill>
                <a:latin typeface="Georgia"/>
              </a:rPr>
              <a:t>Rs 1,800</a:t>
            </a:r>
          </a:p>
        </p:txBody>
      </p:sp>
      <p:sp>
        <p:nvSpPr>
          <p:cNvPr id="22" name="TextBox 21"/>
          <p:cNvSpPr txBox="1"/>
          <p:nvPr/>
        </p:nvSpPr>
        <p:spPr>
          <a:xfrm>
            <a:off x="9084335" y="23743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STUDENT</a:t>
            </a:r>
          </a:p>
        </p:txBody>
      </p:sp>
      <p:sp>
        <p:nvSpPr>
          <p:cNvPr id="23" name="TextBox 22"/>
          <p:cNvSpPr txBox="1"/>
          <p:nvPr/>
        </p:nvSpPr>
        <p:spPr>
          <a:xfrm>
            <a:off x="9084335" y="2575560"/>
            <a:ext cx="2577007" cy="193421"/>
          </a:xfrm>
          <a:prstGeom prst="rect">
            <a:avLst/>
          </a:prstGeom>
          <a:noFill/>
        </p:spPr>
        <p:txBody>
          <a:bodyPr wrap="square" anchor="t" lIns="0" rIns="0" tIns="0" bIns="0">
            <a:spAutoFit/>
          </a:bodyPr>
          <a:lstStyle/>
          <a:p>
            <a:pPr algn="l"/>
            <a:r>
              <a:rPr sz="950" b="0" i="0">
                <a:solidFill>
                  <a:srgbClr val="6B6690"/>
                </a:solidFill>
                <a:latin typeface="Calibri"/>
              </a:rPr>
              <a:t>per member who bought, 20 members</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227 rows carry all 462 orders and all Rs 9,84,00,000; 113 of the 340 members placed no Q2 order. A Business member books hundreds of times a retail member's quarter.</a:t>
            </a:r>
          </a:p>
        </p:txBody>
      </p:sp>
      <p:sp>
        <p:nvSpPr>
          <p:cNvPr id="28" name="Oval 2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30" name="Oval 29"/>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2" name="Oval 3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4" name="Oval 33"/>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6" name="Oval 3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86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segments reach the fifty?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fifty members spent the most, and which segments do they reach?</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WITH q2_spend AS (...),</a:t>
            </a:r>
          </a:p>
          <a:p>
            <a:pPr>
              <a:spcAft>
                <a:spcPts val="200"/>
              </a:spcAft>
            </a:pPr>
            <a:r>
              <a:rPr sz="1400" b="0" i="0">
                <a:solidFill>
                  <a:srgbClr val="E4E1F1"/>
                </a:solidFill>
                <a:latin typeface="Consolas"/>
              </a:rPr>
              <a:t>ranked AS (SELECT customer_id, segment, q2_revenue,</a:t>
            </a:r>
          </a:p>
          <a:p>
            <a:pPr>
              <a:spcAft>
                <a:spcPts val="200"/>
              </a:spcAft>
            </a:pPr>
            <a:r>
              <a:rPr sz="1400" b="0" i="0">
                <a:solidFill>
                  <a:srgbClr val="E4E1F1"/>
                </a:solidFill>
                <a:latin typeface="Consolas"/>
              </a:rPr>
              <a:t>           row_number() OVER (ORDER BY q2_revenue DESC, customer_id) AS position</a:t>
            </a:r>
          </a:p>
          <a:p>
            <a:pPr>
              <a:spcAft>
                <a:spcPts val="200"/>
              </a:spcAft>
            </a:pPr>
            <a:r>
              <a:rPr sz="1400" b="0" i="0">
                <a:solidFill>
                  <a:srgbClr val="E4E1F1"/>
                </a:solidFill>
                <a:latin typeface="Consolas"/>
              </a:rPr>
              <a:t>           FROM q2_spend)</a:t>
            </a:r>
          </a:p>
          <a:p>
            <a:pPr>
              <a:spcAft>
                <a:spcPts val="200"/>
              </a:spcAft>
            </a:pPr>
            <a:r>
              <a:rPr sz="1400" b="0" i="0">
                <a:solidFill>
                  <a:srgbClr val="E4E1F1"/>
                </a:solidFill>
                <a:latin typeface="Consolas"/>
              </a:rPr>
              <a:t>SELECT * FROM ranked WHERE position &lt;= 50 ORDER BY position;</a:t>
            </a:r>
          </a:p>
        </p:txBody>
      </p:sp>
      <p:sp>
        <p:nvSpPr>
          <p:cNvPr id="14" name="Rounded Rectangle 13"/>
          <p:cNvSpPr/>
          <p:nvPr/>
        </p:nvSpPr>
        <p:spPr>
          <a:xfrm>
            <a:off x="530352" y="384098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96900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959860"/>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From how many of the four segments do the fifty come, as a letter? a) all four; b) three; c) two; d) one, Business.</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1" name="Oval 2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3" name="Oval 2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5" name="Oval 24"/>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86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35 Business, 11 Retail-Plus, 4 Retail-Core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fifty members spent the most, and which segments do they reach?</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35</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BUSINESS</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every Business buyer in Q2</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11</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RETAIL-PLUS</a:t>
            </a:r>
          </a:p>
        </p:txBody>
      </p:sp>
      <p:sp>
        <p:nvSpPr>
          <p:cNvPr id="15" name="TextBox 14"/>
          <p:cNvSpPr txBox="1"/>
          <p:nvPr/>
        </p:nvSpPr>
        <p:spPr>
          <a:xfrm>
            <a:off x="3381679"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of 76 who bought</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4</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RETAIL-CORE</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of 96 who bought</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STUDENT</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of 20 who bought</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Place 35, the last Business member, booked Rs 2,25,000; place 36, the first retail member, Rs 21,740, about a tenth of it. Option B's LIMIT returns the same fifty members.</a:t>
            </a:r>
          </a:p>
        </p:txBody>
      </p:sp>
      <p:sp>
        <p:nvSpPr>
          <p:cNvPr id="28" name="Oval 2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30" name="Oval 29"/>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2" name="Oval 3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4" name="Oval 33"/>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6" name="Oval 3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86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50 rows, 28 members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quickest list, the fifty biggest orders, give Marketing?</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o.order_id, o.customer_id, c.segment, o.amount</a:t>
            </a:r>
          </a:p>
          <a:p>
            <a:pPr>
              <a:spcAft>
                <a:spcPts val="200"/>
              </a:spcAft>
            </a:pPr>
            <a:r>
              <a:rPr sz="1400" b="0" i="0">
                <a:solidFill>
                  <a:srgbClr val="E4E1F1"/>
                </a:solidFill>
                <a:latin typeface="Consolas"/>
              </a:rPr>
              <a:t>FROM   orders o JOIN customers c USING (customer_id)</a:t>
            </a:r>
          </a:p>
          <a:p>
            <a:pPr>
              <a:spcAft>
                <a:spcPts val="200"/>
              </a:spcAft>
            </a:pPr>
            <a:r>
              <a:rPr sz="1400" b="0" i="0">
                <a:solidFill>
                  <a:srgbClr val="E4E1F1"/>
                </a:solidFill>
                <a:latin typeface="Consolas"/>
              </a:rPr>
              <a:t>WHERE  o.quarter = 'Q2'</a:t>
            </a:r>
          </a:p>
          <a:p>
            <a:pPr>
              <a:spcAft>
                <a:spcPts val="200"/>
              </a:spcAft>
            </a:pPr>
            <a:r>
              <a:rPr sz="1400" b="0" i="0">
                <a:solidFill>
                  <a:srgbClr val="E4E1F1"/>
                </a:solidFill>
                <a:latin typeface="Consolas"/>
              </a:rPr>
              <a:t>ORDER  BY o.amount DESC, o.order_id</a:t>
            </a:r>
          </a:p>
          <a:p>
            <a:pPr>
              <a:spcAft>
                <a:spcPts val="200"/>
              </a:spcAft>
            </a:pPr>
            <a:r>
              <a:rPr sz="1400" b="0" i="0">
                <a:solidFill>
                  <a:srgbClr val="E4E1F1"/>
                </a:solidFill>
                <a:latin typeface="Consolas"/>
              </a:rPr>
              <a:t>LIMIT  50;</a:t>
            </a:r>
          </a:p>
        </p:txBody>
      </p:sp>
      <p:sp>
        <p:nvSpPr>
          <p:cNvPr id="14" name="TextBox 13"/>
          <p:cNvSpPr txBox="1"/>
          <p:nvPr/>
        </p:nvSpPr>
        <p:spPr>
          <a:xfrm>
            <a:off x="530352" y="3840988"/>
            <a:ext cx="3527450"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15" name="TextBox 14"/>
          <p:cNvSpPr txBox="1"/>
          <p:nvPr/>
        </p:nvSpPr>
        <p:spPr>
          <a:xfrm>
            <a:off x="530352" y="457606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ON THE LIST</a:t>
            </a:r>
          </a:p>
        </p:txBody>
      </p:sp>
      <p:sp>
        <p:nvSpPr>
          <p:cNvPr id="16" name="TextBox 15"/>
          <p:cNvSpPr txBox="1"/>
          <p:nvPr/>
        </p:nvSpPr>
        <p:spPr>
          <a:xfrm>
            <a:off x="530352" y="4777232"/>
            <a:ext cx="3527450" cy="193421"/>
          </a:xfrm>
          <a:prstGeom prst="rect">
            <a:avLst/>
          </a:prstGeom>
          <a:noFill/>
        </p:spPr>
        <p:txBody>
          <a:bodyPr wrap="square" anchor="t" lIns="0" rIns="0" tIns="0" bIns="0">
            <a:spAutoFit/>
          </a:bodyPr>
          <a:lstStyle/>
          <a:p>
            <a:pPr algn="l"/>
            <a:r>
              <a:rPr sz="950" b="0" i="0">
                <a:solidFill>
                  <a:srgbClr val="6B6690"/>
                </a:solidFill>
                <a:latin typeface="Calibri"/>
              </a:rPr>
              <a:t>what the report says it holds</a:t>
            </a:r>
          </a:p>
        </p:txBody>
      </p:sp>
      <p:sp>
        <p:nvSpPr>
          <p:cNvPr id="17" name="Rectangle 16"/>
          <p:cNvSpPr/>
          <p:nvPr/>
        </p:nvSpPr>
        <p:spPr>
          <a:xfrm>
            <a:off x="530352" y="502970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332122" y="3840988"/>
            <a:ext cx="3527450" cy="698500"/>
          </a:xfrm>
          <a:prstGeom prst="rect">
            <a:avLst/>
          </a:prstGeom>
          <a:noFill/>
        </p:spPr>
        <p:txBody>
          <a:bodyPr wrap="square" anchor="t" lIns="0" rIns="0" tIns="0" bIns="0">
            <a:spAutoFit/>
          </a:bodyPr>
          <a:lstStyle/>
          <a:p>
            <a:pPr algn="l"/>
            <a:r>
              <a:rPr sz="4400" b="0" i="0">
                <a:solidFill>
                  <a:srgbClr val="5B3FD6"/>
                </a:solidFill>
                <a:latin typeface="Georgia"/>
              </a:rPr>
              <a:t>28</a:t>
            </a:r>
          </a:p>
        </p:txBody>
      </p:sp>
      <p:sp>
        <p:nvSpPr>
          <p:cNvPr id="19" name="TextBox 18"/>
          <p:cNvSpPr txBox="1"/>
          <p:nvPr/>
        </p:nvSpPr>
        <p:spPr>
          <a:xfrm>
            <a:off x="4332122" y="457606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DIFFERENT MEMBERS</a:t>
            </a:r>
          </a:p>
        </p:txBody>
      </p:sp>
      <p:sp>
        <p:nvSpPr>
          <p:cNvPr id="20" name="TextBox 19"/>
          <p:cNvSpPr txBox="1"/>
          <p:nvPr/>
        </p:nvSpPr>
        <p:spPr>
          <a:xfrm>
            <a:off x="4332122" y="4777232"/>
            <a:ext cx="3527450" cy="193421"/>
          </a:xfrm>
          <a:prstGeom prst="rect">
            <a:avLst/>
          </a:prstGeom>
          <a:noFill/>
        </p:spPr>
        <p:txBody>
          <a:bodyPr wrap="square" anchor="t" lIns="0" rIns="0" tIns="0" bIns="0">
            <a:spAutoFit/>
          </a:bodyPr>
          <a:lstStyle/>
          <a:p>
            <a:pPr algn="l"/>
            <a:r>
              <a:rPr sz="950" b="0" i="0">
                <a:solidFill>
                  <a:srgbClr val="6B6690"/>
                </a:solidFill>
                <a:latin typeface="Calibri"/>
              </a:rPr>
              <a:t>whom Marketing would ring</a:t>
            </a:r>
          </a:p>
        </p:txBody>
      </p:sp>
      <p:sp>
        <p:nvSpPr>
          <p:cNvPr id="21" name="Rectangle 20"/>
          <p:cNvSpPr/>
          <p:nvPr/>
        </p:nvSpPr>
        <p:spPr>
          <a:xfrm>
            <a:off x="4332122" y="502970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33892" y="3840988"/>
            <a:ext cx="3527450" cy="698500"/>
          </a:xfrm>
          <a:prstGeom prst="rect">
            <a:avLst/>
          </a:prstGeom>
          <a:noFill/>
        </p:spPr>
        <p:txBody>
          <a:bodyPr wrap="square" anchor="t" lIns="0" rIns="0" tIns="0" bIns="0">
            <a:spAutoFit/>
          </a:bodyPr>
          <a:lstStyle/>
          <a:p>
            <a:pPr algn="l"/>
            <a:r>
              <a:rPr sz="4400" b="0" i="0">
                <a:solidFill>
                  <a:srgbClr val="5B3FD6"/>
                </a:solidFill>
                <a:latin typeface="Georgia"/>
              </a:rPr>
              <a:t>1</a:t>
            </a:r>
          </a:p>
        </p:txBody>
      </p:sp>
      <p:sp>
        <p:nvSpPr>
          <p:cNvPr id="23" name="TextBox 22"/>
          <p:cNvSpPr txBox="1"/>
          <p:nvPr/>
        </p:nvSpPr>
        <p:spPr>
          <a:xfrm>
            <a:off x="8133892" y="457606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SEGMENT</a:t>
            </a:r>
          </a:p>
        </p:txBody>
      </p:sp>
      <p:sp>
        <p:nvSpPr>
          <p:cNvPr id="24" name="TextBox 23"/>
          <p:cNvSpPr txBox="1"/>
          <p:nvPr/>
        </p:nvSpPr>
        <p:spPr>
          <a:xfrm>
            <a:off x="8133892" y="4777232"/>
            <a:ext cx="3527450" cy="193421"/>
          </a:xfrm>
          <a:prstGeom prst="rect">
            <a:avLst/>
          </a:prstGeom>
          <a:noFill/>
        </p:spPr>
        <p:txBody>
          <a:bodyPr wrap="square" anchor="t" lIns="0" rIns="0" tIns="0" bIns="0">
            <a:spAutoFit/>
          </a:bodyPr>
          <a:lstStyle/>
          <a:p>
            <a:pPr algn="l"/>
            <a:r>
              <a:rPr sz="950" b="0" i="0">
                <a:solidFill>
                  <a:srgbClr val="6B6690"/>
                </a:solidFill>
                <a:latin typeface="Calibri"/>
              </a:rPr>
              <a:t>Business only</a:t>
            </a:r>
          </a:p>
        </p:txBody>
      </p:sp>
      <p:sp>
        <p:nvSpPr>
          <p:cNvPr id="25" name="Rectangle 24"/>
          <p:cNvSpPr/>
          <p:nvPr/>
        </p:nvSpPr>
        <p:spPr>
          <a:xfrm>
            <a:off x="8133892" y="502970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28" name="Oval 2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0" name="Oval 29"/>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2" name="Oval 3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4" name="Oval 33"/>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86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one row is an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a list of fifty rows name only twenty-eight members?</a:t>
            </a:r>
          </a:p>
        </p:txBody>
      </p:sp>
      <p:pic>
        <p:nvPicPr>
          <p:cNvPr id="9" name="mermaid diagram" descr="d64ee48375f79028.png"/>
          <p:cNvPicPr>
            <a:picLocks noChangeAspect="1"/>
          </p:cNvPicPr>
          <p:nvPr/>
        </p:nvPicPr>
        <p:blipFill>
          <a:blip r:embed="rId5"/>
          <a:stretch>
            <a:fillRect/>
          </a:stretch>
        </p:blipFill>
        <p:spPr>
          <a:xfrm>
            <a:off x="3338360" y="1956816"/>
            <a:ext cx="5514975" cy="1800225"/>
          </a:xfrm>
          <a:prstGeom prst="rect">
            <a:avLst/>
          </a:prstGeom>
        </p:spPr>
      </p:pic>
      <p:sp>
        <p:nvSpPr>
          <p:cNvPr id="10" name="Rounded Rectangle 9"/>
          <p:cNvSpPr/>
          <p:nvPr/>
        </p:nvSpPr>
        <p:spPr>
          <a:xfrm>
            <a:off x="530352" y="3903345"/>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313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22217"/>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Count the different members on the list beside its rows: a list of members holds as many members as rows, and this one holds 28 for 50.</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86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rank members, and 22 more are reached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each member's orders are added up first?</a:t>
            </a:r>
          </a:p>
        </p:txBody>
      </p:sp>
      <p:pic>
        <p:nvPicPr>
          <p:cNvPr id="9" name="mermaid diagram" descr="36f04300a8bc2640.png"/>
          <p:cNvPicPr>
            <a:picLocks noChangeAspect="1"/>
          </p:cNvPicPr>
          <p:nvPr/>
        </p:nvPicPr>
        <p:blipFill>
          <a:blip r:embed="rId5"/>
          <a:stretch>
            <a:fillRect/>
          </a:stretch>
        </p:blipFill>
        <p:spPr>
          <a:xfrm>
            <a:off x="2523972" y="1956816"/>
            <a:ext cx="7143750" cy="1128712"/>
          </a:xfrm>
          <a:prstGeom prst="rect">
            <a:avLst/>
          </a:prstGeom>
        </p:spPr>
      </p:pic>
      <p:sp>
        <p:nvSpPr>
          <p:cNvPr id="10" name="Rounded Rectangle 9"/>
          <p:cNvSpPr/>
          <p:nvPr/>
        </p:nvSpPr>
        <p:spPr>
          <a:xfrm>
            <a:off x="530352" y="323183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5984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50704"/>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Adding up each member's orders before ranking gives fifty rows and fifty members. It reaches seven Business members the orders list missed and the fifteen retail members it could never show.</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86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Python's sort, the same fifty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sort in Python pick the same fifty members?</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spend = {}</a:t>
            </a:r>
          </a:p>
          <a:p>
            <a:pPr>
              <a:spcAft>
                <a:spcPts val="200"/>
              </a:spcAft>
            </a:pPr>
            <a:r>
              <a:rPr sz="1400" b="0" i="0">
                <a:solidFill>
                  <a:srgbClr val="E4E1F1"/>
                </a:solidFill>
                <a:latin typeface="Consolas"/>
              </a:rPr>
              <a:t>for r in rows:                                   # the 462 Q2 order rows</a:t>
            </a:r>
          </a:p>
          <a:p>
            <a:pPr>
              <a:spcAft>
                <a:spcPts val="200"/>
              </a:spcAft>
            </a:pPr>
            <a:r>
              <a:rPr sz="1400" b="0" i="0">
                <a:solidFill>
                  <a:srgbClr val="E4E1F1"/>
                </a:solidFill>
                <a:latin typeface="Consolas"/>
              </a:rPr>
              <a:t>    spend[r["customer_id"]] = spend.get(r["customer_id"], 0) + r["amount"]</a:t>
            </a:r>
          </a:p>
          <a:p>
            <a:pPr>
              <a:spcAft>
                <a:spcPts val="200"/>
              </a:spcAft>
            </a:pPr>
            <a:r>
              <a:rPr sz="1400" b="0" i="0">
                <a:solidFill>
                  <a:srgbClr val="E4E1F1"/>
                </a:solidFill>
                <a:latin typeface="Consolas"/>
              </a:rPr>
              <a:t>fifty = sorted(spend, key=lambda cid: (-spend[cid], cid))[:50]</a:t>
            </a:r>
          </a:p>
        </p:txBody>
      </p:sp>
      <p:sp>
        <p:nvSpPr>
          <p:cNvPr id="14" name="TextBox 13"/>
          <p:cNvSpPr txBox="1"/>
          <p:nvPr/>
        </p:nvSpPr>
        <p:spPr>
          <a:xfrm>
            <a:off x="530352" y="3588512"/>
            <a:ext cx="5428335" cy="698500"/>
          </a:xfrm>
          <a:prstGeom prst="rect">
            <a:avLst/>
          </a:prstGeom>
          <a:noFill/>
        </p:spPr>
        <p:txBody>
          <a:bodyPr wrap="square" anchor="t" lIns="0" rIns="0" tIns="0" bIns="0">
            <a:spAutoFit/>
          </a:bodyPr>
          <a:lstStyle/>
          <a:p>
            <a:pPr algn="l"/>
            <a:r>
              <a:rPr sz="4400" b="0" i="0">
                <a:solidFill>
                  <a:srgbClr val="5B3FD6"/>
                </a:solidFill>
                <a:latin typeface="Georgia"/>
              </a:rPr>
              <a:t>50 = 50</a:t>
            </a:r>
          </a:p>
        </p:txBody>
      </p:sp>
      <p:sp>
        <p:nvSpPr>
          <p:cNvPr id="15" name="TextBox 14"/>
          <p:cNvSpPr txBox="1"/>
          <p:nvPr/>
        </p:nvSpPr>
        <p:spPr>
          <a:xfrm>
            <a:off x="530352" y="4323588"/>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MEMBERS</a:t>
            </a:r>
          </a:p>
        </p:txBody>
      </p:sp>
      <p:sp>
        <p:nvSpPr>
          <p:cNvPr id="16" name="TextBox 15"/>
          <p:cNvSpPr txBox="1"/>
          <p:nvPr/>
        </p:nvSpPr>
        <p:spPr>
          <a:xfrm>
            <a:off x="530352" y="4524756"/>
            <a:ext cx="5428335" cy="193421"/>
          </a:xfrm>
          <a:prstGeom prst="rect">
            <a:avLst/>
          </a:prstGeom>
          <a:noFill/>
        </p:spPr>
        <p:txBody>
          <a:bodyPr wrap="square" anchor="t" lIns="0" rIns="0" tIns="0" bIns="0">
            <a:spAutoFit/>
          </a:bodyPr>
          <a:lstStyle/>
          <a:p>
            <a:pPr algn="l"/>
            <a:r>
              <a:rPr sz="950" b="0" i="0">
                <a:solidFill>
                  <a:srgbClr val="6B6690"/>
                </a:solidFill>
                <a:latin typeface="Calibri"/>
              </a:rPr>
              <a:t>the same fifty, in the same order</a:t>
            </a:r>
          </a:p>
        </p:txBody>
      </p:sp>
      <p:sp>
        <p:nvSpPr>
          <p:cNvPr id="17" name="Rectangle 16"/>
          <p:cNvSpPr/>
          <p:nvPr/>
        </p:nvSpPr>
        <p:spPr>
          <a:xfrm>
            <a:off x="530352" y="4777232"/>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33007" y="3588512"/>
            <a:ext cx="5428335" cy="698500"/>
          </a:xfrm>
          <a:prstGeom prst="rect">
            <a:avLst/>
          </a:prstGeom>
          <a:noFill/>
        </p:spPr>
        <p:txBody>
          <a:bodyPr wrap="square" anchor="t" lIns="0" rIns="0" tIns="0" bIns="0">
            <a:spAutoFit/>
          </a:bodyPr>
          <a:lstStyle/>
          <a:p>
            <a:pPr algn="l"/>
            <a:r>
              <a:rPr sz="4400" b="0" i="0">
                <a:solidFill>
                  <a:srgbClr val="5B3FD6"/>
                </a:solidFill>
                <a:latin typeface="Georgia"/>
              </a:rPr>
              <a:t>462</a:t>
            </a:r>
          </a:p>
        </p:txBody>
      </p:sp>
      <p:sp>
        <p:nvSpPr>
          <p:cNvPr id="19" name="TextBox 18"/>
          <p:cNvSpPr txBox="1"/>
          <p:nvPr/>
        </p:nvSpPr>
        <p:spPr>
          <a:xfrm>
            <a:off x="6233007" y="4323588"/>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ROWS MOVED</a:t>
            </a:r>
          </a:p>
        </p:txBody>
      </p:sp>
      <p:sp>
        <p:nvSpPr>
          <p:cNvPr id="20" name="TextBox 19"/>
          <p:cNvSpPr txBox="1"/>
          <p:nvPr/>
        </p:nvSpPr>
        <p:spPr>
          <a:xfrm>
            <a:off x="6233007" y="4524756"/>
            <a:ext cx="5428335" cy="193421"/>
          </a:xfrm>
          <a:prstGeom prst="rect">
            <a:avLst/>
          </a:prstGeom>
          <a:noFill/>
        </p:spPr>
        <p:txBody>
          <a:bodyPr wrap="square" anchor="t" lIns="0" rIns="0" tIns="0" bIns="0">
            <a:spAutoFit/>
          </a:bodyPr>
          <a:lstStyle/>
          <a:p>
            <a:pPr algn="l"/>
            <a:r>
              <a:rPr sz="950" b="0" i="0">
                <a:solidFill>
                  <a:srgbClr val="6B6690"/>
                </a:solidFill>
                <a:latin typeface="Calibri"/>
              </a:rPr>
              <a:t>to say what the query said in 50</a:t>
            </a:r>
          </a:p>
        </p:txBody>
      </p:sp>
      <p:sp>
        <p:nvSpPr>
          <p:cNvPr id="21" name="Rectangle 20"/>
          <p:cNvSpPr/>
          <p:nvPr/>
        </p:nvSpPr>
        <p:spPr>
          <a:xfrm>
            <a:off x="6233007" y="4777232"/>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24" name="Oval 2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6" name="Oval 2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8" name="Oval 2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0" name="Oval 2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22 / 86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Fifty members, and the list is a Business list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which fifty members spent the most in Q2?</a:t>
            </a:r>
          </a:p>
        </p:txBody>
      </p:sp>
      <p:graphicFrame>
        <p:nvGraphicFramePr>
          <p:cNvPr id="9" name="Table 8"/>
          <p:cNvGraphicFramePr>
            <a:graphicFrameLocks noGrp="1"/>
          </p:cNvGraphicFramePr>
          <p:nvPr/>
        </p:nvGraphicFramePr>
        <p:xfrm>
          <a:off x="530352" y="1793240"/>
          <a:ext cx="11130991" cy="1908048"/>
        </p:xfrm>
        <a:graphic>
          <a:graphicData uri="http://schemas.openxmlformats.org/drawingml/2006/table">
            <a:tbl>
              <a:tblPr firstRow="0" bandRow="0">
                <a:tableStyleId>{2D5ABB26-0587-4C30-8999-92F81FD0307C}</a:tableStyleId>
              </a:tblPr>
              <a:tblGrid>
                <a:gridCol w="4430504"/>
                <a:gridCol w="6700487"/>
              </a:tblGrid>
              <a:tr h="318008">
                <a:tc>
                  <a:txBody>
                    <a:bodyPr/>
                    <a:lstStyle/>
                    <a:p>
                      <a:r>
                        <a:rPr sz="1150" b="1" i="0">
                          <a:solidFill>
                            <a:srgbClr val="FFFFFF"/>
                          </a:solidFill>
                          <a:latin typeface="Calibri"/>
                        </a:rPr>
                        <a:t>The question on the way</a:t>
                      </a:r>
                    </a:p>
                  </a:txBody>
                  <a:tcPr marL="101600" marR="101600" marT="38100" marB="38100" anchor="ctr">
                    <a:solidFill>
                      <a:srgbClr val="1A0F5C"/>
                    </a:solidFill>
                  </a:tcPr>
                </a:tc>
                <a:tc>
                  <a:txBody>
                    <a:bodyPr/>
                    <a:lstStyle/>
                    <a:p>
                      <a:r>
                        <a:rPr sz="1150" b="1" i="0">
                          <a:solidFill>
                            <a:srgbClr val="FFFFFF"/>
                          </a:solidFill>
                          <a:latin typeface="Calibri"/>
                        </a:rPr>
                        <a:t>The answer</a:t>
                      </a:r>
                    </a:p>
                  </a:txBody>
                  <a:tcPr marL="101600" marR="101600" marT="38100" marB="38100" anchor="ctr">
                    <a:solidFill>
                      <a:srgbClr val="1A0F5C"/>
                    </a:solidFill>
                  </a:tcPr>
                </a:tc>
              </a:tr>
              <a:tr h="318008">
                <a:tc>
                  <a:txBody>
                    <a:bodyPr/>
                    <a:lstStyle/>
                    <a:p>
                      <a:r>
                        <a:rPr sz="1100" b="0" i="0">
                          <a:solidFill>
                            <a:srgbClr val="1A1440"/>
                          </a:solidFill>
                          <a:latin typeface="Calibri"/>
                        </a:rPr>
                        <a:t>1. Which way, at what cost?</a:t>
                      </a:r>
                    </a:p>
                  </a:txBody>
                  <a:tcPr marL="101600" marR="101600" marT="38100" marB="38100" anchor="ctr">
                    <a:solidFill>
                      <a:srgbClr val="FFFFFF"/>
                    </a:solidFill>
                  </a:tcPr>
                </a:tc>
                <a:tc>
                  <a:txBody>
                    <a:bodyPr/>
                    <a:lstStyle/>
                    <a:p>
                      <a:r>
                        <a:rPr sz="1100" b="0" i="0">
                          <a:solidFill>
                            <a:srgbClr val="1A1440"/>
                          </a:solidFill>
                          <a:latin typeface="Calibri"/>
                        </a:rPr>
                        <a:t>Group, then number in a window: one query, one read</a:t>
                      </a:r>
                    </a:p>
                  </a:txBody>
                  <a:tcPr marL="101600" marR="101600" marT="38100" marB="38100" anchor="ctr">
                    <a:solidFill>
                      <a:srgbClr val="FFFFFF"/>
                    </a:solidFill>
                  </a:tcPr>
                </a:tc>
              </a:tr>
              <a:tr h="318008">
                <a:tc>
                  <a:txBody>
                    <a:bodyPr/>
                    <a:lstStyle/>
                    <a:p>
                      <a:r>
                        <a:rPr sz="1100" b="0" i="0">
                          <a:solidFill>
                            <a:srgbClr val="1A1440"/>
                          </a:solidFill>
                          <a:latin typeface="Calibri"/>
                        </a:rPr>
                        <a:t>2. What did each member book?</a:t>
                      </a:r>
                    </a:p>
                  </a:txBody>
                  <a:tcPr marL="101600" marR="101600" marT="38100" marB="38100" anchor="ctr">
                    <a:solidFill>
                      <a:srgbClr val="F4F2FA"/>
                    </a:solidFill>
                  </a:tcPr>
                </a:tc>
                <a:tc>
                  <a:txBody>
                    <a:bodyPr/>
                    <a:lstStyle/>
                    <a:p>
                      <a:r>
                        <a:rPr sz="1100" b="0" i="0">
                          <a:solidFill>
                            <a:srgbClr val="1A1440"/>
                          </a:solidFill>
                          <a:latin typeface="Calibri"/>
                        </a:rPr>
                        <a:t>227 rows, all 462 orders and Rs 9,84,00,000</a:t>
                      </a:r>
                    </a:p>
                  </a:txBody>
                  <a:tcPr marL="101600" marR="101600" marT="38100" marB="38100" anchor="ctr">
                    <a:solidFill>
                      <a:srgbClr val="F4F2FA"/>
                    </a:solidFill>
                  </a:tcPr>
                </a:tc>
              </a:tr>
              <a:tr h="318008">
                <a:tc>
                  <a:txBody>
                    <a:bodyPr/>
                    <a:lstStyle/>
                    <a:p>
                      <a:r>
                        <a:rPr sz="1100" b="0" i="0">
                          <a:solidFill>
                            <a:srgbClr val="1A1440"/>
                          </a:solidFill>
                          <a:latin typeface="Calibri"/>
                        </a:rPr>
                        <a:t>3. Which fifty, from which segments?</a:t>
                      </a:r>
                    </a:p>
                  </a:txBody>
                  <a:tcPr marL="101600" marR="101600" marT="38100" marB="38100" anchor="ctr">
                    <a:solidFill>
                      <a:srgbClr val="FFFFFF"/>
                    </a:solidFill>
                  </a:tcPr>
                </a:tc>
                <a:tc>
                  <a:txBody>
                    <a:bodyPr/>
                    <a:lstStyle/>
                    <a:p>
                      <a:r>
                        <a:rPr sz="1100" b="0" i="0">
                          <a:solidFill>
                            <a:srgbClr val="1A1440"/>
                          </a:solidFill>
                          <a:latin typeface="Calibri"/>
                        </a:rPr>
                        <a:t>35 Business, 11 Retail-Plus, 4 Retail-Core; Student none</a:t>
                      </a:r>
                    </a:p>
                  </a:txBody>
                  <a:tcPr marL="101600" marR="101600" marT="38100" marB="38100" anchor="ctr">
                    <a:solidFill>
                      <a:srgbClr val="FFFFFF"/>
                    </a:solidFill>
                  </a:tcPr>
                </a:tc>
              </a:tr>
              <a:tr h="318008">
                <a:tc>
                  <a:txBody>
                    <a:bodyPr/>
                    <a:lstStyle/>
                    <a:p>
                      <a:r>
                        <a:rPr sz="1100" b="0" i="0">
                          <a:solidFill>
                            <a:srgbClr val="1A1440"/>
                          </a:solidFill>
                          <a:latin typeface="Calibri"/>
                        </a:rPr>
                        <a:t>4. What does the quick list give?</a:t>
                      </a:r>
                    </a:p>
                  </a:txBody>
                  <a:tcPr marL="101600" marR="101600" marT="38100" marB="38100" anchor="ctr">
                    <a:solidFill>
                      <a:srgbClr val="F4F2FA"/>
                    </a:solidFill>
                  </a:tcPr>
                </a:tc>
                <a:tc>
                  <a:txBody>
                    <a:bodyPr/>
                    <a:lstStyle/>
                    <a:p>
                      <a:r>
                        <a:rPr sz="1100" b="0" i="0">
                          <a:solidFill>
                            <a:srgbClr val="1A1440"/>
                          </a:solidFill>
                          <a:latin typeface="Calibri"/>
                        </a:rPr>
                        <a:t>50 orders naming 28 members, all Business</a:t>
                      </a:r>
                    </a:p>
                  </a:txBody>
                  <a:tcPr marL="101600" marR="101600" marT="38100" marB="38100" anchor="ctr">
                    <a:solidFill>
                      <a:srgbClr val="F4F2FA"/>
                    </a:solidFill>
                  </a:tcPr>
                </a:tc>
              </a:tr>
              <a:tr h="318008">
                <a:tc>
                  <a:txBody>
                    <a:bodyPr/>
                    <a:lstStyle/>
                    <a:p>
                      <a:r>
                        <a:rPr sz="1100" b="0" i="0">
                          <a:solidFill>
                            <a:srgbClr val="1A1440"/>
                          </a:solidFill>
                          <a:latin typeface="Calibri"/>
                        </a:rPr>
                        <a:t>5. Does Python agree?</a:t>
                      </a:r>
                    </a:p>
                  </a:txBody>
                  <a:tcPr marL="101600" marR="101600" marT="38100" marB="38100" anchor="ctr">
                    <a:solidFill>
                      <a:srgbClr val="FFFFFF"/>
                    </a:solidFill>
                  </a:tcPr>
                </a:tc>
                <a:tc>
                  <a:txBody>
                    <a:bodyPr/>
                    <a:lstStyle/>
                    <a:p>
                      <a:r>
                        <a:rPr sz="1100" b="0" i="0">
                          <a:solidFill>
                            <a:srgbClr val="1A1440"/>
                          </a:solidFill>
                          <a:latin typeface="Calibri"/>
                        </a:rPr>
                        <a:t>Yes, member for member</a:t>
                      </a:r>
                    </a:p>
                  </a:txBody>
                  <a:tcPr marL="101600" marR="101600" marT="38100" marB="38100" anchor="ctr">
                    <a:solidFill>
                      <a:srgbClr val="FFFFFF"/>
                    </a:solidFill>
                  </a:tcPr>
                </a:tc>
              </a:tr>
            </a:tbl>
          </a:graphicData>
        </a:graphic>
      </p:graphicFrame>
      <p:sp>
        <p:nvSpPr>
          <p:cNvPr id="10" name="Rounded Rectangle 9"/>
          <p:cNvSpPr/>
          <p:nvPr/>
        </p:nvSpPr>
        <p:spPr>
          <a:xfrm>
            <a:off x="530352" y="3957320"/>
            <a:ext cx="11130991" cy="983488"/>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204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330192"/>
            <a:ext cx="237744" cy="237744"/>
          </a:xfrm>
          <a:prstGeom prst="rect">
            <a:avLst/>
          </a:prstGeom>
        </p:spPr>
      </p:pic>
      <p:sp>
        <p:nvSpPr>
          <p:cNvPr id="13" name="TextBox 12"/>
          <p:cNvSpPr txBox="1"/>
          <p:nvPr/>
        </p:nvSpPr>
        <p:spPr>
          <a:xfrm>
            <a:off x="1399031" y="410362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323080"/>
            <a:ext cx="9987991" cy="544576"/>
          </a:xfrm>
          <a:prstGeom prst="rect">
            <a:avLst/>
          </a:prstGeom>
          <a:noFill/>
        </p:spPr>
        <p:txBody>
          <a:bodyPr wrap="square" anchor="t" lIns="0" rIns="0" tIns="0" bIns="0">
            <a:spAutoFit/>
          </a:bodyPr>
          <a:lstStyle/>
          <a:p>
            <a:r>
              <a:rPr sz="1100" b="0" i="0">
                <a:solidFill>
                  <a:srgbClr val="1A1440"/>
                </a:solidFill>
                <a:latin typeface="Calibri"/>
              </a:rPr>
              <a:t>"Say what one row of your list is before you say who is on it. A top fifty of orders and a top fifty of members look alike on screen and send Marketing to different people."</a:t>
            </a:r>
          </a:p>
        </p:txBody>
      </p:sp>
      <p:sp>
        <p:nvSpPr>
          <p:cNvPr id="15" name="Rounded Rectangle 14"/>
          <p:cNvSpPr/>
          <p:nvPr/>
        </p:nvSpPr>
        <p:spPr>
          <a:xfrm>
            <a:off x="530352" y="5105400"/>
            <a:ext cx="11130991" cy="983488"/>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3685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478272"/>
            <a:ext cx="237744" cy="237744"/>
          </a:xfrm>
          <a:prstGeom prst="rect">
            <a:avLst/>
          </a:prstGeom>
        </p:spPr>
      </p:pic>
      <p:sp>
        <p:nvSpPr>
          <p:cNvPr id="18" name="TextBox 17"/>
          <p:cNvSpPr txBox="1"/>
          <p:nvPr/>
        </p:nvSpPr>
        <p:spPr>
          <a:xfrm>
            <a:off x="1399031" y="52517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471160"/>
            <a:ext cx="9987991" cy="544576"/>
          </a:xfrm>
          <a:prstGeom prst="rect">
            <a:avLst/>
          </a:prstGeom>
          <a:noFill/>
        </p:spPr>
        <p:txBody>
          <a:bodyPr wrap="square" anchor="t" lIns="0" rIns="0" tIns="0" bIns="0">
            <a:spAutoFit/>
          </a:bodyPr>
          <a:lstStyle/>
          <a:p>
            <a:r>
              <a:rPr sz="1100" b="0" i="0">
                <a:solidFill>
                  <a:srgbClr val="1A1440"/>
                </a:solidFill>
                <a:latin typeface="Calibri"/>
              </a:rPr>
              <a:t>[S] What is the difference between GROUP BY and a window function? [F] Your top-fifty list has fifty rows but twenty-eight names: what happened?</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are the top fifty?</a:t>
            </a:r>
          </a:p>
        </p:txBody>
      </p:sp>
      <p:sp>
        <p:nvSpPr>
          <p:cNvPr id="22" name="Oval 2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4" name="Oval 2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6" name="Oval 2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8" name="Oval 2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23 / 86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PARTITION BY; top-N per group; filtering on a window via a CTE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Top fifty per segment?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fifty members lead each of the four segments, so that no segment's protect budget goes unspent?</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are the top fifty?</a:t>
            </a:r>
          </a:p>
        </p:txBody>
      </p:sp>
      <p:sp>
        <p:nvSpPr>
          <p:cNvPr id="12" name="Rounded Rectangle 11"/>
          <p:cNvSpPr/>
          <p:nvPr/>
        </p:nvSpPr>
        <p:spPr>
          <a:xfrm>
            <a:off x="2509759"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Top fifty per segment?</a:t>
            </a:r>
          </a:p>
        </p:txBody>
      </p:sp>
      <p:sp>
        <p:nvSpPr>
          <p:cNvPr id="13" name="Rounded Rectangle 12"/>
          <p:cNvSpPr/>
          <p:nvPr/>
        </p:nvSpPr>
        <p:spPr>
          <a:xfrm>
            <a:off x="428799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makes it at a tie?</a:t>
            </a:r>
          </a:p>
        </p:txBody>
      </p:sp>
      <p:sp>
        <p:nvSpPr>
          <p:cNvPr id="14" name="Rounded Rectangle 13"/>
          <p:cNvSpPr/>
          <p:nvPr/>
        </p:nvSpPr>
        <p:spPr>
          <a:xfrm>
            <a:off x="606623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Whose spend is falling?</a:t>
            </a:r>
          </a:p>
        </p:txBody>
      </p:sp>
      <p:sp>
        <p:nvSpPr>
          <p:cNvPr id="15" name="Rounded Rectangle 14"/>
          <p:cNvSpPr/>
          <p:nvPr/>
        </p:nvSpPr>
        <p:spPr>
          <a:xfrm>
            <a:off x="790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On track against plan?</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 we protect before they drift?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24 / 86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Answering it per segment: five questions on the 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a list per segment, and which questions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marketing lead spends each segment's protect budget on that segment's own members, and the head of Retail-Plus wants the tier's best members rung before they drift. A list that hands Retail-Plus a few places and Student none leaves the tier Marketing worries about mostly unprotected.</a:t>
            </a:r>
          </a:p>
        </p:txBody>
      </p:sp>
      <p:sp>
        <p:nvSpPr>
          <p:cNvPr id="12" name="Rectangle 11"/>
          <p:cNvSpPr/>
          <p:nvPr/>
        </p:nvSpPr>
        <p:spPr>
          <a:xfrm>
            <a:off x="1570299" y="37627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46971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750710" cy="465836"/>
          </a:xfrm>
          <a:prstGeom prst="rect">
            <a:avLst/>
          </a:prstGeom>
          <a:noFill/>
        </p:spPr>
        <p:txBody>
          <a:bodyPr wrap="square" anchor="t" lIns="0" rIns="0" tIns="0" bIns="0">
            <a:spAutoFit/>
          </a:bodyPr>
          <a:lstStyle/>
          <a:p>
            <a:pPr algn="l"/>
            <a:r>
              <a:rPr sz="1300" b="1" i="0">
                <a:solidFill>
                  <a:srgbClr val="1A0F5C"/>
                </a:solidFill>
                <a:latin typeface="Calibri"/>
              </a:rPr>
              <a:t>Which way, at what cost?</a:t>
            </a:r>
          </a:p>
        </p:txBody>
      </p:sp>
      <p:sp>
        <p:nvSpPr>
          <p:cNvPr id="17" name="TextBox 16"/>
          <p:cNvSpPr txBox="1"/>
          <p:nvPr/>
        </p:nvSpPr>
        <p:spPr>
          <a:xfrm>
            <a:off x="694944" y="4731512"/>
            <a:ext cx="1750710" cy="201676"/>
          </a:xfrm>
          <a:prstGeom prst="rect">
            <a:avLst/>
          </a:prstGeom>
          <a:noFill/>
        </p:spPr>
        <p:txBody>
          <a:bodyPr wrap="square" anchor="t" lIns="0" rIns="0" tIns="0" bIns="0">
            <a:spAutoFit/>
          </a:bodyPr>
          <a:lstStyle/>
          <a:p>
            <a:pPr algn="l"/>
            <a:r>
              <a:rPr sz="1000" b="0" i="0">
                <a:solidFill>
                  <a:srgbClr val="6B6690"/>
                </a:solidFill>
                <a:latin typeface="Calibri"/>
              </a:rPr>
              <a:t>Four ways per segment</a:t>
            </a:r>
          </a:p>
        </p:txBody>
      </p:sp>
      <p:sp>
        <p:nvSpPr>
          <p:cNvPr id="18" name="TextBox 17"/>
          <p:cNvSpPr txBox="1"/>
          <p:nvPr/>
        </p:nvSpPr>
        <p:spPr>
          <a:xfrm>
            <a:off x="2793126"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732489"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4229100"/>
            <a:ext cx="1750710" cy="251205"/>
          </a:xfrm>
          <a:prstGeom prst="rect">
            <a:avLst/>
          </a:prstGeom>
          <a:noFill/>
        </p:spPr>
        <p:txBody>
          <a:bodyPr wrap="square" anchor="t" lIns="0" rIns="0" tIns="0" bIns="0">
            <a:spAutoFit/>
          </a:bodyPr>
          <a:lstStyle/>
          <a:p>
            <a:pPr algn="l"/>
            <a:r>
              <a:rPr sz="1300" b="1" i="0">
                <a:solidFill>
                  <a:srgbClr val="1A0F5C"/>
                </a:solidFill>
                <a:latin typeface="Calibri"/>
              </a:rPr>
              <a:t>Can GROUP BY do it?</a:t>
            </a:r>
          </a:p>
        </p:txBody>
      </p:sp>
      <p:sp>
        <p:nvSpPr>
          <p:cNvPr id="22" name="TextBox 21"/>
          <p:cNvSpPr txBox="1"/>
          <p:nvPr/>
        </p:nvSpPr>
        <p:spPr>
          <a:xfrm>
            <a:off x="2957718" y="4516882"/>
            <a:ext cx="1750710" cy="201676"/>
          </a:xfrm>
          <a:prstGeom prst="rect">
            <a:avLst/>
          </a:prstGeom>
          <a:noFill/>
        </p:spPr>
        <p:txBody>
          <a:bodyPr wrap="square" anchor="t" lIns="0" rIns="0" tIns="0" bIns="0">
            <a:spAutoFit/>
          </a:bodyPr>
          <a:lstStyle/>
          <a:p>
            <a:pPr algn="l"/>
            <a:r>
              <a:rPr sz="1000" b="0" i="0">
                <a:solidFill>
                  <a:srgbClr val="6B6690"/>
                </a:solidFill>
                <a:latin typeface="Calibri"/>
              </a:rPr>
              <a:t>What it can return</a:t>
            </a:r>
          </a:p>
        </p:txBody>
      </p:sp>
      <p:sp>
        <p:nvSpPr>
          <p:cNvPr id="23" name="TextBox 22"/>
          <p:cNvSpPr txBox="1"/>
          <p:nvPr/>
        </p:nvSpPr>
        <p:spPr>
          <a:xfrm>
            <a:off x="5055900"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995263"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4229100"/>
            <a:ext cx="1750710" cy="465836"/>
          </a:xfrm>
          <a:prstGeom prst="rect">
            <a:avLst/>
          </a:prstGeom>
          <a:noFill/>
        </p:spPr>
        <p:txBody>
          <a:bodyPr wrap="square" anchor="t" lIns="0" rIns="0" tIns="0" bIns="0">
            <a:spAutoFit/>
          </a:bodyPr>
          <a:lstStyle/>
          <a:p>
            <a:pPr algn="l"/>
            <a:r>
              <a:rPr sz="1300" b="1" i="0">
                <a:solidFill>
                  <a:srgbClr val="1A0F5C"/>
                </a:solidFill>
                <a:latin typeface="Calibri"/>
              </a:rPr>
              <a:t>What does one numbering give?</a:t>
            </a:r>
          </a:p>
        </p:txBody>
      </p:sp>
      <p:sp>
        <p:nvSpPr>
          <p:cNvPr id="27" name="TextBox 26"/>
          <p:cNvSpPr txBox="1"/>
          <p:nvPr/>
        </p:nvSpPr>
        <p:spPr>
          <a:xfrm>
            <a:off x="5220492" y="4731512"/>
            <a:ext cx="1750710" cy="201676"/>
          </a:xfrm>
          <a:prstGeom prst="rect">
            <a:avLst/>
          </a:prstGeom>
          <a:noFill/>
        </p:spPr>
        <p:txBody>
          <a:bodyPr wrap="square" anchor="t" lIns="0" rIns="0" tIns="0" bIns="0">
            <a:spAutoFit/>
          </a:bodyPr>
          <a:lstStyle/>
          <a:p>
            <a:pPr algn="l"/>
            <a:r>
              <a:rPr sz="1000" b="0" i="0">
                <a:solidFill>
                  <a:srgbClr val="6B6690"/>
                </a:solidFill>
                <a:latin typeface="Calibri"/>
              </a:rPr>
              <a:t>The whole book, then split</a:t>
            </a:r>
          </a:p>
        </p:txBody>
      </p:sp>
      <p:sp>
        <p:nvSpPr>
          <p:cNvPr id="28" name="TextBox 27"/>
          <p:cNvSpPr txBox="1"/>
          <p:nvPr/>
        </p:nvSpPr>
        <p:spPr>
          <a:xfrm>
            <a:off x="7318674"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8258037"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4082796"/>
            <a:ext cx="2079894"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4229100"/>
            <a:ext cx="1750710" cy="465836"/>
          </a:xfrm>
          <a:prstGeom prst="rect">
            <a:avLst/>
          </a:prstGeom>
          <a:noFill/>
        </p:spPr>
        <p:txBody>
          <a:bodyPr wrap="square" anchor="t" lIns="0" rIns="0" tIns="0" bIns="0">
            <a:spAutoFit/>
          </a:bodyPr>
          <a:lstStyle/>
          <a:p>
            <a:pPr algn="l"/>
            <a:r>
              <a:rPr sz="1300" b="1" i="0">
                <a:solidFill>
                  <a:srgbClr val="1A0F5C"/>
                </a:solidFill>
                <a:latin typeface="Calibri"/>
              </a:rPr>
              <a:t>What does PARTITION BY restart?</a:t>
            </a:r>
          </a:p>
        </p:txBody>
      </p:sp>
      <p:sp>
        <p:nvSpPr>
          <p:cNvPr id="32" name="TextBox 31"/>
          <p:cNvSpPr txBox="1"/>
          <p:nvPr/>
        </p:nvSpPr>
        <p:spPr>
          <a:xfrm>
            <a:off x="7483266" y="4731512"/>
            <a:ext cx="1750710" cy="201676"/>
          </a:xfrm>
          <a:prstGeom prst="rect">
            <a:avLst/>
          </a:prstGeom>
          <a:noFill/>
        </p:spPr>
        <p:txBody>
          <a:bodyPr wrap="square" anchor="t" lIns="0" rIns="0" tIns="0" bIns="0">
            <a:spAutoFit/>
          </a:bodyPr>
          <a:lstStyle/>
          <a:p>
            <a:pPr algn="l"/>
            <a:r>
              <a:rPr sz="1000" b="0" i="0">
                <a:solidFill>
                  <a:srgbClr val="6B6690"/>
                </a:solidFill>
                <a:latin typeface="Calibri"/>
              </a:rPr>
              <a:t>The count per list</a:t>
            </a:r>
          </a:p>
        </p:txBody>
      </p:sp>
      <p:sp>
        <p:nvSpPr>
          <p:cNvPr id="33" name="TextBox 32"/>
          <p:cNvSpPr txBox="1"/>
          <p:nvPr/>
        </p:nvSpPr>
        <p:spPr>
          <a:xfrm>
            <a:off x="9581448" y="31958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10520812"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4082796"/>
            <a:ext cx="2079894" cy="90424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4229100"/>
            <a:ext cx="1750710" cy="465836"/>
          </a:xfrm>
          <a:prstGeom prst="rect">
            <a:avLst/>
          </a:prstGeom>
          <a:noFill/>
        </p:spPr>
        <p:txBody>
          <a:bodyPr wrap="square" anchor="t" lIns="0" rIns="0" tIns="0" bIns="0">
            <a:spAutoFit/>
          </a:bodyPr>
          <a:lstStyle/>
          <a:p>
            <a:pPr algn="l"/>
            <a:r>
              <a:rPr sz="1300" b="1" i="0">
                <a:solidFill>
                  <a:srgbClr val="FFFFFF"/>
                </a:solidFill>
                <a:latin typeface="Calibri"/>
              </a:rPr>
              <a:t>Do four queries agree?</a:t>
            </a:r>
          </a:p>
        </p:txBody>
      </p:sp>
      <p:sp>
        <p:nvSpPr>
          <p:cNvPr id="37" name="TextBox 36"/>
          <p:cNvSpPr txBox="1"/>
          <p:nvPr/>
        </p:nvSpPr>
        <p:spPr>
          <a:xfrm>
            <a:off x="9746040" y="4731512"/>
            <a:ext cx="1750710" cy="201676"/>
          </a:xfrm>
          <a:prstGeom prst="rect">
            <a:avLst/>
          </a:prstGeom>
          <a:noFill/>
        </p:spPr>
        <p:txBody>
          <a:bodyPr wrap="square" anchor="t" lIns="0" rIns="0" tIns="0" bIns="0">
            <a:spAutoFit/>
          </a:bodyPr>
          <a:lstStyle/>
          <a:p>
            <a:pPr algn="l"/>
            <a:r>
              <a:rPr sz="1000" b="0" i="0">
                <a:solidFill>
                  <a:srgbClr val="CFC9EE"/>
                </a:solidFill>
                <a:latin typeface="Calibri"/>
              </a:rPr>
              <a:t>One query per segment</a:t>
            </a:r>
          </a:p>
        </p:txBody>
      </p:sp>
      <p:sp>
        <p:nvSpPr>
          <p:cNvPr id="38" name="Oval 3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40" name="Oval 39"/>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42" name="Oval 4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44" name="Oval 43"/>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46" name="Oval 4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25 / 86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segment's budget needs its own fifty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for a list per segment, and what does a whole-book list cost them?</a:t>
            </a:r>
          </a:p>
        </p:txBody>
      </p:sp>
      <p:sp>
        <p:nvSpPr>
          <p:cNvPr id="9" name="Rounded Rectangle 8"/>
          <p:cNvSpPr/>
          <p:nvPr/>
        </p:nvSpPr>
        <p:spPr>
          <a:xfrm>
            <a:off x="530352" y="1956816"/>
            <a:ext cx="3588410"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gaphone_df6318bcf2f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marketing lead</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Sets a protect budget per segment and spends it on that segment's members.</a:t>
            </a:r>
          </a:p>
        </p:txBody>
      </p:sp>
      <p:sp>
        <p:nvSpPr>
          <p:cNvPr id="15" name="Rounded Rectangle 14"/>
          <p:cNvSpPr/>
          <p:nvPr/>
        </p:nvSpPr>
        <p:spPr>
          <a:xfrm>
            <a:off x="4301642" y="1956816"/>
            <a:ext cx="3588410"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ordered_6bff7db210fa.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498856"/>
          </a:xfrm>
          <a:prstGeom prst="rect">
            <a:avLst/>
          </a:prstGeom>
          <a:noFill/>
        </p:spPr>
        <p:txBody>
          <a:bodyPr wrap="square" anchor="t" lIns="0" rIns="0" tIns="0" bIns="0">
            <a:spAutoFit/>
          </a:bodyPr>
          <a:lstStyle/>
          <a:p>
            <a:pPr algn="l"/>
            <a:r>
              <a:rPr sz="1400" b="1" i="0">
                <a:solidFill>
                  <a:srgbClr val="1A0F5C"/>
                </a:solidFill>
                <a:latin typeface="Calibri"/>
              </a:rPr>
              <a:t>Q2 revenue, ranked within a segment</a:t>
            </a:r>
          </a:p>
        </p:txBody>
      </p:sp>
      <p:sp>
        <p:nvSpPr>
          <p:cNvPr id="20" name="TextBox 19"/>
          <p:cNvSpPr txBox="1"/>
          <p:nvPr/>
        </p:nvSpPr>
        <p:spPr>
          <a:xfrm>
            <a:off x="4502810" y="3534664"/>
            <a:ext cx="3186074" cy="399796"/>
          </a:xfrm>
          <a:prstGeom prst="rect">
            <a:avLst/>
          </a:prstGeom>
          <a:noFill/>
        </p:spPr>
        <p:txBody>
          <a:bodyPr wrap="square" anchor="t" lIns="0" rIns="0" tIns="0" bIns="0">
            <a:spAutoFit/>
          </a:bodyPr>
          <a:lstStyle/>
          <a:p>
            <a:pPr algn="l"/>
            <a:r>
              <a:rPr sz="1100" b="0" i="0">
                <a:solidFill>
                  <a:srgbClr val="6B6690"/>
                </a:solidFill>
                <a:latin typeface="Calibri"/>
              </a:rPr>
              <a:t>A member's place among their own segment's buyers.</a:t>
            </a:r>
          </a:p>
        </p:txBody>
      </p:sp>
      <p:sp>
        <p:nvSpPr>
          <p:cNvPr id="21" name="Rounded Rectangle 20"/>
          <p:cNvSpPr/>
          <p:nvPr/>
        </p:nvSpPr>
        <p:spPr>
          <a:xfrm>
            <a:off x="8072932" y="1956816"/>
            <a:ext cx="3588410" cy="219557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LIST COSTS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A tier left unprotected</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A Retail-Plus member who lapses takes the fee and every order after it.</a:t>
            </a:r>
          </a:p>
        </p:txBody>
      </p:sp>
      <p:sp>
        <p:nvSpPr>
          <p:cNvPr id="27" name="Rounded Rectangle 26"/>
          <p:cNvSpPr/>
          <p:nvPr/>
        </p:nvSpPr>
        <p:spPr>
          <a:xfrm>
            <a:off x="530352" y="4335272"/>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5379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essage-square_028dbd132a0a.png"/>
          <p:cNvPicPr>
            <a:picLocks noChangeAspect="1"/>
          </p:cNvPicPr>
          <p:nvPr/>
        </p:nvPicPr>
        <p:blipFill>
          <a:blip r:embed="rId7"/>
          <a:stretch>
            <a:fillRect/>
          </a:stretch>
        </p:blipFill>
        <p:spPr>
          <a:xfrm>
            <a:off x="868680" y="4647692"/>
            <a:ext cx="237744" cy="237744"/>
          </a:xfrm>
          <a:prstGeom prst="rect">
            <a:avLst/>
          </a:prstGeom>
        </p:spPr>
      </p:pic>
      <p:sp>
        <p:nvSpPr>
          <p:cNvPr id="30" name="TextBox 29"/>
          <p:cNvSpPr txBox="1"/>
          <p:nvPr/>
        </p:nvSpPr>
        <p:spPr>
          <a:xfrm>
            <a:off x="1399031" y="448157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1" name="TextBox 30"/>
          <p:cNvSpPr txBox="1"/>
          <p:nvPr/>
        </p:nvSpPr>
        <p:spPr>
          <a:xfrm>
            <a:off x="1399031" y="4701032"/>
            <a:ext cx="9987991" cy="423672"/>
          </a:xfrm>
          <a:prstGeom prst="rect">
            <a:avLst/>
          </a:prstGeom>
          <a:noFill/>
        </p:spPr>
        <p:txBody>
          <a:bodyPr wrap="square" anchor="t" lIns="0" rIns="0" tIns="0" bIns="0">
            <a:spAutoFit/>
          </a:bodyPr>
          <a:lstStyle/>
          <a:p>
            <a:r>
              <a:rPr sz="1500" b="0" i="0">
                <a:solidFill>
                  <a:srgbClr val="FFFFFF"/>
                </a:solidFill>
                <a:latin typeface="Calibri"/>
              </a:rPr>
              <a:t>"Give us the top fifty customers by Q2 revenue in each segment."</a:t>
            </a:r>
          </a:p>
        </p:txBody>
      </p:sp>
      <p:sp>
        <p:nvSpPr>
          <p:cNvPr id="32" name="Oval 3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34" name="Oval 33"/>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36" name="Oval 3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8" name="Oval 3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40" name="Oval 3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26 / 86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Amazon ranks each item inside its own category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company had to rank inside each group, because one overall list hides the leaders?</a:t>
            </a:r>
          </a:p>
        </p:txBody>
      </p:sp>
      <p:pic>
        <p:nvPicPr>
          <p:cNvPr id="9" name="mermaid diagram" descr="8001d082b7b5225e.png"/>
          <p:cNvPicPr>
            <a:picLocks noChangeAspect="1"/>
          </p:cNvPicPr>
          <p:nvPr/>
        </p:nvPicPr>
        <p:blipFill>
          <a:blip r:embed="rId6"/>
          <a:stretch>
            <a:fillRect/>
          </a:stretch>
        </p:blipFill>
        <p:spPr>
          <a:xfrm>
            <a:off x="3466947" y="1956816"/>
            <a:ext cx="5257800" cy="2543175"/>
          </a:xfrm>
          <a:prstGeom prst="rect">
            <a:avLst/>
          </a:prstGeom>
        </p:spPr>
      </p:pic>
      <p:sp>
        <p:nvSpPr>
          <p:cNvPr id="10" name="Rounded Rectangle 9"/>
          <p:cNvSpPr/>
          <p:nvPr/>
        </p:nvSpPr>
        <p:spPr>
          <a:xfrm>
            <a:off x="530352" y="4646295"/>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97852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5088255"/>
            <a:ext cx="237744" cy="237744"/>
          </a:xfrm>
          <a:prstGeom prst="rect">
            <a:avLst/>
          </a:prstGeom>
        </p:spPr>
      </p:pic>
      <p:sp>
        <p:nvSpPr>
          <p:cNvPr id="13" name="TextBox 12"/>
          <p:cNvSpPr txBox="1"/>
          <p:nvPr/>
        </p:nvSpPr>
        <p:spPr>
          <a:xfrm>
            <a:off x="1399031" y="4792599"/>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5012055"/>
            <a:ext cx="9987991" cy="682752"/>
          </a:xfrm>
          <a:prstGeom prst="rect">
            <a:avLst/>
          </a:prstGeom>
          <a:noFill/>
        </p:spPr>
        <p:txBody>
          <a:bodyPr wrap="square" anchor="t" lIns="0" rIns="0" tIns="0" bIns="0">
            <a:spAutoFit/>
          </a:bodyPr>
          <a:lstStyle/>
          <a:p>
            <a:r>
              <a:rPr sz="1500" b="0" i="0">
                <a:solidFill>
                  <a:srgbClr val="1A1440"/>
                </a:solidFill>
                <a:latin typeface="Calibri"/>
              </a:rPr>
              <a:t>Amazon says the overall rank "doesn't always indicate how well an item is selling in relation to similar items", so it keeps best-seller lists by category and subcategory.</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3" name="Oval 22"/>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27 / 86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PARTITION BY: one query, the orders read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could the team build one list per segment, and what would each way cost?</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4594192"/>
                <a:gridCol w="3387748"/>
                <a:gridCol w="914400"/>
                <a:gridCol w="2234650"/>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How each segment gets fifty</a:t>
                      </a:r>
                    </a:p>
                  </a:txBody>
                  <a:tcPr marL="101600" marR="101600" marT="38100" marB="38100" anchor="ctr">
                    <a:solidFill>
                      <a:srgbClr val="1A0F5C"/>
                    </a:solidFill>
                  </a:tcPr>
                </a:tc>
                <a:tc>
                  <a:txBody>
                    <a:bodyPr/>
                    <a:lstStyle/>
                    <a:p>
                      <a:r>
                        <a:rPr sz="1250" b="1" i="0">
                          <a:solidFill>
                            <a:srgbClr val="FFFFFF"/>
                          </a:solidFill>
                          <a:latin typeface="Calibri"/>
                        </a:rPr>
                        <a:t>Queries</a:t>
                      </a:r>
                    </a:p>
                  </a:txBody>
                  <a:tcPr marL="101600" marR="101600" marT="38100" marB="38100" anchor="ctr">
                    <a:solidFill>
                      <a:srgbClr val="1A0F5C"/>
                    </a:solidFill>
                  </a:tcPr>
                </a:tc>
                <a:tc>
                  <a:txBody>
                    <a:bodyPr/>
                    <a:lstStyle/>
                    <a:p>
                      <a:r>
                        <a:rPr sz="1250" b="1" i="0">
                          <a:solidFill>
                            <a:srgbClr val="FFFFFF"/>
                          </a:solidFill>
                          <a:latin typeface="Calibri"/>
                        </a:rPr>
                        <a:t>Works through</a:t>
                      </a:r>
                    </a:p>
                  </a:txBody>
                  <a:tcPr marL="101600" marR="101600" marT="38100" marB="38100" anchor="ctr">
                    <a:solidFill>
                      <a:srgbClr val="1A0F5C"/>
                    </a:solidFill>
                  </a:tcPr>
                </a:tc>
              </a:tr>
              <a:tr h="335280">
                <a:tc>
                  <a:txBody>
                    <a:bodyPr/>
                    <a:lstStyle/>
                    <a:p>
                      <a:r>
                        <a:rPr sz="1200" b="0" i="0">
                          <a:solidFill>
                            <a:srgbClr val="1A1440"/>
                          </a:solidFill>
                          <a:latin typeface="Calibri"/>
                        </a:rPr>
                        <a:t>A. One sorted query per segment, UNION ALL</a:t>
                      </a:r>
                    </a:p>
                  </a:txBody>
                  <a:tcPr marL="101600" marR="101600" marT="38100" marB="38100" anchor="ctr">
                    <a:solidFill>
                      <a:srgbClr val="FFFFFF"/>
                    </a:solidFill>
                  </a:tcPr>
                </a:tc>
                <a:tc>
                  <a:txBody>
                    <a:bodyPr/>
                    <a:lstStyle/>
                    <a:p>
                      <a:r>
                        <a:rPr sz="1200" b="0" i="0">
                          <a:solidFill>
                            <a:srgbClr val="1A1440"/>
                          </a:solidFill>
                          <a:latin typeface="Calibri"/>
                        </a:rPr>
                        <a:t>its own LIMIT 50</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c>
                  <a:txBody>
                    <a:bodyPr/>
                    <a:lstStyle/>
                    <a:p>
                      <a:r>
                        <a:rPr sz="1200" b="0" i="0">
                          <a:solidFill>
                            <a:srgbClr val="1A1440"/>
                          </a:solidFill>
                          <a:latin typeface="Calibri"/>
                        </a:rPr>
                        <a:t>1,848 order rows</a:t>
                      </a:r>
                    </a:p>
                  </a:txBody>
                  <a:tcPr marL="101600" marR="101600" marT="38100" marB="38100" anchor="ctr">
                    <a:solidFill>
                      <a:srgbClr val="FFFFFF"/>
                    </a:solidFill>
                  </a:tcPr>
                </a:tc>
              </a:tr>
              <a:tr h="335280">
                <a:tc>
                  <a:txBody>
                    <a:bodyPr/>
                    <a:lstStyle/>
                    <a:p>
                      <a:r>
                        <a:rPr sz="1200" b="0" i="0">
                          <a:solidFill>
                            <a:srgbClr val="1A1440"/>
                          </a:solidFill>
                          <a:latin typeface="Calibri"/>
                        </a:rPr>
                        <a:t>B. Count who spent more</a:t>
                      </a:r>
                    </a:p>
                  </a:txBody>
                  <a:tcPr marL="101600" marR="101600" marT="38100" marB="38100" anchor="ctr">
                    <a:solidFill>
                      <a:srgbClr val="F4F2FA"/>
                    </a:solidFill>
                  </a:tcPr>
                </a:tc>
                <a:tc>
                  <a:txBody>
                    <a:bodyPr/>
                    <a:lstStyle/>
                    <a:p>
                      <a:r>
                        <a:rPr sz="1200" b="0" i="0">
                          <a:solidFill>
                            <a:srgbClr val="1A1440"/>
                          </a:solidFill>
                          <a:latin typeface="Calibri"/>
                        </a:rPr>
                        <a:t>1 plus members who booked more</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16,617 member pairs</a:t>
                      </a:r>
                    </a:p>
                  </a:txBody>
                  <a:tcPr marL="101600" marR="101600" marT="38100" marB="38100" anchor="ctr">
                    <a:solidFill>
                      <a:srgbClr val="F4F2FA"/>
                    </a:solidFill>
                  </a:tcPr>
                </a:tc>
              </a:tr>
              <a:tr h="335280">
                <a:tc>
                  <a:txBody>
                    <a:bodyPr/>
                    <a:lstStyle/>
                    <a:p>
                      <a:r>
                        <a:rPr sz="1200" b="0" i="0">
                          <a:solidFill>
                            <a:srgbClr val="1A1440"/>
                          </a:solidFill>
                          <a:latin typeface="Calibri"/>
                        </a:rPr>
                        <a:t>C. A window with PARTITION BY segment</a:t>
                      </a:r>
                    </a:p>
                  </a:txBody>
                  <a:tcPr marL="101600" marR="101600" marT="38100" marB="38100" anchor="ctr">
                    <a:solidFill>
                      <a:srgbClr val="FFFFFF"/>
                    </a:solidFill>
                  </a:tcPr>
                </a:tc>
                <a:tc>
                  <a:txBody>
                    <a:bodyPr/>
                    <a:lstStyle/>
                    <a:p>
                      <a:r>
                        <a:rPr sz="1200" b="0" i="0">
                          <a:solidFill>
                            <a:srgbClr val="1A1440"/>
                          </a:solidFill>
                          <a:latin typeface="Calibri"/>
                        </a:rPr>
                        <a:t>numbering restarts per segment</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462 order rows</a:t>
                      </a:r>
                    </a:p>
                  </a:txBody>
                  <a:tcPr marL="101600" marR="101600" marT="38100" marB="38100" anchor="ctr">
                    <a:solidFill>
                      <a:srgbClr val="FFFFFF"/>
                    </a:solidFill>
                  </a:tcPr>
                </a:tc>
              </a:tr>
              <a:tr h="335280">
                <a:tc>
                  <a:txBody>
                    <a:bodyPr/>
                    <a:lstStyle/>
                    <a:p>
                      <a:r>
                        <a:rPr sz="1200" b="0" i="0">
                          <a:solidFill>
                            <a:srgbClr val="1A1440"/>
                          </a:solidFill>
                          <a:latin typeface="Calibri"/>
                        </a:rPr>
                        <a:t>D. GROUP BY segment, LIMIT 50</a:t>
                      </a:r>
                    </a:p>
                  </a:txBody>
                  <a:tcPr marL="101600" marR="101600" marT="38100" marB="38100" anchor="ctr">
                    <a:solidFill>
                      <a:srgbClr val="F4F2FA"/>
                    </a:solidFill>
                  </a:tcPr>
                </a:tc>
                <a:tc>
                  <a:txBody>
                    <a:bodyPr/>
                    <a:lstStyle/>
                    <a:p>
                      <a:r>
                        <a:rPr sz="1200" b="0" i="0">
                          <a:solidFill>
                            <a:srgbClr val="1A1440"/>
                          </a:solidFill>
                          <a:latin typeface="Calibri"/>
                        </a:rPr>
                        <a:t>none: one row per segment</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cannot list members</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C: one query, one pass, and a new segment needs no change. What would switch it: a database with no window functions, such as MySQL before 8.0, which leaves A.</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28 / 86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PARTITION BY restarts the numbering in each segment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PARTITION BY do to the numbering?</a:t>
            </a:r>
          </a:p>
        </p:txBody>
      </p:sp>
      <p:pic>
        <p:nvPicPr>
          <p:cNvPr id="9" name="mermaid diagram" descr="78fc7e194e5b146d.png"/>
          <p:cNvPicPr>
            <a:picLocks noChangeAspect="1"/>
          </p:cNvPicPr>
          <p:nvPr/>
        </p:nvPicPr>
        <p:blipFill>
          <a:blip r:embed="rId5"/>
          <a:stretch>
            <a:fillRect/>
          </a:stretch>
        </p:blipFill>
        <p:spPr>
          <a:xfrm>
            <a:off x="3552672" y="1956816"/>
            <a:ext cx="5086350" cy="3643312"/>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2" name="Oval 1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14" name="Oval 1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6" name="Oval 1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18" name="Oval 1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29 / 86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rows does GROUP BY return?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GROUP BY return each segment's top fifty?</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c.segment, count(DISTINCT o.customer_id) AS members, sum(o.amount) AS q2_revenue</a:t>
            </a:r>
          </a:p>
          <a:p>
            <a:pPr>
              <a:spcAft>
                <a:spcPts val="200"/>
              </a:spcAft>
            </a:pPr>
            <a:r>
              <a:rPr sz="1400" b="0" i="0">
                <a:solidFill>
                  <a:srgbClr val="E4E1F1"/>
                </a:solidFill>
                <a:latin typeface="Consolas"/>
              </a:rPr>
              <a:t>FROM   orders o JOIN customers c USING (customer_id)</a:t>
            </a:r>
          </a:p>
          <a:p>
            <a:pPr>
              <a:spcAft>
                <a:spcPts val="200"/>
              </a:spcAft>
            </a:pPr>
            <a:r>
              <a:rPr sz="1400" b="0" i="0">
                <a:solidFill>
                  <a:srgbClr val="E4E1F1"/>
                </a:solidFill>
                <a:latin typeface="Consolas"/>
              </a:rPr>
              <a:t>WHERE  o.quarter = 'Q2'</a:t>
            </a:r>
          </a:p>
          <a:p>
            <a:pPr>
              <a:spcAft>
                <a:spcPts val="200"/>
              </a:spcAft>
            </a:pPr>
            <a:r>
              <a:rPr sz="1400" b="0" i="0">
                <a:solidFill>
                  <a:srgbClr val="E4E1F1"/>
                </a:solidFill>
                <a:latin typeface="Consolas"/>
              </a:rPr>
              <a:t>GROUP  BY c.segment;</a:t>
            </a:r>
          </a:p>
        </p:txBody>
      </p:sp>
      <p:sp>
        <p:nvSpPr>
          <p:cNvPr id="14" name="Rounded Rectangle 13"/>
          <p:cNvSpPr/>
          <p:nvPr/>
        </p:nvSpPr>
        <p:spPr>
          <a:xfrm>
            <a:off x="530352" y="358851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71652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70738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How many rows come back, as a letter? a) 4; b) 227, one per member who bought; c) 200, fifty per segment; d) 50.</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9" name="Oval 18"/>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21" name="Oval 2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3" name="Oval 2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5" name="Oval 24"/>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30 / 86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4 rows, and LIMIT gives chapter 1's list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GROUP BY return each segment's top fifty?</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4</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ROWS</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GROUP BY segment, one per group</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ROWS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GROUP BY member, LIMIT 50: chapter 1's list again</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54787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38728"/>
            <a:ext cx="10564063" cy="8915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GROUP BY answers how much per segment: Business Rs 9,75,84,600, Retail-Plus Rs 4,13,380, Retail-Core Rs 3,66,250, Student Rs 35,770. LIMIT counts rows across the whole sorted result and knows nothing of segments.</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2" name="Oval 2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24" name="Oval 2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6" name="Oval 2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8" name="Oval 2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31 / 86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Retail-Plus 11, Student 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numbering the whole book once give each segment?</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row_number() OVER (ORDER BY q2_revenue DESC, customer_id) AS position</a:t>
            </a:r>
          </a:p>
          <a:p>
            <a:pPr>
              <a:spcAft>
                <a:spcPts val="200"/>
              </a:spcAft>
            </a:pPr>
            <a:r>
              <a:rPr sz="1400" b="0" i="0">
                <a:solidFill>
                  <a:srgbClr val="E4E1F1"/>
                </a:solidFill>
                <a:latin typeface="Consolas"/>
              </a:rPr>
              <a:t>...</a:t>
            </a:r>
          </a:p>
          <a:p>
            <a:pPr>
              <a:spcAft>
                <a:spcPts val="200"/>
              </a:spcAft>
            </a:pPr>
            <a:r>
              <a:rPr sz="1400" b="0" i="0">
                <a:solidFill>
                  <a:srgbClr val="E4E1F1"/>
                </a:solidFill>
                <a:latin typeface="Consolas"/>
              </a:rPr>
              <a:t>count(*) FILTER (WHERE position &lt;= 50)   -- counted per segment</a:t>
            </a:r>
          </a:p>
        </p:txBody>
      </p:sp>
      <p:sp>
        <p:nvSpPr>
          <p:cNvPr id="14" name="TextBox 13"/>
          <p:cNvSpPr txBox="1"/>
          <p:nvPr/>
        </p:nvSpPr>
        <p:spPr>
          <a:xfrm>
            <a:off x="530352" y="3336036"/>
            <a:ext cx="2577007" cy="698500"/>
          </a:xfrm>
          <a:prstGeom prst="rect">
            <a:avLst/>
          </a:prstGeom>
          <a:noFill/>
        </p:spPr>
        <p:txBody>
          <a:bodyPr wrap="square" anchor="t" lIns="0" rIns="0" tIns="0" bIns="0">
            <a:spAutoFit/>
          </a:bodyPr>
          <a:lstStyle/>
          <a:p>
            <a:pPr algn="l"/>
            <a:r>
              <a:rPr sz="4400" b="0" i="0">
                <a:solidFill>
                  <a:srgbClr val="5B3FD6"/>
                </a:solidFill>
                <a:latin typeface="Georgia"/>
              </a:rPr>
              <a:t>35</a:t>
            </a:r>
          </a:p>
        </p:txBody>
      </p:sp>
      <p:sp>
        <p:nvSpPr>
          <p:cNvPr id="15" name="TextBox 14"/>
          <p:cNvSpPr txBox="1"/>
          <p:nvPr/>
        </p:nvSpPr>
        <p:spPr>
          <a:xfrm>
            <a:off x="530352" y="407111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BUSINESS</a:t>
            </a:r>
          </a:p>
        </p:txBody>
      </p:sp>
      <p:sp>
        <p:nvSpPr>
          <p:cNvPr id="16" name="TextBox 15"/>
          <p:cNvSpPr txBox="1"/>
          <p:nvPr/>
        </p:nvSpPr>
        <p:spPr>
          <a:xfrm>
            <a:off x="530352" y="4272279"/>
            <a:ext cx="2577007" cy="193421"/>
          </a:xfrm>
          <a:prstGeom prst="rect">
            <a:avLst/>
          </a:prstGeom>
          <a:noFill/>
        </p:spPr>
        <p:txBody>
          <a:bodyPr wrap="square" anchor="t" lIns="0" rIns="0" tIns="0" bIns="0">
            <a:spAutoFit/>
          </a:bodyPr>
          <a:lstStyle/>
          <a:p>
            <a:pPr algn="l"/>
            <a:r>
              <a:rPr sz="950" b="0" i="0">
                <a:solidFill>
                  <a:srgbClr val="6B6690"/>
                </a:solidFill>
                <a:latin typeface="Calibri"/>
              </a:rPr>
              <a:t>of 35</a:t>
            </a:r>
          </a:p>
        </p:txBody>
      </p:sp>
      <p:sp>
        <p:nvSpPr>
          <p:cNvPr id="17" name="Rectangle 16"/>
          <p:cNvSpPr/>
          <p:nvPr/>
        </p:nvSpPr>
        <p:spPr>
          <a:xfrm>
            <a:off x="530352" y="452475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81679" y="3336036"/>
            <a:ext cx="2577007" cy="698500"/>
          </a:xfrm>
          <a:prstGeom prst="rect">
            <a:avLst/>
          </a:prstGeom>
          <a:noFill/>
        </p:spPr>
        <p:txBody>
          <a:bodyPr wrap="square" anchor="t" lIns="0" rIns="0" tIns="0" bIns="0">
            <a:spAutoFit/>
          </a:bodyPr>
          <a:lstStyle/>
          <a:p>
            <a:pPr algn="l"/>
            <a:r>
              <a:rPr sz="4400" b="0" i="0">
                <a:solidFill>
                  <a:srgbClr val="5B3FD6"/>
                </a:solidFill>
                <a:latin typeface="Georgia"/>
              </a:rPr>
              <a:t>4</a:t>
            </a:r>
          </a:p>
        </p:txBody>
      </p:sp>
      <p:sp>
        <p:nvSpPr>
          <p:cNvPr id="19" name="TextBox 18"/>
          <p:cNvSpPr txBox="1"/>
          <p:nvPr/>
        </p:nvSpPr>
        <p:spPr>
          <a:xfrm>
            <a:off x="3381679" y="407111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RETAIL-CORE</a:t>
            </a:r>
          </a:p>
        </p:txBody>
      </p:sp>
      <p:sp>
        <p:nvSpPr>
          <p:cNvPr id="20" name="TextBox 19"/>
          <p:cNvSpPr txBox="1"/>
          <p:nvPr/>
        </p:nvSpPr>
        <p:spPr>
          <a:xfrm>
            <a:off x="3381679" y="4272279"/>
            <a:ext cx="2577007" cy="193421"/>
          </a:xfrm>
          <a:prstGeom prst="rect">
            <a:avLst/>
          </a:prstGeom>
          <a:noFill/>
        </p:spPr>
        <p:txBody>
          <a:bodyPr wrap="square" anchor="t" lIns="0" rIns="0" tIns="0" bIns="0">
            <a:spAutoFit/>
          </a:bodyPr>
          <a:lstStyle/>
          <a:p>
            <a:pPr algn="l"/>
            <a:r>
              <a:rPr sz="950" b="0" i="0">
                <a:solidFill>
                  <a:srgbClr val="6B6690"/>
                </a:solidFill>
                <a:latin typeface="Calibri"/>
              </a:rPr>
              <a:t>of 96</a:t>
            </a:r>
          </a:p>
        </p:txBody>
      </p:sp>
      <p:sp>
        <p:nvSpPr>
          <p:cNvPr id="21" name="Rectangle 20"/>
          <p:cNvSpPr/>
          <p:nvPr/>
        </p:nvSpPr>
        <p:spPr>
          <a:xfrm>
            <a:off x="3381679" y="452475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33007" y="3336036"/>
            <a:ext cx="2577007" cy="698500"/>
          </a:xfrm>
          <a:prstGeom prst="rect">
            <a:avLst/>
          </a:prstGeom>
          <a:noFill/>
        </p:spPr>
        <p:txBody>
          <a:bodyPr wrap="square" anchor="t" lIns="0" rIns="0" tIns="0" bIns="0">
            <a:spAutoFit/>
          </a:bodyPr>
          <a:lstStyle/>
          <a:p>
            <a:pPr algn="l"/>
            <a:r>
              <a:rPr sz="4400" b="0" i="0">
                <a:solidFill>
                  <a:srgbClr val="5B3FD6"/>
                </a:solidFill>
                <a:latin typeface="Georgia"/>
              </a:rPr>
              <a:t>11</a:t>
            </a:r>
          </a:p>
        </p:txBody>
      </p:sp>
      <p:sp>
        <p:nvSpPr>
          <p:cNvPr id="23" name="TextBox 22"/>
          <p:cNvSpPr txBox="1"/>
          <p:nvPr/>
        </p:nvSpPr>
        <p:spPr>
          <a:xfrm>
            <a:off x="6233007" y="407111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RETAIL-PLUS</a:t>
            </a:r>
          </a:p>
        </p:txBody>
      </p:sp>
      <p:sp>
        <p:nvSpPr>
          <p:cNvPr id="24" name="TextBox 23"/>
          <p:cNvSpPr txBox="1"/>
          <p:nvPr/>
        </p:nvSpPr>
        <p:spPr>
          <a:xfrm>
            <a:off x="6233007" y="4272279"/>
            <a:ext cx="2577007" cy="193421"/>
          </a:xfrm>
          <a:prstGeom prst="rect">
            <a:avLst/>
          </a:prstGeom>
          <a:noFill/>
        </p:spPr>
        <p:txBody>
          <a:bodyPr wrap="square" anchor="t" lIns="0" rIns="0" tIns="0" bIns="0">
            <a:spAutoFit/>
          </a:bodyPr>
          <a:lstStyle/>
          <a:p>
            <a:pPr algn="l"/>
            <a:r>
              <a:rPr sz="950" b="0" i="0">
                <a:solidFill>
                  <a:srgbClr val="6B6690"/>
                </a:solidFill>
                <a:latin typeface="Calibri"/>
              </a:rPr>
              <a:t>of 76</a:t>
            </a:r>
          </a:p>
        </p:txBody>
      </p:sp>
      <p:sp>
        <p:nvSpPr>
          <p:cNvPr id="25" name="Rectangle 24"/>
          <p:cNvSpPr/>
          <p:nvPr/>
        </p:nvSpPr>
        <p:spPr>
          <a:xfrm>
            <a:off x="6233007" y="452475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084335" y="3336036"/>
            <a:ext cx="2577007"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27" name="TextBox 26"/>
          <p:cNvSpPr txBox="1"/>
          <p:nvPr/>
        </p:nvSpPr>
        <p:spPr>
          <a:xfrm>
            <a:off x="9084335" y="407111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STUDENT</a:t>
            </a:r>
          </a:p>
        </p:txBody>
      </p:sp>
      <p:sp>
        <p:nvSpPr>
          <p:cNvPr id="28" name="TextBox 27"/>
          <p:cNvSpPr txBox="1"/>
          <p:nvPr/>
        </p:nvSpPr>
        <p:spPr>
          <a:xfrm>
            <a:off x="9084335" y="4272279"/>
            <a:ext cx="2577007" cy="193421"/>
          </a:xfrm>
          <a:prstGeom prst="rect">
            <a:avLst/>
          </a:prstGeom>
          <a:noFill/>
        </p:spPr>
        <p:txBody>
          <a:bodyPr wrap="square" anchor="t" lIns="0" rIns="0" tIns="0" bIns="0">
            <a:spAutoFit/>
          </a:bodyPr>
          <a:lstStyle/>
          <a:p>
            <a:pPr algn="l"/>
            <a:r>
              <a:rPr sz="950" b="0" i="0">
                <a:solidFill>
                  <a:srgbClr val="6B6690"/>
                </a:solidFill>
                <a:latin typeface="Calibri"/>
              </a:rPr>
              <a:t>of 20</a:t>
            </a:r>
          </a:p>
        </p:txBody>
      </p:sp>
      <p:sp>
        <p:nvSpPr>
          <p:cNvPr id="29" name="Rectangle 28"/>
          <p:cNvSpPr/>
          <p:nvPr/>
        </p:nvSpPr>
        <p:spPr>
          <a:xfrm>
            <a:off x="9084335" y="452475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32" name="Oval 3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34" name="Oval 3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6" name="Oval 3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8" name="Oval 3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86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one numbering ranks Business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a number from the whole book short every retail segment?</a:t>
            </a:r>
          </a:p>
        </p:txBody>
      </p:sp>
      <p:pic>
        <p:nvPicPr>
          <p:cNvPr id="9" name="mermaid diagram" descr="6407158bcc4d4c03.png"/>
          <p:cNvPicPr>
            <a:picLocks noChangeAspect="1"/>
          </p:cNvPicPr>
          <p:nvPr/>
        </p:nvPicPr>
        <p:blipFill>
          <a:blip r:embed="rId5"/>
          <a:stretch>
            <a:fillRect/>
          </a:stretch>
        </p:blipFill>
        <p:spPr>
          <a:xfrm>
            <a:off x="1881035" y="1956816"/>
            <a:ext cx="8429625" cy="1800225"/>
          </a:xfrm>
          <a:prstGeom prst="rect">
            <a:avLst/>
          </a:prstGeom>
        </p:spPr>
      </p:pic>
      <p:sp>
        <p:nvSpPr>
          <p:cNvPr id="10" name="Rounded Rectangle 9"/>
          <p:cNvSpPr/>
          <p:nvPr/>
        </p:nvSpPr>
        <p:spPr>
          <a:xfrm>
            <a:off x="530352" y="3903345"/>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313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22217"/>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Each segment's list should hold fifty, or every buyer where a segment has fewer. Set each count beside the smaller of 50 and its buyers: Retail-Plus has 76 buyers and gets 11.</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33 / 86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members across the four lists?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PARTITION BY restart, and how many members does each list hold?</a:t>
            </a:r>
          </a:p>
        </p:txBody>
      </p:sp>
      <p:sp>
        <p:nvSpPr>
          <p:cNvPr id="9" name="Rounded Rectangle 8"/>
          <p:cNvSpPr/>
          <p:nvPr/>
        </p:nvSpPr>
        <p:spPr>
          <a:xfrm>
            <a:off x="530352" y="1956816"/>
            <a:ext cx="11130991" cy="962152"/>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559816"/>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row_number() OVER (PARTITION BY segment</a:t>
            </a:r>
          </a:p>
          <a:p>
            <a:pPr>
              <a:spcAft>
                <a:spcPts val="200"/>
              </a:spcAft>
            </a:pPr>
            <a:r>
              <a:rPr sz="1400" b="0" i="0">
                <a:solidFill>
                  <a:srgbClr val="E4E1F1"/>
                </a:solidFill>
                <a:latin typeface="Consolas"/>
              </a:rPr>
              <a:t>                   ORDER BY q2_revenue DESC, customer_id) AS position</a:t>
            </a:r>
          </a:p>
        </p:txBody>
      </p:sp>
      <p:sp>
        <p:nvSpPr>
          <p:cNvPr id="14" name="Rounded Rectangle 13"/>
          <p:cNvSpPr/>
          <p:nvPr/>
        </p:nvSpPr>
        <p:spPr>
          <a:xfrm>
            <a:off x="530352" y="308356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21157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202432"/>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How many members do the four lists hold together, as a letter? a) 200, fifty in each; b) 155; c) 50; d) 227, every member who bought.</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9" name="Oval 18"/>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21" name="Oval 2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3" name="Oval 2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5" name="Oval 24"/>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34 / 86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155, fifty or every buyer per segment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PARTITION BY restart, and how many members does each list hold?</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35</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BUSINESS</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every buyer</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RETAIL-CORE</a:t>
            </a:r>
          </a:p>
        </p:txBody>
      </p:sp>
      <p:sp>
        <p:nvSpPr>
          <p:cNvPr id="15" name="TextBox 14"/>
          <p:cNvSpPr txBox="1"/>
          <p:nvPr/>
        </p:nvSpPr>
        <p:spPr>
          <a:xfrm>
            <a:off x="3381679"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of 96</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RETAIL-PLUS</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of 76</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20</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STUDENT</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every buyer</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The places restart at 1 in every segment: Retail-Core's place 1 is C-0010 on Rs 13,910, Retail-Plus's is C-0170 on Rs 21,740. Retail-Plus goes from 11 places to 50, and Student from none to 20.</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30" name="Oval 29"/>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32" name="Oval 3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4" name="Oval 33"/>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6" name="Oval 3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86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place filter waits for the outer query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Postgres refuse the place filter in WHERE, and where does it go?</a:t>
            </a:r>
          </a:p>
        </p:txBody>
      </p:sp>
      <p:pic>
        <p:nvPicPr>
          <p:cNvPr id="9" name="mermaid diagram" descr="2197bfa22483157b.png"/>
          <p:cNvPicPr>
            <a:picLocks noChangeAspect="1"/>
          </p:cNvPicPr>
          <p:nvPr/>
        </p:nvPicPr>
        <p:blipFill>
          <a:blip r:embed="rId6"/>
          <a:stretch>
            <a:fillRect/>
          </a:stretch>
        </p:blipFill>
        <p:spPr>
          <a:xfrm>
            <a:off x="1952472" y="1956816"/>
            <a:ext cx="8286750" cy="1128712"/>
          </a:xfrm>
          <a:prstGeom prst="rect">
            <a:avLst/>
          </a:prstGeom>
        </p:spPr>
      </p:pic>
      <p:sp>
        <p:nvSpPr>
          <p:cNvPr id="10" name="Rounded Rectangle 9"/>
          <p:cNvSpPr/>
          <p:nvPr/>
        </p:nvSpPr>
        <p:spPr>
          <a:xfrm>
            <a:off x="530352" y="32318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5640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3673792"/>
            <a:ext cx="237744" cy="237744"/>
          </a:xfrm>
          <a:prstGeom prst="rect">
            <a:avLst/>
          </a:prstGeom>
        </p:spPr>
      </p:pic>
      <p:sp>
        <p:nvSpPr>
          <p:cNvPr id="13" name="TextBox 12"/>
          <p:cNvSpPr txBox="1"/>
          <p:nvPr/>
        </p:nvSpPr>
        <p:spPr>
          <a:xfrm>
            <a:off x="1399031" y="33781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3597592"/>
            <a:ext cx="9987991" cy="682752"/>
          </a:xfrm>
          <a:prstGeom prst="rect">
            <a:avLst/>
          </a:prstGeom>
          <a:noFill/>
        </p:spPr>
        <p:txBody>
          <a:bodyPr wrap="square" anchor="t" lIns="0" rIns="0" tIns="0" bIns="0">
            <a:spAutoFit/>
          </a:bodyPr>
          <a:lstStyle/>
          <a:p>
            <a:r>
              <a:rPr sz="1500" b="0" i="0">
                <a:solidFill>
                  <a:srgbClr val="1A1440"/>
                </a:solidFill>
                <a:latin typeface="Calibri"/>
              </a:rPr>
              <a:t>WHERE decides which rows exist before any window is computed, so the place does not exist yet when WHERE runs. Compute it in a named step and filter outside.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3" name="Oval 22"/>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86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Number in a named step, then keep places outside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you keep each group's top two when WHERE cannot see a window's value?</a:t>
            </a:r>
          </a:p>
        </p:txBody>
      </p:sp>
      <p:sp>
        <p:nvSpPr>
          <p:cNvPr id="9" name="TextBox 8"/>
          <p:cNvSpPr txBox="1"/>
          <p:nvPr/>
        </p:nvSpPr>
        <p:spPr>
          <a:xfrm>
            <a:off x="530352" y="1859788"/>
            <a:ext cx="11130991" cy="944880"/>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A window's value exists only once SELECT runs, after WHERE has chosen the rows, so a filter on it waits one step: compute it in a named step, a CTE written WITH name AS (...), and filter in the query outside. Five invented members in two segments:</a:t>
            </a:r>
          </a:p>
        </p:txBody>
      </p:sp>
      <p:sp>
        <p:nvSpPr>
          <p:cNvPr id="10" name="Rounded Rectangle 9"/>
          <p:cNvSpPr/>
          <p:nvPr/>
        </p:nvSpPr>
        <p:spPr>
          <a:xfrm>
            <a:off x="530352" y="2932684"/>
            <a:ext cx="11130991" cy="218846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13232" y="3060700"/>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68680" y="3060700"/>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24128" y="3060700"/>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1" y="3261868"/>
            <a:ext cx="10673791" cy="1786127"/>
          </a:xfrm>
          <a:prstGeom prst="rect">
            <a:avLst/>
          </a:prstGeom>
          <a:noFill/>
        </p:spPr>
        <p:txBody>
          <a:bodyPr wrap="square" anchor="t" lIns="0" rIns="0" tIns="0" bIns="0">
            <a:spAutoFit/>
          </a:bodyPr>
          <a:lstStyle/>
          <a:p>
            <a:pPr>
              <a:spcAft>
                <a:spcPts val="200"/>
              </a:spcAft>
            </a:pPr>
            <a:r>
              <a:rPr sz="1200" b="0" i="0">
                <a:solidFill>
                  <a:srgbClr val="E4E1F1"/>
                </a:solidFill>
                <a:latin typeface="Consolas"/>
              </a:rPr>
              <a:t>WITH toy(member, segment, spend) AS (VALUES ('A', 'North', 900), ('B', 'North', 700),</a:t>
            </a:r>
          </a:p>
          <a:p>
            <a:pPr>
              <a:spcAft>
                <a:spcPts val="200"/>
              </a:spcAft>
            </a:pPr>
            <a:r>
              <a:rPr sz="1200" b="0" i="0">
                <a:solidFill>
                  <a:srgbClr val="E4E1F1"/>
                </a:solidFill>
                <a:latin typeface="Consolas"/>
              </a:rPr>
              <a:t>       ('C', 'North', 500), ('D', 'South', 800), ('E', 'South', 600)),     -- invented</a:t>
            </a:r>
          </a:p>
          <a:p>
            <a:pPr>
              <a:spcAft>
                <a:spcPts val="200"/>
              </a:spcAft>
            </a:pPr>
            <a:r>
              <a:rPr sz="1200" b="0" i="0">
                <a:solidFill>
                  <a:srgbClr val="E4E1F1"/>
                </a:solidFill>
                <a:latin typeface="Consolas"/>
              </a:rPr>
              <a:t>ranked AS (SELECT member, segment,</a:t>
            </a:r>
          </a:p>
          <a:p>
            <a:pPr>
              <a:spcAft>
                <a:spcPts val="200"/>
              </a:spcAft>
            </a:pPr>
            <a:r>
              <a:rPr sz="1200" b="0" i="0">
                <a:solidFill>
                  <a:srgbClr val="E4E1F1"/>
                </a:solidFill>
                <a:latin typeface="Consolas"/>
              </a:rPr>
              <a:t>                  row_number() OVER (PARTITION BY segment ORDER BY spend DESC) AS place</a:t>
            </a:r>
          </a:p>
          <a:p>
            <a:pPr>
              <a:spcAft>
                <a:spcPts val="200"/>
              </a:spcAft>
            </a:pPr>
            <a:r>
              <a:rPr sz="1200" b="0" i="0">
                <a:solidFill>
                  <a:srgbClr val="E4E1F1"/>
                </a:solidFill>
                <a:latin typeface="Consolas"/>
              </a:rPr>
              <a:t>           FROM toy)                                     -- step 1: every row gets its place</a:t>
            </a:r>
          </a:p>
          <a:p>
            <a:pPr>
              <a:spcAft>
                <a:spcPts val="200"/>
              </a:spcAft>
            </a:pPr>
            <a:r>
              <a:rPr sz="1200" b="0" i="0">
                <a:solidFill>
                  <a:srgbClr val="E4E1F1"/>
                </a:solidFill>
                <a:latin typeface="Consolas"/>
              </a:rPr>
              <a:t>SELECT member, place FROM ranked WHERE place &lt;= 2;       -- step 2: A 1, B 2, D 1, E 2</a:t>
            </a:r>
          </a:p>
          <a:p>
            <a:pPr>
              <a:spcAft>
                <a:spcPts val="200"/>
              </a:spcAft>
            </a:pPr>
            <a:r>
              <a:rPr sz="1200" b="0" i="0">
                <a:solidFill>
                  <a:srgbClr val="A9A3D2"/>
                </a:solidFill>
                <a:latin typeface="Consolas"/>
              </a:rPr>
              <a:t>-- in one step, WHERE row_number() OVER (...) &lt;= 2 stops with</a:t>
            </a:r>
          </a:p>
          <a:p>
            <a:pPr>
              <a:spcAft>
                <a:spcPts val="200"/>
              </a:spcAft>
            </a:pPr>
            <a:r>
              <a:rPr sz="1200" b="0" i="0">
                <a:solidFill>
                  <a:srgbClr val="A9A3D2"/>
                </a:solidFill>
                <a:latin typeface="Consolas"/>
              </a:rPr>
              <a:t>-- ERROR:  window functions are not allowed in WHERE</a:t>
            </a:r>
          </a:p>
        </p:txBody>
      </p:sp>
      <p:sp>
        <p:nvSpPr>
          <p:cNvPr id="15" name="Rounded Rectangle 14"/>
          <p:cNvSpPr/>
          <p:nvPr/>
        </p:nvSpPr>
        <p:spPr>
          <a:xfrm>
            <a:off x="530352" y="5285739"/>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76656" y="5413755"/>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5404611"/>
            <a:ext cx="10564063" cy="553720"/>
          </a:xfrm>
          <a:prstGeom prst="rect">
            <a:avLst/>
          </a:prstGeom>
          <a:noFill/>
        </p:spPr>
        <p:txBody>
          <a:bodyPr wrap="square" anchor="ctr" lIns="0" rIns="0" tIns="0" bIns="0">
            <a:spAutoFit/>
          </a:bodyPr>
          <a:lstStyle/>
          <a:p>
            <a:r>
              <a:rPr sz="1300" b="1">
                <a:solidFill>
                  <a:srgbClr val="5B3FD6"/>
                </a:solidFill>
                <a:latin typeface="Calibri"/>
              </a:rPr>
              <a:t>Check yourself. </a:t>
            </a:r>
            <a:r>
              <a:rPr sz="1300" b="0" i="0">
                <a:solidFill>
                  <a:srgbClr val="1A1440"/>
                </a:solidFill>
                <a:latin typeface="Calibri"/>
              </a:rPr>
              <a:t>With the same toy step in front, SELECT member, row_number() OVER (ORDER BY spend DESC) AS place FROM toy WHERE spend &gt; 550 runs in one step: does Postgres refuse it, and which places come back?</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0" name="Oval 19"/>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22" name="Oval 2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4" name="Oval 23"/>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6" name="Oval 2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S32a  ·  37 / 86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four queries, the same 155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one sorted query per segment pick the same members?</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'Business' AS segment, o.customer_id, sum(o.amount) AS q2_revenue</a:t>
            </a:r>
          </a:p>
          <a:p>
            <a:pPr>
              <a:spcAft>
                <a:spcPts val="200"/>
              </a:spcAft>
            </a:pPr>
            <a:r>
              <a:rPr sz="1400" b="0" i="0">
                <a:solidFill>
                  <a:srgbClr val="E4E1F1"/>
                </a:solidFill>
                <a:latin typeface="Consolas"/>
              </a:rPr>
              <a:t> FROM orders o JOIN customers c USING (customer_id)</a:t>
            </a:r>
          </a:p>
          <a:p>
            <a:pPr>
              <a:spcAft>
                <a:spcPts val="200"/>
              </a:spcAft>
            </a:pPr>
            <a:r>
              <a:rPr sz="1400" b="0" i="0">
                <a:solidFill>
                  <a:srgbClr val="E4E1F1"/>
                </a:solidFill>
                <a:latin typeface="Consolas"/>
              </a:rPr>
              <a:t> WHERE o.quarter = 'Q2' AND c.segment = 'Business'</a:t>
            </a:r>
          </a:p>
          <a:p>
            <a:pPr>
              <a:spcAft>
                <a:spcPts val="200"/>
              </a:spcAft>
            </a:pPr>
            <a:r>
              <a:rPr sz="1400" b="0" i="0">
                <a:solidFill>
                  <a:srgbClr val="E4E1F1"/>
                </a:solidFill>
                <a:latin typeface="Consolas"/>
              </a:rPr>
              <a:t> GROUP BY o.customer_id ORDER BY q2_revenue DESC, o.customer_id LIMIT 50)</a:t>
            </a:r>
          </a:p>
          <a:p>
            <a:pPr>
              <a:spcAft>
                <a:spcPts val="200"/>
              </a:spcAft>
            </a:pPr>
            <a:r>
              <a:rPr sz="1400" b="0" i="0">
                <a:solidFill>
                  <a:srgbClr val="E4E1F1"/>
                </a:solidFill>
                <a:latin typeface="Consolas"/>
              </a:rPr>
              <a:t>UNION ALL  ... the same for Retail-Core, Retail-Plus and Student</a:t>
            </a:r>
          </a:p>
        </p:txBody>
      </p:sp>
      <p:sp>
        <p:nvSpPr>
          <p:cNvPr id="14" name="TextBox 13"/>
          <p:cNvSpPr txBox="1"/>
          <p:nvPr/>
        </p:nvSpPr>
        <p:spPr>
          <a:xfrm>
            <a:off x="530352" y="3840988"/>
            <a:ext cx="5428335" cy="698500"/>
          </a:xfrm>
          <a:prstGeom prst="rect">
            <a:avLst/>
          </a:prstGeom>
          <a:noFill/>
        </p:spPr>
        <p:txBody>
          <a:bodyPr wrap="square" anchor="t" lIns="0" rIns="0" tIns="0" bIns="0">
            <a:spAutoFit/>
          </a:bodyPr>
          <a:lstStyle/>
          <a:p>
            <a:pPr algn="l"/>
            <a:r>
              <a:rPr sz="4400" b="0" i="0">
                <a:solidFill>
                  <a:srgbClr val="5B3FD6"/>
                </a:solidFill>
                <a:latin typeface="Georgia"/>
              </a:rPr>
              <a:t>155 = 155</a:t>
            </a:r>
          </a:p>
        </p:txBody>
      </p:sp>
      <p:sp>
        <p:nvSpPr>
          <p:cNvPr id="15" name="TextBox 14"/>
          <p:cNvSpPr txBox="1"/>
          <p:nvPr/>
        </p:nvSpPr>
        <p:spPr>
          <a:xfrm>
            <a:off x="530352" y="457606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MEMBERS</a:t>
            </a:r>
          </a:p>
        </p:txBody>
      </p:sp>
      <p:sp>
        <p:nvSpPr>
          <p:cNvPr id="16" name="TextBox 15"/>
          <p:cNvSpPr txBox="1"/>
          <p:nvPr/>
        </p:nvSpPr>
        <p:spPr>
          <a:xfrm>
            <a:off x="530352" y="4777232"/>
            <a:ext cx="5428335" cy="193421"/>
          </a:xfrm>
          <a:prstGeom prst="rect">
            <a:avLst/>
          </a:prstGeom>
          <a:noFill/>
        </p:spPr>
        <p:txBody>
          <a:bodyPr wrap="square" anchor="t" lIns="0" rIns="0" tIns="0" bIns="0">
            <a:spAutoFit/>
          </a:bodyPr>
          <a:lstStyle/>
          <a:p>
            <a:pPr algn="l"/>
            <a:r>
              <a:rPr sz="950" b="0" i="0">
                <a:solidFill>
                  <a:srgbClr val="6B6690"/>
                </a:solidFill>
                <a:latin typeface="Calibri"/>
              </a:rPr>
              <a:t>the same ones in every segment</a:t>
            </a:r>
          </a:p>
        </p:txBody>
      </p:sp>
      <p:sp>
        <p:nvSpPr>
          <p:cNvPr id="17" name="Rectangle 16"/>
          <p:cNvSpPr/>
          <p:nvPr/>
        </p:nvSpPr>
        <p:spPr>
          <a:xfrm>
            <a:off x="530352" y="502970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33007" y="3840988"/>
            <a:ext cx="5428335" cy="698500"/>
          </a:xfrm>
          <a:prstGeom prst="rect">
            <a:avLst/>
          </a:prstGeom>
          <a:noFill/>
        </p:spPr>
        <p:txBody>
          <a:bodyPr wrap="square" anchor="t" lIns="0" rIns="0" tIns="0" bIns="0">
            <a:spAutoFit/>
          </a:bodyPr>
          <a:lstStyle/>
          <a:p>
            <a:pPr algn="l"/>
            <a:r>
              <a:rPr sz="4400" b="0" i="0">
                <a:solidFill>
                  <a:srgbClr val="5B3FD6"/>
                </a:solidFill>
                <a:latin typeface="Georgia"/>
              </a:rPr>
              <a:t>4</a:t>
            </a:r>
          </a:p>
        </p:txBody>
      </p:sp>
      <p:sp>
        <p:nvSpPr>
          <p:cNvPr id="19" name="TextBox 18"/>
          <p:cNvSpPr txBox="1"/>
          <p:nvPr/>
        </p:nvSpPr>
        <p:spPr>
          <a:xfrm>
            <a:off x="6233007" y="457606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PLACES TO EDIT</a:t>
            </a:r>
          </a:p>
        </p:txBody>
      </p:sp>
      <p:sp>
        <p:nvSpPr>
          <p:cNvPr id="20" name="TextBox 19"/>
          <p:cNvSpPr txBox="1"/>
          <p:nvPr/>
        </p:nvSpPr>
        <p:spPr>
          <a:xfrm>
            <a:off x="6233007" y="4777232"/>
            <a:ext cx="5428335" cy="193421"/>
          </a:xfrm>
          <a:prstGeom prst="rect">
            <a:avLst/>
          </a:prstGeom>
          <a:noFill/>
        </p:spPr>
        <p:txBody>
          <a:bodyPr wrap="square" anchor="t" lIns="0" rIns="0" tIns="0" bIns="0">
            <a:spAutoFit/>
          </a:bodyPr>
          <a:lstStyle/>
          <a:p>
            <a:pPr algn="l"/>
            <a:r>
              <a:rPr sz="950" b="0" i="0">
                <a:solidFill>
                  <a:srgbClr val="6B6690"/>
                </a:solidFill>
                <a:latin typeface="Calibri"/>
              </a:rPr>
              <a:t>when the segments change</a:t>
            </a:r>
          </a:p>
        </p:txBody>
      </p:sp>
      <p:sp>
        <p:nvSpPr>
          <p:cNvPr id="21" name="Rectangle 20"/>
          <p:cNvSpPr/>
          <p:nvPr/>
        </p:nvSpPr>
        <p:spPr>
          <a:xfrm>
            <a:off x="6233007" y="502970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4" name="Oval 23"/>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26" name="Oval 2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8" name="Oval 2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0" name="Oval 2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38 / 86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segment gets fifty, or every buyer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which fifty members lead each of the four segments?</a:t>
            </a:r>
          </a:p>
        </p:txBody>
      </p:sp>
      <p:graphicFrame>
        <p:nvGraphicFramePr>
          <p:cNvPr id="9" name="Table 8"/>
          <p:cNvGraphicFramePr>
            <a:graphicFrameLocks noGrp="1"/>
          </p:cNvGraphicFramePr>
          <p:nvPr/>
        </p:nvGraphicFramePr>
        <p:xfrm>
          <a:off x="530352" y="1873504"/>
          <a:ext cx="11130990" cy="1908048"/>
        </p:xfrm>
        <a:graphic>
          <a:graphicData uri="http://schemas.openxmlformats.org/drawingml/2006/table">
            <a:tbl>
              <a:tblPr firstRow="0" bandRow="0">
                <a:tableStyleId>{2D5ABB26-0587-4C30-8999-92F81FD0307C}</a:tableStyleId>
              </a:tblPr>
              <a:tblGrid>
                <a:gridCol w="4845857"/>
                <a:gridCol w="6285133"/>
              </a:tblGrid>
              <a:tr h="318008">
                <a:tc>
                  <a:txBody>
                    <a:bodyPr/>
                    <a:lstStyle/>
                    <a:p>
                      <a:r>
                        <a:rPr sz="1150" b="1" i="0">
                          <a:solidFill>
                            <a:srgbClr val="FFFFFF"/>
                          </a:solidFill>
                          <a:latin typeface="Calibri"/>
                        </a:rPr>
                        <a:t>The question on the way</a:t>
                      </a:r>
                    </a:p>
                  </a:txBody>
                  <a:tcPr marL="101600" marR="101600" marT="38100" marB="38100" anchor="ctr">
                    <a:solidFill>
                      <a:srgbClr val="1A0F5C"/>
                    </a:solidFill>
                  </a:tcPr>
                </a:tc>
                <a:tc>
                  <a:txBody>
                    <a:bodyPr/>
                    <a:lstStyle/>
                    <a:p>
                      <a:r>
                        <a:rPr sz="1150" b="1" i="0">
                          <a:solidFill>
                            <a:srgbClr val="FFFFFF"/>
                          </a:solidFill>
                          <a:latin typeface="Calibri"/>
                        </a:rPr>
                        <a:t>The answer</a:t>
                      </a:r>
                    </a:p>
                  </a:txBody>
                  <a:tcPr marL="101600" marR="101600" marT="38100" marB="38100" anchor="ctr">
                    <a:solidFill>
                      <a:srgbClr val="1A0F5C"/>
                    </a:solidFill>
                  </a:tcPr>
                </a:tc>
              </a:tr>
              <a:tr h="318008">
                <a:tc>
                  <a:txBody>
                    <a:bodyPr/>
                    <a:lstStyle/>
                    <a:p>
                      <a:r>
                        <a:rPr sz="1100" b="0" i="0">
                          <a:solidFill>
                            <a:srgbClr val="1A1440"/>
                          </a:solidFill>
                          <a:latin typeface="Calibri"/>
                        </a:rPr>
                        <a:t>1. Which way, at what cost?</a:t>
                      </a:r>
                    </a:p>
                  </a:txBody>
                  <a:tcPr marL="101600" marR="101600" marT="38100" marB="38100" anchor="ctr">
                    <a:solidFill>
                      <a:srgbClr val="FFFFFF"/>
                    </a:solidFill>
                  </a:tcPr>
                </a:tc>
                <a:tc>
                  <a:txBody>
                    <a:bodyPr/>
                    <a:lstStyle/>
                    <a:p>
                      <a:r>
                        <a:rPr sz="1100" b="0" i="0">
                          <a:solidFill>
                            <a:srgbClr val="1A1440"/>
                          </a:solidFill>
                          <a:latin typeface="Calibri"/>
                        </a:rPr>
                        <a:t>PARTITION BY: one query, the orders read once</a:t>
                      </a:r>
                    </a:p>
                  </a:txBody>
                  <a:tcPr marL="101600" marR="101600" marT="38100" marB="38100" anchor="ctr">
                    <a:solidFill>
                      <a:srgbClr val="FFFFFF"/>
                    </a:solidFill>
                  </a:tcPr>
                </a:tc>
              </a:tr>
              <a:tr h="318008">
                <a:tc>
                  <a:txBody>
                    <a:bodyPr/>
                    <a:lstStyle/>
                    <a:p>
                      <a:r>
                        <a:rPr sz="1100" b="0" i="0">
                          <a:solidFill>
                            <a:srgbClr val="1A1440"/>
                          </a:solidFill>
                          <a:latin typeface="Calibri"/>
                        </a:rPr>
                        <a:t>2. Can GROUP BY do it?</a:t>
                      </a:r>
                    </a:p>
                  </a:txBody>
                  <a:tcPr marL="101600" marR="101600" marT="38100" marB="38100" anchor="ctr">
                    <a:solidFill>
                      <a:srgbClr val="F4F2FA"/>
                    </a:solidFill>
                  </a:tcPr>
                </a:tc>
                <a:tc>
                  <a:txBody>
                    <a:bodyPr/>
                    <a:lstStyle/>
                    <a:p>
                      <a:r>
                        <a:rPr sz="1100" b="0" i="0">
                          <a:solidFill>
                            <a:srgbClr val="1A1440"/>
                          </a:solidFill>
                          <a:latin typeface="Calibri"/>
                        </a:rPr>
                        <a:t>No: 4 rows, or chapter 1's list again</a:t>
                      </a:r>
                    </a:p>
                  </a:txBody>
                  <a:tcPr marL="101600" marR="101600" marT="38100" marB="38100" anchor="ctr">
                    <a:solidFill>
                      <a:srgbClr val="F4F2FA"/>
                    </a:solidFill>
                  </a:tcPr>
                </a:tc>
              </a:tr>
              <a:tr h="318008">
                <a:tc>
                  <a:txBody>
                    <a:bodyPr/>
                    <a:lstStyle/>
                    <a:p>
                      <a:r>
                        <a:rPr sz="1100" b="0" i="0">
                          <a:solidFill>
                            <a:srgbClr val="1A1440"/>
                          </a:solidFill>
                          <a:latin typeface="Calibri"/>
                        </a:rPr>
                        <a:t>3. What does one numbering give?</a:t>
                      </a:r>
                    </a:p>
                  </a:txBody>
                  <a:tcPr marL="101600" marR="101600" marT="38100" marB="38100" anchor="ctr">
                    <a:solidFill>
                      <a:srgbClr val="FFFFFF"/>
                    </a:solidFill>
                  </a:tcPr>
                </a:tc>
                <a:tc>
                  <a:txBody>
                    <a:bodyPr/>
                    <a:lstStyle/>
                    <a:p>
                      <a:r>
                        <a:rPr sz="1100" b="0" i="0">
                          <a:solidFill>
                            <a:srgbClr val="1A1440"/>
                          </a:solidFill>
                          <a:latin typeface="Calibri"/>
                        </a:rPr>
                        <a:t>Retail-Plus 11, Student none: short</a:t>
                      </a:r>
                    </a:p>
                  </a:txBody>
                  <a:tcPr marL="101600" marR="101600" marT="38100" marB="38100" anchor="ctr">
                    <a:solidFill>
                      <a:srgbClr val="FFFFFF"/>
                    </a:solidFill>
                  </a:tcPr>
                </a:tc>
              </a:tr>
              <a:tr h="318008">
                <a:tc>
                  <a:txBody>
                    <a:bodyPr/>
                    <a:lstStyle/>
                    <a:p>
                      <a:r>
                        <a:rPr sz="1100" b="0" i="0">
                          <a:solidFill>
                            <a:srgbClr val="1A1440"/>
                          </a:solidFill>
                          <a:latin typeface="Calibri"/>
                        </a:rPr>
                        <a:t>4. What does PARTITION BY restart?</a:t>
                      </a:r>
                    </a:p>
                  </a:txBody>
                  <a:tcPr marL="101600" marR="101600" marT="38100" marB="38100" anchor="ctr">
                    <a:solidFill>
                      <a:srgbClr val="F4F2FA"/>
                    </a:solidFill>
                  </a:tcPr>
                </a:tc>
                <a:tc>
                  <a:txBody>
                    <a:bodyPr/>
                    <a:lstStyle/>
                    <a:p>
                      <a:r>
                        <a:rPr sz="1100" b="0" i="0">
                          <a:solidFill>
                            <a:srgbClr val="1A1440"/>
                          </a:solidFill>
                          <a:latin typeface="Calibri"/>
                        </a:rPr>
                        <a:t>The places: 155 members, 35, 50, 50, 20</a:t>
                      </a:r>
                    </a:p>
                  </a:txBody>
                  <a:tcPr marL="101600" marR="101600" marT="38100" marB="38100" anchor="ctr">
                    <a:solidFill>
                      <a:srgbClr val="F4F2FA"/>
                    </a:solidFill>
                  </a:tcPr>
                </a:tc>
              </a:tr>
              <a:tr h="318008">
                <a:tc>
                  <a:txBody>
                    <a:bodyPr/>
                    <a:lstStyle/>
                    <a:p>
                      <a:r>
                        <a:rPr sz="1100" b="0" i="0">
                          <a:solidFill>
                            <a:srgbClr val="1A1440"/>
                          </a:solidFill>
                          <a:latin typeface="Calibri"/>
                        </a:rPr>
                        <a:t>5. Do four queries agree?</a:t>
                      </a:r>
                    </a:p>
                  </a:txBody>
                  <a:tcPr marL="101600" marR="101600" marT="38100" marB="38100" anchor="ctr">
                    <a:solidFill>
                      <a:srgbClr val="FFFFFF"/>
                    </a:solidFill>
                  </a:tcPr>
                </a:tc>
                <a:tc>
                  <a:txBody>
                    <a:bodyPr/>
                    <a:lstStyle/>
                    <a:p>
                      <a:r>
                        <a:rPr sz="1100" b="0" i="0">
                          <a:solidFill>
                            <a:srgbClr val="1A1440"/>
                          </a:solidFill>
                          <a:latin typeface="Calibri"/>
                        </a:rPr>
                        <a:t>Yes, member for member</a:t>
                      </a:r>
                    </a:p>
                  </a:txBody>
                  <a:tcPr marL="101600" marR="101600" marT="38100" marB="38100" anchor="ctr">
                    <a:solidFill>
                      <a:srgbClr val="FFFFFF"/>
                    </a:solidFill>
                  </a:tcPr>
                </a:tc>
              </a:tr>
            </a:tbl>
          </a:graphicData>
        </a:graphic>
      </p:graphicFrame>
      <p:sp>
        <p:nvSpPr>
          <p:cNvPr id="10" name="Rounded Rectangle 9"/>
          <p:cNvSpPr/>
          <p:nvPr/>
        </p:nvSpPr>
        <p:spPr>
          <a:xfrm>
            <a:off x="530352" y="4037584"/>
            <a:ext cx="11130991" cy="983488"/>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007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10456"/>
            <a:ext cx="237744" cy="237744"/>
          </a:xfrm>
          <a:prstGeom prst="rect">
            <a:avLst/>
          </a:prstGeom>
        </p:spPr>
      </p:pic>
      <p:sp>
        <p:nvSpPr>
          <p:cNvPr id="13" name="TextBox 12"/>
          <p:cNvSpPr txBox="1"/>
          <p:nvPr/>
        </p:nvSpPr>
        <p:spPr>
          <a:xfrm>
            <a:off x="1399031" y="41838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03344"/>
            <a:ext cx="9987991" cy="544576"/>
          </a:xfrm>
          <a:prstGeom prst="rect">
            <a:avLst/>
          </a:prstGeom>
          <a:noFill/>
        </p:spPr>
        <p:txBody>
          <a:bodyPr wrap="square" anchor="t" lIns="0" rIns="0" tIns="0" bIns="0">
            <a:spAutoFit/>
          </a:bodyPr>
          <a:lstStyle/>
          <a:p>
            <a:r>
              <a:rPr sz="1100" b="0" i="0">
                <a:solidFill>
                  <a:srgbClr val="1A1440"/>
                </a:solidFill>
                <a:latin typeface="Calibri"/>
              </a:rPr>
              <a:t>"Read the ask's last words again before you rank. 'In each segment' is a PARTITION BY, and each segment's list holds fifty members or every buyer, whichever is fewer: count it before it leaves the team."</a:t>
            </a:r>
          </a:p>
        </p:txBody>
      </p:sp>
      <p:sp>
        <p:nvSpPr>
          <p:cNvPr id="15" name="Rounded Rectangle 14"/>
          <p:cNvSpPr/>
          <p:nvPr/>
        </p:nvSpPr>
        <p:spPr>
          <a:xfrm>
            <a:off x="530352" y="518566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3685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478272"/>
            <a:ext cx="237744" cy="237744"/>
          </a:xfrm>
          <a:prstGeom prst="rect">
            <a:avLst/>
          </a:prstGeom>
        </p:spPr>
      </p:pic>
      <p:sp>
        <p:nvSpPr>
          <p:cNvPr id="18" name="TextBox 17"/>
          <p:cNvSpPr txBox="1"/>
          <p:nvPr/>
        </p:nvSpPr>
        <p:spPr>
          <a:xfrm>
            <a:off x="1399031" y="533196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51424"/>
            <a:ext cx="9987991" cy="384048"/>
          </a:xfrm>
          <a:prstGeom prst="rect">
            <a:avLst/>
          </a:prstGeom>
          <a:noFill/>
        </p:spPr>
        <p:txBody>
          <a:bodyPr wrap="square" anchor="t" lIns="0" rIns="0" tIns="0" bIns="0">
            <a:spAutoFit/>
          </a:bodyPr>
          <a:lstStyle/>
          <a:p>
            <a:r>
              <a:rPr sz="1100" b="0" i="0">
                <a:solidFill>
                  <a:srgbClr val="1A1440"/>
                </a:solidFill>
                <a:latin typeface="Calibri"/>
              </a:rPr>
              <a:t>[S] Top three per group: GROUP BY or a window, and why? [F] Why can a window function not sit inside WHERE, and what do you do instead?</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2" name="Oval 2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Top fifty per segment?</a:t>
            </a:r>
          </a:p>
        </p:txBody>
      </p:sp>
      <p:sp>
        <p:nvSpPr>
          <p:cNvPr id="24" name="Oval 2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6" name="Oval 2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8" name="Oval 2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39 / 86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ROW_NUMBER, RANK and DENSE_RANK</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Who makes it at a tie?</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When two members tie at fiftieth place, how many does a list ship, and which rule did the head of Retail-Plus ask for?</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are the top fifty?</a:t>
            </a:r>
          </a:p>
        </p:txBody>
      </p:sp>
      <p:sp>
        <p:nvSpPr>
          <p:cNvPr id="12" name="Rounded Rectangle 11"/>
          <p:cNvSpPr/>
          <p:nvPr/>
        </p:nvSpPr>
        <p:spPr>
          <a:xfrm>
            <a:off x="250975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Top fifty per segment?</a:t>
            </a:r>
          </a:p>
        </p:txBody>
      </p:sp>
      <p:sp>
        <p:nvSpPr>
          <p:cNvPr id="13" name="Rounded Rectangle 12"/>
          <p:cNvSpPr/>
          <p:nvPr/>
        </p:nvSpPr>
        <p:spPr>
          <a:xfrm>
            <a:off x="4287998"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Who makes it at a tie?</a:t>
            </a:r>
          </a:p>
        </p:txBody>
      </p:sp>
      <p:sp>
        <p:nvSpPr>
          <p:cNvPr id="14" name="Rounded Rectangle 13"/>
          <p:cNvSpPr/>
          <p:nvPr/>
        </p:nvSpPr>
        <p:spPr>
          <a:xfrm>
            <a:off x="606623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Whose spend is falling?</a:t>
            </a:r>
          </a:p>
        </p:txBody>
      </p:sp>
      <p:sp>
        <p:nvSpPr>
          <p:cNvPr id="15" name="Rounded Rectangle 14"/>
          <p:cNvSpPr/>
          <p:nvPr/>
        </p:nvSpPr>
        <p:spPr>
          <a:xfrm>
            <a:off x="790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On track against plan?</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 we protect before they drift?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40 / 86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Answering the head's rule: six questions on the 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tie rule, and which questions lead to it?</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head of Retail-Plus will defend the list to the tier's members and to Marketing. The line is the last place a list keeps, fiftieth on a top fifty. A member left off at the line by a coin toss has a fair complaint; a list labelled fifty that carries fifty-two has spent two calls nobody planned; a list that drops both members of a tie is the forty-nine the head refused.</a:t>
            </a:r>
          </a:p>
        </p:txBody>
      </p:sp>
      <p:sp>
        <p:nvSpPr>
          <p:cNvPr id="12" name="Rectangle 11"/>
          <p:cNvSpPr/>
          <p:nvPr/>
        </p:nvSpPr>
        <p:spPr>
          <a:xfrm>
            <a:off x="1381734" y="40294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rule, at what cost?</a:t>
            </a:r>
          </a:p>
        </p:txBody>
      </p:sp>
      <p:sp>
        <p:nvSpPr>
          <p:cNvPr id="17" name="TextBox 16"/>
          <p:cNvSpPr txBox="1"/>
          <p:nvPr/>
        </p:nvSpPr>
        <p:spPr>
          <a:xfrm>
            <a:off x="694944" y="4998212"/>
            <a:ext cx="1373581" cy="366776"/>
          </a:xfrm>
          <a:prstGeom prst="rect">
            <a:avLst/>
          </a:prstGeom>
          <a:noFill/>
        </p:spPr>
        <p:txBody>
          <a:bodyPr wrap="square" anchor="t" lIns="0" rIns="0" tIns="0" bIns="0">
            <a:spAutoFit/>
          </a:bodyPr>
          <a:lstStyle/>
          <a:p>
            <a:pPr algn="l"/>
            <a:r>
              <a:rPr sz="1000" b="0" i="0">
                <a:solidFill>
                  <a:srgbClr val="6B6690"/>
                </a:solidFill>
                <a:latin typeface="Calibri"/>
              </a:rPr>
              <a:t>Four rules at the line</a:t>
            </a:r>
          </a:p>
        </p:txBody>
      </p:sp>
      <p:sp>
        <p:nvSpPr>
          <p:cNvPr id="18" name="TextBox 17"/>
          <p:cNvSpPr txBox="1"/>
          <p:nvPr/>
        </p:nvSpPr>
        <p:spPr>
          <a:xfrm>
            <a:off x="2415997"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A tie at the line?</a:t>
            </a:r>
          </a:p>
        </p:txBody>
      </p:sp>
      <p:sp>
        <p:nvSpPr>
          <p:cNvPr id="22" name="TextBox 21"/>
          <p:cNvSpPr txBox="1"/>
          <p:nvPr/>
        </p:nvSpPr>
        <p:spPr>
          <a:xfrm>
            <a:off x="2580589" y="4998212"/>
            <a:ext cx="1373581" cy="201676"/>
          </a:xfrm>
          <a:prstGeom prst="rect">
            <a:avLst/>
          </a:prstGeom>
          <a:noFill/>
        </p:spPr>
        <p:txBody>
          <a:bodyPr wrap="square" anchor="t" lIns="0" rIns="0" tIns="0" bIns="0">
            <a:spAutoFit/>
          </a:bodyPr>
          <a:lstStyle/>
          <a:p>
            <a:pPr algn="l"/>
            <a:r>
              <a:rPr sz="1000" b="0" i="0">
                <a:solidFill>
                  <a:srgbClr val="6B6690"/>
                </a:solidFill>
                <a:latin typeface="Calibri"/>
              </a:rPr>
              <a:t>An invented top four</a:t>
            </a:r>
          </a:p>
        </p:txBody>
      </p:sp>
      <p:sp>
        <p:nvSpPr>
          <p:cNvPr id="23" name="TextBox 22"/>
          <p:cNvSpPr txBox="1"/>
          <p:nvPr/>
        </p:nvSpPr>
        <p:spPr>
          <a:xfrm>
            <a:off x="430164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One tie, three functions?</a:t>
            </a:r>
          </a:p>
        </p:txBody>
      </p:sp>
      <p:sp>
        <p:nvSpPr>
          <p:cNvPr id="27" name="TextBox 26"/>
          <p:cNvSpPr txBox="1"/>
          <p:nvPr/>
        </p:nvSpPr>
        <p:spPr>
          <a:xfrm>
            <a:off x="4466234" y="4998212"/>
            <a:ext cx="1373581" cy="201676"/>
          </a:xfrm>
          <a:prstGeom prst="rect">
            <a:avLst/>
          </a:prstGeom>
          <a:noFill/>
        </p:spPr>
        <p:txBody>
          <a:bodyPr wrap="square" anchor="t" lIns="0" rIns="0" tIns="0" bIns="0">
            <a:spAutoFit/>
          </a:bodyPr>
          <a:lstStyle/>
          <a:p>
            <a:pPr algn="l"/>
            <a:r>
              <a:rPr sz="1000" b="0" i="0">
                <a:solidFill>
                  <a:srgbClr val="6B6690"/>
                </a:solidFill>
                <a:latin typeface="Calibri"/>
              </a:rPr>
              <a:t>Six invented members</a:t>
            </a:r>
          </a:p>
        </p:txBody>
      </p:sp>
      <p:sp>
        <p:nvSpPr>
          <p:cNvPr id="28" name="TextBox 27"/>
          <p:cNvSpPr txBox="1"/>
          <p:nvPr/>
        </p:nvSpPr>
        <p:spPr>
          <a:xfrm>
            <a:off x="6187287"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Retail-Core's counts?</a:t>
            </a:r>
          </a:p>
        </p:txBody>
      </p:sp>
      <p:sp>
        <p:nvSpPr>
          <p:cNvPr id="32" name="TextBox 31"/>
          <p:cNvSpPr txBox="1"/>
          <p:nvPr/>
        </p:nvSpPr>
        <p:spPr>
          <a:xfrm>
            <a:off x="6351879" y="4998212"/>
            <a:ext cx="1373581" cy="201676"/>
          </a:xfrm>
          <a:prstGeom prst="rect">
            <a:avLst/>
          </a:prstGeom>
          <a:noFill/>
        </p:spPr>
        <p:txBody>
          <a:bodyPr wrap="square" anchor="t" lIns="0" rIns="0" tIns="0" bIns="0">
            <a:spAutoFit/>
          </a:bodyPr>
          <a:lstStyle/>
          <a:p>
            <a:pPr algn="l"/>
            <a:r>
              <a:rPr sz="1000" b="0" i="0">
                <a:solidFill>
                  <a:srgbClr val="6B6690"/>
                </a:solidFill>
                <a:latin typeface="Calibri"/>
              </a:rPr>
              <a:t>Four counts on Kalpa</a:t>
            </a:r>
          </a:p>
        </p:txBody>
      </p:sp>
      <p:sp>
        <p:nvSpPr>
          <p:cNvPr id="33" name="TextBox 32"/>
          <p:cNvSpPr txBox="1"/>
          <p:nvPr/>
        </p:nvSpPr>
        <p:spPr>
          <a:xfrm>
            <a:off x="807293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Retail-Plus's count?</a:t>
            </a:r>
          </a:p>
        </p:txBody>
      </p:sp>
      <p:sp>
        <p:nvSpPr>
          <p:cNvPr id="37" name="TextBox 36"/>
          <p:cNvSpPr txBox="1"/>
          <p:nvPr/>
        </p:nvSpPr>
        <p:spPr>
          <a:xfrm>
            <a:off x="8237524" y="4998212"/>
            <a:ext cx="1373581" cy="201676"/>
          </a:xfrm>
          <a:prstGeom prst="rect">
            <a:avLst/>
          </a:prstGeom>
          <a:noFill/>
        </p:spPr>
        <p:txBody>
          <a:bodyPr wrap="square" anchor="t" lIns="0" rIns="0" tIns="0" bIns="0">
            <a:spAutoFit/>
          </a:bodyPr>
          <a:lstStyle/>
          <a:p>
            <a:pPr algn="l"/>
            <a:r>
              <a:rPr sz="1000" b="0" i="0">
                <a:solidFill>
                  <a:srgbClr val="6B6690"/>
                </a:solidFill>
                <a:latin typeface="Calibri"/>
              </a:rPr>
              <a:t>Your own run</a:t>
            </a:r>
          </a:p>
        </p:txBody>
      </p:sp>
      <p:sp>
        <p:nvSpPr>
          <p:cNvPr id="38" name="TextBox 37"/>
          <p:cNvSpPr txBox="1"/>
          <p:nvPr/>
        </p:nvSpPr>
        <p:spPr>
          <a:xfrm>
            <a:off x="9958578"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9380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3494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495800"/>
            <a:ext cx="1373581" cy="465836"/>
          </a:xfrm>
          <a:prstGeom prst="rect">
            <a:avLst/>
          </a:prstGeom>
          <a:noFill/>
        </p:spPr>
        <p:txBody>
          <a:bodyPr wrap="square" anchor="t" lIns="0" rIns="0" tIns="0" bIns="0">
            <a:spAutoFit/>
          </a:bodyPr>
          <a:lstStyle/>
          <a:p>
            <a:pPr algn="l"/>
            <a:r>
              <a:rPr sz="1300" b="1" i="0">
                <a:solidFill>
                  <a:srgbClr val="FFFFFF"/>
                </a:solidFill>
                <a:latin typeface="Calibri"/>
              </a:rPr>
              <a:t>Does a plain count agree?</a:t>
            </a:r>
          </a:p>
        </p:txBody>
      </p:sp>
      <p:sp>
        <p:nvSpPr>
          <p:cNvPr id="42" name="TextBox 41"/>
          <p:cNvSpPr txBox="1"/>
          <p:nvPr/>
        </p:nvSpPr>
        <p:spPr>
          <a:xfrm>
            <a:off x="10123170" y="4998212"/>
            <a:ext cx="1373581" cy="201676"/>
          </a:xfrm>
          <a:prstGeom prst="rect">
            <a:avLst/>
          </a:prstGeom>
          <a:noFill/>
        </p:spPr>
        <p:txBody>
          <a:bodyPr wrap="square" anchor="t" lIns="0" rIns="0" tIns="0" bIns="0">
            <a:spAutoFit/>
          </a:bodyPr>
          <a:lstStyle/>
          <a:p>
            <a:pPr algn="l"/>
            <a:r>
              <a:rPr sz="1000" b="0" i="0">
                <a:solidFill>
                  <a:srgbClr val="CFC9EE"/>
                </a:solidFill>
                <a:latin typeface="Calibri"/>
              </a:rPr>
              <a:t>No window at all</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45" name="Oval 4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47" name="Oval 46"/>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49" name="Oval 4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51" name="Oval 5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41 / 86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head of Retail-Plus wants ties ranked the same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for a tie rule, and what does the wrong rule cost them?</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rown_50cb0a914c8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head of Retail-Plus</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Owns the paid membership tier and answers to its members for the list.</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hash_29aa8cda0b5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count on each list</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How many members each rule ships at fifty, beside Q2 revenue per member.</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WRONG RULE COSTS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A member dropped, or two extra</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A coin toss at the line, or a list that says fifty and carries more.</a:t>
            </a:r>
          </a:p>
        </p:txBody>
      </p:sp>
      <p:sp>
        <p:nvSpPr>
          <p:cNvPr id="27" name="Rounded Rectangle 26"/>
          <p:cNvSpPr/>
          <p:nvPr/>
        </p:nvSpPr>
        <p:spPr>
          <a:xfrm>
            <a:off x="530352" y="4104132"/>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4363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essage-square_028dbd132a0a.png"/>
          <p:cNvPicPr>
            <a:picLocks noChangeAspect="1"/>
          </p:cNvPicPr>
          <p:nvPr/>
        </p:nvPicPr>
        <p:blipFill>
          <a:blip r:embed="rId7"/>
          <a:stretch>
            <a:fillRect/>
          </a:stretch>
        </p:blipFill>
        <p:spPr>
          <a:xfrm>
            <a:off x="868680" y="4546092"/>
            <a:ext cx="237744" cy="237744"/>
          </a:xfrm>
          <a:prstGeom prst="rect">
            <a:avLst/>
          </a:prstGeom>
        </p:spPr>
      </p:pic>
      <p:sp>
        <p:nvSpPr>
          <p:cNvPr id="30" name="TextBox 29"/>
          <p:cNvSpPr txBox="1"/>
          <p:nvPr/>
        </p:nvSpPr>
        <p:spPr>
          <a:xfrm>
            <a:off x="1399031" y="425043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1" name="TextBox 30"/>
          <p:cNvSpPr txBox="1"/>
          <p:nvPr/>
        </p:nvSpPr>
        <p:spPr>
          <a:xfrm>
            <a:off x="1399031" y="4469892"/>
            <a:ext cx="9987991" cy="682752"/>
          </a:xfrm>
          <a:prstGeom prst="rect">
            <a:avLst/>
          </a:prstGeom>
          <a:noFill/>
        </p:spPr>
        <p:txBody>
          <a:bodyPr wrap="square" anchor="t" lIns="0" rIns="0" tIns="0" bIns="0">
            <a:spAutoFit/>
          </a:bodyPr>
          <a:lstStyle/>
          <a:p>
            <a:r>
              <a:rPr sz="1500" b="0" i="0">
                <a:solidFill>
                  <a:srgbClr val="FFFFFF"/>
                </a:solidFill>
                <a:latin typeface="Calibri"/>
              </a:rPr>
              <a:t>"Ties matter. If two members spent the same, I want them ranked the same, and I want to know how many made the top fifty, not forty-nine because of a tie."</a:t>
            </a:r>
          </a:p>
        </p:txBody>
      </p:sp>
      <p:sp>
        <p:nvSpPr>
          <p:cNvPr id="32" name="Oval 3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34" name="Oval 3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6" name="Oval 35"/>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38" name="Oval 3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40" name="Oval 3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42 / 86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American Airlines writes its tiebreaker down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company had to decide who goes first when two customers are equal?</a:t>
            </a:r>
          </a:p>
        </p:txBody>
      </p:sp>
      <p:pic>
        <p:nvPicPr>
          <p:cNvPr id="9" name="mermaid diagram" descr="c45e1a19dc7f9140.png"/>
          <p:cNvPicPr>
            <a:picLocks noChangeAspect="1"/>
          </p:cNvPicPr>
          <p:nvPr/>
        </p:nvPicPr>
        <p:blipFill>
          <a:blip r:embed="rId6"/>
          <a:stretch>
            <a:fillRect/>
          </a:stretch>
        </p:blipFill>
        <p:spPr>
          <a:xfrm>
            <a:off x="866622" y="1956816"/>
            <a:ext cx="10458450" cy="2300287"/>
          </a:xfrm>
          <a:prstGeom prst="rect">
            <a:avLst/>
          </a:prstGeom>
        </p:spPr>
      </p:pic>
      <p:sp>
        <p:nvSpPr>
          <p:cNvPr id="10" name="Rounded Rectangle 9"/>
          <p:cNvSpPr/>
          <p:nvPr/>
        </p:nvSpPr>
        <p:spPr>
          <a:xfrm>
            <a:off x="530352" y="4403407"/>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735639"/>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4845367"/>
            <a:ext cx="237744" cy="237744"/>
          </a:xfrm>
          <a:prstGeom prst="rect">
            <a:avLst/>
          </a:prstGeom>
        </p:spPr>
      </p:pic>
      <p:sp>
        <p:nvSpPr>
          <p:cNvPr id="13" name="TextBox 12"/>
          <p:cNvSpPr txBox="1"/>
          <p:nvPr/>
        </p:nvSpPr>
        <p:spPr>
          <a:xfrm>
            <a:off x="1399031" y="4549711"/>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769167"/>
            <a:ext cx="9987991" cy="682752"/>
          </a:xfrm>
          <a:prstGeom prst="rect">
            <a:avLst/>
          </a:prstGeom>
          <a:noFill/>
        </p:spPr>
        <p:txBody>
          <a:bodyPr wrap="square" anchor="t" lIns="0" rIns="0" tIns="0" bIns="0">
            <a:spAutoFit/>
          </a:bodyPr>
          <a:lstStyle/>
          <a:p>
            <a:r>
              <a:rPr sz="1500" b="0" i="0">
                <a:solidFill>
                  <a:srgbClr val="1A1440"/>
                </a:solidFill>
                <a:latin typeface="Calibri"/>
              </a:rPr>
              <a:t>A hard cap needs a tiebreaker written down before anyone is equal; a shared place needs the places after it to skip.</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9" name="Oval 18"/>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3" name="Oval 22"/>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43 / 86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RANK: ties share a place and the count is said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could cut a list at fifty, and what does each do at a tie?</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3538802"/>
                <a:gridCol w="3950469"/>
                <a:gridCol w="3641719"/>
              </a:tblGrid>
              <a:tr h="369824">
                <a:tc>
                  <a:txBody>
                    <a:bodyPr/>
                    <a:lstStyle/>
                    <a:p>
                      <a:r>
                        <a:rPr sz="1450" b="1" i="0">
                          <a:solidFill>
                            <a:srgbClr val="FFFFFF"/>
                          </a:solidFill>
                          <a:latin typeface="Calibri"/>
                        </a:rPr>
                        <a:t>Rule</a:t>
                      </a:r>
                    </a:p>
                  </a:txBody>
                  <a:tcPr marL="101600" marR="101600" marT="38100" marB="38100" anchor="ctr">
                    <a:solidFill>
                      <a:srgbClr val="1A0F5C"/>
                    </a:solidFill>
                  </a:tcPr>
                </a:tc>
                <a:tc>
                  <a:txBody>
                    <a:bodyPr/>
                    <a:lstStyle/>
                    <a:p>
                      <a:r>
                        <a:rPr sz="1450" b="1" i="0">
                          <a:solidFill>
                            <a:srgbClr val="FFFFFF"/>
                          </a:solidFill>
                          <a:latin typeface="Calibri"/>
                        </a:rPr>
                        <a:t>At a tie on the line</a:t>
                      </a:r>
                    </a:p>
                  </a:txBody>
                  <a:tcPr marL="101600" marR="101600" marT="38100" marB="38100" anchor="ctr">
                    <a:solidFill>
                      <a:srgbClr val="1A0F5C"/>
                    </a:solidFill>
                  </a:tcPr>
                </a:tc>
                <a:tc>
                  <a:txBody>
                    <a:bodyPr/>
                    <a:lstStyle/>
                    <a:p>
                      <a:r>
                        <a:rPr sz="1450" b="1" i="0">
                          <a:solidFill>
                            <a:srgbClr val="FFFFFF"/>
                          </a:solidFill>
                          <a:latin typeface="Calibri"/>
                        </a:rPr>
                        <a:t>Meets the head's ask?</a:t>
                      </a:r>
                    </a:p>
                  </a:txBody>
                  <a:tcPr marL="101600" marR="101600" marT="38100" marB="38100" anchor="ctr">
                    <a:solidFill>
                      <a:srgbClr val="1A0F5C"/>
                    </a:solidFill>
                  </a:tcPr>
                </a:tc>
              </a:tr>
              <a:tr h="369824">
                <a:tc>
                  <a:txBody>
                    <a:bodyPr/>
                    <a:lstStyle/>
                    <a:p>
                      <a:r>
                        <a:rPr sz="1400" b="0" i="0">
                          <a:solidFill>
                            <a:srgbClr val="1A1440"/>
                          </a:solidFill>
                          <a:latin typeface="Calibri"/>
                        </a:rPr>
                        <a:t>A. ROW_NUMBER, stated tiebreaker</a:t>
                      </a:r>
                    </a:p>
                  </a:txBody>
                  <a:tcPr marL="101600" marR="101600" marT="38100" marB="38100" anchor="ctr">
                    <a:solidFill>
                      <a:srgbClr val="FFFFFF"/>
                    </a:solidFill>
                  </a:tcPr>
                </a:tc>
                <a:tc>
                  <a:txBody>
                    <a:bodyPr/>
                    <a:lstStyle/>
                    <a:p>
                      <a:r>
                        <a:rPr sz="1400" b="0" i="0">
                          <a:solidFill>
                            <a:srgbClr val="1A1440"/>
                          </a:solidFill>
                          <a:latin typeface="Calibri"/>
                        </a:rPr>
                        <a:t>one in, one out</a:t>
                      </a:r>
                    </a:p>
                  </a:txBody>
                  <a:tcPr marL="101600" marR="101600" marT="38100" marB="38100" anchor="ctr">
                    <a:solidFill>
                      <a:srgbClr val="FFFFFF"/>
                    </a:solidFill>
                  </a:tcPr>
                </a:tc>
                <a:tc>
                  <a:txBody>
                    <a:bodyPr/>
                    <a:lstStyle/>
                    <a:p>
                      <a:r>
                        <a:rPr sz="1400" b="0" i="0">
                          <a:solidFill>
                            <a:srgbClr val="1A1440"/>
                          </a:solidFill>
                          <a:latin typeface="Calibri"/>
                        </a:rPr>
                        <a:t>No: equal spend, different places</a:t>
                      </a:r>
                    </a:p>
                  </a:txBody>
                  <a:tcPr marL="101600" marR="101600" marT="38100" marB="38100" anchor="ctr">
                    <a:solidFill>
                      <a:srgbClr val="FFFFFF"/>
                    </a:solidFill>
                  </a:tcPr>
                </a:tc>
              </a:tr>
              <a:tr h="369824">
                <a:tc>
                  <a:txBody>
                    <a:bodyPr/>
                    <a:lstStyle/>
                    <a:p>
                      <a:r>
                        <a:rPr sz="1400" b="0" i="0">
                          <a:solidFill>
                            <a:srgbClr val="1A1440"/>
                          </a:solidFill>
                          <a:latin typeface="Calibri"/>
                        </a:rPr>
                        <a:t>B. RANK</a:t>
                      </a:r>
                    </a:p>
                  </a:txBody>
                  <a:tcPr marL="101600" marR="101600" marT="38100" marB="38100" anchor="ctr">
                    <a:solidFill>
                      <a:srgbClr val="F4F2FA"/>
                    </a:solidFill>
                  </a:tcPr>
                </a:tc>
                <a:tc>
                  <a:txBody>
                    <a:bodyPr/>
                    <a:lstStyle/>
                    <a:p>
                      <a:r>
                        <a:rPr sz="1400" b="0" i="0">
                          <a:solidFill>
                            <a:srgbClr val="1A1440"/>
                          </a:solidFill>
                          <a:latin typeface="Calibri"/>
                        </a:rPr>
                        <a:t>both in; next place skipped, 1, 1, 3</a:t>
                      </a:r>
                    </a:p>
                  </a:txBody>
                  <a:tcPr marL="101600" marR="101600" marT="38100" marB="38100" anchor="ctr">
                    <a:solidFill>
                      <a:srgbClr val="F4F2FA"/>
                    </a:solidFill>
                  </a:tcPr>
                </a:tc>
                <a:tc>
                  <a:txBody>
                    <a:bodyPr/>
                    <a:lstStyle/>
                    <a:p>
                      <a:r>
                        <a:rPr sz="1400" b="0" i="0">
                          <a:solidFill>
                            <a:srgbClr val="1A1440"/>
                          </a:solidFill>
                          <a:latin typeface="Calibri"/>
                        </a:rPr>
                        <a:t>Yes, with the count said</a:t>
                      </a:r>
                    </a:p>
                  </a:txBody>
                  <a:tcPr marL="101600" marR="101600" marT="38100" marB="38100" anchor="ctr">
                    <a:solidFill>
                      <a:srgbClr val="F4F2FA"/>
                    </a:solidFill>
                  </a:tcPr>
                </a:tc>
              </a:tr>
              <a:tr h="369824">
                <a:tc>
                  <a:txBody>
                    <a:bodyPr/>
                    <a:lstStyle/>
                    <a:p>
                      <a:r>
                        <a:rPr sz="1400" b="0" i="0">
                          <a:solidFill>
                            <a:srgbClr val="1A1440"/>
                          </a:solidFill>
                          <a:latin typeface="Calibri"/>
                        </a:rPr>
                        <a:t>C. DENSE_RANK</a:t>
                      </a:r>
                    </a:p>
                  </a:txBody>
                  <a:tcPr marL="101600" marR="101600" marT="38100" marB="38100" anchor="ctr">
                    <a:solidFill>
                      <a:srgbClr val="FFFFFF"/>
                    </a:solidFill>
                  </a:tcPr>
                </a:tc>
                <a:tc>
                  <a:txBody>
                    <a:bodyPr/>
                    <a:lstStyle/>
                    <a:p>
                      <a:r>
                        <a:rPr sz="1400" b="0" i="0">
                          <a:solidFill>
                            <a:srgbClr val="1A1440"/>
                          </a:solidFill>
                          <a:latin typeface="Calibri"/>
                        </a:rPr>
                        <a:t>both in; nothing skipped, 1, 1, 2</a:t>
                      </a:r>
                    </a:p>
                  </a:txBody>
                  <a:tcPr marL="101600" marR="101600" marT="38100" marB="38100" anchor="ctr">
                    <a:solidFill>
                      <a:srgbClr val="FFFFFF"/>
                    </a:solidFill>
                  </a:tcPr>
                </a:tc>
                <a:tc>
                  <a:txBody>
                    <a:bodyPr/>
                    <a:lstStyle/>
                    <a:p>
                      <a:r>
                        <a:rPr sz="1400" b="0" i="0">
                          <a:solidFill>
                            <a:srgbClr val="1A1440"/>
                          </a:solidFill>
                          <a:latin typeface="Calibri"/>
                        </a:rPr>
                        <a:t>Can run past fifty even untied</a:t>
                      </a:r>
                    </a:p>
                  </a:txBody>
                  <a:tcPr marL="101600" marR="101600" marT="38100" marB="38100" anchor="ctr">
                    <a:solidFill>
                      <a:srgbClr val="FFFFFF"/>
                    </a:solidFill>
                  </a:tcPr>
                </a:tc>
              </a:tr>
              <a:tr h="369824">
                <a:tc>
                  <a:txBody>
                    <a:bodyPr/>
                    <a:lstStyle/>
                    <a:p>
                      <a:r>
                        <a:rPr sz="1400" b="0" i="0">
                          <a:solidFill>
                            <a:srgbClr val="1A1440"/>
                          </a:solidFill>
                          <a:latin typeface="Calibri"/>
                        </a:rPr>
                        <a:t>D. Whole ties only</a:t>
                      </a:r>
                    </a:p>
                  </a:txBody>
                  <a:tcPr marL="101600" marR="101600" marT="38100" marB="38100" anchor="ctr">
                    <a:solidFill>
                      <a:srgbClr val="F4F2FA"/>
                    </a:solidFill>
                  </a:tcPr>
                </a:tc>
                <a:tc>
                  <a:txBody>
                    <a:bodyPr/>
                    <a:lstStyle/>
                    <a:p>
                      <a:r>
                        <a:rPr sz="1400" b="0" i="0">
                          <a:solidFill>
                            <a:srgbClr val="1A1440"/>
                          </a:solidFill>
                          <a:latin typeface="Calibri"/>
                        </a:rPr>
                        <a:t>both out unless all fit</a:t>
                      </a:r>
                    </a:p>
                  </a:txBody>
                  <a:tcPr marL="101600" marR="101600" marT="38100" marB="38100" anchor="ctr">
                    <a:solidFill>
                      <a:srgbClr val="F4F2FA"/>
                    </a:solidFill>
                  </a:tcPr>
                </a:tc>
                <a:tc>
                  <a:txBody>
                    <a:bodyPr/>
                    <a:lstStyle/>
                    <a:p>
                      <a:r>
                        <a:rPr sz="1400" b="0" i="0">
                          <a:solidFill>
                            <a:srgbClr val="1A1440"/>
                          </a:solidFill>
                          <a:latin typeface="Calibri"/>
                        </a:rPr>
                        <a:t>Runs short: the forty-nine</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B, RANK, with the count and its reason in the report. What would switch it: a hard cap, such as fifty seats at a members' dinner, where ROW_NUMBER with a tiebreaker stated in advance is honest.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44 / 86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rows at a tie on the line?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rows does each rule ship when two members tie at the line?</a:t>
            </a:r>
          </a:p>
        </p:txBody>
      </p:sp>
      <p:pic>
        <p:nvPicPr>
          <p:cNvPr id="9" name="mermaid diagram" descr="50b56cc55130dd2d.png"/>
          <p:cNvPicPr>
            <a:picLocks noChangeAspect="1"/>
          </p:cNvPicPr>
          <p:nvPr/>
        </p:nvPicPr>
        <p:blipFill>
          <a:blip r:embed="rId5"/>
          <a:stretch>
            <a:fillRect/>
          </a:stretch>
        </p:blipFill>
        <p:spPr>
          <a:xfrm>
            <a:off x="1731016" y="1956816"/>
            <a:ext cx="8729662" cy="614362"/>
          </a:xfrm>
          <a:prstGeom prst="rect">
            <a:avLst/>
          </a:prstGeom>
        </p:spPr>
      </p:pic>
      <p:sp>
        <p:nvSpPr>
          <p:cNvPr id="10" name="Rounded Rectangle 9"/>
          <p:cNvSpPr/>
          <p:nvPr/>
        </p:nvSpPr>
        <p:spPr>
          <a:xfrm>
            <a:off x="530352" y="271748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84549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83635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Marketing wants a top four from these invented members, and D and E tie at fourth, on the line of a top four. How many rows does RANK ship, as a letter? a) 4; b) 5; c) 3; d) 6.</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45 / 86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RANK ships 5; the rules ship 4, 5, 5, 3</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rows does each rule ship when two members tie at the line?</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4</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ROW_NUMBER</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one of D and E left off</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RANK</a:t>
            </a:r>
          </a:p>
        </p:txBody>
      </p:sp>
      <p:sp>
        <p:nvSpPr>
          <p:cNvPr id="15" name="TextBox 14"/>
          <p:cNvSpPr txBox="1"/>
          <p:nvPr/>
        </p:nvSpPr>
        <p:spPr>
          <a:xfrm>
            <a:off x="3381679"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both kept, fourth shared</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DENSE_RANK</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both kept here</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3</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WHOLE TIES ONLY</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both left off</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At a tie on the line the four rules ship four counts, 4, 5, 5 and 3, so the report states its count; with no tie anywhere on the list, all four ship the list's size.</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30" name="Oval 29"/>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2" name="Oval 31"/>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34" name="Oval 33"/>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6" name="Oval 3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46 / 86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does RANK give six members?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ROW_NUMBER, RANK and DENSE_RANK give on one tie?</a:t>
            </a:r>
          </a:p>
        </p:txBody>
      </p:sp>
      <p:graphicFrame>
        <p:nvGraphicFramePr>
          <p:cNvPr id="9" name="Table 8"/>
          <p:cNvGraphicFramePr>
            <a:graphicFrameLocks noGrp="1"/>
          </p:cNvGraphicFramePr>
          <p:nvPr/>
        </p:nvGraphicFramePr>
        <p:xfrm>
          <a:off x="530352" y="1956816"/>
          <a:ext cx="11130991" cy="670560"/>
        </p:xfrm>
        <a:graphic>
          <a:graphicData uri="http://schemas.openxmlformats.org/drawingml/2006/table">
            <a:tbl>
              <a:tblPr firstRow="0" bandRow="0">
                <a:tableStyleId>{2D5ABB26-0587-4C30-8999-92F81FD0307C}</a:tableStyleId>
              </a:tblPr>
              <a:tblGrid>
                <a:gridCol w="5644591"/>
                <a:gridCol w="914400"/>
                <a:gridCol w="914400"/>
                <a:gridCol w="914400"/>
                <a:gridCol w="914400"/>
                <a:gridCol w="914400"/>
                <a:gridCol w="914400"/>
              </a:tblGrid>
              <a:tr h="335280">
                <a:tc>
                  <a:txBody>
                    <a:bodyPr/>
                    <a:lstStyle/>
                    <a:p>
                      <a:r>
                        <a:rPr sz="1250" b="1" i="0">
                          <a:solidFill>
                            <a:srgbClr val="FFFFFF"/>
                          </a:solidFill>
                          <a:latin typeface="Calibri"/>
                        </a:rPr>
                        <a:t>Member</a:t>
                      </a:r>
                    </a:p>
                  </a:txBody>
                  <a:tcPr marL="101600" marR="101600" marT="38100" marB="38100" anchor="ctr">
                    <a:solidFill>
                      <a:srgbClr val="1A0F5C"/>
                    </a:solidFill>
                  </a:tcPr>
                </a:tc>
                <a:tc>
                  <a:txBody>
                    <a:bodyPr/>
                    <a:lstStyle/>
                    <a:p>
                      <a:r>
                        <a:rPr sz="1250" b="1" i="0">
                          <a:solidFill>
                            <a:srgbClr val="FFFFFF"/>
                          </a:solidFill>
                          <a:latin typeface="Calibri"/>
                        </a:rPr>
                        <a:t>A</a:t>
                      </a:r>
                    </a:p>
                  </a:txBody>
                  <a:tcPr marL="101600" marR="101600" marT="38100" marB="38100" anchor="ctr">
                    <a:solidFill>
                      <a:srgbClr val="1A0F5C"/>
                    </a:solidFill>
                  </a:tcPr>
                </a:tc>
                <a:tc>
                  <a:txBody>
                    <a:bodyPr/>
                    <a:lstStyle/>
                    <a:p>
                      <a:r>
                        <a:rPr sz="1250" b="1" i="0">
                          <a:solidFill>
                            <a:srgbClr val="FFFFFF"/>
                          </a:solidFill>
                          <a:latin typeface="Calibri"/>
                        </a:rPr>
                        <a:t>B</a:t>
                      </a:r>
                    </a:p>
                  </a:txBody>
                  <a:tcPr marL="101600" marR="101600" marT="38100" marB="38100" anchor="ctr">
                    <a:solidFill>
                      <a:srgbClr val="1A0F5C"/>
                    </a:solidFill>
                  </a:tcPr>
                </a:tc>
                <a:tc>
                  <a:txBody>
                    <a:bodyPr/>
                    <a:lstStyle/>
                    <a:p>
                      <a:r>
                        <a:rPr sz="1250" b="1" i="0">
                          <a:solidFill>
                            <a:srgbClr val="FFFFFF"/>
                          </a:solidFill>
                          <a:latin typeface="Calibri"/>
                        </a:rPr>
                        <a:t>C</a:t>
                      </a:r>
                    </a:p>
                  </a:txBody>
                  <a:tcPr marL="101600" marR="101600" marT="38100" marB="38100" anchor="ctr">
                    <a:solidFill>
                      <a:srgbClr val="1A0F5C"/>
                    </a:solidFill>
                  </a:tcPr>
                </a:tc>
                <a:tc>
                  <a:txBody>
                    <a:bodyPr/>
                    <a:lstStyle/>
                    <a:p>
                      <a:r>
                        <a:rPr sz="1250" b="1" i="0">
                          <a:solidFill>
                            <a:srgbClr val="FFFFFF"/>
                          </a:solidFill>
                          <a:latin typeface="Calibri"/>
                        </a:rPr>
                        <a:t>D</a:t>
                      </a:r>
                    </a:p>
                  </a:txBody>
                  <a:tcPr marL="101600" marR="101600" marT="38100" marB="38100" anchor="ctr">
                    <a:solidFill>
                      <a:srgbClr val="1A0F5C"/>
                    </a:solidFill>
                  </a:tcPr>
                </a:tc>
                <a:tc>
                  <a:txBody>
                    <a:bodyPr/>
                    <a:lstStyle/>
                    <a:p>
                      <a:r>
                        <a:rPr sz="1250" b="1" i="0">
                          <a:solidFill>
                            <a:srgbClr val="FFFFFF"/>
                          </a:solidFill>
                          <a:latin typeface="Calibri"/>
                        </a:rPr>
                        <a:t>E</a:t>
                      </a:r>
                    </a:p>
                  </a:txBody>
                  <a:tcPr marL="101600" marR="101600" marT="38100" marB="38100" anchor="ctr">
                    <a:solidFill>
                      <a:srgbClr val="1A0F5C"/>
                    </a:solidFill>
                  </a:tcPr>
                </a:tc>
                <a:tc>
                  <a:txBody>
                    <a:bodyPr/>
                    <a:lstStyle/>
                    <a:p>
                      <a:r>
                        <a:rPr sz="1250" b="1" i="0">
                          <a:solidFill>
                            <a:srgbClr val="FFFFFF"/>
                          </a:solidFill>
                          <a:latin typeface="Calibri"/>
                        </a:rPr>
                        <a:t>F</a:t>
                      </a:r>
                    </a:p>
                  </a:txBody>
                  <a:tcPr marL="101600" marR="101600" marT="38100" marB="38100" anchor="ctr">
                    <a:solidFill>
                      <a:srgbClr val="1A0F5C"/>
                    </a:solidFill>
                  </a:tcPr>
                </a:tc>
              </a:tr>
              <a:tr h="335280">
                <a:tc>
                  <a:txBody>
                    <a:bodyPr/>
                    <a:lstStyle/>
                    <a:p>
                      <a:r>
                        <a:rPr sz="1200" b="0" i="0">
                          <a:solidFill>
                            <a:srgbClr val="1A1440"/>
                          </a:solidFill>
                          <a:latin typeface="Calibri"/>
                        </a:rPr>
                        <a:t>Spend, Rs (invented)</a:t>
                      </a:r>
                    </a:p>
                  </a:txBody>
                  <a:tcPr marL="101600" marR="101600" marT="38100" marB="38100" anchor="ctr">
                    <a:solidFill>
                      <a:srgbClr val="FFFFFF"/>
                    </a:solidFill>
                  </a:tcPr>
                </a:tc>
                <a:tc>
                  <a:txBody>
                    <a:bodyPr/>
                    <a:lstStyle/>
                    <a:p>
                      <a:r>
                        <a:rPr sz="1200" b="0" i="0">
                          <a:solidFill>
                            <a:srgbClr val="1A1440"/>
                          </a:solidFill>
                          <a:latin typeface="Calibri"/>
                        </a:rPr>
                        <a:t>7,500</a:t>
                      </a:r>
                    </a:p>
                  </a:txBody>
                  <a:tcPr marL="101600" marR="101600" marT="38100" marB="38100" anchor="ctr">
                    <a:solidFill>
                      <a:srgbClr val="FFFFFF"/>
                    </a:solidFill>
                  </a:tcPr>
                </a:tc>
                <a:tc>
                  <a:txBody>
                    <a:bodyPr/>
                    <a:lstStyle/>
                    <a:p>
                      <a:r>
                        <a:rPr sz="1200" b="0" i="0">
                          <a:solidFill>
                            <a:srgbClr val="1A1440"/>
                          </a:solidFill>
                          <a:latin typeface="Calibri"/>
                        </a:rPr>
                        <a:t>7,500</a:t>
                      </a:r>
                    </a:p>
                  </a:txBody>
                  <a:tcPr marL="101600" marR="101600" marT="38100" marB="38100" anchor="ctr">
                    <a:solidFill>
                      <a:srgbClr val="FFFFFF"/>
                    </a:solidFill>
                  </a:tcPr>
                </a:tc>
                <a:tc>
                  <a:txBody>
                    <a:bodyPr/>
                    <a:lstStyle/>
                    <a:p>
                      <a:r>
                        <a:rPr sz="1200" b="0" i="0">
                          <a:solidFill>
                            <a:srgbClr val="1A1440"/>
                          </a:solidFill>
                          <a:latin typeface="Calibri"/>
                        </a:rPr>
                        <a:t>6,000</a:t>
                      </a:r>
                    </a:p>
                  </a:txBody>
                  <a:tcPr marL="101600" marR="101600" marT="38100" marB="38100" anchor="ctr">
                    <a:solidFill>
                      <a:srgbClr val="FFFFFF"/>
                    </a:solidFill>
                  </a:tcPr>
                </a:tc>
                <a:tc>
                  <a:txBody>
                    <a:bodyPr/>
                    <a:lstStyle/>
                    <a:p>
                      <a:r>
                        <a:rPr sz="1200" b="0" i="0">
                          <a:solidFill>
                            <a:srgbClr val="1A1440"/>
                          </a:solidFill>
                          <a:latin typeface="Calibri"/>
                        </a:rPr>
                        <a:t>5,200</a:t>
                      </a:r>
                    </a:p>
                  </a:txBody>
                  <a:tcPr marL="101600" marR="101600" marT="38100" marB="38100" anchor="ctr">
                    <a:solidFill>
                      <a:srgbClr val="FFFFFF"/>
                    </a:solidFill>
                  </a:tcPr>
                </a:tc>
                <a:tc>
                  <a:txBody>
                    <a:bodyPr/>
                    <a:lstStyle/>
                    <a:p>
                      <a:r>
                        <a:rPr sz="1200" b="0" i="0">
                          <a:solidFill>
                            <a:srgbClr val="1A1440"/>
                          </a:solidFill>
                          <a:latin typeface="Calibri"/>
                        </a:rPr>
                        <a:t>5,200</a:t>
                      </a:r>
                    </a:p>
                  </a:txBody>
                  <a:tcPr marL="101600" marR="101600" marT="38100" marB="38100" anchor="ctr">
                    <a:solidFill>
                      <a:srgbClr val="FFFFFF"/>
                    </a:solidFill>
                  </a:tcPr>
                </a:tc>
                <a:tc>
                  <a:txBody>
                    <a:bodyPr/>
                    <a:lstStyle/>
                    <a:p>
                      <a:r>
                        <a:rPr sz="1200" b="0" i="0">
                          <a:solidFill>
                            <a:srgbClr val="1A1440"/>
                          </a:solidFill>
                          <a:latin typeface="Calibri"/>
                        </a:rPr>
                        <a:t>4,100</a:t>
                      </a:r>
                    </a:p>
                  </a:txBody>
                  <a:tcPr marL="101600" marR="101600" marT="38100" marB="38100" anchor="ctr">
                    <a:solidFill>
                      <a:srgbClr val="FFFFFF"/>
                    </a:solidFill>
                  </a:tcPr>
                </a:tc>
              </a:tr>
            </a:tbl>
          </a:graphicData>
        </a:graphic>
      </p:graphicFrame>
      <p:sp>
        <p:nvSpPr>
          <p:cNvPr id="10" name="Rounded Rectangle 9"/>
          <p:cNvSpPr/>
          <p:nvPr/>
        </p:nvSpPr>
        <p:spPr>
          <a:xfrm>
            <a:off x="530352" y="288340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01142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02280"/>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What does RANK give the six, in order, as a letter? a) 1, 2, 3, 4, 5, 6; b) 1, 1, 3, 4, 4, 6; c) 1, 1, 2, 3, 3, 4; d) 1, 1, 1, 2, 2, 3.</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47 / 86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 1, 3, 4, 4, 6 skips a place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ROW_NUMBER, RANK and DENSE_RANK give on one tie?</a:t>
            </a:r>
          </a:p>
        </p:txBody>
      </p:sp>
      <p:graphicFrame>
        <p:nvGraphicFramePr>
          <p:cNvPr id="9" name="Table 8"/>
          <p:cNvGraphicFramePr>
            <a:graphicFrameLocks noGrp="1"/>
          </p:cNvGraphicFramePr>
          <p:nvPr/>
        </p:nvGraphicFramePr>
        <p:xfrm>
          <a:off x="530352" y="1956816"/>
          <a:ext cx="11130991" cy="1341120"/>
        </p:xfrm>
        <a:graphic>
          <a:graphicData uri="http://schemas.openxmlformats.org/drawingml/2006/table">
            <a:tbl>
              <a:tblPr firstRow="0" bandRow="0">
                <a:tableStyleId>{2D5ABB26-0587-4C30-8999-92F81FD0307C}</a:tableStyleId>
              </a:tblPr>
              <a:tblGrid>
                <a:gridCol w="5644591"/>
                <a:gridCol w="914400"/>
                <a:gridCol w="914400"/>
                <a:gridCol w="914400"/>
                <a:gridCol w="914400"/>
                <a:gridCol w="914400"/>
                <a:gridCol w="914400"/>
              </a:tblGrid>
              <a:tr h="335280">
                <a:tc>
                  <a:txBody>
                    <a:bodyPr/>
                    <a:lstStyle/>
                    <a:p>
                      <a:r>
                        <a:rPr sz="1250" b="1" i="0">
                          <a:solidFill>
                            <a:srgbClr val="FFFFFF"/>
                          </a:solidFill>
                          <a:latin typeface="Calibri"/>
                        </a:rPr>
                        <a:t>Function</a:t>
                      </a:r>
                    </a:p>
                  </a:txBody>
                  <a:tcPr marL="101600" marR="101600" marT="38100" marB="38100" anchor="ctr">
                    <a:solidFill>
                      <a:srgbClr val="1A0F5C"/>
                    </a:solidFill>
                  </a:tcPr>
                </a:tc>
                <a:tc>
                  <a:txBody>
                    <a:bodyPr/>
                    <a:lstStyle/>
                    <a:p>
                      <a:r>
                        <a:rPr sz="1250" b="1" i="0">
                          <a:solidFill>
                            <a:srgbClr val="FFFFFF"/>
                          </a:solidFill>
                          <a:latin typeface="Calibri"/>
                        </a:rPr>
                        <a:t>A</a:t>
                      </a:r>
                    </a:p>
                  </a:txBody>
                  <a:tcPr marL="101600" marR="101600" marT="38100" marB="38100" anchor="ctr">
                    <a:solidFill>
                      <a:srgbClr val="1A0F5C"/>
                    </a:solidFill>
                  </a:tcPr>
                </a:tc>
                <a:tc>
                  <a:txBody>
                    <a:bodyPr/>
                    <a:lstStyle/>
                    <a:p>
                      <a:r>
                        <a:rPr sz="1250" b="1" i="0">
                          <a:solidFill>
                            <a:srgbClr val="FFFFFF"/>
                          </a:solidFill>
                          <a:latin typeface="Calibri"/>
                        </a:rPr>
                        <a:t>B</a:t>
                      </a:r>
                    </a:p>
                  </a:txBody>
                  <a:tcPr marL="101600" marR="101600" marT="38100" marB="38100" anchor="ctr">
                    <a:solidFill>
                      <a:srgbClr val="1A0F5C"/>
                    </a:solidFill>
                  </a:tcPr>
                </a:tc>
                <a:tc>
                  <a:txBody>
                    <a:bodyPr/>
                    <a:lstStyle/>
                    <a:p>
                      <a:r>
                        <a:rPr sz="1250" b="1" i="0">
                          <a:solidFill>
                            <a:srgbClr val="FFFFFF"/>
                          </a:solidFill>
                          <a:latin typeface="Calibri"/>
                        </a:rPr>
                        <a:t>C</a:t>
                      </a:r>
                    </a:p>
                  </a:txBody>
                  <a:tcPr marL="101600" marR="101600" marT="38100" marB="38100" anchor="ctr">
                    <a:solidFill>
                      <a:srgbClr val="1A0F5C"/>
                    </a:solidFill>
                  </a:tcPr>
                </a:tc>
                <a:tc>
                  <a:txBody>
                    <a:bodyPr/>
                    <a:lstStyle/>
                    <a:p>
                      <a:r>
                        <a:rPr sz="1250" b="1" i="0">
                          <a:solidFill>
                            <a:srgbClr val="FFFFFF"/>
                          </a:solidFill>
                          <a:latin typeface="Calibri"/>
                        </a:rPr>
                        <a:t>D</a:t>
                      </a:r>
                    </a:p>
                  </a:txBody>
                  <a:tcPr marL="101600" marR="101600" marT="38100" marB="38100" anchor="ctr">
                    <a:solidFill>
                      <a:srgbClr val="1A0F5C"/>
                    </a:solidFill>
                  </a:tcPr>
                </a:tc>
                <a:tc>
                  <a:txBody>
                    <a:bodyPr/>
                    <a:lstStyle/>
                    <a:p>
                      <a:r>
                        <a:rPr sz="1250" b="1" i="0">
                          <a:solidFill>
                            <a:srgbClr val="FFFFFF"/>
                          </a:solidFill>
                          <a:latin typeface="Calibri"/>
                        </a:rPr>
                        <a:t>E</a:t>
                      </a:r>
                    </a:p>
                  </a:txBody>
                  <a:tcPr marL="101600" marR="101600" marT="38100" marB="38100" anchor="ctr">
                    <a:solidFill>
                      <a:srgbClr val="1A0F5C"/>
                    </a:solidFill>
                  </a:tcPr>
                </a:tc>
                <a:tc>
                  <a:txBody>
                    <a:bodyPr/>
                    <a:lstStyle/>
                    <a:p>
                      <a:r>
                        <a:rPr sz="1250" b="1" i="0">
                          <a:solidFill>
                            <a:srgbClr val="FFFFFF"/>
                          </a:solidFill>
                          <a:latin typeface="Calibri"/>
                        </a:rPr>
                        <a:t>F</a:t>
                      </a:r>
                    </a:p>
                  </a:txBody>
                  <a:tcPr marL="101600" marR="101600" marT="38100" marB="38100" anchor="ctr">
                    <a:solidFill>
                      <a:srgbClr val="1A0F5C"/>
                    </a:solidFill>
                  </a:tcPr>
                </a:tc>
              </a:tr>
              <a:tr h="335280">
                <a:tc>
                  <a:txBody>
                    <a:bodyPr/>
                    <a:lstStyle/>
                    <a:p>
                      <a:r>
                        <a:rPr sz="1200" b="0" i="0">
                          <a:solidFill>
                            <a:srgbClr val="1A1440"/>
                          </a:solidFill>
                          <a:latin typeface="Calibri"/>
                        </a:rPr>
                        <a:t>ROW_NUMBER</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2</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6</a:t>
                      </a:r>
                    </a:p>
                  </a:txBody>
                  <a:tcPr marL="101600" marR="101600" marT="38100" marB="38100" anchor="ctr">
                    <a:solidFill>
                      <a:srgbClr val="FFFFFF"/>
                    </a:solidFill>
                  </a:tcPr>
                </a:tc>
              </a:tr>
              <a:tr h="335280">
                <a:tc>
                  <a:txBody>
                    <a:bodyPr/>
                    <a:lstStyle/>
                    <a:p>
                      <a:r>
                        <a:rPr sz="1200" b="0" i="0">
                          <a:solidFill>
                            <a:srgbClr val="1A1440"/>
                          </a:solidFill>
                          <a:latin typeface="Calibri"/>
                        </a:rPr>
                        <a:t>RANK</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3</a:t>
                      </a:r>
                    </a:p>
                  </a:txBody>
                  <a:tcPr marL="101600" marR="101600" marT="38100" marB="38100" anchor="ctr">
                    <a:solidFill>
                      <a:srgbClr val="F4F2FA"/>
                    </a:solidFill>
                  </a:tcPr>
                </a:tc>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6</a:t>
                      </a:r>
                    </a:p>
                  </a:txBody>
                  <a:tcPr marL="101600" marR="101600" marT="38100" marB="38100" anchor="ctr">
                    <a:solidFill>
                      <a:srgbClr val="F4F2FA"/>
                    </a:solidFill>
                  </a:tcPr>
                </a:tc>
              </a:tr>
              <a:tr h="335280">
                <a:tc>
                  <a:txBody>
                    <a:bodyPr/>
                    <a:lstStyle/>
                    <a:p>
                      <a:r>
                        <a:rPr sz="1200" b="0" i="0">
                          <a:solidFill>
                            <a:srgbClr val="1A1440"/>
                          </a:solidFill>
                          <a:latin typeface="Calibri"/>
                        </a:rPr>
                        <a:t>DENSE_RANK</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2</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4</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8198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672840"/>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RANK reads like a race: two share first, so the next is third. DENSE_RANK numbers spend figures, so by F its 4 is two below F's place among the members, 6.</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48 / 86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DENSE_RANK ships 52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Retail-Core members does each rule put on a top-fifty list?</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ROW_NUMBER</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Retail-Core's top fifty</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RANK</a:t>
            </a:r>
          </a:p>
        </p:txBody>
      </p:sp>
      <p:sp>
        <p:nvSpPr>
          <p:cNvPr id="15" name="TextBox 14"/>
          <p:cNvSpPr txBox="1"/>
          <p:nvPr/>
        </p:nvSpPr>
        <p:spPr>
          <a:xfrm>
            <a:off x="3381679"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no tie at the line</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52</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DENSE_RANK</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sent as "the top fifty"</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WHOLE TIES ONLY</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no tie at the line</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7" name="Oval 2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9" name="Oval 28"/>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31" name="Oval 3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3" name="Oval 32"/>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49 / 86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two ties above leave it two behind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DENSE_RANK's fiftieth number land on the 52nd member?</a:t>
            </a:r>
          </a:p>
        </p:txBody>
      </p:sp>
      <p:graphicFrame>
        <p:nvGraphicFramePr>
          <p:cNvPr id="9" name="Table 8"/>
          <p:cNvGraphicFramePr>
            <a:graphicFrameLocks noGrp="1"/>
          </p:cNvGraphicFramePr>
          <p:nvPr/>
        </p:nvGraphicFramePr>
        <p:xfrm>
          <a:off x="530352" y="1956816"/>
          <a:ext cx="11130990" cy="1676400"/>
        </p:xfrm>
        <a:graphic>
          <a:graphicData uri="http://schemas.openxmlformats.org/drawingml/2006/table">
            <a:tbl>
              <a:tblPr firstRow="0" bandRow="0">
                <a:tableStyleId>{2D5ABB26-0587-4C30-8999-92F81FD0307C}</a:tableStyleId>
              </a:tblPr>
              <a:tblGrid>
                <a:gridCol w="914400"/>
                <a:gridCol w="914400"/>
                <a:gridCol w="4193895"/>
                <a:gridCol w="914400"/>
                <a:gridCol w="4193895"/>
              </a:tblGrid>
              <a:tr h="335280">
                <a:tc>
                  <a:txBody>
                    <a:bodyPr/>
                    <a:lstStyle/>
                    <a:p>
                      <a:r>
                        <a:rPr sz="1250" b="1" i="0">
                          <a:solidFill>
                            <a:srgbClr val="FFFFFF"/>
                          </a:solidFill>
                          <a:latin typeface="Calibri"/>
                        </a:rPr>
                        <a:t>Place</a:t>
                      </a:r>
                    </a:p>
                  </a:txBody>
                  <a:tcPr marL="101600" marR="101600" marT="38100" marB="38100" anchor="ctr">
                    <a:solidFill>
                      <a:srgbClr val="1A0F5C"/>
                    </a:solidFill>
                  </a:tcPr>
                </a:tc>
                <a:tc>
                  <a:txBody>
                    <a:bodyPr/>
                    <a:lstStyle/>
                    <a:p>
                      <a:r>
                        <a:rPr sz="1250" b="1" i="0">
                          <a:solidFill>
                            <a:srgbClr val="FFFFFF"/>
                          </a:solidFill>
                          <a:latin typeface="Calibri"/>
                        </a:rPr>
                        <a:t>Member</a:t>
                      </a:r>
                    </a:p>
                  </a:txBody>
                  <a:tcPr marL="101600" marR="101600" marT="38100" marB="38100" anchor="ctr">
                    <a:solidFill>
                      <a:srgbClr val="1A0F5C"/>
                    </a:solidFill>
                  </a:tcPr>
                </a:tc>
                <a:tc>
                  <a:txBody>
                    <a:bodyPr/>
                    <a:lstStyle/>
                    <a:p>
                      <a:r>
                        <a:rPr sz="1250" b="1" i="0">
                          <a:solidFill>
                            <a:srgbClr val="FFFFFF"/>
                          </a:solidFill>
                          <a:latin typeface="Calibri"/>
                        </a:rPr>
                        <a:t>Q2 revenue</a:t>
                      </a:r>
                    </a:p>
                  </a:txBody>
                  <a:tcPr marL="101600" marR="101600" marT="38100" marB="38100" anchor="ctr">
                    <a:solidFill>
                      <a:srgbClr val="1A0F5C"/>
                    </a:solidFill>
                  </a:tcPr>
                </a:tc>
                <a:tc>
                  <a:txBody>
                    <a:bodyPr/>
                    <a:lstStyle/>
                    <a:p>
                      <a:r>
                        <a:rPr sz="1250" b="1" i="0">
                          <a:solidFill>
                            <a:srgbClr val="FFFFFF"/>
                          </a:solidFill>
                          <a:latin typeface="Calibri"/>
                        </a:rPr>
                        <a:t>RANK</a:t>
                      </a:r>
                    </a:p>
                  </a:txBody>
                  <a:tcPr marL="101600" marR="101600" marT="38100" marB="38100" anchor="ctr">
                    <a:solidFill>
                      <a:srgbClr val="1A0F5C"/>
                    </a:solidFill>
                  </a:tcPr>
                </a:tc>
                <a:tc>
                  <a:txBody>
                    <a:bodyPr/>
                    <a:lstStyle/>
                    <a:p>
                      <a:r>
                        <a:rPr sz="1250" b="1" i="0">
                          <a:solidFill>
                            <a:srgbClr val="FFFFFF"/>
                          </a:solidFill>
                          <a:latin typeface="Calibri"/>
                        </a:rPr>
                        <a:t>DENSE_RANK</a:t>
                      </a:r>
                    </a:p>
                  </a:txBody>
                  <a:tcPr marL="101600" marR="101600" marT="38100" marB="38100" anchor="ctr">
                    <a:solidFill>
                      <a:srgbClr val="1A0F5C"/>
                    </a:solidFill>
                  </a:tcPr>
                </a:tc>
              </a:tr>
              <a:tr h="335280">
                <a:tc>
                  <a:txBody>
                    <a:bodyPr/>
                    <a:lstStyle/>
                    <a:p>
                      <a:r>
                        <a:rPr sz="1200" b="0" i="0">
                          <a:solidFill>
                            <a:srgbClr val="1A1440"/>
                          </a:solidFill>
                          <a:latin typeface="Calibri"/>
                        </a:rPr>
                        <a:t>50</a:t>
                      </a:r>
                    </a:p>
                  </a:txBody>
                  <a:tcPr marL="101600" marR="101600" marT="38100" marB="38100" anchor="ctr">
                    <a:solidFill>
                      <a:srgbClr val="FFFFFF"/>
                    </a:solidFill>
                  </a:tcPr>
                </a:tc>
                <a:tc>
                  <a:txBody>
                    <a:bodyPr/>
                    <a:lstStyle/>
                    <a:p>
                      <a:r>
                        <a:rPr sz="1200" b="0" i="0">
                          <a:solidFill>
                            <a:srgbClr val="1A1440"/>
                          </a:solidFill>
                          <a:latin typeface="Calibri"/>
                        </a:rPr>
                        <a:t>C-0005</a:t>
                      </a:r>
                    </a:p>
                  </a:txBody>
                  <a:tcPr marL="101600" marR="101600" marT="38100" marB="38100" anchor="ctr">
                    <a:solidFill>
                      <a:srgbClr val="FFFFFF"/>
                    </a:solidFill>
                  </a:tcPr>
                </a:tc>
                <a:tc>
                  <a:txBody>
                    <a:bodyPr/>
                    <a:lstStyle/>
                    <a:p>
                      <a:r>
                        <a:rPr sz="1200" b="0" i="0">
                          <a:solidFill>
                            <a:srgbClr val="1A1440"/>
                          </a:solidFill>
                          <a:latin typeface="Calibri"/>
                        </a:rPr>
                        <a:t>Rs 2,980</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c>
                  <a:txBody>
                    <a:bodyPr/>
                    <a:lstStyle/>
                    <a:p>
                      <a:r>
                        <a:rPr sz="1200" b="0" i="0">
                          <a:solidFill>
                            <a:srgbClr val="1A1440"/>
                          </a:solidFill>
                          <a:latin typeface="Calibri"/>
                        </a:rPr>
                        <a:t>48</a:t>
                      </a:r>
                    </a:p>
                  </a:txBody>
                  <a:tcPr marL="101600" marR="101600" marT="38100" marB="38100" anchor="ctr">
                    <a:solidFill>
                      <a:srgbClr val="FFFFFF"/>
                    </a:solidFill>
                  </a:tcPr>
                </a:tc>
              </a:tr>
              <a:tr h="335280">
                <a:tc>
                  <a:txBody>
                    <a:bodyPr/>
                    <a:lstStyle/>
                    <a:p>
                      <a:r>
                        <a:rPr sz="1200" b="0" i="0">
                          <a:solidFill>
                            <a:srgbClr val="1A1440"/>
                          </a:solidFill>
                          <a:latin typeface="Calibri"/>
                        </a:rPr>
                        <a:t>51</a:t>
                      </a:r>
                    </a:p>
                  </a:txBody>
                  <a:tcPr marL="101600" marR="101600" marT="38100" marB="38100" anchor="ctr">
                    <a:solidFill>
                      <a:srgbClr val="F4F2FA"/>
                    </a:solidFill>
                  </a:tcPr>
                </a:tc>
                <a:tc>
                  <a:txBody>
                    <a:bodyPr/>
                    <a:lstStyle/>
                    <a:p>
                      <a:r>
                        <a:rPr sz="1200" b="0" i="0">
                          <a:solidFill>
                            <a:srgbClr val="1A1440"/>
                          </a:solidFill>
                          <a:latin typeface="Calibri"/>
                        </a:rPr>
                        <a:t>C-0092</a:t>
                      </a:r>
                    </a:p>
                  </a:txBody>
                  <a:tcPr marL="101600" marR="101600" marT="38100" marB="38100" anchor="ctr">
                    <a:solidFill>
                      <a:srgbClr val="F4F2FA"/>
                    </a:solidFill>
                  </a:tcPr>
                </a:tc>
                <a:tc>
                  <a:txBody>
                    <a:bodyPr/>
                    <a:lstStyle/>
                    <a:p>
                      <a:r>
                        <a:rPr sz="1200" b="0" i="0">
                          <a:solidFill>
                            <a:srgbClr val="1A1440"/>
                          </a:solidFill>
                          <a:latin typeface="Calibri"/>
                        </a:rPr>
                        <a:t>Rs 2,950</a:t>
                      </a:r>
                    </a:p>
                  </a:txBody>
                  <a:tcPr marL="101600" marR="101600" marT="38100" marB="38100" anchor="ctr">
                    <a:solidFill>
                      <a:srgbClr val="F4F2FA"/>
                    </a:solidFill>
                  </a:tcPr>
                </a:tc>
                <a:tc>
                  <a:txBody>
                    <a:bodyPr/>
                    <a:lstStyle/>
                    <a:p>
                      <a:r>
                        <a:rPr sz="1200" b="0" i="0">
                          <a:solidFill>
                            <a:srgbClr val="1A1440"/>
                          </a:solidFill>
                          <a:latin typeface="Calibri"/>
                        </a:rPr>
                        <a:t>51</a:t>
                      </a:r>
                    </a:p>
                  </a:txBody>
                  <a:tcPr marL="101600" marR="101600" marT="38100" marB="38100" anchor="ctr">
                    <a:solidFill>
                      <a:srgbClr val="F4F2FA"/>
                    </a:solidFill>
                  </a:tcPr>
                </a:tc>
                <a:tc>
                  <a:txBody>
                    <a:bodyPr/>
                    <a:lstStyle/>
                    <a:p>
                      <a:r>
                        <a:rPr sz="1200" b="0" i="0">
                          <a:solidFill>
                            <a:srgbClr val="1A1440"/>
                          </a:solidFill>
                          <a:latin typeface="Calibri"/>
                        </a:rPr>
                        <a:t>49</a:t>
                      </a:r>
                    </a:p>
                  </a:txBody>
                  <a:tcPr marL="101600" marR="101600" marT="38100" marB="38100" anchor="ctr">
                    <a:solidFill>
                      <a:srgbClr val="F4F2FA"/>
                    </a:solidFill>
                  </a:tcPr>
                </a:tc>
              </a:tr>
              <a:tr h="335280">
                <a:tc>
                  <a:txBody>
                    <a:bodyPr/>
                    <a:lstStyle/>
                    <a:p>
                      <a:r>
                        <a:rPr sz="1200" b="0" i="0">
                          <a:solidFill>
                            <a:srgbClr val="1A1440"/>
                          </a:solidFill>
                          <a:latin typeface="Calibri"/>
                        </a:rPr>
                        <a:t>52</a:t>
                      </a:r>
                    </a:p>
                  </a:txBody>
                  <a:tcPr marL="101600" marR="101600" marT="38100" marB="38100" anchor="ctr">
                    <a:solidFill>
                      <a:srgbClr val="FFFFFF"/>
                    </a:solidFill>
                  </a:tcPr>
                </a:tc>
                <a:tc>
                  <a:txBody>
                    <a:bodyPr/>
                    <a:lstStyle/>
                    <a:p>
                      <a:r>
                        <a:rPr sz="1200" b="0" i="0">
                          <a:solidFill>
                            <a:srgbClr val="1A1440"/>
                          </a:solidFill>
                          <a:latin typeface="Calibri"/>
                        </a:rPr>
                        <a:t>C-0094</a:t>
                      </a:r>
                    </a:p>
                  </a:txBody>
                  <a:tcPr marL="101600" marR="101600" marT="38100" marB="38100" anchor="ctr">
                    <a:solidFill>
                      <a:srgbClr val="FFFFFF"/>
                    </a:solidFill>
                  </a:tcPr>
                </a:tc>
                <a:tc>
                  <a:txBody>
                    <a:bodyPr/>
                    <a:lstStyle/>
                    <a:p>
                      <a:r>
                        <a:rPr sz="1200" b="0" i="0">
                          <a:solidFill>
                            <a:srgbClr val="1A1440"/>
                          </a:solidFill>
                          <a:latin typeface="Calibri"/>
                        </a:rPr>
                        <a:t>Rs 2,910</a:t>
                      </a:r>
                    </a:p>
                  </a:txBody>
                  <a:tcPr marL="101600" marR="101600" marT="38100" marB="38100" anchor="ctr">
                    <a:solidFill>
                      <a:srgbClr val="FFFFFF"/>
                    </a:solidFill>
                  </a:tcPr>
                </a:tc>
                <a:tc>
                  <a:txBody>
                    <a:bodyPr/>
                    <a:lstStyle/>
                    <a:p>
                      <a:r>
                        <a:rPr sz="1200" b="0" i="0">
                          <a:solidFill>
                            <a:srgbClr val="1A1440"/>
                          </a:solidFill>
                          <a:latin typeface="Calibri"/>
                        </a:rPr>
                        <a:t>52</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r>
              <a:tr h="335280">
                <a:tc>
                  <a:txBody>
                    <a:bodyPr/>
                    <a:lstStyle/>
                    <a:p>
                      <a:r>
                        <a:rPr sz="1200" b="0" i="0">
                          <a:solidFill>
                            <a:srgbClr val="1A1440"/>
                          </a:solidFill>
                          <a:latin typeface="Calibri"/>
                        </a:rPr>
                        <a:t>53</a:t>
                      </a:r>
                    </a:p>
                  </a:txBody>
                  <a:tcPr marL="101600" marR="101600" marT="38100" marB="38100" anchor="ctr">
                    <a:solidFill>
                      <a:srgbClr val="F4F2FA"/>
                    </a:solidFill>
                  </a:tcPr>
                </a:tc>
                <a:tc>
                  <a:txBody>
                    <a:bodyPr/>
                    <a:lstStyle/>
                    <a:p>
                      <a:r>
                        <a:rPr sz="1200" b="0" i="0">
                          <a:solidFill>
                            <a:srgbClr val="1A1440"/>
                          </a:solidFill>
                          <a:latin typeface="Calibri"/>
                        </a:rPr>
                        <a:t>C-0048</a:t>
                      </a:r>
                    </a:p>
                  </a:txBody>
                  <a:tcPr marL="101600" marR="101600" marT="38100" marB="38100" anchor="ctr">
                    <a:solidFill>
                      <a:srgbClr val="F4F2FA"/>
                    </a:solidFill>
                  </a:tcPr>
                </a:tc>
                <a:tc>
                  <a:txBody>
                    <a:bodyPr/>
                    <a:lstStyle/>
                    <a:p>
                      <a:r>
                        <a:rPr sz="1200" b="0" i="0">
                          <a:solidFill>
                            <a:srgbClr val="1A1440"/>
                          </a:solidFill>
                          <a:latin typeface="Calibri"/>
                        </a:rPr>
                        <a:t>Rs 2,870</a:t>
                      </a:r>
                    </a:p>
                  </a:txBody>
                  <a:tcPr marL="101600" marR="101600" marT="38100" marB="38100" anchor="ctr">
                    <a:solidFill>
                      <a:srgbClr val="F4F2FA"/>
                    </a:solidFill>
                  </a:tcPr>
                </a:tc>
                <a:tc>
                  <a:txBody>
                    <a:bodyPr/>
                    <a:lstStyle/>
                    <a:p>
                      <a:r>
                        <a:rPr sz="1200" b="0" i="0">
                          <a:solidFill>
                            <a:srgbClr val="1A1440"/>
                          </a:solidFill>
                          <a:latin typeface="Calibri"/>
                        </a:rPr>
                        <a:t>53</a:t>
                      </a:r>
                    </a:p>
                  </a:txBody>
                  <a:tcPr marL="101600" marR="101600" marT="38100" marB="38100" anchor="ctr">
                    <a:solidFill>
                      <a:srgbClr val="F4F2FA"/>
                    </a:solidFill>
                  </a:tcPr>
                </a:tc>
                <a:tc>
                  <a:txBody>
                    <a:bodyPr/>
                    <a:lstStyle/>
                    <a:p>
                      <a:r>
                        <a:rPr sz="1200" b="0" i="0">
                          <a:solidFill>
                            <a:srgbClr val="1A1440"/>
                          </a:solidFill>
                          <a:latin typeface="Calibri"/>
                        </a:rPr>
                        <a:t>51</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1726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08119"/>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Read the places around the line with the functions side by side, and list the ties inside the first fifty: two members on Rs 4,540 at places 31 and 32, two on Rs 4,120 at places 37 and 38.</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50 / 86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RANK ships Retail-Core's fifty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the list is cut by RANK, the head's rule?</a:t>
            </a:r>
          </a:p>
        </p:txBody>
      </p:sp>
      <p:pic>
        <p:nvPicPr>
          <p:cNvPr id="9" name="mermaid diagram" descr="6f89bea2f099d8d3.png"/>
          <p:cNvPicPr>
            <a:picLocks noChangeAspect="1"/>
          </p:cNvPicPr>
          <p:nvPr/>
        </p:nvPicPr>
        <p:blipFill>
          <a:blip r:embed="rId5"/>
          <a:stretch>
            <a:fillRect/>
          </a:stretch>
        </p:blipFill>
        <p:spPr>
          <a:xfrm>
            <a:off x="2259653" y="1956816"/>
            <a:ext cx="7672387" cy="1128712"/>
          </a:xfrm>
          <a:prstGeom prst="rect">
            <a:avLst/>
          </a:prstGeom>
        </p:spPr>
      </p:pic>
      <p:sp>
        <p:nvSpPr>
          <p:cNvPr id="10" name="Rounded Rectangle 9"/>
          <p:cNvSpPr/>
          <p:nvPr/>
        </p:nvSpPr>
        <p:spPr>
          <a:xfrm>
            <a:off x="530352" y="323183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35984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350704"/>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With no tie at the line, RANK and ROW_NUMBER agree, and the head's rule costs nothing. RANK only ships more than fifty when members tie at the line itself, and then the report says how many and why.</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51 / 86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Your turn: count the head's own segment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members does the Retail-Plus list ship under the head's rule?</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A9A3D2"/>
                </a:solidFill>
                <a:latin typeface="Consolas"/>
              </a:rPr>
              <a:t># rows() runs a named query from the chapter's .sql file; this one counts</a:t>
            </a:r>
          </a:p>
          <a:p>
            <a:pPr>
              <a:spcAft>
                <a:spcPts val="200"/>
              </a:spcAft>
            </a:pPr>
            <a:r>
              <a:rPr sz="1400" b="0" i="0">
                <a:solidFill>
                  <a:srgbClr val="A9A3D2"/>
                </a:solidFill>
                <a:latin typeface="Consolas"/>
              </a:rPr>
              <a:t># the rows each of the four rules ships for Retail-Plus's top fifty</a:t>
            </a:r>
          </a:p>
          <a:p>
            <a:pPr>
              <a:spcAft>
                <a:spcPts val="200"/>
              </a:spcAft>
            </a:pPr>
            <a:r>
              <a:rPr sz="1400" b="0" i="0">
                <a:solidFill>
                  <a:srgbClr val="E4E1F1"/>
                </a:solidFill>
                <a:latin typeface="Consolas"/>
              </a:rPr>
              <a:t>mine = rows(Q["c3_retail_plus_rules"])[0]</a:t>
            </a:r>
          </a:p>
          <a:p>
            <a:pPr>
              <a:spcAft>
                <a:spcPts val="200"/>
              </a:spcAft>
            </a:pPr>
            <a:r>
              <a:rPr sz="1400" b="0" i="0">
                <a:solidFill>
                  <a:srgbClr val="E4E1F1"/>
                </a:solidFill>
                <a:latin typeface="Consolas"/>
              </a:rPr>
              <a:t>mine</a:t>
            </a:r>
          </a:p>
        </p:txBody>
      </p:sp>
      <p:sp>
        <p:nvSpPr>
          <p:cNvPr id="14" name="Rounded Rectangle 13"/>
          <p:cNvSpPr/>
          <p:nvPr/>
        </p:nvSpPr>
        <p:spPr>
          <a:xfrm>
            <a:off x="530352" y="3588512"/>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58952" y="379120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message-square_028dbd132a0a.png"/>
          <p:cNvPicPr>
            <a:picLocks noChangeAspect="1"/>
          </p:cNvPicPr>
          <p:nvPr/>
        </p:nvPicPr>
        <p:blipFill>
          <a:blip r:embed="rId4"/>
          <a:stretch>
            <a:fillRect/>
          </a:stretch>
        </p:blipFill>
        <p:spPr>
          <a:xfrm>
            <a:off x="868680" y="3900932"/>
            <a:ext cx="237744" cy="237744"/>
          </a:xfrm>
          <a:prstGeom prst="rect">
            <a:avLst/>
          </a:prstGeom>
        </p:spPr>
      </p:pic>
      <p:sp>
        <p:nvSpPr>
          <p:cNvPr id="17" name="TextBox 16"/>
          <p:cNvSpPr txBox="1"/>
          <p:nvPr/>
        </p:nvSpPr>
        <p:spPr>
          <a:xfrm>
            <a:off x="1399031" y="373481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8" name="TextBox 17"/>
          <p:cNvSpPr txBox="1"/>
          <p:nvPr/>
        </p:nvSpPr>
        <p:spPr>
          <a:xfrm>
            <a:off x="1399031" y="3954272"/>
            <a:ext cx="9987991" cy="423672"/>
          </a:xfrm>
          <a:prstGeom prst="rect">
            <a:avLst/>
          </a:prstGeom>
          <a:noFill/>
        </p:spPr>
        <p:txBody>
          <a:bodyPr wrap="square" anchor="t" lIns="0" rIns="0" tIns="0" bIns="0">
            <a:spAutoFit/>
          </a:bodyPr>
          <a:lstStyle/>
          <a:p>
            <a:r>
              <a:rPr sz="1500" b="0" i="0">
                <a:solidFill>
                  <a:srgbClr val="FFFFFF"/>
                </a:solidFill>
                <a:latin typeface="Calibri"/>
              </a:rPr>
              <a:t>"I want to know how many made the top fifty."</a:t>
            </a:r>
          </a:p>
        </p:txBody>
      </p:sp>
      <p:sp>
        <p:nvSpPr>
          <p:cNvPr id="19" name="TextBox 18"/>
          <p:cNvSpPr txBox="1"/>
          <p:nvPr/>
        </p:nvSpPr>
        <p:spPr>
          <a:xfrm>
            <a:off x="530352" y="461568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Run the cell, then write the sentence the head of Retail-Plus reads: how many members the list carries under RANK and, if it is not fifty, why.</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2" name="Oval 2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4" name="Oval 23"/>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26" name="Oval 2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8" name="Oval 2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52 / 86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count who spent at least the 50th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count with no window agree with RANK?</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count(*) FROM q2</a:t>
            </a:r>
          </a:p>
          <a:p>
            <a:pPr>
              <a:spcAft>
                <a:spcPts val="200"/>
              </a:spcAft>
            </a:pPr>
            <a:r>
              <a:rPr sz="1400" b="0" i="0">
                <a:solidFill>
                  <a:srgbClr val="E4E1F1"/>
                </a:solidFill>
                <a:latin typeface="Consolas"/>
              </a:rPr>
              <a:t>WHERE  segment = 'Retail-Core'</a:t>
            </a:r>
          </a:p>
          <a:p>
            <a:pPr>
              <a:spcAft>
                <a:spcPts val="200"/>
              </a:spcAft>
            </a:pPr>
            <a:r>
              <a:rPr sz="1400" b="0" i="0">
                <a:solidFill>
                  <a:srgbClr val="E4E1F1"/>
                </a:solidFill>
                <a:latin typeface="Consolas"/>
              </a:rPr>
              <a:t>  AND  q2_revenue &gt;= (SELECT q2_revenue FROM q2 WHERE segment = 'Retail-Core'</a:t>
            </a:r>
          </a:p>
          <a:p>
            <a:pPr>
              <a:spcAft>
                <a:spcPts val="200"/>
              </a:spcAft>
            </a:pPr>
            <a:r>
              <a:rPr sz="1400" b="0" i="0">
                <a:solidFill>
                  <a:srgbClr val="E4E1F1"/>
                </a:solidFill>
                <a:latin typeface="Consolas"/>
              </a:rPr>
              <a:t>                      ORDER BY q2_revenue DESC OFFSET 49 LIMIT 1);</a:t>
            </a:r>
          </a:p>
        </p:txBody>
      </p:sp>
      <p:sp>
        <p:nvSpPr>
          <p:cNvPr id="14" name="TextBox 13"/>
          <p:cNvSpPr txBox="1"/>
          <p:nvPr/>
        </p:nvSpPr>
        <p:spPr>
          <a:xfrm>
            <a:off x="530352" y="3588512"/>
            <a:ext cx="5428335" cy="698500"/>
          </a:xfrm>
          <a:prstGeom prst="rect">
            <a:avLst/>
          </a:prstGeom>
          <a:noFill/>
        </p:spPr>
        <p:txBody>
          <a:bodyPr wrap="square" anchor="t" lIns="0" rIns="0" tIns="0" bIns="0">
            <a:spAutoFit/>
          </a:bodyPr>
          <a:lstStyle/>
          <a:p>
            <a:pPr algn="l"/>
            <a:r>
              <a:rPr sz="4400" b="0" i="0">
                <a:solidFill>
                  <a:srgbClr val="5B3FD6"/>
                </a:solidFill>
                <a:latin typeface="Georgia"/>
              </a:rPr>
              <a:t>50 = 50</a:t>
            </a:r>
          </a:p>
        </p:txBody>
      </p:sp>
      <p:sp>
        <p:nvSpPr>
          <p:cNvPr id="15" name="TextBox 14"/>
          <p:cNvSpPr txBox="1"/>
          <p:nvPr/>
        </p:nvSpPr>
        <p:spPr>
          <a:xfrm>
            <a:off x="530352" y="4323588"/>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RETAIL-CORE</a:t>
            </a:r>
          </a:p>
        </p:txBody>
      </p:sp>
      <p:sp>
        <p:nvSpPr>
          <p:cNvPr id="16" name="TextBox 15"/>
          <p:cNvSpPr txBox="1"/>
          <p:nvPr/>
        </p:nvSpPr>
        <p:spPr>
          <a:xfrm>
            <a:off x="530352" y="4524756"/>
            <a:ext cx="5428335" cy="193421"/>
          </a:xfrm>
          <a:prstGeom prst="rect">
            <a:avLst/>
          </a:prstGeom>
          <a:noFill/>
        </p:spPr>
        <p:txBody>
          <a:bodyPr wrap="square" anchor="t" lIns="0" rIns="0" tIns="0" bIns="0">
            <a:spAutoFit/>
          </a:bodyPr>
          <a:lstStyle/>
          <a:p>
            <a:pPr algn="l"/>
            <a:r>
              <a:rPr sz="950" b="0" i="0">
                <a:solidFill>
                  <a:srgbClr val="6B6690"/>
                </a:solidFill>
                <a:latin typeface="Calibri"/>
              </a:rPr>
              <a:t>members at or above Rs 2,980, and RANK's count</a:t>
            </a:r>
          </a:p>
        </p:txBody>
      </p:sp>
      <p:sp>
        <p:nvSpPr>
          <p:cNvPr id="17" name="Rectangle 16"/>
          <p:cNvSpPr/>
          <p:nvPr/>
        </p:nvSpPr>
        <p:spPr>
          <a:xfrm>
            <a:off x="530352" y="4777232"/>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33007" y="3588512"/>
            <a:ext cx="5428335" cy="698500"/>
          </a:xfrm>
          <a:prstGeom prst="rect">
            <a:avLst/>
          </a:prstGeom>
          <a:noFill/>
        </p:spPr>
        <p:txBody>
          <a:bodyPr wrap="square" anchor="t" lIns="0" rIns="0" tIns="0" bIns="0">
            <a:spAutoFit/>
          </a:bodyPr>
          <a:lstStyle/>
          <a:p>
            <a:pPr algn="l"/>
            <a:r>
              <a:rPr sz="4400" b="0" i="0">
                <a:solidFill>
                  <a:srgbClr val="5B3FD6"/>
                </a:solidFill>
                <a:latin typeface="Georgia"/>
              </a:rPr>
              <a:t>4 of 4</a:t>
            </a:r>
          </a:p>
        </p:txBody>
      </p:sp>
      <p:sp>
        <p:nvSpPr>
          <p:cNvPr id="19" name="TextBox 18"/>
          <p:cNvSpPr txBox="1"/>
          <p:nvPr/>
        </p:nvSpPr>
        <p:spPr>
          <a:xfrm>
            <a:off x="6233007" y="4323588"/>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SEGMENTS AGREE</a:t>
            </a:r>
          </a:p>
        </p:txBody>
      </p:sp>
      <p:sp>
        <p:nvSpPr>
          <p:cNvPr id="20" name="TextBox 19"/>
          <p:cNvSpPr txBox="1"/>
          <p:nvPr/>
        </p:nvSpPr>
        <p:spPr>
          <a:xfrm>
            <a:off x="6233007" y="4524756"/>
            <a:ext cx="5428335" cy="193421"/>
          </a:xfrm>
          <a:prstGeom prst="rect">
            <a:avLst/>
          </a:prstGeom>
          <a:noFill/>
        </p:spPr>
        <p:txBody>
          <a:bodyPr wrap="square" anchor="t" lIns="0" rIns="0" tIns="0" bIns="0">
            <a:spAutoFit/>
          </a:bodyPr>
          <a:lstStyle/>
          <a:p>
            <a:pPr algn="l"/>
            <a:r>
              <a:rPr sz="950" b="0" i="0">
                <a:solidFill>
                  <a:srgbClr val="6B6690"/>
                </a:solidFill>
                <a:latin typeface="Calibri"/>
              </a:rPr>
              <a:t>Retail-Plus, from your run, among them</a:t>
            </a:r>
          </a:p>
        </p:txBody>
      </p:sp>
      <p:sp>
        <p:nvSpPr>
          <p:cNvPr id="21" name="Rectangle 20"/>
          <p:cNvSpPr/>
          <p:nvPr/>
        </p:nvSpPr>
        <p:spPr>
          <a:xfrm>
            <a:off x="6233007" y="4777232"/>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4" name="Oval 2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6" name="Oval 25"/>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28" name="Oval 2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0" name="Oval 2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53 / 86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RANK, with its count and reason in the report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when two members tie at fiftieth place, how many does a list ship, and which rule?</a:t>
            </a:r>
          </a:p>
        </p:txBody>
      </p:sp>
      <p:graphicFrame>
        <p:nvGraphicFramePr>
          <p:cNvPr id="9" name="Table 8"/>
          <p:cNvGraphicFramePr>
            <a:graphicFrameLocks noGrp="1"/>
          </p:cNvGraphicFramePr>
          <p:nvPr/>
        </p:nvGraphicFramePr>
        <p:xfrm>
          <a:off x="530352" y="1682496"/>
          <a:ext cx="11130990" cy="2176272"/>
        </p:xfrm>
        <a:graphic>
          <a:graphicData uri="http://schemas.openxmlformats.org/drawingml/2006/table">
            <a:tbl>
              <a:tblPr firstRow="0" bandRow="0">
                <a:tableStyleId>{2D5ABB26-0587-4C30-8999-92F81FD0307C}</a:tableStyleId>
              </a:tblPr>
              <a:tblGrid>
                <a:gridCol w="4807463"/>
                <a:gridCol w="6323527"/>
              </a:tblGrid>
              <a:tr h="310896">
                <a:tc>
                  <a:txBody>
                    <a:bodyPr/>
                    <a:lstStyle/>
                    <a:p>
                      <a:r>
                        <a:rPr sz="950" b="1" i="0">
                          <a:solidFill>
                            <a:srgbClr val="FFFFFF"/>
                          </a:solidFill>
                          <a:latin typeface="Calibri"/>
                        </a:rPr>
                        <a:t>The question on the way</a:t>
                      </a:r>
                    </a:p>
                  </a:txBody>
                  <a:tcPr marL="101600" marR="101600" marT="38100" marB="38100" anchor="ctr">
                    <a:solidFill>
                      <a:srgbClr val="1A0F5C"/>
                    </a:solidFill>
                  </a:tcPr>
                </a:tc>
                <a:tc>
                  <a:txBody>
                    <a:bodyPr/>
                    <a:lstStyle/>
                    <a:p>
                      <a:r>
                        <a:rPr sz="950" b="1" i="0">
                          <a:solidFill>
                            <a:srgbClr val="FFFFFF"/>
                          </a:solidFill>
                          <a:latin typeface="Calibri"/>
                        </a:rPr>
                        <a:t>The answer</a:t>
                      </a:r>
                    </a:p>
                  </a:txBody>
                  <a:tcPr marL="101600" marR="101600" marT="38100" marB="38100" anchor="ctr">
                    <a:solidFill>
                      <a:srgbClr val="1A0F5C"/>
                    </a:solidFill>
                  </a:tcPr>
                </a:tc>
              </a:tr>
              <a:tr h="310896">
                <a:tc>
                  <a:txBody>
                    <a:bodyPr/>
                    <a:lstStyle/>
                    <a:p>
                      <a:r>
                        <a:rPr sz="900" b="0" i="0">
                          <a:solidFill>
                            <a:srgbClr val="1A1440"/>
                          </a:solidFill>
                          <a:latin typeface="Calibri"/>
                        </a:rPr>
                        <a:t>1. Which rule, at what cost?</a:t>
                      </a:r>
                    </a:p>
                  </a:txBody>
                  <a:tcPr marL="101600" marR="101600" marT="38100" marB="38100" anchor="ctr">
                    <a:solidFill>
                      <a:srgbClr val="FFFFFF"/>
                    </a:solidFill>
                  </a:tcPr>
                </a:tc>
                <a:tc>
                  <a:txBody>
                    <a:bodyPr/>
                    <a:lstStyle/>
                    <a:p>
                      <a:r>
                        <a:rPr sz="900" b="0" i="0">
                          <a:solidFill>
                            <a:srgbClr val="1A1440"/>
                          </a:solidFill>
                          <a:latin typeface="Calibri"/>
                        </a:rPr>
                        <a:t>RANK; ROW_NUMBER only under a hard cap</a:t>
                      </a:r>
                    </a:p>
                  </a:txBody>
                  <a:tcPr marL="101600" marR="101600" marT="38100" marB="38100" anchor="ctr">
                    <a:solidFill>
                      <a:srgbClr val="FFFFFF"/>
                    </a:solidFill>
                  </a:tcPr>
                </a:tc>
              </a:tr>
              <a:tr h="310896">
                <a:tc>
                  <a:txBody>
                    <a:bodyPr/>
                    <a:lstStyle/>
                    <a:p>
                      <a:r>
                        <a:rPr sz="900" b="0" i="0">
                          <a:solidFill>
                            <a:srgbClr val="1A1440"/>
                          </a:solidFill>
                          <a:latin typeface="Calibri"/>
                        </a:rPr>
                        <a:t>2. A tie at the line?</a:t>
                      </a:r>
                    </a:p>
                  </a:txBody>
                  <a:tcPr marL="101600" marR="101600" marT="38100" marB="38100" anchor="ctr">
                    <a:solidFill>
                      <a:srgbClr val="F4F2FA"/>
                    </a:solidFill>
                  </a:tcPr>
                </a:tc>
                <a:tc>
                  <a:txBody>
                    <a:bodyPr/>
                    <a:lstStyle/>
                    <a:p>
                      <a:r>
                        <a:rPr sz="900" b="0" i="0">
                          <a:solidFill>
                            <a:srgbClr val="1A1440"/>
                          </a:solidFill>
                          <a:latin typeface="Calibri"/>
                        </a:rPr>
                        <a:t>Top four: 4, 5, 5 and 3 rows</a:t>
                      </a:r>
                    </a:p>
                  </a:txBody>
                  <a:tcPr marL="101600" marR="101600" marT="38100" marB="38100" anchor="ctr">
                    <a:solidFill>
                      <a:srgbClr val="F4F2FA"/>
                    </a:solidFill>
                  </a:tcPr>
                </a:tc>
              </a:tr>
              <a:tr h="310896">
                <a:tc>
                  <a:txBody>
                    <a:bodyPr/>
                    <a:lstStyle/>
                    <a:p>
                      <a:r>
                        <a:rPr sz="900" b="0" i="0">
                          <a:solidFill>
                            <a:srgbClr val="1A1440"/>
                          </a:solidFill>
                          <a:latin typeface="Calibri"/>
                        </a:rPr>
                        <a:t>3. One tie, three functions?</a:t>
                      </a:r>
                    </a:p>
                  </a:txBody>
                  <a:tcPr marL="101600" marR="101600" marT="38100" marB="38100" anchor="ctr">
                    <a:solidFill>
                      <a:srgbClr val="FFFFFF"/>
                    </a:solidFill>
                  </a:tcPr>
                </a:tc>
                <a:tc>
                  <a:txBody>
                    <a:bodyPr/>
                    <a:lstStyle/>
                    <a:p>
                      <a:r>
                        <a:rPr sz="900" b="0" i="0">
                          <a:solidFill>
                            <a:srgbClr val="1A1440"/>
                          </a:solidFill>
                          <a:latin typeface="Calibri"/>
                        </a:rPr>
                        <a:t>RANK 1, 1, 3; DENSE_RANK 1, 1, 2</a:t>
                      </a:r>
                    </a:p>
                  </a:txBody>
                  <a:tcPr marL="101600" marR="101600" marT="38100" marB="38100" anchor="ctr">
                    <a:solidFill>
                      <a:srgbClr val="FFFFFF"/>
                    </a:solidFill>
                  </a:tcPr>
                </a:tc>
              </a:tr>
              <a:tr h="310896">
                <a:tc>
                  <a:txBody>
                    <a:bodyPr/>
                    <a:lstStyle/>
                    <a:p>
                      <a:r>
                        <a:rPr sz="900" b="0" i="0">
                          <a:solidFill>
                            <a:srgbClr val="1A1440"/>
                          </a:solidFill>
                          <a:latin typeface="Calibri"/>
                        </a:rPr>
                        <a:t>4. Retail-Core's counts?</a:t>
                      </a:r>
                    </a:p>
                  </a:txBody>
                  <a:tcPr marL="101600" marR="101600" marT="38100" marB="38100" anchor="ctr">
                    <a:solidFill>
                      <a:srgbClr val="F4F2FA"/>
                    </a:solidFill>
                  </a:tcPr>
                </a:tc>
                <a:tc>
                  <a:txBody>
                    <a:bodyPr/>
                    <a:lstStyle/>
                    <a:p>
                      <a:r>
                        <a:rPr sz="900" b="0" i="0">
                          <a:solidFill>
                            <a:srgbClr val="1A1440"/>
                          </a:solidFill>
                          <a:latin typeface="Calibri"/>
                        </a:rPr>
                        <a:t>50 under RANK; 52 under DENSE_RANK</a:t>
                      </a:r>
                    </a:p>
                  </a:txBody>
                  <a:tcPr marL="101600" marR="101600" marT="38100" marB="38100" anchor="ctr">
                    <a:solidFill>
                      <a:srgbClr val="F4F2FA"/>
                    </a:solidFill>
                  </a:tcPr>
                </a:tc>
              </a:tr>
              <a:tr h="310896">
                <a:tc>
                  <a:txBody>
                    <a:bodyPr/>
                    <a:lstStyle/>
                    <a:p>
                      <a:r>
                        <a:rPr sz="900" b="0" i="0">
                          <a:solidFill>
                            <a:srgbClr val="1A1440"/>
                          </a:solidFill>
                          <a:latin typeface="Calibri"/>
                        </a:rPr>
                        <a:t>5. Retail-Plus's count?</a:t>
                      </a:r>
                    </a:p>
                  </a:txBody>
                  <a:tcPr marL="101600" marR="101600" marT="38100" marB="38100" anchor="ctr">
                    <a:solidFill>
                      <a:srgbClr val="FFFFFF"/>
                    </a:solidFill>
                  </a:tcPr>
                </a:tc>
                <a:tc>
                  <a:txBody>
                    <a:bodyPr/>
                    <a:lstStyle/>
                    <a:p>
                      <a:r>
                        <a:rPr sz="900" b="0" i="0">
                          <a:solidFill>
                            <a:srgbClr val="1A1440"/>
                          </a:solidFill>
                          <a:latin typeface="Calibri"/>
                        </a:rPr>
                        <a:t>Your run's count, with its reason</a:t>
                      </a:r>
                    </a:p>
                  </a:txBody>
                  <a:tcPr marL="101600" marR="101600" marT="38100" marB="38100" anchor="ctr">
                    <a:solidFill>
                      <a:srgbClr val="FFFFFF"/>
                    </a:solidFill>
                  </a:tcPr>
                </a:tc>
              </a:tr>
              <a:tr h="310896">
                <a:tc>
                  <a:txBody>
                    <a:bodyPr/>
                    <a:lstStyle/>
                    <a:p>
                      <a:r>
                        <a:rPr sz="900" b="0" i="0">
                          <a:solidFill>
                            <a:srgbClr val="1A1440"/>
                          </a:solidFill>
                          <a:latin typeface="Calibri"/>
                        </a:rPr>
                        <a:t>6. Does a plain count agree?</a:t>
                      </a:r>
                    </a:p>
                  </a:txBody>
                  <a:tcPr marL="101600" marR="101600" marT="38100" marB="38100" anchor="ctr">
                    <a:solidFill>
                      <a:srgbClr val="F4F2FA"/>
                    </a:solidFill>
                  </a:tcPr>
                </a:tc>
                <a:tc>
                  <a:txBody>
                    <a:bodyPr/>
                    <a:lstStyle/>
                    <a:p>
                      <a:r>
                        <a:rPr sz="900" b="0" i="0">
                          <a:solidFill>
                            <a:srgbClr val="1A1440"/>
                          </a:solidFill>
                          <a:latin typeface="Calibri"/>
                        </a:rPr>
                        <a:t>Yes, in every segment</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29768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07408"/>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384048"/>
          </a:xfrm>
          <a:prstGeom prst="rect">
            <a:avLst/>
          </a:prstGeom>
          <a:noFill/>
        </p:spPr>
        <p:txBody>
          <a:bodyPr wrap="square" anchor="t" lIns="0" rIns="0" tIns="0" bIns="0">
            <a:spAutoFit/>
          </a:bodyPr>
          <a:lstStyle/>
          <a:p>
            <a:r>
              <a:rPr sz="1000" b="0" i="0">
                <a:solidFill>
                  <a:srgbClr val="1A1440"/>
                </a:solidFill>
                <a:latin typeface="Calibri"/>
              </a:rPr>
              <a:t>"A tie rule is a business decision. State the rule, the count it ships and the members at the line in one sentence."</a:t>
            </a:r>
          </a:p>
        </p:txBody>
      </p:sp>
      <p:sp>
        <p:nvSpPr>
          <p:cNvPr id="15" name="Rounded Rectangle 14"/>
          <p:cNvSpPr/>
          <p:nvPr/>
        </p:nvSpPr>
        <p:spPr>
          <a:xfrm>
            <a:off x="530352" y="5102352"/>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34822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457952"/>
            <a:ext cx="237744" cy="237744"/>
          </a:xfrm>
          <a:prstGeom prst="rect">
            <a:avLst/>
          </a:prstGeom>
        </p:spPr>
      </p:pic>
      <p:sp>
        <p:nvSpPr>
          <p:cNvPr id="18" name="TextBox 17"/>
          <p:cNvSpPr txBox="1"/>
          <p:nvPr/>
        </p:nvSpPr>
        <p:spPr>
          <a:xfrm>
            <a:off x="1399031" y="52486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468112"/>
            <a:ext cx="9987991" cy="510032"/>
          </a:xfrm>
          <a:prstGeom prst="rect">
            <a:avLst/>
          </a:prstGeom>
          <a:noFill/>
        </p:spPr>
        <p:txBody>
          <a:bodyPr wrap="square" anchor="t" lIns="0" rIns="0" tIns="0" bIns="0">
            <a:spAutoFit/>
          </a:bodyPr>
          <a:lstStyle/>
          <a:p>
            <a:r>
              <a:rPr sz="1000" b="0" i="0">
                <a:solidFill>
                  <a:srgbClr val="1A1440"/>
                </a:solidFill>
                <a:latin typeface="Calibri"/>
              </a:rPr>
              <a:t>[S] What do RANK, DENSE_RANK and ROW_NUMBER give on a tie? [D] The business says ties rank the same: which function, and how many rows might a top-N report ship?</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2" name="Oval 2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4" name="Oval 23"/>
          <p:cNvSpPr/>
          <p:nvPr/>
        </p:nvSpPr>
        <p:spPr>
          <a:xfrm>
            <a:off x="350558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Who makes it at a tie?</a:t>
            </a:r>
          </a:p>
        </p:txBody>
      </p:sp>
      <p:sp>
        <p:nvSpPr>
          <p:cNvPr id="26" name="Oval 2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8" name="Oval 2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54 / 86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LAG and LEAD</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Whose spend is falling?</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Whose monthly spend fell two months running, so Marketing can ring them before they drift further?</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are the top fifty?</a:t>
            </a:r>
          </a:p>
        </p:txBody>
      </p:sp>
      <p:sp>
        <p:nvSpPr>
          <p:cNvPr id="12" name="Rounded Rectangle 11"/>
          <p:cNvSpPr/>
          <p:nvPr/>
        </p:nvSpPr>
        <p:spPr>
          <a:xfrm>
            <a:off x="250975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Top fifty per segment?</a:t>
            </a:r>
          </a:p>
        </p:txBody>
      </p:sp>
      <p:sp>
        <p:nvSpPr>
          <p:cNvPr id="13" name="Rounded Rectangle 12"/>
          <p:cNvSpPr/>
          <p:nvPr/>
        </p:nvSpPr>
        <p:spPr>
          <a:xfrm>
            <a:off x="428799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makes it at a tie?</a:t>
            </a:r>
          </a:p>
        </p:txBody>
      </p:sp>
      <p:sp>
        <p:nvSpPr>
          <p:cNvPr id="14" name="Rounded Rectangle 13"/>
          <p:cNvSpPr/>
          <p:nvPr/>
        </p:nvSpPr>
        <p:spPr>
          <a:xfrm>
            <a:off x="6066238"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Whose spend is falling?</a:t>
            </a:r>
          </a:p>
        </p:txBody>
      </p:sp>
      <p:sp>
        <p:nvSpPr>
          <p:cNvPr id="15" name="Rounded Rectangle 14"/>
          <p:cNvSpPr/>
          <p:nvPr/>
        </p:nvSpPr>
        <p:spPr>
          <a:xfrm>
            <a:off x="7903693"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On track against plan?</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 we protect before they drift?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55 / 86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Answering the flag: six questions on the 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falling flag, and which questions lead to it?</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marketing lead's member team will ring each flagged member with a retention offer. A flag that names the wrong member costs a call and tells a loyal customer they are slipping; a fall the flag misses is a member nobody rang until they had gone.</a:t>
            </a:r>
          </a:p>
        </p:txBody>
      </p:sp>
      <p:sp>
        <p:nvSpPr>
          <p:cNvPr id="12" name="Rectangle 11"/>
          <p:cNvSpPr/>
          <p:nvPr/>
        </p:nvSpPr>
        <p:spPr>
          <a:xfrm>
            <a:off x="1381734" y="37627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way, at what cost?</a:t>
            </a:r>
          </a:p>
        </p:txBody>
      </p:sp>
      <p:sp>
        <p:nvSpPr>
          <p:cNvPr id="17" name="TextBox 16"/>
          <p:cNvSpPr txBox="1"/>
          <p:nvPr/>
        </p:nvSpPr>
        <p:spPr>
          <a:xfrm>
            <a:off x="694944"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Four ways to compare months</a:t>
            </a:r>
          </a:p>
        </p:txBody>
      </p:sp>
      <p:sp>
        <p:nvSpPr>
          <p:cNvPr id="18" name="TextBox 17"/>
          <p:cNvSpPr txBox="1"/>
          <p:nvPr/>
        </p:nvSpPr>
        <p:spPr>
          <a:xfrm>
            <a:off x="241599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did each spend monthly?</a:t>
            </a:r>
          </a:p>
        </p:txBody>
      </p:sp>
      <p:sp>
        <p:nvSpPr>
          <p:cNvPr id="22" name="TextBox 21"/>
          <p:cNvSpPr txBox="1"/>
          <p:nvPr/>
        </p:nvSpPr>
        <p:spPr>
          <a:xfrm>
            <a:off x="2580589"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One row per member-month</a:t>
            </a:r>
          </a:p>
        </p:txBody>
      </p:sp>
      <p:sp>
        <p:nvSpPr>
          <p:cNvPr id="23" name="TextBox 22"/>
          <p:cNvSpPr txBox="1"/>
          <p:nvPr/>
        </p:nvSpPr>
        <p:spPr>
          <a:xfrm>
            <a:off x="430164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does LAG put beside it?</a:t>
            </a:r>
          </a:p>
        </p:txBody>
      </p:sp>
      <p:sp>
        <p:nvSpPr>
          <p:cNvPr id="27" name="TextBox 26"/>
          <p:cNvSpPr txBox="1"/>
          <p:nvPr/>
        </p:nvSpPr>
        <p:spPr>
          <a:xfrm>
            <a:off x="4466234" y="4731512"/>
            <a:ext cx="1373581" cy="201676"/>
          </a:xfrm>
          <a:prstGeom prst="rect">
            <a:avLst/>
          </a:prstGeom>
          <a:noFill/>
        </p:spPr>
        <p:txBody>
          <a:bodyPr wrap="square" anchor="t" lIns="0" rIns="0" tIns="0" bIns="0">
            <a:spAutoFit/>
          </a:bodyPr>
          <a:lstStyle/>
          <a:p>
            <a:pPr algn="l"/>
            <a:r>
              <a:rPr sz="1000" b="0" i="0">
                <a:solidFill>
                  <a:srgbClr val="6B6690"/>
                </a:solidFill>
                <a:latin typeface="Calibri"/>
              </a:rPr>
              <a:t>One member's months</a:t>
            </a:r>
          </a:p>
        </p:txBody>
      </p:sp>
      <p:sp>
        <p:nvSpPr>
          <p:cNvPr id="28" name="TextBox 27"/>
          <p:cNvSpPr txBox="1"/>
          <p:nvPr/>
        </p:nvSpPr>
        <p:spPr>
          <a:xfrm>
            <a:off x="618728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if nothing partitions?</a:t>
            </a:r>
          </a:p>
        </p:txBody>
      </p:sp>
      <p:sp>
        <p:nvSpPr>
          <p:cNvPr id="32" name="TextBox 31"/>
          <p:cNvSpPr txBox="1"/>
          <p:nvPr/>
        </p:nvSpPr>
        <p:spPr>
          <a:xfrm>
            <a:off x="6351879"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Whose month LAG reads</a:t>
            </a:r>
          </a:p>
        </p:txBody>
      </p:sp>
      <p:sp>
        <p:nvSpPr>
          <p:cNvPr id="33" name="TextBox 32"/>
          <p:cNvSpPr txBox="1"/>
          <p:nvPr/>
        </p:nvSpPr>
        <p:spPr>
          <a:xfrm>
            <a:off x="807293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many fell twice?</a:t>
            </a:r>
          </a:p>
        </p:txBody>
      </p:sp>
      <p:sp>
        <p:nvSpPr>
          <p:cNvPr id="37" name="TextBox 36"/>
          <p:cNvSpPr txBox="1"/>
          <p:nvPr/>
        </p:nvSpPr>
        <p:spPr>
          <a:xfrm>
            <a:off x="8237524"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Each member's months apart</a:t>
            </a:r>
          </a:p>
        </p:txBody>
      </p:sp>
      <p:sp>
        <p:nvSpPr>
          <p:cNvPr id="38" name="TextBox 37"/>
          <p:cNvSpPr txBox="1"/>
          <p:nvPr/>
        </p:nvSpPr>
        <p:spPr>
          <a:xfrm>
            <a:off x="9958578"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0827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229100"/>
            <a:ext cx="1373581" cy="465836"/>
          </a:xfrm>
          <a:prstGeom prst="rect">
            <a:avLst/>
          </a:prstGeom>
          <a:noFill/>
        </p:spPr>
        <p:txBody>
          <a:bodyPr wrap="square" anchor="t" lIns="0" rIns="0" tIns="0" bIns="0">
            <a:spAutoFit/>
          </a:bodyPr>
          <a:lstStyle/>
          <a:p>
            <a:pPr algn="l"/>
            <a:r>
              <a:rPr sz="1300" b="1" i="0">
                <a:solidFill>
                  <a:srgbClr val="FFFFFF"/>
                </a:solidFill>
                <a:latin typeface="Calibri"/>
              </a:rPr>
              <a:t>Does a Python walk agree?</a:t>
            </a:r>
          </a:p>
        </p:txBody>
      </p:sp>
      <p:sp>
        <p:nvSpPr>
          <p:cNvPr id="42" name="TextBox 41"/>
          <p:cNvSpPr txBox="1"/>
          <p:nvPr/>
        </p:nvSpPr>
        <p:spPr>
          <a:xfrm>
            <a:off x="10123170" y="4731512"/>
            <a:ext cx="1373581" cy="201676"/>
          </a:xfrm>
          <a:prstGeom prst="rect">
            <a:avLst/>
          </a:prstGeom>
          <a:noFill/>
        </p:spPr>
        <p:txBody>
          <a:bodyPr wrap="square" anchor="t" lIns="0" rIns="0" tIns="0" bIns="0">
            <a:spAutoFit/>
          </a:bodyPr>
          <a:lstStyle/>
          <a:p>
            <a:pPr algn="l"/>
            <a:r>
              <a:rPr sz="1000" b="0" i="0">
                <a:solidFill>
                  <a:srgbClr val="CFC9EE"/>
                </a:solidFill>
                <a:latin typeface="Calibri"/>
              </a:rPr>
              <a:t>No window at all</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45" name="Oval 4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47" name="Oval 4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49" name="Oval 48"/>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51" name="Oval 5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56 / 86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rings members whose spend is slipping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for the flag, what does it measure, and what does a wrong flag cost?</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hone_7ed97f81441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marketing lead</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member team rings each flagged member with a retention offer.</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endar_52de2a000930.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Monthly spend</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A member's booked revenue in one calendar month, April to September 2026.</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FLAG COSTS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A loyal member accused</a:t>
            </a:r>
          </a:p>
        </p:txBody>
      </p:sp>
      <p:sp>
        <p:nvSpPr>
          <p:cNvPr id="26" name="TextBox 25"/>
          <p:cNvSpPr txBox="1"/>
          <p:nvPr/>
        </p:nvSpPr>
        <p:spPr>
          <a:xfrm>
            <a:off x="8274100" y="3303524"/>
            <a:ext cx="3186074" cy="218186"/>
          </a:xfrm>
          <a:prstGeom prst="rect">
            <a:avLst/>
          </a:prstGeom>
          <a:noFill/>
        </p:spPr>
        <p:txBody>
          <a:bodyPr wrap="square" anchor="t" lIns="0" rIns="0" tIns="0" bIns="0">
            <a:spAutoFit/>
          </a:bodyPr>
          <a:lstStyle/>
          <a:p>
            <a:pPr algn="l"/>
            <a:r>
              <a:rPr sz="1100" b="0" i="0">
                <a:solidFill>
                  <a:srgbClr val="CFC9EE"/>
                </a:solidFill>
                <a:latin typeface="Calibri"/>
              </a:rPr>
              <a:t>Or a member who drifts with nobody ringing.</a:t>
            </a:r>
          </a:p>
        </p:txBody>
      </p:sp>
      <p:sp>
        <p:nvSpPr>
          <p:cNvPr id="27" name="Rounded Rectangle 26"/>
          <p:cNvSpPr/>
          <p:nvPr/>
        </p:nvSpPr>
        <p:spPr>
          <a:xfrm>
            <a:off x="530352" y="4104132"/>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30682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essage-square_028dbd132a0a.png"/>
          <p:cNvPicPr>
            <a:picLocks noChangeAspect="1"/>
          </p:cNvPicPr>
          <p:nvPr/>
        </p:nvPicPr>
        <p:blipFill>
          <a:blip r:embed="rId7"/>
          <a:stretch>
            <a:fillRect/>
          </a:stretch>
        </p:blipFill>
        <p:spPr>
          <a:xfrm>
            <a:off x="868680" y="4416552"/>
            <a:ext cx="237744" cy="237744"/>
          </a:xfrm>
          <a:prstGeom prst="rect">
            <a:avLst/>
          </a:prstGeom>
        </p:spPr>
      </p:pic>
      <p:sp>
        <p:nvSpPr>
          <p:cNvPr id="30" name="TextBox 29"/>
          <p:cNvSpPr txBox="1"/>
          <p:nvPr/>
        </p:nvSpPr>
        <p:spPr>
          <a:xfrm>
            <a:off x="1399031" y="425043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1" name="TextBox 30"/>
          <p:cNvSpPr txBox="1"/>
          <p:nvPr/>
        </p:nvSpPr>
        <p:spPr>
          <a:xfrm>
            <a:off x="1399031" y="4469892"/>
            <a:ext cx="9987991" cy="423672"/>
          </a:xfrm>
          <a:prstGeom prst="rect">
            <a:avLst/>
          </a:prstGeom>
          <a:noFill/>
        </p:spPr>
        <p:txBody>
          <a:bodyPr wrap="square" anchor="t" lIns="0" rIns="0" tIns="0" bIns="0">
            <a:spAutoFit/>
          </a:bodyPr>
          <a:lstStyle/>
          <a:p>
            <a:r>
              <a:rPr sz="1500" b="0" i="0">
                <a:solidFill>
                  <a:srgbClr val="FFFFFF"/>
                </a:solidFill>
                <a:latin typeface="Calibri"/>
              </a:rPr>
              <a:t>"Flag anyone whose monthly spend has fallen for two months running."</a:t>
            </a:r>
          </a:p>
        </p:txBody>
      </p:sp>
      <p:sp>
        <p:nvSpPr>
          <p:cNvPr id="32" name="Oval 3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34" name="Oval 3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6" name="Oval 3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8" name="Oval 37"/>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40" name="Oval 3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57 / 86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Square judges each customer against their own past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company had to judge a customer against that customer's own earlier pattern?</a:t>
            </a:r>
          </a:p>
        </p:txBody>
      </p:sp>
      <p:pic>
        <p:nvPicPr>
          <p:cNvPr id="9" name="mermaid diagram" descr="19197e93eeec8a50.png"/>
          <p:cNvPicPr>
            <a:picLocks noChangeAspect="1"/>
          </p:cNvPicPr>
          <p:nvPr/>
        </p:nvPicPr>
        <p:blipFill>
          <a:blip r:embed="rId6"/>
          <a:stretch>
            <a:fillRect/>
          </a:stretch>
        </p:blipFill>
        <p:spPr>
          <a:xfrm>
            <a:off x="2931166" y="1956816"/>
            <a:ext cx="6329362" cy="1128712"/>
          </a:xfrm>
          <a:prstGeom prst="rect">
            <a:avLst/>
          </a:prstGeom>
        </p:spPr>
      </p:pic>
      <p:sp>
        <p:nvSpPr>
          <p:cNvPr id="10" name="Rounded Rectangle 9"/>
          <p:cNvSpPr/>
          <p:nvPr/>
        </p:nvSpPr>
        <p:spPr>
          <a:xfrm>
            <a:off x="530352" y="3231832"/>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56406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3673792"/>
            <a:ext cx="237744" cy="237744"/>
          </a:xfrm>
          <a:prstGeom prst="rect">
            <a:avLst/>
          </a:prstGeom>
        </p:spPr>
      </p:pic>
      <p:sp>
        <p:nvSpPr>
          <p:cNvPr id="13" name="TextBox 12"/>
          <p:cNvSpPr txBox="1"/>
          <p:nvPr/>
        </p:nvSpPr>
        <p:spPr>
          <a:xfrm>
            <a:off x="1399031" y="33781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3597592"/>
            <a:ext cx="9987991" cy="682752"/>
          </a:xfrm>
          <a:prstGeom prst="rect">
            <a:avLst/>
          </a:prstGeom>
          <a:noFill/>
        </p:spPr>
        <p:txBody>
          <a:bodyPr wrap="square" anchor="t" lIns="0" rIns="0" tIns="0" bIns="0">
            <a:spAutoFit/>
          </a:bodyPr>
          <a:lstStyle/>
          <a:p>
            <a:r>
              <a:rPr sz="1500" b="0" i="0">
                <a:solidFill>
                  <a:srgbClr val="1A1440"/>
                </a:solidFill>
                <a:latin typeface="Calibri"/>
              </a:rPr>
              <a:t>A drop means something only against the customer's own pattern, so the comparison has to stay inside each customer's history.</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1" name="Oval 20"/>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3" name="Oval 22"/>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58 / 86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LAG reads each member-month once: 752 rows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could the team set each month beside the month before, and what would each way cost?</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3538802"/>
                <a:gridCol w="4979637"/>
                <a:gridCol w="2612551"/>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How it reaches the month before</a:t>
                      </a:r>
                    </a:p>
                  </a:txBody>
                  <a:tcPr marL="101600" marR="101600" marT="38100" marB="38100" anchor="ctr">
                    <a:solidFill>
                      <a:srgbClr val="1A0F5C"/>
                    </a:solidFill>
                  </a:tcPr>
                </a:tc>
                <a:tc>
                  <a:txBody>
                    <a:bodyPr/>
                    <a:lstStyle/>
                    <a:p>
                      <a:r>
                        <a:rPr sz="1450" b="1" i="0">
                          <a:solidFill>
                            <a:srgbClr val="FFFFFF"/>
                          </a:solidFill>
                          <a:latin typeface="Calibri"/>
                        </a:rPr>
                        <a:t>Works through</a:t>
                      </a:r>
                    </a:p>
                  </a:txBody>
                  <a:tcPr marL="101600" marR="101600" marT="38100" marB="38100" anchor="ctr">
                    <a:solidFill>
                      <a:srgbClr val="1A0F5C"/>
                    </a:solidFill>
                  </a:tcPr>
                </a:tc>
              </a:tr>
              <a:tr h="369824">
                <a:tc>
                  <a:txBody>
                    <a:bodyPr/>
                    <a:lstStyle/>
                    <a:p>
                      <a:r>
                        <a:rPr sz="1400" b="0" i="0">
                          <a:solidFill>
                            <a:srgbClr val="1A1440"/>
                          </a:solidFill>
                          <a:latin typeface="Calibri"/>
                        </a:rPr>
                        <a:t>A. LAG in a window</a:t>
                      </a:r>
                    </a:p>
                  </a:txBody>
                  <a:tcPr marL="101600" marR="101600" marT="38100" marB="38100" anchor="ctr">
                    <a:solidFill>
                      <a:srgbClr val="FFFFFF"/>
                    </a:solidFill>
                  </a:tcPr>
                </a:tc>
                <a:tc>
                  <a:txBody>
                    <a:bodyPr/>
                    <a:lstStyle/>
                    <a:p>
                      <a:r>
                        <a:rPr sz="1400" b="0" i="0">
                          <a:solidFill>
                            <a:srgbClr val="1A1440"/>
                          </a:solidFill>
                          <a:latin typeface="Calibri"/>
                        </a:rPr>
                        <a:t>reads the row before, in the window's order</a:t>
                      </a:r>
                    </a:p>
                  </a:txBody>
                  <a:tcPr marL="101600" marR="101600" marT="38100" marB="38100" anchor="ctr">
                    <a:solidFill>
                      <a:srgbClr val="FFFFFF"/>
                    </a:solidFill>
                  </a:tcPr>
                </a:tc>
                <a:tc>
                  <a:txBody>
                    <a:bodyPr/>
                    <a:lstStyle/>
                    <a:p>
                      <a:r>
                        <a:rPr sz="1400" b="0" i="0">
                          <a:solidFill>
                            <a:srgbClr val="1A1440"/>
                          </a:solidFill>
                          <a:latin typeface="Calibri"/>
                        </a:rPr>
                        <a:t>752 member-months, once</a:t>
                      </a:r>
                    </a:p>
                  </a:txBody>
                  <a:tcPr marL="101600" marR="101600" marT="38100" marB="38100" anchor="ctr">
                    <a:solidFill>
                      <a:srgbClr val="FFFFFF"/>
                    </a:solidFill>
                  </a:tcPr>
                </a:tc>
              </a:tr>
              <a:tr h="369824">
                <a:tc>
                  <a:txBody>
                    <a:bodyPr/>
                    <a:lstStyle/>
                    <a:p>
                      <a:r>
                        <a:rPr sz="1400" b="0" i="0">
                          <a:solidFill>
                            <a:srgbClr val="1A1440"/>
                          </a:solidFill>
                          <a:latin typeface="Calibri"/>
                        </a:rPr>
                        <a:t>B. A self-join, twice</a:t>
                      </a:r>
                    </a:p>
                  </a:txBody>
                  <a:tcPr marL="101600" marR="101600" marT="38100" marB="38100" anchor="ctr">
                    <a:solidFill>
                      <a:srgbClr val="F4F2FA"/>
                    </a:solidFill>
                  </a:tcPr>
                </a:tc>
                <a:tc>
                  <a:txBody>
                    <a:bodyPr/>
                    <a:lstStyle/>
                    <a:p>
                      <a:r>
                        <a:rPr sz="1400" b="0" i="0">
                          <a:solidFill>
                            <a:srgbClr val="1A1440"/>
                          </a:solidFill>
                          <a:latin typeface="Calibri"/>
                        </a:rPr>
                        <a:t>joins each month to the member's months before</a:t>
                      </a:r>
                    </a:p>
                  </a:txBody>
                  <a:tcPr marL="101600" marR="101600" marT="38100" marB="38100" anchor="ctr">
                    <a:solidFill>
                      <a:srgbClr val="F4F2FA"/>
                    </a:solidFill>
                  </a:tcPr>
                </a:tc>
                <a:tc>
                  <a:txBody>
                    <a:bodyPr/>
                    <a:lstStyle/>
                    <a:p>
                      <a:r>
                        <a:rPr sz="1400" b="0" i="0">
                          <a:solidFill>
                            <a:srgbClr val="1A1440"/>
                          </a:solidFill>
                          <a:latin typeface="Calibri"/>
                        </a:rPr>
                        <a:t>1,504 lookups</a:t>
                      </a:r>
                    </a:p>
                  </a:txBody>
                  <a:tcPr marL="101600" marR="101600" marT="38100" marB="38100" anchor="ctr">
                    <a:solidFill>
                      <a:srgbClr val="F4F2FA"/>
                    </a:solidFill>
                  </a:tcPr>
                </a:tc>
              </a:tr>
              <a:tr h="369824">
                <a:tc>
                  <a:txBody>
                    <a:bodyPr/>
                    <a:lstStyle/>
                    <a:p>
                      <a:r>
                        <a:rPr sz="1400" b="0" i="0">
                          <a:solidFill>
                            <a:srgbClr val="1A1440"/>
                          </a:solidFill>
                          <a:latin typeface="Calibri"/>
                        </a:rPr>
                        <a:t>C. A lookup per row</a:t>
                      </a:r>
                    </a:p>
                  </a:txBody>
                  <a:tcPr marL="101600" marR="101600" marT="38100" marB="38100" anchor="ctr">
                    <a:solidFill>
                      <a:srgbClr val="FFFFFF"/>
                    </a:solidFill>
                  </a:tcPr>
                </a:tc>
                <a:tc>
                  <a:txBody>
                    <a:bodyPr/>
                    <a:lstStyle/>
                    <a:p>
                      <a:r>
                        <a:rPr sz="1400" b="0" i="0">
                          <a:solidFill>
                            <a:srgbClr val="1A1440"/>
                          </a:solidFill>
                          <a:latin typeface="Calibri"/>
                        </a:rPr>
                        <a:t>a correlated subquery, twice per row</a:t>
                      </a:r>
                    </a:p>
                  </a:txBody>
                  <a:tcPr marL="101600" marR="101600" marT="38100" marB="38100" anchor="ctr">
                    <a:solidFill>
                      <a:srgbClr val="FFFFFF"/>
                    </a:solidFill>
                  </a:tcPr>
                </a:tc>
                <a:tc>
                  <a:txBody>
                    <a:bodyPr/>
                    <a:lstStyle/>
                    <a:p>
                      <a:r>
                        <a:rPr sz="1400" b="0" i="0">
                          <a:solidFill>
                            <a:srgbClr val="1A1440"/>
                          </a:solidFill>
                          <a:latin typeface="Calibri"/>
                        </a:rPr>
                        <a:t>1,504 lookups</a:t>
                      </a:r>
                    </a:p>
                  </a:txBody>
                  <a:tcPr marL="101600" marR="101600" marT="38100" marB="38100" anchor="ctr">
                    <a:solidFill>
                      <a:srgbClr val="FFFFFF"/>
                    </a:solidFill>
                  </a:tcPr>
                </a:tc>
              </a:tr>
              <a:tr h="369824">
                <a:tc>
                  <a:txBody>
                    <a:bodyPr/>
                    <a:lstStyle/>
                    <a:p>
                      <a:r>
                        <a:rPr sz="1400" b="0" i="0">
                          <a:solidFill>
                            <a:srgbClr val="1A1440"/>
                          </a:solidFill>
                          <a:latin typeface="Calibri"/>
                        </a:rPr>
                        <a:t>D. Months as spreadsheet columns</a:t>
                      </a:r>
                    </a:p>
                  </a:txBody>
                  <a:tcPr marL="101600" marR="101600" marT="38100" marB="38100" anchor="ctr">
                    <a:solidFill>
                      <a:srgbClr val="F4F2FA"/>
                    </a:solidFill>
                  </a:tcPr>
                </a:tc>
                <a:tc>
                  <a:txBody>
                    <a:bodyPr/>
                    <a:lstStyle/>
                    <a:p>
                      <a:r>
                        <a:rPr sz="1400" b="0" i="0">
                          <a:solidFill>
                            <a:srgbClr val="1A1440"/>
                          </a:solidFill>
                          <a:latin typeface="Calibri"/>
                        </a:rPr>
                        <a:t>a person reads across each row</a:t>
                      </a:r>
                    </a:p>
                  </a:txBody>
                  <a:tcPr marL="101600" marR="101600" marT="38100" marB="38100" anchor="ctr">
                    <a:solidFill>
                      <a:srgbClr val="F4F2FA"/>
                    </a:solidFill>
                  </a:tcPr>
                </a:tc>
                <a:tc>
                  <a:txBody>
                    <a:bodyPr/>
                    <a:lstStyle/>
                    <a:p>
                      <a:r>
                        <a:rPr sz="1400" b="0" i="0">
                          <a:solidFill>
                            <a:srgbClr val="1A1440"/>
                          </a:solidFill>
                          <a:latin typeface="Calibri"/>
                        </a:rPr>
                        <a:t>1,806 cells</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A: one pass, and lag(spend, 2) reaches two months back in the same statement. What would switch it: a database with no window functions, such as MySQL before 8.0, which leaves a lookup per row, option C.</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59 / 86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752 member-months, and LAG reads the row before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each member spend in each month?</a:t>
            </a:r>
          </a:p>
        </p:txBody>
      </p:sp>
      <p:pic>
        <p:nvPicPr>
          <p:cNvPr id="9" name="mermaid diagram" descr="b7691e8347d8aece.png"/>
          <p:cNvPicPr>
            <a:picLocks noChangeAspect="1"/>
          </p:cNvPicPr>
          <p:nvPr/>
        </p:nvPicPr>
        <p:blipFill>
          <a:blip r:embed="rId5"/>
          <a:stretch>
            <a:fillRect/>
          </a:stretch>
        </p:blipFill>
        <p:spPr>
          <a:xfrm>
            <a:off x="2245366" y="1956816"/>
            <a:ext cx="7700962" cy="1128712"/>
          </a:xfrm>
          <a:prstGeom prst="rect">
            <a:avLst/>
          </a:prstGeom>
        </p:spPr>
      </p:pic>
      <p:sp>
        <p:nvSpPr>
          <p:cNvPr id="10" name="TextBox 9"/>
          <p:cNvSpPr txBox="1"/>
          <p:nvPr/>
        </p:nvSpPr>
        <p:spPr>
          <a:xfrm>
            <a:off x="530352" y="3231832"/>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monthly table holds one row per member per month with an order: 752 member-months for 301 members, 118 of them with a September order. lag(spend, 1) OVER (PARTITION BY customer_id ORDER BY month) reads the previous row inside the member's own months, and lag(spend, 2) two rows back. LEAD reads the next row the same way; nothing today needs 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5" name="Oval 14"/>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7" name="Oval 16"/>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19" name="Oval 18"/>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S53  ·  60 / 86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does LAG show on the first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LAG put beside one member's months?</a:t>
            </a:r>
          </a:p>
        </p:txBody>
      </p:sp>
      <p:graphicFrame>
        <p:nvGraphicFramePr>
          <p:cNvPr id="9" name="Table 8"/>
          <p:cNvGraphicFramePr>
            <a:graphicFrameLocks noGrp="1"/>
          </p:cNvGraphicFramePr>
          <p:nvPr/>
        </p:nvGraphicFramePr>
        <p:xfrm>
          <a:off x="530352" y="1956816"/>
          <a:ext cx="11130991" cy="670560"/>
        </p:xfrm>
        <a:graphic>
          <a:graphicData uri="http://schemas.openxmlformats.org/drawingml/2006/table">
            <a:tbl>
              <a:tblPr firstRow="0" bandRow="0">
                <a:tableStyleId>{2D5ABB26-0587-4C30-8999-92F81FD0307C}</a:tableStyleId>
              </a:tblPr>
              <a:tblGrid>
                <a:gridCol w="5644591"/>
                <a:gridCol w="914400"/>
                <a:gridCol w="914400"/>
                <a:gridCol w="914400"/>
                <a:gridCol w="914400"/>
                <a:gridCol w="914400"/>
                <a:gridCol w="914400"/>
              </a:tblGrid>
              <a:tr h="335280">
                <a:tc>
                  <a:txBody>
                    <a:bodyPr/>
                    <a:lstStyle/>
                    <a:p>
                      <a:r>
                        <a:rPr sz="1250" b="1" i="0">
                          <a:solidFill>
                            <a:srgbClr val="FFFFFF"/>
                          </a:solidFill>
                          <a:latin typeface="Calibri"/>
                        </a:rPr>
                        <a:t>Month</a:t>
                      </a:r>
                    </a:p>
                  </a:txBody>
                  <a:tcPr marL="101600" marR="101600" marT="38100" marB="38100" anchor="ctr">
                    <a:solidFill>
                      <a:srgbClr val="1A0F5C"/>
                    </a:solidFill>
                  </a:tcPr>
                </a:tc>
                <a:tc>
                  <a:txBody>
                    <a:bodyPr/>
                    <a:lstStyle/>
                    <a:p>
                      <a:r>
                        <a:rPr sz="1250" b="1" i="0">
                          <a:solidFill>
                            <a:srgbClr val="FFFFFF"/>
                          </a:solidFill>
                          <a:latin typeface="Calibri"/>
                        </a:rPr>
                        <a:t>Apr</a:t>
                      </a:r>
                    </a:p>
                  </a:txBody>
                  <a:tcPr marL="101600" marR="101600" marT="38100" marB="38100" anchor="ctr">
                    <a:solidFill>
                      <a:srgbClr val="1A0F5C"/>
                    </a:solidFill>
                  </a:tcPr>
                </a:tc>
                <a:tc>
                  <a:txBody>
                    <a:bodyPr/>
                    <a:lstStyle/>
                    <a:p>
                      <a:r>
                        <a:rPr sz="1250" b="1" i="0">
                          <a:solidFill>
                            <a:srgbClr val="FFFFFF"/>
                          </a:solidFill>
                          <a:latin typeface="Calibri"/>
                        </a:rPr>
                        <a:t>May</a:t>
                      </a:r>
                    </a:p>
                  </a:txBody>
                  <a:tcPr marL="101600" marR="101600" marT="38100" marB="38100" anchor="ctr">
                    <a:solidFill>
                      <a:srgbClr val="1A0F5C"/>
                    </a:solidFill>
                  </a:tcPr>
                </a:tc>
                <a:tc>
                  <a:txBody>
                    <a:bodyPr/>
                    <a:lstStyle/>
                    <a:p>
                      <a:r>
                        <a:rPr sz="1250" b="1" i="0">
                          <a:solidFill>
                            <a:srgbClr val="FFFFFF"/>
                          </a:solidFill>
                          <a:latin typeface="Calibri"/>
                        </a:rPr>
                        <a:t>Jun</a:t>
                      </a:r>
                    </a:p>
                  </a:txBody>
                  <a:tcPr marL="101600" marR="101600" marT="38100" marB="38100" anchor="ctr">
                    <a:solidFill>
                      <a:srgbClr val="1A0F5C"/>
                    </a:solidFill>
                  </a:tcPr>
                </a:tc>
                <a:tc>
                  <a:txBody>
                    <a:bodyPr/>
                    <a:lstStyle/>
                    <a:p>
                      <a:r>
                        <a:rPr sz="1250" b="1" i="0">
                          <a:solidFill>
                            <a:srgbClr val="FFFFFF"/>
                          </a:solidFill>
                          <a:latin typeface="Calibri"/>
                        </a:rPr>
                        <a:t>Jul</a:t>
                      </a:r>
                    </a:p>
                  </a:txBody>
                  <a:tcPr marL="101600" marR="101600" marT="38100" marB="38100" anchor="ctr">
                    <a:solidFill>
                      <a:srgbClr val="1A0F5C"/>
                    </a:solidFill>
                  </a:tcPr>
                </a:tc>
                <a:tc>
                  <a:txBody>
                    <a:bodyPr/>
                    <a:lstStyle/>
                    <a:p>
                      <a:r>
                        <a:rPr sz="1250" b="1" i="0">
                          <a:solidFill>
                            <a:srgbClr val="FFFFFF"/>
                          </a:solidFill>
                          <a:latin typeface="Calibri"/>
                        </a:rPr>
                        <a:t>Aug</a:t>
                      </a:r>
                    </a:p>
                  </a:txBody>
                  <a:tcPr marL="101600" marR="101600" marT="38100" marB="38100" anchor="ctr">
                    <a:solidFill>
                      <a:srgbClr val="1A0F5C"/>
                    </a:solidFill>
                  </a:tcPr>
                </a:tc>
                <a:tc>
                  <a:txBody>
                    <a:bodyPr/>
                    <a:lstStyle/>
                    <a:p>
                      <a:r>
                        <a:rPr sz="1250" b="1" i="0">
                          <a:solidFill>
                            <a:srgbClr val="FFFFFF"/>
                          </a:solidFill>
                          <a:latin typeface="Calibri"/>
                        </a:rPr>
                        <a:t>Sep</a:t>
                      </a:r>
                    </a:p>
                  </a:txBody>
                  <a:tcPr marL="101600" marR="101600" marT="38100" marB="38100" anchor="ctr">
                    <a:solidFill>
                      <a:srgbClr val="1A0F5C"/>
                    </a:solidFill>
                  </a:tcPr>
                </a:tc>
              </a:tr>
              <a:tr h="335280">
                <a:tc>
                  <a:txBody>
                    <a:bodyPr/>
                    <a:lstStyle/>
                    <a:p>
                      <a:r>
                        <a:rPr sz="1200" b="0" i="0">
                          <a:solidFill>
                            <a:srgbClr val="1A1440"/>
                          </a:solidFill>
                          <a:latin typeface="Calibri"/>
                        </a:rPr>
                        <a:t>C-0040, Rs</a:t>
                      </a:r>
                    </a:p>
                  </a:txBody>
                  <a:tcPr marL="101600" marR="101600" marT="38100" marB="38100" anchor="ctr">
                    <a:solidFill>
                      <a:srgbClr val="FFFFFF"/>
                    </a:solidFill>
                  </a:tcPr>
                </a:tc>
                <a:tc>
                  <a:txBody>
                    <a:bodyPr/>
                    <a:lstStyle/>
                    <a:p>
                      <a:r>
                        <a:rPr sz="1200" b="0" i="0">
                          <a:solidFill>
                            <a:srgbClr val="1A1440"/>
                          </a:solidFill>
                          <a:latin typeface="Calibri"/>
                        </a:rPr>
                        <a:t>7,980</a:t>
                      </a:r>
                    </a:p>
                  </a:txBody>
                  <a:tcPr marL="101600" marR="101600" marT="38100" marB="38100" anchor="ctr">
                    <a:solidFill>
                      <a:srgbClr val="FFFFFF"/>
                    </a:solidFill>
                  </a:tcPr>
                </a:tc>
                <a:tc>
                  <a:txBody>
                    <a:bodyPr/>
                    <a:lstStyle/>
                    <a:p>
                      <a:r>
                        <a:rPr sz="1200" b="0" i="0">
                          <a:solidFill>
                            <a:srgbClr val="1A1440"/>
                          </a:solidFill>
                          <a:latin typeface="Calibri"/>
                        </a:rPr>
                        <a:t>3,170</a:t>
                      </a:r>
                    </a:p>
                  </a:txBody>
                  <a:tcPr marL="101600" marR="101600" marT="38100" marB="38100" anchor="ctr">
                    <a:solidFill>
                      <a:srgbClr val="FFFFFF"/>
                    </a:solidFill>
                  </a:tcPr>
                </a:tc>
                <a:tc>
                  <a:txBody>
                    <a:bodyPr/>
                    <a:lstStyle/>
                    <a:p>
                      <a:r>
                        <a:rPr sz="1200" b="0" i="0">
                          <a:solidFill>
                            <a:srgbClr val="1A1440"/>
                          </a:solidFill>
                          <a:latin typeface="Calibri"/>
                        </a:rPr>
                        <a:t>1,320</a:t>
                      </a:r>
                    </a:p>
                  </a:txBody>
                  <a:tcPr marL="101600" marR="101600" marT="38100" marB="38100" anchor="ctr">
                    <a:solidFill>
                      <a:srgbClr val="FFFFFF"/>
                    </a:solidFill>
                  </a:tcPr>
                </a:tc>
                <a:tc>
                  <a:txBody>
                    <a:bodyPr/>
                    <a:lstStyle/>
                    <a:p>
                      <a:r>
                        <a:rPr sz="1200" b="0" i="0">
                          <a:solidFill>
                            <a:srgbClr val="1A1440"/>
                          </a:solidFill>
                          <a:latin typeface="Calibri"/>
                        </a:rPr>
                        <a:t>4,260</a:t>
                      </a:r>
                    </a:p>
                  </a:txBody>
                  <a:tcPr marL="101600" marR="101600" marT="38100" marB="38100" anchor="ctr">
                    <a:solidFill>
                      <a:srgbClr val="FFFFFF"/>
                    </a:solidFill>
                  </a:tcPr>
                </a:tc>
                <a:tc>
                  <a:txBody>
                    <a:bodyPr/>
                    <a:lstStyle/>
                    <a:p>
                      <a:r>
                        <a:rPr sz="1200" b="0" i="0">
                          <a:solidFill>
                            <a:srgbClr val="1A1440"/>
                          </a:solidFill>
                          <a:latin typeface="Calibri"/>
                        </a:rPr>
                        <a:t>4,770</a:t>
                      </a:r>
                    </a:p>
                  </a:txBody>
                  <a:tcPr marL="101600" marR="101600" marT="38100" marB="38100" anchor="ctr">
                    <a:solidFill>
                      <a:srgbClr val="FFFFFF"/>
                    </a:solidFill>
                  </a:tcPr>
                </a:tc>
                <a:tc>
                  <a:txBody>
                    <a:bodyPr/>
                    <a:lstStyle/>
                    <a:p>
                      <a:r>
                        <a:rPr sz="1200" b="0" i="0">
                          <a:solidFill>
                            <a:srgbClr val="1A1440"/>
                          </a:solidFill>
                          <a:latin typeface="Calibri"/>
                        </a:rPr>
                        <a:t>4,520</a:t>
                      </a:r>
                    </a:p>
                  </a:txBody>
                  <a:tcPr marL="101600" marR="101600" marT="38100" marB="38100" anchor="ctr">
                    <a:solidFill>
                      <a:srgbClr val="FFFFFF"/>
                    </a:solidFill>
                  </a:tcPr>
                </a:tc>
              </a:tr>
            </a:tbl>
          </a:graphicData>
        </a:graphic>
      </p:graphicFrame>
      <p:sp>
        <p:nvSpPr>
          <p:cNvPr id="10" name="Rounded Rectangle 9"/>
          <p:cNvSpPr/>
          <p:nvPr/>
        </p:nvSpPr>
        <p:spPr>
          <a:xfrm>
            <a:off x="530352" y="288340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01142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02280"/>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What does lag(spend, 1) show on C-0040's first month, April, as a letter? a) 0; b) NULL, since no row comes before it; c) September's spend; d) April's own spend.</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S54  ·  61 / 86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NULL, and June fell twice running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LAG put beside one member's months?</a:t>
            </a:r>
          </a:p>
        </p:txBody>
      </p:sp>
      <p:graphicFrame>
        <p:nvGraphicFramePr>
          <p:cNvPr id="9" name="Table 8"/>
          <p:cNvGraphicFramePr>
            <a:graphicFrameLocks noGrp="1"/>
          </p:cNvGraphicFramePr>
          <p:nvPr/>
        </p:nvGraphicFramePr>
        <p:xfrm>
          <a:off x="530352" y="1956816"/>
          <a:ext cx="11130988" cy="2346960"/>
        </p:xfrm>
        <a:graphic>
          <a:graphicData uri="http://schemas.openxmlformats.org/drawingml/2006/table">
            <a:tbl>
              <a:tblPr firstRow="0" bandRow="0">
                <a:tableStyleId>{2D5ABB26-0587-4C30-8999-92F81FD0307C}</a:tableStyleId>
              </a:tblPr>
              <a:tblGrid>
                <a:gridCol w="2782747"/>
                <a:gridCol w="2782747"/>
                <a:gridCol w="2782747"/>
                <a:gridCol w="2782747"/>
              </a:tblGrid>
              <a:tr h="335280">
                <a:tc>
                  <a:txBody>
                    <a:bodyPr/>
                    <a:lstStyle/>
                    <a:p>
                      <a:r>
                        <a:rPr sz="1250" b="1" i="0">
                          <a:solidFill>
                            <a:srgbClr val="FFFFFF"/>
                          </a:solidFill>
                          <a:latin typeface="Calibri"/>
                        </a:rPr>
                        <a:t>Month</a:t>
                      </a:r>
                    </a:p>
                  </a:txBody>
                  <a:tcPr marL="101600" marR="101600" marT="38100" marB="38100" anchor="ctr">
                    <a:solidFill>
                      <a:srgbClr val="1A0F5C"/>
                    </a:solidFill>
                  </a:tcPr>
                </a:tc>
                <a:tc>
                  <a:txBody>
                    <a:bodyPr/>
                    <a:lstStyle/>
                    <a:p>
                      <a:r>
                        <a:rPr sz="1250" b="1" i="0">
                          <a:solidFill>
                            <a:srgbClr val="FFFFFF"/>
                          </a:solidFill>
                          <a:latin typeface="Calibri"/>
                        </a:rPr>
                        <a:t>Spend</a:t>
                      </a:r>
                    </a:p>
                  </a:txBody>
                  <a:tcPr marL="101600" marR="101600" marT="38100" marB="38100" anchor="ctr">
                    <a:solidFill>
                      <a:srgbClr val="1A0F5C"/>
                    </a:solidFill>
                  </a:tcPr>
                </a:tc>
                <a:tc>
                  <a:txBody>
                    <a:bodyPr/>
                    <a:lstStyle/>
                    <a:p>
                      <a:r>
                        <a:rPr sz="1250" b="1" i="0">
                          <a:solidFill>
                            <a:srgbClr val="FFFFFF"/>
                          </a:solidFill>
                          <a:latin typeface="Calibri"/>
                        </a:rPr>
                        <a:t>lag 1</a:t>
                      </a:r>
                    </a:p>
                  </a:txBody>
                  <a:tcPr marL="101600" marR="101600" marT="38100" marB="38100" anchor="ctr">
                    <a:solidFill>
                      <a:srgbClr val="1A0F5C"/>
                    </a:solidFill>
                  </a:tcPr>
                </a:tc>
                <a:tc>
                  <a:txBody>
                    <a:bodyPr/>
                    <a:lstStyle/>
                    <a:p>
                      <a:r>
                        <a:rPr sz="1250" b="1" i="0">
                          <a:solidFill>
                            <a:srgbClr val="FFFFFF"/>
                          </a:solidFill>
                          <a:latin typeface="Calibri"/>
                        </a:rPr>
                        <a:t>lag 2</a:t>
                      </a:r>
                    </a:p>
                  </a:txBody>
                  <a:tcPr marL="101600" marR="101600" marT="38100" marB="38100" anchor="ctr">
                    <a:solidFill>
                      <a:srgbClr val="1A0F5C"/>
                    </a:solidFill>
                  </a:tcPr>
                </a:tc>
              </a:tr>
              <a:tr h="335280">
                <a:tc>
                  <a:txBody>
                    <a:bodyPr/>
                    <a:lstStyle/>
                    <a:p>
                      <a:r>
                        <a:rPr sz="1200" b="0" i="0">
                          <a:solidFill>
                            <a:srgbClr val="1A1440"/>
                          </a:solidFill>
                          <a:latin typeface="Calibri"/>
                        </a:rPr>
                        <a:t>Apr</a:t>
                      </a:r>
                    </a:p>
                  </a:txBody>
                  <a:tcPr marL="101600" marR="101600" marT="38100" marB="38100" anchor="ctr">
                    <a:solidFill>
                      <a:srgbClr val="FFFFFF"/>
                    </a:solidFill>
                  </a:tcPr>
                </a:tc>
                <a:tc>
                  <a:txBody>
                    <a:bodyPr/>
                    <a:lstStyle/>
                    <a:p>
                      <a:r>
                        <a:rPr sz="1200" b="0" i="0">
                          <a:solidFill>
                            <a:srgbClr val="1A1440"/>
                          </a:solidFill>
                          <a:latin typeface="Calibri"/>
                        </a:rPr>
                        <a:t>Rs 7,980</a:t>
                      </a:r>
                    </a:p>
                  </a:txBody>
                  <a:tcPr marL="101600" marR="101600" marT="38100" marB="38100" anchor="ctr">
                    <a:solidFill>
                      <a:srgbClr val="FFFFFF"/>
                    </a:solidFill>
                  </a:tcPr>
                </a:tc>
                <a:tc>
                  <a:txBody>
                    <a:bodyPr/>
                    <a:lstStyle/>
                    <a:p>
                      <a:r>
                        <a:rPr sz="1200" b="0" i="0">
                          <a:solidFill>
                            <a:srgbClr val="1A1440"/>
                          </a:solidFill>
                          <a:latin typeface="Calibri"/>
                        </a:rPr>
                        <a:t>NULL</a:t>
                      </a:r>
                    </a:p>
                  </a:txBody>
                  <a:tcPr marL="101600" marR="101600" marT="38100" marB="38100" anchor="ctr">
                    <a:solidFill>
                      <a:srgbClr val="FFFFFF"/>
                    </a:solidFill>
                  </a:tcPr>
                </a:tc>
                <a:tc>
                  <a:txBody>
                    <a:bodyPr/>
                    <a:lstStyle/>
                    <a:p>
                      <a:r>
                        <a:rPr sz="1200" b="0" i="0">
                          <a:solidFill>
                            <a:srgbClr val="1A1440"/>
                          </a:solidFill>
                          <a:latin typeface="Calibri"/>
                        </a:rPr>
                        <a:t>NULL</a:t>
                      </a:r>
                    </a:p>
                  </a:txBody>
                  <a:tcPr marL="101600" marR="101600" marT="38100" marB="38100" anchor="ctr">
                    <a:solidFill>
                      <a:srgbClr val="FFFFFF"/>
                    </a:solidFill>
                  </a:tcPr>
                </a:tc>
              </a:tr>
              <a:tr h="335280">
                <a:tc>
                  <a:txBody>
                    <a:bodyPr/>
                    <a:lstStyle/>
                    <a:p>
                      <a:r>
                        <a:rPr sz="1200" b="0" i="0">
                          <a:solidFill>
                            <a:srgbClr val="1A1440"/>
                          </a:solidFill>
                          <a:latin typeface="Calibri"/>
                        </a:rPr>
                        <a:t>May</a:t>
                      </a:r>
                    </a:p>
                  </a:txBody>
                  <a:tcPr marL="101600" marR="101600" marT="38100" marB="38100" anchor="ctr">
                    <a:solidFill>
                      <a:srgbClr val="F4F2FA"/>
                    </a:solidFill>
                  </a:tcPr>
                </a:tc>
                <a:tc>
                  <a:txBody>
                    <a:bodyPr/>
                    <a:lstStyle/>
                    <a:p>
                      <a:r>
                        <a:rPr sz="1200" b="0" i="0">
                          <a:solidFill>
                            <a:srgbClr val="1A1440"/>
                          </a:solidFill>
                          <a:latin typeface="Calibri"/>
                        </a:rPr>
                        <a:t>Rs 3,170</a:t>
                      </a:r>
                    </a:p>
                  </a:txBody>
                  <a:tcPr marL="101600" marR="101600" marT="38100" marB="38100" anchor="ctr">
                    <a:solidFill>
                      <a:srgbClr val="F4F2FA"/>
                    </a:solidFill>
                  </a:tcPr>
                </a:tc>
                <a:tc>
                  <a:txBody>
                    <a:bodyPr/>
                    <a:lstStyle/>
                    <a:p>
                      <a:r>
                        <a:rPr sz="1200" b="0" i="0">
                          <a:solidFill>
                            <a:srgbClr val="1A1440"/>
                          </a:solidFill>
                          <a:latin typeface="Calibri"/>
                        </a:rPr>
                        <a:t>Rs 7,980</a:t>
                      </a:r>
                    </a:p>
                  </a:txBody>
                  <a:tcPr marL="101600" marR="101600" marT="38100" marB="38100" anchor="ctr">
                    <a:solidFill>
                      <a:srgbClr val="F4F2FA"/>
                    </a:solidFill>
                  </a:tcPr>
                </a:tc>
                <a:tc>
                  <a:txBody>
                    <a:bodyPr/>
                    <a:lstStyle/>
                    <a:p>
                      <a:r>
                        <a:rPr sz="1200" b="0" i="0">
                          <a:solidFill>
                            <a:srgbClr val="1A1440"/>
                          </a:solidFill>
                          <a:latin typeface="Calibri"/>
                        </a:rPr>
                        <a:t>NULL</a:t>
                      </a:r>
                    </a:p>
                  </a:txBody>
                  <a:tcPr marL="101600" marR="101600" marT="38100" marB="38100" anchor="ctr">
                    <a:solidFill>
                      <a:srgbClr val="F4F2FA"/>
                    </a:solidFill>
                  </a:tcPr>
                </a:tc>
              </a:tr>
              <a:tr h="335280">
                <a:tc>
                  <a:txBody>
                    <a:bodyPr/>
                    <a:lstStyle/>
                    <a:p>
                      <a:r>
                        <a:rPr sz="1200" b="0" i="0">
                          <a:solidFill>
                            <a:srgbClr val="1A1440"/>
                          </a:solidFill>
                          <a:latin typeface="Calibri"/>
                        </a:rPr>
                        <a:t>Jun</a:t>
                      </a:r>
                    </a:p>
                  </a:txBody>
                  <a:tcPr marL="101600" marR="101600" marT="38100" marB="38100" anchor="ctr">
                    <a:solidFill>
                      <a:srgbClr val="FFFFFF"/>
                    </a:solidFill>
                  </a:tcPr>
                </a:tc>
                <a:tc>
                  <a:txBody>
                    <a:bodyPr/>
                    <a:lstStyle/>
                    <a:p>
                      <a:r>
                        <a:rPr sz="1200" b="0" i="0">
                          <a:solidFill>
                            <a:srgbClr val="1A1440"/>
                          </a:solidFill>
                          <a:latin typeface="Calibri"/>
                        </a:rPr>
                        <a:t>Rs 1,320</a:t>
                      </a:r>
                    </a:p>
                  </a:txBody>
                  <a:tcPr marL="101600" marR="101600" marT="38100" marB="38100" anchor="ctr">
                    <a:solidFill>
                      <a:srgbClr val="FFFFFF"/>
                    </a:solidFill>
                  </a:tcPr>
                </a:tc>
                <a:tc>
                  <a:txBody>
                    <a:bodyPr/>
                    <a:lstStyle/>
                    <a:p>
                      <a:r>
                        <a:rPr sz="1200" b="0" i="0">
                          <a:solidFill>
                            <a:srgbClr val="1A1440"/>
                          </a:solidFill>
                          <a:latin typeface="Calibri"/>
                        </a:rPr>
                        <a:t>Rs 3,170</a:t>
                      </a:r>
                    </a:p>
                  </a:txBody>
                  <a:tcPr marL="101600" marR="101600" marT="38100" marB="38100" anchor="ctr">
                    <a:solidFill>
                      <a:srgbClr val="FFFFFF"/>
                    </a:solidFill>
                  </a:tcPr>
                </a:tc>
                <a:tc>
                  <a:txBody>
                    <a:bodyPr/>
                    <a:lstStyle/>
                    <a:p>
                      <a:r>
                        <a:rPr sz="1200" b="0" i="0">
                          <a:solidFill>
                            <a:srgbClr val="1A1440"/>
                          </a:solidFill>
                          <a:latin typeface="Calibri"/>
                        </a:rPr>
                        <a:t>Rs 7,980</a:t>
                      </a:r>
                    </a:p>
                  </a:txBody>
                  <a:tcPr marL="101600" marR="101600" marT="38100" marB="38100" anchor="ctr">
                    <a:solidFill>
                      <a:srgbClr val="FFFFFF"/>
                    </a:solidFill>
                  </a:tcPr>
                </a:tc>
              </a:tr>
              <a:tr h="335280">
                <a:tc>
                  <a:txBody>
                    <a:bodyPr/>
                    <a:lstStyle/>
                    <a:p>
                      <a:r>
                        <a:rPr sz="1200" b="0" i="0">
                          <a:solidFill>
                            <a:srgbClr val="1A1440"/>
                          </a:solidFill>
                          <a:latin typeface="Calibri"/>
                        </a:rPr>
                        <a:t>Jul</a:t>
                      </a:r>
                    </a:p>
                  </a:txBody>
                  <a:tcPr marL="101600" marR="101600" marT="38100" marB="38100" anchor="ctr">
                    <a:solidFill>
                      <a:srgbClr val="F4F2FA"/>
                    </a:solidFill>
                  </a:tcPr>
                </a:tc>
                <a:tc>
                  <a:txBody>
                    <a:bodyPr/>
                    <a:lstStyle/>
                    <a:p>
                      <a:r>
                        <a:rPr sz="1200" b="0" i="0">
                          <a:solidFill>
                            <a:srgbClr val="1A1440"/>
                          </a:solidFill>
                          <a:latin typeface="Calibri"/>
                        </a:rPr>
                        <a:t>Rs 4,260</a:t>
                      </a:r>
                    </a:p>
                  </a:txBody>
                  <a:tcPr marL="101600" marR="101600" marT="38100" marB="38100" anchor="ctr">
                    <a:solidFill>
                      <a:srgbClr val="F4F2FA"/>
                    </a:solidFill>
                  </a:tcPr>
                </a:tc>
                <a:tc>
                  <a:txBody>
                    <a:bodyPr/>
                    <a:lstStyle/>
                    <a:p>
                      <a:r>
                        <a:rPr sz="1200" b="0" i="0">
                          <a:solidFill>
                            <a:srgbClr val="1A1440"/>
                          </a:solidFill>
                          <a:latin typeface="Calibri"/>
                        </a:rPr>
                        <a:t>Rs 1,320</a:t>
                      </a:r>
                    </a:p>
                  </a:txBody>
                  <a:tcPr marL="101600" marR="101600" marT="38100" marB="38100" anchor="ctr">
                    <a:solidFill>
                      <a:srgbClr val="F4F2FA"/>
                    </a:solidFill>
                  </a:tcPr>
                </a:tc>
                <a:tc>
                  <a:txBody>
                    <a:bodyPr/>
                    <a:lstStyle/>
                    <a:p>
                      <a:r>
                        <a:rPr sz="1200" b="0" i="0">
                          <a:solidFill>
                            <a:srgbClr val="1A1440"/>
                          </a:solidFill>
                          <a:latin typeface="Calibri"/>
                        </a:rPr>
                        <a:t>Rs 3,170</a:t>
                      </a:r>
                    </a:p>
                  </a:txBody>
                  <a:tcPr marL="101600" marR="101600" marT="38100" marB="38100" anchor="ctr">
                    <a:solidFill>
                      <a:srgbClr val="F4F2FA"/>
                    </a:solidFill>
                  </a:tcPr>
                </a:tc>
              </a:tr>
              <a:tr h="335280">
                <a:tc>
                  <a:txBody>
                    <a:bodyPr/>
                    <a:lstStyle/>
                    <a:p>
                      <a:r>
                        <a:rPr sz="1200" b="0" i="0">
                          <a:solidFill>
                            <a:srgbClr val="1A1440"/>
                          </a:solidFill>
                          <a:latin typeface="Calibri"/>
                        </a:rPr>
                        <a:t>Aug</a:t>
                      </a:r>
                    </a:p>
                  </a:txBody>
                  <a:tcPr marL="101600" marR="101600" marT="38100" marB="38100" anchor="ctr">
                    <a:solidFill>
                      <a:srgbClr val="FFFFFF"/>
                    </a:solidFill>
                  </a:tcPr>
                </a:tc>
                <a:tc>
                  <a:txBody>
                    <a:bodyPr/>
                    <a:lstStyle/>
                    <a:p>
                      <a:r>
                        <a:rPr sz="1200" b="0" i="0">
                          <a:solidFill>
                            <a:srgbClr val="1A1440"/>
                          </a:solidFill>
                          <a:latin typeface="Calibri"/>
                        </a:rPr>
                        <a:t>Rs 4,770</a:t>
                      </a:r>
                    </a:p>
                  </a:txBody>
                  <a:tcPr marL="101600" marR="101600" marT="38100" marB="38100" anchor="ctr">
                    <a:solidFill>
                      <a:srgbClr val="FFFFFF"/>
                    </a:solidFill>
                  </a:tcPr>
                </a:tc>
                <a:tc>
                  <a:txBody>
                    <a:bodyPr/>
                    <a:lstStyle/>
                    <a:p>
                      <a:r>
                        <a:rPr sz="1200" b="0" i="0">
                          <a:solidFill>
                            <a:srgbClr val="1A1440"/>
                          </a:solidFill>
                          <a:latin typeface="Calibri"/>
                        </a:rPr>
                        <a:t>Rs 4,260</a:t>
                      </a:r>
                    </a:p>
                  </a:txBody>
                  <a:tcPr marL="101600" marR="101600" marT="38100" marB="38100" anchor="ctr">
                    <a:solidFill>
                      <a:srgbClr val="FFFFFF"/>
                    </a:solidFill>
                  </a:tcPr>
                </a:tc>
                <a:tc>
                  <a:txBody>
                    <a:bodyPr/>
                    <a:lstStyle/>
                    <a:p>
                      <a:r>
                        <a:rPr sz="1200" b="0" i="0">
                          <a:solidFill>
                            <a:srgbClr val="1A1440"/>
                          </a:solidFill>
                          <a:latin typeface="Calibri"/>
                        </a:rPr>
                        <a:t>Rs 1,320</a:t>
                      </a:r>
                    </a:p>
                  </a:txBody>
                  <a:tcPr marL="101600" marR="101600" marT="38100" marB="38100" anchor="ctr">
                    <a:solidFill>
                      <a:srgbClr val="FFFFFF"/>
                    </a:solidFill>
                  </a:tcPr>
                </a:tc>
              </a:tr>
              <a:tr h="335280">
                <a:tc>
                  <a:txBody>
                    <a:bodyPr/>
                    <a:lstStyle/>
                    <a:p>
                      <a:r>
                        <a:rPr sz="1200" b="0" i="0">
                          <a:solidFill>
                            <a:srgbClr val="1A1440"/>
                          </a:solidFill>
                          <a:latin typeface="Calibri"/>
                        </a:rPr>
                        <a:t>Sep</a:t>
                      </a:r>
                    </a:p>
                  </a:txBody>
                  <a:tcPr marL="101600" marR="101600" marT="38100" marB="38100" anchor="ctr">
                    <a:solidFill>
                      <a:srgbClr val="F4F2FA"/>
                    </a:solidFill>
                  </a:tcPr>
                </a:tc>
                <a:tc>
                  <a:txBody>
                    <a:bodyPr/>
                    <a:lstStyle/>
                    <a:p>
                      <a:r>
                        <a:rPr sz="1200" b="0" i="0">
                          <a:solidFill>
                            <a:srgbClr val="1A1440"/>
                          </a:solidFill>
                          <a:latin typeface="Calibri"/>
                        </a:rPr>
                        <a:t>Rs 4,520</a:t>
                      </a:r>
                    </a:p>
                  </a:txBody>
                  <a:tcPr marL="101600" marR="101600" marT="38100" marB="38100" anchor="ctr">
                    <a:solidFill>
                      <a:srgbClr val="F4F2FA"/>
                    </a:solidFill>
                  </a:tcPr>
                </a:tc>
                <a:tc>
                  <a:txBody>
                    <a:bodyPr/>
                    <a:lstStyle/>
                    <a:p>
                      <a:r>
                        <a:rPr sz="1200" b="0" i="0">
                          <a:solidFill>
                            <a:srgbClr val="1A1440"/>
                          </a:solidFill>
                          <a:latin typeface="Calibri"/>
                        </a:rPr>
                        <a:t>Rs 4,770</a:t>
                      </a:r>
                    </a:p>
                  </a:txBody>
                  <a:tcPr marL="101600" marR="101600" marT="38100" marB="38100" anchor="ctr">
                    <a:solidFill>
                      <a:srgbClr val="F4F2FA"/>
                    </a:solidFill>
                  </a:tcPr>
                </a:tc>
                <a:tc>
                  <a:txBody>
                    <a:bodyPr/>
                    <a:lstStyle/>
                    <a:p>
                      <a:r>
                        <a:rPr sz="1200" b="0" i="0">
                          <a:solidFill>
                            <a:srgbClr val="1A1440"/>
                          </a:solidFill>
                          <a:latin typeface="Calibri"/>
                        </a:rPr>
                        <a:t>Rs 4,260</a:t>
                      </a:r>
                    </a:p>
                  </a:txBody>
                  <a:tcPr marL="101600" marR="101600" marT="38100" marB="38100" anchor="ctr">
                    <a:solidFill>
                      <a:srgbClr val="F4F2FA"/>
                    </a:solidFill>
                  </a:tcPr>
                </a:tc>
              </a:tr>
            </a:tbl>
          </a:graphicData>
        </a:graphic>
      </p:graphicFrame>
      <p:sp>
        <p:nvSpPr>
          <p:cNvPr id="10" name="Rounded Rectangle 9"/>
          <p:cNvSpPr/>
          <p:nvPr/>
        </p:nvSpPr>
        <p:spPr>
          <a:xfrm>
            <a:off x="530352" y="455980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68782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678680"/>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June sits below May and May below April, so a flag read at June would fire. September is below August but August is above July, so the flag read at September does not fire for C-0040.</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  ·  62 / 86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LEAD reads the row after, NULL on the last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LEAD put beside the same member's months?</a:t>
            </a:r>
          </a:p>
        </p:txBody>
      </p:sp>
      <p:sp>
        <p:nvSpPr>
          <p:cNvPr id="9" name="TextBox 8"/>
          <p:cNvSpPr txBox="1"/>
          <p:nvPr/>
        </p:nvSpPr>
        <p:spPr>
          <a:xfrm>
            <a:off x="530352" y="1682496"/>
            <a:ext cx="5291175" cy="160121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lead(spend, 1) OVER (PARTITION BY customer_id ORDER BY month) reads the next row inside the member's own months, the mirror of LAG, and gives NULL where no row follows. C-0040 of Retail-Core bought in all six months:</a:t>
            </a:r>
          </a:p>
        </p:txBody>
      </p:sp>
      <p:graphicFrame>
        <p:nvGraphicFramePr>
          <p:cNvPr id="10" name="Table 9"/>
          <p:cNvGraphicFramePr>
            <a:graphicFrameLocks noGrp="1"/>
          </p:cNvGraphicFramePr>
          <p:nvPr/>
        </p:nvGraphicFramePr>
        <p:xfrm>
          <a:off x="530352" y="3411728"/>
          <a:ext cx="5291174" cy="1371600"/>
        </p:xfrm>
        <a:graphic>
          <a:graphicData uri="http://schemas.openxmlformats.org/drawingml/2006/table">
            <a:tbl>
              <a:tblPr firstRow="0" bandRow="0">
                <a:tableStyleId>{2D5ABB26-0587-4C30-8999-92F81FD0307C}</a:tableStyleId>
              </a:tblPr>
              <a:tblGrid>
                <a:gridCol w="755882"/>
                <a:gridCol w="755882"/>
                <a:gridCol w="755882"/>
                <a:gridCol w="755882"/>
                <a:gridCol w="755882"/>
                <a:gridCol w="755882"/>
                <a:gridCol w="755882"/>
              </a:tblGrid>
              <a:tr h="310896">
                <a:tc>
                  <a:txBody>
                    <a:bodyPr/>
                    <a:lstStyle/>
                    <a:p>
                      <a:r>
                        <a:rPr sz="950" b="1" i="0">
                          <a:solidFill>
                            <a:srgbClr val="FFFFFF"/>
                          </a:solidFill>
                          <a:latin typeface="Calibri"/>
                        </a:rPr>
                        <a:t>Month</a:t>
                      </a:r>
                    </a:p>
                  </a:txBody>
                  <a:tcPr marL="101600" marR="101600" marT="38100" marB="38100" anchor="ctr">
                    <a:solidFill>
                      <a:srgbClr val="1A0F5C"/>
                    </a:solidFill>
                  </a:tcPr>
                </a:tc>
                <a:tc>
                  <a:txBody>
                    <a:bodyPr/>
                    <a:lstStyle/>
                    <a:p>
                      <a:r>
                        <a:rPr sz="950" b="1" i="0">
                          <a:solidFill>
                            <a:srgbClr val="FFFFFF"/>
                          </a:solidFill>
                          <a:latin typeface="Calibri"/>
                        </a:rPr>
                        <a:t>Apr</a:t>
                      </a:r>
                    </a:p>
                  </a:txBody>
                  <a:tcPr marL="101600" marR="101600" marT="38100" marB="38100" anchor="ctr">
                    <a:solidFill>
                      <a:srgbClr val="1A0F5C"/>
                    </a:solidFill>
                  </a:tcPr>
                </a:tc>
                <a:tc>
                  <a:txBody>
                    <a:bodyPr/>
                    <a:lstStyle/>
                    <a:p>
                      <a:r>
                        <a:rPr sz="950" b="1" i="0">
                          <a:solidFill>
                            <a:srgbClr val="FFFFFF"/>
                          </a:solidFill>
                          <a:latin typeface="Calibri"/>
                        </a:rPr>
                        <a:t>May</a:t>
                      </a:r>
                    </a:p>
                  </a:txBody>
                  <a:tcPr marL="101600" marR="101600" marT="38100" marB="38100" anchor="ctr">
                    <a:solidFill>
                      <a:srgbClr val="1A0F5C"/>
                    </a:solidFill>
                  </a:tcPr>
                </a:tc>
                <a:tc>
                  <a:txBody>
                    <a:bodyPr/>
                    <a:lstStyle/>
                    <a:p>
                      <a:r>
                        <a:rPr sz="950" b="1" i="0">
                          <a:solidFill>
                            <a:srgbClr val="FFFFFF"/>
                          </a:solidFill>
                          <a:latin typeface="Calibri"/>
                        </a:rPr>
                        <a:t>Jun</a:t>
                      </a:r>
                    </a:p>
                  </a:txBody>
                  <a:tcPr marL="101600" marR="101600" marT="38100" marB="38100" anchor="ctr">
                    <a:solidFill>
                      <a:srgbClr val="1A0F5C"/>
                    </a:solidFill>
                  </a:tcPr>
                </a:tc>
                <a:tc>
                  <a:txBody>
                    <a:bodyPr/>
                    <a:lstStyle/>
                    <a:p>
                      <a:r>
                        <a:rPr sz="950" b="1" i="0">
                          <a:solidFill>
                            <a:srgbClr val="FFFFFF"/>
                          </a:solidFill>
                          <a:latin typeface="Calibri"/>
                        </a:rPr>
                        <a:t>Jul</a:t>
                      </a:r>
                    </a:p>
                  </a:txBody>
                  <a:tcPr marL="101600" marR="101600" marT="38100" marB="38100" anchor="ctr">
                    <a:solidFill>
                      <a:srgbClr val="1A0F5C"/>
                    </a:solidFill>
                  </a:tcPr>
                </a:tc>
                <a:tc>
                  <a:txBody>
                    <a:bodyPr/>
                    <a:lstStyle/>
                    <a:p>
                      <a:r>
                        <a:rPr sz="950" b="1" i="0">
                          <a:solidFill>
                            <a:srgbClr val="FFFFFF"/>
                          </a:solidFill>
                          <a:latin typeface="Calibri"/>
                        </a:rPr>
                        <a:t>Aug</a:t>
                      </a:r>
                    </a:p>
                  </a:txBody>
                  <a:tcPr marL="101600" marR="101600" marT="38100" marB="38100" anchor="ctr">
                    <a:solidFill>
                      <a:srgbClr val="1A0F5C"/>
                    </a:solidFill>
                  </a:tcPr>
                </a:tc>
                <a:tc>
                  <a:txBody>
                    <a:bodyPr/>
                    <a:lstStyle/>
                    <a:p>
                      <a:r>
                        <a:rPr sz="950" b="1" i="0">
                          <a:solidFill>
                            <a:srgbClr val="FFFFFF"/>
                          </a:solidFill>
                          <a:latin typeface="Calibri"/>
                        </a:rPr>
                        <a:t>Sep</a:t>
                      </a:r>
                    </a:p>
                  </a:txBody>
                  <a:tcPr marL="101600" marR="101600" marT="38100" marB="38100" anchor="ctr">
                    <a:solidFill>
                      <a:srgbClr val="1A0F5C"/>
                    </a:solidFill>
                  </a:tcPr>
                </a:tc>
              </a:tr>
              <a:tr h="310896">
                <a:tc>
                  <a:txBody>
                    <a:bodyPr/>
                    <a:lstStyle/>
                    <a:p>
                      <a:r>
                        <a:rPr sz="900" b="0" i="0">
                          <a:solidFill>
                            <a:srgbClr val="1A1440"/>
                          </a:solidFill>
                          <a:latin typeface="Calibri"/>
                        </a:rPr>
                        <a:t>Spend, Rs</a:t>
                      </a:r>
                    </a:p>
                  </a:txBody>
                  <a:tcPr marL="101600" marR="101600" marT="38100" marB="38100" anchor="ctr">
                    <a:solidFill>
                      <a:srgbClr val="FFFFFF"/>
                    </a:solidFill>
                  </a:tcPr>
                </a:tc>
                <a:tc>
                  <a:txBody>
                    <a:bodyPr/>
                    <a:lstStyle/>
                    <a:p>
                      <a:r>
                        <a:rPr sz="900" b="0" i="0">
                          <a:solidFill>
                            <a:srgbClr val="1A1440"/>
                          </a:solidFill>
                          <a:latin typeface="Calibri"/>
                        </a:rPr>
                        <a:t>7,980</a:t>
                      </a:r>
                    </a:p>
                  </a:txBody>
                  <a:tcPr marL="101600" marR="101600" marT="38100" marB="38100" anchor="ctr">
                    <a:solidFill>
                      <a:srgbClr val="FFFFFF"/>
                    </a:solidFill>
                  </a:tcPr>
                </a:tc>
                <a:tc>
                  <a:txBody>
                    <a:bodyPr/>
                    <a:lstStyle/>
                    <a:p>
                      <a:r>
                        <a:rPr sz="900" b="0" i="0">
                          <a:solidFill>
                            <a:srgbClr val="1A1440"/>
                          </a:solidFill>
                          <a:latin typeface="Calibri"/>
                        </a:rPr>
                        <a:t>3,170</a:t>
                      </a:r>
                    </a:p>
                  </a:txBody>
                  <a:tcPr marL="101600" marR="101600" marT="38100" marB="38100" anchor="ctr">
                    <a:solidFill>
                      <a:srgbClr val="FFFFFF"/>
                    </a:solidFill>
                  </a:tcPr>
                </a:tc>
                <a:tc>
                  <a:txBody>
                    <a:bodyPr/>
                    <a:lstStyle/>
                    <a:p>
                      <a:r>
                        <a:rPr sz="900" b="0" i="0">
                          <a:solidFill>
                            <a:srgbClr val="1A1440"/>
                          </a:solidFill>
                          <a:latin typeface="Calibri"/>
                        </a:rPr>
                        <a:t>1,320</a:t>
                      </a:r>
                    </a:p>
                  </a:txBody>
                  <a:tcPr marL="101600" marR="101600" marT="38100" marB="38100" anchor="ctr">
                    <a:solidFill>
                      <a:srgbClr val="FFFFFF"/>
                    </a:solidFill>
                  </a:tcPr>
                </a:tc>
                <a:tc>
                  <a:txBody>
                    <a:bodyPr/>
                    <a:lstStyle/>
                    <a:p>
                      <a:r>
                        <a:rPr sz="900" b="0" i="0">
                          <a:solidFill>
                            <a:srgbClr val="1A1440"/>
                          </a:solidFill>
                          <a:latin typeface="Calibri"/>
                        </a:rPr>
                        <a:t>4,260</a:t>
                      </a:r>
                    </a:p>
                  </a:txBody>
                  <a:tcPr marL="101600" marR="101600" marT="38100" marB="38100" anchor="ctr">
                    <a:solidFill>
                      <a:srgbClr val="FFFFFF"/>
                    </a:solidFill>
                  </a:tcPr>
                </a:tc>
                <a:tc>
                  <a:txBody>
                    <a:bodyPr/>
                    <a:lstStyle/>
                    <a:p>
                      <a:r>
                        <a:rPr sz="900" b="0" i="0">
                          <a:solidFill>
                            <a:srgbClr val="1A1440"/>
                          </a:solidFill>
                          <a:latin typeface="Calibri"/>
                        </a:rPr>
                        <a:t>4,770</a:t>
                      </a:r>
                    </a:p>
                  </a:txBody>
                  <a:tcPr marL="101600" marR="101600" marT="38100" marB="38100" anchor="ctr">
                    <a:solidFill>
                      <a:srgbClr val="FFFFFF"/>
                    </a:solidFill>
                  </a:tcPr>
                </a:tc>
                <a:tc>
                  <a:txBody>
                    <a:bodyPr/>
                    <a:lstStyle/>
                    <a:p>
                      <a:r>
                        <a:rPr sz="900" b="0" i="0">
                          <a:solidFill>
                            <a:srgbClr val="1A1440"/>
                          </a:solidFill>
                          <a:latin typeface="Calibri"/>
                        </a:rPr>
                        <a:t>4,520</a:t>
                      </a:r>
                    </a:p>
                  </a:txBody>
                  <a:tcPr marL="101600" marR="101600" marT="38100" marB="38100" anchor="ctr">
                    <a:solidFill>
                      <a:srgbClr val="FFFFFF"/>
                    </a:solidFill>
                  </a:tcPr>
                </a:tc>
              </a:tr>
              <a:tr h="310896">
                <a:tc>
                  <a:txBody>
                    <a:bodyPr/>
                    <a:lstStyle/>
                    <a:p>
                      <a:r>
                        <a:rPr sz="900" b="0" i="0">
                          <a:solidFill>
                            <a:srgbClr val="1A1440"/>
                          </a:solidFill>
                          <a:latin typeface="Calibri"/>
                        </a:rPr>
                        <a:t>lag 1, Rs</a:t>
                      </a:r>
                    </a:p>
                  </a:txBody>
                  <a:tcPr marL="101600" marR="101600" marT="38100" marB="38100" anchor="ctr">
                    <a:solidFill>
                      <a:srgbClr val="F4F2FA"/>
                    </a:solidFill>
                  </a:tcPr>
                </a:tc>
                <a:tc>
                  <a:txBody>
                    <a:bodyPr/>
                    <a:lstStyle/>
                    <a:p>
                      <a:r>
                        <a:rPr sz="900" b="0" i="0">
                          <a:solidFill>
                            <a:srgbClr val="1A1440"/>
                          </a:solidFill>
                          <a:latin typeface="Calibri"/>
                        </a:rPr>
                        <a:t>NULL</a:t>
                      </a:r>
                    </a:p>
                  </a:txBody>
                  <a:tcPr marL="101600" marR="101600" marT="38100" marB="38100" anchor="ctr">
                    <a:solidFill>
                      <a:srgbClr val="F4F2FA"/>
                    </a:solidFill>
                  </a:tcPr>
                </a:tc>
                <a:tc>
                  <a:txBody>
                    <a:bodyPr/>
                    <a:lstStyle/>
                    <a:p>
                      <a:r>
                        <a:rPr sz="900" b="0" i="0">
                          <a:solidFill>
                            <a:srgbClr val="1A1440"/>
                          </a:solidFill>
                          <a:latin typeface="Calibri"/>
                        </a:rPr>
                        <a:t>7,980</a:t>
                      </a:r>
                    </a:p>
                  </a:txBody>
                  <a:tcPr marL="101600" marR="101600" marT="38100" marB="38100" anchor="ctr">
                    <a:solidFill>
                      <a:srgbClr val="F4F2FA"/>
                    </a:solidFill>
                  </a:tcPr>
                </a:tc>
                <a:tc>
                  <a:txBody>
                    <a:bodyPr/>
                    <a:lstStyle/>
                    <a:p>
                      <a:r>
                        <a:rPr sz="900" b="0" i="0">
                          <a:solidFill>
                            <a:srgbClr val="1A1440"/>
                          </a:solidFill>
                          <a:latin typeface="Calibri"/>
                        </a:rPr>
                        <a:t>3,170</a:t>
                      </a:r>
                    </a:p>
                  </a:txBody>
                  <a:tcPr marL="101600" marR="101600" marT="38100" marB="38100" anchor="ctr">
                    <a:solidFill>
                      <a:srgbClr val="F4F2FA"/>
                    </a:solidFill>
                  </a:tcPr>
                </a:tc>
                <a:tc>
                  <a:txBody>
                    <a:bodyPr/>
                    <a:lstStyle/>
                    <a:p>
                      <a:r>
                        <a:rPr sz="900" b="0" i="0">
                          <a:solidFill>
                            <a:srgbClr val="1A1440"/>
                          </a:solidFill>
                          <a:latin typeface="Calibri"/>
                        </a:rPr>
                        <a:t>1,320</a:t>
                      </a:r>
                    </a:p>
                  </a:txBody>
                  <a:tcPr marL="101600" marR="101600" marT="38100" marB="38100" anchor="ctr">
                    <a:solidFill>
                      <a:srgbClr val="F4F2FA"/>
                    </a:solidFill>
                  </a:tcPr>
                </a:tc>
                <a:tc>
                  <a:txBody>
                    <a:bodyPr/>
                    <a:lstStyle/>
                    <a:p>
                      <a:r>
                        <a:rPr sz="900" b="0" i="0">
                          <a:solidFill>
                            <a:srgbClr val="1A1440"/>
                          </a:solidFill>
                          <a:latin typeface="Calibri"/>
                        </a:rPr>
                        <a:t>4,260</a:t>
                      </a:r>
                    </a:p>
                  </a:txBody>
                  <a:tcPr marL="101600" marR="101600" marT="38100" marB="38100" anchor="ctr">
                    <a:solidFill>
                      <a:srgbClr val="F4F2FA"/>
                    </a:solidFill>
                  </a:tcPr>
                </a:tc>
                <a:tc>
                  <a:txBody>
                    <a:bodyPr/>
                    <a:lstStyle/>
                    <a:p>
                      <a:r>
                        <a:rPr sz="900" b="0" i="0">
                          <a:solidFill>
                            <a:srgbClr val="1A1440"/>
                          </a:solidFill>
                          <a:latin typeface="Calibri"/>
                        </a:rPr>
                        <a:t>4,770</a:t>
                      </a:r>
                    </a:p>
                  </a:txBody>
                  <a:tcPr marL="101600" marR="101600" marT="38100" marB="38100" anchor="ctr">
                    <a:solidFill>
                      <a:srgbClr val="F4F2FA"/>
                    </a:solidFill>
                  </a:tcPr>
                </a:tc>
              </a:tr>
              <a:tr h="438912">
                <a:tc>
                  <a:txBody>
                    <a:bodyPr/>
                    <a:lstStyle/>
                    <a:p>
                      <a:r>
                        <a:rPr sz="900" b="0" i="0">
                          <a:solidFill>
                            <a:srgbClr val="1A1440"/>
                          </a:solidFill>
                          <a:latin typeface="Calibri"/>
                        </a:rPr>
                        <a:t>lead 1, Rs</a:t>
                      </a:r>
                    </a:p>
                  </a:txBody>
                  <a:tcPr marL="101600" marR="101600" marT="38100" marB="38100" anchor="ctr">
                    <a:solidFill>
                      <a:srgbClr val="FFFFFF"/>
                    </a:solidFill>
                  </a:tcPr>
                </a:tc>
                <a:tc>
                  <a:txBody>
                    <a:bodyPr/>
                    <a:lstStyle/>
                    <a:p>
                      <a:r>
                        <a:rPr sz="900" b="0" i="0">
                          <a:solidFill>
                            <a:srgbClr val="1A1440"/>
                          </a:solidFill>
                          <a:latin typeface="Calibri"/>
                        </a:rPr>
                        <a:t>3,170</a:t>
                      </a:r>
                    </a:p>
                  </a:txBody>
                  <a:tcPr marL="101600" marR="101600" marT="38100" marB="38100" anchor="ctr">
                    <a:solidFill>
                      <a:srgbClr val="FFFFFF"/>
                    </a:solidFill>
                  </a:tcPr>
                </a:tc>
                <a:tc>
                  <a:txBody>
                    <a:bodyPr/>
                    <a:lstStyle/>
                    <a:p>
                      <a:r>
                        <a:rPr sz="900" b="0" i="0">
                          <a:solidFill>
                            <a:srgbClr val="1A1440"/>
                          </a:solidFill>
                          <a:latin typeface="Calibri"/>
                        </a:rPr>
                        <a:t>1,320</a:t>
                      </a:r>
                    </a:p>
                  </a:txBody>
                  <a:tcPr marL="101600" marR="101600" marT="38100" marB="38100" anchor="ctr">
                    <a:solidFill>
                      <a:srgbClr val="FFFFFF"/>
                    </a:solidFill>
                  </a:tcPr>
                </a:tc>
                <a:tc>
                  <a:txBody>
                    <a:bodyPr/>
                    <a:lstStyle/>
                    <a:p>
                      <a:r>
                        <a:rPr sz="900" b="0" i="0">
                          <a:solidFill>
                            <a:srgbClr val="1A1440"/>
                          </a:solidFill>
                          <a:latin typeface="Calibri"/>
                        </a:rPr>
                        <a:t>4,260</a:t>
                      </a:r>
                    </a:p>
                  </a:txBody>
                  <a:tcPr marL="101600" marR="101600" marT="38100" marB="38100" anchor="ctr">
                    <a:solidFill>
                      <a:srgbClr val="FFFFFF"/>
                    </a:solidFill>
                  </a:tcPr>
                </a:tc>
                <a:tc>
                  <a:txBody>
                    <a:bodyPr/>
                    <a:lstStyle/>
                    <a:p>
                      <a:r>
                        <a:rPr sz="900" b="0" i="0">
                          <a:solidFill>
                            <a:srgbClr val="1A1440"/>
                          </a:solidFill>
                          <a:latin typeface="Calibri"/>
                        </a:rPr>
                        <a:t>4,770</a:t>
                      </a:r>
                    </a:p>
                  </a:txBody>
                  <a:tcPr marL="101600" marR="101600" marT="38100" marB="38100" anchor="ctr">
                    <a:solidFill>
                      <a:srgbClr val="FFFFFF"/>
                    </a:solidFill>
                  </a:tcPr>
                </a:tc>
                <a:tc>
                  <a:txBody>
                    <a:bodyPr/>
                    <a:lstStyle/>
                    <a:p>
                      <a:r>
                        <a:rPr sz="900" b="0" i="0">
                          <a:solidFill>
                            <a:srgbClr val="1A1440"/>
                          </a:solidFill>
                          <a:latin typeface="Calibri"/>
                        </a:rPr>
                        <a:t>4,520</a:t>
                      </a:r>
                    </a:p>
                  </a:txBody>
                  <a:tcPr marL="101600" marR="101600" marT="38100" marB="38100" anchor="ctr">
                    <a:solidFill>
                      <a:srgbClr val="FFFFFF"/>
                    </a:solidFill>
                  </a:tcPr>
                </a:tc>
                <a:tc>
                  <a:txBody>
                    <a:bodyPr/>
                    <a:lstStyle/>
                    <a:p>
                      <a:r>
                        <a:rPr sz="900" b="0" i="0">
                          <a:solidFill>
                            <a:srgbClr val="1A1440"/>
                          </a:solidFill>
                          <a:latin typeface="Calibri"/>
                        </a:rPr>
                        <a:t>NULL</a:t>
                      </a:r>
                    </a:p>
                  </a:txBody>
                  <a:tcPr marL="101600" marR="101600" marT="38100" marB="38100" anchor="ctr">
                    <a:solidFill>
                      <a:srgbClr val="FFFFFF"/>
                    </a:solidFill>
                  </a:tcPr>
                </a:tc>
              </a:tr>
            </a:tbl>
          </a:graphicData>
        </a:graphic>
      </p:graphicFrame>
      <p:sp>
        <p:nvSpPr>
          <p:cNvPr id="11" name="Rounded Rectangle 10"/>
          <p:cNvSpPr/>
          <p:nvPr/>
        </p:nvSpPr>
        <p:spPr>
          <a:xfrm>
            <a:off x="6370167" y="1682496"/>
            <a:ext cx="5291175" cy="24170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598767" y="26624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list-checks_bd88901d2a37.png"/>
          <p:cNvPicPr>
            <a:picLocks noChangeAspect="1"/>
          </p:cNvPicPr>
          <p:nvPr/>
        </p:nvPicPr>
        <p:blipFill>
          <a:blip r:embed="rId4"/>
          <a:stretch>
            <a:fillRect/>
          </a:stretch>
        </p:blipFill>
        <p:spPr>
          <a:xfrm>
            <a:off x="6708495" y="2772156"/>
            <a:ext cx="237744" cy="237744"/>
          </a:xfrm>
          <a:prstGeom prst="rect">
            <a:avLst/>
          </a:prstGeom>
        </p:spPr>
      </p:pic>
      <p:sp>
        <p:nvSpPr>
          <p:cNvPr id="14" name="TextBox 13"/>
          <p:cNvSpPr txBox="1"/>
          <p:nvPr/>
        </p:nvSpPr>
        <p:spPr>
          <a:xfrm>
            <a:off x="7238847" y="1828800"/>
            <a:ext cx="4148175"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5" name="TextBox 14"/>
          <p:cNvSpPr txBox="1"/>
          <p:nvPr/>
        </p:nvSpPr>
        <p:spPr>
          <a:xfrm>
            <a:off x="7238847" y="2048256"/>
            <a:ext cx="4148175" cy="1978152"/>
          </a:xfrm>
          <a:prstGeom prst="rect">
            <a:avLst/>
          </a:prstGeom>
          <a:noFill/>
        </p:spPr>
        <p:txBody>
          <a:bodyPr wrap="square" anchor="t" lIns="0" rIns="0" tIns="0" bIns="0">
            <a:spAutoFit/>
          </a:bodyPr>
          <a:lstStyle/>
          <a:p>
            <a:r>
              <a:rPr sz="1500" b="0" i="0">
                <a:solidFill>
                  <a:srgbClr val="1A1440"/>
                </a:solidFill>
                <a:latin typeface="Calibri"/>
              </a:rPr>
              <a:t>LAG looks back from a row and LEAD looks forward. Marketing's flag stands on September and looks back at the member's two rows before it, so it reads LAG; a question about the month after a row, such as whether spend rose the month after an offer, reads LEAD.</a:t>
            </a:r>
          </a:p>
        </p:txBody>
      </p:sp>
      <p:sp>
        <p:nvSpPr>
          <p:cNvPr id="16" name="Rounded Rectangle 15"/>
          <p:cNvSpPr/>
          <p:nvPr/>
        </p:nvSpPr>
        <p:spPr>
          <a:xfrm>
            <a:off x="6370167" y="4264152"/>
            <a:ext cx="5291175"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516471" y="439216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17639" y="4383024"/>
            <a:ext cx="4724247" cy="624840"/>
          </a:xfrm>
          <a:prstGeom prst="rect">
            <a:avLst/>
          </a:prstGeom>
          <a:noFill/>
        </p:spPr>
        <p:txBody>
          <a:bodyPr wrap="square" anchor="ctr" lIns="0" rIns="0" tIns="0" bIns="0">
            <a:spAutoFit/>
          </a:bodyPr>
          <a:lstStyle/>
          <a:p>
            <a:r>
              <a:rPr sz="1500" b="1">
                <a:solidFill>
                  <a:srgbClr val="5B3FD6"/>
                </a:solidFill>
                <a:latin typeface="Calibri"/>
              </a:rPr>
              <a:t>Check yourself. </a:t>
            </a:r>
            <a:r>
              <a:rPr sz="1500" b="0" i="0">
                <a:solidFill>
                  <a:srgbClr val="1A1440"/>
                </a:solidFill>
                <a:latin typeface="Calibri"/>
              </a:rPr>
              <a:t>Which of C-0040's months does lead(spend, 2) leave NULL?</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1" name="Oval 20"/>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3" name="Oval 22"/>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5" name="Oval 24"/>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7" name="Oval 26"/>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S55a  ·  63 / 86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more or fewer flags with no PARTITION BY?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LAG read when the window has no PARTITION BY?</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lag(spend, 1) OVER (ORDER BY customer_id, month) AS spend_1_back,</a:t>
            </a:r>
          </a:p>
          <a:p>
            <a:pPr>
              <a:spcAft>
                <a:spcPts val="200"/>
              </a:spcAft>
            </a:pPr>
            <a:r>
              <a:rPr sz="1400" b="0" i="0">
                <a:solidFill>
                  <a:srgbClr val="E4E1F1"/>
                </a:solidFill>
                <a:latin typeface="Consolas"/>
              </a:rPr>
              <a:t>lag(spend, 2) OVER (ORDER BY customer_id, month) AS spend_2_back</a:t>
            </a:r>
          </a:p>
          <a:p>
            <a:pPr>
              <a:spcAft>
                <a:spcPts val="200"/>
              </a:spcAft>
            </a:pPr>
            <a:r>
              <a:rPr sz="1400" b="0" i="0">
                <a:solidFill>
                  <a:srgbClr val="E4E1F1"/>
                </a:solidFill>
                <a:latin typeface="Consolas"/>
              </a:rPr>
              <a:t>...</a:t>
            </a:r>
          </a:p>
          <a:p>
            <a:pPr>
              <a:spcAft>
                <a:spcPts val="200"/>
              </a:spcAft>
            </a:pPr>
            <a:r>
              <a:rPr sz="1400" b="0" i="0">
                <a:solidFill>
                  <a:srgbClr val="E4E1F1"/>
                </a:solidFill>
                <a:latin typeface="Consolas"/>
              </a:rPr>
              <a:t>WHERE month = DATE '2026-09-01' AND spend &lt; spend_1_back AND spend_1_back &lt; spend_2_back</a:t>
            </a:r>
          </a:p>
        </p:txBody>
      </p:sp>
      <p:sp>
        <p:nvSpPr>
          <p:cNvPr id="14" name="Rounded Rectangle 13"/>
          <p:cNvSpPr/>
          <p:nvPr/>
        </p:nvSpPr>
        <p:spPr>
          <a:xfrm>
            <a:off x="530352" y="358851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71652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707384"/>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Against the version with PARTITION BY customer_id, does this flag more members, fewer or the same, as a letter? a) the same, since the sort keeps each member together; b) more; c) fewer; d) none, since LAG needs a partition.</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1" name="Oval 2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3" name="Oval 22"/>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5" name="Oval 24"/>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64 / 86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more, 20 flagged: the plausible wrong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LAG read when the window has no PARTITION BY?</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20</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MEMBERS FLAGGED</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LAG with no PARTITION BY</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4</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 THEM</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compared with another member's month</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bug_39ada6eff46d.png"/>
          <p:cNvPicPr>
            <a:picLocks noChangeAspect="1"/>
          </p:cNvPicPr>
          <p:nvPr/>
        </p:nvPicPr>
        <p:blipFill>
          <a:blip r:embed="rId4"/>
          <a:stretch>
            <a:fillRect/>
          </a:stretch>
        </p:blipFill>
        <p:spPr>
          <a:xfrm>
            <a:off x="868680" y="3732276"/>
            <a:ext cx="237744" cy="237744"/>
          </a:xfrm>
          <a:prstGeom prst="rect">
            <a:avLst/>
          </a:prstGeom>
        </p:spPr>
      </p:pic>
      <p:sp>
        <p:nvSpPr>
          <p:cNvPr id="20" name="TextBox 19"/>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1" name="TextBox 20"/>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1A1440"/>
                </a:solidFill>
                <a:latin typeface="Calibri"/>
              </a:rPr>
              <a:t>Four members would be rung about a fall that happened in somebody else's account.</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4" name="Oval 2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6" name="Oval 2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8" name="Oval 27"/>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30" name="Oval 29"/>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65 / 86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LAG ran into the member before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did C-0132 get flagged for a fall from a month they never had?</a:t>
            </a:r>
          </a:p>
        </p:txBody>
      </p:sp>
      <p:pic>
        <p:nvPicPr>
          <p:cNvPr id="9" name="mermaid diagram" descr="673f432907df390d.png"/>
          <p:cNvPicPr>
            <a:picLocks noChangeAspect="1"/>
          </p:cNvPicPr>
          <p:nvPr/>
        </p:nvPicPr>
        <p:blipFill>
          <a:blip r:embed="rId5"/>
          <a:stretch>
            <a:fillRect/>
          </a:stretch>
        </p:blipFill>
        <p:spPr>
          <a:xfrm>
            <a:off x="2581122" y="1956816"/>
            <a:ext cx="7029450" cy="1485900"/>
          </a:xfrm>
          <a:prstGeom prst="rect">
            <a:avLst/>
          </a:prstGeom>
        </p:spPr>
      </p:pic>
      <p:sp>
        <p:nvSpPr>
          <p:cNvPr id="10" name="Rounded Rectangle 9"/>
          <p:cNvSpPr/>
          <p:nvPr/>
        </p:nvSpPr>
        <p:spPr>
          <a:xfrm>
            <a:off x="530352" y="35890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7170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707892"/>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Carry lag(customer_id) beside lag(spend) and count the flags where the member LAG read is not the member on the row. It should be zero; it is four.</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66 / 86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PARTITION BY customer_id flags 16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members fell two months running once each member's months are kept apart?</a:t>
            </a:r>
          </a:p>
        </p:txBody>
      </p:sp>
      <p:pic>
        <p:nvPicPr>
          <p:cNvPr id="9" name="mermaid diagram" descr="99c029961ebb53ff.png"/>
          <p:cNvPicPr>
            <a:picLocks noChangeAspect="1"/>
          </p:cNvPicPr>
          <p:nvPr/>
        </p:nvPicPr>
        <p:blipFill>
          <a:blip r:embed="rId5"/>
          <a:stretch>
            <a:fillRect/>
          </a:stretch>
        </p:blipFill>
        <p:spPr>
          <a:xfrm>
            <a:off x="2216791" y="1956816"/>
            <a:ext cx="7758112" cy="1371600"/>
          </a:xfrm>
          <a:prstGeom prst="rect">
            <a:avLst/>
          </a:prstGeom>
        </p:spPr>
      </p:pic>
      <p:sp>
        <p:nvSpPr>
          <p:cNvPr id="10" name="Rounded Rectangle 9"/>
          <p:cNvSpPr/>
          <p:nvPr/>
        </p:nvSpPr>
        <p:spPr>
          <a:xfrm>
            <a:off x="530352" y="34747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6027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593592"/>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The window starts again for every member, so LAG returns NULL on a member's first row and never reaches into another member's months. Four members come off the call list.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1" name="Oval 20"/>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67 / 86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a Python walk finds the same 16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walk through each member's months in Python find the same members?</a:t>
            </a:r>
          </a:p>
        </p:txBody>
      </p:sp>
      <p:sp>
        <p:nvSpPr>
          <p:cNvPr id="9" name="Rounded Rectangle 8"/>
          <p:cNvSpPr/>
          <p:nvPr/>
        </p:nvSpPr>
        <p:spPr>
          <a:xfrm>
            <a:off x="530352" y="1956816"/>
            <a:ext cx="11130991" cy="2477008"/>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207467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months, flagged, SEP = {}, [], date(2026, 9, 1)</a:t>
            </a:r>
          </a:p>
          <a:p>
            <a:pPr>
              <a:spcAft>
                <a:spcPts val="200"/>
              </a:spcAft>
            </a:pPr>
            <a:r>
              <a:rPr sz="1400" b="0" i="0">
                <a:solidFill>
                  <a:srgbClr val="E4E1F1"/>
                </a:solidFill>
                <a:latin typeface="Consolas"/>
              </a:rPr>
              <a:t>for r in rows:                                   # 752 member-months, unordered</a:t>
            </a:r>
          </a:p>
          <a:p>
            <a:pPr>
              <a:spcAft>
                <a:spcPts val="200"/>
              </a:spcAft>
            </a:pPr>
            <a:r>
              <a:rPr sz="1400" b="0" i="0">
                <a:solidFill>
                  <a:srgbClr val="E4E1F1"/>
                </a:solidFill>
                <a:latin typeface="Consolas"/>
              </a:rPr>
              <a:t>    months.setdefault(r["customer_id"], []).append((r["month"], r["spend"]))</a:t>
            </a:r>
          </a:p>
          <a:p>
            <a:pPr>
              <a:spcAft>
                <a:spcPts val="200"/>
              </a:spcAft>
            </a:pPr>
            <a:r>
              <a:rPr sz="1400" b="0" i="0">
                <a:solidFill>
                  <a:srgbClr val="E4E1F1"/>
                </a:solidFill>
                <a:latin typeface="Consolas"/>
              </a:rPr>
              <a:t>for cid, ms in months.items():</a:t>
            </a:r>
          </a:p>
          <a:p>
            <a:pPr>
              <a:spcAft>
                <a:spcPts val="200"/>
              </a:spcAft>
            </a:pPr>
            <a:r>
              <a:rPr sz="1400" b="0" i="0">
                <a:solidFill>
                  <a:srgbClr val="E4E1F1"/>
                </a:solidFill>
                <a:latin typeface="Consolas"/>
              </a:rPr>
              <a:t>    ms.sort()                                    # each member's months, in order</a:t>
            </a:r>
          </a:p>
          <a:p>
            <a:pPr>
              <a:spcAft>
                <a:spcPts val="200"/>
              </a:spcAft>
            </a:pPr>
            <a:r>
              <a:rPr sz="1400" b="0" i="0">
                <a:solidFill>
                  <a:srgbClr val="E4E1F1"/>
                </a:solidFill>
                <a:latin typeface="Consolas"/>
              </a:rPr>
              <a:t>    if len(ms) &gt;= 3 and ms[-1][0] == SEP:        # the last row is September</a:t>
            </a:r>
          </a:p>
          <a:p>
            <a:pPr>
              <a:spcAft>
                <a:spcPts val="200"/>
              </a:spcAft>
            </a:pPr>
            <a:r>
              <a:rPr sz="1400" b="0" i="0">
                <a:solidFill>
                  <a:srgbClr val="E4E1F1"/>
                </a:solidFill>
                <a:latin typeface="Consolas"/>
              </a:rPr>
              <a:t>        if ms[-1][1] &lt; ms[-2][1] &lt; ms[-3][1]:    # below the row before, twice</a:t>
            </a:r>
          </a:p>
          <a:p>
            <a:pPr>
              <a:spcAft>
                <a:spcPts val="200"/>
              </a:spcAft>
            </a:pPr>
            <a:r>
              <a:rPr sz="1400" b="0" i="0">
                <a:solidFill>
                  <a:srgbClr val="E4E1F1"/>
                </a:solidFill>
                <a:latin typeface="Consolas"/>
              </a:rPr>
              <a:t>            flagged.append(cid)</a:t>
            </a:r>
          </a:p>
        </p:txBody>
      </p:sp>
      <p:sp>
        <p:nvSpPr>
          <p:cNvPr id="14" name="TextBox 13"/>
          <p:cNvSpPr txBox="1"/>
          <p:nvPr/>
        </p:nvSpPr>
        <p:spPr>
          <a:xfrm>
            <a:off x="530352" y="4598415"/>
            <a:ext cx="11130991" cy="698500"/>
          </a:xfrm>
          <a:prstGeom prst="rect">
            <a:avLst/>
          </a:prstGeom>
          <a:noFill/>
        </p:spPr>
        <p:txBody>
          <a:bodyPr wrap="square" anchor="t" lIns="0" rIns="0" tIns="0" bIns="0">
            <a:spAutoFit/>
          </a:bodyPr>
          <a:lstStyle/>
          <a:p>
            <a:pPr algn="l"/>
            <a:r>
              <a:rPr sz="4400" b="0" i="0">
                <a:solidFill>
                  <a:srgbClr val="5B3FD6"/>
                </a:solidFill>
                <a:latin typeface="Georgia"/>
              </a:rPr>
              <a:t>16 = 16</a:t>
            </a:r>
          </a:p>
        </p:txBody>
      </p:sp>
      <p:sp>
        <p:nvSpPr>
          <p:cNvPr id="15" name="TextBox 14"/>
          <p:cNvSpPr txBox="1"/>
          <p:nvPr/>
        </p:nvSpPr>
        <p:spPr>
          <a:xfrm>
            <a:off x="530352" y="5333492"/>
            <a:ext cx="11130991" cy="168656"/>
          </a:xfrm>
          <a:prstGeom prst="rect">
            <a:avLst/>
          </a:prstGeom>
          <a:noFill/>
        </p:spPr>
        <p:txBody>
          <a:bodyPr wrap="square" anchor="t" lIns="0" rIns="0" tIns="0" bIns="0">
            <a:spAutoFit/>
          </a:bodyPr>
          <a:lstStyle/>
          <a:p>
            <a:pPr algn="l"/>
            <a:r>
              <a:rPr sz="800" b="1" i="0" spc="250">
                <a:solidFill>
                  <a:srgbClr val="1A0F5C"/>
                </a:solidFill>
                <a:latin typeface="Calibri"/>
              </a:rPr>
              <a:t>MEMBERS FLAGGED</a:t>
            </a:r>
          </a:p>
        </p:txBody>
      </p:sp>
      <p:sp>
        <p:nvSpPr>
          <p:cNvPr id="16" name="TextBox 15"/>
          <p:cNvSpPr txBox="1"/>
          <p:nvPr/>
        </p:nvSpPr>
        <p:spPr>
          <a:xfrm>
            <a:off x="530352" y="5534660"/>
            <a:ext cx="11130991" cy="193421"/>
          </a:xfrm>
          <a:prstGeom prst="rect">
            <a:avLst/>
          </a:prstGeom>
          <a:noFill/>
        </p:spPr>
        <p:txBody>
          <a:bodyPr wrap="square" anchor="t" lIns="0" rIns="0" tIns="0" bIns="0">
            <a:spAutoFit/>
          </a:bodyPr>
          <a:lstStyle/>
          <a:p>
            <a:pPr algn="l"/>
            <a:r>
              <a:rPr sz="950" b="0" i="0">
                <a:solidFill>
                  <a:srgbClr val="6B6690"/>
                </a:solidFill>
                <a:latin typeface="Calibri"/>
              </a:rPr>
              <a:t>the same members as LAG</a:t>
            </a:r>
          </a:p>
        </p:txBody>
      </p:sp>
      <p:sp>
        <p:nvSpPr>
          <p:cNvPr id="17" name="Rectangle 16"/>
          <p:cNvSpPr/>
          <p:nvPr/>
        </p:nvSpPr>
        <p:spPr>
          <a:xfrm>
            <a:off x="530352" y="5787135"/>
            <a:ext cx="11130991"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0" name="Oval 19"/>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2" name="Oval 21"/>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4" name="Oval 23"/>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6" name="Oval 25"/>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68 / 86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Sixteen members fell twice, months kept apart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whose monthly spend fell two months running?</a:t>
            </a:r>
          </a:p>
        </p:txBody>
      </p:sp>
      <p:graphicFrame>
        <p:nvGraphicFramePr>
          <p:cNvPr id="9" name="Table 8"/>
          <p:cNvGraphicFramePr>
            <a:graphicFrameLocks noGrp="1"/>
          </p:cNvGraphicFramePr>
          <p:nvPr/>
        </p:nvGraphicFramePr>
        <p:xfrm>
          <a:off x="530352" y="1682496"/>
          <a:ext cx="11130991" cy="2176272"/>
        </p:xfrm>
        <a:graphic>
          <a:graphicData uri="http://schemas.openxmlformats.org/drawingml/2006/table">
            <a:tbl>
              <a:tblPr firstRow="0" bandRow="0">
                <a:tableStyleId>{2D5ABB26-0587-4C30-8999-92F81FD0307C}</a:tableStyleId>
              </a:tblPr>
              <a:tblGrid>
                <a:gridCol w="5122737"/>
                <a:gridCol w="6008254"/>
              </a:tblGrid>
              <a:tr h="310896">
                <a:tc>
                  <a:txBody>
                    <a:bodyPr/>
                    <a:lstStyle/>
                    <a:p>
                      <a:r>
                        <a:rPr sz="950" b="1" i="0">
                          <a:solidFill>
                            <a:srgbClr val="FFFFFF"/>
                          </a:solidFill>
                          <a:latin typeface="Calibri"/>
                        </a:rPr>
                        <a:t>The question on the way</a:t>
                      </a:r>
                    </a:p>
                  </a:txBody>
                  <a:tcPr marL="101600" marR="101600" marT="38100" marB="38100" anchor="ctr">
                    <a:solidFill>
                      <a:srgbClr val="1A0F5C"/>
                    </a:solidFill>
                  </a:tcPr>
                </a:tc>
                <a:tc>
                  <a:txBody>
                    <a:bodyPr/>
                    <a:lstStyle/>
                    <a:p>
                      <a:r>
                        <a:rPr sz="950" b="1" i="0">
                          <a:solidFill>
                            <a:srgbClr val="FFFFFF"/>
                          </a:solidFill>
                          <a:latin typeface="Calibri"/>
                        </a:rPr>
                        <a:t>The answer</a:t>
                      </a:r>
                    </a:p>
                  </a:txBody>
                  <a:tcPr marL="101600" marR="101600" marT="38100" marB="38100" anchor="ctr">
                    <a:solidFill>
                      <a:srgbClr val="1A0F5C"/>
                    </a:solidFill>
                  </a:tcPr>
                </a:tc>
              </a:tr>
              <a:tr h="310896">
                <a:tc>
                  <a:txBody>
                    <a:bodyPr/>
                    <a:lstStyle/>
                    <a:p>
                      <a:r>
                        <a:rPr sz="900" b="0" i="0">
                          <a:solidFill>
                            <a:srgbClr val="1A1440"/>
                          </a:solidFill>
                          <a:latin typeface="Calibri"/>
                        </a:rPr>
                        <a:t>1. Which way, at what cost?</a:t>
                      </a:r>
                    </a:p>
                  </a:txBody>
                  <a:tcPr marL="101600" marR="101600" marT="38100" marB="38100" anchor="ctr">
                    <a:solidFill>
                      <a:srgbClr val="FFFFFF"/>
                    </a:solidFill>
                  </a:tcPr>
                </a:tc>
                <a:tc>
                  <a:txBody>
                    <a:bodyPr/>
                    <a:lstStyle/>
                    <a:p>
                      <a:r>
                        <a:rPr sz="900" b="0" i="0">
                          <a:solidFill>
                            <a:srgbClr val="1A1440"/>
                          </a:solidFill>
                          <a:latin typeface="Calibri"/>
                        </a:rPr>
                        <a:t>LAG: 752 member-months read once</a:t>
                      </a:r>
                    </a:p>
                  </a:txBody>
                  <a:tcPr marL="101600" marR="101600" marT="38100" marB="38100" anchor="ctr">
                    <a:solidFill>
                      <a:srgbClr val="FFFFFF"/>
                    </a:solidFill>
                  </a:tcPr>
                </a:tc>
              </a:tr>
              <a:tr h="310896">
                <a:tc>
                  <a:txBody>
                    <a:bodyPr/>
                    <a:lstStyle/>
                    <a:p>
                      <a:r>
                        <a:rPr sz="900" b="0" i="0">
                          <a:solidFill>
                            <a:srgbClr val="1A1440"/>
                          </a:solidFill>
                          <a:latin typeface="Calibri"/>
                        </a:rPr>
                        <a:t>2. What did each spend monthly?</a:t>
                      </a:r>
                    </a:p>
                  </a:txBody>
                  <a:tcPr marL="101600" marR="101600" marT="38100" marB="38100" anchor="ctr">
                    <a:solidFill>
                      <a:srgbClr val="F4F2FA"/>
                    </a:solidFill>
                  </a:tcPr>
                </a:tc>
                <a:tc>
                  <a:txBody>
                    <a:bodyPr/>
                    <a:lstStyle/>
                    <a:p>
                      <a:r>
                        <a:rPr sz="900" b="0" i="0">
                          <a:solidFill>
                            <a:srgbClr val="1A1440"/>
                          </a:solidFill>
                          <a:latin typeface="Calibri"/>
                        </a:rPr>
                        <a:t>752 member-months for 301 members</a:t>
                      </a:r>
                    </a:p>
                  </a:txBody>
                  <a:tcPr marL="101600" marR="101600" marT="38100" marB="38100" anchor="ctr">
                    <a:solidFill>
                      <a:srgbClr val="F4F2FA"/>
                    </a:solidFill>
                  </a:tcPr>
                </a:tc>
              </a:tr>
              <a:tr h="310896">
                <a:tc>
                  <a:txBody>
                    <a:bodyPr/>
                    <a:lstStyle/>
                    <a:p>
                      <a:r>
                        <a:rPr sz="900" b="0" i="0">
                          <a:solidFill>
                            <a:srgbClr val="1A1440"/>
                          </a:solidFill>
                          <a:latin typeface="Calibri"/>
                        </a:rPr>
                        <a:t>3. What does LAG put beside it?</a:t>
                      </a:r>
                    </a:p>
                  </a:txBody>
                  <a:tcPr marL="101600" marR="101600" marT="38100" marB="38100" anchor="ctr">
                    <a:solidFill>
                      <a:srgbClr val="FFFFFF"/>
                    </a:solidFill>
                  </a:tcPr>
                </a:tc>
                <a:tc>
                  <a:txBody>
                    <a:bodyPr/>
                    <a:lstStyle/>
                    <a:p>
                      <a:r>
                        <a:rPr sz="900" b="0" i="0">
                          <a:solidFill>
                            <a:srgbClr val="1A1440"/>
                          </a:solidFill>
                          <a:latin typeface="Calibri"/>
                        </a:rPr>
                        <a:t>The row before; NULL on a first month</a:t>
                      </a:r>
                    </a:p>
                  </a:txBody>
                  <a:tcPr marL="101600" marR="101600" marT="38100" marB="38100" anchor="ctr">
                    <a:solidFill>
                      <a:srgbClr val="FFFFFF"/>
                    </a:solidFill>
                  </a:tcPr>
                </a:tc>
              </a:tr>
              <a:tr h="310896">
                <a:tc>
                  <a:txBody>
                    <a:bodyPr/>
                    <a:lstStyle/>
                    <a:p>
                      <a:r>
                        <a:rPr sz="900" b="0" i="0">
                          <a:solidFill>
                            <a:srgbClr val="1A1440"/>
                          </a:solidFill>
                          <a:latin typeface="Calibri"/>
                        </a:rPr>
                        <a:t>4. What if nothing partitions?</a:t>
                      </a:r>
                    </a:p>
                  </a:txBody>
                  <a:tcPr marL="101600" marR="101600" marT="38100" marB="38100" anchor="ctr">
                    <a:solidFill>
                      <a:srgbClr val="F4F2FA"/>
                    </a:solidFill>
                  </a:tcPr>
                </a:tc>
                <a:tc>
                  <a:txBody>
                    <a:bodyPr/>
                    <a:lstStyle/>
                    <a:p>
                      <a:r>
                        <a:rPr sz="900" b="0" i="0">
                          <a:solidFill>
                            <a:srgbClr val="1A1440"/>
                          </a:solidFill>
                          <a:latin typeface="Calibri"/>
                        </a:rPr>
                        <a:t>20 flags, four of them borrowed</a:t>
                      </a:r>
                    </a:p>
                  </a:txBody>
                  <a:tcPr marL="101600" marR="101600" marT="38100" marB="38100" anchor="ctr">
                    <a:solidFill>
                      <a:srgbClr val="F4F2FA"/>
                    </a:solidFill>
                  </a:tcPr>
                </a:tc>
              </a:tr>
              <a:tr h="310896">
                <a:tc>
                  <a:txBody>
                    <a:bodyPr/>
                    <a:lstStyle/>
                    <a:p>
                      <a:r>
                        <a:rPr sz="900" b="0" i="0">
                          <a:solidFill>
                            <a:srgbClr val="1A1440"/>
                          </a:solidFill>
                          <a:latin typeface="Calibri"/>
                        </a:rPr>
                        <a:t>5. How many fell twice?</a:t>
                      </a:r>
                    </a:p>
                  </a:txBody>
                  <a:tcPr marL="101600" marR="101600" marT="38100" marB="38100" anchor="ctr">
                    <a:solidFill>
                      <a:srgbClr val="FFFFFF"/>
                    </a:solidFill>
                  </a:tcPr>
                </a:tc>
                <a:tc>
                  <a:txBody>
                    <a:bodyPr/>
                    <a:lstStyle/>
                    <a:p>
                      <a:r>
                        <a:rPr sz="900" b="0" i="0">
                          <a:solidFill>
                            <a:srgbClr val="1A1440"/>
                          </a:solidFill>
                          <a:latin typeface="Calibri"/>
                        </a:rPr>
                        <a:t>16, with PARTITION BY customer_id</a:t>
                      </a:r>
                    </a:p>
                  </a:txBody>
                  <a:tcPr marL="101600" marR="101600" marT="38100" marB="38100" anchor="ctr">
                    <a:solidFill>
                      <a:srgbClr val="FFFFFF"/>
                    </a:solidFill>
                  </a:tcPr>
                </a:tc>
              </a:tr>
              <a:tr h="310896">
                <a:tc>
                  <a:txBody>
                    <a:bodyPr/>
                    <a:lstStyle/>
                    <a:p>
                      <a:r>
                        <a:rPr sz="900" b="0" i="0">
                          <a:solidFill>
                            <a:srgbClr val="1A1440"/>
                          </a:solidFill>
                          <a:latin typeface="Calibri"/>
                        </a:rPr>
                        <a:t>6. Does a Python walk agree?</a:t>
                      </a:r>
                    </a:p>
                  </a:txBody>
                  <a:tcPr marL="101600" marR="101600" marT="38100" marB="38100" anchor="ctr">
                    <a:solidFill>
                      <a:srgbClr val="F4F2FA"/>
                    </a:solidFill>
                  </a:tcPr>
                </a:tc>
                <a:tc>
                  <a:txBody>
                    <a:bodyPr/>
                    <a:lstStyle/>
                    <a:p>
                      <a:r>
                        <a:rPr sz="900" b="0" i="0">
                          <a:solidFill>
                            <a:srgbClr val="1A1440"/>
                          </a:solidFill>
                          <a:latin typeface="Calibri"/>
                        </a:rPr>
                        <a:t>Yes, the same 16</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606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70400"/>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510032"/>
          </a:xfrm>
          <a:prstGeom prst="rect">
            <a:avLst/>
          </a:prstGeom>
          <a:noFill/>
        </p:spPr>
        <p:txBody>
          <a:bodyPr wrap="square" anchor="t" lIns="0" rIns="0" tIns="0" bIns="0">
            <a:spAutoFit/>
          </a:bodyPr>
          <a:lstStyle/>
          <a:p>
            <a:r>
              <a:rPr sz="1000" b="0" i="0">
                <a:solidFill>
                  <a:srgbClr val="1A1440"/>
                </a:solidFill>
                <a:latin typeface="Calibri"/>
              </a:rPr>
              <a:t>"A window that is not told whose rows belong together will compare anyone with anyone. Carry the id LAG read beside the value it read, and read the rows behind a flag before a call goes out."</a:t>
            </a:r>
          </a:p>
        </p:txBody>
      </p:sp>
      <p:sp>
        <p:nvSpPr>
          <p:cNvPr id="15" name="Rounded Rectangle 14"/>
          <p:cNvSpPr/>
          <p:nvPr/>
        </p:nvSpPr>
        <p:spPr>
          <a:xfrm>
            <a:off x="530352" y="52283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11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20944"/>
            <a:ext cx="237744" cy="237744"/>
          </a:xfrm>
          <a:prstGeom prst="rect">
            <a:avLst/>
          </a:prstGeom>
        </p:spPr>
      </p:pic>
      <p:sp>
        <p:nvSpPr>
          <p:cNvPr id="18" name="TextBox 17"/>
          <p:cNvSpPr txBox="1"/>
          <p:nvPr/>
        </p:nvSpPr>
        <p:spPr>
          <a:xfrm>
            <a:off x="1399031" y="53746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94096"/>
            <a:ext cx="9987991" cy="384048"/>
          </a:xfrm>
          <a:prstGeom prst="rect">
            <a:avLst/>
          </a:prstGeom>
          <a:noFill/>
        </p:spPr>
        <p:txBody>
          <a:bodyPr wrap="square" anchor="t" lIns="0" rIns="0" tIns="0" bIns="0">
            <a:spAutoFit/>
          </a:bodyPr>
          <a:lstStyle/>
          <a:p>
            <a:r>
              <a:rPr sz="1000" b="0" i="0">
                <a:solidFill>
                  <a:srgbClr val="1A1440"/>
                </a:solidFill>
                <a:latin typeface="Calibri"/>
              </a:rPr>
              <a:t>[F] How would you find customers whose spend fell two months in a row? [F] LAG returned a value on a customer's very first month: what went wrong?</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2" name="Oval 2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4" name="Oval 2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6" name="Oval 25"/>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Whose spend is falling?</a:t>
            </a:r>
          </a:p>
        </p:txBody>
      </p:sp>
      <p:sp>
        <p:nvSpPr>
          <p:cNvPr id="28" name="Oval 27"/>
          <p:cNvSpPr/>
          <p:nvPr/>
        </p:nvSpPr>
        <p:spPr>
          <a:xfrm>
            <a:off x="65268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654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On track against plan?</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69 / 86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Running totals and determinism</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On track against plan?</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Has Q2 revenue kept pace with the plan line week by week, and where did it stand at mid-quarter, when Meera decides whether to act?</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are the top fifty?</a:t>
            </a:r>
          </a:p>
        </p:txBody>
      </p:sp>
      <p:sp>
        <p:nvSpPr>
          <p:cNvPr id="12" name="Rounded Rectangle 11"/>
          <p:cNvSpPr/>
          <p:nvPr/>
        </p:nvSpPr>
        <p:spPr>
          <a:xfrm>
            <a:off x="250975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Top fifty per segment?</a:t>
            </a:r>
          </a:p>
        </p:txBody>
      </p:sp>
      <p:sp>
        <p:nvSpPr>
          <p:cNvPr id="13" name="Rounded Rectangle 12"/>
          <p:cNvSpPr/>
          <p:nvPr/>
        </p:nvSpPr>
        <p:spPr>
          <a:xfrm>
            <a:off x="428799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 makes it at a tie?</a:t>
            </a:r>
          </a:p>
        </p:txBody>
      </p:sp>
      <p:sp>
        <p:nvSpPr>
          <p:cNvPr id="14" name="Rounded Rectangle 13"/>
          <p:cNvSpPr/>
          <p:nvPr/>
        </p:nvSpPr>
        <p:spPr>
          <a:xfrm>
            <a:off x="606623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Whose spend is falling?</a:t>
            </a:r>
          </a:p>
        </p:txBody>
      </p:sp>
      <p:sp>
        <p:nvSpPr>
          <p:cNvPr id="15" name="Rounded Rectangle 14"/>
          <p:cNvSpPr/>
          <p:nvPr/>
        </p:nvSpPr>
        <p:spPr>
          <a:xfrm>
            <a:off x="7903693"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On track against plan?</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3. Who do we protect before they drift?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70 / 86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Answering Meera: six questions on the 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Q2 against plan, and which questions lead to it?</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Raghavan decides at mid-quarter whether to hold the plan, push a campaign or move budget. A quarter reported behind plan when it is on plan sends Marketing after a gap that is not there, and a lead that one week made hides a run rate, how each week books against its own week's plan, that is below plan.</a:t>
            </a:r>
          </a:p>
        </p:txBody>
      </p:sp>
      <p:sp>
        <p:nvSpPr>
          <p:cNvPr id="12" name="Rectangle 11"/>
          <p:cNvSpPr/>
          <p:nvPr/>
        </p:nvSpPr>
        <p:spPr>
          <a:xfrm>
            <a:off x="1381734" y="40294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way, at what cost?</a:t>
            </a:r>
          </a:p>
        </p:txBody>
      </p:sp>
      <p:sp>
        <p:nvSpPr>
          <p:cNvPr id="17" name="TextBox 16"/>
          <p:cNvSpPr txBox="1"/>
          <p:nvPr/>
        </p:nvSpPr>
        <p:spPr>
          <a:xfrm>
            <a:off x="694944" y="4998212"/>
            <a:ext cx="1373581" cy="366776"/>
          </a:xfrm>
          <a:prstGeom prst="rect">
            <a:avLst/>
          </a:prstGeom>
          <a:noFill/>
        </p:spPr>
        <p:txBody>
          <a:bodyPr wrap="square" anchor="t" lIns="0" rIns="0" tIns="0" bIns="0">
            <a:spAutoFit/>
          </a:bodyPr>
          <a:lstStyle/>
          <a:p>
            <a:pPr algn="l"/>
            <a:r>
              <a:rPr sz="1000" b="0" i="0">
                <a:solidFill>
                  <a:srgbClr val="6B6690"/>
                </a:solidFill>
                <a:latin typeface="Calibri"/>
              </a:rPr>
              <a:t>Four ways to accumulate</a:t>
            </a:r>
          </a:p>
        </p:txBody>
      </p:sp>
      <p:sp>
        <p:nvSpPr>
          <p:cNvPr id="18" name="TextBox 17"/>
          <p:cNvSpPr txBox="1"/>
          <p:nvPr/>
        </p:nvSpPr>
        <p:spPr>
          <a:xfrm>
            <a:off x="2415997"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much by each week's end?</a:t>
            </a:r>
          </a:p>
        </p:txBody>
      </p:sp>
      <p:sp>
        <p:nvSpPr>
          <p:cNvPr id="22" name="TextBox 21"/>
          <p:cNvSpPr txBox="1"/>
          <p:nvPr/>
        </p:nvSpPr>
        <p:spPr>
          <a:xfrm>
            <a:off x="2580589" y="4998212"/>
            <a:ext cx="1373581" cy="201676"/>
          </a:xfrm>
          <a:prstGeom prst="rect">
            <a:avLst/>
          </a:prstGeom>
          <a:noFill/>
        </p:spPr>
        <p:txBody>
          <a:bodyPr wrap="square" anchor="t" lIns="0" rIns="0" tIns="0" bIns="0">
            <a:spAutoFit/>
          </a:bodyPr>
          <a:lstStyle/>
          <a:p>
            <a:pPr algn="l"/>
            <a:r>
              <a:rPr sz="1000" b="0" i="0">
                <a:solidFill>
                  <a:srgbClr val="6B6690"/>
                </a:solidFill>
                <a:latin typeface="Calibri"/>
              </a:rPr>
              <a:t>The plan's weeks</a:t>
            </a:r>
          </a:p>
        </p:txBody>
      </p:sp>
      <p:sp>
        <p:nvSpPr>
          <p:cNvPr id="23" name="TextBox 22"/>
          <p:cNvSpPr txBox="1"/>
          <p:nvPr/>
        </p:nvSpPr>
        <p:spPr>
          <a:xfrm>
            <a:off x="430164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Does it close on Q2?</a:t>
            </a:r>
          </a:p>
        </p:txBody>
      </p:sp>
      <p:sp>
        <p:nvSpPr>
          <p:cNvPr id="27" name="TextBox 26"/>
          <p:cNvSpPr txBox="1"/>
          <p:nvPr/>
        </p:nvSpPr>
        <p:spPr>
          <a:xfrm>
            <a:off x="4466234" y="4998212"/>
            <a:ext cx="1373581" cy="366776"/>
          </a:xfrm>
          <a:prstGeom prst="rect">
            <a:avLst/>
          </a:prstGeom>
          <a:noFill/>
        </p:spPr>
        <p:txBody>
          <a:bodyPr wrap="square" anchor="t" lIns="0" rIns="0" tIns="0" bIns="0">
            <a:spAutoFit/>
          </a:bodyPr>
          <a:lstStyle/>
          <a:p>
            <a:pPr algn="l"/>
            <a:r>
              <a:rPr sz="1000" b="0" i="0">
                <a:solidFill>
                  <a:srgbClr val="6B6690"/>
                </a:solidFill>
                <a:latin typeface="Calibri"/>
              </a:rPr>
              <a:t>Against Monday's total</a:t>
            </a:r>
          </a:p>
        </p:txBody>
      </p:sp>
      <p:sp>
        <p:nvSpPr>
          <p:cNvPr id="28" name="TextBox 27"/>
          <p:cNvSpPr txBox="1"/>
          <p:nvPr/>
        </p:nvSpPr>
        <p:spPr>
          <a:xfrm>
            <a:off x="6187287"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Where at week 7 of 13?</a:t>
            </a:r>
          </a:p>
        </p:txBody>
      </p:sp>
      <p:sp>
        <p:nvSpPr>
          <p:cNvPr id="32" name="TextBox 31"/>
          <p:cNvSpPr txBox="1"/>
          <p:nvPr/>
        </p:nvSpPr>
        <p:spPr>
          <a:xfrm>
            <a:off x="6351879" y="4998212"/>
            <a:ext cx="1373581" cy="366776"/>
          </a:xfrm>
          <a:prstGeom prst="rect">
            <a:avLst/>
          </a:prstGeom>
          <a:noFill/>
        </p:spPr>
        <p:txBody>
          <a:bodyPr wrap="square" anchor="t" lIns="0" rIns="0" tIns="0" bIns="0">
            <a:spAutoFit/>
          </a:bodyPr>
          <a:lstStyle/>
          <a:p>
            <a:pPr algn="l"/>
            <a:r>
              <a:rPr sz="1000" b="0" i="0">
                <a:solidFill>
                  <a:srgbClr val="6B6690"/>
                </a:solidFill>
                <a:latin typeface="Calibri"/>
              </a:rPr>
              <a:t>Mid-quarter, and each week since</a:t>
            </a:r>
          </a:p>
        </p:txBody>
      </p:sp>
      <p:sp>
        <p:nvSpPr>
          <p:cNvPr id="33" name="TextBox 32"/>
          <p:cNvSpPr txBox="1"/>
          <p:nvPr/>
        </p:nvSpPr>
        <p:spPr>
          <a:xfrm>
            <a:off x="807293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3494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order crossed?</a:t>
            </a:r>
          </a:p>
        </p:txBody>
      </p:sp>
      <p:sp>
        <p:nvSpPr>
          <p:cNvPr id="37" name="TextBox 36"/>
          <p:cNvSpPr txBox="1"/>
          <p:nvPr/>
        </p:nvSpPr>
        <p:spPr>
          <a:xfrm>
            <a:off x="8237524" y="4998212"/>
            <a:ext cx="1373581" cy="366776"/>
          </a:xfrm>
          <a:prstGeom prst="rect">
            <a:avLst/>
          </a:prstGeom>
          <a:noFill/>
        </p:spPr>
        <p:txBody>
          <a:bodyPr wrap="square" anchor="t" lIns="0" rIns="0" tIns="0" bIns="0">
            <a:spAutoFit/>
          </a:bodyPr>
          <a:lstStyle/>
          <a:p>
            <a:pPr algn="l"/>
            <a:r>
              <a:rPr sz="1000" b="0" i="0">
                <a:solidFill>
                  <a:srgbClr val="6B6690"/>
                </a:solidFill>
                <a:latin typeface="Calibri"/>
              </a:rPr>
              <a:t>A running total by order</a:t>
            </a:r>
          </a:p>
        </p:txBody>
      </p:sp>
      <p:sp>
        <p:nvSpPr>
          <p:cNvPr id="38" name="TextBox 37"/>
          <p:cNvSpPr txBox="1"/>
          <p:nvPr/>
        </p:nvSpPr>
        <p:spPr>
          <a:xfrm>
            <a:off x="9958578"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9380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3494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495800"/>
            <a:ext cx="1373581" cy="465836"/>
          </a:xfrm>
          <a:prstGeom prst="rect">
            <a:avLst/>
          </a:prstGeom>
          <a:noFill/>
        </p:spPr>
        <p:txBody>
          <a:bodyPr wrap="square" anchor="t" lIns="0" rIns="0" tIns="0" bIns="0">
            <a:spAutoFit/>
          </a:bodyPr>
          <a:lstStyle/>
          <a:p>
            <a:pPr algn="l"/>
            <a:r>
              <a:rPr sz="1300" b="1" i="0">
                <a:solidFill>
                  <a:srgbClr val="FFFFFF"/>
                </a:solidFill>
                <a:latin typeface="Calibri"/>
              </a:rPr>
              <a:t>Does a plain sum agree?</a:t>
            </a:r>
          </a:p>
        </p:txBody>
      </p:sp>
      <p:sp>
        <p:nvSpPr>
          <p:cNvPr id="42" name="TextBox 41"/>
          <p:cNvSpPr txBox="1"/>
          <p:nvPr/>
        </p:nvSpPr>
        <p:spPr>
          <a:xfrm>
            <a:off x="10123170" y="4998212"/>
            <a:ext cx="1373581" cy="201676"/>
          </a:xfrm>
          <a:prstGeom prst="rect">
            <a:avLst/>
          </a:prstGeom>
          <a:noFill/>
        </p:spPr>
        <p:txBody>
          <a:bodyPr wrap="square" anchor="t" lIns="0" rIns="0" tIns="0" bIns="0">
            <a:spAutoFit/>
          </a:bodyPr>
          <a:lstStyle/>
          <a:p>
            <a:pPr algn="l"/>
            <a:r>
              <a:rPr sz="1000" b="0" i="0">
                <a:solidFill>
                  <a:srgbClr val="CFC9EE"/>
                </a:solidFill>
                <a:latin typeface="Calibri"/>
              </a:rPr>
              <a:t>No window at all</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45" name="Oval 4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47" name="Oval 4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49" name="Oval 4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51" name="Oval 50"/>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71 / 86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wants to know by mid-quarter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for the plan line, what is measured, and what does a wrong reading cost?</a:t>
            </a:r>
          </a:p>
        </p:txBody>
      </p:sp>
      <p:sp>
        <p:nvSpPr>
          <p:cNvPr id="9" name="Rounded Rectangle 8"/>
          <p:cNvSpPr/>
          <p:nvPr/>
        </p:nvSpPr>
        <p:spPr>
          <a:xfrm>
            <a:off x="530352" y="1956816"/>
            <a:ext cx="3588410"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hart-line_ded8d80bd4ff.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Meera Raghavan</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CEO of Kalpa Retail; decides at mid-quarter whether to act.</a:t>
            </a:r>
          </a:p>
        </p:txBody>
      </p:sp>
      <p:sp>
        <p:nvSpPr>
          <p:cNvPr id="15" name="Rounded Rectangle 14"/>
          <p:cNvSpPr/>
          <p:nvPr/>
        </p:nvSpPr>
        <p:spPr>
          <a:xfrm>
            <a:off x="4301642" y="1956816"/>
            <a:ext cx="3588410"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endar-range_48ef45d6f307.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498856"/>
          </a:xfrm>
          <a:prstGeom prst="rect">
            <a:avLst/>
          </a:prstGeom>
          <a:noFill/>
        </p:spPr>
        <p:txBody>
          <a:bodyPr wrap="square" anchor="t" lIns="0" rIns="0" tIns="0" bIns="0">
            <a:spAutoFit/>
          </a:bodyPr>
          <a:lstStyle/>
          <a:p>
            <a:pPr algn="l"/>
            <a:r>
              <a:rPr sz="1400" b="1" i="0">
                <a:solidFill>
                  <a:srgbClr val="1A0F5C"/>
                </a:solidFill>
                <a:latin typeface="Calibri"/>
              </a:rPr>
              <a:t>Booked to date against plan to date</a:t>
            </a:r>
          </a:p>
        </p:txBody>
      </p:sp>
      <p:sp>
        <p:nvSpPr>
          <p:cNvPr id="20" name="TextBox 19"/>
          <p:cNvSpPr txBox="1"/>
          <p:nvPr/>
        </p:nvSpPr>
        <p:spPr>
          <a:xfrm>
            <a:off x="4502810" y="3534664"/>
            <a:ext cx="3186074" cy="399796"/>
          </a:xfrm>
          <a:prstGeom prst="rect">
            <a:avLst/>
          </a:prstGeom>
          <a:noFill/>
        </p:spPr>
        <p:txBody>
          <a:bodyPr wrap="square" anchor="t" lIns="0" rIns="0" tIns="0" bIns="0">
            <a:spAutoFit/>
          </a:bodyPr>
          <a:lstStyle/>
          <a:p>
            <a:pPr algn="l"/>
            <a:r>
              <a:rPr sz="1100" b="0" i="0">
                <a:solidFill>
                  <a:srgbClr val="6B6690"/>
                </a:solidFill>
                <a:latin typeface="Calibri"/>
              </a:rPr>
              <a:t>Every week up to and including the one on the row, both sides.</a:t>
            </a:r>
          </a:p>
        </p:txBody>
      </p:sp>
      <p:sp>
        <p:nvSpPr>
          <p:cNvPr id="21" name="Rounded Rectangle 20"/>
          <p:cNvSpPr/>
          <p:nvPr/>
        </p:nvSpPr>
        <p:spPr>
          <a:xfrm>
            <a:off x="8072932" y="1956816"/>
            <a:ext cx="3588410" cy="219557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WRONG READING COSTS</a:t>
            </a:r>
          </a:p>
        </p:txBody>
      </p:sp>
      <p:sp>
        <p:nvSpPr>
          <p:cNvPr id="25" name="TextBox 24"/>
          <p:cNvSpPr txBox="1"/>
          <p:nvPr/>
        </p:nvSpPr>
        <p:spPr>
          <a:xfrm>
            <a:off x="8274100" y="2962656"/>
            <a:ext cx="3186074" cy="498856"/>
          </a:xfrm>
          <a:prstGeom prst="rect">
            <a:avLst/>
          </a:prstGeom>
          <a:noFill/>
        </p:spPr>
        <p:txBody>
          <a:bodyPr wrap="square" anchor="t" lIns="0" rIns="0" tIns="0" bIns="0">
            <a:spAutoFit/>
          </a:bodyPr>
          <a:lstStyle/>
          <a:p>
            <a:pPr algn="l"/>
            <a:r>
              <a:rPr sz="1400" b="1" i="0">
                <a:solidFill>
                  <a:srgbClr val="FFFFFF"/>
                </a:solidFill>
                <a:latin typeface="Calibri"/>
              </a:rPr>
              <a:t>A campaign for a gap that is not there</a:t>
            </a:r>
          </a:p>
        </p:txBody>
      </p:sp>
      <p:sp>
        <p:nvSpPr>
          <p:cNvPr id="26" name="TextBox 25"/>
          <p:cNvSpPr txBox="1"/>
          <p:nvPr/>
        </p:nvSpPr>
        <p:spPr>
          <a:xfrm>
            <a:off x="8274100" y="3534664"/>
            <a:ext cx="3186074" cy="399796"/>
          </a:xfrm>
          <a:prstGeom prst="rect">
            <a:avLst/>
          </a:prstGeom>
          <a:noFill/>
        </p:spPr>
        <p:txBody>
          <a:bodyPr wrap="square" anchor="t" lIns="0" rIns="0" tIns="0" bIns="0">
            <a:spAutoFit/>
          </a:bodyPr>
          <a:lstStyle/>
          <a:p>
            <a:pPr algn="l"/>
            <a:r>
              <a:rPr sz="1100" b="0" i="0">
                <a:solidFill>
                  <a:srgbClr val="CFC9EE"/>
                </a:solidFill>
                <a:latin typeface="Calibri"/>
              </a:rPr>
              <a:t>Discounts that cost margin, or a slipping run rate nobody sees.</a:t>
            </a:r>
          </a:p>
        </p:txBody>
      </p:sp>
      <p:sp>
        <p:nvSpPr>
          <p:cNvPr id="27" name="Rounded Rectangle 26"/>
          <p:cNvSpPr/>
          <p:nvPr/>
        </p:nvSpPr>
        <p:spPr>
          <a:xfrm>
            <a:off x="530352" y="4335272"/>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66750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message-square_028dbd132a0a.png"/>
          <p:cNvPicPr>
            <a:picLocks noChangeAspect="1"/>
          </p:cNvPicPr>
          <p:nvPr/>
        </p:nvPicPr>
        <p:blipFill>
          <a:blip r:embed="rId7"/>
          <a:stretch>
            <a:fillRect/>
          </a:stretch>
        </p:blipFill>
        <p:spPr>
          <a:xfrm>
            <a:off x="868680" y="4777232"/>
            <a:ext cx="237744" cy="237744"/>
          </a:xfrm>
          <a:prstGeom prst="rect">
            <a:avLst/>
          </a:prstGeom>
        </p:spPr>
      </p:pic>
      <p:sp>
        <p:nvSpPr>
          <p:cNvPr id="30" name="TextBox 29"/>
          <p:cNvSpPr txBox="1"/>
          <p:nvPr/>
        </p:nvSpPr>
        <p:spPr>
          <a:xfrm>
            <a:off x="1399031" y="448157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1" name="TextBox 30"/>
          <p:cNvSpPr txBox="1"/>
          <p:nvPr/>
        </p:nvSpPr>
        <p:spPr>
          <a:xfrm>
            <a:off x="1399031" y="4701032"/>
            <a:ext cx="9987991" cy="682752"/>
          </a:xfrm>
          <a:prstGeom prst="rect">
            <a:avLst/>
          </a:prstGeom>
          <a:noFill/>
        </p:spPr>
        <p:txBody>
          <a:bodyPr wrap="square" anchor="t" lIns="0" rIns="0" tIns="0" bIns="0">
            <a:spAutoFit/>
          </a:bodyPr>
          <a:lstStyle/>
          <a:p>
            <a:r>
              <a:rPr sz="1500" b="0" i="0">
                <a:solidFill>
                  <a:srgbClr val="FFFFFF"/>
                </a:solidFill>
                <a:latin typeface="Calibri"/>
              </a:rPr>
              <a:t>"Meera wants to see revenue accumulate week by week against the plan line, so we know by mid-quarter whether we are on track."</a:t>
            </a:r>
          </a:p>
        </p:txBody>
      </p:sp>
      <p:sp>
        <p:nvSpPr>
          <p:cNvPr id="32" name="Oval 3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34" name="Oval 3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6" name="Oval 3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8" name="Oval 3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40" name="Oval 39"/>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72 / 86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Target cut its Q2 margin forecast five weeks 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company had to read its quarter while it was still running?</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5.3%</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FORECAST BEFORE</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centred on Q1's margin, 18 May 2022</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FORECAST ON 7 JUNE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about five weeks into Q2</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1.2%</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WHERE Q2 CLOSED</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released 17 August 2022</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8816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ug_39ada6eff46d.png"/>
          <p:cNvPicPr>
            <a:picLocks noChangeAspect="1"/>
          </p:cNvPicPr>
          <p:nvPr/>
        </p:nvPicPr>
        <p:blipFill>
          <a:blip r:embed="rId4"/>
          <a:stretch>
            <a:fillRect/>
          </a:stretch>
        </p:blipFill>
        <p:spPr>
          <a:xfrm>
            <a:off x="868680" y="399135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5" name="TextBox 24"/>
          <p:cNvSpPr txBox="1"/>
          <p:nvPr/>
        </p:nvSpPr>
        <p:spPr>
          <a:xfrm>
            <a:off x="1399031" y="3785616"/>
            <a:ext cx="9987991" cy="941832"/>
          </a:xfrm>
          <a:prstGeom prst="rect">
            <a:avLst/>
          </a:prstGeom>
          <a:noFill/>
        </p:spPr>
        <p:txBody>
          <a:bodyPr wrap="square" anchor="t" lIns="0" rIns="0" tIns="0" bIns="0">
            <a:spAutoFit/>
          </a:bodyPr>
          <a:lstStyle/>
          <a:p>
            <a:r>
              <a:rPr sz="1500" b="0" i="0">
                <a:solidFill>
                  <a:srgbClr val="1A1440"/>
                </a:solidFill>
                <a:latin typeface="Calibri"/>
              </a:rPr>
              <a:t>The figure is Target's operating margin, the share of sales left as operating profit, and its forecast for the quarter is called guidance. A quarter read only at its end leaves nothing to act on, which is why Meera wants Q2 week by week.</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8" name="Oval 2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0" name="Oval 29"/>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2" name="Oval 3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4" name="Oval 33"/>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S64  ·  73 / 86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running SUM in a window: 462 rows read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could the team accumulate the quarter against plan, and what would each way cost?</a:t>
            </a:r>
          </a:p>
        </p:txBody>
      </p:sp>
      <p:graphicFrame>
        <p:nvGraphicFramePr>
          <p:cNvPr id="9" name="Table 8"/>
          <p:cNvGraphicFramePr>
            <a:graphicFrameLocks noGrp="1"/>
          </p:cNvGraphicFramePr>
          <p:nvPr/>
        </p:nvGraphicFramePr>
        <p:xfrm>
          <a:off x="530352" y="1956816"/>
          <a:ext cx="11130990" cy="1849120"/>
        </p:xfrm>
        <a:graphic>
          <a:graphicData uri="http://schemas.openxmlformats.org/drawingml/2006/table">
            <a:tbl>
              <a:tblPr firstRow="0" bandRow="0">
                <a:tableStyleId>{2D5ABB26-0587-4C30-8999-92F81FD0307C}</a:tableStyleId>
              </a:tblPr>
              <a:tblGrid>
                <a:gridCol w="3114852"/>
                <a:gridCol w="4802039"/>
                <a:gridCol w="3214099"/>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How it accumulates</a:t>
                      </a:r>
                    </a:p>
                  </a:txBody>
                  <a:tcPr marL="101600" marR="101600" marT="38100" marB="38100" anchor="ctr">
                    <a:solidFill>
                      <a:srgbClr val="1A0F5C"/>
                    </a:solidFill>
                  </a:tcPr>
                </a:tc>
                <a:tc>
                  <a:txBody>
                    <a:bodyPr/>
                    <a:lstStyle/>
                    <a:p>
                      <a:r>
                        <a:rPr sz="1450" b="1" i="0">
                          <a:solidFill>
                            <a:srgbClr val="FFFFFF"/>
                          </a:solidFill>
                          <a:latin typeface="Calibri"/>
                        </a:rPr>
                        <a:t>Works through</a:t>
                      </a:r>
                    </a:p>
                  </a:txBody>
                  <a:tcPr marL="101600" marR="101600" marT="38100" marB="38100" anchor="ctr">
                    <a:solidFill>
                      <a:srgbClr val="1A0F5C"/>
                    </a:solidFill>
                  </a:tcPr>
                </a:tc>
              </a:tr>
              <a:tr h="369824">
                <a:tc>
                  <a:txBody>
                    <a:bodyPr/>
                    <a:lstStyle/>
                    <a:p>
                      <a:r>
                        <a:rPr sz="1400" b="0" i="0">
                          <a:solidFill>
                            <a:srgbClr val="1A1440"/>
                          </a:solidFill>
                          <a:latin typeface="Calibri"/>
                        </a:rPr>
                        <a:t>A. A running SUM in a window</a:t>
                      </a:r>
                    </a:p>
                  </a:txBody>
                  <a:tcPr marL="101600" marR="101600" marT="38100" marB="38100" anchor="ctr">
                    <a:solidFill>
                      <a:srgbClr val="FFFFFF"/>
                    </a:solidFill>
                  </a:tcPr>
                </a:tc>
                <a:tc>
                  <a:txBody>
                    <a:bodyPr/>
                    <a:lstStyle/>
                    <a:p>
                      <a:r>
                        <a:rPr sz="1400" b="0" i="0">
                          <a:solidFill>
                            <a:srgbClr val="1A1440"/>
                          </a:solidFill>
                          <a:latin typeface="Calibri"/>
                        </a:rPr>
                        <a:t>weekly totals, then sum() OVER (ORDER BY week)</a:t>
                      </a:r>
                    </a:p>
                  </a:txBody>
                  <a:tcPr marL="101600" marR="101600" marT="38100" marB="38100" anchor="ctr">
                    <a:solidFill>
                      <a:srgbClr val="FFFFFF"/>
                    </a:solidFill>
                  </a:tcPr>
                </a:tc>
                <a:tc>
                  <a:txBody>
                    <a:bodyPr/>
                    <a:lstStyle/>
                    <a:p>
                      <a:r>
                        <a:rPr sz="1400" b="0" i="0">
                          <a:solidFill>
                            <a:srgbClr val="1A1440"/>
                          </a:solidFill>
                          <a:latin typeface="Calibri"/>
                        </a:rPr>
                        <a:t>462 orders, once</a:t>
                      </a:r>
                    </a:p>
                  </a:txBody>
                  <a:tcPr marL="101600" marR="101600" marT="38100" marB="38100" anchor="ctr">
                    <a:solidFill>
                      <a:srgbClr val="FFFFFF"/>
                    </a:solidFill>
                  </a:tcPr>
                </a:tc>
              </a:tr>
              <a:tr h="369824">
                <a:tc>
                  <a:txBody>
                    <a:bodyPr/>
                    <a:lstStyle/>
                    <a:p>
                      <a:r>
                        <a:rPr sz="1400" b="0" i="0">
                          <a:solidFill>
                            <a:srgbClr val="1A1440"/>
                          </a:solidFill>
                          <a:latin typeface="Calibri"/>
                        </a:rPr>
                        <a:t>B. A plain SUM per week's end</a:t>
                      </a:r>
                    </a:p>
                  </a:txBody>
                  <a:tcPr marL="101600" marR="101600" marT="38100" marB="38100" anchor="ctr">
                    <a:solidFill>
                      <a:srgbClr val="F4F2FA"/>
                    </a:solidFill>
                  </a:tcPr>
                </a:tc>
                <a:tc>
                  <a:txBody>
                    <a:bodyPr/>
                    <a:lstStyle/>
                    <a:p>
                      <a:r>
                        <a:rPr sz="1400" b="0" i="0">
                          <a:solidFill>
                            <a:srgbClr val="1A1440"/>
                          </a:solidFill>
                          <a:latin typeface="Calibri"/>
                        </a:rPr>
                        <a:t>every order up to each week's last day</a:t>
                      </a:r>
                    </a:p>
                  </a:txBody>
                  <a:tcPr marL="101600" marR="101600" marT="38100" marB="38100" anchor="ctr">
                    <a:solidFill>
                      <a:srgbClr val="F4F2FA"/>
                    </a:solidFill>
                  </a:tcPr>
                </a:tc>
                <a:tc>
                  <a:txBody>
                    <a:bodyPr/>
                    <a:lstStyle/>
                    <a:p>
                      <a:r>
                        <a:rPr sz="1400" b="0" i="0">
                          <a:solidFill>
                            <a:srgbClr val="1A1440"/>
                          </a:solidFill>
                          <a:latin typeface="Calibri"/>
                        </a:rPr>
                        <a:t>6,006 order reads</a:t>
                      </a:r>
                    </a:p>
                  </a:txBody>
                  <a:tcPr marL="101600" marR="101600" marT="38100" marB="38100" anchor="ctr">
                    <a:solidFill>
                      <a:srgbClr val="F4F2FA"/>
                    </a:solidFill>
                  </a:tcPr>
                </a:tc>
              </a:tr>
              <a:tr h="369824">
                <a:tc>
                  <a:txBody>
                    <a:bodyPr/>
                    <a:lstStyle/>
                    <a:p>
                      <a:r>
                        <a:rPr sz="1400" b="0" i="0">
                          <a:solidFill>
                            <a:srgbClr val="1A1440"/>
                          </a:solidFill>
                          <a:latin typeface="Calibri"/>
                        </a:rPr>
                        <a:t>C. A self-join of weeks</a:t>
                      </a:r>
                    </a:p>
                  </a:txBody>
                  <a:tcPr marL="101600" marR="101600" marT="38100" marB="38100" anchor="ctr">
                    <a:solidFill>
                      <a:srgbClr val="FFFFFF"/>
                    </a:solidFill>
                  </a:tcPr>
                </a:tc>
                <a:tc>
                  <a:txBody>
                    <a:bodyPr/>
                    <a:lstStyle/>
                    <a:p>
                      <a:r>
                        <a:rPr sz="1400" b="0" i="0">
                          <a:solidFill>
                            <a:srgbClr val="1A1440"/>
                          </a:solidFill>
                          <a:latin typeface="Calibri"/>
                        </a:rPr>
                        <a:t>each week with every week before</a:t>
                      </a:r>
                    </a:p>
                  </a:txBody>
                  <a:tcPr marL="101600" marR="101600" marT="38100" marB="38100" anchor="ctr">
                    <a:solidFill>
                      <a:srgbClr val="FFFFFF"/>
                    </a:solidFill>
                  </a:tcPr>
                </a:tc>
                <a:tc>
                  <a:txBody>
                    <a:bodyPr/>
                    <a:lstStyle/>
                    <a:p>
                      <a:r>
                        <a:rPr sz="1400" b="0" i="0">
                          <a:solidFill>
                            <a:srgbClr val="1A1440"/>
                          </a:solidFill>
                          <a:latin typeface="Calibri"/>
                        </a:rPr>
                        <a:t>462 orders, then 91 week pairs</a:t>
                      </a:r>
                    </a:p>
                  </a:txBody>
                  <a:tcPr marL="101600" marR="101600" marT="38100" marB="38100" anchor="ctr">
                    <a:solidFill>
                      <a:srgbClr val="FFFFFF"/>
                    </a:solidFill>
                  </a:tcPr>
                </a:tc>
              </a:tr>
              <a:tr h="369824">
                <a:tc>
                  <a:txBody>
                    <a:bodyPr/>
                    <a:lstStyle/>
                    <a:p>
                      <a:r>
                        <a:rPr sz="1400" b="0" i="0">
                          <a:solidFill>
                            <a:srgbClr val="1A1440"/>
                          </a:solidFill>
                          <a:latin typeface="Calibri"/>
                        </a:rPr>
                        <a:t>D. A spreadsheet column</a:t>
                      </a:r>
                    </a:p>
                  </a:txBody>
                  <a:tcPr marL="101600" marR="101600" marT="38100" marB="38100" anchor="ctr">
                    <a:solidFill>
                      <a:srgbClr val="F4F2FA"/>
                    </a:solidFill>
                  </a:tcPr>
                </a:tc>
                <a:tc>
                  <a:txBody>
                    <a:bodyPr/>
                    <a:lstStyle/>
                    <a:p>
                      <a:r>
                        <a:rPr sz="1400" b="0" i="0">
                          <a:solidFill>
                            <a:srgbClr val="1A1440"/>
                          </a:solidFill>
                          <a:latin typeface="Calibri"/>
                        </a:rPr>
                        <a:t>an export, a formula copied down</a:t>
                      </a:r>
                    </a:p>
                  </a:txBody>
                  <a:tcPr marL="101600" marR="101600" marT="38100" marB="38100" anchor="ctr">
                    <a:solidFill>
                      <a:srgbClr val="F4F2FA"/>
                    </a:solidFill>
                  </a:tcPr>
                </a:tc>
                <a:tc>
                  <a:txBody>
                    <a:bodyPr/>
                    <a:lstStyle/>
                    <a:p>
                      <a:r>
                        <a:rPr sz="1400" b="0" i="0">
                          <a:solidFill>
                            <a:srgbClr val="1A1440"/>
                          </a:solidFill>
                          <a:latin typeface="Calibri"/>
                        </a:rPr>
                        <a:t>462 rows exported</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8998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80840"/>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A, booked and plan side by side in one table. What would switch it: one reading on a day Meera names, such as "where were we on 19 August?", which is one plain SUM with that date in WHERE.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S65  ·  74 / 86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running total keeps every week and adds to date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sum() OVER (ORDER BY week) add to each row?</a:t>
            </a:r>
          </a:p>
        </p:txBody>
      </p:sp>
      <p:pic>
        <p:nvPicPr>
          <p:cNvPr id="9" name="mermaid diagram" descr="44edb38615300c9b.png"/>
          <p:cNvPicPr>
            <a:picLocks noChangeAspect="1"/>
          </p:cNvPicPr>
          <p:nvPr/>
        </p:nvPicPr>
        <p:blipFill>
          <a:blip r:embed="rId6"/>
          <a:stretch>
            <a:fillRect/>
          </a:stretch>
        </p:blipFill>
        <p:spPr>
          <a:xfrm>
            <a:off x="530352" y="1956816"/>
            <a:ext cx="11130991" cy="840334"/>
          </a:xfrm>
          <a:prstGeom prst="rect">
            <a:avLst/>
          </a:prstGeom>
        </p:spPr>
      </p:pic>
      <p:sp>
        <p:nvSpPr>
          <p:cNvPr id="10" name="Rounded Rectangle 9"/>
          <p:cNvSpPr/>
          <p:nvPr/>
        </p:nvSpPr>
        <p:spPr>
          <a:xfrm>
            <a:off x="530352" y="294345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27568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3385414"/>
            <a:ext cx="237744" cy="237744"/>
          </a:xfrm>
          <a:prstGeom prst="rect">
            <a:avLst/>
          </a:prstGeom>
        </p:spPr>
      </p:pic>
      <p:sp>
        <p:nvSpPr>
          <p:cNvPr id="13" name="TextBox 12"/>
          <p:cNvSpPr txBox="1"/>
          <p:nvPr/>
        </p:nvSpPr>
        <p:spPr>
          <a:xfrm>
            <a:off x="1399031" y="308975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3309214"/>
            <a:ext cx="9987991" cy="682752"/>
          </a:xfrm>
          <a:prstGeom prst="rect">
            <a:avLst/>
          </a:prstGeom>
          <a:noFill/>
        </p:spPr>
        <p:txBody>
          <a:bodyPr wrap="square" anchor="t" lIns="0" rIns="0" tIns="0" bIns="0">
            <a:spAutoFit/>
          </a:bodyPr>
          <a:lstStyle/>
          <a:p>
            <a:r>
              <a:rPr sz="1500" b="0" i="0">
                <a:solidFill>
                  <a:srgbClr val="1A1440"/>
                </a:solidFill>
                <a:latin typeface="Calibri"/>
              </a:rPr>
              <a:t>The last row of a running total is the quarter itself, so it has to equal the total you can count without it.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3" name="Oval 22"/>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S66  ·  75 / 86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where does booked to date finish?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much had Q2 booked by the end of each plan week?</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FROM plan_line p LEFT JOIN weekly w USING (week_start)   -- weekly: date_trunc('week', order_date)</a:t>
            </a:r>
          </a:p>
          <a:p>
            <a:pPr>
              <a:spcAft>
                <a:spcPts val="200"/>
              </a:spcAft>
            </a:pPr>
            <a:r>
              <a:rPr sz="1400" b="0" i="0">
                <a:solidFill>
                  <a:srgbClr val="E4E1F1"/>
                </a:solidFill>
                <a:latin typeface="Consolas"/>
              </a:rPr>
              <a:t>...</a:t>
            </a:r>
          </a:p>
          <a:p>
            <a:pPr>
              <a:spcAft>
                <a:spcPts val="200"/>
              </a:spcAft>
            </a:pPr>
            <a:r>
              <a:rPr sz="1400" b="0" i="0">
                <a:solidFill>
                  <a:srgbClr val="E4E1F1"/>
                </a:solidFill>
                <a:latin typeface="Consolas"/>
              </a:rPr>
              <a:t>sum(plan_revenue) OVER (ORDER BY week_start) AS plan_to_date,</a:t>
            </a:r>
          </a:p>
          <a:p>
            <a:pPr>
              <a:spcAft>
                <a:spcPts val="200"/>
              </a:spcAft>
            </a:pPr>
            <a:r>
              <a:rPr sz="1400" b="0" i="0">
                <a:solidFill>
                  <a:srgbClr val="E4E1F1"/>
                </a:solidFill>
                <a:latin typeface="Consolas"/>
              </a:rPr>
              <a:t>sum(booked)       OVER (ORDER BY week_start) AS booked_to_date</a:t>
            </a:r>
          </a:p>
        </p:txBody>
      </p:sp>
      <p:sp>
        <p:nvSpPr>
          <p:cNvPr id="14" name="Rounded Rectangle 13"/>
          <p:cNvSpPr/>
          <p:nvPr/>
        </p:nvSpPr>
        <p:spPr>
          <a:xfrm>
            <a:off x="530352" y="358851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71652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707384"/>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Where does booked to date finish against the plan to date of Rs 9,83,99,990, as a letter? a) on plan, within a few rupees; b) about Rs 15 lakh short; c) about Rs 1.6 crore ahead; d) nine times the plan.</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1" name="Oval 2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3" name="Oval 2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5" name="Oval 24"/>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S67  ·  76 / 86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15,39,810 short: the plausible wrong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much had Q2 booked by the end of each plan week?</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9,68,60,180</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BOOKED TO DATE</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plan-first build's close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9,83,99,990</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PLAN TO DATE</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thirteen weeks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15,39,810</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SHORT OF PLAN</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plausible wrong answer</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7520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ug_39ada6eff46d.png"/>
          <p:cNvPicPr>
            <a:picLocks noChangeAspect="1"/>
          </p:cNvPicPr>
          <p:nvPr/>
        </p:nvPicPr>
        <p:blipFill>
          <a:blip r:embed="rId4"/>
          <a:stretch>
            <a:fillRect/>
          </a:stretch>
        </p:blipFill>
        <p:spPr>
          <a:xfrm>
            <a:off x="868680" y="386181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5" name="TextBox 24"/>
          <p:cNvSpPr txBox="1"/>
          <p:nvPr/>
        </p:nvSpPr>
        <p:spPr>
          <a:xfrm>
            <a:off x="1399031" y="3785616"/>
            <a:ext cx="9987991" cy="682752"/>
          </a:xfrm>
          <a:prstGeom prst="rect">
            <a:avLst/>
          </a:prstGeom>
          <a:noFill/>
        </p:spPr>
        <p:txBody>
          <a:bodyPr wrap="square" anchor="t" lIns="0" rIns="0" tIns="0" bIns="0">
            <a:spAutoFit/>
          </a:bodyPr>
          <a:lstStyle/>
          <a:p>
            <a:r>
              <a:rPr sz="1500" b="0" i="0">
                <a:solidFill>
                  <a:srgbClr val="1A1440"/>
                </a:solidFill>
                <a:latin typeface="Calibri"/>
              </a:rPr>
              <a:t>Sent to Meera, the report says Q2 missed plan, and the next quarter opens on a campaign to recover Rs 15 lakh.</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8" name="Oval 2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30" name="Oval 29"/>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2" name="Oval 3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4" name="Oval 33"/>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S68  ·  77 / 86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1 to 5 July have no plan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running total close on Monday's Q2 total?</a:t>
            </a:r>
          </a:p>
        </p:txBody>
      </p:sp>
      <p:pic>
        <p:nvPicPr>
          <p:cNvPr id="9" name="mermaid diagram" descr="4692f1d5337eb734.png"/>
          <p:cNvPicPr>
            <a:picLocks noChangeAspect="1"/>
          </p:cNvPicPr>
          <p:nvPr/>
        </p:nvPicPr>
        <p:blipFill>
          <a:blip r:embed="rId5"/>
          <a:stretch>
            <a:fillRect/>
          </a:stretch>
        </p:blipFill>
        <p:spPr>
          <a:xfrm>
            <a:off x="3545528" y="1956816"/>
            <a:ext cx="5100637" cy="2300287"/>
          </a:xfrm>
          <a:prstGeom prst="rect">
            <a:avLst/>
          </a:prstGeom>
        </p:spPr>
      </p:pic>
      <p:sp>
        <p:nvSpPr>
          <p:cNvPr id="10" name="Rounded Rectangle 9"/>
          <p:cNvSpPr/>
          <p:nvPr/>
        </p:nvSpPr>
        <p:spPr>
          <a:xfrm>
            <a:off x="530352" y="4403407"/>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531423"/>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522279"/>
            <a:ext cx="10564063" cy="8915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last booked to date has to equal Monday's Q2 total, Rs 9,84,00,000. It is Rs 15,39,820 short of it, Rs 10 more than the shortfall against plan, since Q2 beat its plan by Rs 10; Q2's orders fall under 14 Mondays where the plan has 13.</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S69  ·  78 / 86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Q2 closes Rs 10 ahead, on plan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the plan's first week carries the days before it?</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9,84,00,000</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BOOKED TO DATE</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Monday's Q2 total</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9,83,99,990</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PLAN TO DATE</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thirteen weeks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10</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AHEAD</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on plan</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greatest(date_trunc('week', order_date), the first plan Monday) moves 1 to 5 July onto 6 July, so every Q2 order lands in a plan week. The quarter that read Rs 15,39,810 short closed Rs 10 ahead.</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6" name="Oval 25"/>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8" name="Oval 27"/>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0" name="Oval 29"/>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2" name="Oval 31"/>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S70  ·  79 / 86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where was Q2 at mid-quarter?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Q2 stand at mid-quarter, and how has each week run since?</a:t>
            </a:r>
          </a:p>
        </p:txBody>
      </p:sp>
      <p:pic>
        <p:nvPicPr>
          <p:cNvPr id="9" name="mermaid diagram" descr="e98d38430023b803.png"/>
          <p:cNvPicPr>
            <a:picLocks noChangeAspect="1"/>
          </p:cNvPicPr>
          <p:nvPr/>
        </p:nvPicPr>
        <p:blipFill>
          <a:blip r:embed="rId5"/>
          <a:stretch>
            <a:fillRect/>
          </a:stretch>
        </p:blipFill>
        <p:spPr>
          <a:xfrm>
            <a:off x="3488378" y="1956816"/>
            <a:ext cx="5214937" cy="871537"/>
          </a:xfrm>
          <a:prstGeom prst="rect">
            <a:avLst/>
          </a:prstGeom>
        </p:spPr>
      </p:pic>
      <p:sp>
        <p:nvSpPr>
          <p:cNvPr id="10" name="Rounded Rectangle 9"/>
          <p:cNvSpPr/>
          <p:nvPr/>
        </p:nvSpPr>
        <p:spPr>
          <a:xfrm>
            <a:off x="530352" y="2974657"/>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0267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93529"/>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At the end of the week of 17 August, where was booked to date against plan to date, as a letter? a) about Rs 15 lakh behind; b) about Rs 1.6 crore ahead; c) exactly on plan; d) about nine times the plan.</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7" name="Oval 16"/>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1" name="Oval 20"/>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S71  ·  80 / 86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1.58 crore ahead, from one July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Q2 stand at mid-quarter, and how has each week run since?</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1,57,51,980</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AHEAD AT MID-QUARTER</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Rs 6,87,36,590 against Rs 5,29,84,610</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2,66,28,920</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WEEK OF 13 JULY</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3.5 times its plan</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6 of 7</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FULL WEEKS BELOW PLAN</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from the week of 10 August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8915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quarter was ahead by the total and behind by the run rate. A cumulative figure beside one week's plan, Rs 6,87,36,590 against Rs 75,69,230, reads as nine times plan, so set booked to date beside plan to date.</a:t>
            </a:r>
          </a:p>
        </p:txBody>
      </p:sp>
      <p:sp>
        <p:nvSpPr>
          <p:cNvPr id="24" name="Oval 2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6" name="Oval 25"/>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8" name="Oval 27"/>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30" name="Oval 29"/>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2" name="Oval 31"/>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S72  ·  81 / 86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does 22 July's first order show?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a running total by order say which order took Q2 past Rs 3.5 crore?</a:t>
            </a:r>
          </a:p>
        </p:txBody>
      </p:sp>
      <p:sp>
        <p:nvSpPr>
          <p:cNvPr id="9" name="Rounded Rectangle 8"/>
          <p:cNvSpPr/>
          <p:nvPr/>
        </p:nvSpPr>
        <p:spPr>
          <a:xfrm>
            <a:off x="530352" y="1956816"/>
            <a:ext cx="11130991"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sum(amount) OVER (ORDER BY order_date) AS by_date_alone</a:t>
            </a:r>
          </a:p>
        </p:txBody>
      </p:sp>
      <p:sp>
        <p:nvSpPr>
          <p:cNvPr id="14" name="Rounded Rectangle 13"/>
          <p:cNvSpPr/>
          <p:nvPr/>
        </p:nvSpPr>
        <p:spPr>
          <a:xfrm>
            <a:off x="530352" y="283108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295910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2949956"/>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22 July, the busiest day of Q2, holds twelve orders. What does the first of them show, as a letter? a) Rs 3,45,16,000, the day before plus its own amount; b) Rs 3,76,90,290, the day's closing total; c) its own amount; d) NULL.</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1" name="Oval 20"/>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3" name="Oval 2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5" name="Oval 24"/>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S73  ·  82 / 86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day's close; add the order id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a running total by order say which order took Q2 past Rs 3.5 crore?</a:t>
            </a:r>
          </a:p>
        </p:txBody>
      </p:sp>
      <p:graphicFrame>
        <p:nvGraphicFramePr>
          <p:cNvPr id="9" name="Table 8"/>
          <p:cNvGraphicFramePr>
            <a:graphicFrameLocks noGrp="1"/>
          </p:cNvGraphicFramePr>
          <p:nvPr/>
        </p:nvGraphicFramePr>
        <p:xfrm>
          <a:off x="530352" y="1956816"/>
          <a:ext cx="11130989" cy="1341120"/>
        </p:xfrm>
        <a:graphic>
          <a:graphicData uri="http://schemas.openxmlformats.org/drawingml/2006/table">
            <a:tbl>
              <a:tblPr firstRow="0" bandRow="0">
                <a:tableStyleId>{2D5ABB26-0587-4C30-8999-92F81FD0307C}</a:tableStyleId>
              </a:tblPr>
              <a:tblGrid>
                <a:gridCol w="914400"/>
                <a:gridCol w="2500740"/>
                <a:gridCol w="3146673"/>
                <a:gridCol w="4569176"/>
              </a:tblGrid>
              <a:tr h="335280">
                <a:tc>
                  <a:txBody>
                    <a:bodyPr/>
                    <a:lstStyle/>
                    <a:p>
                      <a:r>
                        <a:rPr sz="1250" b="1" i="0">
                          <a:solidFill>
                            <a:srgbClr val="FFFFFF"/>
                          </a:solidFill>
                          <a:latin typeface="Calibri"/>
                        </a:rPr>
                        <a:t>Order</a:t>
                      </a:r>
                    </a:p>
                  </a:txBody>
                  <a:tcPr marL="101600" marR="101600" marT="38100" marB="38100" anchor="ctr">
                    <a:solidFill>
                      <a:srgbClr val="1A0F5C"/>
                    </a:solidFill>
                  </a:tcPr>
                </a:tc>
                <a:tc>
                  <a:txBody>
                    <a:bodyPr/>
                    <a:lstStyle/>
                    <a:p>
                      <a:r>
                        <a:rPr sz="1250" b="1" i="0">
                          <a:solidFill>
                            <a:srgbClr val="FFFFFF"/>
                          </a:solidFill>
                          <a:latin typeface="Calibri"/>
                        </a:rPr>
                        <a:t>Amount</a:t>
                      </a:r>
                    </a:p>
                  </a:txBody>
                  <a:tcPr marL="101600" marR="101600" marT="38100" marB="38100" anchor="ctr">
                    <a:solidFill>
                      <a:srgbClr val="1A0F5C"/>
                    </a:solidFill>
                  </a:tcPr>
                </a:tc>
                <a:tc>
                  <a:txBody>
                    <a:bodyPr/>
                    <a:lstStyle/>
                    <a:p>
                      <a:r>
                        <a:rPr sz="1250" b="1" i="0">
                          <a:solidFill>
                            <a:srgbClr val="FFFFFF"/>
                          </a:solidFill>
                          <a:latin typeface="Calibri"/>
                        </a:rPr>
                        <a:t>By date alone</a:t>
                      </a:r>
                    </a:p>
                  </a:txBody>
                  <a:tcPr marL="101600" marR="101600" marT="38100" marB="38100" anchor="ctr">
                    <a:solidFill>
                      <a:srgbClr val="1A0F5C"/>
                    </a:solidFill>
                  </a:tcPr>
                </a:tc>
                <a:tc>
                  <a:txBody>
                    <a:bodyPr/>
                    <a:lstStyle/>
                    <a:p>
                      <a:r>
                        <a:rPr sz="1250" b="1" i="0">
                          <a:solidFill>
                            <a:srgbClr val="FFFFFF"/>
                          </a:solidFill>
                          <a:latin typeface="Calibri"/>
                        </a:rPr>
                        <a:t>By date and order id</a:t>
                      </a:r>
                    </a:p>
                  </a:txBody>
                  <a:tcPr marL="101600" marR="101600" marT="38100" marB="38100" anchor="ctr">
                    <a:solidFill>
                      <a:srgbClr val="1A0F5C"/>
                    </a:solidFill>
                  </a:tcPr>
                </a:tc>
              </a:tr>
              <a:tr h="335280">
                <a:tc>
                  <a:txBody>
                    <a:bodyPr/>
                    <a:lstStyle/>
                    <a:p>
                      <a:r>
                        <a:rPr sz="1200" b="0" i="0">
                          <a:solidFill>
                            <a:srgbClr val="1A1440"/>
                          </a:solidFill>
                          <a:latin typeface="Calibri"/>
                        </a:rPr>
                        <a:t>KR-00557</a:t>
                      </a:r>
                    </a:p>
                  </a:txBody>
                  <a:tcPr marL="101600" marR="101600" marT="38100" marB="38100" anchor="ctr">
                    <a:solidFill>
                      <a:srgbClr val="FFFFFF"/>
                    </a:solidFill>
                  </a:tcPr>
                </a:tc>
                <a:tc>
                  <a:txBody>
                    <a:bodyPr/>
                    <a:lstStyle/>
                    <a:p>
                      <a:r>
                        <a:rPr sz="1200" b="0" i="0">
                          <a:solidFill>
                            <a:srgbClr val="1A1440"/>
                          </a:solidFill>
                          <a:latin typeface="Calibri"/>
                        </a:rPr>
                        <a:t>Rs 930</a:t>
                      </a:r>
                    </a:p>
                  </a:txBody>
                  <a:tcPr marL="101600" marR="101600" marT="38100" marB="38100" anchor="ctr">
                    <a:solidFill>
                      <a:srgbClr val="FFFFFF"/>
                    </a:solidFill>
                  </a:tcPr>
                </a:tc>
                <a:tc>
                  <a:txBody>
                    <a:bodyPr/>
                    <a:lstStyle/>
                    <a:p>
                      <a:r>
                        <a:rPr sz="1200" b="0" i="0">
                          <a:solidFill>
                            <a:srgbClr val="1A1440"/>
                          </a:solidFill>
                          <a:latin typeface="Calibri"/>
                        </a:rPr>
                        <a:t>Rs 3,76,90,290</a:t>
                      </a:r>
                    </a:p>
                  </a:txBody>
                  <a:tcPr marL="101600" marR="101600" marT="38100" marB="38100" anchor="ctr">
                    <a:solidFill>
                      <a:srgbClr val="FFFFFF"/>
                    </a:solidFill>
                  </a:tcPr>
                </a:tc>
                <a:tc>
                  <a:txBody>
                    <a:bodyPr/>
                    <a:lstStyle/>
                    <a:p>
                      <a:r>
                        <a:rPr sz="1200" b="0" i="0">
                          <a:solidFill>
                            <a:srgbClr val="1A1440"/>
                          </a:solidFill>
                          <a:latin typeface="Calibri"/>
                        </a:rPr>
                        <a:t>Rs 3,45,16,000</a:t>
                      </a:r>
                    </a:p>
                  </a:txBody>
                  <a:tcPr marL="101600" marR="101600" marT="38100" marB="38100" anchor="ctr">
                    <a:solidFill>
                      <a:srgbClr val="FFFFFF"/>
                    </a:solidFill>
                  </a:tcPr>
                </a:tc>
              </a:tr>
              <a:tr h="335280">
                <a:tc>
                  <a:txBody>
                    <a:bodyPr/>
                    <a:lstStyle/>
                    <a:p>
                      <a:r>
                        <a:rPr sz="1200" b="0" i="0">
                          <a:solidFill>
                            <a:srgbClr val="1A1440"/>
                          </a:solidFill>
                          <a:latin typeface="Calibri"/>
                        </a:rPr>
                        <a:t>KR-00580</a:t>
                      </a:r>
                    </a:p>
                  </a:txBody>
                  <a:tcPr marL="101600" marR="101600" marT="38100" marB="38100" anchor="ctr">
                    <a:solidFill>
                      <a:srgbClr val="F4F2FA"/>
                    </a:solidFill>
                  </a:tcPr>
                </a:tc>
                <a:tc>
                  <a:txBody>
                    <a:bodyPr/>
                    <a:lstStyle/>
                    <a:p>
                      <a:r>
                        <a:rPr sz="1200" b="0" i="0">
                          <a:solidFill>
                            <a:srgbClr val="1A1440"/>
                          </a:solidFill>
                          <a:latin typeface="Calibri"/>
                        </a:rPr>
                        <a:t>Rs 8,55,000</a:t>
                      </a:r>
                    </a:p>
                  </a:txBody>
                  <a:tcPr marL="101600" marR="101600" marT="38100" marB="38100" anchor="ctr">
                    <a:solidFill>
                      <a:srgbClr val="F4F2FA"/>
                    </a:solidFill>
                  </a:tcPr>
                </a:tc>
                <a:tc>
                  <a:txBody>
                    <a:bodyPr/>
                    <a:lstStyle/>
                    <a:p>
                      <a:r>
                        <a:rPr sz="1200" b="0" i="0">
                          <a:solidFill>
                            <a:srgbClr val="1A1440"/>
                          </a:solidFill>
                          <a:latin typeface="Calibri"/>
                        </a:rPr>
                        <a:t>Rs 3,76,90,290</a:t>
                      </a:r>
                    </a:p>
                  </a:txBody>
                  <a:tcPr marL="101600" marR="101600" marT="38100" marB="38100" anchor="ctr">
                    <a:solidFill>
                      <a:srgbClr val="F4F2FA"/>
                    </a:solidFill>
                  </a:tcPr>
                </a:tc>
                <a:tc>
                  <a:txBody>
                    <a:bodyPr/>
                    <a:lstStyle/>
                    <a:p>
                      <a:r>
                        <a:rPr sz="1200" b="0" i="0">
                          <a:solidFill>
                            <a:srgbClr val="1A1440"/>
                          </a:solidFill>
                          <a:latin typeface="Calibri"/>
                        </a:rPr>
                        <a:t>Rs 3,53,71,000</a:t>
                      </a:r>
                    </a:p>
                  </a:txBody>
                  <a:tcPr marL="101600" marR="101600" marT="38100" marB="38100" anchor="ctr">
                    <a:solidFill>
                      <a:srgbClr val="F4F2FA"/>
                    </a:solidFill>
                  </a:tcPr>
                </a:tc>
              </a:tr>
              <a:tr h="335280">
                <a:tc>
                  <a:txBody>
                    <a:bodyPr/>
                    <a:lstStyle/>
                    <a:p>
                      <a:r>
                        <a:rPr sz="1200" b="0" i="0">
                          <a:solidFill>
                            <a:srgbClr val="1A1440"/>
                          </a:solidFill>
                          <a:latin typeface="Calibri"/>
                        </a:rPr>
                        <a:t>KR-00979</a:t>
                      </a:r>
                    </a:p>
                  </a:txBody>
                  <a:tcPr marL="101600" marR="101600" marT="38100" marB="38100" anchor="ctr">
                    <a:solidFill>
                      <a:srgbClr val="FFFFFF"/>
                    </a:solidFill>
                  </a:tcPr>
                </a:tc>
                <a:tc>
                  <a:txBody>
                    <a:bodyPr/>
                    <a:lstStyle/>
                    <a:p>
                      <a:r>
                        <a:rPr sz="1200" b="0" i="0">
                          <a:solidFill>
                            <a:srgbClr val="1A1440"/>
                          </a:solidFill>
                          <a:latin typeface="Calibri"/>
                        </a:rPr>
                        <a:t>Rs 970</a:t>
                      </a:r>
                    </a:p>
                  </a:txBody>
                  <a:tcPr marL="101600" marR="101600" marT="38100" marB="38100" anchor="ctr">
                    <a:solidFill>
                      <a:srgbClr val="FFFFFF"/>
                    </a:solidFill>
                  </a:tcPr>
                </a:tc>
                <a:tc>
                  <a:txBody>
                    <a:bodyPr/>
                    <a:lstStyle/>
                    <a:p>
                      <a:r>
                        <a:rPr sz="1200" b="0" i="0">
                          <a:solidFill>
                            <a:srgbClr val="1A1440"/>
                          </a:solidFill>
                          <a:latin typeface="Calibri"/>
                        </a:rPr>
                        <a:t>Rs 3,76,90,290</a:t>
                      </a:r>
                    </a:p>
                  </a:txBody>
                  <a:tcPr marL="101600" marR="101600" marT="38100" marB="38100" anchor="ctr">
                    <a:solidFill>
                      <a:srgbClr val="FFFFFF"/>
                    </a:solidFill>
                  </a:tcPr>
                </a:tc>
                <a:tc>
                  <a:txBody>
                    <a:bodyPr/>
                    <a:lstStyle/>
                    <a:p>
                      <a:r>
                        <a:rPr sz="1200" b="0" i="0">
                          <a:solidFill>
                            <a:srgbClr val="1A1440"/>
                          </a:solidFill>
                          <a:latin typeface="Calibri"/>
                        </a:rPr>
                        <a:t>Rs 3,76,90,290</a:t>
                      </a:r>
                    </a:p>
                  </a:txBody>
                  <a:tcPr marL="101600" marR="101600" marT="38100" marB="38100" anchor="ctr">
                    <a:solidFill>
                      <a:srgbClr val="FFFFFF"/>
                    </a:solidFill>
                  </a:tcPr>
                </a:tc>
              </a:tr>
            </a:tbl>
          </a:graphicData>
        </a:graphic>
      </p:graphicFrame>
      <p:sp>
        <p:nvSpPr>
          <p:cNvPr id="10" name="Rounded Rectangle 9"/>
          <p:cNvSpPr/>
          <p:nvPr/>
        </p:nvSpPr>
        <p:spPr>
          <a:xfrm>
            <a:off x="530352" y="3553968"/>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0157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125468"/>
            <a:ext cx="237744" cy="237744"/>
          </a:xfrm>
          <a:prstGeom prst="rect">
            <a:avLst/>
          </a:prstGeom>
        </p:spPr>
      </p:pic>
      <p:sp>
        <p:nvSpPr>
          <p:cNvPr id="13" name="TextBox 12"/>
          <p:cNvSpPr txBox="1"/>
          <p:nvPr/>
        </p:nvSpPr>
        <p:spPr>
          <a:xfrm>
            <a:off x="1399031" y="3700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3919728"/>
            <a:ext cx="9987991" cy="941832"/>
          </a:xfrm>
          <a:prstGeom prst="rect">
            <a:avLst/>
          </a:prstGeom>
          <a:noFill/>
        </p:spPr>
        <p:txBody>
          <a:bodyPr wrap="square" anchor="t" lIns="0" rIns="0" tIns="0" bIns="0">
            <a:spAutoFit/>
          </a:bodyPr>
          <a:lstStyle/>
          <a:p>
            <a:r>
              <a:rPr sz="1500" b="0" i="0">
                <a:solidFill>
                  <a:srgbClr val="1A1440"/>
                </a:solidFill>
                <a:latin typeface="Calibri"/>
              </a:rPr>
              <a:t>By date alone the figure repeats on every run, and all twelve peers share it, so no row can name the order that crossed. The order id gives every row its own step; it does not make that the true order of the day, since the warehouse records no time, so say which tiebreak the figure uses.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19" name="Oval 18"/>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3" name="Oval 22"/>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S74  ·  83 / 86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unique ORDER BY makes a window deterministic</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makes a window give every row the same figure on every run?</a:t>
            </a:r>
          </a:p>
        </p:txBody>
      </p:sp>
      <p:sp>
        <p:nvSpPr>
          <p:cNvPr id="9" name="TextBox 8"/>
          <p:cNvSpPr txBox="1"/>
          <p:nvPr/>
        </p:nvSpPr>
        <p:spPr>
          <a:xfrm>
            <a:off x="530352" y="1682496"/>
            <a:ext cx="5291175" cy="187756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query is deterministic when the same rows give every row the same figure on every run. Rows that share the window's ORDER BY value are peers: nothing says which of them comes first, and a running SUM adds all of a row's peers at once. Four invented orders, two on 2 July:</a:t>
            </a:r>
          </a:p>
        </p:txBody>
      </p:sp>
      <p:graphicFrame>
        <p:nvGraphicFramePr>
          <p:cNvPr id="10" name="Table 9"/>
          <p:cNvGraphicFramePr>
            <a:graphicFrameLocks noGrp="1"/>
          </p:cNvGraphicFramePr>
          <p:nvPr/>
        </p:nvGraphicFramePr>
        <p:xfrm>
          <a:off x="530352" y="3688080"/>
          <a:ext cx="5291175" cy="1682496"/>
        </p:xfrm>
        <a:graphic>
          <a:graphicData uri="http://schemas.openxmlformats.org/drawingml/2006/table">
            <a:tbl>
              <a:tblPr firstRow="0" bandRow="0">
                <a:tableStyleId>{2D5ABB26-0587-4C30-8999-92F81FD0307C}</a:tableStyleId>
              </a:tblPr>
              <a:tblGrid>
                <a:gridCol w="1238425"/>
                <a:gridCol w="914400"/>
                <a:gridCol w="1036105"/>
                <a:gridCol w="914400"/>
                <a:gridCol w="1187845"/>
              </a:tblGrid>
              <a:tr h="438912">
                <a:tc>
                  <a:txBody>
                    <a:bodyPr/>
                    <a:lstStyle/>
                    <a:p>
                      <a:r>
                        <a:rPr sz="950" b="1" i="0">
                          <a:solidFill>
                            <a:srgbClr val="FFFFFF"/>
                          </a:solidFill>
                          <a:latin typeface="Calibri"/>
                        </a:rPr>
                        <a:t>Order, date (invented)</a:t>
                      </a:r>
                    </a:p>
                  </a:txBody>
                  <a:tcPr marL="101600" marR="101600" marT="38100" marB="38100" anchor="ctr">
                    <a:solidFill>
                      <a:srgbClr val="1A0F5C"/>
                    </a:solidFill>
                  </a:tcPr>
                </a:tc>
                <a:tc>
                  <a:txBody>
                    <a:bodyPr/>
                    <a:lstStyle/>
                    <a:p>
                      <a:r>
                        <a:rPr sz="950" b="1" i="0">
                          <a:solidFill>
                            <a:srgbClr val="FFFFFF"/>
                          </a:solidFill>
                          <a:latin typeface="Calibri"/>
                        </a:rPr>
                        <a:t>Amount</a:t>
                      </a:r>
                    </a:p>
                  </a:txBody>
                  <a:tcPr marL="101600" marR="101600" marT="38100" marB="38100" anchor="ctr">
                    <a:solidFill>
                      <a:srgbClr val="1A0F5C"/>
                    </a:solidFill>
                  </a:tcPr>
                </a:tc>
                <a:tc>
                  <a:txBody>
                    <a:bodyPr/>
                    <a:lstStyle/>
                    <a:p>
                      <a:r>
                        <a:rPr sz="950" b="1" i="0">
                          <a:solidFill>
                            <a:srgbClr val="FFFFFF"/>
                          </a:solidFill>
                          <a:latin typeface="Calibri"/>
                        </a:rPr>
                        <a:t>ROW_NUMBER by date</a:t>
                      </a:r>
                    </a:p>
                  </a:txBody>
                  <a:tcPr marL="101600" marR="101600" marT="38100" marB="38100" anchor="ctr">
                    <a:solidFill>
                      <a:srgbClr val="1A0F5C"/>
                    </a:solidFill>
                  </a:tcPr>
                </a:tc>
                <a:tc>
                  <a:txBody>
                    <a:bodyPr/>
                    <a:lstStyle/>
                    <a:p>
                      <a:r>
                        <a:rPr sz="950" b="1" i="0">
                          <a:solidFill>
                            <a:srgbClr val="FFFFFF"/>
                          </a:solidFill>
                          <a:latin typeface="Calibri"/>
                        </a:rPr>
                        <a:t>SUM by date</a:t>
                      </a:r>
                    </a:p>
                  </a:txBody>
                  <a:tcPr marL="101600" marR="101600" marT="38100" marB="38100" anchor="ctr">
                    <a:solidFill>
                      <a:srgbClr val="1A0F5C"/>
                    </a:solidFill>
                  </a:tcPr>
                </a:tc>
                <a:tc>
                  <a:txBody>
                    <a:bodyPr/>
                    <a:lstStyle/>
                    <a:p>
                      <a:r>
                        <a:rPr sz="950" b="1" i="0">
                          <a:solidFill>
                            <a:srgbClr val="FFFFFF"/>
                          </a:solidFill>
                          <a:latin typeface="Calibri"/>
                        </a:rPr>
                        <a:t>SUM by date, order id</a:t>
                      </a:r>
                    </a:p>
                  </a:txBody>
                  <a:tcPr marL="101600" marR="101600" marT="38100" marB="38100" anchor="ctr">
                    <a:solidFill>
                      <a:srgbClr val="1A0F5C"/>
                    </a:solidFill>
                  </a:tcPr>
                </a:tc>
              </a:tr>
              <a:tr h="310896">
                <a:tc>
                  <a:txBody>
                    <a:bodyPr/>
                    <a:lstStyle/>
                    <a:p>
                      <a:r>
                        <a:rPr sz="900" b="0" i="0">
                          <a:solidFill>
                            <a:srgbClr val="1A1440"/>
                          </a:solidFill>
                          <a:latin typeface="Calibri"/>
                        </a:rPr>
                        <a:t>A-1, 1 Jul</a:t>
                      </a:r>
                    </a:p>
                  </a:txBody>
                  <a:tcPr marL="101600" marR="101600" marT="38100" marB="38100" anchor="ctr">
                    <a:solidFill>
                      <a:srgbClr val="FFFFFF"/>
                    </a:solidFill>
                  </a:tcPr>
                </a:tc>
                <a:tc>
                  <a:txBody>
                    <a:bodyPr/>
                    <a:lstStyle/>
                    <a:p>
                      <a:r>
                        <a:rPr sz="900" b="0" i="0">
                          <a:solidFill>
                            <a:srgbClr val="1A1440"/>
                          </a:solidFill>
                          <a:latin typeface="Calibri"/>
                        </a:rPr>
                        <a:t>Rs 100</a:t>
                      </a:r>
                    </a:p>
                  </a:txBody>
                  <a:tcPr marL="101600" marR="101600" marT="38100" marB="38100" anchor="ctr">
                    <a:solidFill>
                      <a:srgbClr val="FFFFFF"/>
                    </a:solidFill>
                  </a:tcPr>
                </a:tc>
                <a:tc>
                  <a:txBody>
                    <a:bodyPr/>
                    <a:lstStyle/>
                    <a:p>
                      <a:r>
                        <a:rPr sz="900" b="0" i="0">
                          <a:solidFill>
                            <a:srgbClr val="1A1440"/>
                          </a:solidFill>
                          <a:latin typeface="Calibri"/>
                        </a:rPr>
                        <a:t>1</a:t>
                      </a:r>
                    </a:p>
                  </a:txBody>
                  <a:tcPr marL="101600" marR="101600" marT="38100" marB="38100" anchor="ctr">
                    <a:solidFill>
                      <a:srgbClr val="FFFFFF"/>
                    </a:solidFill>
                  </a:tcPr>
                </a:tc>
                <a:tc>
                  <a:txBody>
                    <a:bodyPr/>
                    <a:lstStyle/>
                    <a:p>
                      <a:r>
                        <a:rPr sz="900" b="0" i="0">
                          <a:solidFill>
                            <a:srgbClr val="1A1440"/>
                          </a:solidFill>
                          <a:latin typeface="Calibri"/>
                        </a:rPr>
                        <a:t>Rs 100</a:t>
                      </a:r>
                    </a:p>
                  </a:txBody>
                  <a:tcPr marL="101600" marR="101600" marT="38100" marB="38100" anchor="ctr">
                    <a:solidFill>
                      <a:srgbClr val="FFFFFF"/>
                    </a:solidFill>
                  </a:tcPr>
                </a:tc>
                <a:tc>
                  <a:txBody>
                    <a:bodyPr/>
                    <a:lstStyle/>
                    <a:p>
                      <a:r>
                        <a:rPr sz="900" b="0" i="0">
                          <a:solidFill>
                            <a:srgbClr val="1A1440"/>
                          </a:solidFill>
                          <a:latin typeface="Calibri"/>
                        </a:rPr>
                        <a:t>Rs 100</a:t>
                      </a:r>
                    </a:p>
                  </a:txBody>
                  <a:tcPr marL="101600" marR="101600" marT="38100" marB="38100" anchor="ctr">
                    <a:solidFill>
                      <a:srgbClr val="FFFFFF"/>
                    </a:solidFill>
                  </a:tcPr>
                </a:tc>
              </a:tr>
              <a:tr h="310896">
                <a:tc>
                  <a:txBody>
                    <a:bodyPr/>
                    <a:lstStyle/>
                    <a:p>
                      <a:r>
                        <a:rPr sz="900" b="0" i="0">
                          <a:solidFill>
                            <a:srgbClr val="1A1440"/>
                          </a:solidFill>
                          <a:latin typeface="Calibri"/>
                        </a:rPr>
                        <a:t>A-2, 2 Jul</a:t>
                      </a:r>
                    </a:p>
                  </a:txBody>
                  <a:tcPr marL="101600" marR="101600" marT="38100" marB="38100" anchor="ctr">
                    <a:solidFill>
                      <a:srgbClr val="F4F2FA"/>
                    </a:solidFill>
                  </a:tcPr>
                </a:tc>
                <a:tc>
                  <a:txBody>
                    <a:bodyPr/>
                    <a:lstStyle/>
                    <a:p>
                      <a:r>
                        <a:rPr sz="900" b="0" i="0">
                          <a:solidFill>
                            <a:srgbClr val="1A1440"/>
                          </a:solidFill>
                          <a:latin typeface="Calibri"/>
                        </a:rPr>
                        <a:t>Rs 300</a:t>
                      </a:r>
                    </a:p>
                  </a:txBody>
                  <a:tcPr marL="101600" marR="101600" marT="38100" marB="38100" anchor="ctr">
                    <a:solidFill>
                      <a:srgbClr val="F4F2FA"/>
                    </a:solidFill>
                  </a:tcPr>
                </a:tc>
                <a:tc>
                  <a:txBody>
                    <a:bodyPr/>
                    <a:lstStyle/>
                    <a:p>
                      <a:r>
                        <a:rPr sz="900" b="0" i="0">
                          <a:solidFill>
                            <a:srgbClr val="1A1440"/>
                          </a:solidFill>
                          <a:latin typeface="Calibri"/>
                        </a:rPr>
                        <a:t>2 or 3</a:t>
                      </a:r>
                    </a:p>
                  </a:txBody>
                  <a:tcPr marL="101600" marR="101600" marT="38100" marB="38100" anchor="ctr">
                    <a:solidFill>
                      <a:srgbClr val="F4F2FA"/>
                    </a:solidFill>
                  </a:tcPr>
                </a:tc>
                <a:tc>
                  <a:txBody>
                    <a:bodyPr/>
                    <a:lstStyle/>
                    <a:p>
                      <a:r>
                        <a:rPr sz="900" b="0" i="0">
                          <a:solidFill>
                            <a:srgbClr val="1A1440"/>
                          </a:solidFill>
                          <a:latin typeface="Calibri"/>
                        </a:rPr>
                        <a:t>Rs 600</a:t>
                      </a:r>
                    </a:p>
                  </a:txBody>
                  <a:tcPr marL="101600" marR="101600" marT="38100" marB="38100" anchor="ctr">
                    <a:solidFill>
                      <a:srgbClr val="F4F2FA"/>
                    </a:solidFill>
                  </a:tcPr>
                </a:tc>
                <a:tc>
                  <a:txBody>
                    <a:bodyPr/>
                    <a:lstStyle/>
                    <a:p>
                      <a:r>
                        <a:rPr sz="900" b="0" i="0">
                          <a:solidFill>
                            <a:srgbClr val="1A1440"/>
                          </a:solidFill>
                          <a:latin typeface="Calibri"/>
                        </a:rPr>
                        <a:t>Rs 400</a:t>
                      </a:r>
                    </a:p>
                  </a:txBody>
                  <a:tcPr marL="101600" marR="101600" marT="38100" marB="38100" anchor="ctr">
                    <a:solidFill>
                      <a:srgbClr val="F4F2FA"/>
                    </a:solidFill>
                  </a:tcPr>
                </a:tc>
              </a:tr>
              <a:tr h="310896">
                <a:tc>
                  <a:txBody>
                    <a:bodyPr/>
                    <a:lstStyle/>
                    <a:p>
                      <a:r>
                        <a:rPr sz="900" b="0" i="0">
                          <a:solidFill>
                            <a:srgbClr val="1A1440"/>
                          </a:solidFill>
                          <a:latin typeface="Calibri"/>
                        </a:rPr>
                        <a:t>A-3, 2 Jul</a:t>
                      </a:r>
                    </a:p>
                  </a:txBody>
                  <a:tcPr marL="101600" marR="101600" marT="38100" marB="38100" anchor="ctr">
                    <a:solidFill>
                      <a:srgbClr val="FFFFFF"/>
                    </a:solidFill>
                  </a:tcPr>
                </a:tc>
                <a:tc>
                  <a:txBody>
                    <a:bodyPr/>
                    <a:lstStyle/>
                    <a:p>
                      <a:r>
                        <a:rPr sz="900" b="0" i="0">
                          <a:solidFill>
                            <a:srgbClr val="1A1440"/>
                          </a:solidFill>
                          <a:latin typeface="Calibri"/>
                        </a:rPr>
                        <a:t>Rs 200</a:t>
                      </a:r>
                    </a:p>
                  </a:txBody>
                  <a:tcPr marL="101600" marR="101600" marT="38100" marB="38100" anchor="ctr">
                    <a:solidFill>
                      <a:srgbClr val="FFFFFF"/>
                    </a:solidFill>
                  </a:tcPr>
                </a:tc>
                <a:tc>
                  <a:txBody>
                    <a:bodyPr/>
                    <a:lstStyle/>
                    <a:p>
                      <a:r>
                        <a:rPr sz="900" b="0" i="0">
                          <a:solidFill>
                            <a:srgbClr val="1A1440"/>
                          </a:solidFill>
                          <a:latin typeface="Calibri"/>
                        </a:rPr>
                        <a:t>3 or 2</a:t>
                      </a:r>
                    </a:p>
                  </a:txBody>
                  <a:tcPr marL="101600" marR="101600" marT="38100" marB="38100" anchor="ctr">
                    <a:solidFill>
                      <a:srgbClr val="FFFFFF"/>
                    </a:solidFill>
                  </a:tcPr>
                </a:tc>
                <a:tc>
                  <a:txBody>
                    <a:bodyPr/>
                    <a:lstStyle/>
                    <a:p>
                      <a:r>
                        <a:rPr sz="900" b="0" i="0">
                          <a:solidFill>
                            <a:srgbClr val="1A1440"/>
                          </a:solidFill>
                          <a:latin typeface="Calibri"/>
                        </a:rPr>
                        <a:t>Rs 600</a:t>
                      </a:r>
                    </a:p>
                  </a:txBody>
                  <a:tcPr marL="101600" marR="101600" marT="38100" marB="38100" anchor="ctr">
                    <a:solidFill>
                      <a:srgbClr val="FFFFFF"/>
                    </a:solidFill>
                  </a:tcPr>
                </a:tc>
                <a:tc>
                  <a:txBody>
                    <a:bodyPr/>
                    <a:lstStyle/>
                    <a:p>
                      <a:r>
                        <a:rPr sz="900" b="0" i="0">
                          <a:solidFill>
                            <a:srgbClr val="1A1440"/>
                          </a:solidFill>
                          <a:latin typeface="Calibri"/>
                        </a:rPr>
                        <a:t>Rs 600</a:t>
                      </a:r>
                    </a:p>
                  </a:txBody>
                  <a:tcPr marL="101600" marR="101600" marT="38100" marB="38100" anchor="ctr">
                    <a:solidFill>
                      <a:srgbClr val="FFFFFF"/>
                    </a:solidFill>
                  </a:tcPr>
                </a:tc>
              </a:tr>
              <a:tr h="310896">
                <a:tc>
                  <a:txBody>
                    <a:bodyPr/>
                    <a:lstStyle/>
                    <a:p>
                      <a:r>
                        <a:rPr sz="900" b="0" i="0">
                          <a:solidFill>
                            <a:srgbClr val="1A1440"/>
                          </a:solidFill>
                          <a:latin typeface="Calibri"/>
                        </a:rPr>
                        <a:t>A-4, 3 Jul</a:t>
                      </a:r>
                    </a:p>
                  </a:txBody>
                  <a:tcPr marL="101600" marR="101600" marT="38100" marB="38100" anchor="ctr">
                    <a:solidFill>
                      <a:srgbClr val="F4F2FA"/>
                    </a:solidFill>
                  </a:tcPr>
                </a:tc>
                <a:tc>
                  <a:txBody>
                    <a:bodyPr/>
                    <a:lstStyle/>
                    <a:p>
                      <a:r>
                        <a:rPr sz="900" b="0" i="0">
                          <a:solidFill>
                            <a:srgbClr val="1A1440"/>
                          </a:solidFill>
                          <a:latin typeface="Calibri"/>
                        </a:rPr>
                        <a:t>Rs 400</a:t>
                      </a:r>
                    </a:p>
                  </a:txBody>
                  <a:tcPr marL="101600" marR="101600" marT="38100" marB="38100" anchor="ctr">
                    <a:solidFill>
                      <a:srgbClr val="F4F2FA"/>
                    </a:solidFill>
                  </a:tcPr>
                </a:tc>
                <a:tc>
                  <a:txBody>
                    <a:bodyPr/>
                    <a:lstStyle/>
                    <a:p>
                      <a:r>
                        <a:rPr sz="900" b="0" i="0">
                          <a:solidFill>
                            <a:srgbClr val="1A1440"/>
                          </a:solidFill>
                          <a:latin typeface="Calibri"/>
                        </a:rPr>
                        <a:t>4</a:t>
                      </a:r>
                    </a:p>
                  </a:txBody>
                  <a:tcPr marL="101600" marR="101600" marT="38100" marB="38100" anchor="ctr">
                    <a:solidFill>
                      <a:srgbClr val="F4F2FA"/>
                    </a:solidFill>
                  </a:tcPr>
                </a:tc>
                <a:tc>
                  <a:txBody>
                    <a:bodyPr/>
                    <a:lstStyle/>
                    <a:p>
                      <a:r>
                        <a:rPr sz="900" b="0" i="0">
                          <a:solidFill>
                            <a:srgbClr val="1A1440"/>
                          </a:solidFill>
                          <a:latin typeface="Calibri"/>
                        </a:rPr>
                        <a:t>Rs 1,000</a:t>
                      </a:r>
                    </a:p>
                  </a:txBody>
                  <a:tcPr marL="101600" marR="101600" marT="38100" marB="38100" anchor="ctr">
                    <a:solidFill>
                      <a:srgbClr val="F4F2FA"/>
                    </a:solidFill>
                  </a:tcPr>
                </a:tc>
                <a:tc>
                  <a:txBody>
                    <a:bodyPr/>
                    <a:lstStyle/>
                    <a:p>
                      <a:r>
                        <a:rPr sz="900" b="0" i="0">
                          <a:solidFill>
                            <a:srgbClr val="1A1440"/>
                          </a:solidFill>
                          <a:latin typeface="Calibri"/>
                        </a:rPr>
                        <a:t>Rs 1,000</a:t>
                      </a:r>
                    </a:p>
                  </a:txBody>
                  <a:tcPr marL="101600" marR="101600" marT="38100" marB="38100" anchor="ctr">
                    <a:solidFill>
                      <a:srgbClr val="F4F2FA"/>
                    </a:solidFill>
                  </a:tcPr>
                </a:tc>
              </a:tr>
            </a:tbl>
          </a:graphicData>
        </a:graphic>
      </p:graphicFrame>
      <p:sp>
        <p:nvSpPr>
          <p:cNvPr id="11" name="Rounded Rectangle 10"/>
          <p:cNvSpPr/>
          <p:nvPr/>
        </p:nvSpPr>
        <p:spPr>
          <a:xfrm>
            <a:off x="6370167" y="1682496"/>
            <a:ext cx="5291175" cy="26761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598767" y="27919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list-checks_bd88901d2a37.png"/>
          <p:cNvPicPr>
            <a:picLocks noChangeAspect="1"/>
          </p:cNvPicPr>
          <p:nvPr/>
        </p:nvPicPr>
        <p:blipFill>
          <a:blip r:embed="rId4"/>
          <a:stretch>
            <a:fillRect/>
          </a:stretch>
        </p:blipFill>
        <p:spPr>
          <a:xfrm>
            <a:off x="6708495" y="2901696"/>
            <a:ext cx="237744" cy="237744"/>
          </a:xfrm>
          <a:prstGeom prst="rect">
            <a:avLst/>
          </a:prstGeom>
        </p:spPr>
      </p:pic>
      <p:sp>
        <p:nvSpPr>
          <p:cNvPr id="14" name="TextBox 13"/>
          <p:cNvSpPr txBox="1"/>
          <p:nvPr/>
        </p:nvSpPr>
        <p:spPr>
          <a:xfrm>
            <a:off x="7238847" y="1828800"/>
            <a:ext cx="4148175"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5" name="TextBox 14"/>
          <p:cNvSpPr txBox="1"/>
          <p:nvPr/>
        </p:nvSpPr>
        <p:spPr>
          <a:xfrm>
            <a:off x="7238847" y="2048256"/>
            <a:ext cx="4148175" cy="2237232"/>
          </a:xfrm>
          <a:prstGeom prst="rect">
            <a:avLst/>
          </a:prstGeom>
          <a:noFill/>
        </p:spPr>
        <p:txBody>
          <a:bodyPr wrap="square" anchor="t" lIns="0" rIns="0" tIns="0" bIns="0">
            <a:spAutoFit/>
          </a:bodyPr>
          <a:lstStyle/>
          <a:p>
            <a:r>
              <a:rPr sz="1500" b="0" i="0">
                <a:solidFill>
                  <a:srgbClr val="1A1440"/>
                </a:solidFill>
                <a:latin typeface="Calibri"/>
              </a:rPr>
              <a:t>When each row needs its own figure, as ROW_NUMBER's places and a running total's steps do, end the window's ORDER BY on a column no two rows share, such as the order id, after any business key, and name that tiebreak in the report. RANK gives peers one place on purpose, so the head of Retail-Plus's rule takes no tiebreaker.</a:t>
            </a:r>
          </a:p>
        </p:txBody>
      </p:sp>
      <p:sp>
        <p:nvSpPr>
          <p:cNvPr id="16" name="Rounded Rectangle 15"/>
          <p:cNvSpPr/>
          <p:nvPr/>
        </p:nvSpPr>
        <p:spPr>
          <a:xfrm>
            <a:off x="6370167" y="4523232"/>
            <a:ext cx="5291175"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516471" y="465124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717639" y="4642104"/>
            <a:ext cx="4724247" cy="891540"/>
          </a:xfrm>
          <a:prstGeom prst="rect">
            <a:avLst/>
          </a:prstGeom>
          <a:noFill/>
        </p:spPr>
        <p:txBody>
          <a:bodyPr wrap="square" anchor="ctr" lIns="0" rIns="0" tIns="0" bIns="0">
            <a:spAutoFit/>
          </a:bodyPr>
          <a:lstStyle/>
          <a:p>
            <a:r>
              <a:rPr sz="1500" b="1">
                <a:solidFill>
                  <a:srgbClr val="5B3FD6"/>
                </a:solidFill>
                <a:latin typeface="Calibri"/>
              </a:rPr>
              <a:t>Check yourself. </a:t>
            </a:r>
            <a:r>
              <a:rPr sz="1500" b="0" i="0">
                <a:solidFill>
                  <a:srgbClr val="1A1440"/>
                </a:solidFill>
                <a:latin typeface="Calibri"/>
              </a:rPr>
              <a:t>Which column can name the order that took the running total past Rs 500, and which order does it name?</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1" name="Oval 20"/>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3" name="Oval 22"/>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5" name="Oval 24"/>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7" name="Oval 26"/>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S74a  ·  84 / 86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thirteen plain sums agree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plain sum up to each week's end agree with the running total?</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p.week_start,</a:t>
            </a:r>
          </a:p>
          <a:p>
            <a:pPr>
              <a:spcAft>
                <a:spcPts val="200"/>
              </a:spcAft>
            </a:pPr>
            <a:r>
              <a:rPr sz="1400" b="0" i="0">
                <a:solidFill>
                  <a:srgbClr val="E4E1F1"/>
                </a:solidFill>
                <a:latin typeface="Consolas"/>
              </a:rPr>
              <a:t>       (SELECT sum(o.amount) FROM orders o</a:t>
            </a:r>
          </a:p>
          <a:p>
            <a:pPr>
              <a:spcAft>
                <a:spcPts val="200"/>
              </a:spcAft>
            </a:pPr>
            <a:r>
              <a:rPr sz="1400" b="0" i="0">
                <a:solidFill>
                  <a:srgbClr val="E4E1F1"/>
                </a:solidFill>
                <a:latin typeface="Consolas"/>
              </a:rPr>
              <a:t>        WHERE  o.quarter = 'Q2' AND o.order_date &lt;= p.week_start + 6) AS booked_to_date</a:t>
            </a:r>
          </a:p>
          <a:p>
            <a:pPr>
              <a:spcAft>
                <a:spcPts val="200"/>
              </a:spcAft>
            </a:pPr>
            <a:r>
              <a:rPr sz="1400" b="0" i="0">
                <a:solidFill>
                  <a:srgbClr val="E4E1F1"/>
                </a:solidFill>
                <a:latin typeface="Consolas"/>
              </a:rPr>
              <a:t>FROM   plan_line p;</a:t>
            </a:r>
          </a:p>
        </p:txBody>
      </p:sp>
      <p:sp>
        <p:nvSpPr>
          <p:cNvPr id="14" name="TextBox 13"/>
          <p:cNvSpPr txBox="1"/>
          <p:nvPr/>
        </p:nvSpPr>
        <p:spPr>
          <a:xfrm>
            <a:off x="530352" y="3588512"/>
            <a:ext cx="5428335" cy="698500"/>
          </a:xfrm>
          <a:prstGeom prst="rect">
            <a:avLst/>
          </a:prstGeom>
          <a:noFill/>
        </p:spPr>
        <p:txBody>
          <a:bodyPr wrap="square" anchor="t" lIns="0" rIns="0" tIns="0" bIns="0">
            <a:spAutoFit/>
          </a:bodyPr>
          <a:lstStyle/>
          <a:p>
            <a:pPr algn="l"/>
            <a:r>
              <a:rPr sz="4400" b="0" i="0">
                <a:solidFill>
                  <a:srgbClr val="5B3FD6"/>
                </a:solidFill>
                <a:latin typeface="Georgia"/>
              </a:rPr>
              <a:t>13 of 13</a:t>
            </a:r>
          </a:p>
        </p:txBody>
      </p:sp>
      <p:sp>
        <p:nvSpPr>
          <p:cNvPr id="15" name="TextBox 14"/>
          <p:cNvSpPr txBox="1"/>
          <p:nvPr/>
        </p:nvSpPr>
        <p:spPr>
          <a:xfrm>
            <a:off x="530352" y="4323588"/>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WEEKS AGREE</a:t>
            </a:r>
          </a:p>
        </p:txBody>
      </p:sp>
      <p:sp>
        <p:nvSpPr>
          <p:cNvPr id="16" name="TextBox 15"/>
          <p:cNvSpPr txBox="1"/>
          <p:nvPr/>
        </p:nvSpPr>
        <p:spPr>
          <a:xfrm>
            <a:off x="530352" y="4524756"/>
            <a:ext cx="5428335" cy="193421"/>
          </a:xfrm>
          <a:prstGeom prst="rect">
            <a:avLst/>
          </a:prstGeom>
          <a:noFill/>
        </p:spPr>
        <p:txBody>
          <a:bodyPr wrap="square" anchor="t" lIns="0" rIns="0" tIns="0" bIns="0">
            <a:spAutoFit/>
          </a:bodyPr>
          <a:lstStyle/>
          <a:p>
            <a:pPr algn="l"/>
            <a:r>
              <a:rPr sz="950" b="0" i="0">
                <a:solidFill>
                  <a:srgbClr val="6B6690"/>
                </a:solidFill>
                <a:latin typeface="Calibri"/>
              </a:rPr>
              <a:t>including the first, which ends 12 July</a:t>
            </a:r>
          </a:p>
        </p:txBody>
      </p:sp>
      <p:sp>
        <p:nvSpPr>
          <p:cNvPr id="17" name="Rectangle 16"/>
          <p:cNvSpPr/>
          <p:nvPr/>
        </p:nvSpPr>
        <p:spPr>
          <a:xfrm>
            <a:off x="530352" y="4777232"/>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33007" y="3588512"/>
            <a:ext cx="5428335" cy="698500"/>
          </a:xfrm>
          <a:prstGeom prst="rect">
            <a:avLst/>
          </a:prstGeom>
          <a:noFill/>
        </p:spPr>
        <p:txBody>
          <a:bodyPr wrap="square" anchor="t" lIns="0" rIns="0" tIns="0" bIns="0">
            <a:spAutoFit/>
          </a:bodyPr>
          <a:lstStyle/>
          <a:p>
            <a:pPr algn="l"/>
            <a:r>
              <a:rPr sz="4400" b="0" i="0">
                <a:solidFill>
                  <a:srgbClr val="5B3FD6"/>
                </a:solidFill>
                <a:latin typeface="Georgia"/>
              </a:rPr>
              <a:t>6,006</a:t>
            </a:r>
          </a:p>
        </p:txBody>
      </p:sp>
      <p:sp>
        <p:nvSpPr>
          <p:cNvPr id="19" name="TextBox 18"/>
          <p:cNvSpPr txBox="1"/>
          <p:nvPr/>
        </p:nvSpPr>
        <p:spPr>
          <a:xfrm>
            <a:off x="6233007" y="4323588"/>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ORDER READS</a:t>
            </a:r>
          </a:p>
        </p:txBody>
      </p:sp>
      <p:sp>
        <p:nvSpPr>
          <p:cNvPr id="20" name="TextBox 19"/>
          <p:cNvSpPr txBox="1"/>
          <p:nvPr/>
        </p:nvSpPr>
        <p:spPr>
          <a:xfrm>
            <a:off x="6233007" y="4524756"/>
            <a:ext cx="5428335" cy="193421"/>
          </a:xfrm>
          <a:prstGeom prst="rect">
            <a:avLst/>
          </a:prstGeom>
          <a:noFill/>
        </p:spPr>
        <p:txBody>
          <a:bodyPr wrap="square" anchor="t" lIns="0" rIns="0" tIns="0" bIns="0">
            <a:spAutoFit/>
          </a:bodyPr>
          <a:lstStyle/>
          <a:p>
            <a:pPr algn="l"/>
            <a:r>
              <a:rPr sz="950" b="0" i="0">
                <a:solidFill>
                  <a:srgbClr val="6B6690"/>
                </a:solidFill>
                <a:latin typeface="Calibri"/>
              </a:rPr>
              <a:t>where the window read 462</a:t>
            </a:r>
          </a:p>
        </p:txBody>
      </p:sp>
      <p:sp>
        <p:nvSpPr>
          <p:cNvPr id="21" name="Rectangle 20"/>
          <p:cNvSpPr/>
          <p:nvPr/>
        </p:nvSpPr>
        <p:spPr>
          <a:xfrm>
            <a:off x="6233007" y="4777232"/>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4" name="Oval 2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6" name="Oval 25"/>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8" name="Oval 2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30" name="Oval 29"/>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S75  ·  85 / 86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 plan by the total, below plan by the week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has Q2 kept pace with the plan line, and where was it at mid-quarter?</a:t>
            </a:r>
          </a:p>
        </p:txBody>
      </p:sp>
      <p:graphicFrame>
        <p:nvGraphicFramePr>
          <p:cNvPr id="9" name="Table 8"/>
          <p:cNvGraphicFramePr>
            <a:graphicFrameLocks noGrp="1"/>
          </p:cNvGraphicFramePr>
          <p:nvPr/>
        </p:nvGraphicFramePr>
        <p:xfrm>
          <a:off x="530352" y="1682496"/>
          <a:ext cx="11130990" cy="2176272"/>
        </p:xfrm>
        <a:graphic>
          <a:graphicData uri="http://schemas.openxmlformats.org/drawingml/2006/table">
            <a:tbl>
              <a:tblPr firstRow="0" bandRow="0">
                <a:tableStyleId>{2D5ABB26-0587-4C30-8999-92F81FD0307C}</a:tableStyleId>
              </a:tblPr>
              <a:tblGrid>
                <a:gridCol w="4631466"/>
                <a:gridCol w="6499524"/>
              </a:tblGrid>
              <a:tr h="310896">
                <a:tc>
                  <a:txBody>
                    <a:bodyPr/>
                    <a:lstStyle/>
                    <a:p>
                      <a:r>
                        <a:rPr sz="950" b="1" i="0">
                          <a:solidFill>
                            <a:srgbClr val="FFFFFF"/>
                          </a:solidFill>
                          <a:latin typeface="Calibri"/>
                        </a:rPr>
                        <a:t>The question on the way</a:t>
                      </a:r>
                    </a:p>
                  </a:txBody>
                  <a:tcPr marL="101600" marR="101600" marT="38100" marB="38100" anchor="ctr">
                    <a:solidFill>
                      <a:srgbClr val="1A0F5C"/>
                    </a:solidFill>
                  </a:tcPr>
                </a:tc>
                <a:tc>
                  <a:txBody>
                    <a:bodyPr/>
                    <a:lstStyle/>
                    <a:p>
                      <a:r>
                        <a:rPr sz="950" b="1" i="0">
                          <a:solidFill>
                            <a:srgbClr val="FFFFFF"/>
                          </a:solidFill>
                          <a:latin typeface="Calibri"/>
                        </a:rPr>
                        <a:t>The answer</a:t>
                      </a:r>
                    </a:p>
                  </a:txBody>
                  <a:tcPr marL="101600" marR="101600" marT="38100" marB="38100" anchor="ctr">
                    <a:solidFill>
                      <a:srgbClr val="1A0F5C"/>
                    </a:solidFill>
                  </a:tcPr>
                </a:tc>
              </a:tr>
              <a:tr h="310896">
                <a:tc>
                  <a:txBody>
                    <a:bodyPr/>
                    <a:lstStyle/>
                    <a:p>
                      <a:r>
                        <a:rPr sz="900" b="0" i="0">
                          <a:solidFill>
                            <a:srgbClr val="1A1440"/>
                          </a:solidFill>
                          <a:latin typeface="Calibri"/>
                        </a:rPr>
                        <a:t>1. Which way, at what cost?</a:t>
                      </a:r>
                    </a:p>
                  </a:txBody>
                  <a:tcPr marL="101600" marR="101600" marT="38100" marB="38100" anchor="ctr">
                    <a:solidFill>
                      <a:srgbClr val="FFFFFF"/>
                    </a:solidFill>
                  </a:tcPr>
                </a:tc>
                <a:tc>
                  <a:txBody>
                    <a:bodyPr/>
                    <a:lstStyle/>
                    <a:p>
                      <a:r>
                        <a:rPr sz="900" b="0" i="0">
                          <a:solidFill>
                            <a:srgbClr val="1A1440"/>
                          </a:solidFill>
                          <a:latin typeface="Calibri"/>
                        </a:rPr>
                        <a:t>A running SUM in a window: 462 rows read once</a:t>
                      </a:r>
                    </a:p>
                  </a:txBody>
                  <a:tcPr marL="101600" marR="101600" marT="38100" marB="38100" anchor="ctr">
                    <a:solidFill>
                      <a:srgbClr val="FFFFFF"/>
                    </a:solidFill>
                  </a:tcPr>
                </a:tc>
              </a:tr>
              <a:tr h="310896">
                <a:tc>
                  <a:txBody>
                    <a:bodyPr/>
                    <a:lstStyle/>
                    <a:p>
                      <a:r>
                        <a:rPr sz="900" b="0" i="0">
                          <a:solidFill>
                            <a:srgbClr val="1A1440"/>
                          </a:solidFill>
                          <a:latin typeface="Calibri"/>
                        </a:rPr>
                        <a:t>2. How much by each week's end?</a:t>
                      </a:r>
                    </a:p>
                  </a:txBody>
                  <a:tcPr marL="101600" marR="101600" marT="38100" marB="38100" anchor="ctr">
                    <a:solidFill>
                      <a:srgbClr val="F4F2FA"/>
                    </a:solidFill>
                  </a:tcPr>
                </a:tc>
                <a:tc>
                  <a:txBody>
                    <a:bodyPr/>
                    <a:lstStyle/>
                    <a:p>
                      <a:r>
                        <a:rPr sz="900" b="0" i="0">
                          <a:solidFill>
                            <a:srgbClr val="1A1440"/>
                          </a:solidFill>
                          <a:latin typeface="Calibri"/>
                        </a:rPr>
                        <a:t>The plan-first build: Rs 15,39,810 short</a:t>
                      </a:r>
                    </a:p>
                  </a:txBody>
                  <a:tcPr marL="101600" marR="101600" marT="38100" marB="38100" anchor="ctr">
                    <a:solidFill>
                      <a:srgbClr val="F4F2FA"/>
                    </a:solidFill>
                  </a:tcPr>
                </a:tc>
              </a:tr>
              <a:tr h="310896">
                <a:tc>
                  <a:txBody>
                    <a:bodyPr/>
                    <a:lstStyle/>
                    <a:p>
                      <a:r>
                        <a:rPr sz="900" b="0" i="0">
                          <a:solidFill>
                            <a:srgbClr val="1A1440"/>
                          </a:solidFill>
                          <a:latin typeface="Calibri"/>
                        </a:rPr>
                        <a:t>3. Does it close on Q2?</a:t>
                      </a:r>
                    </a:p>
                  </a:txBody>
                  <a:tcPr marL="101600" marR="101600" marT="38100" marB="38100" anchor="ctr">
                    <a:solidFill>
                      <a:srgbClr val="FFFFFF"/>
                    </a:solidFill>
                  </a:tcPr>
                </a:tc>
                <a:tc>
                  <a:txBody>
                    <a:bodyPr/>
                    <a:lstStyle/>
                    <a:p>
                      <a:r>
                        <a:rPr sz="900" b="0" i="0">
                          <a:solidFill>
                            <a:srgbClr val="1A1440"/>
                          </a:solidFill>
                          <a:latin typeface="Calibri"/>
                        </a:rPr>
                        <a:t>Once 1 to 5 July count: Rs 10 ahead</a:t>
                      </a:r>
                    </a:p>
                  </a:txBody>
                  <a:tcPr marL="101600" marR="101600" marT="38100" marB="38100" anchor="ctr">
                    <a:solidFill>
                      <a:srgbClr val="FFFFFF"/>
                    </a:solidFill>
                  </a:tcPr>
                </a:tc>
              </a:tr>
              <a:tr h="310896">
                <a:tc>
                  <a:txBody>
                    <a:bodyPr/>
                    <a:lstStyle/>
                    <a:p>
                      <a:r>
                        <a:rPr sz="900" b="0" i="0">
                          <a:solidFill>
                            <a:srgbClr val="1A1440"/>
                          </a:solidFill>
                          <a:latin typeface="Calibri"/>
                        </a:rPr>
                        <a:t>4. Where at week 7 of 13?</a:t>
                      </a:r>
                    </a:p>
                  </a:txBody>
                  <a:tcPr marL="101600" marR="101600" marT="38100" marB="38100" anchor="ctr">
                    <a:solidFill>
                      <a:srgbClr val="F4F2FA"/>
                    </a:solidFill>
                  </a:tcPr>
                </a:tc>
                <a:tc>
                  <a:txBody>
                    <a:bodyPr/>
                    <a:lstStyle/>
                    <a:p>
                      <a:r>
                        <a:rPr sz="900" b="0" i="0">
                          <a:solidFill>
                            <a:srgbClr val="1A1440"/>
                          </a:solidFill>
                          <a:latin typeface="Calibri"/>
                        </a:rPr>
                        <a:t>Rs 1.58 crore ahead, from one July week</a:t>
                      </a:r>
                    </a:p>
                  </a:txBody>
                  <a:tcPr marL="101600" marR="101600" marT="38100" marB="38100" anchor="ctr">
                    <a:solidFill>
                      <a:srgbClr val="F4F2FA"/>
                    </a:solidFill>
                  </a:tcPr>
                </a:tc>
              </a:tr>
              <a:tr h="310896">
                <a:tc>
                  <a:txBody>
                    <a:bodyPr/>
                    <a:lstStyle/>
                    <a:p>
                      <a:r>
                        <a:rPr sz="900" b="0" i="0">
                          <a:solidFill>
                            <a:srgbClr val="1A1440"/>
                          </a:solidFill>
                          <a:latin typeface="Calibri"/>
                        </a:rPr>
                        <a:t>5. Which order crossed?</a:t>
                      </a:r>
                    </a:p>
                  </a:txBody>
                  <a:tcPr marL="101600" marR="101600" marT="38100" marB="38100" anchor="ctr">
                    <a:solidFill>
                      <a:srgbClr val="FFFFFF"/>
                    </a:solidFill>
                  </a:tcPr>
                </a:tc>
                <a:tc>
                  <a:txBody>
                    <a:bodyPr/>
                    <a:lstStyle/>
                    <a:p>
                      <a:r>
                        <a:rPr sz="900" b="0" i="0">
                          <a:solidFill>
                            <a:srgbClr val="1A1440"/>
                          </a:solidFill>
                          <a:latin typeface="Calibri"/>
                        </a:rPr>
                        <a:t>Only a unique tiebreak can say</a:t>
                      </a:r>
                    </a:p>
                  </a:txBody>
                  <a:tcPr marL="101600" marR="101600" marT="38100" marB="38100" anchor="ctr">
                    <a:solidFill>
                      <a:srgbClr val="FFFFFF"/>
                    </a:solidFill>
                  </a:tcPr>
                </a:tc>
              </a:tr>
              <a:tr h="310896">
                <a:tc>
                  <a:txBody>
                    <a:bodyPr/>
                    <a:lstStyle/>
                    <a:p>
                      <a:r>
                        <a:rPr sz="900" b="0" i="0">
                          <a:solidFill>
                            <a:srgbClr val="1A1440"/>
                          </a:solidFill>
                          <a:latin typeface="Calibri"/>
                        </a:rPr>
                        <a:t>6. Does a plain sum agree?</a:t>
                      </a:r>
                    </a:p>
                  </a:txBody>
                  <a:tcPr marL="101600" marR="101600" marT="38100" marB="38100" anchor="ctr">
                    <a:solidFill>
                      <a:srgbClr val="F4F2FA"/>
                    </a:solidFill>
                  </a:tcPr>
                </a:tc>
                <a:tc>
                  <a:txBody>
                    <a:bodyPr/>
                    <a:lstStyle/>
                    <a:p>
                      <a:r>
                        <a:rPr sz="900" b="0" i="0">
                          <a:solidFill>
                            <a:srgbClr val="1A1440"/>
                          </a:solidFill>
                          <a:latin typeface="Calibri"/>
                        </a:rPr>
                        <a:t>Yes, in all thirteen weeks</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606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70400"/>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510032"/>
          </a:xfrm>
          <a:prstGeom prst="rect">
            <a:avLst/>
          </a:prstGeom>
          <a:noFill/>
        </p:spPr>
        <p:txBody>
          <a:bodyPr wrap="square" anchor="t" lIns="0" rIns="0" tIns="0" bIns="0">
            <a:spAutoFit/>
          </a:bodyPr>
          <a:lstStyle/>
          <a:p>
            <a:r>
              <a:rPr sz="1000" b="0" i="0">
                <a:solidFill>
                  <a:srgbClr val="1A1440"/>
                </a:solidFill>
                <a:latin typeface="Calibri"/>
              </a:rPr>
              <a:t>"A running total is finished when its last value equals the total you can count without it. Close the loop on Monday's Rs 9,84,00,000 before you say ahead or behind."</a:t>
            </a:r>
          </a:p>
        </p:txBody>
      </p:sp>
      <p:sp>
        <p:nvSpPr>
          <p:cNvPr id="15" name="Rounded Rectangle 14"/>
          <p:cNvSpPr/>
          <p:nvPr/>
        </p:nvSpPr>
        <p:spPr>
          <a:xfrm>
            <a:off x="530352" y="52283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11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20944"/>
            <a:ext cx="237744" cy="237744"/>
          </a:xfrm>
          <a:prstGeom prst="rect">
            <a:avLst/>
          </a:prstGeom>
        </p:spPr>
      </p:pic>
      <p:sp>
        <p:nvSpPr>
          <p:cNvPr id="18" name="TextBox 17"/>
          <p:cNvSpPr txBox="1"/>
          <p:nvPr/>
        </p:nvSpPr>
        <p:spPr>
          <a:xfrm>
            <a:off x="1399031" y="53746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94096"/>
            <a:ext cx="9987991" cy="384048"/>
          </a:xfrm>
          <a:prstGeom prst="rect">
            <a:avLst/>
          </a:prstGeom>
          <a:noFill/>
        </p:spPr>
        <p:txBody>
          <a:bodyPr wrap="square" anchor="t" lIns="0" rIns="0" tIns="0" bIns="0">
            <a:spAutoFit/>
          </a:bodyPr>
          <a:lstStyle/>
          <a:p>
            <a:r>
              <a:rPr sz="1000" b="0" i="0">
                <a:solidFill>
                  <a:srgbClr val="1A1440"/>
                </a:solidFill>
                <a:latin typeface="Calibri"/>
              </a:rPr>
              <a:t>[F] What makes a running total deterministic? [D] Your running total closes below the quarter's total: what do you check first?</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are the top fifty?</a:t>
            </a:r>
          </a:p>
        </p:txBody>
      </p:sp>
      <p:sp>
        <p:nvSpPr>
          <p:cNvPr id="22" name="Oval 2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Top fifty per segment?</a:t>
            </a:r>
          </a:p>
        </p:txBody>
      </p:sp>
      <p:sp>
        <p:nvSpPr>
          <p:cNvPr id="24" name="Oval 23"/>
          <p:cNvSpPr/>
          <p:nvPr/>
        </p:nvSpPr>
        <p:spPr>
          <a:xfrm>
            <a:off x="350558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Who makes it at a tie?</a:t>
            </a:r>
          </a:p>
        </p:txBody>
      </p:sp>
      <p:sp>
        <p:nvSpPr>
          <p:cNvPr id="26" name="Oval 2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Whose spend is falling?</a:t>
            </a:r>
          </a:p>
        </p:txBody>
      </p:sp>
      <p:sp>
        <p:nvSpPr>
          <p:cNvPr id="28" name="Oval 27"/>
          <p:cNvSpPr/>
          <p:nvPr/>
        </p:nvSpPr>
        <p:spPr>
          <a:xfrm>
            <a:off x="65268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3654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On track against plan?</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S76  ·  86 / 86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