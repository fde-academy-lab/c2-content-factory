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run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 has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take two minutes to write it one way with GROUP BY. Let somebody try GROUP BY</a:t>
            </a:r>
          </a:p>
          <a:p>
            <a:r>
              <a:t>segment and somebody LIMIT 50, and credit the attempt whether or not it works. Letters in chat. Then</a:t>
            </a:r>
          </a:p>
          <a:p>
            <a:r>
              <a:t>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D breaks the data platform lead's rule, "query it, do not export it". A answers in orders,</a:t>
            </a:r>
          </a:p>
          <a:p>
            <a:r>
              <a:t>which the chapter comes back to. Then the picture of option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Ranked across the whole book, any Business buyer outranks every</a:t>
            </a:r>
          </a:p>
          <a:p>
            <a:r>
              <a:t>retail member. Hold that thought for 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built on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that is what makes it a second route. It moves 462 rows out of the warehouse to confirm what</a:t>
            </a:r>
          </a:p>
          <a:p>
            <a:r>
              <a:t>the query returns in 50, so it runs as the check and the query is what Marketing gets.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and 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its lists</a:t>
            </a:r>
          </a:p>
          <a:p>
            <a:r>
              <a:t>say "updated frequently". JEE Advanced does the same with people: it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turns Marketing's rule, fifty or every buyer, into one number per segment, and it flags</a:t>
            </a:r>
          </a:p>
          <a:p>
            <a:r>
              <a:t>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an error the room may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It is an error met on the way, never</a:t>
            </a:r>
          </a:p>
          <a:p>
            <a:r>
              <a:t>a trap.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Then chapter 3, the head of Retail-Plus's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 run beside it. Never cut the</a:t>
            </a:r>
          </a:p>
          <a:p>
            <a:r>
              <a:t>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was</a:t>
            </a:r>
          </a:p>
          <a:p>
            <a:r>
              <a:t>placed third with the bronze; no silver (World Athletics results, checked 1 October 2026). Then</a:t>
            </a:r>
          </a:p>
          <a:p>
            <a:r>
              <a:t>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top four: A Rs 9,100, B 8,800, C 8,200, D 7,400, E 7,400, F 6,900,</a:t>
            </a:r>
          </a:p>
          <a:p>
            <a:r>
              <a:t>with D and E tied at fourth. Whole ties only has no function of its own: count(*) OVER (PARTITION</a:t>
            </a:r>
          </a:p>
          <a:p>
            <a:r>
              <a:t>BY q2_revenue) gives each member the number who share their figure, and rank + tied_with - 1 is the</a:t>
            </a:r>
          </a:p>
          <a:p>
            <a:r>
              <a:t>last place the tie reaches. A good tiebreaker under a cap is a business reason, such as more Q2</a:t>
            </a:r>
          </a:p>
          <a:p>
            <a:r>
              <a:t>orders first. Then predict the three functions.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line itself.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instead of fifty.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step 2.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step 3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LAG's second</a:t>
            </a:r>
          </a:p>
          <a:p>
            <a:r>
              <a:t>step back from that September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91 is 13 times</a:t>
            </a:r>
          </a:p>
          <a:p>
            <a:r>
              <a:t>14 over 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they were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5.png"/><Relationship Id="rId6"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0.png"/><Relationship Id="rId6"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5.png"/><Relationship Id="rId6"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15.png"/><Relationship Id="rId6" Type="http://schemas.openxmlformats.org/officeDocument/2006/relationships/image" Target="../media/image3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10.png"/><Relationship Id="rId6"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ask needs its own kind of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8" cy="2505456"/>
        </p:xfrm>
        <a:graphic>
          <a:graphicData uri="http://schemas.openxmlformats.org/drawingml/2006/table">
            <a:tbl>
              <a:tblPr firstRow="0" bandRow="0">
                <a:tableStyleId>{2D5ABB26-0587-4C30-8999-92F81FD0307C}</a:tableStyleId>
              </a:tblPr>
              <a:tblGrid>
                <a:gridCol w="1950554"/>
                <a:gridCol w="2858401"/>
                <a:gridCol w="2934055"/>
                <a:gridCol w="3387978"/>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answer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tool every analyst already knows could produce a top fifty per segment?</a:t>
            </a:r>
          </a:p>
        </p:txBody>
      </p:sp>
      <p:pic>
        <p:nvPicPr>
          <p:cNvPr id="9" name="mermaid diagram" descr="770a3fadea706e50.png"/>
          <p:cNvPicPr>
            <a:picLocks noChangeAspect="1"/>
          </p:cNvPicPr>
          <p:nvPr/>
        </p:nvPicPr>
        <p:blipFill>
          <a:blip r:embed="rId5"/>
          <a:stretch>
            <a:fillRect/>
          </a:stretch>
        </p:blipFill>
        <p:spPr>
          <a:xfrm>
            <a:off x="1781022" y="1956816"/>
            <a:ext cx="8629650"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tool every analyst already knows could produce a top fifty per segment?</a:t>
            </a:r>
          </a:p>
        </p:txBody>
      </p:sp>
      <p:pic>
        <p:nvPicPr>
          <p:cNvPr id="9" name="mermaid diagram" descr="03fde1f5e6e97dfb.png"/>
          <p:cNvPicPr>
            <a:picLocks noChangeAspect="1"/>
          </p:cNvPicPr>
          <p:nvPr/>
        </p:nvPicPr>
        <p:blipFill>
          <a:blip r:embed="rId6"/>
          <a:stretch>
            <a:fillRect/>
          </a:stretch>
        </p:blipFill>
        <p:spPr>
          <a:xfrm>
            <a:off x="1981047" y="1956816"/>
            <a:ext cx="82296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72972bbe8635c445.png"/>
          <p:cNvPicPr>
            <a:picLocks noChangeAspect="1"/>
          </p:cNvPicPr>
          <p:nvPr/>
        </p:nvPicPr>
        <p:blipFill>
          <a:blip r:embed="rId5"/>
          <a:stretch>
            <a:fillRect/>
          </a:stretch>
        </p:blipFill>
        <p:spPr>
          <a:xfrm>
            <a:off x="3402653" y="1956816"/>
            <a:ext cx="5386387" cy="2714625"/>
          </a:xfrm>
          <a:prstGeom prst="rect">
            <a:avLst/>
          </a:prstGeom>
        </p:spPr>
      </p:pic>
      <p:sp>
        <p:nvSpPr>
          <p:cNvPr id="10" name="TextBox 9"/>
          <p:cNvSpPr txBox="1"/>
          <p:nvPr/>
        </p:nvSpPr>
        <p:spPr>
          <a:xfrm>
            <a:off x="530352" y="48177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fifty spent most?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segments does it reach?</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Counted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50 rows leave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317652"/>
                <a:gridCol w="2389380"/>
                <a:gridCol w="2427945"/>
                <a:gridCol w="19960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Leaves the warehouse</a:t>
                      </a:r>
                    </a:p>
                  </a:txBody>
                  <a:tcPr marL="101600" marR="101600" marT="38100" marB="38100" anchor="ctr">
                    <a:solidFill>
                      <a:srgbClr val="1A0F5C"/>
                    </a:solidFill>
                  </a:tcPr>
                </a:tc>
                <a:tc>
                  <a:txBody>
                    <a:bodyPr/>
                    <a:lstStyle/>
                    <a:p>
                      <a:r>
                        <a:rPr sz="1250" b="1" i="0">
                          <a:solidFill>
                            <a:srgbClr val="FFFFFF"/>
                          </a:solidFill>
                          <a:latin typeface="Calibri"/>
                        </a:rPr>
                        <a:t>Per-segment list</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50 order rows</a:t>
                      </a:r>
                    </a:p>
                  </a:txBody>
                  <a:tcPr marL="101600" marR="101600" marT="38100" marB="38100" anchor="ctr">
                    <a:solidFill>
                      <a:srgbClr val="FFFFFF"/>
                    </a:solidFill>
                  </a:tcPr>
                </a:tc>
                <a:tc>
                  <a:txBody>
                    <a:bodyPr/>
                    <a:lstStyle/>
                    <a:p>
                      <a:r>
                        <a:rPr sz="1200" b="0" i="0">
                          <a:solidFill>
                            <a:srgbClr val="1A1440"/>
                          </a:solidFill>
                          <a:latin typeface="Calibri"/>
                        </a:rPr>
                        <a:t>impossible</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50 rows</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50 rows</a:t>
                      </a:r>
                    </a:p>
                  </a:txBody>
                  <a:tcPr marL="101600" marR="101600" marT="38100" marB="38100" anchor="ctr">
                    <a:solidFill>
                      <a:srgbClr val="FFFFFF"/>
                    </a:solidFill>
                  </a:tcPr>
                </a:tc>
                <a:tc>
                  <a:txBody>
                    <a:bodyPr/>
                    <a:lstStyle/>
                    <a:p>
                      <a:r>
                        <a:rPr sz="1200" b="0" i="0">
                          <a:solidFill>
                            <a:srgbClr val="1A1440"/>
                          </a:solidFill>
                          <a:latin typeface="Calibri"/>
                        </a:rPr>
                        <a:t>1 more phrase</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all 462 Q2 orders</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0f3897a4ac39a8cd.png"/>
          <p:cNvPicPr>
            <a:picLocks noChangeAspect="1"/>
          </p:cNvPicPr>
          <p:nvPr/>
        </p:nvPicPr>
        <p:blipFill>
          <a:blip r:embed="rId5"/>
          <a:stretch>
            <a:fillRect/>
          </a:stretch>
        </p:blipFill>
        <p:spPr>
          <a:xfrm>
            <a:off x="530352" y="1956816"/>
            <a:ext cx="11130991" cy="1368214"/>
          </a:xfrm>
          <a:prstGeom prst="rect">
            <a:avLst/>
          </a:prstGeom>
        </p:spPr>
      </p:pic>
      <p:sp>
        <p:nvSpPr>
          <p:cNvPr id="10" name="TextBox 9"/>
          <p:cNvSpPr txBox="1"/>
          <p:nvPr/>
        </p:nvSpPr>
        <p:spPr>
          <a:xfrm>
            <a:off x="530352" y="347133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and every Business buyer is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d64ee48375f79028.png"/>
          <p:cNvPicPr>
            <a:picLocks noChangeAspect="1"/>
          </p:cNvPicPr>
          <p:nvPr/>
        </p:nvPicPr>
        <p:blipFill>
          <a:blip r:embed="rId5"/>
          <a:stretch>
            <a:fillRect/>
          </a:stretch>
        </p:blipFill>
        <p:spPr>
          <a:xfrm>
            <a:off x="3338360" y="1956816"/>
            <a:ext cx="55149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36f04300a8bc2640.png"/>
          <p:cNvPicPr>
            <a:picLocks noChangeAspect="1"/>
          </p:cNvPicPr>
          <p:nvPr/>
        </p:nvPicPr>
        <p:blipFill>
          <a:blip r:embed="rId5"/>
          <a:stretch>
            <a:fillRect/>
          </a:stretch>
        </p:blipFill>
        <p:spPr>
          <a:xfrm>
            <a:off x="2523972" y="1956816"/>
            <a:ext cx="714375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783644"/>
                <a:gridCol w="634734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Group, then number in a window: 50 rows leave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member book?</a:t>
                      </a:r>
                    </a:p>
                  </a:txBody>
                  <a:tcPr marL="101600" marR="101600" marT="38100" marB="38100" anchor="ctr">
                    <a:solidFill>
                      <a:srgbClr val="F4F2FA"/>
                    </a:solidFill>
                  </a:tcPr>
                </a:tc>
                <a:tc>
                  <a:txBody>
                    <a:bodyPr/>
                    <a:lstStyle/>
                    <a:p>
                      <a:r>
                        <a:rPr sz="900" b="0" i="0">
                          <a:solidFill>
                            <a:srgbClr val="1A1440"/>
                          </a:solidFill>
                          <a:latin typeface="Calibri"/>
                        </a:rPr>
                        <a:t>227 rows, all 462 orders and Rs 9,84,00,000</a:t>
                      </a:r>
                    </a:p>
                  </a:txBody>
                  <a:tcPr marL="101600" marR="101600" marT="38100" marB="38100" anchor="ctr">
                    <a:solidFill>
                      <a:srgbClr val="F4F2FA"/>
                    </a:solidFill>
                  </a:tcPr>
                </a:tc>
              </a:tr>
              <a:tr h="310896">
                <a:tc>
                  <a:txBody>
                    <a:bodyPr/>
                    <a:lstStyle/>
                    <a:p>
                      <a:r>
                        <a:rPr sz="900" b="0" i="0">
                          <a:solidFill>
                            <a:srgbClr val="1A1440"/>
                          </a:solidFill>
                          <a:latin typeface="Calibri"/>
                        </a:rPr>
                        <a:t>3. Which fifty spent most?</a:t>
                      </a:r>
                    </a:p>
                  </a:txBody>
                  <a:tcPr marL="101600" marR="101600" marT="38100" marB="38100" anchor="ctr">
                    <a:solidFill>
                      <a:srgbClr val="FFFFFF"/>
                    </a:solidFill>
                  </a:tcPr>
                </a:tc>
                <a:tc>
                  <a:txBody>
                    <a:bodyPr/>
                    <a:lstStyle/>
                    <a:p>
                      <a:r>
                        <a:rPr sz="900" b="0" i="0">
                          <a:solidFill>
                            <a:srgbClr val="1A1440"/>
                          </a:solidFill>
                          <a:latin typeface="Calibri"/>
                        </a:rPr>
                        <a:t>35 Business, 11 Retail-Plus, 4 Retail-Core</a:t>
                      </a:r>
                    </a:p>
                  </a:txBody>
                  <a:tcPr marL="101600" marR="101600" marT="38100" marB="38100" anchor="ctr">
                    <a:solidFill>
                      <a:srgbClr val="FFFFFF"/>
                    </a:solidFill>
                  </a:tcPr>
                </a:tc>
              </a:tr>
              <a:tr h="310896">
                <a:tc>
                  <a:txBody>
                    <a:bodyPr/>
                    <a:lstStyle/>
                    <a:p>
                      <a:r>
                        <a:rPr sz="9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900" b="0" i="0">
                          <a:solidFill>
                            <a:srgbClr val="1A1440"/>
                          </a:solidFill>
                          <a:latin typeface="Calibri"/>
                        </a:rPr>
                        <a:t>50 orders naming 28 members, all Business</a:t>
                      </a:r>
                    </a:p>
                  </a:txBody>
                  <a:tcPr marL="101600" marR="101600" marT="38100" marB="38100" anchor="ctr">
                    <a:solidFill>
                      <a:srgbClr val="F4F2FA"/>
                    </a:solidFill>
                  </a:tcPr>
                </a:tc>
              </a:tr>
              <a:tr h="310896">
                <a:tc>
                  <a:txBody>
                    <a:bodyPr/>
                    <a:lstStyle/>
                    <a:p>
                      <a:r>
                        <a:rPr sz="900" b="0" i="0">
                          <a:solidFill>
                            <a:srgbClr val="1A1440"/>
                          </a:solidFill>
                          <a:latin typeface="Calibri"/>
                        </a:rPr>
                        <a:t>5. Which segments does it reach?</a:t>
                      </a:r>
                    </a:p>
                  </a:txBody>
                  <a:tcPr marL="101600" marR="101600" marT="38100" marB="38100" anchor="ctr">
                    <a:solidFill>
                      <a:srgbClr val="FFFFFF"/>
                    </a:solidFill>
                  </a:tcPr>
                </a:tc>
                <a:tc>
                  <a:txBody>
                    <a:bodyPr/>
                    <a:lstStyle/>
                    <a:p>
                      <a:r>
                        <a:rPr sz="900" b="0" i="0">
                          <a:solidFill>
                            <a:srgbClr val="1A1440"/>
                          </a:solidFill>
                          <a:latin typeface="Calibri"/>
                        </a:rPr>
                        <a:t>Three; Student none</a:t>
                      </a:r>
                    </a:p>
                  </a:txBody>
                  <a:tcPr marL="101600" marR="101600" marT="38100" marB="38100" anchor="ctr">
                    <a:solidFill>
                      <a:srgbClr val="FFFFFF"/>
                    </a:solidFill>
                  </a:tcPr>
                </a:tc>
              </a:tr>
              <a:tr h="310896">
                <a:tc>
                  <a:txBody>
                    <a:bodyPr/>
                    <a:lstStyle/>
                    <a:p>
                      <a:r>
                        <a:rPr sz="900" b="0" i="0">
                          <a:solidFill>
                            <a:srgbClr val="1A1440"/>
                          </a:solidFill>
                          <a:latin typeface="Calibri"/>
                        </a:rPr>
                        <a:t>6. Does Python agree?</a:t>
                      </a:r>
                    </a:p>
                  </a:txBody>
                  <a:tcPr marL="101600" marR="101600" marT="38100" marB="38100" anchor="ctr">
                    <a:solidFill>
                      <a:srgbClr val="F4F2FA"/>
                    </a:solidFill>
                  </a:tcPr>
                </a:tc>
                <a:tc>
                  <a:txBody>
                    <a:bodyPr/>
                    <a:lstStyle/>
                    <a:p>
                      <a:r>
                        <a:rPr sz="900" b="0" i="0">
                          <a:solidFill>
                            <a:srgbClr val="1A1440"/>
                          </a:solidFill>
                          <a:latin typeface="Calibri"/>
                        </a:rPr>
                        <a:t>Yes, member for member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the tier's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8001d082b7b5225e.png"/>
          <p:cNvPicPr>
            <a:picLocks noChangeAspect="1"/>
          </p:cNvPicPr>
          <p:nvPr/>
        </p:nvPicPr>
        <p:blipFill>
          <a:blip r:embed="rId6"/>
          <a:stretch>
            <a:fillRect/>
          </a:stretch>
        </p:blipFill>
        <p:spPr>
          <a:xfrm>
            <a:off x="3466947" y="1956816"/>
            <a:ext cx="5257800" cy="2543175"/>
          </a:xfrm>
          <a:prstGeom prst="rect">
            <a:avLst/>
          </a:prstGeom>
        </p:spPr>
      </p:pic>
      <p:sp>
        <p:nvSpPr>
          <p:cNvPr id="10" name="Rounded Rectangle 9"/>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3" name="TextBox 12"/>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78fc7e194e5b146d.png"/>
          <p:cNvPicPr>
            <a:picLocks noChangeAspect="1"/>
          </p:cNvPicPr>
          <p:nvPr/>
        </p:nvPicPr>
        <p:blipFill>
          <a:blip r:embed="rId5"/>
          <a:stretch>
            <a:fillRect/>
          </a:stretch>
        </p:blipFill>
        <p:spPr>
          <a:xfrm>
            <a:off x="3552672" y="1956816"/>
            <a:ext cx="5086350" cy="364331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155, fifty or every buyer per segment;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Retail-Plus 11, Student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6407158bcc4d4c03.png"/>
          <p:cNvPicPr>
            <a:picLocks noChangeAspect="1"/>
          </p:cNvPicPr>
          <p:nvPr/>
        </p:nvPicPr>
        <p:blipFill>
          <a:blip r:embed="rId5"/>
          <a:stretch>
            <a:fillRect/>
          </a:stretch>
        </p:blipFill>
        <p:spPr>
          <a:xfrm>
            <a:off x="1881035" y="1956816"/>
            <a:ext cx="84296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2197bfa22483157b.png"/>
          <p:cNvPicPr>
            <a:picLocks noChangeAspect="1"/>
          </p:cNvPicPr>
          <p:nvPr/>
        </p:nvPicPr>
        <p:blipFill>
          <a:blip r:embed="rId6"/>
          <a:stretch>
            <a:fillRect/>
          </a:stretch>
        </p:blipFill>
        <p:spPr>
          <a:xfrm>
            <a:off x="1952472" y="1956816"/>
            <a:ext cx="8286750"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spent the same at the line, how many does a list ship, and which rule did the head of Retail-Plus ask for?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the tier's members and to Marketing. A member left off by a coin toss, with the same spend as the member kept, has a fair complaint; a list labelled fifty that carries fifty-two has spent two calls nobody planned; a list that drops both members of a tie is the forty-nine the head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in Retail-Core?</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in your segment?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them?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3cceb2d90094a6fc.png"/>
          <p:cNvPicPr>
            <a:picLocks noChangeAspect="1"/>
          </p:cNvPicPr>
          <p:nvPr/>
        </p:nvPicPr>
        <p:blipFill>
          <a:blip r:embed="rId6"/>
          <a:stretch>
            <a:fillRect/>
          </a:stretch>
        </p:blipFill>
        <p:spPr>
          <a:xfrm>
            <a:off x="866622" y="1956816"/>
            <a:ext cx="1045845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807772"/>
                <a:gridCol w="3130665"/>
                <a:gridCol w="2304057"/>
                <a:gridCol w="2888495"/>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At a tie on the line</a:t>
                      </a:r>
                    </a:p>
                  </a:txBody>
                  <a:tcPr marL="101600" marR="101600" marT="38100" marB="38100" anchor="ctr">
                    <a:solidFill>
                      <a:srgbClr val="1A0F5C"/>
                    </a:solidFill>
                  </a:tcPr>
                </a:tc>
                <a:tc>
                  <a:txBody>
                    <a:bodyPr/>
                    <a:lstStyle/>
                    <a:p>
                      <a:r>
                        <a:rPr sz="1250" b="1" i="0">
                          <a:solidFill>
                            <a:srgbClr val="FFFFFF"/>
                          </a:solidFill>
                          <a:latin typeface="Calibri"/>
                        </a:rPr>
                        <a:t>Invented top four ships</a:t>
                      </a:r>
                    </a:p>
                  </a:txBody>
                  <a:tcPr marL="101600" marR="101600" marT="38100" marB="38100" anchor="ctr">
                    <a:solidFill>
                      <a:srgbClr val="1A0F5C"/>
                    </a:solidFill>
                  </a:tcPr>
                </a:tc>
                <a:tc>
                  <a:txBody>
                    <a:bodyPr/>
                    <a:lstStyle/>
                    <a:p>
                      <a:r>
                        <a:rPr sz="1250" b="1" i="0">
                          <a:solidFill>
                            <a:srgbClr val="FFFFFF"/>
                          </a:solidFill>
                          <a:latin typeface="Calibri"/>
                        </a:rPr>
                        <a:t>Meets the head's ask?</a:t>
                      </a:r>
                    </a:p>
                  </a:txBody>
                  <a:tcPr marL="101600" marR="101600" marT="38100" marB="38100" anchor="ctr">
                    <a:solidFill>
                      <a:srgbClr val="1A0F5C"/>
                    </a:solidFill>
                  </a:tcPr>
                </a:tc>
              </a:tr>
              <a:tr h="335280">
                <a:tc>
                  <a:txBody>
                    <a:bodyPr/>
                    <a:lstStyle/>
                    <a:p>
                      <a:r>
                        <a:rPr sz="12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200" b="0" i="0">
                          <a:solidFill>
                            <a:srgbClr val="1A1440"/>
                          </a:solidFill>
                          <a:latin typeface="Calibri"/>
                        </a:rPr>
                        <a:t>one in, one out</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No: equal spend, different places</a:t>
                      </a:r>
                    </a:p>
                  </a:txBody>
                  <a:tcPr marL="101600" marR="101600" marT="38100" marB="38100" anchor="ctr">
                    <a:solidFill>
                      <a:srgbClr val="FFFFFF"/>
                    </a:solidFill>
                  </a:tcPr>
                </a:tc>
              </a:tr>
              <a:tr h="335280">
                <a:tc>
                  <a:txBody>
                    <a:bodyPr/>
                    <a:lstStyle/>
                    <a:p>
                      <a:r>
                        <a:rPr sz="1200" b="0" i="0">
                          <a:solidFill>
                            <a:srgbClr val="1A1440"/>
                          </a:solidFill>
                          <a:latin typeface="Calibri"/>
                        </a:rPr>
                        <a:t>B. RANK</a:t>
                      </a:r>
                    </a:p>
                  </a:txBody>
                  <a:tcPr marL="101600" marR="101600" marT="38100" marB="38100" anchor="ctr">
                    <a:solidFill>
                      <a:srgbClr val="F4F2FA"/>
                    </a:solidFill>
                  </a:tcPr>
                </a:tc>
                <a:tc>
                  <a:txBody>
                    <a:bodyPr/>
                    <a:lstStyle/>
                    <a:p>
                      <a:r>
                        <a:rPr sz="12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Yes, with the count said</a:t>
                      </a:r>
                    </a:p>
                  </a:txBody>
                  <a:tcPr marL="101600" marR="101600" marT="38100" marB="38100" anchor="ctr">
                    <a:solidFill>
                      <a:srgbClr val="F4F2FA"/>
                    </a:solidFill>
                  </a:tcPr>
                </a:tc>
              </a:tr>
              <a:tr h="335280">
                <a:tc>
                  <a:txBody>
                    <a:bodyPr/>
                    <a:lstStyle/>
                    <a:p>
                      <a:r>
                        <a:rPr sz="1200" b="0" i="0">
                          <a:solidFill>
                            <a:srgbClr val="1A1440"/>
                          </a:solidFill>
                          <a:latin typeface="Calibri"/>
                        </a:rPr>
                        <a:t>C. DENSE_RANK</a:t>
                      </a:r>
                    </a:p>
                  </a:txBody>
                  <a:tcPr marL="101600" marR="101600" marT="38100" marB="38100" anchor="ctr">
                    <a:solidFill>
                      <a:srgbClr val="FFFFFF"/>
                    </a:solidFill>
                  </a:tcPr>
                </a:tc>
                <a:tc>
                  <a:txBody>
                    <a:bodyPr/>
                    <a:lstStyle/>
                    <a:p>
                      <a:r>
                        <a:rPr sz="1200" b="0" i="0">
                          <a:solidFill>
                            <a:srgbClr val="1A1440"/>
                          </a:solidFill>
                          <a:latin typeface="Calibri"/>
                        </a:rPr>
                        <a:t>both in; nothing skipped, 1, 1, 2</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Can run past fifty even untied</a:t>
                      </a:r>
                    </a:p>
                  </a:txBody>
                  <a:tcPr marL="101600" marR="101600" marT="38100" marB="38100" anchor="ctr">
                    <a:solidFill>
                      <a:srgbClr val="FFFFFF"/>
                    </a:solidFill>
                  </a:tcPr>
                </a:tc>
              </a:tr>
              <a:tr h="335280">
                <a:tc>
                  <a:txBody>
                    <a:bodyPr/>
                    <a:lstStyle/>
                    <a:p>
                      <a:r>
                        <a:rPr sz="1200" b="0" i="0">
                          <a:solidFill>
                            <a:srgbClr val="1A1440"/>
                          </a:solidFill>
                          <a:latin typeface="Calibri"/>
                        </a:rPr>
                        <a:t>D. Whole ties only</a:t>
                      </a:r>
                    </a:p>
                  </a:txBody>
                  <a:tcPr marL="101600" marR="101600" marT="38100" marB="38100" anchor="ctr">
                    <a:solidFill>
                      <a:srgbClr val="F4F2FA"/>
                    </a:solidFill>
                  </a:tcPr>
                </a:tc>
                <a:tc>
                  <a:txBody>
                    <a:bodyPr/>
                    <a:lstStyle/>
                    <a:p>
                      <a:r>
                        <a:rPr sz="1200" b="0" i="0">
                          <a:solidFill>
                            <a:srgbClr val="1A1440"/>
                          </a:solidFill>
                          <a:latin typeface="Calibri"/>
                        </a:rPr>
                        <a:t>both out unless all fit</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50b56cc55130dd2d.png"/>
          <p:cNvPicPr>
            <a:picLocks noChangeAspect="1"/>
          </p:cNvPicPr>
          <p:nvPr/>
        </p:nvPicPr>
        <p:blipFill>
          <a:blip r:embed="rId5"/>
          <a:stretch>
            <a:fillRect/>
          </a:stretch>
        </p:blipFill>
        <p:spPr>
          <a:xfrm>
            <a:off x="1731016" y="1956816"/>
            <a:ext cx="8729662"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rule ships the line exactly when nobody ties at it. At a tie on the line the rules ship different counts, so the report states its count.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DENSE_RANK ships 52 for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f89bea2f099d8d3.png"/>
          <p:cNvPicPr>
            <a:picLocks noChangeAspect="1"/>
          </p:cNvPicPr>
          <p:nvPr/>
        </p:nvPicPr>
        <p:blipFill>
          <a:blip r:embed="rId5"/>
          <a:stretch>
            <a:fillRect/>
          </a:stretch>
        </p:blipFill>
        <p:spPr>
          <a:xfrm>
            <a:off x="2259653" y="1956816"/>
            <a:ext cx="7672387" cy="1143000"/>
          </a:xfrm>
          <a:prstGeom prst="rect">
            <a:avLst/>
          </a:prstGeom>
        </p:spPr>
      </p:pic>
      <p:sp>
        <p:nvSpPr>
          <p:cNvPr id="10" name="Rounded Rectangle 9"/>
          <p:cNvSpPr/>
          <p:nvPr/>
        </p:nvSpPr>
        <p:spPr>
          <a:xfrm>
            <a:off x="530352" y="32461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741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649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mine = rows(Q["c3_your_segment"])[0]     # the four counts for Retail-Plus</a:t>
            </a:r>
          </a:p>
          <a:p>
            <a:pPr>
              <a:spcAft>
                <a:spcPts val="200"/>
              </a:spcAft>
            </a:pPr>
            <a:r>
              <a:rPr sz="1400" b="0" i="0">
                <a:solidFill>
                  <a:srgbClr val="E4E1F1"/>
                </a:solidFill>
                <a:latin typeface="Consolas"/>
              </a:rPr>
              <a:t>mine</a:t>
            </a:r>
          </a:p>
        </p:txBody>
      </p:sp>
      <p:sp>
        <p:nvSpPr>
          <p:cNvPr id="14" name="Rounded Rectangle 13"/>
          <p:cNvSpPr/>
          <p:nvPr/>
        </p:nvSpPr>
        <p:spPr>
          <a:xfrm>
            <a:off x="530352" y="3083560"/>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 Write the sentence the head of Retail-Plus reads: how many members the list carries under RANK and, if it is not fifty, why.</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1" name="Oval 2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3" name="Oval 22"/>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5" name="Oval 24"/>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7" name="Oval 26"/>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your own segment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spend the same at the line,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44271"/>
                <a:gridCol w="6686719"/>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One tie, three functions?</a:t>
                      </a:r>
                    </a:p>
                  </a:txBody>
                  <a:tcPr marL="101600" marR="101600" marT="38100" marB="38100" anchor="ctr">
                    <a:solidFill>
                      <a:srgbClr val="F4F2FA"/>
                    </a:solidFill>
                  </a:tcPr>
                </a:tc>
                <a:tc>
                  <a:txBody>
                    <a:bodyPr/>
                    <a:lstStyle/>
                    <a:p>
                      <a:r>
                        <a:rPr sz="900" b="0" i="0">
                          <a:solidFill>
                            <a:srgbClr val="1A1440"/>
                          </a:solidFill>
                          <a:latin typeface="Calibri"/>
                        </a:rPr>
                        <a:t>1 to 6; 1, 1, 3, 4, 4, 6; 1, 1, 2, 3, 3, 4</a:t>
                      </a:r>
                    </a:p>
                  </a:txBody>
                  <a:tcPr marL="101600" marR="101600" marT="38100" marB="38100" anchor="ctr">
                    <a:solidFill>
                      <a:srgbClr val="F4F2FA"/>
                    </a:solidFill>
                  </a:tcPr>
                </a:tc>
              </a:tr>
              <a:tr h="310896">
                <a:tc>
                  <a:txBody>
                    <a:bodyPr/>
                    <a:lstStyle/>
                    <a:p>
                      <a:r>
                        <a:rPr sz="900" b="0" i="0">
                          <a:solidFill>
                            <a:srgbClr val="1A1440"/>
                          </a:solidFill>
                          <a:latin typeface="Calibri"/>
                        </a:rPr>
                        <a:t>3. A tie at the line?</a:t>
                      </a:r>
                    </a:p>
                  </a:txBody>
                  <a:tcPr marL="101600" marR="101600" marT="38100" marB="38100" anchor="ctr">
                    <a:solidFill>
                      <a:srgbClr val="FFFFFF"/>
                    </a:solidFill>
                  </a:tcPr>
                </a:tc>
                <a:tc>
                  <a:txBody>
                    <a:bodyPr/>
                    <a:lstStyle/>
                    <a:p>
                      <a:r>
                        <a:rPr sz="900" b="0" i="0">
                          <a:solidFill>
                            <a:srgbClr val="1A1440"/>
                          </a:solidFill>
                          <a:latin typeface="Calibri"/>
                        </a:rPr>
                        <a:t>Top four: 4, 5, 5 and 3 rows</a:t>
                      </a:r>
                    </a:p>
                  </a:txBody>
                  <a:tcPr marL="101600" marR="101600" marT="38100" marB="38100" anchor="ctr">
                    <a:solidFill>
                      <a:srgbClr val="FFFFFF"/>
                    </a:solidFill>
                  </a:tcPr>
                </a:tc>
              </a:tr>
              <a:tr h="310896">
                <a:tc>
                  <a:txBody>
                    <a:bodyPr/>
                    <a:lstStyle/>
                    <a:p>
                      <a:r>
                        <a:rPr sz="900" b="0" i="0">
                          <a:solidFill>
                            <a:srgbClr val="1A1440"/>
                          </a:solidFill>
                          <a:latin typeface="Calibri"/>
                        </a:rPr>
                        <a:t>4. How many in Retail-Core?</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How many in your segment?</a:t>
                      </a:r>
                    </a:p>
                  </a:txBody>
                  <a:tcPr marL="101600" marR="101600" marT="38100" marB="38100" anchor="ctr">
                    <a:solidFill>
                      <a:srgbClr val="FFFFFF"/>
                    </a:solidFill>
                  </a:tcPr>
                </a:tc>
                <a:tc>
                  <a:txBody>
                    <a:bodyPr/>
                    <a:lstStyle/>
                    <a:p>
                      <a:r>
                        <a:rPr sz="900" b="0" i="0">
                          <a:solidFill>
                            <a:srgbClr val="1A1440"/>
                          </a:solidFill>
                          <a:latin typeface="Calibri"/>
                        </a:rPr>
                        <a:t>The count your own run gave,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 50 for Retail-Core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tie rule is a business decision written as a function name. State the rule, the count it ships and the members at the line in the same sentence, before anybody asks why the list holds more or fewer than fifty."</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RANK, DENSE_RANK and ROW_NUMBER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19197e93eeec8a50.png"/>
          <p:cNvPicPr>
            <a:picLocks noChangeAspect="1"/>
          </p:cNvPicPr>
          <p:nvPr/>
        </p:nvPicPr>
        <p:blipFill>
          <a:blip r:embed="rId6"/>
          <a:stretch>
            <a:fillRect/>
          </a:stretch>
        </p:blipFill>
        <p:spPr>
          <a:xfrm>
            <a:off x="2931166" y="1956816"/>
            <a:ext cx="632936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matches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line. What would switch it: a database with no window functions, such as MySQL before 8.0, which leaves the self-join.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the row before, inside its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each row?</a:t>
            </a:r>
          </a:p>
        </p:txBody>
      </p:sp>
      <p:pic>
        <p:nvPicPr>
          <p:cNvPr id="9" name="mermaid diagram" descr="3f84fc2a1b935fa9.png"/>
          <p:cNvPicPr>
            <a:picLocks noChangeAspect="1"/>
          </p:cNvPicPr>
          <p:nvPr/>
        </p:nvPicPr>
        <p:blipFill>
          <a:blip r:embed="rId5"/>
          <a:stretch>
            <a:fillRect/>
          </a:stretch>
        </p:blipFill>
        <p:spPr>
          <a:xfrm>
            <a:off x="1909610" y="1782762"/>
            <a:ext cx="8372475" cy="3571875"/>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quick flag flag more or fewer?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they never had?</a:t>
            </a:r>
          </a:p>
        </p:txBody>
      </p:sp>
      <p:pic>
        <p:nvPicPr>
          <p:cNvPr id="9" name="mermaid diagram" descr="673f432907df390d.png"/>
          <p:cNvPicPr>
            <a:picLocks noChangeAspect="1"/>
          </p:cNvPicPr>
          <p:nvPr/>
        </p:nvPicPr>
        <p:blipFill>
          <a:blip r:embed="rId5"/>
          <a:stretch>
            <a:fillRect/>
          </a:stretch>
        </p:blipFill>
        <p:spPr>
          <a:xfrm>
            <a:off x="2581122" y="1956816"/>
            <a:ext cx="7029450" cy="1485900"/>
          </a:xfrm>
          <a:prstGeom prst="rect">
            <a:avLst/>
          </a:prstGeom>
        </p:spPr>
      </p:pic>
      <p:sp>
        <p:nvSpPr>
          <p:cNvPr id="10" name="Rounded Rectangle 9"/>
          <p:cNvSpPr/>
          <p:nvPr/>
        </p:nvSpPr>
        <p:spPr>
          <a:xfrm>
            <a:off x="530352" y="35890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70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78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99c029961ebb53ff.png"/>
          <p:cNvPicPr>
            <a:picLocks noChangeAspect="1"/>
          </p:cNvPicPr>
          <p:nvPr/>
        </p:nvPicPr>
        <p:blipFill>
          <a:blip r:embed="rId5"/>
          <a:stretch>
            <a:fillRect/>
          </a:stretch>
        </p:blipFill>
        <p:spPr>
          <a:xfrm>
            <a:off x="2216791" y="1956816"/>
            <a:ext cx="7758112" cy="1371600"/>
          </a:xfrm>
          <a:prstGeom prst="rect">
            <a:avLst/>
          </a:prstGeom>
        </p:spPr>
      </p:pic>
      <p:sp>
        <p:nvSpPr>
          <p:cNvPr id="10" name="Rounded Rectangle 9"/>
          <p:cNvSpPr/>
          <p:nvPr/>
        </p:nvSpPr>
        <p:spPr>
          <a:xfrm>
            <a:off x="530352" y="3474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02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935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 {}</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below plan.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mid-quarter?</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And each week since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guide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GUIDE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GUIDE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quarter read only at its end leaves nothing to act on, which is why Meera wants Q2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5431622"/>
                <a:gridCol w="217613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44edb38615300c9b.png"/>
          <p:cNvPicPr>
            <a:picLocks noChangeAspect="1"/>
          </p:cNvPicPr>
          <p:nvPr/>
        </p:nvPicPr>
        <p:blipFill>
          <a:blip r:embed="rId6"/>
          <a:stretch>
            <a:fillRect/>
          </a:stretch>
        </p:blipFill>
        <p:spPr>
          <a:xfrm>
            <a:off x="530352" y="1956816"/>
            <a:ext cx="11130991" cy="840334"/>
          </a:xfrm>
          <a:prstGeom prst="rect">
            <a:avLst/>
          </a:prstGeom>
        </p:spPr>
      </p:pic>
      <p:sp>
        <p:nvSpPr>
          <p:cNvPr id="10" name="Rounded Rectangle 9"/>
          <p:cNvSpPr/>
          <p:nvPr/>
        </p:nvSpPr>
        <p:spPr>
          <a:xfrm>
            <a:off x="530352" y="29434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756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385414"/>
            <a:ext cx="237744" cy="237744"/>
          </a:xfrm>
          <a:prstGeom prst="rect">
            <a:avLst/>
          </a:prstGeom>
        </p:spPr>
      </p:pic>
      <p:sp>
        <p:nvSpPr>
          <p:cNvPr id="13" name="TextBox 12"/>
          <p:cNvSpPr txBox="1"/>
          <p:nvPr/>
        </p:nvSpPr>
        <p:spPr>
          <a:xfrm>
            <a:off x="1399031" y="30897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09214"/>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as the table says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line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4692f1d5337eb734.png"/>
          <p:cNvPicPr>
            <a:picLocks noChangeAspect="1"/>
          </p:cNvPicPr>
          <p:nvPr/>
        </p:nvPicPr>
        <p:blipFill>
          <a:blip r:embed="rId5"/>
          <a:stretch>
            <a:fillRect/>
          </a:stretch>
        </p:blipFill>
        <p:spPr>
          <a:xfrm>
            <a:off x="3545528" y="1956816"/>
            <a:ext cx="5100637"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and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e98d38430023b803.png"/>
          <p:cNvPicPr>
            <a:picLocks noChangeAspect="1"/>
          </p:cNvPicPr>
          <p:nvPr/>
        </p:nvPicPr>
        <p:blipFill>
          <a:blip r:embed="rId5"/>
          <a:stretch>
            <a:fillRect/>
          </a:stretch>
        </p:blipFill>
        <p:spPr>
          <a:xfrm>
            <a:off x="3488378" y="1956816"/>
            <a:ext cx="5214937"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so set booked to date beside plan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The order id makes every row its own step and the figure the same on every run. It does not make it the true order of the day, since the warehouse records a date and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mid-quarter?</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