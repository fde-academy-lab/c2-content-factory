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while the room settles.</a:t>
            </a:r>
          </a:p>
          <a:p>
            <a:r>
              <a:t>Marketing is working with the team now, because Tuesday's note answered their question honestly.</a:t>
            </a:r>
          </a:p>
          <a:p>
            <a:r>
              <a:t>Say the shape of the morning once: the ask and the thinking, then three rounds, each ending on</a:t>
            </a:r>
          </a:p>
          <a:p>
            <a:r>
              <a:t>Kavya's review. The afternoon is the escalated case.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runs about 20 minutes, including the cover. No new SQL here: the job is to see</a:t>
            </a:r>
          </a:p>
          <a:p>
            <a:r>
              <a:t>why Monday's tool cannot answer today's questions, and to draw the day's picture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Marketing's message aloud, then the head of Retail-Plus's condition.</a:t>
            </a:r>
          </a:p>
          <a:p>
            <a:r>
              <a:t>Ask the room to count the asks: three (the protect list, the falling flag, the running total</a:t>
            </a:r>
          </a:p>
          <a:p>
            <a:r>
              <a:t>against plan) and one condition (ties). Your role today: Marketing acts on your list, so you</a:t>
            </a:r>
          </a:p>
          <a:p>
            <a:r>
              <a:t>state the tie rule you chose and why, and you defend the falling flag against a member who says</a:t>
            </a:r>
          </a:p>
          <a:p>
            <a:r>
              <a:t>he was on holiday. Write the three asks on the board in a column; the rungs slide fills it in.</a:t>
            </a:r>
          </a:p>
          <a:p>
            <a:r>
              <a:t>Transition: before any query, what is already on the desk from Monday and Tuesday.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Monday built the suite with SELECT, GROUP BY, HAVING and CTEs, and the Q2 total</a:t>
            </a:r>
          </a:p>
          <a:p>
            <a:r>
              <a:t>is the number every result today reconciles to. Tuesday taught that a count before and after a</a:t>
            </a:r>
          </a:p>
          <a:p>
            <a:r>
              <a:t>join is the cheapest check there is. Both habits return this morning: count the rows under every</a:t>
            </a:r>
          </a:p>
          <a:p>
            <a:r>
              <a:t>result before reading the names. Ask one learner to restate the definition of Q2 revenue.</a:t>
            </a:r>
          </a:p>
          <a:p>
            <a:r>
              <a:t>Transition: what Monday's GROUP BY can and cannot do with Marketing's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Ask first: can Monday's GROUP BY hand Marketing fifty members per segment? Take</a:t>
            </a:r>
          </a:p>
          <a:p>
            <a:r>
              <a:t>two answers and hold them, because Round 1 counts what the hurried attempt hands out. Then draw this</a:t>
            </a:r>
          </a:p>
          <a:p>
            <a:r>
              <a:t>picture on the board with the room and leave it up all day; the notebook, the cheat sheet and the afternoon use the same drawing. Say the first idea in</a:t>
            </a:r>
          </a:p>
          <a:p>
            <a:r>
              <a:t>one breath: GROUP BY collapses rows to one per group, and a window function keeps every row and</a:t>
            </a:r>
          </a:p>
          <a:p>
            <a:r>
              <a:t>adds a column computed across related rows. One-breath answer to the interview question: GROUP BY</a:t>
            </a:r>
          </a:p>
          <a:p>
            <a:r>
              <a:t>returns one row per group; PARTITION BY sets the group a window restarts in and returns every row.</a:t>
            </a:r>
          </a:p>
          <a:p>
            <a:r>
              <a:t>Transition: three asks become five rungs.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Fill the board column from the first slide with the rungs. Rung 1 is the hurried reading of</a:t>
            </a:r>
          </a:p>
          <a:p>
            <a:r>
              <a:t>the ask, and rung 2 is what Marketing meant. Rung 3 is where the head of Retail-Plus's condition</a:t>
            </a:r>
          </a:p>
          <a:p>
            <a:r>
              <a:t>bites. Rungs 4 and 5 read each member against their own past and the quarter against its plan.</a:t>
            </a:r>
          </a:p>
          <a:p>
            <a:r>
              <a:t>Transition: Round 1, who goes on the protect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the question and its picture (5), the demonstration on Kalpa (15),</a:t>
            </a:r>
          </a:p>
          <a:p>
            <a:r>
              <a:t>the trap and its wrong number (10), the room's harder variant (15) and Kavya's review (5).</a:t>
            </a:r>
          </a:p>
          <a:p>
            <a:r>
              <a:t>The notebook is C2_W02_D03_01_windows_STUDENT.ipynb; the SQL is sql/C2_W02_D03_01_windows_walk_STUDENT.sql.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State the round's question and the three parts of it. Ask: which of the three</a:t>
            </a:r>
          </a:p>
          <a:p>
            <a:r>
              <a:t>cards is the one a hurried analyst drops? The group. Keep the answer to yourself if nobody gets</a:t>
            </a:r>
          </a:p>
          <a:p>
            <a:r>
              <a:t>it; the trap shows it.</a:t>
            </a:r>
          </a:p>
          <a:p>
            <a:r>
              <a:t>Transition: draw the steps before touching SQL.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four boxes with the row count under each. The row counts are the check:</a:t>
            </a:r>
          </a:p>
          <a:p>
            <a:r>
              <a:t>462, 227, 227, then the list. Ask the room which step is new today (the third). Point at the</a:t>
            </a:r>
          </a:p>
          <a:p>
            <a:r>
              <a:t>second arrow: GROUP BY and a window are partners here, one after the other.</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walk file on the projector without its LIMIT 10, and read</a:t>
            </a:r>
          </a:p>
          <a:p>
            <a:r>
              <a:t>the row count first: 227 members with a Q2 order. Then read the top three and ask what they have in common: all Business.</a:t>
            </a:r>
          </a:p>
          <a:p>
            <a:r>
              <a:t>Watch for learners who read names before counts. Transition: before ranking, how many members</a:t>
            </a:r>
          </a:p>
          <a:p>
            <a:r>
              <a:t>does each segment have to rank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3. The four rows add to 227 buyers and Rs 9,84,00,000, the Monday total:</a:t>
            </a:r>
          </a:p>
          <a:p>
            <a:r>
              <a:t>say so, because every result today reconciles to it. Point at the scale: one Business member books</a:t>
            </a:r>
          </a:p>
          <a:p>
            <a:r>
              <a:t>more than all of Retail-Plus together, fifty times over. Ask what that will do to a list ranked</a:t>
            </a:r>
          </a:p>
          <a:p>
            <a:r>
              <a:t>across the whole table. Transition: the hurried 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before running. Expect a from those who read the list and never</a:t>
            </a:r>
          </a:p>
          <a:p>
            <a:r>
              <a:t>counted it, and b from those who assume the ranking spreads evenly. Then run block 2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This is the plausible wrong answer: fifty rows, sorted, correct</a:t>
            </a:r>
          </a:p>
          <a:p>
            <a:r>
              <a:t>arithmetic, and useless to three of the four teams. Let the room sit with the eleven for a moment,</a:t>
            </a:r>
          </a:p>
          <a:p>
            <a:r>
              <a:t>because the Retail-Plus team is the one Marketing said has the problem.</a:t>
            </a:r>
          </a:p>
          <a:p>
            <a:r>
              <a:t>Transition: why it is wrong, and the check that was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mistake in business terms: the list answers a question Marketing did not ask.</a:t>
            </a:r>
          </a:p>
          <a:p>
            <a:r>
              <a:t>The check costs one GROUP BY over the list, and it takes ten seconds. Say the habit plainly: count</a:t>
            </a:r>
          </a:p>
          <a:p>
            <a:r>
              <a:t>any list by the group it was asked for before anyone reads a name on it.</a:t>
            </a:r>
          </a:p>
          <a:p>
            <a:r>
              <a:t>Transition: the fix is to restart the ranking inside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4 and read the position column restarting at 1 when the segment</a:t>
            </a:r>
          </a:p>
          <a:p>
            <a:r>
              <a:t>changes. Say the second idea: PARTITION BY sets the group the calculation restarts in, and ORDER BY</a:t>
            </a:r>
          </a:p>
          <a:p>
            <a:r>
              <a:t>inside the window sets the order within it. customer_id is the tiebreaker, so two runs give the</a:t>
            </a:r>
          </a:p>
          <a:p>
            <a:r>
              <a:t>same numbers; Round 2 asks whether that is fair. Now ask a learner to keep position at most 50 by</a:t>
            </a:r>
          </a:p>
          <a:p>
            <a:r>
              <a:t>adding it to WHERE, and let them run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more. This is a runtime error met when it happens, never a trap: read the last</a:t>
            </a:r>
          </a:p>
          <a:p>
            <a:r>
              <a:t>line, name the reason, show the CTE on the next slide. Postgres prints two spaces after ERROR:,</a:t>
            </a:r>
          </a:p>
          <a:p>
            <a:r>
              <a:t>so the room sees exactly this line. Interview anchor [F] lives here: why can a window not sit in</a:t>
            </a:r>
          </a:p>
          <a:p>
            <a:r>
              <a:t>WHERE, and what do you do instead? One breath: WHERE runs before the window is computed, so</a:t>
            </a:r>
          </a:p>
          <a:p>
            <a:r>
              <a:t>compute it in a CTE or subquery and filter outside.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 Read the counts before anything else: 155 rows, and Retail-Plus goes</a:t>
            </a:r>
          </a:p>
          <a:p>
            <a:r>
              <a:t>from 11 members to 50. Business and Student ship everyone who bought, and the list says so in its</a:t>
            </a:r>
          </a:p>
          <a:p>
            <a:r>
              <a:t>header line. The WHERE now sits outside the CTE, where the position already exists.</a:t>
            </a:r>
          </a:p>
          <a:p>
            <a:r>
              <a:t>Transition: the room's turn, one level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of work, the room running block 6 of the walk and part two on their own. Walk the</a:t>
            </a:r>
          </a:p>
          <a:p>
            <a:r>
              <a:t>room and look for shares above 100 percent, which means the denominator was the list and not the</a:t>
            </a:r>
          </a:p>
          <a:p>
            <a:r>
              <a:t>segment. Pairs who finish early write the sentence for Student and Business, where the share is</a:t>
            </a:r>
          </a:p>
          <a:p>
            <a:r>
              <a:t>all of it. Transition: Kavya reads the list before it goes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then Kavya's review. The Rs 30 line in Retail-Core is the bridge to</a:t>
            </a:r>
          </a:p>
          <a:p>
            <a:r>
              <a:t>Round 2: if two members can sit Rs 30 apart at the line, two can sit Rs 0 apart. One-breath answer</a:t>
            </a:r>
          </a:p>
          <a:p>
            <a:r>
              <a:t>to the interview question: a window, because GROUP BY returns one row per group and cannot keep</a:t>
            </a:r>
          </a:p>
          <a:p>
            <a:r>
              <a:t>three members of it; rank inside a partition in a CTE and filter the position outside.</a:t>
            </a:r>
          </a:p>
          <a:p>
            <a:r>
              <a:t>Transition: Round 2, the fiftieth place.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same shape as Round 1. The notebook is C2_W02_D03_02_ties_STUDENT.ipynb</a:t>
            </a:r>
          </a:p>
          <a:p>
            <a:r>
              <a:t>and the SQL is sql/C2_W02_D03_02_protect_list_STUDENT.sql. The mechanism is shown on invented</a:t>
            </a:r>
          </a:p>
          <a:p>
            <a:r>
              <a:t>members first; the room finds what happens on Kalpa's own line by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condition again and split it into its two demands: rank the same, and</a:t>
            </a:r>
          </a:p>
          <a:p>
            <a:r>
              <a:t>say the count. Ask: which Round 1 function breaks the first demand? ROW_NUMBER, because it gives</a:t>
            </a:r>
          </a:p>
          <a:p>
            <a:r>
              <a:t>every row its own number. Transition: three functions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fourth idea: the tie rule is a business choice expressed as a function</a:t>
            </a:r>
          </a:p>
          <a:p>
            <a:r>
              <a:t>name. Draw the three branches on the board beside the day's picture. RANK returning 1, 1, 3 where</a:t>
            </a:r>
          </a:p>
          <a:p>
            <a:r>
              <a:t>the room expected 1, 1, 2 is the surprise to name now. Transition: six invented members.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protect-list file. These six members are invented and the slide</a:t>
            </a:r>
          </a:p>
          <a:p>
            <a:r>
              <a:t>says so; they exist so the whole mechanism fits on one screen. Read row C across: ROW_NUMBER 3,</a:t>
            </a:r>
          </a:p>
          <a:p>
            <a:r>
              <a:t>RANK 3, DENSE_RANK 2. RANK counts how many are ahead; DENSE_RANK counts how many distinct values</a:t>
            </a:r>
          </a:p>
          <a:p>
            <a:r>
              <a:t>are ahead. Transition: move the tie to the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2. The invented spends are 9,100, 8,800, 8,200, 7,400, 7,400 and 6,900.</a:t>
            </a:r>
          </a:p>
          <a:p>
            <a:r>
              <a:t>Read each stat as a sentence to the head of Retail-Plus: ROW_NUMBER ships four and drops E, who</a:t>
            </a:r>
          </a:p>
          <a:p>
            <a:r>
              <a:t>spent exactly what D did; whole ties only ships three, which is the forty-nine he forbade.</a:t>
            </a:r>
          </a:p>
          <a:p>
            <a:r>
              <a:t>Transition: the same count on Kalpa's Retail-Core.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blocks 3 and 4 with segment = 'Retail-Core'. Read the counts, then the</a:t>
            </a:r>
          </a:p>
          <a:p>
            <a:r>
              <a:t>boundary. DENSE_RANK reads 48 at row fifty because two ties higher up the Retail-Core list each</a:t>
            </a:r>
          </a:p>
          <a:p>
            <a:r>
              <a:t>saved a number, so its fiftieth place is the fifty-second member. Do not explain further yet;</a:t>
            </a:r>
          </a:p>
          <a:p>
            <a:r>
              <a:t>the next slide asks the room to choose a rule.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Expect a to win the room: "no gaps" sounds tidier, and DENSE_RANK</a:t>
            </a:r>
          </a:p>
          <a:p>
            <a:r>
              <a:t>reads like the literal sentence. Expect d from careful readers of the sentence. Hold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answer is b. This is the plausible wrong answer: 52 rows under a heading that</a:t>
            </a:r>
          </a:p>
          <a:p>
            <a:r>
              <a:t>says fifty, and nobody counted. RANK shares the place and leaves the gap, so RANK at most 50 means</a:t>
            </a:r>
          </a:p>
          <a:p>
            <a:r>
              <a:t>everyone with fewer than fifty members ahead, which is a top fifty that keeps ties. Block 4 shows</a:t>
            </a:r>
          </a:p>
          <a:p>
            <a:r>
              <a:t>every rule's decision at once in the rows around the line. ROW_NUMBER's fiftieth is chosen by the</a:t>
            </a:r>
          </a:p>
          <a:p>
            <a:r>
              <a:t>database when two members tie, so a member can be on Monday's list and off Tuesday's with the same</a:t>
            </a:r>
          </a:p>
          <a:p>
            <a:r>
              <a:t>spend; the tiebreaker makes it repeatable and still arbitrary. Transition: the fix,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block 5's query and do not run the Retail-Plus line on the projector; that is</a:t>
            </a:r>
          </a:p>
          <a:p>
            <a:r>
              <a:t>the room's variant. RANK has no tiebreaker on purpose: a tie is the business fact the head asked to</a:t>
            </a:r>
          </a:p>
          <a:p>
            <a:r>
              <a:t>see. Transition: the room runs it where the head of Retail-Plus is looking.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of work. The room runs blocks 3 and 4 for Retail-Plus in the notebook's empty</a:t>
            </a:r>
          </a:p>
          <a:p>
            <a:r>
              <a:t>your-turn cell. Do not say what they will find; the count and the line are theirs. Watch for pairs</a:t>
            </a:r>
          </a:p>
          <a:p>
            <a:r>
              <a:t>who report one number without reading the boundary rows, and pairs who write a line with no reason</a:t>
            </a:r>
          </a:p>
          <a:p>
            <a:r>
              <a:t>in it. Collect two report lines aloud for Kavya's review. 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two of the room's report lines against Kavya's review. One-breath answer to</a:t>
            </a:r>
          </a:p>
          <a:p>
            <a:r>
              <a:t>the interview question: RANK, and the report ships N plus every member who shares the Nth place, so</a:t>
            </a:r>
          </a:p>
          <a:p>
            <a:r>
              <a:t>the count is stated with its reason; DENSE_RANK can ship more than N with no tie at the line.</a:t>
            </a:r>
          </a:p>
          <a:p>
            <a:r>
              <a:t>Then the break, 10 minutes. After it: whose spend is falling.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10-minute break comes before this chapter. Round 3 runs 50 minutes. The notebook is</a:t>
            </a:r>
          </a:p>
          <a:p>
            <a:r>
              <a:t>C2_W02_D03_03_falling_STUDENT.ipynb and the SQL is sql/C2_W02_D03_03_falling_spend_STUDENT.sql.</a:t>
            </a:r>
          </a:p>
          <a:p>
            <a:r>
              <a:t>Two traps sit in this round, and level 4 is the running total that hands the afternoon its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asks and name them as rungs 4 and 5. Say what "fallen two months</a:t>
            </a:r>
          </a:p>
          <a:p>
            <a:r>
              <a:t>running" means in this pack: less in August than July, and less again in September than August.</a:t>
            </a:r>
          </a:p>
          <a:p>
            <a:r>
              <a:t>Transition: draw the flag before writing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it. Say the fifth idea: LAG reads the previous row of the partition in its</a:t>
            </a:r>
          </a:p>
          <a:p>
            <a:r>
              <a:t>order, so the partition must be the member and the previous row must be the previous calendar</a:t>
            </a:r>
          </a:p>
          <a:p>
            <a:r>
              <a:t>month. Say the second clause now and do not dwell on it; the second trap proves it.</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block 1. Point at the jump from April to June: the table carries no May row</a:t>
            </a:r>
          </a:p>
          <a:p>
            <a:r>
              <a:t>for C-0003. Ask what the row before June is for this member. April. Hold that thought.</a:t>
            </a:r>
          </a:p>
          <a:p>
            <a:r>
              <a:t>Transition: LAG on a member who genuinely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flag is two LAGs and a comparison: spend below spend_before, and spend_before</a:t>
            </a:r>
          </a:p>
          <a:p>
            <a:r>
              <a:t>below spend_two_before, on the September row. C-0010 is on the protect list at position 1 in</a:t>
            </a:r>
          </a:p>
          <a:p>
            <a:r>
              <a:t>Retail-Core, which is why this flag matters to Marketing. LEAD reads the next row the same way;</a:t>
            </a:r>
          </a:p>
          <a:p>
            <a:r>
              <a:t>name it and move on. Transition: the hurried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Expect a: sorting by member feels like partitioning by member.</a:t>
            </a:r>
          </a:p>
          <a:p>
            <a:r>
              <a:t>Then run block 2 of the falling-spend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Trace C-0004 on the board: its first row reads C-0003's August.</a:t>
            </a:r>
          </a:p>
          <a:p>
            <a:r>
              <a:t>Add PARTITION BY customer_id and rerun block 3: 16 flagged. Interview [F] follow-up for the notes:</a:t>
            </a:r>
          </a:p>
          <a:p>
            <a:r>
              <a:t>LAG returned a value on a first month, so the partition is missing; check with a count of first</a:t>
            </a:r>
          </a:p>
          <a:p>
            <a:r>
              <a:t>months carrying a previous value, which must be zero. Transition: 16 is still too many.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4 and read C-0216's three rows. This is the member who says he was on</a:t>
            </a:r>
          </a:p>
          <a:p>
            <a:r>
              <a:t>holiday, and he is right. This is the round's second plausible wrong answer: 16 flagged, seven of</a:t>
            </a:r>
          </a:p>
          <a:p>
            <a:r>
              <a:t>them across a gap. The check line is block 3's second count, which reads 7.</a:t>
            </a:r>
          </a:p>
          <a:p>
            <a:r>
              <a:t>Transition: the flag that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5's count: 9. A month with no order is no reading, so it breaks the run.</a:t>
            </a:r>
          </a:p>
          <a:p>
            <a:r>
              <a:t>Depth note for the curious: filling the gap with zero would turn every holiday month into a fall</a:t>
            </a:r>
          </a:p>
          <a:p>
            <a:r>
              <a:t>to zero, which accuses every member who skipped a month. The fix is the calendar condition.</a:t>
            </a:r>
          </a:p>
          <a:p>
            <a:r>
              <a:t>Transition: the room lists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of reading, depth for the confident half; show it live only if the room asks why the gap is not</a:t>
            </a:r>
          </a:p>
          <a:p>
            <a:r>
              <a:t>zero-filled. The member is invented. Interview [D]: a member says he was on holiday in August and</a:t>
            </a:r>
          </a:p>
          <a:p>
            <a:r>
              <a:t>should not be flagged; the definition treats a month with no order as no reading, so it breaks the</a:t>
            </a:r>
          </a:p>
          <a:p>
            <a:r>
              <a:t>run, and zero-filling would accuse every member who skipped a month.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of work in the notebook's empty your-turn cell. Do not read the list out; the room</a:t>
            </a:r>
          </a:p>
          <a:p>
            <a:r>
              <a:t>finds it. Watch for pairs who join customers before the LAG and partition by segment instead of</a:t>
            </a:r>
          </a:p>
          <a:p>
            <a:r>
              <a:t>member. Pairs who finish early start part three, which is Part 2 of the afternoon case.</a:t>
            </a:r>
          </a:p>
          <a:p>
            <a:r>
              <a:t>Transition: level 4, the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6 and read the first and last rows of 22 July, the busiest day, with</a:t>
            </a:r>
          </a:p>
          <a:p>
            <a:r>
              <a:t>twelve orders. Rows of the same date are peers, so Postgres gives every one the day's closing</a:t>
            </a:r>
          </a:p>
          <a:p>
            <a:r>
              <a:t>total. Adding order_id makes each row its own step, and the same step on every run. Say the sixth</a:t>
            </a:r>
          </a:p>
          <a:p>
            <a:r>
              <a:t>idea: a running total needs an unambiguous order and a starting point that covers the whole period.</a:t>
            </a:r>
          </a:p>
          <a:p>
            <a:r>
              <a:t>Transition: the plan 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block 7's shape: the plan accumulates with sum() OVER (ORDER BY week_start),</a:t>
            </a:r>
          </a:p>
          <a:p>
            <a:r>
              <a:t>and the actual is read at week_start + 6. Mid-quarter is the end of the seventh plan week, the</a:t>
            </a:r>
          </a:p>
          <a:p>
            <a:r>
              <a:t>week of 17 August. Interview [F] for the notes: a dashboard saying nine times plan by week seven</a:t>
            </a:r>
          </a:p>
          <a:p>
            <a:r>
              <a:t>has set a running actual beside one week's plan. Transition: the question the afternoon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fourth number open. The escalated case asks the room to build the</a:t>
            </a:r>
          </a:p>
          <a:p>
            <a:r>
              <a:t>running total against plan for all thirteen weeks and to check its close against Monday's total.</a:t>
            </a:r>
          </a:p>
          <a:p>
            <a:r>
              <a:t>Say only that the plan line starts on Monday 6 July and Q2 orders start on 1 July.</a:t>
            </a:r>
          </a:p>
          <a:p>
            <a:r>
              <a:t>Transition: Kavya's review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Kavya's review. One-breath answer to the interview question: monthly spend</a:t>
            </a:r>
          </a:p>
          <a:p>
            <a:r>
              <a:t>per customer, LAG by one and two months partitioned by customer and ordered by month, require the</a:t>
            </a:r>
          </a:p>
          <a:p>
            <a:r>
              <a:t>two previous rows to be the two previous calendar months, and keep rows where each month is below</a:t>
            </a:r>
          </a:p>
          <a:p>
            <a:r>
              <a:t>the one before. Transition: after the break, the escalated case, which puts all three rounds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3.png"/><Relationship Id="rId6"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13.png"/><Relationship Id="rId6"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13.png"/><Relationship Id="rId6"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3.png"/><Relationship Id="rId6"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9.png"/><Relationship Id="rId6" Type="http://schemas.openxmlformats.org/officeDocument/2006/relationships/image" Target="../media/image3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protect list, ranked the way it was asked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556758"/>
            <a:ext cx="1898237" cy="185166"/>
          </a:xfrm>
          <a:prstGeom prst="rect">
            <a:avLst/>
          </a:prstGeom>
          <a:noFill/>
        </p:spPr>
        <p:txBody>
          <a:bodyPr wrap="square" anchor="t" lIns="0" rIns="0" tIns="0" bIns="0">
            <a:spAutoFit/>
          </a:bodyPr>
          <a:lstStyle/>
          <a:p>
            <a:pPr algn="l"/>
            <a:r>
              <a:rPr sz="900" b="0" i="0">
                <a:solidFill>
                  <a:srgbClr val="FFFFFF"/>
                </a:solidFill>
                <a:latin typeface="Calibri"/>
              </a:rPr>
              <a:t>Round 1, who goes on the list</a:t>
            </a:r>
          </a:p>
        </p:txBody>
      </p:sp>
      <p:sp>
        <p:nvSpPr>
          <p:cNvPr id="15" name="TextBox 14"/>
          <p:cNvSpPr txBox="1"/>
          <p:nvPr/>
        </p:nvSpPr>
        <p:spPr>
          <a:xfrm>
            <a:off x="425081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556758"/>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the fiftieth place</a:t>
            </a:r>
          </a:p>
        </p:txBody>
      </p:sp>
      <p:sp>
        <p:nvSpPr>
          <p:cNvPr id="17" name="TextBox 16"/>
          <p:cNvSpPr txBox="1"/>
          <p:nvPr/>
        </p:nvSpPr>
        <p:spPr>
          <a:xfrm>
            <a:off x="659768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8172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falling spend and the plan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a list it can act on, and every question in it keeps the rows GROUP BY would collapse.</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ask, and the condition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asks in one message, and a condition from the head of Retail-Plus that decides a function name.</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76123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761232"/>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Monday and Tuesday left on the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quarter total the room can reconcile to, and a row-count habit that catches a join going wrong.</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 all statuses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462</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1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227</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BUYERS</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with at least one Q2 order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1,000 to 1,450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Tuesday's fan-out, caught by a count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Q2 revenue per member means the booked amount of the member's Q2 orders, all statuses, which is the definition Monday's suite used for the Rs 9,84,00,000 quarter total. Every number today carries that definition.</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window keeps every row and adds its position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 BY collapses 227 member rows into four; a window keeps all 227 and says where each stands.</a:t>
            </a:r>
          </a:p>
        </p:txBody>
      </p:sp>
      <p:pic>
        <p:nvPicPr>
          <p:cNvPr id="9" name="mermaid diagram" descr="2148a1327f2349c8.png"/>
          <p:cNvPicPr>
            <a:picLocks noChangeAspect="1"/>
          </p:cNvPicPr>
          <p:nvPr/>
        </p:nvPicPr>
        <p:blipFill>
          <a:blip r:embed="rId6"/>
          <a:stretch>
            <a:fillRect/>
          </a:stretch>
        </p:blipFill>
        <p:spPr>
          <a:xfrm>
            <a:off x="1544397" y="1664208"/>
            <a:ext cx="9102900" cy="3462528"/>
          </a:xfrm>
          <a:prstGeom prst="rect">
            <a:avLst/>
          </a:prstGeom>
        </p:spPr>
      </p:pic>
      <p:sp>
        <p:nvSpPr>
          <p:cNvPr id="10" name="Rounded Rectangle 9"/>
          <p:cNvSpPr/>
          <p:nvPr/>
        </p:nvSpPr>
        <p:spPr>
          <a:xfrm>
            <a:off x="530352" y="51724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1A1440"/>
                </a:solidFill>
                <a:latin typeface="Calibri"/>
              </a:rPr>
              <a:t>[S] What is the difference between GROUP BY and PARTITION BY?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rungs, climbed in three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rung is a harder question, and each answer raises the next one.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fifty biggest</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members by Q2 revenue? Round 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Fifty per segment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inside each segment? Round 1.</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fiftieth place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at fiftieth when two members tie? Round 2.</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Falling spend</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Whose monthly spend fell two months running? Round 3.</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Against plan</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Is Q2 on track against the plan line? Round 3, then the afternoon.</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1" name="Oval 4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who goes on the list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per segment is a position inside a group, which a window computes and a CTE filters.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1: who goes on the protect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fifty members by Q2 revenue in each segment, which is the list Marketing acts on.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ceipt_e40a408ddf4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MEASURE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booked amount of the member's Q2 orders, all statuses, as Monday defined it.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GROUP</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Each segment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Business, Retail-Plus, Retail-Core and Student, each ranked on its own.</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1418f700a8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OUTPUT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Fifty per segment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row per listed member, with the segment, the revenue and the position.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3" name="Oval 3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steps from orders to a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Collapse orders to members first, then rank members inside their segment, then keep the first fifty.</a:t>
            </a:r>
          </a:p>
        </p:txBody>
      </p:sp>
      <p:pic>
        <p:nvPicPr>
          <p:cNvPr id="9" name="mermaid diagram" descr="a2e9a95e8ae96427.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GROUP BY still has a job: it turns orders into members. The window then works on the member rows, and the row count only falls at the last step.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one row per member, 227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biggest member books Rs 2,08,64,600 in Q2, and the Business segment fills the top of the table.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o.customer_id, sum(o.amount) AS q2_revenue</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 o.customer_id</a:t>
            </a:r>
          </a:p>
          <a:p>
            <a:pPr>
              <a:spcAft>
                <a:spcPts val="200"/>
              </a:spcAft>
            </a:pPr>
            <a:r>
              <a:rPr sz="1400" b="0" i="0">
                <a:solidFill>
                  <a:srgbClr val="E4E1F1"/>
                </a:solidFill>
                <a:latin typeface="Consolas"/>
              </a:rPr>
              <a:t>ORDER  BY q2_revenue DESC;</a:t>
            </a:r>
          </a:p>
        </p:txBody>
      </p:sp>
      <p:graphicFrame>
        <p:nvGraphicFramePr>
          <p:cNvPr id="14" name="Table 13"/>
          <p:cNvGraphicFramePr>
            <a:graphicFrameLocks noGrp="1"/>
          </p:cNvGraphicFramePr>
          <p:nvPr/>
        </p:nvGraphicFramePr>
        <p:xfrm>
          <a:off x="530352" y="4093463"/>
          <a:ext cx="11130990" cy="1479296"/>
        </p:xfrm>
        <a:graphic>
          <a:graphicData uri="http://schemas.openxmlformats.org/drawingml/2006/table">
            <a:tbl>
              <a:tblPr firstRow="0" bandRow="0">
                <a:tableStyleId>{2D5ABB26-0587-4C30-8999-92F81FD0307C}</a:tableStyleId>
              </a:tblPr>
              <a:tblGrid>
                <a:gridCol w="2787115"/>
                <a:gridCol w="3946501"/>
                <a:gridCol w="439737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q2_revenue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C-0286</a:t>
                      </a:r>
                    </a:p>
                  </a:txBody>
                  <a:tcPr marL="101600" marR="101600" marT="38100" marB="38100" anchor="ctr">
                    <a:solidFill>
                      <a:srgbClr val="FFFFFF"/>
                    </a:solidFill>
                  </a:tcPr>
                </a:tc>
                <a:tc>
                  <a:txBody>
                    <a:bodyPr/>
                    <a:lstStyle/>
                    <a:p>
                      <a:r>
                        <a:rPr sz="1400" b="0" i="0">
                          <a:solidFill>
                            <a:srgbClr val="1A1440"/>
                          </a:solidFill>
                          <a:latin typeface="Calibri"/>
                        </a:rPr>
                        <a:t>Rs 2,08,64,600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C-0275</a:t>
                      </a:r>
                    </a:p>
                  </a:txBody>
                  <a:tcPr marL="101600" marR="101600" marT="38100" marB="38100" anchor="ctr">
                    <a:solidFill>
                      <a:srgbClr val="F4F2FA"/>
                    </a:solidFill>
                  </a:tcPr>
                </a:tc>
                <a:tc>
                  <a:txBody>
                    <a:bodyPr/>
                    <a:lstStyle/>
                    <a:p>
                      <a:r>
                        <a:rPr sz="1400" b="0" i="0">
                          <a:solidFill>
                            <a:srgbClr val="1A1440"/>
                          </a:solidFill>
                          <a:latin typeface="Calibri"/>
                        </a:rPr>
                        <a:t>Rs 61,58,000</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C-0273</a:t>
                      </a:r>
                    </a:p>
                  </a:txBody>
                  <a:tcPr marL="101600" marR="101600" marT="38100" marB="38100" anchor="ctr">
                    <a:solidFill>
                      <a:srgbClr val="FFFFFF"/>
                    </a:solidFill>
                  </a:tcPr>
                </a:tc>
                <a:tc>
                  <a:txBody>
                    <a:bodyPr/>
                    <a:lstStyle/>
                    <a:p>
                      <a:r>
                        <a:rPr sz="1400" b="0" i="0">
                          <a:solidFill>
                            <a:srgbClr val="1A1440"/>
                          </a:solidFill>
                          <a:latin typeface="Calibri"/>
                        </a:rPr>
                        <a:t>Rs 61,19,000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four segments of very different sizes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and Student have fewer than fifty Q2 buyers, so their top fifty is everyone who bought.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47965"/>
                <a:gridCol w="2377886"/>
                <a:gridCol w="3102569"/>
                <a:gridCol w="3102569"/>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Q2 buyers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Top member</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Rs 2,08,64,600</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Rs 4,13,380</a:t>
                      </a:r>
                    </a:p>
                  </a:txBody>
                  <a:tcPr marL="101600" marR="101600" marT="38100" marB="38100" anchor="ctr">
                    <a:solidFill>
                      <a:srgbClr val="F4F2FA"/>
                    </a:solidFill>
                  </a:tcPr>
                </a:tc>
                <a:tc>
                  <a:txBody>
                    <a:bodyPr/>
                    <a:lstStyle/>
                    <a:p>
                      <a:r>
                        <a:rPr sz="1200" b="0" i="0">
                          <a:solidFill>
                            <a:srgbClr val="1A1440"/>
                          </a:solidFill>
                          <a:latin typeface="Calibri"/>
                        </a:rPr>
                        <a:t>Rs 21,740</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96</a:t>
                      </a:r>
                    </a:p>
                  </a:txBody>
                  <a:tcPr marL="101600" marR="101600" marT="38100" marB="38100" anchor="ctr">
                    <a:solidFill>
                      <a:srgbClr val="FFFFFF"/>
                    </a:solidFill>
                  </a:tcPr>
                </a:tc>
                <a:tc>
                  <a:txBody>
                    <a:bodyPr/>
                    <a:lstStyle/>
                    <a:p>
                      <a:r>
                        <a:rPr sz="1200" b="0" i="0">
                          <a:solidFill>
                            <a:srgbClr val="1A1440"/>
                          </a:solidFill>
                          <a:latin typeface="Calibri"/>
                        </a:rPr>
                        <a:t>Rs 3,66,250</a:t>
                      </a:r>
                    </a:p>
                  </a:txBody>
                  <a:tcPr marL="101600" marR="101600" marT="38100" marB="38100" anchor="ctr">
                    <a:solidFill>
                      <a:srgbClr val="FFFFFF"/>
                    </a:solidFill>
                  </a:tcPr>
                </a:tc>
                <a:tc>
                  <a:txBody>
                    <a:bodyPr/>
                    <a:lstStyle/>
                    <a:p>
                      <a:r>
                        <a:rPr sz="1200" b="0" i="0">
                          <a:solidFill>
                            <a:srgbClr val="1A1440"/>
                          </a:solidFill>
                          <a:latin typeface="Calibri"/>
                        </a:rPr>
                        <a:t>Rs 13,910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Rs 35,770</a:t>
                      </a:r>
                    </a:p>
                  </a:txBody>
                  <a:tcPr marL="101600" marR="101600" marT="38100" marB="38100" anchor="ctr">
                    <a:solidFill>
                      <a:srgbClr val="F4F2FA"/>
                    </a:solidFill>
                  </a:tcPr>
                </a:tc>
                <a:tc>
                  <a:txBody>
                    <a:bodyPr/>
                    <a:lstStyle/>
                    <a:p>
                      <a:r>
                        <a:rPr sz="1200" b="0" i="0">
                          <a:solidFill>
                            <a:srgbClr val="1A1440"/>
                          </a:solidFill>
                          <a:latin typeface="Calibri"/>
                        </a:rPr>
                        <a:t>Rs 5,710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Count the population before ranking it. A segment with 35 buyers cannot have a top fifty, and the list has to say its fifty is everyone.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hurried fifty hand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Fifty rows ranked across the whole table, and a Retail-Plus team waiting for its fifty.</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 AS ( ... one row per member ... ),</a:t>
            </a:r>
          </a:p>
          <a:p>
            <a:pPr>
              <a:spcAft>
                <a:spcPts val="200"/>
              </a:spcAft>
            </a:pPr>
            <a:r>
              <a:rPr sz="1400" b="0" i="0">
                <a:solidFill>
                  <a:srgbClr val="E4E1F1"/>
                </a:solidFill>
                <a:latin typeface="Consolas"/>
              </a:rPr>
              <a:t>top_fifty AS (</a:t>
            </a:r>
          </a:p>
          <a:p>
            <a:pPr>
              <a:spcAft>
                <a:spcPts val="200"/>
              </a:spcAft>
            </a:pPr>
            <a:r>
              <a:rPr sz="1400" b="0" i="0">
                <a:solidFill>
                  <a:srgbClr val="E4E1F1"/>
                </a:solidFill>
                <a:latin typeface="Consolas"/>
              </a:rPr>
              <a:t>    SELECT * FROM q2 ORDER BY q2_revenue DESC, customer_id LIMIT 50</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top_fifty</a:t>
            </a:r>
          </a:p>
          <a:p>
            <a:pPr>
              <a:spcAft>
                <a:spcPts val="200"/>
              </a:spcAft>
            </a:pPr>
            <a:r>
              <a:rPr sz="1400" b="0" i="0">
                <a:solidFill>
                  <a:srgbClr val="E4E1F1"/>
                </a:solidFill>
                <a:latin typeface="Consolas"/>
              </a:rPr>
              <a:t>GROUP  BY segment;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members does the hurried list hand the Retail-Plus team? a) 50; b) about 19, a fair share of 76 out of 227 buyers; c) 11; d) 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Core, 0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looks complete at fifty rows, and it hands the Retail-Plus team eleven members to protect.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 in the segment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9,630</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nobody at all</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30352" y="3419856"/>
            <a:ext cx="779169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Business 35</a:t>
            </a:r>
          </a:p>
        </p:txBody>
      </p:sp>
      <p:sp>
        <p:nvSpPr>
          <p:cNvPr id="26" name="TextBox 25"/>
          <p:cNvSpPr txBox="1"/>
          <p:nvPr/>
        </p:nvSpPr>
        <p:spPr>
          <a:xfrm>
            <a:off x="530352" y="3950208"/>
            <a:ext cx="7791693" cy="176911"/>
          </a:xfrm>
          <a:prstGeom prst="rect">
            <a:avLst/>
          </a:prstGeom>
          <a:noFill/>
        </p:spPr>
        <p:txBody>
          <a:bodyPr wrap="square" anchor="t" lIns="0" rIns="0" tIns="0" bIns="0">
            <a:spAutoFit/>
          </a:bodyPr>
          <a:lstStyle/>
          <a:p>
            <a:pPr algn="ctr"/>
            <a:r>
              <a:rPr sz="850" b="0" i="0">
                <a:solidFill>
                  <a:srgbClr val="6B6690"/>
                </a:solidFill>
                <a:latin typeface="Calibri"/>
              </a:rPr>
              <a:t>35 of the 50</a:t>
            </a:r>
          </a:p>
        </p:txBody>
      </p:sp>
      <p:sp>
        <p:nvSpPr>
          <p:cNvPr id="27" name="Rectangle 26"/>
          <p:cNvSpPr/>
          <p:nvPr/>
        </p:nvSpPr>
        <p:spPr>
          <a:xfrm>
            <a:off x="8322045" y="3419856"/>
            <a:ext cx="2448818"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Retail-Plus 11</a:t>
            </a:r>
          </a:p>
        </p:txBody>
      </p:sp>
      <p:sp>
        <p:nvSpPr>
          <p:cNvPr id="28" name="TextBox 27"/>
          <p:cNvSpPr txBox="1"/>
          <p:nvPr/>
        </p:nvSpPr>
        <p:spPr>
          <a:xfrm>
            <a:off x="8322045" y="3950208"/>
            <a:ext cx="2448818" cy="176911"/>
          </a:xfrm>
          <a:prstGeom prst="rect">
            <a:avLst/>
          </a:prstGeom>
          <a:noFill/>
        </p:spPr>
        <p:txBody>
          <a:bodyPr wrap="square" anchor="t" lIns="0" rIns="0" tIns="0" bIns="0">
            <a:spAutoFit/>
          </a:bodyPr>
          <a:lstStyle/>
          <a:p>
            <a:pPr algn="ctr"/>
            <a:r>
              <a:rPr sz="850" b="0" i="0">
                <a:solidFill>
                  <a:srgbClr val="6B6690"/>
                </a:solidFill>
                <a:latin typeface="Calibri"/>
              </a:rPr>
              <a:t>11</a:t>
            </a:r>
          </a:p>
        </p:txBody>
      </p:sp>
      <p:sp>
        <p:nvSpPr>
          <p:cNvPr id="29" name="Rectangle 28"/>
          <p:cNvSpPr/>
          <p:nvPr/>
        </p:nvSpPr>
        <p:spPr>
          <a:xfrm>
            <a:off x="10770863" y="3419856"/>
            <a:ext cx="890479"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Core 4</a:t>
            </a:r>
          </a:p>
        </p:txBody>
      </p:sp>
      <p:sp>
        <p:nvSpPr>
          <p:cNvPr id="30" name="TextBox 29"/>
          <p:cNvSpPr txBox="1"/>
          <p:nvPr/>
        </p:nvSpPr>
        <p:spPr>
          <a:xfrm>
            <a:off x="10770863" y="3950208"/>
            <a:ext cx="890479"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ranking across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Business order outweighs a year of a retail member, so a single ranking is a Business list.</a:t>
            </a:r>
          </a:p>
        </p:txBody>
      </p:sp>
      <p:pic>
        <p:nvPicPr>
          <p:cNvPr id="9" name="mermaid diagram" descr="818e5812c42e9826.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Marketing would protect eleven Retail-Plus members and no Student at all, and would not know it until a segment head asked where the rest were.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restarts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restarts at 1 in every segment, and ORDER BY inside the window decides who is first.</a:t>
            </a:r>
          </a:p>
        </p:txBody>
      </p:sp>
      <p:pic>
        <p:nvPicPr>
          <p:cNvPr id="9" name="mermaid diagram" descr="7ef44a2d0006e263.png"/>
          <p:cNvPicPr>
            <a:picLocks noChangeAspect="1"/>
          </p:cNvPicPr>
          <p:nvPr/>
        </p:nvPicPr>
        <p:blipFill>
          <a:blip r:embed="rId5"/>
          <a:stretch>
            <a:fillRect/>
          </a:stretch>
        </p:blipFill>
        <p:spPr>
          <a:xfrm>
            <a:off x="780897" y="1956816"/>
            <a:ext cx="10629900" cy="2828925"/>
          </a:xfrm>
          <a:prstGeom prst="rect">
            <a:avLst/>
          </a:prstGeom>
        </p:spPr>
      </p:pic>
      <p:sp>
        <p:nvSpPr>
          <p:cNvPr id="10" name="Rounded Rectangle 9"/>
          <p:cNvSpPr/>
          <p:nvPr/>
        </p:nvSpPr>
        <p:spPr>
          <a:xfrm>
            <a:off x="530352" y="4932045"/>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506006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506006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506006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5261229"/>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 ORDER BY q2_revenue DESC, customer_id)</a:t>
            </a:r>
          </a:p>
          <a:p>
            <a:pPr>
              <a:spcAft>
                <a:spcPts val="200"/>
              </a:spcAft>
            </a:pPr>
            <a:r>
              <a:rPr sz="1400" b="0" i="0">
                <a:solidFill>
                  <a:srgbClr val="E4E1F1"/>
                </a:solidFill>
                <a:latin typeface="Consolas"/>
              </a:rPr>
              <a:t>    AS position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Aside: a window refused inside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runs before the window exists, so the position is computed in a CTE and filtered outside it.</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ERROR:  window functions are not allowed in WHERE</a:t>
            </a:r>
          </a:p>
        </p:txBody>
      </p:sp>
      <p:pic>
        <p:nvPicPr>
          <p:cNvPr id="14" name="mermaid diagram" descr="06c99e96ab73fe5d.png"/>
          <p:cNvPicPr>
            <a:picLocks noChangeAspect="1"/>
          </p:cNvPicPr>
          <p:nvPr/>
        </p:nvPicPr>
        <p:blipFill>
          <a:blip r:embed="rId5"/>
          <a:stretch>
            <a:fillRect/>
          </a:stretch>
        </p:blipFill>
        <p:spPr>
          <a:xfrm>
            <a:off x="530352" y="2831084"/>
            <a:ext cx="11130991" cy="1129748"/>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35, 50, 50 and 20 members, 155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is computed in a CTE and filtered outside it, and every segment gets its own list.</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row_number() OVER (PARTITION BY segment</a:t>
            </a:r>
          </a:p>
          <a:p>
            <a:pPr>
              <a:spcAft>
                <a:spcPts val="200"/>
              </a:spcAft>
            </a:pPr>
            <a:r>
              <a:rPr sz="1400" b="0" i="0">
                <a:solidFill>
                  <a:srgbClr val="E4E1F1"/>
                </a:solidFill>
                <a:latin typeface="Consolas"/>
              </a:rPr>
              <a:t>                              ORDER BY q2_revenue DESC, customer_id)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ranked WHERE position &lt;= 50 GROUP BY segment;</a:t>
            </a:r>
          </a:p>
        </p:txBody>
      </p:sp>
      <p:sp>
        <p:nvSpPr>
          <p:cNvPr id="14" name="TextBox 13"/>
          <p:cNvSpPr txBox="1"/>
          <p:nvPr/>
        </p:nvSpPr>
        <p:spPr>
          <a:xfrm>
            <a:off x="530352"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17" name="Rectangle 16"/>
          <p:cNvSpPr/>
          <p:nvPr/>
        </p:nvSpPr>
        <p:spPr>
          <a:xfrm>
            <a:off x="530352"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9" name="TextBox 18"/>
          <p:cNvSpPr txBox="1"/>
          <p:nvPr/>
        </p:nvSpPr>
        <p:spPr>
          <a:xfrm>
            <a:off x="3381679"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0" name="TextBox 19"/>
          <p:cNvSpPr txBox="1"/>
          <p:nvPr/>
        </p:nvSpPr>
        <p:spPr>
          <a:xfrm>
            <a:off x="3381679"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11</a:t>
            </a:r>
          </a:p>
        </p:txBody>
      </p:sp>
      <p:sp>
        <p:nvSpPr>
          <p:cNvPr id="21" name="Rectangle 20"/>
          <p:cNvSpPr/>
          <p:nvPr/>
        </p:nvSpPr>
        <p:spPr>
          <a:xfrm>
            <a:off x="3381679"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3" name="TextBox 22"/>
          <p:cNvSpPr txBox="1"/>
          <p:nvPr/>
        </p:nvSpPr>
        <p:spPr>
          <a:xfrm>
            <a:off x="6233007"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6233007"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4</a:t>
            </a:r>
          </a:p>
        </p:txBody>
      </p:sp>
      <p:sp>
        <p:nvSpPr>
          <p:cNvPr id="25" name="Rectangle 24"/>
          <p:cNvSpPr/>
          <p:nvPr/>
        </p:nvSpPr>
        <p:spPr>
          <a:xfrm>
            <a:off x="6233007"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7" name="TextBox 26"/>
          <p:cNvSpPr txBox="1"/>
          <p:nvPr/>
        </p:nvSpPr>
        <p:spPr>
          <a:xfrm>
            <a:off x="9084335"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29" name="Rectangle 28"/>
          <p:cNvSpPr/>
          <p:nvPr/>
        </p:nvSpPr>
        <p:spPr>
          <a:xfrm>
            <a:off x="9084335"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how much of each segment the list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the share of each segment's Q2 revenue on its list, and the line in Core.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Share on the list</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For each segment, the Q2 revenue on the list over the segment's whole Q2 revenue.</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line in Retail-Core</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members at positions 50 and 51, with their Q2 revenue.</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sentence</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the share tells Marketing about members left off the list.</a:t>
            </a:r>
          </a:p>
        </p:txBody>
      </p:sp>
      <p:sp>
        <p:nvSpPr>
          <p:cNvPr id="30" name="TextBox 29"/>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the segment is a window too: sum(q2_revenue) OVER (PARTITION BY segment) puts the segment's total on every member's row.</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holds most of each segment's revenue, and the line in Retail-Core sits on Rs 30.</a:t>
            </a:r>
          </a:p>
        </p:txBody>
      </p:sp>
      <p:graphicFrame>
        <p:nvGraphicFramePr>
          <p:cNvPr id="9" name="Table 8"/>
          <p:cNvGraphicFramePr>
            <a:graphicFrameLocks noGrp="1"/>
          </p:cNvGraphicFramePr>
          <p:nvPr/>
        </p:nvGraphicFramePr>
        <p:xfrm>
          <a:off x="530352" y="1839976"/>
          <a:ext cx="11130989" cy="1676400"/>
        </p:xfrm>
        <a:graphic>
          <a:graphicData uri="http://schemas.openxmlformats.org/drawingml/2006/table">
            <a:tbl>
              <a:tblPr firstRow="0" bandRow="0">
                <a:tableStyleId>{2D5ABB26-0587-4C30-8999-92F81FD0307C}</a:tableStyleId>
              </a:tblPr>
              <a:tblGrid>
                <a:gridCol w="2897457"/>
                <a:gridCol w="3174955"/>
                <a:gridCol w="5058577"/>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On the list</a:t>
                      </a:r>
                    </a:p>
                  </a:txBody>
                  <a:tcPr marL="101600" marR="101600" marT="38100" marB="38100" anchor="ctr">
                    <a:solidFill>
                      <a:srgbClr val="1A0F5C"/>
                    </a:solidFill>
                  </a:tcPr>
                </a:tc>
                <a:tc>
                  <a:txBody>
                    <a:bodyPr/>
                    <a:lstStyle/>
                    <a:p>
                      <a:r>
                        <a:rPr sz="1250" b="1" i="0">
                          <a:solidFill>
                            <a:srgbClr val="FFFFFF"/>
                          </a:solidFill>
                          <a:latin typeface="Calibri"/>
                        </a:rPr>
                        <a:t>Share of Q2 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 of 35</a:t>
                      </a:r>
                    </a:p>
                  </a:txBody>
                  <a:tcPr marL="101600" marR="101600" marT="38100" marB="38100" anchor="ctr">
                    <a:solidFill>
                      <a:srgbClr val="FFFFFF"/>
                    </a:solidFill>
                  </a:tcPr>
                </a:tc>
                <a:tc>
                  <a:txBody>
                    <a:bodyPr/>
                    <a:lstStyle/>
                    <a:p>
                      <a:r>
                        <a:rPr sz="1200" b="0" i="0">
                          <a:solidFill>
                            <a:srgbClr val="1A1440"/>
                          </a:solidFill>
                          <a:latin typeface="Calibri"/>
                        </a:rPr>
                        <a:t>100.0 percent</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50 of 76</a:t>
                      </a:r>
                    </a:p>
                  </a:txBody>
                  <a:tcPr marL="101600" marR="101600" marT="38100" marB="38100" anchor="ctr">
                    <a:solidFill>
                      <a:srgbClr val="F4F2FA"/>
                    </a:solidFill>
                  </a:tcPr>
                </a:tc>
                <a:tc>
                  <a:txBody>
                    <a:bodyPr/>
                    <a:lstStyle/>
                    <a:p>
                      <a:r>
                        <a:rPr sz="1200" b="0" i="0">
                          <a:solidFill>
                            <a:srgbClr val="1A1440"/>
                          </a:solidFill>
                          <a:latin typeface="Calibri"/>
                        </a:rPr>
                        <a:t>85.5 percent</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50 of 96</a:t>
                      </a:r>
                    </a:p>
                  </a:txBody>
                  <a:tcPr marL="101600" marR="101600" marT="38100" marB="38100" anchor="ctr">
                    <a:solidFill>
                      <a:srgbClr val="FFFFFF"/>
                    </a:solidFill>
                  </a:tcPr>
                </a:tc>
                <a:tc>
                  <a:txBody>
                    <a:bodyPr/>
                    <a:lstStyle/>
                    <a:p>
                      <a:r>
                        <a:rPr sz="1200" b="0" i="0">
                          <a:solidFill>
                            <a:srgbClr val="1A1440"/>
                          </a:solidFill>
                          <a:latin typeface="Calibri"/>
                        </a:rPr>
                        <a:t>76.1 percent</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 of 20</a:t>
                      </a:r>
                    </a:p>
                  </a:txBody>
                  <a:tcPr marL="101600" marR="101600" marT="38100" marB="38100" anchor="ctr">
                    <a:solidFill>
                      <a:srgbClr val="F4F2FA"/>
                    </a:solidFill>
                  </a:tcPr>
                </a:tc>
                <a:tc>
                  <a:txBody>
                    <a:bodyPr/>
                    <a:lstStyle/>
                    <a:p>
                      <a:r>
                        <a:rPr sz="1200" b="0" i="0">
                          <a:solidFill>
                            <a:srgbClr val="1A1440"/>
                          </a:solidFill>
                          <a:latin typeface="Calibri"/>
                        </a:rPr>
                        <a:t>100.0 percent</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8236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292092"/>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838200"/>
          </a:xfrm>
          <a:prstGeom prst="rect">
            <a:avLst/>
          </a:prstGeom>
          <a:noFill/>
        </p:spPr>
        <p:txBody>
          <a:bodyPr wrap="square" anchor="t" lIns="0" rIns="0" tIns="0" bIns="0">
            <a:spAutoFit/>
          </a:bodyPr>
          <a:lstStyle/>
          <a:p>
            <a:r>
              <a:rPr sz="1300" b="0" i="0">
                <a:solidFill>
                  <a:srgbClr val="1A1440"/>
                </a:solidFill>
                <a:latin typeface="Calibri"/>
              </a:rPr>
              <a:t>Count the list by segment before anyone reads a name, and say in the header when a segment's fifty is everyone who bought. In Retail-Core, C-0005 is fiftieth on Rs 2,980 and C-0092 is off the list on Rs 2,950, so the line is Rs 30 wide.</a:t>
            </a:r>
          </a:p>
        </p:txBody>
      </p:sp>
      <p:sp>
        <p:nvSpPr>
          <p:cNvPr id="15" name="Rounded Rectangle 14"/>
          <p:cNvSpPr/>
          <p:nvPr/>
        </p:nvSpPr>
        <p:spPr>
          <a:xfrm>
            <a:off x="530352" y="5214111"/>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995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09259"/>
            <a:ext cx="237744" cy="237744"/>
          </a:xfrm>
          <a:prstGeom prst="rect">
            <a:avLst/>
          </a:prstGeom>
        </p:spPr>
      </p:pic>
      <p:sp>
        <p:nvSpPr>
          <p:cNvPr id="18" name="TextBox 17"/>
          <p:cNvSpPr txBox="1"/>
          <p:nvPr/>
        </p:nvSpPr>
        <p:spPr>
          <a:xfrm>
            <a:off x="1399031" y="53604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79872"/>
            <a:ext cx="9987991" cy="389128"/>
          </a:xfrm>
          <a:prstGeom prst="rect">
            <a:avLst/>
          </a:prstGeom>
          <a:noFill/>
        </p:spPr>
        <p:txBody>
          <a:bodyPr wrap="square" anchor="t" lIns="0" rIns="0" tIns="0" bIns="0">
            <a:spAutoFit/>
          </a:bodyPr>
          <a:lstStyle/>
          <a:p>
            <a:r>
              <a:rPr sz="1300" b="0" i="0">
                <a:solidFill>
                  <a:srgbClr val="1A1440"/>
                </a:solidFill>
                <a:latin typeface="Calibri"/>
              </a:rPr>
              <a:t>[S] Top-3 per group: GROUP BY or a window,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6" name="Oval 2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the fiftieth place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tie rule is a business choice written as a function name, and each rule ships a different count.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2: how many make the list on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asked for tied members to rank the same and for the count to be said.</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equal_08ba08324b53.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CONDITION</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spend, same place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Two members with the same Q2 revenue share a position.</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hash_29aa8cda0b59.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REPORT</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Say how many</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count that shipped, and why, in the same line.</a:t>
            </a:r>
          </a:p>
        </p:txBody>
      </p:sp>
      <p:sp>
        <p:nvSpPr>
          <p:cNvPr id="23" name="Rounded Rectangle 22"/>
          <p:cNvSpPr/>
          <p:nvPr/>
        </p:nvSpPr>
        <p:spPr>
          <a:xfrm>
            <a:off x="8072932" y="3129280"/>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user-x_bca03822df78.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FAILURE</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FFFFFF"/>
                </a:solidFill>
                <a:latin typeface="Calibri"/>
              </a:rPr>
              <a:t>Forty-nine</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CFC9EE"/>
                </a:solidFill>
                <a:latin typeface="Calibri"/>
              </a:rPr>
              <a:t>A member dropped although he spent what the fiftieth did.</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1" name="Oval 3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3" name="Oval 3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5" name="Oval 3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functions, three answers to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ROW_NUMBER splits the tie, RANK shares the place and leaves a gap, DENSE_RANK shares it with no gap.</a:t>
            </a:r>
          </a:p>
        </p:txBody>
      </p:sp>
      <p:pic>
        <p:nvPicPr>
          <p:cNvPr id="9" name="mermaid diagram" descr="069742a8089cc0d4.png"/>
          <p:cNvPicPr>
            <a:picLocks noChangeAspect="1"/>
          </p:cNvPicPr>
          <p:nvPr/>
        </p:nvPicPr>
        <p:blipFill>
          <a:blip r:embed="rId5"/>
          <a:stretch>
            <a:fillRect/>
          </a:stretch>
        </p:blipFill>
        <p:spPr>
          <a:xfrm>
            <a:off x="2152497" y="1956816"/>
            <a:ext cx="7886700" cy="278606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invented members, three columns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two ties, and the three functions side by side.</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4077263"/>
                <a:gridCol w="914400"/>
                <a:gridCol w="2612463"/>
                <a:gridCol w="914400"/>
                <a:gridCol w="2612463"/>
              </a:tblGrid>
              <a:tr h="335280">
                <a:tc>
                  <a:txBody>
                    <a:bodyPr/>
                    <a:lstStyle/>
                    <a:p>
                      <a:r>
                        <a:rPr sz="1250" b="1" i="0">
                          <a:solidFill>
                            <a:srgbClr val="FFFFFF"/>
                          </a:solidFill>
                          <a:latin typeface="Calibri"/>
                        </a:rPr>
                        <a:t>Member (invented)</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Rs 7,500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Rs 7,500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Rs 6,000</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Rs 5,200</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Rs 5,200</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Rs 4,100</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Move the tie to the line, and count what ships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again: a top four where the fourth and fifth members spent the same Rs 7,400.</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 FILTER (WHERE rn &lt;= 4)                 AS row_number_ships,</a:t>
            </a:r>
          </a:p>
          <a:p>
            <a:pPr>
              <a:spcAft>
                <a:spcPts val="200"/>
              </a:spcAft>
            </a:pPr>
            <a:r>
              <a:rPr sz="1400" b="0" i="0">
                <a:solidFill>
                  <a:srgbClr val="E4E1F1"/>
                </a:solidFill>
                <a:latin typeface="Consolas"/>
              </a:rPr>
              <a:t>count(*) FILTER (WHERE rk &lt;= 4)                 AS rank_ships,</a:t>
            </a:r>
          </a:p>
          <a:p>
            <a:pPr>
              <a:spcAft>
                <a:spcPts val="200"/>
              </a:spcAft>
            </a:pPr>
            <a:r>
              <a:rPr sz="1400" b="0" i="0">
                <a:solidFill>
                  <a:srgbClr val="E4E1F1"/>
                </a:solidFill>
                <a:latin typeface="Consolas"/>
              </a:rPr>
              <a:t>count(*) FILTER (WHERE dr &lt;= 4)                 AS dense_rank_ships,</a:t>
            </a:r>
          </a:p>
          <a:p>
            <a:pPr>
              <a:spcAft>
                <a:spcPts val="200"/>
              </a:spcAft>
            </a:pPr>
            <a:r>
              <a:rPr sz="1400" b="0" i="0">
                <a:solidFill>
                  <a:srgbClr val="E4E1F1"/>
                </a:solidFill>
                <a:latin typeface="Consolas"/>
              </a:rPr>
              <a:t>count(*) FILTER (WHERE rk + tied_with - 1 &lt;= 4) AS whole_ties_only_ships</a:t>
            </a:r>
          </a:p>
        </p:txBody>
      </p:sp>
      <p:sp>
        <p:nvSpPr>
          <p:cNvPr id="14" name="TextBox 13"/>
          <p:cNvSpPr txBox="1"/>
          <p:nvPr/>
        </p:nvSpPr>
        <p:spPr>
          <a:xfrm>
            <a:off x="530352"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6" name="TextBox 15"/>
          <p:cNvSpPr txBox="1"/>
          <p:nvPr/>
        </p:nvSpPr>
        <p:spPr>
          <a:xfrm>
            <a:off x="530352"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D kept, E dropped</a:t>
            </a:r>
          </a:p>
        </p:txBody>
      </p:sp>
      <p:sp>
        <p:nvSpPr>
          <p:cNvPr id="17" name="Rectangle 16"/>
          <p:cNvSpPr/>
          <p:nvPr/>
        </p:nvSpPr>
        <p:spPr>
          <a:xfrm>
            <a:off x="530352"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3381679"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20" name="TextBox 19"/>
          <p:cNvSpPr txBox="1"/>
          <p:nvPr/>
        </p:nvSpPr>
        <p:spPr>
          <a:xfrm>
            <a:off x="3381679"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kept</a:t>
            </a:r>
          </a:p>
        </p:txBody>
      </p:sp>
      <p:sp>
        <p:nvSpPr>
          <p:cNvPr id="21" name="Rectangle 20"/>
          <p:cNvSpPr/>
          <p:nvPr/>
        </p:nvSpPr>
        <p:spPr>
          <a:xfrm>
            <a:off x="3381679"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23" name="TextBox 22"/>
          <p:cNvSpPr txBox="1"/>
          <p:nvPr/>
        </p:nvSpPr>
        <p:spPr>
          <a:xfrm>
            <a:off x="6233007"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24" name="TextBox 23"/>
          <p:cNvSpPr txBox="1"/>
          <p:nvPr/>
        </p:nvSpPr>
        <p:spPr>
          <a:xfrm>
            <a:off x="6233007"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5" name="Rectangle 24"/>
          <p:cNvSpPr/>
          <p:nvPr/>
        </p:nvSpPr>
        <p:spPr>
          <a:xfrm>
            <a:off x="6233007"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7" name="TextBox 26"/>
          <p:cNvSpPr txBox="1"/>
          <p:nvPr/>
        </p:nvSpPr>
        <p:spPr>
          <a:xfrm>
            <a:off x="9084335"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8" name="TextBox 27"/>
          <p:cNvSpPr txBox="1"/>
          <p:nvPr/>
        </p:nvSpPr>
        <p:spPr>
          <a:xfrm>
            <a:off x="9084335"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dropped</a:t>
            </a:r>
          </a:p>
        </p:txBody>
      </p:sp>
      <p:sp>
        <p:nvSpPr>
          <p:cNvPr id="29" name="Rectangle 28"/>
          <p:cNvSpPr/>
          <p:nvPr/>
        </p:nvSpPr>
        <p:spPr>
          <a:xfrm>
            <a:off x="9084335"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Kalpa: Retail-Core under four rules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has no tie at fiftieth, and one rule still ships two extra members.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25" name="Table 24"/>
          <p:cNvGraphicFramePr>
            <a:graphicFrameLocks noGrp="1"/>
          </p:cNvGraphicFramePr>
          <p:nvPr/>
        </p:nvGraphicFramePr>
        <p:xfrm>
          <a:off x="530352" y="3419856"/>
          <a:ext cx="11130989" cy="1341120"/>
        </p:xfrm>
        <a:graphic>
          <a:graphicData uri="http://schemas.openxmlformats.org/drawingml/2006/table">
            <a:tbl>
              <a:tblPr firstRow="0" bandRow="0">
                <a:tableStyleId>{2D5ABB26-0587-4C30-8999-92F81FD0307C}</a:tableStyleId>
              </a:tblPr>
              <a:tblGrid>
                <a:gridCol w="2504005"/>
                <a:gridCol w="914400"/>
                <a:gridCol w="2504005"/>
                <a:gridCol w="2704574"/>
                <a:gridCol w="2504005"/>
              </a:tblGrid>
              <a:tr h="335280">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c>
                  <a:txBody>
                    <a:bodyPr/>
                    <a:lstStyle/>
                    <a:p>
                      <a:r>
                        <a:rPr sz="1250" b="1" i="0">
                          <a:solidFill>
                            <a:srgbClr val="FFFFFF"/>
                          </a:solidFill>
                          <a:latin typeface="Calibri"/>
                        </a:rPr>
                        <a:t>customer_id</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r>
            </a:tbl>
          </a:graphicData>
        </a:graphic>
      </p:graphicFrame>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rule did the head ask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His sentence was "ranked the same". Two functions do that, and they ship different counts.</a:t>
            </a:r>
          </a:p>
        </p:txBody>
      </p:sp>
      <p:pic>
        <p:nvPicPr>
          <p:cNvPr id="9" name="mermaid diagram" descr="83b5168f5f4a30a2.png"/>
          <p:cNvPicPr>
            <a:picLocks noChangeAspect="1"/>
          </p:cNvPicPr>
          <p:nvPr/>
        </p:nvPicPr>
        <p:blipFill>
          <a:blip r:embed="rId5"/>
          <a:stretch>
            <a:fillRect/>
          </a:stretch>
        </p:blipFill>
        <p:spPr>
          <a:xfrm>
            <a:off x="3524097" y="1937671"/>
            <a:ext cx="5143500" cy="2786062"/>
          </a:xfrm>
          <a:prstGeom prst="rect">
            <a:avLst/>
          </a:prstGeom>
        </p:spPr>
      </p:pic>
      <p:sp>
        <p:nvSpPr>
          <p:cNvPr id="10" name="Rounded Rectangle 9"/>
          <p:cNvSpPr/>
          <p:nvPr/>
        </p:nvSpPr>
        <p:spPr>
          <a:xfrm>
            <a:off x="530352" y="487003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805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890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function goes into the protect list? a) DENSE_RANK, since ties share a number and no position is skipped; b) RANK; c) ROW_NUMBER with customer_id as a tiebreaker, since it always ships exactly fifty; d) either of RANK and DENSE_RANK, since both rank ties the same.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9" name="Oval 18"/>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because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DENSE_RANK at most 50 puts 52 Retail-Core members on a list of fifty, with no tie at the line.</a:t>
            </a:r>
          </a:p>
        </p:txBody>
      </p:sp>
      <p:pic>
        <p:nvPicPr>
          <p:cNvPr id="9" name="mermaid diagram" descr="f187dfcac7c5c453.png"/>
          <p:cNvPicPr>
            <a:picLocks noChangeAspect="1"/>
          </p:cNvPicPr>
          <p:nvPr/>
        </p:nvPicPr>
        <p:blipFill>
          <a:blip r:embed="rId6"/>
          <a:stretch>
            <a:fillRect/>
          </a:stretch>
        </p:blipFill>
        <p:spPr>
          <a:xfrm>
            <a:off x="780897" y="1956816"/>
            <a:ext cx="10629900" cy="1100137"/>
          </a:xfrm>
          <a:prstGeom prst="rect">
            <a:avLst/>
          </a:prstGeom>
        </p:spPr>
      </p:pic>
      <p:sp>
        <p:nvSpPr>
          <p:cNvPr id="10" name="Rounded Rectangle 9"/>
          <p:cNvSpPr/>
          <p:nvPr/>
        </p:nvSpPr>
        <p:spPr>
          <a:xfrm>
            <a:off x="530352" y="32032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50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774757"/>
            <a:ext cx="237744" cy="237744"/>
          </a:xfrm>
          <a:prstGeom prst="rect">
            <a:avLst/>
          </a:prstGeom>
        </p:spPr>
      </p:pic>
      <p:sp>
        <p:nvSpPr>
          <p:cNvPr id="13" name="TextBox 12"/>
          <p:cNvSpPr txBox="1"/>
          <p:nvPr/>
        </p:nvSpPr>
        <p:spPr>
          <a:xfrm>
            <a:off x="1399031" y="33495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69017"/>
            <a:ext cx="9987991" cy="941832"/>
          </a:xfrm>
          <a:prstGeom prst="rect">
            <a:avLst/>
          </a:prstGeom>
          <a:noFill/>
        </p:spPr>
        <p:txBody>
          <a:bodyPr wrap="square" anchor="t" lIns="0" rIns="0" tIns="0" bIns="0">
            <a:spAutoFit/>
          </a:bodyPr>
          <a:lstStyle/>
          <a:p>
            <a:r>
              <a:rPr sz="1500" b="0" i="0">
                <a:solidFill>
                  <a:srgbClr val="1A1440"/>
                </a:solidFill>
                <a:latin typeface="Calibri"/>
              </a:rPr>
              <a:t>DENSE_RANK sounds like "ties rank the same" and quietly ships C-0092 and C-0094, who spent less than the fiftieth. The check is to count what each rule ships and read positions 44 to 54 with all three functions side by 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and a report that says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Tied members share a position, everyone at or above fiftieth ships, and the header states how many.</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rank() OVER (PARTITION BY segment</a:t>
            </a:r>
          </a:p>
          <a:p>
            <a:pPr>
              <a:spcAft>
                <a:spcPts val="200"/>
              </a:spcAft>
            </a:pPr>
            <a:r>
              <a:rPr sz="1400" b="0" i="0">
                <a:solidFill>
                  <a:srgbClr val="E4E1F1"/>
                </a:solidFill>
                <a:latin typeface="Consolas"/>
              </a:rPr>
              <a:t>                        ORDER BY q2_revenue DESC)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 max(position) AS last_position</a:t>
            </a:r>
          </a:p>
          <a:p>
            <a:pPr>
              <a:spcAft>
                <a:spcPts val="200"/>
              </a:spcAft>
            </a:pPr>
            <a:r>
              <a:rPr sz="1400" b="0" i="0">
                <a:solidFill>
                  <a:srgbClr val="E4E1F1"/>
                </a:solidFill>
                <a:latin typeface="Consolas"/>
              </a:rPr>
              <a:t>FROM   ranked WHERE position &lt;= 50 GROUP BY segment;</a:t>
            </a:r>
          </a:p>
        </p:txBody>
      </p:sp>
      <p:sp>
        <p:nvSpPr>
          <p:cNvPr id="14" name="Rounded Rectangle 13"/>
          <p:cNvSpPr/>
          <p:nvPr/>
        </p:nvSpPr>
        <p:spPr>
          <a:xfrm>
            <a:off x="530352" y="4598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930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040375"/>
            <a:ext cx="237744" cy="237744"/>
          </a:xfrm>
          <a:prstGeom prst="rect">
            <a:avLst/>
          </a:prstGeom>
        </p:spPr>
      </p:pic>
      <p:sp>
        <p:nvSpPr>
          <p:cNvPr id="17" name="TextBox 16"/>
          <p:cNvSpPr txBox="1"/>
          <p:nvPr/>
        </p:nvSpPr>
        <p:spPr>
          <a:xfrm>
            <a:off x="1399031" y="47447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964176"/>
            <a:ext cx="9987991" cy="682752"/>
          </a:xfrm>
          <a:prstGeom prst="rect">
            <a:avLst/>
          </a:prstGeom>
          <a:noFill/>
        </p:spPr>
        <p:txBody>
          <a:bodyPr wrap="square" anchor="t" lIns="0" rIns="0" tIns="0" bIns="0">
            <a:spAutoFit/>
          </a:bodyPr>
          <a:lstStyle/>
          <a:p>
            <a:r>
              <a:rPr sz="1500" b="0" i="0">
                <a:solidFill>
                  <a:srgbClr val="1A1440"/>
                </a:solidFill>
                <a:latin typeface="Calibri"/>
              </a:rPr>
              <a:t>The report line carries the count and its reason, for example: "50 Retail-Core members; no tie at fiftieth."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3" name="Oval 2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5" name="Oval 2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run it for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how many Retail-Plus members ship, under each rule, and the line in words.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Change the segment to 'Retail-Plus' in blocks 3 and 4, fill the four counts, read positions 44 to 54, and write the one line the head of Retail-Plus reads.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tie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is chosen before the query runs, and the count is reported whatever it turns out to be.</a:t>
            </a:r>
          </a:p>
        </p:txBody>
      </p:sp>
      <p:sp>
        <p:nvSpPr>
          <p:cNvPr id="9" name="Rounded Rectangle 8"/>
          <p:cNvSpPr/>
          <p:nvPr/>
        </p:nvSpPr>
        <p:spPr>
          <a:xfrm>
            <a:off x="53035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06752"/>
            <a:ext cx="237744" cy="237744"/>
          </a:xfrm>
          <a:prstGeom prst="rect">
            <a:avLst/>
          </a:prstGeom>
        </p:spPr>
      </p:pic>
      <p:sp>
        <p:nvSpPr>
          <p:cNvPr id="12" name="TextBox 11"/>
          <p:cNvSpPr txBox="1"/>
          <p:nvPr/>
        </p:nvSpPr>
        <p:spPr>
          <a:xfrm>
            <a:off x="731519"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ARBITRARY</a:t>
            </a:r>
          </a:p>
        </p:txBody>
      </p:sp>
      <p:sp>
        <p:nvSpPr>
          <p:cNvPr id="13" name="TextBox 12"/>
          <p:cNvSpPr txBox="1"/>
          <p:nvPr/>
        </p:nvSpPr>
        <p:spPr>
          <a:xfrm>
            <a:off x="731519"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ROW_NUMBER</a:t>
            </a:r>
          </a:p>
        </p:txBody>
      </p:sp>
      <p:sp>
        <p:nvSpPr>
          <p:cNvPr id="14" name="TextBox 13"/>
          <p:cNvSpPr txBox="1"/>
          <p:nvPr/>
        </p:nvSpPr>
        <p:spPr>
          <a:xfrm>
            <a:off x="731519"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Exactly N, and the database decides who is last on a tie.</a:t>
            </a:r>
          </a:p>
        </p:txBody>
      </p:sp>
      <p:sp>
        <p:nvSpPr>
          <p:cNvPr id="15" name="Rounded Rectangle 14"/>
          <p:cNvSpPr/>
          <p:nvPr/>
        </p:nvSpPr>
        <p:spPr>
          <a:xfrm>
            <a:off x="4301642" y="1895856"/>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7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dal_fe652c2703bd.png"/>
          <p:cNvPicPr>
            <a:picLocks noChangeAspect="1"/>
          </p:cNvPicPr>
          <p:nvPr/>
        </p:nvPicPr>
        <p:blipFill>
          <a:blip r:embed="rId5"/>
          <a:stretch>
            <a:fillRect/>
          </a:stretch>
        </p:blipFill>
        <p:spPr>
          <a:xfrm>
            <a:off x="4612538" y="2206752"/>
            <a:ext cx="237744" cy="237744"/>
          </a:xfrm>
          <a:prstGeom prst="rect">
            <a:avLst/>
          </a:prstGeom>
        </p:spPr>
      </p:pic>
      <p:sp>
        <p:nvSpPr>
          <p:cNvPr id="18" name="TextBox 17"/>
          <p:cNvSpPr txBox="1"/>
          <p:nvPr/>
        </p:nvSpPr>
        <p:spPr>
          <a:xfrm>
            <a:off x="4502810" y="266395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KEEPS TIES</a:t>
            </a:r>
          </a:p>
        </p:txBody>
      </p:sp>
      <p:sp>
        <p:nvSpPr>
          <p:cNvPr id="19" name="TextBox 18"/>
          <p:cNvSpPr txBox="1"/>
          <p:nvPr/>
        </p:nvSpPr>
        <p:spPr>
          <a:xfrm>
            <a:off x="4502810" y="2901696"/>
            <a:ext cx="3186074" cy="234696"/>
          </a:xfrm>
          <a:prstGeom prst="rect">
            <a:avLst/>
          </a:prstGeom>
          <a:noFill/>
        </p:spPr>
        <p:txBody>
          <a:bodyPr wrap="square" anchor="t" lIns="0" rIns="0" tIns="0" bIns="0">
            <a:spAutoFit/>
          </a:bodyPr>
          <a:lstStyle/>
          <a:p>
            <a:pPr algn="l"/>
            <a:r>
              <a:rPr sz="1200" b="1" i="0">
                <a:solidFill>
                  <a:srgbClr val="FFFFFF"/>
                </a:solidFill>
                <a:latin typeface="Calibri"/>
              </a:rPr>
              <a:t>RANK</a:t>
            </a:r>
          </a:p>
        </p:txBody>
      </p:sp>
      <p:sp>
        <p:nvSpPr>
          <p:cNvPr id="20" name="TextBox 19"/>
          <p:cNvSpPr txBox="1"/>
          <p:nvPr/>
        </p:nvSpPr>
        <p:spPr>
          <a:xfrm>
            <a:off x="4502810" y="3209544"/>
            <a:ext cx="3186074" cy="333756"/>
          </a:xfrm>
          <a:prstGeom prst="rect">
            <a:avLst/>
          </a:prstGeom>
          <a:noFill/>
        </p:spPr>
        <p:txBody>
          <a:bodyPr wrap="square" anchor="t" lIns="0" rIns="0" tIns="0" bIns="0">
            <a:spAutoFit/>
          </a:bodyPr>
          <a:lstStyle/>
          <a:p>
            <a:pPr algn="l"/>
            <a:r>
              <a:rPr sz="900" b="0" i="0">
                <a:solidFill>
                  <a:srgbClr val="CFC9EE"/>
                </a:solidFill>
                <a:latin typeface="Calibri"/>
              </a:rPr>
              <a:t>Everyone at or above N ships, and a tie at the line adds rows.</a:t>
            </a:r>
          </a:p>
        </p:txBody>
      </p:sp>
      <p:sp>
        <p:nvSpPr>
          <p:cNvPr id="21" name="Rounded Rectangle 20"/>
          <p:cNvSpPr/>
          <p:nvPr/>
        </p:nvSpPr>
        <p:spPr>
          <a:xfrm>
            <a:off x="807293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ayers_f8ca12c3f279.png"/>
          <p:cNvPicPr>
            <a:picLocks noChangeAspect="1"/>
          </p:cNvPicPr>
          <p:nvPr/>
        </p:nvPicPr>
        <p:blipFill>
          <a:blip r:embed="rId6"/>
          <a:stretch>
            <a:fillRect/>
          </a:stretch>
        </p:blipFill>
        <p:spPr>
          <a:xfrm>
            <a:off x="8383828" y="2206752"/>
            <a:ext cx="237744" cy="237744"/>
          </a:xfrm>
          <a:prstGeom prst="rect">
            <a:avLst/>
          </a:prstGeom>
        </p:spPr>
      </p:pic>
      <p:sp>
        <p:nvSpPr>
          <p:cNvPr id="24" name="TextBox 23"/>
          <p:cNvSpPr txBox="1"/>
          <p:nvPr/>
        </p:nvSpPr>
        <p:spPr>
          <a:xfrm>
            <a:off x="8274100"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COMPRESSES</a:t>
            </a:r>
          </a:p>
        </p:txBody>
      </p:sp>
      <p:sp>
        <p:nvSpPr>
          <p:cNvPr id="25" name="TextBox 24"/>
          <p:cNvSpPr txBox="1"/>
          <p:nvPr/>
        </p:nvSpPr>
        <p:spPr>
          <a:xfrm>
            <a:off x="8274100"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DENSE_RANK</a:t>
            </a:r>
          </a:p>
        </p:txBody>
      </p:sp>
      <p:sp>
        <p:nvSpPr>
          <p:cNvPr id="26" name="TextBox 25"/>
          <p:cNvSpPr txBox="1"/>
          <p:nvPr/>
        </p:nvSpPr>
        <p:spPr>
          <a:xfrm>
            <a:off x="8274100"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Ties higher up save numbers, so it can ship past N with no tie at the line.</a:t>
            </a:r>
          </a:p>
        </p:txBody>
      </p:sp>
      <p:sp>
        <p:nvSpPr>
          <p:cNvPr id="27" name="Rounded Rectangle 26"/>
          <p:cNvSpPr/>
          <p:nvPr/>
        </p:nvSpPr>
        <p:spPr>
          <a:xfrm>
            <a:off x="530352" y="394106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387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48480"/>
            <a:ext cx="237744" cy="237744"/>
          </a:xfrm>
          <a:prstGeom prst="rect">
            <a:avLst/>
          </a:prstGeom>
        </p:spPr>
      </p:pic>
      <p:sp>
        <p:nvSpPr>
          <p:cNvPr id="30" name="TextBox 29"/>
          <p:cNvSpPr txBox="1"/>
          <p:nvPr/>
        </p:nvSpPr>
        <p:spPr>
          <a:xfrm>
            <a:off x="1399031" y="4087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824"/>
            <a:ext cx="9987991" cy="613664"/>
          </a:xfrm>
          <a:prstGeom prst="rect">
            <a:avLst/>
          </a:prstGeom>
          <a:noFill/>
        </p:spPr>
        <p:txBody>
          <a:bodyPr wrap="square" anchor="t" lIns="0" rIns="0" tIns="0" bIns="0">
            <a:spAutoFit/>
          </a:bodyPr>
          <a:lstStyle/>
          <a:p>
            <a:r>
              <a:rPr sz="1300" b="0" i="0">
                <a:solidFill>
                  <a:srgbClr val="1A1440"/>
                </a:solidFill>
                <a:latin typeface="Calibri"/>
              </a:rPr>
              <a:t>Say the tie rule and the count in the same sentence, and a list that ships more or fewer than fifty is right as long as its line says why.</a:t>
            </a:r>
          </a:p>
        </p:txBody>
      </p:sp>
      <p:sp>
        <p:nvSpPr>
          <p:cNvPr id="32" name="Rounded Rectangle 31"/>
          <p:cNvSpPr/>
          <p:nvPr/>
        </p:nvSpPr>
        <p:spPr>
          <a:xfrm>
            <a:off x="530352" y="5158232"/>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3436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453380"/>
            <a:ext cx="237744" cy="237744"/>
          </a:xfrm>
          <a:prstGeom prst="rect">
            <a:avLst/>
          </a:prstGeom>
        </p:spPr>
      </p:pic>
      <p:sp>
        <p:nvSpPr>
          <p:cNvPr id="35" name="TextBox 34"/>
          <p:cNvSpPr txBox="1"/>
          <p:nvPr/>
        </p:nvSpPr>
        <p:spPr>
          <a:xfrm>
            <a:off x="1399031" y="5304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23992"/>
            <a:ext cx="9987991" cy="389128"/>
          </a:xfrm>
          <a:prstGeom prst="rect">
            <a:avLst/>
          </a:prstGeom>
          <a:noFill/>
        </p:spPr>
        <p:txBody>
          <a:bodyPr wrap="square" anchor="t" lIns="0" rIns="0" tIns="0" bIns="0">
            <a:spAutoFit/>
          </a:bodyPr>
          <a:lstStyle/>
          <a:p>
            <a:r>
              <a:rPr sz="1300" b="0" i="0">
                <a:solidFill>
                  <a:srgbClr val="1A1440"/>
                </a:solidFill>
                <a:latin typeface="Calibri"/>
              </a:rPr>
              <a:t>[D] The business says 'ties rank the same'; which function, and how many rows might the top-N report ship?</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43" name="Oval 4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falling spend and the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LAG reads the previous row, and a running total reads everything so far; both need the right order.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whose spend is falling, and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flag compares each member with their own past, and Meera's line compares Q2 with plan.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24307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rending-down_69bb86911a18.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RUNG 4</a:t>
            </a:r>
          </a:p>
        </p:txBody>
      </p:sp>
      <p:sp>
        <p:nvSpPr>
          <p:cNvPr id="18" name="TextBox 17"/>
          <p:cNvSpPr txBox="1"/>
          <p:nvPr/>
        </p:nvSpPr>
        <p:spPr>
          <a:xfrm>
            <a:off x="731519" y="4248912"/>
            <a:ext cx="5071719"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19" name="TextBox 18"/>
          <p:cNvSpPr txBox="1"/>
          <p:nvPr/>
        </p:nvSpPr>
        <p:spPr>
          <a:xfrm>
            <a:off x="731519" y="4589780"/>
            <a:ext cx="5071719" cy="399796"/>
          </a:xfrm>
          <a:prstGeom prst="rect">
            <a:avLst/>
          </a:prstGeom>
          <a:noFill/>
        </p:spPr>
        <p:txBody>
          <a:bodyPr wrap="square" anchor="t" lIns="0" rIns="0" tIns="0" bIns="0">
            <a:spAutoFit/>
          </a:bodyPr>
          <a:lstStyle/>
          <a:p>
            <a:pPr algn="l"/>
            <a:r>
              <a:rPr sz="1100" b="0" i="0">
                <a:solidFill>
                  <a:srgbClr val="6B6690"/>
                </a:solidFill>
                <a:latin typeface="Calibri"/>
              </a:rPr>
              <a:t>Spend in September below August, and August below July, for the same member.</a:t>
            </a:r>
          </a:p>
        </p:txBody>
      </p:sp>
      <p:sp>
        <p:nvSpPr>
          <p:cNvPr id="20" name="Rounded Rectangle 19"/>
          <p:cNvSpPr/>
          <p:nvPr/>
        </p:nvSpPr>
        <p:spPr>
          <a:xfrm>
            <a:off x="6187287" y="324307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target_9d9f9e57d1ed.png"/>
          <p:cNvPicPr>
            <a:picLocks noChangeAspect="1"/>
          </p:cNvPicPr>
          <p:nvPr/>
        </p:nvPicPr>
        <p:blipFill>
          <a:blip r:embed="rId6"/>
          <a:stretch>
            <a:fillRect/>
          </a:stretch>
        </p:blipFill>
        <p:spPr>
          <a:xfrm>
            <a:off x="6498183" y="3553968"/>
            <a:ext cx="237744" cy="237744"/>
          </a:xfrm>
          <a:prstGeom prst="rect">
            <a:avLst/>
          </a:prstGeom>
        </p:spPr>
      </p:pic>
      <p:sp>
        <p:nvSpPr>
          <p:cNvPr id="23" name="TextBox 22"/>
          <p:cNvSpPr txBox="1"/>
          <p:nvPr/>
        </p:nvSpPr>
        <p:spPr>
          <a:xfrm>
            <a:off x="6388455" y="401116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RUNG 5</a:t>
            </a:r>
          </a:p>
        </p:txBody>
      </p:sp>
      <p:sp>
        <p:nvSpPr>
          <p:cNvPr id="24" name="TextBox 23"/>
          <p:cNvSpPr txBox="1"/>
          <p:nvPr/>
        </p:nvSpPr>
        <p:spPr>
          <a:xfrm>
            <a:off x="6388455" y="4248912"/>
            <a:ext cx="5071719" cy="267716"/>
          </a:xfrm>
          <a:prstGeom prst="rect">
            <a:avLst/>
          </a:prstGeom>
          <a:noFill/>
        </p:spPr>
        <p:txBody>
          <a:bodyPr wrap="square" anchor="t" lIns="0" rIns="0" tIns="0" bIns="0">
            <a:spAutoFit/>
          </a:bodyPr>
          <a:lstStyle/>
          <a:p>
            <a:pPr algn="l"/>
            <a:r>
              <a:rPr sz="1400" b="1" i="0">
                <a:solidFill>
                  <a:srgbClr val="FFFFFF"/>
                </a:solidFill>
                <a:latin typeface="Calibri"/>
              </a:rPr>
              <a:t>The plan line</a:t>
            </a:r>
          </a:p>
        </p:txBody>
      </p:sp>
      <p:sp>
        <p:nvSpPr>
          <p:cNvPr id="25" name="TextBox 24"/>
          <p:cNvSpPr txBox="1"/>
          <p:nvPr/>
        </p:nvSpPr>
        <p:spPr>
          <a:xfrm>
            <a:off x="6388455" y="4589780"/>
            <a:ext cx="5071719" cy="218186"/>
          </a:xfrm>
          <a:prstGeom prst="rect">
            <a:avLst/>
          </a:prstGeom>
          <a:noFill/>
        </p:spPr>
        <p:txBody>
          <a:bodyPr wrap="square" anchor="t" lIns="0" rIns="0" tIns="0" bIns="0">
            <a:spAutoFit/>
          </a:bodyPr>
          <a:lstStyle/>
          <a:p>
            <a:pPr algn="l"/>
            <a:r>
              <a:rPr sz="1100" b="0" i="0">
                <a:solidFill>
                  <a:srgbClr val="CFC9EE"/>
                </a:solidFill>
                <a:latin typeface="Calibri"/>
              </a:rPr>
              <a:t>Q2 booked to date against the plan to date,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member's months, then the member's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per month with an order, then LAG reads the row before it for the same member.</a:t>
            </a:r>
          </a:p>
        </p:txBody>
      </p:sp>
      <p:pic>
        <p:nvPicPr>
          <p:cNvPr id="9" name="mermaid diagram" descr="eb7fd92cbec983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month with no order has no row at all, so the row before September is whatever month the member last bought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a month per member, and the gaps in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C-0003 bought in April, June, July and August, so May has no row.</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customer_id, date_trunc('month', order_date)::date AS month,</a:t>
            </a:r>
          </a:p>
          <a:p>
            <a:pPr>
              <a:spcAft>
                <a:spcPts val="200"/>
              </a:spcAft>
            </a:pPr>
            <a:r>
              <a:rPr sz="1400" b="0" i="0">
                <a:solidFill>
                  <a:srgbClr val="E4E1F1"/>
                </a:solidFill>
                <a:latin typeface="Consolas"/>
              </a:rPr>
              <a:t>       sum(amount) AS spend</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customer_id, date_trunc('month', order_date)</a:t>
            </a:r>
          </a:p>
          <a:p>
            <a:pPr>
              <a:spcAft>
                <a:spcPts val="200"/>
              </a:spcAft>
            </a:pPr>
            <a:r>
              <a:rPr sz="1400" b="0" i="0">
                <a:solidFill>
                  <a:srgbClr val="E4E1F1"/>
                </a:solidFill>
                <a:latin typeface="Consolas"/>
              </a:rPr>
              <a:t>ORDER  BY customer_id, month;</a:t>
            </a:r>
          </a:p>
        </p:txBody>
      </p:sp>
      <p:graphicFrame>
        <p:nvGraphicFramePr>
          <p:cNvPr id="14" name="Table 13"/>
          <p:cNvGraphicFramePr>
            <a:graphicFrameLocks noGrp="1"/>
          </p:cNvGraphicFramePr>
          <p:nvPr/>
        </p:nvGraphicFramePr>
        <p:xfrm>
          <a:off x="530352" y="3840988"/>
          <a:ext cx="11130991" cy="1849120"/>
        </p:xfrm>
        <a:graphic>
          <a:graphicData uri="http://schemas.openxmlformats.org/drawingml/2006/table">
            <a:tbl>
              <a:tblPr firstRow="0" bandRow="0">
                <a:tableStyleId>{2D5ABB26-0587-4C30-8999-92F81FD0307C}</a:tableStyleId>
              </a:tblPr>
              <a:tblGrid>
                <a:gridCol w="5987836"/>
                <a:gridCol w="914400"/>
                <a:gridCol w="4228755"/>
              </a:tblGrid>
              <a:tr h="369824">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spend</a:t>
                      </a:r>
                    </a:p>
                  </a:txBody>
                  <a:tcPr marL="101600" marR="101600" marT="38100" marB="38100" anchor="ctr">
                    <a:solidFill>
                      <a:srgbClr val="1A0F5C"/>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April</a:t>
                      </a:r>
                    </a:p>
                  </a:txBody>
                  <a:tcPr marL="101600" marR="101600" marT="38100" marB="38100" anchor="ctr">
                    <a:solidFill>
                      <a:srgbClr val="FFFFFF"/>
                    </a:solidFill>
                  </a:tcPr>
                </a:tc>
                <a:tc>
                  <a:txBody>
                    <a:bodyPr/>
                    <a:lstStyle/>
                    <a:p>
                      <a:r>
                        <a:rPr sz="1400" b="0" i="0">
                          <a:solidFill>
                            <a:srgbClr val="1A1440"/>
                          </a:solidFill>
                          <a:latin typeface="Calibri"/>
                        </a:rPr>
                        <a:t>Rs 3,850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Rs 2,420</a:t>
                      </a:r>
                    </a:p>
                  </a:txBody>
                  <a:tcPr marL="101600" marR="101600" marT="38100" marB="38100" anchor="ctr">
                    <a:solidFill>
                      <a:srgbClr val="F4F2FA"/>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Rs 2,630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August</a:t>
                      </a:r>
                    </a:p>
                  </a:txBody>
                  <a:tcPr marL="101600" marR="101600" marT="38100" marB="38100" anchor="ctr">
                    <a:solidFill>
                      <a:srgbClr val="F4F2FA"/>
                    </a:solidFill>
                  </a:tcPr>
                </a:tc>
                <a:tc>
                  <a:txBody>
                    <a:bodyPr/>
                    <a:lstStyle/>
                    <a:p>
                      <a:r>
                        <a:rPr sz="1400" b="0" i="0">
                          <a:solidFill>
                            <a:srgbClr val="1A1440"/>
                          </a:solidFill>
                          <a:latin typeface="Calibri"/>
                        </a:rPr>
                        <a:t>Rs 810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LAG on a member whose spend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LAG reads the member's previous month and LEAD the next; C-0010 fell in August and again in September.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(PARTITION BY customer_id ORDER BY month) AS spend_before,</a:t>
            </a:r>
          </a:p>
          <a:p>
            <a:pPr>
              <a:spcAft>
                <a:spcPts val="200"/>
              </a:spcAft>
            </a:pPr>
            <a:r>
              <a:rPr sz="1400" b="0" i="0">
                <a:solidFill>
                  <a:srgbClr val="E4E1F1"/>
                </a:solidFill>
                <a:latin typeface="Consolas"/>
              </a:rPr>
              <a:t>lag(spend, 2) OVER (PARTITION BY customer_id ORDER BY month) AS spend_two_before</a:t>
            </a:r>
          </a:p>
        </p:txBody>
      </p:sp>
      <p:sp>
        <p:nvSpPr>
          <p:cNvPr id="14" name="TextBox 13"/>
          <p:cNvSpPr txBox="1"/>
          <p:nvPr/>
        </p:nvSpPr>
        <p:spPr>
          <a:xfrm>
            <a:off x="53035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7,840</a:t>
            </a:r>
          </a:p>
        </p:txBody>
      </p:sp>
      <p:sp>
        <p:nvSpPr>
          <p:cNvPr id="15" name="TextBox 14"/>
          <p:cNvSpPr txBox="1"/>
          <p:nvPr/>
        </p:nvSpPr>
        <p:spPr>
          <a:xfrm>
            <a:off x="53035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6" name="TextBox 15"/>
          <p:cNvSpPr txBox="1"/>
          <p:nvPr/>
        </p:nvSpPr>
        <p:spPr>
          <a:xfrm>
            <a:off x="53035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spend_two_before</a:t>
            </a:r>
          </a:p>
        </p:txBody>
      </p:sp>
      <p:sp>
        <p:nvSpPr>
          <p:cNvPr id="17" name="Rectangle 16"/>
          <p:cNvSpPr/>
          <p:nvPr/>
        </p:nvSpPr>
        <p:spPr>
          <a:xfrm>
            <a:off x="53035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4,080</a:t>
            </a:r>
          </a:p>
        </p:txBody>
      </p:sp>
      <p:sp>
        <p:nvSpPr>
          <p:cNvPr id="19" name="TextBox 18"/>
          <p:cNvSpPr txBox="1"/>
          <p:nvPr/>
        </p:nvSpPr>
        <p:spPr>
          <a:xfrm>
            <a:off x="433212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20" name="TextBox 19"/>
          <p:cNvSpPr txBox="1"/>
          <p:nvPr/>
        </p:nvSpPr>
        <p:spPr>
          <a:xfrm>
            <a:off x="433212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spend_before</a:t>
            </a:r>
          </a:p>
        </p:txBody>
      </p:sp>
      <p:sp>
        <p:nvSpPr>
          <p:cNvPr id="21" name="Rectangle 20"/>
          <p:cNvSpPr/>
          <p:nvPr/>
        </p:nvSpPr>
        <p:spPr>
          <a:xfrm>
            <a:off x="433212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1,990</a:t>
            </a:r>
          </a:p>
        </p:txBody>
      </p:sp>
      <p:sp>
        <p:nvSpPr>
          <p:cNvPr id="23" name="TextBox 22"/>
          <p:cNvSpPr txBox="1"/>
          <p:nvPr/>
        </p:nvSpPr>
        <p:spPr>
          <a:xfrm>
            <a:off x="813389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4" name="TextBox 23"/>
          <p:cNvSpPr txBox="1"/>
          <p:nvPr/>
        </p:nvSpPr>
        <p:spPr>
          <a:xfrm>
            <a:off x="813389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a:t>
            </a:r>
          </a:p>
        </p:txBody>
      </p:sp>
      <p:sp>
        <p:nvSpPr>
          <p:cNvPr id="25" name="Rectangle 24"/>
          <p:cNvSpPr/>
          <p:nvPr/>
        </p:nvSpPr>
        <p:spPr>
          <a:xfrm>
            <a:off x="813389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does the hurried flag catch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LAGs with the PARTITION BY left out, over all members' months sorted by member.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spend_before,</a:t>
            </a:r>
          </a:p>
          <a:p>
            <a:pPr>
              <a:spcAft>
                <a:spcPts val="200"/>
              </a:spcAft>
            </a:pPr>
            <a:r>
              <a:rPr sz="1400" b="0" i="0">
                <a:solidFill>
                  <a:srgbClr val="E4E1F1"/>
                </a:solidFill>
                <a:latin typeface="Consolas"/>
              </a:rPr>
              <a:t>lag(spend, 2)       OVER (ORDER BY customer_id, month) AS spend_two_before,</a:t>
            </a:r>
          </a:p>
          <a:p>
            <a:pPr>
              <a:spcAft>
                <a:spcPts val="200"/>
              </a:spcAft>
            </a:pPr>
            <a:r>
              <a:rPr sz="1400" b="0" i="0">
                <a:solidFill>
                  <a:srgbClr val="E4E1F1"/>
                </a:solidFill>
                <a:latin typeface="Consolas"/>
              </a:rPr>
              <a:t>lag(customer_id, 2) OVER (ORDER BY customer_id, month) AS whose_row_two_before</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Run with no PARTITION BY, the flag ending in September catches 20 members. How many of those compared a month with another member's month? a) none, because the rows are sorted by member; b) 4; c) all 20; d) it cannot be counted.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the 20 read another member's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months are compared with whoever sorts before them.</a:t>
            </a:r>
          </a:p>
        </p:txBody>
      </p:sp>
      <p:pic>
        <p:nvPicPr>
          <p:cNvPr id="9" name="mermaid diagram" descr="a260f1bd8b0a8f14.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Four members are accused of a fall that happened in someone else's account. The check: any member's first month with a previous value, or a count of rows where whose_row_two_before is another customer.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flagged, and one was on holiday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C-0216 bought in May, July and September, and LAG called July "last month" for September.</a:t>
            </a:r>
          </a:p>
        </p:txBody>
      </p:sp>
      <p:pic>
        <p:nvPicPr>
          <p:cNvPr id="9" name="mermaid diagram" descr="be6527f2103f3f17.png"/>
          <p:cNvPicPr>
            <a:picLocks noChangeAspect="1"/>
          </p:cNvPicPr>
          <p:nvPr/>
        </p:nvPicPr>
        <p:blipFill>
          <a:blip r:embed="rId6"/>
          <a:stretch>
            <a:fillRect/>
          </a:stretch>
        </p:blipFill>
        <p:spPr>
          <a:xfrm>
            <a:off x="530352" y="1956816"/>
            <a:ext cx="11130991" cy="1353961"/>
          </a:xfrm>
          <a:prstGeom prst="rect">
            <a:avLst/>
          </a:prstGeom>
        </p:spPr>
      </p:pic>
      <p:sp>
        <p:nvSpPr>
          <p:cNvPr id="10" name="Rounded Rectangle 9"/>
          <p:cNvSpPr/>
          <p:nvPr/>
        </p:nvSpPr>
        <p:spPr>
          <a:xfrm>
            <a:off x="530352" y="345708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8931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99041"/>
            <a:ext cx="237744" cy="237744"/>
          </a:xfrm>
          <a:prstGeom prst="rect">
            <a:avLst/>
          </a:prstGeom>
        </p:spPr>
      </p:pic>
      <p:sp>
        <p:nvSpPr>
          <p:cNvPr id="13" name="TextBox 12"/>
          <p:cNvSpPr txBox="1"/>
          <p:nvPr/>
        </p:nvSpPr>
        <p:spPr>
          <a:xfrm>
            <a:off x="1399031" y="360338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2841"/>
            <a:ext cx="9987991" cy="682752"/>
          </a:xfrm>
          <a:prstGeom prst="rect">
            <a:avLst/>
          </a:prstGeom>
          <a:noFill/>
        </p:spPr>
        <p:txBody>
          <a:bodyPr wrap="square" anchor="t" lIns="0" rIns="0" tIns="0" bIns="0">
            <a:spAutoFit/>
          </a:bodyPr>
          <a:lstStyle/>
          <a:p>
            <a:r>
              <a:rPr sz="1500" b="0" i="0">
                <a:solidFill>
                  <a:srgbClr val="1A1440"/>
                </a:solidFill>
                <a:latin typeface="Calibri"/>
              </a:rPr>
              <a:t>Seven of the sixteen compared across a skipped month, so a gap became a fall. The check: carry lag(month) beside lag(spend) and count the rows where the previous row is not the previous calendar month.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readings a calendar month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Require the previous two rows to be August and July, and a month with no order breaks the run.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WHERE month            = DATE '2026-09-01'</a:t>
            </a:r>
          </a:p>
          <a:p>
            <a:pPr>
              <a:spcAft>
                <a:spcPts val="200"/>
              </a:spcAft>
            </a:pPr>
            <a:r>
              <a:rPr sz="1400" b="0" i="0">
                <a:solidFill>
                  <a:srgbClr val="E4E1F1"/>
                </a:solidFill>
                <a:latin typeface="Consolas"/>
              </a:rPr>
              <a:t>  AND month_before     = month - INTERVAL '1 month'</a:t>
            </a:r>
          </a:p>
          <a:p>
            <a:pPr>
              <a:spcAft>
                <a:spcPts val="200"/>
              </a:spcAft>
            </a:pPr>
            <a:r>
              <a:rPr sz="1400" b="0" i="0">
                <a:solidFill>
                  <a:srgbClr val="E4E1F1"/>
                </a:solidFill>
                <a:latin typeface="Consolas"/>
              </a:rPr>
              <a:t>  AND month_two_before = month - INTERVAL '2 months'</a:t>
            </a:r>
          </a:p>
          <a:p>
            <a:pPr>
              <a:spcAft>
                <a:spcPts val="200"/>
              </a:spcAft>
            </a:pPr>
            <a:r>
              <a:rPr sz="1400" b="0" i="0">
                <a:solidFill>
                  <a:srgbClr val="E4E1F1"/>
                </a:solidFill>
                <a:latin typeface="Consolas"/>
              </a:rPr>
              <a:t>  AND spend &lt; spend_before AND spend_before &lt; spend_two_before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NO PARTITION BY</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4 read another member</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PARTITIONED</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7 read across a gap</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CONSECUTIVE MONTHS</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flag that holds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Why a missing month is never filled with zero</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a member with no September order yet.</a:t>
            </a:r>
          </a:p>
        </p:txBody>
      </p:sp>
      <p:pic>
        <p:nvPicPr>
          <p:cNvPr id="10" name="mermaid diagram" descr="85555365be3c0ceb.png"/>
          <p:cNvPicPr>
            <a:picLocks noChangeAspect="1"/>
          </p:cNvPicPr>
          <p:nvPr/>
        </p:nvPicPr>
        <p:blipFill>
          <a:blip r:embed="rId6"/>
          <a:stretch>
            <a:fillRect/>
          </a:stretch>
        </p:blipFill>
        <p:spPr>
          <a:xfrm>
            <a:off x="780897" y="1956816"/>
            <a:ext cx="10629900" cy="2543175"/>
          </a:xfrm>
          <a:prstGeom prst="rect">
            <a:avLst/>
          </a:prstGeom>
        </p:spPr>
      </p:pic>
      <p:sp>
        <p:nvSpPr>
          <p:cNvPr id="11" name="Rounded Rectangle 10"/>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4" name="TextBox 13"/>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5" name="TextBox 14"/>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Filling the gap with zero reads "bought nothing" as "spent Rs 0", so every member on holiday in the latest month shows a fall to zero and lands on the flag.</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list the flagged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nine minutes: the members behind the count, their segment and their place on the list.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members</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Turn block 5's count into a list of customer_id with the three months' spend.</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Their segment</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Join customers and group the list by segment.</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shield_289401204bfd.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 the protect list</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Which of them hold a RANK position of fifty or better in their segment.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Level 4: a running total needs a full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22 July, ORDER BY order_date alone gives all twelve orders the day's closing figure.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9053"/>
                <a:gridCol w="2727596"/>
                <a:gridCol w="3003353"/>
                <a:gridCol w="378098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only</a:t>
                      </a:r>
                    </a:p>
                  </a:txBody>
                  <a:tcPr marL="101600" marR="101600" marT="38100" marB="38100" anchor="ctr">
                    <a:solidFill>
                      <a:srgbClr val="1A0F5C"/>
                    </a:solidFill>
                  </a:tcPr>
                </a:tc>
                <a:tc>
                  <a:txBody>
                    <a:bodyPr/>
                    <a:lstStyle/>
                    <a:p>
                      <a:r>
                        <a:rPr sz="1250" b="1" i="0">
                          <a:solidFill>
                            <a:srgbClr val="FFFFFF"/>
                          </a:solidFill>
                          <a:latin typeface="Calibri"/>
                        </a:rPr>
                        <a:t>by date, then order_id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KR-00601</a:t>
                      </a:r>
                    </a:p>
                  </a:txBody>
                  <a:tcPr marL="101600" marR="101600" marT="38100" marB="38100" anchor="ctr">
                    <a:solidFill>
                      <a:srgbClr val="FFFFFF"/>
                    </a:solidFill>
                  </a:tcPr>
                </a:tc>
                <a:tc>
                  <a:txBody>
                    <a:bodyPr/>
                    <a:lstStyle/>
                    <a:p>
                      <a:r>
                        <a:rPr sz="1200" b="0" i="0">
                          <a:solidFill>
                            <a:srgbClr val="1A1440"/>
                          </a:solidFill>
                          <a:latin typeface="Calibri"/>
                        </a:rPr>
                        <a:t>Rs 10,40,000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3,64,11,000</a:t>
                      </a:r>
                    </a:p>
                  </a:txBody>
                  <a:tcPr marL="101600" marR="101600" marT="38100" marB="38100" anchor="ctr">
                    <a:solidFill>
                      <a:srgbClr val="FFFFFF"/>
                    </a:solidFill>
                  </a:tcPr>
                </a:tc>
              </a:tr>
              <a:tr h="335280">
                <a:tc>
                  <a:txBody>
                    <a:bodyPr/>
                    <a:lstStyle/>
                    <a:p>
                      <a:r>
                        <a:rPr sz="1200" b="0" i="0">
                          <a:solidFill>
                            <a:srgbClr val="1A1440"/>
                          </a:solidFill>
                          <a:latin typeface="Calibri"/>
                        </a:rPr>
                        <a:t>...</a:t>
                      </a:r>
                    </a:p>
                  </a:txBody>
                  <a:tcPr marL="101600" marR="101600" marT="38100" marB="38100" anchor="ctr">
                    <a:solidFill>
                      <a:srgbClr val="F4F2FA"/>
                    </a:solidFill>
                  </a:tcPr>
                </a:tc>
                <a:tc>
                  <a:txBody>
                    <a:bodyPr/>
                    <a:lstStyle/>
                    <a:p>
                      <a:r>
                        <a:rPr sz="1200" b="0" i="0">
                          <a:solidFill>
                            <a:srgbClr val="1A1440"/>
                          </a:solidFill>
                          <a:latin typeface="Calibri"/>
                        </a:rPr>
                        <a:t>eight more orders</a:t>
                      </a:r>
                    </a:p>
                  </a:txBody>
                  <a:tcPr marL="101600" marR="101600" marT="38100" marB="38100" anchor="ctr">
                    <a:solidFill>
                      <a:srgbClr val="F4F2FA"/>
                    </a:solidFill>
                  </a:tcPr>
                </a:tc>
                <a:tc>
                  <a:txBody>
                    <a:bodyPr/>
                    <a:lstStyle/>
                    <a:p>
                      <a:r>
                        <a:rPr sz="1200" b="0" i="0">
                          <a:solidFill>
                            <a:srgbClr val="1A1440"/>
                          </a:solidFill>
                          <a:latin typeface="Calibri"/>
                        </a:rPr>
                        <a:t>Rs 3,76,90,290 each</a:t>
                      </a:r>
                    </a:p>
                  </a:txBody>
                  <a:tcPr marL="101600" marR="101600" marT="38100" marB="38100" anchor="ctr">
                    <a:solidFill>
                      <a:srgbClr val="F4F2FA"/>
                    </a:solidFill>
                  </a:tcPr>
                </a:tc>
                <a:tc>
                  <a:txBody>
                    <a:bodyPr/>
                    <a:lstStyle/>
                    <a:p>
                      <a:r>
                        <a:rPr sz="1200" b="0" i="0">
                          <a:solidFill>
                            <a:srgbClr val="1A1440"/>
                          </a:solidFill>
                          <a:latin typeface="Calibri"/>
                        </a:rPr>
                        <a:t>one step each</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52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52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52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537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by_date_only,</a:t>
            </a:r>
          </a:p>
          <a:p>
            <a:pPr>
              <a:spcAft>
                <a:spcPts val="200"/>
              </a:spcAft>
            </a:pPr>
            <a:r>
              <a:rPr sz="1400" b="0" i="0">
                <a:solidFill>
                  <a:srgbClr val="E4E1F1"/>
                </a:solidFill>
                <a:latin typeface="Consolas"/>
              </a:rPr>
              <a:t>sum(amount) OVER (ORDER BY order_date, order_id) AS by_date_then_order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plan to date, never one week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the end of the seventh plan week, a running actual beside one week's plan reads as nine times plan.</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153814"/>
                <a:gridCol w="1962998"/>
                <a:gridCol w="1784375"/>
                <a:gridCol w="4229802"/>
              </a:tblGrid>
              <a:tr h="335280">
                <a:tc>
                  <a:txBody>
                    <a:bodyPr/>
                    <a:lstStyle/>
                    <a:p>
                      <a:r>
                        <a:rPr sz="1250" b="1" i="0">
                          <a:solidFill>
                            <a:srgbClr val="FFFFFF"/>
                          </a:solidFill>
                          <a:latin typeface="Calibri"/>
                        </a:rPr>
                        <a:t>At the end of week seven</a:t>
                      </a:r>
                    </a:p>
                  </a:txBody>
                  <a:tcPr marL="101600" marR="101600" marT="38100" marB="38100" anchor="ctr">
                    <a:solidFill>
                      <a:srgbClr val="1A0F5C"/>
                    </a:solidFill>
                  </a:tcPr>
                </a:tc>
                <a:tc>
                  <a:txBody>
                    <a:bodyPr/>
                    <a:lstStyle/>
                    <a:p>
                      <a:r>
                        <a:rPr sz="1250" b="1" i="0">
                          <a:solidFill>
                            <a:srgbClr val="FFFFFF"/>
                          </a:solidFill>
                          <a:latin typeface="Calibri"/>
                        </a:rPr>
                        <a:t>Booked to date</a:t>
                      </a:r>
                    </a:p>
                  </a:txBody>
                  <a:tcPr marL="101600" marR="101600" marT="38100" marB="38100" anchor="ctr">
                    <a:solidFill>
                      <a:srgbClr val="1A0F5C"/>
                    </a:solidFill>
                  </a:tcPr>
                </a:tc>
                <a:tc>
                  <a:txBody>
                    <a:bodyPr/>
                    <a:lstStyle/>
                    <a:p>
                      <a:r>
                        <a:rPr sz="1250" b="1" i="0">
                          <a:solidFill>
                            <a:srgbClr val="FFFFFF"/>
                          </a:solidFill>
                          <a:latin typeface="Calibri"/>
                        </a:rPr>
                        <a:t>Set beside</a:t>
                      </a:r>
                    </a:p>
                  </a:txBody>
                  <a:tcPr marL="101600" marR="101600" marT="38100" marB="38100" anchor="ctr">
                    <a:solidFill>
                      <a:srgbClr val="1A0F5C"/>
                    </a:solidFill>
                  </a:tcPr>
                </a:tc>
                <a:tc>
                  <a:txBody>
                    <a:bodyPr/>
                    <a:lstStyle/>
                    <a:p>
                      <a:r>
                        <a:rPr sz="1250" b="1" i="0">
                          <a:solidFill>
                            <a:srgbClr val="FFFFFF"/>
                          </a:solidFill>
                          <a:latin typeface="Calibri"/>
                        </a:rPr>
                        <a:t>What it reads as</a:t>
                      </a:r>
                    </a:p>
                  </a:txBody>
                  <a:tcPr marL="101600" marR="101600" marT="38100" marB="38100" anchor="ctr">
                    <a:solidFill>
                      <a:srgbClr val="1A0F5C"/>
                    </a:solidFill>
                  </a:tcPr>
                </a:tc>
              </a:tr>
              <a:tr h="335280">
                <a:tc>
                  <a:txBody>
                    <a:bodyPr/>
                    <a:lstStyle/>
                    <a:p>
                      <a:r>
                        <a:rPr sz="1200" b="0" i="0">
                          <a:solidFill>
                            <a:srgbClr val="1A1440"/>
                          </a:solidFill>
                          <a:latin typeface="Calibri"/>
                        </a:rPr>
                        <a:t>One week of plan</a:t>
                      </a:r>
                    </a:p>
                  </a:txBody>
                  <a:tcPr marL="101600" marR="101600" marT="38100" marB="38100" anchor="ctr">
                    <a:solidFill>
                      <a:srgbClr val="FFFFFF"/>
                    </a:solidFill>
                  </a:tcPr>
                </a:tc>
                <a:tc>
                  <a:txBody>
                    <a:bodyPr/>
                    <a:lstStyle/>
                    <a:p>
                      <a:r>
                        <a:rPr sz="1200" b="0" i="0">
                          <a:solidFill>
                            <a:srgbClr val="1A1440"/>
                          </a:solidFill>
                          <a:latin typeface="Calibri"/>
                        </a:rPr>
                        <a:t>Rs 6,87,36,590</a:t>
                      </a:r>
                    </a:p>
                  </a:txBody>
                  <a:tcPr marL="101600" marR="101600" marT="38100" marB="38100" anchor="ctr">
                    <a:solidFill>
                      <a:srgbClr val="FFFFFF"/>
                    </a:solidFill>
                  </a:tcPr>
                </a:tc>
                <a:tc>
                  <a:txBody>
                    <a:bodyPr/>
                    <a:lstStyle/>
                    <a:p>
                      <a:r>
                        <a:rPr sz="1200" b="0" i="0">
                          <a:solidFill>
                            <a:srgbClr val="1A1440"/>
                          </a:solidFill>
                          <a:latin typeface="Calibri"/>
                        </a:rPr>
                        <a:t>Rs 75,69,230</a:t>
                      </a:r>
                    </a:p>
                  </a:txBody>
                  <a:tcPr marL="101600" marR="101600" marT="38100" marB="38100" anchor="ctr">
                    <a:solidFill>
                      <a:srgbClr val="FFFFFF"/>
                    </a:solidFill>
                  </a:tcPr>
                </a:tc>
                <a:tc>
                  <a:txBody>
                    <a:bodyPr/>
                    <a:lstStyle/>
                    <a:p>
                      <a:r>
                        <a:rPr sz="1200" b="0" i="0">
                          <a:solidFill>
                            <a:srgbClr val="1A1440"/>
                          </a:solidFill>
                          <a:latin typeface="Calibri"/>
                        </a:rPr>
                        <a:t>Nine times plan, which misleads Meera</a:t>
                      </a:r>
                    </a:p>
                  </a:txBody>
                  <a:tcPr marL="101600" marR="101600" marT="38100" marB="38100" anchor="ctr">
                    <a:solidFill>
                      <a:srgbClr val="FFFFFF"/>
                    </a:solidFill>
                  </a:tcPr>
                </a:tc>
              </a:tr>
              <a:tr h="335280">
                <a:tc>
                  <a:txBody>
                    <a:bodyPr/>
                    <a:lstStyle/>
                    <a:p>
                      <a:r>
                        <a:rPr sz="1200" b="0" i="0">
                          <a:solidFill>
                            <a:srgbClr val="1A1440"/>
                          </a:solidFill>
                          <a:latin typeface="Calibri"/>
                        </a:rPr>
                        <a:t>Plan to date</a:t>
                      </a:r>
                    </a:p>
                  </a:txBody>
                  <a:tcPr marL="101600" marR="101600" marT="38100" marB="38100" anchor="ctr">
                    <a:solidFill>
                      <a:srgbClr val="F4F2FA"/>
                    </a:solidFill>
                  </a:tcPr>
                </a:tc>
                <a:tc>
                  <a:txBody>
                    <a:bodyPr/>
                    <a:lstStyle/>
                    <a:p>
                      <a:r>
                        <a:rPr sz="1200" b="0" i="0">
                          <a:solidFill>
                            <a:srgbClr val="1A1440"/>
                          </a:solidFill>
                          <a:latin typeface="Calibri"/>
                        </a:rPr>
                        <a:t>Rs 6,87,36,590</a:t>
                      </a:r>
                    </a:p>
                  </a:txBody>
                  <a:tcPr marL="101600" marR="101600" marT="38100" marB="38100" anchor="ctr">
                    <a:solidFill>
                      <a:srgbClr val="F4F2FA"/>
                    </a:solidFill>
                  </a:tcPr>
                </a:tc>
                <a:tc>
                  <a:txBody>
                    <a:bodyPr/>
                    <a:lstStyle/>
                    <a:p>
                      <a:r>
                        <a:rPr sz="1200" b="0" i="0">
                          <a:solidFill>
                            <a:srgbClr val="1A1440"/>
                          </a:solidFill>
                          <a:latin typeface="Calibri"/>
                        </a:rPr>
                        <a:t>Rs 5,29,84,610</a:t>
                      </a:r>
                    </a:p>
                  </a:txBody>
                  <a:tcPr marL="101600" marR="101600" marT="38100" marB="38100" anchor="ctr">
                    <a:solidFill>
                      <a:srgbClr val="F4F2FA"/>
                    </a:solidFill>
                  </a:tcPr>
                </a:tc>
                <a:tc>
                  <a:txBody>
                    <a:bodyPr/>
                    <a:lstStyle/>
                    <a:p>
                      <a:r>
                        <a:rPr sz="1200" b="0" i="0">
                          <a:solidFill>
                            <a:srgbClr val="1A1440"/>
                          </a:solidFill>
                          <a:latin typeface="Calibri"/>
                        </a:rPr>
                        <a:t>Ahead of plan by Rs 1,57,51,980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0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66064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84448"/>
            <a:ext cx="9987991" cy="682752"/>
          </a:xfrm>
          <a:prstGeom prst="rect">
            <a:avLst/>
          </a:prstGeom>
          <a:noFill/>
        </p:spPr>
        <p:txBody>
          <a:bodyPr wrap="square" anchor="t" lIns="0" rIns="0" tIns="0" bIns="0">
            <a:spAutoFit/>
          </a:bodyPr>
          <a:lstStyle/>
          <a:p>
            <a:r>
              <a:rPr sz="1500" b="0" i="0">
                <a:solidFill>
                  <a:srgbClr val="1A1440"/>
                </a:solidFill>
                <a:latin typeface="Calibri"/>
              </a:rPr>
              <a:t>Both sides accumulate. A quarter-to-date actual is compared with a quarter-to-date plan, read at the last day of each plan week.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the afternoon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suite says Q2 booked Rs 9,84,00,000. Does the running total close on it?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13</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9,83,99,990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IN ALL</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line's total</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AT THE CLOSE</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afternoon's check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running total is only as true as its order and its start, and its last value has to equal the quarter's total before anyone reads the chart.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flag and the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flag and a total are both claims about order, and each carries the check that proves its order.</a:t>
            </a:r>
          </a:p>
        </p:txBody>
      </p:sp>
      <p:sp>
        <p:nvSpPr>
          <p:cNvPr id="9" name="Rounded Rectangle 8"/>
          <p:cNvSpPr/>
          <p:nvPr/>
        </p:nvSpPr>
        <p:spPr>
          <a:xfrm>
            <a:off x="53035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check_deaf5a165442.png"/>
          <p:cNvPicPr>
            <a:picLocks noChangeAspect="1"/>
          </p:cNvPicPr>
          <p:nvPr/>
        </p:nvPicPr>
        <p:blipFill>
          <a:blip r:embed="rId4"/>
          <a:stretch>
            <a:fillRect/>
          </a:stretch>
        </p:blipFill>
        <p:spPr>
          <a:xfrm>
            <a:off x="841247" y="2103882"/>
            <a:ext cx="237744" cy="237744"/>
          </a:xfrm>
          <a:prstGeom prst="rect">
            <a:avLst/>
          </a:prstGeom>
        </p:spPr>
      </p:pic>
      <p:sp>
        <p:nvSpPr>
          <p:cNvPr id="12" name="TextBox 11"/>
          <p:cNvSpPr txBox="1"/>
          <p:nvPr/>
        </p:nvSpPr>
        <p:spPr>
          <a:xfrm>
            <a:off x="731519"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FLAG</a:t>
            </a:r>
          </a:p>
        </p:txBody>
      </p:sp>
      <p:sp>
        <p:nvSpPr>
          <p:cNvPr id="13" name="TextBox 12"/>
          <p:cNvSpPr txBox="1"/>
          <p:nvPr/>
        </p:nvSpPr>
        <p:spPr>
          <a:xfrm>
            <a:off x="731519"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member, last month</a:t>
            </a:r>
          </a:p>
        </p:txBody>
      </p:sp>
      <p:sp>
        <p:nvSpPr>
          <p:cNvPr id="14" name="TextBox 13"/>
          <p:cNvSpPr txBox="1"/>
          <p:nvPr/>
        </p:nvSpPr>
        <p:spPr>
          <a:xfrm>
            <a:off x="731519"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PARTITION BY the member, and require the previous rows to be August and July.</a:t>
            </a:r>
          </a:p>
        </p:txBody>
      </p:sp>
      <p:sp>
        <p:nvSpPr>
          <p:cNvPr id="15" name="Rounded Rectangle 14"/>
          <p:cNvSpPr/>
          <p:nvPr/>
        </p:nvSpPr>
        <p:spPr>
          <a:xfrm>
            <a:off x="430164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x_d5f63e574219.png"/>
          <p:cNvPicPr>
            <a:picLocks noChangeAspect="1"/>
          </p:cNvPicPr>
          <p:nvPr/>
        </p:nvPicPr>
        <p:blipFill>
          <a:blip r:embed="rId5"/>
          <a:stretch>
            <a:fillRect/>
          </a:stretch>
        </p:blipFill>
        <p:spPr>
          <a:xfrm>
            <a:off x="4612538" y="2103882"/>
            <a:ext cx="237744" cy="237744"/>
          </a:xfrm>
          <a:prstGeom prst="rect">
            <a:avLst/>
          </a:prstGeom>
        </p:spPr>
      </p:pic>
      <p:sp>
        <p:nvSpPr>
          <p:cNvPr id="18" name="TextBox 17"/>
          <p:cNvSpPr txBox="1"/>
          <p:nvPr/>
        </p:nvSpPr>
        <p:spPr>
          <a:xfrm>
            <a:off x="4502810"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HOLIDAY</a:t>
            </a:r>
          </a:p>
        </p:txBody>
      </p:sp>
      <p:sp>
        <p:nvSpPr>
          <p:cNvPr id="19" name="TextBox 18"/>
          <p:cNvSpPr txBox="1"/>
          <p:nvPr/>
        </p:nvSpPr>
        <p:spPr>
          <a:xfrm>
            <a:off x="4502810"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No order, no reading</a:t>
            </a:r>
          </a:p>
        </p:txBody>
      </p:sp>
      <p:sp>
        <p:nvSpPr>
          <p:cNvPr id="20" name="TextBox 19"/>
          <p:cNvSpPr txBox="1"/>
          <p:nvPr/>
        </p:nvSpPr>
        <p:spPr>
          <a:xfrm>
            <a:off x="4502810"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A month with no order breaks the run and is never read as a fall.</a:t>
            </a:r>
          </a:p>
        </p:txBody>
      </p:sp>
      <p:sp>
        <p:nvSpPr>
          <p:cNvPr id="21" name="Rounded Rectangle 20"/>
          <p:cNvSpPr/>
          <p:nvPr/>
        </p:nvSpPr>
        <p:spPr>
          <a:xfrm>
            <a:off x="8072932" y="179298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1994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3699bd30d7e9.png"/>
          <p:cNvPicPr>
            <a:picLocks noChangeAspect="1"/>
          </p:cNvPicPr>
          <p:nvPr/>
        </p:nvPicPr>
        <p:blipFill>
          <a:blip r:embed="rId6"/>
          <a:stretch>
            <a:fillRect/>
          </a:stretch>
        </p:blipFill>
        <p:spPr>
          <a:xfrm>
            <a:off x="8383828" y="2103882"/>
            <a:ext cx="237744" cy="237744"/>
          </a:xfrm>
          <a:prstGeom prst="rect">
            <a:avLst/>
          </a:prstGeom>
        </p:spPr>
      </p:pic>
      <p:sp>
        <p:nvSpPr>
          <p:cNvPr id="24" name="TextBox 23"/>
          <p:cNvSpPr txBox="1"/>
          <p:nvPr/>
        </p:nvSpPr>
        <p:spPr>
          <a:xfrm>
            <a:off x="8274100" y="256108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TOTAL</a:t>
            </a:r>
          </a:p>
        </p:txBody>
      </p:sp>
      <p:sp>
        <p:nvSpPr>
          <p:cNvPr id="25" name="TextBox 24"/>
          <p:cNvSpPr txBox="1"/>
          <p:nvPr/>
        </p:nvSpPr>
        <p:spPr>
          <a:xfrm>
            <a:off x="8274100" y="2798826"/>
            <a:ext cx="3186074" cy="267716"/>
          </a:xfrm>
          <a:prstGeom prst="rect">
            <a:avLst/>
          </a:prstGeom>
          <a:noFill/>
        </p:spPr>
        <p:txBody>
          <a:bodyPr wrap="square" anchor="t" lIns="0" rIns="0" tIns="0" bIns="0">
            <a:spAutoFit/>
          </a:bodyPr>
          <a:lstStyle/>
          <a:p>
            <a:pPr algn="l"/>
            <a:r>
              <a:rPr sz="1400" b="1" i="0">
                <a:solidFill>
                  <a:srgbClr val="FFFFFF"/>
                </a:solidFill>
                <a:latin typeface="Calibri"/>
              </a:rPr>
              <a:t>A full order and a full start</a:t>
            </a:r>
          </a:p>
        </p:txBody>
      </p:sp>
      <p:sp>
        <p:nvSpPr>
          <p:cNvPr id="26" name="TextBox 25"/>
          <p:cNvSpPr txBox="1"/>
          <p:nvPr/>
        </p:nvSpPr>
        <p:spPr>
          <a:xfrm>
            <a:off x="8274100" y="3139694"/>
            <a:ext cx="3186074" cy="399796"/>
          </a:xfrm>
          <a:prstGeom prst="rect">
            <a:avLst/>
          </a:prstGeom>
          <a:noFill/>
        </p:spPr>
        <p:txBody>
          <a:bodyPr wrap="square" anchor="t" lIns="0" rIns="0" tIns="0" bIns="0">
            <a:spAutoFit/>
          </a:bodyPr>
          <a:lstStyle/>
          <a:p>
            <a:pPr algn="l"/>
            <a:r>
              <a:rPr sz="1100" b="0" i="0">
                <a:solidFill>
                  <a:srgbClr val="CFC9EE"/>
                </a:solidFill>
                <a:latin typeface="Calibri"/>
              </a:rPr>
              <a:t>Tiebreak the order, and check the close equals the quarter's total.</a:t>
            </a:r>
          </a:p>
        </p:txBody>
      </p:sp>
      <p:sp>
        <p:nvSpPr>
          <p:cNvPr id="27" name="Rounded Rectangle 26"/>
          <p:cNvSpPr/>
          <p:nvPr/>
        </p:nvSpPr>
        <p:spPr>
          <a:xfrm>
            <a:off x="530352" y="394030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7253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82262"/>
            <a:ext cx="237744" cy="237744"/>
          </a:xfrm>
          <a:prstGeom prst="rect">
            <a:avLst/>
          </a:prstGeom>
        </p:spPr>
      </p:pic>
      <p:sp>
        <p:nvSpPr>
          <p:cNvPr id="30" name="TextBox 29"/>
          <p:cNvSpPr txBox="1"/>
          <p:nvPr/>
        </p:nvSpPr>
        <p:spPr>
          <a:xfrm>
            <a:off x="1399031" y="408660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062"/>
            <a:ext cx="9987991" cy="682752"/>
          </a:xfrm>
          <a:prstGeom prst="rect">
            <a:avLst/>
          </a:prstGeom>
          <a:noFill/>
        </p:spPr>
        <p:txBody>
          <a:bodyPr wrap="square" anchor="t" lIns="0" rIns="0" tIns="0" bIns="0">
            <a:spAutoFit/>
          </a:bodyPr>
          <a:lstStyle/>
          <a:p>
            <a:r>
              <a:rPr sz="1500" b="0" i="0">
                <a:solidFill>
                  <a:srgbClr val="1A1440"/>
                </a:solidFill>
                <a:latin typeface="Calibri"/>
              </a:rPr>
              <a:t>Before the flag goes to Marketing, show the member who was on holiday and say why he is off it. Before the total goes to Meera, show that its last value is Monday's Rs 9,84,00,000.</a:t>
            </a:r>
          </a:p>
        </p:txBody>
      </p:sp>
      <p:sp>
        <p:nvSpPr>
          <p:cNvPr id="32" name="Rounded Rectangle 31"/>
          <p:cNvSpPr/>
          <p:nvPr/>
        </p:nvSpPr>
        <p:spPr>
          <a:xfrm>
            <a:off x="530352" y="522655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42925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538978"/>
            <a:ext cx="237744" cy="237744"/>
          </a:xfrm>
          <a:prstGeom prst="rect">
            <a:avLst/>
          </a:prstGeom>
        </p:spPr>
      </p:pic>
      <p:sp>
        <p:nvSpPr>
          <p:cNvPr id="35" name="TextBox 34"/>
          <p:cNvSpPr txBox="1"/>
          <p:nvPr/>
        </p:nvSpPr>
        <p:spPr>
          <a:xfrm>
            <a:off x="1399031" y="537286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92318"/>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find customers whose spend fell two months in a row?</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3" name="Oval 4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