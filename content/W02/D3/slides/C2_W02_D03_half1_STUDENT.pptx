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marketing lead's words aloud and leave them up. Marketing now works with</a:t>
            </a:r>
          </a:p>
          <a:p>
            <a:r>
              <a:t>the data team, and today's ask has three parts: a protect list per segment, a flag on falling</a:t>
            </a:r>
          </a:p>
          <a:p>
            <a:r>
              <a:t>spend, and Meera's plan line. The day asks one question and climbs it in six chapters: which</a:t>
            </a:r>
          </a:p>
          <a:p>
            <a:r>
              <a:t>members should Marketing protect before they drift, and is Q2 on track against the plan line? Five</a:t>
            </a:r>
          </a:p>
          <a:p>
            <a:r>
              <a:t>chapters run this morning and the sixth after lunch. Then the ladder.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 6 runs after lunch, before the afternoon's tentative IITGN block. Then who is asking.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head of Retail-Plus's words: "Ties matter. If two members spent the</a:t>
            </a:r>
          </a:p>
          <a:p>
            <a:r>
              <a:t>same, I want them ranked the same, and I want to know how many made the top fifty, not forty-nine</a:t>
            </a:r>
          </a:p>
          <a:p>
            <a:r>
              <a:t>because of a tie." Q2 is July to September 2026. Revenue today is booked revenue, every order at</a:t>
            </a:r>
          </a:p>
          <a:p>
            <a:r>
              <a:t>its amount whatever its status, which is how Monday's suite reached Rs 9,84,00,000 for Q2. Kalpa</a:t>
            </a:r>
          </a:p>
          <a:p>
            <a:r>
              <a:t>Retail has four segments: Business (corporate buyers, orders in lakhs), Retail-Core (everyday</a:t>
            </a:r>
          </a:p>
          <a:p>
            <a:r>
              <a:t>shoppers), Retail-Plus (the paid membership tier) and Student. Then what each one needs.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the list in chapters 1 to 3, the flag in chapter 4,</a:t>
            </a:r>
          </a:p>
          <a:p>
            <a:r>
              <a:t>the plan in chapter 5, and the calls Marketing makes in chapter 6, after lunch. Hold anyone who</a:t>
            </a:r>
          </a:p>
          <a:p>
            <a:r>
              <a:t>wants to start typing; the thinking comes first. Then the question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take two minutes to write it one way with GROUP BY. Let somebody try GROUP BY</a:t>
            </a:r>
          </a:p>
          <a:p>
            <a:r>
              <a:t>segment and somebody LIMIT 50, and credit the attempt whether or not it works. Letters in chat. Then</a:t>
            </a:r>
          </a:p>
          <a:p>
            <a:r>
              <a:t>the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Draw this with the room and leave it up all day: it is the day's</a:t>
            </a:r>
          </a:p>
          <a:p>
            <a:r>
              <a:t>picture, and the cheat sheet's first panel carries it. Every ask on S3 keeps the rows and asks about</a:t>
            </a:r>
          </a:p>
          <a:p>
            <a:r>
              <a:t>each row's neighbours. Then the three windows the day builds.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Name the functions only as the morning meets them: row_number, rank and</a:t>
            </a:r>
          </a:p>
          <a:p>
            <a:r>
              <a:t>dense_rank for the place, lag for the month before, sum for the total so far.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C2_W02_D03_01_top_fifty and sql/C2_W02_D03_01_top_fifty_STUDENT.sql</a:t>
            </a:r>
          </a:p>
          <a:p>
            <a:r>
              <a:t>run beside it, and the notebook's numbered sections are the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beside the review of Kavya Nair, the senior analyst who checks</a:t>
            </a:r>
          </a:p>
          <a:p>
            <a:r>
              <a:t>every number before it leaves the team.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member is one customer on the customers table, and 227 of Kalpa's 340 members</a:t>
            </a:r>
          </a:p>
          <a:p>
            <a:r>
              <a:t>placed a Q2 order. Monday's suite put Q2 at Rs 9,84,00,000 on 462 orders. Then a company whose</a:t>
            </a:r>
          </a:p>
          <a:p>
            <a:r>
              <a:t>members carry most of its money.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Starbucks' card, loyalty and mobile dashboard for the third quarter of</a:t>
            </a:r>
          </a:p>
          <a:p>
            <a:r>
              <a:t>fiscal 2026, the quarter that ended on 28 June 2026, checked 1 October 2026. The 59 percent is the</a:t>
            </a:r>
          </a:p>
          <a:p>
            <a:r>
              <a:t>share of money tendered at company-operated US stores by Starbucks Rewards members; say "tender",</a:t>
            </a:r>
          </a:p>
          <a:p>
            <a:r>
              <a:t>which is the dashboard's word. Then four ways Kalpa could rank.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LIMIT counts rows across the whole result, so B needs one query per segment, four</a:t>
            </a:r>
          </a:p>
          <a:p>
            <a:r>
              <a:t>in all, to move the same 155 rows C moves in one: fifty from Retail-Core and Retail-Plus, and every</a:t>
            </a:r>
          </a:p>
          <a:p>
            <a:r>
              <a:t>buyer in Business, 35, and Student, 20. A moves 188 rows, fifty of each segment's orders and Student's</a:t>
            </a:r>
          </a:p>
          <a:p>
            <a:r>
              <a:t>38, and every row is an order, which the chapter comes back to. D breaks the data platform lead's</a:t>
            </a:r>
          </a:p>
          <a:p>
            <a:r>
              <a:t>rule, "query it, do not export it". Then the picture of option 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a named step written WITH name AS (...), is Monday's tool. Then predict the</a:t>
            </a:r>
          </a:p>
          <a:p>
            <a:r>
              <a:t>first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The figures are Q2 revenue per member who bought: Business 35</a:t>
            </a:r>
          </a:p>
          <a:p>
            <a:r>
              <a:t>members on Rs 9,75,84,600, Retail-Plus 76 on Rs 4,13,380, Retail-Core 96 on Rs 3,66,250, Student 20</a:t>
            </a:r>
          </a:p>
          <a:p>
            <a:r>
              <a:t>on Rs 35,770. Ask what that gap does to one list across the whole book. Then predict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three segments, and every Business buyer is on the list. Ranked</a:t>
            </a:r>
          </a:p>
          <a:p>
            <a:r>
              <a:t>across the whole book, any Business buyer outranks every retail member. Hold that thought for</a:t>
            </a:r>
          </a:p>
          <a:p>
            <a:r>
              <a:t>chapter 2. First, the list a hurried analyst sends.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01, section 3. Ask the room first: how many members do fifty rows name?</a:t>
            </a:r>
          </a:p>
          <a:p>
            <a:r>
              <a:t>Then run it. Two companies hold five places each and eleven more hold two or three. The decision it</a:t>
            </a:r>
          </a:p>
          <a:p>
            <a:r>
              <a:t>misleads: Marketing rings 28 companies, two of them five times, and not one member of the tier it</a:t>
            </a:r>
          </a:p>
          <a:p>
            <a:r>
              <a:t>is worried about. Then why.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 is one line, count(DISTINCT customer_id) beside count(*), and it belongs</a:t>
            </a:r>
          </a:p>
          <a:p>
            <a:r>
              <a:t>on every list before it leaves the team.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S15's list, built on the right unit. Then a second route that shares no SQL.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slip in the window's ORDER BY could not move this list, since the two share no</a:t>
            </a:r>
          </a:p>
          <a:p>
            <a:r>
              <a:t>code. It moves 462 rows out of the warehouse to confirm what the query returns in 50, so it runs as</a:t>
            </a:r>
          </a:p>
          <a:p>
            <a:r>
              <a:t>the check and the query is what Marketing gets.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tag says how often screens ask it: [S] a staple asked everywhere, [F]</a:t>
            </a:r>
          </a:p>
          <a:p>
            <a:r>
              <a:t>frequent at global capability centres and product companies, [D] a differentiator. One breath for</a:t>
            </a:r>
          </a:p>
          <a:p>
            <a:r>
              <a:t>the interview: GROUP BY collapses a group to one row; a window keeps every row and adds a column,</a:t>
            </a:r>
          </a:p>
          <a:p>
            <a:r>
              <a:t>such as a place. The answer raises chapter 2's question: Marketing asked for fifty in each segment.</a:t>
            </a:r>
          </a:p>
          <a:p>
            <a:r>
              <a:t>Then chapter 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C2_W02_D03_02_each_segment and its .sql 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found the whole-book list: 35 Business, 11 Retail-Plus, 4 Retail-Core</a:t>
            </a:r>
          </a:p>
          <a:p>
            <a:r>
              <a:t>and no Student.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ask's last three words. Then a company that ranks inside each group.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Amazon's help page on Best Sellers Rank, checked 1 October 2026. JEE</a:t>
            </a:r>
          </a:p>
          <a:p>
            <a:r>
              <a:t>Advanced does the same with people: it publishes a rank list</a:t>
            </a:r>
          </a:p>
          <a:p>
            <a:r>
              <a:t>inside each category beside the common list, and in 2026 the OBC-NCL rank 1 stood third on the</a:t>
            </a:r>
          </a:p>
          <a:p>
            <a:r>
              <a:t>common list and the GEN-EWS rank 1 sixth (the results release of 1 June 2026). Then the options.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16,617 is 35 squared plus 96 squared plus 76 squared plus 20 squared: B sets every</a:t>
            </a:r>
          </a:p>
          <a:p>
            <a:r>
              <a:t>member against every member of the same segment. A reads the 462 Q2 orders once per query. MySQL</a:t>
            </a:r>
          </a:p>
          <a:p>
            <a:r>
              <a:t>first shipped window functions in its 8.0 line, generally available from April 2018. Then the</a:t>
            </a:r>
          </a:p>
          <a:p>
            <a:r>
              <a:t>picture.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partition says whose rows belong together; the ORDER BY inside the brackets</a:t>
            </a:r>
          </a:p>
          <a:p>
            <a:r>
              <a:t>says who comes first within them. Then the GROUP BY attempts.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 and the second attempt.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GROUP BY can say how much each segment booked; it cannot say who</a:t>
            </a:r>
          </a:p>
          <a:p>
            <a:r>
              <a:t>leads each one. Then the quickest per-segment list.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02, section 2. Ask first: how many Retail-Plus members does this give?</a:t>
            </a:r>
          </a:p>
          <a:p>
            <a:r>
              <a:t>Then run it. Sent as "the top fifty in each segment", it tells Marketing to protect 11 Retail-Plus</a:t>
            </a:r>
          </a:p>
          <a:p>
            <a:r>
              <a:t>members, the tier it worries about, and tells the Student team it has nobody worth a call. Then why.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Only Business looks right, because all its buyers rank above every retail member.</a:t>
            </a:r>
          </a:p>
          <a:p>
            <a:r>
              <a:t>The check turns Marketing's rule, fifty or every buyer, into one number per segment, and it flags</a:t>
            </a:r>
          </a:p>
          <a:p>
            <a:r>
              <a:t>three of the four lists.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Fifty is a cap: Business and Student have fewer than fifty Q2</a:t>
            </a:r>
          </a:p>
          <a:p>
            <a:r>
              <a:t>buyers, so their lists hold every buyer. Then an error the room may meet on the way.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never longer. Somebody writes the filter in WHERE; Postgres prints "ERROR:</a:t>
            </a:r>
          </a:p>
          <a:p>
            <a:r>
              <a:t>window functions are not allowed in WHERE". Read the last line, point at Monday's drawing of the</a:t>
            </a:r>
          </a:p>
          <a:p>
            <a:r>
              <a:t>order a query runs in, move the place into a CTE, and move on. It is an error met on the way, and it</a:t>
            </a:r>
          </a:p>
          <a:p>
            <a:r>
              <a:t>gets its two minutes and no more. Then a second route with no window.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piece sits in brackets so its ORDER BY and LIMIT apply to it alone. A slip in</a:t>
            </a:r>
          </a:p>
          <a:p>
            <a:r>
              <a:t>the window's PARTITION BY could not move this list.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first: a window with PARTITION BY the group numbers the rows</a:t>
            </a:r>
          </a:p>
          <a:p>
            <a:r>
              <a:t>inside each group and keeps them all, where GROUP BY collapses each group to one row and LIMIT</a:t>
            </a:r>
          </a:p>
          <a:p>
            <a:r>
              <a:t>counts across the whole result. Each list was cut by row_number, with the customer id deciding any</a:t>
            </a:r>
          </a:p>
          <a:p>
            <a:r>
              <a:t>two members who booked the same. Then chapter 3, the head of Retail-Plus's question.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C2_W02_D03_03_tie_rule, its .sql file, the guided build</a:t>
            </a:r>
          </a:p>
          <a:p>
            <a:r>
              <a:t>(exercises/guided/C2_W02_D03_tie_STUDENT.md) and the companion page's section 04, the tie, run beside</a:t>
            </a:r>
          </a:p>
          <a:p>
            <a:r>
              <a:t>it; the page's later parts stay folded until after chapter 6. Never cut the tie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lists were cut by row_number, with the customer id deciding any two</a:t>
            </a:r>
          </a:p>
          <a:p>
            <a:r>
              <a:t>members who booked the same. Read the six questions, and say what the line is.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members tie when their Q2 revenue is the same to the rupee. Then a company that</a:t>
            </a:r>
          </a:p>
          <a:p>
            <a:r>
              <a:t>writes its tiebreaker down, and a race that shows the head's rule.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aa.com, upgrades for status members, checked 1 October 2026: "If the upgrade type</a:t>
            </a:r>
          </a:p>
          <a:p>
            <a:r>
              <a:t>and 12-month Loyalty Point value are the same, we'll look at the booking code then date / time of</a:t>
            </a:r>
          </a:p>
          <a:p>
            <a:r>
              <a:t>the request to determine priority." Tokyo 2020 men's high jump final, 1 August 2021: Barshim of</a:t>
            </a:r>
          </a:p>
          <a:p>
            <a:r>
              <a:t>Qatar and Tamberi of Italy both cleared 2.37 m and shared the gold, and Nedasekau of Belarus, who</a:t>
            </a:r>
          </a:p>
          <a:p>
            <a:r>
              <a:t>also cleared 2.37 m, was placed third with the bronze; no silver (World Athletics results, checked</a:t>
            </a:r>
          </a:p>
          <a:p>
            <a:r>
              <a:t>1 October 2026). Then the four rules.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Whole ties only has no function of its own: count(*) OVER (PARTITION BY</a:t>
            </a:r>
          </a:p>
          <a:p>
            <a:r>
              <a:t>q2_revenue) gives each member the number who share their figure, and rank + tied_with - 1 is the</a:t>
            </a:r>
          </a:p>
          <a:p>
            <a:r>
              <a:t>last place the tie reaches. A good tiebreaker under a cap is a business reason, such as more Q2</a:t>
            </a:r>
          </a:p>
          <a:p>
            <a:r>
              <a:t>orders first. Then each rule's count on an invented top four.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four counts.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This is the forty-nine or fifty-one the head of Retail-Plus</a:t>
            </a:r>
          </a:p>
          <a:p>
            <a:r>
              <a:t>spoke of, at four in place of fifty. Then the numbering behind those counts, on six members.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Pairs write all three columns on paper first, ROW_NUMBER, RANK and DENSE_RANK,</a:t>
            </a:r>
          </a:p>
          <a:p>
            <a:r>
              <a:t>then letters in chat for RANK. The members are invented.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ROW_NUMBER puts A ahead of B only because the tiebreaker sorts A</a:t>
            </a:r>
          </a:p>
          <a:p>
            <a:r>
              <a:t>first. Then the same four counts on Kalpa.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step 3. Retail-Core, the everyday shoppers, has 96 Q2 buyers.</a:t>
            </a:r>
          </a:p>
          <a:p>
            <a:r>
              <a:t>Ask first: a hurried analyst reads "ties ranked the same" and picks DENSE_RANK because its numbers</a:t>
            </a:r>
          </a:p>
          <a:p>
            <a:r>
              <a:t>never skip; how many members does it ship? Then run it. The decision it misleads: a list labelled</a:t>
            </a:r>
          </a:p>
          <a:p>
            <a:r>
              <a:t>top fifty that carries 52, two of whom tie with nobody. Then why.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 higher up costs DENSE_RANK one number, so its 50 falls on C-0094, the</a:t>
            </a:r>
          </a:p>
          <a:p>
            <a:r>
              <a:t>52nd member. Nobody ties at Retail-Core's line: the fiftieth booked Rs 2,980 and the 51st Rs 2,950.</a:t>
            </a:r>
          </a:p>
          <a:p>
            <a:r>
              <a:t>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head of Retail-Plus's own segment, which the room counts itself.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learner runs the cell in notebook 03's step 4 and writes the sentence</a:t>
            </a:r>
          </a:p>
          <a:p>
            <a:r>
              <a:t>before anyone shares a number. If a learner's four numbers differ, point them at the notebook's</a:t>
            </a:r>
          </a:p>
          <a:p>
            <a:r>
              <a:t>instruction to read the members around fiftieth place with block c3_core_line changed to</a:t>
            </a:r>
          </a:p>
          <a:p>
            <a:r>
              <a:t>Retail-Plus. Do not read any count aloud; the day sheet carries it for the debrief. Then a second</a:t>
            </a:r>
          </a:p>
          <a:p>
            <a:r>
              <a:t>route that needs no window.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member ties with the fiftieth exactly when they booked the same figure, so the</a:t>
            </a:r>
          </a:p>
          <a:p>
            <a:r>
              <a:t>count includes every tie at the line, as RANK does. It shares no window with RANK, so a slip in a</a:t>
            </a:r>
          </a:p>
          <a:p>
            <a:r>
              <a:t>PARTITION BY could not move it.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second: RANK, and the report can ship more than N when a tie</a:t>
            </a:r>
          </a:p>
          <a:p>
            <a:r>
              <a:t>straddles the line, so it states the count; DENSE_RANK can ship more than N even with no tie at the</a:t>
            </a:r>
          </a:p>
          <a:p>
            <a:r>
              <a:t>line; ROW_NUMBER always ships N and hides the tie. Then the break, and chapter 4 after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after the ten-minute break. Notebook C2_W02_D03_04_falling_spend and its .sql</a:t>
            </a:r>
          </a:p>
          <a:p>
            <a:r>
              <a:t>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protect lists are built; this is Marketing's second ask. Read the six</a:t>
            </a:r>
          </a:p>
          <a:p>
            <a:r>
              <a:t>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flag reads September, the last month: September below the month before, and</a:t>
            </a:r>
          </a:p>
          <a:p>
            <a:r>
              <a:t>that month below the one before it. Then a company that judges each customer against their own past.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Square Support Center, the page on customer groups and filters, checked 1 October</a:t>
            </a:r>
          </a:p>
          <a:p>
            <a:r>
              <a:t>2026: its "Lapsed" group is "customers who were regulars, but haven't visited in the last six</a:t>
            </a:r>
          </a:p>
          <a:p>
            <a:r>
              <a:t>weeks", a regular having visited three times in the last six months. Then four ways to compare a</a:t>
            </a:r>
          </a:p>
          <a:p>
            <a:r>
              <a:t>month with the month before.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book holds 752 member-months, one row per member per month with an order, for</a:t>
            </a:r>
          </a:p>
          <a:p>
            <a:r>
              <a:t>301 members who bought at least once; 118 ordered in September. Then the picture of LAG.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predict on one member.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C-0040 of Retail-Core bought in all six months.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Then the quickest version of the flag.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run it.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04, section 3. The answer is b. Then why it happens.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With no PARTITION BY the window is the whole table, so LAG runs from one member's</a:t>
            </a:r>
          </a:p>
          <a:p>
            <a:r>
              <a:t>last row into the next member's first. C-0132 bought only in July and September, so LAG's second</a:t>
            </a:r>
          </a:p>
          <a:p>
            <a:r>
              <a:t>step back from that September is C-0131's July.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a second route that shares no window.</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Python groups the rows by member and sorts each member's months itself, then flags</a:t>
            </a:r>
          </a:p>
          <a:p>
            <a:r>
              <a:t>a member whose last month is September and whose last three months each fall. Both routes read the</a:t>
            </a:r>
          </a:p>
          <a:p>
            <a:r>
              <a:t>month before as the member's previous row of months.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first: one row per customer per month, lag one and two over a</a:t>
            </a:r>
          </a:p>
          <a:p>
            <a:r>
              <a:t>window partitioned by the customer and ordered by month, and keep the rows that fall twice. Chapter</a:t>
            </a:r>
          </a:p>
          <a:p>
            <a:r>
              <a:t>6 comes back to these sixteen before Marketing rings any of them. Then chapter 5.</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C2_W02_D03_05_against_plan and its .sql 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plan line is a small table, plan_line: 13 weeks from Monday 6 July, Rs 75,69,230</a:t>
            </a:r>
          </a:p>
          <a:p>
            <a:r>
              <a:t>each, Rs 9,83,99,990 in all. Mid-quarter is the end of the seventh plan week, the week of 17 August.</a:t>
            </a:r>
          </a:p>
          <a:p>
            <a:r>
              <a:t>Then a company that read its quarter while it ran.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Target's second quarter of 2022 began on 1 May 2022. On 7 June 2022 Target said it</a:t>
            </a:r>
          </a:p>
          <a:p>
            <a:r>
              <a:t>"now expects its second-quarter operating margin rate will be in a range around 2%", after</a:t>
            </a:r>
          </a:p>
          <a:p>
            <a:r>
              <a:t>markdowns to clear excess inventory. Sources: Target's releases of 18 May, 7 June and 17 August</a:t>
            </a:r>
          </a:p>
          <a:p>
            <a:r>
              <a:t>2022, checked 1 October 2026. Then four ways to accumulate.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6,006 is the 462 Q2 orders read once for each of the 13 plan weeks. The self-join</a:t>
            </a:r>
          </a:p>
          <a:p>
            <a:r>
              <a:t>reads the orders once for the weekly totals too, then works through 91 week pairs, 13 times 14 over</a:t>
            </a:r>
          </a:p>
          <a:p>
            <a:r>
              <a:t>2. Then the picture of a running total.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quickest build.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build starts from the plan's weeks and attaches each week's booked revenue by</a:t>
            </a:r>
          </a:p>
          <a:p>
            <a:r>
              <a:t>the Monday its orders fall in. Letters in chat, then run it.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section 1. The answer the table gives is b. Ask the room what they</a:t>
            </a:r>
          </a:p>
          <a:p>
            <a:r>
              <a:t>would check before sending it.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LEFT JOIN that starts from the plan's weeks keeps only the plan's weeks, so the</a:t>
            </a:r>
          </a:p>
          <a:p>
            <a:r>
              <a:t>25 orders of 1 to 5 July, Rs 15,39,820, never enter. Tuesday's rule holds here: a join is done only</a:t>
            </a:r>
          </a:p>
          <a:p>
            <a:r>
              <a:t>when its rows are explained.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mid-quarter, where Meera reads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The lead peaked at Rs 2,16,69,660 at the end of the week of 3</a:t>
            </a:r>
          </a:p>
          <a:p>
            <a:r>
              <a:t>August and shrank from there to Rs 10 at the close, because one July week paid for the weeks after</a:t>
            </a:r>
          </a:p>
          <a:p>
            <a:r>
              <a:t>it. Then a question at the grain of an order.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Rows that share the window's ORDER BY value are peers, and the default running sum</a:t>
            </a:r>
          </a:p>
          <a:p>
            <a:r>
              <a:t>adds all of a row's peers at once.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By date alone, all twelve orders show the day's closing total, so</a:t>
            </a:r>
          </a:p>
          <a:p>
            <a:r>
              <a:t>no row can say which order crossed Rs 3.5 crore; with the order id added, KR-00580's step is the one</a:t>
            </a:r>
          </a:p>
          <a:p>
            <a:r>
              <a:t>that crosses.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plain sums share no code with the window or with the greatest() fix. Then the</a:t>
            </a:r>
          </a:p>
          <a:p>
            <a:r>
              <a:t>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second: whether every row made it in, by setting the last</a:t>
            </a:r>
          </a:p>
          <a:p>
            <a:r>
              <a:t>cumulative value beside the independent total and looking for rows outside the join's calendar.</a:t>
            </a:r>
          </a:p>
          <a:p>
            <a:r>
              <a:t>After lunch, chapter 6 brings the members back: Marketing wants to ring the flagged members on the</a:t>
            </a:r>
          </a:p>
          <a:p>
            <a:r>
              <a:t>protect lists, and one of them says they were on holiday.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21.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5.png"/><Relationship Id="rId6"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10.png"/><Relationship Id="rId6"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2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15.png"/><Relationship Id="rId6"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7.png"/><Relationship Id="rId5" Type="http://schemas.openxmlformats.org/officeDocument/2006/relationships/image" Target="../media/image31.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15.png"/><Relationship Id="rId6" Type="http://schemas.openxmlformats.org/officeDocument/2006/relationships/image" Target="../media/image3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 Id="rId5" Type="http://schemas.openxmlformats.org/officeDocument/2006/relationships/image" Target="../media/image10.png"/><Relationship Id="rId6" Type="http://schemas.openxmlformats.org/officeDocument/2006/relationships/image" Target="../media/image3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 Id="rId5" Type="http://schemas.openxmlformats.org/officeDocument/2006/relationships/image" Target="../media/image3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 Id="rId5" Type="http://schemas.openxmlformats.org/officeDocument/2006/relationships/image" Target="../media/image4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Who do we protect before they drift?</a:t>
            </a:r>
          </a:p>
        </p:txBody>
      </p:sp>
      <p:sp>
        <p:nvSpPr>
          <p:cNvPr id="9" name="TextBox 8"/>
          <p:cNvSpPr txBox="1"/>
          <p:nvPr/>
        </p:nvSpPr>
        <p:spPr>
          <a:xfrm>
            <a:off x="621792" y="3635756"/>
            <a:ext cx="10033711" cy="1291336"/>
          </a:xfrm>
          <a:prstGeom prst="rect">
            <a:avLst/>
          </a:prstGeom>
          <a:noFill/>
        </p:spPr>
        <p:txBody>
          <a:bodyPr wrap="square" anchor="t" lIns="0" rIns="0" tIns="0" bIns="0">
            <a:spAutoFit/>
          </a:bodyPr>
          <a:lstStyle/>
          <a:p>
            <a:pPr algn="l"/>
            <a:r>
              <a:rPr sz="1900" b="0" i="1">
                <a:solidFill>
                  <a:srgbClr val="D9A7FF"/>
                </a:solidFill>
                <a:latin typeface="Georgia"/>
              </a:rPr>
              <a:t>“Retail-Plus frequency is the problem, so we want to protect our best members before they drift. Give us the top fifty customers by Q2 revenue in each segment, and flag anyone whose monthly spend has fallen for two months running.”</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marketing lead,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Who are the top fifty?</a:t>
            </a:r>
          </a:p>
        </p:txBody>
      </p:sp>
      <p:sp>
        <p:nvSpPr>
          <p:cNvPr id="13" name="TextBox 12"/>
          <p:cNvSpPr txBox="1"/>
          <p:nvPr/>
        </p:nvSpPr>
        <p:spPr>
          <a:xfrm>
            <a:off x="2672905"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Top fifty per segment?</a:t>
            </a:r>
          </a:p>
        </p:txBody>
      </p:sp>
      <p:sp>
        <p:nvSpPr>
          <p:cNvPr id="15" name="TextBox 14"/>
          <p:cNvSpPr txBox="1"/>
          <p:nvPr/>
        </p:nvSpPr>
        <p:spPr>
          <a:xfrm>
            <a:off x="4724019"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Who makes it at a tie?</a:t>
            </a:r>
          </a:p>
        </p:txBody>
      </p:sp>
      <p:sp>
        <p:nvSpPr>
          <p:cNvPr id="17" name="TextBox 16"/>
          <p:cNvSpPr txBox="1"/>
          <p:nvPr/>
        </p:nvSpPr>
        <p:spPr>
          <a:xfrm>
            <a:off x="677513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59180" y="5556758"/>
            <a:ext cx="1543335" cy="185166"/>
          </a:xfrm>
          <a:prstGeom prst="rect">
            <a:avLst/>
          </a:prstGeom>
          <a:noFill/>
        </p:spPr>
        <p:txBody>
          <a:bodyPr wrap="square" anchor="t" lIns="0" rIns="0" tIns="0" bIns="0">
            <a:spAutoFit/>
          </a:bodyPr>
          <a:lstStyle/>
          <a:p>
            <a:pPr algn="l"/>
            <a:r>
              <a:rPr sz="900" b="0" i="0">
                <a:solidFill>
                  <a:srgbClr val="FFFFFF"/>
                </a:solidFill>
                <a:latin typeface="Calibri"/>
              </a:rPr>
              <a:t>Whose spend is falling?</a:t>
            </a:r>
          </a:p>
        </p:txBody>
      </p:sp>
      <p:sp>
        <p:nvSpPr>
          <p:cNvPr id="19" name="TextBox 18"/>
          <p:cNvSpPr txBox="1"/>
          <p:nvPr/>
        </p:nvSpPr>
        <p:spPr>
          <a:xfrm>
            <a:off x="8885396"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269444"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On track against plan?</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take us from the list to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members should Marketing protect before they drift, and is Q2 on track against the plan line?</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 are the top fifty?</a:t>
            </a:r>
          </a:p>
        </p:txBody>
      </p:sp>
      <p:sp>
        <p:nvSpPr>
          <p:cNvPr id="14" name="TextBox 13"/>
          <p:cNvSpPr txBox="1"/>
          <p:nvPr/>
        </p:nvSpPr>
        <p:spPr>
          <a:xfrm>
            <a:off x="69494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Fifty members, counted as members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Top fifty per segment?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One list for each of four segments</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 makes it at a tie?</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head of Retail-Plus's rule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Whose spend is falling?</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member against their own month</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On track against plan?</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Q2 to date, week by week</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Who does Marketing call?</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The flag, checked before the calls</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2" name="Oval 4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6" name="Oval 4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8" name="Oval 4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asks: a list, a flag and the plan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asking, and what does each of them want by Monday?</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76c78891bb4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MARKETING</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Owns acquisition and campaigns. Wants each segment's top fifty by Q2 revenue and a flag on members whose monthly spend fell two months running.</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RETAIL-PLUS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paid membership tier. Wants members who spent the same ranked the same, and the count that made the list.</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art-line_ded8d80bd4f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Wants Q2 revenue to accumulate week by week against the plan line, to know by mid-quarter whether to act.</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5" name="Oval 3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Lists, a tie rule, a flag and the plan: four answers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person need from the data team, and what does a wrong answer cost them?</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 and flag anyone whose monthly spend has fallen for two months running."</a:t>
            </a:r>
          </a:p>
        </p:txBody>
      </p:sp>
      <p:graphicFrame>
        <p:nvGraphicFramePr>
          <p:cNvPr id="14" name="Table 13"/>
          <p:cNvGraphicFramePr>
            <a:graphicFrameLocks noGrp="1"/>
          </p:cNvGraphicFramePr>
          <p:nvPr/>
        </p:nvGraphicFramePr>
        <p:xfrm>
          <a:off x="530352" y="3243072"/>
          <a:ext cx="11130988" cy="2505456"/>
        </p:xfrm>
        <a:graphic>
          <a:graphicData uri="http://schemas.openxmlformats.org/drawingml/2006/table">
            <a:tbl>
              <a:tblPr firstRow="0" bandRow="0">
                <a:tableStyleId>{2D5ABB26-0587-4C30-8999-92F81FD0307C}</a:tableStyleId>
              </a:tblPr>
              <a:tblGrid>
                <a:gridCol w="1950554"/>
                <a:gridCol w="2858401"/>
                <a:gridCol w="2934055"/>
                <a:gridCol w="3387978"/>
              </a:tblGrid>
              <a:tr h="335280">
                <a:tc>
                  <a:txBody>
                    <a:bodyPr/>
                    <a:lstStyle/>
                    <a:p>
                      <a:r>
                        <a:rPr sz="1250" b="1" i="0">
                          <a:solidFill>
                            <a:srgbClr val="FFFFFF"/>
                          </a:solidFill>
                          <a:latin typeface="Calibri"/>
                        </a:rPr>
                        <a:t>Who</a:t>
                      </a:r>
                    </a:p>
                  </a:txBody>
                  <a:tcPr marL="101600" marR="101600" marT="38100" marB="38100" anchor="ctr">
                    <a:solidFill>
                      <a:srgbClr val="1A0F5C"/>
                    </a:solidFill>
                  </a:tcPr>
                </a:tc>
                <a:tc>
                  <a:txBody>
                    <a:bodyPr/>
                    <a:lstStyle/>
                    <a:p>
                      <a:r>
                        <a:rPr sz="1250" b="1" i="0">
                          <a:solidFill>
                            <a:srgbClr val="FFFFFF"/>
                          </a:solidFill>
                          <a:latin typeface="Calibri"/>
                        </a:rPr>
                        <a:t>Their question</a:t>
                      </a:r>
                    </a:p>
                  </a:txBody>
                  <a:tcPr marL="101600" marR="101600" marT="38100" marB="38100" anchor="ctr">
                    <a:solidFill>
                      <a:srgbClr val="1A0F5C"/>
                    </a:solidFill>
                  </a:tcPr>
                </a:tc>
                <a:tc>
                  <a:txBody>
                    <a:bodyPr/>
                    <a:lstStyle/>
                    <a:p>
                      <a:r>
                        <a:rPr sz="1250" b="1" i="0">
                          <a:solidFill>
                            <a:srgbClr val="FFFFFF"/>
                          </a:solidFill>
                          <a:latin typeface="Calibri"/>
                        </a:rPr>
                        <a:t>What answers it</a:t>
                      </a:r>
                    </a:p>
                  </a:txBody>
                  <a:tcPr marL="101600" marR="101600" marT="38100" marB="38100" anchor="ctr">
                    <a:solidFill>
                      <a:srgbClr val="1A0F5C"/>
                    </a:solidFill>
                  </a:tcPr>
                </a:tc>
                <a:tc>
                  <a:txBody>
                    <a:bodyPr/>
                    <a:lstStyle/>
                    <a:p>
                      <a:r>
                        <a:rPr sz="1250" b="1" i="0">
                          <a:solidFill>
                            <a:srgbClr val="FFFFFF"/>
                          </a:solidFill>
                          <a:latin typeface="Calibri"/>
                        </a:rPr>
                        <a:t>A wrong answer costs</a:t>
                      </a:r>
                    </a:p>
                  </a:txBody>
                  <a:tcPr marL="101600" marR="101600" marT="38100" marB="38100" anchor="ctr">
                    <a:solidFill>
                      <a:srgbClr val="1A0F5C"/>
                    </a:solidFill>
                  </a:tcPr>
                </a:tc>
              </a:tr>
              <a:tr h="542544">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Whom do we protect in each segment?</a:t>
                      </a:r>
                    </a:p>
                  </a:txBody>
                  <a:tcPr marL="101600" marR="101600" marT="38100" marB="38100" anchor="ctr">
                    <a:solidFill>
                      <a:srgbClr val="FFFFFF"/>
                    </a:solidFill>
                  </a:tcPr>
                </a:tc>
                <a:tc>
                  <a:txBody>
                    <a:bodyPr/>
                    <a:lstStyle/>
                    <a:p>
                      <a:r>
                        <a:rPr sz="1200" b="0" i="0">
                          <a:solidFill>
                            <a:srgbClr val="1A1440"/>
                          </a:solidFill>
                          <a:latin typeface="Calibri"/>
                        </a:rPr>
                        <a:t>A ranked list per segment</a:t>
                      </a:r>
                    </a:p>
                  </a:txBody>
                  <a:tcPr marL="101600" marR="101600" marT="38100" marB="38100" anchor="ctr">
                    <a:solidFill>
                      <a:srgbClr val="FFFFFF"/>
                    </a:solidFill>
                  </a:tcPr>
                </a:tc>
                <a:tc>
                  <a:txBody>
                    <a:bodyPr/>
                    <a:lstStyle/>
                    <a:p>
                      <a:r>
                        <a:rPr sz="1200" b="0" i="0">
                          <a:solidFill>
                            <a:srgbClr val="1A1440"/>
                          </a:solidFill>
                          <a:latin typeface="Calibri"/>
                        </a:rPr>
                        <a:t>Offers spent on the wrong members</a:t>
                      </a:r>
                    </a:p>
                  </a:txBody>
                  <a:tcPr marL="101600" marR="101600" marT="38100" marB="38100" anchor="ctr">
                    <a:solidFill>
                      <a:srgbClr val="FFFFFF"/>
                    </a:solidFill>
                  </a:tcPr>
                </a:tc>
              </a:tr>
              <a:tr h="542544">
                <a:tc>
                  <a:txBody>
                    <a:bodyPr/>
                    <a:lstStyle/>
                    <a:p>
                      <a:r>
                        <a:rPr sz="1200" b="0" i="0">
                          <a:solidFill>
                            <a:srgbClr val="1A1440"/>
                          </a:solidFill>
                          <a:latin typeface="Calibri"/>
                        </a:rPr>
                        <a:t>The head of Retail-Plus</a:t>
                      </a:r>
                    </a:p>
                  </a:txBody>
                  <a:tcPr marL="101600" marR="101600" marT="38100" marB="38100" anchor="ctr">
                    <a:solidFill>
                      <a:srgbClr val="F4F2FA"/>
                    </a:solidFill>
                  </a:tcPr>
                </a:tc>
                <a:tc>
                  <a:txBody>
                    <a:bodyPr/>
                    <a:lstStyle/>
                    <a:p>
                      <a:r>
                        <a:rPr sz="1200" b="0" i="0">
                          <a:solidFill>
                            <a:srgbClr val="1A1440"/>
                          </a:solidFill>
                          <a:latin typeface="Calibri"/>
                        </a:rPr>
                        <a:t>How many made the list, ties kept?</a:t>
                      </a:r>
                    </a:p>
                  </a:txBody>
                  <a:tcPr marL="101600" marR="101600" marT="38100" marB="38100" anchor="ctr">
                    <a:solidFill>
                      <a:srgbClr val="F4F2FA"/>
                    </a:solidFill>
                  </a:tcPr>
                </a:tc>
                <a:tc>
                  <a:txBody>
                    <a:bodyPr/>
                    <a:lstStyle/>
                    <a:p>
                      <a:r>
                        <a:rPr sz="1200" b="0" i="0">
                          <a:solidFill>
                            <a:srgbClr val="1A1440"/>
                          </a:solidFill>
                          <a:latin typeface="Calibri"/>
                        </a:rPr>
                        <a:t>A tie rule and its count</a:t>
                      </a:r>
                    </a:p>
                  </a:txBody>
                  <a:tcPr marL="101600" marR="101600" marT="38100" marB="38100" anchor="ctr">
                    <a:solidFill>
                      <a:srgbClr val="F4F2FA"/>
                    </a:solidFill>
                  </a:tcPr>
                </a:tc>
                <a:tc>
                  <a:txBody>
                    <a:bodyPr/>
                    <a:lstStyle/>
                    <a:p>
                      <a:r>
                        <a:rPr sz="1200" b="0" i="0">
                          <a:solidFill>
                            <a:srgbClr val="1A1440"/>
                          </a:solidFill>
                          <a:latin typeface="Calibri"/>
                        </a:rPr>
                        <a:t>A member dropped by a coin toss</a:t>
                      </a:r>
                    </a:p>
                  </a:txBody>
                  <a:tcPr marL="101600" marR="101600" marT="38100" marB="38100" anchor="ctr">
                    <a:solidFill>
                      <a:srgbClr val="F4F2FA"/>
                    </a:solidFill>
                  </a:tcPr>
                </a:tc>
              </a:tr>
              <a:tr h="542544">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Whose spend is slipping?</a:t>
                      </a:r>
                    </a:p>
                  </a:txBody>
                  <a:tcPr marL="101600" marR="101600" marT="38100" marB="38100" anchor="ctr">
                    <a:solidFill>
                      <a:srgbClr val="FFFFFF"/>
                    </a:solidFill>
                  </a:tcPr>
                </a:tc>
                <a:tc>
                  <a:txBody>
                    <a:bodyPr/>
                    <a:lstStyle/>
                    <a:p>
                      <a:r>
                        <a:rPr sz="1200" b="0" i="0">
                          <a:solidFill>
                            <a:srgbClr val="1A1440"/>
                          </a:solidFill>
                          <a:latin typeface="Calibri"/>
                        </a:rPr>
                        <a:t>Each member against their own month</a:t>
                      </a:r>
                    </a:p>
                  </a:txBody>
                  <a:tcPr marL="101600" marR="101600" marT="38100" marB="38100" anchor="ctr">
                    <a:solidFill>
                      <a:srgbClr val="FFFFFF"/>
                    </a:solidFill>
                  </a:tcPr>
                </a:tc>
                <a:tc>
                  <a:txBody>
                    <a:bodyPr/>
                    <a:lstStyle/>
                    <a:p>
                      <a:r>
                        <a:rPr sz="1200" b="0" i="0">
                          <a:solidFill>
                            <a:srgbClr val="1A1440"/>
                          </a:solidFill>
                          <a:latin typeface="Calibri"/>
                        </a:rPr>
                        <a:t>Calls that accuse loyal members</a:t>
                      </a:r>
                    </a:p>
                  </a:txBody>
                  <a:tcPr marL="101600" marR="101600" marT="38100" marB="38100" anchor="ctr">
                    <a:solidFill>
                      <a:srgbClr val="FFFFFF"/>
                    </a:solidFill>
                  </a:tcPr>
                </a:tc>
              </a:tr>
              <a:tr h="542544">
                <a:tc>
                  <a:txBody>
                    <a:bodyPr/>
                    <a:lstStyle/>
                    <a:p>
                      <a:r>
                        <a:rPr sz="1200" b="0" i="0">
                          <a:solidFill>
                            <a:srgbClr val="1A1440"/>
                          </a:solidFill>
                          <a:latin typeface="Calibri"/>
                        </a:rPr>
                        <a:t>Meera Raghavan</a:t>
                      </a:r>
                    </a:p>
                  </a:txBody>
                  <a:tcPr marL="101600" marR="101600" marT="38100" marB="38100" anchor="ctr">
                    <a:solidFill>
                      <a:srgbClr val="F4F2FA"/>
                    </a:solidFill>
                  </a:tcPr>
                </a:tc>
                <a:tc>
                  <a:txBody>
                    <a:bodyPr/>
                    <a:lstStyle/>
                    <a:p>
                      <a:r>
                        <a:rPr sz="1200" b="0" i="0">
                          <a:solidFill>
                            <a:srgbClr val="1A1440"/>
                          </a:solidFill>
                          <a:latin typeface="Calibri"/>
                        </a:rPr>
                        <a:t>Is Q2 on track?</a:t>
                      </a:r>
                    </a:p>
                  </a:txBody>
                  <a:tcPr marL="101600" marR="101600" marT="38100" marB="38100" anchor="ctr">
                    <a:solidFill>
                      <a:srgbClr val="F4F2FA"/>
                    </a:solidFill>
                  </a:tcPr>
                </a:tc>
                <a:tc>
                  <a:txBody>
                    <a:bodyPr/>
                    <a:lstStyle/>
                    <a:p>
                      <a:r>
                        <a:rPr sz="1200" b="0" i="0">
                          <a:solidFill>
                            <a:srgbClr val="1A1440"/>
                          </a:solidFill>
                          <a:latin typeface="Calibri"/>
                        </a:rPr>
                        <a:t>Revenue to date against plan to date</a:t>
                      </a:r>
                    </a:p>
                  </a:txBody>
                  <a:tcPr marL="101600" marR="101600" marT="38100" marB="38100" anchor="ctr">
                    <a:solidFill>
                      <a:srgbClr val="F4F2FA"/>
                    </a:solidFill>
                  </a:tcPr>
                </a:tc>
                <a:tc>
                  <a:txBody>
                    <a:bodyPr/>
                    <a:lstStyle/>
                    <a:p>
                      <a:r>
                        <a:rPr sz="1200" b="0" i="0">
                          <a:solidFill>
                            <a:srgbClr val="1A1440"/>
                          </a:solidFill>
                          <a:latin typeface="Calibri"/>
                        </a:rPr>
                        <a:t>A campaign chasing a gap that is not there</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one GROUP BY give each top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the tool the room already knows, return each segment's top fifty?</a:t>
            </a:r>
          </a:p>
        </p:txBody>
      </p:sp>
      <p:pic>
        <p:nvPicPr>
          <p:cNvPr id="9" name="mermaid diagram" descr="770a3fadea706e50.png"/>
          <p:cNvPicPr>
            <a:picLocks noChangeAspect="1"/>
          </p:cNvPicPr>
          <p:nvPr/>
        </p:nvPicPr>
        <p:blipFill>
          <a:blip r:embed="rId5"/>
          <a:stretch>
            <a:fillRect/>
          </a:stretch>
        </p:blipFill>
        <p:spPr>
          <a:xfrm>
            <a:off x="1781022" y="1956816"/>
            <a:ext cx="8629650" cy="871537"/>
          </a:xfrm>
          <a:prstGeom prst="rect">
            <a:avLst/>
          </a:prstGeom>
        </p:spPr>
      </p:pic>
      <p:sp>
        <p:nvSpPr>
          <p:cNvPr id="10" name="Rounded Rectangle 9"/>
          <p:cNvSpPr/>
          <p:nvPr/>
        </p:nvSpPr>
        <p:spPr>
          <a:xfrm>
            <a:off x="530352" y="297465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Can one GROUP BY return each segment's top fifty members, as a letter? a) yes, GROUP BY segment with LIMIT 50; b) yes, GROUP BY member with LIMIT 50; c) no, GROUP BY returns one row per group and keeps no member below it; d) no, SQL cannot rank at 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GROUP BY collapses what the asks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the tool the room already knows, return each segment's top fifty?</a:t>
            </a:r>
          </a:p>
        </p:txBody>
      </p:sp>
      <p:pic>
        <p:nvPicPr>
          <p:cNvPr id="9" name="mermaid diagram" descr="03fde1f5e6e97dfb.png"/>
          <p:cNvPicPr>
            <a:picLocks noChangeAspect="1"/>
          </p:cNvPicPr>
          <p:nvPr/>
        </p:nvPicPr>
        <p:blipFill>
          <a:blip r:embed="rId6"/>
          <a:stretch>
            <a:fillRect/>
          </a:stretch>
        </p:blipFill>
        <p:spPr>
          <a:xfrm>
            <a:off x="1981047" y="1956816"/>
            <a:ext cx="8229600"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GROUP BY answers how much per group and keeps nothing below the group. A window function computes over related rows and keeps every row, adding one column: a place, a previous month, or a total so far.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ask is a window: a place, a month, a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asks need the window to add to every row?</a:t>
            </a:r>
          </a:p>
        </p:txBody>
      </p:sp>
      <p:pic>
        <p:nvPicPr>
          <p:cNvPr id="9" name="mermaid diagram" descr="72972bbe8635c445.png"/>
          <p:cNvPicPr>
            <a:picLocks noChangeAspect="1"/>
          </p:cNvPicPr>
          <p:nvPr/>
        </p:nvPicPr>
        <p:blipFill>
          <a:blip r:embed="rId5"/>
          <a:stretch>
            <a:fillRect/>
          </a:stretch>
        </p:blipFill>
        <p:spPr>
          <a:xfrm>
            <a:off x="3402653" y="1956816"/>
            <a:ext cx="5386387" cy="2714625"/>
          </a:xfrm>
          <a:prstGeom prst="rect">
            <a:avLst/>
          </a:prstGeom>
        </p:spPr>
      </p:pic>
      <p:sp>
        <p:nvSpPr>
          <p:cNvPr id="10" name="TextBox 9"/>
          <p:cNvSpPr txBox="1"/>
          <p:nvPr/>
        </p:nvSpPr>
        <p:spPr>
          <a:xfrm>
            <a:off x="530352" y="48177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window is written function() OVER (PARTITION BY ... ORDER BY ...): the partition says whose rows belong together, and the order says which row comes before which.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are the top fifty?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fifty members spent the most in Q2, the list Marketing's protect budget starts from?</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Marketing: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top fifty,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spends the protect budget, a call from the member team and a renewal offer, on the members this list names. A list built on the wrong unit sends offers to the wrong people: each best member it misses is one nobody calls, and each one it repeats is a call made twice.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to rank</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each member book?</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row per member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fifty spent most?</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Numbered in a window</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quick list give?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fifty biggest orders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segments does it reach?</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Counted by segment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Python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A sort with no SQL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needs members, ranked by what they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need before the member team rings anyone, and what does a wrong list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Spends the protect budget, a call and a renewal offer, on the members this list names.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anknote_b59e4eff765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revenue per member</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Booked revenue of every Q2 order the member placed, whatever its status. Q2 booked Rs 9,84,00,000.</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Calls to the wrong people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best member nobody rings, or one member rung twice.</a:t>
            </a:r>
          </a:p>
        </p:txBody>
      </p:sp>
      <p:sp>
        <p:nvSpPr>
          <p:cNvPr id="27" name="Rounded Rectangle 26"/>
          <p:cNvSpPr/>
          <p:nvPr/>
        </p:nvSpPr>
        <p:spPr>
          <a:xfrm>
            <a:off x="530352" y="4294124"/>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606544"/>
            <a:ext cx="237744" cy="237744"/>
          </a:xfrm>
          <a:prstGeom prst="rect">
            <a:avLst/>
          </a:prstGeom>
        </p:spPr>
      </p:pic>
      <p:sp>
        <p:nvSpPr>
          <p:cNvPr id="30" name="TextBox 29"/>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members made 59% of US store tender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company's money come mostly from its members, so the list of members matters?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US STORE TENDER</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from Rewards members, Q3 FY26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35.8 M</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ACTIVE US MEMBERS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90 days to 28 June 2026</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When members carry more than half of the money, a retention offer that reaches the wrong members leaves the money that matters unprotected.</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Group, then number in a window: one query, 155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build a ranked list, and what would each way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908673"/>
                <a:gridCol w="2163052"/>
                <a:gridCol w="2861300"/>
                <a:gridCol w="2197964"/>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One row is</a:t>
                      </a:r>
                    </a:p>
                  </a:txBody>
                  <a:tcPr marL="101600" marR="101600" marT="38100" marB="38100" anchor="ctr">
                    <a:solidFill>
                      <a:srgbClr val="1A0F5C"/>
                    </a:solidFill>
                  </a:tcPr>
                </a:tc>
                <a:tc>
                  <a:txBody>
                    <a:bodyPr/>
                    <a:lstStyle/>
                    <a:p>
                      <a:r>
                        <a:rPr sz="1250" b="1" i="0">
                          <a:solidFill>
                            <a:srgbClr val="FFFFFF"/>
                          </a:solidFill>
                          <a:latin typeface="Calibri"/>
                        </a:rPr>
                        <a:t>For the four segment lists</a:t>
                      </a:r>
                    </a:p>
                  </a:txBody>
                  <a:tcPr marL="101600" marR="101600" marT="38100" marB="38100" anchor="ctr">
                    <a:solidFill>
                      <a:srgbClr val="1A0F5C"/>
                    </a:solidFill>
                  </a:tcPr>
                </a:tc>
                <a:tc>
                  <a:txBody>
                    <a:bodyPr/>
                    <a:lstStyle/>
                    <a:p>
                      <a:r>
                        <a:rPr sz="1250" b="1" i="0">
                          <a:solidFill>
                            <a:srgbClr val="FFFFFF"/>
                          </a:solidFill>
                          <a:latin typeface="Calibri"/>
                        </a:rPr>
                        <a:t>Leaves the warehouse</a:t>
                      </a:r>
                    </a:p>
                  </a:txBody>
                  <a:tcPr marL="101600" marR="101600" marT="38100" marB="38100" anchor="ctr">
                    <a:solidFill>
                      <a:srgbClr val="1A0F5C"/>
                    </a:solidFill>
                  </a:tcPr>
                </a:tc>
              </a:tr>
              <a:tr h="335280">
                <a:tc>
                  <a:txBody>
                    <a:bodyPr/>
                    <a:lstStyle/>
                    <a:p>
                      <a:r>
                        <a:rPr sz="1200" b="0" i="0">
                          <a:solidFill>
                            <a:srgbClr val="1A1440"/>
                          </a:solidFill>
                          <a:latin typeface="Calibri"/>
                        </a:rPr>
                        <a:t>A. Sort the Q2 orders, keep 50</a:t>
                      </a:r>
                    </a:p>
                  </a:txBody>
                  <a:tcPr marL="101600" marR="101600" marT="38100" marB="38100" anchor="ctr">
                    <a:solidFill>
                      <a:srgbClr val="FFFFFF"/>
                    </a:solidFill>
                  </a:tcPr>
                </a:tc>
                <a:tc>
                  <a:txBody>
                    <a:bodyPr/>
                    <a:lstStyle/>
                    <a:p>
                      <a:r>
                        <a:rPr sz="1200" b="0" i="0">
                          <a:solidFill>
                            <a:srgbClr val="1A1440"/>
                          </a:solidFill>
                          <a:latin typeface="Calibri"/>
                        </a:rPr>
                        <a:t>an order</a:t>
                      </a:r>
                    </a:p>
                  </a:txBody>
                  <a:tcPr marL="101600" marR="101600" marT="38100" marB="38100" anchor="ctr">
                    <a:solidFill>
                      <a:srgbClr val="FFFFFF"/>
                    </a:solidFill>
                  </a:tcPr>
                </a:tc>
                <a:tc>
                  <a:txBody>
                    <a:bodyPr/>
                    <a:lstStyle/>
                    <a:p>
                      <a:r>
                        <a:rPr sz="1200" b="0" i="0">
                          <a:solidFill>
                            <a:srgbClr val="1A1440"/>
                          </a:solidFill>
                          <a:latin typeface="Calibri"/>
                        </a:rPr>
                        <a:t>4 sorts, each a list of orders</a:t>
                      </a:r>
                    </a:p>
                  </a:txBody>
                  <a:tcPr marL="101600" marR="101600" marT="38100" marB="38100" anchor="ctr">
                    <a:solidFill>
                      <a:srgbClr val="FFFFFF"/>
                    </a:solidFill>
                  </a:tcPr>
                </a:tc>
                <a:tc>
                  <a:txBody>
                    <a:bodyPr/>
                    <a:lstStyle/>
                    <a:p>
                      <a:r>
                        <a:rPr sz="1200" b="0" i="0">
                          <a:solidFill>
                            <a:srgbClr val="1A1440"/>
                          </a:solidFill>
                          <a:latin typeface="Calibri"/>
                        </a:rPr>
                        <a:t>188 order rows</a:t>
                      </a:r>
                    </a:p>
                  </a:txBody>
                  <a:tcPr marL="101600" marR="101600" marT="38100" marB="38100" anchor="ctr">
                    <a:solidFill>
                      <a:srgbClr val="FFFFFF"/>
                    </a:solidFill>
                  </a:tcPr>
                </a:tc>
              </a:tr>
              <a:tr h="335280">
                <a:tc>
                  <a:txBody>
                    <a:bodyPr/>
                    <a:lstStyle/>
                    <a:p>
                      <a:r>
                        <a:rPr sz="1200" b="0" i="0">
                          <a:solidFill>
                            <a:srgbClr val="1A1440"/>
                          </a:solidFill>
                          <a:latin typeface="Calibri"/>
                        </a:rPr>
                        <a:t>B. Group by member, sort, LIMIT 50</a:t>
                      </a:r>
                    </a:p>
                  </a:txBody>
                  <a:tcPr marL="101600" marR="101600" marT="38100" marB="38100" anchor="ctr">
                    <a:solidFill>
                      <a:srgbClr val="F4F2FA"/>
                    </a:solidFill>
                  </a:tcPr>
                </a:tc>
                <a:tc>
                  <a:txBody>
                    <a:bodyPr/>
                    <a:lstStyle/>
                    <a:p>
                      <a:r>
                        <a:rPr sz="1200" b="0" i="0">
                          <a:solidFill>
                            <a:srgbClr val="1A1440"/>
                          </a:solidFill>
                          <a:latin typeface="Calibri"/>
                        </a:rPr>
                        <a:t>a member</a:t>
                      </a:r>
                    </a:p>
                  </a:txBody>
                  <a:tcPr marL="101600" marR="101600" marT="38100" marB="38100" anchor="ctr">
                    <a:solidFill>
                      <a:srgbClr val="F4F2FA"/>
                    </a:solidFill>
                  </a:tcPr>
                </a:tc>
                <a:tc>
                  <a:txBody>
                    <a:bodyPr/>
                    <a:lstStyle/>
                    <a:p>
                      <a:r>
                        <a:rPr sz="1200" b="0" i="0">
                          <a:solidFill>
                            <a:srgbClr val="1A1440"/>
                          </a:solidFill>
                          <a:latin typeface="Calibri"/>
                        </a:rPr>
                        <a:t>4 queries glued</a:t>
                      </a:r>
                    </a:p>
                  </a:txBody>
                  <a:tcPr marL="101600" marR="101600" marT="38100" marB="38100" anchor="ctr">
                    <a:solidFill>
                      <a:srgbClr val="F4F2FA"/>
                    </a:solidFill>
                  </a:tcPr>
                </a:tc>
                <a:tc>
                  <a:txBody>
                    <a:bodyPr/>
                    <a:lstStyle/>
                    <a:p>
                      <a:r>
                        <a:rPr sz="1200" b="0" i="0">
                          <a:solidFill>
                            <a:srgbClr val="1A1440"/>
                          </a:solidFill>
                          <a:latin typeface="Calibri"/>
                        </a:rPr>
                        <a:t>155 rows</a:t>
                      </a:r>
                    </a:p>
                  </a:txBody>
                  <a:tcPr marL="101600" marR="101600" marT="38100" marB="38100" anchor="ctr">
                    <a:solidFill>
                      <a:srgbClr val="F4F2FA"/>
                    </a:solidFill>
                  </a:tcPr>
                </a:tc>
              </a:tr>
              <a:tr h="335280">
                <a:tc>
                  <a:txBody>
                    <a:bodyPr/>
                    <a:lstStyle/>
                    <a:p>
                      <a:r>
                        <a:rPr sz="1200" b="0" i="0">
                          <a:solidFill>
                            <a:srgbClr val="1A1440"/>
                          </a:solidFill>
                          <a:latin typeface="Calibri"/>
                        </a:rPr>
                        <a:t>C. Group, number in a window, keep 1 to 50</a:t>
                      </a:r>
                    </a:p>
                  </a:txBody>
                  <a:tcPr marL="101600" marR="101600" marT="38100" marB="38100" anchor="ctr">
                    <a:solidFill>
                      <a:srgbClr val="FFFFFF"/>
                    </a:solidFill>
                  </a:tcPr>
                </a:tc>
                <a:tc>
                  <a:txBody>
                    <a:bodyPr/>
                    <a:lstStyle/>
                    <a:p>
                      <a:r>
                        <a:rPr sz="1200" b="0" i="0">
                          <a:solidFill>
                            <a:srgbClr val="1A1440"/>
                          </a:solidFill>
                          <a:latin typeface="Calibri"/>
                        </a:rPr>
                        <a:t>a member and its place</a:t>
                      </a:r>
                    </a:p>
                  </a:txBody>
                  <a:tcPr marL="101600" marR="101600" marT="38100" marB="38100" anchor="ctr">
                    <a:solidFill>
                      <a:srgbClr val="FFFFFF"/>
                    </a:solidFill>
                  </a:tcPr>
                </a:tc>
                <a:tc>
                  <a:txBody>
                    <a:bodyPr/>
                    <a:lstStyle/>
                    <a:p>
                      <a:r>
                        <a:rPr sz="1200" b="0" i="0">
                          <a:solidFill>
                            <a:srgbClr val="1A1440"/>
                          </a:solidFill>
                          <a:latin typeface="Calibri"/>
                        </a:rPr>
                        <a:t>1 query</a:t>
                      </a:r>
                    </a:p>
                  </a:txBody>
                  <a:tcPr marL="101600" marR="101600" marT="38100" marB="38100" anchor="ctr">
                    <a:solidFill>
                      <a:srgbClr val="FFFFFF"/>
                    </a:solidFill>
                  </a:tcPr>
                </a:tc>
                <a:tc>
                  <a:txBody>
                    <a:bodyPr/>
                    <a:lstStyle/>
                    <a:p>
                      <a:r>
                        <a:rPr sz="1200" b="0" i="0">
                          <a:solidFill>
                            <a:srgbClr val="1A1440"/>
                          </a:solidFill>
                          <a:latin typeface="Calibri"/>
                        </a:rPr>
                        <a:t>155 rows</a:t>
                      </a:r>
                    </a:p>
                  </a:txBody>
                  <a:tcPr marL="101600" marR="101600" marT="38100" marB="38100" anchor="ctr">
                    <a:solidFill>
                      <a:srgbClr val="FFFFFF"/>
                    </a:solidFill>
                  </a:tcPr>
                </a:tc>
              </a:tr>
              <a:tr h="335280">
                <a:tc>
                  <a:txBody>
                    <a:bodyPr/>
                    <a:lstStyle/>
                    <a:p>
                      <a:r>
                        <a:rPr sz="1200" b="0" i="0">
                          <a:solidFill>
                            <a:srgbClr val="1A1440"/>
                          </a:solidFill>
                          <a:latin typeface="Calibri"/>
                        </a:rPr>
                        <a:t>D. Export and sort by hand</a:t>
                      </a:r>
                    </a:p>
                  </a:txBody>
                  <a:tcPr marL="101600" marR="101600" marT="38100" marB="38100" anchor="ctr">
                    <a:solidFill>
                      <a:srgbClr val="F4F2FA"/>
                    </a:solidFill>
                  </a:tcPr>
                </a:tc>
                <a:tc>
                  <a:txBody>
                    <a:bodyPr/>
                    <a:lstStyle/>
                    <a:p>
                      <a:r>
                        <a:rPr sz="1200" b="0" i="0">
                          <a:solidFill>
                            <a:srgbClr val="1A1440"/>
                          </a:solidFill>
                          <a:latin typeface="Calibri"/>
                        </a:rPr>
                        <a:t>anything</a:t>
                      </a:r>
                    </a:p>
                  </a:txBody>
                  <a:tcPr marL="101600" marR="101600" marT="38100" marB="38100" anchor="ctr">
                    <a:solidFill>
                      <a:srgbClr val="F4F2FA"/>
                    </a:solidFill>
                  </a:tcPr>
                </a:tc>
                <a:tc>
                  <a:txBody>
                    <a:bodyPr/>
                    <a:lstStyle/>
                    <a:p>
                      <a:r>
                        <a:rPr sz="1200" b="0" i="0">
                          <a:solidFill>
                            <a:srgbClr val="1A1440"/>
                          </a:solidFill>
                          <a:latin typeface="Calibri"/>
                        </a:rPr>
                        <a:t>4 sorts by hand</a:t>
                      </a:r>
                    </a:p>
                  </a:txBody>
                  <a:tcPr marL="101600" marR="101600" marT="38100" marB="38100" anchor="ctr">
                    <a:solidFill>
                      <a:srgbClr val="F4F2FA"/>
                    </a:solidFill>
                  </a:tcPr>
                </a:tc>
                <a:tc>
                  <a:txBody>
                    <a:bodyPr/>
                    <a:lstStyle/>
                    <a:p>
                      <a:r>
                        <a:rPr sz="1200" b="0" i="0">
                          <a:solidFill>
                            <a:srgbClr val="1A1440"/>
                          </a:solidFill>
                          <a:latin typeface="Calibri"/>
                        </a:rPr>
                        <a:t>all 462 Q2 orders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Marketing's ask is per segment and the place has to be a column a later step can count. What would switch it: one overall list to read by eye, where B is shorter and returns the same fifty.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named step adds up; a window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option C do to the rows, step by step?</a:t>
            </a:r>
          </a:p>
        </p:txBody>
      </p:sp>
      <p:pic>
        <p:nvPicPr>
          <p:cNvPr id="9" name="mermaid diagram" descr="7c1b2b40d677cc69.png"/>
          <p:cNvPicPr>
            <a:picLocks noChangeAspect="1"/>
          </p:cNvPicPr>
          <p:nvPr/>
        </p:nvPicPr>
        <p:blipFill>
          <a:blip r:embed="rId5"/>
          <a:stretch>
            <a:fillRect/>
          </a:stretch>
        </p:blipFill>
        <p:spPr>
          <a:xfrm>
            <a:off x="738035" y="1956816"/>
            <a:ext cx="10715625" cy="1385887"/>
          </a:xfrm>
          <a:prstGeom prst="rect">
            <a:avLst/>
          </a:prstGeom>
        </p:spPr>
      </p:pic>
      <p:sp>
        <p:nvSpPr>
          <p:cNvPr id="10" name="TextBox 9"/>
          <p:cNvSpPr txBox="1"/>
          <p:nvPr/>
        </p:nvSpPr>
        <p:spPr>
          <a:xfrm>
            <a:off x="530352" y="348900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customer id after the revenue in the window's ORDER BY decides any two members who booked the same, so the numbering is the same on every run. Chapter 3 asks whether that is fair.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one per member?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book in Q2?</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o.customer_id, c.segment, count(*) AS q2_orders, sum(o.amount) AS q2_revenue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o.customer_id, c.segment;</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as a letter? a) 462, one per Q2 order; b) 340, one per member on the customers table; c) 227; d) 50.</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227 members; Business books lakhs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book in Q2?</a:t>
            </a:r>
          </a:p>
        </p:txBody>
      </p:sp>
      <p:sp>
        <p:nvSpPr>
          <p:cNvPr id="9" name="TextBox 8"/>
          <p:cNvSpPr txBox="1"/>
          <p:nvPr/>
        </p:nvSpPr>
        <p:spPr>
          <a:xfrm>
            <a:off x="530352"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27.9 lakh</a:t>
            </a:r>
          </a:p>
        </p:txBody>
      </p:sp>
      <p:sp>
        <p:nvSpPr>
          <p:cNvPr id="10" name="TextBox 9"/>
          <p:cNvSpPr txBox="1"/>
          <p:nvPr/>
        </p:nvSpPr>
        <p:spPr>
          <a:xfrm>
            <a:off x="530352"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35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5,400</a:t>
            </a:r>
          </a:p>
        </p:txBody>
      </p:sp>
      <p:sp>
        <p:nvSpPr>
          <p:cNvPr id="14" name="TextBox 13"/>
          <p:cNvSpPr txBox="1"/>
          <p:nvPr/>
        </p:nvSpPr>
        <p:spPr>
          <a:xfrm>
            <a:off x="3381679"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76 members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3,800</a:t>
            </a:r>
          </a:p>
        </p:txBody>
      </p:sp>
      <p:sp>
        <p:nvSpPr>
          <p:cNvPr id="18" name="TextBox 17"/>
          <p:cNvSpPr txBox="1"/>
          <p:nvPr/>
        </p:nvSpPr>
        <p:spPr>
          <a:xfrm>
            <a:off x="6233007"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96 members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1,800</a:t>
            </a:r>
          </a:p>
        </p:txBody>
      </p:sp>
      <p:sp>
        <p:nvSpPr>
          <p:cNvPr id="22" name="TextBox 21"/>
          <p:cNvSpPr txBox="1"/>
          <p:nvPr/>
        </p:nvSpPr>
        <p:spPr>
          <a:xfrm>
            <a:off x="9084335"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20 members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227 rows carry all 462 orders and all Rs 9,84,00,000; 113 of the 340 members placed no Q2 order. A Business member books hundreds of times a retail member's quarter.</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segments reach the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fifty members spent the most?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q2_spend AS (...),</a:t>
            </a:r>
          </a:p>
          <a:p>
            <a:pPr>
              <a:spcAft>
                <a:spcPts val="200"/>
              </a:spcAft>
            </a:pPr>
            <a:r>
              <a:rPr sz="1400" b="0" i="0">
                <a:solidFill>
                  <a:srgbClr val="E4E1F1"/>
                </a:solidFill>
                <a:latin typeface="Consolas"/>
              </a:rPr>
              <a:t>ranked AS (SELECT customer_id, segment, q2_revenue,</a:t>
            </a:r>
          </a:p>
          <a:p>
            <a:pPr>
              <a:spcAft>
                <a:spcPts val="200"/>
              </a:spcAft>
            </a:pPr>
            <a:r>
              <a:rPr sz="1400" b="0" i="0">
                <a:solidFill>
                  <a:srgbClr val="E4E1F1"/>
                </a:solidFill>
                <a:latin typeface="Consolas"/>
              </a:rPr>
              <a:t>           row_number() OVER (ORDER BY q2_revenue DESC, customer_id) AS position</a:t>
            </a:r>
          </a:p>
          <a:p>
            <a:pPr>
              <a:spcAft>
                <a:spcPts val="200"/>
              </a:spcAft>
            </a:pPr>
            <a:r>
              <a:rPr sz="1400" b="0" i="0">
                <a:solidFill>
                  <a:srgbClr val="E4E1F1"/>
                </a:solidFill>
                <a:latin typeface="Consolas"/>
              </a:rPr>
              <a:t>           FROM q2_spend)</a:t>
            </a:r>
          </a:p>
          <a:p>
            <a:pPr>
              <a:spcAft>
                <a:spcPts val="200"/>
              </a:spcAft>
            </a:pPr>
            <a:r>
              <a:rPr sz="1400" b="0" i="0">
                <a:solidFill>
                  <a:srgbClr val="E4E1F1"/>
                </a:solidFill>
                <a:latin typeface="Consolas"/>
              </a:rPr>
              <a:t>SELECT * FROM ranked WHERE position &lt;= 50 ORDER BY position;</a:t>
            </a:r>
          </a:p>
        </p:txBody>
      </p:sp>
      <p:sp>
        <p:nvSpPr>
          <p:cNvPr id="14" name="Rounded Rectangle 13"/>
          <p:cNvSpPr/>
          <p:nvPr/>
        </p:nvSpPr>
        <p:spPr>
          <a:xfrm>
            <a:off x="530352" y="3840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9690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95986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From how many of the four segments do the fifty come, as a letter? a) all four; b) three; c) two; d) one, Business.</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35 Business, 11 Retail-Plus, 4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fifty members spent the most?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Business buyer in Q2</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76 who bought</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96 who bought</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20 who bought</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Place 35, the last Business member, booked Rs 2,25,000; place 36, the first retail member, Rs 21,740, about a tenth of it. Option B's LIMIT returns the same fifty members.</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50 rows, 28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list, the fifty biggest orders, give Marketing?</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o.customer_id, c.segment, o.amount</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ORDER  BY o.amount DESC, o.order_id</a:t>
            </a:r>
          </a:p>
          <a:p>
            <a:pPr>
              <a:spcAft>
                <a:spcPts val="200"/>
              </a:spcAft>
            </a:pPr>
            <a:r>
              <a:rPr sz="1400" b="0" i="0">
                <a:solidFill>
                  <a:srgbClr val="E4E1F1"/>
                </a:solidFill>
                <a:latin typeface="Consolas"/>
              </a:rPr>
              <a:t>LIMIT  50;</a:t>
            </a:r>
          </a:p>
        </p:txBody>
      </p:sp>
      <p:sp>
        <p:nvSpPr>
          <p:cNvPr id="14" name="TextBox 13"/>
          <p:cNvSpPr txBox="1"/>
          <p:nvPr/>
        </p:nvSpPr>
        <p:spPr>
          <a:xfrm>
            <a:off x="53035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5" name="TextBox 14"/>
          <p:cNvSpPr txBox="1"/>
          <p:nvPr/>
        </p:nvSpPr>
        <p:spPr>
          <a:xfrm>
            <a:off x="53035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ON THE LIST</a:t>
            </a:r>
          </a:p>
        </p:txBody>
      </p:sp>
      <p:sp>
        <p:nvSpPr>
          <p:cNvPr id="16" name="TextBox 15"/>
          <p:cNvSpPr txBox="1"/>
          <p:nvPr/>
        </p:nvSpPr>
        <p:spPr>
          <a:xfrm>
            <a:off x="53035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report says it holds</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28</a:t>
            </a:r>
          </a:p>
        </p:txBody>
      </p:sp>
      <p:sp>
        <p:nvSpPr>
          <p:cNvPr id="19" name="TextBox 18"/>
          <p:cNvSpPr txBox="1"/>
          <p:nvPr/>
        </p:nvSpPr>
        <p:spPr>
          <a:xfrm>
            <a:off x="433212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DIFFERENT MEMBERS</a:t>
            </a:r>
          </a:p>
        </p:txBody>
      </p:sp>
      <p:sp>
        <p:nvSpPr>
          <p:cNvPr id="20" name="TextBox 19"/>
          <p:cNvSpPr txBox="1"/>
          <p:nvPr/>
        </p:nvSpPr>
        <p:spPr>
          <a:xfrm>
            <a:off x="433212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whom Marketing would ring</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23" name="TextBox 22"/>
          <p:cNvSpPr txBox="1"/>
          <p:nvPr/>
        </p:nvSpPr>
        <p:spPr>
          <a:xfrm>
            <a:off x="813389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a:t>
            </a:r>
          </a:p>
        </p:txBody>
      </p:sp>
      <p:sp>
        <p:nvSpPr>
          <p:cNvPr id="24" name="TextBox 23"/>
          <p:cNvSpPr txBox="1"/>
          <p:nvPr/>
        </p:nvSpPr>
        <p:spPr>
          <a:xfrm>
            <a:off x="813389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Business only</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row is an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list of fifty rows name only twenty-eight members?</a:t>
            </a:r>
          </a:p>
        </p:txBody>
      </p:sp>
      <p:pic>
        <p:nvPicPr>
          <p:cNvPr id="9" name="mermaid diagram" descr="d64ee48375f79028.png"/>
          <p:cNvPicPr>
            <a:picLocks noChangeAspect="1"/>
          </p:cNvPicPr>
          <p:nvPr/>
        </p:nvPicPr>
        <p:blipFill>
          <a:blip r:embed="rId5"/>
          <a:stretch>
            <a:fillRect/>
          </a:stretch>
        </p:blipFill>
        <p:spPr>
          <a:xfrm>
            <a:off x="3338360" y="1956816"/>
            <a:ext cx="5514975"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the different members on the list beside its rows: a list of members holds as many members as rows, and this one holds 28 for 50.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members, and 22 more are reached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each member's orders are added up first?</a:t>
            </a:r>
          </a:p>
        </p:txBody>
      </p:sp>
      <p:pic>
        <p:nvPicPr>
          <p:cNvPr id="9" name="mermaid diagram" descr="36f04300a8bc2640.png"/>
          <p:cNvPicPr>
            <a:picLocks noChangeAspect="1"/>
          </p:cNvPicPr>
          <p:nvPr/>
        </p:nvPicPr>
        <p:blipFill>
          <a:blip r:embed="rId5"/>
          <a:stretch>
            <a:fillRect/>
          </a:stretch>
        </p:blipFill>
        <p:spPr>
          <a:xfrm>
            <a:off x="2523972" y="1956816"/>
            <a:ext cx="7143750"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Adding up each member's orders before ranking gives fifty rows and fifty members. It reaches seven Business members the orders list missed and the fifteen retail members it could never show.</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Python's sort, the same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sort in Python pick the same fifty members?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spend = {}</a:t>
            </a:r>
          </a:p>
          <a:p>
            <a:pPr>
              <a:spcAft>
                <a:spcPts val="200"/>
              </a:spcAft>
            </a:pPr>
            <a:r>
              <a:rPr sz="1400" b="0" i="0">
                <a:solidFill>
                  <a:srgbClr val="E4E1F1"/>
                </a:solidFill>
                <a:latin typeface="Consolas"/>
              </a:rPr>
              <a:t>for r in rows:                                   # the 462 Q2 order rows</a:t>
            </a:r>
          </a:p>
          <a:p>
            <a:pPr>
              <a:spcAft>
                <a:spcPts val="200"/>
              </a:spcAft>
            </a:pPr>
            <a:r>
              <a:rPr sz="1400" b="0" i="0">
                <a:solidFill>
                  <a:srgbClr val="E4E1F1"/>
                </a:solidFill>
                <a:latin typeface="Consolas"/>
              </a:rPr>
              <a:t>    spend[r["customer_id"]] = spend.get(r["customer_id"], 0) + r["amount"]</a:t>
            </a:r>
          </a:p>
          <a:p>
            <a:pPr>
              <a:spcAft>
                <a:spcPts val="200"/>
              </a:spcAft>
            </a:pPr>
            <a:r>
              <a:rPr sz="1400" b="0" i="0">
                <a:solidFill>
                  <a:srgbClr val="E4E1F1"/>
                </a:solidFill>
                <a:latin typeface="Consolas"/>
              </a:rPr>
              <a:t>fifty = sorted(spend, key=lambda cid: (-spend[cid], cid))[:50]</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50 = 50</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fifty, in the same order</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462</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MOVED</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to say what the query said in 50</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Fifty members, and the list is a Business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fifty members spent the most in Q2?</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469689"/>
                <a:gridCol w="6661301"/>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Group, then number in a window: one query, 155 rows</a:t>
                      </a:r>
                    </a:p>
                  </a:txBody>
                  <a:tcPr marL="101600" marR="101600" marT="38100" marB="38100" anchor="ctr">
                    <a:solidFill>
                      <a:srgbClr val="FFFFFF"/>
                    </a:solidFill>
                  </a:tcPr>
                </a:tc>
              </a:tr>
              <a:tr h="310896">
                <a:tc>
                  <a:txBody>
                    <a:bodyPr/>
                    <a:lstStyle/>
                    <a:p>
                      <a:r>
                        <a:rPr sz="900" b="0" i="0">
                          <a:solidFill>
                            <a:srgbClr val="1A1440"/>
                          </a:solidFill>
                          <a:latin typeface="Calibri"/>
                        </a:rPr>
                        <a:t>2. What did each member book?</a:t>
                      </a:r>
                    </a:p>
                  </a:txBody>
                  <a:tcPr marL="101600" marR="101600" marT="38100" marB="38100" anchor="ctr">
                    <a:solidFill>
                      <a:srgbClr val="F4F2FA"/>
                    </a:solidFill>
                  </a:tcPr>
                </a:tc>
                <a:tc>
                  <a:txBody>
                    <a:bodyPr/>
                    <a:lstStyle/>
                    <a:p>
                      <a:r>
                        <a:rPr sz="900" b="0" i="0">
                          <a:solidFill>
                            <a:srgbClr val="1A1440"/>
                          </a:solidFill>
                          <a:latin typeface="Calibri"/>
                        </a:rPr>
                        <a:t>227 rows, all 462 orders and Rs 9,84,00,000</a:t>
                      </a:r>
                    </a:p>
                  </a:txBody>
                  <a:tcPr marL="101600" marR="101600" marT="38100" marB="38100" anchor="ctr">
                    <a:solidFill>
                      <a:srgbClr val="F4F2FA"/>
                    </a:solidFill>
                  </a:tcPr>
                </a:tc>
              </a:tr>
              <a:tr h="310896">
                <a:tc>
                  <a:txBody>
                    <a:bodyPr/>
                    <a:lstStyle/>
                    <a:p>
                      <a:r>
                        <a:rPr sz="900" b="0" i="0">
                          <a:solidFill>
                            <a:srgbClr val="1A1440"/>
                          </a:solidFill>
                          <a:latin typeface="Calibri"/>
                        </a:rPr>
                        <a:t>3. Which fifty spent most?</a:t>
                      </a:r>
                    </a:p>
                  </a:txBody>
                  <a:tcPr marL="101600" marR="101600" marT="38100" marB="38100" anchor="ctr">
                    <a:solidFill>
                      <a:srgbClr val="FFFFFF"/>
                    </a:solidFill>
                  </a:tcPr>
                </a:tc>
                <a:tc>
                  <a:txBody>
                    <a:bodyPr/>
                    <a:lstStyle/>
                    <a:p>
                      <a:r>
                        <a:rPr sz="900" b="0" i="0">
                          <a:solidFill>
                            <a:srgbClr val="1A1440"/>
                          </a:solidFill>
                          <a:latin typeface="Calibri"/>
                        </a:rPr>
                        <a:t>35 Business, 11 Retail-Plus, 4 Retail-Core</a:t>
                      </a:r>
                    </a:p>
                  </a:txBody>
                  <a:tcPr marL="101600" marR="101600" marT="38100" marB="38100" anchor="ctr">
                    <a:solidFill>
                      <a:srgbClr val="FFFFFF"/>
                    </a:solidFill>
                  </a:tcPr>
                </a:tc>
              </a:tr>
              <a:tr h="310896">
                <a:tc>
                  <a:txBody>
                    <a:bodyPr/>
                    <a:lstStyle/>
                    <a:p>
                      <a:r>
                        <a:rPr sz="900" b="0" i="0">
                          <a:solidFill>
                            <a:srgbClr val="1A1440"/>
                          </a:solidFill>
                          <a:latin typeface="Calibri"/>
                        </a:rPr>
                        <a:t>4. What does the quick list give?</a:t>
                      </a:r>
                    </a:p>
                  </a:txBody>
                  <a:tcPr marL="101600" marR="101600" marT="38100" marB="38100" anchor="ctr">
                    <a:solidFill>
                      <a:srgbClr val="F4F2FA"/>
                    </a:solidFill>
                  </a:tcPr>
                </a:tc>
                <a:tc>
                  <a:txBody>
                    <a:bodyPr/>
                    <a:lstStyle/>
                    <a:p>
                      <a:r>
                        <a:rPr sz="900" b="0" i="0">
                          <a:solidFill>
                            <a:srgbClr val="1A1440"/>
                          </a:solidFill>
                          <a:latin typeface="Calibri"/>
                        </a:rPr>
                        <a:t>50 orders naming 28 members, all Business</a:t>
                      </a:r>
                    </a:p>
                  </a:txBody>
                  <a:tcPr marL="101600" marR="101600" marT="38100" marB="38100" anchor="ctr">
                    <a:solidFill>
                      <a:srgbClr val="F4F2FA"/>
                    </a:solidFill>
                  </a:tcPr>
                </a:tc>
              </a:tr>
              <a:tr h="310896">
                <a:tc>
                  <a:txBody>
                    <a:bodyPr/>
                    <a:lstStyle/>
                    <a:p>
                      <a:r>
                        <a:rPr sz="900" b="0" i="0">
                          <a:solidFill>
                            <a:srgbClr val="1A1440"/>
                          </a:solidFill>
                          <a:latin typeface="Calibri"/>
                        </a:rPr>
                        <a:t>5. Which segments does it reach?</a:t>
                      </a:r>
                    </a:p>
                  </a:txBody>
                  <a:tcPr marL="101600" marR="101600" marT="38100" marB="38100" anchor="ctr">
                    <a:solidFill>
                      <a:srgbClr val="FFFFFF"/>
                    </a:solidFill>
                  </a:tcPr>
                </a:tc>
                <a:tc>
                  <a:txBody>
                    <a:bodyPr/>
                    <a:lstStyle/>
                    <a:p>
                      <a:r>
                        <a:rPr sz="900" b="0" i="0">
                          <a:solidFill>
                            <a:srgbClr val="1A1440"/>
                          </a:solidFill>
                          <a:latin typeface="Calibri"/>
                        </a:rPr>
                        <a:t>Three; Student none</a:t>
                      </a:r>
                    </a:p>
                  </a:txBody>
                  <a:tcPr marL="101600" marR="101600" marT="38100" marB="38100" anchor="ctr">
                    <a:solidFill>
                      <a:srgbClr val="FFFFFF"/>
                    </a:solidFill>
                  </a:tcPr>
                </a:tc>
              </a:tr>
              <a:tr h="310896">
                <a:tc>
                  <a:txBody>
                    <a:bodyPr/>
                    <a:lstStyle/>
                    <a:p>
                      <a:r>
                        <a:rPr sz="900" b="0" i="0">
                          <a:solidFill>
                            <a:srgbClr val="1A1440"/>
                          </a:solidFill>
                          <a:latin typeface="Calibri"/>
                        </a:rPr>
                        <a:t>6. Does Python agree?</a:t>
                      </a:r>
                    </a:p>
                  </a:txBody>
                  <a:tcPr marL="101600" marR="101600" marT="38100" marB="38100" anchor="ctr">
                    <a:solidFill>
                      <a:srgbClr val="F4F2FA"/>
                    </a:solidFill>
                  </a:tcPr>
                </a:tc>
                <a:tc>
                  <a:txBody>
                    <a:bodyPr/>
                    <a:lstStyle/>
                    <a:p>
                      <a:r>
                        <a:rPr sz="900" b="0" i="0">
                          <a:solidFill>
                            <a:srgbClr val="1A1440"/>
                          </a:solidFill>
                          <a:latin typeface="Calibri"/>
                        </a:rPr>
                        <a:t>Yes, member for member</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"Say what one row of your list is before you say who is on it. A top fifty of orders and a top fifty of members look alike on screen and send Marketing to different people."</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[S] What is the difference between GROUP BY and a window function? [F] Your top-fifty list has fifty rows but twenty-eight names: what happened?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Top fifty per segment?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fifty members lead each of the four segments, so that no segment's protect budget goes unspent?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82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per segment: five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list per segment,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spends each segment's protect budget on that segment's own members, and the head of Retail-Plus wants the tier's best members rung before they drift. A list that hands Retail-Plus a few places and Student none leaves the tier Marketing worries about mostly unprotected.</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Four ways per segment</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Can GROUP BY do it?</a:t>
            </a:r>
          </a:p>
        </p:txBody>
      </p:sp>
      <p:sp>
        <p:nvSpPr>
          <p:cNvPr id="22" name="TextBox 21"/>
          <p:cNvSpPr txBox="1"/>
          <p:nvPr/>
        </p:nvSpPr>
        <p:spPr>
          <a:xfrm>
            <a:off x="2957718" y="4516882"/>
            <a:ext cx="1750710" cy="201676"/>
          </a:xfrm>
          <a:prstGeom prst="rect">
            <a:avLst/>
          </a:prstGeom>
          <a:noFill/>
        </p:spPr>
        <p:txBody>
          <a:bodyPr wrap="square" anchor="t" lIns="0" rIns="0" tIns="0" bIns="0">
            <a:spAutoFit/>
          </a:bodyPr>
          <a:lstStyle/>
          <a:p>
            <a:pPr algn="l"/>
            <a:r>
              <a:rPr sz="1000" b="0" i="0">
                <a:solidFill>
                  <a:srgbClr val="6B6690"/>
                </a:solidFill>
                <a:latin typeface="Calibri"/>
              </a:rPr>
              <a:t>What it can return</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one numbering give?</a:t>
            </a:r>
          </a:p>
        </p:txBody>
      </p:sp>
      <p:sp>
        <p:nvSpPr>
          <p:cNvPr id="27" name="TextBox 26"/>
          <p:cNvSpPr txBox="1"/>
          <p:nvPr/>
        </p:nvSpPr>
        <p:spPr>
          <a:xfrm>
            <a:off x="5220492"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whole book, then split</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PARTITION BY restart?</a:t>
            </a:r>
          </a:p>
        </p:txBody>
      </p:sp>
      <p:sp>
        <p:nvSpPr>
          <p:cNvPr id="32" name="TextBox 31"/>
          <p:cNvSpPr txBox="1"/>
          <p:nvPr/>
        </p:nvSpPr>
        <p:spPr>
          <a:xfrm>
            <a:off x="7483266"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count per list</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465836"/>
          </a:xfrm>
          <a:prstGeom prst="rect">
            <a:avLst/>
          </a:prstGeom>
          <a:noFill/>
        </p:spPr>
        <p:txBody>
          <a:bodyPr wrap="square" anchor="t" lIns="0" rIns="0" tIns="0" bIns="0">
            <a:spAutoFit/>
          </a:bodyPr>
          <a:lstStyle/>
          <a:p>
            <a:pPr algn="l"/>
            <a:r>
              <a:rPr sz="1300" b="1" i="0">
                <a:solidFill>
                  <a:srgbClr val="FFFFFF"/>
                </a:solidFill>
                <a:latin typeface="Calibri"/>
              </a:rPr>
              <a:t>Do four queries agree?</a:t>
            </a:r>
          </a:p>
        </p:txBody>
      </p:sp>
      <p:sp>
        <p:nvSpPr>
          <p:cNvPr id="37" name="TextBox 36"/>
          <p:cNvSpPr txBox="1"/>
          <p:nvPr/>
        </p:nvSpPr>
        <p:spPr>
          <a:xfrm>
            <a:off x="9746040" y="4731512"/>
            <a:ext cx="1750710" cy="201676"/>
          </a:xfrm>
          <a:prstGeom prst="rect">
            <a:avLst/>
          </a:prstGeom>
          <a:noFill/>
        </p:spPr>
        <p:txBody>
          <a:bodyPr wrap="square" anchor="t" lIns="0" rIns="0" tIns="0" bIns="0">
            <a:spAutoFit/>
          </a:bodyPr>
          <a:lstStyle/>
          <a:p>
            <a:pPr algn="l"/>
            <a:r>
              <a:rPr sz="1000" b="0" i="0">
                <a:solidFill>
                  <a:srgbClr val="CFC9EE"/>
                </a:solidFill>
                <a:latin typeface="Calibri"/>
              </a:rPr>
              <a:t>One query per segment</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0" name="Oval 3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4" name="Oval 4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6" name="Oval 4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82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segment's budget needs its own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a list per segment, and what does a whole-book list cost them?</a:t>
            </a:r>
          </a:p>
        </p:txBody>
      </p:sp>
      <p:sp>
        <p:nvSpPr>
          <p:cNvPr id="9" name="Rounded Rectangle 8"/>
          <p:cNvSpPr/>
          <p:nvPr/>
        </p:nvSpPr>
        <p:spPr>
          <a:xfrm>
            <a:off x="53035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Sets a protect budget per segment and spends it on that segment's members.</a:t>
            </a:r>
          </a:p>
        </p:txBody>
      </p:sp>
      <p:sp>
        <p:nvSpPr>
          <p:cNvPr id="15" name="Rounded Rectangle 14"/>
          <p:cNvSpPr/>
          <p:nvPr/>
        </p:nvSpPr>
        <p:spPr>
          <a:xfrm>
            <a:off x="430164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ordered_6bff7db210f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Q2 revenue, ranked within a segment</a:t>
            </a:r>
          </a:p>
        </p:txBody>
      </p:sp>
      <p:sp>
        <p:nvSpPr>
          <p:cNvPr id="20" name="TextBox 19"/>
          <p:cNvSpPr txBox="1"/>
          <p:nvPr/>
        </p:nvSpPr>
        <p:spPr>
          <a:xfrm>
            <a:off x="4502810" y="3534664"/>
            <a:ext cx="3186074" cy="399796"/>
          </a:xfrm>
          <a:prstGeom prst="rect">
            <a:avLst/>
          </a:prstGeom>
          <a:noFill/>
        </p:spPr>
        <p:txBody>
          <a:bodyPr wrap="square" anchor="t" lIns="0" rIns="0" tIns="0" bIns="0">
            <a:spAutoFit/>
          </a:bodyPr>
          <a:lstStyle/>
          <a:p>
            <a:pPr algn="l"/>
            <a:r>
              <a:rPr sz="1100" b="0" i="0">
                <a:solidFill>
                  <a:srgbClr val="6B6690"/>
                </a:solidFill>
                <a:latin typeface="Calibri"/>
              </a:rPr>
              <a:t>A member's place among their own segment's buyers.</a:t>
            </a:r>
          </a:p>
        </p:txBody>
      </p:sp>
      <p:sp>
        <p:nvSpPr>
          <p:cNvPr id="21" name="Rounded Rectangle 20"/>
          <p:cNvSpPr/>
          <p:nvPr/>
        </p:nvSpPr>
        <p:spPr>
          <a:xfrm>
            <a:off x="8072932" y="1956816"/>
            <a:ext cx="3588410"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tier left unprotected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Retail-Plus member who lapses takes the fee and every order after it.</a:t>
            </a:r>
          </a:p>
        </p:txBody>
      </p:sp>
      <p:sp>
        <p:nvSpPr>
          <p:cNvPr id="27" name="Rounded Rectangle 26"/>
          <p:cNvSpPr/>
          <p:nvPr/>
        </p:nvSpPr>
        <p:spPr>
          <a:xfrm>
            <a:off x="530352" y="433527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537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647692"/>
            <a:ext cx="237744" cy="237744"/>
          </a:xfrm>
          <a:prstGeom prst="rect">
            <a:avLst/>
          </a:prstGeom>
        </p:spPr>
      </p:pic>
      <p:sp>
        <p:nvSpPr>
          <p:cNvPr id="30" name="TextBox 29"/>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701032"/>
            <a:ext cx="9987991" cy="42367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82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ranks each item inside its own category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rank inside each group, because one overall list hides the leaders?</a:t>
            </a:r>
          </a:p>
        </p:txBody>
      </p:sp>
      <p:pic>
        <p:nvPicPr>
          <p:cNvPr id="9" name="mermaid diagram" descr="8001d082b7b5225e.png"/>
          <p:cNvPicPr>
            <a:picLocks noChangeAspect="1"/>
          </p:cNvPicPr>
          <p:nvPr/>
        </p:nvPicPr>
        <p:blipFill>
          <a:blip r:embed="rId6"/>
          <a:stretch>
            <a:fillRect/>
          </a:stretch>
        </p:blipFill>
        <p:spPr>
          <a:xfrm>
            <a:off x="3466947" y="1956816"/>
            <a:ext cx="5257800" cy="2543175"/>
          </a:xfrm>
          <a:prstGeom prst="rect">
            <a:avLst/>
          </a:prstGeom>
        </p:spPr>
      </p:pic>
      <p:sp>
        <p:nvSpPr>
          <p:cNvPr id="10" name="Rounded Rectangle 9"/>
          <p:cNvSpPr/>
          <p:nvPr/>
        </p:nvSpPr>
        <p:spPr>
          <a:xfrm>
            <a:off x="530352" y="46462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9785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088255"/>
            <a:ext cx="237744" cy="237744"/>
          </a:xfrm>
          <a:prstGeom prst="rect">
            <a:avLst/>
          </a:prstGeom>
        </p:spPr>
      </p:pic>
      <p:sp>
        <p:nvSpPr>
          <p:cNvPr id="13" name="TextBox 12"/>
          <p:cNvSpPr txBox="1"/>
          <p:nvPr/>
        </p:nvSpPr>
        <p:spPr>
          <a:xfrm>
            <a:off x="1399031" y="47925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12055"/>
            <a:ext cx="9987991" cy="682752"/>
          </a:xfrm>
          <a:prstGeom prst="rect">
            <a:avLst/>
          </a:prstGeom>
          <a:noFill/>
        </p:spPr>
        <p:txBody>
          <a:bodyPr wrap="square" anchor="t" lIns="0" rIns="0" tIns="0" bIns="0">
            <a:spAutoFit/>
          </a:bodyPr>
          <a:lstStyle/>
          <a:p>
            <a:r>
              <a:rPr sz="1500" b="0" i="0">
                <a:solidFill>
                  <a:srgbClr val="1A1440"/>
                </a:solidFill>
                <a:latin typeface="Calibri"/>
              </a:rPr>
              <a:t>Amazon says the overall rank "doesn't always indicate how well an item is selling in relation to similar items", so it keeps best-seller lists by category and subcategory.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82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PARTITION BY: one query, the orders read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build one list per segment, and what would each way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594192"/>
                <a:gridCol w="3387748"/>
                <a:gridCol w="914400"/>
                <a:gridCol w="223465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How each segment gets fifty</a:t>
                      </a:r>
                    </a:p>
                  </a:txBody>
                  <a:tcPr marL="101600" marR="101600" marT="38100" marB="38100" anchor="ctr">
                    <a:solidFill>
                      <a:srgbClr val="1A0F5C"/>
                    </a:solidFill>
                  </a:tcPr>
                </a:tc>
                <a:tc>
                  <a:txBody>
                    <a:bodyPr/>
                    <a:lstStyle/>
                    <a:p>
                      <a:r>
                        <a:rPr sz="1250" b="1" i="0">
                          <a:solidFill>
                            <a:srgbClr val="FFFFFF"/>
                          </a:solidFill>
                          <a:latin typeface="Calibri"/>
                        </a:rPr>
                        <a:t>Queries</a:t>
                      </a:r>
                    </a:p>
                  </a:txBody>
                  <a:tcPr marL="101600" marR="101600" marT="38100" marB="38100" anchor="ctr">
                    <a:solidFill>
                      <a:srgbClr val="1A0F5C"/>
                    </a:solidFill>
                  </a:tcPr>
                </a:tc>
                <a:tc>
                  <a:txBody>
                    <a:bodyPr/>
                    <a:lstStyle/>
                    <a:p>
                      <a:r>
                        <a:rPr sz="1250" b="1" i="0">
                          <a:solidFill>
                            <a:srgbClr val="FFFFFF"/>
                          </a:solidFill>
                          <a:latin typeface="Calibri"/>
                        </a:rPr>
                        <a:t>Works through</a:t>
                      </a:r>
                    </a:p>
                  </a:txBody>
                  <a:tcPr marL="101600" marR="101600" marT="38100" marB="38100" anchor="ctr">
                    <a:solidFill>
                      <a:srgbClr val="1A0F5C"/>
                    </a:solidFill>
                  </a:tcPr>
                </a:tc>
              </a:tr>
              <a:tr h="335280">
                <a:tc>
                  <a:txBody>
                    <a:bodyPr/>
                    <a:lstStyle/>
                    <a:p>
                      <a:r>
                        <a:rPr sz="1200" b="0" i="0">
                          <a:solidFill>
                            <a:srgbClr val="1A1440"/>
                          </a:solidFill>
                          <a:latin typeface="Calibri"/>
                        </a:rPr>
                        <a:t>A. One sorted query per segment, UNION ALL</a:t>
                      </a:r>
                    </a:p>
                  </a:txBody>
                  <a:tcPr marL="101600" marR="101600" marT="38100" marB="38100" anchor="ctr">
                    <a:solidFill>
                      <a:srgbClr val="FFFFFF"/>
                    </a:solidFill>
                  </a:tcPr>
                </a:tc>
                <a:tc>
                  <a:txBody>
                    <a:bodyPr/>
                    <a:lstStyle/>
                    <a:p>
                      <a:r>
                        <a:rPr sz="1200" b="0" i="0">
                          <a:solidFill>
                            <a:srgbClr val="1A1440"/>
                          </a:solidFill>
                          <a:latin typeface="Calibri"/>
                        </a:rPr>
                        <a:t>its own LIMIT 50</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1,848 order rows</a:t>
                      </a:r>
                    </a:p>
                  </a:txBody>
                  <a:tcPr marL="101600" marR="101600" marT="38100" marB="38100" anchor="ctr">
                    <a:solidFill>
                      <a:srgbClr val="FFFFFF"/>
                    </a:solidFill>
                  </a:tcPr>
                </a:tc>
              </a:tr>
              <a:tr h="335280">
                <a:tc>
                  <a:txBody>
                    <a:bodyPr/>
                    <a:lstStyle/>
                    <a:p>
                      <a:r>
                        <a:rPr sz="1200" b="0" i="0">
                          <a:solidFill>
                            <a:srgbClr val="1A1440"/>
                          </a:solidFill>
                          <a:latin typeface="Calibri"/>
                        </a:rPr>
                        <a:t>B. Count who spent more</a:t>
                      </a:r>
                    </a:p>
                  </a:txBody>
                  <a:tcPr marL="101600" marR="101600" marT="38100" marB="38100" anchor="ctr">
                    <a:solidFill>
                      <a:srgbClr val="F4F2FA"/>
                    </a:solidFill>
                  </a:tcPr>
                </a:tc>
                <a:tc>
                  <a:txBody>
                    <a:bodyPr/>
                    <a:lstStyle/>
                    <a:p>
                      <a:r>
                        <a:rPr sz="1200" b="0" i="0">
                          <a:solidFill>
                            <a:srgbClr val="1A1440"/>
                          </a:solidFill>
                          <a:latin typeface="Calibri"/>
                        </a:rPr>
                        <a:t>1 plus members who booked more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16,617 member pairs</a:t>
                      </a:r>
                    </a:p>
                  </a:txBody>
                  <a:tcPr marL="101600" marR="101600" marT="38100" marB="38100" anchor="ctr">
                    <a:solidFill>
                      <a:srgbClr val="F4F2FA"/>
                    </a:solidFill>
                  </a:tcPr>
                </a:tc>
              </a:tr>
              <a:tr h="335280">
                <a:tc>
                  <a:txBody>
                    <a:bodyPr/>
                    <a:lstStyle/>
                    <a:p>
                      <a:r>
                        <a:rPr sz="1200" b="0" i="0">
                          <a:solidFill>
                            <a:srgbClr val="1A1440"/>
                          </a:solidFill>
                          <a:latin typeface="Calibri"/>
                        </a:rPr>
                        <a:t>C. A window with PARTITION BY segment</a:t>
                      </a:r>
                    </a:p>
                  </a:txBody>
                  <a:tcPr marL="101600" marR="101600" marT="38100" marB="38100" anchor="ctr">
                    <a:solidFill>
                      <a:srgbClr val="FFFFFF"/>
                    </a:solidFill>
                  </a:tcPr>
                </a:tc>
                <a:tc>
                  <a:txBody>
                    <a:bodyPr/>
                    <a:lstStyle/>
                    <a:p>
                      <a:r>
                        <a:rPr sz="1200" b="0" i="0">
                          <a:solidFill>
                            <a:srgbClr val="1A1440"/>
                          </a:solidFill>
                          <a:latin typeface="Calibri"/>
                        </a:rPr>
                        <a:t>numbering restarts per segment</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462 order rows</a:t>
                      </a:r>
                    </a:p>
                  </a:txBody>
                  <a:tcPr marL="101600" marR="101600" marT="38100" marB="38100" anchor="ctr">
                    <a:solidFill>
                      <a:srgbClr val="FFFFFF"/>
                    </a:solidFill>
                  </a:tcPr>
                </a:tc>
              </a:tr>
              <a:tr h="335280">
                <a:tc>
                  <a:txBody>
                    <a:bodyPr/>
                    <a:lstStyle/>
                    <a:p>
                      <a:r>
                        <a:rPr sz="1200" b="0" i="0">
                          <a:solidFill>
                            <a:srgbClr val="1A1440"/>
                          </a:solidFill>
                          <a:latin typeface="Calibri"/>
                        </a:rPr>
                        <a:t>D. GROUP BY segment, LIMIT 50</a:t>
                      </a:r>
                    </a:p>
                  </a:txBody>
                  <a:tcPr marL="101600" marR="101600" marT="38100" marB="38100" anchor="ctr">
                    <a:solidFill>
                      <a:srgbClr val="F4F2FA"/>
                    </a:solidFill>
                  </a:tcPr>
                </a:tc>
                <a:tc>
                  <a:txBody>
                    <a:bodyPr/>
                    <a:lstStyle/>
                    <a:p>
                      <a:r>
                        <a:rPr sz="1200" b="0" i="0">
                          <a:solidFill>
                            <a:srgbClr val="1A1440"/>
                          </a:solidFill>
                          <a:latin typeface="Calibri"/>
                        </a:rPr>
                        <a:t>none: one row per segment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cannot list members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one query, one pass, and a new segment needs no change. What would switch it: a database with no window functions, such as MySQL before 8.0, which leaves A.</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PARTITION BY restarts the numbering in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do to the numbering?</a:t>
            </a:r>
          </a:p>
        </p:txBody>
      </p:sp>
      <p:pic>
        <p:nvPicPr>
          <p:cNvPr id="9" name="mermaid diagram" descr="78fc7e194e5b146d.png"/>
          <p:cNvPicPr>
            <a:picLocks noChangeAspect="1"/>
          </p:cNvPicPr>
          <p:nvPr/>
        </p:nvPicPr>
        <p:blipFill>
          <a:blip r:embed="rId5"/>
          <a:stretch>
            <a:fillRect/>
          </a:stretch>
        </p:blipFill>
        <p:spPr>
          <a:xfrm>
            <a:off x="3552672" y="1956816"/>
            <a:ext cx="5086350" cy="3643312"/>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8" name="Oval 1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GROUP BY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return each segment's top fifty?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count(DISTINCT o.customer_id) AS members, sum(o.amount) AS q2_revenue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c.segment;</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as a letter? a) 4; b) 155, fifty or every buyer per segment; c) 200, fifty per segment; d) 50.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rows, and LIMIT gives chapter 1's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return each segment's top fifty?</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GROUP BY segment, one per group</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GROUP BY member, LIMIT 50: chapter 1's list again</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GROUP BY answers how much per segment: Business Rs 9,75,84,600, Retail-Plus Rs 4,13,380, Retail-Core Rs 3,66,250, Student Rs 35,770. LIMIT counts rows across the whole sorted result and knows nothing of segments.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Retail-Plus 11, Student 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numbering the whole book once give each segment?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(ORDER BY q2_revenue DESC, customer_id) AS position</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count(*) FILTER (WHERE position &lt;= 50)   -- counted per segment</a:t>
            </a:r>
          </a:p>
        </p:txBody>
      </p:sp>
      <p:sp>
        <p:nvSpPr>
          <p:cNvPr id="14" name="TextBox 13"/>
          <p:cNvSpPr txBox="1"/>
          <p:nvPr/>
        </p:nvSpPr>
        <p:spPr>
          <a:xfrm>
            <a:off x="530352"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5" name="TextBox 14"/>
          <p:cNvSpPr txBox="1"/>
          <p:nvPr/>
        </p:nvSpPr>
        <p:spPr>
          <a:xfrm>
            <a:off x="530352"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6" name="TextBox 15"/>
          <p:cNvSpPr txBox="1"/>
          <p:nvPr/>
        </p:nvSpPr>
        <p:spPr>
          <a:xfrm>
            <a:off x="530352"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35</a:t>
            </a:r>
          </a:p>
        </p:txBody>
      </p:sp>
      <p:sp>
        <p:nvSpPr>
          <p:cNvPr id="17" name="Rectangle 16"/>
          <p:cNvSpPr/>
          <p:nvPr/>
        </p:nvSpPr>
        <p:spPr>
          <a:xfrm>
            <a:off x="530352"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9" name="TextBox 18"/>
          <p:cNvSpPr txBox="1"/>
          <p:nvPr/>
        </p:nvSpPr>
        <p:spPr>
          <a:xfrm>
            <a:off x="3381679"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0" name="TextBox 19"/>
          <p:cNvSpPr txBox="1"/>
          <p:nvPr/>
        </p:nvSpPr>
        <p:spPr>
          <a:xfrm>
            <a:off x="3381679"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96</a:t>
            </a:r>
          </a:p>
        </p:txBody>
      </p:sp>
      <p:sp>
        <p:nvSpPr>
          <p:cNvPr id="21" name="Rectangle 20"/>
          <p:cNvSpPr/>
          <p:nvPr/>
        </p:nvSpPr>
        <p:spPr>
          <a:xfrm>
            <a:off x="3381679"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23" name="TextBox 22"/>
          <p:cNvSpPr txBox="1"/>
          <p:nvPr/>
        </p:nvSpPr>
        <p:spPr>
          <a:xfrm>
            <a:off x="6233007"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4" name="TextBox 23"/>
          <p:cNvSpPr txBox="1"/>
          <p:nvPr/>
        </p:nvSpPr>
        <p:spPr>
          <a:xfrm>
            <a:off x="6233007"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76</a:t>
            </a:r>
          </a:p>
        </p:txBody>
      </p:sp>
      <p:sp>
        <p:nvSpPr>
          <p:cNvPr id="25" name="Rectangle 24"/>
          <p:cNvSpPr/>
          <p:nvPr/>
        </p:nvSpPr>
        <p:spPr>
          <a:xfrm>
            <a:off x="6233007"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7" name="TextBox 26"/>
          <p:cNvSpPr txBox="1"/>
          <p:nvPr/>
        </p:nvSpPr>
        <p:spPr>
          <a:xfrm>
            <a:off x="9084335"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8" name="TextBox 27"/>
          <p:cNvSpPr txBox="1"/>
          <p:nvPr/>
        </p:nvSpPr>
        <p:spPr>
          <a:xfrm>
            <a:off x="9084335"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20</a:t>
            </a:r>
          </a:p>
        </p:txBody>
      </p:sp>
      <p:sp>
        <p:nvSpPr>
          <p:cNvPr id="29" name="Rectangle 28"/>
          <p:cNvSpPr/>
          <p:nvPr/>
        </p:nvSpPr>
        <p:spPr>
          <a:xfrm>
            <a:off x="9084335"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2" name="Oval 3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4" name="Oval 3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6" name="Oval 3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8" name="Oval 3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numbering ranks Business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number from the whole book short every retail segment?</a:t>
            </a:r>
          </a:p>
        </p:txBody>
      </p:sp>
      <p:pic>
        <p:nvPicPr>
          <p:cNvPr id="9" name="mermaid diagram" descr="6407158bcc4d4c03.png"/>
          <p:cNvPicPr>
            <a:picLocks noChangeAspect="1"/>
          </p:cNvPicPr>
          <p:nvPr/>
        </p:nvPicPr>
        <p:blipFill>
          <a:blip r:embed="rId5"/>
          <a:stretch>
            <a:fillRect/>
          </a:stretch>
        </p:blipFill>
        <p:spPr>
          <a:xfrm>
            <a:off x="1881035" y="1956816"/>
            <a:ext cx="8429625"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Each segment's list should hold fifty, or every buyer where a segment has fewer. Set each count beside the smaller of 50 and its buyers: Retail-Plus has 76 buyers and gets 11.</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members across the four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restart, and how many members does each list hold?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(PARTITION BY segment</a:t>
            </a:r>
          </a:p>
          <a:p>
            <a:pPr>
              <a:spcAft>
                <a:spcPts val="200"/>
              </a:spcAft>
            </a:pPr>
            <a:r>
              <a:rPr sz="1400" b="0" i="0">
                <a:solidFill>
                  <a:srgbClr val="E4E1F1"/>
                </a:solidFill>
                <a:latin typeface="Consolas"/>
              </a:rPr>
              <a:t>                   ORDER BY q2_revenue DESC, customer_id) AS position</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members do the four lists hold together, as a letter? a) 200, fifty in each; b) 155; c) 50; d) 227, every member who bought.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155, fifty or every buyer per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restart, and how many members does each list hold?</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buyer</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96</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76</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buyer</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places restart at 1 in every segment: Retail-Core's place 1 is C-0010 on Rs 13,910, Retail-Plus's is C-0170 on Rs 21,740. Retail-Plus goes from 11 places to 50, and Student from none to 20.</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0" name="Oval 2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place filter waits for the outer query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Postgres refuse the place filter in WHERE, and where does it go?</a:t>
            </a:r>
          </a:p>
        </p:txBody>
      </p:sp>
      <p:pic>
        <p:nvPicPr>
          <p:cNvPr id="9" name="mermaid diagram" descr="2197bfa22483157b.png"/>
          <p:cNvPicPr>
            <a:picLocks noChangeAspect="1"/>
          </p:cNvPicPr>
          <p:nvPr/>
        </p:nvPicPr>
        <p:blipFill>
          <a:blip r:embed="rId6"/>
          <a:stretch>
            <a:fillRect/>
          </a:stretch>
        </p:blipFill>
        <p:spPr>
          <a:xfrm>
            <a:off x="1952472" y="1956816"/>
            <a:ext cx="8286750"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WHERE decides which rows exist before any window is computed, so the place does not exist yet when WHERE runs. Compute it in a named step and filter outside.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four queries, the same 155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one sorted query per segment pick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'Business' AS segment, o.customer_id, sum(o.amount) AS q2_revenue</a:t>
            </a:r>
          </a:p>
          <a:p>
            <a:pPr>
              <a:spcAft>
                <a:spcPts val="200"/>
              </a:spcAft>
            </a:pPr>
            <a:r>
              <a:rPr sz="1400" b="0" i="0">
                <a:solidFill>
                  <a:srgbClr val="E4E1F1"/>
                </a:solidFill>
                <a:latin typeface="Consolas"/>
              </a:rPr>
              <a:t> FROM orders o JOIN customers c USING (customer_id)</a:t>
            </a:r>
          </a:p>
          <a:p>
            <a:pPr>
              <a:spcAft>
                <a:spcPts val="200"/>
              </a:spcAft>
            </a:pPr>
            <a:r>
              <a:rPr sz="1400" b="0" i="0">
                <a:solidFill>
                  <a:srgbClr val="E4E1F1"/>
                </a:solidFill>
                <a:latin typeface="Consolas"/>
              </a:rPr>
              <a:t> WHERE o.quarter = 'Q2' AND c.segment = 'Business'</a:t>
            </a:r>
          </a:p>
          <a:p>
            <a:pPr>
              <a:spcAft>
                <a:spcPts val="200"/>
              </a:spcAft>
            </a:pPr>
            <a:r>
              <a:rPr sz="1400" b="0" i="0">
                <a:solidFill>
                  <a:srgbClr val="E4E1F1"/>
                </a:solidFill>
                <a:latin typeface="Consolas"/>
              </a:rPr>
              <a:t> GROUP BY o.customer_id ORDER BY q2_revenue DESC, o.customer_id LIMIT 50)</a:t>
            </a:r>
          </a:p>
          <a:p>
            <a:pPr>
              <a:spcAft>
                <a:spcPts val="200"/>
              </a:spcAft>
            </a:pPr>
            <a:r>
              <a:rPr sz="1400" b="0" i="0">
                <a:solidFill>
                  <a:srgbClr val="E4E1F1"/>
                </a:solidFill>
                <a:latin typeface="Consolas"/>
              </a:rPr>
              <a:t>UNION ALL  ... the same for Retail-Core, Retail-Plus and Student</a:t>
            </a:r>
          </a:p>
        </p:txBody>
      </p:sp>
      <p:sp>
        <p:nvSpPr>
          <p:cNvPr id="14" name="TextBox 13"/>
          <p:cNvSpPr txBox="1"/>
          <p:nvPr/>
        </p:nvSpPr>
        <p:spPr>
          <a:xfrm>
            <a:off x="530352"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155 = 155</a:t>
            </a:r>
          </a:p>
        </p:txBody>
      </p:sp>
      <p:sp>
        <p:nvSpPr>
          <p:cNvPr id="15" name="TextBox 14"/>
          <p:cNvSpPr txBox="1"/>
          <p:nvPr/>
        </p:nvSpPr>
        <p:spPr>
          <a:xfrm>
            <a:off x="530352"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ones in every segment</a:t>
            </a:r>
          </a:p>
        </p:txBody>
      </p:sp>
      <p:sp>
        <p:nvSpPr>
          <p:cNvPr id="17" name="Rectangle 16"/>
          <p:cNvSpPr/>
          <p:nvPr/>
        </p:nvSpPr>
        <p:spPr>
          <a:xfrm>
            <a:off x="530352"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9" name="TextBox 18"/>
          <p:cNvSpPr txBox="1"/>
          <p:nvPr/>
        </p:nvSpPr>
        <p:spPr>
          <a:xfrm>
            <a:off x="6233007"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PLACES TO EDIT</a:t>
            </a:r>
          </a:p>
        </p:txBody>
      </p:sp>
      <p:sp>
        <p:nvSpPr>
          <p:cNvPr id="20" name="TextBox 19"/>
          <p:cNvSpPr txBox="1"/>
          <p:nvPr/>
        </p:nvSpPr>
        <p:spPr>
          <a:xfrm>
            <a:off x="6233007"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when the segments change</a:t>
            </a:r>
          </a:p>
        </p:txBody>
      </p:sp>
      <p:sp>
        <p:nvSpPr>
          <p:cNvPr id="21" name="Rectangle 20"/>
          <p:cNvSpPr/>
          <p:nvPr/>
        </p:nvSpPr>
        <p:spPr>
          <a:xfrm>
            <a:off x="6233007"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segment gets fifty, or every buyer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fifty members lead each of the four segments?</a:t>
            </a:r>
          </a:p>
        </p:txBody>
      </p:sp>
      <p:graphicFrame>
        <p:nvGraphicFramePr>
          <p:cNvPr id="9" name="Table 8"/>
          <p:cNvGraphicFramePr>
            <a:graphicFrameLocks noGrp="1"/>
          </p:cNvGraphicFramePr>
          <p:nvPr/>
        </p:nvGraphicFramePr>
        <p:xfrm>
          <a:off x="530352" y="1873504"/>
          <a:ext cx="11130990" cy="1908048"/>
        </p:xfrm>
        <a:graphic>
          <a:graphicData uri="http://schemas.openxmlformats.org/drawingml/2006/table">
            <a:tbl>
              <a:tblPr firstRow="0" bandRow="0">
                <a:tableStyleId>{2D5ABB26-0587-4C30-8999-92F81FD0307C}</a:tableStyleId>
              </a:tblPr>
              <a:tblGrid>
                <a:gridCol w="4845857"/>
                <a:gridCol w="6285133"/>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way, at what cost?</a:t>
                      </a:r>
                    </a:p>
                  </a:txBody>
                  <a:tcPr marL="101600" marR="101600" marT="38100" marB="38100" anchor="ctr">
                    <a:solidFill>
                      <a:srgbClr val="FFFFFF"/>
                    </a:solidFill>
                  </a:tcPr>
                </a:tc>
                <a:tc>
                  <a:txBody>
                    <a:bodyPr/>
                    <a:lstStyle/>
                    <a:p>
                      <a:r>
                        <a:rPr sz="1100" b="0" i="0">
                          <a:solidFill>
                            <a:srgbClr val="1A1440"/>
                          </a:solidFill>
                          <a:latin typeface="Calibri"/>
                        </a:rPr>
                        <a:t>PARTITION BY: one query, the orders read once</a:t>
                      </a:r>
                    </a:p>
                  </a:txBody>
                  <a:tcPr marL="101600" marR="101600" marT="38100" marB="38100" anchor="ctr">
                    <a:solidFill>
                      <a:srgbClr val="FFFFFF"/>
                    </a:solidFill>
                  </a:tcPr>
                </a:tc>
              </a:tr>
              <a:tr h="318008">
                <a:tc>
                  <a:txBody>
                    <a:bodyPr/>
                    <a:lstStyle/>
                    <a:p>
                      <a:r>
                        <a:rPr sz="1100" b="0" i="0">
                          <a:solidFill>
                            <a:srgbClr val="1A1440"/>
                          </a:solidFill>
                          <a:latin typeface="Calibri"/>
                        </a:rPr>
                        <a:t>2. Can GROUP BY do it?</a:t>
                      </a:r>
                    </a:p>
                  </a:txBody>
                  <a:tcPr marL="101600" marR="101600" marT="38100" marB="38100" anchor="ctr">
                    <a:solidFill>
                      <a:srgbClr val="F4F2FA"/>
                    </a:solidFill>
                  </a:tcPr>
                </a:tc>
                <a:tc>
                  <a:txBody>
                    <a:bodyPr/>
                    <a:lstStyle/>
                    <a:p>
                      <a:r>
                        <a:rPr sz="1100" b="0" i="0">
                          <a:solidFill>
                            <a:srgbClr val="1A1440"/>
                          </a:solidFill>
                          <a:latin typeface="Calibri"/>
                        </a:rPr>
                        <a:t>No: 4 rows, or chapter 1's list again</a:t>
                      </a:r>
                    </a:p>
                  </a:txBody>
                  <a:tcPr marL="101600" marR="101600" marT="38100" marB="38100" anchor="ctr">
                    <a:solidFill>
                      <a:srgbClr val="F4F2FA"/>
                    </a:solidFill>
                  </a:tcPr>
                </a:tc>
              </a:tr>
              <a:tr h="318008">
                <a:tc>
                  <a:txBody>
                    <a:bodyPr/>
                    <a:lstStyle/>
                    <a:p>
                      <a:r>
                        <a:rPr sz="1100" b="0" i="0">
                          <a:solidFill>
                            <a:srgbClr val="1A1440"/>
                          </a:solidFill>
                          <a:latin typeface="Calibri"/>
                        </a:rPr>
                        <a:t>3. What does one numbering give?</a:t>
                      </a:r>
                    </a:p>
                  </a:txBody>
                  <a:tcPr marL="101600" marR="101600" marT="38100" marB="38100" anchor="ctr">
                    <a:solidFill>
                      <a:srgbClr val="FFFFFF"/>
                    </a:solidFill>
                  </a:tcPr>
                </a:tc>
                <a:tc>
                  <a:txBody>
                    <a:bodyPr/>
                    <a:lstStyle/>
                    <a:p>
                      <a:r>
                        <a:rPr sz="1100" b="0" i="0">
                          <a:solidFill>
                            <a:srgbClr val="1A1440"/>
                          </a:solidFill>
                          <a:latin typeface="Calibri"/>
                        </a:rPr>
                        <a:t>Retail-Plus 11, Student none: short</a:t>
                      </a:r>
                    </a:p>
                  </a:txBody>
                  <a:tcPr marL="101600" marR="101600" marT="38100" marB="38100" anchor="ctr">
                    <a:solidFill>
                      <a:srgbClr val="FFFFFF"/>
                    </a:solidFill>
                  </a:tcPr>
                </a:tc>
              </a:tr>
              <a:tr h="318008">
                <a:tc>
                  <a:txBody>
                    <a:bodyPr/>
                    <a:lstStyle/>
                    <a:p>
                      <a:r>
                        <a:rPr sz="1100" b="0" i="0">
                          <a:solidFill>
                            <a:srgbClr val="1A1440"/>
                          </a:solidFill>
                          <a:latin typeface="Calibri"/>
                        </a:rPr>
                        <a:t>4. What does PARTITION BY restart?</a:t>
                      </a:r>
                    </a:p>
                  </a:txBody>
                  <a:tcPr marL="101600" marR="101600" marT="38100" marB="38100" anchor="ctr">
                    <a:solidFill>
                      <a:srgbClr val="F4F2FA"/>
                    </a:solidFill>
                  </a:tcPr>
                </a:tc>
                <a:tc>
                  <a:txBody>
                    <a:bodyPr/>
                    <a:lstStyle/>
                    <a:p>
                      <a:r>
                        <a:rPr sz="1100" b="0" i="0">
                          <a:solidFill>
                            <a:srgbClr val="1A1440"/>
                          </a:solidFill>
                          <a:latin typeface="Calibri"/>
                        </a:rPr>
                        <a:t>The places: 155 members, 35, 50, 50, 20</a:t>
                      </a:r>
                    </a:p>
                  </a:txBody>
                  <a:tcPr marL="101600" marR="101600" marT="38100" marB="38100" anchor="ctr">
                    <a:solidFill>
                      <a:srgbClr val="F4F2FA"/>
                    </a:solidFill>
                  </a:tcPr>
                </a:tc>
              </a:tr>
              <a:tr h="318008">
                <a:tc>
                  <a:txBody>
                    <a:bodyPr/>
                    <a:lstStyle/>
                    <a:p>
                      <a:r>
                        <a:rPr sz="1100" b="0" i="0">
                          <a:solidFill>
                            <a:srgbClr val="1A1440"/>
                          </a:solidFill>
                          <a:latin typeface="Calibri"/>
                        </a:rPr>
                        <a:t>5. Do four queries agree?</a:t>
                      </a:r>
                    </a:p>
                  </a:txBody>
                  <a:tcPr marL="101600" marR="101600" marT="38100" marB="38100" anchor="ctr">
                    <a:solidFill>
                      <a:srgbClr val="FFFFFF"/>
                    </a:solidFill>
                  </a:tcPr>
                </a:tc>
                <a:tc>
                  <a:txBody>
                    <a:bodyPr/>
                    <a:lstStyle/>
                    <a:p>
                      <a:r>
                        <a:rPr sz="1100" b="0" i="0">
                          <a:solidFill>
                            <a:srgbClr val="1A1440"/>
                          </a:solidFill>
                          <a:latin typeface="Calibri"/>
                        </a:rPr>
                        <a:t>Yes, member for member</a:t>
                      </a:r>
                    </a:p>
                  </a:txBody>
                  <a:tcPr marL="101600" marR="101600" marT="38100" marB="38100" anchor="ctr">
                    <a:solidFill>
                      <a:srgbClr val="FFFFFF"/>
                    </a:solidFill>
                  </a:tcPr>
                </a:tc>
              </a:tr>
            </a:tbl>
          </a:graphicData>
        </a:graphic>
      </p:graphicFrame>
      <p:sp>
        <p:nvSpPr>
          <p:cNvPr id="10" name="Rounded Rectangle 9"/>
          <p:cNvSpPr/>
          <p:nvPr/>
        </p:nvSpPr>
        <p:spPr>
          <a:xfrm>
            <a:off x="530352" y="403758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00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10456"/>
            <a:ext cx="237744" cy="237744"/>
          </a:xfrm>
          <a:prstGeom prst="rect">
            <a:avLst/>
          </a:prstGeom>
        </p:spPr>
      </p:pic>
      <p:sp>
        <p:nvSpPr>
          <p:cNvPr id="13" name="TextBox 12"/>
          <p:cNvSpPr txBox="1"/>
          <p:nvPr/>
        </p:nvSpPr>
        <p:spPr>
          <a:xfrm>
            <a:off x="1399031" y="4183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03344"/>
            <a:ext cx="9987991" cy="544576"/>
          </a:xfrm>
          <a:prstGeom prst="rect">
            <a:avLst/>
          </a:prstGeom>
          <a:noFill/>
        </p:spPr>
        <p:txBody>
          <a:bodyPr wrap="square" anchor="t" lIns="0" rIns="0" tIns="0" bIns="0">
            <a:spAutoFit/>
          </a:bodyPr>
          <a:lstStyle/>
          <a:p>
            <a:r>
              <a:rPr sz="1100" b="0" i="0">
                <a:solidFill>
                  <a:srgbClr val="1A1440"/>
                </a:solidFill>
                <a:latin typeface="Calibri"/>
              </a:rPr>
              <a:t>"Read the ask's last words again before you rank. 'In each segment' is a PARTITION BY, and each segment's list holds fifty members or every buyer, whichever is fewer: count it before it leaves the team."</a:t>
            </a:r>
          </a:p>
        </p:txBody>
      </p:sp>
      <p:sp>
        <p:nvSpPr>
          <p:cNvPr id="15" name="Rounded Rectangle 14"/>
          <p:cNvSpPr/>
          <p:nvPr/>
        </p:nvSpPr>
        <p:spPr>
          <a:xfrm>
            <a:off x="530352" y="518566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3319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51424"/>
            <a:ext cx="9987991" cy="384048"/>
          </a:xfrm>
          <a:prstGeom prst="rect">
            <a:avLst/>
          </a:prstGeom>
          <a:noFill/>
        </p:spPr>
        <p:txBody>
          <a:bodyPr wrap="square" anchor="t" lIns="0" rIns="0" tIns="0" bIns="0">
            <a:spAutoFit/>
          </a:bodyPr>
          <a:lstStyle/>
          <a:p>
            <a:r>
              <a:rPr sz="1100" b="0" i="0">
                <a:solidFill>
                  <a:srgbClr val="1A1440"/>
                </a:solidFill>
                <a:latin typeface="Calibri"/>
              </a:rPr>
              <a:t>[S] Top three per group: GROUP BY or a window, and why? [F] Why can a window function not sit inside WHERE, and what do you do instead?</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makes it at a tie?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two members tie at fiftieth place, how many does a list ship, and which rule did the head of Retail-Plus ask for?</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38 / 82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the head's rule: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tie rule,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will defend the list to the tier's members and to Marketing. The line is the last place a list keeps, fiftieth on a top fifty. A member left off at the line by a coin toss has a fair complaint; a list labelled fifty that carries fifty-two has spent two calls nobody planned; a list that drops both members of a tie is the forty-nine the head refused.</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rule, at what cost?</a:t>
            </a:r>
          </a:p>
        </p:txBody>
      </p:sp>
      <p:sp>
        <p:nvSpPr>
          <p:cNvPr id="17" name="TextBox 16"/>
          <p:cNvSpPr txBox="1"/>
          <p:nvPr/>
        </p:nvSpPr>
        <p:spPr>
          <a:xfrm>
            <a:off x="69494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rules at the line</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A tie at the line?</a:t>
            </a:r>
          </a:p>
        </p:txBody>
      </p:sp>
      <p:sp>
        <p:nvSpPr>
          <p:cNvPr id="22" name="TextBox 21"/>
          <p:cNvSpPr txBox="1"/>
          <p:nvPr/>
        </p:nvSpPr>
        <p:spPr>
          <a:xfrm>
            <a:off x="258058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An invented top four</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One tie, three functions?</a:t>
            </a:r>
          </a:p>
        </p:txBody>
      </p:sp>
      <p:sp>
        <p:nvSpPr>
          <p:cNvPr id="27" name="TextBox 26"/>
          <p:cNvSpPr txBox="1"/>
          <p:nvPr/>
        </p:nvSpPr>
        <p:spPr>
          <a:xfrm>
            <a:off x="4466234"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Six invented members</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Retail-Core's counts?</a:t>
            </a:r>
          </a:p>
        </p:txBody>
      </p:sp>
      <p:sp>
        <p:nvSpPr>
          <p:cNvPr id="32" name="TextBox 31"/>
          <p:cNvSpPr txBox="1"/>
          <p:nvPr/>
        </p:nvSpPr>
        <p:spPr>
          <a:xfrm>
            <a:off x="635187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counts on Kalpa</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Retail-Plus's count?</a:t>
            </a:r>
          </a:p>
        </p:txBody>
      </p:sp>
      <p:sp>
        <p:nvSpPr>
          <p:cNvPr id="37" name="TextBox 36"/>
          <p:cNvSpPr txBox="1"/>
          <p:nvPr/>
        </p:nvSpPr>
        <p:spPr>
          <a:xfrm>
            <a:off x="8237524"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Your own run</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plain count agree?</a:t>
            </a:r>
          </a:p>
        </p:txBody>
      </p:sp>
      <p:sp>
        <p:nvSpPr>
          <p:cNvPr id="42" name="TextBox 41"/>
          <p:cNvSpPr txBox="1"/>
          <p:nvPr/>
        </p:nvSpPr>
        <p:spPr>
          <a:xfrm>
            <a:off x="10123170" y="49982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82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wants ties ranked the same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a tie rule, and what does the wrong rule cost them?</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Owns the paid membership tier and answers to its members for the list.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count on each list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How many members each rule ships at fifty, beside Q2 revenue per member.</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WRONG RULE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member dropped, or two extra</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coin toss at the line, or a list that says fifty and carries more.</a:t>
            </a:r>
          </a:p>
        </p:txBody>
      </p:sp>
      <p:sp>
        <p:nvSpPr>
          <p:cNvPr id="27" name="Rounded Rectangle 26"/>
          <p:cNvSpPr/>
          <p:nvPr/>
        </p:nvSpPr>
        <p:spPr>
          <a:xfrm>
            <a:off x="530352" y="410413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FFFFFF"/>
                </a:solidFill>
                <a:latin typeface="Calibri"/>
              </a:rPr>
              <a:t>"Ties matter. If two members spent the same, I want them ranked the same, and I want to know how many made the top fifty, not forty-nine because of a tie."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82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American Airlines writes its tiebreaker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decide who goes first when two customers are equal?</a:t>
            </a:r>
          </a:p>
        </p:txBody>
      </p:sp>
      <p:pic>
        <p:nvPicPr>
          <p:cNvPr id="9" name="mermaid diagram" descr="c45e1a19dc7f9140.png"/>
          <p:cNvPicPr>
            <a:picLocks noChangeAspect="1"/>
          </p:cNvPicPr>
          <p:nvPr/>
        </p:nvPicPr>
        <p:blipFill>
          <a:blip r:embed="rId6"/>
          <a:stretch>
            <a:fillRect/>
          </a:stretch>
        </p:blipFill>
        <p:spPr>
          <a:xfrm>
            <a:off x="866622" y="1956816"/>
            <a:ext cx="10458450" cy="2300287"/>
          </a:xfrm>
          <a:prstGeom prst="rect">
            <a:avLst/>
          </a:prstGeom>
        </p:spPr>
      </p:pic>
      <p:sp>
        <p:nvSpPr>
          <p:cNvPr id="10" name="Rounded Rectangle 9"/>
          <p:cNvSpPr/>
          <p:nvPr/>
        </p:nvSpPr>
        <p:spPr>
          <a:xfrm>
            <a:off x="530352" y="440340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7356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845367"/>
            <a:ext cx="237744" cy="237744"/>
          </a:xfrm>
          <a:prstGeom prst="rect">
            <a:avLst/>
          </a:prstGeom>
        </p:spPr>
      </p:pic>
      <p:sp>
        <p:nvSpPr>
          <p:cNvPr id="13" name="TextBox 12"/>
          <p:cNvSpPr txBox="1"/>
          <p:nvPr/>
        </p:nvSpPr>
        <p:spPr>
          <a:xfrm>
            <a:off x="1399031" y="454971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769167"/>
            <a:ext cx="9987991" cy="682752"/>
          </a:xfrm>
          <a:prstGeom prst="rect">
            <a:avLst/>
          </a:prstGeom>
          <a:noFill/>
        </p:spPr>
        <p:txBody>
          <a:bodyPr wrap="square" anchor="t" lIns="0" rIns="0" tIns="0" bIns="0">
            <a:spAutoFit/>
          </a:bodyPr>
          <a:lstStyle/>
          <a:p>
            <a:r>
              <a:rPr sz="1500" b="0" i="0">
                <a:solidFill>
                  <a:srgbClr val="1A1440"/>
                </a:solidFill>
                <a:latin typeface="Calibri"/>
              </a:rPr>
              <a:t>A hard cap needs a tiebreaker written down before anyone is equal; a shared place needs the places after it to skip.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82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 ties share a place and the count is said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could cut a list at fifty, and what does each do at a tie?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38802"/>
                <a:gridCol w="3950469"/>
                <a:gridCol w="3641719"/>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At a tie on the line</a:t>
                      </a:r>
                    </a:p>
                  </a:txBody>
                  <a:tcPr marL="101600" marR="101600" marT="38100" marB="38100" anchor="ctr">
                    <a:solidFill>
                      <a:srgbClr val="1A0F5C"/>
                    </a:solidFill>
                  </a:tcPr>
                </a:tc>
                <a:tc>
                  <a:txBody>
                    <a:bodyPr/>
                    <a:lstStyle/>
                    <a:p>
                      <a:r>
                        <a:rPr sz="1450" b="1" i="0">
                          <a:solidFill>
                            <a:srgbClr val="FFFFFF"/>
                          </a:solidFill>
                          <a:latin typeface="Calibri"/>
                        </a:rPr>
                        <a:t>Meets the head's ask?</a:t>
                      </a:r>
                    </a:p>
                  </a:txBody>
                  <a:tcPr marL="101600" marR="101600" marT="38100" marB="38100" anchor="ctr">
                    <a:solidFill>
                      <a:srgbClr val="1A0F5C"/>
                    </a:solidFill>
                  </a:tcPr>
                </a:tc>
              </a:tr>
              <a:tr h="369824">
                <a:tc>
                  <a:txBody>
                    <a:bodyPr/>
                    <a:lstStyle/>
                    <a:p>
                      <a:r>
                        <a:rPr sz="1400" b="0" i="0">
                          <a:solidFill>
                            <a:srgbClr val="1A1440"/>
                          </a:solidFill>
                          <a:latin typeface="Calibri"/>
                        </a:rPr>
                        <a:t>A. ROW_NUMBER, stated tiebreaker</a:t>
                      </a:r>
                    </a:p>
                  </a:txBody>
                  <a:tcPr marL="101600" marR="101600" marT="38100" marB="38100" anchor="ctr">
                    <a:solidFill>
                      <a:srgbClr val="FFFFFF"/>
                    </a:solidFill>
                  </a:tcPr>
                </a:tc>
                <a:tc>
                  <a:txBody>
                    <a:bodyPr/>
                    <a:lstStyle/>
                    <a:p>
                      <a:r>
                        <a:rPr sz="1400" b="0" i="0">
                          <a:solidFill>
                            <a:srgbClr val="1A1440"/>
                          </a:solidFill>
                          <a:latin typeface="Calibri"/>
                        </a:rPr>
                        <a:t>one in, one out</a:t>
                      </a:r>
                    </a:p>
                  </a:txBody>
                  <a:tcPr marL="101600" marR="101600" marT="38100" marB="38100" anchor="ctr">
                    <a:solidFill>
                      <a:srgbClr val="FFFFFF"/>
                    </a:solidFill>
                  </a:tcPr>
                </a:tc>
                <a:tc>
                  <a:txBody>
                    <a:bodyPr/>
                    <a:lstStyle/>
                    <a:p>
                      <a:r>
                        <a:rPr sz="1400" b="0" i="0">
                          <a:solidFill>
                            <a:srgbClr val="1A1440"/>
                          </a:solidFill>
                          <a:latin typeface="Calibri"/>
                        </a:rPr>
                        <a:t>No: equal spend, different places</a:t>
                      </a:r>
                    </a:p>
                  </a:txBody>
                  <a:tcPr marL="101600" marR="101600" marT="38100" marB="38100" anchor="ctr">
                    <a:solidFill>
                      <a:srgbClr val="FFFFFF"/>
                    </a:solidFill>
                  </a:tcPr>
                </a:tc>
              </a:tr>
              <a:tr h="369824">
                <a:tc>
                  <a:txBody>
                    <a:bodyPr/>
                    <a:lstStyle/>
                    <a:p>
                      <a:r>
                        <a:rPr sz="1400" b="0" i="0">
                          <a:solidFill>
                            <a:srgbClr val="1A1440"/>
                          </a:solidFill>
                          <a:latin typeface="Calibri"/>
                        </a:rPr>
                        <a:t>B. RANK</a:t>
                      </a:r>
                    </a:p>
                  </a:txBody>
                  <a:tcPr marL="101600" marR="101600" marT="38100" marB="38100" anchor="ctr">
                    <a:solidFill>
                      <a:srgbClr val="F4F2FA"/>
                    </a:solidFill>
                  </a:tcPr>
                </a:tc>
                <a:tc>
                  <a:txBody>
                    <a:bodyPr/>
                    <a:lstStyle/>
                    <a:p>
                      <a:r>
                        <a:rPr sz="1400" b="0" i="0">
                          <a:solidFill>
                            <a:srgbClr val="1A1440"/>
                          </a:solidFill>
                          <a:latin typeface="Calibri"/>
                        </a:rPr>
                        <a:t>both in; next place skipped, 1, 1, 3</a:t>
                      </a:r>
                    </a:p>
                  </a:txBody>
                  <a:tcPr marL="101600" marR="101600" marT="38100" marB="38100" anchor="ctr">
                    <a:solidFill>
                      <a:srgbClr val="F4F2FA"/>
                    </a:solidFill>
                  </a:tcPr>
                </a:tc>
                <a:tc>
                  <a:txBody>
                    <a:bodyPr/>
                    <a:lstStyle/>
                    <a:p>
                      <a:r>
                        <a:rPr sz="1400" b="0" i="0">
                          <a:solidFill>
                            <a:srgbClr val="1A1440"/>
                          </a:solidFill>
                          <a:latin typeface="Calibri"/>
                        </a:rPr>
                        <a:t>Yes, with the count said</a:t>
                      </a:r>
                    </a:p>
                  </a:txBody>
                  <a:tcPr marL="101600" marR="101600" marT="38100" marB="38100" anchor="ctr">
                    <a:solidFill>
                      <a:srgbClr val="F4F2FA"/>
                    </a:solidFill>
                  </a:tcPr>
                </a:tc>
              </a:tr>
              <a:tr h="369824">
                <a:tc>
                  <a:txBody>
                    <a:bodyPr/>
                    <a:lstStyle/>
                    <a:p>
                      <a:r>
                        <a:rPr sz="1400" b="0" i="0">
                          <a:solidFill>
                            <a:srgbClr val="1A1440"/>
                          </a:solidFill>
                          <a:latin typeface="Calibri"/>
                        </a:rPr>
                        <a:t>C. DENSE_RANK</a:t>
                      </a:r>
                    </a:p>
                  </a:txBody>
                  <a:tcPr marL="101600" marR="101600" marT="38100" marB="38100" anchor="ctr">
                    <a:solidFill>
                      <a:srgbClr val="FFFFFF"/>
                    </a:solidFill>
                  </a:tcPr>
                </a:tc>
                <a:tc>
                  <a:txBody>
                    <a:bodyPr/>
                    <a:lstStyle/>
                    <a:p>
                      <a:r>
                        <a:rPr sz="1400" b="0" i="0">
                          <a:solidFill>
                            <a:srgbClr val="1A1440"/>
                          </a:solidFill>
                          <a:latin typeface="Calibri"/>
                        </a:rPr>
                        <a:t>both in; nothing skipped, 1, 1, 2</a:t>
                      </a:r>
                    </a:p>
                  </a:txBody>
                  <a:tcPr marL="101600" marR="101600" marT="38100" marB="38100" anchor="ctr">
                    <a:solidFill>
                      <a:srgbClr val="FFFFFF"/>
                    </a:solidFill>
                  </a:tcPr>
                </a:tc>
                <a:tc>
                  <a:txBody>
                    <a:bodyPr/>
                    <a:lstStyle/>
                    <a:p>
                      <a:r>
                        <a:rPr sz="1400" b="0" i="0">
                          <a:solidFill>
                            <a:srgbClr val="1A1440"/>
                          </a:solidFill>
                          <a:latin typeface="Calibri"/>
                        </a:rPr>
                        <a:t>Can run past fifty even untied</a:t>
                      </a:r>
                    </a:p>
                  </a:txBody>
                  <a:tcPr marL="101600" marR="101600" marT="38100" marB="38100" anchor="ctr">
                    <a:solidFill>
                      <a:srgbClr val="FFFFFF"/>
                    </a:solidFill>
                  </a:tcPr>
                </a:tc>
              </a:tr>
              <a:tr h="369824">
                <a:tc>
                  <a:txBody>
                    <a:bodyPr/>
                    <a:lstStyle/>
                    <a:p>
                      <a:r>
                        <a:rPr sz="1400" b="0" i="0">
                          <a:solidFill>
                            <a:srgbClr val="1A1440"/>
                          </a:solidFill>
                          <a:latin typeface="Calibri"/>
                        </a:rPr>
                        <a:t>D. Whole ties only</a:t>
                      </a:r>
                    </a:p>
                  </a:txBody>
                  <a:tcPr marL="101600" marR="101600" marT="38100" marB="38100" anchor="ctr">
                    <a:solidFill>
                      <a:srgbClr val="F4F2FA"/>
                    </a:solidFill>
                  </a:tcPr>
                </a:tc>
                <a:tc>
                  <a:txBody>
                    <a:bodyPr/>
                    <a:lstStyle/>
                    <a:p>
                      <a:r>
                        <a:rPr sz="1400" b="0" i="0">
                          <a:solidFill>
                            <a:srgbClr val="1A1440"/>
                          </a:solidFill>
                          <a:latin typeface="Calibri"/>
                        </a:rPr>
                        <a:t>both out unless all fit</a:t>
                      </a:r>
                    </a:p>
                  </a:txBody>
                  <a:tcPr marL="101600" marR="101600" marT="38100" marB="38100" anchor="ctr">
                    <a:solidFill>
                      <a:srgbClr val="F4F2FA"/>
                    </a:solidFill>
                  </a:tcPr>
                </a:tc>
                <a:tc>
                  <a:txBody>
                    <a:bodyPr/>
                    <a:lstStyle/>
                    <a:p>
                      <a:r>
                        <a:rPr sz="1400" b="0" i="0">
                          <a:solidFill>
                            <a:srgbClr val="1A1440"/>
                          </a:solidFill>
                          <a:latin typeface="Calibri"/>
                        </a:rPr>
                        <a:t>Runs short: the forty-nine</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RANK, with the count and its reason in the report. What would switch it: a hard cap, such as fifty seats at a members' dinner, where ROW_NUMBER with a tiebreaker stated in advance is 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at a tie on the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rows does each rule ship when two members tie at the line?</a:t>
            </a:r>
          </a:p>
        </p:txBody>
      </p:sp>
      <p:pic>
        <p:nvPicPr>
          <p:cNvPr id="9" name="mermaid diagram" descr="50b56cc55130dd2d.png"/>
          <p:cNvPicPr>
            <a:picLocks noChangeAspect="1"/>
          </p:cNvPicPr>
          <p:nvPr/>
        </p:nvPicPr>
        <p:blipFill>
          <a:blip r:embed="rId5"/>
          <a:stretch>
            <a:fillRect/>
          </a:stretch>
        </p:blipFill>
        <p:spPr>
          <a:xfrm>
            <a:off x="1731016" y="1956816"/>
            <a:ext cx="8729662" cy="614362"/>
          </a:xfrm>
          <a:prstGeom prst="rect">
            <a:avLst/>
          </a:prstGeom>
        </p:spPr>
      </p:pic>
      <p:sp>
        <p:nvSpPr>
          <p:cNvPr id="10" name="Rounded Rectangle 9"/>
          <p:cNvSpPr/>
          <p:nvPr/>
        </p:nvSpPr>
        <p:spPr>
          <a:xfrm>
            <a:off x="530352" y="27174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8454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8363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 wants a top four from these invented members, and D and E tie at fourth, on the line of a top four. How many rows does RANK ship, as a letter? a) 4; b) 5; c) 3; d) 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ships 5; the rules ship 4, 5, 5,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rows does each rule ship when two members tie at the line?</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one of D and E left off</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fourth shared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here</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left off</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At a tie on the line the four rules ship four counts, 4, 5, 5 and 3, so the report states its count; with no tie anywhere on the list, all four ship the list's size.</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RANK give six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ROW_NUMBER, RANK and DENSE_RANK give on one tie?</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A</a:t>
                      </a:r>
                    </a:p>
                  </a:txBody>
                  <a:tcPr marL="101600" marR="101600" marT="38100" marB="38100" anchor="ctr">
                    <a:solidFill>
                      <a:srgbClr val="1A0F5C"/>
                    </a:solidFill>
                  </a:tcPr>
                </a:tc>
                <a:tc>
                  <a:txBody>
                    <a:bodyPr/>
                    <a:lstStyle/>
                    <a:p>
                      <a:r>
                        <a:rPr sz="1250" b="1" i="0">
                          <a:solidFill>
                            <a:srgbClr val="FFFFFF"/>
                          </a:solidFill>
                          <a:latin typeface="Calibri"/>
                        </a:rPr>
                        <a:t>B</a:t>
                      </a:r>
                    </a:p>
                  </a:txBody>
                  <a:tcPr marL="101600" marR="101600" marT="38100" marB="38100" anchor="ctr">
                    <a:solidFill>
                      <a:srgbClr val="1A0F5C"/>
                    </a:solidFill>
                  </a:tcPr>
                </a:tc>
                <a:tc>
                  <a:txBody>
                    <a:bodyPr/>
                    <a:lstStyle/>
                    <a:p>
                      <a:r>
                        <a:rPr sz="1250" b="1" i="0">
                          <a:solidFill>
                            <a:srgbClr val="FFFFFF"/>
                          </a:solidFill>
                          <a:latin typeface="Calibri"/>
                        </a:rPr>
                        <a:t>C</a:t>
                      </a:r>
                    </a:p>
                  </a:txBody>
                  <a:tcPr marL="101600" marR="101600" marT="38100" marB="38100" anchor="ctr">
                    <a:solidFill>
                      <a:srgbClr val="1A0F5C"/>
                    </a:solidFill>
                  </a:tcPr>
                </a:tc>
                <a:tc>
                  <a:txBody>
                    <a:bodyPr/>
                    <a:lstStyle/>
                    <a:p>
                      <a:r>
                        <a:rPr sz="1250" b="1" i="0">
                          <a:solidFill>
                            <a:srgbClr val="FFFFFF"/>
                          </a:solidFill>
                          <a:latin typeface="Calibri"/>
                        </a:rPr>
                        <a:t>D</a:t>
                      </a:r>
                    </a:p>
                  </a:txBody>
                  <a:tcPr marL="101600" marR="101600" marT="38100" marB="38100" anchor="ctr">
                    <a:solidFill>
                      <a:srgbClr val="1A0F5C"/>
                    </a:solidFill>
                  </a:tcPr>
                </a:tc>
                <a:tc>
                  <a:txBody>
                    <a:bodyPr/>
                    <a:lstStyle/>
                    <a:p>
                      <a:r>
                        <a:rPr sz="1250" b="1" i="0">
                          <a:solidFill>
                            <a:srgbClr val="FFFFFF"/>
                          </a:solidFill>
                          <a:latin typeface="Calibri"/>
                        </a:rPr>
                        <a:t>E</a:t>
                      </a:r>
                    </a:p>
                  </a:txBody>
                  <a:tcPr marL="101600" marR="101600" marT="38100" marB="38100" anchor="ctr">
                    <a:solidFill>
                      <a:srgbClr val="1A0F5C"/>
                    </a:solidFill>
                  </a:tcPr>
                </a:tc>
                <a:tc>
                  <a:txBody>
                    <a:bodyPr/>
                    <a:lstStyle/>
                    <a:p>
                      <a:r>
                        <a:rPr sz="1250" b="1" i="0">
                          <a:solidFill>
                            <a:srgbClr val="FFFFFF"/>
                          </a:solidFill>
                          <a:latin typeface="Calibri"/>
                        </a:rPr>
                        <a:t>F</a:t>
                      </a:r>
                    </a:p>
                  </a:txBody>
                  <a:tcPr marL="101600" marR="101600" marT="38100" marB="38100" anchor="ctr">
                    <a:solidFill>
                      <a:srgbClr val="1A0F5C"/>
                    </a:solidFill>
                  </a:tcPr>
                </a:tc>
              </a:tr>
              <a:tr h="335280">
                <a:tc>
                  <a:txBody>
                    <a:bodyPr/>
                    <a:lstStyle/>
                    <a:p>
                      <a:r>
                        <a:rPr sz="1200" b="0" i="0">
                          <a:solidFill>
                            <a:srgbClr val="1A1440"/>
                          </a:solidFill>
                          <a:latin typeface="Calibri"/>
                        </a:rPr>
                        <a:t>Spend, Rs (invented)</a:t>
                      </a:r>
                    </a:p>
                  </a:txBody>
                  <a:tcPr marL="101600" marR="101600" marT="38100" marB="38100" anchor="ctr">
                    <a:solidFill>
                      <a:srgbClr val="FFFFFF"/>
                    </a:solidFill>
                  </a:tcPr>
                </a:tc>
                <a:tc>
                  <a:txBody>
                    <a:bodyPr/>
                    <a:lstStyle/>
                    <a:p>
                      <a:r>
                        <a:rPr sz="1200" b="0" i="0">
                          <a:solidFill>
                            <a:srgbClr val="1A1440"/>
                          </a:solidFill>
                          <a:latin typeface="Calibri"/>
                        </a:rPr>
                        <a:t>7,500</a:t>
                      </a:r>
                    </a:p>
                  </a:txBody>
                  <a:tcPr marL="101600" marR="101600" marT="38100" marB="38100" anchor="ctr">
                    <a:solidFill>
                      <a:srgbClr val="FFFFFF"/>
                    </a:solidFill>
                  </a:tcPr>
                </a:tc>
                <a:tc>
                  <a:txBody>
                    <a:bodyPr/>
                    <a:lstStyle/>
                    <a:p>
                      <a:r>
                        <a:rPr sz="1200" b="0" i="0">
                          <a:solidFill>
                            <a:srgbClr val="1A1440"/>
                          </a:solidFill>
                          <a:latin typeface="Calibri"/>
                        </a:rPr>
                        <a:t>7,500</a:t>
                      </a:r>
                    </a:p>
                  </a:txBody>
                  <a:tcPr marL="101600" marR="101600" marT="38100" marB="38100" anchor="ctr">
                    <a:solidFill>
                      <a:srgbClr val="FFFFFF"/>
                    </a:solidFill>
                  </a:tcPr>
                </a:tc>
                <a:tc>
                  <a:txBody>
                    <a:bodyPr/>
                    <a:lstStyle/>
                    <a:p>
                      <a:r>
                        <a:rPr sz="1200" b="0" i="0">
                          <a:solidFill>
                            <a:srgbClr val="1A1440"/>
                          </a:solidFill>
                          <a:latin typeface="Calibri"/>
                        </a:rPr>
                        <a:t>6,000</a:t>
                      </a:r>
                    </a:p>
                  </a:txBody>
                  <a:tcPr marL="101600" marR="101600" marT="38100" marB="38100" anchor="ctr">
                    <a:solidFill>
                      <a:srgbClr val="FFFFFF"/>
                    </a:solidFill>
                  </a:tcPr>
                </a:tc>
                <a:tc>
                  <a:txBody>
                    <a:bodyPr/>
                    <a:lstStyle/>
                    <a:p>
                      <a:r>
                        <a:rPr sz="1200" b="0" i="0">
                          <a:solidFill>
                            <a:srgbClr val="1A1440"/>
                          </a:solidFill>
                          <a:latin typeface="Calibri"/>
                        </a:rPr>
                        <a:t>5,200</a:t>
                      </a:r>
                    </a:p>
                  </a:txBody>
                  <a:tcPr marL="101600" marR="101600" marT="38100" marB="38100" anchor="ctr">
                    <a:solidFill>
                      <a:srgbClr val="FFFFFF"/>
                    </a:solidFill>
                  </a:tcPr>
                </a:tc>
                <a:tc>
                  <a:txBody>
                    <a:bodyPr/>
                    <a:lstStyle/>
                    <a:p>
                      <a:r>
                        <a:rPr sz="1200" b="0" i="0">
                          <a:solidFill>
                            <a:srgbClr val="1A1440"/>
                          </a:solidFill>
                          <a:latin typeface="Calibri"/>
                        </a:rPr>
                        <a:t>5,200</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RANK give the six, in order, as a letter? a) 1, 2, 3, 4, 5, 6; b) 1, 1, 3, 4, 4, 6; c) 1, 1, 2, 3, 3, 4; d) 1, 1, 1, 2, 2, 3.</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 1, 3, 4, 4, 6 skips a place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ROW_NUMBER, RANK and DENSE_RANK give on one tie?</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Function</a:t>
                      </a:r>
                    </a:p>
                  </a:txBody>
                  <a:tcPr marL="101600" marR="101600" marT="38100" marB="38100" anchor="ctr">
                    <a:solidFill>
                      <a:srgbClr val="1A0F5C"/>
                    </a:solidFill>
                  </a:tcPr>
                </a:tc>
                <a:tc>
                  <a:txBody>
                    <a:bodyPr/>
                    <a:lstStyle/>
                    <a:p>
                      <a:r>
                        <a:rPr sz="1250" b="1" i="0">
                          <a:solidFill>
                            <a:srgbClr val="FFFFFF"/>
                          </a:solidFill>
                          <a:latin typeface="Calibri"/>
                        </a:rPr>
                        <a:t>A</a:t>
                      </a:r>
                    </a:p>
                  </a:txBody>
                  <a:tcPr marL="101600" marR="101600" marT="38100" marB="38100" anchor="ctr">
                    <a:solidFill>
                      <a:srgbClr val="1A0F5C"/>
                    </a:solidFill>
                  </a:tcPr>
                </a:tc>
                <a:tc>
                  <a:txBody>
                    <a:bodyPr/>
                    <a:lstStyle/>
                    <a:p>
                      <a:r>
                        <a:rPr sz="1250" b="1" i="0">
                          <a:solidFill>
                            <a:srgbClr val="FFFFFF"/>
                          </a:solidFill>
                          <a:latin typeface="Calibri"/>
                        </a:rPr>
                        <a:t>B</a:t>
                      </a:r>
                    </a:p>
                  </a:txBody>
                  <a:tcPr marL="101600" marR="101600" marT="38100" marB="38100" anchor="ctr">
                    <a:solidFill>
                      <a:srgbClr val="1A0F5C"/>
                    </a:solidFill>
                  </a:tcPr>
                </a:tc>
                <a:tc>
                  <a:txBody>
                    <a:bodyPr/>
                    <a:lstStyle/>
                    <a:p>
                      <a:r>
                        <a:rPr sz="1250" b="1" i="0">
                          <a:solidFill>
                            <a:srgbClr val="FFFFFF"/>
                          </a:solidFill>
                          <a:latin typeface="Calibri"/>
                        </a:rPr>
                        <a:t>C</a:t>
                      </a:r>
                    </a:p>
                  </a:txBody>
                  <a:tcPr marL="101600" marR="101600" marT="38100" marB="38100" anchor="ctr">
                    <a:solidFill>
                      <a:srgbClr val="1A0F5C"/>
                    </a:solidFill>
                  </a:tcPr>
                </a:tc>
                <a:tc>
                  <a:txBody>
                    <a:bodyPr/>
                    <a:lstStyle/>
                    <a:p>
                      <a:r>
                        <a:rPr sz="1250" b="1" i="0">
                          <a:solidFill>
                            <a:srgbClr val="FFFFFF"/>
                          </a:solidFill>
                          <a:latin typeface="Calibri"/>
                        </a:rPr>
                        <a:t>D</a:t>
                      </a:r>
                    </a:p>
                  </a:txBody>
                  <a:tcPr marL="101600" marR="101600" marT="38100" marB="38100" anchor="ctr">
                    <a:solidFill>
                      <a:srgbClr val="1A0F5C"/>
                    </a:solidFill>
                  </a:tcPr>
                </a:tc>
                <a:tc>
                  <a:txBody>
                    <a:bodyPr/>
                    <a:lstStyle/>
                    <a:p>
                      <a:r>
                        <a:rPr sz="1250" b="1" i="0">
                          <a:solidFill>
                            <a:srgbClr val="FFFFFF"/>
                          </a:solidFill>
                          <a:latin typeface="Calibri"/>
                        </a:rPr>
                        <a:t>E</a:t>
                      </a:r>
                    </a:p>
                  </a:txBody>
                  <a:tcPr marL="101600" marR="101600" marT="38100" marB="38100" anchor="ctr">
                    <a:solidFill>
                      <a:srgbClr val="1A0F5C"/>
                    </a:solidFill>
                  </a:tcPr>
                </a:tc>
                <a:tc>
                  <a:txBody>
                    <a:bodyPr/>
                    <a:lstStyle/>
                    <a:p>
                      <a:r>
                        <a:rPr sz="1250" b="1" i="0">
                          <a:solidFill>
                            <a:srgbClr val="FFFFFF"/>
                          </a:solidFill>
                          <a:latin typeface="Calibri"/>
                        </a:rPr>
                        <a:t>F</a:t>
                      </a:r>
                    </a:p>
                  </a:txBody>
                  <a:tcPr marL="101600" marR="101600" marT="38100" marB="38100" anchor="ctr">
                    <a:solidFill>
                      <a:srgbClr val="1A0F5C"/>
                    </a:solidFill>
                  </a:tcPr>
                </a:tc>
              </a:tr>
              <a:tr h="335280">
                <a:tc>
                  <a:txBody>
                    <a:bodyPr/>
                    <a:lstStyle/>
                    <a:p>
                      <a:r>
                        <a:rPr sz="1200" b="0" i="0">
                          <a:solidFill>
                            <a:srgbClr val="1A1440"/>
                          </a:solidFill>
                          <a:latin typeface="Calibri"/>
                        </a:rPr>
                        <a:t>ROW_NUMBER</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r>
              <a:tr h="335280">
                <a:tc>
                  <a:txBody>
                    <a:bodyPr/>
                    <a:lstStyle/>
                    <a:p>
                      <a:r>
                        <a:rPr sz="1200" b="0" i="0">
                          <a:solidFill>
                            <a:srgbClr val="1A1440"/>
                          </a:solidFill>
                          <a:latin typeface="Calibri"/>
                        </a:rPr>
                        <a:t>RANK</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r>
              <a:tr h="335280">
                <a:tc>
                  <a:txBody>
                    <a:bodyPr/>
                    <a:lstStyle/>
                    <a:p>
                      <a:r>
                        <a:rPr sz="1200" b="0" i="0">
                          <a:solidFill>
                            <a:srgbClr val="1A1440"/>
                          </a:solidFill>
                          <a:latin typeface="Calibri"/>
                        </a:rPr>
                        <a:t>DENSE_RANK</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RANK reads like a race: two share first, so the next is third. DENSE_RANK numbers spend figures, so by F its 4 is two below F's place among the members, 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DENSE_RANK ships 52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Retail-Core members does each rule put on a top-fifty list?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Retail-Core's top fifty</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 tie at the line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sent as "the top fifty"</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 tie at the line</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7" name="Oval 2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9" name="Oval 2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1" name="Oval 3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3" name="Oval 3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ties above leave it two behind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DENSE_RANK's fiftieth number land on the 52nd member?</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4193895"/>
                <a:gridCol w="914400"/>
                <a:gridCol w="4193895"/>
              </a:tblGrid>
              <a:tr h="335280">
                <a:tc>
                  <a:txBody>
                    <a:bodyPr/>
                    <a:lstStyle/>
                    <a:p>
                      <a:r>
                        <a:rPr sz="1250" b="1" i="0">
                          <a:solidFill>
                            <a:srgbClr val="FFFFFF"/>
                          </a:solidFill>
                          <a:latin typeface="Calibri"/>
                        </a:rPr>
                        <a:t>Place</a:t>
                      </a:r>
                    </a:p>
                  </a:txBody>
                  <a:tcPr marL="101600" marR="101600" marT="38100" marB="38100" anchor="ctr">
                    <a:solidFill>
                      <a:srgbClr val="1A0F5C"/>
                    </a:solidFill>
                  </a:tcPr>
                </a:tc>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r>
              <a:tr h="335280">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C-0005</a:t>
                      </a:r>
                    </a:p>
                  </a:txBody>
                  <a:tcPr marL="101600" marR="101600" marT="38100" marB="38100" anchor="ctr">
                    <a:solidFill>
                      <a:srgbClr val="FFFFFF"/>
                    </a:solidFill>
                  </a:tcPr>
                </a:tc>
                <a:tc>
                  <a:txBody>
                    <a:bodyPr/>
                    <a:lstStyle/>
                    <a:p>
                      <a:r>
                        <a:rPr sz="1200" b="0" i="0">
                          <a:solidFill>
                            <a:srgbClr val="1A1440"/>
                          </a:solidFill>
                          <a:latin typeface="Calibri"/>
                        </a:rPr>
                        <a:t>Rs 2,980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r>
              <a:tr h="335280">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C-0092</a:t>
                      </a:r>
                    </a:p>
                  </a:txBody>
                  <a:tcPr marL="101600" marR="101600" marT="38100" marB="38100" anchor="ctr">
                    <a:solidFill>
                      <a:srgbClr val="F4F2FA"/>
                    </a:solidFill>
                  </a:tcPr>
                </a:tc>
                <a:tc>
                  <a:txBody>
                    <a:bodyPr/>
                    <a:lstStyle/>
                    <a:p>
                      <a:r>
                        <a:rPr sz="1200" b="0" i="0">
                          <a:solidFill>
                            <a:srgbClr val="1A1440"/>
                          </a:solidFill>
                          <a:latin typeface="Calibri"/>
                        </a:rPr>
                        <a:t>Rs 2,950</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49</a:t>
                      </a:r>
                    </a:p>
                  </a:txBody>
                  <a:tcPr marL="101600" marR="101600" marT="38100" marB="38100" anchor="ctr">
                    <a:solidFill>
                      <a:srgbClr val="F4F2FA"/>
                    </a:solidFill>
                  </a:tcPr>
                </a:tc>
              </a:tr>
              <a:tr h="335280">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C-0094</a:t>
                      </a:r>
                    </a:p>
                  </a:txBody>
                  <a:tcPr marL="101600" marR="101600" marT="38100" marB="38100" anchor="ctr">
                    <a:solidFill>
                      <a:srgbClr val="FFFFFF"/>
                    </a:solidFill>
                  </a:tcPr>
                </a:tc>
                <a:tc>
                  <a:txBody>
                    <a:bodyPr/>
                    <a:lstStyle/>
                    <a:p>
                      <a:r>
                        <a:rPr sz="1200" b="0" i="0">
                          <a:solidFill>
                            <a:srgbClr val="1A1440"/>
                          </a:solidFill>
                          <a:latin typeface="Calibri"/>
                        </a:rPr>
                        <a:t>Rs 2,910</a:t>
                      </a:r>
                    </a:p>
                  </a:txBody>
                  <a:tcPr marL="101600" marR="101600" marT="38100" marB="38100" anchor="ctr">
                    <a:solidFill>
                      <a:srgbClr val="FFFFFF"/>
                    </a:solidFill>
                  </a:tcPr>
                </a:tc>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C-0048</a:t>
                      </a:r>
                    </a:p>
                  </a:txBody>
                  <a:tcPr marL="101600" marR="101600" marT="38100" marB="38100" anchor="ctr">
                    <a:solidFill>
                      <a:srgbClr val="F4F2FA"/>
                    </a:solidFill>
                  </a:tcPr>
                </a:tc>
                <a:tc>
                  <a:txBody>
                    <a:bodyPr/>
                    <a:lstStyle/>
                    <a:p>
                      <a:r>
                        <a:rPr sz="1200" b="0" i="0">
                          <a:solidFill>
                            <a:srgbClr val="1A1440"/>
                          </a:solidFill>
                          <a:latin typeface="Calibri"/>
                        </a:rPr>
                        <a:t>Rs 2,870</a:t>
                      </a:r>
                    </a:p>
                  </a:txBody>
                  <a:tcPr marL="101600" marR="101600" marT="38100" marB="38100" anchor="ctr">
                    <a:solidFill>
                      <a:srgbClr val="F4F2FA"/>
                    </a:solidFill>
                  </a:tcPr>
                </a:tc>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Read the places around the line with the functions side by side, and list the ties inside the first fifty: two members on Rs 4,540 at places 31 and 32, two on Rs 4,120 at places 37 and 38.</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ships Retail-Core's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list is cut by RANK, the head's rule?</a:t>
            </a:r>
          </a:p>
        </p:txBody>
      </p:sp>
      <p:pic>
        <p:nvPicPr>
          <p:cNvPr id="9" name="mermaid diagram" descr="6f89bea2f099d8d3.png"/>
          <p:cNvPicPr>
            <a:picLocks noChangeAspect="1"/>
          </p:cNvPicPr>
          <p:nvPr/>
        </p:nvPicPr>
        <p:blipFill>
          <a:blip r:embed="rId5"/>
          <a:stretch>
            <a:fillRect/>
          </a:stretch>
        </p:blipFill>
        <p:spPr>
          <a:xfrm>
            <a:off x="2259653" y="1956816"/>
            <a:ext cx="7672387" cy="1143000"/>
          </a:xfrm>
          <a:prstGeom prst="rect">
            <a:avLst/>
          </a:prstGeom>
        </p:spPr>
      </p:pic>
      <p:sp>
        <p:nvSpPr>
          <p:cNvPr id="10" name="Rounded Rectangle 9"/>
          <p:cNvSpPr/>
          <p:nvPr/>
        </p:nvSpPr>
        <p:spPr>
          <a:xfrm>
            <a:off x="530352" y="32461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741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649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With no tie at the line, RANK and ROW_NUMBER agree, and the head's rule costs nothing. RANK only ships more than fifty when members tie at the line itself, and then the report says how many and why.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count the head's own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members does the Retail-Plus list ship under the head's rule?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rows() runs a named query from the chapter's .sql file; this one counts</a:t>
            </a:r>
          </a:p>
          <a:p>
            <a:pPr>
              <a:spcAft>
                <a:spcPts val="200"/>
              </a:spcAft>
            </a:pPr>
            <a:r>
              <a:rPr sz="1400" b="0" i="0">
                <a:solidFill>
                  <a:srgbClr val="A9A3D2"/>
                </a:solidFill>
                <a:latin typeface="Consolas"/>
              </a:rPr>
              <a:t># the rows each of the four rules ships for Retail-Plus's top fifty</a:t>
            </a:r>
          </a:p>
          <a:p>
            <a:pPr>
              <a:spcAft>
                <a:spcPts val="200"/>
              </a:spcAft>
            </a:pPr>
            <a:r>
              <a:rPr sz="1400" b="0" i="0">
                <a:solidFill>
                  <a:srgbClr val="E4E1F1"/>
                </a:solidFill>
                <a:latin typeface="Consolas"/>
              </a:rPr>
              <a:t>mine = rows(Q["c3_your_segment"])[0]</a:t>
            </a:r>
          </a:p>
          <a:p>
            <a:pPr>
              <a:spcAft>
                <a:spcPts val="200"/>
              </a:spcAft>
            </a:pPr>
            <a:r>
              <a:rPr sz="1400" b="0" i="0">
                <a:solidFill>
                  <a:srgbClr val="E4E1F1"/>
                </a:solidFill>
                <a:latin typeface="Consolas"/>
              </a:rPr>
              <a:t>mine</a:t>
            </a:r>
          </a:p>
        </p:txBody>
      </p:sp>
      <p:sp>
        <p:nvSpPr>
          <p:cNvPr id="14" name="Rounded Rectangle 13"/>
          <p:cNvSpPr/>
          <p:nvPr/>
        </p:nvSpPr>
        <p:spPr>
          <a:xfrm>
            <a:off x="530352" y="358851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7912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essage-square_028dbd132a0a.png"/>
          <p:cNvPicPr>
            <a:picLocks noChangeAspect="1"/>
          </p:cNvPicPr>
          <p:nvPr/>
        </p:nvPicPr>
        <p:blipFill>
          <a:blip r:embed="rId4"/>
          <a:stretch>
            <a:fillRect/>
          </a:stretch>
        </p:blipFill>
        <p:spPr>
          <a:xfrm>
            <a:off x="868680" y="3900932"/>
            <a:ext cx="237744" cy="237744"/>
          </a:xfrm>
          <a:prstGeom prst="rect">
            <a:avLst/>
          </a:prstGeom>
        </p:spPr>
      </p:pic>
      <p:sp>
        <p:nvSpPr>
          <p:cNvPr id="17" name="TextBox 16"/>
          <p:cNvSpPr txBox="1"/>
          <p:nvPr/>
        </p:nvSpPr>
        <p:spPr>
          <a:xfrm>
            <a:off x="1399031" y="373481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8" name="TextBox 17"/>
          <p:cNvSpPr txBox="1"/>
          <p:nvPr/>
        </p:nvSpPr>
        <p:spPr>
          <a:xfrm>
            <a:off x="1399031" y="3954272"/>
            <a:ext cx="9987991" cy="423672"/>
          </a:xfrm>
          <a:prstGeom prst="rect">
            <a:avLst/>
          </a:prstGeom>
          <a:noFill/>
        </p:spPr>
        <p:txBody>
          <a:bodyPr wrap="square" anchor="t" lIns="0" rIns="0" tIns="0" bIns="0">
            <a:spAutoFit/>
          </a:bodyPr>
          <a:lstStyle/>
          <a:p>
            <a:r>
              <a:rPr sz="1500" b="0" i="0">
                <a:solidFill>
                  <a:srgbClr val="FFFFFF"/>
                </a:solidFill>
                <a:latin typeface="Calibri"/>
              </a:rPr>
              <a:t>"I want to know how many made the top fifty."</a:t>
            </a:r>
          </a:p>
        </p:txBody>
      </p:sp>
      <p:sp>
        <p:nvSpPr>
          <p:cNvPr id="19" name="TextBox 18"/>
          <p:cNvSpPr txBox="1"/>
          <p:nvPr/>
        </p:nvSpPr>
        <p:spPr>
          <a:xfrm>
            <a:off x="530352" y="4615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Run the cell, then write the sentence the head of Retail-Plus reads: how many members the list carries under RANK and, if it is not fifty, why.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count who spent at least the 50th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count with no window agree with RANK?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count(*) FROM q2</a:t>
            </a:r>
          </a:p>
          <a:p>
            <a:pPr>
              <a:spcAft>
                <a:spcPts val="200"/>
              </a:spcAft>
            </a:pPr>
            <a:r>
              <a:rPr sz="1400" b="0" i="0">
                <a:solidFill>
                  <a:srgbClr val="E4E1F1"/>
                </a:solidFill>
                <a:latin typeface="Consolas"/>
              </a:rPr>
              <a:t>WHERE  segment = 'Retail-Core'</a:t>
            </a:r>
          </a:p>
          <a:p>
            <a:pPr>
              <a:spcAft>
                <a:spcPts val="200"/>
              </a:spcAft>
            </a:pPr>
            <a:r>
              <a:rPr sz="1400" b="0" i="0">
                <a:solidFill>
                  <a:srgbClr val="E4E1F1"/>
                </a:solidFill>
                <a:latin typeface="Consolas"/>
              </a:rPr>
              <a:t>  AND  q2_revenue &gt;= (SELECT q2_revenue FROM q2 WHERE segment = 'Retail-Core'</a:t>
            </a:r>
          </a:p>
          <a:p>
            <a:pPr>
              <a:spcAft>
                <a:spcPts val="200"/>
              </a:spcAft>
            </a:pPr>
            <a:r>
              <a:rPr sz="1400" b="0" i="0">
                <a:solidFill>
                  <a:srgbClr val="E4E1F1"/>
                </a:solidFill>
                <a:latin typeface="Consolas"/>
              </a:rPr>
              <a:t>                      ORDER BY q2_revenue DESC OFFSET 49 LIMIT 1);</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50 = 50</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members at or above Rs 2,980, and RANK's count</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4 of 4</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SEGMENTS AGREE</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Retail-Plus, from your run, among them</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 with its count and reason in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when two members tie at fiftieth place, how many does a list ship, and which rule?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807463"/>
                <a:gridCol w="6323527"/>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rule, at what cost?</a:t>
                      </a:r>
                    </a:p>
                  </a:txBody>
                  <a:tcPr marL="101600" marR="101600" marT="38100" marB="38100" anchor="ctr">
                    <a:solidFill>
                      <a:srgbClr val="FFFFFF"/>
                    </a:solidFill>
                  </a:tcPr>
                </a:tc>
                <a:tc>
                  <a:txBody>
                    <a:bodyPr/>
                    <a:lstStyle/>
                    <a:p>
                      <a:r>
                        <a:rPr sz="900" b="0" i="0">
                          <a:solidFill>
                            <a:srgbClr val="1A1440"/>
                          </a:solidFill>
                          <a:latin typeface="Calibri"/>
                        </a:rPr>
                        <a:t>RANK; ROW_NUMBER only under a hard cap</a:t>
                      </a:r>
                    </a:p>
                  </a:txBody>
                  <a:tcPr marL="101600" marR="101600" marT="38100" marB="38100" anchor="ctr">
                    <a:solidFill>
                      <a:srgbClr val="FFFFFF"/>
                    </a:solidFill>
                  </a:tcPr>
                </a:tc>
              </a:tr>
              <a:tr h="310896">
                <a:tc>
                  <a:txBody>
                    <a:bodyPr/>
                    <a:lstStyle/>
                    <a:p>
                      <a:r>
                        <a:rPr sz="900" b="0" i="0">
                          <a:solidFill>
                            <a:srgbClr val="1A1440"/>
                          </a:solidFill>
                          <a:latin typeface="Calibri"/>
                        </a:rPr>
                        <a:t>2. A tie at the line?</a:t>
                      </a:r>
                    </a:p>
                  </a:txBody>
                  <a:tcPr marL="101600" marR="101600" marT="38100" marB="38100" anchor="ctr">
                    <a:solidFill>
                      <a:srgbClr val="F4F2FA"/>
                    </a:solidFill>
                  </a:tcPr>
                </a:tc>
                <a:tc>
                  <a:txBody>
                    <a:bodyPr/>
                    <a:lstStyle/>
                    <a:p>
                      <a:r>
                        <a:rPr sz="900" b="0" i="0">
                          <a:solidFill>
                            <a:srgbClr val="1A1440"/>
                          </a:solidFill>
                          <a:latin typeface="Calibri"/>
                        </a:rPr>
                        <a:t>Top four: 4, 5, 5 and 3 rows</a:t>
                      </a:r>
                    </a:p>
                  </a:txBody>
                  <a:tcPr marL="101600" marR="101600" marT="38100" marB="38100" anchor="ctr">
                    <a:solidFill>
                      <a:srgbClr val="F4F2FA"/>
                    </a:solidFill>
                  </a:tcPr>
                </a:tc>
              </a:tr>
              <a:tr h="310896">
                <a:tc>
                  <a:txBody>
                    <a:bodyPr/>
                    <a:lstStyle/>
                    <a:p>
                      <a:r>
                        <a:rPr sz="900" b="0" i="0">
                          <a:solidFill>
                            <a:srgbClr val="1A1440"/>
                          </a:solidFill>
                          <a:latin typeface="Calibri"/>
                        </a:rPr>
                        <a:t>3. One tie, three functions?</a:t>
                      </a:r>
                    </a:p>
                  </a:txBody>
                  <a:tcPr marL="101600" marR="101600" marT="38100" marB="38100" anchor="ctr">
                    <a:solidFill>
                      <a:srgbClr val="FFFFFF"/>
                    </a:solidFill>
                  </a:tcPr>
                </a:tc>
                <a:tc>
                  <a:txBody>
                    <a:bodyPr/>
                    <a:lstStyle/>
                    <a:p>
                      <a:r>
                        <a:rPr sz="900" b="0" i="0">
                          <a:solidFill>
                            <a:srgbClr val="1A1440"/>
                          </a:solidFill>
                          <a:latin typeface="Calibri"/>
                        </a:rPr>
                        <a:t>RANK 1, 1, 3; DENSE_RANK 1, 1, 2</a:t>
                      </a:r>
                    </a:p>
                  </a:txBody>
                  <a:tcPr marL="101600" marR="101600" marT="38100" marB="38100" anchor="ctr">
                    <a:solidFill>
                      <a:srgbClr val="FFFFFF"/>
                    </a:solidFill>
                  </a:tcPr>
                </a:tc>
              </a:tr>
              <a:tr h="310896">
                <a:tc>
                  <a:txBody>
                    <a:bodyPr/>
                    <a:lstStyle/>
                    <a:p>
                      <a:r>
                        <a:rPr sz="900" b="0" i="0">
                          <a:solidFill>
                            <a:srgbClr val="1A1440"/>
                          </a:solidFill>
                          <a:latin typeface="Calibri"/>
                        </a:rPr>
                        <a:t>4. Retail-Core's counts?</a:t>
                      </a:r>
                    </a:p>
                  </a:txBody>
                  <a:tcPr marL="101600" marR="101600" marT="38100" marB="38100" anchor="ctr">
                    <a:solidFill>
                      <a:srgbClr val="F4F2FA"/>
                    </a:solidFill>
                  </a:tcPr>
                </a:tc>
                <a:tc>
                  <a:txBody>
                    <a:bodyPr/>
                    <a:lstStyle/>
                    <a:p>
                      <a:r>
                        <a:rPr sz="900" b="0" i="0">
                          <a:solidFill>
                            <a:srgbClr val="1A1440"/>
                          </a:solidFill>
                          <a:latin typeface="Calibri"/>
                        </a:rPr>
                        <a:t>50 under RANK; 52 under DENSE_RANK</a:t>
                      </a:r>
                    </a:p>
                  </a:txBody>
                  <a:tcPr marL="101600" marR="101600" marT="38100" marB="38100" anchor="ctr">
                    <a:solidFill>
                      <a:srgbClr val="F4F2FA"/>
                    </a:solidFill>
                  </a:tcPr>
                </a:tc>
              </a:tr>
              <a:tr h="310896">
                <a:tc>
                  <a:txBody>
                    <a:bodyPr/>
                    <a:lstStyle/>
                    <a:p>
                      <a:r>
                        <a:rPr sz="900" b="0" i="0">
                          <a:solidFill>
                            <a:srgbClr val="1A1440"/>
                          </a:solidFill>
                          <a:latin typeface="Calibri"/>
                        </a:rPr>
                        <a:t>5. Retail-Plus's count?</a:t>
                      </a:r>
                    </a:p>
                  </a:txBody>
                  <a:tcPr marL="101600" marR="101600" marT="38100" marB="38100" anchor="ctr">
                    <a:solidFill>
                      <a:srgbClr val="FFFFFF"/>
                    </a:solidFill>
                  </a:tcPr>
                </a:tc>
                <a:tc>
                  <a:txBody>
                    <a:bodyPr/>
                    <a:lstStyle/>
                    <a:p>
                      <a:r>
                        <a:rPr sz="900" b="0" i="0">
                          <a:solidFill>
                            <a:srgbClr val="1A1440"/>
                          </a:solidFill>
                          <a:latin typeface="Calibri"/>
                        </a:rPr>
                        <a:t>Your run's count, with its reason</a:t>
                      </a:r>
                    </a:p>
                  </a:txBody>
                  <a:tcPr marL="101600" marR="101600" marT="38100" marB="38100" anchor="ctr">
                    <a:solidFill>
                      <a:srgbClr val="FFFFFF"/>
                    </a:solidFill>
                  </a:tcPr>
                </a:tc>
              </a:tr>
              <a:tr h="310896">
                <a:tc>
                  <a:txBody>
                    <a:bodyPr/>
                    <a:lstStyle/>
                    <a:p>
                      <a:r>
                        <a:rPr sz="900" b="0" i="0">
                          <a:solidFill>
                            <a:srgbClr val="1A1440"/>
                          </a:solidFill>
                          <a:latin typeface="Calibri"/>
                        </a:rPr>
                        <a:t>6. Does a plain count agree?</a:t>
                      </a:r>
                    </a:p>
                  </a:txBody>
                  <a:tcPr marL="101600" marR="101600" marT="38100" marB="38100" anchor="ctr">
                    <a:solidFill>
                      <a:srgbClr val="F4F2FA"/>
                    </a:solidFill>
                  </a:tcPr>
                </a:tc>
                <a:tc>
                  <a:txBody>
                    <a:bodyPr/>
                    <a:lstStyle/>
                    <a:p>
                      <a:r>
                        <a:rPr sz="900" b="0" i="0">
                          <a:solidFill>
                            <a:srgbClr val="1A1440"/>
                          </a:solidFill>
                          <a:latin typeface="Calibri"/>
                        </a:rPr>
                        <a:t>Yes, in every segment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976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07408"/>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384048"/>
          </a:xfrm>
          <a:prstGeom prst="rect">
            <a:avLst/>
          </a:prstGeom>
          <a:noFill/>
        </p:spPr>
        <p:txBody>
          <a:bodyPr wrap="square" anchor="t" lIns="0" rIns="0" tIns="0" bIns="0">
            <a:spAutoFit/>
          </a:bodyPr>
          <a:lstStyle/>
          <a:p>
            <a:r>
              <a:rPr sz="1000" b="0" i="0">
                <a:solidFill>
                  <a:srgbClr val="1A1440"/>
                </a:solidFill>
                <a:latin typeface="Calibri"/>
              </a:rPr>
              <a:t>"A tie rule is a business decision. State the rule, the count it ships and the members at the line in one sentence."</a:t>
            </a:r>
          </a:p>
        </p:txBody>
      </p:sp>
      <p:sp>
        <p:nvSpPr>
          <p:cNvPr id="15" name="Rounded Rectangle 14"/>
          <p:cNvSpPr/>
          <p:nvPr/>
        </p:nvSpPr>
        <p:spPr>
          <a:xfrm>
            <a:off x="530352" y="5102352"/>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482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57952"/>
            <a:ext cx="237744" cy="237744"/>
          </a:xfrm>
          <a:prstGeom prst="rect">
            <a:avLst/>
          </a:prstGeom>
        </p:spPr>
      </p:pic>
      <p:sp>
        <p:nvSpPr>
          <p:cNvPr id="18" name="TextBox 17"/>
          <p:cNvSpPr txBox="1"/>
          <p:nvPr/>
        </p:nvSpPr>
        <p:spPr>
          <a:xfrm>
            <a:off x="1399031" y="52486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68112"/>
            <a:ext cx="9987991" cy="510032"/>
          </a:xfrm>
          <a:prstGeom prst="rect">
            <a:avLst/>
          </a:prstGeom>
          <a:noFill/>
        </p:spPr>
        <p:txBody>
          <a:bodyPr wrap="square" anchor="t" lIns="0" rIns="0" tIns="0" bIns="0">
            <a:spAutoFit/>
          </a:bodyPr>
          <a:lstStyle/>
          <a:p>
            <a:r>
              <a:rPr sz="1000" b="0" i="0">
                <a:solidFill>
                  <a:srgbClr val="1A1440"/>
                </a:solidFill>
                <a:latin typeface="Calibri"/>
              </a:rPr>
              <a:t>[S] What do RANK, DENSE_RANK and ROW_NUMBER give on a tie? [D] The business says ties rank the same: which function, and how many rows might a top-N report ship?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Whose spend is falling?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Whose monthly spend fell two months running, so Marketing can ring them before they drift further?</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82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the flag: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falling flag,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lead's member team will ring each flagged member with a retention offer. A flag that names the wrong member costs a call and tells a loyal customer they are slipping; a fall the flag misses is a member nobody rang until they had gone.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compare months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each spend monthly?</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One row per member-month</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LAG put beside it?</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member's months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if nothing partitions?</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Whose month LAG reads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fell twice?</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member's months apart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Python walk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82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rings members whose spend is slipping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flag, what does it measure, and what does a wrong flag cost?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hone_7ed97f81441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member team rings each flagged member with a retention offer.</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Monthly spend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member's booked revenue in one calendar month, April to September 2026.</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FLAG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loyal member accused</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Or a member who drifts with nobody ringing.</a:t>
            </a:r>
          </a:p>
        </p:txBody>
      </p:sp>
      <p:sp>
        <p:nvSpPr>
          <p:cNvPr id="27" name="Rounded Rectangle 26"/>
          <p:cNvSpPr/>
          <p:nvPr/>
        </p:nvSpPr>
        <p:spPr>
          <a:xfrm>
            <a:off x="530352" y="410413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FFFFFF"/>
                </a:solidFill>
                <a:latin typeface="Calibri"/>
              </a:rPr>
              <a:t>"Flag anyone whose monthly spend has fallen for two months running."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Square judges each customer against their own past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judge a customer against that customer's own earlier pattern?</a:t>
            </a:r>
          </a:p>
        </p:txBody>
      </p:sp>
      <p:pic>
        <p:nvPicPr>
          <p:cNvPr id="9" name="mermaid diagram" descr="19197e93eeec8a50.png"/>
          <p:cNvPicPr>
            <a:picLocks noChangeAspect="1"/>
          </p:cNvPicPr>
          <p:nvPr/>
        </p:nvPicPr>
        <p:blipFill>
          <a:blip r:embed="rId6"/>
          <a:stretch>
            <a:fillRect/>
          </a:stretch>
        </p:blipFill>
        <p:spPr>
          <a:xfrm>
            <a:off x="2931166" y="1956816"/>
            <a:ext cx="6329362"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A drop means something only against the customer's own pattern, so the comparison has to stay inside each customer's history.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reads each member-month once: 752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set each month beside the month before, and what would each way cost?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38802"/>
                <a:gridCol w="4979637"/>
                <a:gridCol w="261255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reaches the month before</a:t>
                      </a:r>
                    </a:p>
                  </a:txBody>
                  <a:tcPr marL="101600" marR="101600" marT="38100" marB="38100" anchor="ctr">
                    <a:solidFill>
                      <a:srgbClr val="1A0F5C"/>
                    </a:solidFill>
                  </a:tcPr>
                </a:tc>
                <a:tc>
                  <a:txBody>
                    <a:bodyPr/>
                    <a:lstStyle/>
                    <a:p>
                      <a:r>
                        <a:rPr sz="1450" b="1" i="0">
                          <a:solidFill>
                            <a:srgbClr val="FFFFFF"/>
                          </a:solidFill>
                          <a:latin typeface="Calibri"/>
                        </a:rPr>
                        <a:t>Works through</a:t>
                      </a:r>
                    </a:p>
                  </a:txBody>
                  <a:tcPr marL="101600" marR="101600" marT="38100" marB="38100" anchor="ctr">
                    <a:solidFill>
                      <a:srgbClr val="1A0F5C"/>
                    </a:solidFill>
                  </a:tcPr>
                </a:tc>
              </a:tr>
              <a:tr h="369824">
                <a:tc>
                  <a:txBody>
                    <a:bodyPr/>
                    <a:lstStyle/>
                    <a:p>
                      <a:r>
                        <a:rPr sz="1400" b="0" i="0">
                          <a:solidFill>
                            <a:srgbClr val="1A1440"/>
                          </a:solidFill>
                          <a:latin typeface="Calibri"/>
                        </a:rPr>
                        <a:t>A. LAG in a window</a:t>
                      </a:r>
                    </a:p>
                  </a:txBody>
                  <a:tcPr marL="101600" marR="101600" marT="38100" marB="38100" anchor="ctr">
                    <a:solidFill>
                      <a:srgbClr val="FFFFFF"/>
                    </a:solidFill>
                  </a:tcPr>
                </a:tc>
                <a:tc>
                  <a:txBody>
                    <a:bodyPr/>
                    <a:lstStyle/>
                    <a:p>
                      <a:r>
                        <a:rPr sz="1400" b="0" i="0">
                          <a:solidFill>
                            <a:srgbClr val="1A1440"/>
                          </a:solidFill>
                          <a:latin typeface="Calibri"/>
                        </a:rPr>
                        <a:t>reads the row before, in the window's order</a:t>
                      </a:r>
                    </a:p>
                  </a:txBody>
                  <a:tcPr marL="101600" marR="101600" marT="38100" marB="38100" anchor="ctr">
                    <a:solidFill>
                      <a:srgbClr val="FFFFFF"/>
                    </a:solidFill>
                  </a:tcPr>
                </a:tc>
                <a:tc>
                  <a:txBody>
                    <a:bodyPr/>
                    <a:lstStyle/>
                    <a:p>
                      <a:r>
                        <a:rPr sz="1400" b="0" i="0">
                          <a:solidFill>
                            <a:srgbClr val="1A1440"/>
                          </a:solidFill>
                          <a:latin typeface="Calibri"/>
                        </a:rPr>
                        <a:t>752 member-months, once</a:t>
                      </a:r>
                    </a:p>
                  </a:txBody>
                  <a:tcPr marL="101600" marR="101600" marT="38100" marB="38100" anchor="ctr">
                    <a:solidFill>
                      <a:srgbClr val="FFFFFF"/>
                    </a:solidFill>
                  </a:tcPr>
                </a:tc>
              </a:tr>
              <a:tr h="369824">
                <a:tc>
                  <a:txBody>
                    <a:bodyPr/>
                    <a:lstStyle/>
                    <a:p>
                      <a:r>
                        <a:rPr sz="1400" b="0" i="0">
                          <a:solidFill>
                            <a:srgbClr val="1A1440"/>
                          </a:solidFill>
                          <a:latin typeface="Calibri"/>
                        </a:rPr>
                        <a:t>B. A self-join, twice</a:t>
                      </a:r>
                    </a:p>
                  </a:txBody>
                  <a:tcPr marL="101600" marR="101600" marT="38100" marB="38100" anchor="ctr">
                    <a:solidFill>
                      <a:srgbClr val="F4F2FA"/>
                    </a:solidFill>
                  </a:tcPr>
                </a:tc>
                <a:tc>
                  <a:txBody>
                    <a:bodyPr/>
                    <a:lstStyle/>
                    <a:p>
                      <a:r>
                        <a:rPr sz="1400" b="0" i="0">
                          <a:solidFill>
                            <a:srgbClr val="1A1440"/>
                          </a:solidFill>
                          <a:latin typeface="Calibri"/>
                        </a:rPr>
                        <a:t>joins each month to the member's months before</a:t>
                      </a:r>
                    </a:p>
                  </a:txBody>
                  <a:tcPr marL="101600" marR="101600" marT="38100" marB="38100" anchor="ctr">
                    <a:solidFill>
                      <a:srgbClr val="F4F2FA"/>
                    </a:solidFill>
                  </a:tcPr>
                </a:tc>
                <a:tc>
                  <a:txBody>
                    <a:bodyPr/>
                    <a:lstStyle/>
                    <a:p>
                      <a:r>
                        <a:rPr sz="1400" b="0" i="0">
                          <a:solidFill>
                            <a:srgbClr val="1A1440"/>
                          </a:solidFill>
                          <a:latin typeface="Calibri"/>
                        </a:rPr>
                        <a:t>1,504 matches</a:t>
                      </a:r>
                    </a:p>
                  </a:txBody>
                  <a:tcPr marL="101600" marR="101600" marT="38100" marB="38100" anchor="ctr">
                    <a:solidFill>
                      <a:srgbClr val="F4F2FA"/>
                    </a:solidFill>
                  </a:tcPr>
                </a:tc>
              </a:tr>
              <a:tr h="369824">
                <a:tc>
                  <a:txBody>
                    <a:bodyPr/>
                    <a:lstStyle/>
                    <a:p>
                      <a:r>
                        <a:rPr sz="1400" b="0" i="0">
                          <a:solidFill>
                            <a:srgbClr val="1A1440"/>
                          </a:solidFill>
                          <a:latin typeface="Calibri"/>
                        </a:rPr>
                        <a:t>C. A lookup per row</a:t>
                      </a:r>
                    </a:p>
                  </a:txBody>
                  <a:tcPr marL="101600" marR="101600" marT="38100" marB="38100" anchor="ctr">
                    <a:solidFill>
                      <a:srgbClr val="FFFFFF"/>
                    </a:solidFill>
                  </a:tcPr>
                </a:tc>
                <a:tc>
                  <a:txBody>
                    <a:bodyPr/>
                    <a:lstStyle/>
                    <a:p>
                      <a:r>
                        <a:rPr sz="1400" b="0" i="0">
                          <a:solidFill>
                            <a:srgbClr val="1A1440"/>
                          </a:solidFill>
                          <a:latin typeface="Calibri"/>
                        </a:rPr>
                        <a:t>a correlated subquery, twice per row</a:t>
                      </a:r>
                    </a:p>
                  </a:txBody>
                  <a:tcPr marL="101600" marR="101600" marT="38100" marB="38100" anchor="ctr">
                    <a:solidFill>
                      <a:srgbClr val="FFFFFF"/>
                    </a:solidFill>
                  </a:tcPr>
                </a:tc>
                <a:tc>
                  <a:txBody>
                    <a:bodyPr/>
                    <a:lstStyle/>
                    <a:p>
                      <a:r>
                        <a:rPr sz="1400" b="0" i="0">
                          <a:solidFill>
                            <a:srgbClr val="1A1440"/>
                          </a:solidFill>
                          <a:latin typeface="Calibri"/>
                        </a:rPr>
                        <a:t>1,504 lookups</a:t>
                      </a:r>
                    </a:p>
                  </a:txBody>
                  <a:tcPr marL="101600" marR="101600" marT="38100" marB="38100" anchor="ctr">
                    <a:solidFill>
                      <a:srgbClr val="FFFFFF"/>
                    </a:solidFill>
                  </a:tcPr>
                </a:tc>
              </a:tr>
              <a:tr h="369824">
                <a:tc>
                  <a:txBody>
                    <a:bodyPr/>
                    <a:lstStyle/>
                    <a:p>
                      <a:r>
                        <a:rPr sz="1400" b="0" i="0">
                          <a:solidFill>
                            <a:srgbClr val="1A1440"/>
                          </a:solidFill>
                          <a:latin typeface="Calibri"/>
                        </a:rPr>
                        <a:t>D. Months as spreadsheet columns</a:t>
                      </a:r>
                    </a:p>
                  </a:txBody>
                  <a:tcPr marL="101600" marR="101600" marT="38100" marB="38100" anchor="ctr">
                    <a:solidFill>
                      <a:srgbClr val="F4F2FA"/>
                    </a:solidFill>
                  </a:tcPr>
                </a:tc>
                <a:tc>
                  <a:txBody>
                    <a:bodyPr/>
                    <a:lstStyle/>
                    <a:p>
                      <a:r>
                        <a:rPr sz="1400" b="0" i="0">
                          <a:solidFill>
                            <a:srgbClr val="1A1440"/>
                          </a:solidFill>
                          <a:latin typeface="Calibri"/>
                        </a:rPr>
                        <a:t>a person reads across each row</a:t>
                      </a:r>
                    </a:p>
                  </a:txBody>
                  <a:tcPr marL="101600" marR="101600" marT="38100" marB="38100" anchor="ctr">
                    <a:solidFill>
                      <a:srgbClr val="F4F2FA"/>
                    </a:solidFill>
                  </a:tcPr>
                </a:tc>
                <a:tc>
                  <a:txBody>
                    <a:bodyPr/>
                    <a:lstStyle/>
                    <a:p>
                      <a:r>
                        <a:rPr sz="1400" b="0" i="0">
                          <a:solidFill>
                            <a:srgbClr val="1A1440"/>
                          </a:solidFill>
                          <a:latin typeface="Calibri"/>
                        </a:rPr>
                        <a:t>1,806 cells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one pass, and lag(spend, 2) reaches two months back in the same statement. What would switch it: a database with no window functions, such as MySQL before 8.0, which leaves a lookup per row, option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reads the row before, inside its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each row?</a:t>
            </a:r>
          </a:p>
        </p:txBody>
      </p:sp>
      <p:pic>
        <p:nvPicPr>
          <p:cNvPr id="9" name="mermaid diagram" descr="b7691e8347d8aece.png"/>
          <p:cNvPicPr>
            <a:picLocks noChangeAspect="1"/>
          </p:cNvPicPr>
          <p:nvPr/>
        </p:nvPicPr>
        <p:blipFill>
          <a:blip r:embed="rId5"/>
          <a:stretch>
            <a:fillRect/>
          </a:stretch>
        </p:blipFill>
        <p:spPr>
          <a:xfrm>
            <a:off x="2245366" y="1956816"/>
            <a:ext cx="7700962" cy="1128712"/>
          </a:xfrm>
          <a:prstGeom prst="rect">
            <a:avLst/>
          </a:prstGeom>
        </p:spPr>
      </p:pic>
      <p:sp>
        <p:nvSpPr>
          <p:cNvPr id="10" name="TextBox 9"/>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lag(spend, 1) OVER (PARTITION BY customer_id ORDER BY month) reads the previous row inside the member's own months, and lag(spend, 2) two rows back. LEAD reads the next row the same way; nothing today needs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LAG show on the first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one member's months?</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C-0040, Rs</a:t>
                      </a:r>
                    </a:p>
                  </a:txBody>
                  <a:tcPr marL="101600" marR="101600" marT="38100" marB="38100" anchor="ctr">
                    <a:solidFill>
                      <a:srgbClr val="FFFFFF"/>
                    </a:solidFill>
                  </a:tcPr>
                </a:tc>
                <a:tc>
                  <a:txBody>
                    <a:bodyPr/>
                    <a:lstStyle/>
                    <a:p>
                      <a:r>
                        <a:rPr sz="1200" b="0" i="0">
                          <a:solidFill>
                            <a:srgbClr val="1A1440"/>
                          </a:solidFill>
                          <a:latin typeface="Calibri"/>
                        </a:rPr>
                        <a:t>7,980</a:t>
                      </a:r>
                    </a:p>
                  </a:txBody>
                  <a:tcPr marL="101600" marR="101600" marT="38100" marB="38100" anchor="ctr">
                    <a:solidFill>
                      <a:srgbClr val="FFFFFF"/>
                    </a:solidFill>
                  </a:tcPr>
                </a:tc>
                <a:tc>
                  <a:txBody>
                    <a:bodyPr/>
                    <a:lstStyle/>
                    <a:p>
                      <a:r>
                        <a:rPr sz="1200" b="0" i="0">
                          <a:solidFill>
                            <a:srgbClr val="1A1440"/>
                          </a:solidFill>
                          <a:latin typeface="Calibri"/>
                        </a:rPr>
                        <a:t>3,170</a:t>
                      </a:r>
                    </a:p>
                  </a:txBody>
                  <a:tcPr marL="101600" marR="101600" marT="38100" marB="38100" anchor="ctr">
                    <a:solidFill>
                      <a:srgbClr val="FFFFFF"/>
                    </a:solidFill>
                  </a:tcPr>
                </a:tc>
                <a:tc>
                  <a:txBody>
                    <a:bodyPr/>
                    <a:lstStyle/>
                    <a:p>
                      <a:r>
                        <a:rPr sz="1200" b="0" i="0">
                          <a:solidFill>
                            <a:srgbClr val="1A1440"/>
                          </a:solidFill>
                          <a:latin typeface="Calibri"/>
                        </a:rPr>
                        <a:t>1,320</a:t>
                      </a:r>
                    </a:p>
                  </a:txBody>
                  <a:tcPr marL="101600" marR="101600" marT="38100" marB="38100" anchor="ctr">
                    <a:solidFill>
                      <a:srgbClr val="FFFFFF"/>
                    </a:solidFill>
                  </a:tcPr>
                </a:tc>
                <a:tc>
                  <a:txBody>
                    <a:bodyPr/>
                    <a:lstStyle/>
                    <a:p>
                      <a:r>
                        <a:rPr sz="1200" b="0" i="0">
                          <a:solidFill>
                            <a:srgbClr val="1A1440"/>
                          </a:solidFill>
                          <a:latin typeface="Calibri"/>
                        </a:rPr>
                        <a:t>4,260</a:t>
                      </a:r>
                    </a:p>
                  </a:txBody>
                  <a:tcPr marL="101600" marR="101600" marT="38100" marB="38100" anchor="ctr">
                    <a:solidFill>
                      <a:srgbClr val="FFFFFF"/>
                    </a:solidFill>
                  </a:tcPr>
                </a:tc>
                <a:tc>
                  <a:txBody>
                    <a:bodyPr/>
                    <a:lstStyle/>
                    <a:p>
                      <a:r>
                        <a:rPr sz="1200" b="0" i="0">
                          <a:solidFill>
                            <a:srgbClr val="1A1440"/>
                          </a:solidFill>
                          <a:latin typeface="Calibri"/>
                        </a:rPr>
                        <a:t>4,770</a:t>
                      </a:r>
                    </a:p>
                  </a:txBody>
                  <a:tcPr marL="101600" marR="101600" marT="38100" marB="38100" anchor="ctr">
                    <a:solidFill>
                      <a:srgbClr val="FFFFFF"/>
                    </a:solidFill>
                  </a:tcPr>
                </a:tc>
                <a:tc>
                  <a:txBody>
                    <a:bodyPr/>
                    <a:lstStyle/>
                    <a:p>
                      <a:r>
                        <a:rPr sz="1200" b="0" i="0">
                          <a:solidFill>
                            <a:srgbClr val="1A1440"/>
                          </a:solidFill>
                          <a:latin typeface="Calibri"/>
                        </a:rPr>
                        <a:t>4,520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lag(spend, 1) show on C-0040's first month, April, as a letter? a) 0; b) NULL, since no row comes before it; c) September's spend; d) April's own spend.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NULL, and June fell twice running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one member's months?</a:t>
            </a:r>
          </a:p>
        </p:txBody>
      </p:sp>
      <p:graphicFrame>
        <p:nvGraphicFramePr>
          <p:cNvPr id="9" name="Table 8"/>
          <p:cNvGraphicFramePr>
            <a:graphicFrameLocks noGrp="1"/>
          </p:cNvGraphicFramePr>
          <p:nvPr/>
        </p:nvGraphicFramePr>
        <p:xfrm>
          <a:off x="530352" y="1956816"/>
          <a:ext cx="11130988" cy="2346960"/>
        </p:xfrm>
        <a:graphic>
          <a:graphicData uri="http://schemas.openxmlformats.org/drawingml/2006/table">
            <a:tbl>
              <a:tblPr firstRow="0" bandRow="0">
                <a:tableStyleId>{2D5ABB26-0587-4C30-8999-92F81FD0307C}</a:tableStyleId>
              </a:tblPr>
              <a:tblGrid>
                <a:gridCol w="2782747"/>
                <a:gridCol w="2782747"/>
                <a:gridCol w="2782747"/>
                <a:gridCol w="2782747"/>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Spend</a:t>
                      </a:r>
                    </a:p>
                  </a:txBody>
                  <a:tcPr marL="101600" marR="101600" marT="38100" marB="38100" anchor="ctr">
                    <a:solidFill>
                      <a:srgbClr val="1A0F5C"/>
                    </a:solidFill>
                  </a:tcPr>
                </a:tc>
                <a:tc>
                  <a:txBody>
                    <a:bodyPr/>
                    <a:lstStyle/>
                    <a:p>
                      <a:r>
                        <a:rPr sz="1250" b="1" i="0">
                          <a:solidFill>
                            <a:srgbClr val="FFFFFF"/>
                          </a:solidFill>
                          <a:latin typeface="Calibri"/>
                        </a:rPr>
                        <a:t>lag 1</a:t>
                      </a:r>
                    </a:p>
                  </a:txBody>
                  <a:tcPr marL="101600" marR="101600" marT="38100" marB="38100" anchor="ctr">
                    <a:solidFill>
                      <a:srgbClr val="1A0F5C"/>
                    </a:solidFill>
                  </a:tcPr>
                </a:tc>
                <a:tc>
                  <a:txBody>
                    <a:bodyPr/>
                    <a:lstStyle/>
                    <a:p>
                      <a:r>
                        <a:rPr sz="1250" b="1" i="0">
                          <a:solidFill>
                            <a:srgbClr val="FFFFFF"/>
                          </a:solidFill>
                          <a:latin typeface="Calibri"/>
                        </a:rPr>
                        <a:t>lag 2</a:t>
                      </a:r>
                    </a:p>
                  </a:txBody>
                  <a:tcPr marL="101600" marR="101600" marT="38100" marB="38100" anchor="ctr">
                    <a:solidFill>
                      <a:srgbClr val="1A0F5C"/>
                    </a:solidFill>
                  </a:tcPr>
                </a:tc>
              </a:tr>
              <a:tr h="335280">
                <a:tc>
                  <a:txBody>
                    <a:bodyPr/>
                    <a:lstStyle/>
                    <a:p>
                      <a:r>
                        <a:rPr sz="1200" b="0" i="0">
                          <a:solidFill>
                            <a:srgbClr val="1A1440"/>
                          </a:solidFill>
                          <a:latin typeface="Calibri"/>
                        </a:rPr>
                        <a:t>Apr</a:t>
                      </a:r>
                    </a:p>
                  </a:txBody>
                  <a:tcPr marL="101600" marR="101600" marT="38100" marB="38100" anchor="ctr">
                    <a:solidFill>
                      <a:srgbClr val="FFFFFF"/>
                    </a:solidFill>
                  </a:tcPr>
                </a:tc>
                <a:tc>
                  <a:txBody>
                    <a:bodyPr/>
                    <a:lstStyle/>
                    <a:p>
                      <a:r>
                        <a:rPr sz="1200" b="0" i="0">
                          <a:solidFill>
                            <a:srgbClr val="1A1440"/>
                          </a:solidFill>
                          <a:latin typeface="Calibri"/>
                        </a:rPr>
                        <a:t>Rs 7,980</a:t>
                      </a:r>
                    </a:p>
                  </a:txBody>
                  <a:tcPr marL="101600" marR="101600" marT="38100" marB="38100" anchor="ctr">
                    <a:solidFill>
                      <a:srgbClr val="FFFFFF"/>
                    </a:solidFill>
                  </a:tcPr>
                </a:tc>
                <a:tc>
                  <a:txBody>
                    <a:bodyPr/>
                    <a:lstStyle/>
                    <a:p>
                      <a:r>
                        <a:rPr sz="1200" b="0" i="0">
                          <a:solidFill>
                            <a:srgbClr val="1A1440"/>
                          </a:solidFill>
                          <a:latin typeface="Calibri"/>
                        </a:rPr>
                        <a:t>NULL</a:t>
                      </a:r>
                    </a:p>
                  </a:txBody>
                  <a:tcPr marL="101600" marR="101600" marT="38100" marB="38100" anchor="ctr">
                    <a:solidFill>
                      <a:srgbClr val="FFFFFF"/>
                    </a:solidFill>
                  </a:tcPr>
                </a:tc>
                <a:tc>
                  <a:txBody>
                    <a:bodyPr/>
                    <a:lstStyle/>
                    <a:p>
                      <a:r>
                        <a:rPr sz="1200" b="0" i="0">
                          <a:solidFill>
                            <a:srgbClr val="1A1440"/>
                          </a:solidFill>
                          <a:latin typeface="Calibri"/>
                        </a:rPr>
                        <a:t>NULL</a:t>
                      </a:r>
                    </a:p>
                  </a:txBody>
                  <a:tcPr marL="101600" marR="101600" marT="38100" marB="38100" anchor="ctr">
                    <a:solidFill>
                      <a:srgbClr val="FFFFFF"/>
                    </a:solidFill>
                  </a:tcPr>
                </a:tc>
              </a:tr>
              <a:tr h="335280">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Rs 3,170</a:t>
                      </a:r>
                    </a:p>
                  </a:txBody>
                  <a:tcPr marL="101600" marR="101600" marT="38100" marB="38100" anchor="ctr">
                    <a:solidFill>
                      <a:srgbClr val="F4F2FA"/>
                    </a:solidFill>
                  </a:tcPr>
                </a:tc>
                <a:tc>
                  <a:txBody>
                    <a:bodyPr/>
                    <a:lstStyle/>
                    <a:p>
                      <a:r>
                        <a:rPr sz="1200" b="0" i="0">
                          <a:solidFill>
                            <a:srgbClr val="1A1440"/>
                          </a:solidFill>
                          <a:latin typeface="Calibri"/>
                        </a:rPr>
                        <a:t>Rs 7,980</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r>
              <a:tr h="335280">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Rs 1,320</a:t>
                      </a:r>
                    </a:p>
                  </a:txBody>
                  <a:tcPr marL="101600" marR="101600" marT="38100" marB="38100" anchor="ctr">
                    <a:solidFill>
                      <a:srgbClr val="FFFFFF"/>
                    </a:solidFill>
                  </a:tcPr>
                </a:tc>
                <a:tc>
                  <a:txBody>
                    <a:bodyPr/>
                    <a:lstStyle/>
                    <a:p>
                      <a:r>
                        <a:rPr sz="1200" b="0" i="0">
                          <a:solidFill>
                            <a:srgbClr val="1A1440"/>
                          </a:solidFill>
                          <a:latin typeface="Calibri"/>
                        </a:rPr>
                        <a:t>Rs 3,170</a:t>
                      </a:r>
                    </a:p>
                  </a:txBody>
                  <a:tcPr marL="101600" marR="101600" marT="38100" marB="38100" anchor="ctr">
                    <a:solidFill>
                      <a:srgbClr val="FFFFFF"/>
                    </a:solidFill>
                  </a:tcPr>
                </a:tc>
                <a:tc>
                  <a:txBody>
                    <a:bodyPr/>
                    <a:lstStyle/>
                    <a:p>
                      <a:r>
                        <a:rPr sz="1200" b="0" i="0">
                          <a:solidFill>
                            <a:srgbClr val="1A1440"/>
                          </a:solidFill>
                          <a:latin typeface="Calibri"/>
                        </a:rPr>
                        <a:t>Rs 7,980</a:t>
                      </a:r>
                    </a:p>
                  </a:txBody>
                  <a:tcPr marL="101600" marR="101600" marT="38100" marB="38100" anchor="ctr">
                    <a:solidFill>
                      <a:srgbClr val="FFFFFF"/>
                    </a:solidFill>
                  </a:tcPr>
                </a:tc>
              </a:tr>
              <a:tr h="335280">
                <a:tc>
                  <a:txBody>
                    <a:bodyPr/>
                    <a:lstStyle/>
                    <a:p>
                      <a:r>
                        <a:rPr sz="1200" b="0" i="0">
                          <a:solidFill>
                            <a:srgbClr val="1A1440"/>
                          </a:solidFill>
                          <a:latin typeface="Calibri"/>
                        </a:rPr>
                        <a:t>Jul</a:t>
                      </a:r>
                    </a:p>
                  </a:txBody>
                  <a:tcPr marL="101600" marR="101600" marT="38100" marB="38100" anchor="ctr">
                    <a:solidFill>
                      <a:srgbClr val="F4F2FA"/>
                    </a:solidFill>
                  </a:tcPr>
                </a:tc>
                <a:tc>
                  <a:txBody>
                    <a:bodyPr/>
                    <a:lstStyle/>
                    <a:p>
                      <a:r>
                        <a:rPr sz="1200" b="0" i="0">
                          <a:solidFill>
                            <a:srgbClr val="1A1440"/>
                          </a:solidFill>
                          <a:latin typeface="Calibri"/>
                        </a:rPr>
                        <a:t>Rs 4,260</a:t>
                      </a:r>
                    </a:p>
                  </a:txBody>
                  <a:tcPr marL="101600" marR="101600" marT="38100" marB="38100" anchor="ctr">
                    <a:solidFill>
                      <a:srgbClr val="F4F2FA"/>
                    </a:solidFill>
                  </a:tcPr>
                </a:tc>
                <a:tc>
                  <a:txBody>
                    <a:bodyPr/>
                    <a:lstStyle/>
                    <a:p>
                      <a:r>
                        <a:rPr sz="1200" b="0" i="0">
                          <a:solidFill>
                            <a:srgbClr val="1A1440"/>
                          </a:solidFill>
                          <a:latin typeface="Calibri"/>
                        </a:rPr>
                        <a:t>Rs 1,320</a:t>
                      </a:r>
                    </a:p>
                  </a:txBody>
                  <a:tcPr marL="101600" marR="101600" marT="38100" marB="38100" anchor="ctr">
                    <a:solidFill>
                      <a:srgbClr val="F4F2FA"/>
                    </a:solidFill>
                  </a:tcPr>
                </a:tc>
                <a:tc>
                  <a:txBody>
                    <a:bodyPr/>
                    <a:lstStyle/>
                    <a:p>
                      <a:r>
                        <a:rPr sz="1200" b="0" i="0">
                          <a:solidFill>
                            <a:srgbClr val="1A1440"/>
                          </a:solidFill>
                          <a:latin typeface="Calibri"/>
                        </a:rPr>
                        <a:t>Rs 3,170</a:t>
                      </a:r>
                    </a:p>
                  </a:txBody>
                  <a:tcPr marL="101600" marR="101600" marT="38100" marB="38100" anchor="ctr">
                    <a:solidFill>
                      <a:srgbClr val="F4F2FA"/>
                    </a:solidFill>
                  </a:tcPr>
                </a:tc>
              </a:tr>
              <a:tr h="335280">
                <a:tc>
                  <a:txBody>
                    <a:bodyPr/>
                    <a:lstStyle/>
                    <a:p>
                      <a:r>
                        <a:rPr sz="1200" b="0" i="0">
                          <a:solidFill>
                            <a:srgbClr val="1A1440"/>
                          </a:solidFill>
                          <a:latin typeface="Calibri"/>
                        </a:rPr>
                        <a:t>Aug</a:t>
                      </a:r>
                    </a:p>
                  </a:txBody>
                  <a:tcPr marL="101600" marR="101600" marT="38100" marB="38100" anchor="ctr">
                    <a:solidFill>
                      <a:srgbClr val="FFFFFF"/>
                    </a:solidFill>
                  </a:tcPr>
                </a:tc>
                <a:tc>
                  <a:txBody>
                    <a:bodyPr/>
                    <a:lstStyle/>
                    <a:p>
                      <a:r>
                        <a:rPr sz="1200" b="0" i="0">
                          <a:solidFill>
                            <a:srgbClr val="1A1440"/>
                          </a:solidFill>
                          <a:latin typeface="Calibri"/>
                        </a:rPr>
                        <a:t>Rs 4,770</a:t>
                      </a:r>
                    </a:p>
                  </a:txBody>
                  <a:tcPr marL="101600" marR="101600" marT="38100" marB="38100" anchor="ctr">
                    <a:solidFill>
                      <a:srgbClr val="FFFFFF"/>
                    </a:solidFill>
                  </a:tcPr>
                </a:tc>
                <a:tc>
                  <a:txBody>
                    <a:bodyPr/>
                    <a:lstStyle/>
                    <a:p>
                      <a:r>
                        <a:rPr sz="1200" b="0" i="0">
                          <a:solidFill>
                            <a:srgbClr val="1A1440"/>
                          </a:solidFill>
                          <a:latin typeface="Calibri"/>
                        </a:rPr>
                        <a:t>Rs 4,260</a:t>
                      </a:r>
                    </a:p>
                  </a:txBody>
                  <a:tcPr marL="101600" marR="101600" marT="38100" marB="38100" anchor="ctr">
                    <a:solidFill>
                      <a:srgbClr val="FFFFFF"/>
                    </a:solidFill>
                  </a:tcPr>
                </a:tc>
                <a:tc>
                  <a:txBody>
                    <a:bodyPr/>
                    <a:lstStyle/>
                    <a:p>
                      <a:r>
                        <a:rPr sz="1200" b="0" i="0">
                          <a:solidFill>
                            <a:srgbClr val="1A1440"/>
                          </a:solidFill>
                          <a:latin typeface="Calibri"/>
                        </a:rPr>
                        <a:t>Rs 1,320</a:t>
                      </a:r>
                    </a:p>
                  </a:txBody>
                  <a:tcPr marL="101600" marR="101600" marT="38100" marB="38100" anchor="ctr">
                    <a:solidFill>
                      <a:srgbClr val="FFFFFF"/>
                    </a:solidFill>
                  </a:tcPr>
                </a:tc>
              </a:tr>
              <a:tr h="335280">
                <a:tc>
                  <a:txBody>
                    <a:bodyPr/>
                    <a:lstStyle/>
                    <a:p>
                      <a:r>
                        <a:rPr sz="1200" b="0" i="0">
                          <a:solidFill>
                            <a:srgbClr val="1A1440"/>
                          </a:solidFill>
                          <a:latin typeface="Calibri"/>
                        </a:rPr>
                        <a:t>Sep</a:t>
                      </a:r>
                    </a:p>
                  </a:txBody>
                  <a:tcPr marL="101600" marR="101600" marT="38100" marB="38100" anchor="ctr">
                    <a:solidFill>
                      <a:srgbClr val="F4F2FA"/>
                    </a:solidFill>
                  </a:tcPr>
                </a:tc>
                <a:tc>
                  <a:txBody>
                    <a:bodyPr/>
                    <a:lstStyle/>
                    <a:p>
                      <a:r>
                        <a:rPr sz="1200" b="0" i="0">
                          <a:solidFill>
                            <a:srgbClr val="1A1440"/>
                          </a:solidFill>
                          <a:latin typeface="Calibri"/>
                        </a:rPr>
                        <a:t>Rs 4,520</a:t>
                      </a:r>
                    </a:p>
                  </a:txBody>
                  <a:tcPr marL="101600" marR="101600" marT="38100" marB="38100" anchor="ctr">
                    <a:solidFill>
                      <a:srgbClr val="F4F2FA"/>
                    </a:solidFill>
                  </a:tcPr>
                </a:tc>
                <a:tc>
                  <a:txBody>
                    <a:bodyPr/>
                    <a:lstStyle/>
                    <a:p>
                      <a:r>
                        <a:rPr sz="1200" b="0" i="0">
                          <a:solidFill>
                            <a:srgbClr val="1A1440"/>
                          </a:solidFill>
                          <a:latin typeface="Calibri"/>
                        </a:rPr>
                        <a:t>Rs 4,770</a:t>
                      </a:r>
                    </a:p>
                  </a:txBody>
                  <a:tcPr marL="101600" marR="101600" marT="38100" marB="38100" anchor="ctr">
                    <a:solidFill>
                      <a:srgbClr val="F4F2FA"/>
                    </a:solidFill>
                  </a:tcPr>
                </a:tc>
                <a:tc>
                  <a:txBody>
                    <a:bodyPr/>
                    <a:lstStyle/>
                    <a:p>
                      <a:r>
                        <a:rPr sz="1200" b="0" i="0">
                          <a:solidFill>
                            <a:srgbClr val="1A1440"/>
                          </a:solidFill>
                          <a:latin typeface="Calibri"/>
                        </a:rPr>
                        <a:t>Rs 4,260</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878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7868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June sits below May and May below April, so a flag read at June would fire. September is below August but August is above July, so the flag read at September does not fire for C-0040.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more or fewer flags with no PARTITION BY?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read when the window has no PARTITION BY?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(ORDER BY customer_id, month) AS spend_1_back,</a:t>
            </a:r>
          </a:p>
          <a:p>
            <a:pPr>
              <a:spcAft>
                <a:spcPts val="200"/>
              </a:spcAft>
            </a:pPr>
            <a:r>
              <a:rPr sz="1400" b="0" i="0">
                <a:solidFill>
                  <a:srgbClr val="E4E1F1"/>
                </a:solidFill>
                <a:latin typeface="Consolas"/>
              </a:rPr>
              <a:t>lag(spend, 2) OVER (ORDER BY customer_id, month) AS spend_2_back</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WHERE month = DATE '2026-09-01' AND spend &lt; spend_1_back AND spend_1_back &lt; spend_2_back</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the version with PARTITION BY customer_id, does this flag more members, fewer or the same, as a letter? a) the same, since the sort keeps each member together; b) more; c) fewer; d) none, since LAG needs a partition.</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20 flagged: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read when the window has no PARTITION BY?</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LAG with no PARTITION BY</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THEM</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compared with another member's month</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Four members would be rung about a fall that happened in somebody else's account.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LAG ran into the member before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C-0132 get flagged for a fall from a month they never had?</a:t>
            </a:r>
          </a:p>
        </p:txBody>
      </p:sp>
      <p:pic>
        <p:nvPicPr>
          <p:cNvPr id="9" name="mermaid diagram" descr="673f432907df390d.png"/>
          <p:cNvPicPr>
            <a:picLocks noChangeAspect="1"/>
          </p:cNvPicPr>
          <p:nvPr/>
        </p:nvPicPr>
        <p:blipFill>
          <a:blip r:embed="rId5"/>
          <a:stretch>
            <a:fillRect/>
          </a:stretch>
        </p:blipFill>
        <p:spPr>
          <a:xfrm>
            <a:off x="2581122" y="1956816"/>
            <a:ext cx="7029450" cy="1485900"/>
          </a:xfrm>
          <a:prstGeom prst="rect">
            <a:avLst/>
          </a:prstGeom>
        </p:spPr>
      </p:pic>
      <p:sp>
        <p:nvSpPr>
          <p:cNvPr id="10" name="Rounded Rectangle 9"/>
          <p:cNvSpPr/>
          <p:nvPr/>
        </p:nvSpPr>
        <p:spPr>
          <a:xfrm>
            <a:off x="530352" y="35890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170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078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Carry lag(customer_id) beside lag(spend) and count the flags where the member LAG read is not the member on the row. It should be zero; it is four.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PARTITION BY customer_id flags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members fell two months running once each member's months are kept apart?</a:t>
            </a:r>
          </a:p>
        </p:txBody>
      </p:sp>
      <p:pic>
        <p:nvPicPr>
          <p:cNvPr id="9" name="mermaid diagram" descr="99c029961ebb53ff.png"/>
          <p:cNvPicPr>
            <a:picLocks noChangeAspect="1"/>
          </p:cNvPicPr>
          <p:nvPr/>
        </p:nvPicPr>
        <p:blipFill>
          <a:blip r:embed="rId5"/>
          <a:stretch>
            <a:fillRect/>
          </a:stretch>
        </p:blipFill>
        <p:spPr>
          <a:xfrm>
            <a:off x="2216791" y="1956816"/>
            <a:ext cx="7758112" cy="1371600"/>
          </a:xfrm>
          <a:prstGeom prst="rect">
            <a:avLst/>
          </a:prstGeom>
        </p:spPr>
      </p:pic>
      <p:sp>
        <p:nvSpPr>
          <p:cNvPr id="10" name="Rounded Rectangle 9"/>
          <p:cNvSpPr/>
          <p:nvPr/>
        </p:nvSpPr>
        <p:spPr>
          <a:xfrm>
            <a:off x="530352" y="34747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027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935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window starts again for every member, so LAG returns NULL on a member's first row and never reaches into another member's months. Four members come off the call list.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Python walk finds the same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walk through each member's months in Python find the same members?</a:t>
            </a:r>
          </a:p>
        </p:txBody>
      </p:sp>
      <p:sp>
        <p:nvSpPr>
          <p:cNvPr id="9" name="Rounded Rectangle 8"/>
          <p:cNvSpPr/>
          <p:nvPr/>
        </p:nvSpPr>
        <p:spPr>
          <a:xfrm>
            <a:off x="530352" y="1956816"/>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months, flagged, SEP = {}, [], date(2026, 9, 1)</a:t>
            </a:r>
          </a:p>
          <a:p>
            <a:pPr>
              <a:spcAft>
                <a:spcPts val="200"/>
              </a:spcAft>
            </a:pPr>
            <a:r>
              <a:rPr sz="1400" b="0" i="0">
                <a:solidFill>
                  <a:srgbClr val="E4E1F1"/>
                </a:solidFill>
                <a:latin typeface="Consolas"/>
              </a:rPr>
              <a:t>for r in rows:                                   # 752 member-months, unordered</a:t>
            </a:r>
          </a:p>
          <a:p>
            <a:pPr>
              <a:spcAft>
                <a:spcPts val="200"/>
              </a:spcAft>
            </a:pPr>
            <a:r>
              <a:rPr sz="1400" b="0" i="0">
                <a:solidFill>
                  <a:srgbClr val="E4E1F1"/>
                </a:solidFill>
                <a:latin typeface="Consolas"/>
              </a:rPr>
              <a:t>    months.setdefault(r["customer_id"], []).append((r["month"], r["spend"]))</a:t>
            </a:r>
          </a:p>
          <a:p>
            <a:pPr>
              <a:spcAft>
                <a:spcPts val="200"/>
              </a:spcAft>
            </a:pPr>
            <a:r>
              <a:rPr sz="1400" b="0" i="0">
                <a:solidFill>
                  <a:srgbClr val="E4E1F1"/>
                </a:solidFill>
                <a:latin typeface="Consolas"/>
              </a:rPr>
              <a:t>for cid, ms in months.items():</a:t>
            </a:r>
          </a:p>
          <a:p>
            <a:pPr>
              <a:spcAft>
                <a:spcPts val="200"/>
              </a:spcAft>
            </a:pPr>
            <a:r>
              <a:rPr sz="1400" b="0" i="0">
                <a:solidFill>
                  <a:srgbClr val="E4E1F1"/>
                </a:solidFill>
                <a:latin typeface="Consolas"/>
              </a:rPr>
              <a:t>    ms.sort()                                    # each member's months, in order</a:t>
            </a:r>
          </a:p>
          <a:p>
            <a:pPr>
              <a:spcAft>
                <a:spcPts val="200"/>
              </a:spcAft>
            </a:pPr>
            <a:r>
              <a:rPr sz="1400" b="0" i="0">
                <a:solidFill>
                  <a:srgbClr val="E4E1F1"/>
                </a:solidFill>
                <a:latin typeface="Consolas"/>
              </a:rPr>
              <a:t>    if len(ms) &gt;= 3 and ms[-1][0] == SEP:        # the last row is September</a:t>
            </a:r>
          </a:p>
          <a:p>
            <a:pPr>
              <a:spcAft>
                <a:spcPts val="200"/>
              </a:spcAft>
            </a:pPr>
            <a:r>
              <a:rPr sz="1400" b="0" i="0">
                <a:solidFill>
                  <a:srgbClr val="E4E1F1"/>
                </a:solidFill>
                <a:latin typeface="Consolas"/>
              </a:rPr>
              <a:t>        if ms[-1][1] &lt; ms[-2][1] &lt; ms[-3][1]:    # below the row before, twice</a:t>
            </a:r>
          </a:p>
          <a:p>
            <a:pPr>
              <a:spcAft>
                <a:spcPts val="200"/>
              </a:spcAft>
            </a:pPr>
            <a:r>
              <a:rPr sz="1400" b="0" i="0">
                <a:solidFill>
                  <a:srgbClr val="E4E1F1"/>
                </a:solidFill>
                <a:latin typeface="Consolas"/>
              </a:rPr>
              <a:t>            flagged.append(cid)</a:t>
            </a:r>
          </a:p>
        </p:txBody>
      </p:sp>
      <p:sp>
        <p:nvSpPr>
          <p:cNvPr id="14" name="TextBox 13"/>
          <p:cNvSpPr txBox="1"/>
          <p:nvPr/>
        </p:nvSpPr>
        <p:spPr>
          <a:xfrm>
            <a:off x="530352" y="4598415"/>
            <a:ext cx="11130991" cy="698500"/>
          </a:xfrm>
          <a:prstGeom prst="rect">
            <a:avLst/>
          </a:prstGeom>
          <a:noFill/>
        </p:spPr>
        <p:txBody>
          <a:bodyPr wrap="square" anchor="t" lIns="0" rIns="0" tIns="0" bIns="0">
            <a:spAutoFit/>
          </a:bodyPr>
          <a:lstStyle/>
          <a:p>
            <a:pPr algn="l"/>
            <a:r>
              <a:rPr sz="4400" b="0" i="0">
                <a:solidFill>
                  <a:srgbClr val="5B3FD6"/>
                </a:solidFill>
                <a:latin typeface="Georgia"/>
              </a:rPr>
              <a:t>16 = 16</a:t>
            </a:r>
          </a:p>
        </p:txBody>
      </p:sp>
      <p:sp>
        <p:nvSpPr>
          <p:cNvPr id="15" name="TextBox 14"/>
          <p:cNvSpPr txBox="1"/>
          <p:nvPr/>
        </p:nvSpPr>
        <p:spPr>
          <a:xfrm>
            <a:off x="530352" y="533349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6" name="TextBox 15"/>
          <p:cNvSpPr txBox="1"/>
          <p:nvPr/>
        </p:nvSpPr>
        <p:spPr>
          <a:xfrm>
            <a:off x="530352" y="5534660"/>
            <a:ext cx="11130991" cy="193421"/>
          </a:xfrm>
          <a:prstGeom prst="rect">
            <a:avLst/>
          </a:prstGeom>
          <a:noFill/>
        </p:spPr>
        <p:txBody>
          <a:bodyPr wrap="square" anchor="t" lIns="0" rIns="0" tIns="0" bIns="0">
            <a:spAutoFit/>
          </a:bodyPr>
          <a:lstStyle/>
          <a:p>
            <a:pPr algn="l"/>
            <a:r>
              <a:rPr sz="950" b="0" i="0">
                <a:solidFill>
                  <a:srgbClr val="6B6690"/>
                </a:solidFill>
                <a:latin typeface="Calibri"/>
              </a:rPr>
              <a:t>the same members as LAG</a:t>
            </a:r>
          </a:p>
        </p:txBody>
      </p:sp>
      <p:sp>
        <p:nvSpPr>
          <p:cNvPr id="17" name="Rectangle 16"/>
          <p:cNvSpPr/>
          <p:nvPr/>
        </p:nvSpPr>
        <p:spPr>
          <a:xfrm>
            <a:off x="530352" y="5787135"/>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6" name="Oval 2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Sixteen members fell twice, months kept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whose monthly spend fell two months running?</a:t>
            </a:r>
          </a:p>
        </p:txBody>
      </p:sp>
      <p:graphicFrame>
        <p:nvGraphicFramePr>
          <p:cNvPr id="9" name="Table 8"/>
          <p:cNvGraphicFramePr>
            <a:graphicFrameLocks noGrp="1"/>
          </p:cNvGraphicFramePr>
          <p:nvPr/>
        </p:nvGraphicFramePr>
        <p:xfrm>
          <a:off x="530352" y="1682496"/>
          <a:ext cx="11130991" cy="2176272"/>
        </p:xfrm>
        <a:graphic>
          <a:graphicData uri="http://schemas.openxmlformats.org/drawingml/2006/table">
            <a:tbl>
              <a:tblPr firstRow="0" bandRow="0">
                <a:tableStyleId>{2D5ABB26-0587-4C30-8999-92F81FD0307C}</a:tableStyleId>
              </a:tblPr>
              <a:tblGrid>
                <a:gridCol w="5122737"/>
                <a:gridCol w="600825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LAG: 752 member-months read once</a:t>
                      </a:r>
                    </a:p>
                  </a:txBody>
                  <a:tcPr marL="101600" marR="101600" marT="38100" marB="38100" anchor="ctr">
                    <a:solidFill>
                      <a:srgbClr val="FFFFFF"/>
                    </a:solidFill>
                  </a:tcPr>
                </a:tc>
              </a:tr>
              <a:tr h="310896">
                <a:tc>
                  <a:txBody>
                    <a:bodyPr/>
                    <a:lstStyle/>
                    <a:p>
                      <a:r>
                        <a:rPr sz="900" b="0" i="0">
                          <a:solidFill>
                            <a:srgbClr val="1A1440"/>
                          </a:solidFill>
                          <a:latin typeface="Calibri"/>
                        </a:rPr>
                        <a:t>2. What did each spend monthly?</a:t>
                      </a:r>
                    </a:p>
                  </a:txBody>
                  <a:tcPr marL="101600" marR="101600" marT="38100" marB="38100" anchor="ctr">
                    <a:solidFill>
                      <a:srgbClr val="F4F2FA"/>
                    </a:solidFill>
                  </a:tcPr>
                </a:tc>
                <a:tc>
                  <a:txBody>
                    <a:bodyPr/>
                    <a:lstStyle/>
                    <a:p>
                      <a:r>
                        <a:rPr sz="900" b="0" i="0">
                          <a:solidFill>
                            <a:srgbClr val="1A1440"/>
                          </a:solidFill>
                          <a:latin typeface="Calibri"/>
                        </a:rPr>
                        <a:t>752 member-months for 301 members</a:t>
                      </a:r>
                    </a:p>
                  </a:txBody>
                  <a:tcPr marL="101600" marR="101600" marT="38100" marB="38100" anchor="ctr">
                    <a:solidFill>
                      <a:srgbClr val="F4F2FA"/>
                    </a:solidFill>
                  </a:tcPr>
                </a:tc>
              </a:tr>
              <a:tr h="310896">
                <a:tc>
                  <a:txBody>
                    <a:bodyPr/>
                    <a:lstStyle/>
                    <a:p>
                      <a:r>
                        <a:rPr sz="900" b="0" i="0">
                          <a:solidFill>
                            <a:srgbClr val="1A1440"/>
                          </a:solidFill>
                          <a:latin typeface="Calibri"/>
                        </a:rPr>
                        <a:t>3. What does LAG put beside it?</a:t>
                      </a:r>
                    </a:p>
                  </a:txBody>
                  <a:tcPr marL="101600" marR="101600" marT="38100" marB="38100" anchor="ctr">
                    <a:solidFill>
                      <a:srgbClr val="FFFFFF"/>
                    </a:solidFill>
                  </a:tcPr>
                </a:tc>
                <a:tc>
                  <a:txBody>
                    <a:bodyPr/>
                    <a:lstStyle/>
                    <a:p>
                      <a:r>
                        <a:rPr sz="900" b="0" i="0">
                          <a:solidFill>
                            <a:srgbClr val="1A1440"/>
                          </a:solidFill>
                          <a:latin typeface="Calibri"/>
                        </a:rPr>
                        <a:t>The row before; NULL on a first month</a:t>
                      </a:r>
                    </a:p>
                  </a:txBody>
                  <a:tcPr marL="101600" marR="101600" marT="38100" marB="38100" anchor="ctr">
                    <a:solidFill>
                      <a:srgbClr val="FFFFFF"/>
                    </a:solidFill>
                  </a:tcPr>
                </a:tc>
              </a:tr>
              <a:tr h="310896">
                <a:tc>
                  <a:txBody>
                    <a:bodyPr/>
                    <a:lstStyle/>
                    <a:p>
                      <a:r>
                        <a:rPr sz="900" b="0" i="0">
                          <a:solidFill>
                            <a:srgbClr val="1A1440"/>
                          </a:solidFill>
                          <a:latin typeface="Calibri"/>
                        </a:rPr>
                        <a:t>4. What if nothing partitions?</a:t>
                      </a:r>
                    </a:p>
                  </a:txBody>
                  <a:tcPr marL="101600" marR="101600" marT="38100" marB="38100" anchor="ctr">
                    <a:solidFill>
                      <a:srgbClr val="F4F2FA"/>
                    </a:solidFill>
                  </a:tcPr>
                </a:tc>
                <a:tc>
                  <a:txBody>
                    <a:bodyPr/>
                    <a:lstStyle/>
                    <a:p>
                      <a:r>
                        <a:rPr sz="900" b="0" i="0">
                          <a:solidFill>
                            <a:srgbClr val="1A1440"/>
                          </a:solidFill>
                          <a:latin typeface="Calibri"/>
                        </a:rPr>
                        <a:t>20 flags, four of them borrowed</a:t>
                      </a:r>
                    </a:p>
                  </a:txBody>
                  <a:tcPr marL="101600" marR="101600" marT="38100" marB="38100" anchor="ctr">
                    <a:solidFill>
                      <a:srgbClr val="F4F2FA"/>
                    </a:solidFill>
                  </a:tcPr>
                </a:tc>
              </a:tr>
              <a:tr h="310896">
                <a:tc>
                  <a:txBody>
                    <a:bodyPr/>
                    <a:lstStyle/>
                    <a:p>
                      <a:r>
                        <a:rPr sz="900" b="0" i="0">
                          <a:solidFill>
                            <a:srgbClr val="1A1440"/>
                          </a:solidFill>
                          <a:latin typeface="Calibri"/>
                        </a:rPr>
                        <a:t>5. How many fell twice?</a:t>
                      </a:r>
                    </a:p>
                  </a:txBody>
                  <a:tcPr marL="101600" marR="101600" marT="38100" marB="38100" anchor="ctr">
                    <a:solidFill>
                      <a:srgbClr val="FFFFFF"/>
                    </a:solidFill>
                  </a:tcPr>
                </a:tc>
                <a:tc>
                  <a:txBody>
                    <a:bodyPr/>
                    <a:lstStyle/>
                    <a:p>
                      <a:r>
                        <a:rPr sz="900" b="0" i="0">
                          <a:solidFill>
                            <a:srgbClr val="1A1440"/>
                          </a:solidFill>
                          <a:latin typeface="Calibri"/>
                        </a:rPr>
                        <a:t>16, with PARTITION BY customer_id</a:t>
                      </a:r>
                    </a:p>
                  </a:txBody>
                  <a:tcPr marL="101600" marR="101600" marT="38100" marB="38100" anchor="ctr">
                    <a:solidFill>
                      <a:srgbClr val="FFFFFF"/>
                    </a:solidFill>
                  </a:tcPr>
                </a:tc>
              </a:tr>
              <a:tr h="310896">
                <a:tc>
                  <a:txBody>
                    <a:bodyPr/>
                    <a:lstStyle/>
                    <a:p>
                      <a:r>
                        <a:rPr sz="900" b="0" i="0">
                          <a:solidFill>
                            <a:srgbClr val="1A1440"/>
                          </a:solidFill>
                          <a:latin typeface="Calibri"/>
                        </a:rPr>
                        <a:t>6. Does a Python walk agree?</a:t>
                      </a:r>
                    </a:p>
                  </a:txBody>
                  <a:tcPr marL="101600" marR="101600" marT="38100" marB="38100" anchor="ctr">
                    <a:solidFill>
                      <a:srgbClr val="F4F2FA"/>
                    </a:solidFill>
                  </a:tcPr>
                </a:tc>
                <a:tc>
                  <a:txBody>
                    <a:bodyPr/>
                    <a:lstStyle/>
                    <a:p>
                      <a:r>
                        <a:rPr sz="900" b="0" i="0">
                          <a:solidFill>
                            <a:srgbClr val="1A1440"/>
                          </a:solidFill>
                          <a:latin typeface="Calibri"/>
                        </a:rPr>
                        <a:t>Yes, the same 16</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window that is not told whose rows belong together will compare anyone with anyone. Carry the id LAG read beside the value it read, and read the rows behind a flag before a call goes out."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would you find customers whose spend fell two months in a row? [F] LAG returned a value on a customer's very first month: what went wrong?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82</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On track against plan?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Has Q2 revenue kept pace with the plan line week by week, and where did it stand at mid-quarter, when Meera decides whether to act?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1" name="Rounded Rectangle 10"/>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2" name="Rounded Rectangle 11"/>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3" name="Rounded Rectangle 12"/>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4" name="Rounded Rectangle 13"/>
          <p:cNvSpPr/>
          <p:nvPr/>
        </p:nvSpPr>
        <p:spPr>
          <a:xfrm>
            <a:off x="7903693"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On track against plan?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67 / 82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Meera: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Q2 against plan,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decides at mid-quarter whether to hold the plan, push a campaign or move budget. A quarter reported behind plan when it is on plan sends Marketing after a gap that is not there, and a lead that one week made hides a run rate, how each week books against its own week's plan, that is below plan.</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accumulate</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much by each week's end?</a:t>
            </a:r>
          </a:p>
        </p:txBody>
      </p:sp>
      <p:sp>
        <p:nvSpPr>
          <p:cNvPr id="22" name="TextBox 21"/>
          <p:cNvSpPr txBox="1"/>
          <p:nvPr/>
        </p:nvSpPr>
        <p:spPr>
          <a:xfrm>
            <a:off x="258058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plan's weeks</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it close on Q2?</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Against Monday's total</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at week 7 of 13?</a:t>
            </a:r>
          </a:p>
        </p:txBody>
      </p:sp>
      <p:sp>
        <p:nvSpPr>
          <p:cNvPr id="32" name="TextBox 31"/>
          <p:cNvSpPr txBox="1"/>
          <p:nvPr/>
        </p:nvSpPr>
        <p:spPr>
          <a:xfrm>
            <a:off x="6351879"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Mid-quarter, and each week since</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 crossed?</a:t>
            </a:r>
          </a:p>
        </p:txBody>
      </p:sp>
      <p:sp>
        <p:nvSpPr>
          <p:cNvPr id="37" name="TextBox 36"/>
          <p:cNvSpPr txBox="1"/>
          <p:nvPr/>
        </p:nvSpPr>
        <p:spPr>
          <a:xfrm>
            <a:off x="823752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running total by order</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plain sum agree?</a:t>
            </a:r>
          </a:p>
        </p:txBody>
      </p:sp>
      <p:sp>
        <p:nvSpPr>
          <p:cNvPr id="42" name="TextBox 41"/>
          <p:cNvSpPr txBox="1"/>
          <p:nvPr/>
        </p:nvSpPr>
        <p:spPr>
          <a:xfrm>
            <a:off x="10123170" y="49982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82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to know by mid-quarter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plan line, what is measured, and what does a wrong reading cost?</a:t>
            </a:r>
          </a:p>
        </p:txBody>
      </p:sp>
      <p:sp>
        <p:nvSpPr>
          <p:cNvPr id="9" name="Rounded Rectangle 8"/>
          <p:cNvSpPr/>
          <p:nvPr/>
        </p:nvSpPr>
        <p:spPr>
          <a:xfrm>
            <a:off x="53035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CEO of Kalpa Retail; decides at mid-quarter whether to act.</a:t>
            </a:r>
          </a:p>
        </p:txBody>
      </p:sp>
      <p:sp>
        <p:nvSpPr>
          <p:cNvPr id="15" name="Rounded Rectangle 14"/>
          <p:cNvSpPr/>
          <p:nvPr/>
        </p:nvSpPr>
        <p:spPr>
          <a:xfrm>
            <a:off x="430164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range_48ef45d6f3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Booked to date against plan to date</a:t>
            </a:r>
          </a:p>
        </p:txBody>
      </p:sp>
      <p:sp>
        <p:nvSpPr>
          <p:cNvPr id="20" name="TextBox 19"/>
          <p:cNvSpPr txBox="1"/>
          <p:nvPr/>
        </p:nvSpPr>
        <p:spPr>
          <a:xfrm>
            <a:off x="4502810" y="3534664"/>
            <a:ext cx="3186074" cy="399796"/>
          </a:xfrm>
          <a:prstGeom prst="rect">
            <a:avLst/>
          </a:prstGeom>
          <a:noFill/>
        </p:spPr>
        <p:txBody>
          <a:bodyPr wrap="square" anchor="t" lIns="0" rIns="0" tIns="0" bIns="0">
            <a:spAutoFit/>
          </a:bodyPr>
          <a:lstStyle/>
          <a:p>
            <a:pPr algn="l"/>
            <a:r>
              <a:rPr sz="1100" b="0" i="0">
                <a:solidFill>
                  <a:srgbClr val="6B6690"/>
                </a:solidFill>
                <a:latin typeface="Calibri"/>
              </a:rPr>
              <a:t>Every week up to and including the one on the row, both sides.</a:t>
            </a:r>
          </a:p>
        </p:txBody>
      </p:sp>
      <p:sp>
        <p:nvSpPr>
          <p:cNvPr id="21" name="Rounded Rectangle 20"/>
          <p:cNvSpPr/>
          <p:nvPr/>
        </p:nvSpPr>
        <p:spPr>
          <a:xfrm>
            <a:off x="8072932" y="1956816"/>
            <a:ext cx="3588410"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READING COSTS</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A campaign for a gap that is not there</a:t>
            </a:r>
          </a:p>
        </p:txBody>
      </p:sp>
      <p:sp>
        <p:nvSpPr>
          <p:cNvPr id="26" name="TextBox 25"/>
          <p:cNvSpPr txBox="1"/>
          <p:nvPr/>
        </p:nvSpPr>
        <p:spPr>
          <a:xfrm>
            <a:off x="8274100" y="3534664"/>
            <a:ext cx="3186074" cy="399796"/>
          </a:xfrm>
          <a:prstGeom prst="rect">
            <a:avLst/>
          </a:prstGeom>
          <a:noFill/>
        </p:spPr>
        <p:txBody>
          <a:bodyPr wrap="square" anchor="t" lIns="0" rIns="0" tIns="0" bIns="0">
            <a:spAutoFit/>
          </a:bodyPr>
          <a:lstStyle/>
          <a:p>
            <a:pPr algn="l"/>
            <a:r>
              <a:rPr sz="1100" b="0" i="0">
                <a:solidFill>
                  <a:srgbClr val="CFC9EE"/>
                </a:solidFill>
                <a:latin typeface="Calibri"/>
              </a:rPr>
              <a:t>Discounts that cost margin, or a slipping run rate nobody sees.</a:t>
            </a:r>
          </a:p>
        </p:txBody>
      </p:sp>
      <p:sp>
        <p:nvSpPr>
          <p:cNvPr id="27" name="Rounded Rectangle 26"/>
          <p:cNvSpPr/>
          <p:nvPr/>
        </p:nvSpPr>
        <p:spPr>
          <a:xfrm>
            <a:off x="530352" y="433527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6675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777232"/>
            <a:ext cx="237744" cy="237744"/>
          </a:xfrm>
          <a:prstGeom prst="rect">
            <a:avLst/>
          </a:prstGeom>
        </p:spPr>
      </p:pic>
      <p:sp>
        <p:nvSpPr>
          <p:cNvPr id="30" name="TextBox 29"/>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701032"/>
            <a:ext cx="9987991" cy="682752"/>
          </a:xfrm>
          <a:prstGeom prst="rect">
            <a:avLst/>
          </a:prstGeom>
          <a:noFill/>
        </p:spPr>
        <p:txBody>
          <a:bodyPr wrap="square" anchor="t" lIns="0" rIns="0" tIns="0" bIns="0">
            <a:spAutoFit/>
          </a:bodyPr>
          <a:lstStyle/>
          <a:p>
            <a:r>
              <a:rPr sz="1500" b="0" i="0">
                <a:solidFill>
                  <a:srgbClr val="FFFFFF"/>
                </a:solidFill>
                <a:latin typeface="Calibri"/>
              </a:rPr>
              <a:t>"Meera wants to see revenue accumulate week by week against the plan line, so we know by mid-quarter whether we are on track."</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82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cut its Q2 margin forecast five weeks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read its quarter while it was still running?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FORECAST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centred on Q1's margin, 18 May 2022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FORECAST ON 7 JUNE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five weeks into Q2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WHERE Q2 CLOSED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released 17 August 2022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The figure is Target's operating margin, the share of sales left as operating profit, and its forecast for the quarter is called guidance. A quarter read only at its end leaves nothing to act on, which is why Meera wants Q2 week by week.</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running SUM in a window: 462 rows read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accumulate the quarter against plan, and what would each way cost?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114852"/>
                <a:gridCol w="4802039"/>
                <a:gridCol w="3214099"/>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accumulates</a:t>
                      </a:r>
                    </a:p>
                  </a:txBody>
                  <a:tcPr marL="101600" marR="101600" marT="38100" marB="38100" anchor="ctr">
                    <a:solidFill>
                      <a:srgbClr val="1A0F5C"/>
                    </a:solidFill>
                  </a:tcPr>
                </a:tc>
                <a:tc>
                  <a:txBody>
                    <a:bodyPr/>
                    <a:lstStyle/>
                    <a:p>
                      <a:r>
                        <a:rPr sz="1450" b="1" i="0">
                          <a:solidFill>
                            <a:srgbClr val="FFFFFF"/>
                          </a:solidFill>
                          <a:latin typeface="Calibri"/>
                        </a:rPr>
                        <a:t>Works through</a:t>
                      </a:r>
                    </a:p>
                  </a:txBody>
                  <a:tcPr marL="101600" marR="101600" marT="38100" marB="38100" anchor="ctr">
                    <a:solidFill>
                      <a:srgbClr val="1A0F5C"/>
                    </a:solidFill>
                  </a:tcPr>
                </a:tc>
              </a:tr>
              <a:tr h="369824">
                <a:tc>
                  <a:txBody>
                    <a:bodyPr/>
                    <a:lstStyle/>
                    <a:p>
                      <a:r>
                        <a:rPr sz="1400" b="0" i="0">
                          <a:solidFill>
                            <a:srgbClr val="1A1440"/>
                          </a:solidFill>
                          <a:latin typeface="Calibri"/>
                        </a:rPr>
                        <a:t>A. A running SUM in a window</a:t>
                      </a:r>
                    </a:p>
                  </a:txBody>
                  <a:tcPr marL="101600" marR="101600" marT="38100" marB="38100" anchor="ctr">
                    <a:solidFill>
                      <a:srgbClr val="FFFFFF"/>
                    </a:solidFill>
                  </a:tcPr>
                </a:tc>
                <a:tc>
                  <a:txBody>
                    <a:bodyPr/>
                    <a:lstStyle/>
                    <a:p>
                      <a:r>
                        <a:rPr sz="1400" b="0" i="0">
                          <a:solidFill>
                            <a:srgbClr val="1A1440"/>
                          </a:solidFill>
                          <a:latin typeface="Calibri"/>
                        </a:rPr>
                        <a:t>weekly totals, then sum() OVER (ORDER BY week)</a:t>
                      </a:r>
                    </a:p>
                  </a:txBody>
                  <a:tcPr marL="101600" marR="101600" marT="38100" marB="38100" anchor="ctr">
                    <a:solidFill>
                      <a:srgbClr val="FFFFFF"/>
                    </a:solidFill>
                  </a:tcPr>
                </a:tc>
                <a:tc>
                  <a:txBody>
                    <a:bodyPr/>
                    <a:lstStyle/>
                    <a:p>
                      <a:r>
                        <a:rPr sz="1400" b="0" i="0">
                          <a:solidFill>
                            <a:srgbClr val="1A1440"/>
                          </a:solidFill>
                          <a:latin typeface="Calibri"/>
                        </a:rPr>
                        <a:t>462 orders, once</a:t>
                      </a:r>
                    </a:p>
                  </a:txBody>
                  <a:tcPr marL="101600" marR="101600" marT="38100" marB="38100" anchor="ctr">
                    <a:solidFill>
                      <a:srgbClr val="FFFFFF"/>
                    </a:solidFill>
                  </a:tcPr>
                </a:tc>
              </a:tr>
              <a:tr h="369824">
                <a:tc>
                  <a:txBody>
                    <a:bodyPr/>
                    <a:lstStyle/>
                    <a:p>
                      <a:r>
                        <a:rPr sz="1400" b="0" i="0">
                          <a:solidFill>
                            <a:srgbClr val="1A1440"/>
                          </a:solidFill>
                          <a:latin typeface="Calibri"/>
                        </a:rPr>
                        <a:t>B. A plain SUM per week's end</a:t>
                      </a:r>
                    </a:p>
                  </a:txBody>
                  <a:tcPr marL="101600" marR="101600" marT="38100" marB="38100" anchor="ctr">
                    <a:solidFill>
                      <a:srgbClr val="F4F2FA"/>
                    </a:solidFill>
                  </a:tcPr>
                </a:tc>
                <a:tc>
                  <a:txBody>
                    <a:bodyPr/>
                    <a:lstStyle/>
                    <a:p>
                      <a:r>
                        <a:rPr sz="1400" b="0" i="0">
                          <a:solidFill>
                            <a:srgbClr val="1A1440"/>
                          </a:solidFill>
                          <a:latin typeface="Calibri"/>
                        </a:rPr>
                        <a:t>every order up to each week's last day</a:t>
                      </a:r>
                    </a:p>
                  </a:txBody>
                  <a:tcPr marL="101600" marR="101600" marT="38100" marB="38100" anchor="ctr">
                    <a:solidFill>
                      <a:srgbClr val="F4F2FA"/>
                    </a:solidFill>
                  </a:tcPr>
                </a:tc>
                <a:tc>
                  <a:txBody>
                    <a:bodyPr/>
                    <a:lstStyle/>
                    <a:p>
                      <a:r>
                        <a:rPr sz="1400" b="0" i="0">
                          <a:solidFill>
                            <a:srgbClr val="1A1440"/>
                          </a:solidFill>
                          <a:latin typeface="Calibri"/>
                        </a:rPr>
                        <a:t>6,006 order reads</a:t>
                      </a:r>
                    </a:p>
                  </a:txBody>
                  <a:tcPr marL="101600" marR="101600" marT="38100" marB="38100" anchor="ctr">
                    <a:solidFill>
                      <a:srgbClr val="F4F2FA"/>
                    </a:solidFill>
                  </a:tcPr>
                </a:tc>
              </a:tr>
              <a:tr h="369824">
                <a:tc>
                  <a:txBody>
                    <a:bodyPr/>
                    <a:lstStyle/>
                    <a:p>
                      <a:r>
                        <a:rPr sz="1400" b="0" i="0">
                          <a:solidFill>
                            <a:srgbClr val="1A1440"/>
                          </a:solidFill>
                          <a:latin typeface="Calibri"/>
                        </a:rPr>
                        <a:t>C. A self-join of weeks</a:t>
                      </a:r>
                    </a:p>
                  </a:txBody>
                  <a:tcPr marL="101600" marR="101600" marT="38100" marB="38100" anchor="ctr">
                    <a:solidFill>
                      <a:srgbClr val="FFFFFF"/>
                    </a:solidFill>
                  </a:tcPr>
                </a:tc>
                <a:tc>
                  <a:txBody>
                    <a:bodyPr/>
                    <a:lstStyle/>
                    <a:p>
                      <a:r>
                        <a:rPr sz="1400" b="0" i="0">
                          <a:solidFill>
                            <a:srgbClr val="1A1440"/>
                          </a:solidFill>
                          <a:latin typeface="Calibri"/>
                        </a:rPr>
                        <a:t>each week with every week before</a:t>
                      </a:r>
                    </a:p>
                  </a:txBody>
                  <a:tcPr marL="101600" marR="101600" marT="38100" marB="38100" anchor="ctr">
                    <a:solidFill>
                      <a:srgbClr val="FFFFFF"/>
                    </a:solidFill>
                  </a:tcPr>
                </a:tc>
                <a:tc>
                  <a:txBody>
                    <a:bodyPr/>
                    <a:lstStyle/>
                    <a:p>
                      <a:r>
                        <a:rPr sz="1400" b="0" i="0">
                          <a:solidFill>
                            <a:srgbClr val="1A1440"/>
                          </a:solidFill>
                          <a:latin typeface="Calibri"/>
                        </a:rPr>
                        <a:t>462 orders, then 91 week pairs</a:t>
                      </a:r>
                    </a:p>
                  </a:txBody>
                  <a:tcPr marL="101600" marR="101600" marT="38100" marB="38100" anchor="ctr">
                    <a:solidFill>
                      <a:srgbClr val="FFFFFF"/>
                    </a:solidFill>
                  </a:tcPr>
                </a:tc>
              </a:tr>
              <a:tr h="369824">
                <a:tc>
                  <a:txBody>
                    <a:bodyPr/>
                    <a:lstStyle/>
                    <a:p>
                      <a:r>
                        <a:rPr sz="1400" b="0" i="0">
                          <a:solidFill>
                            <a:srgbClr val="1A1440"/>
                          </a:solidFill>
                          <a:latin typeface="Calibri"/>
                        </a:rPr>
                        <a:t>D. A spreadsheet column</a:t>
                      </a:r>
                    </a:p>
                  </a:txBody>
                  <a:tcPr marL="101600" marR="101600" marT="38100" marB="38100" anchor="ctr">
                    <a:solidFill>
                      <a:srgbClr val="F4F2FA"/>
                    </a:solidFill>
                  </a:tcPr>
                </a:tc>
                <a:tc>
                  <a:txBody>
                    <a:bodyPr/>
                    <a:lstStyle/>
                    <a:p>
                      <a:r>
                        <a:rPr sz="1400" b="0" i="0">
                          <a:solidFill>
                            <a:srgbClr val="1A1440"/>
                          </a:solidFill>
                          <a:latin typeface="Calibri"/>
                        </a:rPr>
                        <a:t>an export, a formula copied down</a:t>
                      </a:r>
                    </a:p>
                  </a:txBody>
                  <a:tcPr marL="101600" marR="101600" marT="38100" marB="38100" anchor="ctr">
                    <a:solidFill>
                      <a:srgbClr val="F4F2FA"/>
                    </a:solidFill>
                  </a:tcPr>
                </a:tc>
                <a:tc>
                  <a:txBody>
                    <a:bodyPr/>
                    <a:lstStyle/>
                    <a:p>
                      <a:r>
                        <a:rPr sz="1400" b="0" i="0">
                          <a:solidFill>
                            <a:srgbClr val="1A1440"/>
                          </a:solidFill>
                          <a:latin typeface="Calibri"/>
                        </a:rPr>
                        <a:t>462 rows exported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booked and plan side by side in one table. What would switch it: one reading on a day Meera names, such as "where were we on 19 August?", which is one plain SUM with that date in WHERE.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running total keeps every week and adds to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sum() OVER (ORDER BY week) add to each row?</a:t>
            </a:r>
          </a:p>
        </p:txBody>
      </p:sp>
      <p:pic>
        <p:nvPicPr>
          <p:cNvPr id="9" name="mermaid diagram" descr="44edb38615300c9b.png"/>
          <p:cNvPicPr>
            <a:picLocks noChangeAspect="1"/>
          </p:cNvPicPr>
          <p:nvPr/>
        </p:nvPicPr>
        <p:blipFill>
          <a:blip r:embed="rId6"/>
          <a:stretch>
            <a:fillRect/>
          </a:stretch>
        </p:blipFill>
        <p:spPr>
          <a:xfrm>
            <a:off x="530352" y="1956816"/>
            <a:ext cx="11130991" cy="840334"/>
          </a:xfrm>
          <a:prstGeom prst="rect">
            <a:avLst/>
          </a:prstGeom>
        </p:spPr>
      </p:pic>
      <p:sp>
        <p:nvSpPr>
          <p:cNvPr id="10" name="Rounded Rectangle 9"/>
          <p:cNvSpPr/>
          <p:nvPr/>
        </p:nvSpPr>
        <p:spPr>
          <a:xfrm>
            <a:off x="530352" y="294345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27568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385414"/>
            <a:ext cx="237744" cy="237744"/>
          </a:xfrm>
          <a:prstGeom prst="rect">
            <a:avLst/>
          </a:prstGeom>
        </p:spPr>
      </p:pic>
      <p:sp>
        <p:nvSpPr>
          <p:cNvPr id="13" name="TextBox 12"/>
          <p:cNvSpPr txBox="1"/>
          <p:nvPr/>
        </p:nvSpPr>
        <p:spPr>
          <a:xfrm>
            <a:off x="1399031" y="308975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309214"/>
            <a:ext cx="9987991" cy="682752"/>
          </a:xfrm>
          <a:prstGeom prst="rect">
            <a:avLst/>
          </a:prstGeom>
          <a:noFill/>
        </p:spPr>
        <p:txBody>
          <a:bodyPr wrap="square" anchor="t" lIns="0" rIns="0" tIns="0" bIns="0">
            <a:spAutoFit/>
          </a:bodyPr>
          <a:lstStyle/>
          <a:p>
            <a:r>
              <a:rPr sz="1500" b="0" i="0">
                <a:solidFill>
                  <a:srgbClr val="1A1440"/>
                </a:solidFill>
                <a:latin typeface="Calibri"/>
              </a:rPr>
              <a:t>The last row of a running total is the quarter itself, so it has to equal the total you can count without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booked to date finish?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had Q2 booked by the end of each plan week?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FROM plan_line p LEFT JOIN weekly w USING (week_start)   -- weekly: date_trunc('week', order_date)</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sum(plan_revenue) OVER (ORDER BY week_start) AS plan_to_date,</a:t>
            </a:r>
          </a:p>
          <a:p>
            <a:pPr>
              <a:spcAft>
                <a:spcPts val="200"/>
              </a:spcAft>
            </a:pPr>
            <a:r>
              <a:rPr sz="1400" b="0" i="0">
                <a:solidFill>
                  <a:srgbClr val="E4E1F1"/>
                </a:solidFill>
                <a:latin typeface="Consolas"/>
              </a:rPr>
              <a:t>sum(booked)       OVER (ORDER BY week_start) AS booked_to_date</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does booked to date finish against the plan to date of Rs 9,83,99,990, as a letter? a) on plan, within a few rupees; b) about Rs 15 lakh short; c) about Rs 1.6 crore ahead; d) nine times the plan.</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15,39,810 short: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had Q2 booked by the end of each plan week?</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9,68,60,180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TO DATE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plan-first build's close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9,83,99,990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TO DATE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thirteen weeks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15,39,810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 OF PLAN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plausible wrong answer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Sent to Meera, the report says Q2 missed plan, and the next quarter opens on a campaign to recover Rs 15 lakh.</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 to 5 July have no plan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running total close on Monday's Q2 total?</a:t>
            </a:r>
          </a:p>
        </p:txBody>
      </p:sp>
      <p:pic>
        <p:nvPicPr>
          <p:cNvPr id="9" name="mermaid diagram" descr="4692f1d5337eb734.png"/>
          <p:cNvPicPr>
            <a:picLocks noChangeAspect="1"/>
          </p:cNvPicPr>
          <p:nvPr/>
        </p:nvPicPr>
        <p:blipFill>
          <a:blip r:embed="rId5"/>
          <a:stretch>
            <a:fillRect/>
          </a:stretch>
        </p:blipFill>
        <p:spPr>
          <a:xfrm>
            <a:off x="3545528" y="1956816"/>
            <a:ext cx="5100637" cy="2300287"/>
          </a:xfrm>
          <a:prstGeom prst="rect">
            <a:avLst/>
          </a:prstGeom>
        </p:spPr>
      </p:pic>
      <p:sp>
        <p:nvSpPr>
          <p:cNvPr id="10" name="Rounded Rectangle 9"/>
          <p:cNvSpPr/>
          <p:nvPr/>
        </p:nvSpPr>
        <p:spPr>
          <a:xfrm>
            <a:off x="530352" y="440340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42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79"/>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last booked to date has to equal Monday's Q2 total, Rs 9,84,00,000. It is Rs 15,39,820 short of it, Rs 10 more than the shortfall against plan, since Q2 beat its plan by Rs 10; Q2's orders fall under 14 Mondays where the plan has 13.</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Q2 closes Rs 10 ahead,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plan's first week carries the days before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9,84,00,000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TO DATE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Q2 total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9,83,99,990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TO DATE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thirteen weeks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AHEAD</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 plan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greatest(date_trunc('week', order_date), the first plan Monday) moves 1 to 5 July onto 6 July, so every Q2 order lands in a plan week. The quarter that read Rs 15,39,810 short closed Rs 10 ahead.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8" name="Oval 2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0" name="Oval 2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2" name="Oval 31"/>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was Q2 at mid-quarter?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Q2 stand at mid-quarter, and how has each week run since?</a:t>
            </a:r>
          </a:p>
        </p:txBody>
      </p:sp>
      <p:pic>
        <p:nvPicPr>
          <p:cNvPr id="9" name="mermaid diagram" descr="e98d38430023b803.png"/>
          <p:cNvPicPr>
            <a:picLocks noChangeAspect="1"/>
          </p:cNvPicPr>
          <p:nvPr/>
        </p:nvPicPr>
        <p:blipFill>
          <a:blip r:embed="rId5"/>
          <a:stretch>
            <a:fillRect/>
          </a:stretch>
        </p:blipFill>
        <p:spPr>
          <a:xfrm>
            <a:off x="3488378" y="1956816"/>
            <a:ext cx="5214937"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At the end of the week of 17 August, where was booked to date against plan to date, as a letter? a) about Rs 15 lakh behind; b) about Rs 1.6 crore ahead; c) exactly on plan; d) about nine times the plan.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82</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1.58 crore ahead, from one July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Q2 stand at mid-quarter, and how has each week run since?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1,57,51,980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AHEAD AT MID-QUARTER</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6,87,36,590 against Rs 5,29,84,610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2,66,28,920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WEEK OF 13 JULY</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3.5 times its plan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6 of 7</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FULL WEEKS BELOW PLAN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week of 10 August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quarter was ahead by the total and behind by the run rate. A cumulative figure beside one week's plan, Rs 6,87,36,590 against Rs 75,69,230, reads as nine times plan, so set booked to date beside plan to date.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8" name="Oval 2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0" name="Oval 2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2" name="Oval 31"/>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82</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22 July's first order show?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running total by order say which order took Q2 past Rs 3.5 crore?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sum(amount) OVER (ORDER BY order_date) AS by_date_alone</a:t>
            </a:r>
          </a:p>
        </p:txBody>
      </p:sp>
      <p:sp>
        <p:nvSpPr>
          <p:cNvPr id="14" name="Rounded Rectangle 13"/>
          <p:cNvSpPr/>
          <p:nvPr/>
        </p:nvSpPr>
        <p:spPr>
          <a:xfrm>
            <a:off x="530352" y="283108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22 July, the busiest day of Q2, holds twelve orders. What does the first of them show, as a letter? a) Rs 3,45,16,000, the day before plus its own amount; b) Rs 3,76,90,290, the day's closing total; c) its own amount; d) NULL.</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day's close; add the order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running total by order say which order took Q2 past Rs 3.5 crore?</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914400"/>
                <a:gridCol w="2500740"/>
                <a:gridCol w="3146673"/>
                <a:gridCol w="4569176"/>
              </a:tblGrid>
              <a:tr h="335280">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By date alone</a:t>
                      </a:r>
                    </a:p>
                  </a:txBody>
                  <a:tcPr marL="101600" marR="101600" marT="38100" marB="38100" anchor="ctr">
                    <a:solidFill>
                      <a:srgbClr val="1A0F5C"/>
                    </a:solidFill>
                  </a:tcPr>
                </a:tc>
                <a:tc>
                  <a:txBody>
                    <a:bodyPr/>
                    <a:lstStyle/>
                    <a:p>
                      <a:r>
                        <a:rPr sz="1250" b="1" i="0">
                          <a:solidFill>
                            <a:srgbClr val="FFFFFF"/>
                          </a:solidFill>
                          <a:latin typeface="Calibri"/>
                        </a:rPr>
                        <a:t>By date and order id</a:t>
                      </a:r>
                    </a:p>
                  </a:txBody>
                  <a:tcPr marL="101600" marR="101600" marT="38100" marB="38100" anchor="ctr">
                    <a:solidFill>
                      <a:srgbClr val="1A0F5C"/>
                    </a:solidFill>
                  </a:tcPr>
                </a:tc>
              </a:tr>
              <a:tr h="335280">
                <a:tc>
                  <a:txBody>
                    <a:bodyPr/>
                    <a:lstStyle/>
                    <a:p>
                      <a:r>
                        <a:rPr sz="1200" b="0" i="0">
                          <a:solidFill>
                            <a:srgbClr val="1A1440"/>
                          </a:solidFill>
                          <a:latin typeface="Calibri"/>
                        </a:rPr>
                        <a:t>KR-00557</a:t>
                      </a:r>
                    </a:p>
                  </a:txBody>
                  <a:tcPr marL="101600" marR="101600" marT="38100" marB="38100" anchor="ctr">
                    <a:solidFill>
                      <a:srgbClr val="FFFFFF"/>
                    </a:solidFill>
                  </a:tcPr>
                </a:tc>
                <a:tc>
                  <a:txBody>
                    <a:bodyPr/>
                    <a:lstStyle/>
                    <a:p>
                      <a:r>
                        <a:rPr sz="1200" b="0" i="0">
                          <a:solidFill>
                            <a:srgbClr val="1A1440"/>
                          </a:solidFill>
                          <a:latin typeface="Calibri"/>
                        </a:rPr>
                        <a:t>Rs 930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3,45,16,000</a:t>
                      </a:r>
                    </a:p>
                  </a:txBody>
                  <a:tcPr marL="101600" marR="101600" marT="38100" marB="38100" anchor="ctr">
                    <a:solidFill>
                      <a:srgbClr val="FFFFFF"/>
                    </a:solidFill>
                  </a:tcPr>
                </a:tc>
              </a:tr>
              <a:tr h="335280">
                <a:tc>
                  <a:txBody>
                    <a:bodyPr/>
                    <a:lstStyle/>
                    <a:p>
                      <a:r>
                        <a:rPr sz="1200" b="0" i="0">
                          <a:solidFill>
                            <a:srgbClr val="1A1440"/>
                          </a:solidFill>
                          <a:latin typeface="Calibri"/>
                        </a:rPr>
                        <a:t>KR-00580</a:t>
                      </a:r>
                    </a:p>
                  </a:txBody>
                  <a:tcPr marL="101600" marR="101600" marT="38100" marB="38100" anchor="ctr">
                    <a:solidFill>
                      <a:srgbClr val="F4F2FA"/>
                    </a:solidFill>
                  </a:tcPr>
                </a:tc>
                <a:tc>
                  <a:txBody>
                    <a:bodyPr/>
                    <a:lstStyle/>
                    <a:p>
                      <a:r>
                        <a:rPr sz="1200" b="0" i="0">
                          <a:solidFill>
                            <a:srgbClr val="1A1440"/>
                          </a:solidFill>
                          <a:latin typeface="Calibri"/>
                        </a:rPr>
                        <a:t>Rs 8,55,000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c>
                  <a:txBody>
                    <a:bodyPr/>
                    <a:lstStyle/>
                    <a:p>
                      <a:r>
                        <a:rPr sz="1200" b="0" i="0">
                          <a:solidFill>
                            <a:srgbClr val="1A1440"/>
                          </a:solidFill>
                          <a:latin typeface="Calibri"/>
                        </a:rPr>
                        <a:t>Rs 3,53,71,000</a:t>
                      </a:r>
                    </a:p>
                  </a:txBody>
                  <a:tcPr marL="101600" marR="101600" marT="38100" marB="38100" anchor="ctr">
                    <a:solidFill>
                      <a:srgbClr val="F4F2FA"/>
                    </a:solidFill>
                  </a:tcPr>
                </a:tc>
              </a:tr>
              <a:tr h="335280">
                <a:tc>
                  <a:txBody>
                    <a:bodyPr/>
                    <a:lstStyle/>
                    <a:p>
                      <a:r>
                        <a:rPr sz="1200" b="0" i="0">
                          <a:solidFill>
                            <a:srgbClr val="1A1440"/>
                          </a:solidFill>
                          <a:latin typeface="Calibri"/>
                        </a:rPr>
                        <a:t>KR-00979</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15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12546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941832"/>
          </a:xfrm>
          <a:prstGeom prst="rect">
            <a:avLst/>
          </a:prstGeom>
          <a:noFill/>
        </p:spPr>
        <p:txBody>
          <a:bodyPr wrap="square" anchor="t" lIns="0" rIns="0" tIns="0" bIns="0">
            <a:spAutoFit/>
          </a:bodyPr>
          <a:lstStyle/>
          <a:p>
            <a:r>
              <a:rPr sz="1500" b="0" i="0">
                <a:solidFill>
                  <a:srgbClr val="1A1440"/>
                </a:solidFill>
                <a:latin typeface="Calibri"/>
              </a:rPr>
              <a:t>By date alone the figure repeats on every run, and all twelve peers share it, so no row can name the order that crossed. The order id gives every row its own step; it does not make that the true order of the day, since the warehouse records no time, so say which tiebreak the figure uses.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thirteen plain sums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plain sum up to each week's end agree with the running total?</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p.week_start,</a:t>
            </a:r>
          </a:p>
          <a:p>
            <a:pPr>
              <a:spcAft>
                <a:spcPts val="200"/>
              </a:spcAft>
            </a:pPr>
            <a:r>
              <a:rPr sz="1400" b="0" i="0">
                <a:solidFill>
                  <a:srgbClr val="E4E1F1"/>
                </a:solidFill>
                <a:latin typeface="Consolas"/>
              </a:rPr>
              <a:t>       (SELECT sum(o.amount) FROM orders o</a:t>
            </a:r>
          </a:p>
          <a:p>
            <a:pPr>
              <a:spcAft>
                <a:spcPts val="200"/>
              </a:spcAft>
            </a:pPr>
            <a:r>
              <a:rPr sz="1400" b="0" i="0">
                <a:solidFill>
                  <a:srgbClr val="E4E1F1"/>
                </a:solidFill>
                <a:latin typeface="Consolas"/>
              </a:rPr>
              <a:t>        WHERE  o.quarter = 'Q2' AND o.order_date &lt;= p.week_start + 6) AS booked_to_date</a:t>
            </a:r>
          </a:p>
          <a:p>
            <a:pPr>
              <a:spcAft>
                <a:spcPts val="200"/>
              </a:spcAft>
            </a:pPr>
            <a:r>
              <a:rPr sz="1400" b="0" i="0">
                <a:solidFill>
                  <a:srgbClr val="E4E1F1"/>
                </a:solidFill>
                <a:latin typeface="Consolas"/>
              </a:rPr>
              <a:t>FROM   plan_line p;</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13 of 13</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WEEKS AGREE</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the first, which ends 12 July</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6,006</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 READS</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where the window read 462</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plan by the total, below plan by the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has Q2 kept pace with the plan line, and where was it at mid-quarter?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631466"/>
                <a:gridCol w="649952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A running SUM in a window: 462 rows read once</a:t>
                      </a:r>
                    </a:p>
                  </a:txBody>
                  <a:tcPr marL="101600" marR="101600" marT="38100" marB="38100" anchor="ctr">
                    <a:solidFill>
                      <a:srgbClr val="FFFFFF"/>
                    </a:solidFill>
                  </a:tcPr>
                </a:tc>
              </a:tr>
              <a:tr h="310896">
                <a:tc>
                  <a:txBody>
                    <a:bodyPr/>
                    <a:lstStyle/>
                    <a:p>
                      <a:r>
                        <a:rPr sz="900" b="0" i="0">
                          <a:solidFill>
                            <a:srgbClr val="1A1440"/>
                          </a:solidFill>
                          <a:latin typeface="Calibri"/>
                        </a:rPr>
                        <a:t>2. How much by each week's end?</a:t>
                      </a:r>
                    </a:p>
                  </a:txBody>
                  <a:tcPr marL="101600" marR="101600" marT="38100" marB="38100" anchor="ctr">
                    <a:solidFill>
                      <a:srgbClr val="F4F2FA"/>
                    </a:solidFill>
                  </a:tcPr>
                </a:tc>
                <a:tc>
                  <a:txBody>
                    <a:bodyPr/>
                    <a:lstStyle/>
                    <a:p>
                      <a:r>
                        <a:rPr sz="900" b="0" i="0">
                          <a:solidFill>
                            <a:srgbClr val="1A1440"/>
                          </a:solidFill>
                          <a:latin typeface="Calibri"/>
                        </a:rPr>
                        <a:t>The plan-first build: Rs 15,39,810 short</a:t>
                      </a:r>
                    </a:p>
                  </a:txBody>
                  <a:tcPr marL="101600" marR="101600" marT="38100" marB="38100" anchor="ctr">
                    <a:solidFill>
                      <a:srgbClr val="F4F2FA"/>
                    </a:solidFill>
                  </a:tcPr>
                </a:tc>
              </a:tr>
              <a:tr h="310896">
                <a:tc>
                  <a:txBody>
                    <a:bodyPr/>
                    <a:lstStyle/>
                    <a:p>
                      <a:r>
                        <a:rPr sz="900" b="0" i="0">
                          <a:solidFill>
                            <a:srgbClr val="1A1440"/>
                          </a:solidFill>
                          <a:latin typeface="Calibri"/>
                        </a:rPr>
                        <a:t>3. Does it close on Q2?</a:t>
                      </a:r>
                    </a:p>
                  </a:txBody>
                  <a:tcPr marL="101600" marR="101600" marT="38100" marB="38100" anchor="ctr">
                    <a:solidFill>
                      <a:srgbClr val="FFFFFF"/>
                    </a:solidFill>
                  </a:tcPr>
                </a:tc>
                <a:tc>
                  <a:txBody>
                    <a:bodyPr/>
                    <a:lstStyle/>
                    <a:p>
                      <a:r>
                        <a:rPr sz="900" b="0" i="0">
                          <a:solidFill>
                            <a:srgbClr val="1A1440"/>
                          </a:solidFill>
                          <a:latin typeface="Calibri"/>
                        </a:rPr>
                        <a:t>Once 1 to 5 July count: Rs 10 ahead</a:t>
                      </a:r>
                    </a:p>
                  </a:txBody>
                  <a:tcPr marL="101600" marR="101600" marT="38100" marB="38100" anchor="ctr">
                    <a:solidFill>
                      <a:srgbClr val="FFFFFF"/>
                    </a:solidFill>
                  </a:tcPr>
                </a:tc>
              </a:tr>
              <a:tr h="310896">
                <a:tc>
                  <a:txBody>
                    <a:bodyPr/>
                    <a:lstStyle/>
                    <a:p>
                      <a:r>
                        <a:rPr sz="900" b="0" i="0">
                          <a:solidFill>
                            <a:srgbClr val="1A1440"/>
                          </a:solidFill>
                          <a:latin typeface="Calibri"/>
                        </a:rPr>
                        <a:t>4. Where at week 7 of 13?</a:t>
                      </a:r>
                    </a:p>
                  </a:txBody>
                  <a:tcPr marL="101600" marR="101600" marT="38100" marB="38100" anchor="ctr">
                    <a:solidFill>
                      <a:srgbClr val="F4F2FA"/>
                    </a:solidFill>
                  </a:tcPr>
                </a:tc>
                <a:tc>
                  <a:txBody>
                    <a:bodyPr/>
                    <a:lstStyle/>
                    <a:p>
                      <a:r>
                        <a:rPr sz="900" b="0" i="0">
                          <a:solidFill>
                            <a:srgbClr val="1A1440"/>
                          </a:solidFill>
                          <a:latin typeface="Calibri"/>
                        </a:rPr>
                        <a:t>Rs 1.58 crore ahead, from one July week</a:t>
                      </a:r>
                    </a:p>
                  </a:txBody>
                  <a:tcPr marL="101600" marR="101600" marT="38100" marB="38100" anchor="ctr">
                    <a:solidFill>
                      <a:srgbClr val="F4F2FA"/>
                    </a:solidFill>
                  </a:tcPr>
                </a:tc>
              </a:tr>
              <a:tr h="310896">
                <a:tc>
                  <a:txBody>
                    <a:bodyPr/>
                    <a:lstStyle/>
                    <a:p>
                      <a:r>
                        <a:rPr sz="900" b="0" i="0">
                          <a:solidFill>
                            <a:srgbClr val="1A1440"/>
                          </a:solidFill>
                          <a:latin typeface="Calibri"/>
                        </a:rPr>
                        <a:t>5. Which order crossed?</a:t>
                      </a:r>
                    </a:p>
                  </a:txBody>
                  <a:tcPr marL="101600" marR="101600" marT="38100" marB="38100" anchor="ctr">
                    <a:solidFill>
                      <a:srgbClr val="FFFFFF"/>
                    </a:solidFill>
                  </a:tcPr>
                </a:tc>
                <a:tc>
                  <a:txBody>
                    <a:bodyPr/>
                    <a:lstStyle/>
                    <a:p>
                      <a:r>
                        <a:rPr sz="900" b="0" i="0">
                          <a:solidFill>
                            <a:srgbClr val="1A1440"/>
                          </a:solidFill>
                          <a:latin typeface="Calibri"/>
                        </a:rPr>
                        <a:t>Only a unique tiebreak can say</a:t>
                      </a:r>
                    </a:p>
                  </a:txBody>
                  <a:tcPr marL="101600" marR="101600" marT="38100" marB="38100" anchor="ctr">
                    <a:solidFill>
                      <a:srgbClr val="FFFFFF"/>
                    </a:solidFill>
                  </a:tcPr>
                </a:tc>
              </a:tr>
              <a:tr h="310896">
                <a:tc>
                  <a:txBody>
                    <a:bodyPr/>
                    <a:lstStyle/>
                    <a:p>
                      <a:r>
                        <a:rPr sz="900" b="0" i="0">
                          <a:solidFill>
                            <a:srgbClr val="1A1440"/>
                          </a:solidFill>
                          <a:latin typeface="Calibri"/>
                        </a:rPr>
                        <a:t>6. Does a plain sum agree?</a:t>
                      </a:r>
                    </a:p>
                  </a:txBody>
                  <a:tcPr marL="101600" marR="101600" marT="38100" marB="38100" anchor="ctr">
                    <a:solidFill>
                      <a:srgbClr val="F4F2FA"/>
                    </a:solidFill>
                  </a:tcPr>
                </a:tc>
                <a:tc>
                  <a:txBody>
                    <a:bodyPr/>
                    <a:lstStyle/>
                    <a:p>
                      <a:r>
                        <a:rPr sz="900" b="0" i="0">
                          <a:solidFill>
                            <a:srgbClr val="1A1440"/>
                          </a:solidFill>
                          <a:latin typeface="Calibri"/>
                        </a:rPr>
                        <a:t>Yes, in all thirteen weeks</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running total is finished when its last value equals the total you can count without it. Close the loop on Monday's Rs 9,84,00,000 before you say ahead or behind."</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What makes a running total deterministic? [D] Your running total closes below the quarter's total: what do you check first?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