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one minute. Read the analyst's words aloud. The morning built every number on Anand's</a:t>
            </a:r>
          </a:p>
          <a:p>
            <a:r>
              <a:t>Monday sheet; the afternoon asks whether the suite repeats, then hands the room a case to run</a:t>
            </a:r>
          </a:p>
          <a:p>
            <a:r>
              <a:t>alone. The trainer's part of the afternoon is 60 minutes: chapter 6 (30), the escalated case's</a:t>
            </a:r>
          </a:p>
          <a:p>
            <a:r>
              <a:t>first two parts (20) and the Kahoot (10). Then what the morning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the five answers as one story: the book fell 1.6 percent, Retail-Plus</a:t>
            </a:r>
          </a:p>
          <a:p>
            <a:r>
              <a:t>carries the fall in orders, and every count, ratio and average on the sheet says what it counts.</a:t>
            </a:r>
          </a:p>
          <a:p>
            <a:r>
              <a:t>Q1 is April to June 2026 and Q2 is July to September 2026; revenue is booked revenue, every order</a:t>
            </a:r>
          </a:p>
          <a:p>
            <a:r>
              <a:t>at its amount. Then chapter 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Thirty minutes: the need and the company (3), the options and the call (5), the fingerprint</a:t>
            </a:r>
          </a:p>
          <a:p>
            <a:r>
              <a:t>and the reload (5), the trap, its check and its fix (9, never cut), the second route (3), the</a:t>
            </a:r>
          </a:p>
          <a:p>
            <a:r>
              <a:t>sentence to Anand (3) and the close (2). Notebook 6 and sql/C2_W02_D01_06_same_answer_STUDENT.sql</a:t>
            </a:r>
          </a:p>
          <a:p>
            <a:r>
              <a:t>run beside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five questions. Then the need.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ERP is the enterprise system where Finance books every order; the analyst</a:t>
            </a:r>
          </a:p>
          <a:p>
            <a:r>
              <a:t>traces a sample of warehouse orders back to it to prove the warehouse matches the books. Q2 is July</a:t>
            </a:r>
          </a:p>
          <a:p>
            <a:r>
              <a:t>to September 2026. Then a company that checks every run before anyone reads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Michelle Ufford's talk "Whoops, The Numbers Are Wrong! Scaling Data Quality @</a:t>
            </a:r>
          </a:p>
          <a:p>
            <a:r>
              <a:t>Netflix" at DataWorks Summit, San Jose, 13 June 2017. One of its slides sets a new batch of 17,240</a:t>
            </a:r>
          </a:p>
          <a:p>
            <a:r>
              <a:t>rows with 17,240 missing values beside the previous day's 16,135 rows with 21: every value of the</a:t>
            </a:r>
          </a:p>
          <a:p>
            <a:r>
              <a:t>column was missing. In the talk's rules the row-count checks fail the job and the missing-value</a:t>
            </a:r>
          </a:p>
          <a:p>
            <a:r>
              <a:t>check only warns, so that batch raised a warning; say it that way. Source and check date are in</a:t>
            </a:r>
          </a:p>
          <a:p>
            <a:r>
              <a:t>the day's provenance. Then four ways a Kalpa run could prove itself.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fingerprint reads each table once: orders gives its rows, its rupees, its</a:t>
            </a:r>
          </a:p>
          <a:p>
            <a:r>
              <a:t>distinct customers and its latest date, and customers gives its rows, its distinct customers and</a:t>
            </a:r>
          </a:p>
          <a:p>
            <a:r>
              <a:t>its latest joining date, seven numbers in all, since customers carries no rupees. If next</a:t>
            </a:r>
          </a:p>
          <a:p>
            <a:r>
              <a:t>Monday's fingerprint matches this one, the book has not changed, so any difference in the numbers</a:t>
            </a:r>
          </a:p>
          <a:p>
            <a:r>
              <a:t>is the query's. Then what would switch the call.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C costs little here, about 18 output rows a Monday, and it needs the same write</a:t>
            </a:r>
          </a:p>
          <a:p>
            <a:r>
              <a:t>access D does, so the switch is to D, the pattern that stops a bad run. Then this Monday's</a:t>
            </a:r>
          </a:p>
          <a:p>
            <a:r>
              <a:t>fingerprint.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UNION ALL stacks the two tables' rows into one result, one row per table. The</a:t>
            </a:r>
          </a:p>
          <a:p>
            <a:r>
              <a:t>notebook runs the reload inside a transaction and rolls it back, so the warehouse is left as it</a:t>
            </a:r>
          </a:p>
          <a:p>
            <a:r>
              <a:t>was. Letters, then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latest order date is 28 September 2026 and the latest joining date on the</a:t>
            </a:r>
          </a:p>
          <a:p>
            <a:r>
              <a:t>customer table is 25 December 2025; both sit in the fingerprint and both held. Print the</a:t>
            </a:r>
          </a:p>
          <a:p>
            <a:r>
              <a:t>fingerprint at the top of every Monday's run: it is the first thing the analyst compares. Then</a:t>
            </a:r>
          </a:p>
          <a:p>
            <a:r>
              <a:t>the audit sample.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Letters. Expect a, because on a small, freshly loaded table the first rows often</a:t>
            </a:r>
          </a:p>
          <a:p>
            <a:r>
              <a:t>are the smallest ids, and the first run seems to confirm it. Then both runs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This is the plausible wrong answer: the query ran, returned five delivered Q2 app</a:t>
            </a:r>
          </a:p>
          <a:p>
            <a:r>
              <a:t>orders, and looked right both times. Two of the five differ between the runs, and nothing in the</a:t>
            </a:r>
          </a:p>
          <a:p>
            <a:r>
              <a:t>book changed. Then why.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PostgreSQL documentation on sorting: the order "will depend on the scan and</a:t>
            </a:r>
          </a:p>
          <a:p>
            <a:r>
              <a:t>join plan types and the order on disk, but it must not be relied on". Postgres writes a rewritten</a:t>
            </a:r>
          </a:p>
          <a:p>
            <a:r>
              <a:t>row as a new version in a new place, so after the reload the first five rows the database reaches</a:t>
            </a:r>
          </a:p>
          <a:p>
            <a:r>
              <a:t>are a different five. The room's sixty Codespaces hold identical data and will often draw the same</a:t>
            </a:r>
          </a:p>
          <a:p>
            <a:r>
              <a:t>five, which is exactly why the habit survives until the first reload. Then the fix.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order_id is the table's key, a column no two rows share, so the order is unique</a:t>
            </a:r>
          </a:p>
          <a:p>
            <a:r>
              <a:t>and every run draws the same five. Ordering on a column rows can share, such as the customer or</a:t>
            </a:r>
          </a:p>
          <a:p>
            <a:r>
              <a:t>the date, still leaves ties the database may break differently. Then the same five, reached a</a:t>
            </a:r>
          </a:p>
          <a:p>
            <a:r>
              <a:t>second way.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80 of the 94 candidates are under Rs 5,000, and the sampled five average Rs 780;</a:t>
            </a:r>
          </a:p>
          <a:p>
            <a:r>
              <a:t>the other 14 are Business orders worth lakhs. When to switch: sorting in Python is fine for a</a:t>
            </a:r>
          </a:p>
          <a:p>
            <a:r>
              <a:t>one-off check; the Monday suite sorts in the query, so the file the analyst reruns carries its</a:t>
            </a:r>
          </a:p>
          <a:p>
            <a:r>
              <a:t>own order. Then what the suite now tells Anand.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Read the message aloud once, then ask the room which sentence Anand's analyst</a:t>
            </a:r>
          </a:p>
          <a:p>
            <a:r>
              <a:t>checks first. The caveat is the sentence that earns the rest their trust: it says, before anyone</a:t>
            </a:r>
          </a:p>
          <a:p>
            <a:r>
              <a:t>else does, where the book and last week's note part company. Then the chapter's answer.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overnight answer in one breath: check the book's fingerprint first; if rows</a:t>
            </a:r>
          </a:p>
          <a:p>
            <a:r>
              <a:t>and rupees are the same, suspect the query: an unordered LIMIT, a definition that changed, a</a:t>
            </a:r>
          </a:p>
          <a:p>
            <a:r>
              <a:t>denominator that shifted, or integer division. Every one of those is a chapter from today. Then</a:t>
            </a:r>
          </a:p>
          <a:p>
            <a:r>
              <a:t>the case the room runs alone.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Twenty minutes in the afternoon for parts 1 and 2, alone, in</a:t>
            </a:r>
          </a:p>
          <a:p>
            <a:r>
              <a:t>notebooks/C2_W02_D01_ex1_escalated_case_STUDENT.ipynb with the brief</a:t>
            </a:r>
          </a:p>
          <a:p>
            <a:r>
              <a:t>exercises/unguided/C2_W02_D01_escalated_case_STUDENT.md. Parts 3 to 5 run in the practice lab</a:t>
            </a:r>
          </a:p>
          <a:p>
            <a:r>
              <a:t>after the day.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Read Anand's words aloud. Delivered means the order reached the customer and was</a:t>
            </a:r>
          </a:p>
          <a:p>
            <a:r>
              <a:t>not returned or cancelled; on the book 653 of the 1,000 orders are delivered. Nothing from the</a:t>
            </a:r>
          </a:p>
          <a:p>
            <a:r>
              <a:t>morning can be copied: every number changes on the new definition, and each part climbs one</a:t>
            </a:r>
          </a:p>
          <a:p>
            <a:r>
              <a:t>chapter's method. Post ten letters and three numbers when the case is done. Then the rules the</a:t>
            </a:r>
          </a:p>
          <a:p>
            <a:r>
              <a:t>brief holds the room to.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17 minutes of work after this slide: parts 1 and 2 alone, in the notebook. Walk the room.</a:t>
            </a:r>
          </a:p>
          <a:p>
            <a:r>
              <a:t>Where a learner stalls on part 1, ask which clause runs first and what it keeps; on part 2, ask</a:t>
            </a:r>
          </a:p>
          <a:p>
            <a:r>
              <a:t>what 2 times 26 gives back. Do not give letters. At the end of the 20 minutes, collect part 1's</a:t>
            </a:r>
          </a:p>
          <a:p>
            <a:r>
              <a:t>revenue change and part 2's thinnest segment-quarter on the board, and say parts 3 to 5 run in the</a:t>
            </a:r>
          </a:p>
          <a:p>
            <a:r>
              <a:t>lab tonight. Then the close.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Ten minutes: the day's answer (1), the crux lines (1), the Kahoot (7) and tomorrow's</a:t>
            </a:r>
          </a:p>
          <a:p>
            <a:r>
              <a:t>question (1). The self-study</a:t>
            </a:r>
          </a:p>
          <a:p>
            <a:r>
              <a:t>slides after the Kahoot carry the interview drill, the second case and the day's wrong numbers for</a:t>
            </a:r>
          </a:p>
          <a:p>
            <a:r>
              <a:t>the lab and the take-home.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Ask two learners to read their own sentence to Anand before this slide: the</a:t>
            </a:r>
          </a:p>
          <a:p>
            <a:r>
              <a:t>full message is S14's. Then the six lines worth keeping.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six lines; the cheat sheet prints them word for word. Each is the check</a:t>
            </a:r>
          </a:p>
          <a:p>
            <a:r>
              <a:t>that caught one of the day's plausible wrong numbers. Then the Kahoot.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7 minutes. The pack is kahoot/C2_W02_D01_quiz_STUDENT.md. After each item, one learner says</a:t>
            </a:r>
          </a:p>
          <a:p>
            <a:r>
              <a:t>why the key holds. The last item returns to Week 1 Thursday: the discount's 6 percent lift was a</a:t>
            </a:r>
          </a:p>
          <a:p>
            <a:r>
              <a:t>mix effect, and the room says in one line what a fair comparison would need. Then tomorrow's</a:t>
            </a:r>
          </a:p>
          <a:p>
            <a:r>
              <a:t>question.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2 minutes to read. The drill runs aloud in the practice lab, sixty seconds per answer,</a:t>
            </a:r>
          </a:p>
          <a:p>
            <a:r>
              <a:t>in pairs. Each chapter's closing slide and the study notes carry the full answers. The design</a:t>
            </a:r>
          </a:p>
          <a:p>
            <a:r>
              <a:t>question among them: four ways to produce a number, which would you choose, sized how, and what</a:t>
            </a:r>
          </a:p>
          <a:p>
            <a:r>
              <a:t>would make you switch.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The case runs in the take-home, in pairs or alone:</a:t>
            </a:r>
          </a:p>
          <a:p>
            <a:r>
              <a:t>notebooks/C2_W02_D01_ex2_second_case_STUDENT.ipynb with the brief</a:t>
            </a:r>
          </a:p>
          <a:p>
            <a:r>
              <a:t>exercises/unguided/C2_W02_D01_second_case_STUDENT.md. Seven lettered choices and one line for</a:t>
            </a:r>
          </a:p>
          <a:p>
            <a:r>
              <a:t>Anand naming the channel losing its consumers fastest, with its number.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The debrief of wrong answers runs in the lab on a faculty day. A learner who missed</a:t>
            </a:r>
          </a:p>
          <a:p>
            <a:r>
              <a:t>the class can take each row back to its chapter's slides and notebook.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Leave the question open. Tonight's pre-read opens on Anand's message. Then the</a:t>
            </a:r>
          </a:p>
          <a:p>
            <a:r>
              <a:t>practice lab after the day, and before it the IITGN faculty session, which is tentative and runs</a:t>
            </a:r>
          </a:p>
          <a:p>
            <a:r>
              <a:t>120 minutes on a topic of its own.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xml"/><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8.xml"/><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3.xml"/><Relationship Id="rId5"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5.xml"/><Relationship Id="rId5"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6.xml"/><Relationship Id="rId5"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4.png"/><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4.xml"/><Relationship Id="rId5"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notesSlide" Target="../notesSlides/notesSlide26.xml"/><Relationship Id="rId6"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8.xml"/><Relationship Id="rId5" Type="http://schemas.openxmlformats.org/officeDocument/2006/relationships/image" Target="../media/image2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621792" y="566928"/>
            <a:ext cx="1051560" cy="1051560"/>
          </a:xfrm>
          <a:prstGeom prst="rect">
            <a:avLst/>
          </a:prstGeom>
        </p:spPr>
      </p:pic>
      <p:sp>
        <p:nvSpPr>
          <p:cNvPr id="4" name="TextBox 3"/>
          <p:cNvSpPr txBox="1"/>
          <p:nvPr/>
        </p:nvSpPr>
        <p:spPr>
          <a:xfrm>
            <a:off x="1901952" y="804672"/>
            <a:ext cx="6858000" cy="300735"/>
          </a:xfrm>
          <a:prstGeom prst="rect">
            <a:avLst/>
          </a:prstGeom>
          <a:noFill/>
        </p:spPr>
        <p:txBody>
          <a:bodyPr wrap="square" anchor="t" lIns="0" rIns="0" tIns="0" bIns="0">
            <a:spAutoFit/>
          </a:bodyPr>
          <a:lstStyle/>
          <a:p>
            <a:pPr algn="l"/>
            <a:r>
              <a:rPr sz="1600" b="1" i="0">
                <a:solidFill>
                  <a:srgbClr val="FFFFFF"/>
                </a:solidFill>
                <a:latin typeface="Calibri"/>
              </a:rPr>
              <a:t>Indian Institute of Technology Gandhinagar</a:t>
            </a:r>
          </a:p>
        </p:txBody>
      </p:sp>
      <p:sp>
        <p:nvSpPr>
          <p:cNvPr id="5" name="TextBox 4"/>
          <p:cNvSpPr txBox="1"/>
          <p:nvPr/>
        </p:nvSpPr>
        <p:spPr>
          <a:xfrm>
            <a:off x="1901952" y="1133856"/>
            <a:ext cx="7772400" cy="152146"/>
          </a:xfrm>
          <a:prstGeom prst="rect">
            <a:avLst/>
          </a:prstGeom>
          <a:noFill/>
        </p:spPr>
        <p:txBody>
          <a:bodyPr wrap="square" anchor="t" lIns="0" rIns="0" tIns="0" bIns="0">
            <a:spAutoFit/>
          </a:bodyPr>
          <a:lstStyle/>
          <a:p>
            <a:pPr algn="l"/>
            <a:r>
              <a:rPr sz="700" b="1" i="0" spc="300">
                <a:solidFill>
                  <a:srgbClr val="D9A7FF"/>
                </a:solidFill>
                <a:latin typeface="Calibri"/>
              </a:rPr>
              <a:t>ADMINISTERED THROUGH THE COMPETENCY ADVANCEMENT ACADEMY</a:t>
            </a:r>
          </a:p>
        </p:txBody>
      </p:sp>
      <p:sp>
        <p:nvSpPr>
          <p:cNvPr id="6" name="Rectangle 5"/>
          <p:cNvSpPr/>
          <p:nvPr/>
        </p:nvSpPr>
        <p:spPr>
          <a:xfrm>
            <a:off x="621792" y="1938528"/>
            <a:ext cx="10948111" cy="10972"/>
          </a:xfrm>
          <a:prstGeom prst="rect">
            <a:avLst/>
          </a:prstGeom>
          <a:solidFill>
            <a:srgbClr val="A9A3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21792" y="2240280"/>
            <a:ext cx="3385127" cy="329184"/>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900" b="1" spc="250">
                <a:solidFill>
                  <a:srgbClr val="FFFFFF"/>
                </a:solidFill>
                <a:latin typeface="Calibri"/>
              </a:rPr>
              <a:t>WEEK 2  ·  MONDAY  ·  AFTERNOON</a:t>
            </a:r>
          </a:p>
        </p:txBody>
      </p:sp>
      <p:sp>
        <p:nvSpPr>
          <p:cNvPr id="8" name="TextBox 7"/>
          <p:cNvSpPr txBox="1"/>
          <p:nvPr/>
        </p:nvSpPr>
        <p:spPr>
          <a:xfrm>
            <a:off x="621792" y="2807208"/>
            <a:ext cx="10582351" cy="1291336"/>
          </a:xfrm>
          <a:prstGeom prst="rect">
            <a:avLst/>
          </a:prstGeom>
          <a:noFill/>
        </p:spPr>
        <p:txBody>
          <a:bodyPr wrap="square" anchor="t" lIns="0" rIns="0" tIns="0" bIns="0">
            <a:spAutoFit/>
          </a:bodyPr>
          <a:lstStyle/>
          <a:p>
            <a:pPr algn="l"/>
            <a:r>
              <a:rPr sz="3800" b="0" i="0">
                <a:solidFill>
                  <a:srgbClr val="FFFFFF"/>
                </a:solidFill>
                <a:latin typeface="Georgia"/>
              </a:rPr>
              <a:t>Will next Monday's run give the analyst the same answer?</a:t>
            </a:r>
          </a:p>
        </p:txBody>
      </p:sp>
      <p:sp>
        <p:nvSpPr>
          <p:cNvPr id="9" name="TextBox 8"/>
          <p:cNvSpPr txBox="1"/>
          <p:nvPr/>
        </p:nvSpPr>
        <p:spPr>
          <a:xfrm>
            <a:off x="621792" y="4263136"/>
            <a:ext cx="10033711" cy="977645"/>
          </a:xfrm>
          <a:prstGeom prst="rect">
            <a:avLst/>
          </a:prstGeom>
          <a:noFill/>
        </p:spPr>
        <p:txBody>
          <a:bodyPr wrap="square" anchor="t" lIns="0" rIns="0" tIns="0" bIns="0">
            <a:spAutoFit/>
          </a:bodyPr>
          <a:lstStyle/>
          <a:p>
            <a:pPr algn="l"/>
            <a:r>
              <a:rPr sz="1900" b="0" i="1">
                <a:solidFill>
                  <a:srgbClr val="D9A7FF"/>
                </a:solidFill>
                <a:latin typeface="Georgia"/>
              </a:rPr>
              <a:t>“Every Monday I rerun your suite and trace five delivered app orders against the ERP. If my rerun differs from yours, I need to know whether the book changed or your query did.”</a:t>
            </a:r>
          </a:p>
        </p:txBody>
      </p:sp>
      <p:sp>
        <p:nvSpPr>
          <p:cNvPr id="10" name="TextBox 9"/>
          <p:cNvSpPr txBox="1"/>
          <p:nvPr/>
        </p:nvSpPr>
        <p:spPr>
          <a:xfrm>
            <a:off x="621792" y="5295646"/>
            <a:ext cx="10033711" cy="218186"/>
          </a:xfrm>
          <a:prstGeom prst="rect">
            <a:avLst/>
          </a:prstGeom>
          <a:noFill/>
        </p:spPr>
        <p:txBody>
          <a:bodyPr wrap="square" anchor="t" lIns="0" rIns="0" tIns="0" bIns="0">
            <a:spAutoFit/>
          </a:bodyPr>
          <a:lstStyle/>
          <a:p>
            <a:pPr algn="l"/>
            <a:r>
              <a:rPr sz="1100" b="0" i="0">
                <a:solidFill>
                  <a:srgbClr val="CFC9EE"/>
                </a:solidFill>
                <a:latin typeface="Calibri"/>
              </a:rPr>
              <a:t>Anand's analyst, finance, Kalpa Retail, to the data and AI team at Kalpa's Global Capability Centre</a:t>
            </a:r>
          </a:p>
        </p:txBody>
      </p:sp>
      <p:sp>
        <p:nvSpPr>
          <p:cNvPr id="11" name="TextBox 10"/>
          <p:cNvSpPr txBox="1"/>
          <p:nvPr/>
        </p:nvSpPr>
        <p:spPr>
          <a:xfrm>
            <a:off x="621792" y="5833872"/>
            <a:ext cx="365760" cy="251205"/>
          </a:xfrm>
          <a:prstGeom prst="rect">
            <a:avLst/>
          </a:prstGeom>
          <a:noFill/>
        </p:spPr>
        <p:txBody>
          <a:bodyPr wrap="square" anchor="t" lIns="0" rIns="0" tIns="0" bIns="0">
            <a:spAutoFit/>
          </a:bodyPr>
          <a:lstStyle/>
          <a:p>
            <a:pPr algn="l"/>
            <a:r>
              <a:rPr sz="1300" b="0" i="0">
                <a:solidFill>
                  <a:srgbClr val="D9A7FF"/>
                </a:solidFill>
                <a:latin typeface="Georgia"/>
              </a:rPr>
              <a:t>06</a:t>
            </a:r>
          </a:p>
        </p:txBody>
      </p:sp>
      <p:sp>
        <p:nvSpPr>
          <p:cNvPr id="12" name="TextBox 11"/>
          <p:cNvSpPr txBox="1"/>
          <p:nvPr/>
        </p:nvSpPr>
        <p:spPr>
          <a:xfrm>
            <a:off x="1005839" y="5870448"/>
            <a:ext cx="1484185" cy="185166"/>
          </a:xfrm>
          <a:prstGeom prst="rect">
            <a:avLst/>
          </a:prstGeom>
          <a:noFill/>
        </p:spPr>
        <p:txBody>
          <a:bodyPr wrap="square" anchor="t" lIns="0" rIns="0" tIns="0" bIns="0">
            <a:spAutoFit/>
          </a:bodyPr>
          <a:lstStyle/>
          <a:p>
            <a:pPr algn="l"/>
            <a:r>
              <a:rPr sz="900" b="0" i="0">
                <a:solidFill>
                  <a:srgbClr val="FFFFFF"/>
                </a:solidFill>
                <a:latin typeface="Calibri"/>
              </a:rPr>
              <a:t>Same answer next week?</a:t>
            </a:r>
          </a:p>
        </p:txBody>
      </p:sp>
      <p:sp>
        <p:nvSpPr>
          <p:cNvPr id="13" name="TextBox 12"/>
          <p:cNvSpPr txBox="1"/>
          <p:nvPr/>
        </p:nvSpPr>
        <p:spPr>
          <a:xfrm>
            <a:off x="2672905" y="5833872"/>
            <a:ext cx="365760" cy="251205"/>
          </a:xfrm>
          <a:prstGeom prst="rect">
            <a:avLst/>
          </a:prstGeom>
          <a:noFill/>
        </p:spPr>
        <p:txBody>
          <a:bodyPr wrap="square" anchor="t" lIns="0" rIns="0" tIns="0" bIns="0">
            <a:spAutoFit/>
          </a:bodyPr>
          <a:lstStyle/>
          <a:p>
            <a:pPr algn="l"/>
            <a:r>
              <a:rPr sz="1300" b="0" i="0">
                <a:solidFill>
                  <a:srgbClr val="D9A7FF"/>
                </a:solidFill>
                <a:latin typeface="Georgia"/>
              </a:rPr>
              <a:t>07</a:t>
            </a:r>
          </a:p>
        </p:txBody>
      </p:sp>
      <p:sp>
        <p:nvSpPr>
          <p:cNvPr id="14" name="TextBox 13"/>
          <p:cNvSpPr txBox="1"/>
          <p:nvPr/>
        </p:nvSpPr>
        <p:spPr>
          <a:xfrm>
            <a:off x="3056953" y="5870448"/>
            <a:ext cx="1365885" cy="185166"/>
          </a:xfrm>
          <a:prstGeom prst="rect">
            <a:avLst/>
          </a:prstGeom>
          <a:noFill/>
        </p:spPr>
        <p:txBody>
          <a:bodyPr wrap="square" anchor="t" lIns="0" rIns="0" tIns="0" bIns="0">
            <a:spAutoFit/>
          </a:bodyPr>
          <a:lstStyle/>
          <a:p>
            <a:pPr algn="l"/>
            <a:r>
              <a:rPr sz="900" b="0" i="0">
                <a:solidFill>
                  <a:srgbClr val="FFFFFF"/>
                </a:solidFill>
                <a:latin typeface="Calibri"/>
              </a:rPr>
              <a:t>Can you do it alone?</a:t>
            </a:r>
          </a:p>
        </p:txBody>
      </p:sp>
      <p:sp>
        <p:nvSpPr>
          <p:cNvPr id="15" name="TextBox 14"/>
          <p:cNvSpPr txBox="1"/>
          <p:nvPr/>
        </p:nvSpPr>
        <p:spPr>
          <a:xfrm>
            <a:off x="4605718" y="5833872"/>
            <a:ext cx="365760" cy="251205"/>
          </a:xfrm>
          <a:prstGeom prst="rect">
            <a:avLst/>
          </a:prstGeom>
          <a:noFill/>
        </p:spPr>
        <p:txBody>
          <a:bodyPr wrap="square" anchor="t" lIns="0" rIns="0" tIns="0" bIns="0">
            <a:spAutoFit/>
          </a:bodyPr>
          <a:lstStyle/>
          <a:p>
            <a:pPr algn="l"/>
            <a:r>
              <a:rPr sz="1300" b="0" i="0">
                <a:solidFill>
                  <a:srgbClr val="D9A7FF"/>
                </a:solidFill>
                <a:latin typeface="Georgia"/>
              </a:rPr>
              <a:t>08</a:t>
            </a:r>
          </a:p>
        </p:txBody>
      </p:sp>
      <p:sp>
        <p:nvSpPr>
          <p:cNvPr id="16" name="TextBox 15"/>
          <p:cNvSpPr txBox="1"/>
          <p:nvPr/>
        </p:nvSpPr>
        <p:spPr>
          <a:xfrm>
            <a:off x="4989766" y="5870448"/>
            <a:ext cx="1484185" cy="185166"/>
          </a:xfrm>
          <a:prstGeom prst="rect">
            <a:avLst/>
          </a:prstGeom>
          <a:noFill/>
        </p:spPr>
        <p:txBody>
          <a:bodyPr wrap="square" anchor="t" lIns="0" rIns="0" tIns="0" bIns="0">
            <a:spAutoFit/>
          </a:bodyPr>
          <a:lstStyle/>
          <a:p>
            <a:pPr algn="l"/>
            <a:r>
              <a:rPr sz="900" b="0" i="0">
                <a:solidFill>
                  <a:srgbClr val="FFFFFF"/>
                </a:solidFill>
                <a:latin typeface="Calibri"/>
              </a:rPr>
              <a:t>What do we tell Anand?</a:t>
            </a:r>
          </a:p>
        </p:txBody>
      </p:sp>
      <p:sp>
        <p:nvSpPr>
          <p:cNvPr id="17" name="TextBox 16"/>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1. Will next Monday's run give the analyst the same answer?</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 / 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morning built the suite in five chapters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the morning's five chapters establish, with their numbers?</a:t>
            </a:r>
          </a:p>
        </p:txBody>
      </p:sp>
      <p:graphicFrame>
        <p:nvGraphicFramePr>
          <p:cNvPr id="9" name="Table 8"/>
          <p:cNvGraphicFramePr>
            <a:graphicFrameLocks noGrp="1"/>
          </p:cNvGraphicFramePr>
          <p:nvPr/>
        </p:nvGraphicFramePr>
        <p:xfrm>
          <a:off x="530352" y="1956816"/>
          <a:ext cx="11130990" cy="2702560"/>
        </p:xfrm>
        <a:graphic>
          <a:graphicData uri="http://schemas.openxmlformats.org/drawingml/2006/table">
            <a:tbl>
              <a:tblPr firstRow="0" bandRow="0">
                <a:tableStyleId>{2D5ABB26-0587-4C30-8999-92F81FD0307C}</a:tableStyleId>
              </a:tblPr>
              <a:tblGrid>
                <a:gridCol w="3555158"/>
                <a:gridCol w="7575832"/>
              </a:tblGrid>
              <a:tr h="369824">
                <a:tc>
                  <a:txBody>
                    <a:bodyPr/>
                    <a:lstStyle/>
                    <a:p>
                      <a:r>
                        <a:rPr sz="1450" b="1" i="0">
                          <a:solidFill>
                            <a:srgbClr val="FFFFFF"/>
                          </a:solidFill>
                          <a:latin typeface="Calibri"/>
                        </a:rPr>
                        <a:t>Chapter</a:t>
                      </a:r>
                    </a:p>
                  </a:txBody>
                  <a:tcPr marL="101600" marR="101600" marT="38100" marB="38100" anchor="ctr">
                    <a:solidFill>
                      <a:srgbClr val="1A0F5C"/>
                    </a:solidFill>
                  </a:tcPr>
                </a:tc>
                <a:tc>
                  <a:txBody>
                    <a:bodyPr/>
                    <a:lstStyle/>
                    <a:p>
                      <a:r>
                        <a:rPr sz="1450" b="1" i="0">
                          <a:solidFill>
                            <a:srgbClr val="FFFFFF"/>
                          </a:solidFill>
                          <a:latin typeface="Calibri"/>
                        </a:rPr>
                        <a:t>What it answered</a:t>
                      </a:r>
                    </a:p>
                  </a:txBody>
                  <a:tcPr marL="101600" marR="101600" marT="38100" marB="38100" anchor="ctr">
                    <a:solidFill>
                      <a:srgbClr val="1A0F5C"/>
                    </a:solidFill>
                  </a:tcPr>
                </a:tc>
              </a:tr>
              <a:tr h="611632">
                <a:tc>
                  <a:txBody>
                    <a:bodyPr/>
                    <a:lstStyle/>
                    <a:p>
                      <a:r>
                        <a:rPr sz="1400" b="0" i="0">
                          <a:solidFill>
                            <a:srgbClr val="1A1440"/>
                          </a:solidFill>
                          <a:latin typeface="Calibri"/>
                        </a:rPr>
                        <a:t>1. What does the book say?</a:t>
                      </a:r>
                    </a:p>
                  </a:txBody>
                  <a:tcPr marL="101600" marR="101600" marT="38100" marB="38100" anchor="ctr">
                    <a:solidFill>
                      <a:srgbClr val="FFFFFF"/>
                    </a:solidFill>
                  </a:tcPr>
                </a:tc>
                <a:tc>
                  <a:txBody>
                    <a:bodyPr/>
                    <a:lstStyle/>
                    <a:p>
                      <a:r>
                        <a:rPr sz="1400" b="0" i="0">
                          <a:solidFill>
                            <a:srgbClr val="1A1440"/>
                          </a:solidFill>
                          <a:latin typeface="Calibri"/>
                        </a:rPr>
                        <a:t>Rs 10,00,00,000 on 538 orders in Q1 and Rs 9,84,00,000 on 462 in Q2; 244 then 227 customers who bought</a:t>
                      </a:r>
                    </a:p>
                  </a:txBody>
                  <a:tcPr marL="101600" marR="101600" marT="38100" marB="38100" anchor="ctr">
                    <a:solidFill>
                      <a:srgbClr val="FFFFFF"/>
                    </a:solidFill>
                  </a:tcPr>
                </a:tc>
              </a:tr>
              <a:tr h="611632">
                <a:tc>
                  <a:txBody>
                    <a:bodyPr/>
                    <a:lstStyle/>
                    <a:p>
                      <a:r>
                        <a:rPr sz="1400" b="0" i="0">
                          <a:solidFill>
                            <a:srgbClr val="1A1440"/>
                          </a:solidFill>
                          <a:latin typeface="Calibri"/>
                        </a:rPr>
                        <a:t>2. Same story as Week 1?</a:t>
                      </a:r>
                    </a:p>
                  </a:txBody>
                  <a:tcPr marL="101600" marR="101600" marT="38100" marB="38100" anchor="ctr">
                    <a:solidFill>
                      <a:srgbClr val="F4F2FA"/>
                    </a:solidFill>
                  </a:tcPr>
                </a:tc>
                <a:tc>
                  <a:txBody>
                    <a:bodyPr/>
                    <a:lstStyle/>
                    <a:p>
                      <a:r>
                        <a:rPr sz="1400" b="0" i="0">
                          <a:solidFill>
                            <a:srgbClr val="1A1440"/>
                          </a:solidFill>
                          <a:latin typeface="Calibri"/>
                        </a:rPr>
                        <a:t>Revenue agrees; customers fell 7.0% on the book where last week's extract showed them flat</a:t>
                      </a:r>
                    </a:p>
                  </a:txBody>
                  <a:tcPr marL="101600" marR="101600" marT="38100" marB="38100" anchor="ctr">
                    <a:solidFill>
                      <a:srgbClr val="F4F2FA"/>
                    </a:solidFill>
                  </a:tcPr>
                </a:tc>
              </a:tr>
              <a:tr h="369824">
                <a:tc>
                  <a:txBody>
                    <a:bodyPr/>
                    <a:lstStyle/>
                    <a:p>
                      <a:r>
                        <a:rPr sz="1400" b="0" i="0">
                          <a:solidFill>
                            <a:srgbClr val="1A1440"/>
                          </a:solidFill>
                          <a:latin typeface="Calibri"/>
                        </a:rPr>
                        <a:t>3. Which segment moved?</a:t>
                      </a:r>
                    </a:p>
                  </a:txBody>
                  <a:tcPr marL="101600" marR="101600" marT="38100" marB="38100" anchor="ctr">
                    <a:solidFill>
                      <a:srgbClr val="FFFFFF"/>
                    </a:solidFill>
                  </a:tcPr>
                </a:tc>
                <a:tc>
                  <a:txBody>
                    <a:bodyPr/>
                    <a:lstStyle/>
                    <a:p>
                      <a:r>
                        <a:rPr sz="1400" b="0" i="0">
                          <a:solidFill>
                            <a:srgbClr val="1A1440"/>
                          </a:solidFill>
                          <a:latin typeface="Calibri"/>
                        </a:rPr>
                        <a:t>Retail-Plus, down 29.4%, with orders per customer 2.36 then 1.84</a:t>
                      </a:r>
                    </a:p>
                  </a:txBody>
                  <a:tcPr marL="101600" marR="101600" marT="38100" marB="38100" anchor="ctr">
                    <a:solidFill>
                      <a:srgbClr val="FFFFFF"/>
                    </a:solidFill>
                  </a:tcPr>
                </a:tc>
              </a:tr>
              <a:tr h="369824">
                <a:tc>
                  <a:txBody>
                    <a:bodyPr/>
                    <a:lstStyle/>
                    <a:p>
                      <a:r>
                        <a:rPr sz="1400" b="0" i="0">
                          <a:solidFill>
                            <a:srgbClr val="1A1440"/>
                          </a:solidFill>
                          <a:latin typeface="Calibri"/>
                        </a:rPr>
                        <a:t>4. Which branch moved?</a:t>
                      </a:r>
                    </a:p>
                  </a:txBody>
                  <a:tcPr marL="101600" marR="101600" marT="38100" marB="38100" anchor="ctr">
                    <a:solidFill>
                      <a:srgbClr val="F4F2FA"/>
                    </a:solidFill>
                  </a:tcPr>
                </a:tc>
                <a:tc>
                  <a:txBody>
                    <a:bodyPr/>
                    <a:lstStyle/>
                    <a:p>
                      <a:r>
                        <a:rPr sz="1400" b="0" i="0">
                          <a:solidFill>
                            <a:srgbClr val="1A1440"/>
                          </a:solidFill>
                          <a:latin typeface="Calibri"/>
                        </a:rPr>
                        <a:t>Frequency, 0.780 of Q1; each Retail-Plus member spent 29.4% less</a:t>
                      </a:r>
                    </a:p>
                  </a:txBody>
                  <a:tcPr marL="101600" marR="101600" marT="38100" marB="38100" anchor="ctr">
                    <a:solidFill>
                      <a:srgbClr val="F4F2FA"/>
                    </a:solidFill>
                  </a:tcPr>
                </a:tc>
              </a:tr>
              <a:tr h="369824">
                <a:tc>
                  <a:txBody>
                    <a:bodyPr/>
                    <a:lstStyle/>
                    <a:p>
                      <a:r>
                        <a:rPr sz="1400" b="0" i="0">
                          <a:solidFill>
                            <a:srgbClr val="1A1440"/>
                          </a:solidFill>
                          <a:latin typeface="Calibri"/>
                        </a:rPr>
                        <a:t>5. Does the suite add up?</a:t>
                      </a:r>
                    </a:p>
                  </a:txBody>
                  <a:tcPr marL="101600" marR="101600" marT="38100" marB="38100" anchor="ctr">
                    <a:solidFill>
                      <a:srgbClr val="FFFFFF"/>
                    </a:solidFill>
                  </a:tcPr>
                </a:tc>
                <a:tc>
                  <a:txBody>
                    <a:bodyPr/>
                    <a:lstStyle/>
                    <a:p>
                      <a:r>
                        <a:rPr sz="1400" b="0" i="0">
                          <a:solidFill>
                            <a:srgbClr val="1A1440"/>
                          </a:solidFill>
                          <a:latin typeface="Calibri"/>
                        </a:rPr>
                        <a:t>Segments add to the book; 107 Retail-Plus customers in the half-year, not 167</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Same answer next week?</a:t>
            </a:r>
          </a:p>
        </p:txBody>
      </p:sp>
      <p:sp>
        <p:nvSpPr>
          <p:cNvPr id="12" name="Oval 11"/>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127694"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4" name="Oval 13"/>
          <p:cNvSpPr/>
          <p:nvPr/>
        </p:nvSpPr>
        <p:spPr>
          <a:xfrm>
            <a:off x="34135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523297"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Anand?</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2 / 28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06</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Same answer next week?</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Will next Monday's run give Anand's analyst the same answer from the same book?</a:t>
            </a:r>
          </a:p>
        </p:txBody>
      </p:sp>
      <p:sp>
        <p:nvSpPr>
          <p:cNvPr id="10" name="Rounded Rectangle 9"/>
          <p:cNvSpPr/>
          <p:nvPr/>
        </p:nvSpPr>
        <p:spPr>
          <a:xfrm>
            <a:off x="731519" y="5074920"/>
            <a:ext cx="1668511"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Same answer next week?</a:t>
            </a:r>
          </a:p>
        </p:txBody>
      </p:sp>
      <p:sp>
        <p:nvSpPr>
          <p:cNvPr id="11" name="Rounded Rectangle 10"/>
          <p:cNvSpPr/>
          <p:nvPr/>
        </p:nvSpPr>
        <p:spPr>
          <a:xfrm>
            <a:off x="2509759"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do it alone?</a:t>
            </a:r>
          </a:p>
        </p:txBody>
      </p:sp>
      <p:sp>
        <p:nvSpPr>
          <p:cNvPr id="12" name="Rounded Rectangle 11"/>
          <p:cNvSpPr/>
          <p:nvPr/>
        </p:nvSpPr>
        <p:spPr>
          <a:xfrm>
            <a:off x="4169566"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 we tell Anand?</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1. Will next Monday's run give the analyst the same answer?</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 / 28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Answered in five questions, before the first rerun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this answer, and which questions lead to it?</a:t>
            </a:r>
          </a:p>
        </p:txBody>
      </p:sp>
      <p:sp>
        <p:nvSpPr>
          <p:cNvPr id="9" name="Rounded Rectangle 8"/>
          <p:cNvSpPr/>
          <p:nvPr/>
        </p:nvSpPr>
        <p:spPr>
          <a:xfrm>
            <a:off x="530352" y="1956816"/>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11582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Anand's analyst reruns the suite every Monday and checks five orders against the ERP, the system Finance books orders in. A rerun that disagrees with the team's run on a sample that should be identical, even by a few hundred rupees, makes every number in the suite suspect, because nobody can say whether the book moved or the query did.</a:t>
            </a:r>
          </a:p>
        </p:txBody>
      </p:sp>
      <p:sp>
        <p:nvSpPr>
          <p:cNvPr id="12" name="Rectangle 11"/>
          <p:cNvSpPr/>
          <p:nvPr/>
        </p:nvSpPr>
        <p:spPr>
          <a:xfrm>
            <a:off x="1570299" y="4029456"/>
            <a:ext cx="905109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34625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4" name="Oval 13"/>
          <p:cNvSpPr/>
          <p:nvPr/>
        </p:nvSpPr>
        <p:spPr>
          <a:xfrm>
            <a:off x="1469715" y="39380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4349496"/>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4495800"/>
            <a:ext cx="1750710" cy="465836"/>
          </a:xfrm>
          <a:prstGeom prst="rect">
            <a:avLst/>
          </a:prstGeom>
          <a:noFill/>
        </p:spPr>
        <p:txBody>
          <a:bodyPr wrap="square" anchor="t" lIns="0" rIns="0" tIns="0" bIns="0">
            <a:spAutoFit/>
          </a:bodyPr>
          <a:lstStyle/>
          <a:p>
            <a:pPr algn="l"/>
            <a:r>
              <a:rPr sz="1300" b="1" i="0">
                <a:solidFill>
                  <a:srgbClr val="1A0F5C"/>
                </a:solidFill>
                <a:latin typeface="Calibri"/>
              </a:rPr>
              <a:t>How does a run prove itself?</a:t>
            </a:r>
          </a:p>
        </p:txBody>
      </p:sp>
      <p:sp>
        <p:nvSpPr>
          <p:cNvPr id="17" name="TextBox 16"/>
          <p:cNvSpPr txBox="1"/>
          <p:nvPr/>
        </p:nvSpPr>
        <p:spPr>
          <a:xfrm>
            <a:off x="694944" y="4998212"/>
            <a:ext cx="1750710" cy="366776"/>
          </a:xfrm>
          <a:prstGeom prst="rect">
            <a:avLst/>
          </a:prstGeom>
          <a:noFill/>
        </p:spPr>
        <p:txBody>
          <a:bodyPr wrap="square" anchor="t" lIns="0" rIns="0" tIns="0" bIns="0">
            <a:spAutoFit/>
          </a:bodyPr>
          <a:lstStyle/>
          <a:p>
            <a:pPr algn="l"/>
            <a:r>
              <a:rPr sz="1000" b="0" i="0">
                <a:solidFill>
                  <a:srgbClr val="6B6690"/>
                </a:solidFill>
                <a:latin typeface="Calibri"/>
              </a:rPr>
              <a:t>Four ways to tell two runs apart</a:t>
            </a:r>
          </a:p>
        </p:txBody>
      </p:sp>
      <p:sp>
        <p:nvSpPr>
          <p:cNvPr id="18" name="TextBox 17"/>
          <p:cNvSpPr txBox="1"/>
          <p:nvPr/>
        </p:nvSpPr>
        <p:spPr>
          <a:xfrm>
            <a:off x="2793126" y="34625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19" name="Oval 18"/>
          <p:cNvSpPr/>
          <p:nvPr/>
        </p:nvSpPr>
        <p:spPr>
          <a:xfrm>
            <a:off x="3732489" y="39380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793126" y="4349496"/>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957718" y="4495800"/>
            <a:ext cx="1750710" cy="465836"/>
          </a:xfrm>
          <a:prstGeom prst="rect">
            <a:avLst/>
          </a:prstGeom>
          <a:noFill/>
        </p:spPr>
        <p:txBody>
          <a:bodyPr wrap="square" anchor="t" lIns="0" rIns="0" tIns="0" bIns="0">
            <a:spAutoFit/>
          </a:bodyPr>
          <a:lstStyle/>
          <a:p>
            <a:pPr algn="l"/>
            <a:r>
              <a:rPr sz="1300" b="1" i="0">
                <a:solidFill>
                  <a:srgbClr val="1A0F5C"/>
                </a:solidFill>
                <a:latin typeface="Calibri"/>
              </a:rPr>
              <a:t>What does it leave behind?</a:t>
            </a:r>
          </a:p>
        </p:txBody>
      </p:sp>
      <p:sp>
        <p:nvSpPr>
          <p:cNvPr id="22" name="TextBox 21"/>
          <p:cNvSpPr txBox="1"/>
          <p:nvPr/>
        </p:nvSpPr>
        <p:spPr>
          <a:xfrm>
            <a:off x="2957718" y="4998212"/>
            <a:ext cx="1750710" cy="201676"/>
          </a:xfrm>
          <a:prstGeom prst="rect">
            <a:avLst/>
          </a:prstGeom>
          <a:noFill/>
        </p:spPr>
        <p:txBody>
          <a:bodyPr wrap="square" anchor="t" lIns="0" rIns="0" tIns="0" bIns="0">
            <a:spAutoFit/>
          </a:bodyPr>
          <a:lstStyle/>
          <a:p>
            <a:pPr algn="l"/>
            <a:r>
              <a:rPr sz="1000" b="0" i="0">
                <a:solidFill>
                  <a:srgbClr val="6B6690"/>
                </a:solidFill>
                <a:latin typeface="Calibri"/>
              </a:rPr>
              <a:t>This Monday's fingerprint</a:t>
            </a:r>
          </a:p>
        </p:txBody>
      </p:sp>
      <p:sp>
        <p:nvSpPr>
          <p:cNvPr id="23" name="TextBox 22"/>
          <p:cNvSpPr txBox="1"/>
          <p:nvPr/>
        </p:nvSpPr>
        <p:spPr>
          <a:xfrm>
            <a:off x="5055900" y="34625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4" name="Oval 23"/>
          <p:cNvSpPr/>
          <p:nvPr/>
        </p:nvSpPr>
        <p:spPr>
          <a:xfrm>
            <a:off x="5995263" y="39380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5055900" y="4349496"/>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220492" y="4495800"/>
            <a:ext cx="1750710" cy="251205"/>
          </a:xfrm>
          <a:prstGeom prst="rect">
            <a:avLst/>
          </a:prstGeom>
          <a:noFill/>
        </p:spPr>
        <p:txBody>
          <a:bodyPr wrap="square" anchor="t" lIns="0" rIns="0" tIns="0" bIns="0">
            <a:spAutoFit/>
          </a:bodyPr>
          <a:lstStyle/>
          <a:p>
            <a:pPr algn="l"/>
            <a:r>
              <a:rPr sz="1300" b="1" i="0">
                <a:solidFill>
                  <a:srgbClr val="1A0F5C"/>
                </a:solidFill>
                <a:latin typeface="Calibri"/>
              </a:rPr>
              <a:t>Which five orders?</a:t>
            </a:r>
          </a:p>
        </p:txBody>
      </p:sp>
      <p:sp>
        <p:nvSpPr>
          <p:cNvPr id="27" name="TextBox 26"/>
          <p:cNvSpPr txBox="1"/>
          <p:nvPr/>
        </p:nvSpPr>
        <p:spPr>
          <a:xfrm>
            <a:off x="5220492" y="4783582"/>
            <a:ext cx="1750710" cy="366776"/>
          </a:xfrm>
          <a:prstGeom prst="rect">
            <a:avLst/>
          </a:prstGeom>
          <a:noFill/>
        </p:spPr>
        <p:txBody>
          <a:bodyPr wrap="square" anchor="t" lIns="0" rIns="0" tIns="0" bIns="0">
            <a:spAutoFit/>
          </a:bodyPr>
          <a:lstStyle/>
          <a:p>
            <a:pPr algn="l"/>
            <a:r>
              <a:rPr sz="1000" b="0" i="0">
                <a:solidFill>
                  <a:srgbClr val="6B6690"/>
                </a:solidFill>
                <a:latin typeface="Calibri"/>
              </a:rPr>
              <a:t>The audit sample the analyst traces</a:t>
            </a:r>
          </a:p>
        </p:txBody>
      </p:sp>
      <p:sp>
        <p:nvSpPr>
          <p:cNvPr id="28" name="TextBox 27"/>
          <p:cNvSpPr txBox="1"/>
          <p:nvPr/>
        </p:nvSpPr>
        <p:spPr>
          <a:xfrm>
            <a:off x="7318674" y="34625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29" name="Oval 28"/>
          <p:cNvSpPr/>
          <p:nvPr/>
        </p:nvSpPr>
        <p:spPr>
          <a:xfrm>
            <a:off x="8258037" y="39380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7318674" y="4349496"/>
            <a:ext cx="2079894"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483266" y="4495800"/>
            <a:ext cx="1750710" cy="251205"/>
          </a:xfrm>
          <a:prstGeom prst="rect">
            <a:avLst/>
          </a:prstGeom>
          <a:noFill/>
        </p:spPr>
        <p:txBody>
          <a:bodyPr wrap="square" anchor="t" lIns="0" rIns="0" tIns="0" bIns="0">
            <a:spAutoFit/>
          </a:bodyPr>
          <a:lstStyle/>
          <a:p>
            <a:pPr algn="l"/>
            <a:r>
              <a:rPr sz="1300" b="1" i="0">
                <a:solidFill>
                  <a:srgbClr val="1A0F5C"/>
                </a:solidFill>
                <a:latin typeface="Calibri"/>
              </a:rPr>
              <a:t>Does Python agree?</a:t>
            </a:r>
          </a:p>
        </p:txBody>
      </p:sp>
      <p:sp>
        <p:nvSpPr>
          <p:cNvPr id="32" name="TextBox 31"/>
          <p:cNvSpPr txBox="1"/>
          <p:nvPr/>
        </p:nvSpPr>
        <p:spPr>
          <a:xfrm>
            <a:off x="7483266" y="4783582"/>
            <a:ext cx="1750710" cy="366776"/>
          </a:xfrm>
          <a:prstGeom prst="rect">
            <a:avLst/>
          </a:prstGeom>
          <a:noFill/>
        </p:spPr>
        <p:txBody>
          <a:bodyPr wrap="square" anchor="t" lIns="0" rIns="0" tIns="0" bIns="0">
            <a:spAutoFit/>
          </a:bodyPr>
          <a:lstStyle/>
          <a:p>
            <a:pPr algn="l"/>
            <a:r>
              <a:rPr sz="1000" b="0" i="0">
                <a:solidFill>
                  <a:srgbClr val="6B6690"/>
                </a:solidFill>
                <a:latin typeface="Calibri"/>
              </a:rPr>
              <a:t>The same five, sorted another way</a:t>
            </a:r>
          </a:p>
        </p:txBody>
      </p:sp>
      <p:sp>
        <p:nvSpPr>
          <p:cNvPr id="33" name="TextBox 32"/>
          <p:cNvSpPr txBox="1"/>
          <p:nvPr/>
        </p:nvSpPr>
        <p:spPr>
          <a:xfrm>
            <a:off x="9581448" y="3462528"/>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5</a:t>
            </a:r>
          </a:p>
        </p:txBody>
      </p:sp>
      <p:sp>
        <p:nvSpPr>
          <p:cNvPr id="34" name="Oval 33"/>
          <p:cNvSpPr/>
          <p:nvPr/>
        </p:nvSpPr>
        <p:spPr>
          <a:xfrm>
            <a:off x="10520812" y="39380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9581448" y="4349496"/>
            <a:ext cx="2079894"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746040" y="4495800"/>
            <a:ext cx="1750710" cy="465836"/>
          </a:xfrm>
          <a:prstGeom prst="rect">
            <a:avLst/>
          </a:prstGeom>
          <a:noFill/>
        </p:spPr>
        <p:txBody>
          <a:bodyPr wrap="square" anchor="t" lIns="0" rIns="0" tIns="0" bIns="0">
            <a:spAutoFit/>
          </a:bodyPr>
          <a:lstStyle/>
          <a:p>
            <a:pPr algn="l"/>
            <a:r>
              <a:rPr sz="1300" b="1" i="0">
                <a:solidFill>
                  <a:srgbClr val="FFFFFF"/>
                </a:solidFill>
                <a:latin typeface="Calibri"/>
              </a:rPr>
              <a:t>What does Anand hear?</a:t>
            </a:r>
          </a:p>
        </p:txBody>
      </p:sp>
      <p:sp>
        <p:nvSpPr>
          <p:cNvPr id="37" name="TextBox 36"/>
          <p:cNvSpPr txBox="1"/>
          <p:nvPr/>
        </p:nvSpPr>
        <p:spPr>
          <a:xfrm>
            <a:off x="9746040" y="4998212"/>
            <a:ext cx="1750710" cy="366776"/>
          </a:xfrm>
          <a:prstGeom prst="rect">
            <a:avLst/>
          </a:prstGeom>
          <a:noFill/>
        </p:spPr>
        <p:txBody>
          <a:bodyPr wrap="square" anchor="t" lIns="0" rIns="0" tIns="0" bIns="0">
            <a:spAutoFit/>
          </a:bodyPr>
          <a:lstStyle/>
          <a:p>
            <a:pPr algn="l"/>
            <a:r>
              <a:rPr sz="1000" b="0" i="0">
                <a:solidFill>
                  <a:srgbClr val="CFC9EE"/>
                </a:solidFill>
                <a:latin typeface="Calibri"/>
              </a:rPr>
              <a:t>The day's answer in one message</a:t>
            </a:r>
          </a:p>
        </p:txBody>
      </p:sp>
      <p:sp>
        <p:nvSpPr>
          <p:cNvPr id="38" name="Oval 37"/>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Same answer next week?</a:t>
            </a:r>
          </a:p>
        </p:txBody>
      </p:sp>
      <p:sp>
        <p:nvSpPr>
          <p:cNvPr id="40" name="Oval 39"/>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2127694"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42" name="Oval 41"/>
          <p:cNvSpPr/>
          <p:nvPr/>
        </p:nvSpPr>
        <p:spPr>
          <a:xfrm>
            <a:off x="34135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3523297"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Anand?</a:t>
            </a:r>
          </a:p>
        </p:txBody>
      </p:sp>
      <p:sp>
        <p:nvSpPr>
          <p:cNvPr id="44" name="TextBox 4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  ·  4 / 28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need: a rerun that matches to the rupee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asks, what is measured, and what does a rerun that differs cost?</a:t>
            </a:r>
          </a:p>
        </p:txBody>
      </p:sp>
      <p:sp>
        <p:nvSpPr>
          <p:cNvPr id="9" name="Rounded Rectangle 8"/>
          <p:cNvSpPr/>
          <p:nvPr/>
        </p:nvSpPr>
        <p:spPr>
          <a:xfrm>
            <a:off x="530352" y="1956816"/>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user_c13406686cbb.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WHO ASKS</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Anand's analyst</a:t>
            </a:r>
          </a:p>
        </p:txBody>
      </p:sp>
      <p:sp>
        <p:nvSpPr>
          <p:cNvPr id="14" name="TextBox 13"/>
          <p:cNvSpPr txBox="1"/>
          <p:nvPr/>
        </p:nvSpPr>
        <p:spPr>
          <a:xfrm>
            <a:off x="731519"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Reruns the suite every Monday and traces five delivered Q2 app orders against the ERP.</a:t>
            </a:r>
          </a:p>
        </p:txBody>
      </p:sp>
      <p:sp>
        <p:nvSpPr>
          <p:cNvPr id="15" name="Rounded Rectangle 14"/>
          <p:cNvSpPr/>
          <p:nvPr/>
        </p:nvSpPr>
        <p:spPr>
          <a:xfrm>
            <a:off x="4301642" y="1956816"/>
            <a:ext cx="3588410"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fingerprint_1e72318ad3f3.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THE METRIC</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The run itself</a:t>
            </a:r>
          </a:p>
        </p:txBody>
      </p:sp>
      <p:sp>
        <p:nvSpPr>
          <p:cNvPr id="20" name="TextBox 19"/>
          <p:cNvSpPr txBox="1"/>
          <p:nvPr/>
        </p:nvSpPr>
        <p:spPr>
          <a:xfrm>
            <a:off x="450281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What the book held when the suite ran, and which orders the sample drew.</a:t>
            </a:r>
          </a:p>
        </p:txBody>
      </p:sp>
      <p:sp>
        <p:nvSpPr>
          <p:cNvPr id="21" name="Rounded Rectangle 20"/>
          <p:cNvSpPr/>
          <p:nvPr/>
        </p:nvSpPr>
        <p:spPr>
          <a:xfrm>
            <a:off x="8072932" y="1956816"/>
            <a:ext cx="3588410" cy="2154428"/>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triangle-alert_e79485772e4f.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A RERUN THAT DIFFERS COSTS</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Every number doubted</a:t>
            </a:r>
          </a:p>
        </p:txBody>
      </p:sp>
      <p:sp>
        <p:nvSpPr>
          <p:cNvPr id="26" name="TextBox 25"/>
          <p:cNvSpPr txBox="1"/>
          <p:nvPr/>
        </p:nvSpPr>
        <p:spPr>
          <a:xfrm>
            <a:off x="8274100" y="3303524"/>
            <a:ext cx="3186074" cy="581406"/>
          </a:xfrm>
          <a:prstGeom prst="rect">
            <a:avLst/>
          </a:prstGeom>
          <a:noFill/>
        </p:spPr>
        <p:txBody>
          <a:bodyPr wrap="square" anchor="t" lIns="0" rIns="0" tIns="0" bIns="0">
            <a:spAutoFit/>
          </a:bodyPr>
          <a:lstStyle/>
          <a:p>
            <a:pPr algn="l"/>
            <a:r>
              <a:rPr sz="1100" b="0" i="0">
                <a:solidFill>
                  <a:srgbClr val="CFC9EE"/>
                </a:solidFill>
                <a:latin typeface="Calibri"/>
              </a:rPr>
              <a:t>Nobody can say whether the book moved or the query did, so nothing on the sheet is signed.</a:t>
            </a:r>
          </a:p>
        </p:txBody>
      </p:sp>
      <p:sp>
        <p:nvSpPr>
          <p:cNvPr id="27" name="Oval 26"/>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Same answer next week?</a:t>
            </a:r>
          </a:p>
        </p:txBody>
      </p:sp>
      <p:sp>
        <p:nvSpPr>
          <p:cNvPr id="29" name="Oval 28"/>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127694"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31" name="Oval 30"/>
          <p:cNvSpPr/>
          <p:nvPr/>
        </p:nvSpPr>
        <p:spPr>
          <a:xfrm>
            <a:off x="34135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523297"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Anand?</a:t>
            </a:r>
          </a:p>
        </p:txBody>
      </p:sp>
      <p:sp>
        <p:nvSpPr>
          <p:cNvPr id="33" name="TextBox 3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5 / 28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Netflix audits each run before anyone reads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Has a real data team built its runs to prove themselves before they are published?</a:t>
            </a:r>
          </a:p>
        </p:txBody>
      </p:sp>
      <p:pic>
        <p:nvPicPr>
          <p:cNvPr id="9" name="mermaid diagram" descr="4cd06380afdb5b42.png"/>
          <p:cNvPicPr>
            <a:picLocks noChangeAspect="1"/>
          </p:cNvPicPr>
          <p:nvPr/>
        </p:nvPicPr>
        <p:blipFill>
          <a:blip r:embed="rId5"/>
          <a:stretch>
            <a:fillRect/>
          </a:stretch>
        </p:blipFill>
        <p:spPr>
          <a:xfrm>
            <a:off x="1180947" y="1956816"/>
            <a:ext cx="9829800" cy="2786062"/>
          </a:xfrm>
          <a:prstGeom prst="rect">
            <a:avLst/>
          </a:prstGeom>
        </p:spPr>
      </p:pic>
      <p:sp>
        <p:nvSpPr>
          <p:cNvPr id="10" name="TextBox 9"/>
          <p:cNvSpPr txBox="1"/>
          <p:nvPr/>
        </p:nvSpPr>
        <p:spPr>
          <a:xfrm>
            <a:off x="530352" y="4889182"/>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Netflix's data engineering team called the pattern write, audit, publish: a number published every week checks itself against last week before anyone reads it.</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Same answer next week?</a:t>
            </a:r>
          </a:p>
        </p:txBody>
      </p:sp>
      <p:sp>
        <p:nvSpPr>
          <p:cNvPr id="13" name="Oval 12"/>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127694"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5" name="Oval 14"/>
          <p:cNvSpPr/>
          <p:nvPr/>
        </p:nvSpPr>
        <p:spPr>
          <a:xfrm>
            <a:off x="34135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23297"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Anand?</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6 / 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fingerprint: 7 numbers, and read access is enough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can a run show that it computed the same thing as last week's?</a:t>
            </a:r>
          </a:p>
        </p:txBody>
      </p:sp>
      <p:graphicFrame>
        <p:nvGraphicFramePr>
          <p:cNvPr id="9" name="Table 8"/>
          <p:cNvGraphicFramePr>
            <a:graphicFrameLocks noGrp="1"/>
          </p:cNvGraphicFramePr>
          <p:nvPr/>
        </p:nvGraphicFramePr>
        <p:xfrm>
          <a:off x="530352" y="1956816"/>
          <a:ext cx="11130989" cy="2298192"/>
        </p:xfrm>
        <a:graphic>
          <a:graphicData uri="http://schemas.openxmlformats.org/drawingml/2006/table">
            <a:tbl>
              <a:tblPr firstRow="0" bandRow="0">
                <a:tableStyleId>{2D5ABB26-0587-4C30-8999-92F81FD0307C}</a:tableStyleId>
              </a:tblPr>
              <a:tblGrid>
                <a:gridCol w="3572024"/>
                <a:gridCol w="1921718"/>
                <a:gridCol w="2495737"/>
                <a:gridCol w="3141510"/>
              </a:tblGrid>
              <a:tr h="335280">
                <a:tc>
                  <a:txBody>
                    <a:bodyPr/>
                    <a:lstStyle/>
                    <a:p>
                      <a:r>
                        <a:rPr sz="1250" b="1" i="0">
                          <a:solidFill>
                            <a:srgbClr val="FFFFFF"/>
                          </a:solidFill>
                          <a:latin typeface="Calibri"/>
                        </a:rPr>
                        <a:t>Option</a:t>
                      </a:r>
                    </a:p>
                  </a:txBody>
                  <a:tcPr marL="101600" marR="101600" marT="38100" marB="38100" anchor="ctr">
                    <a:solidFill>
                      <a:srgbClr val="1A0F5C"/>
                    </a:solidFill>
                  </a:tcPr>
                </a:tc>
                <a:tc>
                  <a:txBody>
                    <a:bodyPr/>
                    <a:lstStyle/>
                    <a:p>
                      <a:r>
                        <a:rPr sz="1250" b="1" i="0">
                          <a:solidFill>
                            <a:srgbClr val="FFFFFF"/>
                          </a:solidFill>
                          <a:latin typeface="Calibri"/>
                        </a:rPr>
                        <a:t>Stored with each run</a:t>
                      </a:r>
                    </a:p>
                  </a:txBody>
                  <a:tcPr marL="101600" marR="101600" marT="38100" marB="38100" anchor="ctr">
                    <a:solidFill>
                      <a:srgbClr val="1A0F5C"/>
                    </a:solidFill>
                  </a:tcPr>
                </a:tc>
                <a:tc>
                  <a:txBody>
                    <a:bodyPr/>
                    <a:lstStyle/>
                    <a:p>
                      <a:r>
                        <a:rPr sz="1250" b="1" i="0">
                          <a:solidFill>
                            <a:srgbClr val="FFFFFF"/>
                          </a:solidFill>
                          <a:latin typeface="Calibri"/>
                        </a:rPr>
                        <a:t>Access it needs</a:t>
                      </a:r>
                    </a:p>
                  </a:txBody>
                  <a:tcPr marL="101600" marR="101600" marT="38100" marB="38100" anchor="ctr">
                    <a:solidFill>
                      <a:srgbClr val="1A0F5C"/>
                    </a:solidFill>
                  </a:tcPr>
                </a:tc>
                <a:tc>
                  <a:txBody>
                    <a:bodyPr/>
                    <a:lstStyle/>
                    <a:p>
                      <a:r>
                        <a:rPr sz="1250" b="1" i="0">
                          <a:solidFill>
                            <a:srgbClr val="FFFFFF"/>
                          </a:solidFill>
                          <a:latin typeface="Calibri"/>
                        </a:rPr>
                        <a:t>What it can tell apart</a:t>
                      </a:r>
                    </a:p>
                  </a:txBody>
                  <a:tcPr marL="101600" marR="101600" marT="38100" marB="38100" anchor="ctr">
                    <a:solidFill>
                      <a:srgbClr val="1A0F5C"/>
                    </a:solidFill>
                  </a:tcPr>
                </a:tc>
              </a:tr>
              <a:tr h="335280">
                <a:tc>
                  <a:txBody>
                    <a:bodyPr/>
                    <a:lstStyle/>
                    <a:p>
                      <a:r>
                        <a:rPr sz="1200" b="0" i="0">
                          <a:solidFill>
                            <a:srgbClr val="1A1440"/>
                          </a:solidFill>
                          <a:latin typeface="Calibri"/>
                        </a:rPr>
                        <a:t>A. Rerun and compare by eye</a:t>
                      </a:r>
                    </a:p>
                  </a:txBody>
                  <a:tcPr marL="101600" marR="101600" marT="38100" marB="38100" anchor="ctr">
                    <a:solidFill>
                      <a:srgbClr val="FFFFFF"/>
                    </a:solidFill>
                  </a:tcPr>
                </a:tc>
                <a:tc>
                  <a:txBody>
                    <a:bodyPr/>
                    <a:lstStyle/>
                    <a:p>
                      <a:r>
                        <a:rPr sz="1200" b="0" i="0">
                          <a:solidFill>
                            <a:srgbClr val="1A1440"/>
                          </a:solidFill>
                          <a:latin typeface="Calibri"/>
                        </a:rPr>
                        <a:t>Nothing</a:t>
                      </a:r>
                    </a:p>
                  </a:txBody>
                  <a:tcPr marL="101600" marR="101600" marT="38100" marB="38100" anchor="ctr">
                    <a:solidFill>
                      <a:srgbClr val="FFFFFF"/>
                    </a:solidFill>
                  </a:tcPr>
                </a:tc>
                <a:tc>
                  <a:txBody>
                    <a:bodyPr/>
                    <a:lstStyle/>
                    <a:p>
                      <a:r>
                        <a:rPr sz="1200" b="0" i="0">
                          <a:solidFill>
                            <a:srgbClr val="1A1440"/>
                          </a:solidFill>
                          <a:latin typeface="Calibri"/>
                        </a:rPr>
                        <a:t>Read</a:t>
                      </a:r>
                    </a:p>
                  </a:txBody>
                  <a:tcPr marL="101600" marR="101600" marT="38100" marB="38100" anchor="ctr">
                    <a:solidFill>
                      <a:srgbClr val="FFFFFF"/>
                    </a:solidFill>
                  </a:tcPr>
                </a:tc>
                <a:tc>
                  <a:txBody>
                    <a:bodyPr/>
                    <a:lstStyle/>
                    <a:p>
                      <a:r>
                        <a:rPr sz="1200" b="0" i="0">
                          <a:solidFill>
                            <a:srgbClr val="1A1440"/>
                          </a:solidFill>
                          <a:latin typeface="Calibri"/>
                        </a:rPr>
                        <a:t>Whatever someone happens to notice</a:t>
                      </a:r>
                    </a:p>
                  </a:txBody>
                  <a:tcPr marL="101600" marR="101600" marT="38100" marB="38100" anchor="ctr">
                    <a:solidFill>
                      <a:srgbClr val="FFFFFF"/>
                    </a:solidFill>
                  </a:tcPr>
                </a:tc>
              </a:tr>
              <a:tr h="542544">
                <a:tc>
                  <a:txBody>
                    <a:bodyPr/>
                    <a:lstStyle/>
                    <a:p>
                      <a:r>
                        <a:rPr sz="1200" b="0" i="0">
                          <a:solidFill>
                            <a:srgbClr val="1A1440"/>
                          </a:solidFill>
                          <a:latin typeface="Calibri"/>
                        </a:rPr>
                        <a:t>B. A fingerprint block that runs with the suite</a:t>
                      </a:r>
                    </a:p>
                  </a:txBody>
                  <a:tcPr marL="101600" marR="101600" marT="38100" marB="38100" anchor="ctr">
                    <a:solidFill>
                      <a:srgbClr val="F4F2FA"/>
                    </a:solidFill>
                  </a:tcPr>
                </a:tc>
                <a:tc>
                  <a:txBody>
                    <a:bodyPr/>
                    <a:lstStyle/>
                    <a:p>
                      <a:r>
                        <a:rPr sz="1200" b="0" i="0">
                          <a:solidFill>
                            <a:srgbClr val="1A1440"/>
                          </a:solidFill>
                          <a:latin typeface="Calibri"/>
                        </a:rPr>
                        <a:t>7 numbers about the book</a:t>
                      </a:r>
                    </a:p>
                  </a:txBody>
                  <a:tcPr marL="101600" marR="101600" marT="38100" marB="38100" anchor="ctr">
                    <a:solidFill>
                      <a:srgbClr val="F4F2FA"/>
                    </a:solidFill>
                  </a:tcPr>
                </a:tc>
                <a:tc>
                  <a:txBody>
                    <a:bodyPr/>
                    <a:lstStyle/>
                    <a:p>
                      <a:r>
                        <a:rPr sz="1200" b="0" i="0">
                          <a:solidFill>
                            <a:srgbClr val="1A1440"/>
                          </a:solidFill>
                          <a:latin typeface="Calibri"/>
                        </a:rPr>
                        <a:t>Read</a:t>
                      </a:r>
                    </a:p>
                  </a:txBody>
                  <a:tcPr marL="101600" marR="101600" marT="38100" marB="38100" anchor="ctr">
                    <a:solidFill>
                      <a:srgbClr val="F4F2FA"/>
                    </a:solidFill>
                  </a:tcPr>
                </a:tc>
                <a:tc>
                  <a:txBody>
                    <a:bodyPr/>
                    <a:lstStyle/>
                    <a:p>
                      <a:r>
                        <a:rPr sz="1200" b="0" i="0">
                          <a:solidFill>
                            <a:srgbClr val="1A1440"/>
                          </a:solidFill>
                          <a:latin typeface="Calibri"/>
                        </a:rPr>
                        <a:t>A changed book from a changed query</a:t>
                      </a:r>
                    </a:p>
                  </a:txBody>
                  <a:tcPr marL="101600" marR="101600" marT="38100" marB="38100" anchor="ctr">
                    <a:solidFill>
                      <a:srgbClr val="F4F2FA"/>
                    </a:solidFill>
                  </a:tcPr>
                </a:tc>
              </a:tr>
              <a:tr h="542544">
                <a:tc>
                  <a:txBody>
                    <a:bodyPr/>
                    <a:lstStyle/>
                    <a:p>
                      <a:r>
                        <a:rPr sz="1200" b="0" i="0">
                          <a:solidFill>
                            <a:srgbClr val="1A1440"/>
                          </a:solidFill>
                          <a:latin typeface="Calibri"/>
                        </a:rPr>
                        <a:t>C. Snapshot each Monday's outputs into a table</a:t>
                      </a:r>
                    </a:p>
                  </a:txBody>
                  <a:tcPr marL="101600" marR="101600" marT="38100" marB="38100" anchor="ctr">
                    <a:solidFill>
                      <a:srgbClr val="FFFFFF"/>
                    </a:solidFill>
                  </a:tcPr>
                </a:tc>
                <a:tc>
                  <a:txBody>
                    <a:bodyPr/>
                    <a:lstStyle/>
                    <a:p>
                      <a:r>
                        <a:rPr sz="1200" b="0" i="0">
                          <a:solidFill>
                            <a:srgbClr val="1A1440"/>
                          </a:solidFill>
                          <a:latin typeface="Calibri"/>
                        </a:rPr>
                        <a:t>About 18 rows a Monday</a:t>
                      </a:r>
                    </a:p>
                  </a:txBody>
                  <a:tcPr marL="101600" marR="101600" marT="38100" marB="38100" anchor="ctr">
                    <a:solidFill>
                      <a:srgbClr val="FFFFFF"/>
                    </a:solidFill>
                  </a:tcPr>
                </a:tc>
                <a:tc>
                  <a:txBody>
                    <a:bodyPr/>
                    <a:lstStyle/>
                    <a:p>
                      <a:r>
                        <a:rPr sz="1200" b="0" i="0">
                          <a:solidFill>
                            <a:srgbClr val="1A1440"/>
                          </a:solidFill>
                          <a:latin typeface="Calibri"/>
                        </a:rPr>
                        <a:t>Write, to a schema the team owns</a:t>
                      </a:r>
                    </a:p>
                  </a:txBody>
                  <a:tcPr marL="101600" marR="101600" marT="38100" marB="38100" anchor="ctr">
                    <a:solidFill>
                      <a:srgbClr val="FFFFFF"/>
                    </a:solidFill>
                  </a:tcPr>
                </a:tc>
                <a:tc>
                  <a:txBody>
                    <a:bodyPr/>
                    <a:lstStyle/>
                    <a:p>
                      <a:r>
                        <a:rPr sz="1200" b="0" i="0">
                          <a:solidFill>
                            <a:srgbClr val="1A1440"/>
                          </a:solidFill>
                          <a:latin typeface="Calibri"/>
                        </a:rPr>
                        <a:t>What changed in any output, row by row</a:t>
                      </a:r>
                    </a:p>
                  </a:txBody>
                  <a:tcPr marL="101600" marR="101600" marT="38100" marB="38100" anchor="ctr">
                    <a:solidFill>
                      <a:srgbClr val="FFFFFF"/>
                    </a:solidFill>
                  </a:tcPr>
                </a:tc>
              </a:tr>
              <a:tr h="542544">
                <a:tc>
                  <a:txBody>
                    <a:bodyPr/>
                    <a:lstStyle/>
                    <a:p>
                      <a:r>
                        <a:rPr sz="1200" b="0" i="0">
                          <a:solidFill>
                            <a:srgbClr val="1A1440"/>
                          </a:solidFill>
                          <a:latin typeface="Calibri"/>
                        </a:rPr>
                        <a:t>D. Write, audit, publish</a:t>
                      </a:r>
                    </a:p>
                  </a:txBody>
                  <a:tcPr marL="101600" marR="101600" marT="38100" marB="38100" anchor="ctr">
                    <a:solidFill>
                      <a:srgbClr val="F4F2FA"/>
                    </a:solidFill>
                  </a:tcPr>
                </a:tc>
                <a:tc>
                  <a:txBody>
                    <a:bodyPr/>
                    <a:lstStyle/>
                    <a:p>
                      <a:r>
                        <a:rPr sz="1200" b="0" i="0">
                          <a:solidFill>
                            <a:srgbClr val="1A1440"/>
                          </a:solidFill>
                          <a:latin typeface="Calibri"/>
                        </a:rPr>
                        <a:t>A staging table per run</a:t>
                      </a:r>
                    </a:p>
                  </a:txBody>
                  <a:tcPr marL="101600" marR="101600" marT="38100" marB="38100" anchor="ctr">
                    <a:solidFill>
                      <a:srgbClr val="F4F2FA"/>
                    </a:solidFill>
                  </a:tcPr>
                </a:tc>
                <a:tc>
                  <a:txBody>
                    <a:bodyPr/>
                    <a:lstStyle/>
                    <a:p>
                      <a:r>
                        <a:rPr sz="1200" b="0" i="0">
                          <a:solidFill>
                            <a:srgbClr val="1A1440"/>
                          </a:solidFill>
                          <a:latin typeface="Calibri"/>
                        </a:rPr>
                        <a:t>Write, and a scheduler</a:t>
                      </a:r>
                    </a:p>
                  </a:txBody>
                  <a:tcPr marL="101600" marR="101600" marT="38100" marB="38100" anchor="ctr">
                    <a:solidFill>
                      <a:srgbClr val="F4F2FA"/>
                    </a:solidFill>
                  </a:tcPr>
                </a:tc>
                <a:tc>
                  <a:txBody>
                    <a:bodyPr/>
                    <a:lstStyle/>
                    <a:p>
                      <a:r>
                        <a:rPr sz="1200" b="0" i="0">
                          <a:solidFill>
                            <a:srgbClr val="1A1440"/>
                          </a:solidFill>
                          <a:latin typeface="Calibri"/>
                        </a:rPr>
                        <a:t>A bad run, stopped before anyone reads it</a:t>
                      </a:r>
                    </a:p>
                  </a:txBody>
                  <a:tcPr marL="101600" marR="101600" marT="38100" marB="38100" anchor="ctr">
                    <a:solidFill>
                      <a:srgbClr val="F4F2FA"/>
                    </a:solidFill>
                  </a:tcPr>
                </a:tc>
              </a:tr>
            </a:tbl>
          </a:graphicData>
        </a:graphic>
      </p:graphicFrame>
      <p:sp>
        <p:nvSpPr>
          <p:cNvPr id="10" name="Rounded Rectangle 9"/>
          <p:cNvSpPr/>
          <p:nvPr/>
        </p:nvSpPr>
        <p:spPr>
          <a:xfrm>
            <a:off x="530352" y="451104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639056"/>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629912"/>
            <a:ext cx="10564063" cy="624840"/>
          </a:xfrm>
          <a:prstGeom prst="rect">
            <a:avLst/>
          </a:prstGeom>
          <a:noFill/>
        </p:spPr>
        <p:txBody>
          <a:bodyPr wrap="square" anchor="ctr" lIns="0" rIns="0" tIns="0" bIns="0">
            <a:spAutoFit/>
          </a:bodyPr>
          <a:lstStyle/>
          <a:p>
            <a:r>
              <a:rPr sz="1500" b="1">
                <a:solidFill>
                  <a:srgbClr val="5B3FD6"/>
                </a:solidFill>
                <a:latin typeface="Calibri"/>
              </a:rPr>
              <a:t>The call. </a:t>
            </a:r>
            <a:r>
              <a:rPr sz="1500" b="0" i="0">
                <a:solidFill>
                  <a:srgbClr val="1A1440"/>
                </a:solidFill>
                <a:latin typeface="Calibri"/>
              </a:rPr>
              <a:t>B, with an ORDER BY on a unique column in every list: the team has read access, which rules out C and D, and B answers the analyst's first question.</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Same answer next week?</a:t>
            </a:r>
          </a:p>
        </p:txBody>
      </p:sp>
      <p:sp>
        <p:nvSpPr>
          <p:cNvPr id="15" name="Oval 1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7" name="Oval 16"/>
          <p:cNvSpPr/>
          <p:nvPr/>
        </p:nvSpPr>
        <p:spPr>
          <a:xfrm>
            <a:off x="34135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23297"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Anand?</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7 / 28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schema of the team's own would switch it to 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fact would move the call away from a fingerprint?</a:t>
            </a:r>
          </a:p>
        </p:txBody>
      </p:sp>
      <p:pic>
        <p:nvPicPr>
          <p:cNvPr id="9" name="mermaid diagram" descr="bf2295a3cfc083ac.png"/>
          <p:cNvPicPr>
            <a:picLocks noChangeAspect="1"/>
          </p:cNvPicPr>
          <p:nvPr/>
        </p:nvPicPr>
        <p:blipFill>
          <a:blip r:embed="rId5"/>
          <a:stretch>
            <a:fillRect/>
          </a:stretch>
        </p:blipFill>
        <p:spPr>
          <a:xfrm>
            <a:off x="573728" y="1949577"/>
            <a:ext cx="11044237" cy="3028950"/>
          </a:xfrm>
          <a:prstGeom prst="rect">
            <a:avLst/>
          </a:prstGeom>
        </p:spPr>
      </p:pic>
      <p:sp>
        <p:nvSpPr>
          <p:cNvPr id="10" name="Rounded Rectangle 9"/>
          <p:cNvSpPr/>
          <p:nvPr/>
        </p:nvSpPr>
        <p:spPr>
          <a:xfrm>
            <a:off x="530352" y="5124831"/>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252847"/>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243703"/>
            <a:ext cx="10564063" cy="624840"/>
          </a:xfrm>
          <a:prstGeom prst="rect">
            <a:avLst/>
          </a:prstGeom>
          <a:noFill/>
        </p:spPr>
        <p:txBody>
          <a:bodyPr wrap="square" anchor="ctr" lIns="0" rIns="0" tIns="0" bIns="0">
            <a:spAutoFit/>
          </a:bodyPr>
          <a:lstStyle/>
          <a:p>
            <a:r>
              <a:rPr sz="1500" b="1">
                <a:solidFill>
                  <a:srgbClr val="5B3FD6"/>
                </a:solidFill>
                <a:latin typeface="Calibri"/>
              </a:rPr>
              <a:t>The fact that would change the call. </a:t>
            </a:r>
            <a:r>
              <a:rPr sz="1500" b="0" i="0">
                <a:solidFill>
                  <a:srgbClr val="1A1440"/>
                </a:solidFill>
                <a:latin typeface="Calibri"/>
              </a:rPr>
              <a:t>Once the platform lead grants a schema the team can write to, D runs the audit before the numbers are released, which beats finding the problem after Anand has read them.</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Same answer next week?</a:t>
            </a:r>
          </a:p>
        </p:txBody>
      </p:sp>
      <p:sp>
        <p:nvSpPr>
          <p:cNvPr id="15" name="Oval 1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7" name="Oval 16"/>
          <p:cNvSpPr/>
          <p:nvPr/>
        </p:nvSpPr>
        <p:spPr>
          <a:xfrm>
            <a:off x="34135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23297"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Anand?</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8 / 28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does a reload move the fingerprint?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Overnight the warehouse reloads two order rows with the values they already hold: does the fingerprint change?</a:t>
            </a:r>
          </a:p>
        </p:txBody>
      </p:sp>
      <p:sp>
        <p:nvSpPr>
          <p:cNvPr id="9" name="Rounded Rectangle 8"/>
          <p:cNvSpPr/>
          <p:nvPr/>
        </p:nvSpPr>
        <p:spPr>
          <a:xfrm>
            <a:off x="530352" y="1956816"/>
            <a:ext cx="11130991" cy="2224531"/>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822195"/>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SELECT 'orders' AS table_name, count(*) AS rows, sum(amount) AS rupees,</a:t>
            </a:r>
          </a:p>
          <a:p>
            <a:pPr>
              <a:spcAft>
                <a:spcPts val="200"/>
              </a:spcAft>
            </a:pPr>
            <a:r>
              <a:rPr sz="1400" b="0" i="0">
                <a:solidFill>
                  <a:srgbClr val="E4E1F1"/>
                </a:solidFill>
                <a:latin typeface="Consolas"/>
              </a:rPr>
              <a:t>       count(DISTINCT customer_id) AS distinct_customers,</a:t>
            </a:r>
          </a:p>
          <a:p>
            <a:pPr>
              <a:spcAft>
                <a:spcPts val="200"/>
              </a:spcAft>
            </a:pPr>
            <a:r>
              <a:rPr sz="1400" b="0" i="0">
                <a:solidFill>
                  <a:srgbClr val="E4E1F1"/>
                </a:solidFill>
                <a:latin typeface="Consolas"/>
              </a:rPr>
              <a:t>       max(order_date) AS latest_date</a:t>
            </a:r>
          </a:p>
          <a:p>
            <a:pPr>
              <a:spcAft>
                <a:spcPts val="200"/>
              </a:spcAft>
            </a:pPr>
            <a:r>
              <a:rPr sz="1400" b="0" i="0">
                <a:solidFill>
                  <a:srgbClr val="E4E1F1"/>
                </a:solidFill>
                <a:latin typeface="Consolas"/>
              </a:rPr>
              <a:t>FROM   orders</a:t>
            </a:r>
          </a:p>
          <a:p>
            <a:pPr>
              <a:spcAft>
                <a:spcPts val="200"/>
              </a:spcAft>
            </a:pPr>
            <a:r>
              <a:rPr sz="1400" b="0" i="0">
                <a:solidFill>
                  <a:srgbClr val="E4E1F1"/>
                </a:solidFill>
                <a:latin typeface="Consolas"/>
              </a:rPr>
              <a:t>UNION ALL</a:t>
            </a:r>
          </a:p>
          <a:p>
            <a:pPr>
              <a:spcAft>
                <a:spcPts val="200"/>
              </a:spcAft>
            </a:pPr>
            <a:r>
              <a:rPr sz="1400" b="0" i="0">
                <a:solidFill>
                  <a:srgbClr val="E4E1F1"/>
                </a:solidFill>
                <a:latin typeface="Consolas"/>
              </a:rPr>
              <a:t>SELECT 'customers', count(*), NULL, count(DISTINCT customer_id), max(joined_date)</a:t>
            </a:r>
          </a:p>
          <a:p>
            <a:pPr>
              <a:spcAft>
                <a:spcPts val="200"/>
              </a:spcAft>
            </a:pPr>
            <a:r>
              <a:rPr sz="1400" b="0" i="0">
                <a:solidFill>
                  <a:srgbClr val="E4E1F1"/>
                </a:solidFill>
                <a:latin typeface="Consolas"/>
              </a:rPr>
              <a:t>FROM   customers;</a:t>
            </a:r>
          </a:p>
        </p:txBody>
      </p:sp>
      <p:sp>
        <p:nvSpPr>
          <p:cNvPr id="14" name="Rounded Rectangle 13"/>
          <p:cNvSpPr/>
          <p:nvPr/>
        </p:nvSpPr>
        <p:spPr>
          <a:xfrm>
            <a:off x="530352" y="4345939"/>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76656" y="4473955"/>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77824" y="4464811"/>
            <a:ext cx="10564063" cy="8915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Does the fingerprint change? a) yes, two rows were written, so the row count moves; b) yes, the rupees move, since the rows were rewritten; c) no, the rows, the rupees and the customers are all the same; d) it cannot be read during a reload.</a:t>
            </a:r>
          </a:p>
        </p:txBody>
      </p:sp>
      <p:sp>
        <p:nvSpPr>
          <p:cNvPr id="17" name="Oval 16"/>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Same answer next week?</a:t>
            </a:r>
          </a:p>
        </p:txBody>
      </p:sp>
      <p:sp>
        <p:nvSpPr>
          <p:cNvPr id="19" name="Oval 18"/>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127694"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21" name="Oval 20"/>
          <p:cNvSpPr/>
          <p:nvPr/>
        </p:nvSpPr>
        <p:spPr>
          <a:xfrm>
            <a:off x="34135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523297"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Anand?</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9 / 28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no: 1,000 rows, Rs 19.84 crore, 301 buyers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fingerprint does this Monday's run leave?</a:t>
            </a:r>
          </a:p>
        </p:txBody>
      </p:sp>
      <p:sp>
        <p:nvSpPr>
          <p:cNvPr id="9" name="TextBox 8"/>
          <p:cNvSpPr txBox="1"/>
          <p:nvPr/>
        </p:nvSpPr>
        <p:spPr>
          <a:xfrm>
            <a:off x="530352" y="1956816"/>
            <a:ext cx="2577007" cy="444500"/>
          </a:xfrm>
          <a:prstGeom prst="rect">
            <a:avLst/>
          </a:prstGeom>
          <a:noFill/>
        </p:spPr>
        <p:txBody>
          <a:bodyPr wrap="square" anchor="t" lIns="0" rIns="0" tIns="0" bIns="0">
            <a:spAutoFit/>
          </a:bodyPr>
          <a:lstStyle/>
          <a:p>
            <a:pPr algn="l"/>
            <a:r>
              <a:rPr sz="2800" b="0" i="0">
                <a:solidFill>
                  <a:srgbClr val="5B3FD6"/>
                </a:solidFill>
                <a:latin typeface="Georgia"/>
              </a:rPr>
              <a:t>1,000</a:t>
            </a:r>
          </a:p>
        </p:txBody>
      </p:sp>
      <p:sp>
        <p:nvSpPr>
          <p:cNvPr id="10" name="TextBox 9"/>
          <p:cNvSpPr txBox="1"/>
          <p:nvPr/>
        </p:nvSpPr>
        <p:spPr>
          <a:xfrm>
            <a:off x="530352" y="2437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ORDER ROWS</a:t>
            </a:r>
          </a:p>
        </p:txBody>
      </p:sp>
      <p:sp>
        <p:nvSpPr>
          <p:cNvPr id="11" name="TextBox 10"/>
          <p:cNvSpPr txBox="1"/>
          <p:nvPr/>
        </p:nvSpPr>
        <p:spPr>
          <a:xfrm>
            <a:off x="530352" y="2639060"/>
            <a:ext cx="2577007" cy="193421"/>
          </a:xfrm>
          <a:prstGeom prst="rect">
            <a:avLst/>
          </a:prstGeom>
          <a:noFill/>
        </p:spPr>
        <p:txBody>
          <a:bodyPr wrap="square" anchor="t" lIns="0" rIns="0" tIns="0" bIns="0">
            <a:spAutoFit/>
          </a:bodyPr>
          <a:lstStyle/>
          <a:p>
            <a:pPr algn="l"/>
            <a:r>
              <a:rPr sz="950" b="0" i="0">
                <a:solidFill>
                  <a:srgbClr val="6B6690"/>
                </a:solidFill>
                <a:latin typeface="Calibri"/>
              </a:rPr>
              <a:t>before and after the reload</a:t>
            </a:r>
          </a:p>
        </p:txBody>
      </p:sp>
      <p:sp>
        <p:nvSpPr>
          <p:cNvPr id="12" name="Rectangle 11"/>
          <p:cNvSpPr/>
          <p:nvPr/>
        </p:nvSpPr>
        <p:spPr>
          <a:xfrm>
            <a:off x="530352"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381679" y="1956816"/>
            <a:ext cx="2577007" cy="444500"/>
          </a:xfrm>
          <a:prstGeom prst="rect">
            <a:avLst/>
          </a:prstGeom>
          <a:noFill/>
        </p:spPr>
        <p:txBody>
          <a:bodyPr wrap="square" anchor="t" lIns="0" rIns="0" tIns="0" bIns="0">
            <a:spAutoFit/>
          </a:bodyPr>
          <a:lstStyle/>
          <a:p>
            <a:pPr algn="l"/>
            <a:r>
              <a:rPr sz="2800" b="0" i="0">
                <a:solidFill>
                  <a:srgbClr val="5B3FD6"/>
                </a:solidFill>
                <a:latin typeface="Georgia"/>
              </a:rPr>
              <a:t>Rs 19.84 cr</a:t>
            </a:r>
          </a:p>
        </p:txBody>
      </p:sp>
      <p:sp>
        <p:nvSpPr>
          <p:cNvPr id="14" name="TextBox 13"/>
          <p:cNvSpPr txBox="1"/>
          <p:nvPr/>
        </p:nvSpPr>
        <p:spPr>
          <a:xfrm>
            <a:off x="3381679" y="2437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RUPEES ON THE BOOK</a:t>
            </a:r>
          </a:p>
        </p:txBody>
      </p:sp>
      <p:sp>
        <p:nvSpPr>
          <p:cNvPr id="15" name="TextBox 14"/>
          <p:cNvSpPr txBox="1"/>
          <p:nvPr/>
        </p:nvSpPr>
        <p:spPr>
          <a:xfrm>
            <a:off x="3381679" y="2639060"/>
            <a:ext cx="2577007" cy="193421"/>
          </a:xfrm>
          <a:prstGeom prst="rect">
            <a:avLst/>
          </a:prstGeom>
          <a:noFill/>
        </p:spPr>
        <p:txBody>
          <a:bodyPr wrap="square" anchor="t" lIns="0" rIns="0" tIns="0" bIns="0">
            <a:spAutoFit/>
          </a:bodyPr>
          <a:lstStyle/>
          <a:p>
            <a:pPr algn="l"/>
            <a:r>
              <a:rPr sz="950" b="0" i="0">
                <a:solidFill>
                  <a:srgbClr val="6B6690"/>
                </a:solidFill>
                <a:latin typeface="Calibri"/>
              </a:rPr>
              <a:t>Rs 19,84,00,000, Q1 and Q2 together</a:t>
            </a:r>
          </a:p>
        </p:txBody>
      </p:sp>
      <p:sp>
        <p:nvSpPr>
          <p:cNvPr id="16" name="Rectangle 15"/>
          <p:cNvSpPr/>
          <p:nvPr/>
        </p:nvSpPr>
        <p:spPr>
          <a:xfrm>
            <a:off x="3381679"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33007" y="1956816"/>
            <a:ext cx="2577007" cy="444500"/>
          </a:xfrm>
          <a:prstGeom prst="rect">
            <a:avLst/>
          </a:prstGeom>
          <a:noFill/>
        </p:spPr>
        <p:txBody>
          <a:bodyPr wrap="square" anchor="t" lIns="0" rIns="0" tIns="0" bIns="0">
            <a:spAutoFit/>
          </a:bodyPr>
          <a:lstStyle/>
          <a:p>
            <a:pPr algn="l"/>
            <a:r>
              <a:rPr sz="2800" b="0" i="0">
                <a:solidFill>
                  <a:srgbClr val="5B3FD6"/>
                </a:solidFill>
                <a:latin typeface="Georgia"/>
              </a:rPr>
              <a:t>301</a:t>
            </a:r>
          </a:p>
        </p:txBody>
      </p:sp>
      <p:sp>
        <p:nvSpPr>
          <p:cNvPr id="18" name="TextBox 17"/>
          <p:cNvSpPr txBox="1"/>
          <p:nvPr/>
        </p:nvSpPr>
        <p:spPr>
          <a:xfrm>
            <a:off x="6233007" y="2437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DISTINCT CUSTOMERS</a:t>
            </a:r>
          </a:p>
        </p:txBody>
      </p:sp>
      <p:sp>
        <p:nvSpPr>
          <p:cNvPr id="19" name="TextBox 18"/>
          <p:cNvSpPr txBox="1"/>
          <p:nvPr/>
        </p:nvSpPr>
        <p:spPr>
          <a:xfrm>
            <a:off x="6233007" y="2639060"/>
            <a:ext cx="2577007" cy="193421"/>
          </a:xfrm>
          <a:prstGeom prst="rect">
            <a:avLst/>
          </a:prstGeom>
          <a:noFill/>
        </p:spPr>
        <p:txBody>
          <a:bodyPr wrap="square" anchor="t" lIns="0" rIns="0" tIns="0" bIns="0">
            <a:spAutoFit/>
          </a:bodyPr>
          <a:lstStyle/>
          <a:p>
            <a:pPr algn="l"/>
            <a:r>
              <a:rPr sz="950" b="0" i="0">
                <a:solidFill>
                  <a:srgbClr val="6B6690"/>
                </a:solidFill>
                <a:latin typeface="Calibri"/>
              </a:rPr>
              <a:t>who bought in either quarter</a:t>
            </a:r>
          </a:p>
        </p:txBody>
      </p:sp>
      <p:sp>
        <p:nvSpPr>
          <p:cNvPr id="20" name="Rectangle 19"/>
          <p:cNvSpPr/>
          <p:nvPr/>
        </p:nvSpPr>
        <p:spPr>
          <a:xfrm>
            <a:off x="6233007"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084335" y="1956816"/>
            <a:ext cx="2577007" cy="444500"/>
          </a:xfrm>
          <a:prstGeom prst="rect">
            <a:avLst/>
          </a:prstGeom>
          <a:noFill/>
        </p:spPr>
        <p:txBody>
          <a:bodyPr wrap="square" anchor="t" lIns="0" rIns="0" tIns="0" bIns="0">
            <a:spAutoFit/>
          </a:bodyPr>
          <a:lstStyle/>
          <a:p>
            <a:pPr algn="l"/>
            <a:r>
              <a:rPr sz="2800" b="0" i="0">
                <a:solidFill>
                  <a:srgbClr val="5B3FD6"/>
                </a:solidFill>
                <a:latin typeface="Georgia"/>
              </a:rPr>
              <a:t>340</a:t>
            </a:r>
          </a:p>
        </p:txBody>
      </p:sp>
      <p:sp>
        <p:nvSpPr>
          <p:cNvPr id="22" name="TextBox 21"/>
          <p:cNvSpPr txBox="1"/>
          <p:nvPr/>
        </p:nvSpPr>
        <p:spPr>
          <a:xfrm>
            <a:off x="9084335" y="2437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CUSTOMER ROWS</a:t>
            </a:r>
          </a:p>
        </p:txBody>
      </p:sp>
      <p:sp>
        <p:nvSpPr>
          <p:cNvPr id="23" name="TextBox 22"/>
          <p:cNvSpPr txBox="1"/>
          <p:nvPr/>
        </p:nvSpPr>
        <p:spPr>
          <a:xfrm>
            <a:off x="9084335" y="2639060"/>
            <a:ext cx="2577007" cy="193421"/>
          </a:xfrm>
          <a:prstGeom prst="rect">
            <a:avLst/>
          </a:prstGeom>
          <a:noFill/>
        </p:spPr>
        <p:txBody>
          <a:bodyPr wrap="square" anchor="t" lIns="0" rIns="0" tIns="0" bIns="0">
            <a:spAutoFit/>
          </a:bodyPr>
          <a:lstStyle/>
          <a:p>
            <a:pPr algn="l"/>
            <a:r>
              <a:rPr sz="950" b="0" i="0">
                <a:solidFill>
                  <a:srgbClr val="6B6690"/>
                </a:solidFill>
                <a:latin typeface="Calibri"/>
              </a:rPr>
              <a:t>members on the book</a:t>
            </a:r>
          </a:p>
        </p:txBody>
      </p:sp>
      <p:sp>
        <p:nvSpPr>
          <p:cNvPr id="24" name="Rectangle 23"/>
          <p:cNvSpPr/>
          <p:nvPr/>
        </p:nvSpPr>
        <p:spPr>
          <a:xfrm>
            <a:off x="9084335"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30352" y="3419856"/>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c. The reload rewrote two rows with their own values, so whatever differs between two runs after it cannot be the book.</a:t>
            </a:r>
          </a:p>
        </p:txBody>
      </p:sp>
      <p:sp>
        <p:nvSpPr>
          <p:cNvPr id="26" name="Oval 2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Same answer next week?</a:t>
            </a:r>
          </a:p>
        </p:txBody>
      </p:sp>
      <p:sp>
        <p:nvSpPr>
          <p:cNvPr id="28" name="Oval 27"/>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127694"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30" name="Oval 29"/>
          <p:cNvSpPr/>
          <p:nvPr/>
        </p:nvSpPr>
        <p:spPr>
          <a:xfrm>
            <a:off x="34135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523297"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Anand?</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10 / 28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which five orders does LIMIT 5 return?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analyst traces five delivered Q2 app orders: which five does the quickest query return?</a:t>
            </a:r>
          </a:p>
        </p:txBody>
      </p:sp>
      <p:sp>
        <p:nvSpPr>
          <p:cNvPr id="9" name="Rounded Rectangle 8"/>
          <p:cNvSpPr/>
          <p:nvPr/>
        </p:nvSpPr>
        <p:spPr>
          <a:xfrm>
            <a:off x="530352" y="1956816"/>
            <a:ext cx="11130991" cy="1214627"/>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812291"/>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SELECT order_id, amount FROM orders</a:t>
            </a:r>
          </a:p>
          <a:p>
            <a:pPr>
              <a:spcAft>
                <a:spcPts val="200"/>
              </a:spcAft>
            </a:pPr>
            <a:r>
              <a:rPr sz="1400" b="0" i="0">
                <a:solidFill>
                  <a:srgbClr val="E4E1F1"/>
                </a:solidFill>
                <a:latin typeface="Consolas"/>
              </a:rPr>
              <a:t>WHERE  quarter = 'Q2' AND channel = 'app' AND status = 'delivered'</a:t>
            </a:r>
          </a:p>
          <a:p>
            <a:pPr>
              <a:spcAft>
                <a:spcPts val="200"/>
              </a:spcAft>
            </a:pPr>
            <a:r>
              <a:rPr sz="1400" b="0" i="0">
                <a:solidFill>
                  <a:srgbClr val="E4E1F1"/>
                </a:solidFill>
                <a:latin typeface="Consolas"/>
              </a:rPr>
              <a:t>LIMIT  5;</a:t>
            </a:r>
          </a:p>
        </p:txBody>
      </p:sp>
      <p:sp>
        <p:nvSpPr>
          <p:cNvPr id="14" name="Rounded Rectangle 13"/>
          <p:cNvSpPr/>
          <p:nvPr/>
        </p:nvSpPr>
        <p:spPr>
          <a:xfrm>
            <a:off x="530352" y="333603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76656" y="346405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77824" y="3454907"/>
            <a:ext cx="10564063" cy="8915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With no ORDER BY, which five rows come back? a) the five with the smallest order ids; b) the five most recent orders; c) whichever five the database reaches first, which can change between runs; d) five chosen at random on every run.</a:t>
            </a:r>
          </a:p>
        </p:txBody>
      </p:sp>
      <p:sp>
        <p:nvSpPr>
          <p:cNvPr id="17" name="Oval 16"/>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Same answer next week?</a:t>
            </a:r>
          </a:p>
        </p:txBody>
      </p:sp>
      <p:sp>
        <p:nvSpPr>
          <p:cNvPr id="19" name="Oval 18"/>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127694"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21" name="Oval 20"/>
          <p:cNvSpPr/>
          <p:nvPr/>
        </p:nvSpPr>
        <p:spPr>
          <a:xfrm>
            <a:off x="34135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523297"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Anand?</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11 / 28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whichever five come first, Rs 690 apart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happens when the analyst reruns the same query after the reload?</a:t>
            </a:r>
          </a:p>
        </p:txBody>
      </p:sp>
      <p:graphicFrame>
        <p:nvGraphicFramePr>
          <p:cNvPr id="9" name="Table 8"/>
          <p:cNvGraphicFramePr>
            <a:graphicFrameLocks noGrp="1"/>
          </p:cNvGraphicFramePr>
          <p:nvPr/>
        </p:nvGraphicFramePr>
        <p:xfrm>
          <a:off x="530352" y="1956816"/>
          <a:ext cx="11130990" cy="2346960"/>
        </p:xfrm>
        <a:graphic>
          <a:graphicData uri="http://schemas.openxmlformats.org/drawingml/2006/table">
            <a:tbl>
              <a:tblPr firstRow="0" bandRow="0">
                <a:tableStyleId>{2D5ABB26-0587-4C30-8999-92F81FD0307C}</a:tableStyleId>
              </a:tblPr>
              <a:tblGrid>
                <a:gridCol w="4540273"/>
                <a:gridCol w="914400"/>
                <a:gridCol w="4761917"/>
                <a:gridCol w="914400"/>
              </a:tblGrid>
              <a:tr h="335280">
                <a:tc>
                  <a:txBody>
                    <a:bodyPr/>
                    <a:lstStyle/>
                    <a:p>
                      <a:r>
                        <a:rPr sz="1250" b="1" i="0">
                          <a:solidFill>
                            <a:srgbClr val="FFFFFF"/>
                          </a:solidFill>
                          <a:latin typeface="Calibri"/>
                        </a:rPr>
                        <a:t>Your run on Monday</a:t>
                      </a:r>
                    </a:p>
                  </a:txBody>
                  <a:tcPr marL="101600" marR="101600" marT="38100" marB="38100" anchor="ctr">
                    <a:solidFill>
                      <a:srgbClr val="1A0F5C"/>
                    </a:solidFill>
                  </a:tcPr>
                </a:tc>
                <a:tc>
                  <a:txBody>
                    <a:bodyPr/>
                    <a:lstStyle/>
                    <a:p>
                      <a:r>
                        <a:rPr sz="1250" b="1" i="0">
                          <a:solidFill>
                            <a:srgbClr val="FFFFFF"/>
                          </a:solidFill>
                          <a:latin typeface="Calibri"/>
                        </a:rPr>
                        <a:t>Amount</a:t>
                      </a:r>
                    </a:p>
                  </a:txBody>
                  <a:tcPr marL="101600" marR="101600" marT="38100" marB="38100" anchor="ctr">
                    <a:solidFill>
                      <a:srgbClr val="1A0F5C"/>
                    </a:solidFill>
                  </a:tcPr>
                </a:tc>
                <a:tc>
                  <a:txBody>
                    <a:bodyPr/>
                    <a:lstStyle/>
                    <a:p>
                      <a:r>
                        <a:rPr sz="1250" b="1" i="0">
                          <a:solidFill>
                            <a:srgbClr val="FFFFFF"/>
                          </a:solidFill>
                          <a:latin typeface="Calibri"/>
                        </a:rPr>
                        <a:t>The analyst's rerun</a:t>
                      </a:r>
                    </a:p>
                  </a:txBody>
                  <a:tcPr marL="101600" marR="101600" marT="38100" marB="38100" anchor="ctr">
                    <a:solidFill>
                      <a:srgbClr val="1A0F5C"/>
                    </a:solidFill>
                  </a:tcPr>
                </a:tc>
                <a:tc>
                  <a:txBody>
                    <a:bodyPr/>
                    <a:lstStyle/>
                    <a:p>
                      <a:r>
                        <a:rPr sz="1250" b="1" i="0">
                          <a:solidFill>
                            <a:srgbClr val="FFFFFF"/>
                          </a:solidFill>
                          <a:latin typeface="Calibri"/>
                        </a:rPr>
                        <a:t>Amount</a:t>
                      </a:r>
                    </a:p>
                  </a:txBody>
                  <a:tcPr marL="101600" marR="101600" marT="38100" marB="38100" anchor="ctr">
                    <a:solidFill>
                      <a:srgbClr val="1A0F5C"/>
                    </a:solidFill>
                  </a:tcPr>
                </a:tc>
              </a:tr>
              <a:tr h="335280">
                <a:tc>
                  <a:txBody>
                    <a:bodyPr/>
                    <a:lstStyle/>
                    <a:p>
                      <a:r>
                        <a:rPr sz="1200" b="0" i="0">
                          <a:solidFill>
                            <a:srgbClr val="1A1440"/>
                          </a:solidFill>
                          <a:latin typeface="Calibri"/>
                        </a:rPr>
                        <a:t>KR-00542</a:t>
                      </a:r>
                    </a:p>
                  </a:txBody>
                  <a:tcPr marL="101600" marR="101600" marT="38100" marB="38100" anchor="ctr">
                    <a:solidFill>
                      <a:srgbClr val="FFFFFF"/>
                    </a:solidFill>
                  </a:tcPr>
                </a:tc>
                <a:tc>
                  <a:txBody>
                    <a:bodyPr/>
                    <a:lstStyle/>
                    <a:p>
                      <a:r>
                        <a:rPr sz="1200" b="0" i="0">
                          <a:solidFill>
                            <a:srgbClr val="1A1440"/>
                          </a:solidFill>
                          <a:latin typeface="Calibri"/>
                        </a:rPr>
                        <a:t>Rs 790</a:t>
                      </a:r>
                    </a:p>
                  </a:txBody>
                  <a:tcPr marL="101600" marR="101600" marT="38100" marB="38100" anchor="ctr">
                    <a:solidFill>
                      <a:srgbClr val="FFFFFF"/>
                    </a:solidFill>
                  </a:tcPr>
                </a:tc>
                <a:tc>
                  <a:txBody>
                    <a:bodyPr/>
                    <a:lstStyle/>
                    <a:p>
                      <a:r>
                        <a:rPr sz="1200" b="0" i="0">
                          <a:solidFill>
                            <a:srgbClr val="1A1440"/>
                          </a:solidFill>
                          <a:latin typeface="Calibri"/>
                        </a:rPr>
                        <a:t>KR-00545</a:t>
                      </a:r>
                    </a:p>
                  </a:txBody>
                  <a:tcPr marL="101600" marR="101600" marT="38100" marB="38100" anchor="ctr">
                    <a:solidFill>
                      <a:srgbClr val="FFFFFF"/>
                    </a:solidFill>
                  </a:tcPr>
                </a:tc>
                <a:tc>
                  <a:txBody>
                    <a:bodyPr/>
                    <a:lstStyle/>
                    <a:p>
                      <a:r>
                        <a:rPr sz="1200" b="0" i="0">
                          <a:solidFill>
                            <a:srgbClr val="1A1440"/>
                          </a:solidFill>
                          <a:latin typeface="Calibri"/>
                        </a:rPr>
                        <a:t>Rs 680</a:t>
                      </a:r>
                    </a:p>
                  </a:txBody>
                  <a:tcPr marL="101600" marR="101600" marT="38100" marB="38100" anchor="ctr">
                    <a:solidFill>
                      <a:srgbClr val="FFFFFF"/>
                    </a:solidFill>
                  </a:tcPr>
                </a:tc>
              </a:tr>
              <a:tr h="335280">
                <a:tc>
                  <a:txBody>
                    <a:bodyPr/>
                    <a:lstStyle/>
                    <a:p>
                      <a:r>
                        <a:rPr sz="1200" b="0" i="0">
                          <a:solidFill>
                            <a:srgbClr val="1A1440"/>
                          </a:solidFill>
                          <a:latin typeface="Calibri"/>
                        </a:rPr>
                        <a:t>KR-00544</a:t>
                      </a:r>
                    </a:p>
                  </a:txBody>
                  <a:tcPr marL="101600" marR="101600" marT="38100" marB="38100" anchor="ctr">
                    <a:solidFill>
                      <a:srgbClr val="F4F2FA"/>
                    </a:solidFill>
                  </a:tcPr>
                </a:tc>
                <a:tc>
                  <a:txBody>
                    <a:bodyPr/>
                    <a:lstStyle/>
                    <a:p>
                      <a:r>
                        <a:rPr sz="1200" b="0" i="0">
                          <a:solidFill>
                            <a:srgbClr val="1A1440"/>
                          </a:solidFill>
                          <a:latin typeface="Calibri"/>
                        </a:rPr>
                        <a:t>Rs 960</a:t>
                      </a:r>
                    </a:p>
                  </a:txBody>
                  <a:tcPr marL="101600" marR="101600" marT="38100" marB="38100" anchor="ctr">
                    <a:solidFill>
                      <a:srgbClr val="F4F2FA"/>
                    </a:solidFill>
                  </a:tcPr>
                </a:tc>
                <a:tc>
                  <a:txBody>
                    <a:bodyPr/>
                    <a:lstStyle/>
                    <a:p>
                      <a:r>
                        <a:rPr sz="1200" b="0" i="0">
                          <a:solidFill>
                            <a:srgbClr val="1A1440"/>
                          </a:solidFill>
                          <a:latin typeface="Calibri"/>
                        </a:rPr>
                        <a:t>KR-00546</a:t>
                      </a:r>
                    </a:p>
                  </a:txBody>
                  <a:tcPr marL="101600" marR="101600" marT="38100" marB="38100" anchor="ctr">
                    <a:solidFill>
                      <a:srgbClr val="F4F2FA"/>
                    </a:solidFill>
                  </a:tcPr>
                </a:tc>
                <a:tc>
                  <a:txBody>
                    <a:bodyPr/>
                    <a:lstStyle/>
                    <a:p>
                      <a:r>
                        <a:rPr sz="1200" b="0" i="0">
                          <a:solidFill>
                            <a:srgbClr val="1A1440"/>
                          </a:solidFill>
                          <a:latin typeface="Calibri"/>
                        </a:rPr>
                        <a:t>Rs 500</a:t>
                      </a:r>
                    </a:p>
                  </a:txBody>
                  <a:tcPr marL="101600" marR="101600" marT="38100" marB="38100" anchor="ctr">
                    <a:solidFill>
                      <a:srgbClr val="F4F2FA"/>
                    </a:solidFill>
                  </a:tcPr>
                </a:tc>
              </a:tr>
              <a:tr h="335280">
                <a:tc>
                  <a:txBody>
                    <a:bodyPr/>
                    <a:lstStyle/>
                    <a:p>
                      <a:r>
                        <a:rPr sz="1200" b="0" i="0">
                          <a:solidFill>
                            <a:srgbClr val="1A1440"/>
                          </a:solidFill>
                          <a:latin typeface="Calibri"/>
                        </a:rPr>
                        <a:t>KR-00545</a:t>
                      </a:r>
                    </a:p>
                  </a:txBody>
                  <a:tcPr marL="101600" marR="101600" marT="38100" marB="38100" anchor="ctr">
                    <a:solidFill>
                      <a:srgbClr val="FFFFFF"/>
                    </a:solidFill>
                  </a:tcPr>
                </a:tc>
                <a:tc>
                  <a:txBody>
                    <a:bodyPr/>
                    <a:lstStyle/>
                    <a:p>
                      <a:r>
                        <a:rPr sz="1200" b="0" i="0">
                          <a:solidFill>
                            <a:srgbClr val="1A1440"/>
                          </a:solidFill>
                          <a:latin typeface="Calibri"/>
                        </a:rPr>
                        <a:t>Rs 680</a:t>
                      </a:r>
                    </a:p>
                  </a:txBody>
                  <a:tcPr marL="101600" marR="101600" marT="38100" marB="38100" anchor="ctr">
                    <a:solidFill>
                      <a:srgbClr val="FFFFFF"/>
                    </a:solidFill>
                  </a:tcPr>
                </a:tc>
                <a:tc>
                  <a:txBody>
                    <a:bodyPr/>
                    <a:lstStyle/>
                    <a:p>
                      <a:r>
                        <a:rPr sz="1200" b="0" i="0">
                          <a:solidFill>
                            <a:srgbClr val="1A1440"/>
                          </a:solidFill>
                          <a:latin typeface="Calibri"/>
                        </a:rPr>
                        <a:t>KR-00547</a:t>
                      </a:r>
                    </a:p>
                  </a:txBody>
                  <a:tcPr marL="101600" marR="101600" marT="38100" marB="38100" anchor="ctr">
                    <a:solidFill>
                      <a:srgbClr val="FFFFFF"/>
                    </a:solidFill>
                  </a:tcPr>
                </a:tc>
                <a:tc>
                  <a:txBody>
                    <a:bodyPr/>
                    <a:lstStyle/>
                    <a:p>
                      <a:r>
                        <a:rPr sz="1200" b="0" i="0">
                          <a:solidFill>
                            <a:srgbClr val="1A1440"/>
                          </a:solidFill>
                          <a:latin typeface="Calibri"/>
                        </a:rPr>
                        <a:t>Rs 970</a:t>
                      </a:r>
                    </a:p>
                  </a:txBody>
                  <a:tcPr marL="101600" marR="101600" marT="38100" marB="38100" anchor="ctr">
                    <a:solidFill>
                      <a:srgbClr val="FFFFFF"/>
                    </a:solidFill>
                  </a:tcPr>
                </a:tc>
              </a:tr>
              <a:tr h="335280">
                <a:tc>
                  <a:txBody>
                    <a:bodyPr/>
                    <a:lstStyle/>
                    <a:p>
                      <a:r>
                        <a:rPr sz="1200" b="0" i="0">
                          <a:solidFill>
                            <a:srgbClr val="1A1440"/>
                          </a:solidFill>
                          <a:latin typeface="Calibri"/>
                        </a:rPr>
                        <a:t>KR-00546</a:t>
                      </a:r>
                    </a:p>
                  </a:txBody>
                  <a:tcPr marL="101600" marR="101600" marT="38100" marB="38100" anchor="ctr">
                    <a:solidFill>
                      <a:srgbClr val="F4F2FA"/>
                    </a:solidFill>
                  </a:tcPr>
                </a:tc>
                <a:tc>
                  <a:txBody>
                    <a:bodyPr/>
                    <a:lstStyle/>
                    <a:p>
                      <a:r>
                        <a:rPr sz="1200" b="0" i="0">
                          <a:solidFill>
                            <a:srgbClr val="1A1440"/>
                          </a:solidFill>
                          <a:latin typeface="Calibri"/>
                        </a:rPr>
                        <a:t>Rs 500</a:t>
                      </a:r>
                    </a:p>
                  </a:txBody>
                  <a:tcPr marL="101600" marR="101600" marT="38100" marB="38100" anchor="ctr">
                    <a:solidFill>
                      <a:srgbClr val="F4F2FA"/>
                    </a:solidFill>
                  </a:tcPr>
                </a:tc>
                <a:tc>
                  <a:txBody>
                    <a:bodyPr/>
                    <a:lstStyle/>
                    <a:p>
                      <a:r>
                        <a:rPr sz="1200" b="0" i="0">
                          <a:solidFill>
                            <a:srgbClr val="1A1440"/>
                          </a:solidFill>
                          <a:latin typeface="Calibri"/>
                        </a:rPr>
                        <a:t>KR-00549</a:t>
                      </a:r>
                    </a:p>
                  </a:txBody>
                  <a:tcPr marL="101600" marR="101600" marT="38100" marB="38100" anchor="ctr">
                    <a:solidFill>
                      <a:srgbClr val="F4F2FA"/>
                    </a:solidFill>
                  </a:tcPr>
                </a:tc>
                <a:tc>
                  <a:txBody>
                    <a:bodyPr/>
                    <a:lstStyle/>
                    <a:p>
                      <a:r>
                        <a:rPr sz="1200" b="0" i="0">
                          <a:solidFill>
                            <a:srgbClr val="1A1440"/>
                          </a:solidFill>
                          <a:latin typeface="Calibri"/>
                        </a:rPr>
                        <a:t>Rs 970</a:t>
                      </a:r>
                    </a:p>
                  </a:txBody>
                  <a:tcPr marL="101600" marR="101600" marT="38100" marB="38100" anchor="ctr">
                    <a:solidFill>
                      <a:srgbClr val="F4F2FA"/>
                    </a:solidFill>
                  </a:tcPr>
                </a:tc>
              </a:tr>
              <a:tr h="335280">
                <a:tc>
                  <a:txBody>
                    <a:bodyPr/>
                    <a:lstStyle/>
                    <a:p>
                      <a:r>
                        <a:rPr sz="1200" b="0" i="0">
                          <a:solidFill>
                            <a:srgbClr val="1A1440"/>
                          </a:solidFill>
                          <a:latin typeface="Calibri"/>
                        </a:rPr>
                        <a:t>KR-00547</a:t>
                      </a:r>
                    </a:p>
                  </a:txBody>
                  <a:tcPr marL="101600" marR="101600" marT="38100" marB="38100" anchor="ctr">
                    <a:solidFill>
                      <a:srgbClr val="FFFFFF"/>
                    </a:solidFill>
                  </a:tcPr>
                </a:tc>
                <a:tc>
                  <a:txBody>
                    <a:bodyPr/>
                    <a:lstStyle/>
                    <a:p>
                      <a:r>
                        <a:rPr sz="1200" b="0" i="0">
                          <a:solidFill>
                            <a:srgbClr val="1A1440"/>
                          </a:solidFill>
                          <a:latin typeface="Calibri"/>
                        </a:rPr>
                        <a:t>Rs 970</a:t>
                      </a:r>
                    </a:p>
                  </a:txBody>
                  <a:tcPr marL="101600" marR="101600" marT="38100" marB="38100" anchor="ctr">
                    <a:solidFill>
                      <a:srgbClr val="FFFFFF"/>
                    </a:solidFill>
                  </a:tcPr>
                </a:tc>
                <a:tc>
                  <a:txBody>
                    <a:bodyPr/>
                    <a:lstStyle/>
                    <a:p>
                      <a:r>
                        <a:rPr sz="1200" b="0" i="0">
                          <a:solidFill>
                            <a:srgbClr val="1A1440"/>
                          </a:solidFill>
                          <a:latin typeface="Calibri"/>
                        </a:rPr>
                        <a:t>KR-00553</a:t>
                      </a:r>
                    </a:p>
                  </a:txBody>
                  <a:tcPr marL="101600" marR="101600" marT="38100" marB="38100" anchor="ctr">
                    <a:solidFill>
                      <a:srgbClr val="FFFFFF"/>
                    </a:solidFill>
                  </a:tcPr>
                </a:tc>
                <a:tc>
                  <a:txBody>
                    <a:bodyPr/>
                    <a:lstStyle/>
                    <a:p>
                      <a:r>
                        <a:rPr sz="1200" b="0" i="0">
                          <a:solidFill>
                            <a:srgbClr val="1A1440"/>
                          </a:solidFill>
                          <a:latin typeface="Calibri"/>
                        </a:rPr>
                        <a:t>Rs 1,470</a:t>
                      </a:r>
                    </a:p>
                  </a:txBody>
                  <a:tcPr marL="101600" marR="101600" marT="38100" marB="38100" anchor="ctr">
                    <a:solidFill>
                      <a:srgbClr val="FFFFFF"/>
                    </a:solidFill>
                  </a:tcPr>
                </a:tc>
              </a:tr>
              <a:tr h="335280">
                <a:tc>
                  <a:txBody>
                    <a:bodyPr/>
                    <a:lstStyle/>
                    <a:p>
                      <a:r>
                        <a:rPr sz="1200" b="1" i="0">
                          <a:solidFill>
                            <a:srgbClr val="1A1440"/>
                          </a:solidFill>
                          <a:latin typeface="Calibri"/>
                        </a:rPr>
                        <a:t>Total</a:t>
                      </a:r>
                    </a:p>
                  </a:txBody>
                  <a:tcPr marL="101600" marR="101600" marT="38100" marB="38100" anchor="ctr">
                    <a:solidFill>
                      <a:srgbClr val="F4F2FA"/>
                    </a:solidFill>
                  </a:tcPr>
                </a:tc>
                <a:tc>
                  <a:txBody>
                    <a:bodyPr/>
                    <a:lstStyle/>
                    <a:p>
                      <a:r>
                        <a:rPr sz="1200" b="1" i="0">
                          <a:solidFill>
                            <a:srgbClr val="1A1440"/>
                          </a:solidFill>
                          <a:latin typeface="Calibri"/>
                        </a:rPr>
                        <a:t>Rs 3,900</a:t>
                      </a:r>
                    </a:p>
                  </a:txBody>
                  <a:tcPr marL="101600" marR="101600" marT="38100" marB="38100" anchor="ctr">
                    <a:solidFill>
                      <a:srgbClr val="F4F2FA"/>
                    </a:solidFill>
                  </a:tcPr>
                </a:tc>
                <a:tc>
                  <a:txBody>
                    <a:bodyPr/>
                    <a:lstStyle/>
                    <a:p>
                      <a:r>
                        <a:rPr sz="1200" b="1" i="0">
                          <a:solidFill>
                            <a:srgbClr val="1A1440"/>
                          </a:solidFill>
                          <a:latin typeface="Calibri"/>
                        </a:rPr>
                        <a:t>Total</a:t>
                      </a:r>
                    </a:p>
                  </a:txBody>
                  <a:tcPr marL="101600" marR="101600" marT="38100" marB="38100" anchor="ctr">
                    <a:solidFill>
                      <a:srgbClr val="F4F2FA"/>
                    </a:solidFill>
                  </a:tcPr>
                </a:tc>
                <a:tc>
                  <a:txBody>
                    <a:bodyPr/>
                    <a:lstStyle/>
                    <a:p>
                      <a:r>
                        <a:rPr sz="1200" b="1" i="0">
                          <a:solidFill>
                            <a:srgbClr val="1A1440"/>
                          </a:solidFill>
                          <a:latin typeface="Calibri"/>
                        </a:rPr>
                        <a:t>Rs 4,590</a:t>
                      </a:r>
                    </a:p>
                  </a:txBody>
                  <a:tcPr marL="101600" marR="101600" marT="38100" marB="38100" anchor="ctr">
                    <a:solidFill>
                      <a:srgbClr val="F4F2FA"/>
                    </a:solidFill>
                  </a:tcPr>
                </a:tc>
              </a:tr>
            </a:tbl>
          </a:graphicData>
        </a:graphic>
      </p:graphicFrame>
      <p:sp>
        <p:nvSpPr>
          <p:cNvPr id="10" name="Rounded Rectangle 9"/>
          <p:cNvSpPr/>
          <p:nvPr/>
        </p:nvSpPr>
        <p:spPr>
          <a:xfrm>
            <a:off x="530352" y="4559808"/>
            <a:ext cx="11130991" cy="112166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89204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bug_39ada6eff46d.png"/>
          <p:cNvPicPr>
            <a:picLocks noChangeAspect="1"/>
          </p:cNvPicPr>
          <p:nvPr/>
        </p:nvPicPr>
        <p:blipFill>
          <a:blip r:embed="rId4"/>
          <a:stretch>
            <a:fillRect/>
          </a:stretch>
        </p:blipFill>
        <p:spPr>
          <a:xfrm>
            <a:off x="868680" y="5001768"/>
            <a:ext cx="237744" cy="237744"/>
          </a:xfrm>
          <a:prstGeom prst="rect">
            <a:avLst/>
          </a:prstGeom>
        </p:spPr>
      </p:pic>
      <p:sp>
        <p:nvSpPr>
          <p:cNvPr id="13" name="TextBox 12"/>
          <p:cNvSpPr txBox="1"/>
          <p:nvPr/>
        </p:nvSpPr>
        <p:spPr>
          <a:xfrm>
            <a:off x="1399031" y="470611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14" name="TextBox 13"/>
          <p:cNvSpPr txBox="1"/>
          <p:nvPr/>
        </p:nvSpPr>
        <p:spPr>
          <a:xfrm>
            <a:off x="1399031" y="4925568"/>
            <a:ext cx="9987991" cy="682752"/>
          </a:xfrm>
          <a:prstGeom prst="rect">
            <a:avLst/>
          </a:prstGeom>
          <a:noFill/>
        </p:spPr>
        <p:txBody>
          <a:bodyPr wrap="square" anchor="t" lIns="0" rIns="0" tIns="0" bIns="0">
            <a:spAutoFit/>
          </a:bodyPr>
          <a:lstStyle/>
          <a:p>
            <a:r>
              <a:rPr sz="1500" b="0" i="0">
                <a:solidFill>
                  <a:srgbClr val="1A1440"/>
                </a:solidFill>
                <a:latin typeface="Calibri"/>
              </a:rPr>
              <a:t>The audit reports a Rs 690 disagreement on a sample that should be identical, and every other number in the suite comes under question. The answer is c.</a:t>
            </a:r>
          </a:p>
        </p:txBody>
      </p:sp>
      <p:sp>
        <p:nvSpPr>
          <p:cNvPr id="15" name="Oval 14"/>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Same answer next week?</a:t>
            </a:r>
          </a:p>
        </p:txBody>
      </p:sp>
      <p:sp>
        <p:nvSpPr>
          <p:cNvPr id="17" name="Oval 16"/>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127694"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9" name="Oval 18"/>
          <p:cNvSpPr/>
          <p:nvPr/>
        </p:nvSpPr>
        <p:spPr>
          <a:xfrm>
            <a:off x="34135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523297"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Anand?</a:t>
            </a:r>
          </a:p>
        </p:txBody>
      </p:sp>
      <p:sp>
        <p:nvSpPr>
          <p:cNvPr id="21" name="TextBox 2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S10  ·  12 / 28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Why it is wrong: a table has no order to keep</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did the same query on the same book draw a different five?</a:t>
            </a:r>
          </a:p>
        </p:txBody>
      </p:sp>
      <p:pic>
        <p:nvPicPr>
          <p:cNvPr id="9" name="mermaid diagram" descr="7647d511fe64edd1.png"/>
          <p:cNvPicPr>
            <a:picLocks noChangeAspect="1"/>
          </p:cNvPicPr>
          <p:nvPr/>
        </p:nvPicPr>
        <p:blipFill>
          <a:blip r:embed="rId5"/>
          <a:stretch>
            <a:fillRect/>
          </a:stretch>
        </p:blipFill>
        <p:spPr>
          <a:xfrm>
            <a:off x="780897" y="1956816"/>
            <a:ext cx="10629900" cy="1857375"/>
          </a:xfrm>
          <a:prstGeom prst="rect">
            <a:avLst/>
          </a:prstGeom>
        </p:spPr>
      </p:pic>
      <p:sp>
        <p:nvSpPr>
          <p:cNvPr id="10" name="Rounded Rectangle 9"/>
          <p:cNvSpPr/>
          <p:nvPr/>
        </p:nvSpPr>
        <p:spPr>
          <a:xfrm>
            <a:off x="530352" y="3960495"/>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088510"/>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079367"/>
            <a:ext cx="10564063" cy="8915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The fingerprint said the book did not change; the samples say the five did. Without ORDER BY, Postgres returns rows "in an unspecified order", and LIMIT returns "an unpredictable subset of the query's rows".</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Same answer next week?</a:t>
            </a:r>
          </a:p>
        </p:txBody>
      </p:sp>
      <p:sp>
        <p:nvSpPr>
          <p:cNvPr id="15" name="Oval 14"/>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127694"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7" name="Oval 16"/>
          <p:cNvSpPr/>
          <p:nvPr/>
        </p:nvSpPr>
        <p:spPr>
          <a:xfrm>
            <a:off x="34135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523297"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Anand?</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S11  ·  13 / 28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fix: ORDER BY order_id draws the same five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five orders will the analyst trace against the ERP?</a:t>
            </a:r>
          </a:p>
        </p:txBody>
      </p:sp>
      <p:sp>
        <p:nvSpPr>
          <p:cNvPr id="9" name="Rounded Rectangle 8"/>
          <p:cNvSpPr/>
          <p:nvPr/>
        </p:nvSpPr>
        <p:spPr>
          <a:xfrm>
            <a:off x="530352" y="1956816"/>
            <a:ext cx="11130991" cy="146710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064768"/>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SELECT order_id, amount FROM orders</a:t>
            </a:r>
          </a:p>
          <a:p>
            <a:pPr>
              <a:spcAft>
                <a:spcPts val="200"/>
              </a:spcAft>
            </a:pPr>
            <a:r>
              <a:rPr sz="1400" b="0" i="0">
                <a:solidFill>
                  <a:srgbClr val="E4E1F1"/>
                </a:solidFill>
                <a:latin typeface="Consolas"/>
              </a:rPr>
              <a:t>WHERE  quarter = 'Q2' AND channel = 'app' AND status = 'delivered'</a:t>
            </a:r>
          </a:p>
          <a:p>
            <a:pPr>
              <a:spcAft>
                <a:spcPts val="200"/>
              </a:spcAft>
            </a:pPr>
            <a:r>
              <a:rPr sz="1400" b="0" i="0">
                <a:solidFill>
                  <a:srgbClr val="E4E1F1"/>
                </a:solidFill>
                <a:latin typeface="Consolas"/>
              </a:rPr>
              <a:t>ORDER  BY order_id</a:t>
            </a:r>
          </a:p>
          <a:p>
            <a:pPr>
              <a:spcAft>
                <a:spcPts val="200"/>
              </a:spcAft>
            </a:pPr>
            <a:r>
              <a:rPr sz="1400" b="0" i="0">
                <a:solidFill>
                  <a:srgbClr val="E4E1F1"/>
                </a:solidFill>
                <a:latin typeface="Consolas"/>
              </a:rPr>
              <a:t>LIMIT  5;</a:t>
            </a:r>
          </a:p>
        </p:txBody>
      </p:sp>
      <p:sp>
        <p:nvSpPr>
          <p:cNvPr id="14" name="TextBox 13"/>
          <p:cNvSpPr txBox="1"/>
          <p:nvPr/>
        </p:nvSpPr>
        <p:spPr>
          <a:xfrm>
            <a:off x="530352" y="3588512"/>
            <a:ext cx="3527450" cy="349250"/>
          </a:xfrm>
          <a:prstGeom prst="rect">
            <a:avLst/>
          </a:prstGeom>
          <a:noFill/>
        </p:spPr>
        <p:txBody>
          <a:bodyPr wrap="square" anchor="t" lIns="0" rIns="0" tIns="0" bIns="0">
            <a:spAutoFit/>
          </a:bodyPr>
          <a:lstStyle/>
          <a:p>
            <a:pPr algn="l"/>
            <a:r>
              <a:rPr sz="2200" b="0" i="0">
                <a:solidFill>
                  <a:srgbClr val="5B3FD6"/>
                </a:solidFill>
                <a:latin typeface="Georgia"/>
              </a:rPr>
              <a:t>KR-00542 to KR-00547</a:t>
            </a:r>
          </a:p>
        </p:txBody>
      </p:sp>
      <p:sp>
        <p:nvSpPr>
          <p:cNvPr id="15" name="TextBox 14"/>
          <p:cNvSpPr txBox="1"/>
          <p:nvPr/>
        </p:nvSpPr>
        <p:spPr>
          <a:xfrm>
            <a:off x="530352" y="3974338"/>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FIVE</a:t>
            </a:r>
          </a:p>
        </p:txBody>
      </p:sp>
      <p:sp>
        <p:nvSpPr>
          <p:cNvPr id="16" name="TextBox 15"/>
          <p:cNvSpPr txBox="1"/>
          <p:nvPr/>
        </p:nvSpPr>
        <p:spPr>
          <a:xfrm>
            <a:off x="530352" y="4175506"/>
            <a:ext cx="3527450" cy="193421"/>
          </a:xfrm>
          <a:prstGeom prst="rect">
            <a:avLst/>
          </a:prstGeom>
          <a:noFill/>
        </p:spPr>
        <p:txBody>
          <a:bodyPr wrap="square" anchor="t" lIns="0" rIns="0" tIns="0" bIns="0">
            <a:spAutoFit/>
          </a:bodyPr>
          <a:lstStyle/>
          <a:p>
            <a:pPr algn="l"/>
            <a:r>
              <a:rPr sz="950" b="0" i="0">
                <a:solidFill>
                  <a:srgbClr val="6B6690"/>
                </a:solidFill>
                <a:latin typeface="Calibri"/>
              </a:rPr>
              <a:t>542, 544, 545, 546 and 547</a:t>
            </a:r>
          </a:p>
        </p:txBody>
      </p:sp>
      <p:sp>
        <p:nvSpPr>
          <p:cNvPr id="17" name="Rectangle 16"/>
          <p:cNvSpPr/>
          <p:nvPr/>
        </p:nvSpPr>
        <p:spPr>
          <a:xfrm>
            <a:off x="530352" y="4777232"/>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332122" y="3588512"/>
            <a:ext cx="3527450" cy="349250"/>
          </a:xfrm>
          <a:prstGeom prst="rect">
            <a:avLst/>
          </a:prstGeom>
          <a:noFill/>
        </p:spPr>
        <p:txBody>
          <a:bodyPr wrap="square" anchor="t" lIns="0" rIns="0" tIns="0" bIns="0">
            <a:spAutoFit/>
          </a:bodyPr>
          <a:lstStyle/>
          <a:p>
            <a:pPr algn="l"/>
            <a:r>
              <a:rPr sz="2200" b="0" i="0">
                <a:solidFill>
                  <a:srgbClr val="5B3FD6"/>
                </a:solidFill>
                <a:latin typeface="Georgia"/>
              </a:rPr>
              <a:t>Rs 3,900</a:t>
            </a:r>
          </a:p>
        </p:txBody>
      </p:sp>
      <p:sp>
        <p:nvSpPr>
          <p:cNvPr id="19" name="TextBox 18"/>
          <p:cNvSpPr txBox="1"/>
          <p:nvPr/>
        </p:nvSpPr>
        <p:spPr>
          <a:xfrm>
            <a:off x="4332122" y="3974338"/>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BEFORE THE RELOAD</a:t>
            </a:r>
          </a:p>
        </p:txBody>
      </p:sp>
      <p:sp>
        <p:nvSpPr>
          <p:cNvPr id="20" name="TextBox 19"/>
          <p:cNvSpPr txBox="1"/>
          <p:nvPr/>
        </p:nvSpPr>
        <p:spPr>
          <a:xfrm>
            <a:off x="4332122" y="4175506"/>
            <a:ext cx="3527450" cy="193421"/>
          </a:xfrm>
          <a:prstGeom prst="rect">
            <a:avLst/>
          </a:prstGeom>
          <a:noFill/>
        </p:spPr>
        <p:txBody>
          <a:bodyPr wrap="square" anchor="t" lIns="0" rIns="0" tIns="0" bIns="0">
            <a:spAutoFit/>
          </a:bodyPr>
          <a:lstStyle/>
          <a:p>
            <a:pPr algn="l"/>
            <a:r>
              <a:rPr sz="950" b="0" i="0">
                <a:solidFill>
                  <a:srgbClr val="6B6690"/>
                </a:solidFill>
                <a:latin typeface="Calibri"/>
              </a:rPr>
              <a:t>the same five</a:t>
            </a:r>
          </a:p>
        </p:txBody>
      </p:sp>
      <p:sp>
        <p:nvSpPr>
          <p:cNvPr id="21" name="Rectangle 20"/>
          <p:cNvSpPr/>
          <p:nvPr/>
        </p:nvSpPr>
        <p:spPr>
          <a:xfrm>
            <a:off x="4332122" y="4777232"/>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133892" y="3588512"/>
            <a:ext cx="3527450" cy="349250"/>
          </a:xfrm>
          <a:prstGeom prst="rect">
            <a:avLst/>
          </a:prstGeom>
          <a:noFill/>
        </p:spPr>
        <p:txBody>
          <a:bodyPr wrap="square" anchor="t" lIns="0" rIns="0" tIns="0" bIns="0">
            <a:spAutoFit/>
          </a:bodyPr>
          <a:lstStyle/>
          <a:p>
            <a:pPr algn="l"/>
            <a:r>
              <a:rPr sz="2200" b="0" i="0">
                <a:solidFill>
                  <a:srgbClr val="5B3FD6"/>
                </a:solidFill>
                <a:latin typeface="Georgia"/>
              </a:rPr>
              <a:t>Rs 3,900</a:t>
            </a:r>
          </a:p>
        </p:txBody>
      </p:sp>
      <p:sp>
        <p:nvSpPr>
          <p:cNvPr id="23" name="TextBox 22"/>
          <p:cNvSpPr txBox="1"/>
          <p:nvPr/>
        </p:nvSpPr>
        <p:spPr>
          <a:xfrm>
            <a:off x="8133892" y="3974338"/>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AFTER THE RELOAD</a:t>
            </a:r>
          </a:p>
        </p:txBody>
      </p:sp>
      <p:sp>
        <p:nvSpPr>
          <p:cNvPr id="24" name="TextBox 23"/>
          <p:cNvSpPr txBox="1"/>
          <p:nvPr/>
        </p:nvSpPr>
        <p:spPr>
          <a:xfrm>
            <a:off x="8133892" y="4175506"/>
            <a:ext cx="3527450" cy="193421"/>
          </a:xfrm>
          <a:prstGeom prst="rect">
            <a:avLst/>
          </a:prstGeom>
          <a:noFill/>
        </p:spPr>
        <p:txBody>
          <a:bodyPr wrap="square" anchor="t" lIns="0" rIns="0" tIns="0" bIns="0">
            <a:spAutoFit/>
          </a:bodyPr>
          <a:lstStyle/>
          <a:p>
            <a:pPr algn="l"/>
            <a:r>
              <a:rPr sz="950" b="0" i="0">
                <a:solidFill>
                  <a:srgbClr val="6B6690"/>
                </a:solidFill>
                <a:latin typeface="Calibri"/>
              </a:rPr>
              <a:t>the same five</a:t>
            </a:r>
          </a:p>
        </p:txBody>
      </p:sp>
      <p:sp>
        <p:nvSpPr>
          <p:cNvPr id="25" name="Rectangle 24"/>
          <p:cNvSpPr/>
          <p:nvPr/>
        </p:nvSpPr>
        <p:spPr>
          <a:xfrm>
            <a:off x="8133892" y="4777232"/>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Same answer next week?</a:t>
            </a:r>
          </a:p>
        </p:txBody>
      </p:sp>
      <p:sp>
        <p:nvSpPr>
          <p:cNvPr id="28" name="Oval 27"/>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127694"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30" name="Oval 29"/>
          <p:cNvSpPr/>
          <p:nvPr/>
        </p:nvSpPr>
        <p:spPr>
          <a:xfrm>
            <a:off x="34135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523297"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Anand?</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S12  ·  14 / 28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second route: Python's sort picks the same five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a sort in Python, after the database returns every candidate, pick the same five?</a:t>
            </a:r>
          </a:p>
        </p:txBody>
      </p:sp>
      <p:pic>
        <p:nvPicPr>
          <p:cNvPr id="9" name="mermaid diagram" descr="b2475a8e6bd693c1.png"/>
          <p:cNvPicPr>
            <a:picLocks noChangeAspect="1"/>
          </p:cNvPicPr>
          <p:nvPr/>
        </p:nvPicPr>
        <p:blipFill>
          <a:blip r:embed="rId5"/>
          <a:stretch>
            <a:fillRect/>
          </a:stretch>
        </p:blipFill>
        <p:spPr>
          <a:xfrm>
            <a:off x="780897" y="1956816"/>
            <a:ext cx="10629900" cy="1857375"/>
          </a:xfrm>
          <a:prstGeom prst="rect">
            <a:avLst/>
          </a:prstGeom>
        </p:spPr>
      </p:pic>
      <p:sp>
        <p:nvSpPr>
          <p:cNvPr id="10" name="TextBox 9"/>
          <p:cNvSpPr txBox="1"/>
          <p:nvPr/>
        </p:nvSpPr>
        <p:spPr>
          <a:xfrm>
            <a:off x="530352" y="3960495"/>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first route asked the database to sort and cut; this one asks for all 94 candidates in whatever order they arrive and sorts them in Python, and it names the same five orders.</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Same answer next week?</a:t>
            </a:r>
          </a:p>
        </p:txBody>
      </p:sp>
      <p:sp>
        <p:nvSpPr>
          <p:cNvPr id="13" name="Oval 12"/>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127694"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5" name="Oval 14"/>
          <p:cNvSpPr/>
          <p:nvPr/>
        </p:nvSpPr>
        <p:spPr>
          <a:xfrm>
            <a:off x="34135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23297"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Anand?</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S13  ·  15 / 28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message to Anand: down 1.6%, and Retail-Plus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Monday suite tell Anand?</a:t>
            </a:r>
          </a:p>
        </p:txBody>
      </p:sp>
      <p:sp>
        <p:nvSpPr>
          <p:cNvPr id="9" name="Rounded Rectangle 8"/>
          <p:cNvSpPr/>
          <p:nvPr/>
        </p:nvSpPr>
        <p:spPr>
          <a:xfrm>
            <a:off x="530352" y="1956816"/>
            <a:ext cx="45720" cy="1889759"/>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956816"/>
            <a:ext cx="10820095" cy="1889759"/>
          </a:xfrm>
          <a:prstGeom prst="rect">
            <a:avLst/>
          </a:prstGeom>
          <a:noFill/>
        </p:spPr>
        <p:txBody>
          <a:bodyPr wrap="square" anchor="t" lIns="0" rIns="0" tIns="0" bIns="0">
            <a:spAutoFit/>
          </a:bodyPr>
          <a:lstStyle/>
          <a:p>
            <a:r>
              <a:rPr sz="1600" b="0" i="1">
                <a:solidFill>
                  <a:srgbClr val="1A0F5C"/>
                </a:solidFill>
                <a:latin typeface="Georgia"/>
              </a:rPr>
              <a:t>"Anand, the Monday suite now runs on the warehouse itself. Booked revenue fell 1.6 percent, from Rs 10.00 crore to Rs 9.84 crore, and Retail-Plus carries the fall in orders: its revenue is down 29.4 percent because 16.5 percent fewer members bought and each ordered 22.0 percent less often. Every count says what it counts, every ratio multiplies back, and each run prints the book's fingerprint, so a rerun on the same book gives the same answer. One caveat: last week's extract showed customers flat, and the full book shows 7.0 percent fewer customers in Q2."</a:t>
            </a:r>
          </a:p>
        </p:txBody>
      </p:sp>
      <p:pic>
        <p:nvPicPr>
          <p:cNvPr id="11" name="mermaid diagram" descr="0976b04f81f9508f.png"/>
          <p:cNvPicPr>
            <a:picLocks noChangeAspect="1"/>
          </p:cNvPicPr>
          <p:nvPr/>
        </p:nvPicPr>
        <p:blipFill>
          <a:blip r:embed="rId5"/>
          <a:stretch>
            <a:fillRect/>
          </a:stretch>
        </p:blipFill>
        <p:spPr>
          <a:xfrm>
            <a:off x="530352" y="3992880"/>
            <a:ext cx="11130991" cy="1545971"/>
          </a:xfrm>
          <a:prstGeom prst="rect">
            <a:avLst/>
          </a:prstGeom>
        </p:spPr>
      </p:pic>
      <p:sp>
        <p:nvSpPr>
          <p:cNvPr id="12" name="Oval 1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Same answer next week?</a:t>
            </a:r>
          </a:p>
        </p:txBody>
      </p:sp>
      <p:sp>
        <p:nvSpPr>
          <p:cNvPr id="14" name="Oval 13"/>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127694"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6" name="Oval 15"/>
          <p:cNvSpPr/>
          <p:nvPr/>
        </p:nvSpPr>
        <p:spPr>
          <a:xfrm>
            <a:off x="34135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523297"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Anand?</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S14  ·  16 / 28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Yes, once every list is ordered and fingerprinted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So will next Monday's run give Anand's analyst the same answer from the same book?</a:t>
            </a:r>
          </a:p>
        </p:txBody>
      </p:sp>
      <p:graphicFrame>
        <p:nvGraphicFramePr>
          <p:cNvPr id="9" name="Table 8"/>
          <p:cNvGraphicFramePr>
            <a:graphicFrameLocks noGrp="1"/>
          </p:cNvGraphicFramePr>
          <p:nvPr/>
        </p:nvGraphicFramePr>
        <p:xfrm>
          <a:off x="530352" y="1873504"/>
          <a:ext cx="11130991" cy="1908048"/>
        </p:xfrm>
        <a:graphic>
          <a:graphicData uri="http://schemas.openxmlformats.org/drawingml/2006/table">
            <a:tbl>
              <a:tblPr firstRow="0" bandRow="0">
                <a:tableStyleId>{2D5ABB26-0587-4C30-8999-92F81FD0307C}</a:tableStyleId>
              </a:tblPr>
              <a:tblGrid>
                <a:gridCol w="3571656"/>
                <a:gridCol w="7559335"/>
              </a:tblGrid>
              <a:tr h="318008">
                <a:tc>
                  <a:txBody>
                    <a:bodyPr/>
                    <a:lstStyle/>
                    <a:p>
                      <a:r>
                        <a:rPr sz="1150" b="1" i="0">
                          <a:solidFill>
                            <a:srgbClr val="FFFFFF"/>
                          </a:solidFill>
                          <a:latin typeface="Calibri"/>
                        </a:rPr>
                        <a:t>The question on the way</a:t>
                      </a:r>
                    </a:p>
                  </a:txBody>
                  <a:tcPr marL="101600" marR="101600" marT="38100" marB="38100" anchor="ctr">
                    <a:solidFill>
                      <a:srgbClr val="1A0F5C"/>
                    </a:solidFill>
                  </a:tcPr>
                </a:tc>
                <a:tc>
                  <a:txBody>
                    <a:bodyPr/>
                    <a:lstStyle/>
                    <a:p>
                      <a:r>
                        <a:rPr sz="1150" b="1" i="0">
                          <a:solidFill>
                            <a:srgbClr val="FFFFFF"/>
                          </a:solidFill>
                          <a:latin typeface="Calibri"/>
                        </a:rPr>
                        <a:t>The answer</a:t>
                      </a:r>
                    </a:p>
                  </a:txBody>
                  <a:tcPr marL="101600" marR="101600" marT="38100" marB="38100" anchor="ctr">
                    <a:solidFill>
                      <a:srgbClr val="1A0F5C"/>
                    </a:solidFill>
                  </a:tcPr>
                </a:tc>
              </a:tr>
              <a:tr h="318008">
                <a:tc>
                  <a:txBody>
                    <a:bodyPr/>
                    <a:lstStyle/>
                    <a:p>
                      <a:r>
                        <a:rPr sz="1100" b="0" i="0">
                          <a:solidFill>
                            <a:srgbClr val="1A1440"/>
                          </a:solidFill>
                          <a:latin typeface="Calibri"/>
                        </a:rPr>
                        <a:t>1. How does a run prove itself?</a:t>
                      </a:r>
                    </a:p>
                  </a:txBody>
                  <a:tcPr marL="101600" marR="101600" marT="38100" marB="38100" anchor="ctr">
                    <a:solidFill>
                      <a:srgbClr val="FFFFFF"/>
                    </a:solidFill>
                  </a:tcPr>
                </a:tc>
                <a:tc>
                  <a:txBody>
                    <a:bodyPr/>
                    <a:lstStyle/>
                    <a:p>
                      <a:r>
                        <a:rPr sz="1100" b="0" i="0">
                          <a:solidFill>
                            <a:srgbClr val="1A1440"/>
                          </a:solidFill>
                          <a:latin typeface="Calibri"/>
                        </a:rPr>
                        <a:t>A fingerprint block, 7 numbers, and ORDER BY on a unique key</a:t>
                      </a:r>
                    </a:p>
                  </a:txBody>
                  <a:tcPr marL="101600" marR="101600" marT="38100" marB="38100" anchor="ctr">
                    <a:solidFill>
                      <a:srgbClr val="FFFFFF"/>
                    </a:solidFill>
                  </a:tcPr>
                </a:tc>
              </a:tr>
              <a:tr h="318008">
                <a:tc>
                  <a:txBody>
                    <a:bodyPr/>
                    <a:lstStyle/>
                    <a:p>
                      <a:r>
                        <a:rPr sz="1100" b="0" i="0">
                          <a:solidFill>
                            <a:srgbClr val="1A1440"/>
                          </a:solidFill>
                          <a:latin typeface="Calibri"/>
                        </a:rPr>
                        <a:t>2. What does it leave behind?</a:t>
                      </a:r>
                    </a:p>
                  </a:txBody>
                  <a:tcPr marL="101600" marR="101600" marT="38100" marB="38100" anchor="ctr">
                    <a:solidFill>
                      <a:srgbClr val="F4F2FA"/>
                    </a:solidFill>
                  </a:tcPr>
                </a:tc>
                <a:tc>
                  <a:txBody>
                    <a:bodyPr/>
                    <a:lstStyle/>
                    <a:p>
                      <a:r>
                        <a:rPr sz="1100" b="0" i="0">
                          <a:solidFill>
                            <a:srgbClr val="1A1440"/>
                          </a:solidFill>
                          <a:latin typeface="Calibri"/>
                        </a:rPr>
                        <a:t>1,000 orders, Rs 19,84,00,000, 301 customers; unchanged by the reload</a:t>
                      </a:r>
                    </a:p>
                  </a:txBody>
                  <a:tcPr marL="101600" marR="101600" marT="38100" marB="38100" anchor="ctr">
                    <a:solidFill>
                      <a:srgbClr val="F4F2FA"/>
                    </a:solidFill>
                  </a:tcPr>
                </a:tc>
              </a:tr>
              <a:tr h="318008">
                <a:tc>
                  <a:txBody>
                    <a:bodyPr/>
                    <a:lstStyle/>
                    <a:p>
                      <a:r>
                        <a:rPr sz="1100" b="0" i="0">
                          <a:solidFill>
                            <a:srgbClr val="1A1440"/>
                          </a:solidFill>
                          <a:latin typeface="Calibri"/>
                        </a:rPr>
                        <a:t>3. Which five orders?</a:t>
                      </a:r>
                    </a:p>
                  </a:txBody>
                  <a:tcPr marL="101600" marR="101600" marT="38100" marB="38100" anchor="ctr">
                    <a:solidFill>
                      <a:srgbClr val="FFFFFF"/>
                    </a:solidFill>
                  </a:tcPr>
                </a:tc>
                <a:tc>
                  <a:txBody>
                    <a:bodyPr/>
                    <a:lstStyle/>
                    <a:p>
                      <a:r>
                        <a:rPr sz="1100" b="0" i="0">
                          <a:solidFill>
                            <a:srgbClr val="1A1440"/>
                          </a:solidFill>
                          <a:latin typeface="Calibri"/>
                        </a:rPr>
                        <a:t>KR-00542 to KR-00547, Rs 3,900; unordered, a rerun drew Rs 4,590</a:t>
                      </a:r>
                    </a:p>
                  </a:txBody>
                  <a:tcPr marL="101600" marR="101600" marT="38100" marB="38100" anchor="ctr">
                    <a:solidFill>
                      <a:srgbClr val="FFFFFF"/>
                    </a:solidFill>
                  </a:tcPr>
                </a:tc>
              </a:tr>
              <a:tr h="318008">
                <a:tc>
                  <a:txBody>
                    <a:bodyPr/>
                    <a:lstStyle/>
                    <a:p>
                      <a:r>
                        <a:rPr sz="1100" b="0" i="0">
                          <a:solidFill>
                            <a:srgbClr val="1A1440"/>
                          </a:solidFill>
                          <a:latin typeface="Calibri"/>
                        </a:rPr>
                        <a:t>4. Does Python agree?</a:t>
                      </a:r>
                    </a:p>
                  </a:txBody>
                  <a:tcPr marL="101600" marR="101600" marT="38100" marB="38100" anchor="ctr">
                    <a:solidFill>
                      <a:srgbClr val="F4F2FA"/>
                    </a:solidFill>
                  </a:tcPr>
                </a:tc>
                <a:tc>
                  <a:txBody>
                    <a:bodyPr/>
                    <a:lstStyle/>
                    <a:p>
                      <a:r>
                        <a:rPr sz="1100" b="0" i="0">
                          <a:solidFill>
                            <a:srgbClr val="1A1440"/>
                          </a:solidFill>
                          <a:latin typeface="Calibri"/>
                        </a:rPr>
                        <a:t>Yes: sorting all 94 candidates picks the same five</a:t>
                      </a:r>
                    </a:p>
                  </a:txBody>
                  <a:tcPr marL="101600" marR="101600" marT="38100" marB="38100" anchor="ctr">
                    <a:solidFill>
                      <a:srgbClr val="F4F2FA"/>
                    </a:solidFill>
                  </a:tcPr>
                </a:tc>
              </a:tr>
              <a:tr h="318008">
                <a:tc>
                  <a:txBody>
                    <a:bodyPr/>
                    <a:lstStyle/>
                    <a:p>
                      <a:r>
                        <a:rPr sz="1100" b="0" i="0">
                          <a:solidFill>
                            <a:srgbClr val="1A1440"/>
                          </a:solidFill>
                          <a:latin typeface="Calibri"/>
                        </a:rPr>
                        <a:t>5. What does Anand hear?</a:t>
                      </a:r>
                    </a:p>
                  </a:txBody>
                  <a:tcPr marL="101600" marR="101600" marT="38100" marB="38100" anchor="ctr">
                    <a:solidFill>
                      <a:srgbClr val="FFFFFF"/>
                    </a:solidFill>
                  </a:tcPr>
                </a:tc>
                <a:tc>
                  <a:txBody>
                    <a:bodyPr/>
                    <a:lstStyle/>
                    <a:p>
                      <a:r>
                        <a:rPr sz="1100" b="0" i="0">
                          <a:solidFill>
                            <a:srgbClr val="1A1440"/>
                          </a:solidFill>
                          <a:latin typeface="Calibri"/>
                        </a:rPr>
                        <a:t>Down 1.6%, Retail-Plus carries it, and every rerun repeats</a:t>
                      </a:r>
                    </a:p>
                  </a:txBody>
                  <a:tcPr marL="101600" marR="101600" marT="38100" marB="38100" anchor="ctr">
                    <a:solidFill>
                      <a:srgbClr val="FFFFFF"/>
                    </a:solidFill>
                  </a:tcPr>
                </a:tc>
              </a:tr>
            </a:tbl>
          </a:graphicData>
        </a:graphic>
      </p:graphicFrame>
      <p:sp>
        <p:nvSpPr>
          <p:cNvPr id="10" name="Rounded Rectangle 9"/>
          <p:cNvSpPr/>
          <p:nvPr/>
        </p:nvSpPr>
        <p:spPr>
          <a:xfrm>
            <a:off x="530352" y="4037584"/>
            <a:ext cx="11130991" cy="983488"/>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30072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4"/>
          <a:stretch>
            <a:fillRect/>
          </a:stretch>
        </p:blipFill>
        <p:spPr>
          <a:xfrm>
            <a:off x="868680" y="4410456"/>
            <a:ext cx="237744" cy="237744"/>
          </a:xfrm>
          <a:prstGeom prst="rect">
            <a:avLst/>
          </a:prstGeom>
        </p:spPr>
      </p:pic>
      <p:sp>
        <p:nvSpPr>
          <p:cNvPr id="13" name="TextBox 12"/>
          <p:cNvSpPr txBox="1"/>
          <p:nvPr/>
        </p:nvSpPr>
        <p:spPr>
          <a:xfrm>
            <a:off x="1399031" y="418388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403344"/>
            <a:ext cx="9987991" cy="544576"/>
          </a:xfrm>
          <a:prstGeom prst="rect">
            <a:avLst/>
          </a:prstGeom>
          <a:noFill/>
        </p:spPr>
        <p:txBody>
          <a:bodyPr wrap="square" anchor="t" lIns="0" rIns="0" tIns="0" bIns="0">
            <a:spAutoFit/>
          </a:bodyPr>
          <a:lstStyle/>
          <a:p>
            <a:r>
              <a:rPr sz="1100" b="0" i="0">
                <a:solidFill>
                  <a:srgbClr val="1A1440"/>
                </a:solidFill>
                <a:latin typeface="Calibri"/>
              </a:rPr>
              <a:t>A run that cannot be repeated cannot be audited. Every list carries an ORDER BY on a column no two rows share, and the book's fingerprint prints beside the numbers, so a difference next Monday says whether the book moved or the query did.</a:t>
            </a:r>
          </a:p>
        </p:txBody>
      </p:sp>
      <p:sp>
        <p:nvSpPr>
          <p:cNvPr id="15" name="Rounded Rectangle 14"/>
          <p:cNvSpPr/>
          <p:nvPr/>
        </p:nvSpPr>
        <p:spPr>
          <a:xfrm>
            <a:off x="530352" y="5185664"/>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36854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5"/>
          <a:stretch>
            <a:fillRect/>
          </a:stretch>
        </p:blipFill>
        <p:spPr>
          <a:xfrm>
            <a:off x="868680" y="5478272"/>
            <a:ext cx="237744" cy="237744"/>
          </a:xfrm>
          <a:prstGeom prst="rect">
            <a:avLst/>
          </a:prstGeom>
        </p:spPr>
      </p:pic>
      <p:sp>
        <p:nvSpPr>
          <p:cNvPr id="18" name="TextBox 17"/>
          <p:cNvSpPr txBox="1"/>
          <p:nvPr/>
        </p:nvSpPr>
        <p:spPr>
          <a:xfrm>
            <a:off x="1399031" y="533196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551424"/>
            <a:ext cx="9987991" cy="384048"/>
          </a:xfrm>
          <a:prstGeom prst="rect">
            <a:avLst/>
          </a:prstGeom>
          <a:noFill/>
        </p:spPr>
        <p:txBody>
          <a:bodyPr wrap="square" anchor="t" lIns="0" rIns="0" tIns="0" bIns="0">
            <a:spAutoFit/>
          </a:bodyPr>
          <a:lstStyle/>
          <a:p>
            <a:r>
              <a:rPr sz="1100" b="0" i="0">
                <a:solidFill>
                  <a:srgbClr val="1A1440"/>
                </a:solidFill>
                <a:latin typeface="Calibri"/>
              </a:rPr>
              <a:t>[F] What does LIMIT without ORDER BY return? [F] Your KPI moved 30 percent overnight and the data did not change; what do you suspect?</a:t>
            </a:r>
          </a:p>
        </p:txBody>
      </p:sp>
      <p:sp>
        <p:nvSpPr>
          <p:cNvPr id="20" name="Oval 1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Same answer next week?</a:t>
            </a:r>
          </a:p>
        </p:txBody>
      </p:sp>
      <p:sp>
        <p:nvSpPr>
          <p:cNvPr id="22" name="Oval 21"/>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127694"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24" name="Oval 23"/>
          <p:cNvSpPr/>
          <p:nvPr/>
        </p:nvSpPr>
        <p:spPr>
          <a:xfrm>
            <a:off x="34135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523297"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Anand?</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S15  ·  17 / 28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07</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Can you do it alone?</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Does the Monday suite hold on Anand's definition, the orders that were delivered?</a:t>
            </a:r>
          </a:p>
        </p:txBody>
      </p:sp>
      <p:sp>
        <p:nvSpPr>
          <p:cNvPr id="10" name="Rounded Rectangle 9"/>
          <p:cNvSpPr/>
          <p:nvPr/>
        </p:nvSpPr>
        <p:spPr>
          <a:xfrm>
            <a:off x="731519"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Same answer next week?</a:t>
            </a:r>
          </a:p>
        </p:txBody>
      </p:sp>
      <p:sp>
        <p:nvSpPr>
          <p:cNvPr id="11" name="Rounded Rectangle 10"/>
          <p:cNvSpPr/>
          <p:nvPr/>
        </p:nvSpPr>
        <p:spPr>
          <a:xfrm>
            <a:off x="2509759" y="5074920"/>
            <a:ext cx="1550079"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Can you do it alone?</a:t>
            </a:r>
          </a:p>
        </p:txBody>
      </p:sp>
      <p:sp>
        <p:nvSpPr>
          <p:cNvPr id="12" name="Rounded Rectangle 11"/>
          <p:cNvSpPr/>
          <p:nvPr/>
        </p:nvSpPr>
        <p:spPr>
          <a:xfrm>
            <a:off x="4169566"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 we tell Anand?</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1. Will next Monday's run give the analyst the same answer?</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18 / 28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it in five parts: two now, three in the lab</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parts does the case ask for, and which runs where?</a:t>
            </a:r>
          </a:p>
        </p:txBody>
      </p:sp>
      <p:sp>
        <p:nvSpPr>
          <p:cNvPr id="9" name="Rounded Rectangle 8"/>
          <p:cNvSpPr/>
          <p:nvPr/>
        </p:nvSpPr>
        <p:spPr>
          <a:xfrm>
            <a:off x="530352" y="1956816"/>
            <a:ext cx="11130991" cy="112166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2890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39877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682752"/>
          </a:xfrm>
          <a:prstGeom prst="rect">
            <a:avLst/>
          </a:prstGeom>
          <a:noFill/>
        </p:spPr>
        <p:txBody>
          <a:bodyPr wrap="square" anchor="t" lIns="0" rIns="0" tIns="0" bIns="0">
            <a:spAutoFit/>
          </a:bodyPr>
          <a:lstStyle/>
          <a:p>
            <a:r>
              <a:rPr sz="1500" b="0" i="0">
                <a:solidFill>
                  <a:srgbClr val="FFFFFF"/>
                </a:solidFill>
                <a:latin typeface="Calibri"/>
              </a:rPr>
              <a:t>"Finance counts the orders that reached the customer and stayed there. Run me the same suite on delivered orders, and tell me whether the story changes."</a:t>
            </a:r>
          </a:p>
        </p:txBody>
      </p:sp>
      <p:sp>
        <p:nvSpPr>
          <p:cNvPr id="14" name="Rectangle 13"/>
          <p:cNvSpPr/>
          <p:nvPr/>
        </p:nvSpPr>
        <p:spPr>
          <a:xfrm>
            <a:off x="1570299" y="3810000"/>
            <a:ext cx="905109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30352" y="3243072"/>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1</a:t>
            </a:r>
          </a:p>
        </p:txBody>
      </p:sp>
      <p:sp>
        <p:nvSpPr>
          <p:cNvPr id="16" name="Oval 15"/>
          <p:cNvSpPr/>
          <p:nvPr/>
        </p:nvSpPr>
        <p:spPr>
          <a:xfrm>
            <a:off x="1469715" y="371856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30352" y="4130040"/>
            <a:ext cx="2079894"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94944" y="4276344"/>
            <a:ext cx="1750710" cy="251205"/>
          </a:xfrm>
          <a:prstGeom prst="rect">
            <a:avLst/>
          </a:prstGeom>
          <a:noFill/>
        </p:spPr>
        <p:txBody>
          <a:bodyPr wrap="square" anchor="t" lIns="0" rIns="0" tIns="0" bIns="0">
            <a:spAutoFit/>
          </a:bodyPr>
          <a:lstStyle/>
          <a:p>
            <a:pPr algn="l"/>
            <a:r>
              <a:rPr sz="1300" b="1" i="0">
                <a:solidFill>
                  <a:srgbClr val="1A0F5C"/>
                </a:solidFill>
                <a:latin typeface="Calibri"/>
              </a:rPr>
              <a:t>The delivered book</a:t>
            </a:r>
          </a:p>
        </p:txBody>
      </p:sp>
      <p:sp>
        <p:nvSpPr>
          <p:cNvPr id="19" name="TextBox 18"/>
          <p:cNvSpPr txBox="1"/>
          <p:nvPr/>
        </p:nvSpPr>
        <p:spPr>
          <a:xfrm>
            <a:off x="694944" y="4564126"/>
            <a:ext cx="1750710" cy="696976"/>
          </a:xfrm>
          <a:prstGeom prst="rect">
            <a:avLst/>
          </a:prstGeom>
          <a:noFill/>
        </p:spPr>
        <p:txBody>
          <a:bodyPr wrap="square" anchor="t" lIns="0" rIns="0" tIns="0" bIns="0">
            <a:spAutoFit/>
          </a:bodyPr>
          <a:lstStyle/>
          <a:p>
            <a:pPr algn="l"/>
            <a:r>
              <a:rPr sz="1000" b="0" i="0">
                <a:solidFill>
                  <a:srgbClr val="6B6690"/>
                </a:solidFill>
                <a:latin typeface="Calibri"/>
              </a:rPr>
              <a:t>Orders, customers and rupees per quarter, on Anand's definition. This afternoon.</a:t>
            </a:r>
          </a:p>
        </p:txBody>
      </p:sp>
      <p:sp>
        <p:nvSpPr>
          <p:cNvPr id="20" name="TextBox 19"/>
          <p:cNvSpPr txBox="1"/>
          <p:nvPr/>
        </p:nvSpPr>
        <p:spPr>
          <a:xfrm>
            <a:off x="2793126" y="3243072"/>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2</a:t>
            </a:r>
          </a:p>
        </p:txBody>
      </p:sp>
      <p:sp>
        <p:nvSpPr>
          <p:cNvPr id="21" name="Oval 20"/>
          <p:cNvSpPr/>
          <p:nvPr/>
        </p:nvSpPr>
        <p:spPr>
          <a:xfrm>
            <a:off x="3732489" y="371856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2793126" y="4130040"/>
            <a:ext cx="2079894"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957718" y="4276344"/>
            <a:ext cx="1750710" cy="465836"/>
          </a:xfrm>
          <a:prstGeom prst="rect">
            <a:avLst/>
          </a:prstGeom>
          <a:noFill/>
        </p:spPr>
        <p:txBody>
          <a:bodyPr wrap="square" anchor="t" lIns="0" rIns="0" tIns="0" bIns="0">
            <a:spAutoFit/>
          </a:bodyPr>
          <a:lstStyle/>
          <a:p>
            <a:pPr algn="l"/>
            <a:r>
              <a:rPr sz="1300" b="1" i="0">
                <a:solidFill>
                  <a:srgbClr val="1A0F5C"/>
                </a:solidFill>
                <a:latin typeface="Calibri"/>
              </a:rPr>
              <a:t>Each segment's frequency</a:t>
            </a:r>
          </a:p>
        </p:txBody>
      </p:sp>
      <p:sp>
        <p:nvSpPr>
          <p:cNvPr id="24" name="TextBox 23"/>
          <p:cNvSpPr txBox="1"/>
          <p:nvPr/>
        </p:nvSpPr>
        <p:spPr>
          <a:xfrm>
            <a:off x="2957718" y="4778756"/>
            <a:ext cx="1750710" cy="696976"/>
          </a:xfrm>
          <a:prstGeom prst="rect">
            <a:avLst/>
          </a:prstGeom>
          <a:noFill/>
        </p:spPr>
        <p:txBody>
          <a:bodyPr wrap="square" anchor="t" lIns="0" rIns="0" tIns="0" bIns="0">
            <a:spAutoFit/>
          </a:bodyPr>
          <a:lstStyle/>
          <a:p>
            <a:pPr algn="l"/>
            <a:r>
              <a:rPr sz="1000" b="0" i="0">
                <a:solidFill>
                  <a:srgbClr val="6B6690"/>
                </a:solidFill>
                <a:latin typeface="Calibri"/>
              </a:rPr>
              <a:t>Orders per customer per segment, and the groups too thin to quote. This afternoon.</a:t>
            </a:r>
          </a:p>
        </p:txBody>
      </p:sp>
      <p:sp>
        <p:nvSpPr>
          <p:cNvPr id="25" name="TextBox 24"/>
          <p:cNvSpPr txBox="1"/>
          <p:nvPr/>
        </p:nvSpPr>
        <p:spPr>
          <a:xfrm>
            <a:off x="5055900" y="3243072"/>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3</a:t>
            </a:r>
          </a:p>
        </p:txBody>
      </p:sp>
      <p:sp>
        <p:nvSpPr>
          <p:cNvPr id="26" name="Oval 25"/>
          <p:cNvSpPr/>
          <p:nvPr/>
        </p:nvSpPr>
        <p:spPr>
          <a:xfrm>
            <a:off x="5995263" y="371856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5055900" y="4130040"/>
            <a:ext cx="2079894"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5220492" y="4276344"/>
            <a:ext cx="1750710" cy="251205"/>
          </a:xfrm>
          <a:prstGeom prst="rect">
            <a:avLst/>
          </a:prstGeom>
          <a:noFill/>
        </p:spPr>
        <p:txBody>
          <a:bodyPr wrap="square" anchor="t" lIns="0" rIns="0" tIns="0" bIns="0">
            <a:spAutoFit/>
          </a:bodyPr>
          <a:lstStyle/>
          <a:p>
            <a:pPr algn="l"/>
            <a:r>
              <a:rPr sz="1300" b="1" i="0">
                <a:solidFill>
                  <a:srgbClr val="1A0F5C"/>
                </a:solidFill>
                <a:latin typeface="Calibri"/>
              </a:rPr>
              <a:t>Branches and spend</a:t>
            </a:r>
          </a:p>
        </p:txBody>
      </p:sp>
      <p:sp>
        <p:nvSpPr>
          <p:cNvPr id="29" name="TextBox 28"/>
          <p:cNvSpPr txBox="1"/>
          <p:nvPr/>
        </p:nvSpPr>
        <p:spPr>
          <a:xfrm>
            <a:off x="5220492" y="4564126"/>
            <a:ext cx="1750710" cy="531876"/>
          </a:xfrm>
          <a:prstGeom prst="rect">
            <a:avLst/>
          </a:prstGeom>
          <a:noFill/>
        </p:spPr>
        <p:txBody>
          <a:bodyPr wrap="square" anchor="t" lIns="0" rIns="0" tIns="0" bIns="0">
            <a:spAutoFit/>
          </a:bodyPr>
          <a:lstStyle/>
          <a:p>
            <a:pPr algn="l"/>
            <a:r>
              <a:rPr sz="1000" b="0" i="0">
                <a:solidFill>
                  <a:srgbClr val="6B6690"/>
                </a:solidFill>
                <a:latin typeface="Calibri"/>
              </a:rPr>
              <a:t>Retail-Plus's branches and spend per member. In the lab.</a:t>
            </a:r>
          </a:p>
        </p:txBody>
      </p:sp>
      <p:sp>
        <p:nvSpPr>
          <p:cNvPr id="30" name="TextBox 29"/>
          <p:cNvSpPr txBox="1"/>
          <p:nvPr/>
        </p:nvSpPr>
        <p:spPr>
          <a:xfrm>
            <a:off x="7318674" y="3243072"/>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4</a:t>
            </a:r>
          </a:p>
        </p:txBody>
      </p:sp>
      <p:sp>
        <p:nvSpPr>
          <p:cNvPr id="31" name="Oval 30"/>
          <p:cNvSpPr/>
          <p:nvPr/>
        </p:nvSpPr>
        <p:spPr>
          <a:xfrm>
            <a:off x="8258037" y="3718560"/>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7318674" y="4130040"/>
            <a:ext cx="2079894"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483266" y="4276344"/>
            <a:ext cx="1750710" cy="251205"/>
          </a:xfrm>
          <a:prstGeom prst="rect">
            <a:avLst/>
          </a:prstGeom>
          <a:noFill/>
        </p:spPr>
        <p:txBody>
          <a:bodyPr wrap="square" anchor="t" lIns="0" rIns="0" tIns="0" bIns="0">
            <a:spAutoFit/>
          </a:bodyPr>
          <a:lstStyle/>
          <a:p>
            <a:pPr algn="l"/>
            <a:r>
              <a:rPr sz="1300" b="1" i="0">
                <a:solidFill>
                  <a:srgbClr val="1A0F5C"/>
                </a:solidFill>
                <a:latin typeface="Calibri"/>
              </a:rPr>
              <a:t>The tie-outs</a:t>
            </a:r>
          </a:p>
        </p:txBody>
      </p:sp>
      <p:sp>
        <p:nvSpPr>
          <p:cNvPr id="34" name="TextBox 33"/>
          <p:cNvSpPr txBox="1"/>
          <p:nvPr/>
        </p:nvSpPr>
        <p:spPr>
          <a:xfrm>
            <a:off x="7483266" y="4564126"/>
            <a:ext cx="1750710" cy="531876"/>
          </a:xfrm>
          <a:prstGeom prst="rect">
            <a:avLst/>
          </a:prstGeom>
          <a:noFill/>
        </p:spPr>
        <p:txBody>
          <a:bodyPr wrap="square" anchor="t" lIns="0" rIns="0" tIns="0" bIns="0">
            <a:spAutoFit/>
          </a:bodyPr>
          <a:lstStyle/>
          <a:p>
            <a:pPr algn="l"/>
            <a:r>
              <a:rPr sz="1000" b="0" i="0">
                <a:solidFill>
                  <a:srgbClr val="6B6690"/>
                </a:solidFill>
                <a:latin typeface="Calibri"/>
              </a:rPr>
              <a:t>Segments against the book, the half-year counted once. In the lab.</a:t>
            </a:r>
          </a:p>
        </p:txBody>
      </p:sp>
      <p:sp>
        <p:nvSpPr>
          <p:cNvPr id="35" name="TextBox 34"/>
          <p:cNvSpPr txBox="1"/>
          <p:nvPr/>
        </p:nvSpPr>
        <p:spPr>
          <a:xfrm>
            <a:off x="9581448" y="3243072"/>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5</a:t>
            </a:r>
          </a:p>
        </p:txBody>
      </p:sp>
      <p:sp>
        <p:nvSpPr>
          <p:cNvPr id="36" name="Oval 35"/>
          <p:cNvSpPr/>
          <p:nvPr/>
        </p:nvSpPr>
        <p:spPr>
          <a:xfrm>
            <a:off x="10520812" y="3718560"/>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9581448" y="4130040"/>
            <a:ext cx="2079894" cy="142240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9746040" y="4276344"/>
            <a:ext cx="1750710" cy="251205"/>
          </a:xfrm>
          <a:prstGeom prst="rect">
            <a:avLst/>
          </a:prstGeom>
          <a:noFill/>
        </p:spPr>
        <p:txBody>
          <a:bodyPr wrap="square" anchor="t" lIns="0" rIns="0" tIns="0" bIns="0">
            <a:spAutoFit/>
          </a:bodyPr>
          <a:lstStyle/>
          <a:p>
            <a:pPr algn="l"/>
            <a:r>
              <a:rPr sz="1300" b="1" i="0">
                <a:solidFill>
                  <a:srgbClr val="FFFFFF"/>
                </a:solidFill>
                <a:latin typeface="Calibri"/>
              </a:rPr>
              <a:t>The run that repeats</a:t>
            </a:r>
          </a:p>
        </p:txBody>
      </p:sp>
      <p:sp>
        <p:nvSpPr>
          <p:cNvPr id="39" name="TextBox 38"/>
          <p:cNvSpPr txBox="1"/>
          <p:nvPr/>
        </p:nvSpPr>
        <p:spPr>
          <a:xfrm>
            <a:off x="9746040" y="4564126"/>
            <a:ext cx="1750710" cy="531876"/>
          </a:xfrm>
          <a:prstGeom prst="rect">
            <a:avLst/>
          </a:prstGeom>
          <a:noFill/>
        </p:spPr>
        <p:txBody>
          <a:bodyPr wrap="square" anchor="t" lIns="0" rIns="0" tIns="0" bIns="0">
            <a:spAutoFit/>
          </a:bodyPr>
          <a:lstStyle/>
          <a:p>
            <a:pPr algn="l"/>
            <a:r>
              <a:rPr sz="1000" b="0" i="0">
                <a:solidFill>
                  <a:srgbClr val="CFC9EE"/>
                </a:solidFill>
                <a:latin typeface="Calibri"/>
              </a:rPr>
              <a:t>An ordered sample and the delivered book's fingerprint. In the lab.</a:t>
            </a:r>
          </a:p>
        </p:txBody>
      </p:sp>
      <p:sp>
        <p:nvSpPr>
          <p:cNvPr id="40" name="Oval 3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Same answer next week?</a:t>
            </a:r>
          </a:p>
        </p:txBody>
      </p:sp>
      <p:sp>
        <p:nvSpPr>
          <p:cNvPr id="42" name="Oval 41"/>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2127694"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Can you do it alone?</a:t>
            </a:r>
          </a:p>
        </p:txBody>
      </p:sp>
      <p:sp>
        <p:nvSpPr>
          <p:cNvPr id="44" name="Oval 43"/>
          <p:cNvSpPr/>
          <p:nvPr/>
        </p:nvSpPr>
        <p:spPr>
          <a:xfrm>
            <a:off x="34135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3523297"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Anand?</a:t>
            </a:r>
          </a:p>
        </p:txBody>
      </p:sp>
      <p:sp>
        <p:nvSpPr>
          <p:cNvPr id="46" name="TextBox 4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S16  ·  19 / 28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Every choice is yours, and the analyst reads it first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rules does the delivered suite have to keep, whatever the numbers turn out to be?</a:t>
            </a:r>
          </a:p>
        </p:txBody>
      </p:sp>
      <p:sp>
        <p:nvSpPr>
          <p:cNvPr id="9" name="Rounded Rectangle 8"/>
          <p:cNvSpPr/>
          <p:nvPr/>
        </p:nvSpPr>
        <p:spPr>
          <a:xfrm>
            <a:off x="530352" y="1956816"/>
            <a:ext cx="2645587" cy="238556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filter_c3942426586e.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THE DEFINITION</a:t>
            </a:r>
          </a:p>
        </p:txBody>
      </p:sp>
      <p:sp>
        <p:nvSpPr>
          <p:cNvPr id="13" name="TextBox 12"/>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Delivered only</a:t>
            </a:r>
          </a:p>
        </p:txBody>
      </p:sp>
      <p:sp>
        <p:nvSpPr>
          <p:cNvPr id="14" name="TextBox 13"/>
          <p:cNvSpPr txBox="1"/>
          <p:nvPr/>
        </p:nvSpPr>
        <p:spPr>
          <a:xfrm>
            <a:off x="731519" y="3303524"/>
            <a:ext cx="2243251" cy="581406"/>
          </a:xfrm>
          <a:prstGeom prst="rect">
            <a:avLst/>
          </a:prstGeom>
          <a:noFill/>
        </p:spPr>
        <p:txBody>
          <a:bodyPr wrap="square" anchor="t" lIns="0" rIns="0" tIns="0" bIns="0">
            <a:spAutoFit/>
          </a:bodyPr>
          <a:lstStyle/>
          <a:p>
            <a:pPr algn="l"/>
            <a:r>
              <a:rPr sz="1100" b="0" i="0">
                <a:solidFill>
                  <a:srgbClr val="6B6690"/>
                </a:solidFill>
                <a:latin typeface="Calibri"/>
              </a:rPr>
              <a:t>A filter on the order's status keeps orders that reached the customer and stayed.</a:t>
            </a:r>
          </a:p>
        </p:txBody>
      </p:sp>
      <p:sp>
        <p:nvSpPr>
          <p:cNvPr id="15" name="Rounded Rectangle 14"/>
          <p:cNvSpPr/>
          <p:nvPr/>
        </p:nvSpPr>
        <p:spPr>
          <a:xfrm>
            <a:off x="3358819" y="1956816"/>
            <a:ext cx="2645587" cy="238556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users_11340fce0adc.png"/>
          <p:cNvPicPr>
            <a:picLocks noChangeAspect="1"/>
          </p:cNvPicPr>
          <p:nvPr/>
        </p:nvPicPr>
        <p:blipFill>
          <a:blip r:embed="rId5"/>
          <a:stretch>
            <a:fillRect/>
          </a:stretch>
        </p:blipFill>
        <p:spPr>
          <a:xfrm>
            <a:off x="3669715" y="2267712"/>
            <a:ext cx="237744" cy="237744"/>
          </a:xfrm>
          <a:prstGeom prst="rect">
            <a:avLst/>
          </a:prstGeom>
        </p:spPr>
      </p:pic>
      <p:sp>
        <p:nvSpPr>
          <p:cNvPr id="18" name="TextBox 17"/>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THE COUNTS</a:t>
            </a:r>
          </a:p>
        </p:txBody>
      </p:sp>
      <p:sp>
        <p:nvSpPr>
          <p:cNvPr id="19" name="TextBox 18"/>
          <p:cNvSpPr txBox="1"/>
          <p:nvPr/>
        </p:nvSpPr>
        <p:spPr>
          <a:xfrm>
            <a:off x="3559987" y="2962656"/>
            <a:ext cx="2243251" cy="498856"/>
          </a:xfrm>
          <a:prstGeom prst="rect">
            <a:avLst/>
          </a:prstGeom>
          <a:noFill/>
        </p:spPr>
        <p:txBody>
          <a:bodyPr wrap="square" anchor="t" lIns="0" rIns="0" tIns="0" bIns="0">
            <a:spAutoFit/>
          </a:bodyPr>
          <a:lstStyle/>
          <a:p>
            <a:pPr algn="l"/>
            <a:r>
              <a:rPr sz="1400" b="1" i="0">
                <a:solidFill>
                  <a:srgbClr val="1A0F5C"/>
                </a:solidFill>
                <a:latin typeface="Calibri"/>
              </a:rPr>
              <a:t>Named for what they count</a:t>
            </a:r>
          </a:p>
        </p:txBody>
      </p:sp>
      <p:sp>
        <p:nvSpPr>
          <p:cNvPr id="20" name="TextBox 19"/>
          <p:cNvSpPr txBox="1"/>
          <p:nvPr/>
        </p:nvSpPr>
        <p:spPr>
          <a:xfrm>
            <a:off x="3559987" y="3534664"/>
            <a:ext cx="2243251" cy="399796"/>
          </a:xfrm>
          <a:prstGeom prst="rect">
            <a:avLst/>
          </a:prstGeom>
          <a:noFill/>
        </p:spPr>
        <p:txBody>
          <a:bodyPr wrap="square" anchor="t" lIns="0" rIns="0" tIns="0" bIns="0">
            <a:spAutoFit/>
          </a:bodyPr>
          <a:lstStyle/>
          <a:p>
            <a:pPr algn="l"/>
            <a:r>
              <a:rPr sz="1100" b="0" i="0">
                <a:solidFill>
                  <a:srgbClr val="6B6690"/>
                </a:solidFill>
                <a:latin typeface="Calibri"/>
              </a:rPr>
              <a:t>Orders are rows; customers are counted once each.</a:t>
            </a:r>
          </a:p>
        </p:txBody>
      </p:sp>
      <p:sp>
        <p:nvSpPr>
          <p:cNvPr id="21" name="Rounded Rectangle 20"/>
          <p:cNvSpPr/>
          <p:nvPr/>
        </p:nvSpPr>
        <p:spPr>
          <a:xfrm>
            <a:off x="6187287" y="1956816"/>
            <a:ext cx="2645587" cy="238556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divide_8fbee41b51cd.png"/>
          <p:cNvPicPr>
            <a:picLocks noChangeAspect="1"/>
          </p:cNvPicPr>
          <p:nvPr/>
        </p:nvPicPr>
        <p:blipFill>
          <a:blip r:embed="rId6"/>
          <a:stretch>
            <a:fillRect/>
          </a:stretch>
        </p:blipFill>
        <p:spPr>
          <a:xfrm>
            <a:off x="6498183" y="2267712"/>
            <a:ext cx="237744" cy="237744"/>
          </a:xfrm>
          <a:prstGeom prst="rect">
            <a:avLst/>
          </a:prstGeom>
        </p:spPr>
      </p:pic>
      <p:sp>
        <p:nvSpPr>
          <p:cNvPr id="24" name="TextBox 23"/>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THE RATIOS</a:t>
            </a:r>
          </a:p>
        </p:txBody>
      </p:sp>
      <p:sp>
        <p:nvSpPr>
          <p:cNvPr id="25" name="TextBox 24"/>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Divided in numeric</a:t>
            </a:r>
          </a:p>
        </p:txBody>
      </p:sp>
      <p:sp>
        <p:nvSpPr>
          <p:cNvPr id="26" name="TextBox 25"/>
          <p:cNvSpPr txBox="1"/>
          <p:nvPr/>
        </p:nvSpPr>
        <p:spPr>
          <a:xfrm>
            <a:off x="6388455" y="3303524"/>
            <a:ext cx="2243251" cy="581406"/>
          </a:xfrm>
          <a:prstGeom prst="rect">
            <a:avLst/>
          </a:prstGeom>
          <a:noFill/>
        </p:spPr>
        <p:txBody>
          <a:bodyPr wrap="square" anchor="t" lIns="0" rIns="0" tIns="0" bIns="0">
            <a:spAutoFit/>
          </a:bodyPr>
          <a:lstStyle/>
          <a:p>
            <a:pPr algn="l"/>
            <a:r>
              <a:rPr sz="1100" b="0" i="0">
                <a:solidFill>
                  <a:srgbClr val="6B6690"/>
                </a:solidFill>
                <a:latin typeface="Calibri"/>
              </a:rPr>
              <a:t>Every ratio keeps its decimals and multiplies back to its orders.</a:t>
            </a:r>
          </a:p>
        </p:txBody>
      </p:sp>
      <p:sp>
        <p:nvSpPr>
          <p:cNvPr id="27" name="Rounded Rectangle 26"/>
          <p:cNvSpPr/>
          <p:nvPr/>
        </p:nvSpPr>
        <p:spPr>
          <a:xfrm>
            <a:off x="9015755" y="1956816"/>
            <a:ext cx="2645587" cy="2385568"/>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216923"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9" name="Picture 28" descr="list-ordered_1418f700a8b8.png"/>
          <p:cNvPicPr>
            <a:picLocks noChangeAspect="1"/>
          </p:cNvPicPr>
          <p:nvPr/>
        </p:nvPicPr>
        <p:blipFill>
          <a:blip r:embed="rId7"/>
          <a:stretch>
            <a:fillRect/>
          </a:stretch>
        </p:blipFill>
        <p:spPr>
          <a:xfrm>
            <a:off x="9326651" y="2267712"/>
            <a:ext cx="237744" cy="237744"/>
          </a:xfrm>
          <a:prstGeom prst="rect">
            <a:avLst/>
          </a:prstGeom>
        </p:spPr>
      </p:pic>
      <p:sp>
        <p:nvSpPr>
          <p:cNvPr id="30" name="TextBox 29"/>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D9A7FF"/>
                </a:solidFill>
                <a:latin typeface="Calibri"/>
              </a:rPr>
              <a:t>THE RUN</a:t>
            </a:r>
          </a:p>
        </p:txBody>
      </p:sp>
      <p:sp>
        <p:nvSpPr>
          <p:cNvPr id="31" name="TextBox 30"/>
          <p:cNvSpPr txBox="1"/>
          <p:nvPr/>
        </p:nvSpPr>
        <p:spPr>
          <a:xfrm>
            <a:off x="9216923" y="2962656"/>
            <a:ext cx="2243251" cy="498856"/>
          </a:xfrm>
          <a:prstGeom prst="rect">
            <a:avLst/>
          </a:prstGeom>
          <a:noFill/>
        </p:spPr>
        <p:txBody>
          <a:bodyPr wrap="square" anchor="t" lIns="0" rIns="0" tIns="0" bIns="0">
            <a:spAutoFit/>
          </a:bodyPr>
          <a:lstStyle/>
          <a:p>
            <a:pPr algn="l"/>
            <a:r>
              <a:rPr sz="1400" b="1" i="0">
                <a:solidFill>
                  <a:srgbClr val="FFFFFF"/>
                </a:solidFill>
                <a:latin typeface="Calibri"/>
              </a:rPr>
              <a:t>Ordered and fingerprinted</a:t>
            </a:r>
          </a:p>
        </p:txBody>
      </p:sp>
      <p:sp>
        <p:nvSpPr>
          <p:cNvPr id="32" name="TextBox 31"/>
          <p:cNvSpPr txBox="1"/>
          <p:nvPr/>
        </p:nvSpPr>
        <p:spPr>
          <a:xfrm>
            <a:off x="9216923" y="3534664"/>
            <a:ext cx="2243251" cy="581406"/>
          </a:xfrm>
          <a:prstGeom prst="rect">
            <a:avLst/>
          </a:prstGeom>
          <a:noFill/>
        </p:spPr>
        <p:txBody>
          <a:bodyPr wrap="square" anchor="t" lIns="0" rIns="0" tIns="0" bIns="0">
            <a:spAutoFit/>
          </a:bodyPr>
          <a:lstStyle/>
          <a:p>
            <a:pPr algn="l"/>
            <a:r>
              <a:rPr sz="1100" b="0" i="0">
                <a:solidFill>
                  <a:srgbClr val="CFC9EE"/>
                </a:solidFill>
                <a:latin typeface="Calibri"/>
              </a:rPr>
              <a:t>The sample orders on a unique key, and the delivered book's fingerprint prints beside it.</a:t>
            </a:r>
          </a:p>
        </p:txBody>
      </p:sp>
      <p:sp>
        <p:nvSpPr>
          <p:cNvPr id="33" name="Oval 3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Same answer next week?</a:t>
            </a:r>
          </a:p>
        </p:txBody>
      </p:sp>
      <p:sp>
        <p:nvSpPr>
          <p:cNvPr id="35" name="Oval 34"/>
          <p:cNvSpPr/>
          <p:nvPr/>
        </p:nvSpPr>
        <p:spPr>
          <a:xfrm>
            <a:off x="201796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127694" y="6437376"/>
            <a:ext cx="1194435" cy="152146"/>
          </a:xfrm>
          <a:prstGeom prst="rect">
            <a:avLst/>
          </a:prstGeom>
          <a:noFill/>
        </p:spPr>
        <p:txBody>
          <a:bodyPr wrap="square" anchor="t" lIns="0" rIns="0" tIns="0" bIns="0">
            <a:spAutoFit/>
          </a:bodyPr>
          <a:lstStyle/>
          <a:p>
            <a:pPr algn="l"/>
            <a:r>
              <a:rPr sz="700" b="1" i="0">
                <a:solidFill>
                  <a:srgbClr val="5B3FD6"/>
                </a:solidFill>
                <a:latin typeface="Calibri"/>
              </a:rPr>
              <a:t>Can you do it alone?</a:t>
            </a:r>
          </a:p>
        </p:txBody>
      </p:sp>
      <p:sp>
        <p:nvSpPr>
          <p:cNvPr id="37" name="Oval 36"/>
          <p:cNvSpPr/>
          <p:nvPr/>
        </p:nvSpPr>
        <p:spPr>
          <a:xfrm>
            <a:off x="341356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523297"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What do we tell Anand?</a:t>
            </a:r>
          </a:p>
        </p:txBody>
      </p:sp>
      <p:sp>
        <p:nvSpPr>
          <p:cNvPr id="39" name="TextBox 3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S17  ·  20 / 28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08</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do we tell Anand?</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What did the day answer, and what does Anand ask next?</a:t>
            </a:r>
          </a:p>
        </p:txBody>
      </p:sp>
      <p:sp>
        <p:nvSpPr>
          <p:cNvPr id="10" name="Rounded Rectangle 9"/>
          <p:cNvSpPr/>
          <p:nvPr/>
        </p:nvSpPr>
        <p:spPr>
          <a:xfrm>
            <a:off x="731519"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Same answer next week?</a:t>
            </a:r>
          </a:p>
        </p:txBody>
      </p:sp>
      <p:sp>
        <p:nvSpPr>
          <p:cNvPr id="11" name="Rounded Rectangle 10"/>
          <p:cNvSpPr/>
          <p:nvPr/>
        </p:nvSpPr>
        <p:spPr>
          <a:xfrm>
            <a:off x="2509759" y="5074920"/>
            <a:ext cx="155007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do it alone?</a:t>
            </a:r>
          </a:p>
        </p:txBody>
      </p:sp>
      <p:sp>
        <p:nvSpPr>
          <p:cNvPr id="12" name="Rounded Rectangle 11"/>
          <p:cNvSpPr/>
          <p:nvPr/>
        </p:nvSpPr>
        <p:spPr>
          <a:xfrm>
            <a:off x="4169566" y="5074920"/>
            <a:ext cx="1668511"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do we tell Anand?</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1. Will next Monday's run give the analyst the same answer?</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21 / 28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yes: down 1.6%, Retail-Plus, and it reruns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Can the warehouse itself give Anand the Monday numbers, every segment, every week?</a:t>
            </a:r>
          </a:p>
        </p:txBody>
      </p:sp>
      <p:sp>
        <p:nvSpPr>
          <p:cNvPr id="9" name="TextBox 8"/>
          <p:cNvSpPr txBox="1"/>
          <p:nvPr/>
        </p:nvSpPr>
        <p:spPr>
          <a:xfrm>
            <a:off x="530352"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1.6%</a:t>
            </a:r>
          </a:p>
        </p:txBody>
      </p:sp>
      <p:sp>
        <p:nvSpPr>
          <p:cNvPr id="10" name="TextBox 9"/>
          <p:cNvSpPr txBox="1"/>
          <p:nvPr/>
        </p:nvSpPr>
        <p:spPr>
          <a:xfrm>
            <a:off x="530352"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THE BOOK'S FALL</a:t>
            </a:r>
          </a:p>
        </p:txBody>
      </p:sp>
      <p:sp>
        <p:nvSpPr>
          <p:cNvPr id="11" name="TextBox 10"/>
          <p:cNvSpPr txBox="1"/>
          <p:nvPr/>
        </p:nvSpPr>
        <p:spPr>
          <a:xfrm>
            <a:off x="530352"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Rs 10.00 crore to Rs 9.84 crore</a:t>
            </a:r>
          </a:p>
        </p:txBody>
      </p:sp>
      <p:sp>
        <p:nvSpPr>
          <p:cNvPr id="12" name="Rectangle 11"/>
          <p:cNvSpPr/>
          <p:nvPr/>
        </p:nvSpPr>
        <p:spPr>
          <a:xfrm>
            <a:off x="530352"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381679"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29.4%</a:t>
            </a:r>
          </a:p>
        </p:txBody>
      </p:sp>
      <p:sp>
        <p:nvSpPr>
          <p:cNvPr id="14" name="TextBox 13"/>
          <p:cNvSpPr txBox="1"/>
          <p:nvPr/>
        </p:nvSpPr>
        <p:spPr>
          <a:xfrm>
            <a:off x="3381679"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RETAIL-PLUS'S FALL</a:t>
            </a:r>
          </a:p>
        </p:txBody>
      </p:sp>
      <p:sp>
        <p:nvSpPr>
          <p:cNvPr id="15" name="TextBox 14"/>
          <p:cNvSpPr txBox="1"/>
          <p:nvPr/>
        </p:nvSpPr>
        <p:spPr>
          <a:xfrm>
            <a:off x="3381679" y="2893060"/>
            <a:ext cx="2577007" cy="350266"/>
          </a:xfrm>
          <a:prstGeom prst="rect">
            <a:avLst/>
          </a:prstGeom>
          <a:noFill/>
        </p:spPr>
        <p:txBody>
          <a:bodyPr wrap="square" anchor="t" lIns="0" rIns="0" tIns="0" bIns="0">
            <a:spAutoFit/>
          </a:bodyPr>
          <a:lstStyle/>
          <a:p>
            <a:pPr algn="l"/>
            <a:r>
              <a:rPr sz="950" b="0" i="0">
                <a:solidFill>
                  <a:srgbClr val="6B6690"/>
                </a:solidFill>
                <a:latin typeface="Calibri"/>
              </a:rPr>
              <a:t>16.5% fewer members, each 22.0% less often</a:t>
            </a:r>
          </a:p>
        </p:txBody>
      </p:sp>
      <p:sp>
        <p:nvSpPr>
          <p:cNvPr id="16" name="Rectangle 15"/>
          <p:cNvSpPr/>
          <p:nvPr/>
        </p:nvSpPr>
        <p:spPr>
          <a:xfrm>
            <a:off x="3381679"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33007"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7.0%</a:t>
            </a:r>
          </a:p>
        </p:txBody>
      </p:sp>
      <p:sp>
        <p:nvSpPr>
          <p:cNvPr id="18" name="TextBox 17"/>
          <p:cNvSpPr txBox="1"/>
          <p:nvPr/>
        </p:nvSpPr>
        <p:spPr>
          <a:xfrm>
            <a:off x="6233007"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FEWER CUSTOMERS</a:t>
            </a:r>
          </a:p>
        </p:txBody>
      </p:sp>
      <p:sp>
        <p:nvSpPr>
          <p:cNvPr id="19" name="TextBox 18"/>
          <p:cNvSpPr txBox="1"/>
          <p:nvPr/>
        </p:nvSpPr>
        <p:spPr>
          <a:xfrm>
            <a:off x="6233007"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the caveat against last week's extract</a:t>
            </a:r>
          </a:p>
        </p:txBody>
      </p:sp>
      <p:sp>
        <p:nvSpPr>
          <p:cNvPr id="20" name="Rectangle 19"/>
          <p:cNvSpPr/>
          <p:nvPr/>
        </p:nvSpPr>
        <p:spPr>
          <a:xfrm>
            <a:off x="6233007"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084335" y="1956816"/>
            <a:ext cx="2577007" cy="698500"/>
          </a:xfrm>
          <a:prstGeom prst="rect">
            <a:avLst/>
          </a:prstGeom>
          <a:noFill/>
        </p:spPr>
        <p:txBody>
          <a:bodyPr wrap="square" anchor="t" lIns="0" rIns="0" tIns="0" bIns="0">
            <a:spAutoFit/>
          </a:bodyPr>
          <a:lstStyle/>
          <a:p>
            <a:pPr algn="l"/>
            <a:r>
              <a:rPr sz="4400" b="0" i="0">
                <a:solidFill>
                  <a:srgbClr val="5B3FD6"/>
                </a:solidFill>
                <a:latin typeface="Georgia"/>
              </a:rPr>
              <a:t>7</a:t>
            </a:r>
          </a:p>
        </p:txBody>
      </p:sp>
      <p:sp>
        <p:nvSpPr>
          <p:cNvPr id="22" name="TextBox 21"/>
          <p:cNvSpPr txBox="1"/>
          <p:nvPr/>
        </p:nvSpPr>
        <p:spPr>
          <a:xfrm>
            <a:off x="9084335" y="269189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FINGERPRINT NUMBERS</a:t>
            </a:r>
          </a:p>
        </p:txBody>
      </p:sp>
      <p:sp>
        <p:nvSpPr>
          <p:cNvPr id="23" name="TextBox 22"/>
          <p:cNvSpPr txBox="1"/>
          <p:nvPr/>
        </p:nvSpPr>
        <p:spPr>
          <a:xfrm>
            <a:off x="9084335" y="2893060"/>
            <a:ext cx="2577007" cy="193421"/>
          </a:xfrm>
          <a:prstGeom prst="rect">
            <a:avLst/>
          </a:prstGeom>
          <a:noFill/>
        </p:spPr>
        <p:txBody>
          <a:bodyPr wrap="square" anchor="t" lIns="0" rIns="0" tIns="0" bIns="0">
            <a:spAutoFit/>
          </a:bodyPr>
          <a:lstStyle/>
          <a:p>
            <a:pPr algn="l"/>
            <a:r>
              <a:rPr sz="950" b="0" i="0">
                <a:solidFill>
                  <a:srgbClr val="6B6690"/>
                </a:solidFill>
                <a:latin typeface="Calibri"/>
              </a:rPr>
              <a:t>so a rerun says whether the book moved</a:t>
            </a:r>
          </a:p>
        </p:txBody>
      </p:sp>
      <p:sp>
        <p:nvSpPr>
          <p:cNvPr id="24" name="Rectangle 23"/>
          <p:cNvSpPr/>
          <p:nvPr/>
        </p:nvSpPr>
        <p:spPr>
          <a:xfrm>
            <a:off x="9084335"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30352" y="3419856"/>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Yes. Every number on Anand's sheet is a named query on the book, every count says what it counts, every ratio multiplies back, and every run repeats.</a:t>
            </a:r>
          </a:p>
        </p:txBody>
      </p:sp>
      <p:sp>
        <p:nvSpPr>
          <p:cNvPr id="26" name="Oval 2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Same answer next week?</a:t>
            </a:r>
          </a:p>
        </p:txBody>
      </p:sp>
      <p:sp>
        <p:nvSpPr>
          <p:cNvPr id="28" name="Oval 27"/>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127694"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30" name="Oval 29"/>
          <p:cNvSpPr/>
          <p:nvPr/>
        </p:nvSpPr>
        <p:spPr>
          <a:xfrm>
            <a:off x="341356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523297"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What do we tell Anand?</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S18  ·  22 / 28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Six lines worth keeping, one per chapter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line does each chapter leave the Monday suite with?</a:t>
            </a:r>
          </a:p>
        </p:txBody>
      </p:sp>
      <p:sp>
        <p:nvSpPr>
          <p:cNvPr id="9" name="Rectangle 8"/>
          <p:cNvSpPr/>
          <p:nvPr/>
        </p:nvSpPr>
        <p:spPr>
          <a:xfrm>
            <a:off x="1381734" y="2523744"/>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CHAPTER 1</a:t>
            </a:r>
          </a:p>
        </p:txBody>
      </p:sp>
      <p:sp>
        <p:nvSpPr>
          <p:cNvPr id="11" name="Oval 10"/>
          <p:cNvSpPr/>
          <p:nvPr/>
        </p:nvSpPr>
        <p:spPr>
          <a:xfrm>
            <a:off x="1281150"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1702765" cy="15951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1373581" cy="251205"/>
          </a:xfrm>
          <a:prstGeom prst="rect">
            <a:avLst/>
          </a:prstGeom>
          <a:noFill/>
        </p:spPr>
        <p:txBody>
          <a:bodyPr wrap="square" anchor="t" lIns="0" rIns="0" tIns="0" bIns="0">
            <a:spAutoFit/>
          </a:bodyPr>
          <a:lstStyle/>
          <a:p>
            <a:pPr algn="l"/>
            <a:r>
              <a:rPr sz="1300" b="1" i="0">
                <a:solidFill>
                  <a:srgbClr val="1A0F5C"/>
                </a:solidFill>
                <a:latin typeface="Calibri"/>
              </a:rPr>
              <a:t>Counts</a:t>
            </a:r>
          </a:p>
        </p:txBody>
      </p:sp>
      <p:sp>
        <p:nvSpPr>
          <p:cNvPr id="14" name="TextBox 13"/>
          <p:cNvSpPr txBox="1"/>
          <p:nvPr/>
        </p:nvSpPr>
        <p:spPr>
          <a:xfrm>
            <a:off x="694944" y="3277870"/>
            <a:ext cx="1373581" cy="862076"/>
          </a:xfrm>
          <a:prstGeom prst="rect">
            <a:avLst/>
          </a:prstGeom>
          <a:noFill/>
        </p:spPr>
        <p:txBody>
          <a:bodyPr wrap="square" anchor="t" lIns="0" rIns="0" tIns="0" bIns="0">
            <a:spAutoFit/>
          </a:bodyPr>
          <a:lstStyle/>
          <a:p>
            <a:pPr algn="l"/>
            <a:r>
              <a:rPr sz="1000" b="0" i="0">
                <a:solidFill>
                  <a:srgbClr val="6B6690"/>
                </a:solidFill>
                <a:latin typeface="Calibri"/>
              </a:rPr>
              <a:t>A count says what it counts: order rows are count(*), customers are count(DISTINCT customer_id).</a:t>
            </a:r>
          </a:p>
        </p:txBody>
      </p:sp>
      <p:sp>
        <p:nvSpPr>
          <p:cNvPr id="15" name="TextBox 14"/>
          <p:cNvSpPr txBox="1"/>
          <p:nvPr/>
        </p:nvSpPr>
        <p:spPr>
          <a:xfrm>
            <a:off x="2415997"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CHAPTER 2</a:t>
            </a:r>
          </a:p>
        </p:txBody>
      </p:sp>
      <p:sp>
        <p:nvSpPr>
          <p:cNvPr id="16" name="Oval 15"/>
          <p:cNvSpPr/>
          <p:nvPr/>
        </p:nvSpPr>
        <p:spPr>
          <a:xfrm>
            <a:off x="3166795"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2415997" y="2843784"/>
            <a:ext cx="1702765" cy="15951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580589" y="2990088"/>
            <a:ext cx="1373581" cy="251205"/>
          </a:xfrm>
          <a:prstGeom prst="rect">
            <a:avLst/>
          </a:prstGeom>
          <a:noFill/>
        </p:spPr>
        <p:txBody>
          <a:bodyPr wrap="square" anchor="t" lIns="0" rIns="0" tIns="0" bIns="0">
            <a:spAutoFit/>
          </a:bodyPr>
          <a:lstStyle/>
          <a:p>
            <a:pPr algn="l"/>
            <a:r>
              <a:rPr sz="1300" b="1" i="0">
                <a:solidFill>
                  <a:srgbClr val="1A0F5C"/>
                </a:solidFill>
                <a:latin typeface="Calibri"/>
              </a:rPr>
              <a:t>Sources</a:t>
            </a:r>
          </a:p>
        </p:txBody>
      </p:sp>
      <p:sp>
        <p:nvSpPr>
          <p:cNvPr id="19" name="TextBox 18"/>
          <p:cNvSpPr txBox="1"/>
          <p:nvPr/>
        </p:nvSpPr>
        <p:spPr>
          <a:xfrm>
            <a:off x="2580589" y="3277870"/>
            <a:ext cx="1373581" cy="696976"/>
          </a:xfrm>
          <a:prstGeom prst="rect">
            <a:avLst/>
          </a:prstGeom>
          <a:noFill/>
        </p:spPr>
        <p:txBody>
          <a:bodyPr wrap="square" anchor="t" lIns="0" rIns="0" tIns="0" bIns="0">
            <a:spAutoFit/>
          </a:bodyPr>
          <a:lstStyle/>
          <a:p>
            <a:pPr algn="l"/>
            <a:r>
              <a:rPr sz="1000" b="0" i="0">
                <a:solidFill>
                  <a:srgbClr val="6B6690"/>
                </a:solidFill>
                <a:latin typeface="Calibri"/>
              </a:rPr>
              <a:t>A matching total is one leaf matching, so compare every leaf as a change.</a:t>
            </a:r>
          </a:p>
        </p:txBody>
      </p:sp>
      <p:sp>
        <p:nvSpPr>
          <p:cNvPr id="20" name="TextBox 19"/>
          <p:cNvSpPr txBox="1"/>
          <p:nvPr/>
        </p:nvSpPr>
        <p:spPr>
          <a:xfrm>
            <a:off x="4301642"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CHAPTER 3</a:t>
            </a:r>
          </a:p>
        </p:txBody>
      </p:sp>
      <p:sp>
        <p:nvSpPr>
          <p:cNvPr id="21" name="Oval 20"/>
          <p:cNvSpPr/>
          <p:nvPr/>
        </p:nvSpPr>
        <p:spPr>
          <a:xfrm>
            <a:off x="505244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4301642" y="2843784"/>
            <a:ext cx="1702765" cy="15951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466234" y="2990088"/>
            <a:ext cx="1373581" cy="251205"/>
          </a:xfrm>
          <a:prstGeom prst="rect">
            <a:avLst/>
          </a:prstGeom>
          <a:noFill/>
        </p:spPr>
        <p:txBody>
          <a:bodyPr wrap="square" anchor="t" lIns="0" rIns="0" tIns="0" bIns="0">
            <a:spAutoFit/>
          </a:bodyPr>
          <a:lstStyle/>
          <a:p>
            <a:pPr algn="l"/>
            <a:r>
              <a:rPr sz="1300" b="1" i="0">
                <a:solidFill>
                  <a:srgbClr val="1A0F5C"/>
                </a:solidFill>
                <a:latin typeface="Calibri"/>
              </a:rPr>
              <a:t>Ratios</a:t>
            </a:r>
          </a:p>
        </p:txBody>
      </p:sp>
      <p:sp>
        <p:nvSpPr>
          <p:cNvPr id="24" name="TextBox 23"/>
          <p:cNvSpPr txBox="1"/>
          <p:nvPr/>
        </p:nvSpPr>
        <p:spPr>
          <a:xfrm>
            <a:off x="4466234" y="3277870"/>
            <a:ext cx="1373581" cy="696976"/>
          </a:xfrm>
          <a:prstGeom prst="rect">
            <a:avLst/>
          </a:prstGeom>
          <a:noFill/>
        </p:spPr>
        <p:txBody>
          <a:bodyPr wrap="square" anchor="t" lIns="0" rIns="0" tIns="0" bIns="0">
            <a:spAutoFit/>
          </a:bodyPr>
          <a:lstStyle/>
          <a:p>
            <a:pPr algn="l"/>
            <a:r>
              <a:rPr sz="1000" b="0" i="0">
                <a:solidFill>
                  <a:srgbClr val="6B6690"/>
                </a:solidFill>
                <a:latin typeface="Calibri"/>
              </a:rPr>
              <a:t>Divide in numeric, round on purpose, and keep the counts beside the ratio.</a:t>
            </a:r>
          </a:p>
        </p:txBody>
      </p:sp>
      <p:sp>
        <p:nvSpPr>
          <p:cNvPr id="25" name="TextBox 24"/>
          <p:cNvSpPr txBox="1"/>
          <p:nvPr/>
        </p:nvSpPr>
        <p:spPr>
          <a:xfrm>
            <a:off x="6187287"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CHAPTER 4</a:t>
            </a:r>
          </a:p>
        </p:txBody>
      </p:sp>
      <p:sp>
        <p:nvSpPr>
          <p:cNvPr id="26" name="Oval 25"/>
          <p:cNvSpPr/>
          <p:nvPr/>
        </p:nvSpPr>
        <p:spPr>
          <a:xfrm>
            <a:off x="6938086"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6187287" y="2843784"/>
            <a:ext cx="1702765" cy="15951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351879" y="2990088"/>
            <a:ext cx="1373581" cy="251205"/>
          </a:xfrm>
          <a:prstGeom prst="rect">
            <a:avLst/>
          </a:prstGeom>
          <a:noFill/>
        </p:spPr>
        <p:txBody>
          <a:bodyPr wrap="square" anchor="t" lIns="0" rIns="0" tIns="0" bIns="0">
            <a:spAutoFit/>
          </a:bodyPr>
          <a:lstStyle/>
          <a:p>
            <a:pPr algn="l"/>
            <a:r>
              <a:rPr sz="1300" b="1" i="0">
                <a:solidFill>
                  <a:srgbClr val="1A0F5C"/>
                </a:solidFill>
                <a:latin typeface="Calibri"/>
              </a:rPr>
              <a:t>Averages</a:t>
            </a:r>
          </a:p>
        </p:txBody>
      </p:sp>
      <p:sp>
        <p:nvSpPr>
          <p:cNvPr id="29" name="TextBox 28"/>
          <p:cNvSpPr txBox="1"/>
          <p:nvPr/>
        </p:nvSpPr>
        <p:spPr>
          <a:xfrm>
            <a:off x="6351879" y="3277870"/>
            <a:ext cx="1373581" cy="696976"/>
          </a:xfrm>
          <a:prstGeom prst="rect">
            <a:avLst/>
          </a:prstGeom>
          <a:noFill/>
        </p:spPr>
        <p:txBody>
          <a:bodyPr wrap="square" anchor="t" lIns="0" rIns="0" tIns="0" bIns="0">
            <a:spAutoFit/>
          </a:bodyPr>
          <a:lstStyle/>
          <a:p>
            <a:pPr algn="l"/>
            <a:r>
              <a:rPr sz="1000" b="0" i="0">
                <a:solidFill>
                  <a:srgbClr val="6B6690"/>
                </a:solidFill>
                <a:latin typeface="Calibri"/>
              </a:rPr>
              <a:t>An average names who is inside it, so write the zero on purpose.</a:t>
            </a:r>
          </a:p>
        </p:txBody>
      </p:sp>
      <p:sp>
        <p:nvSpPr>
          <p:cNvPr id="30" name="TextBox 29"/>
          <p:cNvSpPr txBox="1"/>
          <p:nvPr/>
        </p:nvSpPr>
        <p:spPr>
          <a:xfrm>
            <a:off x="8072932"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CHAPTER 5</a:t>
            </a:r>
          </a:p>
        </p:txBody>
      </p:sp>
      <p:sp>
        <p:nvSpPr>
          <p:cNvPr id="31" name="Oval 30"/>
          <p:cNvSpPr/>
          <p:nvPr/>
        </p:nvSpPr>
        <p:spPr>
          <a:xfrm>
            <a:off x="8823731"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8072932" y="2843784"/>
            <a:ext cx="1702765" cy="15951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237524" y="2990088"/>
            <a:ext cx="1373581" cy="251205"/>
          </a:xfrm>
          <a:prstGeom prst="rect">
            <a:avLst/>
          </a:prstGeom>
          <a:noFill/>
        </p:spPr>
        <p:txBody>
          <a:bodyPr wrap="square" anchor="t" lIns="0" rIns="0" tIns="0" bIns="0">
            <a:spAutoFit/>
          </a:bodyPr>
          <a:lstStyle/>
          <a:p>
            <a:pPr algn="l"/>
            <a:r>
              <a:rPr sz="1300" b="1" i="0">
                <a:solidFill>
                  <a:srgbClr val="1A0F5C"/>
                </a:solidFill>
                <a:latin typeface="Calibri"/>
              </a:rPr>
              <a:t>Sums</a:t>
            </a:r>
          </a:p>
        </p:txBody>
      </p:sp>
      <p:sp>
        <p:nvSpPr>
          <p:cNvPr id="34" name="TextBox 33"/>
          <p:cNvSpPr txBox="1"/>
          <p:nvPr/>
        </p:nvSpPr>
        <p:spPr>
          <a:xfrm>
            <a:off x="8237524" y="3277870"/>
            <a:ext cx="1373581" cy="862076"/>
          </a:xfrm>
          <a:prstGeom prst="rect">
            <a:avLst/>
          </a:prstGeom>
          <a:noFill/>
        </p:spPr>
        <p:txBody>
          <a:bodyPr wrap="square" anchor="t" lIns="0" rIns="0" tIns="0" bIns="0">
            <a:spAutoFit/>
          </a:bodyPr>
          <a:lstStyle/>
          <a:p>
            <a:pPr algn="l"/>
            <a:r>
              <a:rPr sz="1000" b="0" i="0">
                <a:solidFill>
                  <a:srgbClr val="6B6690"/>
                </a:solidFill>
                <a:latin typeface="Calibri"/>
              </a:rPr>
              <a:t>Orders and rupees add across quarters; customers are counted again from the orders.</a:t>
            </a:r>
          </a:p>
        </p:txBody>
      </p:sp>
      <p:sp>
        <p:nvSpPr>
          <p:cNvPr id="35" name="TextBox 34"/>
          <p:cNvSpPr txBox="1"/>
          <p:nvPr/>
        </p:nvSpPr>
        <p:spPr>
          <a:xfrm>
            <a:off x="9958578" y="1956816"/>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CHAPTER 6</a:t>
            </a:r>
          </a:p>
        </p:txBody>
      </p:sp>
      <p:sp>
        <p:nvSpPr>
          <p:cNvPr id="36" name="Oval 35"/>
          <p:cNvSpPr/>
          <p:nvPr/>
        </p:nvSpPr>
        <p:spPr>
          <a:xfrm>
            <a:off x="10709376"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9958578" y="2843784"/>
            <a:ext cx="1702765" cy="159512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10123170" y="2990088"/>
            <a:ext cx="1373581" cy="251205"/>
          </a:xfrm>
          <a:prstGeom prst="rect">
            <a:avLst/>
          </a:prstGeom>
          <a:noFill/>
        </p:spPr>
        <p:txBody>
          <a:bodyPr wrap="square" anchor="t" lIns="0" rIns="0" tIns="0" bIns="0">
            <a:spAutoFit/>
          </a:bodyPr>
          <a:lstStyle/>
          <a:p>
            <a:pPr algn="l"/>
            <a:r>
              <a:rPr sz="1300" b="1" i="0">
                <a:solidFill>
                  <a:srgbClr val="FFFFFF"/>
                </a:solidFill>
                <a:latin typeface="Calibri"/>
              </a:rPr>
              <a:t>Runs</a:t>
            </a:r>
          </a:p>
        </p:txBody>
      </p:sp>
      <p:sp>
        <p:nvSpPr>
          <p:cNvPr id="39" name="TextBox 38"/>
          <p:cNvSpPr txBox="1"/>
          <p:nvPr/>
        </p:nvSpPr>
        <p:spPr>
          <a:xfrm>
            <a:off x="10123170" y="3277870"/>
            <a:ext cx="1373581" cy="862076"/>
          </a:xfrm>
          <a:prstGeom prst="rect">
            <a:avLst/>
          </a:prstGeom>
          <a:noFill/>
        </p:spPr>
        <p:txBody>
          <a:bodyPr wrap="square" anchor="t" lIns="0" rIns="0" tIns="0" bIns="0">
            <a:spAutoFit/>
          </a:bodyPr>
          <a:lstStyle/>
          <a:p>
            <a:pPr algn="l"/>
            <a:r>
              <a:rPr sz="1000" b="0" i="0">
                <a:solidFill>
                  <a:srgbClr val="CFC9EE"/>
                </a:solidFill>
                <a:latin typeface="Calibri"/>
              </a:rPr>
              <a:t>Order every list on a column no two rows share, and print the book's fingerprint beside the numbers.</a:t>
            </a:r>
          </a:p>
        </p:txBody>
      </p:sp>
      <p:sp>
        <p:nvSpPr>
          <p:cNvPr id="40" name="Oval 3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Same answer next week?</a:t>
            </a:r>
          </a:p>
        </p:txBody>
      </p:sp>
      <p:sp>
        <p:nvSpPr>
          <p:cNvPr id="42" name="Oval 41"/>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2127694"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44" name="Oval 43"/>
          <p:cNvSpPr/>
          <p:nvPr/>
        </p:nvSpPr>
        <p:spPr>
          <a:xfrm>
            <a:off x="341356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3523297"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What do we tell Anand?</a:t>
            </a:r>
          </a:p>
        </p:txBody>
      </p:sp>
      <p:sp>
        <p:nvSpPr>
          <p:cNvPr id="46" name="TextBox 4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S19  ·  23 / 28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Kahoot: eight items, none of them graded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of the day's decisions can the room make in twenty seconds each?</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8</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ITEMS</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seven on today, one returning from Week 1 Thursday</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0</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GRADES</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 Kahoot is daily and ungraded</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20 s</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PER ITEM</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then the reason, aloud</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mermaid diagram" descr="f29a3ab81528a198.png"/>
          <p:cNvPicPr>
            <a:picLocks noChangeAspect="1"/>
          </p:cNvPicPr>
          <p:nvPr/>
        </p:nvPicPr>
        <p:blipFill>
          <a:blip r:embed="rId5"/>
          <a:stretch>
            <a:fillRect/>
          </a:stretch>
        </p:blipFill>
        <p:spPr>
          <a:xfrm>
            <a:off x="3524097" y="3419856"/>
            <a:ext cx="5143500" cy="2100262"/>
          </a:xfrm>
          <a:prstGeom prst="rect">
            <a:avLst/>
          </a:prstGeom>
        </p:spPr>
      </p:pic>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Same answer next week?</a:t>
            </a:r>
          </a:p>
        </p:txBody>
      </p:sp>
      <p:sp>
        <p:nvSpPr>
          <p:cNvPr id="24" name="Oval 23"/>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127694"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26" name="Oval 25"/>
          <p:cNvSpPr/>
          <p:nvPr/>
        </p:nvSpPr>
        <p:spPr>
          <a:xfrm>
            <a:off x="341356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523297"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What do we tell Anand?</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S20  ·  24 / 28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1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The interview drill, for the lab: ten questions</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interview questions does today equip you to answer, and how are they tagged?</a:t>
            </a:r>
          </a:p>
        </p:txBody>
      </p:sp>
      <p:graphicFrame>
        <p:nvGraphicFramePr>
          <p:cNvPr id="10" name="Table 9"/>
          <p:cNvGraphicFramePr>
            <a:graphicFrameLocks noGrp="1"/>
          </p:cNvGraphicFramePr>
          <p:nvPr/>
        </p:nvGraphicFramePr>
        <p:xfrm>
          <a:off x="530352" y="1682496"/>
          <a:ext cx="11130991" cy="3688080"/>
        </p:xfrm>
        <a:graphic>
          <a:graphicData uri="http://schemas.openxmlformats.org/drawingml/2006/table">
            <a:tbl>
              <a:tblPr firstRow="0" bandRow="0">
                <a:tableStyleId>{2D5ABB26-0587-4C30-8999-92F81FD0307C}</a:tableStyleId>
              </a:tblPr>
              <a:tblGrid>
                <a:gridCol w="914400"/>
                <a:gridCol w="10216591"/>
              </a:tblGrid>
              <a:tr h="335280">
                <a:tc>
                  <a:txBody>
                    <a:bodyPr/>
                    <a:lstStyle/>
                    <a:p>
                      <a:r>
                        <a:rPr sz="1250" b="1" i="0">
                          <a:solidFill>
                            <a:srgbClr val="FFFFFF"/>
                          </a:solidFill>
                          <a:latin typeface="Calibri"/>
                        </a:rPr>
                        <a:t>Tag</a:t>
                      </a:r>
                    </a:p>
                  </a:txBody>
                  <a:tcPr marL="101600" marR="101600" marT="38100" marB="38100" anchor="ctr">
                    <a:solidFill>
                      <a:srgbClr val="1A0F5C"/>
                    </a:solidFill>
                  </a:tcPr>
                </a:tc>
                <a:tc>
                  <a:txBody>
                    <a:bodyPr/>
                    <a:lstStyle/>
                    <a:p>
                      <a:r>
                        <a:rPr sz="1250" b="1" i="0">
                          <a:solidFill>
                            <a:srgbClr val="FFFFFF"/>
                          </a:solidFill>
                          <a:latin typeface="Calibri"/>
                        </a:rPr>
                        <a:t>The question</a:t>
                      </a:r>
                    </a:p>
                  </a:txBody>
                  <a:tcPr marL="101600" marR="101600" marT="38100" marB="38100" anchor="ctr">
                    <a:solidFill>
                      <a:srgbClr val="1A0F5C"/>
                    </a:solidFill>
                  </a:tcPr>
                </a:tc>
              </a:tr>
              <a:tr h="335280">
                <a:tc>
                  <a:txBody>
                    <a:bodyPr/>
                    <a:lstStyle/>
                    <a:p>
                      <a:r>
                        <a:rPr sz="1200" b="0" i="0">
                          <a:solidFill>
                            <a:srgbClr val="1A1440"/>
                          </a:solidFill>
                          <a:latin typeface="Calibri"/>
                        </a:rPr>
                        <a:t>[S]</a:t>
                      </a:r>
                    </a:p>
                  </a:txBody>
                  <a:tcPr marL="101600" marR="101600" marT="38100" marB="38100" anchor="ctr">
                    <a:solidFill>
                      <a:srgbClr val="FFFFFF"/>
                    </a:solidFill>
                  </a:tcPr>
                </a:tc>
                <a:tc>
                  <a:txBody>
                    <a:bodyPr/>
                    <a:lstStyle/>
                    <a:p>
                      <a:r>
                        <a:rPr sz="1200" b="0" i="0">
                          <a:solidFill>
                            <a:srgbClr val="1A1440"/>
                          </a:solidFill>
                          <a:latin typeface="Calibri"/>
                        </a:rPr>
                        <a:t>WHERE against HAVING, one sentence each.</a:t>
                      </a:r>
                    </a:p>
                  </a:txBody>
                  <a:tcPr marL="101600" marR="101600" marT="38100" marB="38100" anchor="ctr">
                    <a:solidFill>
                      <a:srgbClr val="FFFFFF"/>
                    </a:solidFill>
                  </a:tcPr>
                </a:tc>
              </a:tr>
              <a:tr h="335280">
                <a:tc>
                  <a:txBody>
                    <a:bodyPr/>
                    <a:lstStyle/>
                    <a:p>
                      <a:r>
                        <a:rPr sz="1200" b="0" i="0">
                          <a:solidFill>
                            <a:srgbClr val="1A1440"/>
                          </a:solidFill>
                          <a:latin typeface="Calibri"/>
                        </a:rPr>
                        <a:t>[S]</a:t>
                      </a:r>
                    </a:p>
                  </a:txBody>
                  <a:tcPr marL="101600" marR="101600" marT="38100" marB="38100" anchor="ctr">
                    <a:solidFill>
                      <a:srgbClr val="F4F2FA"/>
                    </a:solidFill>
                  </a:tcPr>
                </a:tc>
                <a:tc>
                  <a:txBody>
                    <a:bodyPr/>
                    <a:lstStyle/>
                    <a:p>
                      <a:r>
                        <a:rPr sz="1200" b="0" i="0">
                          <a:solidFill>
                            <a:srgbClr val="1A1440"/>
                          </a:solidFill>
                          <a:latin typeface="Calibri"/>
                        </a:rPr>
                        <a:t>Explain the logical order in which a SQL query runs.</a:t>
                      </a:r>
                    </a:p>
                  </a:txBody>
                  <a:tcPr marL="101600" marR="101600" marT="38100" marB="38100" anchor="ctr">
                    <a:solidFill>
                      <a:srgbClr val="F4F2FA"/>
                    </a:solidFill>
                  </a:tcPr>
                </a:tc>
              </a:tr>
              <a:tr h="335280">
                <a:tc>
                  <a:txBody>
                    <a:bodyPr/>
                    <a:lstStyle/>
                    <a:p>
                      <a:r>
                        <a:rPr sz="1200" b="0" i="0">
                          <a:solidFill>
                            <a:srgbClr val="1A1440"/>
                          </a:solidFill>
                          <a:latin typeface="Calibri"/>
                        </a:rPr>
                        <a:t>[F]</a:t>
                      </a:r>
                    </a:p>
                  </a:txBody>
                  <a:tcPr marL="101600" marR="101600" marT="38100" marB="38100" anchor="ctr">
                    <a:solidFill>
                      <a:srgbClr val="FFFFFF"/>
                    </a:solidFill>
                  </a:tcPr>
                </a:tc>
                <a:tc>
                  <a:txBody>
                    <a:bodyPr/>
                    <a:lstStyle/>
                    <a:p>
                      <a:r>
                        <a:rPr sz="1200" b="0" i="0">
                          <a:solidFill>
                            <a:srgbClr val="1A1440"/>
                          </a:solidFill>
                          <a:latin typeface="Calibri"/>
                        </a:rPr>
                        <a:t>Why would you compute a KPI in the warehouse rather than in a notebook?</a:t>
                      </a:r>
                    </a:p>
                  </a:txBody>
                  <a:tcPr marL="101600" marR="101600" marT="38100" marB="38100" anchor="ctr">
                    <a:solidFill>
                      <a:srgbClr val="FFFFFF"/>
                    </a:solidFill>
                  </a:tcPr>
                </a:tc>
              </a:tr>
              <a:tr h="335280">
                <a:tc>
                  <a:txBody>
                    <a:bodyPr/>
                    <a:lstStyle/>
                    <a:p>
                      <a:r>
                        <a:rPr sz="1200" b="0" i="0">
                          <a:solidFill>
                            <a:srgbClr val="1A1440"/>
                          </a:solidFill>
                          <a:latin typeface="Calibri"/>
                        </a:rPr>
                        <a:t>[F]</a:t>
                      </a:r>
                    </a:p>
                  </a:txBody>
                  <a:tcPr marL="101600" marR="101600" marT="38100" marB="38100" anchor="ctr">
                    <a:solidFill>
                      <a:srgbClr val="F4F2FA"/>
                    </a:solidFill>
                  </a:tcPr>
                </a:tc>
                <a:tc>
                  <a:txBody>
                    <a:bodyPr/>
                    <a:lstStyle/>
                    <a:p>
                      <a:r>
                        <a:rPr sz="1200" b="0" i="0">
                          <a:solidFill>
                            <a:srgbClr val="1A1440"/>
                          </a:solidFill>
                          <a:latin typeface="Calibri"/>
                        </a:rPr>
                        <a:t>What does LIMIT without ORDER BY return?</a:t>
                      </a:r>
                    </a:p>
                  </a:txBody>
                  <a:tcPr marL="101600" marR="101600" marT="38100" marB="38100" anchor="ctr">
                    <a:solidFill>
                      <a:srgbClr val="F4F2FA"/>
                    </a:solidFill>
                  </a:tcPr>
                </a:tc>
              </a:tr>
              <a:tr h="335280">
                <a:tc>
                  <a:txBody>
                    <a:bodyPr/>
                    <a:lstStyle/>
                    <a:p>
                      <a:r>
                        <a:rPr sz="1200" b="0" i="0">
                          <a:solidFill>
                            <a:srgbClr val="1A1440"/>
                          </a:solidFill>
                          <a:latin typeface="Calibri"/>
                        </a:rPr>
                        <a:t>[D]</a:t>
                      </a:r>
                    </a:p>
                  </a:txBody>
                  <a:tcPr marL="101600" marR="101600" marT="38100" marB="38100" anchor="ctr">
                    <a:solidFill>
                      <a:srgbClr val="FFFFFF"/>
                    </a:solidFill>
                  </a:tcPr>
                </a:tc>
                <a:tc>
                  <a:txBody>
                    <a:bodyPr/>
                    <a:lstStyle/>
                    <a:p>
                      <a:r>
                        <a:rPr sz="1200" b="0" i="0">
                          <a:solidFill>
                            <a:srgbClr val="1A1440"/>
                          </a:solidFill>
                          <a:latin typeface="Calibri"/>
                        </a:rPr>
                        <a:t>An analyst must audit your query: what changes in how you write it, and what would you refuse to compute in a notebook?</a:t>
                      </a:r>
                    </a:p>
                  </a:txBody>
                  <a:tcPr marL="101600" marR="101600" marT="38100" marB="38100" anchor="ctr">
                    <a:solidFill>
                      <a:srgbClr val="FFFFFF"/>
                    </a:solidFill>
                  </a:tcPr>
                </a:tc>
              </a:tr>
              <a:tr h="335280">
                <a:tc>
                  <a:txBody>
                    <a:bodyPr/>
                    <a:lstStyle/>
                    <a:p>
                      <a:r>
                        <a:rPr sz="1200" b="0" i="0">
                          <a:solidFill>
                            <a:srgbClr val="1A1440"/>
                          </a:solidFill>
                          <a:latin typeface="Calibri"/>
                        </a:rPr>
                        <a:t>[F]</a:t>
                      </a:r>
                    </a:p>
                  </a:txBody>
                  <a:tcPr marL="101600" marR="101600" marT="38100" marB="38100" anchor="ctr">
                    <a:solidFill>
                      <a:srgbClr val="F4F2FA"/>
                    </a:solidFill>
                  </a:tcPr>
                </a:tc>
                <a:tc>
                  <a:txBody>
                    <a:bodyPr/>
                    <a:lstStyle/>
                    <a:p>
                      <a:r>
                        <a:rPr sz="1200" b="0" i="0">
                          <a:solidFill>
                            <a:srgbClr val="1A1440"/>
                          </a:solidFill>
                          <a:latin typeface="Calibri"/>
                        </a:rPr>
                        <a:t>Orders per customer reads 1 for a segment; what do you check first?</a:t>
                      </a:r>
                    </a:p>
                  </a:txBody>
                  <a:tcPr marL="101600" marR="101600" marT="38100" marB="38100" anchor="ctr">
                    <a:solidFill>
                      <a:srgbClr val="F4F2FA"/>
                    </a:solidFill>
                  </a:tcPr>
                </a:tc>
              </a:tr>
              <a:tr h="335280">
                <a:tc>
                  <a:txBody>
                    <a:bodyPr/>
                    <a:lstStyle/>
                    <a:p>
                      <a:r>
                        <a:rPr sz="1200" b="0" i="0">
                          <a:solidFill>
                            <a:srgbClr val="1A1440"/>
                          </a:solidFill>
                          <a:latin typeface="Calibri"/>
                        </a:rPr>
                        <a:t>[F]</a:t>
                      </a:r>
                    </a:p>
                  </a:txBody>
                  <a:tcPr marL="101600" marR="101600" marT="38100" marB="38100" anchor="ctr">
                    <a:solidFill>
                      <a:srgbClr val="FFFFFF"/>
                    </a:solidFill>
                  </a:tcPr>
                </a:tc>
                <a:tc>
                  <a:txBody>
                    <a:bodyPr/>
                    <a:lstStyle/>
                    <a:p>
                      <a:r>
                        <a:rPr sz="1200" b="0" i="0">
                          <a:solidFill>
                            <a:srgbClr val="1A1440"/>
                          </a:solidFill>
                          <a:latin typeface="Calibri"/>
                        </a:rPr>
                        <a:t>An average moved but the total did not; how?</a:t>
                      </a:r>
                    </a:p>
                  </a:txBody>
                  <a:tcPr marL="101600" marR="101600" marT="38100" marB="38100" anchor="ctr">
                    <a:solidFill>
                      <a:srgbClr val="FFFFFF"/>
                    </a:solidFill>
                  </a:tcPr>
                </a:tc>
              </a:tr>
              <a:tr h="335280">
                <a:tc>
                  <a:txBody>
                    <a:bodyPr/>
                    <a:lstStyle/>
                    <a:p>
                      <a:r>
                        <a:rPr sz="1200" b="0" i="0">
                          <a:solidFill>
                            <a:srgbClr val="1A1440"/>
                          </a:solidFill>
                          <a:latin typeface="Calibri"/>
                        </a:rPr>
                        <a:t>[F]</a:t>
                      </a:r>
                    </a:p>
                  </a:txBody>
                  <a:tcPr marL="101600" marR="101600" marT="38100" marB="38100" anchor="ctr">
                    <a:solidFill>
                      <a:srgbClr val="F4F2FA"/>
                    </a:solidFill>
                  </a:tcPr>
                </a:tc>
                <a:tc>
                  <a:txBody>
                    <a:bodyPr/>
                    <a:lstStyle/>
                    <a:p>
                      <a:r>
                        <a:rPr sz="1200" b="0" i="0">
                          <a:solidFill>
                            <a:srgbClr val="1A1440"/>
                          </a:solidFill>
                          <a:latin typeface="Calibri"/>
                        </a:rPr>
                        <a:t>Why can you not add two quarters' customer counts to get the half-year's?</a:t>
                      </a:r>
                    </a:p>
                  </a:txBody>
                  <a:tcPr marL="101600" marR="101600" marT="38100" marB="38100" anchor="ctr">
                    <a:solidFill>
                      <a:srgbClr val="F4F2FA"/>
                    </a:solidFill>
                  </a:tcPr>
                </a:tc>
              </a:tr>
              <a:tr h="335280">
                <a:tc>
                  <a:txBody>
                    <a:bodyPr/>
                    <a:lstStyle/>
                    <a:p>
                      <a:r>
                        <a:rPr sz="1200" b="0" i="0">
                          <a:solidFill>
                            <a:srgbClr val="1A1440"/>
                          </a:solidFill>
                          <a:latin typeface="Calibri"/>
                        </a:rPr>
                        <a:t>[D]</a:t>
                      </a:r>
                    </a:p>
                  </a:txBody>
                  <a:tcPr marL="101600" marR="101600" marT="38100" marB="38100" anchor="ctr">
                    <a:solidFill>
                      <a:srgbClr val="FFFFFF"/>
                    </a:solidFill>
                  </a:tcPr>
                </a:tc>
                <a:tc>
                  <a:txBody>
                    <a:bodyPr/>
                    <a:lstStyle/>
                    <a:p>
                      <a:r>
                        <a:rPr sz="1200" b="0" i="0">
                          <a:solidFill>
                            <a:srgbClr val="1A1440"/>
                          </a:solidFill>
                          <a:latin typeface="Calibri"/>
                        </a:rPr>
                        <a:t>Two analysts report different customer counts for one quarter; how do you settle it?</a:t>
                      </a:r>
                    </a:p>
                  </a:txBody>
                  <a:tcPr marL="101600" marR="101600" marT="38100" marB="38100" anchor="ctr">
                    <a:solidFill>
                      <a:srgbClr val="FFFFFF"/>
                    </a:solidFill>
                  </a:tcPr>
                </a:tc>
              </a:tr>
              <a:tr h="335280">
                <a:tc>
                  <a:txBody>
                    <a:bodyPr/>
                    <a:lstStyle/>
                    <a:p>
                      <a:r>
                        <a:rPr sz="1200" b="0" i="0">
                          <a:solidFill>
                            <a:srgbClr val="1A1440"/>
                          </a:solidFill>
                          <a:latin typeface="Calibri"/>
                        </a:rPr>
                        <a:t>[F]</a:t>
                      </a:r>
                    </a:p>
                  </a:txBody>
                  <a:tcPr marL="101600" marR="101600" marT="38100" marB="38100" anchor="ctr">
                    <a:solidFill>
                      <a:srgbClr val="F4F2FA"/>
                    </a:solidFill>
                  </a:tcPr>
                </a:tc>
                <a:tc>
                  <a:txBody>
                    <a:bodyPr/>
                    <a:lstStyle/>
                    <a:p>
                      <a:r>
                        <a:rPr sz="1200" b="0" i="0">
                          <a:solidFill>
                            <a:srgbClr val="1A1440"/>
                          </a:solidFill>
                          <a:latin typeface="Calibri"/>
                        </a:rPr>
                        <a:t>Your KPI moved 30 percent overnight and the data did not change; what do you suspect?</a:t>
                      </a:r>
                    </a:p>
                  </a:txBody>
                  <a:tcPr marL="101600" marR="101600" marT="38100" marB="38100" anchor="ctr">
                    <a:solidFill>
                      <a:srgbClr val="F4F2FA"/>
                    </a:solidFill>
                  </a:tcPr>
                </a:tc>
              </a:tr>
            </a:tbl>
          </a:graphicData>
        </a:graphic>
      </p:graphicFrame>
      <p:sp>
        <p:nvSpPr>
          <p:cNvPr id="11" name="TextBox 10"/>
          <p:cNvSpPr txBox="1"/>
          <p:nvPr/>
        </p:nvSpPr>
        <p:spPr>
          <a:xfrm>
            <a:off x="530352" y="5626608"/>
            <a:ext cx="11130991" cy="461264"/>
          </a:xfrm>
          <a:prstGeom prst="rect">
            <a:avLst/>
          </a:prstGeom>
          <a:noFill/>
        </p:spPr>
        <p:txBody>
          <a:bodyPr wrap="square" anchor="t" lIns="0" rIns="0" tIns="0" bIns="0">
            <a:spAutoFit/>
          </a:bodyPr>
          <a:lstStyle/>
          <a:p>
            <a:pPr>
              <a:spcAft>
                <a:spcPts val="700"/>
              </a:spcAft>
            </a:pPr>
            <a:r>
              <a:rPr sz="1400" b="0" i="0">
                <a:solidFill>
                  <a:srgbClr val="1A1440"/>
                </a:solidFill>
                <a:latin typeface="Calibri"/>
              </a:rPr>
              <a:t>Tags: [S] asked everywhere, [F] frequent in GCC and product screens, [D] a differentiator.</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Same answer next week?</a:t>
            </a:r>
          </a:p>
        </p:txBody>
      </p:sp>
      <p:sp>
        <p:nvSpPr>
          <p:cNvPr id="14" name="Oval 13"/>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127694"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6" name="Oval 15"/>
          <p:cNvSpPr/>
          <p:nvPr/>
        </p:nvSpPr>
        <p:spPr>
          <a:xfrm>
            <a:off x="341356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523297"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What do we tell Anand?</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D21  ·  25 / 28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1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The second case, for the take-home: the channels</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channel is losing Kalpa's consumers, once the Business orders are read apart?</a:t>
            </a:r>
          </a:p>
        </p:txBody>
      </p:sp>
      <p:pic>
        <p:nvPicPr>
          <p:cNvPr id="10" name="mermaid diagram" descr="6a6d9ee5681df4b3.png"/>
          <p:cNvPicPr>
            <a:picLocks noChangeAspect="1"/>
          </p:cNvPicPr>
          <p:nvPr/>
        </p:nvPicPr>
        <p:blipFill>
          <a:blip r:embed="rId6"/>
          <a:stretch>
            <a:fillRect/>
          </a:stretch>
        </p:blipFill>
        <p:spPr>
          <a:xfrm>
            <a:off x="530352" y="2412098"/>
            <a:ext cx="4786326" cy="3057930"/>
          </a:xfrm>
          <a:prstGeom prst="rect">
            <a:avLst/>
          </a:prstGeom>
        </p:spPr>
      </p:pic>
      <p:sp>
        <p:nvSpPr>
          <p:cNvPr id="11" name="Rounded Rectangle 10"/>
          <p:cNvSpPr/>
          <p:nvPr/>
        </p:nvSpPr>
        <p:spPr>
          <a:xfrm>
            <a:off x="5761917" y="1956816"/>
            <a:ext cx="5899425" cy="163982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5990517" y="254812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message-square_028dbd132a0a.png"/>
          <p:cNvPicPr>
            <a:picLocks noChangeAspect="1"/>
          </p:cNvPicPr>
          <p:nvPr/>
        </p:nvPicPr>
        <p:blipFill>
          <a:blip r:embed="rId4"/>
          <a:stretch>
            <a:fillRect/>
          </a:stretch>
        </p:blipFill>
        <p:spPr>
          <a:xfrm>
            <a:off x="6100245" y="2657856"/>
            <a:ext cx="237744" cy="237744"/>
          </a:xfrm>
          <a:prstGeom prst="rect">
            <a:avLst/>
          </a:prstGeom>
        </p:spPr>
      </p:pic>
      <p:sp>
        <p:nvSpPr>
          <p:cNvPr id="14" name="TextBox 13"/>
          <p:cNvSpPr txBox="1"/>
          <p:nvPr/>
        </p:nvSpPr>
        <p:spPr>
          <a:xfrm>
            <a:off x="6630597" y="2103120"/>
            <a:ext cx="4756425"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5" name="TextBox 14"/>
          <p:cNvSpPr txBox="1"/>
          <p:nvPr/>
        </p:nvSpPr>
        <p:spPr>
          <a:xfrm>
            <a:off x="6630597" y="2322576"/>
            <a:ext cx="4756425" cy="1200912"/>
          </a:xfrm>
          <a:prstGeom prst="rect">
            <a:avLst/>
          </a:prstGeom>
          <a:noFill/>
        </p:spPr>
        <p:txBody>
          <a:bodyPr wrap="square" anchor="t" lIns="0" rIns="0" tIns="0" bIns="0">
            <a:spAutoFit/>
          </a:bodyPr>
          <a:lstStyle/>
          <a:p>
            <a:r>
              <a:rPr sz="1500" b="0" i="0">
                <a:solidFill>
                  <a:srgbClr val="FFFFFF"/>
                </a:solidFill>
                <a:latin typeface="Calibri"/>
              </a:rPr>
              <a:t>"The same numbers for every channel: app, web and store. Marketing says the store is booming and the web is collapsing, and wants the budget moved. Is that what the book says?"</a:t>
            </a:r>
          </a:p>
        </p:txBody>
      </p:sp>
      <p:sp>
        <p:nvSpPr>
          <p:cNvPr id="16" name="TextBox 15"/>
          <p:cNvSpPr txBox="1"/>
          <p:nvPr/>
        </p:nvSpPr>
        <p:spPr>
          <a:xfrm>
            <a:off x="5761917" y="3761232"/>
            <a:ext cx="5899425"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Kalpa sells through its app, its website and its stores. Business books about 99 percent of the rupees, so each channel's total is two businesses in one line.</a:t>
            </a:r>
          </a:p>
        </p:txBody>
      </p:sp>
      <p:sp>
        <p:nvSpPr>
          <p:cNvPr id="17" name="Oval 1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Same answer next week?</a:t>
            </a:r>
          </a:p>
        </p:txBody>
      </p:sp>
      <p:sp>
        <p:nvSpPr>
          <p:cNvPr id="19" name="Oval 18"/>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127694"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21" name="Oval 20"/>
          <p:cNvSpPr/>
          <p:nvPr/>
        </p:nvSpPr>
        <p:spPr>
          <a:xfrm>
            <a:off x="341356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523297"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What do we tell Anand?</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D22  ·  26 / 28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1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The day's wrong numbers, each with its check</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plausible wrong numbers did the day stage, and what caught each?</a:t>
            </a:r>
          </a:p>
        </p:txBody>
      </p:sp>
      <p:graphicFrame>
        <p:nvGraphicFramePr>
          <p:cNvPr id="10" name="Table 9"/>
          <p:cNvGraphicFramePr>
            <a:graphicFrameLocks noGrp="1"/>
          </p:cNvGraphicFramePr>
          <p:nvPr/>
        </p:nvGraphicFramePr>
        <p:xfrm>
          <a:off x="530352" y="1956816"/>
          <a:ext cx="11130990" cy="2830576"/>
        </p:xfrm>
        <a:graphic>
          <a:graphicData uri="http://schemas.openxmlformats.org/drawingml/2006/table">
            <a:tbl>
              <a:tblPr firstRow="0" bandRow="0">
                <a:tableStyleId>{2D5ABB26-0587-4C30-8999-92F81FD0307C}</a:tableStyleId>
              </a:tblPr>
              <a:tblGrid>
                <a:gridCol w="988864"/>
                <a:gridCol w="4292461"/>
                <a:gridCol w="5849665"/>
              </a:tblGrid>
              <a:tr h="369824">
                <a:tc>
                  <a:txBody>
                    <a:bodyPr/>
                    <a:lstStyle/>
                    <a:p>
                      <a:r>
                        <a:rPr sz="1450" b="1" i="0">
                          <a:solidFill>
                            <a:srgbClr val="FFFFFF"/>
                          </a:solidFill>
                          <a:latin typeface="Calibri"/>
                        </a:rPr>
                        <a:t>Chapter</a:t>
                      </a:r>
                    </a:p>
                  </a:txBody>
                  <a:tcPr marL="101600" marR="101600" marT="38100" marB="38100" anchor="ctr">
                    <a:solidFill>
                      <a:srgbClr val="1A0F5C"/>
                    </a:solidFill>
                  </a:tcPr>
                </a:tc>
                <a:tc>
                  <a:txBody>
                    <a:bodyPr/>
                    <a:lstStyle/>
                    <a:p>
                      <a:r>
                        <a:rPr sz="1450" b="1" i="0">
                          <a:solidFill>
                            <a:srgbClr val="FFFFFF"/>
                          </a:solidFill>
                          <a:latin typeface="Calibri"/>
                        </a:rPr>
                        <a:t>The plausible wrong number</a:t>
                      </a:r>
                    </a:p>
                  </a:txBody>
                  <a:tcPr marL="101600" marR="101600" marT="38100" marB="38100" anchor="ctr">
                    <a:solidFill>
                      <a:srgbClr val="1A0F5C"/>
                    </a:solidFill>
                  </a:tcPr>
                </a:tc>
                <a:tc>
                  <a:txBody>
                    <a:bodyPr/>
                    <a:lstStyle/>
                    <a:p>
                      <a:r>
                        <a:rPr sz="1450" b="1" i="0">
                          <a:solidFill>
                            <a:srgbClr val="FFFFFF"/>
                          </a:solidFill>
                          <a:latin typeface="Calibri"/>
                        </a:rPr>
                        <a:t>The check that caught it</a:t>
                      </a:r>
                    </a:p>
                  </a:txBody>
                  <a:tcPr marL="101600" marR="101600" marT="38100" marB="38100" anchor="ctr">
                    <a:solidFill>
                      <a:srgbClr val="1A0F5C"/>
                    </a:solidFill>
                  </a:tcPr>
                </a:tc>
              </a:tr>
              <a:tr h="611632">
                <a:tc>
                  <a:txBody>
                    <a:bodyPr/>
                    <a:lstStyle/>
                    <a:p>
                      <a:r>
                        <a:rPr sz="1400" b="0" i="0">
                          <a:solidFill>
                            <a:srgbClr val="1A1440"/>
                          </a:solidFill>
                          <a:latin typeface="Calibri"/>
                        </a:rPr>
                        <a:t>1</a:t>
                      </a:r>
                    </a:p>
                  </a:txBody>
                  <a:tcPr marL="101600" marR="101600" marT="38100" marB="38100" anchor="ctr">
                    <a:solidFill>
                      <a:srgbClr val="FFFFFF"/>
                    </a:solidFill>
                  </a:tcPr>
                </a:tc>
                <a:tc>
                  <a:txBody>
                    <a:bodyPr/>
                    <a:lstStyle/>
                    <a:p>
                      <a:r>
                        <a:rPr sz="1400" b="0" i="0">
                          <a:solidFill>
                            <a:srgbClr val="1A1440"/>
                          </a:solidFill>
                          <a:latin typeface="Calibri"/>
                        </a:rPr>
                        <a:t>538 and 462 customers, 1.00 order each</a:t>
                      </a:r>
                    </a:p>
                  </a:txBody>
                  <a:tcPr marL="101600" marR="101600" marT="38100" marB="38100" anchor="ctr">
                    <a:solidFill>
                      <a:srgbClr val="FFFFFF"/>
                    </a:solidFill>
                  </a:tcPr>
                </a:tc>
                <a:tc>
                  <a:txBody>
                    <a:bodyPr/>
                    <a:lstStyle/>
                    <a:p>
                      <a:r>
                        <a:rPr sz="1400" b="0" i="0">
                          <a:solidFill>
                            <a:srgbClr val="1A1440"/>
                          </a:solidFill>
                          <a:latin typeface="Calibri"/>
                        </a:rPr>
                        <a:t>Three counts of one table: 1,000 rows, 340 members, 301 buyers</a:t>
                      </a:r>
                    </a:p>
                  </a:txBody>
                  <a:tcPr marL="101600" marR="101600" marT="38100" marB="38100" anchor="ctr">
                    <a:solidFill>
                      <a:srgbClr val="FFFFFF"/>
                    </a:solidFill>
                  </a:tcPr>
                </a:tc>
              </a:tr>
              <a:tr h="369824">
                <a:tc>
                  <a:txBody>
                    <a:bodyPr/>
                    <a:lstStyle/>
                    <a:p>
                      <a:r>
                        <a:rPr sz="1400" b="0" i="0">
                          <a:solidFill>
                            <a:srgbClr val="1A1440"/>
                          </a:solidFill>
                          <a:latin typeface="Calibri"/>
                        </a:rPr>
                        <a:t>2</a:t>
                      </a:r>
                    </a:p>
                  </a:txBody>
                  <a:tcPr marL="101600" marR="101600" marT="38100" marB="38100" anchor="ctr">
                    <a:solidFill>
                      <a:srgbClr val="F4F2FA"/>
                    </a:solidFill>
                  </a:tcPr>
                </a:tc>
                <a:tc>
                  <a:txBody>
                    <a:bodyPr/>
                    <a:lstStyle/>
                    <a:p>
                      <a:r>
                        <a:rPr sz="1400" b="0" i="0">
                          <a:solidFill>
                            <a:srgbClr val="1A1440"/>
                          </a:solidFill>
                          <a:latin typeface="Calibri"/>
                        </a:rPr>
                        <a:t>Customers held flat, as last week said</a:t>
                      </a:r>
                    </a:p>
                  </a:txBody>
                  <a:tcPr marL="101600" marR="101600" marT="38100" marB="38100" anchor="ctr">
                    <a:solidFill>
                      <a:srgbClr val="F4F2FA"/>
                    </a:solidFill>
                  </a:tcPr>
                </a:tc>
                <a:tc>
                  <a:txBody>
                    <a:bodyPr/>
                    <a:lstStyle/>
                    <a:p>
                      <a:r>
                        <a:rPr sz="1400" b="0" i="0">
                          <a:solidFill>
                            <a:srgbClr val="1A1440"/>
                          </a:solidFill>
                          <a:latin typeface="Calibri"/>
                        </a:rPr>
                        <a:t>Who bought in both quarters: 69 of 69 against 170 of 301</a:t>
                      </a:r>
                    </a:p>
                  </a:txBody>
                  <a:tcPr marL="101600" marR="101600" marT="38100" marB="38100" anchor="ctr">
                    <a:solidFill>
                      <a:srgbClr val="F4F2FA"/>
                    </a:solidFill>
                  </a:tcPr>
                </a:tc>
              </a:tr>
              <a:tr h="369824">
                <a:tc>
                  <a:txBody>
                    <a:bodyPr/>
                    <a:lstStyle/>
                    <a:p>
                      <a:r>
                        <a:rPr sz="1400" b="0" i="0">
                          <a:solidFill>
                            <a:srgbClr val="1A1440"/>
                          </a:solidFill>
                          <a:latin typeface="Calibri"/>
                        </a:rPr>
                        <a:t>3</a:t>
                      </a:r>
                    </a:p>
                  </a:txBody>
                  <a:tcPr marL="101600" marR="101600" marT="38100" marB="38100" anchor="ctr">
                    <a:solidFill>
                      <a:srgbClr val="FFFFFF"/>
                    </a:solidFill>
                  </a:tcPr>
                </a:tc>
                <a:tc>
                  <a:txBody>
                    <a:bodyPr/>
                    <a:lstStyle/>
                    <a:p>
                      <a:r>
                        <a:rPr sz="1400" b="0" i="0">
                          <a:solidFill>
                            <a:srgbClr val="1A1440"/>
                          </a:solidFill>
                          <a:latin typeface="Calibri"/>
                        </a:rPr>
                        <a:t>Retail-Plus frequency 2 then 1, "halved"</a:t>
                      </a:r>
                    </a:p>
                  </a:txBody>
                  <a:tcPr marL="101600" marR="101600" marT="38100" marB="38100" anchor="ctr">
                    <a:solidFill>
                      <a:srgbClr val="FFFFFF"/>
                    </a:solidFill>
                  </a:tcPr>
                </a:tc>
                <a:tc>
                  <a:txBody>
                    <a:bodyPr/>
                    <a:lstStyle/>
                    <a:p>
                      <a:r>
                        <a:rPr sz="1400" b="0" i="0">
                          <a:solidFill>
                            <a:srgbClr val="1A1440"/>
                          </a:solidFill>
                          <a:latin typeface="Calibri"/>
                        </a:rPr>
                        <a:t>Multiply back: 1 times 76 is 76, where the orders are 140</a:t>
                      </a:r>
                    </a:p>
                  </a:txBody>
                  <a:tcPr marL="101600" marR="101600" marT="38100" marB="38100" anchor="ctr">
                    <a:solidFill>
                      <a:srgbClr val="FFFFFF"/>
                    </a:solidFill>
                  </a:tcPr>
                </a:tc>
              </a:tr>
              <a:tr h="369824">
                <a:tc>
                  <a:txBody>
                    <a:bodyPr/>
                    <a:lstStyle/>
                    <a:p>
                      <a:r>
                        <a:rPr sz="1400" b="0" i="0">
                          <a:solidFill>
                            <a:srgbClr val="1A1440"/>
                          </a:solidFill>
                          <a:latin typeface="Calibri"/>
                        </a:rPr>
                        <a:t>4</a:t>
                      </a:r>
                    </a:p>
                  </a:txBody>
                  <a:tcPr marL="101600" marR="101600" marT="38100" marB="38100" anchor="ctr">
                    <a:solidFill>
                      <a:srgbClr val="F4F2FA"/>
                    </a:solidFill>
                  </a:tcPr>
                </a:tc>
                <a:tc>
                  <a:txBody>
                    <a:bodyPr/>
                    <a:lstStyle/>
                    <a:p>
                      <a:r>
                        <a:rPr sz="1400" b="0" i="0">
                          <a:solidFill>
                            <a:srgbClr val="1A1440"/>
                          </a:solidFill>
                          <a:latin typeface="Calibri"/>
                        </a:rPr>
                        <a:t>Each member spent 15.5% less</a:t>
                      </a:r>
                    </a:p>
                  </a:txBody>
                  <a:tcPr marL="101600" marR="101600" marT="38100" marB="38100" anchor="ctr">
                    <a:solidFill>
                      <a:srgbClr val="F4F2FA"/>
                    </a:solidFill>
                  </a:tcPr>
                </a:tc>
                <a:tc>
                  <a:txBody>
                    <a:bodyPr/>
                    <a:lstStyle/>
                    <a:p>
                      <a:r>
                        <a:rPr sz="1400" b="0" i="0">
                          <a:solidFill>
                            <a:srgbClr val="1A1440"/>
                          </a:solidFill>
                          <a:latin typeface="Calibri"/>
                        </a:rPr>
                        <a:t>Who is inside each average: 107, 91 and 76</a:t>
                      </a:r>
                    </a:p>
                  </a:txBody>
                  <a:tcPr marL="101600" marR="101600" marT="38100" marB="38100" anchor="ctr">
                    <a:solidFill>
                      <a:srgbClr val="F4F2FA"/>
                    </a:solidFill>
                  </a:tcPr>
                </a:tc>
              </a:tr>
              <a:tr h="369824">
                <a:tc>
                  <a:txBody>
                    <a:bodyPr/>
                    <a:lstStyle/>
                    <a:p>
                      <a:r>
                        <a:rPr sz="1400" b="0" i="0">
                          <a:solidFill>
                            <a:srgbClr val="1A1440"/>
                          </a:solidFill>
                          <a:latin typeface="Calibri"/>
                        </a:rPr>
                        <a:t>5</a:t>
                      </a:r>
                    </a:p>
                  </a:txBody>
                  <a:tcPr marL="101600" marR="101600" marT="38100" marB="38100" anchor="ctr">
                    <a:solidFill>
                      <a:srgbClr val="FFFFFF"/>
                    </a:solidFill>
                  </a:tcPr>
                </a:tc>
                <a:tc>
                  <a:txBody>
                    <a:bodyPr/>
                    <a:lstStyle/>
                    <a:p>
                      <a:r>
                        <a:rPr sz="1400" b="0" i="0">
                          <a:solidFill>
                            <a:srgbClr val="1A1440"/>
                          </a:solidFill>
                          <a:latin typeface="Calibri"/>
                        </a:rPr>
                        <a:t>167 Retail-Plus customers in the half-year</a:t>
                      </a:r>
                    </a:p>
                  </a:txBody>
                  <a:tcPr marL="101600" marR="101600" marT="38100" marB="38100" anchor="ctr">
                    <a:solidFill>
                      <a:srgbClr val="FFFFFF"/>
                    </a:solidFill>
                  </a:tcPr>
                </a:tc>
                <a:tc>
                  <a:txBody>
                    <a:bodyPr/>
                    <a:lstStyle/>
                    <a:p>
                      <a:r>
                        <a:rPr sz="1400" b="0" i="0">
                          <a:solidFill>
                            <a:srgbClr val="1A1440"/>
                          </a:solidFill>
                          <a:latin typeface="Calibri"/>
                        </a:rPr>
                        <a:t>Buyers against members: 167 of a tier of 120</a:t>
                      </a:r>
                    </a:p>
                  </a:txBody>
                  <a:tcPr marL="101600" marR="101600" marT="38100" marB="38100" anchor="ctr">
                    <a:solidFill>
                      <a:srgbClr val="FFFFFF"/>
                    </a:solidFill>
                  </a:tcPr>
                </a:tc>
              </a:tr>
              <a:tr h="369824">
                <a:tc>
                  <a:txBody>
                    <a:bodyPr/>
                    <a:lstStyle/>
                    <a:p>
                      <a:r>
                        <a:rPr sz="1400" b="0" i="0">
                          <a:solidFill>
                            <a:srgbClr val="1A1440"/>
                          </a:solidFill>
                          <a:latin typeface="Calibri"/>
                        </a:rPr>
                        <a:t>6</a:t>
                      </a:r>
                    </a:p>
                  </a:txBody>
                  <a:tcPr marL="101600" marR="101600" marT="38100" marB="38100" anchor="ctr">
                    <a:solidFill>
                      <a:srgbClr val="F4F2FA"/>
                    </a:solidFill>
                  </a:tcPr>
                </a:tc>
                <a:tc>
                  <a:txBody>
                    <a:bodyPr/>
                    <a:lstStyle/>
                    <a:p>
                      <a:r>
                        <a:rPr sz="1400" b="0" i="0">
                          <a:solidFill>
                            <a:srgbClr val="1A1440"/>
                          </a:solidFill>
                          <a:latin typeface="Calibri"/>
                        </a:rPr>
                        <a:t>Rs 3,900 against a rerun's Rs 4,590</a:t>
                      </a:r>
                    </a:p>
                  </a:txBody>
                  <a:tcPr marL="101600" marR="101600" marT="38100" marB="38100" anchor="ctr">
                    <a:solidFill>
                      <a:srgbClr val="F4F2FA"/>
                    </a:solidFill>
                  </a:tcPr>
                </a:tc>
                <a:tc>
                  <a:txBody>
                    <a:bodyPr/>
                    <a:lstStyle/>
                    <a:p>
                      <a:r>
                        <a:rPr sz="1400" b="0" i="0">
                          <a:solidFill>
                            <a:srgbClr val="1A1440"/>
                          </a:solidFill>
                          <a:latin typeface="Calibri"/>
                        </a:rPr>
                        <a:t>The fingerprint held while the sample moved</a:t>
                      </a:r>
                    </a:p>
                  </a:txBody>
                  <a:tcPr marL="101600" marR="101600" marT="38100" marB="38100" anchor="ctr">
                    <a:solidFill>
                      <a:srgbClr val="F4F2FA"/>
                    </a:solidFill>
                  </a:tcPr>
                </a:tc>
              </a:tr>
            </a:tbl>
          </a:graphicData>
        </a:graphic>
      </p:graphicFrame>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Same answer next week?</a:t>
            </a:r>
          </a:p>
        </p:txBody>
      </p:sp>
      <p:sp>
        <p:nvSpPr>
          <p:cNvPr id="13" name="Oval 12"/>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127694"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5" name="Oval 14"/>
          <p:cNvSpPr/>
          <p:nvPr/>
        </p:nvSpPr>
        <p:spPr>
          <a:xfrm>
            <a:off x="341356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523297"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What do we tell Anand?</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D23  ·  27 / 28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1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Tomorrow: booked against collected, left open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Anand asks the next question: what does the book say about the money itself?</a:t>
            </a:r>
          </a:p>
        </p:txBody>
      </p:sp>
      <p:sp>
        <p:nvSpPr>
          <p:cNvPr id="9" name="Rounded Rectangle 8"/>
          <p:cNvSpPr/>
          <p:nvPr/>
        </p:nvSpPr>
        <p:spPr>
          <a:xfrm>
            <a:off x="530352" y="1956816"/>
            <a:ext cx="45720" cy="75184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956816"/>
            <a:ext cx="10820095" cy="751840"/>
          </a:xfrm>
          <a:prstGeom prst="rect">
            <a:avLst/>
          </a:prstGeom>
          <a:noFill/>
        </p:spPr>
        <p:txBody>
          <a:bodyPr wrap="square" anchor="t" lIns="0" rIns="0" tIns="0" bIns="0">
            <a:spAutoFit/>
          </a:bodyPr>
          <a:lstStyle/>
          <a:p>
            <a:r>
              <a:rPr sz="1600" b="0" i="1">
                <a:solidFill>
                  <a:srgbClr val="1A0F5C"/>
                </a:solidFill>
                <a:latin typeface="Georgia"/>
              </a:rPr>
              <a:t>"Booked revenue is not collected revenue. Show me, order by order, what we actually collected against what we booked in Q2."</a:t>
            </a:r>
          </a:p>
        </p:txBody>
      </p:sp>
      <p:sp>
        <p:nvSpPr>
          <p:cNvPr id="11" name="Rounded Rectangle 10"/>
          <p:cNvSpPr/>
          <p:nvPr/>
        </p:nvSpPr>
        <p:spPr>
          <a:xfrm>
            <a:off x="530352" y="2854960"/>
            <a:ext cx="45720" cy="467359"/>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86384" y="2854960"/>
            <a:ext cx="10820095" cy="467359"/>
          </a:xfrm>
          <a:prstGeom prst="rect">
            <a:avLst/>
          </a:prstGeom>
          <a:noFill/>
        </p:spPr>
        <p:txBody>
          <a:bodyPr wrap="square" anchor="t" lIns="0" rIns="0" tIns="0" bIns="0">
            <a:spAutoFit/>
          </a:bodyPr>
          <a:lstStyle/>
          <a:p>
            <a:r>
              <a:rPr sz="1600" b="0" i="1">
                <a:solidFill>
                  <a:srgbClr val="1A0F5C"/>
                </a:solidFill>
                <a:latin typeface="Georgia"/>
              </a:rPr>
              <a:t>Anand Iyer, finance controller, Kalpa Retail, the question he sends back</a:t>
            </a:r>
          </a:p>
        </p:txBody>
      </p:sp>
      <p:pic>
        <p:nvPicPr>
          <p:cNvPr id="13" name="mermaid diagram" descr="6055f7d26d6b54f8.png"/>
          <p:cNvPicPr>
            <a:picLocks noChangeAspect="1"/>
          </p:cNvPicPr>
          <p:nvPr/>
        </p:nvPicPr>
        <p:blipFill>
          <a:blip r:embed="rId5"/>
          <a:stretch>
            <a:fillRect/>
          </a:stretch>
        </p:blipFill>
        <p:spPr>
          <a:xfrm>
            <a:off x="3524097" y="3468624"/>
            <a:ext cx="5143500" cy="1600200"/>
          </a:xfrm>
          <a:prstGeom prst="rect">
            <a:avLst/>
          </a:prstGeom>
        </p:spPr>
      </p:pic>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Same answer next week?</a:t>
            </a:r>
          </a:p>
        </p:txBody>
      </p:sp>
      <p:sp>
        <p:nvSpPr>
          <p:cNvPr id="16" name="Oval 15"/>
          <p:cNvSpPr/>
          <p:nvPr/>
        </p:nvSpPr>
        <p:spPr>
          <a:xfrm>
            <a:off x="201796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127694" y="6437376"/>
            <a:ext cx="1194435" cy="152146"/>
          </a:xfrm>
          <a:prstGeom prst="rect">
            <a:avLst/>
          </a:prstGeom>
          <a:noFill/>
        </p:spPr>
        <p:txBody>
          <a:bodyPr wrap="square" anchor="t" lIns="0" rIns="0" tIns="0" bIns="0">
            <a:spAutoFit/>
          </a:bodyPr>
          <a:lstStyle/>
          <a:p>
            <a:pPr algn="l"/>
            <a:r>
              <a:rPr sz="700" b="0" i="0">
                <a:solidFill>
                  <a:srgbClr val="6B6690"/>
                </a:solidFill>
                <a:latin typeface="Calibri"/>
              </a:rPr>
              <a:t>Can you do it alone?</a:t>
            </a:r>
          </a:p>
        </p:txBody>
      </p:sp>
      <p:sp>
        <p:nvSpPr>
          <p:cNvPr id="18" name="Oval 17"/>
          <p:cNvSpPr/>
          <p:nvPr/>
        </p:nvSpPr>
        <p:spPr>
          <a:xfrm>
            <a:off x="341356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523297"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What do we tell Anand?</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S24  ·  28 / 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