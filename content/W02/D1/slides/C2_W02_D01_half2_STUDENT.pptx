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DataWorks Summit, San Jose, 13 June 2017. One of its slides sets a new batch of 17,240</a:t>
            </a:r>
          </a:p>
          <a:p>
            <a:r>
              <a:t>rows with 17,240 missing values beside the previous day's 16,135 rows with 21: every value of the</a:t>
            </a:r>
          </a:p>
          <a:p>
            <a:r>
              <a:t>column was missing. In the talk's rules the row-count checks fail the job and the missing-value</a:t>
            </a:r>
          </a:p>
          <a:p>
            <a:r>
              <a:t>check only warns, so that batch raised a warning; say it that way. The study notes' reading list</a:t>
            </a:r>
          </a:p>
          <a:p>
            <a:r>
              <a:t>carries the link and its check date.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18 output rows a Monday (2 for the book, 8 segment-quarters,</a:t>
            </a:r>
          </a:p>
          <a:p>
            <a:r>
              <a:t>4 branch rows and 4 half-years), and it needs the same write 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Then the same five, confirmed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query is a count with a range, no ORDER BY and no LIMIT, so it can disagree</a:t>
            </a:r>
          </a:p>
          <a:p>
            <a:r>
              <a:t>with the ordered query, which a rerun of that query never could. 80 of the 94 candidates are under</a:t>
            </a:r>
          </a:p>
          <a:p>
            <a:r>
              <a:t>Rs 5,000, and the sampled five average Rs 780; the other 14 are large Business orders. When to</a:t>
            </a:r>
          </a:p>
          <a:p>
            <a:r>
              <a:t>switch: for a sample of hundreds, count the candidates below each id on the list. Then what the</a:t>
            </a:r>
          </a:p>
          <a:p>
            <a:r>
              <a:t>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three branches multiply back: 0.835 times 0.780 times 1.084 is 0.706, the tier's</a:t>
            </a:r>
          </a:p>
          <a:p>
            <a:r>
              <a:t>29.4 percent fall. The caveat says where the book and last week's note part company.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check the run's parameters (the date window, the time zone) and what it</a:t>
            </a:r>
          </a:p>
          <a:p>
            <a:r>
              <a:t>depends on (a view, a deploy, a cached result), then today's suspects: a definition that changed,</a:t>
            </a:r>
          </a:p>
          <a:p>
            <a:r>
              <a:t>a denominator that shifted, integer division, and an unordered LIMIT when the number comes from a</a:t>
            </a:r>
          </a:p>
          <a:p>
            <a:r>
              <a:t>sample.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and leave the definition's filter to the room: part 1's</a:t>
            </a:r>
          </a:p>
          <a:p>
            <a:r>
              <a:t>first marker asks which orders it keeps. Nothing from the</a:t>
            </a:r>
          </a:p>
          <a:p>
            <a:r>
              <a:t>morning can be copied: every number changes on the new definition, and each part climbs one</a:t>
            </a:r>
          </a:p>
          <a:p>
            <a:r>
              <a:t>chapter's method. Post fifteen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Tags: [S] asked everywhere, [F] frequent in GCC and product</a:t>
            </a:r>
          </a:p>
          <a:p>
            <a:r>
              <a:t>screens, [D] a differentiator. The drill runs aloud in the practice lab, sixty seconds per answer,</a:t>
            </a:r>
          </a:p>
          <a:p>
            <a:r>
              <a:t>in pairs, in this order, and the study notes carry the full answer to every question. Then</a:t>
            </a:r>
          </a:p>
          <a:p>
            <a:r>
              <a:t>questions 8 to 13.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design question comes last in the drill: four ways to produce</a:t>
            </a:r>
          </a:p>
          <a:p>
            <a:r>
              <a:t>one of today's numbers, which would you choose, sized how, and what 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case runs in the take-home, in pairs or alone:</a:t>
            </a:r>
          </a:p>
          <a:p>
            <a:r>
              <a:t>notebooks/C2_W02_D01_ex2_second_case_STUDENT.ipynb with the brief</a:t>
            </a:r>
          </a:p>
          <a:p>
            <a:r>
              <a:t>exercises/unguided/C2_W02_D01_second_case_STUDENT.md. Ten letters, the notebook's seven markers and</a:t>
            </a:r>
          </a:p>
          <a:p>
            <a:r>
              <a:t>three of the brief's own, and the line for Anand's channel sheet about Marketing's request, with the</a:t>
            </a:r>
          </a:p>
          <a:p>
            <a:r>
              <a:t>number it rests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to read. The debrief of wrong answers runs in the practice lab after the day,</a:t>
            </a:r>
          </a:p>
          <a:p>
            <a:r>
              <a:t>since the afternoon's last 120 minutes go to the IITGN faculty block, which is tentative. A learner</a:t>
            </a:r>
          </a:p>
          <a:p>
            <a:r>
              <a:t>who missed 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(1), the six lines (1), the Kahoot (7) and tomorrow's question</a:t>
            </a:r>
          </a:p>
          <a:p>
            <a:r>
              <a:t>(1). The self-study slides before this section carry the interview drill, the second case and the</a:t>
            </a:r>
          </a:p>
          <a:p>
            <a:r>
              <a:t>day's wrong numbers for 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read their own sentence to Anand before this slide; the full</a:t>
            </a:r>
          </a:p>
          <a:p>
            <a:r>
              <a:t>message, with its caveat, is S14's.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pack is kahoot/C2_W02_D01_quiz_STUDENT.md. After each item, one learner says</a:t>
            </a:r>
          </a:p>
          <a:p>
            <a:r>
              <a:t>why the key holds. The last item returns to Week 1 Thursday: the discount's 6 percent lift came</a:t>
            </a:r>
          </a:p>
          <a:p>
            <a:r>
              <a:t>from which customers got it, and the room says in one line what a fair comparison would need. Then</a:t>
            </a:r>
          </a:p>
          <a:p>
            <a:r>
              <a:t>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Finance's definition?</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Retail-Plus carried it, and the sums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Finance's definition?</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tracing five orders against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reruns the suite every Monday, and which five questions lead to an answer the rerun repeats?</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A count with no sort?</a:t>
            </a:r>
          </a:p>
        </p:txBody>
      </p:sp>
      <p:sp>
        <p:nvSpPr>
          <p:cNvPr id="32" name="TextBox 31"/>
          <p:cNvSpPr txBox="1"/>
          <p:nvPr/>
        </p:nvSpPr>
        <p:spPr>
          <a:xfrm>
            <a:off x="7483266"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Candidates up to the sample's last id</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42" name="Oval 4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check each Monday, and what does a rerun that differs by a few hundred rupees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Netflix's 2017 pattern: audit each run, then publish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d0e861d03cb57114.png"/>
          <p:cNvPicPr>
            <a:picLocks noChangeAspect="1"/>
          </p:cNvPicPr>
          <p:nvPr/>
        </p:nvPicPr>
        <p:blipFill>
          <a:blip r:embed="rId5"/>
          <a:stretch>
            <a:fillRect/>
          </a:stretch>
        </p:blipFill>
        <p:spPr>
          <a:xfrm>
            <a:off x="1180947" y="1956816"/>
            <a:ext cx="9829800"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each run is written to an audit table, checked against the runs before it, and published only when the checks set to fail it pass.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76ef3f8a0b221813.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1" name="Oval 2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customers on the customer table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1" name="Oval 2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690 apart,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3bc846f50e9698f3.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5 up to KR-00547, 7 for the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Are the five the first five by order id, confirmed by a count that never sorts?</a:t>
            </a:r>
          </a:p>
        </p:txBody>
      </p:sp>
      <p:pic>
        <p:nvPicPr>
          <p:cNvPr id="9" name="mermaid diagram" descr="f3f0c9d629125723.png"/>
          <p:cNvPicPr>
            <a:picLocks noChangeAspect="1"/>
          </p:cNvPicPr>
          <p:nvPr/>
        </p:nvPicPr>
        <p:blipFill>
          <a:blip r:embed="rId5"/>
          <a:stretch>
            <a:fillRect/>
          </a:stretch>
        </p:blipFill>
        <p:spPr>
          <a:xfrm>
            <a:off x="2856623" y="1664208"/>
            <a:ext cx="6478448"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a sample is the first five by order id, exactly five candidates sit at or below its last id. The ordered five pass with Rs 3,900, their own total; the rerun's five fail, since KR-00542 and KR-00544 sit below KR-00553.</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 Anand: down 1.6%, and Retail-Plus carries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799695"/>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799695"/>
            <a:ext cx="10820095" cy="2174240"/>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while each order was worth 8.4 percent more. The counts are named for what they count and printed beside every ratio, and each run prints the book's fingerprint, so a rerun on the same book gives the same answer. One caveat: last week's extract showed customers flat, and the full book shows 7.0 percent fewer customers in Q2."</a:t>
            </a:r>
          </a:p>
        </p:txBody>
      </p:sp>
      <p:pic>
        <p:nvPicPr>
          <p:cNvPr id="11" name="mermaid diagram" descr="d321eef28609de4a.png"/>
          <p:cNvPicPr>
            <a:picLocks noChangeAspect="1"/>
          </p:cNvPicPr>
          <p:nvPr/>
        </p:nvPicPr>
        <p:blipFill>
          <a:blip r:embed="rId5"/>
          <a:stretch>
            <a:fillRect/>
          </a:stretch>
        </p:blipFill>
        <p:spPr>
          <a:xfrm>
            <a:off x="530352" y="4120239"/>
            <a:ext cx="11130991" cy="1962193"/>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A count with no sort?</a:t>
                      </a:r>
                    </a:p>
                  </a:txBody>
                  <a:tcPr marL="101600" marR="101600" marT="38100" marB="38100" anchor="ctr">
                    <a:solidFill>
                      <a:srgbClr val="F4F2FA"/>
                    </a:solidFill>
                  </a:tcPr>
                </a:tc>
                <a:tc>
                  <a:txBody>
                    <a:bodyPr/>
                    <a:lstStyle/>
                    <a:p>
                      <a:r>
                        <a:rPr sz="1100" b="0" i="0">
                          <a:solidFill>
                            <a:srgbClr val="1A1440"/>
                          </a:solidFill>
                          <a:latin typeface="Calibri"/>
                        </a:rPr>
                        <a:t>5 up to KR-00547, worth Rs 3,900; 7 up to the rerun's last id</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Order every audit sample on a column no two rows share, and print the book's fingerprint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Finance's definition?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Finance's definition of revenue?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Finance's definition?</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"Finance counts the orders that reached the customer and stayed there. Run me the same suite on that definition, and tell me whether the story changes."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ectangle 12"/>
          <p:cNvSpPr/>
          <p:nvPr/>
        </p:nvSpPr>
        <p:spPr>
          <a:xfrm>
            <a:off x="1570299" y="4035552"/>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5" name="Oval 14"/>
          <p:cNvSpPr/>
          <p:nvPr/>
        </p:nvSpPr>
        <p:spPr>
          <a:xfrm>
            <a:off x="1469715"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01896"/>
            <a:ext cx="1750710" cy="465836"/>
          </a:xfrm>
          <a:prstGeom prst="rect">
            <a:avLst/>
          </a:prstGeom>
          <a:noFill/>
        </p:spPr>
        <p:txBody>
          <a:bodyPr wrap="square" anchor="t" lIns="0" rIns="0" tIns="0" bIns="0">
            <a:spAutoFit/>
          </a:bodyPr>
          <a:lstStyle/>
          <a:p>
            <a:pPr algn="l"/>
            <a:r>
              <a:rPr sz="1300" b="1" i="0">
                <a:solidFill>
                  <a:srgbClr val="1A0F5C"/>
                </a:solidFill>
                <a:latin typeface="Calibri"/>
              </a:rPr>
              <a:t>On Finance's definition</a:t>
            </a:r>
          </a:p>
        </p:txBody>
      </p:sp>
      <p:sp>
        <p:nvSpPr>
          <p:cNvPr id="18" name="TextBox 17"/>
          <p:cNvSpPr txBox="1"/>
          <p:nvPr/>
        </p:nvSpPr>
        <p:spPr>
          <a:xfrm>
            <a:off x="694944" y="5004308"/>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This afternoon.</a:t>
            </a:r>
          </a:p>
        </p:txBody>
      </p:sp>
      <p:sp>
        <p:nvSpPr>
          <p:cNvPr id="19" name="TextBox 18"/>
          <p:cNvSpPr txBox="1"/>
          <p:nvPr/>
        </p:nvSpPr>
        <p:spPr>
          <a:xfrm>
            <a:off x="2793126"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0" name="Oval 19"/>
          <p:cNvSpPr/>
          <p:nvPr/>
        </p:nvSpPr>
        <p:spPr>
          <a:xfrm>
            <a:off x="3732489"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01896"/>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3" name="TextBox 22"/>
          <p:cNvSpPr txBox="1"/>
          <p:nvPr/>
        </p:nvSpPr>
        <p:spPr>
          <a:xfrm>
            <a:off x="2957718" y="5004308"/>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4" name="TextBox 23"/>
          <p:cNvSpPr txBox="1"/>
          <p:nvPr/>
        </p:nvSpPr>
        <p:spPr>
          <a:xfrm>
            <a:off x="5055900"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5" name="Oval 24"/>
          <p:cNvSpPr/>
          <p:nvPr/>
        </p:nvSpPr>
        <p:spPr>
          <a:xfrm>
            <a:off x="5995263"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8" name="TextBox 27"/>
          <p:cNvSpPr txBox="1"/>
          <p:nvPr/>
        </p:nvSpPr>
        <p:spPr>
          <a:xfrm>
            <a:off x="5220492" y="4789678"/>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29" name="TextBox 28"/>
          <p:cNvSpPr txBox="1"/>
          <p:nvPr/>
        </p:nvSpPr>
        <p:spPr>
          <a:xfrm>
            <a:off x="7318674"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0" name="Oval 29"/>
          <p:cNvSpPr/>
          <p:nvPr/>
        </p:nvSpPr>
        <p:spPr>
          <a:xfrm>
            <a:off x="8258037"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3" name="TextBox 32"/>
          <p:cNvSpPr txBox="1"/>
          <p:nvPr/>
        </p:nvSpPr>
        <p:spPr>
          <a:xfrm>
            <a:off x="7483266" y="4789678"/>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4" name="TextBox 33"/>
          <p:cNvSpPr txBox="1"/>
          <p:nvPr/>
        </p:nvSpPr>
        <p:spPr>
          <a:xfrm>
            <a:off x="9581448"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5" name="Oval 34"/>
          <p:cNvSpPr/>
          <p:nvPr/>
        </p:nvSpPr>
        <p:spPr>
          <a:xfrm>
            <a:off x="10520812" y="39441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355592"/>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01896"/>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8" name="TextBox 37"/>
          <p:cNvSpPr txBox="1"/>
          <p:nvPr/>
        </p:nvSpPr>
        <p:spPr>
          <a:xfrm>
            <a:off x="9746040" y="4789678"/>
            <a:ext cx="1750710" cy="531876"/>
          </a:xfrm>
          <a:prstGeom prst="rect">
            <a:avLst/>
          </a:prstGeom>
          <a:noFill/>
        </p:spPr>
        <p:txBody>
          <a:bodyPr wrap="square" anchor="t" lIns="0" rIns="0" tIns="0" bIns="0">
            <a:spAutoFit/>
          </a:bodyPr>
          <a:lstStyle/>
          <a:p>
            <a:pPr algn="l"/>
            <a:r>
              <a:rPr sz="1000" b="0" i="0">
                <a:solidFill>
                  <a:srgbClr val="CFC9EE"/>
                </a:solidFill>
                <a:latin typeface="Calibri"/>
              </a:rPr>
              <a:t>A sample the rerun draws again, and the book's fingerprint. In the lab.</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1" name="Oval 40"/>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43" name="Oval 4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hold the case to the morning's habits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suite keep on Finance's definition, whatever the numbers turn out to be?</a:t>
            </a:r>
          </a:p>
        </p:txBody>
      </p:sp>
      <p:sp>
        <p:nvSpPr>
          <p:cNvPr id="9" name="Rounded Rectangle 8"/>
          <p:cNvSpPr/>
          <p:nvPr/>
        </p:nvSpPr>
        <p:spPr>
          <a:xfrm>
            <a:off x="530352"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 filter, stated first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One filter keeps only the orders that reached the customer and stayed there.</a:t>
            </a:r>
          </a:p>
        </p:txBody>
      </p:sp>
      <p:sp>
        <p:nvSpPr>
          <p:cNvPr id="15" name="Rounded Rectangle 14"/>
          <p:cNvSpPr/>
          <p:nvPr/>
        </p:nvSpPr>
        <p:spPr>
          <a:xfrm>
            <a:off x="3358819"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count's name says what it counts, so no reader takes orders for customers.</a:t>
            </a:r>
          </a:p>
        </p:txBody>
      </p:sp>
      <p:sp>
        <p:nvSpPr>
          <p:cNvPr id="21" name="Rounded Rectangle 20"/>
          <p:cNvSpPr/>
          <p:nvPr/>
        </p:nvSpPr>
        <p:spPr>
          <a:xfrm>
            <a:off x="6187287"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Ratios that hold</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multiplies back to its orders, with its two counts printed beside it.</a:t>
            </a:r>
          </a:p>
        </p:txBody>
      </p:sp>
      <p:sp>
        <p:nvSpPr>
          <p:cNvPr id="27" name="Rounded Rectangle 26"/>
          <p:cNvSpPr/>
          <p:nvPr/>
        </p:nvSpPr>
        <p:spPr>
          <a:xfrm>
            <a:off x="9015755" y="1956816"/>
            <a:ext cx="2645587"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Repeated and fingerprinted</a:t>
            </a:r>
          </a:p>
        </p:txBody>
      </p:sp>
      <p:sp>
        <p:nvSpPr>
          <p:cNvPr id="32" name="TextBox 31"/>
          <p:cNvSpPr txBox="1"/>
          <p:nvPr/>
        </p:nvSpPr>
        <p:spPr>
          <a:xfrm>
            <a:off x="9216923" y="3534664"/>
            <a:ext cx="2243251" cy="763016"/>
          </a:xfrm>
          <a:prstGeom prst="rect">
            <a:avLst/>
          </a:prstGeom>
          <a:noFill/>
        </p:spPr>
        <p:txBody>
          <a:bodyPr wrap="square" anchor="t" lIns="0" rIns="0" tIns="0" bIns="0">
            <a:spAutoFit/>
          </a:bodyPr>
          <a:lstStyle/>
          <a:p>
            <a:pPr algn="l"/>
            <a:r>
              <a:rPr sz="1100" b="0" i="0">
                <a:solidFill>
                  <a:srgbClr val="CFC9EE"/>
                </a:solidFill>
                <a:latin typeface="Calibri"/>
              </a:rPr>
              <a:t>The sample comes back the same on the analyst's rerun, and the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Interview drill, questions 1 to 7: counts and clauses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on counts, clauses and averages does today equip you to answer?</a:t>
            </a:r>
          </a:p>
        </p:txBody>
      </p:sp>
      <p:graphicFrame>
        <p:nvGraphicFramePr>
          <p:cNvPr id="10" name="Table 9"/>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Explain the logical order in which a SQL query runs.</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do count(*), count(customer_id) and count(DISTINCT customer_id) each count?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total matches last week's; is your analysis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An average moved but the total did not, or moved differently; how?</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Interview drill, questions 8 to 13: runs and audits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on steps, windows, runs and audits does today equip you to answer?</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D18a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store booming and the web collapsing, as Marketing says?</a:t>
            </a:r>
          </a:p>
        </p:txBody>
      </p:sp>
      <p:pic>
        <p:nvPicPr>
          <p:cNvPr id="10" name="mermaid diagram" descr="84c17dc7a27e31ce.png"/>
          <p:cNvPicPr>
            <a:picLocks noChangeAspect="1"/>
          </p:cNvPicPr>
          <p:nvPr/>
        </p:nvPicPr>
        <p:blipFill>
          <a:blip r:embed="rId5"/>
          <a:stretch>
            <a:fillRect/>
          </a:stretch>
        </p:blipFill>
        <p:spPr>
          <a:xfrm>
            <a:off x="2152497" y="1761648"/>
            <a:ext cx="7886700" cy="2100262"/>
          </a:xfrm>
          <a:prstGeom prst="rect">
            <a:avLst/>
          </a:prstGeom>
        </p:spPr>
      </p:pic>
      <p:sp>
        <p:nvSpPr>
          <p:cNvPr id="11" name="Rounded Rectangle 10"/>
          <p:cNvSpPr/>
          <p:nvPr/>
        </p:nvSpPr>
        <p:spPr>
          <a:xfrm>
            <a:off x="530352" y="400507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4005072"/>
            <a:ext cx="10820095" cy="751840"/>
          </a:xfrm>
          <a:prstGeom prst="rect">
            <a:avLst/>
          </a:prstGeom>
          <a:noFill/>
        </p:spPr>
        <p:txBody>
          <a:bodyPr wrap="square" anchor="t" lIns="0" rIns="0" tIns="0" bIns="0">
            <a:spAutoFit/>
          </a:bodyPr>
          <a:lstStyle/>
          <a:p>
            <a:r>
              <a:rPr sz="1600" b="0" i="1">
                <a:solidFill>
                  <a:srgbClr val="1A0F5C"/>
                </a:solidFill>
                <a:latin typeface="Georgia"/>
              </a:rPr>
              <a:t>"The same numbers for every channel: app, web and store. Marketing says the store is booming and the web is collapsing, and wants the budget moved. Is that what the book says?"</a:t>
            </a:r>
          </a:p>
        </p:txBody>
      </p:sp>
      <p:sp>
        <p:nvSpPr>
          <p:cNvPr id="13" name="Rounded Rectangle 12"/>
          <p:cNvSpPr/>
          <p:nvPr/>
        </p:nvSpPr>
        <p:spPr>
          <a:xfrm>
            <a:off x="530352" y="49032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903216"/>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5" name="TextBox 14"/>
          <p:cNvSpPr txBox="1"/>
          <p:nvPr/>
        </p:nvSpPr>
        <p:spPr>
          <a:xfrm>
            <a:off x="530352" y="5516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to Business buyers whose orders are worth lakhs of rupees or more and to consumers whose orders are worth hundreds or a few thousand.</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8" name="Oval 1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The orders table counted two ways: 1,000 rows, 301 buyers, beside 340 on the customer table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Finance's definition?</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Finance's definition?</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down 1.6%, Retail-Plus carries it, it reruns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BOOK'S FALL</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10.00 crore to Rs 9.84 crore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RETAIL-PLUS'S FALL</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fewer members, less often, larger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FEWER CUSTOMERS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caveat against last week's extract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FINGERPRINT NUMBERS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so a rerun says whether the book moved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3419856"/>
            <a:ext cx="10820095" cy="1036319"/>
          </a:xfrm>
          <a:prstGeom prst="rect">
            <a:avLst/>
          </a:prstGeom>
          <a:noFill/>
        </p:spPr>
        <p:txBody>
          <a:bodyPr wrap="square" anchor="t" lIns="0" rIns="0" tIns="0" bIns="0">
            <a:spAutoFit/>
          </a:bodyPr>
          <a:lstStyle/>
          <a:p>
            <a:r>
              <a:rPr sz="1600" b="0" i="1">
                <a:solidFill>
                  <a:srgbClr val="1A0F5C"/>
                </a:solidFill>
                <a:latin typeface="Georgia"/>
              </a:rPr>
              <a:t>"Booked revenue fell 1.6 percent, and Retail-Plus carries the fall: 29.4 percent, as 16.5 percent fewer members bought, each 22.0 percent less often, each order 8.4 percent larger. Each run prints the book's fingerprint, so a rerun on the same book gives the same answer."</a:t>
            </a:r>
          </a:p>
        </p:txBody>
      </p:sp>
      <p:sp>
        <p:nvSpPr>
          <p:cNvPr id="27" name="Rounded Rectangle 26"/>
          <p:cNvSpPr/>
          <p:nvPr/>
        </p:nvSpPr>
        <p:spPr>
          <a:xfrm>
            <a:off x="530352" y="4602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602480"/>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Anand, from S14</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1" name="Oval 3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33" name="Oval 3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graphicFrame>
        <p:nvGraphicFramePr>
          <p:cNvPr id="9" name="Table 8"/>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2016856"/>
                <a:gridCol w="9114134"/>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 Counts</a:t>
                      </a:r>
                    </a:p>
                  </a:txBody>
                  <a:tcPr marL="101600" marR="101600" marT="38100" marB="38100" anchor="ctr">
                    <a:solidFill>
                      <a:srgbClr val="FFFFFF"/>
                    </a:solidFill>
                  </a:tcPr>
                </a:tc>
                <a:tc>
                  <a:txBody>
                    <a:bodyPr/>
                    <a:lstStyle/>
                    <a:p>
                      <a:r>
                        <a:rPr sz="1400" b="0" i="0">
                          <a:solidFill>
                            <a:srgbClr val="1A1440"/>
                          </a:solidFill>
                          <a:latin typeface="Calibri"/>
                        </a:rPr>
                        <a:t>A count says what it counts: order rows are count(*), customers are count(DISTINCT customer_id).</a:t>
                      </a:r>
                    </a:p>
                  </a:txBody>
                  <a:tcPr marL="101600" marR="101600" marT="38100" marB="38100" anchor="ctr">
                    <a:solidFill>
                      <a:srgbClr val="FFFFFF"/>
                    </a:solidFill>
                  </a:tcPr>
                </a:tc>
              </a:tr>
              <a:tr h="369824">
                <a:tc>
                  <a:txBody>
                    <a:bodyPr/>
                    <a:lstStyle/>
                    <a:p>
                      <a:r>
                        <a:rPr sz="1400" b="0" i="0">
                          <a:solidFill>
                            <a:srgbClr val="1A1440"/>
                          </a:solidFill>
                          <a:latin typeface="Calibri"/>
                        </a:rPr>
                        <a:t>2. Sources</a:t>
                      </a:r>
                    </a:p>
                  </a:txBody>
                  <a:tcPr marL="101600" marR="101600" marT="38100" marB="38100" anchor="ctr">
                    <a:solidFill>
                      <a:srgbClr val="F4F2FA"/>
                    </a:solidFill>
                  </a:tcPr>
                </a:tc>
                <a:tc>
                  <a:txBody>
                    <a:bodyPr/>
                    <a:lstStyle/>
                    <a:p>
                      <a:r>
                        <a:rPr sz="1400" b="0" i="0">
                          <a:solidFill>
                            <a:srgbClr val="1A1440"/>
                          </a:solidFill>
                          <a:latin typeface="Calibri"/>
                        </a:rPr>
                        <a:t>A matching total is one leaf matching, so compare every leaf as a change.</a:t>
                      </a:r>
                    </a:p>
                  </a:txBody>
                  <a:tcPr marL="101600" marR="101600" marT="38100" marB="38100" anchor="ctr">
                    <a:solidFill>
                      <a:srgbClr val="F4F2FA"/>
                    </a:solidFill>
                  </a:tcPr>
                </a:tc>
              </a:tr>
              <a:tr h="369824">
                <a:tc>
                  <a:txBody>
                    <a:bodyPr/>
                    <a:lstStyle/>
                    <a:p>
                      <a:r>
                        <a:rPr sz="1400" b="0" i="0">
                          <a:solidFill>
                            <a:srgbClr val="1A1440"/>
                          </a:solidFill>
                          <a:latin typeface="Calibri"/>
                        </a:rPr>
                        <a:t>3. Ratios</a:t>
                      </a:r>
                    </a:p>
                  </a:txBody>
                  <a:tcPr marL="101600" marR="101600" marT="38100" marB="38100" anchor="ctr">
                    <a:solidFill>
                      <a:srgbClr val="FFFFFF"/>
                    </a:solidFill>
                  </a:tcPr>
                </a:tc>
                <a:tc>
                  <a:txBody>
                    <a:bodyPr/>
                    <a:lstStyle/>
                    <a:p>
                      <a:r>
                        <a:rPr sz="1400" b="0" i="0">
                          <a:solidFill>
                            <a:srgbClr val="1A1440"/>
                          </a:solidFill>
                          <a:latin typeface="Calibri"/>
                        </a:rPr>
                        <a:t>Divide in numeric, round on purpose, and keep the counts beside the ratio.</a:t>
                      </a:r>
                    </a:p>
                  </a:txBody>
                  <a:tcPr marL="101600" marR="101600" marT="38100" marB="38100" anchor="ctr">
                    <a:solidFill>
                      <a:srgbClr val="FFFFFF"/>
                    </a:solidFill>
                  </a:tcPr>
                </a:tc>
              </a:tr>
              <a:tr h="369824">
                <a:tc>
                  <a:txBody>
                    <a:bodyPr/>
                    <a:lstStyle/>
                    <a:p>
                      <a:r>
                        <a:rPr sz="1400" b="0" i="0">
                          <a:solidFill>
                            <a:srgbClr val="1A1440"/>
                          </a:solidFill>
                          <a:latin typeface="Calibri"/>
                        </a:rPr>
                        <a:t>4. Averages</a:t>
                      </a:r>
                    </a:p>
                  </a:txBody>
                  <a:tcPr marL="101600" marR="101600" marT="38100" marB="38100" anchor="ctr">
                    <a:solidFill>
                      <a:srgbClr val="F4F2FA"/>
                    </a:solidFill>
                  </a:tcPr>
                </a:tc>
                <a:tc>
                  <a:txBody>
                    <a:bodyPr/>
                    <a:lstStyle/>
                    <a:p>
                      <a:r>
                        <a:rPr sz="1400" b="0" i="0">
                          <a:solidFill>
                            <a:srgbClr val="1A1440"/>
                          </a:solidFill>
                          <a:latin typeface="Calibri"/>
                        </a:rPr>
                        <a:t>An average names who is inside it, so write the zero on purpose.</a:t>
                      </a:r>
                    </a:p>
                  </a:txBody>
                  <a:tcPr marL="101600" marR="101600" marT="38100" marB="38100" anchor="ctr">
                    <a:solidFill>
                      <a:srgbClr val="F4F2FA"/>
                    </a:solidFill>
                  </a:tcPr>
                </a:tc>
              </a:tr>
              <a:tr h="369824">
                <a:tc>
                  <a:txBody>
                    <a:bodyPr/>
                    <a:lstStyle/>
                    <a:p>
                      <a:r>
                        <a:rPr sz="1400" b="0" i="0">
                          <a:solidFill>
                            <a:srgbClr val="1A1440"/>
                          </a:solidFill>
                          <a:latin typeface="Calibri"/>
                        </a:rPr>
                        <a:t>5. Sums</a:t>
                      </a:r>
                    </a:p>
                  </a:txBody>
                  <a:tcPr marL="101600" marR="101600" marT="38100" marB="38100" anchor="ctr">
                    <a:solidFill>
                      <a:srgbClr val="FFFFFF"/>
                    </a:solidFill>
                  </a:tcPr>
                </a:tc>
                <a:tc>
                  <a:txBody>
                    <a:bodyPr/>
                    <a:lstStyle/>
                    <a:p>
                      <a:r>
                        <a:rPr sz="1400" b="0" i="0">
                          <a:solidFill>
                            <a:srgbClr val="1A1440"/>
                          </a:solidFill>
                          <a:latin typeface="Calibri"/>
                        </a:rPr>
                        <a:t>Orders and rupees add across quarters; customers are counted again from the orders.</a:t>
                      </a:r>
                    </a:p>
                  </a:txBody>
                  <a:tcPr marL="101600" marR="101600" marT="38100" marB="38100" anchor="ctr">
                    <a:solidFill>
                      <a:srgbClr val="FFFFFF"/>
                    </a:solidFill>
                  </a:tcPr>
                </a:tc>
              </a:tr>
              <a:tr h="611632">
                <a:tc>
                  <a:txBody>
                    <a:bodyPr/>
                    <a:lstStyle/>
                    <a:p>
                      <a:r>
                        <a:rPr sz="1400" b="0" i="0">
                          <a:solidFill>
                            <a:srgbClr val="1A1440"/>
                          </a:solidFill>
                          <a:latin typeface="Calibri"/>
                        </a:rPr>
                        <a:t>6. Runs</a:t>
                      </a:r>
                    </a:p>
                  </a:txBody>
                  <a:tcPr marL="101600" marR="101600" marT="38100" marB="38100" anchor="ctr">
                    <a:solidFill>
                      <a:srgbClr val="F4F2FA"/>
                    </a:solidFill>
                  </a:tcPr>
                </a:tc>
                <a:tc>
                  <a:txBody>
                    <a:bodyPr/>
                    <a:lstStyle/>
                    <a:p>
                      <a:r>
                        <a:rPr sz="1400" b="0" i="0">
                          <a:solidFill>
                            <a:srgbClr val="1A1440"/>
                          </a:solidFill>
                          <a:latin typeface="Calibri"/>
                        </a:rPr>
                        <a:t>Order every audit sample on a column no two rows share, and print the book's fingerprint beside the numbers.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4" name="Oval 1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run order, HAVING, grain, LIMIT, CTEs,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433212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59d4015bfa4a2dec.png"/>
          <p:cNvPicPr>
            <a:picLocks noChangeAspect="1"/>
          </p:cNvPicPr>
          <p:nvPr/>
        </p:nvPicPr>
        <p:blipFill>
          <a:blip r:embed="rId5"/>
          <a:stretch>
            <a:fillRect/>
          </a:stretch>
        </p:blipFill>
        <p:spPr>
          <a:xfrm>
            <a:off x="3524097" y="3365278"/>
            <a:ext cx="5143500" cy="261461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0d40c52eb9dde352.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Finance's definition?</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