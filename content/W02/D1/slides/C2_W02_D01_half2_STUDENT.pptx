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analyst's words aloud. The morning built every number on Anand's</a:t>
            </a:r>
          </a:p>
          <a:p>
            <a:r>
              <a:t>Monday sheet; the afternoon asks whether the suite repeats, then hands the room a case to run</a:t>
            </a:r>
          </a:p>
          <a:p>
            <a:r>
              <a:t>alone. The trainer's part of the afternoon is 60 minutes: chapter 6 (30), the escalated case's</a:t>
            </a:r>
          </a:p>
          <a:p>
            <a:r>
              <a:t>first two parts (20) and the Kahoot (10). Then what the morning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five answers as one story: the book fell 1.6 percent, Retail-Plus</a:t>
            </a:r>
          </a:p>
          <a:p>
            <a:r>
              <a:t>carries the fall in orders, and every count, ratio and average on the sheet says what it counts.</a:t>
            </a:r>
          </a:p>
          <a:p>
            <a:r>
              <a:t>Q1 is April to June 2026 and Q2 is July to September 2026; revenue is booked revenue, every order</a:t>
            </a:r>
          </a:p>
          <a:p>
            <a:r>
              <a:t>at its amount. Then chapter 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(5), the fingerprint</a:t>
            </a:r>
          </a:p>
          <a:p>
            <a:r>
              <a:t>and the reload (5), the trap, its check and its fix (9, never cut), the second route (3), the</a:t>
            </a:r>
          </a:p>
          <a:p>
            <a:r>
              <a:t>sentence to Anand (3) and the close (2). Notebook 6 and sql/C2_W02_D01_06_same_answer_STUDENT.sql</a:t>
            </a:r>
          </a:p>
          <a:p>
            <a:r>
              <a:t>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ERP is the enterprise system where Finance books every order; the analyst</a:t>
            </a:r>
          </a:p>
          <a:p>
            <a:r>
              <a:t>traces a sample of warehouse orders back to it to prove the warehouse matches the books. Q2 is July</a:t>
            </a:r>
          </a:p>
          <a:p>
            <a:r>
              <a:t>to September 2026. Then a company that checks every run before anyone reads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Michelle Ufford's talk "Whoops, The Numbers Are Wrong! Scaling Data Quality @</a:t>
            </a:r>
          </a:p>
          <a:p>
            <a:r>
              <a:t>Netflix" at DataWorks Summit, San Jose, 13 June 2017. One of its slides sets a new batch of 17,240</a:t>
            </a:r>
          </a:p>
          <a:p>
            <a:r>
              <a:t>rows with 17,240 missing values beside the previous day's 16,135 rows with 21: every value of the</a:t>
            </a:r>
          </a:p>
          <a:p>
            <a:r>
              <a:t>column was missing. In the talk's rules the row-count checks fail the job and the missing-value</a:t>
            </a:r>
          </a:p>
          <a:p>
            <a:r>
              <a:t>check only warns, so that batch raised a warning; say it that way. The study notes' reading list</a:t>
            </a:r>
          </a:p>
          <a:p>
            <a:r>
              <a:t>carries the link and its check date. Then four ways a Kalpa run could prove itself.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fingerprint reads each table once: orders gives its rows, its rupees, its</a:t>
            </a:r>
          </a:p>
          <a:p>
            <a:r>
              <a:t>distinct customers and its latest date, and customers gives its rows, its distinct customers and</a:t>
            </a:r>
          </a:p>
          <a:p>
            <a:r>
              <a:t>its latest joining date, seven numbers in all, since customers carries no rupees. If next</a:t>
            </a:r>
          </a:p>
          <a:p>
            <a:r>
              <a:t>Monday's fingerprint matches this one, the book has not changed, so any difference in the numbers</a:t>
            </a:r>
          </a:p>
          <a:p>
            <a:r>
              <a:t>is the query's. Then what would switch the call.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 costs little here, 18 output rows a Monday (2 for the book, 8 segment-quarters,</a:t>
            </a:r>
          </a:p>
          <a:p>
            <a:r>
              <a:t>4 branch rows and 4 half-years), and it needs the same write access D does, so the switch is to D, the pattern that stops a bad run. Then this Monday's</a:t>
            </a:r>
          </a:p>
          <a:p>
            <a:r>
              <a:t>fingerprint.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UNION ALL stacks the two tables' rows into one result, one row per table. The</a:t>
            </a:r>
          </a:p>
          <a:p>
            <a:r>
              <a:t>notebook runs the reload inside a transaction and rolls it back, so the warehouse is left as it</a:t>
            </a:r>
          </a:p>
          <a:p>
            <a:r>
              <a:t>was. Letters,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latest order date is 28 September 2026 and the latest joining date on the</a:t>
            </a:r>
          </a:p>
          <a:p>
            <a:r>
              <a:t>customer table is 25 December 2025; both sit in the fingerprint and both held. Print the</a:t>
            </a:r>
          </a:p>
          <a:p>
            <a:r>
              <a:t>fingerprint at the top of every Monday's run: it is the first thing the analyst compares. Then</a:t>
            </a:r>
          </a:p>
          <a:p>
            <a:r>
              <a:t>the audit sample.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Expect a, because on a small, freshly loaded table the first rows often</a:t>
            </a:r>
          </a:p>
          <a:p>
            <a:r>
              <a:t>are the smallest ids, and the first run seems to confirm it. Then both runs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plausible wrong answer: the query ran, returned five delivered Q2 app</a:t>
            </a:r>
          </a:p>
          <a:p>
            <a:r>
              <a:t>orders, and looked right both times. Two of the five differ between the runs, and nothing in the</a:t>
            </a:r>
          </a:p>
          <a:p>
            <a:r>
              <a:t>book changed. Then why.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PostgreSQL documentation on sorting: the order "will depend on the scan and</a:t>
            </a:r>
          </a:p>
          <a:p>
            <a:r>
              <a:t>join plan types and the order on disk, but it must not be relied on". Postgres writes a rewritten</a:t>
            </a:r>
          </a:p>
          <a:p>
            <a:r>
              <a:t>row as a new version in a new place, so after the reload the first five rows the database reaches</a:t>
            </a:r>
          </a:p>
          <a:p>
            <a:r>
              <a:t>are a different five. The room's sixty Codespaces hold identical data and will often draw the same</a:t>
            </a:r>
          </a:p>
          <a:p>
            <a:r>
              <a:t>five, which is exactly why the habit survives until the first reload.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order_id is the table's key, a column no two rows share, so the order is unique</a:t>
            </a:r>
          </a:p>
          <a:p>
            <a:r>
              <a:t>and every run draws the same five. Then the same five, confirmed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query is a count with a range, no ORDER BY and no LIMIT, so it can disagree</a:t>
            </a:r>
          </a:p>
          <a:p>
            <a:r>
              <a:t>with the ordered query, which a rerun of that query never could. 80 of the 94 candidates are under</a:t>
            </a:r>
          </a:p>
          <a:p>
            <a:r>
              <a:t>Rs 5,000, and the sampled five average Rs 780; the other 14 are large Business orders. When to</a:t>
            </a:r>
          </a:p>
          <a:p>
            <a:r>
              <a:t>switch: for a sample of hundreds, count the candidates below each id on the list. Then what the</a:t>
            </a:r>
          </a:p>
          <a:p>
            <a:r>
              <a:t>suite now tells Anand.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message aloud once, then ask the room which sentence Anand's analyst</a:t>
            </a:r>
          </a:p>
          <a:p>
            <a:r>
              <a:t>checks first. The three branches multiply back: 0.835 times 0.780 times 1.084 is 0.706, the tier's</a:t>
            </a:r>
          </a:p>
          <a:p>
            <a:r>
              <a:t>29.4 percent fall. The caveat says where the book and last week's note part company. Then the</a:t>
            </a:r>
          </a:p>
          <a:p>
            <a:r>
              <a:t>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overnight answer in one breath: check the book's fingerprint first; if rows</a:t>
            </a:r>
          </a:p>
          <a:p>
            <a:r>
              <a:t>and rupees are the same, check the run's parameters (the date window, the time zone) and what it</a:t>
            </a:r>
          </a:p>
          <a:p>
            <a:r>
              <a:t>depends on (a view, a deploy, a cached result), then today's suspects: a definition that changed,</a:t>
            </a:r>
          </a:p>
          <a:p>
            <a:r>
              <a:t>a denominator that shifted, integer division, and an unordered LIMIT when the number comes from a</a:t>
            </a:r>
          </a:p>
          <a:p>
            <a:r>
              <a:t>sample. Then the case the room runs alone.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in the afternoon for parts 1 and 2, alone, in</a:t>
            </a:r>
          </a:p>
          <a:p>
            <a:r>
              <a:t>notebooks/C2_W02_D01_ex1_escalated_case_STUDENT.ipynb with the brief</a:t>
            </a:r>
          </a:p>
          <a:p>
            <a:r>
              <a:t>exercises/unguided/C2_W02_D01_escalated_case_STUDENT.md. Parts 3 to 5 run in the practice lab</a:t>
            </a:r>
          </a:p>
          <a:p>
            <a:r>
              <a:t>after the day.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Anand's words aloud. Delivered means the order reached the customer and was</a:t>
            </a:r>
          </a:p>
          <a:p>
            <a:r>
              <a:t>not returned or cancelled; on the book 653 of the 1,000 orders are delivered. Nothing from the</a:t>
            </a:r>
          </a:p>
          <a:p>
            <a:r>
              <a:t>morning can be copied: every number changes on the new definition, and each part climbs one</a:t>
            </a:r>
          </a:p>
          <a:p>
            <a:r>
              <a:t>chapter's method. Post fifteen letters and three numbers when the case is done. Then the rules the</a:t>
            </a:r>
          </a:p>
          <a:p>
            <a:r>
              <a:t>brief holds the room to.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17 minutes of work after this slide: parts 1 and 2 alone, in the notebook. Walk the room.</a:t>
            </a:r>
          </a:p>
          <a:p>
            <a:r>
              <a:t>Where a learner stalls on part 1, ask which clause runs first and what it keeps; on part 2, ask</a:t>
            </a:r>
          </a:p>
          <a:p>
            <a:r>
              <a:t>what 2 times 26 gives back. Do not give letters. At the end of the 20 minutes, collect part 1's</a:t>
            </a:r>
          </a:p>
          <a:p>
            <a:r>
              <a:t>revenue change and part 2's thinnest segment-quarter on the board, and say parts 3 to 5 run in the</a:t>
            </a:r>
          </a:p>
          <a:p>
            <a:r>
              <a:t>lab tonight. Then the close.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to read. Tags: [S] asked everywhere, [F] frequent in GCC and product</a:t>
            </a:r>
          </a:p>
          <a:p>
            <a:r>
              <a:t>screens, [D] a differentiator. The drill runs aloud in the practice lab, sixty seconds per answer,</a:t>
            </a:r>
          </a:p>
          <a:p>
            <a:r>
              <a:t>in pairs, in this order, and the study notes carry the full answer to every question. Then</a:t>
            </a:r>
          </a:p>
          <a:p>
            <a:r>
              <a:t>questions 8 to 13.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to read. The design question comes last in the drill: four ways to produce</a:t>
            </a:r>
          </a:p>
          <a:p>
            <a:r>
              <a:t>one of today's numbers, which would you choose, sized how, and what would make you switch.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to read. The case runs in the take-home, in pairs or alone:</a:t>
            </a:r>
          </a:p>
          <a:p>
            <a:r>
              <a:t>notebooks/C2_W02_D01_ex2_second_case_STUDENT.ipynb with the brief</a:t>
            </a:r>
          </a:p>
          <a:p>
            <a:r>
              <a:t>exercises/unguided/C2_W02_D01_second_case_STUDENT.md. Ten letters, the notebook's seven markers and</a:t>
            </a:r>
          </a:p>
          <a:p>
            <a:r>
              <a:t>three of the brief's own, and one line for Anand naming the channel losing its consumers fastest,</a:t>
            </a:r>
          </a:p>
          <a:p>
            <a:r>
              <a:t>with its number.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to read. The debrief of wrong answers runs in the practice lab after the day,</a:t>
            </a:r>
          </a:p>
          <a:p>
            <a:r>
              <a:t>since the afternoon's last 120 minutes go to the IITGN faculty block, which is tentative. A learner</a:t>
            </a:r>
          </a:p>
          <a:p>
            <a:r>
              <a:t>who missed the class can take each row back to its chapter's slides and notebook.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 minutes: the day's answer (1), the six lines (1), the Kahoot (7) and tomorrow's question</a:t>
            </a:r>
          </a:p>
          <a:p>
            <a:r>
              <a:t>(1). The self-study slides before this section carry the interview drill, the second case and the</a:t>
            </a:r>
          </a:p>
          <a:p>
            <a:r>
              <a:t>day's wrong numbers for the lab and the take-home.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two learners to read their own sentence to Anand before this slide; the full</a:t>
            </a:r>
          </a:p>
          <a:p>
            <a:r>
              <a:t>message, with its caveat, is S14's. Then the six lines worth keeping.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lines; the cheat sheet prints them word for word. Each is the check</a:t>
            </a:r>
          </a:p>
          <a:p>
            <a:r>
              <a:t>that caught one of the day's plausible wrong numbers. Then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pack is kahoot/C2_W02_D01_quiz_STUDENT.md. After each item, one learner says</a:t>
            </a:r>
          </a:p>
          <a:p>
            <a:r>
              <a:t>why the key holds. The last item returns to Week 1 Thursday: the discount's 6 percent lift came</a:t>
            </a:r>
          </a:p>
          <a:p>
            <a:r>
              <a:t>from which customers got it, and the room says in one line what a fair comparison would need. Then</a:t>
            </a:r>
          </a:p>
          <a:p>
            <a:r>
              <a:t>tomorrow's question.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Leave the question open. Tonight's pre-read opens on Anand's message. Then the</a:t>
            </a:r>
          </a:p>
          <a:p>
            <a:r>
              <a:t>practice lab after the day, and before it the IITGN faculty session, which is tentative and runs</a:t>
            </a:r>
          </a:p>
          <a:p>
            <a:r>
              <a:t>120 minutes on a topic of its own.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4.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MONDAY  ·  AFTERNOON</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Will next Monday's run give the analyst the same answer?</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“Every Monday I rerun your suite and trace five delivered app orders against the ERP. If my rerun differs from yours, I need to know whether the book changed or your query did.”</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Anand's analyst, finance, Kalpa Retail, to the data and AI team at Kalpa's Global Capability Centre</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Same answer next week?</a:t>
            </a:r>
          </a:p>
        </p:txBody>
      </p:sp>
      <p:sp>
        <p:nvSpPr>
          <p:cNvPr id="13" name="TextBox 12"/>
          <p:cNvSpPr txBox="1"/>
          <p:nvPr/>
        </p:nvSpPr>
        <p:spPr>
          <a:xfrm>
            <a:off x="2672905"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3056953"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Delivered orders only?</a:t>
            </a:r>
          </a:p>
        </p:txBody>
      </p:sp>
      <p:sp>
        <p:nvSpPr>
          <p:cNvPr id="15" name="TextBox 14"/>
          <p:cNvSpPr txBox="1"/>
          <p:nvPr/>
        </p:nvSpPr>
        <p:spPr>
          <a:xfrm>
            <a:off x="4724019"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5108067"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What do we tell Anand?</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Will next Monday's run give the analyst the same answer?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Down 1.6%: Retail-Plus carried it, and the sums tie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morning's five chapters establish, with their numbers?</a:t>
            </a:r>
          </a:p>
        </p:txBody>
      </p:sp>
      <p:graphicFrame>
        <p:nvGraphicFramePr>
          <p:cNvPr id="9" name="Table 8"/>
          <p:cNvGraphicFramePr>
            <a:graphicFrameLocks noGrp="1"/>
          </p:cNvGraphicFramePr>
          <p:nvPr/>
        </p:nvGraphicFramePr>
        <p:xfrm>
          <a:off x="530352" y="1956816"/>
          <a:ext cx="11130990" cy="2702560"/>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What it answered</a:t>
                      </a:r>
                    </a:p>
                  </a:txBody>
                  <a:tcPr marL="101600" marR="101600" marT="38100" marB="38100" anchor="ctr">
                    <a:solidFill>
                      <a:srgbClr val="1A0F5C"/>
                    </a:solidFill>
                  </a:tcPr>
                </a:tc>
              </a:tr>
              <a:tr h="611632">
                <a:tc>
                  <a:txBody>
                    <a:bodyPr/>
                    <a:lstStyle/>
                    <a:p>
                      <a:r>
                        <a:rPr sz="1400" b="0" i="0">
                          <a:solidFill>
                            <a:srgbClr val="1A1440"/>
                          </a:solidFill>
                          <a:latin typeface="Calibri"/>
                        </a:rPr>
                        <a:t>1. What does the book say?</a:t>
                      </a:r>
                    </a:p>
                  </a:txBody>
                  <a:tcPr marL="101600" marR="101600" marT="38100" marB="38100" anchor="ctr">
                    <a:solidFill>
                      <a:srgbClr val="FFFFFF"/>
                    </a:solidFill>
                  </a:tcPr>
                </a:tc>
                <a:tc>
                  <a:txBody>
                    <a:bodyPr/>
                    <a:lstStyle/>
                    <a:p>
                      <a:r>
                        <a:rPr sz="1400" b="0" i="0">
                          <a:solidFill>
                            <a:srgbClr val="1A1440"/>
                          </a:solidFill>
                          <a:latin typeface="Calibri"/>
                        </a:rPr>
                        <a:t>Rs 10,00,00,000 on 538 orders in Q1 and Rs 9,84,00,000 on 462 in Q2; 244 then 227 customers who bought</a:t>
                      </a:r>
                    </a:p>
                  </a:txBody>
                  <a:tcPr marL="101600" marR="101600" marT="38100" marB="38100" anchor="ctr">
                    <a:solidFill>
                      <a:srgbClr val="FFFFFF"/>
                    </a:solidFill>
                  </a:tcPr>
                </a:tc>
              </a:tr>
              <a:tr h="611632">
                <a:tc>
                  <a:txBody>
                    <a:bodyPr/>
                    <a:lstStyle/>
                    <a:p>
                      <a:r>
                        <a:rPr sz="1400" b="0" i="0">
                          <a:solidFill>
                            <a:srgbClr val="1A1440"/>
                          </a:solidFill>
                          <a:latin typeface="Calibri"/>
                        </a:rPr>
                        <a:t>2. Same story as Week 1?</a:t>
                      </a:r>
                    </a:p>
                  </a:txBody>
                  <a:tcPr marL="101600" marR="101600" marT="38100" marB="38100" anchor="ctr">
                    <a:solidFill>
                      <a:srgbClr val="F4F2FA"/>
                    </a:solidFill>
                  </a:tcPr>
                </a:tc>
                <a:tc>
                  <a:txBody>
                    <a:bodyPr/>
                    <a:lstStyle/>
                    <a:p>
                      <a:r>
                        <a:rPr sz="1400" b="0" i="0">
                          <a:solidFill>
                            <a:srgbClr val="1A1440"/>
                          </a:solidFill>
                          <a:latin typeface="Calibri"/>
                        </a:rPr>
                        <a:t>Revenue agrees; customers fell 7.0% on the book where last week's extract showed them flat</a:t>
                      </a:r>
                    </a:p>
                  </a:txBody>
                  <a:tcPr marL="101600" marR="101600" marT="38100" marB="38100" anchor="ctr">
                    <a:solidFill>
                      <a:srgbClr val="F4F2FA"/>
                    </a:solidFill>
                  </a:tcPr>
                </a:tc>
              </a:tr>
              <a:tr h="369824">
                <a:tc>
                  <a:txBody>
                    <a:bodyPr/>
                    <a:lstStyle/>
                    <a:p>
                      <a:r>
                        <a:rPr sz="1400" b="0" i="0">
                          <a:solidFill>
                            <a:srgbClr val="1A1440"/>
                          </a:solidFill>
                          <a:latin typeface="Calibri"/>
                        </a:rPr>
                        <a:t>3. Which segment moved?</a:t>
                      </a:r>
                    </a:p>
                  </a:txBody>
                  <a:tcPr marL="101600" marR="101600" marT="38100" marB="38100" anchor="ctr">
                    <a:solidFill>
                      <a:srgbClr val="FFFFFF"/>
                    </a:solidFill>
                  </a:tcPr>
                </a:tc>
                <a:tc>
                  <a:txBody>
                    <a:bodyPr/>
                    <a:lstStyle/>
                    <a:p>
                      <a:r>
                        <a:rPr sz="1400" b="0" i="0">
                          <a:solidFill>
                            <a:srgbClr val="1A1440"/>
                          </a:solidFill>
                          <a:latin typeface="Calibri"/>
                        </a:rPr>
                        <a:t>Retail-Plus, down 29.4%, with orders per customer 2.36 then 1.84</a:t>
                      </a:r>
                    </a:p>
                  </a:txBody>
                  <a:tcPr marL="101600" marR="101600" marT="38100" marB="38100" anchor="ctr">
                    <a:solidFill>
                      <a:srgbClr val="FFFFFF"/>
                    </a:solidFill>
                  </a:tcPr>
                </a:tc>
              </a:tr>
              <a:tr h="369824">
                <a:tc>
                  <a:txBody>
                    <a:bodyPr/>
                    <a:lstStyle/>
                    <a:p>
                      <a:r>
                        <a:rPr sz="1400" b="0" i="0">
                          <a:solidFill>
                            <a:srgbClr val="1A1440"/>
                          </a:solidFill>
                          <a:latin typeface="Calibri"/>
                        </a:rPr>
                        <a:t>4. Which branch moved?</a:t>
                      </a:r>
                    </a:p>
                  </a:txBody>
                  <a:tcPr marL="101600" marR="101600" marT="38100" marB="38100" anchor="ctr">
                    <a:solidFill>
                      <a:srgbClr val="F4F2FA"/>
                    </a:solidFill>
                  </a:tcPr>
                </a:tc>
                <a:tc>
                  <a:txBody>
                    <a:bodyPr/>
                    <a:lstStyle/>
                    <a:p>
                      <a:r>
                        <a:rPr sz="1400" b="0" i="0">
                          <a:solidFill>
                            <a:srgbClr val="1A1440"/>
                          </a:solidFill>
                          <a:latin typeface="Calibri"/>
                        </a:rPr>
                        <a:t>Frequency, 0.780 of Q1; each Retail-Plus member spent 29.4% less</a:t>
                      </a:r>
                    </a:p>
                  </a:txBody>
                  <a:tcPr marL="101600" marR="101600" marT="38100" marB="38100" anchor="ctr">
                    <a:solidFill>
                      <a:srgbClr val="F4F2FA"/>
                    </a:solidFill>
                  </a:tcPr>
                </a:tc>
              </a:tr>
              <a:tr h="369824">
                <a:tc>
                  <a:txBody>
                    <a:bodyPr/>
                    <a:lstStyle/>
                    <a:p>
                      <a:r>
                        <a:rPr sz="1400" b="0" i="0">
                          <a:solidFill>
                            <a:srgbClr val="1A1440"/>
                          </a:solidFill>
                          <a:latin typeface="Calibri"/>
                        </a:rPr>
                        <a:t>5. Does the suite add up?</a:t>
                      </a:r>
                    </a:p>
                  </a:txBody>
                  <a:tcPr marL="101600" marR="101600" marT="38100" marB="38100" anchor="ctr">
                    <a:solidFill>
                      <a:srgbClr val="FFFFFF"/>
                    </a:solidFill>
                  </a:tcPr>
                </a:tc>
                <a:tc>
                  <a:txBody>
                    <a:bodyPr/>
                    <a:lstStyle/>
                    <a:p>
                      <a:r>
                        <a:rPr sz="1400" b="0" i="0">
                          <a:solidFill>
                            <a:srgbClr val="1A1440"/>
                          </a:solidFill>
                          <a:latin typeface="Calibri"/>
                        </a:rPr>
                        <a:t>Segments add to the book; 107 Retail-Plus customers in the half-year, not 167</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Delivered orders only?</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29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Same answer next week?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Will next Monday's run give Anand's analyst the same answer from the same book?</a:t>
            </a:r>
          </a:p>
        </p:txBody>
      </p:sp>
      <p:sp>
        <p:nvSpPr>
          <p:cNvPr id="10" name="Rounded Rectangle 9"/>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Same answer next week?</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Delivered orders only?</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Anand?</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Will next Monday's run give the analyst the same answer?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29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Anand's analyst, tracing five orders against the ERP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reruns the suite every Monday, and which five questions lead to an answer the rerun repeats?</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reruns the suite every Monday and checks five orders against the ERP, the system Finance books orders in. A rerun that disagrees with the team's run on a sample that should be identical, even by a few hundred rupees, makes every number in the suite suspect, because nobody can say whether the book moved or the query did.</a:t>
            </a:r>
          </a:p>
        </p:txBody>
      </p:sp>
      <p:sp>
        <p:nvSpPr>
          <p:cNvPr id="12" name="Rectangle 11"/>
          <p:cNvSpPr/>
          <p:nvPr/>
        </p:nvSpPr>
        <p:spPr>
          <a:xfrm>
            <a:off x="1570299" y="40294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does a run prove itself?</a:t>
            </a:r>
          </a:p>
        </p:txBody>
      </p:sp>
      <p:sp>
        <p:nvSpPr>
          <p:cNvPr id="17" name="TextBox 16"/>
          <p:cNvSpPr txBox="1"/>
          <p:nvPr/>
        </p:nvSpPr>
        <p:spPr>
          <a:xfrm>
            <a:off x="694944" y="4998212"/>
            <a:ext cx="1750710" cy="366776"/>
          </a:xfrm>
          <a:prstGeom prst="rect">
            <a:avLst/>
          </a:prstGeom>
          <a:noFill/>
        </p:spPr>
        <p:txBody>
          <a:bodyPr wrap="square" anchor="t" lIns="0" rIns="0" tIns="0" bIns="0">
            <a:spAutoFit/>
          </a:bodyPr>
          <a:lstStyle/>
          <a:p>
            <a:pPr algn="l"/>
            <a:r>
              <a:rPr sz="1000" b="0" i="0">
                <a:solidFill>
                  <a:srgbClr val="6B6690"/>
                </a:solidFill>
                <a:latin typeface="Calibri"/>
              </a:rPr>
              <a:t>Four ways to tell two runs apart</a:t>
            </a:r>
          </a:p>
        </p:txBody>
      </p:sp>
      <p:sp>
        <p:nvSpPr>
          <p:cNvPr id="18" name="TextBox 17"/>
          <p:cNvSpPr txBox="1"/>
          <p:nvPr/>
        </p:nvSpPr>
        <p:spPr>
          <a:xfrm>
            <a:off x="2793126"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3494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4958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does it leave behind?</a:t>
            </a:r>
          </a:p>
        </p:txBody>
      </p:sp>
      <p:sp>
        <p:nvSpPr>
          <p:cNvPr id="22" name="TextBox 21"/>
          <p:cNvSpPr txBox="1"/>
          <p:nvPr/>
        </p:nvSpPr>
        <p:spPr>
          <a:xfrm>
            <a:off x="2957718" y="4998212"/>
            <a:ext cx="1750710" cy="201676"/>
          </a:xfrm>
          <a:prstGeom prst="rect">
            <a:avLst/>
          </a:prstGeom>
          <a:noFill/>
        </p:spPr>
        <p:txBody>
          <a:bodyPr wrap="square" anchor="t" lIns="0" rIns="0" tIns="0" bIns="0">
            <a:spAutoFit/>
          </a:bodyPr>
          <a:lstStyle/>
          <a:p>
            <a:pPr algn="l"/>
            <a:r>
              <a:rPr sz="1000" b="0" i="0">
                <a:solidFill>
                  <a:srgbClr val="6B6690"/>
                </a:solidFill>
                <a:latin typeface="Calibri"/>
              </a:rPr>
              <a:t>This Monday's fingerprint</a:t>
            </a:r>
          </a:p>
        </p:txBody>
      </p:sp>
      <p:sp>
        <p:nvSpPr>
          <p:cNvPr id="23" name="TextBox 22"/>
          <p:cNvSpPr txBox="1"/>
          <p:nvPr/>
        </p:nvSpPr>
        <p:spPr>
          <a:xfrm>
            <a:off x="5055900"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3494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4958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five orders?</a:t>
            </a:r>
          </a:p>
        </p:txBody>
      </p:sp>
      <p:sp>
        <p:nvSpPr>
          <p:cNvPr id="27" name="TextBox 26"/>
          <p:cNvSpPr txBox="1"/>
          <p:nvPr/>
        </p:nvSpPr>
        <p:spPr>
          <a:xfrm>
            <a:off x="5220492" y="47835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audit sample the analyst traces</a:t>
            </a:r>
          </a:p>
        </p:txBody>
      </p:sp>
      <p:sp>
        <p:nvSpPr>
          <p:cNvPr id="28" name="TextBox 27"/>
          <p:cNvSpPr txBox="1"/>
          <p:nvPr/>
        </p:nvSpPr>
        <p:spPr>
          <a:xfrm>
            <a:off x="7318674"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3494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495800"/>
            <a:ext cx="1750710" cy="465836"/>
          </a:xfrm>
          <a:prstGeom prst="rect">
            <a:avLst/>
          </a:prstGeom>
          <a:noFill/>
        </p:spPr>
        <p:txBody>
          <a:bodyPr wrap="square" anchor="t" lIns="0" rIns="0" tIns="0" bIns="0">
            <a:spAutoFit/>
          </a:bodyPr>
          <a:lstStyle/>
          <a:p>
            <a:pPr algn="l"/>
            <a:r>
              <a:rPr sz="1300" b="1" i="0">
                <a:solidFill>
                  <a:srgbClr val="1A0F5C"/>
                </a:solidFill>
                <a:latin typeface="Calibri"/>
              </a:rPr>
              <a:t>A count with no sort?</a:t>
            </a:r>
          </a:p>
        </p:txBody>
      </p:sp>
      <p:sp>
        <p:nvSpPr>
          <p:cNvPr id="32" name="TextBox 31"/>
          <p:cNvSpPr txBox="1"/>
          <p:nvPr/>
        </p:nvSpPr>
        <p:spPr>
          <a:xfrm>
            <a:off x="7483266" y="4998212"/>
            <a:ext cx="1750710" cy="366776"/>
          </a:xfrm>
          <a:prstGeom prst="rect">
            <a:avLst/>
          </a:prstGeom>
          <a:noFill/>
        </p:spPr>
        <p:txBody>
          <a:bodyPr wrap="square" anchor="t" lIns="0" rIns="0" tIns="0" bIns="0">
            <a:spAutoFit/>
          </a:bodyPr>
          <a:lstStyle/>
          <a:p>
            <a:pPr algn="l"/>
            <a:r>
              <a:rPr sz="1000" b="0" i="0">
                <a:solidFill>
                  <a:srgbClr val="6B6690"/>
                </a:solidFill>
                <a:latin typeface="Calibri"/>
              </a:rPr>
              <a:t>Candidates up to the sample's last id</a:t>
            </a:r>
          </a:p>
        </p:txBody>
      </p:sp>
      <p:sp>
        <p:nvSpPr>
          <p:cNvPr id="33" name="TextBox 32"/>
          <p:cNvSpPr txBox="1"/>
          <p:nvPr/>
        </p:nvSpPr>
        <p:spPr>
          <a:xfrm>
            <a:off x="9581448"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3494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495800"/>
            <a:ext cx="1750710" cy="465836"/>
          </a:xfrm>
          <a:prstGeom prst="rect">
            <a:avLst/>
          </a:prstGeom>
          <a:noFill/>
        </p:spPr>
        <p:txBody>
          <a:bodyPr wrap="square" anchor="t" lIns="0" rIns="0" tIns="0" bIns="0">
            <a:spAutoFit/>
          </a:bodyPr>
          <a:lstStyle/>
          <a:p>
            <a:pPr algn="l"/>
            <a:r>
              <a:rPr sz="1300" b="1" i="0">
                <a:solidFill>
                  <a:srgbClr val="FFFFFF"/>
                </a:solidFill>
                <a:latin typeface="Calibri"/>
              </a:rPr>
              <a:t>What does Anand hear?</a:t>
            </a:r>
          </a:p>
        </p:txBody>
      </p:sp>
      <p:sp>
        <p:nvSpPr>
          <p:cNvPr id="37" name="TextBox 36"/>
          <p:cNvSpPr txBox="1"/>
          <p:nvPr/>
        </p:nvSpPr>
        <p:spPr>
          <a:xfrm>
            <a:off x="9746040" y="4998212"/>
            <a:ext cx="1750710" cy="366776"/>
          </a:xfrm>
          <a:prstGeom prst="rect">
            <a:avLst/>
          </a:prstGeom>
          <a:noFill/>
        </p:spPr>
        <p:txBody>
          <a:bodyPr wrap="square" anchor="t" lIns="0" rIns="0" tIns="0" bIns="0">
            <a:spAutoFit/>
          </a:bodyPr>
          <a:lstStyle/>
          <a:p>
            <a:pPr algn="l"/>
            <a:r>
              <a:rPr sz="1000" b="0" i="0">
                <a:solidFill>
                  <a:srgbClr val="CFC9EE"/>
                </a:solidFill>
                <a:latin typeface="Calibri"/>
              </a:rPr>
              <a:t>The day's answer in one message</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40" name="Oval 3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Delivered orders only?</a:t>
            </a:r>
          </a:p>
        </p:txBody>
      </p:sp>
      <p:sp>
        <p:nvSpPr>
          <p:cNvPr id="42" name="Oval 4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29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a rerun that matches to the rupee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analyst check each Monday, and what does a rerun that differs by a few hundred rupees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Anand's analyst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Reruns the suite every Monday and traces five delivered Q2 app orders against the ERP.</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ingerprint_1e72318ad3f3.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run itself</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What the book held when the suite ran, and which orders the sample drew.</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RERUN THAT DIFFERS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Every number doubted</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Nobody can say whether the book moved or the query did, so nothing on the sheet is signed.</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Delivered orders only?</a:t>
            </a:r>
          </a:p>
        </p:txBody>
      </p:sp>
      <p:sp>
        <p:nvSpPr>
          <p:cNvPr id="31" name="Oval 3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29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Netflix's 2017 pattern: audit each run, then publish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data team built its runs to prove themselves before they are published?</a:t>
            </a:r>
          </a:p>
        </p:txBody>
      </p:sp>
      <p:pic>
        <p:nvPicPr>
          <p:cNvPr id="9" name="mermaid diagram" descr="d0e861d03cb57114.png"/>
          <p:cNvPicPr>
            <a:picLocks noChangeAspect="1"/>
          </p:cNvPicPr>
          <p:nvPr/>
        </p:nvPicPr>
        <p:blipFill>
          <a:blip r:embed="rId5"/>
          <a:stretch>
            <a:fillRect/>
          </a:stretch>
        </p:blipFill>
        <p:spPr>
          <a:xfrm>
            <a:off x="1180947" y="1956816"/>
            <a:ext cx="9829800" cy="2786062"/>
          </a:xfrm>
          <a:prstGeom prst="rect">
            <a:avLst/>
          </a:prstGeom>
        </p:spPr>
      </p:pic>
      <p:sp>
        <p:nvSpPr>
          <p:cNvPr id="10" name="TextBox 9"/>
          <p:cNvSpPr txBox="1"/>
          <p:nvPr/>
        </p:nvSpPr>
        <p:spPr>
          <a:xfrm>
            <a:off x="530352" y="488918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Netflix's data engineering team called the pattern write, audit, publish: each run is written to an audit table, checked against the runs before it, and published only when the checks set to fail it pass.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Delivered orders only?</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29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fingerprint: 7 numbers, and read access is enough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a run show that it computed the same thing as last week's?</a:t>
            </a:r>
          </a:p>
        </p:txBody>
      </p:sp>
      <p:graphicFrame>
        <p:nvGraphicFramePr>
          <p:cNvPr id="9" name="Table 8"/>
          <p:cNvGraphicFramePr>
            <a:graphicFrameLocks noGrp="1"/>
          </p:cNvGraphicFramePr>
          <p:nvPr/>
        </p:nvGraphicFramePr>
        <p:xfrm>
          <a:off x="530352" y="1956816"/>
          <a:ext cx="11130989" cy="2298192"/>
        </p:xfrm>
        <a:graphic>
          <a:graphicData uri="http://schemas.openxmlformats.org/drawingml/2006/table">
            <a:tbl>
              <a:tblPr firstRow="0" bandRow="0">
                <a:tableStyleId>{2D5ABB26-0587-4C30-8999-92F81FD0307C}</a:tableStyleId>
              </a:tblPr>
              <a:tblGrid>
                <a:gridCol w="3572024"/>
                <a:gridCol w="1921718"/>
                <a:gridCol w="2495737"/>
                <a:gridCol w="3141510"/>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Stored with each run</a:t>
                      </a:r>
                    </a:p>
                  </a:txBody>
                  <a:tcPr marL="101600" marR="101600" marT="38100" marB="38100" anchor="ctr">
                    <a:solidFill>
                      <a:srgbClr val="1A0F5C"/>
                    </a:solidFill>
                  </a:tcPr>
                </a:tc>
                <a:tc>
                  <a:txBody>
                    <a:bodyPr/>
                    <a:lstStyle/>
                    <a:p>
                      <a:r>
                        <a:rPr sz="1250" b="1" i="0">
                          <a:solidFill>
                            <a:srgbClr val="FFFFFF"/>
                          </a:solidFill>
                          <a:latin typeface="Calibri"/>
                        </a:rPr>
                        <a:t>Access it needs</a:t>
                      </a:r>
                    </a:p>
                  </a:txBody>
                  <a:tcPr marL="101600" marR="101600" marT="38100" marB="38100" anchor="ctr">
                    <a:solidFill>
                      <a:srgbClr val="1A0F5C"/>
                    </a:solidFill>
                  </a:tcPr>
                </a:tc>
                <a:tc>
                  <a:txBody>
                    <a:bodyPr/>
                    <a:lstStyle/>
                    <a:p>
                      <a:r>
                        <a:rPr sz="1250" b="1" i="0">
                          <a:solidFill>
                            <a:srgbClr val="FFFFFF"/>
                          </a:solidFill>
                          <a:latin typeface="Calibri"/>
                        </a:rPr>
                        <a:t>What it can tell apart</a:t>
                      </a:r>
                    </a:p>
                  </a:txBody>
                  <a:tcPr marL="101600" marR="101600" marT="38100" marB="38100" anchor="ctr">
                    <a:solidFill>
                      <a:srgbClr val="1A0F5C"/>
                    </a:solidFill>
                  </a:tcPr>
                </a:tc>
              </a:tr>
              <a:tr h="335280">
                <a:tc>
                  <a:txBody>
                    <a:bodyPr/>
                    <a:lstStyle/>
                    <a:p>
                      <a:r>
                        <a:rPr sz="1200" b="0" i="0">
                          <a:solidFill>
                            <a:srgbClr val="1A1440"/>
                          </a:solidFill>
                          <a:latin typeface="Calibri"/>
                        </a:rPr>
                        <a:t>A. Rerun and compare by eye</a:t>
                      </a:r>
                    </a:p>
                  </a:txBody>
                  <a:tcPr marL="101600" marR="101600" marT="38100" marB="38100" anchor="ctr">
                    <a:solidFill>
                      <a:srgbClr val="FFFFFF"/>
                    </a:solidFill>
                  </a:tcPr>
                </a:tc>
                <a:tc>
                  <a:txBody>
                    <a:bodyPr/>
                    <a:lstStyle/>
                    <a:p>
                      <a:r>
                        <a:rPr sz="1200" b="0" i="0">
                          <a:solidFill>
                            <a:srgbClr val="1A1440"/>
                          </a:solidFill>
                          <a:latin typeface="Calibri"/>
                        </a:rPr>
                        <a:t>Nothing</a:t>
                      </a:r>
                    </a:p>
                  </a:txBody>
                  <a:tcPr marL="101600" marR="101600" marT="38100" marB="38100" anchor="ctr">
                    <a:solidFill>
                      <a:srgbClr val="FFFFFF"/>
                    </a:solidFill>
                  </a:tcPr>
                </a:tc>
                <a:tc>
                  <a:txBody>
                    <a:bodyPr/>
                    <a:lstStyle/>
                    <a:p>
                      <a:r>
                        <a:rPr sz="1200" b="0" i="0">
                          <a:solidFill>
                            <a:srgbClr val="1A1440"/>
                          </a:solidFill>
                          <a:latin typeface="Calibri"/>
                        </a:rPr>
                        <a:t>Read</a:t>
                      </a:r>
                    </a:p>
                  </a:txBody>
                  <a:tcPr marL="101600" marR="101600" marT="38100" marB="38100" anchor="ctr">
                    <a:solidFill>
                      <a:srgbClr val="FFFFFF"/>
                    </a:solidFill>
                  </a:tcPr>
                </a:tc>
                <a:tc>
                  <a:txBody>
                    <a:bodyPr/>
                    <a:lstStyle/>
                    <a:p>
                      <a:r>
                        <a:rPr sz="1200" b="0" i="0">
                          <a:solidFill>
                            <a:srgbClr val="1A1440"/>
                          </a:solidFill>
                          <a:latin typeface="Calibri"/>
                        </a:rPr>
                        <a:t>Whatever someone happens to notice</a:t>
                      </a:r>
                    </a:p>
                  </a:txBody>
                  <a:tcPr marL="101600" marR="101600" marT="38100" marB="38100" anchor="ctr">
                    <a:solidFill>
                      <a:srgbClr val="FFFFFF"/>
                    </a:solidFill>
                  </a:tcPr>
                </a:tc>
              </a:tr>
              <a:tr h="542544">
                <a:tc>
                  <a:txBody>
                    <a:bodyPr/>
                    <a:lstStyle/>
                    <a:p>
                      <a:r>
                        <a:rPr sz="1200" b="0" i="0">
                          <a:solidFill>
                            <a:srgbClr val="1A1440"/>
                          </a:solidFill>
                          <a:latin typeface="Calibri"/>
                        </a:rPr>
                        <a:t>B. A fingerprint block that runs with the suite</a:t>
                      </a:r>
                    </a:p>
                  </a:txBody>
                  <a:tcPr marL="101600" marR="101600" marT="38100" marB="38100" anchor="ctr">
                    <a:solidFill>
                      <a:srgbClr val="F4F2FA"/>
                    </a:solidFill>
                  </a:tcPr>
                </a:tc>
                <a:tc>
                  <a:txBody>
                    <a:bodyPr/>
                    <a:lstStyle/>
                    <a:p>
                      <a:r>
                        <a:rPr sz="1200" b="0" i="0">
                          <a:solidFill>
                            <a:srgbClr val="1A1440"/>
                          </a:solidFill>
                          <a:latin typeface="Calibri"/>
                        </a:rPr>
                        <a:t>7 numbers about the book</a:t>
                      </a:r>
                    </a:p>
                  </a:txBody>
                  <a:tcPr marL="101600" marR="101600" marT="38100" marB="38100" anchor="ctr">
                    <a:solidFill>
                      <a:srgbClr val="F4F2FA"/>
                    </a:solidFill>
                  </a:tcPr>
                </a:tc>
                <a:tc>
                  <a:txBody>
                    <a:bodyPr/>
                    <a:lstStyle/>
                    <a:p>
                      <a:r>
                        <a:rPr sz="1200" b="0" i="0">
                          <a:solidFill>
                            <a:srgbClr val="1A1440"/>
                          </a:solidFill>
                          <a:latin typeface="Calibri"/>
                        </a:rPr>
                        <a:t>Read</a:t>
                      </a:r>
                    </a:p>
                  </a:txBody>
                  <a:tcPr marL="101600" marR="101600" marT="38100" marB="38100" anchor="ctr">
                    <a:solidFill>
                      <a:srgbClr val="F4F2FA"/>
                    </a:solidFill>
                  </a:tcPr>
                </a:tc>
                <a:tc>
                  <a:txBody>
                    <a:bodyPr/>
                    <a:lstStyle/>
                    <a:p>
                      <a:r>
                        <a:rPr sz="1200" b="0" i="0">
                          <a:solidFill>
                            <a:srgbClr val="1A1440"/>
                          </a:solidFill>
                          <a:latin typeface="Calibri"/>
                        </a:rPr>
                        <a:t>A changed book from a changed query</a:t>
                      </a:r>
                    </a:p>
                  </a:txBody>
                  <a:tcPr marL="101600" marR="101600" marT="38100" marB="38100" anchor="ctr">
                    <a:solidFill>
                      <a:srgbClr val="F4F2FA"/>
                    </a:solidFill>
                  </a:tcPr>
                </a:tc>
              </a:tr>
              <a:tr h="542544">
                <a:tc>
                  <a:txBody>
                    <a:bodyPr/>
                    <a:lstStyle/>
                    <a:p>
                      <a:r>
                        <a:rPr sz="1200" b="0" i="0">
                          <a:solidFill>
                            <a:srgbClr val="1A1440"/>
                          </a:solidFill>
                          <a:latin typeface="Calibri"/>
                        </a:rPr>
                        <a:t>C. Snapshot each Monday's outputs into a table</a:t>
                      </a:r>
                    </a:p>
                  </a:txBody>
                  <a:tcPr marL="101600" marR="101600" marT="38100" marB="38100" anchor="ctr">
                    <a:solidFill>
                      <a:srgbClr val="FFFFFF"/>
                    </a:solidFill>
                  </a:tcPr>
                </a:tc>
                <a:tc>
                  <a:txBody>
                    <a:bodyPr/>
                    <a:lstStyle/>
                    <a:p>
                      <a:r>
                        <a:rPr sz="1200" b="0" i="0">
                          <a:solidFill>
                            <a:srgbClr val="1A1440"/>
                          </a:solidFill>
                          <a:latin typeface="Calibri"/>
                        </a:rPr>
                        <a:t>18 rows a Monday</a:t>
                      </a:r>
                    </a:p>
                  </a:txBody>
                  <a:tcPr marL="101600" marR="101600" marT="38100" marB="38100" anchor="ctr">
                    <a:solidFill>
                      <a:srgbClr val="FFFFFF"/>
                    </a:solidFill>
                  </a:tcPr>
                </a:tc>
                <a:tc>
                  <a:txBody>
                    <a:bodyPr/>
                    <a:lstStyle/>
                    <a:p>
                      <a:r>
                        <a:rPr sz="1200" b="0" i="0">
                          <a:solidFill>
                            <a:srgbClr val="1A1440"/>
                          </a:solidFill>
                          <a:latin typeface="Calibri"/>
                        </a:rPr>
                        <a:t>Write, to a schema the team owns</a:t>
                      </a:r>
                    </a:p>
                  </a:txBody>
                  <a:tcPr marL="101600" marR="101600" marT="38100" marB="38100" anchor="ctr">
                    <a:solidFill>
                      <a:srgbClr val="FFFFFF"/>
                    </a:solidFill>
                  </a:tcPr>
                </a:tc>
                <a:tc>
                  <a:txBody>
                    <a:bodyPr/>
                    <a:lstStyle/>
                    <a:p>
                      <a:r>
                        <a:rPr sz="1200" b="0" i="0">
                          <a:solidFill>
                            <a:srgbClr val="1A1440"/>
                          </a:solidFill>
                          <a:latin typeface="Calibri"/>
                        </a:rPr>
                        <a:t>What changed in any output, row by row</a:t>
                      </a:r>
                    </a:p>
                  </a:txBody>
                  <a:tcPr marL="101600" marR="101600" marT="38100" marB="38100" anchor="ctr">
                    <a:solidFill>
                      <a:srgbClr val="FFFFFF"/>
                    </a:solidFill>
                  </a:tcPr>
                </a:tc>
              </a:tr>
              <a:tr h="542544">
                <a:tc>
                  <a:txBody>
                    <a:bodyPr/>
                    <a:lstStyle/>
                    <a:p>
                      <a:r>
                        <a:rPr sz="1200" b="0" i="0">
                          <a:solidFill>
                            <a:srgbClr val="1A1440"/>
                          </a:solidFill>
                          <a:latin typeface="Calibri"/>
                        </a:rPr>
                        <a:t>D. Write, audit, publish</a:t>
                      </a:r>
                    </a:p>
                  </a:txBody>
                  <a:tcPr marL="101600" marR="101600" marT="38100" marB="38100" anchor="ctr">
                    <a:solidFill>
                      <a:srgbClr val="F4F2FA"/>
                    </a:solidFill>
                  </a:tcPr>
                </a:tc>
                <a:tc>
                  <a:txBody>
                    <a:bodyPr/>
                    <a:lstStyle/>
                    <a:p>
                      <a:r>
                        <a:rPr sz="1200" b="0" i="0">
                          <a:solidFill>
                            <a:srgbClr val="1A1440"/>
                          </a:solidFill>
                          <a:latin typeface="Calibri"/>
                        </a:rPr>
                        <a:t>A staging table per run</a:t>
                      </a:r>
                    </a:p>
                  </a:txBody>
                  <a:tcPr marL="101600" marR="101600" marT="38100" marB="38100" anchor="ctr">
                    <a:solidFill>
                      <a:srgbClr val="F4F2FA"/>
                    </a:solidFill>
                  </a:tcPr>
                </a:tc>
                <a:tc>
                  <a:txBody>
                    <a:bodyPr/>
                    <a:lstStyle/>
                    <a:p>
                      <a:r>
                        <a:rPr sz="1200" b="0" i="0">
                          <a:solidFill>
                            <a:srgbClr val="1A1440"/>
                          </a:solidFill>
                          <a:latin typeface="Calibri"/>
                        </a:rPr>
                        <a:t>Write, and a scheduler</a:t>
                      </a:r>
                    </a:p>
                  </a:txBody>
                  <a:tcPr marL="101600" marR="101600" marT="38100" marB="38100" anchor="ctr">
                    <a:solidFill>
                      <a:srgbClr val="F4F2FA"/>
                    </a:solidFill>
                  </a:tcPr>
                </a:tc>
                <a:tc>
                  <a:txBody>
                    <a:bodyPr/>
                    <a:lstStyle/>
                    <a:p>
                      <a:r>
                        <a:rPr sz="1200" b="0" i="0">
                          <a:solidFill>
                            <a:srgbClr val="1A1440"/>
                          </a:solidFill>
                          <a:latin typeface="Calibri"/>
                        </a:rPr>
                        <a:t>A bad run, stopped before anyone reads it</a:t>
                      </a:r>
                    </a:p>
                  </a:txBody>
                  <a:tcPr marL="101600" marR="101600" marT="38100" marB="38100" anchor="ctr">
                    <a:solidFill>
                      <a:srgbClr val="F4F2FA"/>
                    </a:solidFill>
                  </a:tcPr>
                </a:tc>
              </a:tr>
            </a:tbl>
          </a:graphicData>
        </a:graphic>
      </p:graphicFrame>
      <p:sp>
        <p:nvSpPr>
          <p:cNvPr id="10" name="Rounded Rectangle 9"/>
          <p:cNvSpPr/>
          <p:nvPr/>
        </p:nvSpPr>
        <p:spPr>
          <a:xfrm>
            <a:off x="530352" y="451104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3905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29912"/>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with an ORDER BY on a unique column in every list: the team has read access, which rules out C and D, and B answers the analyst's first question.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Delivered orders only?</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29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schema of the team's own would switch it to 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fact would move the call away from a fingerprint?</a:t>
            </a:r>
          </a:p>
        </p:txBody>
      </p:sp>
      <p:pic>
        <p:nvPicPr>
          <p:cNvPr id="9" name="mermaid diagram" descr="76ef3f8a0b221813.png"/>
          <p:cNvPicPr>
            <a:picLocks noChangeAspect="1"/>
          </p:cNvPicPr>
          <p:nvPr/>
        </p:nvPicPr>
        <p:blipFill>
          <a:blip r:embed="rId5"/>
          <a:stretch>
            <a:fillRect/>
          </a:stretch>
        </p:blipFill>
        <p:spPr>
          <a:xfrm>
            <a:off x="573728" y="1949577"/>
            <a:ext cx="11044237" cy="3028950"/>
          </a:xfrm>
          <a:prstGeom prst="rect">
            <a:avLst/>
          </a:prstGeom>
        </p:spPr>
      </p:pic>
      <p:sp>
        <p:nvSpPr>
          <p:cNvPr id="10" name="Rounded Rectangle 9"/>
          <p:cNvSpPr/>
          <p:nvPr/>
        </p:nvSpPr>
        <p:spPr>
          <a:xfrm>
            <a:off x="530352" y="5124831"/>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252847"/>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243703"/>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Once the platform lead grants a schema the team can write to, D runs the audit before the numbers are released, which beats finding the problem after Anand has read them.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Delivered orders only?</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a reload move the fingerprint?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Overnight the warehouse reloads two order rows with the values they already hold: does the fingerprint change?</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'orders' AS table_name, count(*) AS rows, sum(amount) AS rupees,</a:t>
            </a:r>
          </a:p>
          <a:p>
            <a:pPr>
              <a:spcAft>
                <a:spcPts val="200"/>
              </a:spcAft>
            </a:pPr>
            <a:r>
              <a:rPr sz="1400" b="0" i="0">
                <a:solidFill>
                  <a:srgbClr val="E4E1F1"/>
                </a:solidFill>
                <a:latin typeface="Consolas"/>
              </a:rPr>
              <a:t>       count(DISTINCT customer_id) AS distinct_customers,</a:t>
            </a:r>
          </a:p>
          <a:p>
            <a:pPr>
              <a:spcAft>
                <a:spcPts val="200"/>
              </a:spcAft>
            </a:pPr>
            <a:r>
              <a:rPr sz="1400" b="0" i="0">
                <a:solidFill>
                  <a:srgbClr val="E4E1F1"/>
                </a:solidFill>
                <a:latin typeface="Consolas"/>
              </a:rPr>
              <a:t>       max(order_date) AS latest_date</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UNION ALL</a:t>
            </a:r>
          </a:p>
          <a:p>
            <a:pPr>
              <a:spcAft>
                <a:spcPts val="200"/>
              </a:spcAft>
            </a:pPr>
            <a:r>
              <a:rPr sz="1400" b="0" i="0">
                <a:solidFill>
                  <a:srgbClr val="E4E1F1"/>
                </a:solidFill>
                <a:latin typeface="Consolas"/>
              </a:rPr>
              <a:t>SELECT 'customers', count(*), NULL, count(DISTINCT customer_id), max(joined_date)</a:t>
            </a:r>
          </a:p>
          <a:p>
            <a:pPr>
              <a:spcAft>
                <a:spcPts val="200"/>
              </a:spcAft>
            </a:pPr>
            <a:r>
              <a:rPr sz="1400" b="0" i="0">
                <a:solidFill>
                  <a:srgbClr val="E4E1F1"/>
                </a:solidFill>
                <a:latin typeface="Consolas"/>
              </a:rPr>
              <a:t>FROM   customers;</a:t>
            </a:r>
          </a:p>
        </p:txBody>
      </p:sp>
      <p:sp>
        <p:nvSpPr>
          <p:cNvPr id="14" name="Rounded Rectangle 13"/>
          <p:cNvSpPr/>
          <p:nvPr/>
        </p:nvSpPr>
        <p:spPr>
          <a:xfrm>
            <a:off x="530352" y="4345939"/>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473955"/>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464811"/>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Does the fingerprint change? a) yes, two rows were written, so the row count moves; b) yes, the rupees move, since the rows were rewritten; c) no, the rows, the rupees and the customers are all the same; d) it cannot be read during a reload.</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Delivered orders only?</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29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1,000 rows, Rs 19.84 crore, 301 buyers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fingerprint does this Monday's run leave?</a:t>
            </a:r>
          </a:p>
        </p:txBody>
      </p:sp>
      <p:sp>
        <p:nvSpPr>
          <p:cNvPr id="9" name="TextBox 8"/>
          <p:cNvSpPr txBox="1"/>
          <p:nvPr/>
        </p:nvSpPr>
        <p:spPr>
          <a:xfrm>
            <a:off x="530352"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1,000</a:t>
            </a:r>
          </a:p>
        </p:txBody>
      </p:sp>
      <p:sp>
        <p:nvSpPr>
          <p:cNvPr id="10" name="TextBox 9"/>
          <p:cNvSpPr txBox="1"/>
          <p:nvPr/>
        </p:nvSpPr>
        <p:spPr>
          <a:xfrm>
            <a:off x="530352"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 ROWS</a:t>
            </a:r>
          </a:p>
        </p:txBody>
      </p:sp>
      <p:sp>
        <p:nvSpPr>
          <p:cNvPr id="11" name="TextBox 10"/>
          <p:cNvSpPr txBox="1"/>
          <p:nvPr/>
        </p:nvSpPr>
        <p:spPr>
          <a:xfrm>
            <a:off x="530352"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before and after the reload</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Rs 19.84 cr</a:t>
            </a:r>
          </a:p>
        </p:txBody>
      </p:sp>
      <p:sp>
        <p:nvSpPr>
          <p:cNvPr id="14" name="TextBox 13"/>
          <p:cNvSpPr txBox="1"/>
          <p:nvPr/>
        </p:nvSpPr>
        <p:spPr>
          <a:xfrm>
            <a:off x="3381679"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RUPEES ON THE BOOK</a:t>
            </a:r>
          </a:p>
        </p:txBody>
      </p:sp>
      <p:sp>
        <p:nvSpPr>
          <p:cNvPr id="15" name="TextBox 14"/>
          <p:cNvSpPr txBox="1"/>
          <p:nvPr/>
        </p:nvSpPr>
        <p:spPr>
          <a:xfrm>
            <a:off x="3381679"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Rs 19,84,00,000, Q1 and Q2 together</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301</a:t>
            </a:r>
          </a:p>
        </p:txBody>
      </p:sp>
      <p:sp>
        <p:nvSpPr>
          <p:cNvPr id="18" name="TextBox 17"/>
          <p:cNvSpPr txBox="1"/>
          <p:nvPr/>
        </p:nvSpPr>
        <p:spPr>
          <a:xfrm>
            <a:off x="6233007"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DISTINCT CUSTOMERS</a:t>
            </a:r>
          </a:p>
        </p:txBody>
      </p:sp>
      <p:sp>
        <p:nvSpPr>
          <p:cNvPr id="19" name="TextBox 18"/>
          <p:cNvSpPr txBox="1"/>
          <p:nvPr/>
        </p:nvSpPr>
        <p:spPr>
          <a:xfrm>
            <a:off x="6233007"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who bought in either quarter</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340</a:t>
            </a:r>
          </a:p>
        </p:txBody>
      </p:sp>
      <p:sp>
        <p:nvSpPr>
          <p:cNvPr id="22" name="TextBox 21"/>
          <p:cNvSpPr txBox="1"/>
          <p:nvPr/>
        </p:nvSpPr>
        <p:spPr>
          <a:xfrm>
            <a:off x="9084335"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CUSTOMER ROWS</a:t>
            </a:r>
          </a:p>
        </p:txBody>
      </p:sp>
      <p:sp>
        <p:nvSpPr>
          <p:cNvPr id="23" name="TextBox 22"/>
          <p:cNvSpPr txBox="1"/>
          <p:nvPr/>
        </p:nvSpPr>
        <p:spPr>
          <a:xfrm>
            <a:off x="9084335"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customers on the customer table</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The reload rewrote two rows with their own values, so whatever differs between two runs after it cannot be the book.</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Delivered orders only?</a:t>
            </a:r>
          </a:p>
        </p:txBody>
      </p:sp>
      <p:sp>
        <p:nvSpPr>
          <p:cNvPr id="30" name="Oval 2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29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five orders does LIMIT 5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analyst traces five delivered Q2 app orders: which five does the quickest query return?</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order_id, amount FROM orders</a:t>
            </a:r>
          </a:p>
          <a:p>
            <a:pPr>
              <a:spcAft>
                <a:spcPts val="200"/>
              </a:spcAft>
            </a:pPr>
            <a:r>
              <a:rPr sz="1400" b="0" i="0">
                <a:solidFill>
                  <a:srgbClr val="E4E1F1"/>
                </a:solidFill>
                <a:latin typeface="Consolas"/>
              </a:rPr>
              <a:t>WHERE  quarter = 'Q2' AND channel = 'app' AND status = 'delivered'</a:t>
            </a:r>
          </a:p>
          <a:p>
            <a:pPr>
              <a:spcAft>
                <a:spcPts val="200"/>
              </a:spcAft>
            </a:pPr>
            <a:r>
              <a:rPr sz="1400" b="0" i="0">
                <a:solidFill>
                  <a:srgbClr val="E4E1F1"/>
                </a:solidFill>
                <a:latin typeface="Consolas"/>
              </a:rPr>
              <a:t>LIMIT  5;</a:t>
            </a:r>
          </a:p>
        </p:txBody>
      </p:sp>
      <p:sp>
        <p:nvSpPr>
          <p:cNvPr id="14" name="Rounded Rectangle 13"/>
          <p:cNvSpPr/>
          <p:nvPr/>
        </p:nvSpPr>
        <p:spPr>
          <a:xfrm>
            <a:off x="530352" y="333603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With no ORDER BY, which five rows come back? a) the five with the smallest order ids; b) the five most recent orders; c) whichever five the database reaches first, which can change between runs; d) five chosen at random on every run.</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Delivered orders only?</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29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690 apart, 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the analyst reruns the same query after the reload?</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4540273"/>
                <a:gridCol w="914400"/>
                <a:gridCol w="4761917"/>
                <a:gridCol w="914400"/>
              </a:tblGrid>
              <a:tr h="335280">
                <a:tc>
                  <a:txBody>
                    <a:bodyPr/>
                    <a:lstStyle/>
                    <a:p>
                      <a:r>
                        <a:rPr sz="1250" b="1" i="0">
                          <a:solidFill>
                            <a:srgbClr val="FFFFFF"/>
                          </a:solidFill>
                          <a:latin typeface="Calibri"/>
                        </a:rPr>
                        <a:t>Your run on Monday</a:t>
                      </a:r>
                    </a:p>
                  </a:txBody>
                  <a:tcPr marL="101600" marR="101600" marT="38100" marB="38100" anchor="ctr">
                    <a:solidFill>
                      <a:srgbClr val="1A0F5C"/>
                    </a:solidFill>
                  </a:tcPr>
                </a:tc>
                <a:tc>
                  <a:txBody>
                    <a:bodyPr/>
                    <a:lstStyle/>
                    <a:p>
                      <a:r>
                        <a:rPr sz="1250" b="1" i="0">
                          <a:solidFill>
                            <a:srgbClr val="FFFFFF"/>
                          </a:solidFill>
                          <a:latin typeface="Calibri"/>
                        </a:rPr>
                        <a:t>Amount</a:t>
                      </a:r>
                    </a:p>
                  </a:txBody>
                  <a:tcPr marL="101600" marR="101600" marT="38100" marB="38100" anchor="ctr">
                    <a:solidFill>
                      <a:srgbClr val="1A0F5C"/>
                    </a:solidFill>
                  </a:tcPr>
                </a:tc>
                <a:tc>
                  <a:txBody>
                    <a:bodyPr/>
                    <a:lstStyle/>
                    <a:p>
                      <a:r>
                        <a:rPr sz="1250" b="1" i="0">
                          <a:solidFill>
                            <a:srgbClr val="FFFFFF"/>
                          </a:solidFill>
                          <a:latin typeface="Calibri"/>
                        </a:rPr>
                        <a:t>The analyst's rerun</a:t>
                      </a:r>
                    </a:p>
                  </a:txBody>
                  <a:tcPr marL="101600" marR="101600" marT="38100" marB="38100" anchor="ctr">
                    <a:solidFill>
                      <a:srgbClr val="1A0F5C"/>
                    </a:solidFill>
                  </a:tcPr>
                </a:tc>
                <a:tc>
                  <a:txBody>
                    <a:bodyPr/>
                    <a:lstStyle/>
                    <a:p>
                      <a:r>
                        <a:rPr sz="1250" b="1" i="0">
                          <a:solidFill>
                            <a:srgbClr val="FFFFFF"/>
                          </a:solidFill>
                          <a:latin typeface="Calibri"/>
                        </a:rPr>
                        <a:t>Amount</a:t>
                      </a:r>
                    </a:p>
                  </a:txBody>
                  <a:tcPr marL="101600" marR="101600" marT="38100" marB="38100" anchor="ctr">
                    <a:solidFill>
                      <a:srgbClr val="1A0F5C"/>
                    </a:solidFill>
                  </a:tcPr>
                </a:tc>
              </a:tr>
              <a:tr h="335280">
                <a:tc>
                  <a:txBody>
                    <a:bodyPr/>
                    <a:lstStyle/>
                    <a:p>
                      <a:r>
                        <a:rPr sz="1200" b="0" i="0">
                          <a:solidFill>
                            <a:srgbClr val="1A1440"/>
                          </a:solidFill>
                          <a:latin typeface="Calibri"/>
                        </a:rPr>
                        <a:t>KR-00542</a:t>
                      </a:r>
                    </a:p>
                  </a:txBody>
                  <a:tcPr marL="101600" marR="101600" marT="38100" marB="38100" anchor="ctr">
                    <a:solidFill>
                      <a:srgbClr val="FFFFFF"/>
                    </a:solidFill>
                  </a:tcPr>
                </a:tc>
                <a:tc>
                  <a:txBody>
                    <a:bodyPr/>
                    <a:lstStyle/>
                    <a:p>
                      <a:r>
                        <a:rPr sz="1200" b="0" i="0">
                          <a:solidFill>
                            <a:srgbClr val="1A1440"/>
                          </a:solidFill>
                          <a:latin typeface="Calibri"/>
                        </a:rPr>
                        <a:t>Rs 790</a:t>
                      </a:r>
                    </a:p>
                  </a:txBody>
                  <a:tcPr marL="101600" marR="101600" marT="38100" marB="38100" anchor="ctr">
                    <a:solidFill>
                      <a:srgbClr val="FFFFFF"/>
                    </a:solidFill>
                  </a:tcPr>
                </a:tc>
                <a:tc>
                  <a:txBody>
                    <a:bodyPr/>
                    <a:lstStyle/>
                    <a:p>
                      <a:r>
                        <a:rPr sz="1200" b="0" i="0">
                          <a:solidFill>
                            <a:srgbClr val="1A1440"/>
                          </a:solidFill>
                          <a:latin typeface="Calibri"/>
                        </a:rPr>
                        <a:t>KR-00545</a:t>
                      </a:r>
                    </a:p>
                  </a:txBody>
                  <a:tcPr marL="101600" marR="101600" marT="38100" marB="38100" anchor="ctr">
                    <a:solidFill>
                      <a:srgbClr val="FFFFFF"/>
                    </a:solidFill>
                  </a:tcPr>
                </a:tc>
                <a:tc>
                  <a:txBody>
                    <a:bodyPr/>
                    <a:lstStyle/>
                    <a:p>
                      <a:r>
                        <a:rPr sz="1200" b="0" i="0">
                          <a:solidFill>
                            <a:srgbClr val="1A1440"/>
                          </a:solidFill>
                          <a:latin typeface="Calibri"/>
                        </a:rPr>
                        <a:t>Rs 680</a:t>
                      </a:r>
                    </a:p>
                  </a:txBody>
                  <a:tcPr marL="101600" marR="101600" marT="38100" marB="38100" anchor="ctr">
                    <a:solidFill>
                      <a:srgbClr val="FFFFFF"/>
                    </a:solidFill>
                  </a:tcPr>
                </a:tc>
              </a:tr>
              <a:tr h="335280">
                <a:tc>
                  <a:txBody>
                    <a:bodyPr/>
                    <a:lstStyle/>
                    <a:p>
                      <a:r>
                        <a:rPr sz="1200" b="0" i="0">
                          <a:solidFill>
                            <a:srgbClr val="1A1440"/>
                          </a:solidFill>
                          <a:latin typeface="Calibri"/>
                        </a:rPr>
                        <a:t>KR-00544</a:t>
                      </a:r>
                    </a:p>
                  </a:txBody>
                  <a:tcPr marL="101600" marR="101600" marT="38100" marB="38100" anchor="ctr">
                    <a:solidFill>
                      <a:srgbClr val="F4F2FA"/>
                    </a:solidFill>
                  </a:tcPr>
                </a:tc>
                <a:tc>
                  <a:txBody>
                    <a:bodyPr/>
                    <a:lstStyle/>
                    <a:p>
                      <a:r>
                        <a:rPr sz="1200" b="0" i="0">
                          <a:solidFill>
                            <a:srgbClr val="1A1440"/>
                          </a:solidFill>
                          <a:latin typeface="Calibri"/>
                        </a:rPr>
                        <a:t>Rs 960</a:t>
                      </a:r>
                    </a:p>
                  </a:txBody>
                  <a:tcPr marL="101600" marR="101600" marT="38100" marB="38100" anchor="ctr">
                    <a:solidFill>
                      <a:srgbClr val="F4F2FA"/>
                    </a:solidFill>
                  </a:tcPr>
                </a:tc>
                <a:tc>
                  <a:txBody>
                    <a:bodyPr/>
                    <a:lstStyle/>
                    <a:p>
                      <a:r>
                        <a:rPr sz="1200" b="0" i="0">
                          <a:solidFill>
                            <a:srgbClr val="1A1440"/>
                          </a:solidFill>
                          <a:latin typeface="Calibri"/>
                        </a:rPr>
                        <a:t>KR-00546</a:t>
                      </a:r>
                    </a:p>
                  </a:txBody>
                  <a:tcPr marL="101600" marR="101600" marT="38100" marB="38100" anchor="ctr">
                    <a:solidFill>
                      <a:srgbClr val="F4F2FA"/>
                    </a:solidFill>
                  </a:tcPr>
                </a:tc>
                <a:tc>
                  <a:txBody>
                    <a:bodyPr/>
                    <a:lstStyle/>
                    <a:p>
                      <a:r>
                        <a:rPr sz="1200" b="0" i="0">
                          <a:solidFill>
                            <a:srgbClr val="1A1440"/>
                          </a:solidFill>
                          <a:latin typeface="Calibri"/>
                        </a:rPr>
                        <a:t>Rs 500</a:t>
                      </a:r>
                    </a:p>
                  </a:txBody>
                  <a:tcPr marL="101600" marR="101600" marT="38100" marB="38100" anchor="ctr">
                    <a:solidFill>
                      <a:srgbClr val="F4F2FA"/>
                    </a:solidFill>
                  </a:tcPr>
                </a:tc>
              </a:tr>
              <a:tr h="335280">
                <a:tc>
                  <a:txBody>
                    <a:bodyPr/>
                    <a:lstStyle/>
                    <a:p>
                      <a:r>
                        <a:rPr sz="1200" b="0" i="0">
                          <a:solidFill>
                            <a:srgbClr val="1A1440"/>
                          </a:solidFill>
                          <a:latin typeface="Calibri"/>
                        </a:rPr>
                        <a:t>KR-00545</a:t>
                      </a:r>
                    </a:p>
                  </a:txBody>
                  <a:tcPr marL="101600" marR="101600" marT="38100" marB="38100" anchor="ctr">
                    <a:solidFill>
                      <a:srgbClr val="FFFFFF"/>
                    </a:solidFill>
                  </a:tcPr>
                </a:tc>
                <a:tc>
                  <a:txBody>
                    <a:bodyPr/>
                    <a:lstStyle/>
                    <a:p>
                      <a:r>
                        <a:rPr sz="1200" b="0" i="0">
                          <a:solidFill>
                            <a:srgbClr val="1A1440"/>
                          </a:solidFill>
                          <a:latin typeface="Calibri"/>
                        </a:rPr>
                        <a:t>Rs 680</a:t>
                      </a:r>
                    </a:p>
                  </a:txBody>
                  <a:tcPr marL="101600" marR="101600" marT="38100" marB="38100" anchor="ctr">
                    <a:solidFill>
                      <a:srgbClr val="FFFFFF"/>
                    </a:solidFill>
                  </a:tcPr>
                </a:tc>
                <a:tc>
                  <a:txBody>
                    <a:bodyPr/>
                    <a:lstStyle/>
                    <a:p>
                      <a:r>
                        <a:rPr sz="1200" b="0" i="0">
                          <a:solidFill>
                            <a:srgbClr val="1A1440"/>
                          </a:solidFill>
                          <a:latin typeface="Calibri"/>
                        </a:rPr>
                        <a:t>KR-00547</a:t>
                      </a:r>
                    </a:p>
                  </a:txBody>
                  <a:tcPr marL="101600" marR="101600" marT="38100" marB="38100" anchor="ctr">
                    <a:solidFill>
                      <a:srgbClr val="FFFFFF"/>
                    </a:solidFill>
                  </a:tcPr>
                </a:tc>
                <a:tc>
                  <a:txBody>
                    <a:bodyPr/>
                    <a:lstStyle/>
                    <a:p>
                      <a:r>
                        <a:rPr sz="1200" b="0" i="0">
                          <a:solidFill>
                            <a:srgbClr val="1A1440"/>
                          </a:solidFill>
                          <a:latin typeface="Calibri"/>
                        </a:rPr>
                        <a:t>Rs 970</a:t>
                      </a:r>
                    </a:p>
                  </a:txBody>
                  <a:tcPr marL="101600" marR="101600" marT="38100" marB="38100" anchor="ctr">
                    <a:solidFill>
                      <a:srgbClr val="FFFFFF"/>
                    </a:solidFill>
                  </a:tcPr>
                </a:tc>
              </a:tr>
              <a:tr h="335280">
                <a:tc>
                  <a:txBody>
                    <a:bodyPr/>
                    <a:lstStyle/>
                    <a:p>
                      <a:r>
                        <a:rPr sz="1200" b="0" i="0">
                          <a:solidFill>
                            <a:srgbClr val="1A1440"/>
                          </a:solidFill>
                          <a:latin typeface="Calibri"/>
                        </a:rPr>
                        <a:t>KR-00546</a:t>
                      </a:r>
                    </a:p>
                  </a:txBody>
                  <a:tcPr marL="101600" marR="101600" marT="38100" marB="38100" anchor="ctr">
                    <a:solidFill>
                      <a:srgbClr val="F4F2FA"/>
                    </a:solidFill>
                  </a:tcPr>
                </a:tc>
                <a:tc>
                  <a:txBody>
                    <a:bodyPr/>
                    <a:lstStyle/>
                    <a:p>
                      <a:r>
                        <a:rPr sz="1200" b="0" i="0">
                          <a:solidFill>
                            <a:srgbClr val="1A1440"/>
                          </a:solidFill>
                          <a:latin typeface="Calibri"/>
                        </a:rPr>
                        <a:t>Rs 500</a:t>
                      </a:r>
                    </a:p>
                  </a:txBody>
                  <a:tcPr marL="101600" marR="101600" marT="38100" marB="38100" anchor="ctr">
                    <a:solidFill>
                      <a:srgbClr val="F4F2FA"/>
                    </a:solidFill>
                  </a:tcPr>
                </a:tc>
                <a:tc>
                  <a:txBody>
                    <a:bodyPr/>
                    <a:lstStyle/>
                    <a:p>
                      <a:r>
                        <a:rPr sz="1200" b="0" i="0">
                          <a:solidFill>
                            <a:srgbClr val="1A1440"/>
                          </a:solidFill>
                          <a:latin typeface="Calibri"/>
                        </a:rPr>
                        <a:t>KR-00549</a:t>
                      </a:r>
                    </a:p>
                  </a:txBody>
                  <a:tcPr marL="101600" marR="101600" marT="38100" marB="38100" anchor="ctr">
                    <a:solidFill>
                      <a:srgbClr val="F4F2FA"/>
                    </a:solidFill>
                  </a:tcPr>
                </a:tc>
                <a:tc>
                  <a:txBody>
                    <a:bodyPr/>
                    <a:lstStyle/>
                    <a:p>
                      <a:r>
                        <a:rPr sz="1200" b="0" i="0">
                          <a:solidFill>
                            <a:srgbClr val="1A1440"/>
                          </a:solidFill>
                          <a:latin typeface="Calibri"/>
                        </a:rPr>
                        <a:t>Rs 970</a:t>
                      </a:r>
                    </a:p>
                  </a:txBody>
                  <a:tcPr marL="101600" marR="101600" marT="38100" marB="38100" anchor="ctr">
                    <a:solidFill>
                      <a:srgbClr val="F4F2FA"/>
                    </a:solidFill>
                  </a:tcPr>
                </a:tc>
              </a:tr>
              <a:tr h="335280">
                <a:tc>
                  <a:txBody>
                    <a:bodyPr/>
                    <a:lstStyle/>
                    <a:p>
                      <a:r>
                        <a:rPr sz="1200" b="0" i="0">
                          <a:solidFill>
                            <a:srgbClr val="1A1440"/>
                          </a:solidFill>
                          <a:latin typeface="Calibri"/>
                        </a:rPr>
                        <a:t>KR-00547</a:t>
                      </a:r>
                    </a:p>
                  </a:txBody>
                  <a:tcPr marL="101600" marR="101600" marT="38100" marB="38100" anchor="ctr">
                    <a:solidFill>
                      <a:srgbClr val="FFFFFF"/>
                    </a:solidFill>
                  </a:tcPr>
                </a:tc>
                <a:tc>
                  <a:txBody>
                    <a:bodyPr/>
                    <a:lstStyle/>
                    <a:p>
                      <a:r>
                        <a:rPr sz="1200" b="0" i="0">
                          <a:solidFill>
                            <a:srgbClr val="1A1440"/>
                          </a:solidFill>
                          <a:latin typeface="Calibri"/>
                        </a:rPr>
                        <a:t>Rs 970</a:t>
                      </a:r>
                    </a:p>
                  </a:txBody>
                  <a:tcPr marL="101600" marR="101600" marT="38100" marB="38100" anchor="ctr">
                    <a:solidFill>
                      <a:srgbClr val="FFFFFF"/>
                    </a:solidFill>
                  </a:tcPr>
                </a:tc>
                <a:tc>
                  <a:txBody>
                    <a:bodyPr/>
                    <a:lstStyle/>
                    <a:p>
                      <a:r>
                        <a:rPr sz="1200" b="0" i="0">
                          <a:solidFill>
                            <a:srgbClr val="1A1440"/>
                          </a:solidFill>
                          <a:latin typeface="Calibri"/>
                        </a:rPr>
                        <a:t>KR-00553</a:t>
                      </a:r>
                    </a:p>
                  </a:txBody>
                  <a:tcPr marL="101600" marR="101600" marT="38100" marB="38100" anchor="ctr">
                    <a:solidFill>
                      <a:srgbClr val="FFFFFF"/>
                    </a:solidFill>
                  </a:tcPr>
                </a:tc>
                <a:tc>
                  <a:txBody>
                    <a:bodyPr/>
                    <a:lstStyle/>
                    <a:p>
                      <a:r>
                        <a:rPr sz="1200" b="0" i="0">
                          <a:solidFill>
                            <a:srgbClr val="1A1440"/>
                          </a:solidFill>
                          <a:latin typeface="Calibri"/>
                        </a:rPr>
                        <a:t>Rs 1,470</a:t>
                      </a:r>
                    </a:p>
                  </a:txBody>
                  <a:tcPr marL="101600" marR="101600" marT="38100" marB="38100" anchor="ctr">
                    <a:solidFill>
                      <a:srgbClr val="FFFFFF"/>
                    </a:solidFill>
                  </a:tcPr>
                </a:tc>
              </a:tr>
              <a:tr h="335280">
                <a:tc>
                  <a:txBody>
                    <a:bodyPr/>
                    <a:lstStyle/>
                    <a:p>
                      <a:r>
                        <a:rPr sz="1200" b="1" i="0">
                          <a:solidFill>
                            <a:srgbClr val="1A1440"/>
                          </a:solidFill>
                          <a:latin typeface="Calibri"/>
                        </a:rPr>
                        <a:t>Total</a:t>
                      </a:r>
                    </a:p>
                  </a:txBody>
                  <a:tcPr marL="101600" marR="101600" marT="38100" marB="38100" anchor="ctr">
                    <a:solidFill>
                      <a:srgbClr val="F4F2FA"/>
                    </a:solidFill>
                  </a:tcPr>
                </a:tc>
                <a:tc>
                  <a:txBody>
                    <a:bodyPr/>
                    <a:lstStyle/>
                    <a:p>
                      <a:r>
                        <a:rPr sz="1200" b="1" i="0">
                          <a:solidFill>
                            <a:srgbClr val="1A1440"/>
                          </a:solidFill>
                          <a:latin typeface="Calibri"/>
                        </a:rPr>
                        <a:t>Rs 3,900</a:t>
                      </a:r>
                    </a:p>
                  </a:txBody>
                  <a:tcPr marL="101600" marR="101600" marT="38100" marB="38100" anchor="ctr">
                    <a:solidFill>
                      <a:srgbClr val="F4F2FA"/>
                    </a:solidFill>
                  </a:tcPr>
                </a:tc>
                <a:tc>
                  <a:txBody>
                    <a:bodyPr/>
                    <a:lstStyle/>
                    <a:p>
                      <a:r>
                        <a:rPr sz="1200" b="1" i="0">
                          <a:solidFill>
                            <a:srgbClr val="1A1440"/>
                          </a:solidFill>
                          <a:latin typeface="Calibri"/>
                        </a:rPr>
                        <a:t>Total</a:t>
                      </a:r>
                    </a:p>
                  </a:txBody>
                  <a:tcPr marL="101600" marR="101600" marT="38100" marB="38100" anchor="ctr">
                    <a:solidFill>
                      <a:srgbClr val="F4F2FA"/>
                    </a:solidFill>
                  </a:tcPr>
                </a:tc>
                <a:tc>
                  <a:txBody>
                    <a:bodyPr/>
                    <a:lstStyle/>
                    <a:p>
                      <a:r>
                        <a:rPr sz="1200" b="1" i="0">
                          <a:solidFill>
                            <a:srgbClr val="1A1440"/>
                          </a:solidFill>
                          <a:latin typeface="Calibri"/>
                        </a:rPr>
                        <a:t>Rs 4,590</a:t>
                      </a:r>
                    </a:p>
                  </a:txBody>
                  <a:tcPr marL="101600" marR="101600" marT="38100" marB="38100" anchor="ctr">
                    <a:solidFill>
                      <a:srgbClr val="F4F2FA"/>
                    </a:solidFill>
                  </a:tcPr>
                </a:tc>
              </a:tr>
            </a:tbl>
          </a:graphicData>
        </a:graphic>
      </p:graphicFrame>
      <p:sp>
        <p:nvSpPr>
          <p:cNvPr id="10" name="Rounded Rectangle 9"/>
          <p:cNvSpPr/>
          <p:nvPr/>
        </p:nvSpPr>
        <p:spPr>
          <a:xfrm>
            <a:off x="530352" y="45598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8920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5001768"/>
            <a:ext cx="237744" cy="237744"/>
          </a:xfrm>
          <a:prstGeom prst="rect">
            <a:avLst/>
          </a:prstGeom>
        </p:spPr>
      </p:pic>
      <p:sp>
        <p:nvSpPr>
          <p:cNvPr id="13" name="TextBox 12"/>
          <p:cNvSpPr txBox="1"/>
          <p:nvPr/>
        </p:nvSpPr>
        <p:spPr>
          <a:xfrm>
            <a:off x="1399031" y="47061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925568"/>
            <a:ext cx="9987991" cy="682752"/>
          </a:xfrm>
          <a:prstGeom prst="rect">
            <a:avLst/>
          </a:prstGeom>
          <a:noFill/>
        </p:spPr>
        <p:txBody>
          <a:bodyPr wrap="square" anchor="t" lIns="0" rIns="0" tIns="0" bIns="0">
            <a:spAutoFit/>
          </a:bodyPr>
          <a:lstStyle/>
          <a:p>
            <a:r>
              <a:rPr sz="1500" b="0" i="0">
                <a:solidFill>
                  <a:srgbClr val="1A1440"/>
                </a:solidFill>
                <a:latin typeface="Calibri"/>
              </a:rPr>
              <a:t>The audit reports a Rs 690 disagreement on a sample that should be identical, and every other number in the suite comes under question. The answer is c.</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Delivered orders only?</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29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 table has no order to keep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did the same query on the same book draw a different five?</a:t>
            </a:r>
          </a:p>
        </p:txBody>
      </p:sp>
      <p:pic>
        <p:nvPicPr>
          <p:cNvPr id="9" name="mermaid diagram" descr="3bc846f50e9698f3.png"/>
          <p:cNvPicPr>
            <a:picLocks noChangeAspect="1"/>
          </p:cNvPicPr>
          <p:nvPr/>
        </p:nvPicPr>
        <p:blipFill>
          <a:blip r:embed="rId5"/>
          <a:stretch>
            <a:fillRect/>
          </a:stretch>
        </p:blipFill>
        <p:spPr>
          <a:xfrm>
            <a:off x="780897" y="1956816"/>
            <a:ext cx="10629900" cy="1857375"/>
          </a:xfrm>
          <a:prstGeom prst="rect">
            <a:avLst/>
          </a:prstGeom>
        </p:spPr>
      </p:pic>
      <p:sp>
        <p:nvSpPr>
          <p:cNvPr id="10" name="Rounded Rectangle 9"/>
          <p:cNvSpPr/>
          <p:nvPr/>
        </p:nvSpPr>
        <p:spPr>
          <a:xfrm>
            <a:off x="530352" y="39604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fingerprint said the book did not change; the samples say the five did. Without ORDER BY, Postgres returns rows "in an unspecified order", and LIMIT returns "an unpredictable subset of the query's rows".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Delivered orders only?</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29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ORDER BY order_id draws the same five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five orders will the analyst trace against the ERP?</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order_id, amount FROM orders</a:t>
            </a:r>
          </a:p>
          <a:p>
            <a:pPr>
              <a:spcAft>
                <a:spcPts val="200"/>
              </a:spcAft>
            </a:pPr>
            <a:r>
              <a:rPr sz="1400" b="0" i="0">
                <a:solidFill>
                  <a:srgbClr val="E4E1F1"/>
                </a:solidFill>
                <a:latin typeface="Consolas"/>
              </a:rPr>
              <a:t>WHERE  quarter = 'Q2' AND channel = 'app' AND status = 'delivered'</a:t>
            </a:r>
          </a:p>
          <a:p>
            <a:pPr>
              <a:spcAft>
                <a:spcPts val="200"/>
              </a:spcAft>
            </a:pPr>
            <a:r>
              <a:rPr sz="1400" b="0" i="0">
                <a:solidFill>
                  <a:srgbClr val="E4E1F1"/>
                </a:solidFill>
                <a:latin typeface="Consolas"/>
              </a:rPr>
              <a:t>ORDER  BY order_id</a:t>
            </a:r>
          </a:p>
          <a:p>
            <a:pPr>
              <a:spcAft>
                <a:spcPts val="200"/>
              </a:spcAft>
            </a:pPr>
            <a:r>
              <a:rPr sz="1400" b="0" i="0">
                <a:solidFill>
                  <a:srgbClr val="E4E1F1"/>
                </a:solidFill>
                <a:latin typeface="Consolas"/>
              </a:rPr>
              <a:t>LIMIT  5;</a:t>
            </a:r>
          </a:p>
        </p:txBody>
      </p:sp>
      <p:sp>
        <p:nvSpPr>
          <p:cNvPr id="14" name="TextBox 13"/>
          <p:cNvSpPr txBox="1"/>
          <p:nvPr/>
        </p:nvSpPr>
        <p:spPr>
          <a:xfrm>
            <a:off x="530352" y="3588512"/>
            <a:ext cx="3527450" cy="349250"/>
          </a:xfrm>
          <a:prstGeom prst="rect">
            <a:avLst/>
          </a:prstGeom>
          <a:noFill/>
        </p:spPr>
        <p:txBody>
          <a:bodyPr wrap="square" anchor="t" lIns="0" rIns="0" tIns="0" bIns="0">
            <a:spAutoFit/>
          </a:bodyPr>
          <a:lstStyle/>
          <a:p>
            <a:pPr algn="l"/>
            <a:r>
              <a:rPr sz="2200" b="0" i="0">
                <a:solidFill>
                  <a:srgbClr val="5B3FD6"/>
                </a:solidFill>
                <a:latin typeface="Georgia"/>
              </a:rPr>
              <a:t>KR-00542 to KR-00547</a:t>
            </a:r>
          </a:p>
        </p:txBody>
      </p:sp>
      <p:sp>
        <p:nvSpPr>
          <p:cNvPr id="15" name="TextBox 14"/>
          <p:cNvSpPr txBox="1"/>
          <p:nvPr/>
        </p:nvSpPr>
        <p:spPr>
          <a:xfrm>
            <a:off x="530352" y="397433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FIVE</a:t>
            </a:r>
          </a:p>
        </p:txBody>
      </p:sp>
      <p:sp>
        <p:nvSpPr>
          <p:cNvPr id="16" name="TextBox 15"/>
          <p:cNvSpPr txBox="1"/>
          <p:nvPr/>
        </p:nvSpPr>
        <p:spPr>
          <a:xfrm>
            <a:off x="530352" y="4175506"/>
            <a:ext cx="3527450" cy="193421"/>
          </a:xfrm>
          <a:prstGeom prst="rect">
            <a:avLst/>
          </a:prstGeom>
          <a:noFill/>
        </p:spPr>
        <p:txBody>
          <a:bodyPr wrap="square" anchor="t" lIns="0" rIns="0" tIns="0" bIns="0">
            <a:spAutoFit/>
          </a:bodyPr>
          <a:lstStyle/>
          <a:p>
            <a:pPr algn="l"/>
            <a:r>
              <a:rPr sz="950" b="0" i="0">
                <a:solidFill>
                  <a:srgbClr val="6B6690"/>
                </a:solidFill>
                <a:latin typeface="Calibri"/>
              </a:rPr>
              <a:t>542, 544, 545, 546 and 547</a:t>
            </a:r>
          </a:p>
        </p:txBody>
      </p:sp>
      <p:sp>
        <p:nvSpPr>
          <p:cNvPr id="17" name="Rectangle 16"/>
          <p:cNvSpPr/>
          <p:nvPr/>
        </p:nvSpPr>
        <p:spPr>
          <a:xfrm>
            <a:off x="53035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88512"/>
            <a:ext cx="3527450" cy="349250"/>
          </a:xfrm>
          <a:prstGeom prst="rect">
            <a:avLst/>
          </a:prstGeom>
          <a:noFill/>
        </p:spPr>
        <p:txBody>
          <a:bodyPr wrap="square" anchor="t" lIns="0" rIns="0" tIns="0" bIns="0">
            <a:spAutoFit/>
          </a:bodyPr>
          <a:lstStyle/>
          <a:p>
            <a:pPr algn="l"/>
            <a:r>
              <a:rPr sz="2200" b="0" i="0">
                <a:solidFill>
                  <a:srgbClr val="5B3FD6"/>
                </a:solidFill>
                <a:latin typeface="Georgia"/>
              </a:rPr>
              <a:t>Rs 3,900</a:t>
            </a:r>
          </a:p>
        </p:txBody>
      </p:sp>
      <p:sp>
        <p:nvSpPr>
          <p:cNvPr id="19" name="TextBox 18"/>
          <p:cNvSpPr txBox="1"/>
          <p:nvPr/>
        </p:nvSpPr>
        <p:spPr>
          <a:xfrm>
            <a:off x="4332122" y="397433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BEFORE THE RELOAD</a:t>
            </a:r>
          </a:p>
        </p:txBody>
      </p:sp>
      <p:sp>
        <p:nvSpPr>
          <p:cNvPr id="20" name="TextBox 19"/>
          <p:cNvSpPr txBox="1"/>
          <p:nvPr/>
        </p:nvSpPr>
        <p:spPr>
          <a:xfrm>
            <a:off x="4332122" y="4175506"/>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five</a:t>
            </a:r>
          </a:p>
        </p:txBody>
      </p:sp>
      <p:sp>
        <p:nvSpPr>
          <p:cNvPr id="21" name="Rectangle 20"/>
          <p:cNvSpPr/>
          <p:nvPr/>
        </p:nvSpPr>
        <p:spPr>
          <a:xfrm>
            <a:off x="433212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88512"/>
            <a:ext cx="3527450" cy="349250"/>
          </a:xfrm>
          <a:prstGeom prst="rect">
            <a:avLst/>
          </a:prstGeom>
          <a:noFill/>
        </p:spPr>
        <p:txBody>
          <a:bodyPr wrap="square" anchor="t" lIns="0" rIns="0" tIns="0" bIns="0">
            <a:spAutoFit/>
          </a:bodyPr>
          <a:lstStyle/>
          <a:p>
            <a:pPr algn="l"/>
            <a:r>
              <a:rPr sz="2200" b="0" i="0">
                <a:solidFill>
                  <a:srgbClr val="5B3FD6"/>
                </a:solidFill>
                <a:latin typeface="Georgia"/>
              </a:rPr>
              <a:t>Rs 3,900</a:t>
            </a:r>
          </a:p>
        </p:txBody>
      </p:sp>
      <p:sp>
        <p:nvSpPr>
          <p:cNvPr id="23" name="TextBox 22"/>
          <p:cNvSpPr txBox="1"/>
          <p:nvPr/>
        </p:nvSpPr>
        <p:spPr>
          <a:xfrm>
            <a:off x="8133892" y="397433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AFTER THE RELOAD</a:t>
            </a:r>
          </a:p>
        </p:txBody>
      </p:sp>
      <p:sp>
        <p:nvSpPr>
          <p:cNvPr id="24" name="TextBox 23"/>
          <p:cNvSpPr txBox="1"/>
          <p:nvPr/>
        </p:nvSpPr>
        <p:spPr>
          <a:xfrm>
            <a:off x="8133892" y="4175506"/>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five</a:t>
            </a:r>
          </a:p>
        </p:txBody>
      </p:sp>
      <p:sp>
        <p:nvSpPr>
          <p:cNvPr id="25" name="Rectangle 24"/>
          <p:cNvSpPr/>
          <p:nvPr/>
        </p:nvSpPr>
        <p:spPr>
          <a:xfrm>
            <a:off x="813389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Delivered orders only?</a:t>
            </a:r>
          </a:p>
        </p:txBody>
      </p:sp>
      <p:sp>
        <p:nvSpPr>
          <p:cNvPr id="30" name="Oval 2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29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5 up to KR-00547, 7 for the rerun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Are the five the first five by order id, confirmed by a count that never sorts?</a:t>
            </a:r>
          </a:p>
        </p:txBody>
      </p:sp>
      <p:pic>
        <p:nvPicPr>
          <p:cNvPr id="9" name="mermaid diagram" descr="f3f0c9d629125723.png"/>
          <p:cNvPicPr>
            <a:picLocks noChangeAspect="1"/>
          </p:cNvPicPr>
          <p:nvPr/>
        </p:nvPicPr>
        <p:blipFill>
          <a:blip r:embed="rId5"/>
          <a:stretch>
            <a:fillRect/>
          </a:stretch>
        </p:blipFill>
        <p:spPr>
          <a:xfrm>
            <a:off x="2856623" y="1664208"/>
            <a:ext cx="6478448"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If a sample is the first five by order id, exactly five candidates sit at or below its last id. The ordered five pass with Rs 3,900, their own total; the rerun's five fail, since KR-00542 and KR-00544 sit below KR-00553.</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Delivered orders only?</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29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 Anand: down 1.6%, and Retail-Plus carries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Monday suite tell Anand?</a:t>
            </a:r>
          </a:p>
        </p:txBody>
      </p:sp>
      <p:sp>
        <p:nvSpPr>
          <p:cNvPr id="9" name="Rounded Rectangle 8"/>
          <p:cNvSpPr/>
          <p:nvPr/>
        </p:nvSpPr>
        <p:spPr>
          <a:xfrm>
            <a:off x="530352" y="1799695"/>
            <a:ext cx="45720" cy="21742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799695"/>
            <a:ext cx="10820095" cy="2174240"/>
          </a:xfrm>
          <a:prstGeom prst="rect">
            <a:avLst/>
          </a:prstGeom>
          <a:noFill/>
        </p:spPr>
        <p:txBody>
          <a:bodyPr wrap="square" anchor="t" lIns="0" rIns="0" tIns="0" bIns="0">
            <a:spAutoFit/>
          </a:bodyPr>
          <a:lstStyle/>
          <a:p>
            <a:r>
              <a:rPr sz="1600" b="0" i="1">
                <a:solidFill>
                  <a:srgbClr val="1A0F5C"/>
                </a:solidFill>
                <a:latin typeface="Georgia"/>
              </a:rPr>
              <a:t>"Anand, the Monday suite now runs on the warehouse itself. Booked revenue fell 1.6 percent, from Rs 10.00 crore to Rs 9.84 crore, and Retail-Plus carries the fall in orders: its revenue is down 29.4 percent because 16.5 percent fewer members bought and each ordered 22.0 percent less often, while each order was worth 8.4 percent more. The counts are named for what they count and printed beside every ratio, and each run prints the book's fingerprint, so a rerun on the same book gives the same answer. One caveat: last week's extract showed customers flat, and the full book shows 7.0 percent fewer customers in Q2."</a:t>
            </a:r>
          </a:p>
        </p:txBody>
      </p:sp>
      <p:pic>
        <p:nvPicPr>
          <p:cNvPr id="11" name="mermaid diagram" descr="d321eef28609de4a.png"/>
          <p:cNvPicPr>
            <a:picLocks noChangeAspect="1"/>
          </p:cNvPicPr>
          <p:nvPr/>
        </p:nvPicPr>
        <p:blipFill>
          <a:blip r:embed="rId5"/>
          <a:stretch>
            <a:fillRect/>
          </a:stretch>
        </p:blipFill>
        <p:spPr>
          <a:xfrm>
            <a:off x="530352" y="4120239"/>
            <a:ext cx="11130991" cy="1962193"/>
          </a:xfrm>
          <a:prstGeom prst="rect">
            <a:avLst/>
          </a:prstGeom>
        </p:spPr>
      </p:pic>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Delivered orders only?</a:t>
            </a:r>
          </a:p>
        </p:txBody>
      </p:sp>
      <p:sp>
        <p:nvSpPr>
          <p:cNvPr id="16" name="Oval 1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29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Yes, once every list is ordered and fingerprinted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will next Monday's run give Anand's analyst the same answer from the same book?</a:t>
            </a:r>
          </a:p>
        </p:txBody>
      </p:sp>
      <p:graphicFrame>
        <p:nvGraphicFramePr>
          <p:cNvPr id="9" name="Table 8"/>
          <p:cNvGraphicFramePr>
            <a:graphicFrameLocks noGrp="1"/>
          </p:cNvGraphicFramePr>
          <p:nvPr/>
        </p:nvGraphicFramePr>
        <p:xfrm>
          <a:off x="530352" y="1873504"/>
          <a:ext cx="11130991" cy="1908048"/>
        </p:xfrm>
        <a:graphic>
          <a:graphicData uri="http://schemas.openxmlformats.org/drawingml/2006/table">
            <a:tbl>
              <a:tblPr firstRow="0" bandRow="0">
                <a:tableStyleId>{2D5ABB26-0587-4C30-8999-92F81FD0307C}</a:tableStyleId>
              </a:tblPr>
              <a:tblGrid>
                <a:gridCol w="3571656"/>
                <a:gridCol w="7559335"/>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How does a run prove itself?</a:t>
                      </a:r>
                    </a:p>
                  </a:txBody>
                  <a:tcPr marL="101600" marR="101600" marT="38100" marB="38100" anchor="ctr">
                    <a:solidFill>
                      <a:srgbClr val="FFFFFF"/>
                    </a:solidFill>
                  </a:tcPr>
                </a:tc>
                <a:tc>
                  <a:txBody>
                    <a:bodyPr/>
                    <a:lstStyle/>
                    <a:p>
                      <a:r>
                        <a:rPr sz="1100" b="0" i="0">
                          <a:solidFill>
                            <a:srgbClr val="1A1440"/>
                          </a:solidFill>
                          <a:latin typeface="Calibri"/>
                        </a:rPr>
                        <a:t>A fingerprint block, 7 numbers, and ORDER BY on a unique key</a:t>
                      </a:r>
                    </a:p>
                  </a:txBody>
                  <a:tcPr marL="101600" marR="101600" marT="38100" marB="38100" anchor="ctr">
                    <a:solidFill>
                      <a:srgbClr val="FFFFFF"/>
                    </a:solidFill>
                  </a:tcPr>
                </a:tc>
              </a:tr>
              <a:tr h="318008">
                <a:tc>
                  <a:txBody>
                    <a:bodyPr/>
                    <a:lstStyle/>
                    <a:p>
                      <a:r>
                        <a:rPr sz="1100" b="0" i="0">
                          <a:solidFill>
                            <a:srgbClr val="1A1440"/>
                          </a:solidFill>
                          <a:latin typeface="Calibri"/>
                        </a:rPr>
                        <a:t>2. What does it leave behind?</a:t>
                      </a:r>
                    </a:p>
                  </a:txBody>
                  <a:tcPr marL="101600" marR="101600" marT="38100" marB="38100" anchor="ctr">
                    <a:solidFill>
                      <a:srgbClr val="F4F2FA"/>
                    </a:solidFill>
                  </a:tcPr>
                </a:tc>
                <a:tc>
                  <a:txBody>
                    <a:bodyPr/>
                    <a:lstStyle/>
                    <a:p>
                      <a:r>
                        <a:rPr sz="1100" b="0" i="0">
                          <a:solidFill>
                            <a:srgbClr val="1A1440"/>
                          </a:solidFill>
                          <a:latin typeface="Calibri"/>
                        </a:rPr>
                        <a:t>1,000 orders, Rs 19,84,00,000, 301 customers; unchanged by the reload</a:t>
                      </a:r>
                    </a:p>
                  </a:txBody>
                  <a:tcPr marL="101600" marR="101600" marT="38100" marB="38100" anchor="ctr">
                    <a:solidFill>
                      <a:srgbClr val="F4F2FA"/>
                    </a:solidFill>
                  </a:tcPr>
                </a:tc>
              </a:tr>
              <a:tr h="318008">
                <a:tc>
                  <a:txBody>
                    <a:bodyPr/>
                    <a:lstStyle/>
                    <a:p>
                      <a:r>
                        <a:rPr sz="1100" b="0" i="0">
                          <a:solidFill>
                            <a:srgbClr val="1A1440"/>
                          </a:solidFill>
                          <a:latin typeface="Calibri"/>
                        </a:rPr>
                        <a:t>3. Which five orders?</a:t>
                      </a:r>
                    </a:p>
                  </a:txBody>
                  <a:tcPr marL="101600" marR="101600" marT="38100" marB="38100" anchor="ctr">
                    <a:solidFill>
                      <a:srgbClr val="FFFFFF"/>
                    </a:solidFill>
                  </a:tcPr>
                </a:tc>
                <a:tc>
                  <a:txBody>
                    <a:bodyPr/>
                    <a:lstStyle/>
                    <a:p>
                      <a:r>
                        <a:rPr sz="1100" b="0" i="0">
                          <a:solidFill>
                            <a:srgbClr val="1A1440"/>
                          </a:solidFill>
                          <a:latin typeface="Calibri"/>
                        </a:rPr>
                        <a:t>KR-00542 to KR-00547, Rs 3,900; unordered, a rerun drew Rs 4,590</a:t>
                      </a:r>
                    </a:p>
                  </a:txBody>
                  <a:tcPr marL="101600" marR="101600" marT="38100" marB="38100" anchor="ctr">
                    <a:solidFill>
                      <a:srgbClr val="FFFFFF"/>
                    </a:solidFill>
                  </a:tcPr>
                </a:tc>
              </a:tr>
              <a:tr h="318008">
                <a:tc>
                  <a:txBody>
                    <a:bodyPr/>
                    <a:lstStyle/>
                    <a:p>
                      <a:r>
                        <a:rPr sz="1100" b="0" i="0">
                          <a:solidFill>
                            <a:srgbClr val="1A1440"/>
                          </a:solidFill>
                          <a:latin typeface="Calibri"/>
                        </a:rPr>
                        <a:t>4. A count with no sort?</a:t>
                      </a:r>
                    </a:p>
                  </a:txBody>
                  <a:tcPr marL="101600" marR="101600" marT="38100" marB="38100" anchor="ctr">
                    <a:solidFill>
                      <a:srgbClr val="F4F2FA"/>
                    </a:solidFill>
                  </a:tcPr>
                </a:tc>
                <a:tc>
                  <a:txBody>
                    <a:bodyPr/>
                    <a:lstStyle/>
                    <a:p>
                      <a:r>
                        <a:rPr sz="1100" b="0" i="0">
                          <a:solidFill>
                            <a:srgbClr val="1A1440"/>
                          </a:solidFill>
                          <a:latin typeface="Calibri"/>
                        </a:rPr>
                        <a:t>5 up to KR-00547, worth Rs 3,900; 7 up to the rerun's last id</a:t>
                      </a:r>
                    </a:p>
                  </a:txBody>
                  <a:tcPr marL="101600" marR="101600" marT="38100" marB="38100" anchor="ctr">
                    <a:solidFill>
                      <a:srgbClr val="F4F2FA"/>
                    </a:solidFill>
                  </a:tcPr>
                </a:tc>
              </a:tr>
              <a:tr h="318008">
                <a:tc>
                  <a:txBody>
                    <a:bodyPr/>
                    <a:lstStyle/>
                    <a:p>
                      <a:r>
                        <a:rPr sz="1100" b="0" i="0">
                          <a:solidFill>
                            <a:srgbClr val="1A1440"/>
                          </a:solidFill>
                          <a:latin typeface="Calibri"/>
                        </a:rPr>
                        <a:t>5. What does Anand hear?</a:t>
                      </a:r>
                    </a:p>
                  </a:txBody>
                  <a:tcPr marL="101600" marR="101600" marT="38100" marB="38100" anchor="ctr">
                    <a:solidFill>
                      <a:srgbClr val="FFFFFF"/>
                    </a:solidFill>
                  </a:tcPr>
                </a:tc>
                <a:tc>
                  <a:txBody>
                    <a:bodyPr/>
                    <a:lstStyle/>
                    <a:p>
                      <a:r>
                        <a:rPr sz="1100" b="0" i="0">
                          <a:solidFill>
                            <a:srgbClr val="1A1440"/>
                          </a:solidFill>
                          <a:latin typeface="Calibri"/>
                        </a:rPr>
                        <a:t>Down 1.6%, Retail-Plus carries it, and every rerun repeats</a:t>
                      </a:r>
                    </a:p>
                  </a:txBody>
                  <a:tcPr marL="101600" marR="101600" marT="38100" marB="38100" anchor="ctr">
                    <a:solidFill>
                      <a:srgbClr val="FFFFFF"/>
                    </a:solidFill>
                  </a:tcPr>
                </a:tc>
              </a:tr>
            </a:tbl>
          </a:graphicData>
        </a:graphic>
      </p:graphicFrame>
      <p:sp>
        <p:nvSpPr>
          <p:cNvPr id="10" name="Rounded Rectangle 9"/>
          <p:cNvSpPr/>
          <p:nvPr/>
        </p:nvSpPr>
        <p:spPr>
          <a:xfrm>
            <a:off x="530352" y="4037584"/>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00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10456"/>
            <a:ext cx="237744" cy="237744"/>
          </a:xfrm>
          <a:prstGeom prst="rect">
            <a:avLst/>
          </a:prstGeom>
        </p:spPr>
      </p:pic>
      <p:sp>
        <p:nvSpPr>
          <p:cNvPr id="13" name="TextBox 12"/>
          <p:cNvSpPr txBox="1"/>
          <p:nvPr/>
        </p:nvSpPr>
        <p:spPr>
          <a:xfrm>
            <a:off x="1399031" y="41838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03344"/>
            <a:ext cx="9987991" cy="544576"/>
          </a:xfrm>
          <a:prstGeom prst="rect">
            <a:avLst/>
          </a:prstGeom>
          <a:noFill/>
        </p:spPr>
        <p:txBody>
          <a:bodyPr wrap="square" anchor="t" lIns="0" rIns="0" tIns="0" bIns="0">
            <a:spAutoFit/>
          </a:bodyPr>
          <a:lstStyle/>
          <a:p>
            <a:r>
              <a:rPr sz="1100" b="0" i="0">
                <a:solidFill>
                  <a:srgbClr val="1A1440"/>
                </a:solidFill>
                <a:latin typeface="Calibri"/>
              </a:rPr>
              <a:t>Order every audit sample on a column no two rows share, and print the book's fingerprint beside the numbers, so a difference next Monday says whether the book moved or the query did.</a:t>
            </a:r>
          </a:p>
        </p:txBody>
      </p:sp>
      <p:sp>
        <p:nvSpPr>
          <p:cNvPr id="15" name="Rounded Rectangle 14"/>
          <p:cNvSpPr/>
          <p:nvPr/>
        </p:nvSpPr>
        <p:spPr>
          <a:xfrm>
            <a:off x="530352" y="518566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85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78272"/>
            <a:ext cx="237744" cy="237744"/>
          </a:xfrm>
          <a:prstGeom prst="rect">
            <a:avLst/>
          </a:prstGeom>
        </p:spPr>
      </p:pic>
      <p:sp>
        <p:nvSpPr>
          <p:cNvPr id="18" name="TextBox 17"/>
          <p:cNvSpPr txBox="1"/>
          <p:nvPr/>
        </p:nvSpPr>
        <p:spPr>
          <a:xfrm>
            <a:off x="1399031" y="53319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51424"/>
            <a:ext cx="9987991" cy="384048"/>
          </a:xfrm>
          <a:prstGeom prst="rect">
            <a:avLst/>
          </a:prstGeom>
          <a:noFill/>
        </p:spPr>
        <p:txBody>
          <a:bodyPr wrap="square" anchor="t" lIns="0" rIns="0" tIns="0" bIns="0">
            <a:spAutoFit/>
          </a:bodyPr>
          <a:lstStyle/>
          <a:p>
            <a:r>
              <a:rPr sz="1100" b="0" i="0">
                <a:solidFill>
                  <a:srgbClr val="1A1440"/>
                </a:solidFill>
                <a:latin typeface="Calibri"/>
              </a:rPr>
              <a:t>[F] What does LIMIT without ORDER BY return? [F] Your KPI moved 30 percent overnight and the data did not change; what do you suspect?</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Delivered orders only?</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29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Delivered orders only?</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Does the Monday suite hold on Finance's definition, the orders that were delivered?</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answer next week?</a:t>
            </a:r>
          </a:p>
        </p:txBody>
      </p:sp>
      <p:sp>
        <p:nvSpPr>
          <p:cNvPr id="11" name="Rounded Rectangle 10"/>
          <p:cNvSpPr/>
          <p:nvPr/>
        </p:nvSpPr>
        <p:spPr>
          <a:xfrm>
            <a:off x="250975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Delivered orders only?</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Anand?</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Will next Monday's run give the analyst the same answer?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29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five parts: two now, three in the lab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parts does the case ask for, and which runs where?</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"Finance counts the orders that reached the customer and stayed there. Run me the same suite on delivered orders, and tell me whether the story changes."</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Anand Iyer, finance controller, Kalpa Retail</a:t>
            </a:r>
          </a:p>
        </p:txBody>
      </p:sp>
      <p:sp>
        <p:nvSpPr>
          <p:cNvPr id="13" name="Rectangle 12"/>
          <p:cNvSpPr/>
          <p:nvPr/>
        </p:nvSpPr>
        <p:spPr>
          <a:xfrm>
            <a:off x="1570299" y="4035552"/>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468624"/>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5" name="Oval 14"/>
          <p:cNvSpPr/>
          <p:nvPr/>
        </p:nvSpPr>
        <p:spPr>
          <a:xfrm>
            <a:off x="1469715" y="394411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355592"/>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501896"/>
            <a:ext cx="1750710" cy="251205"/>
          </a:xfrm>
          <a:prstGeom prst="rect">
            <a:avLst/>
          </a:prstGeom>
          <a:noFill/>
        </p:spPr>
        <p:txBody>
          <a:bodyPr wrap="square" anchor="t" lIns="0" rIns="0" tIns="0" bIns="0">
            <a:spAutoFit/>
          </a:bodyPr>
          <a:lstStyle/>
          <a:p>
            <a:pPr algn="l"/>
            <a:r>
              <a:rPr sz="1300" b="1" i="0">
                <a:solidFill>
                  <a:srgbClr val="1A0F5C"/>
                </a:solidFill>
                <a:latin typeface="Calibri"/>
              </a:rPr>
              <a:t>The delivered book</a:t>
            </a:r>
          </a:p>
        </p:txBody>
      </p:sp>
      <p:sp>
        <p:nvSpPr>
          <p:cNvPr id="18" name="TextBox 17"/>
          <p:cNvSpPr txBox="1"/>
          <p:nvPr/>
        </p:nvSpPr>
        <p:spPr>
          <a:xfrm>
            <a:off x="694944" y="4789678"/>
            <a:ext cx="1750710" cy="696976"/>
          </a:xfrm>
          <a:prstGeom prst="rect">
            <a:avLst/>
          </a:prstGeom>
          <a:noFill/>
        </p:spPr>
        <p:txBody>
          <a:bodyPr wrap="square" anchor="t" lIns="0" rIns="0" tIns="0" bIns="0">
            <a:spAutoFit/>
          </a:bodyPr>
          <a:lstStyle/>
          <a:p>
            <a:pPr algn="l"/>
            <a:r>
              <a:rPr sz="1000" b="0" i="0">
                <a:solidFill>
                  <a:srgbClr val="6B6690"/>
                </a:solidFill>
                <a:latin typeface="Calibri"/>
              </a:rPr>
              <a:t>Orders, customers and rupees per quarter, on Finance's definition. This afternoon.</a:t>
            </a:r>
          </a:p>
        </p:txBody>
      </p:sp>
      <p:sp>
        <p:nvSpPr>
          <p:cNvPr id="19" name="TextBox 18"/>
          <p:cNvSpPr txBox="1"/>
          <p:nvPr/>
        </p:nvSpPr>
        <p:spPr>
          <a:xfrm>
            <a:off x="2793126" y="3468624"/>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20" name="Oval 19"/>
          <p:cNvSpPr/>
          <p:nvPr/>
        </p:nvSpPr>
        <p:spPr>
          <a:xfrm>
            <a:off x="3732489" y="394411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793126" y="4355592"/>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57718" y="4501896"/>
            <a:ext cx="1750710" cy="465836"/>
          </a:xfrm>
          <a:prstGeom prst="rect">
            <a:avLst/>
          </a:prstGeom>
          <a:noFill/>
        </p:spPr>
        <p:txBody>
          <a:bodyPr wrap="square" anchor="t" lIns="0" rIns="0" tIns="0" bIns="0">
            <a:spAutoFit/>
          </a:bodyPr>
          <a:lstStyle/>
          <a:p>
            <a:pPr algn="l"/>
            <a:r>
              <a:rPr sz="1300" b="1" i="0">
                <a:solidFill>
                  <a:srgbClr val="1A0F5C"/>
                </a:solidFill>
                <a:latin typeface="Calibri"/>
              </a:rPr>
              <a:t>Each segment's frequency</a:t>
            </a:r>
          </a:p>
        </p:txBody>
      </p:sp>
      <p:sp>
        <p:nvSpPr>
          <p:cNvPr id="23" name="TextBox 22"/>
          <p:cNvSpPr txBox="1"/>
          <p:nvPr/>
        </p:nvSpPr>
        <p:spPr>
          <a:xfrm>
            <a:off x="2957718" y="5004308"/>
            <a:ext cx="1750710" cy="696976"/>
          </a:xfrm>
          <a:prstGeom prst="rect">
            <a:avLst/>
          </a:prstGeom>
          <a:noFill/>
        </p:spPr>
        <p:txBody>
          <a:bodyPr wrap="square" anchor="t" lIns="0" rIns="0" tIns="0" bIns="0">
            <a:spAutoFit/>
          </a:bodyPr>
          <a:lstStyle/>
          <a:p>
            <a:pPr algn="l"/>
            <a:r>
              <a:rPr sz="1000" b="0" i="0">
                <a:solidFill>
                  <a:srgbClr val="6B6690"/>
                </a:solidFill>
                <a:latin typeface="Calibri"/>
              </a:rPr>
              <a:t>Orders per customer per segment, and the groups too thin to quote. This afternoon.</a:t>
            </a:r>
          </a:p>
        </p:txBody>
      </p:sp>
      <p:sp>
        <p:nvSpPr>
          <p:cNvPr id="24" name="TextBox 23"/>
          <p:cNvSpPr txBox="1"/>
          <p:nvPr/>
        </p:nvSpPr>
        <p:spPr>
          <a:xfrm>
            <a:off x="5055900" y="3468624"/>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5" name="Oval 24"/>
          <p:cNvSpPr/>
          <p:nvPr/>
        </p:nvSpPr>
        <p:spPr>
          <a:xfrm>
            <a:off x="5995263" y="394411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055900" y="4355592"/>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220492" y="4501896"/>
            <a:ext cx="1750710" cy="251205"/>
          </a:xfrm>
          <a:prstGeom prst="rect">
            <a:avLst/>
          </a:prstGeom>
          <a:noFill/>
        </p:spPr>
        <p:txBody>
          <a:bodyPr wrap="square" anchor="t" lIns="0" rIns="0" tIns="0" bIns="0">
            <a:spAutoFit/>
          </a:bodyPr>
          <a:lstStyle/>
          <a:p>
            <a:pPr algn="l"/>
            <a:r>
              <a:rPr sz="1300" b="1" i="0">
                <a:solidFill>
                  <a:srgbClr val="1A0F5C"/>
                </a:solidFill>
                <a:latin typeface="Calibri"/>
              </a:rPr>
              <a:t>Branches and spend</a:t>
            </a:r>
          </a:p>
        </p:txBody>
      </p:sp>
      <p:sp>
        <p:nvSpPr>
          <p:cNvPr id="28" name="TextBox 27"/>
          <p:cNvSpPr txBox="1"/>
          <p:nvPr/>
        </p:nvSpPr>
        <p:spPr>
          <a:xfrm>
            <a:off x="5220492" y="4789678"/>
            <a:ext cx="1750710" cy="531876"/>
          </a:xfrm>
          <a:prstGeom prst="rect">
            <a:avLst/>
          </a:prstGeom>
          <a:noFill/>
        </p:spPr>
        <p:txBody>
          <a:bodyPr wrap="square" anchor="t" lIns="0" rIns="0" tIns="0" bIns="0">
            <a:spAutoFit/>
          </a:bodyPr>
          <a:lstStyle/>
          <a:p>
            <a:pPr algn="l"/>
            <a:r>
              <a:rPr sz="1000" b="0" i="0">
                <a:solidFill>
                  <a:srgbClr val="6B6690"/>
                </a:solidFill>
                <a:latin typeface="Calibri"/>
              </a:rPr>
              <a:t>Retail-Plus's branches and spend per member. In the lab.</a:t>
            </a:r>
          </a:p>
        </p:txBody>
      </p:sp>
      <p:sp>
        <p:nvSpPr>
          <p:cNvPr id="29" name="TextBox 28"/>
          <p:cNvSpPr txBox="1"/>
          <p:nvPr/>
        </p:nvSpPr>
        <p:spPr>
          <a:xfrm>
            <a:off x="7318674" y="3468624"/>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30" name="Oval 29"/>
          <p:cNvSpPr/>
          <p:nvPr/>
        </p:nvSpPr>
        <p:spPr>
          <a:xfrm>
            <a:off x="8258037" y="394411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7318674" y="4355592"/>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483266" y="4501896"/>
            <a:ext cx="1750710" cy="251205"/>
          </a:xfrm>
          <a:prstGeom prst="rect">
            <a:avLst/>
          </a:prstGeom>
          <a:noFill/>
        </p:spPr>
        <p:txBody>
          <a:bodyPr wrap="square" anchor="t" lIns="0" rIns="0" tIns="0" bIns="0">
            <a:spAutoFit/>
          </a:bodyPr>
          <a:lstStyle/>
          <a:p>
            <a:pPr algn="l"/>
            <a:r>
              <a:rPr sz="1300" b="1" i="0">
                <a:solidFill>
                  <a:srgbClr val="1A0F5C"/>
                </a:solidFill>
                <a:latin typeface="Calibri"/>
              </a:rPr>
              <a:t>The tie-outs</a:t>
            </a:r>
          </a:p>
        </p:txBody>
      </p:sp>
      <p:sp>
        <p:nvSpPr>
          <p:cNvPr id="33" name="TextBox 32"/>
          <p:cNvSpPr txBox="1"/>
          <p:nvPr/>
        </p:nvSpPr>
        <p:spPr>
          <a:xfrm>
            <a:off x="7483266" y="4789678"/>
            <a:ext cx="1750710" cy="531876"/>
          </a:xfrm>
          <a:prstGeom prst="rect">
            <a:avLst/>
          </a:prstGeom>
          <a:noFill/>
        </p:spPr>
        <p:txBody>
          <a:bodyPr wrap="square" anchor="t" lIns="0" rIns="0" tIns="0" bIns="0">
            <a:spAutoFit/>
          </a:bodyPr>
          <a:lstStyle/>
          <a:p>
            <a:pPr algn="l"/>
            <a:r>
              <a:rPr sz="1000" b="0" i="0">
                <a:solidFill>
                  <a:srgbClr val="6B6690"/>
                </a:solidFill>
                <a:latin typeface="Calibri"/>
              </a:rPr>
              <a:t>Segments against the book, the half-year counted once. In the lab.</a:t>
            </a:r>
          </a:p>
        </p:txBody>
      </p:sp>
      <p:sp>
        <p:nvSpPr>
          <p:cNvPr id="34" name="TextBox 33"/>
          <p:cNvSpPr txBox="1"/>
          <p:nvPr/>
        </p:nvSpPr>
        <p:spPr>
          <a:xfrm>
            <a:off x="9581448" y="3468624"/>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5" name="Oval 34"/>
          <p:cNvSpPr/>
          <p:nvPr/>
        </p:nvSpPr>
        <p:spPr>
          <a:xfrm>
            <a:off x="10520812" y="3944112"/>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9581448" y="4355592"/>
            <a:ext cx="2079894"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46040" y="4501896"/>
            <a:ext cx="1750710" cy="251205"/>
          </a:xfrm>
          <a:prstGeom prst="rect">
            <a:avLst/>
          </a:prstGeom>
          <a:noFill/>
        </p:spPr>
        <p:txBody>
          <a:bodyPr wrap="square" anchor="t" lIns="0" rIns="0" tIns="0" bIns="0">
            <a:spAutoFit/>
          </a:bodyPr>
          <a:lstStyle/>
          <a:p>
            <a:pPr algn="l"/>
            <a:r>
              <a:rPr sz="1300" b="1" i="0">
                <a:solidFill>
                  <a:srgbClr val="FFFFFF"/>
                </a:solidFill>
                <a:latin typeface="Calibri"/>
              </a:rPr>
              <a:t>The run that repeats</a:t>
            </a:r>
          </a:p>
        </p:txBody>
      </p:sp>
      <p:sp>
        <p:nvSpPr>
          <p:cNvPr id="38" name="TextBox 37"/>
          <p:cNvSpPr txBox="1"/>
          <p:nvPr/>
        </p:nvSpPr>
        <p:spPr>
          <a:xfrm>
            <a:off x="9746040" y="4789678"/>
            <a:ext cx="1750710" cy="531876"/>
          </a:xfrm>
          <a:prstGeom prst="rect">
            <a:avLst/>
          </a:prstGeom>
          <a:noFill/>
        </p:spPr>
        <p:txBody>
          <a:bodyPr wrap="square" anchor="t" lIns="0" rIns="0" tIns="0" bIns="0">
            <a:spAutoFit/>
          </a:bodyPr>
          <a:lstStyle/>
          <a:p>
            <a:pPr algn="l"/>
            <a:r>
              <a:rPr sz="1000" b="0" i="0">
                <a:solidFill>
                  <a:srgbClr val="CFC9EE"/>
                </a:solidFill>
                <a:latin typeface="Calibri"/>
              </a:rPr>
              <a:t>An ordered sample and the delivered book's fingerprint. In the lab.</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41" name="Oval 40"/>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Delivered orders only?</a:t>
            </a:r>
          </a:p>
        </p:txBody>
      </p:sp>
      <p:sp>
        <p:nvSpPr>
          <p:cNvPr id="43" name="Oval 42"/>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29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Delivered only, named counts, numeric, ordered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delivered suite have to keep, whatever the numbers turn out to be?</a:t>
            </a:r>
          </a:p>
        </p:txBody>
      </p:sp>
      <p:sp>
        <p:nvSpPr>
          <p:cNvPr id="9" name="Rounded Rectangle 8"/>
          <p:cNvSpPr/>
          <p:nvPr/>
        </p:nvSpPr>
        <p:spPr>
          <a:xfrm>
            <a:off x="530352"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ter_c3942426586e.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DEFINITION</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Delivered only</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A filter on the order's status keeps orders that reached the customer and stayed.</a:t>
            </a:r>
          </a:p>
        </p:txBody>
      </p:sp>
      <p:sp>
        <p:nvSpPr>
          <p:cNvPr id="15" name="Rounded Rectangle 14"/>
          <p:cNvSpPr/>
          <p:nvPr/>
        </p:nvSpPr>
        <p:spPr>
          <a:xfrm>
            <a:off x="3358819"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s_11340fce0adc.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COUNTS</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Named for what they count</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Orders are rows; customers are counted once each.</a:t>
            </a:r>
          </a:p>
        </p:txBody>
      </p:sp>
      <p:sp>
        <p:nvSpPr>
          <p:cNvPr id="21" name="Rounded Rectangle 20"/>
          <p:cNvSpPr/>
          <p:nvPr/>
        </p:nvSpPr>
        <p:spPr>
          <a:xfrm>
            <a:off x="6187287"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divide_8fbee41b51cd.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RATIOS</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Divided in numeric</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Every ratio keeps its decimals and multiplies back to its orders.</a:t>
            </a:r>
          </a:p>
        </p:txBody>
      </p:sp>
      <p:sp>
        <p:nvSpPr>
          <p:cNvPr id="27" name="Rounded Rectangle 26"/>
          <p:cNvSpPr/>
          <p:nvPr/>
        </p:nvSpPr>
        <p:spPr>
          <a:xfrm>
            <a:off x="9015755" y="1956816"/>
            <a:ext cx="2645587"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ordered_1418f700a8b8.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THE RUN</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Ordered and fingerprinted</a:t>
            </a:r>
          </a:p>
        </p:txBody>
      </p:sp>
      <p:sp>
        <p:nvSpPr>
          <p:cNvPr id="32" name="TextBox 31"/>
          <p:cNvSpPr txBox="1"/>
          <p:nvPr/>
        </p:nvSpPr>
        <p:spPr>
          <a:xfrm>
            <a:off x="9216923" y="3534664"/>
            <a:ext cx="2243251" cy="581406"/>
          </a:xfrm>
          <a:prstGeom prst="rect">
            <a:avLst/>
          </a:prstGeom>
          <a:noFill/>
        </p:spPr>
        <p:txBody>
          <a:bodyPr wrap="square" anchor="t" lIns="0" rIns="0" tIns="0" bIns="0">
            <a:spAutoFit/>
          </a:bodyPr>
          <a:lstStyle/>
          <a:p>
            <a:pPr algn="l"/>
            <a:r>
              <a:rPr sz="1100" b="0" i="0">
                <a:solidFill>
                  <a:srgbClr val="CFC9EE"/>
                </a:solidFill>
                <a:latin typeface="Calibri"/>
              </a:rPr>
              <a:t>The sample orders on a unique key, and the delivered book's fingerprint prints beside it.</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35" name="Oval 3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Delivered orders only?</a:t>
            </a:r>
          </a:p>
        </p:txBody>
      </p:sp>
      <p:sp>
        <p:nvSpPr>
          <p:cNvPr id="37" name="Oval 3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29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Interview drill, questions 1 to 7: counts and clauses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interview questions on counts, clauses and averages does today equip you to answer?</a:t>
            </a:r>
          </a:p>
        </p:txBody>
      </p:sp>
      <p:graphicFrame>
        <p:nvGraphicFramePr>
          <p:cNvPr id="10" name="Table 9"/>
          <p:cNvGraphicFramePr>
            <a:graphicFrameLocks noGrp="1"/>
          </p:cNvGraphicFramePr>
          <p:nvPr/>
        </p:nvGraphicFramePr>
        <p:xfrm>
          <a:off x="530352" y="1956816"/>
          <a:ext cx="11130991" cy="295859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Explain the logical order in which a SQL query runs.</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WHERE against HAVING, one sentence each.</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What do count(*), count(customer_id) and count(DISTINCT customer_id) each count?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Why would you compute a KPI in the warehouse rather than in a notebook?</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total matches last week's; is your analysis the same?</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Orders per customer reads 1 for a segment; what do you check first?</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An average moved but the total did not, or moved differently; how?</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Delivered orders only?</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D18  ·  21 / 29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Interview drill, questions 8 to 13: runs and audits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interview questions on steps, windows, runs and audits does today equip you to answer?</a:t>
            </a:r>
          </a:p>
        </p:txBody>
      </p:sp>
      <p:graphicFrame>
        <p:nvGraphicFramePr>
          <p:cNvPr id="10" name="Table 9"/>
          <p:cNvGraphicFramePr>
            <a:graphicFrameLocks noGrp="1"/>
          </p:cNvGraphicFramePr>
          <p:nvPr/>
        </p:nvGraphicFramePr>
        <p:xfrm>
          <a:off x="530352" y="1956816"/>
          <a:ext cx="11130991" cy="283057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When would you use a CTE instead of a subquery?</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Why can you not add two quarters' customer counts to get the half-year's?</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What does LIMIT without ORDER BY return?</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Your KPI moved 30 percent overnight and the data did not change; what do you suspect?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Two analysts report different customer counts for one quarter; how do you settle it?</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An analyst must audit your query: what changes in how you write it, and what would you refuse to compute in a notebook?</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Delivered orders only?</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D18a  ·  22 / 29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second case, for the take-home: the channels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store booming and the web collapsing, as Marketing says?</a:t>
            </a:r>
          </a:p>
        </p:txBody>
      </p:sp>
      <p:pic>
        <p:nvPicPr>
          <p:cNvPr id="10" name="mermaid diagram" descr="84c17dc7a27e31ce.png"/>
          <p:cNvPicPr>
            <a:picLocks noChangeAspect="1"/>
          </p:cNvPicPr>
          <p:nvPr/>
        </p:nvPicPr>
        <p:blipFill>
          <a:blip r:embed="rId5"/>
          <a:stretch>
            <a:fillRect/>
          </a:stretch>
        </p:blipFill>
        <p:spPr>
          <a:xfrm>
            <a:off x="2152497" y="1761648"/>
            <a:ext cx="7886700" cy="2100262"/>
          </a:xfrm>
          <a:prstGeom prst="rect">
            <a:avLst/>
          </a:prstGeom>
        </p:spPr>
      </p:pic>
      <p:sp>
        <p:nvSpPr>
          <p:cNvPr id="11" name="Rounded Rectangle 10"/>
          <p:cNvSpPr/>
          <p:nvPr/>
        </p:nvSpPr>
        <p:spPr>
          <a:xfrm>
            <a:off x="530352" y="4005072"/>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4005072"/>
            <a:ext cx="10820095" cy="751840"/>
          </a:xfrm>
          <a:prstGeom prst="rect">
            <a:avLst/>
          </a:prstGeom>
          <a:noFill/>
        </p:spPr>
        <p:txBody>
          <a:bodyPr wrap="square" anchor="t" lIns="0" rIns="0" tIns="0" bIns="0">
            <a:spAutoFit/>
          </a:bodyPr>
          <a:lstStyle/>
          <a:p>
            <a:r>
              <a:rPr sz="1600" b="0" i="1">
                <a:solidFill>
                  <a:srgbClr val="1A0F5C"/>
                </a:solidFill>
                <a:latin typeface="Georgia"/>
              </a:rPr>
              <a:t>"The same numbers for every channel: app, web and store. Marketing says the store is booming and the web is collapsing, and wants the budget moved. Is that what the book says?"</a:t>
            </a:r>
          </a:p>
        </p:txBody>
      </p:sp>
      <p:sp>
        <p:nvSpPr>
          <p:cNvPr id="13" name="Rounded Rectangle 12"/>
          <p:cNvSpPr/>
          <p:nvPr/>
        </p:nvSpPr>
        <p:spPr>
          <a:xfrm>
            <a:off x="530352" y="490321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86384" y="4903216"/>
            <a:ext cx="10820095" cy="467359"/>
          </a:xfrm>
          <a:prstGeom prst="rect">
            <a:avLst/>
          </a:prstGeom>
          <a:noFill/>
        </p:spPr>
        <p:txBody>
          <a:bodyPr wrap="square" anchor="t" lIns="0" rIns="0" tIns="0" bIns="0">
            <a:spAutoFit/>
          </a:bodyPr>
          <a:lstStyle/>
          <a:p>
            <a:r>
              <a:rPr sz="1600" b="0" i="1">
                <a:solidFill>
                  <a:srgbClr val="1A0F5C"/>
                </a:solidFill>
                <a:latin typeface="Georgia"/>
              </a:rPr>
              <a:t>Anand Iyer, finance controller, Kalpa Retail</a:t>
            </a:r>
          </a:p>
        </p:txBody>
      </p:sp>
      <p:sp>
        <p:nvSpPr>
          <p:cNvPr id="15" name="TextBox 14"/>
          <p:cNvSpPr txBox="1"/>
          <p:nvPr/>
        </p:nvSpPr>
        <p:spPr>
          <a:xfrm>
            <a:off x="530352" y="551688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Kalpa sells through its app, its website and its stores, to Business buyers whose orders are worth lakhs of rupees or more and to consumers whose orders are worth hundreds or a few thousand.</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8" name="Oval 17"/>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Delivered orders only?</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D19  ·  23 / 29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day's wrong numbers, each with its check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plausible wrong numbers did the day stage, and what caught each?</a:t>
            </a:r>
          </a:p>
        </p:txBody>
      </p:sp>
      <p:graphicFrame>
        <p:nvGraphicFramePr>
          <p:cNvPr id="10" name="Table 9"/>
          <p:cNvGraphicFramePr>
            <a:graphicFrameLocks noGrp="1"/>
          </p:cNvGraphicFramePr>
          <p:nvPr/>
        </p:nvGraphicFramePr>
        <p:xfrm>
          <a:off x="530352" y="1956816"/>
          <a:ext cx="11130990" cy="2830576"/>
        </p:xfrm>
        <a:graphic>
          <a:graphicData uri="http://schemas.openxmlformats.org/drawingml/2006/table">
            <a:tbl>
              <a:tblPr firstRow="0" bandRow="0">
                <a:tableStyleId>{2D5ABB26-0587-4C30-8999-92F81FD0307C}</a:tableStyleId>
              </a:tblPr>
              <a:tblGrid>
                <a:gridCol w="988864"/>
                <a:gridCol w="4292461"/>
                <a:gridCol w="5849665"/>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The plausible wrong number</a:t>
                      </a:r>
                    </a:p>
                  </a:txBody>
                  <a:tcPr marL="101600" marR="101600" marT="38100" marB="38100" anchor="ctr">
                    <a:solidFill>
                      <a:srgbClr val="1A0F5C"/>
                    </a:solidFill>
                  </a:tcPr>
                </a:tc>
                <a:tc>
                  <a:txBody>
                    <a:bodyPr/>
                    <a:lstStyle/>
                    <a:p>
                      <a:r>
                        <a:rPr sz="1450" b="1" i="0">
                          <a:solidFill>
                            <a:srgbClr val="FFFFFF"/>
                          </a:solidFill>
                          <a:latin typeface="Calibri"/>
                        </a:rPr>
                        <a:t>The check that caught it</a:t>
                      </a:r>
                    </a:p>
                  </a:txBody>
                  <a:tcPr marL="101600" marR="101600" marT="38100" marB="38100" anchor="ctr">
                    <a:solidFill>
                      <a:srgbClr val="1A0F5C"/>
                    </a:solidFill>
                  </a:tcPr>
                </a:tc>
              </a:tr>
              <a:tr h="611632">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538 and 462 customers, 1.00 order each</a:t>
                      </a:r>
                    </a:p>
                  </a:txBody>
                  <a:tcPr marL="101600" marR="101600" marT="38100" marB="38100" anchor="ctr">
                    <a:solidFill>
                      <a:srgbClr val="FFFFFF"/>
                    </a:solidFill>
                  </a:tcPr>
                </a:tc>
                <a:tc>
                  <a:txBody>
                    <a:bodyPr/>
                    <a:lstStyle/>
                    <a:p>
                      <a:r>
                        <a:rPr sz="1400" b="0" i="0">
                          <a:solidFill>
                            <a:srgbClr val="1A1440"/>
                          </a:solidFill>
                          <a:latin typeface="Calibri"/>
                        </a:rPr>
                        <a:t>The orders table counted two ways: 1,000 rows, 301 buyers, beside 340 on the customer table</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Customers held flat, as last week said</a:t>
                      </a:r>
                    </a:p>
                  </a:txBody>
                  <a:tcPr marL="101600" marR="101600" marT="38100" marB="38100" anchor="ctr">
                    <a:solidFill>
                      <a:srgbClr val="F4F2FA"/>
                    </a:solidFill>
                  </a:tcPr>
                </a:tc>
                <a:tc>
                  <a:txBody>
                    <a:bodyPr/>
                    <a:lstStyle/>
                    <a:p>
                      <a:r>
                        <a:rPr sz="1400" b="0" i="0">
                          <a:solidFill>
                            <a:srgbClr val="1A1440"/>
                          </a:solidFill>
                          <a:latin typeface="Calibri"/>
                        </a:rPr>
                        <a:t>Who bought in both quarters: 69 of 69 against 170 of 301</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Retail-Plus frequency 2 then 1, "halved"</a:t>
                      </a:r>
                    </a:p>
                  </a:txBody>
                  <a:tcPr marL="101600" marR="101600" marT="38100" marB="38100" anchor="ctr">
                    <a:solidFill>
                      <a:srgbClr val="FFFFFF"/>
                    </a:solidFill>
                  </a:tcPr>
                </a:tc>
                <a:tc>
                  <a:txBody>
                    <a:bodyPr/>
                    <a:lstStyle/>
                    <a:p>
                      <a:r>
                        <a:rPr sz="1400" b="0" i="0">
                          <a:solidFill>
                            <a:srgbClr val="1A1440"/>
                          </a:solidFill>
                          <a:latin typeface="Calibri"/>
                        </a:rPr>
                        <a:t>Multiply back: 1 times 76 is 76, where the orders are 140</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Each member spent 15.5% less</a:t>
                      </a:r>
                    </a:p>
                  </a:txBody>
                  <a:tcPr marL="101600" marR="101600" marT="38100" marB="38100" anchor="ctr">
                    <a:solidFill>
                      <a:srgbClr val="F4F2FA"/>
                    </a:solidFill>
                  </a:tcPr>
                </a:tc>
                <a:tc>
                  <a:txBody>
                    <a:bodyPr/>
                    <a:lstStyle/>
                    <a:p>
                      <a:r>
                        <a:rPr sz="1400" b="0" i="0">
                          <a:solidFill>
                            <a:srgbClr val="1A1440"/>
                          </a:solidFill>
                          <a:latin typeface="Calibri"/>
                        </a:rPr>
                        <a:t>Who is inside each average: 107, 91 and 76</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167 Retail-Plus customers in the half-year</a:t>
                      </a:r>
                    </a:p>
                  </a:txBody>
                  <a:tcPr marL="101600" marR="101600" marT="38100" marB="38100" anchor="ctr">
                    <a:solidFill>
                      <a:srgbClr val="FFFFFF"/>
                    </a:solidFill>
                  </a:tcPr>
                </a:tc>
                <a:tc>
                  <a:txBody>
                    <a:bodyPr/>
                    <a:lstStyle/>
                    <a:p>
                      <a:r>
                        <a:rPr sz="1400" b="0" i="0">
                          <a:solidFill>
                            <a:srgbClr val="1A1440"/>
                          </a:solidFill>
                          <a:latin typeface="Calibri"/>
                        </a:rPr>
                        <a:t>Buyers against members: 167 of a tier of 120</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Rs 3,900 against a rerun's Rs 4,590</a:t>
                      </a:r>
                    </a:p>
                  </a:txBody>
                  <a:tcPr marL="101600" marR="101600" marT="38100" marB="38100" anchor="ctr">
                    <a:solidFill>
                      <a:srgbClr val="F4F2FA"/>
                    </a:solidFill>
                  </a:tcPr>
                </a:tc>
                <a:tc>
                  <a:txBody>
                    <a:bodyPr/>
                    <a:lstStyle/>
                    <a:p>
                      <a:r>
                        <a:rPr sz="1400" b="0" i="0">
                          <a:solidFill>
                            <a:srgbClr val="1A1440"/>
                          </a:solidFill>
                          <a:latin typeface="Calibri"/>
                        </a:rPr>
                        <a:t>The fingerprint held while the sample moved</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Delivered orders only?</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D20  ·  24 / 29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we tell Anand?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did the day answer, and what does Anand ask next?</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answer next week?</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Delivered orders only?</a:t>
            </a:r>
          </a:p>
        </p:txBody>
      </p:sp>
      <p:sp>
        <p:nvSpPr>
          <p:cNvPr id="12" name="Rounded Rectangle 11"/>
          <p:cNvSpPr/>
          <p:nvPr/>
        </p:nvSpPr>
        <p:spPr>
          <a:xfrm>
            <a:off x="428799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we tell Anand?</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Will next Monday's run give the analyst the same answer?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25 / 29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Yes: down 1.6%, Retail-Plus carries it, it reruns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warehouse itself give Anand the Monday numbers, every segment, every week?</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THE BOOK'S FALL</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Rs 10.00 crore to Rs 9.84 crore</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29.4%</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RETAIL-PLUS'S FALL</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fewer members, less often, larger orders</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7.0%</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FEWER CUSTOMERS</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the caveat against last week's extract</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FINGERPRINT NUMBERS</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so a rerun says whether the book moved</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45720" cy="10363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86384" y="3419856"/>
            <a:ext cx="10820095" cy="1036319"/>
          </a:xfrm>
          <a:prstGeom prst="rect">
            <a:avLst/>
          </a:prstGeom>
          <a:noFill/>
        </p:spPr>
        <p:txBody>
          <a:bodyPr wrap="square" anchor="t" lIns="0" rIns="0" tIns="0" bIns="0">
            <a:spAutoFit/>
          </a:bodyPr>
          <a:lstStyle/>
          <a:p>
            <a:r>
              <a:rPr sz="1600" b="0" i="1">
                <a:solidFill>
                  <a:srgbClr val="1A0F5C"/>
                </a:solidFill>
                <a:latin typeface="Georgia"/>
              </a:rPr>
              <a:t>"Booked revenue fell 1.6 percent, and Retail-Plus carries the fall: 29.4 percent, as 16.5 percent fewer members bought, each 22.0 percent less often, each order 8.4 percent larger. Each run prints the book's fingerprint, so a rerun on the same book gives the same answer."</a:t>
            </a:r>
          </a:p>
        </p:txBody>
      </p:sp>
      <p:sp>
        <p:nvSpPr>
          <p:cNvPr id="27" name="Rounded Rectangle 26"/>
          <p:cNvSpPr/>
          <p:nvPr/>
        </p:nvSpPr>
        <p:spPr>
          <a:xfrm>
            <a:off x="530352" y="460248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86384" y="4602480"/>
            <a:ext cx="10820095" cy="467359"/>
          </a:xfrm>
          <a:prstGeom prst="rect">
            <a:avLst/>
          </a:prstGeom>
          <a:noFill/>
        </p:spPr>
        <p:txBody>
          <a:bodyPr wrap="square" anchor="t" lIns="0" rIns="0" tIns="0" bIns="0">
            <a:spAutoFit/>
          </a:bodyPr>
          <a:lstStyle/>
          <a:p>
            <a:r>
              <a:rPr sz="1600" b="0" i="1">
                <a:solidFill>
                  <a:srgbClr val="1A0F5C"/>
                </a:solidFill>
                <a:latin typeface="Georgia"/>
              </a:rPr>
              <a:t>The day's answer to Anand, from S14</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31" name="Oval 30"/>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Delivered orders only?</a:t>
            </a:r>
          </a:p>
        </p:txBody>
      </p:sp>
      <p:sp>
        <p:nvSpPr>
          <p:cNvPr id="33" name="Oval 32"/>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29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lines worth keeping, one per chapter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line does each chapter leave the Monday suite with?</a:t>
            </a:r>
          </a:p>
        </p:txBody>
      </p:sp>
      <p:graphicFrame>
        <p:nvGraphicFramePr>
          <p:cNvPr id="9" name="Table 8"/>
          <p:cNvGraphicFramePr>
            <a:graphicFrameLocks noGrp="1"/>
          </p:cNvGraphicFramePr>
          <p:nvPr/>
        </p:nvGraphicFramePr>
        <p:xfrm>
          <a:off x="530352" y="1956816"/>
          <a:ext cx="11130990" cy="2830576"/>
        </p:xfrm>
        <a:graphic>
          <a:graphicData uri="http://schemas.openxmlformats.org/drawingml/2006/table">
            <a:tbl>
              <a:tblPr firstRow="0" bandRow="0">
                <a:tableStyleId>{2D5ABB26-0587-4C30-8999-92F81FD0307C}</a:tableStyleId>
              </a:tblPr>
              <a:tblGrid>
                <a:gridCol w="2016856"/>
                <a:gridCol w="9114134"/>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The line</a:t>
                      </a:r>
                    </a:p>
                  </a:txBody>
                  <a:tcPr marL="101600" marR="101600" marT="38100" marB="38100" anchor="ctr">
                    <a:solidFill>
                      <a:srgbClr val="1A0F5C"/>
                    </a:solidFill>
                  </a:tcPr>
                </a:tc>
              </a:tr>
              <a:tr h="369824">
                <a:tc>
                  <a:txBody>
                    <a:bodyPr/>
                    <a:lstStyle/>
                    <a:p>
                      <a:r>
                        <a:rPr sz="1400" b="0" i="0">
                          <a:solidFill>
                            <a:srgbClr val="1A1440"/>
                          </a:solidFill>
                          <a:latin typeface="Calibri"/>
                        </a:rPr>
                        <a:t>1. Counts</a:t>
                      </a:r>
                    </a:p>
                  </a:txBody>
                  <a:tcPr marL="101600" marR="101600" marT="38100" marB="38100" anchor="ctr">
                    <a:solidFill>
                      <a:srgbClr val="FFFFFF"/>
                    </a:solidFill>
                  </a:tcPr>
                </a:tc>
                <a:tc>
                  <a:txBody>
                    <a:bodyPr/>
                    <a:lstStyle/>
                    <a:p>
                      <a:r>
                        <a:rPr sz="1400" b="0" i="0">
                          <a:solidFill>
                            <a:srgbClr val="1A1440"/>
                          </a:solidFill>
                          <a:latin typeface="Calibri"/>
                        </a:rPr>
                        <a:t>A count says what it counts: order rows are count(*), customers are count(DISTINCT customer_id).</a:t>
                      </a:r>
                    </a:p>
                  </a:txBody>
                  <a:tcPr marL="101600" marR="101600" marT="38100" marB="38100" anchor="ctr">
                    <a:solidFill>
                      <a:srgbClr val="FFFFFF"/>
                    </a:solidFill>
                  </a:tcPr>
                </a:tc>
              </a:tr>
              <a:tr h="369824">
                <a:tc>
                  <a:txBody>
                    <a:bodyPr/>
                    <a:lstStyle/>
                    <a:p>
                      <a:r>
                        <a:rPr sz="1400" b="0" i="0">
                          <a:solidFill>
                            <a:srgbClr val="1A1440"/>
                          </a:solidFill>
                          <a:latin typeface="Calibri"/>
                        </a:rPr>
                        <a:t>2. Sources</a:t>
                      </a:r>
                    </a:p>
                  </a:txBody>
                  <a:tcPr marL="101600" marR="101600" marT="38100" marB="38100" anchor="ctr">
                    <a:solidFill>
                      <a:srgbClr val="F4F2FA"/>
                    </a:solidFill>
                  </a:tcPr>
                </a:tc>
                <a:tc>
                  <a:txBody>
                    <a:bodyPr/>
                    <a:lstStyle/>
                    <a:p>
                      <a:r>
                        <a:rPr sz="1400" b="0" i="0">
                          <a:solidFill>
                            <a:srgbClr val="1A1440"/>
                          </a:solidFill>
                          <a:latin typeface="Calibri"/>
                        </a:rPr>
                        <a:t>A matching total is one leaf matching, so compare every leaf as a change.</a:t>
                      </a:r>
                    </a:p>
                  </a:txBody>
                  <a:tcPr marL="101600" marR="101600" marT="38100" marB="38100" anchor="ctr">
                    <a:solidFill>
                      <a:srgbClr val="F4F2FA"/>
                    </a:solidFill>
                  </a:tcPr>
                </a:tc>
              </a:tr>
              <a:tr h="369824">
                <a:tc>
                  <a:txBody>
                    <a:bodyPr/>
                    <a:lstStyle/>
                    <a:p>
                      <a:r>
                        <a:rPr sz="1400" b="0" i="0">
                          <a:solidFill>
                            <a:srgbClr val="1A1440"/>
                          </a:solidFill>
                          <a:latin typeface="Calibri"/>
                        </a:rPr>
                        <a:t>3. Ratios</a:t>
                      </a:r>
                    </a:p>
                  </a:txBody>
                  <a:tcPr marL="101600" marR="101600" marT="38100" marB="38100" anchor="ctr">
                    <a:solidFill>
                      <a:srgbClr val="FFFFFF"/>
                    </a:solidFill>
                  </a:tcPr>
                </a:tc>
                <a:tc>
                  <a:txBody>
                    <a:bodyPr/>
                    <a:lstStyle/>
                    <a:p>
                      <a:r>
                        <a:rPr sz="1400" b="0" i="0">
                          <a:solidFill>
                            <a:srgbClr val="1A1440"/>
                          </a:solidFill>
                          <a:latin typeface="Calibri"/>
                        </a:rPr>
                        <a:t>Divide in numeric, round on purpose, and keep the counts beside the ratio.</a:t>
                      </a:r>
                    </a:p>
                  </a:txBody>
                  <a:tcPr marL="101600" marR="101600" marT="38100" marB="38100" anchor="ctr">
                    <a:solidFill>
                      <a:srgbClr val="FFFFFF"/>
                    </a:solidFill>
                  </a:tcPr>
                </a:tc>
              </a:tr>
              <a:tr h="369824">
                <a:tc>
                  <a:txBody>
                    <a:bodyPr/>
                    <a:lstStyle/>
                    <a:p>
                      <a:r>
                        <a:rPr sz="1400" b="0" i="0">
                          <a:solidFill>
                            <a:srgbClr val="1A1440"/>
                          </a:solidFill>
                          <a:latin typeface="Calibri"/>
                        </a:rPr>
                        <a:t>4. Averages</a:t>
                      </a:r>
                    </a:p>
                  </a:txBody>
                  <a:tcPr marL="101600" marR="101600" marT="38100" marB="38100" anchor="ctr">
                    <a:solidFill>
                      <a:srgbClr val="F4F2FA"/>
                    </a:solidFill>
                  </a:tcPr>
                </a:tc>
                <a:tc>
                  <a:txBody>
                    <a:bodyPr/>
                    <a:lstStyle/>
                    <a:p>
                      <a:r>
                        <a:rPr sz="1400" b="0" i="0">
                          <a:solidFill>
                            <a:srgbClr val="1A1440"/>
                          </a:solidFill>
                          <a:latin typeface="Calibri"/>
                        </a:rPr>
                        <a:t>An average names who is inside it, so write the zero on purpose.</a:t>
                      </a:r>
                    </a:p>
                  </a:txBody>
                  <a:tcPr marL="101600" marR="101600" marT="38100" marB="38100" anchor="ctr">
                    <a:solidFill>
                      <a:srgbClr val="F4F2FA"/>
                    </a:solidFill>
                  </a:tcPr>
                </a:tc>
              </a:tr>
              <a:tr h="369824">
                <a:tc>
                  <a:txBody>
                    <a:bodyPr/>
                    <a:lstStyle/>
                    <a:p>
                      <a:r>
                        <a:rPr sz="1400" b="0" i="0">
                          <a:solidFill>
                            <a:srgbClr val="1A1440"/>
                          </a:solidFill>
                          <a:latin typeface="Calibri"/>
                        </a:rPr>
                        <a:t>5. Sums</a:t>
                      </a:r>
                    </a:p>
                  </a:txBody>
                  <a:tcPr marL="101600" marR="101600" marT="38100" marB="38100" anchor="ctr">
                    <a:solidFill>
                      <a:srgbClr val="FFFFFF"/>
                    </a:solidFill>
                  </a:tcPr>
                </a:tc>
                <a:tc>
                  <a:txBody>
                    <a:bodyPr/>
                    <a:lstStyle/>
                    <a:p>
                      <a:r>
                        <a:rPr sz="1400" b="0" i="0">
                          <a:solidFill>
                            <a:srgbClr val="1A1440"/>
                          </a:solidFill>
                          <a:latin typeface="Calibri"/>
                        </a:rPr>
                        <a:t>Orders and rupees add across quarters; customers are counted again from the orders.</a:t>
                      </a:r>
                    </a:p>
                  </a:txBody>
                  <a:tcPr marL="101600" marR="101600" marT="38100" marB="38100" anchor="ctr">
                    <a:solidFill>
                      <a:srgbClr val="FFFFFF"/>
                    </a:solidFill>
                  </a:tcPr>
                </a:tc>
              </a:tr>
              <a:tr h="611632">
                <a:tc>
                  <a:txBody>
                    <a:bodyPr/>
                    <a:lstStyle/>
                    <a:p>
                      <a:r>
                        <a:rPr sz="1400" b="0" i="0">
                          <a:solidFill>
                            <a:srgbClr val="1A1440"/>
                          </a:solidFill>
                          <a:latin typeface="Calibri"/>
                        </a:rPr>
                        <a:t>6. Runs</a:t>
                      </a:r>
                    </a:p>
                  </a:txBody>
                  <a:tcPr marL="101600" marR="101600" marT="38100" marB="38100" anchor="ctr">
                    <a:solidFill>
                      <a:srgbClr val="F4F2FA"/>
                    </a:solidFill>
                  </a:tcPr>
                </a:tc>
                <a:tc>
                  <a:txBody>
                    <a:bodyPr/>
                    <a:lstStyle/>
                    <a:p>
                      <a:r>
                        <a:rPr sz="1400" b="0" i="0">
                          <a:solidFill>
                            <a:srgbClr val="1A1440"/>
                          </a:solidFill>
                          <a:latin typeface="Calibri"/>
                        </a:rPr>
                        <a:t>Order every audit sample on a column no two rows share, and print the book's fingerprint beside the numbers.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Delivered orders only?</a:t>
            </a:r>
          </a:p>
        </p:txBody>
      </p:sp>
      <p:sp>
        <p:nvSpPr>
          <p:cNvPr id="14" name="Oval 1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27 / 29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run order, HAVING, grain, LIMIT, CTEs, ratios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decisions can the room make in twenty seconds each?</a:t>
            </a:r>
          </a:p>
        </p:txBody>
      </p:sp>
      <p:sp>
        <p:nvSpPr>
          <p:cNvPr id="9" name="TextBox 8"/>
          <p:cNvSpPr txBox="1"/>
          <p:nvPr/>
        </p:nvSpPr>
        <p:spPr>
          <a:xfrm>
            <a:off x="530352" y="1902238"/>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3731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38482"/>
            <a:ext cx="3527450" cy="193421"/>
          </a:xfrm>
          <a:prstGeom prst="rect">
            <a:avLst/>
          </a:prstGeom>
          <a:noFill/>
        </p:spPr>
        <p:txBody>
          <a:bodyPr wrap="square" anchor="t" lIns="0" rIns="0" tIns="0" bIns="0">
            <a:spAutoFit/>
          </a:bodyPr>
          <a:lstStyle/>
          <a:p>
            <a:pPr algn="l"/>
            <a:r>
              <a:rPr sz="950" b="0" i="0">
                <a:solidFill>
                  <a:srgbClr val="6B6690"/>
                </a:solidFill>
                <a:latin typeface="Calibri"/>
              </a:rPr>
              <a:t>seven on today, one returning from Week 1 Thursday</a:t>
            </a:r>
          </a:p>
        </p:txBody>
      </p:sp>
      <p:sp>
        <p:nvSpPr>
          <p:cNvPr id="12" name="Rectangle 11"/>
          <p:cNvSpPr/>
          <p:nvPr/>
        </p:nvSpPr>
        <p:spPr>
          <a:xfrm>
            <a:off x="530352" y="309095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02238"/>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3731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GRADES</a:t>
            </a:r>
          </a:p>
        </p:txBody>
      </p:sp>
      <p:sp>
        <p:nvSpPr>
          <p:cNvPr id="15" name="TextBox 14"/>
          <p:cNvSpPr txBox="1"/>
          <p:nvPr/>
        </p:nvSpPr>
        <p:spPr>
          <a:xfrm>
            <a:off x="4332122" y="2838482"/>
            <a:ext cx="3527450" cy="193421"/>
          </a:xfrm>
          <a:prstGeom prst="rect">
            <a:avLst/>
          </a:prstGeom>
          <a:noFill/>
        </p:spPr>
        <p:txBody>
          <a:bodyPr wrap="square" anchor="t" lIns="0" rIns="0" tIns="0" bIns="0">
            <a:spAutoFit/>
          </a:bodyPr>
          <a:lstStyle/>
          <a:p>
            <a:pPr algn="l"/>
            <a:r>
              <a:rPr sz="950" b="0" i="0">
                <a:solidFill>
                  <a:srgbClr val="6B6690"/>
                </a:solidFill>
                <a:latin typeface="Calibri"/>
              </a:rPr>
              <a:t>the Kahoot is daily and ungraded</a:t>
            </a:r>
          </a:p>
        </p:txBody>
      </p:sp>
      <p:sp>
        <p:nvSpPr>
          <p:cNvPr id="16" name="Rectangle 15"/>
          <p:cNvSpPr/>
          <p:nvPr/>
        </p:nvSpPr>
        <p:spPr>
          <a:xfrm>
            <a:off x="4332122" y="309095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02238"/>
            <a:ext cx="3527450" cy="698500"/>
          </a:xfrm>
          <a:prstGeom prst="rect">
            <a:avLst/>
          </a:prstGeom>
          <a:noFill/>
        </p:spPr>
        <p:txBody>
          <a:bodyPr wrap="square" anchor="t" lIns="0" rIns="0" tIns="0" bIns="0">
            <a:spAutoFit/>
          </a:bodyPr>
          <a:lstStyle/>
          <a:p>
            <a:pPr algn="l"/>
            <a:r>
              <a:rPr sz="4400" b="0" i="0">
                <a:solidFill>
                  <a:srgbClr val="5B3FD6"/>
                </a:solidFill>
                <a:latin typeface="Georgia"/>
              </a:rPr>
              <a:t>20 s</a:t>
            </a:r>
          </a:p>
        </p:txBody>
      </p:sp>
      <p:sp>
        <p:nvSpPr>
          <p:cNvPr id="18" name="TextBox 17"/>
          <p:cNvSpPr txBox="1"/>
          <p:nvPr/>
        </p:nvSpPr>
        <p:spPr>
          <a:xfrm>
            <a:off x="8133892" y="263731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 ITEM</a:t>
            </a:r>
          </a:p>
        </p:txBody>
      </p:sp>
      <p:sp>
        <p:nvSpPr>
          <p:cNvPr id="19" name="TextBox 18"/>
          <p:cNvSpPr txBox="1"/>
          <p:nvPr/>
        </p:nvSpPr>
        <p:spPr>
          <a:xfrm>
            <a:off x="8133892" y="2838482"/>
            <a:ext cx="3527450" cy="193421"/>
          </a:xfrm>
          <a:prstGeom prst="rect">
            <a:avLst/>
          </a:prstGeom>
          <a:noFill/>
        </p:spPr>
        <p:txBody>
          <a:bodyPr wrap="square" anchor="t" lIns="0" rIns="0" tIns="0" bIns="0">
            <a:spAutoFit/>
          </a:bodyPr>
          <a:lstStyle/>
          <a:p>
            <a:pPr algn="l"/>
            <a:r>
              <a:rPr sz="950" b="0" i="0">
                <a:solidFill>
                  <a:srgbClr val="6B6690"/>
                </a:solidFill>
                <a:latin typeface="Calibri"/>
              </a:rPr>
              <a:t>then the reason, aloud</a:t>
            </a:r>
          </a:p>
        </p:txBody>
      </p:sp>
      <p:sp>
        <p:nvSpPr>
          <p:cNvPr id="20" name="Rectangle 19"/>
          <p:cNvSpPr/>
          <p:nvPr/>
        </p:nvSpPr>
        <p:spPr>
          <a:xfrm>
            <a:off x="8133892" y="309095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mermaid diagram" descr="59d4015bfa4a2dec.png"/>
          <p:cNvPicPr>
            <a:picLocks noChangeAspect="1"/>
          </p:cNvPicPr>
          <p:nvPr/>
        </p:nvPicPr>
        <p:blipFill>
          <a:blip r:embed="rId5"/>
          <a:stretch>
            <a:fillRect/>
          </a:stretch>
        </p:blipFill>
        <p:spPr>
          <a:xfrm>
            <a:off x="3524097" y="3365278"/>
            <a:ext cx="5143500" cy="2614612"/>
          </a:xfrm>
          <a:prstGeom prst="rect">
            <a:avLst/>
          </a:prstGeom>
        </p:spPr>
      </p:pic>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Delivered orders only?</a:t>
            </a:r>
          </a:p>
        </p:txBody>
      </p:sp>
      <p:sp>
        <p:nvSpPr>
          <p:cNvPr id="26" name="Oval 25"/>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28 / 29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booked against collected,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 asks the next question: what does the book say about the money itself?</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"Booked revenue is not collected revenue. Show me, order by order, what we actually collected against what we booked in Q2."</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Anand Iyer, finance controller, Kalpa Retail, the question he sends back</a:t>
            </a:r>
          </a:p>
        </p:txBody>
      </p:sp>
      <p:pic>
        <p:nvPicPr>
          <p:cNvPr id="13" name="mermaid diagram" descr="0d40c52eb9dde352.png"/>
          <p:cNvPicPr>
            <a:picLocks noChangeAspect="1"/>
          </p:cNvPicPr>
          <p:nvPr/>
        </p:nvPicPr>
        <p:blipFill>
          <a:blip r:embed="rId5"/>
          <a:stretch>
            <a:fillRect/>
          </a:stretch>
        </p:blipFill>
        <p:spPr>
          <a:xfrm>
            <a:off x="3524097" y="3468624"/>
            <a:ext cx="5143500" cy="1600200"/>
          </a:xfrm>
          <a:prstGeom prst="rect">
            <a:avLst/>
          </a:prstGeom>
        </p:spPr>
      </p:pic>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Delivered orders only?</a:t>
            </a:r>
          </a:p>
        </p:txBody>
      </p:sp>
      <p:sp>
        <p:nvSpPr>
          <p:cNvPr id="18" name="Oval 17"/>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29 / 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