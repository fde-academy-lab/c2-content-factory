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is sixty minutes: the escalated case with its debrief (45), then</a:t>
            </a:r>
          </a:p>
          <a:p>
            <a:r>
              <a:t>the Kahoot and tomorrow's ask (15). After it the tentative IITGN block runs; say that once, with</a:t>
            </a:r>
          </a:p>
          <a:p>
            <a:r>
              <a:t>the word tentative, and nothing about its content. There is no second case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Forty-five minutes in all: the brief (5), the room builds alone (30), the debrief of wrong</a:t>
            </a:r>
          </a:p>
          <a:p>
            <a:r>
              <a:t>answers (10). No hints during the build;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suite file holds six comment lines and no SQL. The hands-on notebook,</a:t>
            </a:r>
          </a:p>
          <a:p>
            <a:r>
              <a:t>notebooks/C2_W02_D01_hands_on_STUDENT.ipynb, runs the same suite with ten lettered choices; a</a:t>
            </a:r>
          </a:p>
          <a:p>
            <a:r>
              <a:t>learner may work in either, and posts the ten letters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parts once; do not show any SQL.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five rules are the morning's traps turned into a checklist. Start the 30</a:t>
            </a:r>
          </a:p>
          <a:p>
            <a:r>
              <a:t>minutes of building when this slide goes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during the build, left on screen. The numbers in the boxes are checks a learner can</a:t>
            </a:r>
          </a:p>
          <a:p>
            <a:r>
              <a:t>compare against without being given an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Read the room's letters as they arrive in chat and pick the two most-missed</a:t>
            </a:r>
          </a:p>
          <a:p>
            <a:r>
              <a:t>markers. Run this chapter from those, never from a lecture.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Most rooms split between a and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Ask how a learner would know b is safe: check the column type,</a:t>
            </a:r>
          </a:p>
          <a:p>
            <a:r>
              <a:t>numeric(12,2), from round 1's schema read.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one row per trap, wrong number first. This table is the day on one slide,</a:t>
            </a:r>
          </a:p>
          <a:p>
            <a:r>
              <a:t>and it returns word for word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Frequency is the branch that fell furthest, which is Week 1's finding at warehouse</a:t>
            </a:r>
          </a:p>
          <a:p>
            <a:r>
              <a:t>scale. Student grows on 27 and 38 orders, so its row carries the thin-cell warning.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Ask for the one number the analyst would check first: the 1.6</a:t>
            </a:r>
          </a:p>
          <a:p>
            <a:r>
              <a:t>percent against query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crux lines (2), the Kahoot (10), tomorrow's ask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lines aloud, slowly.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tonight, 20 minutes aloud. The full list of eleven, with answers, is in the study notes</a:t>
            </a:r>
          </a:p>
          <a:p>
            <a:r>
              <a:t>and the day sheet. The last row is a case-style follow-up this pack adds to the row's anchors.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Answered in full in the study notes, section "In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kahoot/C2_W02_D01_quiz_STUDENT.md. Ungraded; read the most-missed item's reason</a:t>
            </a:r>
          </a:p>
          <a:p>
            <a:r>
              <a:t>aloud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reply and leave the question mark on screen. Do not explain joins.</a:t>
            </a:r>
          </a:p>
          <a:p>
            <a:r>
              <a:t>The pre-read ships tonight. Then the room moves to the tentative IITGN block, and after the day</a:t>
            </a:r>
          </a:p>
          <a:p>
            <a:r>
              <a:t>the TA-led practice lab runs from exercises/practice/.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 Id="rId6"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Monday suite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“My analyst will read every query line by line, without you beside him. Be ready to explain why each one is written the way it is.”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CFO, Kalpa Retail, on the suite he wants every Monday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656082" cy="185166"/>
          </a:xfrm>
          <a:prstGeom prst="rect">
            <a:avLst/>
          </a:prstGeom>
          <a:noFill/>
        </p:spPr>
        <p:txBody>
          <a:bodyPr wrap="square" anchor="t" lIns="0" rIns="0" tIns="0" bIns="0">
            <a:spAutoFit/>
          </a:bodyPr>
          <a:lstStyle/>
          <a:p>
            <a:pPr algn="l"/>
            <a:r>
              <a:rPr sz="900" b="0" i="0">
                <a:solidFill>
                  <a:srgbClr val="FFFFFF"/>
                </a:solidFill>
                <a:latin typeface="Calibri"/>
              </a:rPr>
              <a:t>The case</a:t>
            </a:r>
          </a:p>
        </p:txBody>
      </p:sp>
      <p:sp>
        <p:nvSpPr>
          <p:cNvPr id="13" name="TextBox 12"/>
          <p:cNvSpPr txBox="1"/>
          <p:nvPr/>
        </p:nvSpPr>
        <p:spPr>
          <a:xfrm>
            <a:off x="184480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228850"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24526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3629310"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queries that reproduce Week 1's tree by segment and quarter, written for an auditor.</a:t>
            </a:r>
          </a:p>
        </p:txBody>
      </p:sp>
      <p:sp>
        <p:nvSpPr>
          <p:cNvPr id="10" name="Rounded Rectangle 9"/>
          <p:cNvSpPr/>
          <p:nvPr/>
        </p:nvSpPr>
        <p:spPr>
          <a:xfrm>
            <a:off x="731519" y="5074920"/>
            <a:ext cx="83948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numbers, from the warehouse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the analyst reruns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file, six queries, one comment line above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QUERIES</a:t>
            </a:r>
          </a:p>
        </p:txBody>
      </p:sp>
      <p:sp>
        <p:nvSpPr>
          <p:cNvPr id="11" name="TextBox 10"/>
          <p:cNvSpPr txBox="1"/>
          <p:nvPr/>
        </p:nvSpPr>
        <p:spPr>
          <a:xfrm>
            <a:off x="530352"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sql/C2_W02_D01_04_monday_suite_STUDENT.sql</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four segments, two quarters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alone, no hints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LETTERS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posted from the hands-on notebook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2" name="Oval 3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one rung of the morning, put to work.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A</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book</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and revenue per quarter, with the change against Q1.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B</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Customers</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bought in each quarter, against the members on the book.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C</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leaves</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per segment and quarter.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D</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typical order</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median beside the mean, and the cells too thin for a rate.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moved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Two CTEs, one row per segment, and the sentence to Anand.</a:t>
            </a:r>
          </a:p>
        </p:txBody>
      </p:sp>
      <p:sp>
        <p:nvSpPr>
          <p:cNvPr id="35" name="TextBox 34"/>
          <p:cNvSpPr txBox="1"/>
          <p:nvPr/>
        </p:nvSpPr>
        <p:spPr>
          <a:xfrm>
            <a:off x="530352" y="42763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brief is exercises/unguided/C2_W02_D01_monday_suite_brief_STUDENT.md.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8" name="Oval 37"/>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0" name="Oval 39"/>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five rules the analyst audits against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number that breaks one of these does not reach Anand.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6647056"/>
                <a:gridCol w="4483934"/>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rules out</a:t>
                      </a:r>
                    </a:p>
                  </a:txBody>
                  <a:tcPr marL="101600" marR="101600" marT="38100" marB="38100" anchor="ctr">
                    <a:solidFill>
                      <a:srgbClr val="1A0F5C"/>
                    </a:solidFill>
                  </a:tcPr>
                </a:tc>
              </a:tr>
              <a:tr h="369824">
                <a:tc>
                  <a:txBody>
                    <a:bodyPr/>
                    <a:lstStyle/>
                    <a:p>
                      <a:r>
                        <a:rPr sz="1400" b="0" i="0">
                          <a:solidFill>
                            <a:srgbClr val="1A1440"/>
                          </a:solidFill>
                          <a:latin typeface="Calibri"/>
                        </a:rPr>
                        <a:t>Revenue means booked revenue, and the comment says so</a:t>
                      </a:r>
                    </a:p>
                  </a:txBody>
                  <a:tcPr marL="101600" marR="101600" marT="38100" marB="38100" anchor="ctr">
                    <a:solidFill>
                      <a:srgbClr val="FFFFFF"/>
                    </a:solidFill>
                  </a:tcPr>
                </a:tc>
                <a:tc>
                  <a:txBody>
                    <a:bodyPr/>
                    <a:lstStyle/>
                    <a:p>
                      <a:r>
                        <a:rPr sz="1400" b="0" i="0">
                          <a:solidFill>
                            <a:srgbClr val="1A1440"/>
                          </a:solidFill>
                          <a:latin typeface="Calibri"/>
                        </a:rPr>
                        <a:t>A total with no definition</a:t>
                      </a:r>
                    </a:p>
                  </a:txBody>
                  <a:tcPr marL="101600" marR="101600" marT="38100" marB="38100" anchor="ctr">
                    <a:solidFill>
                      <a:srgbClr val="FFFFFF"/>
                    </a:solidFill>
                  </a:tcPr>
                </a:tc>
              </a:tr>
              <a:tr h="369824">
                <a:tc>
                  <a:txBody>
                    <a:bodyPr/>
                    <a:lstStyle/>
                    <a:p>
                      <a:r>
                        <a:rPr sz="1400" b="0" i="0">
                          <a:solidFill>
                            <a:srgbClr val="1A1440"/>
                          </a:solidFill>
                          <a:latin typeface="Calibri"/>
                        </a:rPr>
                        <a:t>A customer is counted once</a:t>
                      </a:r>
                    </a:p>
                  </a:txBody>
                  <a:tcPr marL="101600" marR="101600" marT="38100" marB="38100" anchor="ctr">
                    <a:solidFill>
                      <a:srgbClr val="F4F2FA"/>
                    </a:solidFill>
                  </a:tcPr>
                </a:tc>
                <a:tc>
                  <a:txBody>
                    <a:bodyPr/>
                    <a:lstStyle/>
                    <a:p>
                      <a:r>
                        <a:rPr sz="1400" b="0" i="0">
                          <a:solidFill>
                            <a:srgbClr val="1A1440"/>
                          </a:solidFill>
                          <a:latin typeface="Calibri"/>
                        </a:rPr>
                        <a:t>count(*) read as customers</a:t>
                      </a:r>
                    </a:p>
                  </a:txBody>
                  <a:tcPr marL="101600" marR="101600" marT="38100" marB="38100" anchor="ctr">
                    <a:solidFill>
                      <a:srgbClr val="F4F2FA"/>
                    </a:solidFill>
                  </a:tcPr>
                </a:tc>
              </a:tr>
              <a:tr h="369824">
                <a:tc>
                  <a:txBody>
                    <a:bodyPr/>
                    <a:lstStyle/>
                    <a:p>
                      <a:r>
                        <a:rPr sz="1400" b="0" i="0">
                          <a:solidFill>
                            <a:srgbClr val="1A1440"/>
                          </a:solidFill>
                          <a:latin typeface="Calibri"/>
                        </a:rPr>
                        <a:t>Every ratio is divided in numeric and rounded on purpose</a:t>
                      </a:r>
                    </a:p>
                  </a:txBody>
                  <a:tcPr marL="101600" marR="101600" marT="38100" marB="38100" anchor="ctr">
                    <a:solidFill>
                      <a:srgbClr val="FFFFFF"/>
                    </a:solidFill>
                  </a:tcPr>
                </a:tc>
                <a:tc>
                  <a:txBody>
                    <a:bodyPr/>
                    <a:lstStyle/>
                    <a:p>
                      <a:r>
                        <a:rPr sz="1400" b="0" i="0">
                          <a:solidFill>
                            <a:srgbClr val="1A1440"/>
                          </a:solidFill>
                          <a:latin typeface="Calibri"/>
                        </a:rPr>
                        <a:t>140 / 76 printed as 1</a:t>
                      </a:r>
                    </a:p>
                  </a:txBody>
                  <a:tcPr marL="101600" marR="101600" marT="38100" marB="38100" anchor="ctr">
                    <a:solidFill>
                      <a:srgbClr val="FFFFFF"/>
                    </a:solidFill>
                  </a:tcPr>
                </a:tc>
              </a:tr>
              <a:tr h="369824">
                <a:tc>
                  <a:txBody>
                    <a:bodyPr/>
                    <a:lstStyle/>
                    <a:p>
                      <a:r>
                        <a:rPr sz="1400" b="0" i="0">
                          <a:solidFill>
                            <a:srgbClr val="1A1440"/>
                          </a:solidFill>
                          <a:latin typeface="Calibri"/>
                        </a:rPr>
                        <a:t>Every list has an ORDER BY on a unique key</a:t>
                      </a:r>
                    </a:p>
                  </a:txBody>
                  <a:tcPr marL="101600" marR="101600" marT="38100" marB="38100" anchor="ctr">
                    <a:solidFill>
                      <a:srgbClr val="F4F2FA"/>
                    </a:solidFill>
                  </a:tcPr>
                </a:tc>
                <a:tc>
                  <a:txBody>
                    <a:bodyPr/>
                    <a:lstStyle/>
                    <a:p>
                      <a:r>
                        <a:rPr sz="1400" b="0" i="0">
                          <a:solidFill>
                            <a:srgbClr val="1A1440"/>
                          </a:solidFill>
                          <a:latin typeface="Calibri"/>
                        </a:rPr>
                        <a:t>Two runs, two answers</a:t>
                      </a:r>
                    </a:p>
                  </a:txBody>
                  <a:tcPr marL="101600" marR="101600" marT="38100" marB="38100" anchor="ctr">
                    <a:solidFill>
                      <a:srgbClr val="F4F2FA"/>
                    </a:solidFill>
                  </a:tcPr>
                </a:tc>
              </a:tr>
              <a:tr h="369824">
                <a:tc>
                  <a:txBody>
                    <a:bodyPr/>
                    <a:lstStyle/>
                    <a:p>
                      <a:r>
                        <a:rPr sz="1400" b="0" i="0">
                          <a:solidFill>
                            <a:srgbClr val="1A1440"/>
                          </a:solidFill>
                          <a:latin typeface="Calibri"/>
                        </a:rPr>
                        <a:t>A step that feeds another step is a named CTE</a:t>
                      </a:r>
                    </a:p>
                  </a:txBody>
                  <a:tcPr marL="101600" marR="101600" marT="38100" marB="38100" anchor="ctr">
                    <a:solidFill>
                      <a:srgbClr val="FFFFFF"/>
                    </a:solidFill>
                  </a:tcPr>
                </a:tc>
                <a:tc>
                  <a:txBody>
                    <a:bodyPr/>
                    <a:lstStyle/>
                    <a:p>
                      <a:r>
                        <a:rPr sz="1400" b="0" i="0">
                          <a:solidFill>
                            <a:srgbClr val="1A1440"/>
                          </a:solidFill>
                          <a:latin typeface="Calibri"/>
                        </a:rPr>
                        <a:t>A query nobody can read top to bottom</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as the analyst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queries in the order of the tree, each checkable against the one before.</a:t>
            </a:r>
          </a:p>
        </p:txBody>
      </p:sp>
      <p:pic>
        <p:nvPicPr>
          <p:cNvPr id="9" name="mermaid diagram" descr="1b5bd9a02d4c377f.png"/>
          <p:cNvPicPr>
            <a:picLocks noChangeAspect="1"/>
          </p:cNvPicPr>
          <p:nvPr/>
        </p:nvPicPr>
        <p:blipFill>
          <a:blip r:embed="rId6"/>
          <a:stretch>
            <a:fillRect/>
          </a:stretch>
        </p:blipFill>
        <p:spPr>
          <a:xfrm>
            <a:off x="530352" y="1956816"/>
            <a:ext cx="11130991" cy="672934"/>
          </a:xfrm>
          <a:prstGeom prst="rect">
            <a:avLst/>
          </a:prstGeom>
        </p:spPr>
      </p:pic>
      <p:sp>
        <p:nvSpPr>
          <p:cNvPr id="10" name="Rounded Rectangle 9"/>
          <p:cNvSpPr/>
          <p:nvPr/>
        </p:nvSpPr>
        <p:spPr>
          <a:xfrm>
            <a:off x="530352" y="27760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082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218014"/>
            <a:ext cx="237744" cy="237744"/>
          </a:xfrm>
          <a:prstGeom prst="rect">
            <a:avLst/>
          </a:prstGeom>
        </p:spPr>
      </p:pic>
      <p:sp>
        <p:nvSpPr>
          <p:cNvPr id="13" name="TextBox 12"/>
          <p:cNvSpPr txBox="1"/>
          <p:nvPr/>
        </p:nvSpPr>
        <p:spPr>
          <a:xfrm>
            <a:off x="1399031" y="29223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141814"/>
            <a:ext cx="9987991" cy="682752"/>
          </a:xfrm>
          <a:prstGeom prst="rect">
            <a:avLst/>
          </a:prstGeom>
          <a:noFill/>
        </p:spPr>
        <p:txBody>
          <a:bodyPr wrap="square" anchor="t" lIns="0" rIns="0" tIns="0" bIns="0">
            <a:spAutoFit/>
          </a:bodyPr>
          <a:lstStyle/>
          <a:p>
            <a:r>
              <a:rPr sz="1500" b="0" i="0">
                <a:solidFill>
                  <a:srgbClr val="1A1440"/>
                </a:solidFill>
                <a:latin typeface="Calibri"/>
              </a:rPr>
              <a:t>Each query checks the one before it: the leaves add back to the book, and the change in query 6 matches the revenue in query 3.</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7" name="Oval 16"/>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answers the room gave, each with the number it produced and the check that caught it.</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numbers, from the warehouse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ships a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lines a learner posted from the suite. Each runs without an error.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line a</a:t>
            </a:r>
          </a:p>
          <a:p>
            <a:pPr>
              <a:spcAft>
                <a:spcPts val="200"/>
              </a:spcAft>
            </a:pPr>
            <a:r>
              <a:rPr sz="1400" b="0" i="0">
                <a:solidFill>
                  <a:srgbClr val="E4E1F1"/>
                </a:solidFill>
                <a:latin typeface="Consolas"/>
              </a:rPr>
              <a:t>count(*) / count(DISTINCT o.customer_id) AS orders_per_customer</a:t>
            </a:r>
          </a:p>
          <a:p>
            <a:pPr>
              <a:spcAft>
                <a:spcPts val="200"/>
              </a:spcAft>
            </a:pPr>
            <a:r>
              <a:rPr sz="1400" b="0" i="0">
                <a:solidFill>
                  <a:srgbClr val="A9A3D2"/>
                </a:solidFill>
                <a:latin typeface="Consolas"/>
              </a:rPr>
              <a:t>-- line b</a:t>
            </a:r>
          </a:p>
          <a:p>
            <a:pPr>
              <a:spcAft>
                <a:spcPts val="200"/>
              </a:spcAft>
            </a:pPr>
            <a:r>
              <a:rPr sz="1400" b="0" i="0">
                <a:solidFill>
                  <a:srgbClr val="E4E1F1"/>
                </a:solidFill>
                <a:latin typeface="Consolas"/>
              </a:rPr>
              <a:t>sum(o.amount) / count(*) AS revenue_per_order</a:t>
            </a:r>
          </a:p>
          <a:p>
            <a:pPr>
              <a:spcAft>
                <a:spcPts val="200"/>
              </a:spcAft>
            </a:pPr>
            <a:r>
              <a:rPr sz="1400" b="0" i="0">
                <a:solidFill>
                  <a:srgbClr val="A9A3D2"/>
                </a:solidFill>
                <a:latin typeface="Consolas"/>
              </a:rPr>
              <a:t>-- line c</a:t>
            </a:r>
          </a:p>
          <a:p>
            <a:pPr>
              <a:spcAft>
                <a:spcPts val="200"/>
              </a:spcAft>
            </a:pPr>
            <a:r>
              <a:rPr sz="1400" b="0" i="0">
                <a:solidFill>
                  <a:srgbClr val="E4E1F1"/>
                </a:solidFill>
                <a:latin typeface="Consolas"/>
              </a:rPr>
              <a:t>round(count(*)::numeric / count(DISTINCT o.customer_id), 2) AS orders_per_customer</a:t>
            </a:r>
          </a:p>
        </p:txBody>
      </p:sp>
      <p:sp>
        <p:nvSpPr>
          <p:cNvPr id="14" name="Rounded Rectangle 13"/>
          <p:cNvSpPr/>
          <p:nvPr/>
        </p:nvSpPr>
        <p:spPr>
          <a:xfrm>
            <a:off x="530352" y="409346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puts a wrong number on Anand's sheet? a) Line a; b) line b; c) line c; d) none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9" name="Oval 18"/>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line a, and it reads Retail-Plus as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Integer division again; line b is right because amount is numeric.</a:t>
            </a:r>
          </a:p>
        </p:txBody>
      </p:sp>
      <p:pic>
        <p:nvPicPr>
          <p:cNvPr id="9" name="mermaid diagram" descr="34109e70f5df5d9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Line b divides a numeric sum by an integer count, so Postgres keeps the fraction. The difference is the type of the numerator, and nothing on the grid shows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wrong numbers of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one looks like a finished result, and each one flips a decision.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471404"/>
                <a:gridCol w="3183045"/>
                <a:gridCol w="2471404"/>
                <a:gridCol w="3005135"/>
              </a:tblGrid>
              <a:tr h="335280">
                <a:tc>
                  <a:txBody>
                    <a:bodyPr/>
                    <a:lstStyle/>
                    <a:p>
                      <a:r>
                        <a:rPr sz="1250" b="1" i="0">
                          <a:solidFill>
                            <a:srgbClr val="FFFFFF"/>
                          </a:solidFill>
                          <a:latin typeface="Calibri"/>
                        </a:rPr>
                        <a:t>The hurried query</a:t>
                      </a:r>
                    </a:p>
                  </a:txBody>
                  <a:tcPr marL="101600" marR="101600" marT="38100" marB="38100" anchor="ctr">
                    <a:solidFill>
                      <a:srgbClr val="1A0F5C"/>
                    </a:solidFill>
                  </a:tcPr>
                </a:tc>
                <a:tc>
                  <a:txBody>
                    <a:bodyPr/>
                    <a:lstStyle/>
                    <a:p>
                      <a:r>
                        <a:rPr sz="1250" b="1" i="0">
                          <a:solidFill>
                            <a:srgbClr val="FFFFFF"/>
                          </a:solidFill>
                          <a:latin typeface="Calibri"/>
                        </a:rPr>
                        <a:t>The wrong number</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The honest number</a:t>
                      </a:r>
                    </a:p>
                  </a:txBody>
                  <a:tcPr marL="101600" marR="101600" marT="38100" marB="38100" anchor="ctr">
                    <a:solidFill>
                      <a:srgbClr val="1A0F5C"/>
                    </a:solidFill>
                  </a:tcPr>
                </a:tc>
              </a:tr>
              <a:tr h="335280">
                <a:tc>
                  <a:txBody>
                    <a:bodyPr/>
                    <a:lstStyle/>
                    <a:p>
                      <a:r>
                        <a:rPr sz="1200" b="0" i="0">
                          <a:solidFill>
                            <a:srgbClr val="1A1440"/>
                          </a:solidFill>
                          <a:latin typeface="Calibri"/>
                        </a:rPr>
                        <a:t>count(*) as customers</a:t>
                      </a:r>
                    </a:p>
                  </a:txBody>
                  <a:tcPr marL="101600" marR="101600" marT="38100" marB="38100" anchor="ctr">
                    <a:solidFill>
                      <a:srgbClr val="FFFFFF"/>
                    </a:solidFill>
                  </a:tcPr>
                </a:tc>
                <a:tc>
                  <a:txBody>
                    <a:bodyPr/>
                    <a:lstStyle/>
                    <a:p>
                      <a:r>
                        <a:rPr sz="1200" b="0" i="0">
                          <a:solidFill>
                            <a:srgbClr val="1A1440"/>
                          </a:solidFill>
                          <a:latin typeface="Calibri"/>
                        </a:rPr>
                        <a:t>1,000 customers, 1.00 orders each</a:t>
                      </a:r>
                    </a:p>
                  </a:txBody>
                  <a:tcPr marL="101600" marR="101600" marT="38100" marB="38100" anchor="ctr">
                    <a:solidFill>
                      <a:srgbClr val="FFFFFF"/>
                    </a:solidFill>
                  </a:tcPr>
                </a:tc>
                <a:tc>
                  <a:txBody>
                    <a:bodyPr/>
                    <a:lstStyle/>
                    <a:p>
                      <a:r>
                        <a:rPr sz="1200" b="0" i="0">
                          <a:solidFill>
                            <a:srgbClr val="1A1440"/>
                          </a:solidFill>
                          <a:latin typeface="Calibri"/>
                        </a:rPr>
                        <a:t>count three ways</a:t>
                      </a:r>
                    </a:p>
                  </a:txBody>
                  <a:tcPr marL="101600" marR="101600" marT="38100" marB="38100" anchor="ctr">
                    <a:solidFill>
                      <a:srgbClr val="FFFFFF"/>
                    </a:solidFill>
                  </a:tcPr>
                </a:tc>
                <a:tc>
                  <a:txBody>
                    <a:bodyPr/>
                    <a:lstStyle/>
                    <a:p>
                      <a:r>
                        <a:rPr sz="1200" b="0" i="0">
                          <a:solidFill>
                            <a:srgbClr val="1A1440"/>
                          </a:solidFill>
                          <a:latin typeface="Calibri"/>
                        </a:rPr>
                        <a:t>301 customers, 3.32 orders each</a:t>
                      </a:r>
                    </a:p>
                  </a:txBody>
                  <a:tcPr marL="101600" marR="101600" marT="38100" marB="38100" anchor="ctr">
                    <a:solidFill>
                      <a:srgbClr val="FFFFFF"/>
                    </a:solidFill>
                  </a:tcPr>
                </a:tc>
              </a:tr>
              <a:tr h="335280">
                <a:tc>
                  <a:txBody>
                    <a:bodyPr/>
                    <a:lstStyle/>
                    <a:p>
                      <a:r>
                        <a:rPr sz="1200" b="0" i="0">
                          <a:solidFill>
                            <a:srgbClr val="1A1440"/>
                          </a:solidFill>
                          <a:latin typeface="Calibri"/>
                        </a:rPr>
                        <a:t>LIMIT 5, no ORDER BY</a:t>
                      </a:r>
                    </a:p>
                  </a:txBody>
                  <a:tcPr marL="101600" marR="101600" marT="38100" marB="38100" anchor="ctr">
                    <a:solidFill>
                      <a:srgbClr val="F4F2FA"/>
                    </a:solidFill>
                  </a:tcPr>
                </a:tc>
                <a:tc>
                  <a:txBody>
                    <a:bodyPr/>
                    <a:lstStyle/>
                    <a:p>
                      <a:r>
                        <a:rPr sz="1200" b="0" i="0">
                          <a:solidFill>
                            <a:srgbClr val="1A1440"/>
                          </a:solidFill>
                          <a:latin typeface="Calibri"/>
                        </a:rPr>
                        <a:t>Rs 3,900 audited, Rs 4,590 rerun</a:t>
                      </a:r>
                    </a:p>
                  </a:txBody>
                  <a:tcPr marL="101600" marR="101600" marT="38100" marB="38100" anchor="ctr">
                    <a:solidFill>
                      <a:srgbClr val="F4F2FA"/>
                    </a:solidFill>
                  </a:tcPr>
                </a:tc>
                <a:tc>
                  <a:txBody>
                    <a:bodyPr/>
                    <a:lstStyle/>
                    <a:p>
                      <a:r>
                        <a:rPr sz="1200" b="0" i="0">
                          <a:solidFill>
                            <a:srgbClr val="1A1440"/>
                          </a:solidFill>
                          <a:latin typeface="Calibri"/>
                        </a:rPr>
                        <a:t>rerun after a reload</a:t>
                      </a:r>
                    </a:p>
                  </a:txBody>
                  <a:tcPr marL="101600" marR="101600" marT="38100" marB="38100" anchor="ctr">
                    <a:solidFill>
                      <a:srgbClr val="F4F2FA"/>
                    </a:solidFill>
                  </a:tcPr>
                </a:tc>
                <a:tc>
                  <a:txBody>
                    <a:bodyPr/>
                    <a:lstStyle/>
                    <a:p>
                      <a:r>
                        <a:rPr sz="1200" b="0" i="0">
                          <a:solidFill>
                            <a:srgbClr val="1A1440"/>
                          </a:solidFill>
                          <a:latin typeface="Calibri"/>
                        </a:rPr>
                        <a:t>the same five, every run</a:t>
                      </a:r>
                    </a:p>
                  </a:txBody>
                  <a:tcPr marL="101600" marR="101600" marT="38100" marB="38100" anchor="ctr">
                    <a:solidFill>
                      <a:srgbClr val="F4F2FA"/>
                    </a:solidFill>
                  </a:tcPr>
                </a:tc>
              </a:tr>
              <a:tr h="335280">
                <a:tc>
                  <a:txBody>
                    <a:bodyPr/>
                    <a:lstStyle/>
                    <a:p>
                      <a:r>
                        <a:rPr sz="1200" b="0" i="0">
                          <a:solidFill>
                            <a:srgbClr val="1A1440"/>
                          </a:solidFill>
                          <a:latin typeface="Calibri"/>
                        </a:rPr>
                        <a:t>count / count in integers</a:t>
                      </a:r>
                    </a:p>
                  </a:txBody>
                  <a:tcPr marL="101600" marR="101600" marT="38100" marB="38100" anchor="ctr">
                    <a:solidFill>
                      <a:srgbClr val="FFFFFF"/>
                    </a:solidFill>
                  </a:tcPr>
                </a:tc>
                <a:tc>
                  <a:txBody>
                    <a:bodyPr/>
                    <a:lstStyle/>
                    <a:p>
                      <a:r>
                        <a:rPr sz="1200" b="0" i="0">
                          <a:solidFill>
                            <a:srgbClr val="1A1440"/>
                          </a:solidFill>
                          <a:latin typeface="Calibri"/>
                        </a:rPr>
                        <a:t>Retail-Plus 2 to 1, halved</a:t>
                      </a:r>
                    </a:p>
                  </a:txBody>
                  <a:tcPr marL="101600" marR="101600" marT="38100" marB="38100" anchor="ctr">
                    <a:solidFill>
                      <a:srgbClr val="FFFFFF"/>
                    </a:solidFill>
                  </a:tcPr>
                </a:tc>
                <a:tc>
                  <a:txBody>
                    <a:bodyPr/>
                    <a:lstStyle/>
                    <a:p>
                      <a:r>
                        <a:rPr sz="1200" b="0" i="0">
                          <a:solidFill>
                            <a:srgbClr val="1A1440"/>
                          </a:solidFill>
                          <a:latin typeface="Calibri"/>
                        </a:rPr>
                        <a:t>multiply back</a:t>
                      </a:r>
                    </a:p>
                  </a:txBody>
                  <a:tcPr marL="101600" marR="101600" marT="38100" marB="38100" anchor="ctr">
                    <a:solidFill>
                      <a:srgbClr val="FFFFFF"/>
                    </a:solidFill>
                  </a:tcPr>
                </a:tc>
                <a:tc>
                  <a:txBody>
                    <a:bodyPr/>
                    <a:lstStyle/>
                    <a:p>
                      <a:r>
                        <a:rPr sz="1200" b="0" i="0">
                          <a:solidFill>
                            <a:srgbClr val="1A1440"/>
                          </a:solidFill>
                          <a:latin typeface="Calibri"/>
                        </a:rPr>
                        <a:t>2.36 to 1.84, 22% down</a:t>
                      </a:r>
                    </a:p>
                  </a:txBody>
                  <a:tcPr marL="101600" marR="101600" marT="38100" marB="38100" anchor="ctr">
                    <a:solidFill>
                      <a:srgbClr val="FFFFFF"/>
                    </a:solidFill>
                  </a:tcPr>
                </a:tc>
              </a:tr>
              <a:tr h="335280">
                <a:tc>
                  <a:txBody>
                    <a:bodyPr/>
                    <a:lstStyle/>
                    <a:p>
                      <a:r>
                        <a:rPr sz="1200" b="0" i="0">
                          <a:solidFill>
                            <a:srgbClr val="1A1440"/>
                          </a:solidFill>
                          <a:latin typeface="Calibri"/>
                        </a:rPr>
                        <a:t>avg over NULLs</a:t>
                      </a:r>
                    </a:p>
                  </a:txBody>
                  <a:tcPr marL="101600" marR="101600" marT="38100" marB="38100" anchor="ctr">
                    <a:solidFill>
                      <a:srgbClr val="F4F2FA"/>
                    </a:solidFill>
                  </a:tcPr>
                </a:tc>
                <a:tc>
                  <a:txBody>
                    <a:bodyPr/>
                    <a:lstStyle/>
                    <a:p>
                      <a:r>
                        <a:rPr sz="1200" b="0" i="0">
                          <a:solidFill>
                            <a:srgbClr val="1A1440"/>
                          </a:solidFill>
                          <a:latin typeface="Calibri"/>
                        </a:rPr>
                        <a:t>spend per member 15.5% down</a:t>
                      </a:r>
                    </a:p>
                  </a:txBody>
                  <a:tcPr marL="101600" marR="101600" marT="38100" marB="38100" anchor="ctr">
                    <a:solidFill>
                      <a:srgbClr val="F4F2FA"/>
                    </a:solidFill>
                  </a:tcPr>
                </a:tc>
                <a:tc>
                  <a:txBody>
                    <a:bodyPr/>
                    <a:lstStyle/>
                    <a:p>
                      <a:r>
                        <a:rPr sz="1200" b="0" i="0">
                          <a:solidFill>
                            <a:srgbClr val="1A1440"/>
                          </a:solidFill>
                          <a:latin typeface="Calibri"/>
                        </a:rPr>
                        <a:t>count(*) against count(x)</a:t>
                      </a:r>
                    </a:p>
                  </a:txBody>
                  <a:tcPr marL="101600" marR="101600" marT="38100" marB="38100" anchor="ctr">
                    <a:solidFill>
                      <a:srgbClr val="F4F2FA"/>
                    </a:solidFill>
                  </a:tcPr>
                </a:tc>
                <a:tc>
                  <a:txBody>
                    <a:bodyPr/>
                    <a:lstStyle/>
                    <a:p>
                      <a:r>
                        <a:rPr sz="1200" b="0" i="0">
                          <a:solidFill>
                            <a:srgbClr val="1A1440"/>
                          </a:solidFill>
                          <a:latin typeface="Calibri"/>
                        </a:rPr>
                        <a:t>29.4% down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suite says: Retail-Plus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Query 6, the one row per segment Anand reads first.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276408"/>
                <a:gridCol w="2124456"/>
                <a:gridCol w="2124456"/>
                <a:gridCol w="2494426"/>
                <a:gridCol w="211124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Frequency</a:t>
                      </a:r>
                    </a:p>
                  </a:txBody>
                  <a:tcPr marL="101600" marR="101600" marT="38100" marB="38100" anchor="ctr">
                    <a:solidFill>
                      <a:srgbClr val="1A0F5C"/>
                    </a:solidFill>
                  </a:tcPr>
                </a:tc>
                <a:tc>
                  <a:txBody>
                    <a:bodyPr/>
                    <a:lstStyle/>
                    <a:p>
                      <a:r>
                        <a:rPr sz="1250" b="1" i="0">
                          <a:solidFill>
                            <a:srgbClr val="FFFFFF"/>
                          </a:solidFill>
                          <a:latin typeface="Calibri"/>
                        </a:rPr>
                        <a:t>Order value</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2.8% down</a:t>
                      </a:r>
                    </a:p>
                  </a:txBody>
                  <a:tcPr marL="101600" marR="101600" marT="38100" marB="38100" anchor="ctr">
                    <a:solidFill>
                      <a:srgbClr val="FFFFFF"/>
                    </a:solidFill>
                  </a:tcPr>
                </a:tc>
                <a:tc>
                  <a:txBody>
                    <a:bodyPr/>
                    <a:lstStyle/>
                    <a:p>
                      <a:r>
                        <a:rPr sz="1200" b="0" i="0">
                          <a:solidFill>
                            <a:srgbClr val="1A1440"/>
                          </a:solidFill>
                          <a:latin typeface="Calibri"/>
                        </a:rPr>
                        <a:t>3.5% down</a:t>
                      </a:r>
                    </a:p>
                  </a:txBody>
                  <a:tcPr marL="101600" marR="101600" marT="38100" marB="38100" anchor="ctr">
                    <a:solidFill>
                      <a:srgbClr val="FFFFFF"/>
                    </a:solidFill>
                  </a:tcPr>
                </a:tc>
                <a:tc>
                  <a:txBody>
                    <a:bodyPr/>
                    <a:lstStyle/>
                    <a:p>
                      <a:r>
                        <a:rPr sz="1200" b="0" i="0">
                          <a:solidFill>
                            <a:srgbClr val="1A1440"/>
                          </a:solidFill>
                          <a:latin typeface="Calibri"/>
                        </a:rPr>
                        <a:t>5.1% up</a:t>
                      </a:r>
                    </a:p>
                  </a:txBody>
                  <a:tcPr marL="101600" marR="101600" marT="38100" marB="38100" anchor="ctr">
                    <a:solidFill>
                      <a:srgbClr val="FFFFFF"/>
                    </a:solidFill>
                  </a:tcPr>
                </a:tc>
                <a:tc>
                  <a:txBody>
                    <a:bodyPr/>
                    <a:lstStyle/>
                    <a:p>
                      <a:r>
                        <a:rPr sz="1200" b="0" i="0">
                          <a:solidFill>
                            <a:srgbClr val="1A1440"/>
                          </a:solidFill>
                          <a:latin typeface="Calibri"/>
                        </a:rPr>
                        <a:t>1.4% down</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5.9% down</a:t>
                      </a:r>
                    </a:p>
                  </a:txBody>
                  <a:tcPr marL="101600" marR="101600" marT="38100" marB="38100" anchor="ctr">
                    <a:solidFill>
                      <a:srgbClr val="F4F2FA"/>
                    </a:solidFill>
                  </a:tcPr>
                </a:tc>
                <a:tc>
                  <a:txBody>
                    <a:bodyPr/>
                    <a:lstStyle/>
                    <a:p>
                      <a:r>
                        <a:rPr sz="1200" b="0" i="0">
                          <a:solidFill>
                            <a:srgbClr val="1A1440"/>
                          </a:solidFill>
                          <a:latin typeface="Calibri"/>
                        </a:rPr>
                        <a:t>3.0% up</a:t>
                      </a:r>
                    </a:p>
                  </a:txBody>
                  <a:tcPr marL="101600" marR="101600" marT="38100" marB="38100" anchor="ctr">
                    <a:solidFill>
                      <a:srgbClr val="F4F2FA"/>
                    </a:solidFill>
                  </a:tcPr>
                </a:tc>
                <a:tc>
                  <a:txBody>
                    <a:bodyPr/>
                    <a:lstStyle/>
                    <a:p>
                      <a:r>
                        <a:rPr sz="1200" b="0" i="0">
                          <a:solidFill>
                            <a:srgbClr val="1A1440"/>
                          </a:solidFill>
                          <a:latin typeface="Calibri"/>
                        </a:rPr>
                        <a:t>1.2% up</a:t>
                      </a:r>
                    </a:p>
                  </a:txBody>
                  <a:tcPr marL="101600" marR="101600" marT="38100" marB="38100" anchor="ctr">
                    <a:solidFill>
                      <a:srgbClr val="F4F2FA"/>
                    </a:solidFill>
                  </a:tcPr>
                </a:tc>
                <a:tc>
                  <a:txBody>
                    <a:bodyPr/>
                    <a:lstStyle/>
                    <a:p>
                      <a:r>
                        <a:rPr sz="1200" b="0" i="0">
                          <a:solidFill>
                            <a:srgbClr val="1A1440"/>
                          </a:solidFill>
                          <a:latin typeface="Calibri"/>
                        </a:rPr>
                        <a:t>1.8% down</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16.5% down</a:t>
                      </a:r>
                    </a:p>
                  </a:txBody>
                  <a:tcPr marL="101600" marR="101600" marT="38100" marB="38100" anchor="ctr">
                    <a:solidFill>
                      <a:srgbClr val="FFFFFF"/>
                    </a:solidFill>
                  </a:tcPr>
                </a:tc>
                <a:tc>
                  <a:txBody>
                    <a:bodyPr/>
                    <a:lstStyle/>
                    <a:p>
                      <a:r>
                        <a:rPr sz="1200" b="0" i="0">
                          <a:solidFill>
                            <a:srgbClr val="1A1440"/>
                          </a:solidFill>
                          <a:latin typeface="Calibri"/>
                        </a:rPr>
                        <a:t>22.0% down</a:t>
                      </a:r>
                    </a:p>
                  </a:txBody>
                  <a:tcPr marL="101600" marR="101600" marT="38100" marB="38100" anchor="ctr">
                    <a:solidFill>
                      <a:srgbClr val="FFFFFF"/>
                    </a:solidFill>
                  </a:tcPr>
                </a:tc>
                <a:tc>
                  <a:txBody>
                    <a:bodyPr/>
                    <a:lstStyle/>
                    <a:p>
                      <a:r>
                        <a:rPr sz="1200" b="0" i="0">
                          <a:solidFill>
                            <a:srgbClr val="1A1440"/>
                          </a:solidFill>
                          <a:latin typeface="Calibri"/>
                        </a:rPr>
                        <a:t>8.4% up</a:t>
                      </a:r>
                    </a:p>
                  </a:txBody>
                  <a:tcPr marL="101600" marR="101600" marT="38100" marB="38100" anchor="ctr">
                    <a:solidFill>
                      <a:srgbClr val="FFFFFF"/>
                    </a:solidFill>
                  </a:tcPr>
                </a:tc>
                <a:tc>
                  <a:txBody>
                    <a:bodyPr/>
                    <a:lstStyle/>
                    <a:p>
                      <a:r>
                        <a:rPr sz="1200" b="0" i="0">
                          <a:solidFill>
                            <a:srgbClr val="1A1440"/>
                          </a:solidFill>
                          <a:latin typeface="Calibri"/>
                        </a:rPr>
                        <a:t>29.4% down</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33.3% up</a:t>
                      </a:r>
                    </a:p>
                  </a:txBody>
                  <a:tcPr marL="101600" marR="101600" marT="38100" marB="38100" anchor="ctr">
                    <a:solidFill>
                      <a:srgbClr val="F4F2FA"/>
                    </a:solidFill>
                  </a:tcPr>
                </a:tc>
                <a:tc>
                  <a:txBody>
                    <a:bodyPr/>
                    <a:lstStyle/>
                    <a:p>
                      <a:r>
                        <a:rPr sz="1200" b="0" i="0">
                          <a:solidFill>
                            <a:srgbClr val="1A1440"/>
                          </a:solidFill>
                          <a:latin typeface="Calibri"/>
                        </a:rPr>
                        <a:t>5.6% up</a:t>
                      </a:r>
                    </a:p>
                  </a:txBody>
                  <a:tcPr marL="101600" marR="101600" marT="38100" marB="38100" anchor="ctr">
                    <a:solidFill>
                      <a:srgbClr val="F4F2FA"/>
                    </a:solidFill>
                  </a:tcPr>
                </a:tc>
                <a:tc>
                  <a:txBody>
                    <a:bodyPr/>
                    <a:lstStyle/>
                    <a:p>
                      <a:r>
                        <a:rPr sz="1200" b="0" i="0">
                          <a:solidFill>
                            <a:srgbClr val="1A1440"/>
                          </a:solidFill>
                          <a:latin typeface="Calibri"/>
                        </a:rPr>
                        <a:t>4.9% down</a:t>
                      </a:r>
                    </a:p>
                  </a:txBody>
                  <a:tcPr marL="101600" marR="101600" marT="38100" marB="38100" anchor="ctr">
                    <a:solidFill>
                      <a:srgbClr val="F4F2FA"/>
                    </a:solidFill>
                  </a:tcPr>
                </a:tc>
                <a:tc>
                  <a:txBody>
                    <a:bodyPr/>
                    <a:lstStyle/>
                    <a:p>
                      <a:r>
                        <a:rPr sz="1200" b="0" i="0">
                          <a:solidFill>
                            <a:srgbClr val="1A1440"/>
                          </a:solidFill>
                          <a:latin typeface="Calibri"/>
                        </a:rPr>
                        <a:t>33.9% up</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and next step, in four sentences he can check.</a:t>
            </a:r>
          </a:p>
        </p:txBody>
      </p:sp>
      <p:pic>
        <p:nvPicPr>
          <p:cNvPr id="9" name="mermaid diagram" descr="e3f007be7ace300e.png"/>
          <p:cNvPicPr>
            <a:picLocks noChangeAspect="1"/>
          </p:cNvPicPr>
          <p:nvPr/>
        </p:nvPicPr>
        <p:blipFill>
          <a:blip r:embed="rId5"/>
          <a:stretch>
            <a:fillRect/>
          </a:stretch>
        </p:blipFill>
        <p:spPr>
          <a:xfrm>
            <a:off x="3174053" y="1956816"/>
            <a:ext cx="5843587"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Booked revenue fell 1.6 percent from Q1 to Q2, the same fall last week's extract showed, so the warehouse agrees with the note Meera accepted.</a:t>
            </a:r>
          </a:p>
        </p:txBody>
      </p:sp>
      <p:sp>
        <p:nvSpPr>
          <p:cNvPr id="13" name="Rounded Rectangle 12"/>
          <p:cNvSpPr/>
          <p:nvPr/>
        </p:nvSpPr>
        <p:spPr>
          <a:xfrm>
            <a:off x="530352" y="368979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178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08666"/>
            <a:ext cx="10564063" cy="624840"/>
          </a:xfrm>
          <a:prstGeom prst="rect">
            <a:avLst/>
          </a:prstGeom>
          <a:noFill/>
        </p:spPr>
        <p:txBody>
          <a:bodyPr wrap="square" anchor="ctr" lIns="0" rIns="0" tIns="0" bIns="0">
            <a:spAutoFit/>
          </a:bodyPr>
          <a:lstStyle/>
          <a:p>
            <a:r>
              <a:rPr sz="1500" b="1">
                <a:solidFill>
                  <a:srgbClr val="5B3FD6"/>
                </a:solidFill>
                <a:latin typeface="Calibri"/>
              </a:rPr>
              <a:t>The evidence. </a:t>
            </a:r>
            <a:r>
              <a:rPr sz="1500" b="0" i="0">
                <a:solidFill>
                  <a:srgbClr val="1A1440"/>
                </a:solidFill>
                <a:latin typeface="Calibri"/>
              </a:rPr>
              <a:t>The fall sits in Retail-Plus, down 29.4 percent: its members ordered less often, 2.36 to 1.84 per quarter, and fewer bought at all, 91 to 76; the other segments moved under 2 percent or grew.</a:t>
            </a:r>
          </a:p>
        </p:txBody>
      </p:sp>
      <p:sp>
        <p:nvSpPr>
          <p:cNvPr id="16" name="Rounded Rectangle 15"/>
          <p:cNvSpPr/>
          <p:nvPr/>
        </p:nvSpPr>
        <p:spPr>
          <a:xfrm>
            <a:off x="530352" y="466210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76656" y="479012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4780978"/>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This is booked revenue; Student's Q1 rate rests on 27 orders. </a:t>
            </a:r>
            <a:r>
              <a:rPr sz="1500" b="1" i="0">
                <a:solidFill>
                  <a:srgbClr val="1A1440"/>
                </a:solidFill>
                <a:latin typeface="Calibri"/>
              </a:rPr>
              <a:t>The next step.</a:t>
            </a:r>
            <a:r>
              <a:rPr sz="1500" b="0" i="0">
                <a:solidFill>
                  <a:srgbClr val="1A1440"/>
                </a:solidFill>
                <a:latin typeface="Calibri"/>
              </a:rPr>
              <a:t> Collected revenue, tomorrow.</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1" name="Oval 20"/>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3" name="Oval 22"/>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crux lines, the Kahoot, and tomorrow's question left open.</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numbers, from the warehouse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to carry out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four lines are on the cheat sheet, word for word.</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Count what you mean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COUNT(DISTINCT customer_id) counts people; count(*) counts rows.</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Divide in numeric and round on purpose</a:t>
            </a:r>
          </a:p>
        </p:txBody>
      </p:sp>
      <p:sp>
        <p:nvSpPr>
          <p:cNvPr id="20" name="TextBox 19"/>
          <p:cNvSpPr txBox="1"/>
          <p:nvPr/>
        </p:nvSpPr>
        <p:spPr>
          <a:xfrm>
            <a:off x="3559987"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Integers divide as integers.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23a236df91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who is averaged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AVG skips NULLs, so say whether a NULL means zero.</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LINE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 every list on a unique key</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CFC9EE"/>
                </a:solidFill>
                <a:latin typeface="Calibri"/>
              </a:rPr>
              <a:t>A table has no order.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35" name="Oval 34"/>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7" name="Oval 36"/>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questions the day equips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Tagged as the row tags them; the full answers are in the study notes.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Explain the logical order in which a SQL query executes.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stakeholder's analyst must audit your query; what changes in how you write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orders-per-customer column reads 1 for a segment; what do you check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case-style follow-ups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more questions an interviewer asks once the anchors are answered.</a:t>
            </a:r>
          </a:p>
        </p:txBody>
      </p:sp>
      <p:graphicFrame>
        <p:nvGraphicFramePr>
          <p:cNvPr id="10" name="Table 9"/>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KPI dropped 30 percent overnight and the data did not change; what in the query do you suspect?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An average moved, but the total did not; how can that happen?</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COUNT(*), COUNT(column) and COUNT(DISTINCT column): what does each count?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analysts report different customer counts for the same quarter; how do you settle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from today, one from Week 1 Thursday, one on the suite.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order and the filters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runs first, why WHERE count(*) fails, how many rows a GROUP BY returns.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traps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LIMIT without ORDER BY, what a CTE can see, one presence counter in one line.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return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discount's mix effect one level up, and the integer ratio.</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9" name="Oval 28"/>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1" name="Oval 30"/>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is not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reply to the Monday suite, left open.</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Some orders are paid in two instalments, some are refunded, some were never paid at all. Show me, order by order, what we actually collected against what we booked in Q2."</a:t>
            </a:r>
          </a:p>
          <a:p>
            <a:pPr>
              <a:spcBef>
                <a:spcPts val="400"/>
              </a:spcBef>
            </a:pPr>
            <a:r>
              <a:rPr sz="1000" b="0" i="0">
                <a:solidFill>
                  <a:srgbClr val="6B6690"/>
                </a:solidFill>
                <a:latin typeface="Calibri"/>
              </a:rPr>
              <a:t>Anand Iyer, CFO, Kalpa Retail</a:t>
            </a:r>
          </a:p>
        </p:txBody>
      </p:sp>
      <p:pic>
        <p:nvPicPr>
          <p:cNvPr id="11" name="mermaid diagram" descr="e22b3685878325e9.png"/>
          <p:cNvPicPr>
            <a:picLocks noChangeAspect="1"/>
          </p:cNvPicPr>
          <p:nvPr/>
        </p:nvPicPr>
        <p:blipFill>
          <a:blip r:embed="rId5"/>
          <a:stretch>
            <a:fillRect/>
          </a:stretch>
        </p:blipFill>
        <p:spPr>
          <a:xfrm>
            <a:off x="3266922" y="3413760"/>
            <a:ext cx="5657850"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4" name="Oval 13"/>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