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analyst's words aloud. The morning built every number on Anand's</a:t>
            </a:r>
          </a:p>
          <a:p>
            <a:r>
              <a:t>Monday sheet; the afternoon asks whether the suite repeats, then hands the room a case to run</a:t>
            </a:r>
          </a:p>
          <a:p>
            <a:r>
              <a:t>alone. The trainer's part of the afternoon is 60 minutes: chapter 6 (30), the escalated case's</a:t>
            </a:r>
          </a:p>
          <a:p>
            <a:r>
              <a:t>first two parts (20) and the Kahoot (10).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the book fell 1.6 percent, Retail-Plus</a:t>
            </a:r>
          </a:p>
          <a:p>
            <a:r>
              <a:t>carries the fall in orders, and every count, ratio and average on the sheet says what it counts.</a:t>
            </a:r>
          </a:p>
          <a:p>
            <a:r>
              <a:t>Q1 is April to June 2026 and Q2 is July to September 2026; revenue is booked revenue, every order</a:t>
            </a:r>
          </a:p>
          <a:p>
            <a:r>
              <a:t>at its amount.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fingerprint</a:t>
            </a:r>
          </a:p>
          <a:p>
            <a:r>
              <a:t>and the reload (5), the trap, its check and its fix (9, never cut), the second route (3), the</a:t>
            </a:r>
          </a:p>
          <a:p>
            <a:r>
              <a:t>sentence to Anand (3) and the close (2). Notebook 6 and sql/C2_W02_D01_06_same_answer_STUDENT.sql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ERP is the enterprise system where Finance books every order; the analyst</a:t>
            </a:r>
          </a:p>
          <a:p>
            <a:r>
              <a:t>traces a sample of warehouse orders back to it to prove the warehouse matches the books. Q2 is July</a:t>
            </a:r>
          </a:p>
          <a:p>
            <a:r>
              <a:t>to September 2026. Then a company that checks every run before anyone reads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Michelle Ufford's talk "Whoops, The Numbers Are Wrong! Scaling Data Quality @</a:t>
            </a:r>
          </a:p>
          <a:p>
            <a:r>
              <a:t>Netflix" at DataWorks Summit, San Jose, 13 June 2017. One of its slides sets a new batch of 17,240</a:t>
            </a:r>
          </a:p>
          <a:p>
            <a:r>
              <a:t>rows with 17,240 missing values beside the previous day's 16,135 rows with 21: every value of the</a:t>
            </a:r>
          </a:p>
          <a:p>
            <a:r>
              <a:t>column was missing. In the talk's rules the row-count checks fail the job and the missing-value</a:t>
            </a:r>
          </a:p>
          <a:p>
            <a:r>
              <a:t>check only warns, so that batch raised a warning; say it that way. Source and check date are in</a:t>
            </a:r>
          </a:p>
          <a:p>
            <a:r>
              <a:t>the day's provenance. Then four ways a Kalpa run could prove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fingerprint reads each table once: orders gives its rows, its rupees, its</a:t>
            </a:r>
          </a:p>
          <a:p>
            <a:r>
              <a:t>distinct customers and its latest date, and customers gives its rows, its distinct customers and</a:t>
            </a:r>
          </a:p>
          <a:p>
            <a:r>
              <a:t>its latest joining date, seven numbers in all, since customers carries no rupees. If next</a:t>
            </a:r>
          </a:p>
          <a:p>
            <a:r>
              <a:t>Monday's fingerprint matches this one, the book has not changed, so any difference in the numbers</a:t>
            </a:r>
          </a:p>
          <a:p>
            <a:r>
              <a:t>is the query's.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costs little here, about 18 output rows a Monday, and it needs the same write</a:t>
            </a:r>
          </a:p>
          <a:p>
            <a:r>
              <a:t>access D does, so the switch is to D, the pattern that stops a bad run. Then this Monday's</a:t>
            </a:r>
          </a:p>
          <a:p>
            <a:r>
              <a:t>fingerprint.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UNION ALL stacks the two tables' rows into one result, one row per table. The</a:t>
            </a:r>
          </a:p>
          <a:p>
            <a:r>
              <a:t>notebook runs the reload inside a transaction and rolls it back, so the warehouse is left as it</a:t>
            </a:r>
          </a:p>
          <a:p>
            <a:r>
              <a:t>was.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latest order date is 28 September 2026 and the latest joining date on the</a:t>
            </a:r>
          </a:p>
          <a:p>
            <a:r>
              <a:t>customer table is 25 December 2025; both sit in the fingerprint and both held. Print the</a:t>
            </a:r>
          </a:p>
          <a:p>
            <a:r>
              <a:t>fingerprint at the top of every Monday's run: it is the first thing the analyst compares. Then</a:t>
            </a:r>
          </a:p>
          <a:p>
            <a:r>
              <a:t>the audit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because on a small, freshly loaded table the first rows often</a:t>
            </a:r>
          </a:p>
          <a:p>
            <a:r>
              <a:t>are the smallest ids, and the first run seems to confirm it. Then both runs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ran, returned five delivered Q2 app</a:t>
            </a:r>
          </a:p>
          <a:p>
            <a:r>
              <a:t>orders, and looked right both times. Two of the five differ between the runs, and nothing in the</a:t>
            </a:r>
          </a:p>
          <a:p>
            <a:r>
              <a:t>book changed.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sorting: the order "will depend on the scan and</a:t>
            </a:r>
          </a:p>
          <a:p>
            <a:r>
              <a:t>join plan types and the order on disk, but it must not be relied on". Postgres writes a rewritten</a:t>
            </a:r>
          </a:p>
          <a:p>
            <a:r>
              <a:t>row as a new version in a new place, so after the reload the first five rows the database reaches</a:t>
            </a:r>
          </a:p>
          <a:p>
            <a:r>
              <a:t>are a different five. The room's sixty Codespaces hold identical data and will often draw the same</a:t>
            </a:r>
          </a:p>
          <a:p>
            <a:r>
              <a:t>five, which is exactly why the habit survives until the first reload.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order_id is the table's key, a column no two rows share, so the order is unique</a:t>
            </a:r>
          </a:p>
          <a:p>
            <a:r>
              <a:t>and every run draws the same five. Ordering on a column rows can share, such as the customer or</a:t>
            </a:r>
          </a:p>
          <a:p>
            <a:r>
              <a:t>the date, still leaves ties the database may break differently. Then the same five, reached a</a:t>
            </a:r>
          </a:p>
          <a:p>
            <a:r>
              <a:t>second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80 of the 94 candidates are under Rs 5,000, and the sampled five average Rs 780;</a:t>
            </a:r>
          </a:p>
          <a:p>
            <a:r>
              <a:t>the other 14 are Business orders worth lakhs. When to switch: sorting in Python is fine for a</a:t>
            </a:r>
          </a:p>
          <a:p>
            <a:r>
              <a:t>one-off check; the Monday suite sorts in the query, so the file the analyst reruns carries its</a:t>
            </a:r>
          </a:p>
          <a:p>
            <a:r>
              <a:t>own order. Then what the suite now tells Anand.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once, then ask the room which sentence Anand's analyst</a:t>
            </a:r>
          </a:p>
          <a:p>
            <a:r>
              <a:t>checks first. The caveat is the sentence that earns the rest their trust: it says, before anyone</a:t>
            </a:r>
          </a:p>
          <a:p>
            <a:r>
              <a:t>else does, where the book and last week's note part company.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overnight answer in one breath: check the book's fingerprint first; if rows</a:t>
            </a:r>
          </a:p>
          <a:p>
            <a:r>
              <a:t>and rupees are the same, suspect the query: an unordered LIMIT, a definition that changed, a</a:t>
            </a:r>
          </a:p>
          <a:p>
            <a:r>
              <a:t>denominator that shifted, or integer division. Every one of those is a chapter from today. Then</a:t>
            </a:r>
          </a:p>
          <a:p>
            <a:r>
              <a:t>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the afternoon for parts 1 and 2, alone, in</a:t>
            </a:r>
          </a:p>
          <a:p>
            <a:r>
              <a:t>notebooks/C2_W02_D01_ex1_escalated_case_STUDENT.ipynb with the brief</a:t>
            </a:r>
          </a:p>
          <a:p>
            <a:r>
              <a:t>exercises/unguided/C2_W02_D01_escalated_case_STUDENT.md. Parts 3 to 5 run in the practice lab</a:t>
            </a:r>
          </a:p>
          <a:p>
            <a:r>
              <a:t>after the 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words aloud. Delivered means the order reached the customer and was</a:t>
            </a:r>
          </a:p>
          <a:p>
            <a:r>
              <a:t>not returned or cancelled; on the book 653 of the 1,000 orders are delivered. Nothing from the</a:t>
            </a:r>
          </a:p>
          <a:p>
            <a:r>
              <a:t>morning can be copied: every number changes on the new definition, and each part climbs one</a:t>
            </a:r>
          </a:p>
          <a:p>
            <a:r>
              <a:t>chapter's method. Post ten letters and three numbers when the case is done. Then the rules the</a:t>
            </a:r>
          </a:p>
          <a:p>
            <a:r>
              <a:t>brief holds the room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of work after this slide: parts 1 and 2 alone, in the notebook. Walk the room.</a:t>
            </a:r>
          </a:p>
          <a:p>
            <a:r>
              <a:t>Where a learner stalls on part 1, ask which clause runs first and what it keeps; on part 2, ask</a:t>
            </a:r>
          </a:p>
          <a:p>
            <a:r>
              <a:t>what 2 times 26 gives back. Do not give letters. At the end of the 20 minutes, collect part 1's</a:t>
            </a:r>
          </a:p>
          <a:p>
            <a:r>
              <a:t>revenue change and part 2's thinnest segment-quarter on the board, and say parts 3 to 5 run in the</a:t>
            </a:r>
          </a:p>
          <a:p>
            <a:r>
              <a:t>lab tonight.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crux lines (1), the Kahoot (8) and tomorrow's question (1). The self-study</a:t>
            </a:r>
          </a:p>
          <a:p>
            <a:r>
              <a:t>slides after the Kahoot carry the interview drill, the second case and the day's wrong numbers for</a:t>
            </a:r>
          </a:p>
          <a:p>
            <a:r>
              <a:t>the lab and the take-home.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lines; the cheat sheet prints them word for word. Each is the check</a:t>
            </a:r>
          </a:p>
          <a:p>
            <a:r>
              <a:t>that caught one of the day's plausible wrong numbers. Then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pack is kahoot/C2_W02_D01_quiz_STUDENT.md. After each item, one learner says</a:t>
            </a:r>
          </a:p>
          <a:p>
            <a:r>
              <a:t>why the key holds. The last item returns to Week 1 Thursday: the discount's 6 percent lift was a</a:t>
            </a:r>
          </a:p>
          <a:p>
            <a:r>
              <a:t>mix effect, and the room says in one line what a fair comparison would need. Then tomorrow's</a:t>
            </a:r>
          </a:p>
          <a:p>
            <a:r>
              <a:t>question.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drill runs aloud in the practice lab, sixty seconds per answer,</a:t>
            </a:r>
          </a:p>
          <a:p>
            <a:r>
              <a:t>in pairs. Each chapter's closing slide and the study notes carry the full answers. The design</a:t>
            </a:r>
          </a:p>
          <a:p>
            <a:r>
              <a:t>question among them: four ways to produce a number, which would you choose, sized how, and what</a:t>
            </a:r>
          </a:p>
          <a:p>
            <a:r>
              <a:t>would make you switch.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case runs in the take-home, in pairs or alone:</a:t>
            </a:r>
          </a:p>
          <a:p>
            <a:r>
              <a:t>notebooks/C2_W02_D01_ex2_second_case_STUDENT.ipynb with the brief</a:t>
            </a:r>
          </a:p>
          <a:p>
            <a:r>
              <a:t>exercises/unguided/C2_W02_D01_second_case_STUDENT.md. Seven lettered choices and one line for</a:t>
            </a:r>
          </a:p>
          <a:p>
            <a:r>
              <a:t>Anand naming the channel losing its consumers fastest, with its number.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debrief of wrong answers runs in the lab on a faculty day. A learner who missed</a:t>
            </a:r>
          </a:p>
          <a:p>
            <a:r>
              <a:t>the class can take each row back to its chapter's slides and notebook.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the question open. Tonight's pre-read opens on Anand's message. Then the</a:t>
            </a:r>
          </a:p>
          <a:p>
            <a:r>
              <a:t>practice lab after the day, and before it the IITGN faculty session, which is tentative and runs</a:t>
            </a:r>
          </a:p>
          <a:p>
            <a:r>
              <a:t>120 minutes on a topic of its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5.xml"/><Relationship Id="rId6"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next Monday's run give the analyst the same answer?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 Monday I rerun your suite and trace five delivered app orders against the ERP. If my rerun differs from yours, I need to know whether the book changed or your query did.”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Anand's analyst, finance,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Same answer next week?</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056953"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60571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498976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built the suite in five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the book say?</a:t>
                      </a:r>
                    </a:p>
                  </a:txBody>
                  <a:tcPr marL="101600" marR="101600" marT="38100" marB="38100" anchor="ctr">
                    <a:solidFill>
                      <a:srgbClr val="FFFFFF"/>
                    </a:solidFill>
                  </a:tcPr>
                </a:tc>
                <a:tc>
                  <a:txBody>
                    <a:bodyPr/>
                    <a:lstStyle/>
                    <a:p>
                      <a:r>
                        <a:rPr sz="1400" b="0" i="0">
                          <a:solidFill>
                            <a:srgbClr val="1A1440"/>
                          </a:solidFill>
                          <a:latin typeface="Calibri"/>
                        </a:rPr>
                        <a:t>Rs 10,00,00,000 on 538 orders in Q1 and Rs 9,84,00,000 on 462 in Q2; 244 then 227 customers who bought</a:t>
                      </a:r>
                    </a:p>
                  </a:txBody>
                  <a:tcPr marL="101600" marR="101600" marT="38100" marB="38100" anchor="ctr">
                    <a:solidFill>
                      <a:srgbClr val="FFFFFF"/>
                    </a:solidFill>
                  </a:tcPr>
                </a:tc>
              </a:tr>
              <a:tr h="611632">
                <a:tc>
                  <a:txBody>
                    <a:bodyPr/>
                    <a:lstStyle/>
                    <a:p>
                      <a:r>
                        <a:rPr sz="1400" b="0" i="0">
                          <a:solidFill>
                            <a:srgbClr val="1A1440"/>
                          </a:solidFill>
                          <a:latin typeface="Calibri"/>
                        </a:rPr>
                        <a:t>2. Same story as Week 1?</a:t>
                      </a:r>
                    </a:p>
                  </a:txBody>
                  <a:tcPr marL="101600" marR="101600" marT="38100" marB="38100" anchor="ctr">
                    <a:solidFill>
                      <a:srgbClr val="F4F2FA"/>
                    </a:solidFill>
                  </a:tcPr>
                </a:tc>
                <a:tc>
                  <a:txBody>
                    <a:bodyPr/>
                    <a:lstStyle/>
                    <a:p>
                      <a:r>
                        <a:rPr sz="1400" b="0" i="0">
                          <a:solidFill>
                            <a:srgbClr val="1A1440"/>
                          </a:solidFill>
                          <a:latin typeface="Calibri"/>
                        </a:rPr>
                        <a:t>Revenue agrees; customers fell 7.0% on the book where last week's extract showed them flat</a:t>
                      </a:r>
                    </a:p>
                  </a:txBody>
                  <a:tcPr marL="101600" marR="101600" marT="38100" marB="38100" anchor="ctr">
                    <a:solidFill>
                      <a:srgbClr val="F4F2FA"/>
                    </a:solidFill>
                  </a:tcPr>
                </a:tc>
              </a:tr>
              <a:tr h="369824">
                <a:tc>
                  <a:txBody>
                    <a:bodyPr/>
                    <a:lstStyle/>
                    <a:p>
                      <a:r>
                        <a:rPr sz="1400" b="0" i="0">
                          <a:solidFill>
                            <a:srgbClr val="1A1440"/>
                          </a:solidFill>
                          <a:latin typeface="Calibri"/>
                        </a:rPr>
                        <a:t>3. 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down 29.4%, with orders per customer 2.36 then 1.84</a:t>
                      </a:r>
                    </a:p>
                  </a:txBody>
                  <a:tcPr marL="101600" marR="101600" marT="38100" marB="38100" anchor="ctr">
                    <a:solidFill>
                      <a:srgbClr val="FFFFFF"/>
                    </a:solidFill>
                  </a:tcPr>
                </a:tc>
              </a:tr>
              <a:tr h="369824">
                <a:tc>
                  <a:txBody>
                    <a:bodyPr/>
                    <a:lstStyle/>
                    <a:p>
                      <a:r>
                        <a:rPr sz="1400" b="0" i="0">
                          <a:solidFill>
                            <a:srgbClr val="1A1440"/>
                          </a:solidFill>
                          <a:latin typeface="Calibri"/>
                        </a:rPr>
                        <a:t>4. Which branch moved?</a:t>
                      </a:r>
                    </a:p>
                  </a:txBody>
                  <a:tcPr marL="101600" marR="101600" marT="38100" marB="38100" anchor="ctr">
                    <a:solidFill>
                      <a:srgbClr val="F4F2FA"/>
                    </a:solidFill>
                  </a:tcPr>
                </a:tc>
                <a:tc>
                  <a:txBody>
                    <a:bodyPr/>
                    <a:lstStyle/>
                    <a:p>
                      <a:r>
                        <a:rPr sz="1400" b="0" i="0">
                          <a:solidFill>
                            <a:srgbClr val="1A1440"/>
                          </a:solidFill>
                          <a:latin typeface="Calibri"/>
                        </a:rPr>
                        <a:t>Frequency, 0.780 of Q1; each Retail-Plus member spent 29.4% less</a:t>
                      </a:r>
                    </a:p>
                  </a:txBody>
                  <a:tcPr marL="101600" marR="101600" marT="38100" marB="38100" anchor="ctr">
                    <a:solidFill>
                      <a:srgbClr val="F4F2FA"/>
                    </a:solidFill>
                  </a:tcPr>
                </a:tc>
              </a:tr>
              <a:tr h="369824">
                <a:tc>
                  <a:txBody>
                    <a:bodyPr/>
                    <a:lstStyle/>
                    <a:p>
                      <a:r>
                        <a:rPr sz="1400" b="0" i="0">
                          <a:solidFill>
                            <a:srgbClr val="1A1440"/>
                          </a:solidFill>
                          <a:latin typeface="Calibri"/>
                        </a:rPr>
                        <a:t>5. Does the suite add up?</a:t>
                      </a:r>
                    </a:p>
                  </a:txBody>
                  <a:tcPr marL="101600" marR="101600" marT="38100" marB="38100" anchor="ctr">
                    <a:solidFill>
                      <a:srgbClr val="FFFFFF"/>
                    </a:solidFill>
                  </a:tcPr>
                </a:tc>
                <a:tc>
                  <a:txBody>
                    <a:bodyPr/>
                    <a:lstStyle/>
                    <a:p>
                      <a:r>
                        <a:rPr sz="1400" b="0" i="0">
                          <a:solidFill>
                            <a:srgbClr val="1A1440"/>
                          </a:solidFill>
                          <a:latin typeface="Calibri"/>
                        </a:rPr>
                        <a:t>Segments add to the book; 107 Retail-Plus customers in the half-year, not 167</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answer next week?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Will next Monday's run give Anand's analyst the same answer from the same book?</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first rerun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reruns the suite every Monday and checks five orders against the ERP, the system Finance books orders in. A rerun that disagrees with the team's run on a sample that should be identical, even by a few hundred rupees, makes every number in the suite suspect, because nobody can say whether the book moved or the query did.</a:t>
            </a:r>
          </a:p>
        </p:txBody>
      </p:sp>
      <p:sp>
        <p:nvSpPr>
          <p:cNvPr id="12" name="Rectangle 11"/>
          <p:cNvSpPr/>
          <p:nvPr/>
        </p:nvSpPr>
        <p:spPr>
          <a:xfrm>
            <a:off x="1570299" y="40294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run prove itself?</a:t>
            </a:r>
          </a:p>
        </p:txBody>
      </p:sp>
      <p:sp>
        <p:nvSpPr>
          <p:cNvPr id="17" name="TextBox 16"/>
          <p:cNvSpPr txBox="1"/>
          <p:nvPr/>
        </p:nvSpPr>
        <p:spPr>
          <a:xfrm>
            <a:off x="694944"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tell two runs apart</a:t>
            </a:r>
          </a:p>
        </p:txBody>
      </p:sp>
      <p:sp>
        <p:nvSpPr>
          <p:cNvPr id="18" name="TextBox 17"/>
          <p:cNvSpPr txBox="1"/>
          <p:nvPr/>
        </p:nvSpPr>
        <p:spPr>
          <a:xfrm>
            <a:off x="2793126"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it leave behind?</a:t>
            </a:r>
          </a:p>
        </p:txBody>
      </p:sp>
      <p:sp>
        <p:nvSpPr>
          <p:cNvPr id="22" name="TextBox 21"/>
          <p:cNvSpPr txBox="1"/>
          <p:nvPr/>
        </p:nvSpPr>
        <p:spPr>
          <a:xfrm>
            <a:off x="2957718" y="4998212"/>
            <a:ext cx="1750710" cy="201676"/>
          </a:xfrm>
          <a:prstGeom prst="rect">
            <a:avLst/>
          </a:prstGeom>
          <a:noFill/>
        </p:spPr>
        <p:txBody>
          <a:bodyPr wrap="square" anchor="t" lIns="0" rIns="0" tIns="0" bIns="0">
            <a:spAutoFit/>
          </a:bodyPr>
          <a:lstStyle/>
          <a:p>
            <a:pPr algn="l"/>
            <a:r>
              <a:rPr sz="1000" b="0" i="0">
                <a:solidFill>
                  <a:srgbClr val="6B6690"/>
                </a:solidFill>
                <a:latin typeface="Calibri"/>
              </a:rPr>
              <a:t>This Monday's fingerprint</a:t>
            </a:r>
          </a:p>
        </p:txBody>
      </p:sp>
      <p:sp>
        <p:nvSpPr>
          <p:cNvPr id="23" name="TextBox 22"/>
          <p:cNvSpPr txBox="1"/>
          <p:nvPr/>
        </p:nvSpPr>
        <p:spPr>
          <a:xfrm>
            <a:off x="5055900"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five orders?</a:t>
            </a:r>
          </a:p>
        </p:txBody>
      </p:sp>
      <p:sp>
        <p:nvSpPr>
          <p:cNvPr id="27" name="TextBox 26"/>
          <p:cNvSpPr txBox="1"/>
          <p:nvPr/>
        </p:nvSpPr>
        <p:spPr>
          <a:xfrm>
            <a:off x="5220492"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audit sample the analyst traces</a:t>
            </a:r>
          </a:p>
        </p:txBody>
      </p:sp>
      <p:sp>
        <p:nvSpPr>
          <p:cNvPr id="28" name="TextBox 27"/>
          <p:cNvSpPr txBox="1"/>
          <p:nvPr/>
        </p:nvSpPr>
        <p:spPr>
          <a:xfrm>
            <a:off x="7318674"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Python agree?</a:t>
            </a:r>
          </a:p>
        </p:txBody>
      </p:sp>
      <p:sp>
        <p:nvSpPr>
          <p:cNvPr id="32" name="TextBox 31"/>
          <p:cNvSpPr txBox="1"/>
          <p:nvPr/>
        </p:nvSpPr>
        <p:spPr>
          <a:xfrm>
            <a:off x="7483266"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same five, sorted another way</a:t>
            </a:r>
          </a:p>
        </p:txBody>
      </p:sp>
      <p:sp>
        <p:nvSpPr>
          <p:cNvPr id="33" name="TextBox 32"/>
          <p:cNvSpPr txBox="1"/>
          <p:nvPr/>
        </p:nvSpPr>
        <p:spPr>
          <a:xfrm>
            <a:off x="9581448"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3494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4958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hear?</a:t>
            </a:r>
          </a:p>
        </p:txBody>
      </p:sp>
      <p:sp>
        <p:nvSpPr>
          <p:cNvPr id="37" name="TextBox 36"/>
          <p:cNvSpPr txBox="1"/>
          <p:nvPr/>
        </p:nvSpPr>
        <p:spPr>
          <a:xfrm>
            <a:off x="9746040" y="49982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day's answer in one message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2" name="Oval 4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rerun that matches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rerun that differs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Reruns the suite every Monday and traces five delivered Q2 app orders against the ERP.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ngerprint_1e72318ad3f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run itself</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book held when the suite ran, and which orders the sample drew.</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RERUN THAT DIFFERS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Every number doubted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Nobody can say whether the book moved or the query did, so nothing on the sheet is signed.</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1" name="Oval 3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Netflix audits each run before anyone reads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data team built its runs to prove themselves before they are published?</a:t>
            </a:r>
          </a:p>
        </p:txBody>
      </p:sp>
      <p:pic>
        <p:nvPicPr>
          <p:cNvPr id="9" name="mermaid diagram" descr="4cd06380afdb5b42.png"/>
          <p:cNvPicPr>
            <a:picLocks noChangeAspect="1"/>
          </p:cNvPicPr>
          <p:nvPr/>
        </p:nvPicPr>
        <p:blipFill>
          <a:blip r:embed="rId5"/>
          <a:stretch>
            <a:fillRect/>
          </a:stretch>
        </p:blipFill>
        <p:spPr>
          <a:xfrm>
            <a:off x="1180947" y="1956816"/>
            <a:ext cx="9829800"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Netflix's data engineering team called the pattern write, audit, publish: a number published every week checks itself against last week before anyone reads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fingerprint: 7 numbers, and read access is enough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run show that it computed the same thing as last week's?</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3572024"/>
                <a:gridCol w="1921718"/>
                <a:gridCol w="2495737"/>
                <a:gridCol w="314151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Stored with each run</a:t>
                      </a:r>
                    </a:p>
                  </a:txBody>
                  <a:tcPr marL="101600" marR="101600" marT="38100" marB="38100" anchor="ctr">
                    <a:solidFill>
                      <a:srgbClr val="1A0F5C"/>
                    </a:solidFill>
                  </a:tcPr>
                </a:tc>
                <a:tc>
                  <a:txBody>
                    <a:bodyPr/>
                    <a:lstStyle/>
                    <a:p>
                      <a:r>
                        <a:rPr sz="1250" b="1" i="0">
                          <a:solidFill>
                            <a:srgbClr val="FFFFFF"/>
                          </a:solidFill>
                          <a:latin typeface="Calibri"/>
                        </a:rPr>
                        <a:t>Access it needs</a:t>
                      </a:r>
                    </a:p>
                  </a:txBody>
                  <a:tcPr marL="101600" marR="101600" marT="38100" marB="38100" anchor="ctr">
                    <a:solidFill>
                      <a:srgbClr val="1A0F5C"/>
                    </a:solidFill>
                  </a:tcPr>
                </a:tc>
                <a:tc>
                  <a:txBody>
                    <a:bodyPr/>
                    <a:lstStyle/>
                    <a:p>
                      <a:r>
                        <a:rPr sz="1250" b="1" i="0">
                          <a:solidFill>
                            <a:srgbClr val="FFFFFF"/>
                          </a:solidFill>
                          <a:latin typeface="Calibri"/>
                        </a:rPr>
                        <a:t>What it can tell apart</a:t>
                      </a:r>
                    </a:p>
                  </a:txBody>
                  <a:tcPr marL="101600" marR="101600" marT="38100" marB="38100" anchor="ctr">
                    <a:solidFill>
                      <a:srgbClr val="1A0F5C"/>
                    </a:solidFill>
                  </a:tcPr>
                </a:tc>
              </a:tr>
              <a:tr h="335280">
                <a:tc>
                  <a:txBody>
                    <a:bodyPr/>
                    <a:lstStyle/>
                    <a:p>
                      <a:r>
                        <a:rPr sz="1200" b="0" i="0">
                          <a:solidFill>
                            <a:srgbClr val="1A1440"/>
                          </a:solidFill>
                          <a:latin typeface="Calibri"/>
                        </a:rPr>
                        <a:t>A. Rerun and compare by eye</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Read</a:t>
                      </a:r>
                    </a:p>
                  </a:txBody>
                  <a:tcPr marL="101600" marR="101600" marT="38100" marB="38100" anchor="ctr">
                    <a:solidFill>
                      <a:srgbClr val="FFFFFF"/>
                    </a:solidFill>
                  </a:tcPr>
                </a:tc>
                <a:tc>
                  <a:txBody>
                    <a:bodyPr/>
                    <a:lstStyle/>
                    <a:p>
                      <a:r>
                        <a:rPr sz="1200" b="0" i="0">
                          <a:solidFill>
                            <a:srgbClr val="1A1440"/>
                          </a:solidFill>
                          <a:latin typeface="Calibri"/>
                        </a:rPr>
                        <a:t>Whatever someone happens to notice</a:t>
                      </a:r>
                    </a:p>
                  </a:txBody>
                  <a:tcPr marL="101600" marR="101600" marT="38100" marB="38100" anchor="ctr">
                    <a:solidFill>
                      <a:srgbClr val="FFFFFF"/>
                    </a:solidFill>
                  </a:tcPr>
                </a:tc>
              </a:tr>
              <a:tr h="542544">
                <a:tc>
                  <a:txBody>
                    <a:bodyPr/>
                    <a:lstStyle/>
                    <a:p>
                      <a:r>
                        <a:rPr sz="1200" b="0" i="0">
                          <a:solidFill>
                            <a:srgbClr val="1A1440"/>
                          </a:solidFill>
                          <a:latin typeface="Calibri"/>
                        </a:rPr>
                        <a:t>B. A fingerprint block that runs with the suite</a:t>
                      </a:r>
                    </a:p>
                  </a:txBody>
                  <a:tcPr marL="101600" marR="101600" marT="38100" marB="38100" anchor="ctr">
                    <a:solidFill>
                      <a:srgbClr val="F4F2FA"/>
                    </a:solidFill>
                  </a:tcPr>
                </a:tc>
                <a:tc>
                  <a:txBody>
                    <a:bodyPr/>
                    <a:lstStyle/>
                    <a:p>
                      <a:r>
                        <a:rPr sz="1200" b="0" i="0">
                          <a:solidFill>
                            <a:srgbClr val="1A1440"/>
                          </a:solidFill>
                          <a:latin typeface="Calibri"/>
                        </a:rPr>
                        <a:t>7 numbers about the book</a:t>
                      </a:r>
                    </a:p>
                  </a:txBody>
                  <a:tcPr marL="101600" marR="101600" marT="38100" marB="38100" anchor="ctr">
                    <a:solidFill>
                      <a:srgbClr val="F4F2FA"/>
                    </a:solidFill>
                  </a:tcPr>
                </a:tc>
                <a:tc>
                  <a:txBody>
                    <a:bodyPr/>
                    <a:lstStyle/>
                    <a:p>
                      <a:r>
                        <a:rPr sz="1200" b="0" i="0">
                          <a:solidFill>
                            <a:srgbClr val="1A1440"/>
                          </a:solidFill>
                          <a:latin typeface="Calibri"/>
                        </a:rPr>
                        <a:t>Read</a:t>
                      </a:r>
                    </a:p>
                  </a:txBody>
                  <a:tcPr marL="101600" marR="101600" marT="38100" marB="38100" anchor="ctr">
                    <a:solidFill>
                      <a:srgbClr val="F4F2FA"/>
                    </a:solidFill>
                  </a:tcPr>
                </a:tc>
                <a:tc>
                  <a:txBody>
                    <a:bodyPr/>
                    <a:lstStyle/>
                    <a:p>
                      <a:r>
                        <a:rPr sz="1200" b="0" i="0">
                          <a:solidFill>
                            <a:srgbClr val="1A1440"/>
                          </a:solidFill>
                          <a:latin typeface="Calibri"/>
                        </a:rPr>
                        <a:t>A changed book from a changed query</a:t>
                      </a:r>
                    </a:p>
                  </a:txBody>
                  <a:tcPr marL="101600" marR="101600" marT="38100" marB="38100" anchor="ctr">
                    <a:solidFill>
                      <a:srgbClr val="F4F2FA"/>
                    </a:solidFill>
                  </a:tcPr>
                </a:tc>
              </a:tr>
              <a:tr h="542544">
                <a:tc>
                  <a:txBody>
                    <a:bodyPr/>
                    <a:lstStyle/>
                    <a:p>
                      <a:r>
                        <a:rPr sz="1200" b="0" i="0">
                          <a:solidFill>
                            <a:srgbClr val="1A1440"/>
                          </a:solidFill>
                          <a:latin typeface="Calibri"/>
                        </a:rPr>
                        <a:t>C. Snapshot each Monday's outputs into a table</a:t>
                      </a:r>
                    </a:p>
                  </a:txBody>
                  <a:tcPr marL="101600" marR="101600" marT="38100" marB="38100" anchor="ctr">
                    <a:solidFill>
                      <a:srgbClr val="FFFFFF"/>
                    </a:solidFill>
                  </a:tcPr>
                </a:tc>
                <a:tc>
                  <a:txBody>
                    <a:bodyPr/>
                    <a:lstStyle/>
                    <a:p>
                      <a:r>
                        <a:rPr sz="1200" b="0" i="0">
                          <a:solidFill>
                            <a:srgbClr val="1A1440"/>
                          </a:solidFill>
                          <a:latin typeface="Calibri"/>
                        </a:rPr>
                        <a:t>About 18 rows a Monday</a:t>
                      </a:r>
                    </a:p>
                  </a:txBody>
                  <a:tcPr marL="101600" marR="101600" marT="38100" marB="38100" anchor="ctr">
                    <a:solidFill>
                      <a:srgbClr val="FFFFFF"/>
                    </a:solidFill>
                  </a:tcPr>
                </a:tc>
                <a:tc>
                  <a:txBody>
                    <a:bodyPr/>
                    <a:lstStyle/>
                    <a:p>
                      <a:r>
                        <a:rPr sz="1200" b="0" i="0">
                          <a:solidFill>
                            <a:srgbClr val="1A1440"/>
                          </a:solidFill>
                          <a:latin typeface="Calibri"/>
                        </a:rPr>
                        <a:t>Write, to a schema the team owns</a:t>
                      </a:r>
                    </a:p>
                  </a:txBody>
                  <a:tcPr marL="101600" marR="101600" marT="38100" marB="38100" anchor="ctr">
                    <a:solidFill>
                      <a:srgbClr val="FFFFFF"/>
                    </a:solidFill>
                  </a:tcPr>
                </a:tc>
                <a:tc>
                  <a:txBody>
                    <a:bodyPr/>
                    <a:lstStyle/>
                    <a:p>
                      <a:r>
                        <a:rPr sz="1200" b="0" i="0">
                          <a:solidFill>
                            <a:srgbClr val="1A1440"/>
                          </a:solidFill>
                          <a:latin typeface="Calibri"/>
                        </a:rPr>
                        <a:t>What changed in any output, row by row</a:t>
                      </a:r>
                    </a:p>
                  </a:txBody>
                  <a:tcPr marL="101600" marR="101600" marT="38100" marB="38100" anchor="ctr">
                    <a:solidFill>
                      <a:srgbClr val="FFFFFF"/>
                    </a:solidFill>
                  </a:tcPr>
                </a:tc>
              </a:tr>
              <a:tr h="542544">
                <a:tc>
                  <a:txBody>
                    <a:bodyPr/>
                    <a:lstStyle/>
                    <a:p>
                      <a:r>
                        <a:rPr sz="1200" b="0" i="0">
                          <a:solidFill>
                            <a:srgbClr val="1A1440"/>
                          </a:solidFill>
                          <a:latin typeface="Calibri"/>
                        </a:rPr>
                        <a:t>D. Write, audit, publish</a:t>
                      </a:r>
                    </a:p>
                  </a:txBody>
                  <a:tcPr marL="101600" marR="101600" marT="38100" marB="38100" anchor="ctr">
                    <a:solidFill>
                      <a:srgbClr val="F4F2FA"/>
                    </a:solidFill>
                  </a:tcPr>
                </a:tc>
                <a:tc>
                  <a:txBody>
                    <a:bodyPr/>
                    <a:lstStyle/>
                    <a:p>
                      <a:r>
                        <a:rPr sz="1200" b="0" i="0">
                          <a:solidFill>
                            <a:srgbClr val="1A1440"/>
                          </a:solidFill>
                          <a:latin typeface="Calibri"/>
                        </a:rPr>
                        <a:t>A staging table per run</a:t>
                      </a:r>
                    </a:p>
                  </a:txBody>
                  <a:tcPr marL="101600" marR="101600" marT="38100" marB="38100" anchor="ctr">
                    <a:solidFill>
                      <a:srgbClr val="F4F2FA"/>
                    </a:solidFill>
                  </a:tcPr>
                </a:tc>
                <a:tc>
                  <a:txBody>
                    <a:bodyPr/>
                    <a:lstStyle/>
                    <a:p>
                      <a:r>
                        <a:rPr sz="1200" b="0" i="0">
                          <a:solidFill>
                            <a:srgbClr val="1A1440"/>
                          </a:solidFill>
                          <a:latin typeface="Calibri"/>
                        </a:rPr>
                        <a:t>Write, and a scheduler</a:t>
                      </a:r>
                    </a:p>
                  </a:txBody>
                  <a:tcPr marL="101600" marR="101600" marT="38100" marB="38100" anchor="ctr">
                    <a:solidFill>
                      <a:srgbClr val="F4F2FA"/>
                    </a:solidFill>
                  </a:tcPr>
                </a:tc>
                <a:tc>
                  <a:txBody>
                    <a:bodyPr/>
                    <a:lstStyle/>
                    <a:p>
                      <a:r>
                        <a:rPr sz="1200" b="0" i="0">
                          <a:solidFill>
                            <a:srgbClr val="1A1440"/>
                          </a:solidFill>
                          <a:latin typeface="Calibri"/>
                        </a:rPr>
                        <a:t>A bad run, stopped before anyone reads it</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an ORDER BY on a unique column in every list: the team has read access, which rules out C and D, and B answers the analyst's first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fingerprint?</a:t>
            </a:r>
          </a:p>
        </p:txBody>
      </p:sp>
      <p:pic>
        <p:nvPicPr>
          <p:cNvPr id="9" name="mermaid diagram" descr="bf2295a3cfc083ac.png"/>
          <p:cNvPicPr>
            <a:picLocks noChangeAspect="1"/>
          </p:cNvPicPr>
          <p:nvPr/>
        </p:nvPicPr>
        <p:blipFill>
          <a:blip r:embed="rId5"/>
          <a:stretch>
            <a:fillRect/>
          </a:stretch>
        </p:blipFill>
        <p:spPr>
          <a:xfrm>
            <a:off x="573728" y="1949577"/>
            <a:ext cx="11044237" cy="3028950"/>
          </a:xfrm>
          <a:prstGeom prst="rect">
            <a:avLst/>
          </a:prstGeom>
        </p:spPr>
      </p:pic>
      <p:sp>
        <p:nvSpPr>
          <p:cNvPr id="10" name="Rounded Rectangle 9"/>
          <p:cNvSpPr/>
          <p:nvPr/>
        </p:nvSpPr>
        <p:spPr>
          <a:xfrm>
            <a:off x="530352" y="5124831"/>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284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43703"/>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platform lead grants a schema the team can write to, D runs the audit before the numbers are released, which beats finding the problem after Anand has read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a reload move the fingerprint?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Overnight the warehouse reloads two order rows with the values they already hold: does the fingerprint change?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table_name, count(*) AS rows, sum(amount) AS rupees,</a:t>
            </a:r>
          </a:p>
          <a:p>
            <a:pPr>
              <a:spcAft>
                <a:spcPts val="200"/>
              </a:spcAft>
            </a:pPr>
            <a:r>
              <a:rPr sz="1400" b="0" i="0">
                <a:solidFill>
                  <a:srgbClr val="E4E1F1"/>
                </a:solidFill>
                <a:latin typeface="Consolas"/>
              </a:rPr>
              <a:t>       count(DISTINCT customer_id) AS distinct_customers,</a:t>
            </a:r>
          </a:p>
          <a:p>
            <a:pPr>
              <a:spcAft>
                <a:spcPts val="200"/>
              </a:spcAft>
            </a:pPr>
            <a:r>
              <a:rPr sz="1400" b="0" i="0">
                <a:solidFill>
                  <a:srgbClr val="E4E1F1"/>
                </a:solidFill>
                <a:latin typeface="Consolas"/>
              </a:rPr>
              <a:t>       max(order_date) AS latest_date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'customers', count(*), NULL, count(DISTINCT customer_id), max(joined_date)</a:t>
            </a:r>
          </a:p>
          <a:p>
            <a:pPr>
              <a:spcAft>
                <a:spcPts val="200"/>
              </a:spcAft>
            </a:pPr>
            <a:r>
              <a:rPr sz="1400" b="0" i="0">
                <a:solidFill>
                  <a:srgbClr val="E4E1F1"/>
                </a:solidFill>
                <a:latin typeface="Consolas"/>
              </a:rPr>
              <a:t>FROM   customers;</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the fingerprint change? a) yes, two rows were written, so the row count moves; b) yes, the rupees move, since the rows were rewritten; c) no, the rows, the rupees and the customers are all the same; d) it cannot be read during a reload.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1,000 rows, Rs 19.84 crore, 301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fingerprint does this Monday's run leave?</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1,000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 ROWS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and after the reload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RUPEES ON THE BOOK</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19,84,00,000, Q1 and Q2 together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301</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DISTINCT CUSTOMERS</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who bought in either quarter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 ROWS</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on the book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reload rewrote two rows with their own values, so whatever differs between two runs after it cannot be the book.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five orders does LIMIT 5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traces five delivered Q2 app orders: which five does the quickest query return?</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LIMIT  5;</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no ORDER BY, which five rows come back? a) the five with the smallest order ids; b) the five most recent orders; c) whichever five the database reaches first, which can change between runs; d) five chosen at random on every run.</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whichever five come first, Rs 690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analyst reruns the same query after the reload?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540273"/>
                <a:gridCol w="914400"/>
                <a:gridCol w="4761917"/>
                <a:gridCol w="914400"/>
              </a:tblGrid>
              <a:tr h="335280">
                <a:tc>
                  <a:txBody>
                    <a:bodyPr/>
                    <a:lstStyle/>
                    <a:p>
                      <a:r>
                        <a:rPr sz="1250" b="1" i="0">
                          <a:solidFill>
                            <a:srgbClr val="FFFFFF"/>
                          </a:solidFill>
                          <a:latin typeface="Calibri"/>
                        </a:rPr>
                        <a:t>Your run on Monday</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The analyst's rerun</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r>
              <a:tr h="335280">
                <a:tc>
                  <a:txBody>
                    <a:bodyPr/>
                    <a:lstStyle/>
                    <a:p>
                      <a:r>
                        <a:rPr sz="1200" b="0" i="0">
                          <a:solidFill>
                            <a:srgbClr val="1A1440"/>
                          </a:solidFill>
                          <a:latin typeface="Calibri"/>
                        </a:rPr>
                        <a:t>KR-00542</a:t>
                      </a:r>
                    </a:p>
                  </a:txBody>
                  <a:tcPr marL="101600" marR="101600" marT="38100" marB="38100" anchor="ctr">
                    <a:solidFill>
                      <a:srgbClr val="FFFFFF"/>
                    </a:solidFill>
                  </a:tcPr>
                </a:tc>
                <a:tc>
                  <a:txBody>
                    <a:bodyPr/>
                    <a:lstStyle/>
                    <a:p>
                      <a:r>
                        <a:rPr sz="1200" b="0" i="0">
                          <a:solidFill>
                            <a:srgbClr val="1A1440"/>
                          </a:solidFill>
                          <a:latin typeface="Calibri"/>
                        </a:rPr>
                        <a:t>Rs 790</a:t>
                      </a:r>
                    </a:p>
                  </a:txBody>
                  <a:tcPr marL="101600" marR="101600" marT="38100" marB="38100" anchor="ctr">
                    <a:solidFill>
                      <a:srgbClr val="FFFFFF"/>
                    </a:solidFill>
                  </a:tcPr>
                </a:tc>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r>
              <a:tr h="335280">
                <a:tc>
                  <a:txBody>
                    <a:bodyPr/>
                    <a:lstStyle/>
                    <a:p>
                      <a:r>
                        <a:rPr sz="1200" b="0" i="0">
                          <a:solidFill>
                            <a:srgbClr val="1A1440"/>
                          </a:solidFill>
                          <a:latin typeface="Calibri"/>
                        </a:rPr>
                        <a:t>KR-00544</a:t>
                      </a:r>
                    </a:p>
                  </a:txBody>
                  <a:tcPr marL="101600" marR="101600" marT="38100" marB="38100" anchor="ctr">
                    <a:solidFill>
                      <a:srgbClr val="F4F2FA"/>
                    </a:solidFill>
                  </a:tcPr>
                </a:tc>
                <a:tc>
                  <a:txBody>
                    <a:bodyPr/>
                    <a:lstStyle/>
                    <a:p>
                      <a:r>
                        <a:rPr sz="1200" b="0" i="0">
                          <a:solidFill>
                            <a:srgbClr val="1A1440"/>
                          </a:solidFill>
                          <a:latin typeface="Calibri"/>
                        </a:rPr>
                        <a:t>Rs 960</a:t>
                      </a:r>
                    </a:p>
                  </a:txBody>
                  <a:tcPr marL="101600" marR="101600" marT="38100" marB="38100" anchor="ctr">
                    <a:solidFill>
                      <a:srgbClr val="F4F2FA"/>
                    </a:solidFill>
                  </a:tcPr>
                </a:tc>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r>
              <a:tr h="335280">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r>
              <a:tr h="335280">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c>
                  <a:txBody>
                    <a:bodyPr/>
                    <a:lstStyle/>
                    <a:p>
                      <a:r>
                        <a:rPr sz="1200" b="0" i="0">
                          <a:solidFill>
                            <a:srgbClr val="1A1440"/>
                          </a:solidFill>
                          <a:latin typeface="Calibri"/>
                        </a:rPr>
                        <a:t>KR-00549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r>
              <a:tr h="335280">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KR-00553</a:t>
                      </a:r>
                    </a:p>
                  </a:txBody>
                  <a:tcPr marL="101600" marR="101600" marT="38100" marB="38100" anchor="ctr">
                    <a:solidFill>
                      <a:srgbClr val="FFFFFF"/>
                    </a:solidFill>
                  </a:tcPr>
                </a:tc>
                <a:tc>
                  <a:txBody>
                    <a:bodyPr/>
                    <a:lstStyle/>
                    <a:p>
                      <a:r>
                        <a:rPr sz="1200" b="0" i="0">
                          <a:solidFill>
                            <a:srgbClr val="1A1440"/>
                          </a:solidFill>
                          <a:latin typeface="Calibri"/>
                        </a:rPr>
                        <a:t>Rs 1,470</a:t>
                      </a:r>
                    </a:p>
                  </a:txBody>
                  <a:tcPr marL="101600" marR="101600" marT="38100" marB="38100" anchor="ctr">
                    <a:solidFill>
                      <a:srgbClr val="FFFFFF"/>
                    </a:solidFill>
                  </a:tcPr>
                </a:tc>
              </a:tr>
              <a:tr h="335280">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3,900</a:t>
                      </a:r>
                    </a:p>
                  </a:txBody>
                  <a:tcPr marL="101600" marR="101600" marT="38100" marB="38100" anchor="ctr">
                    <a:solidFill>
                      <a:srgbClr val="F4F2FA"/>
                    </a:solidFill>
                  </a:tcPr>
                </a:tc>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4,590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The audit reports a Rs 690 disagreement on a sample that should be identical, and every other number in the suite comes under question. The answer is c.</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table has no order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same query on the same book draw a different five?</a:t>
            </a:r>
          </a:p>
        </p:txBody>
      </p:sp>
      <p:pic>
        <p:nvPicPr>
          <p:cNvPr id="9" name="mermaid diagram" descr="7647d511fe64edd1.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fingerprint said the book did not change; the samples say the five did. Without ORDER BY, Postgres returns rows "in an unspecified order", and LIMIT returns "an unpredictable subset of the query's rows".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 BY order_id draws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orders will the analyst trace against the ERP?</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ORDER  BY order_id</a:t>
            </a:r>
          </a:p>
          <a:p>
            <a:pPr>
              <a:spcAft>
                <a:spcPts val="200"/>
              </a:spcAft>
            </a:pPr>
            <a:r>
              <a:rPr sz="1400" b="0" i="0">
                <a:solidFill>
                  <a:srgbClr val="E4E1F1"/>
                </a:solidFill>
                <a:latin typeface="Consolas"/>
              </a:rPr>
              <a:t>LIMIT  5;</a:t>
            </a:r>
          </a:p>
        </p:txBody>
      </p:sp>
      <p:sp>
        <p:nvSpPr>
          <p:cNvPr id="14" name="TextBox 13"/>
          <p:cNvSpPr txBox="1"/>
          <p:nvPr/>
        </p:nvSpPr>
        <p:spPr>
          <a:xfrm>
            <a:off x="53035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KR-00542 to KR-00547</a:t>
            </a:r>
          </a:p>
        </p:txBody>
      </p:sp>
      <p:sp>
        <p:nvSpPr>
          <p:cNvPr id="15" name="TextBox 14"/>
          <p:cNvSpPr txBox="1"/>
          <p:nvPr/>
        </p:nvSpPr>
        <p:spPr>
          <a:xfrm>
            <a:off x="53035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FIVE</a:t>
            </a:r>
          </a:p>
        </p:txBody>
      </p:sp>
      <p:sp>
        <p:nvSpPr>
          <p:cNvPr id="16" name="TextBox 15"/>
          <p:cNvSpPr txBox="1"/>
          <p:nvPr/>
        </p:nvSpPr>
        <p:spPr>
          <a:xfrm>
            <a:off x="53035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542, 544, 545, 546 and 547</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19" name="TextBox 18"/>
          <p:cNvSpPr txBox="1"/>
          <p:nvPr/>
        </p:nvSpPr>
        <p:spPr>
          <a:xfrm>
            <a:off x="433212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BEFORE THE RELOAD</a:t>
            </a:r>
          </a:p>
        </p:txBody>
      </p:sp>
      <p:sp>
        <p:nvSpPr>
          <p:cNvPr id="20" name="TextBox 19"/>
          <p:cNvSpPr txBox="1"/>
          <p:nvPr/>
        </p:nvSpPr>
        <p:spPr>
          <a:xfrm>
            <a:off x="433212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23" name="TextBox 22"/>
          <p:cNvSpPr txBox="1"/>
          <p:nvPr/>
        </p:nvSpPr>
        <p:spPr>
          <a:xfrm>
            <a:off x="813389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THE RELOAD</a:t>
            </a:r>
          </a:p>
        </p:txBody>
      </p:sp>
      <p:sp>
        <p:nvSpPr>
          <p:cNvPr id="24" name="TextBox 23"/>
          <p:cNvSpPr txBox="1"/>
          <p:nvPr/>
        </p:nvSpPr>
        <p:spPr>
          <a:xfrm>
            <a:off x="813389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picks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after the database returns every candidate, pick the same five?</a:t>
            </a:r>
          </a:p>
        </p:txBody>
      </p:sp>
      <p:pic>
        <p:nvPicPr>
          <p:cNvPr id="9" name="mermaid diagram" descr="b2475a8e6bd693c1.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asked the database to sort and cut; this one asks for all 94 candidates in whatever order they arrive and sorts them in Python, and it names the same five orders.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message to Anand: down 1.6%, and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Monday suite tell Anand?</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"Anand, the Monday suite now runs on the warehouse itself. Booked revenue fell 1.6 percent, from Rs 10.00 crore to Rs 9.84 crore, and Retail-Plus carries the fall in orders: its revenue is down 29.4 percent because 16.5 percent fewer members bought and each ordered 22.0 percent less often. Every count says what it counts, every ratio multiplies back, and each run prints the book's fingerprint, so a rerun on the same book gives the same answer. One caveat: last week's extract showed customers flat, and the full book shows 7.0 percent fewer customers in Q2."</a:t>
            </a:r>
          </a:p>
        </p:txBody>
      </p:sp>
      <p:pic>
        <p:nvPicPr>
          <p:cNvPr id="11" name="mermaid diagram" descr="0976b04f81f9508f.png"/>
          <p:cNvPicPr>
            <a:picLocks noChangeAspect="1"/>
          </p:cNvPicPr>
          <p:nvPr/>
        </p:nvPicPr>
        <p:blipFill>
          <a:blip r:embed="rId5"/>
          <a:stretch>
            <a:fillRect/>
          </a:stretch>
        </p:blipFill>
        <p:spPr>
          <a:xfrm>
            <a:off x="530352" y="3992880"/>
            <a:ext cx="11130991" cy="1545971"/>
          </a:xfrm>
          <a:prstGeom prst="rect">
            <a:avLst/>
          </a:prstGeom>
        </p:spPr>
      </p:pic>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once every list is ordered and fingerprinted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will next Monday's run give Anand's analyst the same answer from the same book?</a:t>
            </a:r>
          </a:p>
        </p:txBody>
      </p:sp>
      <p:graphicFrame>
        <p:nvGraphicFramePr>
          <p:cNvPr id="9" name="Table 8"/>
          <p:cNvGraphicFramePr>
            <a:graphicFrameLocks noGrp="1"/>
          </p:cNvGraphicFramePr>
          <p:nvPr/>
        </p:nvGraphicFramePr>
        <p:xfrm>
          <a:off x="530352" y="1873504"/>
          <a:ext cx="11130991" cy="1908048"/>
        </p:xfrm>
        <a:graphic>
          <a:graphicData uri="http://schemas.openxmlformats.org/drawingml/2006/table">
            <a:tbl>
              <a:tblPr firstRow="0" bandRow="0">
                <a:tableStyleId>{2D5ABB26-0587-4C30-8999-92F81FD0307C}</a:tableStyleId>
              </a:tblPr>
              <a:tblGrid>
                <a:gridCol w="3571656"/>
                <a:gridCol w="755933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does a run prove itself?</a:t>
                      </a:r>
                    </a:p>
                  </a:txBody>
                  <a:tcPr marL="101600" marR="101600" marT="38100" marB="38100" anchor="ctr">
                    <a:solidFill>
                      <a:srgbClr val="FFFFFF"/>
                    </a:solidFill>
                  </a:tcPr>
                </a:tc>
                <a:tc>
                  <a:txBody>
                    <a:bodyPr/>
                    <a:lstStyle/>
                    <a:p>
                      <a:r>
                        <a:rPr sz="1100" b="0" i="0">
                          <a:solidFill>
                            <a:srgbClr val="1A1440"/>
                          </a:solidFill>
                          <a:latin typeface="Calibri"/>
                        </a:rPr>
                        <a:t>A fingerprint block, 7 numbers, and ORDER BY on a unique key</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leave behind?</a:t>
                      </a:r>
                    </a:p>
                  </a:txBody>
                  <a:tcPr marL="101600" marR="101600" marT="38100" marB="38100" anchor="ctr">
                    <a:solidFill>
                      <a:srgbClr val="F4F2FA"/>
                    </a:solidFill>
                  </a:tcPr>
                </a:tc>
                <a:tc>
                  <a:txBody>
                    <a:bodyPr/>
                    <a:lstStyle/>
                    <a:p>
                      <a:r>
                        <a:rPr sz="1100" b="0" i="0">
                          <a:solidFill>
                            <a:srgbClr val="1A1440"/>
                          </a:solidFill>
                          <a:latin typeface="Calibri"/>
                        </a:rPr>
                        <a:t>1,000 orders, Rs 19,84,00,000, 301 customers; unchanged by the reload</a:t>
                      </a:r>
                    </a:p>
                  </a:txBody>
                  <a:tcPr marL="101600" marR="101600" marT="38100" marB="38100" anchor="ctr">
                    <a:solidFill>
                      <a:srgbClr val="F4F2FA"/>
                    </a:solidFill>
                  </a:tcPr>
                </a:tc>
              </a:tr>
              <a:tr h="318008">
                <a:tc>
                  <a:txBody>
                    <a:bodyPr/>
                    <a:lstStyle/>
                    <a:p>
                      <a:r>
                        <a:rPr sz="1100" b="0" i="0">
                          <a:solidFill>
                            <a:srgbClr val="1A1440"/>
                          </a:solidFill>
                          <a:latin typeface="Calibri"/>
                        </a:rPr>
                        <a:t>3. Which five orders?</a:t>
                      </a:r>
                    </a:p>
                  </a:txBody>
                  <a:tcPr marL="101600" marR="101600" marT="38100" marB="38100" anchor="ctr">
                    <a:solidFill>
                      <a:srgbClr val="FFFFFF"/>
                    </a:solidFill>
                  </a:tcPr>
                </a:tc>
                <a:tc>
                  <a:txBody>
                    <a:bodyPr/>
                    <a:lstStyle/>
                    <a:p>
                      <a:r>
                        <a:rPr sz="1100" b="0" i="0">
                          <a:solidFill>
                            <a:srgbClr val="1A1440"/>
                          </a:solidFill>
                          <a:latin typeface="Calibri"/>
                        </a:rPr>
                        <a:t>KR-00542 to KR-00547, Rs 3,900; unordered, a rerun drew Rs 4,590</a:t>
                      </a:r>
                    </a:p>
                  </a:txBody>
                  <a:tcPr marL="101600" marR="101600" marT="38100" marB="38100" anchor="ctr">
                    <a:solidFill>
                      <a:srgbClr val="FFFFFF"/>
                    </a:solidFill>
                  </a:tcPr>
                </a:tc>
              </a:tr>
              <a:tr h="318008">
                <a:tc>
                  <a:txBody>
                    <a:bodyPr/>
                    <a:lstStyle/>
                    <a:p>
                      <a:r>
                        <a:rPr sz="1100" b="0" i="0">
                          <a:solidFill>
                            <a:srgbClr val="1A1440"/>
                          </a:solidFill>
                          <a:latin typeface="Calibri"/>
                        </a:rPr>
                        <a:t>4. Does Python agree?</a:t>
                      </a:r>
                    </a:p>
                  </a:txBody>
                  <a:tcPr marL="101600" marR="101600" marT="38100" marB="38100" anchor="ctr">
                    <a:solidFill>
                      <a:srgbClr val="F4F2FA"/>
                    </a:solidFill>
                  </a:tcPr>
                </a:tc>
                <a:tc>
                  <a:txBody>
                    <a:bodyPr/>
                    <a:lstStyle/>
                    <a:p>
                      <a:r>
                        <a:rPr sz="1100" b="0" i="0">
                          <a:solidFill>
                            <a:srgbClr val="1A1440"/>
                          </a:solidFill>
                          <a:latin typeface="Calibri"/>
                        </a:rPr>
                        <a:t>Yes: sorting all 94 candidates picks the same five</a:t>
                      </a:r>
                    </a:p>
                  </a:txBody>
                  <a:tcPr marL="101600" marR="101600" marT="38100" marB="38100" anchor="ctr">
                    <a:solidFill>
                      <a:srgbClr val="F4F2FA"/>
                    </a:solidFill>
                  </a:tcPr>
                </a:tc>
              </a:tr>
              <a:tr h="318008">
                <a:tc>
                  <a:txBody>
                    <a:bodyPr/>
                    <a:lstStyle/>
                    <a:p>
                      <a:r>
                        <a:rPr sz="1100" b="0" i="0">
                          <a:solidFill>
                            <a:srgbClr val="1A1440"/>
                          </a:solidFill>
                          <a:latin typeface="Calibri"/>
                        </a:rPr>
                        <a:t>5. What does Anand hear?</a:t>
                      </a:r>
                    </a:p>
                  </a:txBody>
                  <a:tcPr marL="101600" marR="101600" marT="38100" marB="38100" anchor="ctr">
                    <a:solidFill>
                      <a:srgbClr val="FFFFFF"/>
                    </a:solidFill>
                  </a:tcPr>
                </a:tc>
                <a:tc>
                  <a:txBody>
                    <a:bodyPr/>
                    <a:lstStyle/>
                    <a:p>
                      <a:r>
                        <a:rPr sz="1100" b="0" i="0">
                          <a:solidFill>
                            <a:srgbClr val="1A1440"/>
                          </a:solidFill>
                          <a:latin typeface="Calibri"/>
                        </a:rPr>
                        <a:t>Down 1.6%, Retail-Plus carries it, and every rerun repeats</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A run that cannot be repeated cannot be audited. Every list carries an ORDER BY on a column no two rows share, and the book's fingerprint prints beside the numbers, so a difference next Monday says whether the book moved or the query did.</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[F] What does LIMIT without ORDER BY return? [F] Your KPI moved 30 percent overnight and the data did not change; what do you suspect?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Monday suite hold on Anand's definition, the orders that were delivered?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"Finance counts the orders that reached the customer and stayed there. Run me the same suite on delivered orders, and tell me whether the story changes."</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delivered book</a:t>
            </a:r>
          </a:p>
        </p:txBody>
      </p:sp>
      <p:sp>
        <p:nvSpPr>
          <p:cNvPr id="19" name="TextBox 18"/>
          <p:cNvSpPr txBox="1"/>
          <p:nvPr/>
        </p:nvSpPr>
        <p:spPr>
          <a:xfrm>
            <a:off x="694944" y="4564126"/>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customers and rupees per quarter, on Anand's definition. This afternoon.</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Each segment's frequency</a:t>
            </a:r>
          </a:p>
        </p:txBody>
      </p:sp>
      <p:sp>
        <p:nvSpPr>
          <p:cNvPr id="24" name="TextBox 23"/>
          <p:cNvSpPr txBox="1"/>
          <p:nvPr/>
        </p:nvSpPr>
        <p:spPr>
          <a:xfrm>
            <a:off x="2957718" y="4778756"/>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 and the groups too thin to quote. This afternoon.</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Branches and spend</a:t>
            </a:r>
          </a:p>
        </p:txBody>
      </p:sp>
      <p:sp>
        <p:nvSpPr>
          <p:cNvPr id="29" name="TextBox 28"/>
          <p:cNvSpPr txBox="1"/>
          <p:nvPr/>
        </p:nvSpPr>
        <p:spPr>
          <a:xfrm>
            <a:off x="5220492"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Retail-Plus's branches and spend per member. In the lab.</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tie-outs</a:t>
            </a:r>
          </a:p>
        </p:txBody>
      </p:sp>
      <p:sp>
        <p:nvSpPr>
          <p:cNvPr id="34" name="TextBox 33"/>
          <p:cNvSpPr txBox="1"/>
          <p:nvPr/>
        </p:nvSpPr>
        <p:spPr>
          <a:xfrm>
            <a:off x="7483266"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Segments against the book, the half-year counted once. In the lab.</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run that repeats</a:t>
            </a:r>
          </a:p>
        </p:txBody>
      </p:sp>
      <p:sp>
        <p:nvSpPr>
          <p:cNvPr id="39" name="TextBox 38"/>
          <p:cNvSpPr txBox="1"/>
          <p:nvPr/>
        </p:nvSpPr>
        <p:spPr>
          <a:xfrm>
            <a:off x="9746040" y="4564126"/>
            <a:ext cx="1750710" cy="531876"/>
          </a:xfrm>
          <a:prstGeom prst="rect">
            <a:avLst/>
          </a:prstGeom>
          <a:noFill/>
        </p:spPr>
        <p:txBody>
          <a:bodyPr wrap="square" anchor="t" lIns="0" rIns="0" tIns="0" bIns="0">
            <a:spAutoFit/>
          </a:bodyPr>
          <a:lstStyle/>
          <a:p>
            <a:pPr algn="l"/>
            <a:r>
              <a:rPr sz="1000" b="0" i="0">
                <a:solidFill>
                  <a:srgbClr val="CFC9EE"/>
                </a:solidFill>
                <a:latin typeface="Calibri"/>
              </a:rPr>
              <a:t>An ordered sample and the delivered book's fingerprint. In the lab.</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2" name="Oval 4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the analyst reads it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delivered suite have to keep, whatever the numbers turn out to be?</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DEFINITION</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Delivered only</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filter on the order's status keeps orders that reached the customer and stayed.</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COUNTS</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Named for what they count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are rows; customers are counted once each.</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divide_8fbee41b51cd.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RATIOS</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Divided in numeric</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Every ratio keeps its decimals and multiplies back to its orders.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RUN</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Ordered and fingerprinted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The sample orders on a unique key, and the delivered book's fingerprint prints beside it.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7" name="Oval 3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Anand ask next?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the Monday suite with?</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Counts</a:t>
            </a:r>
          </a:p>
        </p:txBody>
      </p:sp>
      <p:sp>
        <p:nvSpPr>
          <p:cNvPr id="14" name="TextBox 13"/>
          <p:cNvSpPr txBox="1"/>
          <p:nvPr/>
        </p:nvSpPr>
        <p:spPr>
          <a:xfrm>
            <a:off x="694944"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A count says what it counts: order rows are count(*), customers are count(DISTINCT customer_id).</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Sources</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A matching total is one leaf matching, so compare every leaf as a change.</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Ratios</a:t>
            </a:r>
          </a:p>
        </p:txBody>
      </p:sp>
      <p:sp>
        <p:nvSpPr>
          <p:cNvPr id="24" name="TextBox 23"/>
          <p:cNvSpPr txBox="1"/>
          <p:nvPr/>
        </p:nvSpPr>
        <p:spPr>
          <a:xfrm>
            <a:off x="446623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Divide in numeric, round on purpose, and keep the counts beside the ratio.</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Averages</a:t>
            </a:r>
          </a:p>
        </p:txBody>
      </p:sp>
      <p:sp>
        <p:nvSpPr>
          <p:cNvPr id="29" name="TextBox 28"/>
          <p:cNvSpPr txBox="1"/>
          <p:nvPr/>
        </p:nvSpPr>
        <p:spPr>
          <a:xfrm>
            <a:off x="635187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An average names who is inside it, so write the zero on purpose.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Sums</a:t>
            </a:r>
          </a:p>
        </p:txBody>
      </p:sp>
      <p:sp>
        <p:nvSpPr>
          <p:cNvPr id="34" name="TextBox 33"/>
          <p:cNvSpPr txBox="1"/>
          <p:nvPr/>
        </p:nvSpPr>
        <p:spPr>
          <a:xfrm>
            <a:off x="8237524"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Orders and rupees add across quarters; customers are counted again from the orders.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FFFFFF"/>
                </a:solidFill>
                <a:latin typeface="Calibri"/>
              </a:rPr>
              <a:t>Runs</a:t>
            </a:r>
          </a:p>
        </p:txBody>
      </p:sp>
      <p:sp>
        <p:nvSpPr>
          <p:cNvPr id="39" name="TextBox 38"/>
          <p:cNvSpPr txBox="1"/>
          <p:nvPr/>
        </p:nvSpPr>
        <p:spPr>
          <a:xfrm>
            <a:off x="10123170" y="3277870"/>
            <a:ext cx="1373581" cy="862076"/>
          </a:xfrm>
          <a:prstGeom prst="rect">
            <a:avLst/>
          </a:prstGeom>
          <a:noFill/>
        </p:spPr>
        <p:txBody>
          <a:bodyPr wrap="square" anchor="t" lIns="0" rIns="0" tIns="0" bIns="0">
            <a:spAutoFit/>
          </a:bodyPr>
          <a:lstStyle/>
          <a:p>
            <a:pPr algn="l"/>
            <a:r>
              <a:rPr sz="1000" b="0" i="0">
                <a:solidFill>
                  <a:srgbClr val="CFC9EE"/>
                </a:solidFill>
                <a:latin typeface="Calibri"/>
              </a:rPr>
              <a:t>Order every list on a column no two rows share, and print the book's fingerprint beside the numbers.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4" name="Oval 4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from Week 1 Thursday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Kahoot is daily and ungraded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 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ITEM</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reason, aloud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f29a3ab81528a198.png"/>
          <p:cNvPicPr>
            <a:picLocks noChangeAspect="1"/>
          </p:cNvPicPr>
          <p:nvPr/>
        </p:nvPicPr>
        <p:blipFill>
          <a:blip r:embed="rId5"/>
          <a:stretch>
            <a:fillRect/>
          </a:stretch>
        </p:blipFill>
        <p:spPr>
          <a:xfrm>
            <a:off x="3524097" y="3419856"/>
            <a:ext cx="5143500" cy="2100262"/>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today equip you to answer, and how are they tagged?</a:t>
            </a:r>
          </a:p>
        </p:txBody>
      </p:sp>
      <p:graphicFrame>
        <p:nvGraphicFramePr>
          <p:cNvPr id="10" name="Table 9"/>
          <p:cNvGraphicFramePr>
            <a:graphicFrameLocks noGrp="1"/>
          </p:cNvGraphicFramePr>
          <p:nvPr/>
        </p:nvGraphicFramePr>
        <p:xfrm>
          <a:off x="530352" y="1682496"/>
          <a:ext cx="11130991" cy="3688080"/>
        </p:xfrm>
        <a:graphic>
          <a:graphicData uri="http://schemas.openxmlformats.org/drawingml/2006/table">
            <a:tbl>
              <a:tblPr firstRow="0" bandRow="0">
                <a:tableStyleId>{2D5ABB26-0587-4C30-8999-92F81FD0307C}</a:tableStyleId>
              </a:tblPr>
              <a:tblGrid>
                <a:gridCol w="914400"/>
                <a:gridCol w="10216591"/>
              </a:tblGrid>
              <a:tr h="335280">
                <a:tc>
                  <a:txBody>
                    <a:bodyPr/>
                    <a:lstStyle/>
                    <a:p>
                      <a:r>
                        <a:rPr sz="1250" b="1" i="0">
                          <a:solidFill>
                            <a:srgbClr val="FFFFFF"/>
                          </a:solidFill>
                          <a:latin typeface="Calibri"/>
                        </a:rPr>
                        <a:t>Tag</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r>
              <a:tr h="335280">
                <a:tc>
                  <a:txBody>
                    <a:bodyPr/>
                    <a:lstStyle/>
                    <a:p>
                      <a:r>
                        <a:rPr sz="1200" b="0" i="0">
                          <a:solidFill>
                            <a:srgbClr val="1A1440"/>
                          </a:solidFill>
                          <a:latin typeface="Calibri"/>
                        </a:rPr>
                        <a:t>[S]</a:t>
                      </a:r>
                    </a:p>
                  </a:txBody>
                  <a:tcPr marL="101600" marR="101600" marT="38100" marB="38100" anchor="ctr">
                    <a:solidFill>
                      <a:srgbClr val="FFFFFF"/>
                    </a:solidFill>
                  </a:tcPr>
                </a:tc>
                <a:tc>
                  <a:txBody>
                    <a:bodyPr/>
                    <a:lstStyle/>
                    <a:p>
                      <a:r>
                        <a:rPr sz="1200" b="0" i="0">
                          <a:solidFill>
                            <a:srgbClr val="1A1440"/>
                          </a:solidFill>
                          <a:latin typeface="Calibri"/>
                        </a:rPr>
                        <a:t>WHERE against HAVING, one sentence each.</a:t>
                      </a:r>
                    </a:p>
                  </a:txBody>
                  <a:tcPr marL="101600" marR="101600" marT="38100" marB="38100" anchor="ctr">
                    <a:solidFill>
                      <a:srgbClr val="FFFFFF"/>
                    </a:solidFill>
                  </a:tcPr>
                </a:tc>
              </a:tr>
              <a:tr h="335280">
                <a:tc>
                  <a:txBody>
                    <a:bodyPr/>
                    <a:lstStyle/>
                    <a:p>
                      <a:r>
                        <a:rPr sz="1200" b="0" i="0">
                          <a:solidFill>
                            <a:srgbClr val="1A1440"/>
                          </a:solidFill>
                          <a:latin typeface="Calibri"/>
                        </a:rPr>
                        <a:t>[S]</a:t>
                      </a:r>
                    </a:p>
                  </a:txBody>
                  <a:tcPr marL="101600" marR="101600" marT="38100" marB="38100" anchor="ctr">
                    <a:solidFill>
                      <a:srgbClr val="F4F2FA"/>
                    </a:solidFill>
                  </a:tcPr>
                </a:tc>
                <a:tc>
                  <a:txBody>
                    <a:bodyPr/>
                    <a:lstStyle/>
                    <a:p>
                      <a:r>
                        <a:rPr sz="1200" b="0" i="0">
                          <a:solidFill>
                            <a:srgbClr val="1A1440"/>
                          </a:solidFill>
                          <a:latin typeface="Calibri"/>
                        </a:rPr>
                        <a:t>Explain the logical order in which a SQL query runs.</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Why would you compute a KPI in the warehouse rather than in a notebook?</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What does LIMIT without ORDER BY return?</a:t>
                      </a:r>
                    </a:p>
                  </a:txBody>
                  <a:tcPr marL="101600" marR="101600" marT="38100" marB="38100" anchor="ctr">
                    <a:solidFill>
                      <a:srgbClr val="F4F2FA"/>
                    </a:solidFill>
                  </a:tcPr>
                </a:tc>
              </a:tr>
              <a:tr h="335280">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An analyst must audit your query: what changes in how you write it, and what would you refuse to compute in a notebook?</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Orders per customer reads 1 for a segment; what do you check first?</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An average moved but the total did not; how?</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Why can you not add two quarters' customer counts to get the half-year's?</a:t>
                      </a:r>
                    </a:p>
                  </a:txBody>
                  <a:tcPr marL="101600" marR="101600" marT="38100" marB="38100" anchor="ctr">
                    <a:solidFill>
                      <a:srgbClr val="F4F2FA"/>
                    </a:solidFill>
                  </a:tcPr>
                </a:tc>
              </a:tr>
              <a:tr h="335280">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Two analysts report different customer counts for one quarter; how do you settle it?</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Your KPI moved 30 percent overnight and the data did not change; what do you suspect?</a:t>
                      </a:r>
                    </a:p>
                  </a:txBody>
                  <a:tcPr marL="101600" marR="101600" marT="38100" marB="38100" anchor="ctr">
                    <a:solidFill>
                      <a:srgbClr val="F4F2FA"/>
                    </a:solidFill>
                  </a:tcPr>
                </a:tc>
              </a:tr>
            </a:tbl>
          </a:graphicData>
        </a:graphic>
      </p:graphicFrame>
      <p:sp>
        <p:nvSpPr>
          <p:cNvPr id="11" name="TextBox 10"/>
          <p:cNvSpPr txBox="1"/>
          <p:nvPr/>
        </p:nvSpPr>
        <p:spPr>
          <a:xfrm>
            <a:off x="530352" y="5626608"/>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Tags: [S]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the channels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channel is losing Kalpa's consumers, once the Business orders are read apart?</a:t>
            </a:r>
          </a:p>
        </p:txBody>
      </p:sp>
      <p:pic>
        <p:nvPicPr>
          <p:cNvPr id="10" name="mermaid diagram" descr="6a6d9ee5681df4b3.png"/>
          <p:cNvPicPr>
            <a:picLocks noChangeAspect="1"/>
          </p:cNvPicPr>
          <p:nvPr/>
        </p:nvPicPr>
        <p:blipFill>
          <a:blip r:embed="rId6"/>
          <a:stretch>
            <a:fillRect/>
          </a:stretch>
        </p:blipFill>
        <p:spPr>
          <a:xfrm>
            <a:off x="530352" y="2412098"/>
            <a:ext cx="4786326" cy="3057930"/>
          </a:xfrm>
          <a:prstGeom prst="rect">
            <a:avLst/>
          </a:prstGeom>
        </p:spPr>
      </p:pic>
      <p:sp>
        <p:nvSpPr>
          <p:cNvPr id="11" name="Rounded Rectangle 10"/>
          <p:cNvSpPr/>
          <p:nvPr/>
        </p:nvSpPr>
        <p:spPr>
          <a:xfrm>
            <a:off x="5761917" y="1956816"/>
            <a:ext cx="5899425"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6100245" y="2657856"/>
            <a:ext cx="237744" cy="237744"/>
          </a:xfrm>
          <a:prstGeom prst="rect">
            <a:avLst/>
          </a:prstGeom>
        </p:spPr>
      </p:pic>
      <p:sp>
        <p:nvSpPr>
          <p:cNvPr id="14" name="TextBox 13"/>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FFFFFF"/>
                </a:solidFill>
                <a:latin typeface="Calibri"/>
              </a:rPr>
              <a:t>"The same numbers for every channel: app, web and store. Marketing says the store is booming and the web is collapsing, and wants the budget moved. Is that what the book says?"</a:t>
            </a:r>
          </a:p>
        </p:txBody>
      </p:sp>
      <p:sp>
        <p:nvSpPr>
          <p:cNvPr id="16" name="TextBox 15"/>
          <p:cNvSpPr txBox="1"/>
          <p:nvPr/>
        </p:nvSpPr>
        <p:spPr>
          <a:xfrm>
            <a:off x="5761917" y="3761232"/>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sells through its app, its website and its stores. Business books about 99 percent of the rupees, so each channel's total is two businesses in one line.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988864"/>
                <a:gridCol w="4292461"/>
                <a:gridCol w="584966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plausible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538 and 462 customers, 1.00 order each</a:t>
                      </a:r>
                    </a:p>
                  </a:txBody>
                  <a:tcPr marL="101600" marR="101600" marT="38100" marB="38100" anchor="ctr">
                    <a:solidFill>
                      <a:srgbClr val="FFFFFF"/>
                    </a:solidFill>
                  </a:tcPr>
                </a:tc>
                <a:tc>
                  <a:txBody>
                    <a:bodyPr/>
                    <a:lstStyle/>
                    <a:p>
                      <a:r>
                        <a:rPr sz="1400" b="0" i="0">
                          <a:solidFill>
                            <a:srgbClr val="1A1440"/>
                          </a:solidFill>
                          <a:latin typeface="Calibri"/>
                        </a:rPr>
                        <a:t>Three counts of one table: 1,000 rows, 340 members, 301 buyers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Customers held flat, as last week said</a:t>
                      </a:r>
                    </a:p>
                  </a:txBody>
                  <a:tcPr marL="101600" marR="101600" marT="38100" marB="38100" anchor="ctr">
                    <a:solidFill>
                      <a:srgbClr val="F4F2FA"/>
                    </a:solidFill>
                  </a:tcPr>
                </a:tc>
                <a:tc>
                  <a:txBody>
                    <a:bodyPr/>
                    <a:lstStyle/>
                    <a:p>
                      <a:r>
                        <a:rPr sz="1400" b="0" i="0">
                          <a:solidFill>
                            <a:srgbClr val="1A1440"/>
                          </a:solidFill>
                          <a:latin typeface="Calibri"/>
                        </a:rPr>
                        <a:t>Who bought in both quarters: 69 of 69 against 170 of 301</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Retail-Plus frequency 2 then 1, "halved"</a:t>
                      </a:r>
                    </a:p>
                  </a:txBody>
                  <a:tcPr marL="101600" marR="101600" marT="38100" marB="38100" anchor="ctr">
                    <a:solidFill>
                      <a:srgbClr val="FFFFFF"/>
                    </a:solidFill>
                  </a:tcPr>
                </a:tc>
                <a:tc>
                  <a:txBody>
                    <a:bodyPr/>
                    <a:lstStyle/>
                    <a:p>
                      <a:r>
                        <a:rPr sz="1400" b="0" i="0">
                          <a:solidFill>
                            <a:srgbClr val="1A1440"/>
                          </a:solidFill>
                          <a:latin typeface="Calibri"/>
                        </a:rPr>
                        <a:t>Multiply back: 1 times 76 is 76, where the orders are 140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Each member spent 15.5% less</a:t>
                      </a:r>
                    </a:p>
                  </a:txBody>
                  <a:tcPr marL="101600" marR="101600" marT="38100" marB="38100" anchor="ctr">
                    <a:solidFill>
                      <a:srgbClr val="F4F2FA"/>
                    </a:solidFill>
                  </a:tcPr>
                </a:tc>
                <a:tc>
                  <a:txBody>
                    <a:bodyPr/>
                    <a:lstStyle/>
                    <a:p>
                      <a:r>
                        <a:rPr sz="1400" b="0" i="0">
                          <a:solidFill>
                            <a:srgbClr val="1A1440"/>
                          </a:solidFill>
                          <a:latin typeface="Calibri"/>
                        </a:rPr>
                        <a:t>Who is inside each average: 107, 91 and 76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167 Retail-Plus customers in the half-year</a:t>
                      </a:r>
                    </a:p>
                  </a:txBody>
                  <a:tcPr marL="101600" marR="101600" marT="38100" marB="38100" anchor="ctr">
                    <a:solidFill>
                      <a:srgbClr val="FFFFFF"/>
                    </a:solidFill>
                  </a:tcPr>
                </a:tc>
                <a:tc>
                  <a:txBody>
                    <a:bodyPr/>
                    <a:lstStyle/>
                    <a:p>
                      <a:r>
                        <a:rPr sz="1400" b="0" i="0">
                          <a:solidFill>
                            <a:srgbClr val="1A1440"/>
                          </a:solidFill>
                          <a:latin typeface="Calibri"/>
                        </a:rPr>
                        <a:t>Buyers against members: 167 of a tier of 120</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Rs 3,900 against a rerun's Rs 4,590</a:t>
                      </a:r>
                    </a:p>
                  </a:txBody>
                  <a:tcPr marL="101600" marR="101600" marT="38100" marB="38100" anchor="ctr">
                    <a:solidFill>
                      <a:srgbClr val="F4F2FA"/>
                    </a:solidFill>
                  </a:tcPr>
                </a:tc>
                <a:tc>
                  <a:txBody>
                    <a:bodyPr/>
                    <a:lstStyle/>
                    <a:p>
                      <a:r>
                        <a:rPr sz="1400" b="0" i="0">
                          <a:solidFill>
                            <a:srgbClr val="1A1440"/>
                          </a:solidFill>
                          <a:latin typeface="Calibri"/>
                        </a:rPr>
                        <a:t>The fingerprint held while the sample moved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against collected,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the next question: what does the book say about the money itself?</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Show me, order by order, what we actually collected against what we booked in Q2."</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 the question he sends back</a:t>
            </a:r>
          </a:p>
        </p:txBody>
      </p:sp>
      <p:pic>
        <p:nvPicPr>
          <p:cNvPr id="13" name="mermaid diagram" descr="6055f7d26d6b54f8.png"/>
          <p:cNvPicPr>
            <a:picLocks noChangeAspect="1"/>
          </p:cNvPicPr>
          <p:nvPr/>
        </p:nvPicPr>
        <p:blipFill>
          <a:blip r:embed="rId5"/>
          <a:stretch>
            <a:fillRect/>
          </a:stretch>
        </p:blipFill>
        <p:spPr>
          <a:xfrm>
            <a:off x="3524097" y="3468624"/>
            <a:ext cx="5143500" cy="1600200"/>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8" name="Oval 17"/>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