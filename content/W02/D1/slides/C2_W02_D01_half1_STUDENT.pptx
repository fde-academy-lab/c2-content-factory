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words aloud and leave them up while the room settles. Last week</a:t>
            </a:r>
          </a:p>
          <a:p>
            <a:r>
              <a:t>ended with Meera accepting "real, modest, fix frequency" from a 186-order extract, and parking</a:t>
            </a:r>
          </a:p>
          <a:p>
            <a:r>
              <a:t>Marketing's Rs 12 crore acquisition request. This week the same numbers move from files into</a:t>
            </a:r>
          </a:p>
          <a:p>
            <a:r>
              <a:t>Kalpa's warehouse, and each day answers a harder version of Anand's request. Then the day's</a:t>
            </a:r>
          </a:p>
          <a:p>
            <a:r>
              <a:t>question and its six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chapter</a:t>
            </a:r>
          </a:p>
          <a:p>
            <a:r>
              <a:t>asks the question the answer before it raises, and each closes on its own answer with a number.</a:t>
            </a:r>
          </a:p>
          <a:p>
            <a:r>
              <a:t>Chapters 1 to 5 run this morning, with a break before chapter 4, and chapter 6 after lunch.</a:t>
            </a:r>
          </a:p>
          <a:p>
            <a:r>
              <a:t>Then Anand's message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both messages aloud. Anand Iyer is Kalpa Retail's finance controller: he</a:t>
            </a:r>
          </a:p>
          <a:p>
            <a:r>
              <a:t>owns the book, the record of every order Finance stands behind, and his analyst will read every</a:t>
            </a:r>
          </a:p>
          <a:p>
            <a:r>
              <a:t>query line by line without the team in the room. The warehouse is Kalpa's Postgres database, the</a:t>
            </a:r>
          </a:p>
          <a:p>
            <a:r>
              <a:t>one copy of the book everybody reads. Q1 is April to June 2026 and Q2 is July to September 2026.</a:t>
            </a:r>
          </a:p>
          <a:p>
            <a:r>
              <a:t>Ask which of the four numbers changes how the team works most. Most say the zero, because every</a:t>
            </a:r>
          </a:p>
          <a:p>
            <a:r>
              <a:t>Week 1 step ran on a file. The platform lead's "one thousand orders" is a claim; chapter 1 checks</a:t>
            </a:r>
          </a:p>
          <a:p>
            <a:r>
              <a:t>it. Then what Anand's rule rules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d from the cautious and b from the</a:t>
            </a:r>
          </a:p>
          <a:p>
            <a:r>
              <a:t>practical, and hold the answer until every pair has a letter.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d sounds disciplined and throws away every chart the week needs; option b</a:t>
            </a:r>
          </a:p>
          <a:p>
            <a:r>
              <a:t>is how most teams start and why most Monday numbers drift. This is the first half of the interview</a:t>
            </a:r>
          </a:p>
          <a:p>
            <a:r>
              <a:t>answer to "why compute a KPI in the warehouse", which chapter 1 finishes with a number. Then which</a:t>
            </a:r>
          </a:p>
          <a:p>
            <a:r>
              <a:t>of last week's steps become one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each pair aloud. The last one, two quarters side by side, is chapter 4's</a:t>
            </a:r>
          </a:p>
          <a:p>
            <a:r>
              <a:t>named steps. Where SQL stops: charts, statistical tests and exploration stay in Python, which</a:t>
            </a:r>
          </a:p>
          <a:p>
            <a:r>
              <a:t>reads the warehouse; the number on the sheet comes from the saved query. Then the order in which</a:t>
            </a:r>
          </a:p>
          <a:p>
            <a:r>
              <a:t>the database runs what you write.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never cut. Draw it on the board and leave it up all day. Walk one query through</a:t>
            </a:r>
          </a:p>
          <a:p>
            <a:r>
              <a:t>it aloud: the table is read, WHERE keeps rows one at a time, GROUP BY forms the groups, HAVING</a:t>
            </a:r>
          </a:p>
          <a:p>
            <a:r>
              <a:t>keeps groups, and only then does SELECT compute the columns, which is why SELECT cannot print a</a:t>
            </a:r>
          </a:p>
          <a:p>
            <a:r>
              <a:t>column the groups do not pin down, and why WHERE cannot test a count that does not exist yet.</a:t>
            </a:r>
          </a:p>
          <a:p>
            <a:r>
              <a:t>ORDER BY sorts after SELECT, and LIMIT cuts last. A query describes the result; the database</a:t>
            </a:r>
          </a:p>
          <a:p>
            <a:r>
              <a:t>decides how to get it. Then the tree Anand's sheet carries.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Recall the tree from Week 1 Monday; the retail dossier</a:t>
            </a:r>
          </a:p>
          <a:p>
            <a:r>
              <a:t>(content/W01/D1/study-notes/C2_W01_D01_domain_retail_STUDENT.md, section 5) has the long version.</a:t>
            </a:r>
          </a:p>
          <a:p>
            <a:r>
              <a:t>Booked revenue means every order at its amount, whatever its status; Finance's delivered-only</a:t>
            </a:r>
          </a:p>
          <a:p>
            <a:r>
              <a:t>definition is the escalated case's question this afternoon. Every leaf comes from the orders</a:t>
            </a:r>
          </a:p>
          <a:p>
            <a:r>
              <a:t>table, and the segment lives on the customer, which chapter 3 needs.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schema</a:t>
            </a:r>
          </a:p>
          <a:p>
            <a:r>
              <a:t>read and the first query live (6), the quarter totals (4), the trap and its fix (8, never cut),</a:t>
            </a:r>
          </a:p>
          <a:p>
            <a:r>
              <a:t>the second route (2) and the close (2). Notebook 1 and sql/C2_W02_D01_01_book_STUDENT.sql run</a:t>
            </a:r>
          </a:p>
          <a:p>
            <a:r>
              <a:t>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Each gets its answer before the next is asked, and the</a:t>
            </a:r>
          </a:p>
          <a:p>
            <a:r>
              <a:t>chapter's last slide answers all five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customer who bought means a customer with at least one order in the quarter,</a:t>
            </a:r>
          </a:p>
          <a:p>
            <a:r>
              <a:t>counted once however many orders they placed. Write that definition on the board beside the tree;</a:t>
            </a:r>
          </a:p>
          <a:p>
            <a:r>
              <a:t>the trap in this chapter is a count that looks like it and is not. Then a bank that paid for</a:t>
            </a:r>
          </a:p>
          <a:p>
            <a:r>
              <a:t>numbers moved by hand.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London Whale losses. The quote is about the chief investment office's new</a:t>
            </a:r>
          </a:p>
          <a:p>
            <a:r>
              <a:t>value-at-risk model, the number that told management how much the trading book could lose;</a:t>
            </a:r>
          </a:p>
          <a:p>
            <a:r>
              <a:t>hand-moved inputs were among the problems the task force found. Do not claim the spreadsheet caused the loss; say it was one of</a:t>
            </a:r>
          </a:p>
          <a:p>
            <a:r>
              <a:t>the control failures the report names. Source and check date are in the day's provenance. Then</a:t>
            </a:r>
          </a:p>
          <a:p>
            <a:r>
              <a:t>the three places the Monday numbers could be computed.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Sized on this warehouse in notebook 1: the export copies both tables the tree</a:t>
            </a:r>
          </a:p>
          <a:p>
            <a:r>
              <a:t>needs, 1,340 rows, before Python adds anything; the query and the view return two rows. The copy</a:t>
            </a:r>
          </a:p>
          <a:p>
            <a:r>
              <a:t>is also a second version of the book, and the analyst cannot tell whether it still matches the</a:t>
            </a:r>
          </a:p>
          <a:p>
            <a:r>
              <a:t>first. A view needs the right to create objects in the warehouse, which read access does not</a:t>
            </a:r>
          </a:p>
          <a:p>
            <a:r>
              <a:t>give. The notebook reads the same .sql file, so the team thinks in the notebook and reports from</a:t>
            </a:r>
          </a:p>
          <a:p>
            <a:r>
              <a:t>the query. Then what would 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1's depth section shows both behaviours inside a rolled-back</a:t>
            </a:r>
          </a:p>
          <a:p>
            <a:r>
              <a:t>transaction: after a rename, a query naming the old column stops with an error, the view follows</a:t>
            </a:r>
          </a:p>
          <a:p>
            <a:r>
              <a:t>the rename, and Postgres refuses to drop a column the view reads. That refusal is the view's value</a:t>
            </a:r>
          </a:p>
          <a:p>
            <a:r>
              <a:t>and its cost. Then the first query: what the warehouse holds.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First contact: open sql/C2_W02_D01_01_book_STUDENT.sql in VS Code, connect with</a:t>
            </a:r>
          </a:p>
          <a:p>
            <a:r>
              <a:t>the PostgreSQL extension to the kalpa database, select the block and run it. information_schema is</a:t>
            </a:r>
          </a:p>
          <a:p>
            <a:r>
              <a:t>the catalogue every Postgres database keeps about itself, so nobody had to be asked. amount is</a:t>
            </a:r>
          </a:p>
          <a:p>
            <a:r>
              <a:t>stored as numeric, so sum can add it. If a connection fails, two minutes and the last line of the</a:t>
            </a:r>
          </a:p>
          <a:p>
            <a:r>
              <a:t>error, then pair the learner with a neighbour. Then the book's quarter totals.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Expect a from those who took "the same orders you cleaned" at its</a:t>
            </a:r>
          </a:p>
          <a:p>
            <a:r>
              <a:t>word.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per order rose from Rs 1,85,874 to Rs 2,12,987; the Business segment's orders are worth</a:t>
            </a:r>
          </a:p>
          <a:p>
            <a:r>
              <a:t>lakhs each, which chapter 3 shows. One leaf agrees with Week 1, and chapter 2 sets every other leaf</a:t>
            </a:r>
          </a:p>
          <a:p>
            <a:r>
              <a:t>beside last week's. Then the next leaf, customers.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it up as a hurried analyst would ship it and ask whose first draft looks like</a:t>
            </a:r>
          </a:p>
          <a:p>
            <a:r>
              <a:t>it. The query runs, the label says customers, and the number is plausible for a store where people</a:t>
            </a:r>
          </a:p>
          <a:p>
            <a:r>
              <a:t>buy once. Ask what the query actually counted before showing why.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counts rows, and a row of orders is an order. 39 of the 340 members</a:t>
            </a:r>
          </a:p>
          <a:p>
            <a:r>
              <a:t>bought nothing in either quarter, so the customer table answers a different question: how many</a:t>
            </a:r>
          </a:p>
          <a:p>
            <a:r>
              <a:t>members Kalpa holds. Only count(DISTINCT customer_id) on the orders answers the tree's question.</a:t>
            </a:r>
          </a:p>
          <a:p>
            <a:r>
              <a:t>Then the fix per quarter.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Keep order_rows beside customers on the sheet, so the reader sees the two counts</a:t>
            </a:r>
          </a:p>
          <a:p>
            <a:r>
              <a:t>are different things. The gap between them is the repeat buying Meera cares about. Then the same</a:t>
            </a:r>
          </a:p>
          <a:p>
            <a:r>
              <a:t>three leaves, reached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option A from the sizing, done once, so it also shows what an export</a:t>
            </a:r>
          </a:p>
          <a:p>
            <a:r>
              <a:t>costs. A Python set keeps each id once, the way count(DISTINCT ...) does. When to switch: pandas</a:t>
            </a:r>
          </a:p>
          <a:p>
            <a:r>
              <a:t>is the right tool for exploration and charts that read the warehouse; the reported number stays in</a:t>
            </a:r>
          </a:p>
          <a:p>
            <a:r>
              <a:t>the query.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 Nair is the team's senior analyst, who checks every number before it</a:t>
            </a:r>
          </a:p>
          <a:p>
            <a:r>
              <a:t>leaves. The interview answer in one breath: the warehouse holds the one copy everyone reads, a</a:t>
            </a:r>
          </a:p>
          <a:p>
            <a:r>
              <a:t>query reruns on it, and on this book an export moves 1,340 rows to answer what two rows answer.</a:t>
            </a:r>
          </a:p>
          <a:p>
            <a:r>
              <a:t>The chapter 1 set (exercises/unguided/C2_W02_D01_ch1_what_the_book_says_STUDENT.md) runs its</a:t>
            </a:r>
          </a:p>
          <a:p>
            <a:r>
              <a:t>first two items now if the chapter ran to time. Then chapter 2: the total matched last week's, so</a:t>
            </a:r>
          </a:p>
          <a:p>
            <a:r>
              <a:t>does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last week's file</a:t>
            </a:r>
          </a:p>
          <a:p>
            <a:r>
              <a:t>recomputed (4), every leaf as a change (5), the trap and its check (6, never cut), the second route</a:t>
            </a:r>
          </a:p>
          <a:p>
            <a:r>
              <a:t>(4), the line for the sheet and the close (4). Notebook 2 and sql/C2_W02_D01_02_same_story_STUDENT.sql</a:t>
            </a:r>
          </a:p>
          <a:p>
            <a:r>
              <a:t>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Last week's extract held 186 cleaned orders: 100 in Q1 and 86 in Q2, Rs 1,90,00,000</a:t>
            </a:r>
          </a:p>
          <a:p>
            <a:r>
              <a:t>and Rs 1,87,00,000, with 69 customers in each quarter. The warehouse holds 1,000. The totals</a:t>
            </a:r>
          </a:p>
          <a:p>
            <a:r>
              <a:t>cannot match; the question is whether the story does. Then a company that met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in the post was the chief executive's, years before the post was</a:t>
            </a:r>
          </a:p>
          <a:p>
            <a:r>
              <a:t>written. Two sources that answer one</a:t>
            </a:r>
          </a:p>
          <a:p>
            <a:r>
              <a:t>question differently are settled leaf by leaf, with the definitions side by side, before either</a:t>
            </a:r>
          </a:p>
          <a:p>
            <a:r>
              <a:t>reaches a decision maker. Source and check date are in the day's provenance. Then four ways to</a:t>
            </a:r>
          </a:p>
          <a:p>
            <a:r>
              <a:t>compare Kalpa's two sources.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2 sizes each on these two sources. C is the strictest and finds nothing,</a:t>
            </a:r>
          </a:p>
          <a:p>
            <a:r>
              <a:t>because the extract and the warehouse hold different records of the same two quarters: no order id</a:t>
            </a:r>
          </a:p>
          <a:p>
            <a:r>
              <a:t>and no customer id in common. Twenty numbers side by side is what B costs. Then last week's file,</a:t>
            </a:r>
          </a:p>
          <a:p>
            <a:r>
              <a:t>recomputed.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columns of the comparison must come from a computation rather than from</a:t>
            </a:r>
          </a:p>
          <a:p>
            <a:r>
              <a:t>memory, so last week's numbers are recomputed first. 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Hold on "69 of 69": the room will need it in four slides. Then every leaf of both</a:t>
            </a:r>
          </a:p>
          <a:p>
            <a:r>
              <a:t>sources, read as a change.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four others are orders, customers, orders per customer and revenue per order.</a:t>
            </a:r>
          </a:p>
          <a:p>
            <a:r>
              <a:t>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 the extract, customers held and each ordered 14.0 percent less often. On the</a:t>
            </a:r>
          </a:p>
          <a:p>
            <a:r>
              <a:t>book, customers fell 7.0 percent, from 244 to 227, and each ordered 7.7 percent less often. Then</a:t>
            </a:r>
          </a:p>
          <a:p>
            <a:r>
              <a:t>what a hurried analyst writes when the totals match.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how many would have stopped at the totals. Most would; a matching total feels</a:t>
            </a:r>
          </a:p>
          <a:p>
            <a:r>
              <a:t>like confirmation. Then why it is wrong, and the count that exposes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ratio is Q2 over Q1. A total is a product of branches, and different</a:t>
            </a:r>
          </a:p>
          <a:p>
            <a:r>
              <a:t>branches can multiply to the same product, so a matching total is one leaf matching. The fix: the</a:t>
            </a:r>
          </a:p>
          <a:p>
            <a:r>
              <a:t>sheet carries the book's own leaves, 244 to 227 customers, down 7.0 percent, and orders per</a:t>
            </a:r>
          </a:p>
          <a:p>
            <a:r>
              <a:t>customer down 7.7 percent. 131 of the book's 301 customers bought in only one quarter. Then the</a:t>
            </a:r>
          </a:p>
          <a:p>
            <a:r>
              <a:t>same change reached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query behind the 74: one row per customer, kept when the customer's latest</a:t>
            </a:r>
          </a:p>
          <a:p>
            <a:r>
              <a:t>quarter is Q1, which is HAVING max(quarter) = 'Q1'. HAVING tests each customer's group after it is</a:t>
            </a:r>
          </a:p>
          <a:p>
            <a:r>
              <a:t>formed, which WHERE cannot do, since WHERE sees one order at a time. When to switch: the</a:t>
            </a:r>
          </a:p>
          <a:p>
            <a:r>
              <a:t>subtraction is quicker, and the bridge is what a stakeholder needs when the net number hides</a:t>
            </a:r>
          </a:p>
          <a:p>
            <a:r>
              <a:t>movement. Then the line for Anand's sheet.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from anyone keen to reassure Anand, and c from anyone keen to</a:t>
            </a:r>
          </a:p>
          <a:p>
            <a:r>
              <a:t>show the error mattered.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it names both falling branches and why the extract could not</a:t>
            </a:r>
          </a:p>
          <a:p>
            <a:r>
              <a:t>show the first. Option c goes further than one chapter's evidence, and d leaves Meera deciding on a</a:t>
            </a:r>
          </a:p>
          <a:p>
            <a:r>
              <a:t>story the book does not tell. The interview answer in one breath: put the two definitions side by</a:t>
            </a:r>
          </a:p>
          <a:p>
            <a:r>
              <a:t>side before the two numbers, recompute both from the source of record, agree which definition</a:t>
            </a:r>
          </a:p>
          <a:p>
            <a:r>
              <a:t>answers the question, and store that query. The follow-up, [F] "your total matches last week's;</a:t>
            </a:r>
          </a:p>
          <a:p>
            <a:r>
              <a:t>is your analysis the same?", is answered by slide S30's two trees. Kavya's longer version: set every</a:t>
            </a:r>
          </a:p>
          <a:p>
            <a:r>
              <a:t>leaf beside its twin before you say two sources agree. Then chapter 3: which segment carries each</a:t>
            </a:r>
          </a:p>
          <a:p>
            <a:r>
              <a:t>branch?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GROUP BY</a:t>
            </a:r>
          </a:p>
          <a:p>
            <a:r>
              <a:t>error (2), the eight rows (5), the thin groups with HAVING (4), the trap and its fix (8, never</a:t>
            </a:r>
          </a:p>
          <a:p>
            <a:r>
              <a:t>cut), the second route (2) and the close (2). Notebook 3 and</a:t>
            </a:r>
          </a:p>
          <a:p>
            <a:r>
              <a:t>sql/C2_W02_D01_03_which_segment_STUDENT.sql run beside it.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 sells to four segments: Business (corporate buyers, orders worth lakhs),</a:t>
            </a:r>
          </a:p>
          <a:p>
            <a:r>
              <a:t>Retail-Core (everyday shoppers), Retail-Plus (the paid membership tier) and Student. The segment</a:t>
            </a:r>
          </a:p>
          <a:p>
            <a:r>
              <a:t>lives on the customer table, so each order looks it up with one line,</a:t>
            </a:r>
          </a:p>
          <a:p>
            <a:r>
              <a:t>JOIN customers c USING (customer_id). Joins are tomorrow's topic; today the line is only that</a:t>
            </a:r>
          </a:p>
          <a:p>
            <a:r>
              <a:t>lookup, and since each order has one customer it changes no row count. Then a company whose total</a:t>
            </a:r>
          </a:p>
          <a:p>
            <a:r>
              <a:t>hid three stories.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Net order value is the value of orders placed through the platforms. Eternal's</a:t>
            </a:r>
          </a:p>
          <a:p>
            <a:r>
              <a:t>shareholders' letter for Q1 FY27 (22 July 2026) gives the group's 54 percent beside food delivery</a:t>
            </a:r>
          </a:p>
          <a:p>
            <a:r>
              <a:t>at a little over 20 percent, quick commerce at 86 and going-out at 60. Source and check date are</a:t>
            </a:r>
          </a:p>
          <a:p>
            <a:r>
              <a:t>in the day's provenance. Then four ways to put every segment on the sheet.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Sized in notebook 3 on this warehouse, which holds four segments. A needs four</a:t>
            </a:r>
          </a:p>
          <a:p>
            <a:r>
              <a:t>queries kept correct and forgets a fifth segment; C moves every order to do what the database</a:t>
            </a:r>
          </a:p>
          <a:p>
            <a:r>
              <a:t>does in one pass; D is the easiest to read and the hardest to extend. Then the first try, which</a:t>
            </a:r>
          </a:p>
          <a:p>
            <a:r>
              <a:t>Postgres refuses.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never cut, never longer. Read the last line of the error aloud. In the order a</a:t>
            </a:r>
          </a:p>
          <a:p>
            <a:r>
              <a:t>query runs, GROUP BY forms the groups before SELECT picks the columns, so each quarter's group</a:t>
            </a:r>
          </a:p>
          <a:p>
            <a:r>
              <a:t>holds four segments, and SELECT has four values to print on one row. Two fixes: group by the</a:t>
            </a:r>
          </a:p>
          <a:p>
            <a:r>
              <a:t>segment too, or put it inside an aggregate such as min(c.segment). The first is what the question</a:t>
            </a:r>
          </a:p>
          <a:p>
            <a:r>
              <a:t>asks for. Then how many rows the fixed query returns.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Business books 99 percent of the rupees, so it carries Rs 14,29,840 of the</a:t>
            </a:r>
          </a:p>
          <a:p>
            <a:r>
              <a:t>Rs 16,00,000 fall on only 6 fewer orders, a 1.4 percent dip, and the total hides Retail-Plus</a:t>
            </a:r>
          </a:p>
          <a:p>
            <a:r>
              <a:t>entirely. The check: the four segments' orders add back to 538 and 462. Then which rows are too</a:t>
            </a:r>
          </a:p>
          <a:p>
            <a:r>
              <a:t>thin to quote a rate 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Kavya's rule from Week 1: a rate built on fewer than 30 customers moves a long way</a:t>
            </a:r>
          </a:p>
          <a:p>
            <a:r>
              <a:t>when one customer changes, so it goes on the sheet with a flag. The test is on a group, so it sits</a:t>
            </a:r>
          </a:p>
          <a:p>
            <a:r>
              <a:t>in HAVING, which runs after the groups exist; WHERE runs before them and tests one order at a</a:t>
            </a:r>
          </a:p>
          <a:p>
            <a:r>
              <a:t>time. Student's 33.9 percent rise goes on the sheet flagged. Business, with 36 and 35, clears the</a:t>
            </a:r>
          </a:p>
          <a:p>
            <a:r>
              <a:t>bar. Then the next leaf: how often each segment's customers ordered.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Most say a, because a calculator would.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plausible wrong answer: the query runs, every number is a whole</a:t>
            </a:r>
          </a:p>
          <a:p>
            <a:r>
              <a:t>number a reader might accept as "about two", and the decisions it drives are both wrong. Then why.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mathematical functions: "for integral types,</a:t>
            </a:r>
          </a:p>
          <a:p>
            <a:r>
              <a:t>division truncates the result towards zero", so 5 / 2 is 2. sum(amount) / count(*) in chapter 1 kept</a:t>
            </a:r>
          </a:p>
          <a:p>
            <a:r>
              <a:t>its decimals because amount is stored as numeric. A spreadsheet stores every number as a</a:t>
            </a:r>
          </a:p>
          <a:p>
            <a:r>
              <a:t>decimal, so 140 / 76 gives 1.84 whatever you typed, which is why the habit from Excel misleads</a:t>
            </a:r>
          </a:p>
          <a:p>
            <a:r>
              <a:t>here.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Cast one side to numeric, round on purpose to two places, and keep orders and</a:t>
            </a:r>
          </a:p>
          <a:p>
            <a:r>
              <a:t>customers in the same row so anyone can multiply the ratio back. Retail-Plus fell 22.0 percent</a:t>
            </a:r>
          </a:p>
          <a:p>
            <a:r>
              <a:t>where the integer query said 50, and Retail-Core rose 3.0 where it said 100; Student's 5.6 sits</a:t>
            </a:r>
          </a:p>
          <a:p>
            <a:r>
              <a:t>on a flagged group. Each change is computed from the counts before rounding. Then a second route that never divides two counts.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asks the warehouse for each customer's own number of orders</a:t>
            </a:r>
          </a:p>
          <a:p>
            <a:r>
              <a:t>(471 rows, one per customer and quarter) and averages them in Python, so it cannot share the first</a:t>
            </a:r>
          </a:p>
          <a:p>
            <a:r>
              <a:t>route's division. When to switch: the per-customer rows are what you want when the next question</a:t>
            </a:r>
          </a:p>
          <a:p>
            <a:r>
              <a:t>is about the spread of customers, such as how many ordered once.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WHERE against HAVING in one breath: WHERE keeps or drops rows before any group is</a:t>
            </a:r>
          </a:p>
          <a:p>
            <a:r>
              <a:t>formed, so it can test one order; HAVING keeps or drops groups after they are formed, so it can</a:t>
            </a:r>
          </a:p>
          <a:p>
            <a:r>
              <a:t>test count(DISTINCT customer_id) &lt; 30. The chapter 3 set runs its first two items now if time</a:t>
            </a:r>
          </a:p>
          <a:p>
            <a:r>
              <a:t>allows. Then the break, ten minutes. After it, chapter 4: which branch of each segment's tree</a:t>
            </a:r>
          </a:p>
          <a:p>
            <a:r>
              <a:t>moved?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CTE</a:t>
            </a:r>
          </a:p>
          <a:p>
            <a:r>
              <a:t>comparison (6), the branches (4), the trap, its check and its fix (9, never cut), the second route</a:t>
            </a:r>
          </a:p>
          <a:p>
            <a:r>
              <a:t>(2) and the close (1). Notebook 4 and sql/C2_W02_D01_04_which_branch_STUDENT.sql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Then the need, in the head of Retail-Plus's words.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Chapter 3 found Retail-Plus lost 29.4 percent of its revenue, from Rs 5,85,770 to</a:t>
            </a:r>
          </a:p>
          <a:p>
            <a:r>
              <a:t>Rs 4,13,380, with orders per customer down from 2.36 to 1.84. This chapter splits that fall into</a:t>
            </a:r>
          </a:p>
          <a:p>
            <a:r>
              <a:t>the tree's branches and prices it per member. Then how a team whose queries are read by others</a:t>
            </a:r>
          </a:p>
          <a:p>
            <a:r>
              <a:t>writes them.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a common table expression, is a named step written with WITH: the query</a:t>
            </a:r>
          </a:p>
          <a:p>
            <a:r>
              <a:t>reads as a list of steps, each with a name and a one-line comment, and the last step reads the</a:t>
            </a:r>
          </a:p>
          <a:p>
            <a:r>
              <a:t>ones above it. GitLab publishes the style guide its data team writes to; the sentence goes on</a:t>
            </a:r>
          </a:p>
          <a:p>
            <a:r>
              <a:t>to call CTEs more performant, which is about GitLab's own warehouse, so on Postgres the reason to</a:t>
            </a:r>
          </a:p>
          <a:p>
            <a:r>
              <a:t>name steps is the reader. Source and check date are in the day's provenance. Then three ways to write the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4 runs option C: in the session that made it, the temporary table holds</a:t>
            </a:r>
          </a:p>
          <a:p>
            <a:r>
              <a:t>four rows, one per segment; a new session, which is what the analyst opens, finds no such table.</a:t>
            </a:r>
          </a:p>
          <a:p>
            <a:r>
              <a:t>Postgres drops a temporary table when its session ends. A and B are single statements, so the</a:t>
            </a:r>
          </a:p>
          <a:p>
            <a:r>
              <a:t>analyst reruns exactly what the team ran; B also reads in the order the work happens. Then the</a:t>
            </a:r>
          </a:p>
          <a:p>
            <a:r>
              <a:t>comparison as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it top down with the room: book, then q1 and q2, each reading book, then the</a:t>
            </a:r>
          </a:p>
          <a:p>
            <a:r>
              <a:t>last step dividing Q2 by Q1 for each branch. q2 is q1 with 'Q2' in the WHERE. The last step sets</a:t>
            </a:r>
          </a:p>
          <a:p>
            <a:r>
              <a:t>the two quarters side by side on the segment, which is the row's "two CTEs matched on segment";</a:t>
            </a:r>
          </a:p>
          <a:p>
            <a:r>
              <a:t>each segment has one row in each, so nothing multiplies. Postgres works each step out once per</a:t>
            </a:r>
          </a:p>
          <a:p>
            <a:r>
              <a:t>run and writes nothing into the warehouse.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run the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the query carries: in every segment the three branch ratios multiply</a:t>
            </a:r>
          </a:p>
          <a:p>
            <a:r>
              <a:t>to the revenue ratio, within rounding, so the query checks itself. Frequency is the branch that</a:t>
            </a:r>
          </a:p>
          <a:p>
            <a:r>
              <a:t>fell furthest; fewer members buying comes second. Then the head of Retail-Plus's own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full query is block c4_member_spend_hurried in notebook 4's SQL file: one</a:t>
            </a:r>
          </a:p>
          <a:p>
            <a:r>
              <a:t>row per member built with a CASE per quarter, then avg of each column. The same average says</a:t>
            </a:r>
          </a:p>
          <a:p>
            <a:r>
              <a:t>Business +1.4 and Student +0.4. Ask whether anything about</a:t>
            </a:r>
          </a:p>
          <a:p>
            <a:r>
              <a:t>the query looks wrong. Usually nothing does: one row per member, a CASE per quarter, avg of each</a:t>
            </a:r>
          </a:p>
          <a:p>
            <a:r>
              <a:t>column. Then what the average left out.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on aggregates: avg "computes the average (arithmetic</a:t>
            </a:r>
          </a:p>
          <a:p>
            <a:r>
              <a:t>mean) of all the non-null input values". The 31 members who bought in Q1 and stopped are out of</a:t>
            </a:r>
          </a:p>
          <a:p>
            <a:r>
              <a:t>Q2's average, which is the fall the head of Retail-Plus most needs to see. The warehouse has no</a:t>
            </a:r>
          </a:p>
          <a:p>
            <a:r>
              <a:t>missing values in any column; these NULLs are made by the query. The mechanism on three invented</a:t>
            </a:r>
          </a:p>
          <a:p>
            <a:r>
              <a:t>values, 100, a missing value and 200: avg gives 150, avg(coalesce(x, 0)) gives 100, count(*) sees</a:t>
            </a:r>
          </a:p>
          <a:p>
            <a:r>
              <a:t>3 rows and count(x) 2 values.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member who bought nothing in a quarter spent Rs 0 in it, so the query says so</a:t>
            </a:r>
          </a:p>
          <a:p>
            <a:r>
              <a:t>with coalesce, and both averages cover the same people. Two segments flip from a rise to a fall.</a:t>
            </a:r>
          </a:p>
          <a:p>
            <a:r>
              <a:t>Student rises on 24 members, a group chapter 3 flagged as too thin for a rate. Then a second route</a:t>
            </a:r>
          </a:p>
          <a:p>
            <a:r>
              <a:t>with a different set of members.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Any fixed group of members gives the same change; only an average whose members</a:t>
            </a:r>
          </a:p>
          <a:p>
            <a:r>
              <a:t>change between quarters gives a different one. When to switch: the tier's 120 is the right base</a:t>
            </a:r>
          </a:p>
          <a:p>
            <a:r>
              <a:t>when the head of Retail-Plus asks about the whole tier, including members who never bought; the</a:t>
            </a:r>
          </a:p>
          <a:p>
            <a:r>
              <a:t>107 is right for members who bought in the half-year.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average answer in one breath: the denominator changed. avg counts only the</a:t>
            </a:r>
          </a:p>
          <a:p>
            <a:r>
              <a:t>values present, so if a quarter's missing values stand for members who bought nothing, those</a:t>
            </a:r>
          </a:p>
          <a:p>
            <a:r>
              <a:t>members drop out of that quarter's average. Count the rows inside the average beside count(*),</a:t>
            </a:r>
          </a:p>
          <a:p>
            <a:r>
              <a:t>decide what a missing value means, and say it with coalesce. Then chapter 5: every number is</a:t>
            </a:r>
          </a:p>
          <a:p>
            <a:r>
              <a:t>built, so does the suite add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first</a:t>
            </a:r>
          </a:p>
          <a:p>
            <a:r>
              <a:t>tie-out (5), the trap, its check and its fix (10, never cut), the second route (5) and the close</a:t>
            </a:r>
          </a:p>
          <a:p>
            <a:r>
              <a:t>(3). Notebook 5 and sql/C2_W02_D01_05_does_it_add_up_STUDENT.sql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Then the need, in Anand's words.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half-year is April to September 2026, both quarters together. Chapters 3 and</a:t>
            </a:r>
          </a:p>
          <a:p>
            <a:r>
              <a:t>4 found Retail-Plus with 91 customers in Q1 and 76 in Q2, and the tier holds 120 members on</a:t>
            </a:r>
          </a:p>
          <a:p>
            <a:r>
              <a:t>Kalpa's customer table. Then a company that counts people across four apps.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Meta Platforms, Form 10-K for 2025: a daily active person is a logged-in user who</a:t>
            </a:r>
          </a:p>
          <a:p>
            <a:r>
              <a:t>visited at least one of the family's products that day. Source and check date are in the day's</a:t>
            </a:r>
          </a:p>
          <a:p>
            <a:r>
              <a:t>provenance. Then four ways to produce the half-year column.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reads 8 rows and B 1,000; the rows do not decide it here. B uses one definition</a:t>
            </a:r>
          </a:p>
          <a:p>
            <a:r>
              <a:t>the analyst already audited for each quarter; A assumes every measure in the quarter rows can be</a:t>
            </a:r>
          </a:p>
          <a:p>
            <a:r>
              <a:t>added. Hold that assumption: it is the trap. Then the first tie-out.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the tie-out query, which is three named steps: the segment rows, the</a:t>
            </a:r>
          </a:p>
          <a:p>
            <a:r>
              <a:t>segments added, and the book's own totals beside them.</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36 plus 102 plus 91 plus 15 is 244. The tie-out is itself a query the suite runs</a:t>
            </a:r>
          </a:p>
          <a:p>
            <a:r>
              <a:t>every Monday, so the analyst's first check is already answered. Hold the reason: customers add</a:t>
            </a:r>
          </a:p>
          <a:p>
            <a:r>
              <a:t>across groups a customer cannot share. Then the half-year, the quick way.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quick way is option A: the quarter rows already exist in a step, so a last</a:t>
            </a:r>
          </a:p>
          <a:p>
            <a:r>
              <a:t>step sums each segment's two rows. Ask the room to check the line against anything they already</a:t>
            </a:r>
          </a:p>
          <a:p>
            <a:r>
              <a:t>know. Then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Business 71 of 40, Retail-Core 198 of 150, Retail-Plus 167 of 120, Student 35 of</a:t>
            </a:r>
          </a:p>
          <a:p>
            <a:r>
              <a:t>30. Orders and rupees add across quarters, because an order belongs to one quarter; customers add</a:t>
            </a:r>
          </a:p>
          <a:p>
            <a:r>
              <a:t>only across groups a customer cannot share, such as segments.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book's half-year holds 301 customers, the same 301 chapter 1 counted across</a:t>
            </a:r>
          </a:p>
          <a:p>
            <a:r>
              <a:t>both quarters, not 471. Revenue per Retail-Plus customer over the half-year is Rs 9,338, not</a:t>
            </a:r>
          </a:p>
          <a:p>
            <a:r>
              <a:t>Rs 5,983, and 13 of the tier's 120 members bought nothing all half-year, which the added line could</a:t>
            </a:r>
          </a:p>
          <a:p>
            <a:r>
              <a:t>never show. Then the gap explained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second route builds the half-year from the quarters and the overlap: Q1's</a:t>
            </a:r>
          </a:p>
          <a:p>
            <a:r>
              <a:t>customers, plus Q2's, less the customers who bought in both, since those are the ones counted</a:t>
            </a:r>
          </a:p>
          <a:p>
            <a:r>
              <a:t>twice. The overlap comes from one row per customer with the number of quarters that customer</a:t>
            </a:r>
          </a:p>
          <a:p>
            <a:r>
              <a:t>bought in.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route never counts the half-year directly; it counts each customer's</a:t>
            </a:r>
          </a:p>
          <a:p>
            <a:r>
              <a:t>quarters and subtracts the overlap, so it cannot share the direct count's mistake. The same holds</a:t>
            </a:r>
          </a:p>
          <a:p>
            <a:r>
              <a:t>for daily users added into a month. Notebook 5's depth section shows GROUPING SETS returning the</a:t>
            </a:r>
          </a:p>
          <a:p>
            <a:r>
              <a:t>quarter rows and the half-year rows from one query, each counted from the orders.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design question in one breath: each number gets a named step and a comment</a:t>
            </a:r>
          </a:p>
          <a:p>
            <a:r>
              <a:t>stating its question and definition, divisions are done in numeric and rounded on purpose, every</a:t>
            </a:r>
          </a:p>
          <a:p>
            <a:r>
              <a:t>list is ordered on a unique key, the suite carries its own tie-outs, and the reported number is</a:t>
            </a:r>
          </a:p>
          <a:p>
            <a:r>
              <a:t>never computed on an export in a notebook, because the analyst cannot rerun it on the book. After</a:t>
            </a:r>
          </a:p>
          <a:p>
            <a:r>
              <a:t>lunch, chapter 6: will next Monday's run give the same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1.png"/><Relationship Id="rId6"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2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8.pn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 Id="rId5" Type="http://schemas.openxmlformats.org/officeDocument/2006/relationships/image" Target="../media/image3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3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 Id="rId5" Type="http://schemas.openxmlformats.org/officeDocument/2006/relationships/image" Target="../media/image3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MORNING</a:t>
            </a:r>
          </a:p>
        </p:txBody>
      </p:sp>
      <p:sp>
        <p:nvSpPr>
          <p:cNvPr id="8" name="TextBox 7"/>
          <p:cNvSpPr txBox="1"/>
          <p:nvPr/>
        </p:nvSpPr>
        <p:spPr>
          <a:xfrm>
            <a:off x="621792" y="2807208"/>
            <a:ext cx="10582351" cy="1918715"/>
          </a:xfrm>
          <a:prstGeom prst="rect">
            <a:avLst/>
          </a:prstGeom>
          <a:noFill/>
        </p:spPr>
        <p:txBody>
          <a:bodyPr wrap="square" anchor="t" lIns="0" rIns="0" tIns="0" bIns="0">
            <a:spAutoFit/>
          </a:bodyPr>
          <a:lstStyle/>
          <a:p>
            <a:pPr algn="l"/>
            <a:r>
              <a:rPr sz="3800" b="0" i="0">
                <a:solidFill>
                  <a:srgbClr val="FFFFFF"/>
                </a:solidFill>
                <a:latin typeface="Georgia"/>
              </a:rPr>
              <a:t>Can the warehouse itself give Anand the Monday numbers, every segment, every week?</a:t>
            </a:r>
          </a:p>
        </p:txBody>
      </p:sp>
      <p:sp>
        <p:nvSpPr>
          <p:cNvPr id="9" name="TextBox 8"/>
          <p:cNvSpPr txBox="1"/>
          <p:nvPr/>
        </p:nvSpPr>
        <p:spPr>
          <a:xfrm>
            <a:off x="621792" y="4890515"/>
            <a:ext cx="10033711" cy="663956"/>
          </a:xfrm>
          <a:prstGeom prst="rect">
            <a:avLst/>
          </a:prstGeom>
          <a:noFill/>
        </p:spPr>
        <p:txBody>
          <a:bodyPr wrap="square" anchor="t" lIns="0" rIns="0" tIns="0" bIns="0">
            <a:spAutoFit/>
          </a:bodyPr>
          <a:lstStyle/>
          <a:p>
            <a:pPr algn="l"/>
            <a:r>
              <a:rPr sz="1900" b="0" i="1">
                <a:solidFill>
                  <a:srgbClr val="D9A7FF"/>
                </a:solidFill>
                <a:latin typeface="Georgia"/>
              </a:rPr>
              <a:t>“I want these numbers every Monday, for every segment and channel, computed from the warehouse itself. Nothing a person can mistype.”</a:t>
            </a:r>
          </a:p>
        </p:txBody>
      </p:sp>
      <p:sp>
        <p:nvSpPr>
          <p:cNvPr id="10" name="TextBox 9"/>
          <p:cNvSpPr txBox="1"/>
          <p:nvPr/>
        </p:nvSpPr>
        <p:spPr>
          <a:xfrm>
            <a:off x="621792" y="5609335"/>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6184137"/>
            <a:ext cx="1543335" cy="185166"/>
          </a:xfrm>
          <a:prstGeom prst="rect">
            <a:avLst/>
          </a:prstGeom>
          <a:noFill/>
        </p:spPr>
        <p:txBody>
          <a:bodyPr wrap="square" anchor="t" lIns="0" rIns="0" tIns="0" bIns="0">
            <a:spAutoFit/>
          </a:bodyPr>
          <a:lstStyle/>
          <a:p>
            <a:pPr algn="l"/>
            <a:r>
              <a:rPr sz="900" b="0" i="0">
                <a:solidFill>
                  <a:srgbClr val="FFFFFF"/>
                </a:solidFill>
                <a:latin typeface="Calibri"/>
              </a:rPr>
              <a:t>What does the book say?</a:t>
            </a:r>
          </a:p>
        </p:txBody>
      </p:sp>
      <p:sp>
        <p:nvSpPr>
          <p:cNvPr id="13" name="TextBox 12"/>
          <p:cNvSpPr txBox="1"/>
          <p:nvPr/>
        </p:nvSpPr>
        <p:spPr>
          <a:xfrm>
            <a:off x="2732055"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16103" y="6184137"/>
            <a:ext cx="1425035" cy="185166"/>
          </a:xfrm>
          <a:prstGeom prst="rect">
            <a:avLst/>
          </a:prstGeom>
          <a:noFill/>
        </p:spPr>
        <p:txBody>
          <a:bodyPr wrap="square" anchor="t" lIns="0" rIns="0" tIns="0" bIns="0">
            <a:spAutoFit/>
          </a:bodyPr>
          <a:lstStyle/>
          <a:p>
            <a:pPr algn="l"/>
            <a:r>
              <a:rPr sz="900" b="0" i="0">
                <a:solidFill>
                  <a:srgbClr val="FFFFFF"/>
                </a:solidFill>
                <a:latin typeface="Calibri"/>
              </a:rPr>
              <a:t>Same story as Week 1?</a:t>
            </a:r>
          </a:p>
        </p:txBody>
      </p:sp>
      <p:sp>
        <p:nvSpPr>
          <p:cNvPr id="15" name="TextBox 14"/>
          <p:cNvSpPr txBox="1"/>
          <p:nvPr/>
        </p:nvSpPr>
        <p:spPr>
          <a:xfrm>
            <a:off x="4724019"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6184137"/>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segment moved?</a:t>
            </a:r>
          </a:p>
        </p:txBody>
      </p:sp>
      <p:sp>
        <p:nvSpPr>
          <p:cNvPr id="17" name="TextBox 16"/>
          <p:cNvSpPr txBox="1"/>
          <p:nvPr/>
        </p:nvSpPr>
        <p:spPr>
          <a:xfrm>
            <a:off x="6656831"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040879" y="6184137"/>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9" name="TextBox 18"/>
          <p:cNvSpPr txBox="1"/>
          <p:nvPr/>
        </p:nvSpPr>
        <p:spPr>
          <a:xfrm>
            <a:off x="8530494"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914542" y="6184137"/>
            <a:ext cx="1484185" cy="185166"/>
          </a:xfrm>
          <a:prstGeom prst="rect">
            <a:avLst/>
          </a:prstGeom>
          <a:noFill/>
        </p:spPr>
        <p:txBody>
          <a:bodyPr wrap="square" anchor="t" lIns="0" rIns="0" tIns="0" bIns="0">
            <a:spAutoFit/>
          </a:bodyPr>
          <a:lstStyle/>
          <a:p>
            <a:pPr algn="l"/>
            <a:r>
              <a:rPr sz="900" b="0" i="0">
                <a:solidFill>
                  <a:srgbClr val="FFFFFF"/>
                </a:solidFill>
                <a:latin typeface="Calibri"/>
              </a:rPr>
              <a:t>Does the suite add up?</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asking what the last answer raised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warehouse itself give Anand the Monday numbers, every segment, every week?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book say?</a:t>
            </a:r>
          </a:p>
        </p:txBody>
      </p:sp>
      <p:sp>
        <p:nvSpPr>
          <p:cNvPr id="14" name="TextBox 13"/>
          <p:cNvSpPr txBox="1"/>
          <p:nvPr/>
        </p:nvSpPr>
        <p:spPr>
          <a:xfrm>
            <a:off x="694944"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Orders, rupees and customers per quarter, counted where the book lives.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Same story as Week 1?</a:t>
            </a:r>
          </a:p>
        </p:txBody>
      </p:sp>
      <p:sp>
        <p:nvSpPr>
          <p:cNvPr id="19" name="TextBox 18"/>
          <p:cNvSpPr txBox="1"/>
          <p:nvPr/>
        </p:nvSpPr>
        <p:spPr>
          <a:xfrm>
            <a:off x="2580589"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Does the warehouse agree with the file Meera's decision rested on?</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moved?</a:t>
            </a:r>
          </a:p>
        </p:txBody>
      </p:sp>
      <p:sp>
        <p:nvSpPr>
          <p:cNvPr id="24" name="TextBox 23"/>
          <p:cNvSpPr txBox="1"/>
          <p:nvPr/>
        </p:nvSpPr>
        <p:spPr>
          <a:xfrm>
            <a:off x="4466234"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segment carried the fall, and how often its customers ordered.</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9" name="TextBox 28"/>
          <p:cNvSpPr txBox="1"/>
          <p:nvPr/>
        </p:nvSpPr>
        <p:spPr>
          <a:xfrm>
            <a:off x="6351879"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branch fell in each segment, and how much less each member spent.</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suite add up?</a:t>
            </a:r>
          </a:p>
        </p:txBody>
      </p:sp>
      <p:sp>
        <p:nvSpPr>
          <p:cNvPr id="34" name="TextBox 33"/>
          <p:cNvSpPr txBox="1"/>
          <p:nvPr/>
        </p:nvSpPr>
        <p:spPr>
          <a:xfrm>
            <a:off x="823752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numbers add up the way Anand's analyst will add them?</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Same answer next week?</a:t>
            </a:r>
          </a:p>
        </p:txBody>
      </p:sp>
      <p:sp>
        <p:nvSpPr>
          <p:cNvPr id="39" name="TextBox 38"/>
          <p:cNvSpPr txBox="1"/>
          <p:nvPr/>
        </p:nvSpPr>
        <p:spPr>
          <a:xfrm>
            <a:off x="10123170" y="3492500"/>
            <a:ext cx="1373581" cy="531876"/>
          </a:xfrm>
          <a:prstGeom prst="rect">
            <a:avLst/>
          </a:prstGeom>
          <a:noFill/>
        </p:spPr>
        <p:txBody>
          <a:bodyPr wrap="square" anchor="t" lIns="0" rIns="0" tIns="0" bIns="0">
            <a:spAutoFit/>
          </a:bodyPr>
          <a:lstStyle/>
          <a:p>
            <a:pPr algn="l"/>
            <a:r>
              <a:rPr sz="1000" b="0" i="0">
                <a:solidFill>
                  <a:srgbClr val="CFC9EE"/>
                </a:solidFill>
                <a:latin typeface="Calibri"/>
              </a:rPr>
              <a:t>After lunch: will next Monday's run give the same answer?</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2" name="Oval 4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6" name="Oval 4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8" name="Oval 4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Monday, every segment, straight from Postgres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Anand asking for, and what did the platform lead add?</a:t>
            </a:r>
          </a:p>
        </p:txBody>
      </p:sp>
      <p:sp>
        <p:nvSpPr>
          <p:cNvPr id="9" name="Rounded Rectangle 8"/>
          <p:cNvSpPr/>
          <p:nvPr/>
        </p:nvSpPr>
        <p:spPr>
          <a:xfrm>
            <a:off x="530352" y="181264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7441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84146"/>
            <a:ext cx="237744" cy="237744"/>
          </a:xfrm>
          <a:prstGeom prst="rect">
            <a:avLst/>
          </a:prstGeom>
        </p:spPr>
      </p:pic>
      <p:sp>
        <p:nvSpPr>
          <p:cNvPr id="12" name="TextBox 11"/>
          <p:cNvSpPr txBox="1"/>
          <p:nvPr/>
        </p:nvSpPr>
        <p:spPr>
          <a:xfrm>
            <a:off x="1399031" y="195895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178406"/>
            <a:ext cx="9987991" cy="941832"/>
          </a:xfrm>
          <a:prstGeom prst="rect">
            <a:avLst/>
          </a:prstGeom>
          <a:noFill/>
        </p:spPr>
        <p:txBody>
          <a:bodyPr wrap="square" anchor="t" lIns="0" rIns="0" tIns="0" bIns="0">
            <a:spAutoFit/>
          </a:bodyPr>
          <a:lstStyle/>
          <a:p>
            <a:r>
              <a:rPr sz="1500" b="0" i="0">
                <a:solidFill>
                  <a:srgbClr val="FFFFFF"/>
                </a:solidFill>
                <a:latin typeface="Calibri"/>
              </a:rPr>
              <a:t>"I want these numbers every Monday, for every segment and channel, computed from the warehouse itself. No notebooks, no exports, nothing a person can mistype. Our data team will give you read access to Postgres."</a:t>
            </a:r>
          </a:p>
        </p:txBody>
      </p:sp>
      <p:sp>
        <p:nvSpPr>
          <p:cNvPr id="14" name="Rounded Rectangle 13"/>
          <p:cNvSpPr/>
          <p:nvPr/>
        </p:nvSpPr>
        <p:spPr>
          <a:xfrm>
            <a:off x="530352" y="3357982"/>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357982"/>
            <a:ext cx="10820095" cy="751840"/>
          </a:xfrm>
          <a:prstGeom prst="rect">
            <a:avLst/>
          </a:prstGeom>
          <a:noFill/>
        </p:spPr>
        <p:txBody>
          <a:bodyPr wrap="square" anchor="t" lIns="0" rIns="0" tIns="0" bIns="0">
            <a:spAutoFit/>
          </a:bodyPr>
          <a:lstStyle/>
          <a:p>
            <a:r>
              <a:rPr sz="1600" b="0" i="1">
                <a:solidFill>
                  <a:srgbClr val="1A0F5C"/>
                </a:solidFill>
                <a:latin typeface="Georgia"/>
              </a:rPr>
              <a:t>"The warehouse holds the same orders and customers you cleaned last week, one thousand orders for the two quarters, already de-duplicated. Query it; do not export it."</a:t>
            </a:r>
          </a:p>
        </p:txBody>
      </p:sp>
      <p:sp>
        <p:nvSpPr>
          <p:cNvPr id="16" name="Rounded Rectangle 15"/>
          <p:cNvSpPr/>
          <p:nvPr/>
        </p:nvSpPr>
        <p:spPr>
          <a:xfrm>
            <a:off x="530352" y="425612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4256126"/>
            <a:ext cx="10820095" cy="467359"/>
          </a:xfrm>
          <a:prstGeom prst="rect">
            <a:avLst/>
          </a:prstGeom>
          <a:noFill/>
        </p:spPr>
        <p:txBody>
          <a:bodyPr wrap="square" anchor="t" lIns="0" rIns="0" tIns="0" bIns="0">
            <a:spAutoFit/>
          </a:bodyPr>
          <a:lstStyle/>
          <a:p>
            <a:r>
              <a:rPr sz="1600" b="0" i="1">
                <a:solidFill>
                  <a:srgbClr val="1A0F5C"/>
                </a:solidFill>
                <a:latin typeface="Georgia"/>
              </a:rPr>
              <a:t>The data platform lead, Kalpa Retail</a:t>
            </a:r>
          </a:p>
        </p:txBody>
      </p:sp>
      <p:sp>
        <p:nvSpPr>
          <p:cNvPr id="18" name="TextBox 17"/>
          <p:cNvSpPr txBox="1"/>
          <p:nvPr/>
        </p:nvSpPr>
        <p:spPr>
          <a:xfrm>
            <a:off x="530352"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9" name="TextBox 18"/>
          <p:cNvSpPr txBox="1"/>
          <p:nvPr/>
        </p:nvSpPr>
        <p:spPr>
          <a:xfrm>
            <a:off x="530352"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LAST WEEK'S FALL</a:t>
            </a:r>
          </a:p>
        </p:txBody>
      </p:sp>
      <p:sp>
        <p:nvSpPr>
          <p:cNvPr id="20" name="TextBox 19"/>
          <p:cNvSpPr txBox="1"/>
          <p:nvPr/>
        </p:nvSpPr>
        <p:spPr>
          <a:xfrm>
            <a:off x="530352"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booked revenue, Q1 to Q2, on the extract</a:t>
            </a:r>
          </a:p>
        </p:txBody>
      </p:sp>
      <p:sp>
        <p:nvSpPr>
          <p:cNvPr id="21" name="Rectangle 20"/>
          <p:cNvSpPr/>
          <p:nvPr/>
        </p:nvSpPr>
        <p:spPr>
          <a:xfrm>
            <a:off x="530352"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1679"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23" name="TextBox 22"/>
          <p:cNvSpPr txBox="1"/>
          <p:nvPr/>
        </p:nvSpPr>
        <p:spPr>
          <a:xfrm>
            <a:off x="3381679"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IN THE WAREHOUSE</a:t>
            </a:r>
          </a:p>
        </p:txBody>
      </p:sp>
      <p:sp>
        <p:nvSpPr>
          <p:cNvPr id="24" name="TextBox 23"/>
          <p:cNvSpPr txBox="1"/>
          <p:nvPr/>
        </p:nvSpPr>
        <p:spPr>
          <a:xfrm>
            <a:off x="3381679"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as the platform lead describes it</a:t>
            </a:r>
          </a:p>
        </p:txBody>
      </p:sp>
      <p:sp>
        <p:nvSpPr>
          <p:cNvPr id="25" name="Rectangle 24"/>
          <p:cNvSpPr/>
          <p:nvPr/>
        </p:nvSpPr>
        <p:spPr>
          <a:xfrm>
            <a:off x="3381679"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33007"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7" name="TextBox 26"/>
          <p:cNvSpPr txBox="1"/>
          <p:nvPr/>
        </p:nvSpPr>
        <p:spPr>
          <a:xfrm>
            <a:off x="6233007"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EXPORTS ALLOWED</a:t>
            </a:r>
          </a:p>
        </p:txBody>
      </p:sp>
      <p:sp>
        <p:nvSpPr>
          <p:cNvPr id="28" name="TextBox 27"/>
          <p:cNvSpPr txBox="1"/>
          <p:nvPr/>
        </p:nvSpPr>
        <p:spPr>
          <a:xfrm>
            <a:off x="6233007"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query it, do not export it</a:t>
            </a:r>
          </a:p>
        </p:txBody>
      </p:sp>
      <p:sp>
        <p:nvSpPr>
          <p:cNvPr id="29" name="Rectangle 28"/>
          <p:cNvSpPr/>
          <p:nvPr/>
        </p:nvSpPr>
        <p:spPr>
          <a:xfrm>
            <a:off x="6233007"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084335" y="4869790"/>
            <a:ext cx="2577007"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31" name="TextBox 30"/>
          <p:cNvSpPr txBox="1"/>
          <p:nvPr/>
        </p:nvSpPr>
        <p:spPr>
          <a:xfrm>
            <a:off x="9084335" y="5604866"/>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ANALYST WHO AUDITS</a:t>
            </a:r>
          </a:p>
        </p:txBody>
      </p:sp>
      <p:sp>
        <p:nvSpPr>
          <p:cNvPr id="32" name="TextBox 31"/>
          <p:cNvSpPr txBox="1"/>
          <p:nvPr/>
        </p:nvSpPr>
        <p:spPr>
          <a:xfrm>
            <a:off x="9084335" y="5806034"/>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line of every query</a:t>
            </a:r>
          </a:p>
        </p:txBody>
      </p:sp>
      <p:sp>
        <p:nvSpPr>
          <p:cNvPr id="33" name="Rectangle 32"/>
          <p:cNvSpPr/>
          <p:nvPr/>
        </p:nvSpPr>
        <p:spPr>
          <a:xfrm>
            <a:off x="9084335" y="6058510"/>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6" name="Oval 3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8" name="Oval 3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0" name="Oval 3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2" name="Oval 41"/>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77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"from the warehouse" rule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named three things he never wants behind a Monday number: which work does his rule still allow?</a:t>
            </a:r>
          </a:p>
        </p:txBody>
      </p:sp>
      <p:pic>
        <p:nvPicPr>
          <p:cNvPr id="9" name="mermaid diagram" descr="0f4de30e6b9bdf49.png"/>
          <p:cNvPicPr>
            <a:picLocks noChangeAspect="1"/>
          </p:cNvPicPr>
          <p:nvPr/>
        </p:nvPicPr>
        <p:blipFill>
          <a:blip r:embed="rId5"/>
          <a:stretch>
            <a:fillRect/>
          </a:stretch>
        </p:blipFill>
        <p:spPr>
          <a:xfrm>
            <a:off x="593760" y="1682496"/>
            <a:ext cx="4659509" cy="4517136"/>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work does Anand's rule still allow? a) exploring in a notebook while the reported number comes from a saved query; b) exporting once a quarter to a shared drive; c) pasting a query's output into the sheet by hand; d) none, since all analysis moves to SQL.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77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explore anywhere, report from the query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work does Anand's rule allow, and why is each of the others ruled out?</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4744072"/>
                <a:gridCol w="1011737"/>
                <a:gridCol w="537518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Verdict</a:t>
                      </a:r>
                    </a:p>
                  </a:txBody>
                  <a:tcPr marL="101600" marR="101600" marT="38100" marB="38100" anchor="ctr">
                    <a:solidFill>
                      <a:srgbClr val="1A0F5C"/>
                    </a:solidFill>
                  </a:tcPr>
                </a:tc>
                <a:tc>
                  <a:txBody>
                    <a:bodyPr/>
                    <a:lstStyle/>
                    <a:p>
                      <a:r>
                        <a:rPr sz="1450" b="1" i="0">
                          <a:solidFill>
                            <a:srgbClr val="FFFFFF"/>
                          </a:solidFill>
                          <a:latin typeface="Calibri"/>
                        </a:rPr>
                        <a:t>Why</a:t>
                      </a:r>
                    </a:p>
                  </a:txBody>
                  <a:tcPr marL="101600" marR="101600" marT="38100" marB="38100" anchor="ctr">
                    <a:solidFill>
                      <a:srgbClr val="1A0F5C"/>
                    </a:solidFill>
                  </a:tcPr>
                </a:tc>
              </a:tr>
              <a:tr h="611632">
                <a:tc>
                  <a:txBody>
                    <a:bodyPr/>
                    <a:lstStyle/>
                    <a:p>
                      <a:r>
                        <a:rPr sz="1400" b="0" i="0">
                          <a:solidFill>
                            <a:srgbClr val="1A1440"/>
                          </a:solidFill>
                          <a:latin typeface="Calibri"/>
                        </a:rPr>
                        <a:t>a) Explore in a notebook, report from a saved query</a:t>
                      </a:r>
                    </a:p>
                  </a:txBody>
                  <a:tcPr marL="101600" marR="101600" marT="38100" marB="38100" anchor="ctr">
                    <a:solidFill>
                      <a:srgbClr val="FFFFFF"/>
                    </a:solidFill>
                  </a:tcPr>
                </a:tc>
                <a:tc>
                  <a:txBody>
                    <a:bodyPr/>
                    <a:lstStyle/>
                    <a:p>
                      <a:r>
                        <a:rPr sz="1400" b="0" i="0">
                          <a:solidFill>
                            <a:srgbClr val="1A1440"/>
                          </a:solidFill>
                          <a:latin typeface="Calibri"/>
                        </a:rPr>
                        <a:t>Allowed</a:t>
                      </a:r>
                    </a:p>
                  </a:txBody>
                  <a:tcPr marL="101600" marR="101600" marT="38100" marB="38100" anchor="ctr">
                    <a:solidFill>
                      <a:srgbClr val="FFFFFF"/>
                    </a:solidFill>
                  </a:tcPr>
                </a:tc>
                <a:tc>
                  <a:txBody>
                    <a:bodyPr/>
                    <a:lstStyle/>
                    <a:p>
                      <a:r>
                        <a:rPr sz="1400" b="0" i="0">
                          <a:solidFill>
                            <a:srgbClr val="1A1440"/>
                          </a:solidFill>
                          <a:latin typeface="Calibri"/>
                        </a:rPr>
                        <a:t>The reported number is rerun on the book every Monday.</a:t>
                      </a:r>
                    </a:p>
                  </a:txBody>
                  <a:tcPr marL="101600" marR="101600" marT="38100" marB="38100" anchor="ctr">
                    <a:solidFill>
                      <a:srgbClr val="FFFFFF"/>
                    </a:solidFill>
                  </a:tcPr>
                </a:tc>
              </a:tr>
              <a:tr h="611632">
                <a:tc>
                  <a:txBody>
                    <a:bodyPr/>
                    <a:lstStyle/>
                    <a:p>
                      <a:r>
                        <a:rPr sz="1400" b="0" i="0">
                          <a:solidFill>
                            <a:srgbClr val="1A1440"/>
                          </a:solidFill>
                          <a:latin typeface="Calibri"/>
                        </a:rPr>
                        <a:t>b) Export once a quarter</a:t>
                      </a:r>
                    </a:p>
                  </a:txBody>
                  <a:tcPr marL="101600" marR="101600" marT="38100" marB="38100" anchor="ctr">
                    <a:solidFill>
                      <a:srgbClr val="F4F2FA"/>
                    </a:solidFill>
                  </a:tcPr>
                </a:tc>
                <a:tc>
                  <a:txBody>
                    <a:bodyPr/>
                    <a:lstStyle/>
                    <a:p>
                      <a:r>
                        <a:rPr sz="1400" b="0" i="0">
                          <a:solidFill>
                            <a:srgbClr val="1A1440"/>
                          </a:solidFill>
                          <a:latin typeface="Calibri"/>
                        </a:rPr>
                        <a:t>Ruled out</a:t>
                      </a:r>
                    </a:p>
                  </a:txBody>
                  <a:tcPr marL="101600" marR="101600" marT="38100" marB="38100" anchor="ctr">
                    <a:solidFill>
                      <a:srgbClr val="F4F2FA"/>
                    </a:solidFill>
                  </a:tcPr>
                </a:tc>
                <a:tc>
                  <a:txBody>
                    <a:bodyPr/>
                    <a:lstStyle/>
                    <a:p>
                      <a:r>
                        <a:rPr sz="1400" b="0" i="0">
                          <a:solidFill>
                            <a:srgbClr val="1A1440"/>
                          </a:solidFill>
                          <a:latin typeface="Calibri"/>
                        </a:rPr>
                        <a:t>The export is a second copy that ages the day it lands.</a:t>
                      </a:r>
                    </a:p>
                  </a:txBody>
                  <a:tcPr marL="101600" marR="101600" marT="38100" marB="38100" anchor="ctr">
                    <a:solidFill>
                      <a:srgbClr val="F4F2FA"/>
                    </a:solidFill>
                  </a:tcPr>
                </a:tc>
              </a:tr>
              <a:tr h="611632">
                <a:tc>
                  <a:txBody>
                    <a:bodyPr/>
                    <a:lstStyle/>
                    <a:p>
                      <a:r>
                        <a:rPr sz="1400" b="0" i="0">
                          <a:solidFill>
                            <a:srgbClr val="1A1440"/>
                          </a:solidFill>
                          <a:latin typeface="Calibri"/>
                        </a:rPr>
                        <a:t>c) Paste output by hand</a:t>
                      </a:r>
                    </a:p>
                  </a:txBody>
                  <a:tcPr marL="101600" marR="101600" marT="38100" marB="38100" anchor="ctr">
                    <a:solidFill>
                      <a:srgbClr val="FFFFFF"/>
                    </a:solidFill>
                  </a:tcPr>
                </a:tc>
                <a:tc>
                  <a:txBody>
                    <a:bodyPr/>
                    <a:lstStyle/>
                    <a:p>
                      <a:r>
                        <a:rPr sz="1400" b="0" i="0">
                          <a:solidFill>
                            <a:srgbClr val="1A1440"/>
                          </a:solidFill>
                          <a:latin typeface="Calibri"/>
                        </a:rPr>
                        <a:t>Ruled out</a:t>
                      </a:r>
                    </a:p>
                  </a:txBody>
                  <a:tcPr marL="101600" marR="101600" marT="38100" marB="38100" anchor="ctr">
                    <a:solidFill>
                      <a:srgbClr val="FFFFFF"/>
                    </a:solidFill>
                  </a:tcPr>
                </a:tc>
                <a:tc>
                  <a:txBody>
                    <a:bodyPr/>
                    <a:lstStyle/>
                    <a:p>
                      <a:r>
                        <a:rPr sz="1400" b="0" i="0">
                          <a:solidFill>
                            <a:srgbClr val="1A1440"/>
                          </a:solidFill>
                          <a:latin typeface="Calibri"/>
                        </a:rPr>
                        <a:t>A typed value leaves no trace an auditor can follow.</a:t>
                      </a:r>
                    </a:p>
                  </a:txBody>
                  <a:tcPr marL="101600" marR="101600" marT="38100" marB="38100" anchor="ctr">
                    <a:solidFill>
                      <a:srgbClr val="FFFFFF"/>
                    </a:solidFill>
                  </a:tcPr>
                </a:tc>
              </a:tr>
              <a:tr h="611632">
                <a:tc>
                  <a:txBody>
                    <a:bodyPr/>
                    <a:lstStyle/>
                    <a:p>
                      <a:r>
                        <a:rPr sz="1400" b="0" i="0">
                          <a:solidFill>
                            <a:srgbClr val="1A1440"/>
                          </a:solidFill>
                          <a:latin typeface="Calibri"/>
                        </a:rPr>
                        <a:t>d) Move all analysis into SQL</a:t>
                      </a:r>
                    </a:p>
                  </a:txBody>
                  <a:tcPr marL="101600" marR="101600" marT="38100" marB="38100" anchor="ctr">
                    <a:solidFill>
                      <a:srgbClr val="F4F2FA"/>
                    </a:solidFill>
                  </a:tcPr>
                </a:tc>
                <a:tc>
                  <a:txBody>
                    <a:bodyPr/>
                    <a:lstStyle/>
                    <a:p>
                      <a:r>
                        <a:rPr sz="1400" b="0" i="0">
                          <a:solidFill>
                            <a:srgbClr val="1A1440"/>
                          </a:solidFill>
                          <a:latin typeface="Calibri"/>
                        </a:rPr>
                        <a:t>Too far</a:t>
                      </a:r>
                    </a:p>
                  </a:txBody>
                  <a:tcPr marL="101600" marR="101600" marT="38100" marB="38100" anchor="ctr">
                    <a:solidFill>
                      <a:srgbClr val="F4F2FA"/>
                    </a:solidFill>
                  </a:tcPr>
                </a:tc>
                <a:tc>
                  <a:txBody>
                    <a:bodyPr/>
                    <a:lstStyle/>
                    <a:p>
                      <a:r>
                        <a:rPr sz="1400" b="0" i="0">
                          <a:solidFill>
                            <a:srgbClr val="1A1440"/>
                          </a:solidFill>
                          <a:latin typeface="Calibri"/>
                        </a:rPr>
                        <a:t>Charts, tests and exploration stay in Python, reading the warehouse.</a:t>
                      </a:r>
                    </a:p>
                  </a:txBody>
                  <a:tcPr marL="101600" marR="101600" marT="38100" marB="38100" anchor="ctr">
                    <a:solidFill>
                      <a:srgbClr val="F4F2FA"/>
                    </a:solidFill>
                  </a:tcPr>
                </a:tc>
              </a:tr>
            </a:tbl>
          </a:graphicData>
        </a:graphic>
      </p:graphicFrame>
      <p:sp>
        <p:nvSpPr>
          <p:cNvPr id="10" name="TextBox 9"/>
          <p:cNvSpPr txBox="1"/>
          <p:nvPr/>
        </p:nvSpPr>
        <p:spPr>
          <a:xfrm>
            <a:off x="530352" y="502920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query is what the team hands over, and the notebook is where the team thinks.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77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Week 1 step becomes one line of SQL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last week's Python steps become one line of SQL?</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248162"/>
                <a:gridCol w="5011645"/>
                <a:gridCol w="1871183"/>
              </a:tblGrid>
              <a:tr h="369824">
                <a:tc>
                  <a:txBody>
                    <a:bodyPr/>
                    <a:lstStyle/>
                    <a:p>
                      <a:r>
                        <a:rPr sz="1450" b="1" i="0">
                          <a:solidFill>
                            <a:srgbClr val="FFFFFF"/>
                          </a:solidFill>
                          <a:latin typeface="Calibri"/>
                        </a:rPr>
                        <a:t>Week 1 step, in Python</a:t>
                      </a:r>
                    </a:p>
                  </a:txBody>
                  <a:tcPr marL="101600" marR="101600" marT="38100" marB="38100" anchor="ctr">
                    <a:solidFill>
                      <a:srgbClr val="1A0F5C"/>
                    </a:solidFill>
                  </a:tcPr>
                </a:tc>
                <a:tc>
                  <a:txBody>
                    <a:bodyPr/>
                    <a:lstStyle/>
                    <a:p>
                      <a:r>
                        <a:rPr sz="1450" b="1" i="0">
                          <a:solidFill>
                            <a:srgbClr val="FFFFFF"/>
                          </a:solidFill>
                          <a:latin typeface="Calibri"/>
                        </a:rPr>
                        <a:t>The SQL line</a:t>
                      </a:r>
                    </a:p>
                  </a:txBody>
                  <a:tcPr marL="101600" marR="101600" marT="38100" marB="38100" anchor="ctr">
                    <a:solidFill>
                      <a:srgbClr val="1A0F5C"/>
                    </a:solidFill>
                  </a:tcPr>
                </a:tc>
                <a:tc>
                  <a:txBody>
                    <a:bodyPr/>
                    <a:lstStyle/>
                    <a:p>
                      <a:r>
                        <a:rPr sz="1450" b="1" i="0">
                          <a:solidFill>
                            <a:srgbClr val="FFFFFF"/>
                          </a:solidFill>
                          <a:latin typeface="Calibri"/>
                        </a:rPr>
                        <a:t>Where today</a:t>
                      </a:r>
                    </a:p>
                  </a:txBody>
                  <a:tcPr marL="101600" marR="101600" marT="38100" marB="38100" anchor="ctr">
                    <a:solidFill>
                      <a:srgbClr val="1A0F5C"/>
                    </a:solidFill>
                  </a:tcPr>
                </a:tc>
              </a:tr>
              <a:tr h="369824">
                <a:tc>
                  <a:txBody>
                    <a:bodyPr/>
                    <a:lstStyle/>
                    <a:p>
                      <a:r>
                        <a:rPr sz="1400" b="0" i="0">
                          <a:solidFill>
                            <a:srgbClr val="1A1440"/>
                          </a:solidFill>
                          <a:latin typeface="Calibri"/>
                        </a:rPr>
                        <a:t>Count the orders</a:t>
                      </a:r>
                    </a:p>
                  </a:txBody>
                  <a:tcPr marL="101600" marR="101600" marT="38100" marB="38100" anchor="ctr">
                    <a:solidFill>
                      <a:srgbClr val="FFFFFF"/>
                    </a:solidFill>
                  </a:tcPr>
                </a:tc>
                <a:tc>
                  <a:txBody>
                    <a:bodyPr/>
                    <a:lstStyle/>
                    <a:p>
                      <a:r>
                        <a:rPr sz="1400" b="0" i="0">
                          <a:solidFill>
                            <a:srgbClr val="1A1440"/>
                          </a:solidFill>
                          <a:latin typeface="Calibri"/>
                        </a:rPr>
                        <a:t>count(*)</a:t>
                      </a:r>
                    </a:p>
                  </a:txBody>
                  <a:tcPr marL="101600" marR="101600" marT="38100" marB="38100" anchor="ctr">
                    <a:solidFill>
                      <a:srgbClr val="FFFFFF"/>
                    </a:solidFill>
                  </a:tcPr>
                </a:tc>
                <a:tc>
                  <a:txBody>
                    <a:bodyPr/>
                    <a:lstStyle/>
                    <a:p>
                      <a:r>
                        <a:rPr sz="1400" b="0" i="0">
                          <a:solidFill>
                            <a:srgbClr val="1A1440"/>
                          </a:solidFill>
                          <a:latin typeface="Calibri"/>
                        </a:rPr>
                        <a:t>Chapter 1</a:t>
                      </a:r>
                    </a:p>
                  </a:txBody>
                  <a:tcPr marL="101600" marR="101600" marT="38100" marB="38100" anchor="ctr">
                    <a:solidFill>
                      <a:srgbClr val="FFFFFF"/>
                    </a:solidFill>
                  </a:tcPr>
                </a:tc>
              </a:tr>
              <a:tr h="369824">
                <a:tc>
                  <a:txBody>
                    <a:bodyPr/>
                    <a:lstStyle/>
                    <a:p>
                      <a:r>
                        <a:rPr sz="1400" b="0" i="0">
                          <a:solidFill>
                            <a:srgbClr val="1A1440"/>
                          </a:solidFill>
                          <a:latin typeface="Calibri"/>
                        </a:rPr>
                        <a:t>Add the amounts</a:t>
                      </a:r>
                    </a:p>
                  </a:txBody>
                  <a:tcPr marL="101600" marR="101600" marT="38100" marB="38100" anchor="ctr">
                    <a:solidFill>
                      <a:srgbClr val="F4F2FA"/>
                    </a:solidFill>
                  </a:tcPr>
                </a:tc>
                <a:tc>
                  <a:txBody>
                    <a:bodyPr/>
                    <a:lstStyle/>
                    <a:p>
                      <a:r>
                        <a:rPr sz="1400" b="0" i="0">
                          <a:solidFill>
                            <a:srgbClr val="1A1440"/>
                          </a:solidFill>
                          <a:latin typeface="Calibri"/>
                        </a:rPr>
                        <a:t>sum(amount)</a:t>
                      </a:r>
                    </a:p>
                  </a:txBody>
                  <a:tcPr marL="101600" marR="101600" marT="38100" marB="38100" anchor="ctr">
                    <a:solidFill>
                      <a:srgbClr val="F4F2FA"/>
                    </a:solidFill>
                  </a:tcPr>
                </a:tc>
                <a:tc>
                  <a:txBody>
                    <a:bodyPr/>
                    <a:lstStyle/>
                    <a:p>
                      <a:r>
                        <a:rPr sz="1400" b="0" i="0">
                          <a:solidFill>
                            <a:srgbClr val="1A1440"/>
                          </a:solidFill>
                          <a:latin typeface="Calibri"/>
                        </a:rPr>
                        <a:t>Chapter 1</a:t>
                      </a:r>
                    </a:p>
                  </a:txBody>
                  <a:tcPr marL="101600" marR="101600" marT="38100" marB="38100" anchor="ctr">
                    <a:solidFill>
                      <a:srgbClr val="F4F2FA"/>
                    </a:solidFill>
                  </a:tcPr>
                </a:tc>
              </a:tr>
              <a:tr h="369824">
                <a:tc>
                  <a:txBody>
                    <a:bodyPr/>
                    <a:lstStyle/>
                    <a:p>
                      <a:r>
                        <a:rPr sz="1400" b="0" i="0">
                          <a:solidFill>
                            <a:srgbClr val="1A1440"/>
                          </a:solidFill>
                          <a:latin typeface="Calibri"/>
                        </a:rPr>
                        <a:t>Count each customer once</a:t>
                      </a:r>
                    </a:p>
                  </a:txBody>
                  <a:tcPr marL="101600" marR="101600" marT="38100" marB="38100" anchor="ctr">
                    <a:solidFill>
                      <a:srgbClr val="FFFFFF"/>
                    </a:solidFill>
                  </a:tcPr>
                </a:tc>
                <a:tc>
                  <a:txBody>
                    <a:bodyPr/>
                    <a:lstStyle/>
                    <a:p>
                      <a:r>
                        <a:rPr sz="1400" b="0" i="0">
                          <a:solidFill>
                            <a:srgbClr val="1A1440"/>
                          </a:solidFill>
                          <a:latin typeface="Calibri"/>
                        </a:rPr>
                        <a:t>count(DISTINCT customer_id)</a:t>
                      </a:r>
                    </a:p>
                  </a:txBody>
                  <a:tcPr marL="101600" marR="101600" marT="38100" marB="38100" anchor="ctr">
                    <a:solidFill>
                      <a:srgbClr val="FFFFFF"/>
                    </a:solidFill>
                  </a:tcPr>
                </a:tc>
                <a:tc>
                  <a:txBody>
                    <a:bodyPr/>
                    <a:lstStyle/>
                    <a:p>
                      <a:r>
                        <a:rPr sz="1400" b="0" i="0">
                          <a:solidFill>
                            <a:srgbClr val="1A1440"/>
                          </a:solidFill>
                          <a:latin typeface="Calibri"/>
                        </a:rPr>
                        <a:t>Chapter 1</a:t>
                      </a:r>
                    </a:p>
                  </a:txBody>
                  <a:tcPr marL="101600" marR="101600" marT="38100" marB="38100" anchor="ctr">
                    <a:solidFill>
                      <a:srgbClr val="FFFFFF"/>
                    </a:solidFill>
                  </a:tcPr>
                </a:tc>
              </a:tr>
              <a:tr h="369824">
                <a:tc>
                  <a:txBody>
                    <a:bodyPr/>
                    <a:lstStyle/>
                    <a:p>
                      <a:r>
                        <a:rPr sz="1400" b="0" i="0">
                          <a:solidFill>
                            <a:srgbClr val="1A1440"/>
                          </a:solidFill>
                          <a:latin typeface="Calibri"/>
                        </a:rPr>
                        <a:t>One row per segment and quarter</a:t>
                      </a:r>
                    </a:p>
                  </a:txBody>
                  <a:tcPr marL="101600" marR="101600" marT="38100" marB="38100" anchor="ctr">
                    <a:solidFill>
                      <a:srgbClr val="F4F2FA"/>
                    </a:solidFill>
                  </a:tcPr>
                </a:tc>
                <a:tc>
                  <a:txBody>
                    <a:bodyPr/>
                    <a:lstStyle/>
                    <a:p>
                      <a:r>
                        <a:rPr sz="1400" b="0" i="0">
                          <a:solidFill>
                            <a:srgbClr val="1A1440"/>
                          </a:solidFill>
                          <a:latin typeface="Calibri"/>
                        </a:rPr>
                        <a:t>GROUP BY segment, quarter</a:t>
                      </a:r>
                    </a:p>
                  </a:txBody>
                  <a:tcPr marL="101600" marR="101600" marT="38100" marB="38100" anchor="ctr">
                    <a:solidFill>
                      <a:srgbClr val="F4F2FA"/>
                    </a:solidFill>
                  </a:tcPr>
                </a:tc>
                <a:tc>
                  <a:txBody>
                    <a:bodyPr/>
                    <a:lstStyle/>
                    <a:p>
                      <a:r>
                        <a:rPr sz="1400" b="0" i="0">
                          <a:solidFill>
                            <a:srgbClr val="1A1440"/>
                          </a:solidFill>
                          <a:latin typeface="Calibri"/>
                        </a:rPr>
                        <a:t>Chapter 3</a:t>
                      </a:r>
                    </a:p>
                  </a:txBody>
                  <a:tcPr marL="101600" marR="101600" marT="38100" marB="38100" anchor="ctr">
                    <a:solidFill>
                      <a:srgbClr val="F4F2FA"/>
                    </a:solidFill>
                  </a:tcPr>
                </a:tc>
              </a:tr>
              <a:tr h="369824">
                <a:tc>
                  <a:txBody>
                    <a:bodyPr/>
                    <a:lstStyle/>
                    <a:p>
                      <a:r>
                        <a:rPr sz="1400" b="0" i="0">
                          <a:solidFill>
                            <a:srgbClr val="1A1440"/>
                          </a:solidFill>
                          <a:latin typeface="Calibri"/>
                        </a:rPr>
                        <a:t>Keep only some groups</a:t>
                      </a:r>
                    </a:p>
                  </a:txBody>
                  <a:tcPr marL="101600" marR="101600" marT="38100" marB="38100" anchor="ctr">
                    <a:solidFill>
                      <a:srgbClr val="FFFFFF"/>
                    </a:solidFill>
                  </a:tcPr>
                </a:tc>
                <a:tc>
                  <a:txBody>
                    <a:bodyPr/>
                    <a:lstStyle/>
                    <a:p>
                      <a:r>
                        <a:rPr sz="1400" b="0" i="0">
                          <a:solidFill>
                            <a:srgbClr val="1A1440"/>
                          </a:solidFill>
                          <a:latin typeface="Calibri"/>
                        </a:rPr>
                        <a:t>HAVING count(...) &lt; 30</a:t>
                      </a:r>
                    </a:p>
                  </a:txBody>
                  <a:tcPr marL="101600" marR="101600" marT="38100" marB="38100" anchor="ctr">
                    <a:solidFill>
                      <a:srgbClr val="FFFFFF"/>
                    </a:solidFill>
                  </a:tcPr>
                </a:tc>
                <a:tc>
                  <a:txBody>
                    <a:bodyPr/>
                    <a:lstStyle/>
                    <a:p>
                      <a:r>
                        <a:rPr sz="1400" b="0" i="0">
                          <a:solidFill>
                            <a:srgbClr val="1A1440"/>
                          </a:solidFill>
                          <a:latin typeface="Calibri"/>
                        </a:rPr>
                        <a:t>Chapter 3</a:t>
                      </a:r>
                    </a:p>
                  </a:txBody>
                  <a:tcPr marL="101600" marR="101600" marT="38100" marB="38100" anchor="ctr">
                    <a:solidFill>
                      <a:srgbClr val="FFFFFF"/>
                    </a:solidFill>
                  </a:tcPr>
                </a:tc>
              </a:tr>
              <a:tr h="369824">
                <a:tc>
                  <a:txBody>
                    <a:bodyPr/>
                    <a:lstStyle/>
                    <a:p>
                      <a:r>
                        <a:rPr sz="1400" b="0" i="0">
                          <a:solidFill>
                            <a:srgbClr val="1A1440"/>
                          </a:solidFill>
                          <a:latin typeface="Calibri"/>
                        </a:rPr>
                        <a:t>Two quarters side by side</a:t>
                      </a:r>
                    </a:p>
                  </a:txBody>
                  <a:tcPr marL="101600" marR="101600" marT="38100" marB="38100" anchor="ctr">
                    <a:solidFill>
                      <a:srgbClr val="F4F2FA"/>
                    </a:solidFill>
                  </a:tcPr>
                </a:tc>
                <a:tc>
                  <a:txBody>
                    <a:bodyPr/>
                    <a:lstStyle/>
                    <a:p>
                      <a:r>
                        <a:rPr sz="1400" b="0" i="0">
                          <a:solidFill>
                            <a:srgbClr val="1A1440"/>
                          </a:solidFill>
                          <a:latin typeface="Calibri"/>
                        </a:rPr>
                        <a:t>a named step per quarter, WITH ... AS</a:t>
                      </a:r>
                    </a:p>
                  </a:txBody>
                  <a:tcPr marL="101600" marR="101600" marT="38100" marB="38100" anchor="ctr">
                    <a:solidFill>
                      <a:srgbClr val="F4F2FA"/>
                    </a:solidFill>
                  </a:tcPr>
                </a:tc>
                <a:tc>
                  <a:txBody>
                    <a:bodyPr/>
                    <a:lstStyle/>
                    <a:p>
                      <a:r>
                        <a:rPr sz="1400" b="0" i="0">
                          <a:solidFill>
                            <a:srgbClr val="1A1440"/>
                          </a:solidFill>
                          <a:latin typeface="Calibri"/>
                        </a:rPr>
                        <a:t>Chapter 4</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room knows every right answer from Week 1, so today's attention goes to the language and to what each line guarantees.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77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query is written in one order and run in another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the database run a query's clauses?</a:t>
            </a:r>
          </a:p>
        </p:txBody>
      </p:sp>
      <p:pic>
        <p:nvPicPr>
          <p:cNvPr id="9" name="mermaid diagram" descr="88725d041b47b462.png"/>
          <p:cNvPicPr>
            <a:picLocks noChangeAspect="1"/>
          </p:cNvPicPr>
          <p:nvPr/>
        </p:nvPicPr>
        <p:blipFill>
          <a:blip r:embed="rId5"/>
          <a:stretch>
            <a:fillRect/>
          </a:stretch>
        </p:blipFill>
        <p:spPr>
          <a:xfrm>
            <a:off x="530352" y="1956816"/>
            <a:ext cx="11130991" cy="944447"/>
          </a:xfrm>
          <a:prstGeom prst="rect">
            <a:avLst/>
          </a:prstGeom>
        </p:spPr>
      </p:pic>
      <p:sp>
        <p:nvSpPr>
          <p:cNvPr id="10" name="TextBox 9"/>
          <p:cNvSpPr txBox="1"/>
          <p:nvPr/>
        </p:nvSpPr>
        <p:spPr>
          <a:xfrm>
            <a:off x="530352" y="304756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Written as SELECT, FROM, WHERE, GROUP BY, HAVING, ORDER BY, LIMIT; run as the arrows show. Most of today's refusals and wrong numbers are explained by this order.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Anand's sheet carries, leaf by leaf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numbers does the Monday sheet carry, and which table holds each?</a:t>
            </a:r>
          </a:p>
        </p:txBody>
      </p:sp>
      <p:pic>
        <p:nvPicPr>
          <p:cNvPr id="9" name="mermaid diagram" descr="231f3a68edb205b2.png"/>
          <p:cNvPicPr>
            <a:picLocks noChangeAspect="1"/>
          </p:cNvPicPr>
          <p:nvPr/>
        </p:nvPicPr>
        <p:blipFill>
          <a:blip r:embed="rId5"/>
          <a:stretch>
            <a:fillRect/>
          </a:stretch>
        </p:blipFill>
        <p:spPr>
          <a:xfrm>
            <a:off x="530352" y="1994451"/>
            <a:ext cx="4786326" cy="3893225"/>
          </a:xfrm>
          <a:prstGeom prst="rect">
            <a:avLst/>
          </a:prstGeom>
        </p:spPr>
      </p:pic>
      <p:sp>
        <p:nvSpPr>
          <p:cNvPr id="10" name="TextBox 9"/>
          <p:cNvSpPr txBox="1"/>
          <p:nvPr/>
        </p:nvSpPr>
        <p:spPr>
          <a:xfrm>
            <a:off x="5761917" y="1956816"/>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Revenue is customers who bought, times orders per customer, times revenue per order: Week 1 Monday's tree, now read from two tables.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77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book say?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orders, rupees and customers did each quarter book, counted where the book lives?</a:t>
            </a:r>
          </a:p>
        </p:txBody>
      </p:sp>
      <p:sp>
        <p:nvSpPr>
          <p:cNvPr id="10" name="Rounded Rectangle 9"/>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77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the sheet goes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puts these numbers on the Monday sheet and his analyst audits every line. A customer count that is really a count of orders says nobody ever buys twice, which reopens the Rs 12 crore acquisition request that Meera, Kalpa Retail's CEO, parked last week.</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to compute?</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An export, a query or a view</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it hold?</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tables, and where each leaf lives</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did it book?</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and rupees per quarter</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many customers?</a:t>
            </a:r>
          </a:p>
        </p:txBody>
      </p:sp>
      <p:sp>
        <p:nvSpPr>
          <p:cNvPr id="32" name="TextBox 31"/>
          <p:cNvSpPr txBox="1"/>
          <p:nvPr/>
        </p:nvSpPr>
        <p:spPr>
          <a:xfrm>
            <a:off x="7483266" y="4516882"/>
            <a:ext cx="1750710" cy="201676"/>
          </a:xfrm>
          <a:prstGeom prst="rect">
            <a:avLst/>
          </a:prstGeom>
          <a:noFill/>
        </p:spPr>
        <p:txBody>
          <a:bodyPr wrap="square" anchor="t" lIns="0" rIns="0" tIns="0" bIns="0">
            <a:spAutoFit/>
          </a:bodyPr>
          <a:lstStyle/>
          <a:p>
            <a:pPr algn="l"/>
            <a:r>
              <a:rPr sz="1000" b="0" i="0">
                <a:solidFill>
                  <a:srgbClr val="6B6690"/>
                </a:solidFill>
                <a:latin typeface="Calibri"/>
              </a:rPr>
              <a:t>Who bought in each quarter</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Does Python agree?</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raw rows, counted another way</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40" name="Oval 3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4" name="Oval 4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6" name="Oval 4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tree's leaves, counted on the 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count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and his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finance controller signs the Monday sheet; his analyst reruns every query behind it.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tree's leaves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booked revenue and customers who bought, per quarter, counted in the warehouse.</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COUNT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Rs 12 crore reopened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Customers counted as orders say nobody buys twice, and the acquisition request comes back.</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77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JPMorgan: a risk model moved by copy and paste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finance team paid for numbers a person moved by hand?</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"operated through a series of Excel spreadsheets, which had to be completed manually, by a process of copying and pasting data from one spreadsheet to another"</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JPMorgan Chase's task force on its 2012 trading losses, report of 16 January 2013, page 124</a:t>
            </a:r>
          </a:p>
        </p:txBody>
      </p:sp>
      <p:sp>
        <p:nvSpPr>
          <p:cNvPr id="13" name="TextBox 12"/>
          <p:cNvSpPr txBox="1"/>
          <p:nvPr/>
        </p:nvSpPr>
        <p:spPr>
          <a:xfrm>
            <a:off x="530352" y="3468624"/>
            <a:ext cx="5428335" cy="698500"/>
          </a:xfrm>
          <a:prstGeom prst="rect">
            <a:avLst/>
          </a:prstGeom>
          <a:noFill/>
        </p:spPr>
        <p:txBody>
          <a:bodyPr wrap="square" anchor="t" lIns="0" rIns="0" tIns="0" bIns="0">
            <a:spAutoFit/>
          </a:bodyPr>
          <a:lstStyle/>
          <a:p>
            <a:pPr algn="l"/>
            <a:r>
              <a:rPr sz="4400" b="0" i="0">
                <a:solidFill>
                  <a:srgbClr val="5B3FD6"/>
                </a:solidFill>
                <a:latin typeface="Georgia"/>
              </a:rPr>
              <a:t>$5.8 billion</a:t>
            </a:r>
          </a:p>
        </p:txBody>
      </p:sp>
      <p:sp>
        <p:nvSpPr>
          <p:cNvPr id="14" name="TextBox 13"/>
          <p:cNvSpPr txBox="1"/>
          <p:nvPr/>
        </p:nvSpPr>
        <p:spPr>
          <a:xfrm>
            <a:off x="530352" y="4203700"/>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LOSSES FOR THE YEAR</a:t>
            </a:r>
          </a:p>
        </p:txBody>
      </p:sp>
      <p:sp>
        <p:nvSpPr>
          <p:cNvPr id="15" name="TextBox 14"/>
          <p:cNvSpPr txBox="1"/>
          <p:nvPr/>
        </p:nvSpPr>
        <p:spPr>
          <a:xfrm>
            <a:off x="530352" y="4404868"/>
            <a:ext cx="5428335" cy="193421"/>
          </a:xfrm>
          <a:prstGeom prst="rect">
            <a:avLst/>
          </a:prstGeom>
          <a:noFill/>
        </p:spPr>
        <p:txBody>
          <a:bodyPr wrap="square" anchor="t" lIns="0" rIns="0" tIns="0" bIns="0">
            <a:spAutoFit/>
          </a:bodyPr>
          <a:lstStyle/>
          <a:p>
            <a:pPr algn="l"/>
            <a:r>
              <a:rPr sz="950" b="0" i="0">
                <a:solidFill>
                  <a:srgbClr val="6B6690"/>
                </a:solidFill>
                <a:latin typeface="Calibri"/>
              </a:rPr>
              <a:t>through 30 June 2012, the report's page 7</a:t>
            </a:r>
          </a:p>
        </p:txBody>
      </p:sp>
      <p:sp>
        <p:nvSpPr>
          <p:cNvPr id="16" name="Rectangle 15"/>
          <p:cNvSpPr/>
          <p:nvPr/>
        </p:nvSpPr>
        <p:spPr>
          <a:xfrm>
            <a:off x="530352" y="4657344"/>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3468624"/>
            <a:ext cx="5428335" cy="698500"/>
          </a:xfrm>
          <a:prstGeom prst="rect">
            <a:avLst/>
          </a:prstGeom>
          <a:noFill/>
        </p:spPr>
        <p:txBody>
          <a:bodyPr wrap="square" anchor="t" lIns="0" rIns="0" tIns="0" bIns="0">
            <a:spAutoFit/>
          </a:bodyPr>
          <a:lstStyle/>
          <a:p>
            <a:pPr algn="l"/>
            <a:r>
              <a:rPr sz="4400" b="0" i="0">
                <a:solidFill>
                  <a:srgbClr val="5B3FD6"/>
                </a:solidFill>
                <a:latin typeface="Georgia"/>
              </a:rPr>
              <a:t>132 pages</a:t>
            </a:r>
          </a:p>
        </p:txBody>
      </p:sp>
      <p:sp>
        <p:nvSpPr>
          <p:cNvPr id="18" name="TextBox 17"/>
          <p:cNvSpPr txBox="1"/>
          <p:nvPr/>
        </p:nvSpPr>
        <p:spPr>
          <a:xfrm>
            <a:off x="6233007" y="4203700"/>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TASK FORCE'S REPORT</a:t>
            </a:r>
          </a:p>
        </p:txBody>
      </p:sp>
      <p:sp>
        <p:nvSpPr>
          <p:cNvPr id="19" name="TextBox 18"/>
          <p:cNvSpPr txBox="1"/>
          <p:nvPr/>
        </p:nvSpPr>
        <p:spPr>
          <a:xfrm>
            <a:off x="6233007" y="4404868"/>
            <a:ext cx="5428335" cy="193421"/>
          </a:xfrm>
          <a:prstGeom prst="rect">
            <a:avLst/>
          </a:prstGeom>
          <a:noFill/>
        </p:spPr>
        <p:txBody>
          <a:bodyPr wrap="square" anchor="t" lIns="0" rIns="0" tIns="0" bIns="0">
            <a:spAutoFit/>
          </a:bodyPr>
          <a:lstStyle/>
          <a:p>
            <a:pPr algn="l"/>
            <a:r>
              <a:rPr sz="950" b="0" i="0">
                <a:solidFill>
                  <a:srgbClr val="6B6690"/>
                </a:solidFill>
                <a:latin typeface="Calibri"/>
              </a:rPr>
              <a:t>16 January 2013</a:t>
            </a:r>
          </a:p>
        </p:txBody>
      </p:sp>
      <p:sp>
        <p:nvSpPr>
          <p:cNvPr id="20" name="Rectangle 19"/>
          <p:cNvSpPr/>
          <p:nvPr/>
        </p:nvSpPr>
        <p:spPr>
          <a:xfrm>
            <a:off x="6233007" y="4657344"/>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49316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a person moves by hand can be moved wrongly, and Anand's rule keeps Kalpa's book away from that.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.sql file sends 2 rows where an export sends 1,340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the Monday numbers be computed, and what does each way cost?</a:t>
            </a:r>
          </a:p>
        </p:txBody>
      </p:sp>
      <p:graphicFrame>
        <p:nvGraphicFramePr>
          <p:cNvPr id="9" name="Table 8"/>
          <p:cNvGraphicFramePr>
            <a:graphicFrameLocks noGrp="1"/>
          </p:cNvGraphicFramePr>
          <p:nvPr/>
        </p:nvGraphicFramePr>
        <p:xfrm>
          <a:off x="530352" y="1956816"/>
          <a:ext cx="11130990" cy="2170176"/>
        </p:xfrm>
        <a:graphic>
          <a:graphicData uri="http://schemas.openxmlformats.org/drawingml/2006/table">
            <a:tbl>
              <a:tblPr firstRow="0" bandRow="0">
                <a:tableStyleId>{2D5ABB26-0587-4C30-8999-92F81FD0307C}</a:tableStyleId>
              </a:tblPr>
              <a:tblGrid>
                <a:gridCol w="2601987"/>
                <a:gridCol w="2713224"/>
                <a:gridCol w="3046936"/>
                <a:gridCol w="276884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leaves the warehouse each Monday</a:t>
                      </a:r>
                    </a:p>
                  </a:txBody>
                  <a:tcPr marL="101600" marR="101600" marT="38100" marB="38100" anchor="ctr">
                    <a:solidFill>
                      <a:srgbClr val="1A0F5C"/>
                    </a:solidFill>
                  </a:tcPr>
                </a:tc>
                <a:tc>
                  <a:txBody>
                    <a:bodyPr/>
                    <a:lstStyle/>
                    <a:p>
                      <a:r>
                        <a:rPr sz="1250" b="1" i="0">
                          <a:solidFill>
                            <a:srgbClr val="FFFFFF"/>
                          </a:solidFill>
                          <a:latin typeface="Calibri"/>
                        </a:rPr>
                        <a:t>Can the analyst rerun it?</a:t>
                      </a:r>
                    </a:p>
                  </a:txBody>
                  <a:tcPr marL="101600" marR="101600" marT="38100" marB="38100" anchor="ctr">
                    <a:solidFill>
                      <a:srgbClr val="1A0F5C"/>
                    </a:solidFill>
                  </a:tcPr>
                </a:tc>
                <a:tc>
                  <a:txBody>
                    <a:bodyPr/>
                    <a:lstStyle/>
                    <a:p>
                      <a:r>
                        <a:rPr sz="1250" b="1" i="0">
                          <a:solidFill>
                            <a:srgbClr val="FFFFFF"/>
                          </a:solidFill>
                          <a:latin typeface="Calibri"/>
                        </a:rPr>
                        <a:t>When a column is renamed</a:t>
                      </a:r>
                    </a:p>
                  </a:txBody>
                  <a:tcPr marL="101600" marR="101600" marT="38100" marB="38100" anchor="ctr">
                    <a:solidFill>
                      <a:srgbClr val="1A0F5C"/>
                    </a:solidFill>
                  </a:tcPr>
                </a:tc>
              </a:tr>
              <a:tr h="542544">
                <a:tc>
                  <a:txBody>
                    <a:bodyPr/>
                    <a:lstStyle/>
                    <a:p>
                      <a:r>
                        <a:rPr sz="1200" b="0" i="0">
                          <a:solidFill>
                            <a:srgbClr val="1A1440"/>
                          </a:solidFill>
                          <a:latin typeface="Calibri"/>
                        </a:rPr>
                        <a:t>A. Export the tables and compute in pandas</a:t>
                      </a:r>
                    </a:p>
                  </a:txBody>
                  <a:tcPr marL="101600" marR="101600" marT="38100" marB="38100" anchor="ctr">
                    <a:solidFill>
                      <a:srgbClr val="FFFFFF"/>
                    </a:solidFill>
                  </a:tcPr>
                </a:tc>
                <a:tc>
                  <a:txBody>
                    <a:bodyPr/>
                    <a:lstStyle/>
                    <a:p>
                      <a:r>
                        <a:rPr sz="1200" b="0" i="0">
                          <a:solidFill>
                            <a:srgbClr val="1A1440"/>
                          </a:solidFill>
                          <a:latin typeface="Calibri"/>
                        </a:rPr>
                        <a:t>1,340 rows: all 1,000 orders and 340 customers</a:t>
                      </a:r>
                    </a:p>
                  </a:txBody>
                  <a:tcPr marL="101600" marR="101600" marT="38100" marB="38100" anchor="ctr">
                    <a:solidFill>
                      <a:srgbClr val="FFFFFF"/>
                    </a:solidFill>
                  </a:tcPr>
                </a:tc>
                <a:tc>
                  <a:txBody>
                    <a:bodyPr/>
                    <a:lstStyle/>
                    <a:p>
                      <a:r>
                        <a:rPr sz="1200" b="0" i="0">
                          <a:solidFill>
                            <a:srgbClr val="1A1440"/>
                          </a:solidFill>
                          <a:latin typeface="Calibri"/>
                        </a:rPr>
                        <a:t>Only on the copy, which may no longer match the book</a:t>
                      </a:r>
                    </a:p>
                  </a:txBody>
                  <a:tcPr marL="101600" marR="101600" marT="38100" marB="38100" anchor="ctr">
                    <a:solidFill>
                      <a:srgbClr val="FFFFFF"/>
                    </a:solidFill>
                  </a:tcPr>
                </a:tc>
                <a:tc>
                  <a:txBody>
                    <a:bodyPr/>
                    <a:lstStyle/>
                    <a:p>
                      <a:r>
                        <a:rPr sz="1200" b="0" i="0">
                          <a:solidFill>
                            <a:srgbClr val="1A1440"/>
                          </a:solidFill>
                          <a:latin typeface="Calibri"/>
                        </a:rPr>
                        <a:t>An old export keeps answering from old data</a:t>
                      </a:r>
                    </a:p>
                  </a:txBody>
                  <a:tcPr marL="101600" marR="101600" marT="38100" marB="38100" anchor="ctr">
                    <a:solidFill>
                      <a:srgbClr val="FFFFFF"/>
                    </a:solidFill>
                  </a:tcPr>
                </a:tc>
              </a:tr>
              <a:tr h="542544">
                <a:tc>
                  <a:txBody>
                    <a:bodyPr/>
                    <a:lstStyle/>
                    <a:p>
                      <a:r>
                        <a:rPr sz="1200" b="0" i="0">
                          <a:solidFill>
                            <a:srgbClr val="1A1440"/>
                          </a:solidFill>
                          <a:latin typeface="Calibri"/>
                        </a:rPr>
                        <a:t>B. Query the warehouse from a .sql file</a:t>
                      </a:r>
                    </a:p>
                  </a:txBody>
                  <a:tcPr marL="101600" marR="101600" marT="38100" marB="38100" anchor="ctr">
                    <a:solidFill>
                      <a:srgbClr val="F4F2FA"/>
                    </a:solidFill>
                  </a:tcPr>
                </a:tc>
                <a:tc>
                  <a:txBody>
                    <a:bodyPr/>
                    <a:lstStyle/>
                    <a:p>
                      <a:r>
                        <a:rPr sz="1200" b="0" i="0">
                          <a:solidFill>
                            <a:srgbClr val="1A1440"/>
                          </a:solidFill>
                          <a:latin typeface="Calibri"/>
                        </a:rPr>
                        <a:t>2 rows, one per quarter</a:t>
                      </a:r>
                    </a:p>
                  </a:txBody>
                  <a:tcPr marL="101600" marR="101600" marT="38100" marB="38100" anchor="ctr">
                    <a:solidFill>
                      <a:srgbClr val="F4F2FA"/>
                    </a:solidFill>
                  </a:tcPr>
                </a:tc>
                <a:tc>
                  <a:txBody>
                    <a:bodyPr/>
                    <a:lstStyle/>
                    <a:p>
                      <a:r>
                        <a:rPr sz="1200" b="0" i="0">
                          <a:solidFill>
                            <a:srgbClr val="1A1440"/>
                          </a:solidFill>
                          <a:latin typeface="Calibri"/>
                        </a:rPr>
                        <a:t>Yes: the same file on the same book</a:t>
                      </a:r>
                    </a:p>
                  </a:txBody>
                  <a:tcPr marL="101600" marR="101600" marT="38100" marB="38100" anchor="ctr">
                    <a:solidFill>
                      <a:srgbClr val="F4F2FA"/>
                    </a:solidFill>
                  </a:tcPr>
                </a:tc>
                <a:tc>
                  <a:txBody>
                    <a:bodyPr/>
                    <a:lstStyle/>
                    <a:p>
                      <a:r>
                        <a:rPr sz="1200" b="0" i="0">
                          <a:solidFill>
                            <a:srgbClr val="1A1440"/>
                          </a:solidFill>
                          <a:latin typeface="Calibri"/>
                        </a:rPr>
                        <a:t>The query stops with an error naming the column</a:t>
                      </a:r>
                    </a:p>
                  </a:txBody>
                  <a:tcPr marL="101600" marR="101600" marT="38100" marB="38100" anchor="ctr">
                    <a:solidFill>
                      <a:srgbClr val="F4F2FA"/>
                    </a:solidFill>
                  </a:tcPr>
                </a:tc>
              </a:tr>
              <a:tr h="542544">
                <a:tc>
                  <a:txBody>
                    <a:bodyPr/>
                    <a:lstStyle/>
                    <a:p>
                      <a:r>
                        <a:rPr sz="1200" b="0" i="0">
                          <a:solidFill>
                            <a:srgbClr val="1A1440"/>
                          </a:solidFill>
                          <a:latin typeface="Calibri"/>
                        </a:rPr>
                        <a:t>C. Save the query as a view in the warehouse</a:t>
                      </a:r>
                    </a:p>
                  </a:txBody>
                  <a:tcPr marL="101600" marR="101600" marT="38100" marB="38100" anchor="ctr">
                    <a:solidFill>
                      <a:srgbClr val="FFFFFF"/>
                    </a:solidFill>
                  </a:tcPr>
                </a:tc>
                <a:tc>
                  <a:txBody>
                    <a:bodyPr/>
                    <a:lstStyle/>
                    <a:p>
                      <a:r>
                        <a:rPr sz="1200" b="0" i="0">
                          <a:solidFill>
                            <a:srgbClr val="1A1440"/>
                          </a:solidFill>
                          <a:latin typeface="Calibri"/>
                        </a:rPr>
                        <a:t>2 rows, one per quarter</a:t>
                      </a:r>
                    </a:p>
                  </a:txBody>
                  <a:tcPr marL="101600" marR="101600" marT="38100" marB="38100" anchor="ctr">
                    <a:solidFill>
                      <a:srgbClr val="FFFFFF"/>
                    </a:solidFill>
                  </a:tcPr>
                </a:tc>
                <a:tc>
                  <a:txBody>
                    <a:bodyPr/>
                    <a:lstStyle/>
                    <a:p>
                      <a:r>
                        <a:rPr sz="1200" b="0" i="0">
                          <a:solidFill>
                            <a:srgbClr val="1A1440"/>
                          </a:solidFill>
                          <a:latin typeface="Calibri"/>
                        </a:rPr>
                        <a:t>Yes: one line reads the view</a:t>
                      </a:r>
                    </a:p>
                  </a:txBody>
                  <a:tcPr marL="101600" marR="101600" marT="38100" marB="38100" anchor="ctr">
                    <a:solidFill>
                      <a:srgbClr val="FFFFFF"/>
                    </a:solidFill>
                  </a:tcPr>
                </a:tc>
                <a:tc>
                  <a:txBody>
                    <a:bodyPr/>
                    <a:lstStyle/>
                    <a:p>
                      <a:r>
                        <a:rPr sz="1200" b="0" i="0">
                          <a:solidFill>
                            <a:srgbClr val="1A1440"/>
                          </a:solidFill>
                          <a:latin typeface="Calibri"/>
                        </a:rPr>
                        <a:t>The view follows the rename and blocks a drop</a:t>
                      </a:r>
                    </a:p>
                  </a:txBody>
                  <a:tcPr marL="101600" marR="101600" marT="38100" marB="38100" anchor="ctr">
                    <a:solidFill>
                      <a:srgbClr val="FFFFFF"/>
                    </a:solidFill>
                  </a:tcPr>
                </a:tc>
              </a:tr>
            </a:tbl>
          </a:graphicData>
        </a:graphic>
      </p:graphicFrame>
      <p:sp>
        <p:nvSpPr>
          <p:cNvPr id="10" name="Rounded Rectangle 9"/>
          <p:cNvSpPr/>
          <p:nvPr/>
        </p:nvSpPr>
        <p:spPr>
          <a:xfrm>
            <a:off x="530352" y="43830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10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1896"/>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team has read access only, and a .sql file reruns exactly on the book.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schema of the team's own would switch it to a 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a .sql file?</a:t>
            </a:r>
          </a:p>
        </p:txBody>
      </p:sp>
      <p:pic>
        <p:nvPicPr>
          <p:cNvPr id="9" name="mermaid diagram" descr="41dcc9ea46c98002.png"/>
          <p:cNvPicPr>
            <a:picLocks noChangeAspect="1"/>
          </p:cNvPicPr>
          <p:nvPr/>
        </p:nvPicPr>
        <p:blipFill>
          <a:blip r:embed="rId5"/>
          <a:stretch>
            <a:fillRect/>
          </a:stretch>
        </p:blipFill>
        <p:spPr>
          <a:xfrm>
            <a:off x="659453" y="1956816"/>
            <a:ext cx="10872787" cy="2286000"/>
          </a:xfrm>
          <a:prstGeom prst="rect">
            <a:avLst/>
          </a:prstGeom>
        </p:spPr>
      </p:pic>
      <p:sp>
        <p:nvSpPr>
          <p:cNvPr id="10" name="Rounded Rectangle 9"/>
          <p:cNvSpPr/>
          <p:nvPr/>
        </p:nvSpPr>
        <p:spPr>
          <a:xfrm>
            <a:off x="530352" y="43891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71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79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Once the suite stops changing and the platform lead grants a schema, a view is better: Postgres then records which columns the Monday numbers depend on and refuses a change that would break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tables, and today's tree needs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warehouse hold, and where does each leaf of the tree live?</a:t>
            </a:r>
          </a:p>
        </p:txBody>
      </p:sp>
      <p:pic>
        <p:nvPicPr>
          <p:cNvPr id="9" name="mermaid diagram" descr="750d314056d38309.png"/>
          <p:cNvPicPr>
            <a:picLocks noChangeAspect="1"/>
          </p:cNvPicPr>
          <p:nvPr/>
        </p:nvPicPr>
        <p:blipFill>
          <a:blip r:embed="rId5"/>
          <a:stretch>
            <a:fillRect/>
          </a:stretch>
        </p:blipFill>
        <p:spPr>
          <a:xfrm>
            <a:off x="530352" y="1682496"/>
            <a:ext cx="5291175" cy="2424243"/>
          </a:xfrm>
          <a:prstGeom prst="rect">
            <a:avLst/>
          </a:prstGeom>
        </p:spPr>
      </p:pic>
      <p:sp>
        <p:nvSpPr>
          <p:cNvPr id="10" name="Rounded Rectangle 9"/>
          <p:cNvSpPr/>
          <p:nvPr/>
        </p:nvSpPr>
        <p:spPr>
          <a:xfrm>
            <a:off x="530352" y="4253043"/>
            <a:ext cx="529117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381059"/>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381059"/>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381059"/>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582227"/>
            <a:ext cx="4833975"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table_name, count(*) AS columns</a:t>
            </a:r>
          </a:p>
          <a:p>
            <a:pPr>
              <a:spcAft>
                <a:spcPts val="200"/>
              </a:spcAft>
            </a:pPr>
            <a:r>
              <a:rPr sz="1400" b="0" i="0">
                <a:solidFill>
                  <a:srgbClr val="E4E1F1"/>
                </a:solidFill>
                <a:latin typeface="Consolas"/>
              </a:rPr>
              <a:t>FROM   information_schema.columns</a:t>
            </a:r>
          </a:p>
          <a:p>
            <a:pPr>
              <a:spcAft>
                <a:spcPts val="200"/>
              </a:spcAft>
            </a:pPr>
            <a:r>
              <a:rPr sz="1400" b="0" i="0">
                <a:solidFill>
                  <a:srgbClr val="E4E1F1"/>
                </a:solidFill>
                <a:latin typeface="Consolas"/>
              </a:rPr>
              <a:t>WHERE  table_schema = 'public'</a:t>
            </a:r>
          </a:p>
          <a:p>
            <a:pPr>
              <a:spcAft>
                <a:spcPts val="200"/>
              </a:spcAft>
            </a:pPr>
            <a:r>
              <a:rPr sz="1400" b="0" i="0">
                <a:solidFill>
                  <a:srgbClr val="E4E1F1"/>
                </a:solidFill>
                <a:latin typeface="Consolas"/>
              </a:rPr>
              <a:t>GROUP  BY table_name ORDER BY table_name;</a:t>
            </a:r>
          </a:p>
        </p:txBody>
      </p:sp>
      <p:sp>
        <p:nvSpPr>
          <p:cNvPr id="15" name="TextBox 14"/>
          <p:cNvSpPr txBox="1"/>
          <p:nvPr/>
        </p:nvSpPr>
        <p:spPr>
          <a:xfrm>
            <a:off x="6370167" y="1682496"/>
            <a:ext cx="529117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 order carries order_id, customer_id, order_date, quarter, channel, amount and status. The segment is not on the order: it lives on the customer.</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77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will the book say for each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Week 1's extract said Rs 1.90 crore in Q1 and Rs 1.87 crore in Q2: what will the whole book say?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orders, sum(amount) AS revenue</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a:t>
            </a:r>
          </a:p>
          <a:p>
            <a:pPr>
              <a:spcAft>
                <a:spcPts val="200"/>
              </a:spcAft>
            </a:pPr>
            <a:r>
              <a:rPr sz="1400" b="0" i="0">
                <a:solidFill>
                  <a:srgbClr val="E4E1F1"/>
                </a:solidFill>
                <a:latin typeface="Consolas"/>
              </a:rPr>
              <a:t>ORDER  BY quarter;</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will the warehouse say? a) exactly the extract's two totals; b) larger totals, falling the same 1.6 percent; c) larger totals, falling by a different amount; d) smaller totals, because the warehouse is de-duplicated.</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77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10 crore to Rs 9.84 crore, down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and rupees did each quarter book?</a:t>
            </a:r>
          </a:p>
        </p:txBody>
      </p:sp>
      <p:pic>
        <p:nvPicPr>
          <p:cNvPr id="9" name="mermaid diagram" descr="f144e38b654a4aa2.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b. Q1 booked Rs 10,00,00,000 on 538 orders and Q2 Rs 9,84,00,000 on 462: about five times the extract's totals, falling the same 1.6 percent. The check: 538 plus 462 is 1,000, the platform lead's number.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77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538 customers, 1.00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customer count put on Anand's sheet?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customers</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 ORDER BY quarter;</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538</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column's own label</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462</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"CUSTOMERS"</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column's own label</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1.00</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30352" y="47990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131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bug_39ada6eff46d.png"/>
          <p:cNvPicPr>
            <a:picLocks noChangeAspect="1"/>
          </p:cNvPicPr>
          <p:nvPr/>
        </p:nvPicPr>
        <p:blipFill>
          <a:blip r:embed="rId4"/>
          <a:stretch>
            <a:fillRect/>
          </a:stretch>
        </p:blipFill>
        <p:spPr>
          <a:xfrm>
            <a:off x="868680" y="5241036"/>
            <a:ext cx="237744" cy="237744"/>
          </a:xfrm>
          <a:prstGeom prst="rect">
            <a:avLst/>
          </a:prstGeom>
        </p:spPr>
      </p:pic>
      <p:sp>
        <p:nvSpPr>
          <p:cNvPr id="29" name="TextBox 28"/>
          <p:cNvSpPr txBox="1"/>
          <p:nvPr/>
        </p:nvSpPr>
        <p:spPr>
          <a:xfrm>
            <a:off x="1399031" y="49453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0" name="TextBox 29"/>
          <p:cNvSpPr txBox="1"/>
          <p:nvPr/>
        </p:nvSpPr>
        <p:spPr>
          <a:xfrm>
            <a:off x="1399031" y="5164836"/>
            <a:ext cx="9987991" cy="682752"/>
          </a:xfrm>
          <a:prstGeom prst="rect">
            <a:avLst/>
          </a:prstGeom>
          <a:noFill/>
        </p:spPr>
        <p:txBody>
          <a:bodyPr wrap="square" anchor="t" lIns="0" rIns="0" tIns="0" bIns="0">
            <a:spAutoFit/>
          </a:bodyPr>
          <a:lstStyle/>
          <a:p>
            <a:r>
              <a:rPr sz="1500" b="0" i="0">
                <a:solidFill>
                  <a:srgbClr val="1A1440"/>
                </a:solidFill>
                <a:latin typeface="Calibri"/>
              </a:rPr>
              <a:t>Every customer bought once and never came back, so the frequency branch Meera was told to fix reads as nothing to fix, and the Rs 12 crore acquisition case returns.</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77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 counts order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count(*) count, whatever the column is called?</a:t>
            </a:r>
          </a:p>
        </p:txBody>
      </p:sp>
      <p:pic>
        <p:nvPicPr>
          <p:cNvPr id="9" name="mermaid diagram" descr="a25a69a406f5e15f.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three ways, each named for what it counts: 1,000 order rows, 340 members on the customer table, and 301 buyers, the customers who bought across both quarters. AS customers is a label, and the database prints whatever name it is given.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77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244 and 227 customers, 2.20 and 2.04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bought in each quarter, each counted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order_rows,</a:t>
            </a:r>
          </a:p>
          <a:p>
            <a:pPr>
              <a:spcAft>
                <a:spcPts val="200"/>
              </a:spcAft>
            </a:pPr>
            <a:r>
              <a:rPr sz="1400" b="0" i="0">
                <a:solidFill>
                  <a:srgbClr val="E4E1F1"/>
                </a:solidFill>
                <a:latin typeface="Consolas"/>
              </a:rPr>
              <a:t>  count(DISTINCT customer_id) AS customers</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 ORDER BY quarter;</a:t>
            </a:r>
          </a:p>
        </p:txBody>
      </p:sp>
      <p:graphicFrame>
        <p:nvGraphicFramePr>
          <p:cNvPr id="14" name="Table 13"/>
          <p:cNvGraphicFramePr>
            <a:graphicFrameLocks noGrp="1"/>
          </p:cNvGraphicFramePr>
          <p:nvPr/>
        </p:nvGraphicFramePr>
        <p:xfrm>
          <a:off x="530352" y="3588512"/>
          <a:ext cx="11130990" cy="1005840"/>
        </p:xfrm>
        <a:graphic>
          <a:graphicData uri="http://schemas.openxmlformats.org/drawingml/2006/table">
            <a:tbl>
              <a:tblPr firstRow="0" bandRow="0">
                <a:tableStyleId>{2D5ABB26-0587-4C30-8999-92F81FD0307C}</a:tableStyleId>
              </a:tblPr>
              <a:tblGrid>
                <a:gridCol w="914400"/>
                <a:gridCol w="2259362"/>
                <a:gridCol w="4069101"/>
                <a:gridCol w="3888127"/>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 rows</a:t>
                      </a:r>
                    </a:p>
                  </a:txBody>
                  <a:tcPr marL="101600" marR="101600" marT="38100" marB="38100" anchor="ctr">
                    <a:solidFill>
                      <a:srgbClr val="1A0F5C"/>
                    </a:solidFill>
                  </a:tcPr>
                </a:tc>
                <a:tc>
                  <a:txBody>
                    <a:bodyPr/>
                    <a:lstStyle/>
                    <a:p>
                      <a:r>
                        <a:rPr sz="1250" b="1" i="0">
                          <a:solidFill>
                            <a:srgbClr val="FFFFFF"/>
                          </a:solidFill>
                          <a:latin typeface="Calibri"/>
                        </a:rPr>
                        <a:t>Customers who bought</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2.20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2.04</a:t>
                      </a:r>
                    </a:p>
                  </a:txBody>
                  <a:tcPr marL="101600" marR="101600" marT="38100" marB="38100" anchor="ctr">
                    <a:solidFill>
                      <a:srgbClr val="F4F2FA"/>
                    </a:solidFill>
                  </a:tcPr>
                </a:tc>
              </a:tr>
            </a:tbl>
          </a:graphicData>
        </a:graphic>
      </p:graphicFrame>
      <p:sp>
        <p:nvSpPr>
          <p:cNvPr id="15" name="TextBox 14"/>
          <p:cNvSpPr txBox="1"/>
          <p:nvPr/>
        </p:nvSpPr>
        <p:spPr>
          <a:xfrm>
            <a:off x="530352" y="48503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takes out 294 customers who do not exist in Q1 and 235 in Q2, and orders per customer moves from 1.00 to 2.20 and 2.04: customers do come back.</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77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 moved 1,000 rows to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raw rows, counted in Python, give the same leaves?</a:t>
            </a:r>
          </a:p>
        </p:txBody>
      </p:sp>
      <p:graphicFrame>
        <p:nvGraphicFramePr>
          <p:cNvPr id="9" name="Table 8"/>
          <p:cNvGraphicFramePr>
            <a:graphicFrameLocks noGrp="1"/>
          </p:cNvGraphicFramePr>
          <p:nvPr/>
        </p:nvGraphicFramePr>
        <p:xfrm>
          <a:off x="530352" y="1956816"/>
          <a:ext cx="11130987" cy="1341120"/>
        </p:xfrm>
        <a:graphic>
          <a:graphicData uri="http://schemas.openxmlformats.org/drawingml/2006/table">
            <a:tbl>
              <a:tblPr firstRow="0" bandRow="0">
                <a:tableStyleId>{2D5ABB26-0587-4C30-8999-92F81FD0307C}</a:tableStyleId>
              </a:tblPr>
              <a:tblGrid>
                <a:gridCol w="1620901"/>
                <a:gridCol w="2446305"/>
                <a:gridCol w="2446305"/>
                <a:gridCol w="2308738"/>
                <a:gridCol w="2308738"/>
              </a:tblGrid>
              <a:tr h="335280">
                <a:tc>
                  <a:txBody>
                    <a:bodyPr/>
                    <a:lstStyle/>
                    <a:p>
                      <a:r>
                        <a:rPr sz="1250" b="1" i="0">
                          <a:solidFill>
                            <a:srgbClr val="FFFFFF"/>
                          </a:solidFill>
                          <a:latin typeface="Calibri"/>
                        </a:rPr>
                        <a:t>Leaf</a:t>
                      </a:r>
                    </a:p>
                  </a:txBody>
                  <a:tcPr marL="101600" marR="101600" marT="38100" marB="38100" anchor="ctr">
                    <a:solidFill>
                      <a:srgbClr val="1A0F5C"/>
                    </a:solidFill>
                  </a:tcPr>
                </a:tc>
                <a:tc>
                  <a:txBody>
                    <a:bodyPr/>
                    <a:lstStyle/>
                    <a:p>
                      <a:r>
                        <a:rPr sz="1250" b="1" i="0">
                          <a:solidFill>
                            <a:srgbClr val="FFFFFF"/>
                          </a:solidFill>
                          <a:latin typeface="Calibri"/>
                        </a:rPr>
                        <a:t>Q1, SQL</a:t>
                      </a:r>
                    </a:p>
                  </a:txBody>
                  <a:tcPr marL="101600" marR="101600" marT="38100" marB="38100" anchor="ctr">
                    <a:solidFill>
                      <a:srgbClr val="1A0F5C"/>
                    </a:solidFill>
                  </a:tcPr>
                </a:tc>
                <a:tc>
                  <a:txBody>
                    <a:bodyPr/>
                    <a:lstStyle/>
                    <a:p>
                      <a:r>
                        <a:rPr sz="1250" b="1" i="0">
                          <a:solidFill>
                            <a:srgbClr val="FFFFFF"/>
                          </a:solidFill>
                          <a:latin typeface="Calibri"/>
                        </a:rPr>
                        <a:t>Q1, Python</a:t>
                      </a:r>
                    </a:p>
                  </a:txBody>
                  <a:tcPr marL="101600" marR="101600" marT="38100" marB="38100" anchor="ctr">
                    <a:solidFill>
                      <a:srgbClr val="1A0F5C"/>
                    </a:solidFill>
                  </a:tcPr>
                </a:tc>
                <a:tc>
                  <a:txBody>
                    <a:bodyPr/>
                    <a:lstStyle/>
                    <a:p>
                      <a:r>
                        <a:rPr sz="1250" b="1" i="0">
                          <a:solidFill>
                            <a:srgbClr val="FFFFFF"/>
                          </a:solidFill>
                          <a:latin typeface="Calibri"/>
                        </a:rPr>
                        <a:t>Q2, SQL</a:t>
                      </a:r>
                    </a:p>
                  </a:txBody>
                  <a:tcPr marL="101600" marR="101600" marT="38100" marB="38100" anchor="ctr">
                    <a:solidFill>
                      <a:srgbClr val="1A0F5C"/>
                    </a:solidFill>
                  </a:tcPr>
                </a:tc>
                <a:tc>
                  <a:txBody>
                    <a:bodyPr/>
                    <a:lstStyle/>
                    <a:p>
                      <a:r>
                        <a:rPr sz="1250" b="1" i="0">
                          <a:solidFill>
                            <a:srgbClr val="FFFFFF"/>
                          </a:solidFill>
                          <a:latin typeface="Calibri"/>
                        </a:rPr>
                        <a:t>Q2, Python</a:t>
                      </a:r>
                    </a:p>
                  </a:txBody>
                  <a:tcPr marL="101600" marR="101600" marT="38100" marB="38100" anchor="ctr">
                    <a:solidFill>
                      <a:srgbClr val="1A0F5C"/>
                    </a:solidFill>
                  </a:tcPr>
                </a:tc>
              </a:tr>
              <a:tr h="335280">
                <a:tc>
                  <a:txBody>
                    <a:bodyPr/>
                    <a:lstStyle/>
                    <a:p>
                      <a:r>
                        <a:rPr sz="1200" b="0" i="0">
                          <a:solidFill>
                            <a:srgbClr val="1A1440"/>
                          </a:solidFill>
                          <a:latin typeface="Calibri"/>
                        </a:rPr>
                        <a:t>Orders</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r>
              <a:tr h="335280">
                <a:tc>
                  <a:txBody>
                    <a:bodyPr/>
                    <a:lstStyle/>
                    <a:p>
                      <a:r>
                        <a:rPr sz="1200" b="0" i="0">
                          <a:solidFill>
                            <a:srgbClr val="1A1440"/>
                          </a:solidFill>
                          <a:latin typeface="Calibri"/>
                        </a:rPr>
                        <a:t>Customers</a:t>
                      </a:r>
                    </a:p>
                  </a:txBody>
                  <a:tcPr marL="101600" marR="101600" marT="38100" marB="38100" anchor="ctr">
                    <a:solidFill>
                      <a:srgbClr val="F4F2FA"/>
                    </a:solidFill>
                  </a:tcPr>
                </a:tc>
                <a:tc>
                  <a:txBody>
                    <a:bodyPr/>
                    <a:lstStyle/>
                    <a:p>
                      <a:r>
                        <a:rPr sz="1200" b="0" i="0">
                          <a:solidFill>
                            <a:srgbClr val="1A1440"/>
                          </a:solidFill>
                          <a:latin typeface="Calibri"/>
                        </a:rPr>
                        <a:t>244</a:t>
                      </a:r>
                    </a:p>
                  </a:txBody>
                  <a:tcPr marL="101600" marR="101600" marT="38100" marB="38100" anchor="ctr">
                    <a:solidFill>
                      <a:srgbClr val="F4F2FA"/>
                    </a:solidFill>
                  </a:tcPr>
                </a:tc>
                <a:tc>
                  <a:txBody>
                    <a:bodyPr/>
                    <a:lstStyle/>
                    <a:p>
                      <a:r>
                        <a:rPr sz="1200" b="0" i="0">
                          <a:solidFill>
                            <a:srgbClr val="1A1440"/>
                          </a:solidFill>
                          <a:latin typeface="Calibri"/>
                        </a:rPr>
                        <a:t>244</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route pulls every order row into Python and counts with a set of customer ids and a running sum, with no SQL count or sum anywhere. It agrees on every leaf, after moving 1,000 rows where the query moved two.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77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book: 538 then 462 orders, 244 then 227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how many orders, rupees and customers did each quarter book, counted where the book lives?</a:t>
            </a:r>
          </a:p>
        </p:txBody>
      </p:sp>
      <p:graphicFrame>
        <p:nvGraphicFramePr>
          <p:cNvPr id="9" name="Table 8"/>
          <p:cNvGraphicFramePr>
            <a:graphicFrameLocks noGrp="1"/>
          </p:cNvGraphicFramePr>
          <p:nvPr/>
        </p:nvGraphicFramePr>
        <p:xfrm>
          <a:off x="530352" y="1793240"/>
          <a:ext cx="11130990" cy="1908048"/>
        </p:xfrm>
        <a:graphic>
          <a:graphicData uri="http://schemas.openxmlformats.org/drawingml/2006/table">
            <a:tbl>
              <a:tblPr firstRow="0" bandRow="0">
                <a:tableStyleId>{2D5ABB26-0587-4C30-8999-92F81FD0307C}</a:tableStyleId>
              </a:tblPr>
              <a:tblGrid>
                <a:gridCol w="3778367"/>
                <a:gridCol w="7352623"/>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Where to compute?</a:t>
                      </a:r>
                    </a:p>
                  </a:txBody>
                  <a:tcPr marL="101600" marR="101600" marT="38100" marB="38100" anchor="ctr">
                    <a:solidFill>
                      <a:srgbClr val="FFFFFF"/>
                    </a:solidFill>
                  </a:tcPr>
                </a:tc>
                <a:tc>
                  <a:txBody>
                    <a:bodyPr/>
                    <a:lstStyle/>
                    <a:p>
                      <a:r>
                        <a:rPr sz="1100" b="0" i="0">
                          <a:solidFill>
                            <a:srgbClr val="1A1440"/>
                          </a:solidFill>
                          <a:latin typeface="Calibri"/>
                        </a:rPr>
                        <a:t>A .sql file: 2 rows back against an export's 1,340</a:t>
                      </a:r>
                    </a:p>
                  </a:txBody>
                  <a:tcPr marL="101600" marR="101600" marT="38100" marB="38100" anchor="ctr">
                    <a:solidFill>
                      <a:srgbClr val="FFFFFF"/>
                    </a:solidFill>
                  </a:tcPr>
                </a:tc>
              </a:tr>
              <a:tr h="318008">
                <a:tc>
                  <a:txBody>
                    <a:bodyPr/>
                    <a:lstStyle/>
                    <a:p>
                      <a:r>
                        <a:rPr sz="1100" b="0" i="0">
                          <a:solidFill>
                            <a:srgbClr val="1A1440"/>
                          </a:solidFill>
                          <a:latin typeface="Calibri"/>
                        </a:rPr>
                        <a:t>2. What does it hold?</a:t>
                      </a:r>
                    </a:p>
                  </a:txBody>
                  <a:tcPr marL="101600" marR="101600" marT="38100" marB="38100" anchor="ctr">
                    <a:solidFill>
                      <a:srgbClr val="F4F2FA"/>
                    </a:solidFill>
                  </a:tcPr>
                </a:tc>
                <a:tc>
                  <a:txBody>
                    <a:bodyPr/>
                    <a:lstStyle/>
                    <a:p>
                      <a:r>
                        <a:rPr sz="1100" b="0" i="0">
                          <a:solidFill>
                            <a:srgbClr val="1A1440"/>
                          </a:solidFill>
                          <a:latin typeface="Calibri"/>
                        </a:rPr>
                        <a:t>Seven tables; orders and customers carry today's tree</a:t>
                      </a:r>
                    </a:p>
                  </a:txBody>
                  <a:tcPr marL="101600" marR="101600" marT="38100" marB="38100" anchor="ctr">
                    <a:solidFill>
                      <a:srgbClr val="F4F2FA"/>
                    </a:solidFill>
                  </a:tcPr>
                </a:tc>
              </a:tr>
              <a:tr h="318008">
                <a:tc>
                  <a:txBody>
                    <a:bodyPr/>
                    <a:lstStyle/>
                    <a:p>
                      <a:r>
                        <a:rPr sz="1100" b="0" i="0">
                          <a:solidFill>
                            <a:srgbClr val="1A1440"/>
                          </a:solidFill>
                          <a:latin typeface="Calibri"/>
                        </a:rPr>
                        <a:t>3. What did it book?</a:t>
                      </a:r>
                    </a:p>
                  </a:txBody>
                  <a:tcPr marL="101600" marR="101600" marT="38100" marB="38100" anchor="ctr">
                    <a:solidFill>
                      <a:srgbClr val="FFFFFF"/>
                    </a:solidFill>
                  </a:tcPr>
                </a:tc>
                <a:tc>
                  <a:txBody>
                    <a:bodyPr/>
                    <a:lstStyle/>
                    <a:p>
                      <a:r>
                        <a:rPr sz="1100" b="0" i="0">
                          <a:solidFill>
                            <a:srgbClr val="1A1440"/>
                          </a:solidFill>
                          <a:latin typeface="Calibri"/>
                        </a:rPr>
                        <a:t>Rs 10,00,00,000 on 538, then Rs 9,84,00,000 on 462</a:t>
                      </a:r>
                    </a:p>
                  </a:txBody>
                  <a:tcPr marL="101600" marR="101600" marT="38100" marB="38100" anchor="ctr">
                    <a:solidFill>
                      <a:srgbClr val="FFFFFF"/>
                    </a:solidFill>
                  </a:tcPr>
                </a:tc>
              </a:tr>
              <a:tr h="318008">
                <a:tc>
                  <a:txBody>
                    <a:bodyPr/>
                    <a:lstStyle/>
                    <a:p>
                      <a:r>
                        <a:rPr sz="1100" b="0" i="0">
                          <a:solidFill>
                            <a:srgbClr val="1A1440"/>
                          </a:solidFill>
                          <a:latin typeface="Calibri"/>
                        </a:rPr>
                        <a:t>4. How many customers?</a:t>
                      </a:r>
                    </a:p>
                  </a:txBody>
                  <a:tcPr marL="101600" marR="101600" marT="38100" marB="38100" anchor="ctr">
                    <a:solidFill>
                      <a:srgbClr val="F4F2FA"/>
                    </a:solidFill>
                  </a:tcPr>
                </a:tc>
                <a:tc>
                  <a:txBody>
                    <a:bodyPr/>
                    <a:lstStyle/>
                    <a:p>
                      <a:r>
                        <a:rPr sz="1100" b="0" i="0">
                          <a:solidFill>
                            <a:srgbClr val="1A1440"/>
                          </a:solidFill>
                          <a:latin typeface="Calibri"/>
                        </a:rPr>
                        <a:t>244, then 227; count(*) said 538 and 462</a:t>
                      </a:r>
                    </a:p>
                  </a:txBody>
                  <a:tcPr marL="101600" marR="101600" marT="38100" marB="38100" anchor="ctr">
                    <a:solidFill>
                      <a:srgbClr val="F4F2FA"/>
                    </a:solidFill>
                  </a:tcPr>
                </a:tc>
              </a:tr>
              <a:tr h="318008">
                <a:tc>
                  <a:txBody>
                    <a:bodyPr/>
                    <a:lstStyle/>
                    <a:p>
                      <a:r>
                        <a:rPr sz="1100" b="0" i="0">
                          <a:solidFill>
                            <a:srgbClr val="1A1440"/>
                          </a:solidFill>
                          <a:latin typeface="Calibri"/>
                        </a:rPr>
                        <a:t>5. Does Python agree?</a:t>
                      </a:r>
                    </a:p>
                  </a:txBody>
                  <a:tcPr marL="101600" marR="101600" marT="38100" marB="38100" anchor="ctr">
                    <a:solidFill>
                      <a:srgbClr val="FFFFFF"/>
                    </a:solidFill>
                  </a:tcPr>
                </a:tc>
                <a:tc>
                  <a:txBody>
                    <a:bodyPr/>
                    <a:lstStyle/>
                    <a:p>
                      <a:r>
                        <a:rPr sz="1100" b="0" i="0">
                          <a:solidFill>
                            <a:srgbClr val="1A1440"/>
                          </a:solidFill>
                          <a:latin typeface="Calibri"/>
                        </a:rPr>
                        <a:t>Yes, on every leaf, after moving 1,000 rows</a:t>
                      </a:r>
                    </a:p>
                  </a:txBody>
                  <a:tcPr marL="101600" marR="101600" marT="38100" marB="38100" anchor="ctr">
                    <a:solidFill>
                      <a:srgbClr val="FFFFFF"/>
                    </a:solidFill>
                  </a:tcPr>
                </a:tc>
              </a:tr>
            </a:tbl>
          </a:graphicData>
        </a:graphic>
      </p:graphicFrame>
      <p:sp>
        <p:nvSpPr>
          <p:cNvPr id="10" name="Rounded Rectangle 9"/>
          <p:cNvSpPr/>
          <p:nvPr/>
        </p:nvSpPr>
        <p:spPr>
          <a:xfrm>
            <a:off x="530352" y="395732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0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0192"/>
            <a:ext cx="237744" cy="237744"/>
          </a:xfrm>
          <a:prstGeom prst="rect">
            <a:avLst/>
          </a:prstGeom>
        </p:spPr>
      </p:pic>
      <p:sp>
        <p:nvSpPr>
          <p:cNvPr id="13" name="TextBox 12"/>
          <p:cNvSpPr txBox="1"/>
          <p:nvPr/>
        </p:nvSpPr>
        <p:spPr>
          <a:xfrm>
            <a:off x="1399031" y="4103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23080"/>
            <a:ext cx="9987991" cy="544576"/>
          </a:xfrm>
          <a:prstGeom prst="rect">
            <a:avLst/>
          </a:prstGeom>
          <a:noFill/>
        </p:spPr>
        <p:txBody>
          <a:bodyPr wrap="square" anchor="t" lIns="0" rIns="0" tIns="0" bIns="0">
            <a:spAutoFit/>
          </a:bodyPr>
          <a:lstStyle/>
          <a:p>
            <a:r>
              <a:rPr sz="1100" b="0" i="0">
                <a:solidFill>
                  <a:srgbClr val="1A1440"/>
                </a:solidFill>
                <a:latin typeface="Calibri"/>
              </a:rPr>
              <a:t>Every count says what it counts, in its name and in the comment above it. Customers on Anand's sheet are customers who bought in the quarter, each counted once, and a count named customers that counts rows is the first thing an auditor finds.</a:t>
            </a:r>
          </a:p>
        </p:txBody>
      </p:sp>
      <p:sp>
        <p:nvSpPr>
          <p:cNvPr id="15" name="Rounded Rectangle 14"/>
          <p:cNvSpPr/>
          <p:nvPr/>
        </p:nvSpPr>
        <p:spPr>
          <a:xfrm>
            <a:off x="530352" y="510540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2517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71160"/>
            <a:ext cx="9987991" cy="544576"/>
          </a:xfrm>
          <a:prstGeom prst="rect">
            <a:avLst/>
          </a:prstGeom>
          <a:noFill/>
        </p:spPr>
        <p:txBody>
          <a:bodyPr wrap="square" anchor="t" lIns="0" rIns="0" tIns="0" bIns="0">
            <a:spAutoFit/>
          </a:bodyPr>
          <a:lstStyle/>
          <a:p>
            <a:r>
              <a:rPr sz="1100" b="0" i="0">
                <a:solidFill>
                  <a:srgbClr val="1A1440"/>
                </a:solidFill>
                <a:latin typeface="Calibri"/>
              </a:rPr>
              <a:t>[F] Why would you compute a KPI in the warehouse rather than in a notebook? [F] What do count(*), count(customer_id) and count(DISTINCT customer_id) each count?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77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Same story as Week 1?</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warehouse tell the same story as the file Meera's decision rested on?</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77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Anand signs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wants to know which story the sheet signs for, and Meera parked a Rs 12 crore acquisition request on last week's finding that customers held steady while each ordered less often. If the book tells a different story and nobody says so, that decision stays parked on a number the warehouse does not support.</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Compare how?</a:t>
            </a:r>
          </a:p>
        </p:txBody>
      </p:sp>
      <p:sp>
        <p:nvSpPr>
          <p:cNvPr id="17" name="TextBox 16"/>
          <p:cNvSpPr txBox="1"/>
          <p:nvPr/>
        </p:nvSpPr>
        <p:spPr>
          <a:xfrm>
            <a:off x="69494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Two sources of different sizes</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Last week intact?</a:t>
            </a:r>
          </a:p>
        </p:txBody>
      </p:sp>
      <p:sp>
        <p:nvSpPr>
          <p:cNvPr id="22" name="TextBox 21"/>
          <p:cNvSpPr txBox="1"/>
          <p:nvPr/>
        </p:nvSpPr>
        <p:spPr>
          <a:xfrm>
            <a:off x="2580589"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extract recomputed from its file</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leaves agree?</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read as a change, Q1 to Q2</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Customers too?</a:t>
            </a:r>
          </a:p>
        </p:txBody>
      </p:sp>
      <p:sp>
        <p:nvSpPr>
          <p:cNvPr id="32" name="TextBox 31"/>
          <p:cNvSpPr txBox="1"/>
          <p:nvPr/>
        </p:nvSpPr>
        <p:spPr>
          <a:xfrm>
            <a:off x="6351879"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leaf the decision rested on</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Where did 17 go?</a:t>
            </a:r>
          </a:p>
        </p:txBody>
      </p:sp>
      <p:sp>
        <p:nvSpPr>
          <p:cNvPr id="37" name="TextBox 36"/>
          <p:cNvSpPr txBox="1"/>
          <p:nvPr/>
        </p:nvSpPr>
        <p:spPr>
          <a:xfrm>
            <a:off x="823752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customer change, built another way</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goes on the sheet?</a:t>
            </a:r>
          </a:p>
        </p:txBody>
      </p:sp>
      <p:sp>
        <p:nvSpPr>
          <p:cNvPr id="42" name="TextBox 41"/>
          <p:cNvSpPr txBox="1"/>
          <p:nvPr/>
        </p:nvSpPr>
        <p:spPr>
          <a:xfrm>
            <a:off x="10123170" y="49982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line about last week's note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5" name="Oval 4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51" name="Oval 5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story the sheet signs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compared, and what does a wrong story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then Meera</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Anand signs the sheet; Meera's parked decision rests on last week's branch story.</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Every leaf, as a change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orders, customers, orders per customer and revenue per order, Q1 to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STORY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parked Rs 12 crore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decision stays parked on a finding the book does not show, and the next number is doubted.</a:t>
            </a:r>
          </a:p>
        </p:txBody>
      </p:sp>
      <p:sp>
        <p:nvSpPr>
          <p:cNvPr id="27" name="Rounded Rectangle 26"/>
          <p:cNvSpPr/>
          <p:nvPr/>
        </p:nvSpPr>
        <p:spPr>
          <a:xfrm>
            <a:off x="530352" y="4294124"/>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86384" y="4294124"/>
            <a:ext cx="10820095" cy="467359"/>
          </a:xfrm>
          <a:prstGeom prst="rect">
            <a:avLst/>
          </a:prstGeom>
          <a:noFill/>
        </p:spPr>
        <p:txBody>
          <a:bodyPr wrap="square" anchor="t" lIns="0" rIns="0" tIns="0" bIns="0">
            <a:spAutoFit/>
          </a:bodyPr>
          <a:lstStyle/>
          <a:p>
            <a:r>
              <a:rPr sz="1600" b="0" i="1">
                <a:solidFill>
                  <a:srgbClr val="1A0F5C"/>
                </a:solidFill>
                <a:latin typeface="Georgia"/>
              </a:rPr>
              <a:t>"Before your numbers go in my book, show me they match the ones you gave Meera."</a:t>
            </a:r>
          </a:p>
        </p:txBody>
      </p:sp>
      <p:sp>
        <p:nvSpPr>
          <p:cNvPr id="29" name="Rounded Rectangle 28"/>
          <p:cNvSpPr/>
          <p:nvPr/>
        </p:nvSpPr>
        <p:spPr>
          <a:xfrm>
            <a:off x="530352" y="4907788"/>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4907788"/>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Airbnb: two teams, one question,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seen two sources answer one question differently?</a:t>
            </a:r>
          </a:p>
        </p:txBody>
      </p:sp>
      <p:sp>
        <p:nvSpPr>
          <p:cNvPr id="9" name="Rounded Rectangle 8"/>
          <p:cNvSpPr/>
          <p:nvPr/>
        </p:nvSpPr>
        <p:spPr>
          <a:xfrm>
            <a:off x="530352" y="168249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751840"/>
          </a:xfrm>
          <a:prstGeom prst="rect">
            <a:avLst/>
          </a:prstGeom>
          <a:noFill/>
        </p:spPr>
        <p:txBody>
          <a:bodyPr wrap="square" anchor="t" lIns="0" rIns="0" tIns="0" bIns="0">
            <a:spAutoFit/>
          </a:bodyPr>
          <a:lstStyle/>
          <a:p>
            <a:r>
              <a:rPr sz="1600" b="0" i="1">
                <a:solidFill>
                  <a:srgbClr val="1A0F5C"/>
                </a:solidFill>
                <a:latin typeface="Georgia"/>
              </a:rPr>
              <a:t>"Data Science and Finance would sometimes provide diverging answers using slightly different tables, metric definitions, and business logic"</a:t>
            </a:r>
          </a:p>
        </p:txBody>
      </p:sp>
      <p:sp>
        <p:nvSpPr>
          <p:cNvPr id="11" name="Rounded Rectangle 10"/>
          <p:cNvSpPr/>
          <p:nvPr/>
        </p:nvSpPr>
        <p:spPr>
          <a:xfrm>
            <a:off x="530352" y="258064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580640"/>
            <a:ext cx="10820095" cy="467359"/>
          </a:xfrm>
          <a:prstGeom prst="rect">
            <a:avLst/>
          </a:prstGeom>
          <a:noFill/>
        </p:spPr>
        <p:txBody>
          <a:bodyPr wrap="square" anchor="t" lIns="0" rIns="0" tIns="0" bIns="0">
            <a:spAutoFit/>
          </a:bodyPr>
          <a:lstStyle/>
          <a:p>
            <a:r>
              <a:rPr sz="1600" b="0" i="1">
                <a:solidFill>
                  <a:srgbClr val="1A0F5C"/>
                </a:solidFill>
                <a:latin typeface="Georgia"/>
              </a:rPr>
              <a:t>The Airbnb Tech Blog, "How Airbnb achieved metric consistency at scale", 30 April 2021</a:t>
            </a:r>
          </a:p>
        </p:txBody>
      </p:sp>
      <p:pic>
        <p:nvPicPr>
          <p:cNvPr id="13" name="mermaid diagram" descr="5a8ad217a52115e6.png"/>
          <p:cNvPicPr>
            <a:picLocks noChangeAspect="1"/>
          </p:cNvPicPr>
          <p:nvPr/>
        </p:nvPicPr>
        <p:blipFill>
          <a:blip r:embed="rId5"/>
          <a:stretch>
            <a:fillRect/>
          </a:stretch>
        </p:blipFill>
        <p:spPr>
          <a:xfrm>
            <a:off x="2201619" y="3194304"/>
            <a:ext cx="7788455" cy="3005328"/>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6" name="Oval 1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0" name="Oval 1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2" name="Oval 21"/>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leaf as a change; the files share no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two sources of different sizes be compared fairly?</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3697486"/>
                <a:gridCol w="2387451"/>
                <a:gridCol w="5046052"/>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touches here</a:t>
                      </a:r>
                    </a:p>
                  </a:txBody>
                  <a:tcPr marL="101600" marR="101600" marT="38100" marB="38100" anchor="ctr">
                    <a:solidFill>
                      <a:srgbClr val="1A0F5C"/>
                    </a:solidFill>
                  </a:tcPr>
                </a:tc>
                <a:tc>
                  <a:txBody>
                    <a:bodyPr/>
                    <a:lstStyle/>
                    <a:p>
                      <a:r>
                        <a:rPr sz="1450" b="1" i="0">
                          <a:solidFill>
                            <a:srgbClr val="FFFFFF"/>
                          </a:solidFill>
                          <a:latin typeface="Calibri"/>
                        </a:rPr>
                        <a:t>What it can catch</a:t>
                      </a:r>
                    </a:p>
                  </a:txBody>
                  <a:tcPr marL="101600" marR="101600" marT="38100" marB="38100" anchor="ctr">
                    <a:solidFill>
                      <a:srgbClr val="1A0F5C"/>
                    </a:solidFill>
                  </a:tcPr>
                </a:tc>
              </a:tr>
              <a:tr h="369824">
                <a:tc>
                  <a:txBody>
                    <a:bodyPr/>
                    <a:lstStyle/>
                    <a:p>
                      <a:r>
                        <a:rPr sz="1400" b="0" i="0">
                          <a:solidFill>
                            <a:srgbClr val="1A1440"/>
                          </a:solidFill>
                          <a:latin typeface="Calibri"/>
                        </a:rPr>
                        <a:t>A. The two totals</a:t>
                      </a:r>
                    </a:p>
                  </a:txBody>
                  <a:tcPr marL="101600" marR="101600" marT="38100" marB="38100" anchor="ctr">
                    <a:solidFill>
                      <a:srgbClr val="FFFFFF"/>
                    </a:solidFill>
                  </a:tcPr>
                </a:tc>
                <a:tc>
                  <a:txBody>
                    <a:bodyPr/>
                    <a:lstStyle/>
                    <a:p>
                      <a:r>
                        <a:rPr sz="1400" b="0" i="0">
                          <a:solidFill>
                            <a:srgbClr val="1A1440"/>
                          </a:solidFill>
                          <a:latin typeface="Calibri"/>
                        </a:rPr>
                        <a:t>4 numbers</a:t>
                      </a:r>
                    </a:p>
                  </a:txBody>
                  <a:tcPr marL="101600" marR="101600" marT="38100" marB="38100" anchor="ctr">
                    <a:solidFill>
                      <a:srgbClr val="FFFFFF"/>
                    </a:solidFill>
                  </a:tcPr>
                </a:tc>
                <a:tc>
                  <a:txBody>
                    <a:bodyPr/>
                    <a:lstStyle/>
                    <a:p>
                      <a:r>
                        <a:rPr sz="1400" b="0" i="0">
                          <a:solidFill>
                            <a:srgbClr val="1A1440"/>
                          </a:solidFill>
                          <a:latin typeface="Calibri"/>
                        </a:rPr>
                        <a:t>A different fall, and nothing else</a:t>
                      </a:r>
                    </a:p>
                  </a:txBody>
                  <a:tcPr marL="101600" marR="101600" marT="38100" marB="38100" anchor="ctr">
                    <a:solidFill>
                      <a:srgbClr val="FFFFFF"/>
                    </a:solidFill>
                  </a:tcPr>
                </a:tc>
              </a:tr>
              <a:tr h="369824">
                <a:tc>
                  <a:txBody>
                    <a:bodyPr/>
                    <a:lstStyle/>
                    <a:p>
                      <a:r>
                        <a:rPr sz="1400" b="0" i="0">
                          <a:solidFill>
                            <a:srgbClr val="1A1440"/>
                          </a:solidFill>
                          <a:latin typeface="Calibri"/>
                        </a:rPr>
                        <a:t>B. Every leaf, as a change Q1 to Q2</a:t>
                      </a:r>
                    </a:p>
                  </a:txBody>
                  <a:tcPr marL="101600" marR="101600" marT="38100" marB="38100" anchor="ctr">
                    <a:solidFill>
                      <a:srgbClr val="F4F2FA"/>
                    </a:solidFill>
                  </a:tcPr>
                </a:tc>
                <a:tc>
                  <a:txBody>
                    <a:bodyPr/>
                    <a:lstStyle/>
                    <a:p>
                      <a:r>
                        <a:rPr sz="1400" b="0" i="0">
                          <a:solidFill>
                            <a:srgbClr val="1A1440"/>
                          </a:solidFill>
                          <a:latin typeface="Calibri"/>
                        </a:rPr>
                        <a:t>20 numbers</a:t>
                      </a:r>
                    </a:p>
                  </a:txBody>
                  <a:tcPr marL="101600" marR="101600" marT="38100" marB="38100" anchor="ctr">
                    <a:solidFill>
                      <a:srgbClr val="F4F2FA"/>
                    </a:solidFill>
                  </a:tcPr>
                </a:tc>
                <a:tc>
                  <a:txBody>
                    <a:bodyPr/>
                    <a:lstStyle/>
                    <a:p>
                      <a:r>
                        <a:rPr sz="1400" b="0" i="0">
                          <a:solidFill>
                            <a:srgbClr val="1A1440"/>
                          </a:solidFill>
                          <a:latin typeface="Calibri"/>
                        </a:rPr>
                        <a:t>Any branch that moved differently</a:t>
                      </a:r>
                    </a:p>
                  </a:txBody>
                  <a:tcPr marL="101600" marR="101600" marT="38100" marB="38100" anchor="ctr">
                    <a:solidFill>
                      <a:srgbClr val="F4F2FA"/>
                    </a:solidFill>
                  </a:tcPr>
                </a:tc>
              </a:tr>
              <a:tr h="369824">
                <a:tc>
                  <a:txBody>
                    <a:bodyPr/>
                    <a:lstStyle/>
                    <a:p>
                      <a:r>
                        <a:rPr sz="1400" b="0" i="0">
                          <a:solidFill>
                            <a:srgbClr val="1A1440"/>
                          </a:solidFill>
                          <a:latin typeface="Calibri"/>
                        </a:rPr>
                        <a:t>C. Order by order, on the order id</a:t>
                      </a:r>
                    </a:p>
                  </a:txBody>
                  <a:tcPr marL="101600" marR="101600" marT="38100" marB="38100" anchor="ctr">
                    <a:solidFill>
                      <a:srgbClr val="FFFFFF"/>
                    </a:solidFill>
                  </a:tcPr>
                </a:tc>
                <a:tc>
                  <a:txBody>
                    <a:bodyPr/>
                    <a:lstStyle/>
                    <a:p>
                      <a:r>
                        <a:rPr sz="1400" b="0" i="0">
                          <a:solidFill>
                            <a:srgbClr val="1A1440"/>
                          </a:solidFill>
                          <a:latin typeface="Calibri"/>
                        </a:rPr>
                        <a:t>186 lookups, 0 found</a:t>
                      </a:r>
                    </a:p>
                  </a:txBody>
                  <a:tcPr marL="101600" marR="101600" marT="38100" marB="38100" anchor="ctr">
                    <a:solidFill>
                      <a:srgbClr val="FFFFFF"/>
                    </a:solidFill>
                  </a:tcPr>
                </a:tc>
                <a:tc>
                  <a:txBody>
                    <a:bodyPr/>
                    <a:lstStyle/>
                    <a:p>
                      <a:r>
                        <a:rPr sz="1400" b="0" i="0">
                          <a:solidFill>
                            <a:srgbClr val="1A1440"/>
                          </a:solidFill>
                          <a:latin typeface="Calibri"/>
                        </a:rPr>
                        <a:t>Nothing: the sources share no order or customer id</a:t>
                      </a:r>
                    </a:p>
                  </a:txBody>
                  <a:tcPr marL="101600" marR="101600" marT="38100" marB="38100" anchor="ctr">
                    <a:solidFill>
                      <a:srgbClr val="FFFFFF"/>
                    </a:solidFill>
                  </a:tcPr>
                </a:tc>
              </a:tr>
              <a:tr h="369824">
                <a:tc>
                  <a:txBody>
                    <a:bodyPr/>
                    <a:lstStyle/>
                    <a:p>
                      <a:r>
                        <a:rPr sz="1400" b="0" i="0">
                          <a:solidFill>
                            <a:srgbClr val="1A1440"/>
                          </a:solidFill>
                          <a:latin typeface="Calibri"/>
                        </a:rPr>
                        <a:t>D. Last week's notebook on an export</a:t>
                      </a:r>
                    </a:p>
                  </a:txBody>
                  <a:tcPr marL="101600" marR="101600" marT="38100" marB="38100" anchor="ctr">
                    <a:solidFill>
                      <a:srgbClr val="F4F2FA"/>
                    </a:solidFill>
                  </a:tcPr>
                </a:tc>
                <a:tc>
                  <a:txBody>
                    <a:bodyPr/>
                    <a:lstStyle/>
                    <a:p>
                      <a:r>
                        <a:rPr sz="1400" b="0" i="0">
                          <a:solidFill>
                            <a:srgbClr val="1A1440"/>
                          </a:solidFill>
                          <a:latin typeface="Calibri"/>
                        </a:rPr>
                        <a:t>1,340 rows exported</a:t>
                      </a:r>
                    </a:p>
                  </a:txBody>
                  <a:tcPr marL="101600" marR="101600" marT="38100" marB="38100" anchor="ctr">
                    <a:solidFill>
                      <a:srgbClr val="F4F2FA"/>
                    </a:solidFill>
                  </a:tcPr>
                </a:tc>
                <a:tc>
                  <a:txBody>
                    <a:bodyPr/>
                    <a:lstStyle/>
                    <a:p>
                      <a:r>
                        <a:rPr sz="1400" b="0" i="0">
                          <a:solidFill>
                            <a:srgbClr val="1A1440"/>
                          </a:solidFill>
                          <a:latin typeface="Calibri"/>
                        </a:rPr>
                        <a:t>Ruled out by the platform lead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 change survives a five-fold difference in size. </a:t>
            </a:r>
            <a:r>
              <a:rPr sz="1500" b="1" i="0">
                <a:solidFill>
                  <a:srgbClr val="1A1440"/>
                </a:solidFill>
                <a:latin typeface="Calibri"/>
              </a:rPr>
              <a:t>What would change it:</a:t>
            </a:r>
            <a:r>
              <a:rPr sz="1500" b="0" i="0">
                <a:solidFill>
                  <a:srgbClr val="1A1440"/>
                </a:solidFill>
                <a:latin typeface="Calibri"/>
              </a:rPr>
              <a:t> shared order ids would let C prove or disprove every order, and C would win.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69 bought in both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last week's file still give last week's numbers, and who is in it?</a:t>
            </a:r>
          </a:p>
        </p:txBody>
      </p:sp>
      <p:pic>
        <p:nvPicPr>
          <p:cNvPr id="9" name="mermaid diagram" descr="65120c2eba49f11e.png"/>
          <p:cNvPicPr>
            <a:picLocks noChangeAspect="1"/>
          </p:cNvPicPr>
          <p:nvPr/>
        </p:nvPicPr>
        <p:blipFill>
          <a:blip r:embed="rId5"/>
          <a:stretch>
            <a:fillRect/>
          </a:stretch>
        </p:blipFill>
        <p:spPr>
          <a:xfrm>
            <a:off x="2152497" y="1956816"/>
            <a:ext cx="78867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extract's 69 customers bought in both quarters? a) all 69; b) about half, 35; c) none, since each quarter held different customers; d) it cannot be counted from one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69, and last week's numbers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last week's file still give last week's numbers?</a:t>
            </a:r>
          </a:p>
        </p:txBody>
      </p:sp>
      <p:sp>
        <p:nvSpPr>
          <p:cNvPr id="9" name="TextBox 8"/>
          <p:cNvSpPr txBox="1"/>
          <p:nvPr/>
        </p:nvSpPr>
        <p:spPr>
          <a:xfrm>
            <a:off x="53035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186</a:t>
            </a:r>
          </a:p>
        </p:txBody>
      </p:sp>
      <p:sp>
        <p:nvSpPr>
          <p:cNvPr id="10" name="TextBox 9"/>
          <p:cNvSpPr txBox="1"/>
          <p:nvPr/>
        </p:nvSpPr>
        <p:spPr>
          <a:xfrm>
            <a:off x="53035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1" name="TextBox 10"/>
          <p:cNvSpPr txBox="1"/>
          <p:nvPr/>
        </p:nvSpPr>
        <p:spPr>
          <a:xfrm>
            <a:off x="53035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100 in Q1, 86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Rs 1.90 cr to 1.87 cr</a:t>
            </a:r>
          </a:p>
        </p:txBody>
      </p:sp>
      <p:sp>
        <p:nvSpPr>
          <p:cNvPr id="14" name="TextBox 13"/>
          <p:cNvSpPr txBox="1"/>
          <p:nvPr/>
        </p:nvSpPr>
        <p:spPr>
          <a:xfrm>
            <a:off x="433212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REVENUE</a:t>
            </a:r>
          </a:p>
        </p:txBody>
      </p:sp>
      <p:sp>
        <p:nvSpPr>
          <p:cNvPr id="15" name="TextBox 14"/>
          <p:cNvSpPr txBox="1"/>
          <p:nvPr/>
        </p:nvSpPr>
        <p:spPr>
          <a:xfrm>
            <a:off x="433212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down 1.6%, as the note said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69 of 69</a:t>
            </a:r>
          </a:p>
        </p:txBody>
      </p:sp>
      <p:sp>
        <p:nvSpPr>
          <p:cNvPr id="18" name="TextBox 17"/>
          <p:cNvSpPr txBox="1"/>
          <p:nvPr/>
        </p:nvSpPr>
        <p:spPr>
          <a:xfrm>
            <a:off x="813389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IN BOTH QUARTERS</a:t>
            </a:r>
          </a:p>
        </p:txBody>
      </p:sp>
      <p:sp>
        <p:nvSpPr>
          <p:cNvPr id="19" name="TextBox 18"/>
          <p:cNvSpPr txBox="1"/>
          <p:nvPr/>
        </p:nvSpPr>
        <p:spPr>
          <a:xfrm>
            <a:off x="813389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customer, both times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file reproduces what Meera was told, so the comparison starts from last week's numbers, recomputed.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other leaves agree within a point?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fell 1.6 percent in both sources: how many of the other four leaves agree to within a point?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count(DISTINCT customer_id) AS customers,</a:t>
            </a:r>
          </a:p>
          <a:p>
            <a:pPr>
              <a:spcAft>
                <a:spcPts val="200"/>
              </a:spcAft>
            </a:pPr>
            <a:r>
              <a:rPr sz="1400" b="0" i="0">
                <a:solidFill>
                  <a:srgbClr val="E4E1F1"/>
                </a:solidFill>
                <a:latin typeface="Consolas"/>
              </a:rPr>
              <a:t>       count(*) AS orders, sum(amount) AS revenue</a:t>
            </a:r>
          </a:p>
          <a:p>
            <a:pPr>
              <a:spcAft>
                <a:spcPts val="200"/>
              </a:spcAft>
            </a:pPr>
            <a:r>
              <a:rPr sz="1400" b="0" i="0">
                <a:solidFill>
                  <a:srgbClr val="E4E1F1"/>
                </a:solidFill>
                <a:latin typeface="Consolas"/>
              </a:rPr>
              <a:t>FROM   orders GROUP BY quarter ORDER BY quarter;</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other four leaves agree to within a point? a) all four; b) two, orders and revenue per order; c) one; d) none, since the sources share no record.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agree, and the customer leaves 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leaves agree once each is read as a change from Q1 to Q2?</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3198280"/>
                <a:gridCol w="3377969"/>
                <a:gridCol w="2434599"/>
                <a:gridCol w="2120142"/>
              </a:tblGrid>
              <a:tr h="335280">
                <a:tc>
                  <a:txBody>
                    <a:bodyPr/>
                    <a:lstStyle/>
                    <a:p>
                      <a:r>
                        <a:rPr sz="1250" b="1" i="0">
                          <a:solidFill>
                            <a:srgbClr val="FFFFFF"/>
                          </a:solidFill>
                          <a:latin typeface="Calibri"/>
                        </a:rPr>
                        <a:t>Leaf</a:t>
                      </a:r>
                    </a:p>
                  </a:txBody>
                  <a:tcPr marL="101600" marR="101600" marT="38100" marB="38100" anchor="ctr">
                    <a:solidFill>
                      <a:srgbClr val="1A0F5C"/>
                    </a:solidFill>
                  </a:tcPr>
                </a:tc>
                <a:tc>
                  <a:txBody>
                    <a:bodyPr/>
                    <a:lstStyle/>
                    <a:p>
                      <a:r>
                        <a:rPr sz="1250" b="1" i="0">
                          <a:solidFill>
                            <a:srgbClr val="FFFFFF"/>
                          </a:solidFill>
                          <a:latin typeface="Calibri"/>
                        </a:rPr>
                        <a:t>Last week's extract</a:t>
                      </a:r>
                    </a:p>
                  </a:txBody>
                  <a:tcPr marL="101600" marR="101600" marT="38100" marB="38100" anchor="ctr">
                    <a:solidFill>
                      <a:srgbClr val="1A0F5C"/>
                    </a:solidFill>
                  </a:tcPr>
                </a:tc>
                <a:tc>
                  <a:txBody>
                    <a:bodyPr/>
                    <a:lstStyle/>
                    <a:p>
                      <a:r>
                        <a:rPr sz="1250" b="1" i="0">
                          <a:solidFill>
                            <a:srgbClr val="FFFFFF"/>
                          </a:solidFill>
                          <a:latin typeface="Calibri"/>
                        </a:rPr>
                        <a:t>The warehouse</a:t>
                      </a:r>
                    </a:p>
                  </a:txBody>
                  <a:tcPr marL="101600" marR="101600" marT="38100" marB="38100" anchor="ctr">
                    <a:solidFill>
                      <a:srgbClr val="1A0F5C"/>
                    </a:solidFill>
                  </a:tcPr>
                </a:tc>
                <a:tc>
                  <a:txBody>
                    <a:bodyPr/>
                    <a:lstStyle/>
                    <a:p>
                      <a:r>
                        <a:rPr sz="1250" b="1" i="0">
                          <a:solidFill>
                            <a:srgbClr val="FFFFFF"/>
                          </a:solidFill>
                          <a:latin typeface="Calibri"/>
                        </a:rPr>
                        <a:t>Gap, points</a:t>
                      </a:r>
                    </a:p>
                  </a:txBody>
                  <a:tcPr marL="101600" marR="101600" marT="38100" marB="38100" anchor="ctr">
                    <a:solidFill>
                      <a:srgbClr val="1A0F5C"/>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Orders</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c>
                  <a:txBody>
                    <a:bodyPr/>
                    <a:lstStyle/>
                    <a:p>
                      <a:r>
                        <a:rPr sz="1200" b="0" i="0">
                          <a:solidFill>
                            <a:srgbClr val="1A1440"/>
                          </a:solidFill>
                          <a:latin typeface="Calibri"/>
                        </a:rPr>
                        <a:t>-14.1%</a:t>
                      </a:r>
                    </a:p>
                  </a:txBody>
                  <a:tcPr marL="101600" marR="101600" marT="38100" marB="38100" anchor="ctr">
                    <a:solidFill>
                      <a:srgbClr val="F4F2FA"/>
                    </a:solidFill>
                  </a:tcPr>
                </a:tc>
                <a:tc>
                  <a:txBody>
                    <a:bodyPr/>
                    <a:lstStyle/>
                    <a:p>
                      <a:r>
                        <a:rPr sz="1200" b="0" i="0">
                          <a:solidFill>
                            <a:srgbClr val="1A1440"/>
                          </a:solidFill>
                          <a:latin typeface="Calibri"/>
                        </a:rPr>
                        <a:t>-0.1</a:t>
                      </a:r>
                    </a:p>
                  </a:txBody>
                  <a:tcPr marL="101600" marR="101600" marT="38100" marB="38100" anchor="ctr">
                    <a:solidFill>
                      <a:srgbClr val="F4F2FA"/>
                    </a:solidFill>
                  </a:tcPr>
                </a:tc>
              </a:tr>
              <a:tr h="335280">
                <a:tc>
                  <a:txBody>
                    <a:bodyPr/>
                    <a:lstStyle/>
                    <a:p>
                      <a:r>
                        <a:rPr sz="1200" b="0" i="0">
                          <a:solidFill>
                            <a:srgbClr val="1A1440"/>
                          </a:solidFill>
                          <a:latin typeface="Calibri"/>
                        </a:rPr>
                        <a:t>Customers who bought</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c>
                  <a:txBody>
                    <a:bodyPr/>
                    <a:lstStyle/>
                    <a:p>
                      <a:r>
                        <a:rPr sz="1200" b="0" i="0">
                          <a:solidFill>
                            <a:srgbClr val="1A1440"/>
                          </a:solidFill>
                          <a:latin typeface="Calibri"/>
                        </a:rPr>
                        <a:t>-7.0%</a:t>
                      </a:r>
                    </a:p>
                  </a:txBody>
                  <a:tcPr marL="101600" marR="101600" marT="38100" marB="38100" anchor="ctr">
                    <a:solidFill>
                      <a:srgbClr val="FFFFFF"/>
                    </a:solidFill>
                  </a:tcPr>
                </a:tc>
                <a:tc>
                  <a:txBody>
                    <a:bodyPr/>
                    <a:lstStyle/>
                    <a:p>
                      <a:r>
                        <a:rPr sz="1200" b="0" i="0">
                          <a:solidFill>
                            <a:srgbClr val="1A1440"/>
                          </a:solidFill>
                          <a:latin typeface="Calibri"/>
                        </a:rPr>
                        <a:t>-7.0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+6.3</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+14.4%</a:t>
                      </a:r>
                    </a:p>
                  </a:txBody>
                  <a:tcPr marL="101600" marR="101600" marT="38100" marB="38100" anchor="ctr">
                    <a:solidFill>
                      <a:srgbClr val="FFFFFF"/>
                    </a:solidFill>
                  </a:tcPr>
                </a:tc>
                <a:tc>
                  <a:txBody>
                    <a:bodyPr/>
                    <a:lstStyle/>
                    <a:p>
                      <a:r>
                        <a:rPr sz="1200" b="0" i="0">
                          <a:solidFill>
                            <a:srgbClr val="1A1440"/>
                          </a:solidFill>
                          <a:latin typeface="Calibri"/>
                        </a:rPr>
                        <a:t>+14.6%</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TextBox 9"/>
          <p:cNvSpPr txBox="1"/>
          <p:nvPr/>
        </p:nvSpPr>
        <p:spPr>
          <a:xfrm>
            <a:off x="530352" y="4224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Revenue, orders and revenue per order agree to within half a point; customers and orders per customer do not.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77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held flat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sheet copies last week's customer leaf because the totals matched, what does it say?</a:t>
            </a:r>
          </a:p>
        </p:txBody>
      </p:sp>
      <p:pic>
        <p:nvPicPr>
          <p:cNvPr id="9" name="mermaid diagram" descr="d06495aeccb336fc.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"The warehouse confirms last week" carries last week's branch story onto the book, because one leaf matched.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77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trees multiply to one 0.984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the totals agree while the branches disagree?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2763477"/>
                <a:gridCol w="1631830"/>
                <a:gridCol w="3052732"/>
                <a:gridCol w="2768551"/>
                <a:gridCol w="914400"/>
              </a:tblGrid>
              <a:tr h="335280">
                <a:tc>
                  <a:txBody>
                    <a:bodyPr/>
                    <a:lstStyle/>
                    <a:p>
                      <a:r>
                        <a:rPr sz="1250" b="1" i="0">
                          <a:solidFill>
                            <a:srgbClr val="FFFFFF"/>
                          </a:solidFill>
                          <a:latin typeface="Calibri"/>
                        </a:rPr>
                        <a:t>Source</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Revenue per order</a:t>
                      </a:r>
                    </a:p>
                  </a:txBody>
                  <a:tcPr marL="101600" marR="101600" marT="38100" marB="38100" anchor="ctr">
                    <a:solidFill>
                      <a:srgbClr val="1A0F5C"/>
                    </a:solidFill>
                  </a:tcPr>
                </a:tc>
                <a:tc>
                  <a:txBody>
                    <a:bodyPr/>
                    <a:lstStyle/>
                    <a:p>
                      <a:r>
                        <a:rPr sz="1250" b="1" i="0">
                          <a:solidFill>
                            <a:srgbClr val="FFFFFF"/>
                          </a:solidFill>
                          <a:latin typeface="Calibri"/>
                        </a:rPr>
                        <a:t>Product</a:t>
                      </a:r>
                    </a:p>
                  </a:txBody>
                  <a:tcPr marL="101600" marR="101600" marT="38100" marB="38100" anchor="ctr">
                    <a:solidFill>
                      <a:srgbClr val="1A0F5C"/>
                    </a:solidFill>
                  </a:tcPr>
                </a:tc>
              </a:tr>
              <a:tr h="335280">
                <a:tc>
                  <a:txBody>
                    <a:bodyPr/>
                    <a:lstStyle/>
                    <a:p>
                      <a:r>
                        <a:rPr sz="1200" b="0" i="0">
                          <a:solidFill>
                            <a:srgbClr val="1A1440"/>
                          </a:solidFill>
                          <a:latin typeface="Calibri"/>
                        </a:rPr>
                        <a:t>Last week's extract</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0.860</a:t>
                      </a:r>
                    </a:p>
                  </a:txBody>
                  <a:tcPr marL="101600" marR="101600" marT="38100" marB="38100" anchor="ctr">
                    <a:solidFill>
                      <a:srgbClr val="FFFFFF"/>
                    </a:solidFill>
                  </a:tcPr>
                </a:tc>
                <a:tc>
                  <a:txBody>
                    <a:bodyPr/>
                    <a:lstStyle/>
                    <a:p>
                      <a:r>
                        <a:rPr sz="1200" b="0" i="0">
                          <a:solidFill>
                            <a:srgbClr val="1A1440"/>
                          </a:solidFill>
                          <a:latin typeface="Calibri"/>
                        </a:rPr>
                        <a:t>1.144</a:t>
                      </a:r>
                    </a:p>
                  </a:txBody>
                  <a:tcPr marL="101600" marR="101600" marT="38100" marB="38100" anchor="ctr">
                    <a:solidFill>
                      <a:srgbClr val="FFFFFF"/>
                    </a:solidFill>
                  </a:tcPr>
                </a:tc>
                <a:tc>
                  <a:txBody>
                    <a:bodyPr/>
                    <a:lstStyle/>
                    <a:p>
                      <a:r>
                        <a:rPr sz="1200" b="0" i="0">
                          <a:solidFill>
                            <a:srgbClr val="1A1440"/>
                          </a:solidFill>
                          <a:latin typeface="Calibri"/>
                        </a:rPr>
                        <a:t>0.984</a:t>
                      </a:r>
                    </a:p>
                  </a:txBody>
                  <a:tcPr marL="101600" marR="101600" marT="38100" marB="38100" anchor="ctr">
                    <a:solidFill>
                      <a:srgbClr val="FFFFFF"/>
                    </a:solidFill>
                  </a:tcPr>
                </a:tc>
              </a:tr>
              <a:tr h="335280">
                <a:tc>
                  <a:txBody>
                    <a:bodyPr/>
                    <a:lstStyle/>
                    <a:p>
                      <a:r>
                        <a:rPr sz="1200" b="0" i="0">
                          <a:solidFill>
                            <a:srgbClr val="1A1440"/>
                          </a:solidFill>
                          <a:latin typeface="Calibri"/>
                        </a:rPr>
                        <a:t>The warehouse</a:t>
                      </a:r>
                    </a:p>
                  </a:txBody>
                  <a:tcPr marL="101600" marR="101600" marT="38100" marB="38100" anchor="ctr">
                    <a:solidFill>
                      <a:srgbClr val="F4F2FA"/>
                    </a:solidFill>
                  </a:tcPr>
                </a:tc>
                <a:tc>
                  <a:txBody>
                    <a:bodyPr/>
                    <a:lstStyle/>
                    <a:p>
                      <a:r>
                        <a:rPr sz="1200" b="0" i="0">
                          <a:solidFill>
                            <a:srgbClr val="1A1440"/>
                          </a:solidFill>
                          <a:latin typeface="Calibri"/>
                        </a:rPr>
                        <a:t>0.930</a:t>
                      </a:r>
                    </a:p>
                  </a:txBody>
                  <a:tcPr marL="101600" marR="101600" marT="38100" marB="38100" anchor="ctr">
                    <a:solidFill>
                      <a:srgbClr val="F4F2FA"/>
                    </a:solidFill>
                  </a:tcPr>
                </a:tc>
                <a:tc>
                  <a:txBody>
                    <a:bodyPr/>
                    <a:lstStyle/>
                    <a:p>
                      <a:r>
                        <a:rPr sz="1200" b="0" i="0">
                          <a:solidFill>
                            <a:srgbClr val="1A1440"/>
                          </a:solidFill>
                          <a:latin typeface="Calibri"/>
                        </a:rPr>
                        <a:t>0.923</a:t>
                      </a:r>
                    </a:p>
                  </a:txBody>
                  <a:tcPr marL="101600" marR="101600" marT="38100" marB="38100" anchor="ctr">
                    <a:solidFill>
                      <a:srgbClr val="F4F2FA"/>
                    </a:solidFill>
                  </a:tcPr>
                </a:tc>
                <a:tc>
                  <a:txBody>
                    <a:bodyPr/>
                    <a:lstStyle/>
                    <a:p>
                      <a:r>
                        <a:rPr sz="1200" b="0" i="0">
                          <a:solidFill>
                            <a:srgbClr val="1A1440"/>
                          </a:solidFill>
                          <a:latin typeface="Calibri"/>
                        </a:rPr>
                        <a:t>1.146</a:t>
                      </a:r>
                    </a:p>
                  </a:txBody>
                  <a:tcPr marL="101600" marR="101600" marT="38100" marB="38100" anchor="ctr">
                    <a:solidFill>
                      <a:srgbClr val="F4F2FA"/>
                    </a:solidFill>
                  </a:tcPr>
                </a:tc>
                <a:tc>
                  <a:txBody>
                    <a:bodyPr/>
                    <a:lstStyle/>
                    <a:p>
                      <a:r>
                        <a:rPr sz="1200" b="0" i="0">
                          <a:solidFill>
                            <a:srgbClr val="1A1440"/>
                          </a:solidFill>
                          <a:latin typeface="Calibri"/>
                        </a:rPr>
                        <a:t>0.984</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who bought in both quarters: 69 of 69 in the extract, 170 of 301 in the book. The extract held only customers present in both quarters, so its customer count could not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244 less 74, plus 57, is 227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book's 17 fewer Q2 customers come from?</a:t>
            </a:r>
          </a:p>
        </p:txBody>
      </p:sp>
      <p:pic>
        <p:nvPicPr>
          <p:cNvPr id="9" name="mermaid diagram" descr="6772ed8ebb87795b.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first route subtracted two distinct counts. This one builds the change from each customer's own history, one row per customer filtered with HAVING, and lands on the same 227. The net fall of 17 hides 131 customers moving.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77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line goes under the customer leaf?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Anand's sheet say about last week's note?</a:t>
            </a:r>
          </a:p>
        </p:txBody>
      </p:sp>
      <p:pic>
        <p:nvPicPr>
          <p:cNvPr id="9" name="mermaid diagram" descr="ef566032a029cada.png"/>
          <p:cNvPicPr>
            <a:picLocks noChangeAspect="1"/>
          </p:cNvPicPr>
          <p:nvPr/>
        </p:nvPicPr>
        <p:blipFill>
          <a:blip r:embed="rId5"/>
          <a:stretch>
            <a:fillRect/>
          </a:stretch>
        </p:blipFill>
        <p:spPr>
          <a:xfrm>
            <a:off x="530352" y="2059771"/>
            <a:ext cx="4786326" cy="3762584"/>
          </a:xfrm>
          <a:prstGeom prst="rect">
            <a:avLst/>
          </a:prstGeom>
        </p:spPr>
      </p:pic>
      <p:sp>
        <p:nvSpPr>
          <p:cNvPr id="10" name="Rounded Rectangle 9"/>
          <p:cNvSpPr/>
          <p:nvPr/>
        </p:nvSpPr>
        <p:spPr>
          <a:xfrm>
            <a:off x="5761917" y="1956816"/>
            <a:ext cx="5899425" cy="2407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2151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22250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line belongs on the sheet? a) "The warehouse confirms last week: revenue fell 1.6 percent in both."; b) "On the whole book, 7.0 percent fewer customers bought in Q2, and each ordered 7.7 percent less often; last week's extract held only customers who bought in both quarters."; c) "Last week's note was wrong, so the Rs 12 crore request should be approved."; d) nothing, since the revenue leaf agrees.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77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fewer bought, and each bought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does the warehouse tell the same story as the file Meera's decision rested on?</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4484384"/>
                <a:gridCol w="6646607"/>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Compare how?</a:t>
                      </a:r>
                    </a:p>
                  </a:txBody>
                  <a:tcPr marL="101600" marR="101600" marT="38100" marB="38100" anchor="ctr">
                    <a:solidFill>
                      <a:srgbClr val="FFFFFF"/>
                    </a:solidFill>
                  </a:tcPr>
                </a:tc>
                <a:tc>
                  <a:txBody>
                    <a:bodyPr/>
                    <a:lstStyle/>
                    <a:p>
                      <a:r>
                        <a:rPr sz="1100" b="0" i="0">
                          <a:solidFill>
                            <a:srgbClr val="1A1440"/>
                          </a:solidFill>
                          <a:latin typeface="Calibri"/>
                        </a:rPr>
                        <a:t>Every leaf as a change; no shared id</a:t>
                      </a:r>
                    </a:p>
                  </a:txBody>
                  <a:tcPr marL="101600" marR="101600" marT="38100" marB="38100" anchor="ctr">
                    <a:solidFill>
                      <a:srgbClr val="FFFFFF"/>
                    </a:solidFill>
                  </a:tcPr>
                </a:tc>
              </a:tr>
              <a:tr h="318008">
                <a:tc>
                  <a:txBody>
                    <a:bodyPr/>
                    <a:lstStyle/>
                    <a:p>
                      <a:r>
                        <a:rPr sz="1100" b="0" i="0">
                          <a:solidFill>
                            <a:srgbClr val="1A1440"/>
                          </a:solidFill>
                          <a:latin typeface="Calibri"/>
                        </a:rPr>
                        <a:t>2. Last week intact?</a:t>
                      </a:r>
                    </a:p>
                  </a:txBody>
                  <a:tcPr marL="101600" marR="101600" marT="38100" marB="38100" anchor="ctr">
                    <a:solidFill>
                      <a:srgbClr val="F4F2FA"/>
                    </a:solidFill>
                  </a:tcPr>
                </a:tc>
                <a:tc>
                  <a:txBody>
                    <a:bodyPr/>
                    <a:lstStyle/>
                    <a:p>
                      <a:r>
                        <a:rPr sz="1100" b="0" i="0">
                          <a:solidFill>
                            <a:srgbClr val="1A1440"/>
                          </a:solidFill>
                          <a:latin typeface="Calibri"/>
                        </a:rPr>
                        <a:t>Yes: 186 orders, all 69 in both quarters</a:t>
                      </a:r>
                    </a:p>
                  </a:txBody>
                  <a:tcPr marL="101600" marR="101600" marT="38100" marB="38100" anchor="ctr">
                    <a:solidFill>
                      <a:srgbClr val="F4F2FA"/>
                    </a:solidFill>
                  </a:tcPr>
                </a:tc>
              </a:tr>
              <a:tr h="318008">
                <a:tc>
                  <a:txBody>
                    <a:bodyPr/>
                    <a:lstStyle/>
                    <a:p>
                      <a:r>
                        <a:rPr sz="1100" b="0" i="0">
                          <a:solidFill>
                            <a:srgbClr val="1A1440"/>
                          </a:solidFill>
                          <a:latin typeface="Calibri"/>
                        </a:rPr>
                        <a:t>3. Which leaves agree?</a:t>
                      </a:r>
                    </a:p>
                  </a:txBody>
                  <a:tcPr marL="101600" marR="101600" marT="38100" marB="38100" anchor="ctr">
                    <a:solidFill>
                      <a:srgbClr val="FFFFFF"/>
                    </a:solidFill>
                  </a:tcPr>
                </a:tc>
                <a:tc>
                  <a:txBody>
                    <a:bodyPr/>
                    <a:lstStyle/>
                    <a:p>
                      <a:r>
                        <a:rPr sz="1100" b="0" i="0">
                          <a:solidFill>
                            <a:srgbClr val="1A1440"/>
                          </a:solidFill>
                          <a:latin typeface="Calibri"/>
                        </a:rPr>
                        <a:t>Revenue, orders, revenue per order</a:t>
                      </a:r>
                    </a:p>
                  </a:txBody>
                  <a:tcPr marL="101600" marR="101600" marT="38100" marB="38100" anchor="ctr">
                    <a:solidFill>
                      <a:srgbClr val="FFFFFF"/>
                    </a:solidFill>
                  </a:tcPr>
                </a:tc>
              </a:tr>
              <a:tr h="318008">
                <a:tc>
                  <a:txBody>
                    <a:bodyPr/>
                    <a:lstStyle/>
                    <a:p>
                      <a:r>
                        <a:rPr sz="1100" b="0" i="0">
                          <a:solidFill>
                            <a:srgbClr val="1A1440"/>
                          </a:solidFill>
                          <a:latin typeface="Calibri"/>
                        </a:rPr>
                        <a:t>4. Customers too?</a:t>
                      </a:r>
                    </a:p>
                  </a:txBody>
                  <a:tcPr marL="101600" marR="101600" marT="38100" marB="38100" anchor="ctr">
                    <a:solidFill>
                      <a:srgbClr val="F4F2FA"/>
                    </a:solidFill>
                  </a:tcPr>
                </a:tc>
                <a:tc>
                  <a:txBody>
                    <a:bodyPr/>
                    <a:lstStyle/>
                    <a:p>
                      <a:r>
                        <a:rPr sz="1100" b="0" i="0">
                          <a:solidFill>
                            <a:srgbClr val="1A1440"/>
                          </a:solidFill>
                          <a:latin typeface="Calibri"/>
                        </a:rPr>
                        <a:t>No: flat there, down 7.0% on the book</a:t>
                      </a:r>
                    </a:p>
                  </a:txBody>
                  <a:tcPr marL="101600" marR="101600" marT="38100" marB="38100" anchor="ctr">
                    <a:solidFill>
                      <a:srgbClr val="F4F2FA"/>
                    </a:solidFill>
                  </a:tcPr>
                </a:tc>
              </a:tr>
              <a:tr h="318008">
                <a:tc>
                  <a:txBody>
                    <a:bodyPr/>
                    <a:lstStyle/>
                    <a:p>
                      <a:r>
                        <a:rPr sz="1100" b="0" i="0">
                          <a:solidFill>
                            <a:srgbClr val="1A1440"/>
                          </a:solidFill>
                          <a:latin typeface="Calibri"/>
                        </a:rPr>
                        <a:t>5. Where did 17 go?</a:t>
                      </a:r>
                    </a:p>
                  </a:txBody>
                  <a:tcPr marL="101600" marR="101600" marT="38100" marB="38100" anchor="ctr">
                    <a:solidFill>
                      <a:srgbClr val="FFFFFF"/>
                    </a:solidFill>
                  </a:tcPr>
                </a:tc>
                <a:tc>
                  <a:txBody>
                    <a:bodyPr/>
                    <a:lstStyle/>
                    <a:p>
                      <a:r>
                        <a:rPr sz="1100" b="0" i="0">
                          <a:solidFill>
                            <a:srgbClr val="1A1440"/>
                          </a:solidFill>
                          <a:latin typeface="Calibri"/>
                        </a:rPr>
                        <a:t>74 left after Q1; 57 arrived in Q2</a:t>
                      </a:r>
                    </a:p>
                  </a:txBody>
                  <a:tcPr marL="101600" marR="101600" marT="38100" marB="38100" anchor="ctr">
                    <a:solidFill>
                      <a:srgbClr val="FFFFFF"/>
                    </a:solidFill>
                  </a:tcPr>
                </a:tc>
              </a:tr>
              <a:tr h="318008">
                <a:tc>
                  <a:txBody>
                    <a:bodyPr/>
                    <a:lstStyle/>
                    <a:p>
                      <a:r>
                        <a:rPr sz="1100" b="0" i="0">
                          <a:solidFill>
                            <a:srgbClr val="1A1440"/>
                          </a:solidFill>
                          <a:latin typeface="Calibri"/>
                        </a:rPr>
                        <a:t>6. What goes on the sheet?</a:t>
                      </a:r>
                    </a:p>
                  </a:txBody>
                  <a:tcPr marL="101600" marR="101600" marT="38100" marB="38100" anchor="ctr">
                    <a:solidFill>
                      <a:srgbClr val="F4F2FA"/>
                    </a:solidFill>
                  </a:tcPr>
                </a:tc>
                <a:tc>
                  <a:txBody>
                    <a:bodyPr/>
                    <a:lstStyle/>
                    <a:p>
                      <a:r>
                        <a:rPr sz="1100" b="0" i="0">
                          <a:solidFill>
                            <a:srgbClr val="1A1440"/>
                          </a:solidFill>
                          <a:latin typeface="Calibri"/>
                        </a:rPr>
                        <a:t>Both branches fell, and why</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When two sources disagree, say which one is the book and put the difference in the line under the number.</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Two analysts report different customer counts for one quarter; how do you settle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77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segment carried the fall from Q1 to Q2, and how often did its customers order?</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the budget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sheet carries one line per segment, and the head of Retail-Plus, who owns the paid membership tier, reads that line to decide which members the team works to keep. A wrong frequency sends the retention budget to the wrong segment.</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One query or four?</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Per segment, grouped, or pandas</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did each book?</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customers, rupees per quarter</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are too thin?</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Groups of under 30 customers</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often?</a:t>
            </a:r>
          </a:p>
        </p:txBody>
      </p:sp>
      <p:sp>
        <p:nvSpPr>
          <p:cNvPr id="32" name="TextBox 31"/>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per customer, per segment</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Another way?</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Each customer's own count, averaged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0" name="Oval 3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2" name="Oval 4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44" name="Oval 4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6" name="Oval 4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one line per segment, and a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line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Reads the tier's line on Anand's sheet and decides whom the team works to keep.</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per customer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in the quarter over the customers who bought in it, per segment.</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RATIO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budget misfires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tier that seems to order half as often gets an emergency plan, and a segment that seems to double gets money it does not need.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Eternal: one 54% total held three stories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reported a group total that hid very different parts?</a:t>
            </a:r>
          </a:p>
        </p:txBody>
      </p:sp>
      <p:pic>
        <p:nvPicPr>
          <p:cNvPr id="9" name="mermaid diagram" descr="7d3efaa1f2030450.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Eternal, the company behind Zomato and Blinkit, grew its consumer businesses' net order value 54 percent in the quarter to 30 June 2026, and its letter told each business's number on its own. Kalpa's 1.6 percent is four stories.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 BY: one query, and new segments appear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query per segment, one grouped query, or pandas?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46742"/>
                <a:gridCol w="1773803"/>
                <a:gridCol w="1412245"/>
                <a:gridCol w="429819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Queries to keep</a:t>
                      </a:r>
                    </a:p>
                  </a:txBody>
                  <a:tcPr marL="101600" marR="101600" marT="38100" marB="38100" anchor="ctr">
                    <a:solidFill>
                      <a:srgbClr val="1A0F5C"/>
                    </a:solidFill>
                  </a:tcPr>
                </a:tc>
                <a:tc>
                  <a:txBody>
                    <a:bodyPr/>
                    <a:lstStyle/>
                    <a:p>
                      <a:r>
                        <a:rPr sz="1250" b="1" i="0">
                          <a:solidFill>
                            <a:srgbClr val="FFFFFF"/>
                          </a:solidFill>
                          <a:latin typeface="Calibri"/>
                        </a:rPr>
                        <a:t>Rows it moves</a:t>
                      </a:r>
                    </a:p>
                  </a:txBody>
                  <a:tcPr marL="101600" marR="101600" marT="38100" marB="38100" anchor="ctr">
                    <a:solidFill>
                      <a:srgbClr val="1A0F5C"/>
                    </a:solidFill>
                  </a:tcPr>
                </a:tc>
                <a:tc>
                  <a:txBody>
                    <a:bodyPr/>
                    <a:lstStyle/>
                    <a:p>
                      <a:r>
                        <a:rPr sz="1250" b="1" i="0">
                          <a:solidFill>
                            <a:srgbClr val="FFFFFF"/>
                          </a:solidFill>
                          <a:latin typeface="Calibri"/>
                        </a:rPr>
                        <a:t>When a fifth segment appears</a:t>
                      </a:r>
                    </a:p>
                  </a:txBody>
                  <a:tcPr marL="101600" marR="101600" marT="38100" marB="38100" anchor="ctr">
                    <a:solidFill>
                      <a:srgbClr val="1A0F5C"/>
                    </a:solidFill>
                  </a:tcPr>
                </a:tc>
              </a:tr>
              <a:tr h="335280">
                <a:tc>
                  <a:txBody>
                    <a:bodyPr/>
                    <a:lstStyle/>
                    <a:p>
                      <a:r>
                        <a:rPr sz="1200" b="0" i="0">
                          <a:solidFill>
                            <a:srgbClr val="1A1440"/>
                          </a:solidFill>
                          <a:latin typeface="Calibri"/>
                        </a:rPr>
                        <a:t>A. One query per segment, with WHERE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It is silently missing: no query asks for it</a:t>
                      </a:r>
                    </a:p>
                  </a:txBody>
                  <a:tcPr marL="101600" marR="101600" marT="38100" marB="38100" anchor="ctr">
                    <a:solidFill>
                      <a:srgbClr val="FFFFFF"/>
                    </a:solidFill>
                  </a:tcPr>
                </a:tc>
              </a:tr>
              <a:tr h="335280">
                <a:tc>
                  <a:txBody>
                    <a:bodyPr/>
                    <a:lstStyle/>
                    <a:p>
                      <a:r>
                        <a:rPr sz="1200" b="0" i="0">
                          <a:solidFill>
                            <a:srgbClr val="1A1440"/>
                          </a:solidFill>
                          <a:latin typeface="Calibri"/>
                        </a:rPr>
                        <a:t>B. One query, GROUP BY segment and quarter</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It appears as two new rows</a:t>
                      </a:r>
                    </a:p>
                  </a:txBody>
                  <a:tcPr marL="101600" marR="101600" marT="38100" marB="38100" anchor="ctr">
                    <a:solidFill>
                      <a:srgbClr val="F4F2FA"/>
                    </a:solidFill>
                  </a:tcPr>
                </a:tc>
              </a:tr>
              <a:tr h="335280">
                <a:tc>
                  <a:txBody>
                    <a:bodyPr/>
                    <a:lstStyle/>
                    <a:p>
                      <a:r>
                        <a:rPr sz="1200" b="0" i="0">
                          <a:solidFill>
                            <a:srgbClr val="1A1440"/>
                          </a:solidFill>
                          <a:latin typeface="Calibri"/>
                        </a:rPr>
                        <a:t>C. Every order row into pandas</a:t>
                      </a:r>
                    </a:p>
                  </a:txBody>
                  <a:tcPr marL="101600" marR="101600" marT="38100" marB="38100" anchor="ctr">
                    <a:solidFill>
                      <a:srgbClr val="FFFFFF"/>
                    </a:solidFill>
                  </a:tcPr>
                </a:tc>
                <a:tc>
                  <a:txBody>
                    <a:bodyPr/>
                    <a:lstStyle/>
                    <a:p>
                      <a:r>
                        <a:rPr sz="1200" b="0" i="0">
                          <a:solidFill>
                            <a:srgbClr val="1A1440"/>
                          </a:solidFill>
                          <a:latin typeface="Calibri"/>
                        </a:rPr>
                        <a:t>1 and a Python step</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It appears, on a copy of the book</a:t>
                      </a:r>
                    </a:p>
                  </a:txBody>
                  <a:tcPr marL="101600" marR="101600" marT="38100" marB="38100" anchor="ctr">
                    <a:solidFill>
                      <a:srgbClr val="FFFFFF"/>
                    </a:solidFill>
                  </a:tcPr>
                </a:tc>
              </a:tr>
              <a:tr h="335280">
                <a:tc>
                  <a:txBody>
                    <a:bodyPr/>
                    <a:lstStyle/>
                    <a:p>
                      <a:r>
                        <a:rPr sz="1200" b="0" i="0">
                          <a:solidFill>
                            <a:srgbClr val="1A1440"/>
                          </a:solidFill>
                          <a:latin typeface="Calibri"/>
                        </a:rPr>
                        <a:t>D. One wide row per segment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It appears, and every new measure adds two columns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t>
            </a:r>
            <a:r>
              <a:rPr sz="1500" b="1" i="0">
                <a:solidFill>
                  <a:srgbClr val="1A1440"/>
                </a:solidFill>
                <a:latin typeface="Calibri"/>
              </a:rPr>
              <a:t>What would change it:</a:t>
            </a:r>
            <a:r>
              <a:rPr sz="1500" b="0" i="0">
                <a:solidFill>
                  <a:srgbClr val="1A1440"/>
                </a:solidFill>
                <a:latin typeface="Calibri"/>
              </a:rPr>
              <a:t> a one-off question about one segment, such as the head of Retail-Plus asking about the tier alone, is A's job, and one WHERE is the clearest way to write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GROUP BY error,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Postgres refuse to print a segment it was not told to group by?</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 AS orders</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o.quarter;</a:t>
            </a:r>
          </a:p>
          <a:p>
            <a:pPr>
              <a:spcAft>
                <a:spcPts val="200"/>
              </a:spcAft>
            </a:pPr>
            <a:r>
              <a:rPr sz="1400" b="0" i="0">
                <a:solidFill>
                  <a:srgbClr val="A9A3D2"/>
                </a:solidFill>
                <a:latin typeface="Consolas"/>
              </a:rPr>
              <a:t>-- ERROR: column "c.segment" must appear in the GROUP BY</a:t>
            </a:r>
          </a:p>
          <a:p>
            <a:pPr>
              <a:spcAft>
                <a:spcPts val="200"/>
              </a:spcAft>
            </a:pPr>
            <a:r>
              <a:rPr sz="1400" b="0" i="0">
                <a:solidFill>
                  <a:srgbClr val="A9A3D2"/>
                </a:solidFill>
                <a:latin typeface="Consolas"/>
              </a:rPr>
              <a:t>-- clause or be used in an aggregate function</a:t>
            </a:r>
          </a:p>
        </p:txBody>
      </p:sp>
      <p:pic>
        <p:nvPicPr>
          <p:cNvPr id="14" name="mermaid diagram" descr="914195a277d26bfd.png"/>
          <p:cNvPicPr>
            <a:picLocks noChangeAspect="1"/>
          </p:cNvPicPr>
          <p:nvPr/>
        </p:nvPicPr>
        <p:blipFill>
          <a:blip r:embed="rId5"/>
          <a:stretch>
            <a:fillRect/>
          </a:stretch>
        </p:blipFill>
        <p:spPr>
          <a:xfrm>
            <a:off x="2152497" y="3840988"/>
            <a:ext cx="7886700" cy="16002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the fixed query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GROUP BY c.segment, o.quarter, how many rows come back?</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 AS orders,</a:t>
            </a:r>
          </a:p>
          <a:p>
            <a:pPr>
              <a:spcAft>
                <a:spcPts val="200"/>
              </a:spcAft>
            </a:pPr>
            <a:r>
              <a:rPr sz="1400" b="0" i="0">
                <a:solidFill>
                  <a:srgbClr val="E4E1F1"/>
                </a:solidFill>
                <a:latin typeface="Consolas"/>
              </a:rPr>
              <a:t>       count(DISTINCT o.customer_id) AS customers,</a:t>
            </a:r>
          </a:p>
          <a:p>
            <a:pPr>
              <a:spcAft>
                <a:spcPts val="200"/>
              </a:spcAft>
            </a:pPr>
            <a:r>
              <a:rPr sz="1400" b="0" i="0">
                <a:solidFill>
                  <a:srgbClr val="E4E1F1"/>
                </a:solidFill>
                <a:latin typeface="Consolas"/>
              </a:rPr>
              <a:t>       sum(o.amount) AS 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 ORDER BY c.segment, o.quarter;</a:t>
            </a:r>
          </a:p>
        </p:txBody>
      </p:sp>
      <p:sp>
        <p:nvSpPr>
          <p:cNvPr id="14" name="Rounded Rectangle 13"/>
          <p:cNvSpPr/>
          <p:nvPr/>
        </p:nvSpPr>
        <p:spPr>
          <a:xfrm>
            <a:off x="530352" y="3840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9690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95986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a) 2, one per quarter; b) 4, one per segment; c) 8, one per segment and quarter; d) 1,000, one per order.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8 rows; Retail-Plus lost 29.4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customers and rupees did each segment book in each quarter?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1423336"/>
                <a:gridCol w="2600619"/>
                <a:gridCol w="2600619"/>
                <a:gridCol w="3592015"/>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orders, customers</a:t>
                      </a:r>
                    </a:p>
                  </a:txBody>
                  <a:tcPr marL="101600" marR="101600" marT="38100" marB="38100" anchor="ctr">
                    <a:solidFill>
                      <a:srgbClr val="1A0F5C"/>
                    </a:solidFill>
                  </a:tcPr>
                </a:tc>
                <a:tc>
                  <a:txBody>
                    <a:bodyPr/>
                    <a:lstStyle/>
                    <a:p>
                      <a:r>
                        <a:rPr sz="1250" b="1" i="0">
                          <a:solidFill>
                            <a:srgbClr val="FFFFFF"/>
                          </a:solidFill>
                          <a:latin typeface="Calibri"/>
                        </a:rPr>
                        <a:t>Q2 orders, customers</a:t>
                      </a:r>
                    </a:p>
                  </a:txBody>
                  <a:tcPr marL="101600" marR="101600" marT="38100" marB="38100" anchor="ctr">
                    <a:solidFill>
                      <a:srgbClr val="1A0F5C"/>
                    </a:solidFill>
                  </a:tcPr>
                </a:tc>
                <a:tc>
                  <a:txBody>
                    <a:bodyPr/>
                    <a:lstStyle/>
                    <a:p>
                      <a:r>
                        <a:rPr sz="1250" b="1" i="0">
                          <a:solidFill>
                            <a:srgbClr val="FFFFFF"/>
                          </a:solidFill>
                          <a:latin typeface="Calibri"/>
                        </a:rPr>
                        <a:t>Revenue, Q1 to 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97, 36</a:t>
                      </a:r>
                    </a:p>
                  </a:txBody>
                  <a:tcPr marL="101600" marR="101600" marT="38100" marB="38100" anchor="ctr">
                    <a:solidFill>
                      <a:srgbClr val="FFFFFF"/>
                    </a:solidFill>
                  </a:tcPr>
                </a:tc>
                <a:tc>
                  <a:txBody>
                    <a:bodyPr/>
                    <a:lstStyle/>
                    <a:p>
                      <a:r>
                        <a:rPr sz="1200" b="0" i="0">
                          <a:solidFill>
                            <a:srgbClr val="1A1440"/>
                          </a:solidFill>
                          <a:latin typeface="Calibri"/>
                        </a:rPr>
                        <a:t>91, 35</a:t>
                      </a:r>
                    </a:p>
                  </a:txBody>
                  <a:tcPr marL="101600" marR="101600" marT="38100" marB="38100" anchor="ctr">
                    <a:solidFill>
                      <a:srgbClr val="FFFFFF"/>
                    </a:solidFill>
                  </a:tcPr>
                </a:tc>
                <a:tc>
                  <a:txBody>
                    <a:bodyPr/>
                    <a:lstStyle/>
                    <a:p>
                      <a:r>
                        <a:rPr sz="1200" b="0" i="0">
                          <a:solidFill>
                            <a:srgbClr val="1A1440"/>
                          </a:solidFill>
                          <a:latin typeface="Calibri"/>
                        </a:rPr>
                        <a:t>Rs 9,90,14,440 to Rs 9,75,84,600</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199, 102</a:t>
                      </a:r>
                    </a:p>
                  </a:txBody>
                  <a:tcPr marL="101600" marR="101600" marT="38100" marB="38100" anchor="ctr">
                    <a:solidFill>
                      <a:srgbClr val="F4F2FA"/>
                    </a:solidFill>
                  </a:tcPr>
                </a:tc>
                <a:tc>
                  <a:txBody>
                    <a:bodyPr/>
                    <a:lstStyle/>
                    <a:p>
                      <a:r>
                        <a:rPr sz="1200" b="0" i="0">
                          <a:solidFill>
                            <a:srgbClr val="1A1440"/>
                          </a:solidFill>
                          <a:latin typeface="Calibri"/>
                        </a:rPr>
                        <a:t>193, 96</a:t>
                      </a:r>
                    </a:p>
                  </a:txBody>
                  <a:tcPr marL="101600" marR="101600" marT="38100" marB="38100" anchor="ctr">
                    <a:solidFill>
                      <a:srgbClr val="F4F2FA"/>
                    </a:solidFill>
                  </a:tcPr>
                </a:tc>
                <a:tc>
                  <a:txBody>
                    <a:bodyPr/>
                    <a:lstStyle/>
                    <a:p>
                      <a:r>
                        <a:rPr sz="1200" b="0" i="0">
                          <a:solidFill>
                            <a:srgbClr val="1A1440"/>
                          </a:solidFill>
                          <a:latin typeface="Calibri"/>
                        </a:rPr>
                        <a:t>Rs 3,73,070 to Rs 3,66,250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215, 91</a:t>
                      </a:r>
                    </a:p>
                  </a:txBody>
                  <a:tcPr marL="101600" marR="101600" marT="38100" marB="38100" anchor="ctr">
                    <a:solidFill>
                      <a:srgbClr val="FFFFFF"/>
                    </a:solidFill>
                  </a:tcPr>
                </a:tc>
                <a:tc>
                  <a:txBody>
                    <a:bodyPr/>
                    <a:lstStyle/>
                    <a:p>
                      <a:r>
                        <a:rPr sz="1200" b="0" i="0">
                          <a:solidFill>
                            <a:srgbClr val="1A1440"/>
                          </a:solidFill>
                          <a:latin typeface="Calibri"/>
                        </a:rPr>
                        <a:t>140, 76</a:t>
                      </a:r>
                    </a:p>
                  </a:txBody>
                  <a:tcPr marL="101600" marR="101600" marT="38100" marB="38100" anchor="ctr">
                    <a:solidFill>
                      <a:srgbClr val="FFFFFF"/>
                    </a:solidFill>
                  </a:tcPr>
                </a:tc>
                <a:tc>
                  <a:txBody>
                    <a:bodyPr/>
                    <a:lstStyle/>
                    <a:p>
                      <a:r>
                        <a:rPr sz="1200" b="0" i="0">
                          <a:solidFill>
                            <a:srgbClr val="1A1440"/>
                          </a:solidFill>
                          <a:latin typeface="Calibri"/>
                        </a:rPr>
                        <a:t>Rs 5,85,770 to Rs 4,13,380</a:t>
                      </a:r>
                    </a:p>
                  </a:txBody>
                  <a:tcPr marL="101600" marR="101600" marT="38100" marB="38100" anchor="ctr">
                    <a:solidFill>
                      <a:srgbClr val="FFFFFF"/>
                    </a:solidFill>
                  </a:tcPr>
                </a:tc>
                <a:tc>
                  <a:txBody>
                    <a:bodyPr/>
                    <a:lstStyle/>
                    <a:p>
                      <a:r>
                        <a:rPr sz="1200" b="0" i="0">
                          <a:solidFill>
                            <a:srgbClr val="1A1440"/>
                          </a:solidFill>
                          <a:latin typeface="Calibri"/>
                        </a:rPr>
                        <a:t>-29.4%</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27, 15</a:t>
                      </a:r>
                    </a:p>
                  </a:txBody>
                  <a:tcPr marL="101600" marR="101600" marT="38100" marB="38100" anchor="ctr">
                    <a:solidFill>
                      <a:srgbClr val="F4F2FA"/>
                    </a:solidFill>
                  </a:tcPr>
                </a:tc>
                <a:tc>
                  <a:txBody>
                    <a:bodyPr/>
                    <a:lstStyle/>
                    <a:p>
                      <a:r>
                        <a:rPr sz="1200" b="0" i="0">
                          <a:solidFill>
                            <a:srgbClr val="1A1440"/>
                          </a:solidFill>
                          <a:latin typeface="Calibri"/>
                        </a:rPr>
                        <a:t>38, 20</a:t>
                      </a:r>
                    </a:p>
                  </a:txBody>
                  <a:tcPr marL="101600" marR="101600" marT="38100" marB="38100" anchor="ctr">
                    <a:solidFill>
                      <a:srgbClr val="F4F2FA"/>
                    </a:solidFill>
                  </a:tcPr>
                </a:tc>
                <a:tc>
                  <a:txBody>
                    <a:bodyPr/>
                    <a:lstStyle/>
                    <a:p>
                      <a:r>
                        <a:rPr sz="1200" b="0" i="0">
                          <a:solidFill>
                            <a:srgbClr val="1A1440"/>
                          </a:solidFill>
                          <a:latin typeface="Calibri"/>
                        </a:rPr>
                        <a:t>Rs 26,720 to Rs 35,770</a:t>
                      </a:r>
                    </a:p>
                  </a:txBody>
                  <a:tcPr marL="101600" marR="101600" marT="38100" marB="38100" anchor="ctr">
                    <a:solidFill>
                      <a:srgbClr val="F4F2FA"/>
                    </a:solidFill>
                  </a:tcPr>
                </a:tc>
                <a:tc>
                  <a:txBody>
                    <a:bodyPr/>
                    <a:lstStyle/>
                    <a:p>
                      <a:r>
                        <a:rPr sz="1200" b="0" i="0">
                          <a:solidFill>
                            <a:srgbClr val="1A1440"/>
                          </a:solidFill>
                          <a:latin typeface="Calibri"/>
                        </a:rPr>
                        <a:t>+33.9%</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Retail-Plus lost 75 of the book's 76 fewer orders and 29.4 percent of its revenue.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HAVING flags Student: 15 and 20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segment-quarters hold too few customers to quote a rate on?</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count(DISTINCT o.customer_id) AS customers</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a:t>
            </a:r>
          </a:p>
          <a:p>
            <a:pPr>
              <a:spcAft>
                <a:spcPts val="200"/>
              </a:spcAft>
            </a:pPr>
            <a:r>
              <a:rPr sz="1400" b="0" i="0">
                <a:solidFill>
                  <a:srgbClr val="E4E1F1"/>
                </a:solidFill>
                <a:latin typeface="Consolas"/>
              </a:rPr>
              <a:t>HAVING count(DISTINCT o.customer_id) &lt; 30;</a:t>
            </a:r>
          </a:p>
        </p:txBody>
      </p:sp>
      <p:pic>
        <p:nvPicPr>
          <p:cNvPr id="14" name="mermaid diagram" descr="59fb4fca18b20533.png"/>
          <p:cNvPicPr>
            <a:picLocks noChangeAspect="1"/>
          </p:cNvPicPr>
          <p:nvPr/>
        </p:nvPicPr>
        <p:blipFill>
          <a:blip r:embed="rId5"/>
          <a:stretch>
            <a:fillRect/>
          </a:stretch>
        </p:blipFill>
        <p:spPr>
          <a:xfrm>
            <a:off x="780897" y="3588512"/>
            <a:ext cx="10629900" cy="185737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215 / 91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placed 215 orders from 91 customers in Q1 and 140 from 76 in Q2: what does the quickest query print?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a:t>
            </a:r>
          </a:p>
          <a:p>
            <a:pPr>
              <a:spcAft>
                <a:spcPts val="200"/>
              </a:spcAft>
            </a:pPr>
            <a:r>
              <a:rPr sz="1400" b="0" i="0">
                <a:solidFill>
                  <a:srgbClr val="E4E1F1"/>
                </a:solidFill>
                <a:latin typeface="Consolas"/>
              </a:rPr>
              <a:t>       count(*) / count(DISTINCT o.customer_id) AS orders_per_customer</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 ORDER BY c.segment, o.quarter;</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it print for Retail-Plus's two quarters? a) 2.36 and 1.84; b) 2 and 1; c) 2.4 and 1.8; d) an error, since a count cannot be divided.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77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then 1, so the sheet says "halved"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integer answer tell the head of Retail-Plus to do?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951037"/>
                <a:gridCol w="914400"/>
                <a:gridCol w="914400"/>
                <a:gridCol w="6351153"/>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What the sheet would say</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No change</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Frequency doubled</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Frequency halved</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No change</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The head of Retail-Plus sees an emergency, and the retention budget drifts to Retail-Core, whose customers seem to order twice as often. The answer is b.</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77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whole numbers divide as whole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the division drop the fraction, and which check catches it?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230863"/>
                <a:gridCol w="2328575"/>
                <a:gridCol w="1727050"/>
                <a:gridCol w="2930101"/>
                <a:gridCol w="914400"/>
              </a:tblGrid>
              <a:tr h="335280">
                <a:tc>
                  <a:txBody>
                    <a:bodyPr/>
                    <a:lstStyle/>
                    <a:p>
                      <a:r>
                        <a:rPr sz="1250" b="1" i="0">
                          <a:solidFill>
                            <a:srgbClr val="FFFFFF"/>
                          </a:solidFill>
                          <a:latin typeface="Calibri"/>
                        </a:rPr>
                        <a:t>Segment and quarter</a:t>
                      </a:r>
                    </a:p>
                  </a:txBody>
                  <a:tcPr marL="101600" marR="101600" marT="38100" marB="38100" anchor="ctr">
                    <a:solidFill>
                      <a:srgbClr val="1A0F5C"/>
                    </a:solidFill>
                  </a:tcPr>
                </a:tc>
                <a:tc>
                  <a:txBody>
                    <a:bodyPr/>
                    <a:lstStyle/>
                    <a:p>
                      <a:r>
                        <a:rPr sz="1250" b="1" i="0">
                          <a:solidFill>
                            <a:srgbClr val="FFFFFF"/>
                          </a:solidFill>
                          <a:latin typeface="Calibri"/>
                        </a:rPr>
                        <a:t>Ratio printed</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Ratio x customers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Retail-Plus Q1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215</a:t>
                      </a:r>
                    </a:p>
                  </a:txBody>
                  <a:tcPr marL="101600" marR="101600" marT="38100" marB="38100" anchor="ctr">
                    <a:solidFill>
                      <a:srgbClr val="FFFFFF"/>
                    </a:solidFill>
                  </a:tcPr>
                </a:tc>
              </a:tr>
              <a:tr h="335280">
                <a:tc>
                  <a:txBody>
                    <a:bodyPr/>
                    <a:lstStyle/>
                    <a:p>
                      <a:r>
                        <a:rPr sz="1200" b="0" i="0">
                          <a:solidFill>
                            <a:srgbClr val="1A1440"/>
                          </a:solidFill>
                          <a:latin typeface="Calibri"/>
                        </a:rPr>
                        <a:t>Retail-Plus Q2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r>
              <a:tr h="335280">
                <a:tc>
                  <a:txBody>
                    <a:bodyPr/>
                    <a:lstStyle/>
                    <a:p>
                      <a:r>
                        <a:rPr sz="1200" b="0" i="0">
                          <a:solidFill>
                            <a:srgbClr val="1A1440"/>
                          </a:solidFill>
                          <a:latin typeface="Calibri"/>
                        </a:rPr>
                        <a:t>Retail-Core Q1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102</a:t>
                      </a:r>
                    </a:p>
                  </a:txBody>
                  <a:tcPr marL="101600" marR="101600" marT="38100" marB="38100" anchor="ctr">
                    <a:solidFill>
                      <a:srgbClr val="FFFFFF"/>
                    </a:solidFill>
                  </a:tcPr>
                </a:tc>
                <a:tc>
                  <a:txBody>
                    <a:bodyPr/>
                    <a:lstStyle/>
                    <a:p>
                      <a:r>
                        <a:rPr sz="1200" b="0" i="0">
                          <a:solidFill>
                            <a:srgbClr val="1A1440"/>
                          </a:solidFill>
                          <a:latin typeface="Calibri"/>
                        </a:rPr>
                        <a:t>102</a:t>
                      </a:r>
                    </a:p>
                  </a:txBody>
                  <a:tcPr marL="101600" marR="101600" marT="38100" marB="38100" anchor="ctr">
                    <a:solidFill>
                      <a:srgbClr val="FFFFFF"/>
                    </a:solidFill>
                  </a:tcPr>
                </a:tc>
                <a:tc>
                  <a:txBody>
                    <a:bodyPr/>
                    <a:lstStyle/>
                    <a:p>
                      <a:r>
                        <a:rPr sz="1200" b="0" i="0">
                          <a:solidFill>
                            <a:srgbClr val="1A1440"/>
                          </a:solidFill>
                          <a:latin typeface="Calibri"/>
                        </a:rPr>
                        <a:t>199</a:t>
                      </a:r>
                    </a:p>
                  </a:txBody>
                  <a:tcPr marL="101600" marR="101600" marT="38100" marB="38100" anchor="ctr">
                    <a:solidFill>
                      <a:srgbClr val="FFFFFF"/>
                    </a:solidFill>
                  </a:tcPr>
                </a:tc>
              </a:tr>
              <a:tr h="335280">
                <a:tc>
                  <a:txBody>
                    <a:bodyPr/>
                    <a:lstStyle/>
                    <a:p>
                      <a:r>
                        <a:rPr sz="1200" b="0" i="0">
                          <a:solidFill>
                            <a:srgbClr val="1A1440"/>
                          </a:solidFill>
                          <a:latin typeface="Calibri"/>
                        </a:rPr>
                        <a:t>Retail-Core Q2</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96</a:t>
                      </a:r>
                    </a:p>
                  </a:txBody>
                  <a:tcPr marL="101600" marR="101600" marT="38100" marB="38100" anchor="ctr">
                    <a:solidFill>
                      <a:srgbClr val="F4F2FA"/>
                    </a:solidFill>
                  </a:tcPr>
                </a:tc>
                <a:tc>
                  <a:txBody>
                    <a:bodyPr/>
                    <a:lstStyle/>
                    <a:p>
                      <a:r>
                        <a:rPr sz="1200" b="0" i="0">
                          <a:solidFill>
                            <a:srgbClr val="1A1440"/>
                          </a:solidFill>
                          <a:latin typeface="Calibri"/>
                        </a:rPr>
                        <a:t>192</a:t>
                      </a:r>
                    </a:p>
                  </a:txBody>
                  <a:tcPr marL="101600" marR="101600" marT="38100" marB="38100" anchor="ctr">
                    <a:solidFill>
                      <a:srgbClr val="F4F2FA"/>
                    </a:solidFill>
                  </a:tcPr>
                </a:tc>
                <a:tc>
                  <a:txBody>
                    <a:bodyPr/>
                    <a:lstStyle/>
                    <a:p>
                      <a:r>
                        <a:rPr sz="1200" b="0" i="0">
                          <a:solidFill>
                            <a:srgbClr val="1A1440"/>
                          </a:solidFill>
                          <a:latin typeface="Calibri"/>
                        </a:rPr>
                        <a:t>193</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Multiply a ratio back by what it divided by: 1 times 76 is 76, where the orders are 140. Counts are whole numbers, and Postgres divides two whole numbers as whole numbers, truncating towards zero.</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77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numeric division, 2.36 to 1.84, down 22.0%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did each segment's customers order, once the division keeps its decimals?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round(count(*)::numeric</a:t>
            </a:r>
          </a:p>
          <a:p>
            <a:pPr>
              <a:spcAft>
                <a:spcPts val="200"/>
              </a:spcAft>
            </a:pPr>
            <a:r>
              <a:rPr sz="1400" b="0" i="0">
                <a:solidFill>
                  <a:srgbClr val="E4E1F1"/>
                </a:solidFill>
                <a:latin typeface="Consolas"/>
              </a:rPr>
              <a:t>      / count(DISTINCT o.customer_id), 2)</a:t>
            </a:r>
          </a:p>
          <a:p>
            <a:pPr>
              <a:spcAft>
                <a:spcPts val="200"/>
              </a:spcAft>
            </a:pPr>
            <a:r>
              <a:rPr sz="1400" b="0" i="0">
                <a:solidFill>
                  <a:srgbClr val="E4E1F1"/>
                </a:solidFill>
                <a:latin typeface="Consolas"/>
              </a:rPr>
              <a:t>  AS orders_per_customer</a:t>
            </a:r>
          </a:p>
        </p:txBody>
      </p:sp>
      <p:graphicFrame>
        <p:nvGraphicFramePr>
          <p:cNvPr id="14" name="Table 13"/>
          <p:cNvGraphicFramePr>
            <a:graphicFrameLocks noGrp="1"/>
          </p:cNvGraphicFramePr>
          <p:nvPr/>
        </p:nvGraphicFramePr>
        <p:xfrm>
          <a:off x="530352" y="3336036"/>
          <a:ext cx="11130990" cy="1676400"/>
        </p:xfrm>
        <a:graphic>
          <a:graphicData uri="http://schemas.openxmlformats.org/drawingml/2006/table">
            <a:tbl>
              <a:tblPr firstRow="0" bandRow="0">
                <a:tableStyleId>{2D5ABB26-0587-4C30-8999-92F81FD0307C}</a:tableStyleId>
              </a:tblPr>
              <a:tblGrid>
                <a:gridCol w="2805606"/>
                <a:gridCol w="914400"/>
                <a:gridCol w="914400"/>
                <a:gridCol w="914400"/>
                <a:gridCol w="5582184"/>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The integer query said</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2.69</a:t>
                      </a:r>
                    </a:p>
                  </a:txBody>
                  <a:tcPr marL="101600" marR="101600" marT="38100" marB="38100" anchor="ctr">
                    <a:solidFill>
                      <a:srgbClr val="FFFFFF"/>
                    </a:solidFill>
                  </a:tcPr>
                </a:tc>
                <a:tc>
                  <a:txBody>
                    <a:bodyPr/>
                    <a:lstStyle/>
                    <a:p>
                      <a:r>
                        <a:rPr sz="1200" b="0" i="0">
                          <a:solidFill>
                            <a:srgbClr val="1A1440"/>
                          </a:solidFill>
                          <a:latin typeface="Calibri"/>
                        </a:rPr>
                        <a:t>2.60</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2 then 2</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1.95</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1 then 2</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2.36</a:t>
                      </a:r>
                    </a:p>
                  </a:txBody>
                  <a:tcPr marL="101600" marR="101600" marT="38100" marB="38100" anchor="ctr">
                    <a:solidFill>
                      <a:srgbClr val="FFFFFF"/>
                    </a:solidFill>
                  </a:tcPr>
                </a:tc>
                <a:tc>
                  <a:txBody>
                    <a:bodyPr/>
                    <a:lstStyle/>
                    <a:p>
                      <a:r>
                        <a:rPr sz="1200" b="0" i="0">
                          <a:solidFill>
                            <a:srgbClr val="1A1440"/>
                          </a:solidFill>
                          <a:latin typeface="Calibri"/>
                        </a:rPr>
                        <a:t>1.84</a:t>
                      </a:r>
                    </a:p>
                  </a:txBody>
                  <a:tcPr marL="101600" marR="101600" marT="38100" marB="38100" anchor="ctr">
                    <a:solidFill>
                      <a:srgbClr val="FFFFFF"/>
                    </a:solidFill>
                  </a:tcPr>
                </a:tc>
                <a:tc>
                  <a:txBody>
                    <a:bodyPr/>
                    <a:lstStyle/>
                    <a:p>
                      <a:r>
                        <a:rPr sz="1200" b="0" i="0">
                          <a:solidFill>
                            <a:srgbClr val="1A1440"/>
                          </a:solidFill>
                          <a:latin typeface="Calibri"/>
                        </a:rPr>
                        <a:t>-22.0%</a:t>
                      </a:r>
                    </a:p>
                  </a:txBody>
                  <a:tcPr marL="101600" marR="101600" marT="38100" marB="38100" anchor="ctr">
                    <a:solidFill>
                      <a:srgbClr val="FFFFFF"/>
                    </a:solidFill>
                  </a:tcPr>
                </a:tc>
                <a:tc>
                  <a:txBody>
                    <a:bodyPr/>
                    <a:lstStyle/>
                    <a:p>
                      <a:r>
                        <a:rPr sz="1200" b="0" i="0">
                          <a:solidFill>
                            <a:srgbClr val="1A1440"/>
                          </a:solidFill>
                          <a:latin typeface="Calibri"/>
                        </a:rPr>
                        <a:t>2 then 1</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c>
                  <a:txBody>
                    <a:bodyPr/>
                    <a:lstStyle/>
                    <a:p>
                      <a:r>
                        <a:rPr sz="1200" b="0" i="0">
                          <a:solidFill>
                            <a:srgbClr val="1A1440"/>
                          </a:solidFill>
                          <a:latin typeface="Calibri"/>
                        </a:rPr>
                        <a:t>1.90</a:t>
                      </a:r>
                    </a:p>
                  </a:txBody>
                  <a:tcPr marL="101600" marR="101600" marT="38100" marB="38100" anchor="ctr">
                    <a:solidFill>
                      <a:srgbClr val="F4F2FA"/>
                    </a:solidFill>
                  </a:tcPr>
                </a:tc>
                <a:tc>
                  <a:txBody>
                    <a:bodyPr/>
                    <a:lstStyle/>
                    <a:p>
                      <a:r>
                        <a:rPr sz="1200" b="0" i="0">
                          <a:solidFill>
                            <a:srgbClr val="1A1440"/>
                          </a:solidFill>
                          <a:latin typeface="Calibri"/>
                        </a:rPr>
                        <a:t>+5.6%</a:t>
                      </a:r>
                    </a:p>
                  </a:txBody>
                  <a:tcPr marL="101600" marR="101600" marT="38100" marB="38100" anchor="ctr">
                    <a:solidFill>
                      <a:srgbClr val="F4F2FA"/>
                    </a:solidFill>
                  </a:tcPr>
                </a:tc>
                <a:tc>
                  <a:txBody>
                    <a:bodyPr/>
                    <a:lstStyle/>
                    <a:p>
                      <a:r>
                        <a:rPr sz="1200" b="0" i="0">
                          <a:solidFill>
                            <a:srgbClr val="1A1440"/>
                          </a:solidFill>
                          <a:latin typeface="Calibri"/>
                        </a:rPr>
                        <a:t>1 then 1</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77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each customer's own count, averaged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average of each customer's own order count agree with the division?</a:t>
            </a:r>
          </a:p>
        </p:txBody>
      </p:sp>
      <p:pic>
        <p:nvPicPr>
          <p:cNvPr id="9" name="mermaid diagram" descr="0ba047f68bef0927.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If the division is right, the average of the individual counts must equal it, and in all eight segment-quarters it does, to two places.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77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 carried the fall: 2.36 to 1.84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segment carried the fall from Q1 to Q2, and how often did its customers order?</a:t>
            </a:r>
          </a:p>
        </p:txBody>
      </p:sp>
      <p:graphicFrame>
        <p:nvGraphicFramePr>
          <p:cNvPr id="9" name="Table 8"/>
          <p:cNvGraphicFramePr>
            <a:graphicFrameLocks noGrp="1"/>
          </p:cNvGraphicFramePr>
          <p:nvPr/>
        </p:nvGraphicFramePr>
        <p:xfrm>
          <a:off x="530352" y="1793240"/>
          <a:ext cx="11130991" cy="1908048"/>
        </p:xfrm>
        <a:graphic>
          <a:graphicData uri="http://schemas.openxmlformats.org/drawingml/2006/table">
            <a:tbl>
              <a:tblPr firstRow="0" bandRow="0">
                <a:tableStyleId>{2D5ABB26-0587-4C30-8999-92F81FD0307C}</a:tableStyleId>
              </a:tblPr>
              <a:tblGrid>
                <a:gridCol w="3415958"/>
                <a:gridCol w="7715033"/>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One query or four?</a:t>
                      </a:r>
                    </a:p>
                  </a:txBody>
                  <a:tcPr marL="101600" marR="101600" marT="38100" marB="38100" anchor="ctr">
                    <a:solidFill>
                      <a:srgbClr val="FFFFFF"/>
                    </a:solidFill>
                  </a:tcPr>
                </a:tc>
                <a:tc>
                  <a:txBody>
                    <a:bodyPr/>
                    <a:lstStyle/>
                    <a:p>
                      <a:r>
                        <a:rPr sz="1100" b="0" i="0">
                          <a:solidFill>
                            <a:srgbClr val="1A1440"/>
                          </a:solidFill>
                          <a:latin typeface="Calibri"/>
                        </a:rPr>
                        <a:t>One GROUP BY: one query, eight rows, new segments appear</a:t>
                      </a:r>
                    </a:p>
                  </a:txBody>
                  <a:tcPr marL="101600" marR="101600" marT="38100" marB="38100" anchor="ctr">
                    <a:solidFill>
                      <a:srgbClr val="FFFFFF"/>
                    </a:solidFill>
                  </a:tcPr>
                </a:tc>
              </a:tr>
              <a:tr h="318008">
                <a:tc>
                  <a:txBody>
                    <a:bodyPr/>
                    <a:lstStyle/>
                    <a:p>
                      <a:r>
                        <a:rPr sz="1100" b="0" i="0">
                          <a:solidFill>
                            <a:srgbClr val="1A1440"/>
                          </a:solidFill>
                          <a:latin typeface="Calibri"/>
                        </a:rPr>
                        <a:t>2. What did each book?</a:t>
                      </a:r>
                    </a:p>
                  </a:txBody>
                  <a:tcPr marL="101600" marR="101600" marT="38100" marB="38100" anchor="ctr">
                    <a:solidFill>
                      <a:srgbClr val="F4F2FA"/>
                    </a:solidFill>
                  </a:tcPr>
                </a:tc>
                <a:tc>
                  <a:txBody>
                    <a:bodyPr/>
                    <a:lstStyle/>
                    <a:p>
                      <a:r>
                        <a:rPr sz="1100" b="0" i="0">
                          <a:solidFill>
                            <a:srgbClr val="1A1440"/>
                          </a:solidFill>
                          <a:latin typeface="Calibri"/>
                        </a:rPr>
                        <a:t>Retail-Plus down 29.4%, 75 of the 76 fewer orders</a:t>
                      </a:r>
                    </a:p>
                  </a:txBody>
                  <a:tcPr marL="101600" marR="101600" marT="38100" marB="38100" anchor="ctr">
                    <a:solidFill>
                      <a:srgbClr val="F4F2FA"/>
                    </a:solidFill>
                  </a:tcPr>
                </a:tc>
              </a:tr>
              <a:tr h="318008">
                <a:tc>
                  <a:txBody>
                    <a:bodyPr/>
                    <a:lstStyle/>
                    <a:p>
                      <a:r>
                        <a:rPr sz="1100" b="0" i="0">
                          <a:solidFill>
                            <a:srgbClr val="1A1440"/>
                          </a:solidFill>
                          <a:latin typeface="Calibri"/>
                        </a:rPr>
                        <a:t>3. Which are too thin?</a:t>
                      </a:r>
                    </a:p>
                  </a:txBody>
                  <a:tcPr marL="101600" marR="101600" marT="38100" marB="38100" anchor="ctr">
                    <a:solidFill>
                      <a:srgbClr val="FFFFFF"/>
                    </a:solidFill>
                  </a:tcPr>
                </a:tc>
                <a:tc>
                  <a:txBody>
                    <a:bodyPr/>
                    <a:lstStyle/>
                    <a:p>
                      <a:r>
                        <a:rPr sz="1100" b="0" i="0">
                          <a:solidFill>
                            <a:srgbClr val="1A1440"/>
                          </a:solidFill>
                          <a:latin typeface="Calibri"/>
                        </a:rPr>
                        <a:t>Student, with 15 and 20 customers</a:t>
                      </a:r>
                    </a:p>
                  </a:txBody>
                  <a:tcPr marL="101600" marR="101600" marT="38100" marB="38100" anchor="ctr">
                    <a:solidFill>
                      <a:srgbClr val="FFFFFF"/>
                    </a:solidFill>
                  </a:tcPr>
                </a:tc>
              </a:tr>
              <a:tr h="318008">
                <a:tc>
                  <a:txBody>
                    <a:bodyPr/>
                    <a:lstStyle/>
                    <a:p>
                      <a:r>
                        <a:rPr sz="1100" b="0" i="0">
                          <a:solidFill>
                            <a:srgbClr val="1A1440"/>
                          </a:solidFill>
                          <a:latin typeface="Calibri"/>
                        </a:rPr>
                        <a:t>4. How often?</a:t>
                      </a:r>
                    </a:p>
                  </a:txBody>
                  <a:tcPr marL="101600" marR="101600" marT="38100" marB="38100" anchor="ctr">
                    <a:solidFill>
                      <a:srgbClr val="F4F2FA"/>
                    </a:solidFill>
                  </a:tcPr>
                </a:tc>
                <a:tc>
                  <a:txBody>
                    <a:bodyPr/>
                    <a:lstStyle/>
                    <a:p>
                      <a:r>
                        <a:rPr sz="1100" b="0" i="0">
                          <a:solidFill>
                            <a:srgbClr val="1A1440"/>
                          </a:solidFill>
                          <a:latin typeface="Calibri"/>
                        </a:rPr>
                        <a:t>Retail-Plus 2.36 then 1.84, down 22.0%; integers said 2 then 1</a:t>
                      </a:r>
                    </a:p>
                  </a:txBody>
                  <a:tcPr marL="101600" marR="101600" marT="38100" marB="38100" anchor="ctr">
                    <a:solidFill>
                      <a:srgbClr val="F4F2FA"/>
                    </a:solidFill>
                  </a:tcPr>
                </a:tc>
              </a:tr>
              <a:tr h="318008">
                <a:tc>
                  <a:txBody>
                    <a:bodyPr/>
                    <a:lstStyle/>
                    <a:p>
                      <a:r>
                        <a:rPr sz="1100" b="0" i="0">
                          <a:solidFill>
                            <a:srgbClr val="1A1440"/>
                          </a:solidFill>
                          <a:latin typeface="Calibri"/>
                        </a:rPr>
                        <a:t>5. Another way?</a:t>
                      </a:r>
                    </a:p>
                  </a:txBody>
                  <a:tcPr marL="101600" marR="101600" marT="38100" marB="38100" anchor="ctr">
                    <a:solidFill>
                      <a:srgbClr val="FFFFFF"/>
                    </a:solidFill>
                  </a:tcPr>
                </a:tc>
                <a:tc>
                  <a:txBody>
                    <a:bodyPr/>
                    <a:lstStyle/>
                    <a:p>
                      <a:r>
                        <a:rPr sz="1100" b="0" i="0">
                          <a:solidFill>
                            <a:srgbClr val="1A1440"/>
                          </a:solidFill>
                          <a:latin typeface="Calibri"/>
                        </a:rPr>
                        <a:t>Each customer's own count averages to the same eight ratios</a:t>
                      </a:r>
                    </a:p>
                  </a:txBody>
                  <a:tcPr marL="101600" marR="101600" marT="38100" marB="38100" anchor="ctr">
                    <a:solidFill>
                      <a:srgbClr val="FFFFFF"/>
                    </a:solidFill>
                  </a:tcPr>
                </a:tc>
              </a:tr>
            </a:tbl>
          </a:graphicData>
        </a:graphic>
      </p:graphicFrame>
      <p:sp>
        <p:nvSpPr>
          <p:cNvPr id="10" name="Rounded Rectangle 9"/>
          <p:cNvSpPr/>
          <p:nvPr/>
        </p:nvSpPr>
        <p:spPr>
          <a:xfrm>
            <a:off x="530352" y="395732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0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0192"/>
            <a:ext cx="237744" cy="237744"/>
          </a:xfrm>
          <a:prstGeom prst="rect">
            <a:avLst/>
          </a:prstGeom>
        </p:spPr>
      </p:pic>
      <p:sp>
        <p:nvSpPr>
          <p:cNvPr id="13" name="TextBox 12"/>
          <p:cNvSpPr txBox="1"/>
          <p:nvPr/>
        </p:nvSpPr>
        <p:spPr>
          <a:xfrm>
            <a:off x="1399031" y="4103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23080"/>
            <a:ext cx="9987991" cy="544576"/>
          </a:xfrm>
          <a:prstGeom prst="rect">
            <a:avLst/>
          </a:prstGeom>
          <a:noFill/>
        </p:spPr>
        <p:txBody>
          <a:bodyPr wrap="square" anchor="t" lIns="0" rIns="0" tIns="0" bIns="0">
            <a:spAutoFit/>
          </a:bodyPr>
          <a:lstStyle/>
          <a:p>
            <a:r>
              <a:rPr sz="1100" b="0" i="0">
                <a:solidFill>
                  <a:srgbClr val="1A1440"/>
                </a:solidFill>
                <a:latin typeface="Calibri"/>
              </a:rPr>
              <a:t>Divide in numeric and round on purpose. Keep the counts beside every ratio, so anyone reading the sheet can multiply it back: a ratio that does not multiply back to its orders is a number nobody should sign.</a:t>
            </a:r>
          </a:p>
        </p:txBody>
      </p:sp>
      <p:sp>
        <p:nvSpPr>
          <p:cNvPr id="15" name="Rounded Rectangle 14"/>
          <p:cNvSpPr/>
          <p:nvPr/>
        </p:nvSpPr>
        <p:spPr>
          <a:xfrm>
            <a:off x="530352" y="510540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2517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71160"/>
            <a:ext cx="9987991" cy="544576"/>
          </a:xfrm>
          <a:prstGeom prst="rect">
            <a:avLst/>
          </a:prstGeom>
          <a:noFill/>
        </p:spPr>
        <p:txBody>
          <a:bodyPr wrap="square" anchor="t" lIns="0" rIns="0" tIns="0" bIns="0">
            <a:spAutoFit/>
          </a:bodyPr>
          <a:lstStyle/>
          <a:p>
            <a:r>
              <a:rPr sz="1100" b="0" i="0">
                <a:solidFill>
                  <a:srgbClr val="1A1440"/>
                </a:solidFill>
                <a:latin typeface="Calibri"/>
              </a:rPr>
              <a:t>[F] Orders per customer reads 1 for a segment; what do you check first? [S] WHERE against HAVING, one sentence each. [S] Explain the logical order in which a SQL query runs.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77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of each segment's tree moved, and how much less did each Retail-Plus member spend?</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52 / 77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before the tier's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wants the quarter comparison as one query that reads from top to bottom, and the head of Retail-Plus decides how hard to work to keep the tier's members. An average that quietly leaves out members who stopped buying says the tier's spend per member fell 15.5 percent when it fell 29.4.</a:t>
            </a:r>
          </a:p>
        </p:txBody>
      </p:sp>
      <p:sp>
        <p:nvSpPr>
          <p:cNvPr id="12" name="Rectangle 11"/>
          <p:cNvSpPr/>
          <p:nvPr/>
        </p:nvSpPr>
        <p:spPr>
          <a:xfrm>
            <a:off x="1853145" y="40294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way to write it?</a:t>
            </a:r>
          </a:p>
        </p:txBody>
      </p:sp>
      <p:sp>
        <p:nvSpPr>
          <p:cNvPr id="17" name="TextBox 16"/>
          <p:cNvSpPr txBox="1"/>
          <p:nvPr/>
        </p:nvSpPr>
        <p:spPr>
          <a:xfrm>
            <a:off x="694944" y="4783582"/>
            <a:ext cx="2316403" cy="366776"/>
          </a:xfrm>
          <a:prstGeom prst="rect">
            <a:avLst/>
          </a:prstGeom>
          <a:noFill/>
        </p:spPr>
        <p:txBody>
          <a:bodyPr wrap="square" anchor="t" lIns="0" rIns="0" tIns="0" bIns="0">
            <a:spAutoFit/>
          </a:bodyPr>
          <a:lstStyle/>
          <a:p>
            <a:pPr algn="l"/>
            <a:r>
              <a:rPr sz="1000" b="0" i="0">
                <a:solidFill>
                  <a:srgbClr val="6B6690"/>
                </a:solidFill>
                <a:latin typeface="Calibri"/>
              </a:rPr>
              <a:t>Subqueries, named steps or temporary tables</a:t>
            </a:r>
          </a:p>
        </p:txBody>
      </p:sp>
      <p:sp>
        <p:nvSpPr>
          <p:cNvPr id="18" name="TextBox 17"/>
          <p:cNvSpPr txBox="1"/>
          <p:nvPr/>
        </p:nvSpPr>
        <p:spPr>
          <a:xfrm>
            <a:off x="3358819"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2" name="TextBox 21"/>
          <p:cNvSpPr txBox="1"/>
          <p:nvPr/>
        </p:nvSpPr>
        <p:spPr>
          <a:xfrm>
            <a:off x="3523411" y="4783582"/>
            <a:ext cx="2316403" cy="201676"/>
          </a:xfrm>
          <a:prstGeom prst="rect">
            <a:avLst/>
          </a:prstGeom>
          <a:noFill/>
        </p:spPr>
        <p:txBody>
          <a:bodyPr wrap="square" anchor="t" lIns="0" rIns="0" tIns="0" bIns="0">
            <a:spAutoFit/>
          </a:bodyPr>
          <a:lstStyle/>
          <a:p>
            <a:pPr algn="l"/>
            <a:r>
              <a:rPr sz="1000" b="0" i="0">
                <a:solidFill>
                  <a:srgbClr val="6B6690"/>
                </a:solidFill>
                <a:latin typeface="Calibri"/>
              </a:rPr>
              <a:t>Customers, frequency, order value</a:t>
            </a:r>
          </a:p>
        </p:txBody>
      </p:sp>
      <p:sp>
        <p:nvSpPr>
          <p:cNvPr id="23" name="TextBox 22"/>
          <p:cNvSpPr txBox="1"/>
          <p:nvPr/>
        </p:nvSpPr>
        <p:spPr>
          <a:xfrm>
            <a:off x="6187287"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much less each?</a:t>
            </a:r>
          </a:p>
        </p:txBody>
      </p:sp>
      <p:sp>
        <p:nvSpPr>
          <p:cNvPr id="27" name="TextBox 26"/>
          <p:cNvSpPr txBox="1"/>
          <p:nvPr/>
        </p:nvSpPr>
        <p:spPr>
          <a:xfrm>
            <a:off x="6351879" y="4783582"/>
            <a:ext cx="2316403" cy="201676"/>
          </a:xfrm>
          <a:prstGeom prst="rect">
            <a:avLst/>
          </a:prstGeom>
          <a:noFill/>
        </p:spPr>
        <p:txBody>
          <a:bodyPr wrap="square" anchor="t" lIns="0" rIns="0" tIns="0" bIns="0">
            <a:spAutoFit/>
          </a:bodyPr>
          <a:lstStyle/>
          <a:p>
            <a:pPr algn="l"/>
            <a:r>
              <a:rPr sz="1000" b="0" i="0">
                <a:solidFill>
                  <a:srgbClr val="6B6690"/>
                </a:solidFill>
                <a:latin typeface="Calibri"/>
              </a:rPr>
              <a:t>Spend per Retail-Plus member</a:t>
            </a:r>
          </a:p>
        </p:txBody>
      </p:sp>
      <p:sp>
        <p:nvSpPr>
          <p:cNvPr id="28" name="TextBox 27"/>
          <p:cNvSpPr txBox="1"/>
          <p:nvPr/>
        </p:nvSpPr>
        <p:spPr>
          <a:xfrm>
            <a:off x="9015755"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43494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4495800"/>
            <a:ext cx="2316403" cy="251205"/>
          </a:xfrm>
          <a:prstGeom prst="rect">
            <a:avLst/>
          </a:prstGeom>
          <a:noFill/>
        </p:spPr>
        <p:txBody>
          <a:bodyPr wrap="square" anchor="t" lIns="0" rIns="0" tIns="0" bIns="0">
            <a:spAutoFit/>
          </a:bodyPr>
          <a:lstStyle/>
          <a:p>
            <a:pPr algn="l"/>
            <a:r>
              <a:rPr sz="1300" b="1" i="0">
                <a:solidFill>
                  <a:srgbClr val="FFFFFF"/>
                </a:solidFill>
                <a:latin typeface="Calibri"/>
              </a:rPr>
              <a:t>Another count agree?</a:t>
            </a:r>
          </a:p>
        </p:txBody>
      </p:sp>
      <p:sp>
        <p:nvSpPr>
          <p:cNvPr id="32" name="TextBox 31"/>
          <p:cNvSpPr txBox="1"/>
          <p:nvPr/>
        </p:nvSpPr>
        <p:spPr>
          <a:xfrm>
            <a:off x="9180347" y="4783582"/>
            <a:ext cx="2316403" cy="201676"/>
          </a:xfrm>
          <a:prstGeom prst="rect">
            <a:avLst/>
          </a:prstGeom>
          <a:noFill/>
        </p:spPr>
        <p:txBody>
          <a:bodyPr wrap="square" anchor="t" lIns="0" rIns="0" tIns="0" bIns="0">
            <a:spAutoFit/>
          </a:bodyPr>
          <a:lstStyle/>
          <a:p>
            <a:pPr algn="l"/>
            <a:r>
              <a:rPr sz="1000" b="0" i="0">
                <a:solidFill>
                  <a:srgbClr val="CFC9EE"/>
                </a:solidFill>
                <a:latin typeface="Calibri"/>
              </a:rPr>
              <a:t>Members from the customer table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5" name="Oval 3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9" name="Oval 3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41" name="Oval 4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how much less each member spent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average cost?</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"How much less is each of my members spending, and is it fewer members buying or each one buying less?"</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The head of Retail-Plus, Kalpa Retail</a:t>
            </a:r>
          </a:p>
        </p:txBody>
      </p:sp>
      <p:sp>
        <p:nvSpPr>
          <p:cNvPr id="13" name="Rounded Rectangle 12"/>
          <p:cNvSpPr/>
          <p:nvPr/>
        </p:nvSpPr>
        <p:spPr>
          <a:xfrm>
            <a:off x="530352" y="3468624"/>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user_c13406686cbb.png"/>
          <p:cNvPicPr>
            <a:picLocks noChangeAspect="1"/>
          </p:cNvPicPr>
          <p:nvPr/>
        </p:nvPicPr>
        <p:blipFill>
          <a:blip r:embed="rId4"/>
          <a:stretch>
            <a:fillRect/>
          </a:stretch>
        </p:blipFill>
        <p:spPr>
          <a:xfrm>
            <a:off x="841247" y="3779520"/>
            <a:ext cx="237744" cy="237744"/>
          </a:xfrm>
          <a:prstGeom prst="rect">
            <a:avLst/>
          </a:prstGeom>
        </p:spPr>
      </p:pic>
      <p:sp>
        <p:nvSpPr>
          <p:cNvPr id="16" name="TextBox 15"/>
          <p:cNvSpPr txBox="1"/>
          <p:nvPr/>
        </p:nvSpPr>
        <p:spPr>
          <a:xfrm>
            <a:off x="731519"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7" name="TextBox 16"/>
          <p:cNvSpPr txBox="1"/>
          <p:nvPr/>
        </p:nvSpPr>
        <p:spPr>
          <a:xfrm>
            <a:off x="731519"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8" name="TextBox 17"/>
          <p:cNvSpPr txBox="1"/>
          <p:nvPr/>
        </p:nvSpPr>
        <p:spPr>
          <a:xfrm>
            <a:off x="731519"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Sets how hard the team works to keep the tier's members next quarter.</a:t>
            </a:r>
          </a:p>
        </p:txBody>
      </p:sp>
      <p:sp>
        <p:nvSpPr>
          <p:cNvPr id="19" name="Rounded Rectangle 18"/>
          <p:cNvSpPr/>
          <p:nvPr/>
        </p:nvSpPr>
        <p:spPr>
          <a:xfrm>
            <a:off x="4301642" y="3468624"/>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502810"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art-line_ded8d80bd4ff.png"/>
          <p:cNvPicPr>
            <a:picLocks noChangeAspect="1"/>
          </p:cNvPicPr>
          <p:nvPr/>
        </p:nvPicPr>
        <p:blipFill>
          <a:blip r:embed="rId5"/>
          <a:stretch>
            <a:fillRect/>
          </a:stretch>
        </p:blipFill>
        <p:spPr>
          <a:xfrm>
            <a:off x="4612538" y="3779520"/>
            <a:ext cx="237744" cy="237744"/>
          </a:xfrm>
          <a:prstGeom prst="rect">
            <a:avLst/>
          </a:prstGeom>
        </p:spPr>
      </p:pic>
      <p:sp>
        <p:nvSpPr>
          <p:cNvPr id="22" name="TextBox 21"/>
          <p:cNvSpPr txBox="1"/>
          <p:nvPr/>
        </p:nvSpPr>
        <p:spPr>
          <a:xfrm>
            <a:off x="4502810"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23" name="TextBox 22"/>
          <p:cNvSpPr txBox="1"/>
          <p:nvPr/>
        </p:nvSpPr>
        <p:spPr>
          <a:xfrm>
            <a:off x="4502810"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Spend per member</a:t>
            </a:r>
          </a:p>
        </p:txBody>
      </p:sp>
      <p:sp>
        <p:nvSpPr>
          <p:cNvPr id="24" name="TextBox 23"/>
          <p:cNvSpPr txBox="1"/>
          <p:nvPr/>
        </p:nvSpPr>
        <p:spPr>
          <a:xfrm>
            <a:off x="4502810"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rupees a member spent in a quarter, averaged over the tier's members.</a:t>
            </a:r>
          </a:p>
        </p:txBody>
      </p:sp>
      <p:sp>
        <p:nvSpPr>
          <p:cNvPr id="25" name="Rounded Rectangle 24"/>
          <p:cNvSpPr/>
          <p:nvPr/>
        </p:nvSpPr>
        <p:spPr>
          <a:xfrm>
            <a:off x="8072932" y="3468624"/>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3669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riangle-alert_e79485772e4f.png"/>
          <p:cNvPicPr>
            <a:picLocks noChangeAspect="1"/>
          </p:cNvPicPr>
          <p:nvPr/>
        </p:nvPicPr>
        <p:blipFill>
          <a:blip r:embed="rId6"/>
          <a:stretch>
            <a:fillRect/>
          </a:stretch>
        </p:blipFill>
        <p:spPr>
          <a:xfrm>
            <a:off x="8383828" y="3779520"/>
            <a:ext cx="237744" cy="237744"/>
          </a:xfrm>
          <a:prstGeom prst="rect">
            <a:avLst/>
          </a:prstGeom>
        </p:spPr>
      </p:pic>
      <p:sp>
        <p:nvSpPr>
          <p:cNvPr id="28" name="TextBox 27"/>
          <p:cNvSpPr txBox="1"/>
          <p:nvPr/>
        </p:nvSpPr>
        <p:spPr>
          <a:xfrm>
            <a:off x="8274100" y="4236720"/>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AVERAGE COSTS</a:t>
            </a:r>
          </a:p>
        </p:txBody>
      </p:sp>
      <p:sp>
        <p:nvSpPr>
          <p:cNvPr id="29" name="TextBox 28"/>
          <p:cNvSpPr txBox="1"/>
          <p:nvPr/>
        </p:nvSpPr>
        <p:spPr>
          <a:xfrm>
            <a:off x="8274100" y="4474464"/>
            <a:ext cx="3186074" cy="267716"/>
          </a:xfrm>
          <a:prstGeom prst="rect">
            <a:avLst/>
          </a:prstGeom>
          <a:noFill/>
        </p:spPr>
        <p:txBody>
          <a:bodyPr wrap="square" anchor="t" lIns="0" rIns="0" tIns="0" bIns="0">
            <a:spAutoFit/>
          </a:bodyPr>
          <a:lstStyle/>
          <a:p>
            <a:pPr algn="l"/>
            <a:r>
              <a:rPr sz="1400" b="1" i="0">
                <a:solidFill>
                  <a:srgbClr val="FFFFFF"/>
                </a:solidFill>
                <a:latin typeface="Calibri"/>
              </a:rPr>
              <a:t>A light touch</a:t>
            </a:r>
          </a:p>
        </p:txBody>
      </p:sp>
      <p:sp>
        <p:nvSpPr>
          <p:cNvPr id="30" name="TextBox 29"/>
          <p:cNvSpPr txBox="1"/>
          <p:nvPr/>
        </p:nvSpPr>
        <p:spPr>
          <a:xfrm>
            <a:off x="8274100" y="4815332"/>
            <a:ext cx="3186074" cy="399796"/>
          </a:xfrm>
          <a:prstGeom prst="rect">
            <a:avLst/>
          </a:prstGeom>
          <a:noFill/>
        </p:spPr>
        <p:txBody>
          <a:bodyPr wrap="square" anchor="t" lIns="0" rIns="0" tIns="0" bIns="0">
            <a:spAutoFit/>
          </a:bodyPr>
          <a:lstStyle/>
          <a:p>
            <a:pPr algn="l"/>
            <a:r>
              <a:rPr sz="1100" b="0" i="0">
                <a:solidFill>
                  <a:srgbClr val="CFC9EE"/>
                </a:solidFill>
                <a:latin typeface="Calibri"/>
              </a:rPr>
              <a:t>A modest dip gets a light plan while the tier loses nearly a third of its spend.</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GitLab writes every query as named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real data team keep a query readable for the people who audit it?</a:t>
            </a:r>
          </a:p>
        </p:txBody>
      </p:sp>
      <p:sp>
        <p:nvSpPr>
          <p:cNvPr id="9" name="Rounded Rectangle 8"/>
          <p:cNvSpPr/>
          <p:nvPr/>
        </p:nvSpPr>
        <p:spPr>
          <a:xfrm>
            <a:off x="530352" y="195681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467359"/>
          </a:xfrm>
          <a:prstGeom prst="rect">
            <a:avLst/>
          </a:prstGeom>
          <a:noFill/>
        </p:spPr>
        <p:txBody>
          <a:bodyPr wrap="square" anchor="t" lIns="0" rIns="0" tIns="0" bIns="0">
            <a:spAutoFit/>
          </a:bodyPr>
          <a:lstStyle/>
          <a:p>
            <a:r>
              <a:rPr sz="1600" b="0" i="1">
                <a:solidFill>
                  <a:srgbClr val="1A0F5C"/>
                </a:solidFill>
                <a:latin typeface="Georgia"/>
              </a:rPr>
              <a:t>"Prefer CTEs over sub-queries as CTEs make SQL more readable ..."</a:t>
            </a:r>
          </a:p>
        </p:txBody>
      </p:sp>
      <p:sp>
        <p:nvSpPr>
          <p:cNvPr id="11" name="Rounded Rectangle 10"/>
          <p:cNvSpPr/>
          <p:nvPr/>
        </p:nvSpPr>
        <p:spPr>
          <a:xfrm>
            <a:off x="530352" y="257048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570480"/>
            <a:ext cx="10820095" cy="467359"/>
          </a:xfrm>
          <a:prstGeom prst="rect">
            <a:avLst/>
          </a:prstGeom>
          <a:noFill/>
        </p:spPr>
        <p:txBody>
          <a:bodyPr wrap="square" anchor="t" lIns="0" rIns="0" tIns="0" bIns="0">
            <a:spAutoFit/>
          </a:bodyPr>
          <a:lstStyle/>
          <a:p>
            <a:r>
              <a:rPr sz="1600" b="0" i="1">
                <a:solidFill>
                  <a:srgbClr val="1A0F5C"/>
                </a:solidFill>
                <a:latin typeface="Georgia"/>
              </a:rPr>
              <a:t>GitLab handbook, SQL Style Guide</a:t>
            </a:r>
          </a:p>
        </p:txBody>
      </p:sp>
      <p:sp>
        <p:nvSpPr>
          <p:cNvPr id="13" name="Rounded Rectangle 12"/>
          <p:cNvSpPr/>
          <p:nvPr/>
        </p:nvSpPr>
        <p:spPr>
          <a:xfrm>
            <a:off x="530352" y="3184144"/>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38531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ordered_6bff7db210fa.png"/>
          <p:cNvPicPr>
            <a:picLocks noChangeAspect="1"/>
          </p:cNvPicPr>
          <p:nvPr/>
        </p:nvPicPr>
        <p:blipFill>
          <a:blip r:embed="rId4"/>
          <a:stretch>
            <a:fillRect/>
          </a:stretch>
        </p:blipFill>
        <p:spPr>
          <a:xfrm>
            <a:off x="841247" y="3495040"/>
            <a:ext cx="237744" cy="237744"/>
          </a:xfrm>
          <a:prstGeom prst="rect">
            <a:avLst/>
          </a:prstGeom>
        </p:spPr>
      </p:pic>
      <p:sp>
        <p:nvSpPr>
          <p:cNvPr id="16" name="TextBox 15"/>
          <p:cNvSpPr txBox="1"/>
          <p:nvPr/>
        </p:nvSpPr>
        <p:spPr>
          <a:xfrm>
            <a:off x="731519" y="3952240"/>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731519" y="4189983"/>
            <a:ext cx="5071719" cy="267716"/>
          </a:xfrm>
          <a:prstGeom prst="rect">
            <a:avLst/>
          </a:prstGeom>
          <a:noFill/>
        </p:spPr>
        <p:txBody>
          <a:bodyPr wrap="square" anchor="t" lIns="0" rIns="0" tIns="0" bIns="0">
            <a:spAutoFit/>
          </a:bodyPr>
          <a:lstStyle/>
          <a:p>
            <a:pPr algn="l"/>
            <a:r>
              <a:rPr sz="1400" b="1" i="0">
                <a:solidFill>
                  <a:srgbClr val="1A0F5C"/>
                </a:solidFill>
                <a:latin typeface="Calibri"/>
              </a:rPr>
              <a:t>One step, one job</a:t>
            </a:r>
          </a:p>
        </p:txBody>
      </p:sp>
      <p:sp>
        <p:nvSpPr>
          <p:cNvPr id="18" name="TextBox 17"/>
          <p:cNvSpPr txBox="1"/>
          <p:nvPr/>
        </p:nvSpPr>
        <p:spPr>
          <a:xfrm>
            <a:off x="731519" y="4530851"/>
            <a:ext cx="5071719" cy="218186"/>
          </a:xfrm>
          <a:prstGeom prst="rect">
            <a:avLst/>
          </a:prstGeom>
          <a:noFill/>
        </p:spPr>
        <p:txBody>
          <a:bodyPr wrap="square" anchor="t" lIns="0" rIns="0" tIns="0" bIns="0">
            <a:spAutoFit/>
          </a:bodyPr>
          <a:lstStyle/>
          <a:p>
            <a:pPr algn="l"/>
            <a:r>
              <a:rPr sz="1100" b="0" i="0">
                <a:solidFill>
                  <a:srgbClr val="6B6690"/>
                </a:solidFill>
                <a:latin typeface="Calibri"/>
              </a:rPr>
              <a:t>Each named step should "perform a single, logical unit of work".</a:t>
            </a:r>
          </a:p>
        </p:txBody>
      </p:sp>
      <p:sp>
        <p:nvSpPr>
          <p:cNvPr id="19" name="Rounded Rectangle 18"/>
          <p:cNvSpPr/>
          <p:nvPr/>
        </p:nvSpPr>
        <p:spPr>
          <a:xfrm>
            <a:off x="6187287" y="3184144"/>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6388455" y="338531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essage-square_192cf68fa4e6.png"/>
          <p:cNvPicPr>
            <a:picLocks noChangeAspect="1"/>
          </p:cNvPicPr>
          <p:nvPr/>
        </p:nvPicPr>
        <p:blipFill>
          <a:blip r:embed="rId5"/>
          <a:stretch>
            <a:fillRect/>
          </a:stretch>
        </p:blipFill>
        <p:spPr>
          <a:xfrm>
            <a:off x="6498183" y="3495040"/>
            <a:ext cx="237744" cy="237744"/>
          </a:xfrm>
          <a:prstGeom prst="rect">
            <a:avLst/>
          </a:prstGeom>
        </p:spPr>
      </p:pic>
      <p:sp>
        <p:nvSpPr>
          <p:cNvPr id="22" name="TextBox 21"/>
          <p:cNvSpPr txBox="1"/>
          <p:nvPr/>
        </p:nvSpPr>
        <p:spPr>
          <a:xfrm>
            <a:off x="6388455" y="3952240"/>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HABIT</a:t>
            </a:r>
          </a:p>
        </p:txBody>
      </p:sp>
      <p:sp>
        <p:nvSpPr>
          <p:cNvPr id="23" name="TextBox 22"/>
          <p:cNvSpPr txBox="1"/>
          <p:nvPr/>
        </p:nvSpPr>
        <p:spPr>
          <a:xfrm>
            <a:off x="6388455" y="4189983"/>
            <a:ext cx="5071719" cy="267716"/>
          </a:xfrm>
          <a:prstGeom prst="rect">
            <a:avLst/>
          </a:prstGeom>
          <a:noFill/>
        </p:spPr>
        <p:txBody>
          <a:bodyPr wrap="square" anchor="t" lIns="0" rIns="0" tIns="0" bIns="0">
            <a:spAutoFit/>
          </a:bodyPr>
          <a:lstStyle/>
          <a:p>
            <a:pPr algn="l"/>
            <a:r>
              <a:rPr sz="1400" b="1" i="0">
                <a:solidFill>
                  <a:srgbClr val="1A0F5C"/>
                </a:solidFill>
                <a:latin typeface="Calibri"/>
              </a:rPr>
              <a:t>Say what it does</a:t>
            </a:r>
          </a:p>
        </p:txBody>
      </p:sp>
      <p:sp>
        <p:nvSpPr>
          <p:cNvPr id="24" name="TextBox 23"/>
          <p:cNvSpPr txBox="1"/>
          <p:nvPr/>
        </p:nvSpPr>
        <p:spPr>
          <a:xfrm>
            <a:off x="6388455" y="4530851"/>
            <a:ext cx="5071719" cy="218186"/>
          </a:xfrm>
          <a:prstGeom prst="rect">
            <a:avLst/>
          </a:prstGeom>
          <a:noFill/>
        </p:spPr>
        <p:txBody>
          <a:bodyPr wrap="square" anchor="t" lIns="0" rIns="0" tIns="0" bIns="0">
            <a:spAutoFit/>
          </a:bodyPr>
          <a:lstStyle/>
          <a:p>
            <a:pPr algn="l"/>
            <a:r>
              <a:rPr sz="1100" b="0" i="0">
                <a:solidFill>
                  <a:srgbClr val="6B6690"/>
                </a:solidFill>
                <a:latin typeface="Calibri"/>
              </a:rPr>
              <a:t>A calculation carries "a brief description of what's going 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7" name="Oval 2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9" name="Oval 2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1" name="Oval 3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3" name="Oval 3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Named steps read top down and rerun anywhere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Nested subqueries, named steps or temporary tables: which suits an audited suite?</a:t>
            </a:r>
          </a:p>
        </p:txBody>
      </p:sp>
      <p:graphicFrame>
        <p:nvGraphicFramePr>
          <p:cNvPr id="9" name="Table 8"/>
          <p:cNvGraphicFramePr>
            <a:graphicFrameLocks noGrp="1"/>
          </p:cNvGraphicFramePr>
          <p:nvPr/>
        </p:nvGraphicFramePr>
        <p:xfrm>
          <a:off x="530352" y="1956816"/>
          <a:ext cx="11130988" cy="1755648"/>
        </p:xfrm>
        <a:graphic>
          <a:graphicData uri="http://schemas.openxmlformats.org/drawingml/2006/table">
            <a:tbl>
              <a:tblPr firstRow="0" bandRow="0">
                <a:tableStyleId>{2D5ABB26-0587-4C30-8999-92F81FD0307C}</a:tableStyleId>
              </a:tblPr>
              <a:tblGrid>
                <a:gridCol w="2227134"/>
                <a:gridCol w="3423609"/>
                <a:gridCol w="2804433"/>
                <a:gridCol w="267581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How the analyst reads it</a:t>
                      </a:r>
                    </a:p>
                  </a:txBody>
                  <a:tcPr marL="101600" marR="101600" marT="38100" marB="38100" anchor="ctr">
                    <a:solidFill>
                      <a:srgbClr val="1A0F5C"/>
                    </a:solidFill>
                  </a:tcPr>
                </a:tc>
                <a:tc>
                  <a:txBody>
                    <a:bodyPr/>
                    <a:lstStyle/>
                    <a:p>
                      <a:r>
                        <a:rPr sz="1250" b="1" i="0">
                          <a:solidFill>
                            <a:srgbClr val="FFFFFF"/>
                          </a:solidFill>
                          <a:latin typeface="Calibri"/>
                        </a:rPr>
                        <a:t>Rows written into the warehouse</a:t>
                      </a:r>
                    </a:p>
                  </a:txBody>
                  <a:tcPr marL="101600" marR="101600" marT="38100" marB="38100" anchor="ctr">
                    <a:solidFill>
                      <a:srgbClr val="1A0F5C"/>
                    </a:solidFill>
                  </a:tcPr>
                </a:tc>
                <a:tc>
                  <a:txBody>
                    <a:bodyPr/>
                    <a:lstStyle/>
                    <a:p>
                      <a:r>
                        <a:rPr sz="1250" b="1" i="0">
                          <a:solidFill>
                            <a:srgbClr val="FFFFFF"/>
                          </a:solidFill>
                          <a:latin typeface="Calibri"/>
                        </a:rPr>
                        <a:t>A rerun in a new session</a:t>
                      </a:r>
                    </a:p>
                  </a:txBody>
                  <a:tcPr marL="101600" marR="101600" marT="38100" marB="38100" anchor="ctr">
                    <a:solidFill>
                      <a:srgbClr val="1A0F5C"/>
                    </a:solidFill>
                  </a:tcPr>
                </a:tc>
              </a:tr>
              <a:tr h="335280">
                <a:tc>
                  <a:txBody>
                    <a:bodyPr/>
                    <a:lstStyle/>
                    <a:p>
                      <a:r>
                        <a:rPr sz="1200" b="0" i="0">
                          <a:solidFill>
                            <a:srgbClr val="1A1440"/>
                          </a:solidFill>
                          <a:latin typeface="Calibri"/>
                        </a:rPr>
                        <a:t>A. Nested subqueries</a:t>
                      </a:r>
                    </a:p>
                  </a:txBody>
                  <a:tcPr marL="101600" marR="101600" marT="38100" marB="38100" anchor="ctr">
                    <a:solidFill>
                      <a:srgbClr val="FFFFFF"/>
                    </a:solidFill>
                  </a:tcPr>
                </a:tc>
                <a:tc>
                  <a:txBody>
                    <a:bodyPr/>
                    <a:lstStyle/>
                    <a:p>
                      <a:r>
                        <a:rPr sz="1200" b="0" i="0">
                          <a:solidFill>
                            <a:srgbClr val="1A1440"/>
                          </a:solidFill>
                          <a:latin typeface="Calibri"/>
                        </a:rPr>
                        <a:t>From the innermost bracket outwards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Works</a:t>
                      </a:r>
                    </a:p>
                  </a:txBody>
                  <a:tcPr marL="101600" marR="101600" marT="38100" marB="38100" anchor="ctr">
                    <a:solidFill>
                      <a:srgbClr val="FFFFFF"/>
                    </a:solidFill>
                  </a:tcPr>
                </a:tc>
              </a:tr>
              <a:tr h="542544">
                <a:tc>
                  <a:txBody>
                    <a:bodyPr/>
                    <a:lstStyle/>
                    <a:p>
                      <a:r>
                        <a:rPr sz="1200" b="0" i="0">
                          <a:solidFill>
                            <a:srgbClr val="1A1440"/>
                          </a:solidFill>
                          <a:latin typeface="Calibri"/>
                        </a:rPr>
                        <a:t>B. Named steps, WITH ... AS</a:t>
                      </a:r>
                    </a:p>
                  </a:txBody>
                  <a:tcPr marL="101600" marR="101600" marT="38100" marB="38100" anchor="ctr">
                    <a:solidFill>
                      <a:srgbClr val="F4F2FA"/>
                    </a:solidFill>
                  </a:tcPr>
                </a:tc>
                <a:tc>
                  <a:txBody>
                    <a:bodyPr/>
                    <a:lstStyle/>
                    <a:p>
                      <a:r>
                        <a:rPr sz="1200" b="0" i="0">
                          <a:solidFill>
                            <a:srgbClr val="1A1440"/>
                          </a:solidFill>
                          <a:latin typeface="Calibri"/>
                        </a:rPr>
                        <a:t>From the top down, one named step at a time</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Works</a:t>
                      </a:r>
                    </a:p>
                  </a:txBody>
                  <a:tcPr marL="101600" marR="101600" marT="38100" marB="38100" anchor="ctr">
                    <a:solidFill>
                      <a:srgbClr val="F4F2FA"/>
                    </a:solidFill>
                  </a:tcPr>
                </a:tc>
              </a:tr>
              <a:tr h="542544">
                <a:tc>
                  <a:txBody>
                    <a:bodyPr/>
                    <a:lstStyle/>
                    <a:p>
                      <a:r>
                        <a:rPr sz="1200" b="0" i="0">
                          <a:solidFill>
                            <a:srgbClr val="1A1440"/>
                          </a:solidFill>
                          <a:latin typeface="Calibri"/>
                        </a:rPr>
                        <a:t>C. Temporary tables</a:t>
                      </a:r>
                    </a:p>
                  </a:txBody>
                  <a:tcPr marL="101600" marR="101600" marT="38100" marB="38100" anchor="ctr">
                    <a:solidFill>
                      <a:srgbClr val="FFFFFF"/>
                    </a:solidFill>
                  </a:tcPr>
                </a:tc>
                <a:tc>
                  <a:txBody>
                    <a:bodyPr/>
                    <a:lstStyle/>
                    <a:p>
                      <a:r>
                        <a:rPr sz="1200" b="0" i="0">
                          <a:solidFill>
                            <a:srgbClr val="1A1440"/>
                          </a:solidFill>
                          <a:latin typeface="Calibri"/>
                        </a:rPr>
                        <a:t>Several statements, run in order</a:t>
                      </a:r>
                    </a:p>
                  </a:txBody>
                  <a:tcPr marL="101600" marR="101600" marT="38100" marB="38100" anchor="ctr">
                    <a:solidFill>
                      <a:srgbClr val="FFFFFF"/>
                    </a:solidFill>
                  </a:tcPr>
                </a:tc>
                <a:tc>
                  <a:txBody>
                    <a:bodyPr/>
                    <a:lstStyle/>
                    <a:p>
                      <a:r>
                        <a:rPr sz="1200" b="0" i="0">
                          <a:solidFill>
                            <a:srgbClr val="1A1440"/>
                          </a:solidFill>
                          <a:latin typeface="Calibri"/>
                        </a:rPr>
                        <a:t>4, for the session</a:t>
                      </a:r>
                    </a:p>
                  </a:txBody>
                  <a:tcPr marL="101600" marR="101600" marT="38100" marB="38100" anchor="ctr">
                    <a:solidFill>
                      <a:srgbClr val="FFFFFF"/>
                    </a:solidFill>
                  </a:tcPr>
                </a:tc>
                <a:tc>
                  <a:txBody>
                    <a:bodyPr/>
                    <a:lstStyle/>
                    <a:p>
                      <a:r>
                        <a:rPr sz="1200" b="0" i="0">
                          <a:solidFill>
                            <a:srgbClr val="1A1440"/>
                          </a:solidFill>
                          <a:latin typeface="Calibri"/>
                        </a:rPr>
                        <a:t>UndefinedTable: the table is gone</a:t>
                      </a:r>
                    </a:p>
                  </a:txBody>
                  <a:tcPr marL="101600" marR="101600" marT="38100" marB="38100" anchor="ctr">
                    <a:solidFill>
                      <a:srgbClr val="FFFFFF"/>
                    </a:solidFill>
                  </a:tcPr>
                </a:tc>
              </a:tr>
            </a:tbl>
          </a:graphicData>
        </a:graphic>
      </p:graphicFrame>
      <p:sp>
        <p:nvSpPr>
          <p:cNvPr id="10" name="Rounded Rectangle 9"/>
          <p:cNvSpPr/>
          <p:nvPr/>
        </p:nvSpPr>
        <p:spPr>
          <a:xfrm>
            <a:off x="530352" y="396849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965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87368"/>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t>
            </a:r>
            <a:r>
              <a:rPr sz="1500" b="1" i="0">
                <a:solidFill>
                  <a:srgbClr val="1A1440"/>
                </a:solidFill>
                <a:latin typeface="Calibri"/>
              </a:rPr>
              <a:t>What would change it:</a:t>
            </a:r>
            <a:r>
              <a:rPr sz="1500" b="0" i="0">
                <a:solidFill>
                  <a:srgbClr val="1A1440"/>
                </a:solidFill>
                <a:latin typeface="Calibri"/>
              </a:rPr>
              <a:t> a step that many queries reuse over millions of rows in one long session is cheaper as a temporary table, computed once; that is a performance choice for the platform team, and Anand's suite is nowhere near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named steps put Q1 beside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comparison look like as named steps?</a:t>
            </a:r>
          </a:p>
        </p:txBody>
      </p:sp>
      <p:sp>
        <p:nvSpPr>
          <p:cNvPr id="9" name="Rounded Rectangle 8"/>
          <p:cNvSpPr/>
          <p:nvPr/>
        </p:nvSpPr>
        <p:spPr>
          <a:xfrm>
            <a:off x="530352" y="168249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book AS (   -- step 1: each order with its segment</a:t>
            </a:r>
          </a:p>
          <a:p>
            <a:pPr>
              <a:spcAft>
                <a:spcPts val="200"/>
              </a:spcAft>
            </a:pPr>
            <a:r>
              <a:rPr sz="1400" b="0" i="0">
                <a:solidFill>
                  <a:srgbClr val="E4E1F1"/>
                </a:solidFill>
                <a:latin typeface="Consolas"/>
              </a:rPr>
              <a:t>    SELECT o.customer_id, o.quarter, o.amount, c.segment</a:t>
            </a:r>
          </a:p>
          <a:p>
            <a:pPr>
              <a:spcAft>
                <a:spcPts val="200"/>
              </a:spcAft>
            </a:pPr>
            <a:r>
              <a:rPr sz="1400" b="0" i="0">
                <a:solidFill>
                  <a:srgbClr val="E4E1F1"/>
                </a:solidFill>
                <a:latin typeface="Consolas"/>
              </a:rPr>
              <a:t>    FROM orders o JOIN customers c USING (customer_id)),</a:t>
            </a:r>
          </a:p>
          <a:p>
            <a:pPr>
              <a:spcAft>
                <a:spcPts val="200"/>
              </a:spcAft>
            </a:pPr>
            <a:r>
              <a:rPr sz="1400" b="0" i="0">
                <a:solidFill>
                  <a:srgbClr val="E4E1F1"/>
                </a:solidFill>
                <a:latin typeface="Consolas"/>
              </a:rPr>
              <a:t>q1 AS (          -- step 2: Q1's leaves per segment</a:t>
            </a:r>
          </a:p>
          <a:p>
            <a:pPr>
              <a:spcAft>
                <a:spcPts val="200"/>
              </a:spcAft>
            </a:pPr>
            <a:r>
              <a:rPr sz="1400" b="0" i="0">
                <a:solidFill>
                  <a:srgbClr val="E4E1F1"/>
                </a:solidFill>
                <a:latin typeface="Consolas"/>
              </a:rPr>
              <a:t>    SELECT segment, count(DISTINCT customer_id) AS customers,</a:t>
            </a:r>
          </a:p>
          <a:p>
            <a:pPr>
              <a:spcAft>
                <a:spcPts val="200"/>
              </a:spcAft>
            </a:pPr>
            <a:r>
              <a:rPr sz="1400" b="0" i="0">
                <a:solidFill>
                  <a:srgbClr val="E4E1F1"/>
                </a:solidFill>
                <a:latin typeface="Consolas"/>
              </a:rPr>
              <a:t>           count(*) AS orders, sum(amount) AS revenue</a:t>
            </a:r>
          </a:p>
          <a:p>
            <a:pPr>
              <a:spcAft>
                <a:spcPts val="200"/>
              </a:spcAft>
            </a:pPr>
            <a:r>
              <a:rPr sz="1400" b="0" i="0">
                <a:solidFill>
                  <a:srgbClr val="E4E1F1"/>
                </a:solidFill>
                <a:latin typeface="Consolas"/>
              </a:rPr>
              <a:t>    FROM book WHERE quarter = 'Q1' GROUP BY segment),</a:t>
            </a:r>
          </a:p>
          <a:p>
            <a:pPr>
              <a:spcAft>
                <a:spcPts val="200"/>
              </a:spcAft>
            </a:pPr>
            <a:r>
              <a:rPr sz="1400" b="0" i="0">
                <a:solidFill>
                  <a:srgbClr val="E4E1F1"/>
                </a:solidFill>
                <a:latin typeface="Consolas"/>
              </a:rPr>
              <a:t>q2 AS (...)      -- step 3: the same for Q2</a:t>
            </a:r>
          </a:p>
          <a:p>
            <a:pPr>
              <a:spcAft>
                <a:spcPts val="200"/>
              </a:spcAft>
            </a:pPr>
            <a:r>
              <a:rPr sz="1400" b="0" i="0">
                <a:solidFill>
                  <a:srgbClr val="E4E1F1"/>
                </a:solidFill>
                <a:latin typeface="Consolas"/>
              </a:rPr>
              <a:t>SELECT ...       -- step 4: each branch as Q2 over Q1</a:t>
            </a:r>
          </a:p>
        </p:txBody>
      </p:sp>
      <p:pic>
        <p:nvPicPr>
          <p:cNvPr id="14" name="mermaid diagram" descr="c9613a8337bd7a3c.png"/>
          <p:cNvPicPr>
            <a:picLocks noChangeAspect="1"/>
          </p:cNvPicPr>
          <p:nvPr/>
        </p:nvPicPr>
        <p:blipFill>
          <a:blip r:embed="rId5"/>
          <a:stretch>
            <a:fillRect/>
          </a:stretch>
        </p:blipFill>
        <p:spPr>
          <a:xfrm>
            <a:off x="2941167" y="4576572"/>
            <a:ext cx="6309360" cy="162306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fell furthest in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Customers, orders per customer or revenue per order: which moved most in Retail-Plus?</a:t>
            </a:r>
          </a:p>
        </p:txBody>
      </p:sp>
      <p:pic>
        <p:nvPicPr>
          <p:cNvPr id="9" name="mermaid diagram" descr="4487cdd253b71cc9.png"/>
          <p:cNvPicPr>
            <a:picLocks noChangeAspect="1"/>
          </p:cNvPicPr>
          <p:nvPr/>
        </p:nvPicPr>
        <p:blipFill>
          <a:blip r:embed="rId5"/>
          <a:stretch>
            <a:fillRect/>
          </a:stretch>
        </p:blipFill>
        <p:spPr>
          <a:xfrm>
            <a:off x="2152497" y="1942433"/>
            <a:ext cx="7886700" cy="3043237"/>
          </a:xfrm>
          <a:prstGeom prst="rect">
            <a:avLst/>
          </a:prstGeom>
        </p:spPr>
      </p:pic>
      <p:sp>
        <p:nvSpPr>
          <p:cNvPr id="10" name="Rounded Rectangle 9"/>
          <p:cNvSpPr/>
          <p:nvPr/>
        </p:nvSpPr>
        <p:spPr>
          <a:xfrm>
            <a:off x="530352" y="51319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99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5084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fell furthest? a) customers who bought; b) orders per customer; c) revenue per order; d) all three fell by the same amount.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0.780, and the three give 0.706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customers, frequency and order value move in each segment?</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1941409"/>
                <a:gridCol w="1811818"/>
                <a:gridCol w="3389443"/>
                <a:gridCol w="3073918"/>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Revenue per order</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0.972</a:t>
                      </a:r>
                    </a:p>
                  </a:txBody>
                  <a:tcPr marL="101600" marR="101600" marT="38100" marB="38100" anchor="ctr">
                    <a:solidFill>
                      <a:srgbClr val="FFFFFF"/>
                    </a:solidFill>
                  </a:tcPr>
                </a:tc>
                <a:tc>
                  <a:txBody>
                    <a:bodyPr/>
                    <a:lstStyle/>
                    <a:p>
                      <a:r>
                        <a:rPr sz="1200" b="0" i="0">
                          <a:solidFill>
                            <a:srgbClr val="1A1440"/>
                          </a:solidFill>
                          <a:latin typeface="Calibri"/>
                        </a:rPr>
                        <a:t>0.965</a:t>
                      </a:r>
                    </a:p>
                  </a:txBody>
                  <a:tcPr marL="101600" marR="101600" marT="38100" marB="38100" anchor="ctr">
                    <a:solidFill>
                      <a:srgbClr val="FFFFFF"/>
                    </a:solidFill>
                  </a:tcPr>
                </a:tc>
                <a:tc>
                  <a:txBody>
                    <a:bodyPr/>
                    <a:lstStyle/>
                    <a:p>
                      <a:r>
                        <a:rPr sz="1200" b="0" i="0">
                          <a:solidFill>
                            <a:srgbClr val="1A1440"/>
                          </a:solidFill>
                          <a:latin typeface="Calibri"/>
                        </a:rPr>
                        <a:t>1.051</a:t>
                      </a:r>
                    </a:p>
                  </a:txBody>
                  <a:tcPr marL="101600" marR="101600" marT="38100" marB="38100" anchor="ctr">
                    <a:solidFill>
                      <a:srgbClr val="FFFFFF"/>
                    </a:solidFill>
                  </a:tcPr>
                </a:tc>
                <a:tc>
                  <a:txBody>
                    <a:bodyPr/>
                    <a:lstStyle/>
                    <a:p>
                      <a:r>
                        <a:rPr sz="1200" b="0" i="0">
                          <a:solidFill>
                            <a:srgbClr val="1A1440"/>
                          </a:solidFill>
                          <a:latin typeface="Calibri"/>
                        </a:rPr>
                        <a:t>0.986</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0.941</a:t>
                      </a:r>
                    </a:p>
                  </a:txBody>
                  <a:tcPr marL="101600" marR="101600" marT="38100" marB="38100" anchor="ctr">
                    <a:solidFill>
                      <a:srgbClr val="F4F2FA"/>
                    </a:solidFill>
                  </a:tcPr>
                </a:tc>
                <a:tc>
                  <a:txBody>
                    <a:bodyPr/>
                    <a:lstStyle/>
                    <a:p>
                      <a:r>
                        <a:rPr sz="1200" b="0" i="0">
                          <a:solidFill>
                            <a:srgbClr val="1A1440"/>
                          </a:solidFill>
                          <a:latin typeface="Calibri"/>
                        </a:rPr>
                        <a:t>1.030</a:t>
                      </a:r>
                    </a:p>
                  </a:txBody>
                  <a:tcPr marL="101600" marR="101600" marT="38100" marB="38100" anchor="ctr">
                    <a:solidFill>
                      <a:srgbClr val="F4F2FA"/>
                    </a:solidFill>
                  </a:tcPr>
                </a:tc>
                <a:tc>
                  <a:txBody>
                    <a:bodyPr/>
                    <a:lstStyle/>
                    <a:p>
                      <a:r>
                        <a:rPr sz="1200" b="0" i="0">
                          <a:solidFill>
                            <a:srgbClr val="1A1440"/>
                          </a:solidFill>
                          <a:latin typeface="Calibri"/>
                        </a:rPr>
                        <a:t>1.012</a:t>
                      </a:r>
                    </a:p>
                  </a:txBody>
                  <a:tcPr marL="101600" marR="101600" marT="38100" marB="38100" anchor="ctr">
                    <a:solidFill>
                      <a:srgbClr val="F4F2FA"/>
                    </a:solidFill>
                  </a:tcPr>
                </a:tc>
                <a:tc>
                  <a:txBody>
                    <a:bodyPr/>
                    <a:lstStyle/>
                    <a:p>
                      <a:r>
                        <a:rPr sz="1200" b="0" i="0">
                          <a:solidFill>
                            <a:srgbClr val="1A1440"/>
                          </a:solidFill>
                          <a:latin typeface="Calibri"/>
                        </a:rPr>
                        <a:t>0.982</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0.835</a:t>
                      </a:r>
                    </a:p>
                  </a:txBody>
                  <a:tcPr marL="101600" marR="101600" marT="38100" marB="38100" anchor="ctr">
                    <a:solidFill>
                      <a:srgbClr val="FFFFFF"/>
                    </a:solidFill>
                  </a:tcPr>
                </a:tc>
                <a:tc>
                  <a:txBody>
                    <a:bodyPr/>
                    <a:lstStyle/>
                    <a:p>
                      <a:r>
                        <a:rPr sz="1200" b="0" i="0">
                          <a:solidFill>
                            <a:srgbClr val="1A1440"/>
                          </a:solidFill>
                          <a:latin typeface="Calibri"/>
                        </a:rPr>
                        <a:t>0.780</a:t>
                      </a:r>
                    </a:p>
                  </a:txBody>
                  <a:tcPr marL="101600" marR="101600" marT="38100" marB="38100" anchor="ctr">
                    <a:solidFill>
                      <a:srgbClr val="FFFFFF"/>
                    </a:solidFill>
                  </a:tcPr>
                </a:tc>
                <a:tc>
                  <a:txBody>
                    <a:bodyPr/>
                    <a:lstStyle/>
                    <a:p>
                      <a:r>
                        <a:rPr sz="1200" b="0" i="0">
                          <a:solidFill>
                            <a:srgbClr val="1A1440"/>
                          </a:solidFill>
                          <a:latin typeface="Calibri"/>
                        </a:rPr>
                        <a:t>1.084</a:t>
                      </a:r>
                    </a:p>
                  </a:txBody>
                  <a:tcPr marL="101600" marR="101600" marT="38100" marB="38100" anchor="ctr">
                    <a:solidFill>
                      <a:srgbClr val="FFFFFF"/>
                    </a:solidFill>
                  </a:tcPr>
                </a:tc>
                <a:tc>
                  <a:txBody>
                    <a:bodyPr/>
                    <a:lstStyle/>
                    <a:p>
                      <a:r>
                        <a:rPr sz="1200" b="0" i="0">
                          <a:solidFill>
                            <a:srgbClr val="1A1440"/>
                          </a:solidFill>
                          <a:latin typeface="Calibri"/>
                        </a:rPr>
                        <a:t>0.706</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1.333</a:t>
                      </a:r>
                    </a:p>
                  </a:txBody>
                  <a:tcPr marL="101600" marR="101600" marT="38100" marB="38100" anchor="ctr">
                    <a:solidFill>
                      <a:srgbClr val="F4F2FA"/>
                    </a:solidFill>
                  </a:tcPr>
                </a:tc>
                <a:tc>
                  <a:txBody>
                    <a:bodyPr/>
                    <a:lstStyle/>
                    <a:p>
                      <a:r>
                        <a:rPr sz="1200" b="0" i="0">
                          <a:solidFill>
                            <a:srgbClr val="1A1440"/>
                          </a:solidFill>
                          <a:latin typeface="Calibri"/>
                        </a:rPr>
                        <a:t>1.056</a:t>
                      </a:r>
                    </a:p>
                  </a:txBody>
                  <a:tcPr marL="101600" marR="101600" marT="38100" marB="38100" anchor="ctr">
                    <a:solidFill>
                      <a:srgbClr val="F4F2FA"/>
                    </a:solidFill>
                  </a:tcPr>
                </a:tc>
                <a:tc>
                  <a:txBody>
                    <a:bodyPr/>
                    <a:lstStyle/>
                    <a:p>
                      <a:r>
                        <a:rPr sz="1200" b="0" i="0">
                          <a:solidFill>
                            <a:srgbClr val="1A1440"/>
                          </a:solidFill>
                          <a:latin typeface="Calibri"/>
                        </a:rPr>
                        <a:t>0.951</a:t>
                      </a:r>
                    </a:p>
                  </a:txBody>
                  <a:tcPr marL="101600" marR="101600" marT="38100" marB="38100" anchor="ctr">
                    <a:solidFill>
                      <a:srgbClr val="F4F2FA"/>
                    </a:solidFill>
                  </a:tcPr>
                </a:tc>
                <a:tc>
                  <a:txBody>
                    <a:bodyPr/>
                    <a:lstStyle/>
                    <a:p>
                      <a:r>
                        <a:rPr sz="1200" b="0" i="0">
                          <a:solidFill>
                            <a:srgbClr val="1A1440"/>
                          </a:solidFill>
                          <a:latin typeface="Calibri"/>
                        </a:rPr>
                        <a:t>1.339</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In Retail-Plus, customers fell 16.5 percent, orders per customer 22.0 percent, and revenue per order rose 8.4 percent; the three multiply back to 0.706, the 29.4 percent fall.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members spent 15.5%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average of member spend tell the head of Retail-Plus?</a:t>
            </a:r>
          </a:p>
        </p:txBody>
      </p:sp>
      <p:sp>
        <p:nvSpPr>
          <p:cNvPr id="9" name="Rounded Rectangle 8"/>
          <p:cNvSpPr/>
          <p:nvPr/>
        </p:nvSpPr>
        <p:spPr>
          <a:xfrm>
            <a:off x="530352" y="1682496"/>
            <a:ext cx="5291175"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row per Retail-Plus member:</a:t>
            </a:r>
          </a:p>
          <a:p>
            <a:pPr>
              <a:spcAft>
                <a:spcPts val="200"/>
              </a:spcAft>
            </a:pPr>
            <a:r>
              <a:rPr sz="1400" b="0" i="0">
                <a:solidFill>
                  <a:srgbClr val="E4E1F1"/>
                </a:solidFill>
                <a:latin typeface="Consolas"/>
              </a:rPr>
              <a:t>sum(CASE WHEN o.quarter = 'Q1'</a:t>
            </a:r>
          </a:p>
          <a:p>
            <a:pPr>
              <a:spcAft>
                <a:spcPts val="200"/>
              </a:spcAft>
            </a:pPr>
            <a:r>
              <a:rPr sz="1400" b="0" i="0">
                <a:solidFill>
                  <a:srgbClr val="E4E1F1"/>
                </a:solidFill>
                <a:latin typeface="Consolas"/>
              </a:rPr>
              <a:t>         THEN o.amount END) AS q1_spend,</a:t>
            </a:r>
          </a:p>
          <a:p>
            <a:pPr>
              <a:spcAft>
                <a:spcPts val="200"/>
              </a:spcAft>
            </a:pPr>
            <a:r>
              <a:rPr sz="1400" b="0" i="0">
                <a:solidFill>
                  <a:srgbClr val="E4E1F1"/>
                </a:solidFill>
                <a:latin typeface="Consolas"/>
              </a:rPr>
              <a:t>sum(CASE WHEN o.quarter = 'Q2'</a:t>
            </a:r>
          </a:p>
          <a:p>
            <a:pPr>
              <a:spcAft>
                <a:spcPts val="200"/>
              </a:spcAft>
            </a:pPr>
            <a:r>
              <a:rPr sz="1400" b="0" i="0">
                <a:solidFill>
                  <a:srgbClr val="E4E1F1"/>
                </a:solidFill>
                <a:latin typeface="Consolas"/>
              </a:rPr>
              <a:t>         THEN o.amount END) AS q2_spend</a:t>
            </a:r>
          </a:p>
          <a:p>
            <a:pPr>
              <a:spcAft>
                <a:spcPts val="200"/>
              </a:spcAft>
            </a:pPr>
            <a:r>
              <a:rPr sz="1400" b="0" i="0">
                <a:solidFill>
                  <a:srgbClr val="A9A3D2"/>
                </a:solidFill>
                <a:latin typeface="Consolas"/>
              </a:rPr>
              <a:t>-- then, over those rows:</a:t>
            </a:r>
          </a:p>
          <a:p>
            <a:pPr>
              <a:spcAft>
                <a:spcPts val="200"/>
              </a:spcAft>
            </a:pPr>
            <a:r>
              <a:rPr sz="1400" b="0" i="0">
                <a:solidFill>
                  <a:srgbClr val="E4E1F1"/>
                </a:solidFill>
                <a:latin typeface="Consolas"/>
              </a:rPr>
              <a:t>avg(q1_spend), avg(q2_spend)</a:t>
            </a:r>
          </a:p>
        </p:txBody>
      </p:sp>
      <p:sp>
        <p:nvSpPr>
          <p:cNvPr id="14" name="TextBox 13"/>
          <p:cNvSpPr txBox="1"/>
          <p:nvPr/>
        </p:nvSpPr>
        <p:spPr>
          <a:xfrm>
            <a:off x="6370167"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Rs 6,437</a:t>
            </a:r>
          </a:p>
        </p:txBody>
      </p:sp>
      <p:sp>
        <p:nvSpPr>
          <p:cNvPr id="15" name="TextBox 14"/>
          <p:cNvSpPr txBox="1"/>
          <p:nvPr/>
        </p:nvSpPr>
        <p:spPr>
          <a:xfrm>
            <a:off x="6370167"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Q1 AVERAGE MEMBER</a:t>
            </a:r>
          </a:p>
        </p:txBody>
      </p:sp>
      <p:sp>
        <p:nvSpPr>
          <p:cNvPr id="16" name="TextBox 15"/>
          <p:cNvSpPr txBox="1"/>
          <p:nvPr/>
        </p:nvSpPr>
        <p:spPr>
          <a:xfrm>
            <a:off x="6370167" y="2237740"/>
            <a:ext cx="1580845" cy="193421"/>
          </a:xfrm>
          <a:prstGeom prst="rect">
            <a:avLst/>
          </a:prstGeom>
          <a:noFill/>
        </p:spPr>
        <p:txBody>
          <a:bodyPr wrap="square" anchor="t" lIns="0" rIns="0" tIns="0" bIns="0">
            <a:spAutoFit/>
          </a:bodyPr>
          <a:lstStyle/>
          <a:p>
            <a:pPr algn="l"/>
            <a:r>
              <a:rPr sz="950" b="0" i="0">
                <a:solidFill>
                  <a:srgbClr val="6B6690"/>
                </a:solidFill>
                <a:latin typeface="Calibri"/>
              </a:rPr>
              <a:t>the quick query</a:t>
            </a:r>
          </a:p>
        </p:txBody>
      </p:sp>
      <p:sp>
        <p:nvSpPr>
          <p:cNvPr id="17" name="Rectangle 16"/>
          <p:cNvSpPr/>
          <p:nvPr/>
        </p:nvSpPr>
        <p:spPr>
          <a:xfrm>
            <a:off x="6370167"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5332"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Rs 5,439</a:t>
            </a:r>
          </a:p>
        </p:txBody>
      </p:sp>
      <p:sp>
        <p:nvSpPr>
          <p:cNvPr id="19" name="TextBox 18"/>
          <p:cNvSpPr txBox="1"/>
          <p:nvPr/>
        </p:nvSpPr>
        <p:spPr>
          <a:xfrm>
            <a:off x="8225332"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Q2 AVERAGE MEMBER</a:t>
            </a:r>
          </a:p>
        </p:txBody>
      </p:sp>
      <p:sp>
        <p:nvSpPr>
          <p:cNvPr id="20" name="TextBox 19"/>
          <p:cNvSpPr txBox="1"/>
          <p:nvPr/>
        </p:nvSpPr>
        <p:spPr>
          <a:xfrm>
            <a:off x="8225332" y="2237740"/>
            <a:ext cx="1580845" cy="193421"/>
          </a:xfrm>
          <a:prstGeom prst="rect">
            <a:avLst/>
          </a:prstGeom>
          <a:noFill/>
        </p:spPr>
        <p:txBody>
          <a:bodyPr wrap="square" anchor="t" lIns="0" rIns="0" tIns="0" bIns="0">
            <a:spAutoFit/>
          </a:bodyPr>
          <a:lstStyle/>
          <a:p>
            <a:pPr algn="l"/>
            <a:r>
              <a:rPr sz="950" b="0" i="0">
                <a:solidFill>
                  <a:srgbClr val="6B6690"/>
                </a:solidFill>
                <a:latin typeface="Calibri"/>
              </a:rPr>
              <a:t>down 15.5%</a:t>
            </a:r>
          </a:p>
        </p:txBody>
      </p:sp>
      <p:sp>
        <p:nvSpPr>
          <p:cNvPr id="21" name="Rectangle 20"/>
          <p:cNvSpPr/>
          <p:nvPr/>
        </p:nvSpPr>
        <p:spPr>
          <a:xfrm>
            <a:off x="8225332"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080498"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+4.3%</a:t>
            </a:r>
          </a:p>
        </p:txBody>
      </p:sp>
      <p:sp>
        <p:nvSpPr>
          <p:cNvPr id="23" name="TextBox 22"/>
          <p:cNvSpPr txBox="1"/>
          <p:nvPr/>
        </p:nvSpPr>
        <p:spPr>
          <a:xfrm>
            <a:off x="10080498"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4" name="TextBox 23"/>
          <p:cNvSpPr txBox="1"/>
          <p:nvPr/>
        </p:nvSpPr>
        <p:spPr>
          <a:xfrm>
            <a:off x="10080498" y="2237740"/>
            <a:ext cx="1580845" cy="350266"/>
          </a:xfrm>
          <a:prstGeom prst="rect">
            <a:avLst/>
          </a:prstGeom>
          <a:noFill/>
        </p:spPr>
        <p:txBody>
          <a:bodyPr wrap="square" anchor="t" lIns="0" rIns="0" tIns="0" bIns="0">
            <a:spAutoFit/>
          </a:bodyPr>
          <a:lstStyle/>
          <a:p>
            <a:pPr algn="l"/>
            <a:r>
              <a:rPr sz="950" b="0" i="0">
                <a:solidFill>
                  <a:srgbClr val="6B6690"/>
                </a:solidFill>
                <a:latin typeface="Calibri"/>
              </a:rPr>
              <a:t>the same query says members spent more</a:t>
            </a:r>
          </a:p>
        </p:txBody>
      </p:sp>
      <p:sp>
        <p:nvSpPr>
          <p:cNvPr id="25" name="Rectangle 24"/>
          <p:cNvSpPr/>
          <p:nvPr/>
        </p:nvSpPr>
        <p:spPr>
          <a:xfrm>
            <a:off x="10080498"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370167" y="3145536"/>
            <a:ext cx="529117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598767" y="3736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bug_39ada6eff46d.png"/>
          <p:cNvPicPr>
            <a:picLocks noChangeAspect="1"/>
          </p:cNvPicPr>
          <p:nvPr/>
        </p:nvPicPr>
        <p:blipFill>
          <a:blip r:embed="rId4"/>
          <a:stretch>
            <a:fillRect/>
          </a:stretch>
        </p:blipFill>
        <p:spPr>
          <a:xfrm>
            <a:off x="6708495" y="3846576"/>
            <a:ext cx="237744" cy="237744"/>
          </a:xfrm>
          <a:prstGeom prst="rect">
            <a:avLst/>
          </a:prstGeom>
        </p:spPr>
      </p:pic>
      <p:sp>
        <p:nvSpPr>
          <p:cNvPr id="29" name="TextBox 28"/>
          <p:cNvSpPr txBox="1"/>
          <p:nvPr/>
        </p:nvSpPr>
        <p:spPr>
          <a:xfrm>
            <a:off x="7238847" y="3291840"/>
            <a:ext cx="414817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0" name="TextBox 29"/>
          <p:cNvSpPr txBox="1"/>
          <p:nvPr/>
        </p:nvSpPr>
        <p:spPr>
          <a:xfrm>
            <a:off x="7238847" y="3511296"/>
            <a:ext cx="4148175" cy="1200912"/>
          </a:xfrm>
          <a:prstGeom prst="rect">
            <a:avLst/>
          </a:prstGeom>
          <a:noFill/>
        </p:spPr>
        <p:txBody>
          <a:bodyPr wrap="square" anchor="t" lIns="0" rIns="0" tIns="0" bIns="0">
            <a:spAutoFit/>
          </a:bodyPr>
          <a:lstStyle/>
          <a:p>
            <a:r>
              <a:rPr sz="1500" b="0" i="0">
                <a:solidFill>
                  <a:srgbClr val="1A1440"/>
                </a:solidFill>
                <a:latin typeface="Calibri"/>
              </a:rPr>
              <a:t>The head of Retail-Plus reads a modest dip and plans a light touch, and the sheet says Retail-Core and Business members each spent more in Q2.</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avg skipped 31 members who stopped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inside each average, and which check shows it?</a:t>
            </a:r>
          </a:p>
        </p:txBody>
      </p:sp>
      <p:pic>
        <p:nvPicPr>
          <p:cNvPr id="9" name="mermaid diagram" descr="ccddea76e32f8672.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who is inside each average: 107 members in the step, 91 inside Q1's and 76 inside Q2's. A CASE with no ELSE gives NULL for a member with no order that quarter, and avg averages only the values present, so Q1 and Q2 are averaged over two different groups of people.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77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Rs 0 on purpose, and the fall is 29.4%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less did each Retail-Plus member spend, over the same members in both quarters?</a:t>
            </a:r>
          </a:p>
        </p:txBody>
      </p:sp>
      <p:sp>
        <p:nvSpPr>
          <p:cNvPr id="9" name="Rounded Rectangle 8"/>
          <p:cNvSpPr/>
          <p:nvPr/>
        </p:nvSpPr>
        <p:spPr>
          <a:xfrm>
            <a:off x="530352" y="193903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6705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6705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6705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6822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coalesce(sum(CASE WHEN o.quarter = 'Q2' THEN o.amount END), 0)</a:t>
            </a:r>
          </a:p>
          <a:p>
            <a:pPr>
              <a:spcAft>
                <a:spcPts val="200"/>
              </a:spcAft>
            </a:pPr>
            <a:r>
              <a:rPr sz="1400" b="0" i="0">
                <a:solidFill>
                  <a:srgbClr val="E4E1F1"/>
                </a:solidFill>
                <a:latin typeface="Consolas"/>
              </a:rPr>
              <a:t>    AS q2_spend   -- a member who bought nothing spent Rs 0</a:t>
            </a:r>
          </a:p>
        </p:txBody>
      </p:sp>
      <p:graphicFrame>
        <p:nvGraphicFramePr>
          <p:cNvPr id="14" name="Table 13"/>
          <p:cNvGraphicFramePr>
            <a:graphicFrameLocks noGrp="1"/>
          </p:cNvGraphicFramePr>
          <p:nvPr/>
        </p:nvGraphicFramePr>
        <p:xfrm>
          <a:off x="530352" y="3065780"/>
          <a:ext cx="11130989" cy="1849120"/>
        </p:xfrm>
        <a:graphic>
          <a:graphicData uri="http://schemas.openxmlformats.org/drawingml/2006/table">
            <a:tbl>
              <a:tblPr firstRow="0" bandRow="0">
                <a:tableStyleId>{2D5ABB26-0587-4C30-8999-92F81FD0307C}</a:tableStyleId>
              </a:tblPr>
              <a:tblGrid>
                <a:gridCol w="1817047"/>
                <a:gridCol w="4428908"/>
                <a:gridCol w="488503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The quick average, Q1 to Q2</a:t>
                      </a:r>
                    </a:p>
                  </a:txBody>
                  <a:tcPr marL="101600" marR="101600" marT="38100" marB="38100" anchor="ctr">
                    <a:solidFill>
                      <a:srgbClr val="1A0F5C"/>
                    </a:solidFill>
                  </a:tcPr>
                </a:tc>
                <a:tc>
                  <a:txBody>
                    <a:bodyPr/>
                    <a:lstStyle/>
                    <a:p>
                      <a:r>
                        <a:rPr sz="1450" b="1" i="0">
                          <a:solidFill>
                            <a:srgbClr val="FFFFFF"/>
                          </a:solidFill>
                          <a:latin typeface="Calibri"/>
                        </a:rPr>
                        <a:t>Rs 0 said on purpose, Q1 to Q2</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+4.3%</a:t>
                      </a:r>
                    </a:p>
                  </a:txBody>
                  <a:tcPr marL="101600" marR="101600" marT="38100" marB="38100" anchor="ctr">
                    <a:solidFill>
                      <a:srgbClr val="F4F2FA"/>
                    </a:solidFill>
                  </a:tcPr>
                </a:tc>
                <a:tc>
                  <a:txBody>
                    <a:bodyPr/>
                    <a:lstStyle/>
                    <a:p>
                      <a:r>
                        <a:rPr sz="1400" b="0" i="0">
                          <a:solidFill>
                            <a:srgbClr val="1A1440"/>
                          </a:solidFill>
                          <a:latin typeface="Calibri"/>
                        </a:rPr>
                        <a:t>-1.8%</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-15.5%</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+0.4%</a:t>
                      </a:r>
                    </a:p>
                  </a:txBody>
                  <a:tcPr marL="101600" marR="101600" marT="38100" marB="38100" anchor="ctr">
                    <a:solidFill>
                      <a:srgbClr val="F4F2FA"/>
                    </a:solidFill>
                  </a:tcPr>
                </a:tc>
                <a:tc>
                  <a:txBody>
                    <a:bodyPr/>
                    <a:lstStyle/>
                    <a:p>
                      <a:r>
                        <a:rPr sz="1400" b="0" i="0">
                          <a:solidFill>
                            <a:srgbClr val="1A1440"/>
                          </a:solidFill>
                          <a:latin typeface="Calibri"/>
                        </a:rPr>
                        <a:t>+33.9%, on 24 members</a:t>
                      </a:r>
                    </a:p>
                  </a:txBody>
                  <a:tcPr marL="101600" marR="101600" marT="38100" marB="38100" anchor="ctr">
                    <a:solidFill>
                      <a:srgbClr val="F4F2FA"/>
                    </a:solidFill>
                  </a:tcPr>
                </a:tc>
              </a:tr>
            </a:tbl>
          </a:graphicData>
        </a:graphic>
      </p:graphicFrame>
      <p:sp>
        <p:nvSpPr>
          <p:cNvPr id="15" name="TextBox 14"/>
          <p:cNvSpPr txBox="1"/>
          <p:nvPr/>
        </p:nvSpPr>
        <p:spPr>
          <a:xfrm>
            <a:off x="530352" y="51709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Over the same 107 members, a Retail-Plus member spent Rs 5,474 in Q1 and Rs 3,863 in Q2: down 29.4 percent, nearly twice the quick 15.5.</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77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over 120 members, the same 29.4%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member count taken from the customer table give the same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ON THE TIER'S BOOK</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from the customer table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4,881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SPEND PER MEMBER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5,85,770 over 120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3,445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SPEND PER MEMBER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4,13,380 over 120, down 29.4%</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route never averages: it divides each quarter's Retail-Plus revenue by every member on the tier's book, bought or not, counted in a subquery. Its levels differ from the 107-member route; its change is the same, because both keep one fixed group of members.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77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fell most; each member spent 29.4%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branch moved, and how much less did each Retail-Plus member spend?</a:t>
            </a:r>
          </a:p>
        </p:txBody>
      </p:sp>
      <p:graphicFrame>
        <p:nvGraphicFramePr>
          <p:cNvPr id="9" name="Table 8"/>
          <p:cNvGraphicFramePr>
            <a:graphicFrameLocks noGrp="1"/>
          </p:cNvGraphicFramePr>
          <p:nvPr/>
        </p:nvGraphicFramePr>
        <p:xfrm>
          <a:off x="530352" y="1839976"/>
          <a:ext cx="11130990" cy="1676400"/>
        </p:xfrm>
        <a:graphic>
          <a:graphicData uri="http://schemas.openxmlformats.org/drawingml/2006/table">
            <a:tbl>
              <a:tblPr firstRow="0" bandRow="0">
                <a:tableStyleId>{2D5ABB26-0587-4C30-8999-92F81FD0307C}</a:tableStyleId>
              </a:tblPr>
              <a:tblGrid>
                <a:gridCol w="3231190"/>
                <a:gridCol w="7899800"/>
              </a:tblGrid>
              <a:tr h="335280">
                <a:tc>
                  <a:txBody>
                    <a:bodyPr/>
                    <a:lstStyle/>
                    <a:p>
                      <a:r>
                        <a:rPr sz="1250" b="1" i="0">
                          <a:solidFill>
                            <a:srgbClr val="FFFFFF"/>
                          </a:solidFill>
                          <a:latin typeface="Calibri"/>
                        </a:rPr>
                        <a:t>The question on the way</a:t>
                      </a:r>
                    </a:p>
                  </a:txBody>
                  <a:tcPr marL="101600" marR="101600" marT="38100" marB="38100" anchor="ctr">
                    <a:solidFill>
                      <a:srgbClr val="1A0F5C"/>
                    </a:solidFill>
                  </a:tcPr>
                </a:tc>
                <a:tc>
                  <a:txBody>
                    <a:bodyPr/>
                    <a:lstStyle/>
                    <a:p>
                      <a:r>
                        <a:rPr sz="1250" b="1" i="0">
                          <a:solidFill>
                            <a:srgbClr val="FFFFFF"/>
                          </a:solidFill>
                          <a:latin typeface="Calibri"/>
                        </a:rPr>
                        <a:t>The answer</a:t>
                      </a:r>
                    </a:p>
                  </a:txBody>
                  <a:tcPr marL="101600" marR="101600" marT="38100" marB="38100" anchor="ctr">
                    <a:solidFill>
                      <a:srgbClr val="1A0F5C"/>
                    </a:solidFill>
                  </a:tcPr>
                </a:tc>
              </a:tr>
              <a:tr h="335280">
                <a:tc>
                  <a:txBody>
                    <a:bodyPr/>
                    <a:lstStyle/>
                    <a:p>
                      <a:r>
                        <a:rPr sz="1200" b="0" i="0">
                          <a:solidFill>
                            <a:srgbClr val="1A1440"/>
                          </a:solidFill>
                          <a:latin typeface="Calibri"/>
                        </a:rPr>
                        <a:t>1. Which way to write it?</a:t>
                      </a:r>
                    </a:p>
                  </a:txBody>
                  <a:tcPr marL="101600" marR="101600" marT="38100" marB="38100" anchor="ctr">
                    <a:solidFill>
                      <a:srgbClr val="FFFFFF"/>
                    </a:solidFill>
                  </a:tcPr>
                </a:tc>
                <a:tc>
                  <a:txBody>
                    <a:bodyPr/>
                    <a:lstStyle/>
                    <a:p>
                      <a:r>
                        <a:rPr sz="1200" b="0" i="0">
                          <a:solidFill>
                            <a:srgbClr val="1A1440"/>
                          </a:solidFill>
                          <a:latin typeface="Calibri"/>
                        </a:rPr>
                        <a:t>Named steps: read top down, one statement, rerun anywhere</a:t>
                      </a:r>
                    </a:p>
                  </a:txBody>
                  <a:tcPr marL="101600" marR="101600" marT="38100" marB="38100" anchor="ctr">
                    <a:solidFill>
                      <a:srgbClr val="FFFFFF"/>
                    </a:solidFill>
                  </a:tcPr>
                </a:tc>
              </a:tr>
              <a:tr h="335280">
                <a:tc>
                  <a:txBody>
                    <a:bodyPr/>
                    <a:lstStyle/>
                    <a:p>
                      <a:r>
                        <a:rPr sz="1200" b="0" i="0">
                          <a:solidFill>
                            <a:srgbClr val="1A1440"/>
                          </a:solidFill>
                          <a:latin typeface="Calibri"/>
                        </a:rPr>
                        <a:t>2. Which branch moved?</a:t>
                      </a:r>
                    </a:p>
                  </a:txBody>
                  <a:tcPr marL="101600" marR="101600" marT="38100" marB="38100" anchor="ctr">
                    <a:solidFill>
                      <a:srgbClr val="F4F2FA"/>
                    </a:solidFill>
                  </a:tcPr>
                </a:tc>
                <a:tc>
                  <a:txBody>
                    <a:bodyPr/>
                    <a:lstStyle/>
                    <a:p>
                      <a:r>
                        <a:rPr sz="1200" b="0" i="0">
                          <a:solidFill>
                            <a:srgbClr val="1A1440"/>
                          </a:solidFill>
                          <a:latin typeface="Calibri"/>
                        </a:rPr>
                        <a:t>Retail-Plus frequency, 0.780; customers 0.835; order value 1.084</a:t>
                      </a:r>
                    </a:p>
                  </a:txBody>
                  <a:tcPr marL="101600" marR="101600" marT="38100" marB="38100" anchor="ctr">
                    <a:solidFill>
                      <a:srgbClr val="F4F2FA"/>
                    </a:solidFill>
                  </a:tcPr>
                </a:tc>
              </a:tr>
              <a:tr h="335280">
                <a:tc>
                  <a:txBody>
                    <a:bodyPr/>
                    <a:lstStyle/>
                    <a:p>
                      <a:r>
                        <a:rPr sz="1200" b="0" i="0">
                          <a:solidFill>
                            <a:srgbClr val="1A1440"/>
                          </a:solidFill>
                          <a:latin typeface="Calibri"/>
                        </a:rPr>
                        <a:t>3. How much less each?</a:t>
                      </a:r>
                    </a:p>
                  </a:txBody>
                  <a:tcPr marL="101600" marR="101600" marT="38100" marB="38100" anchor="ctr">
                    <a:solidFill>
                      <a:srgbClr val="FFFFFF"/>
                    </a:solidFill>
                  </a:tcPr>
                </a:tc>
                <a:tc>
                  <a:txBody>
                    <a:bodyPr/>
                    <a:lstStyle/>
                    <a:p>
                      <a:r>
                        <a:rPr sz="1200" b="0" i="0">
                          <a:solidFill>
                            <a:srgbClr val="1A1440"/>
                          </a:solidFill>
                          <a:latin typeface="Calibri"/>
                        </a:rPr>
                        <a:t>Rs 5,474 to Rs 3,863 over 107 members; the quick average said 15.5%</a:t>
                      </a:r>
                    </a:p>
                  </a:txBody>
                  <a:tcPr marL="101600" marR="101600" marT="38100" marB="38100" anchor="ctr">
                    <a:solidFill>
                      <a:srgbClr val="FFFFFF"/>
                    </a:solidFill>
                  </a:tcPr>
                </a:tc>
              </a:tr>
              <a:tr h="335280">
                <a:tc>
                  <a:txBody>
                    <a:bodyPr/>
                    <a:lstStyle/>
                    <a:p>
                      <a:r>
                        <a:rPr sz="1200" b="0" i="0">
                          <a:solidFill>
                            <a:srgbClr val="1A1440"/>
                          </a:solidFill>
                          <a:latin typeface="Calibri"/>
                        </a:rPr>
                        <a:t>4. Another count agree?</a:t>
                      </a:r>
                    </a:p>
                  </a:txBody>
                  <a:tcPr marL="101600" marR="101600" marT="38100" marB="38100" anchor="ctr">
                    <a:solidFill>
                      <a:srgbClr val="F4F2FA"/>
                    </a:solidFill>
                  </a:tcPr>
                </a:tc>
                <a:tc>
                  <a:txBody>
                    <a:bodyPr/>
                    <a:lstStyle/>
                    <a:p>
                      <a:r>
                        <a:rPr sz="1200" b="0" i="0">
                          <a:solidFill>
                            <a:srgbClr val="1A1440"/>
                          </a:solidFill>
                          <a:latin typeface="Calibri"/>
                        </a:rPr>
                        <a:t>Rs 4,881 to Rs 3,445 over 120 members: the same 29.4%</a:t>
                      </a:r>
                    </a:p>
                  </a:txBody>
                  <a:tcPr marL="101600" marR="101600" marT="38100" marB="38100" anchor="ctr">
                    <a:solidFill>
                      <a:srgbClr val="F4F2FA"/>
                    </a:solidFill>
                  </a:tcPr>
                </a:tc>
              </a:tr>
            </a:tbl>
          </a:graphicData>
        </a:graphic>
      </p:graphicFrame>
      <p:sp>
        <p:nvSpPr>
          <p:cNvPr id="10" name="Rounded Rectangle 9"/>
          <p:cNvSpPr/>
          <p:nvPr/>
        </p:nvSpPr>
        <p:spPr>
          <a:xfrm>
            <a:off x="530352" y="377240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700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179824"/>
            <a:ext cx="237744" cy="237744"/>
          </a:xfrm>
          <a:prstGeom prst="rect">
            <a:avLst/>
          </a:prstGeom>
        </p:spPr>
      </p:pic>
      <p:sp>
        <p:nvSpPr>
          <p:cNvPr id="13" name="TextBox 12"/>
          <p:cNvSpPr txBox="1"/>
          <p:nvPr/>
        </p:nvSpPr>
        <p:spPr>
          <a:xfrm>
            <a:off x="1399031" y="39187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138168"/>
            <a:ext cx="9987991" cy="613664"/>
          </a:xfrm>
          <a:prstGeom prst="rect">
            <a:avLst/>
          </a:prstGeom>
          <a:noFill/>
        </p:spPr>
        <p:txBody>
          <a:bodyPr wrap="square" anchor="t" lIns="0" rIns="0" tIns="0" bIns="0">
            <a:spAutoFit/>
          </a:bodyPr>
          <a:lstStyle/>
          <a:p>
            <a:r>
              <a:rPr sz="1300" b="0" i="0">
                <a:solidFill>
                  <a:srgbClr val="1A1440"/>
                </a:solidFill>
                <a:latin typeface="Calibri"/>
              </a:rPr>
              <a:t>Write the count of members beside every average, so the reader sees that Q1 and Q2 are over the same people, and put the zero in on purpose where a member bought nothing.</a:t>
            </a:r>
          </a:p>
        </p:txBody>
      </p:sp>
      <p:sp>
        <p:nvSpPr>
          <p:cNvPr id="15" name="Rounded Rectangle 14"/>
          <p:cNvSpPr/>
          <p:nvPr/>
        </p:nvSpPr>
        <p:spPr>
          <a:xfrm>
            <a:off x="530352" y="4989576"/>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872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396992"/>
            <a:ext cx="237744" cy="237744"/>
          </a:xfrm>
          <a:prstGeom prst="rect">
            <a:avLst/>
          </a:prstGeom>
        </p:spPr>
      </p:pic>
      <p:sp>
        <p:nvSpPr>
          <p:cNvPr id="18" name="TextBox 17"/>
          <p:cNvSpPr txBox="1"/>
          <p:nvPr/>
        </p:nvSpPr>
        <p:spPr>
          <a:xfrm>
            <a:off x="1399031" y="51358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55336"/>
            <a:ext cx="9987991" cy="613664"/>
          </a:xfrm>
          <a:prstGeom prst="rect">
            <a:avLst/>
          </a:prstGeom>
          <a:noFill/>
        </p:spPr>
        <p:txBody>
          <a:bodyPr wrap="square" anchor="t" lIns="0" rIns="0" tIns="0" bIns="0">
            <a:spAutoFit/>
          </a:bodyPr>
          <a:lstStyle/>
          <a:p>
            <a:r>
              <a:rPr sz="1300" b="0" i="0">
                <a:solidFill>
                  <a:srgbClr val="1A1440"/>
                </a:solidFill>
                <a:latin typeface="Calibri"/>
              </a:rPr>
              <a:t>[F] An average moved but the total did not, or moved differently; how? [F] When would you use a CTE instead of a subquery?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77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suite add up?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 the suite's numbers add up the way Anand's analyst will add them?</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65 / 77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before the analyst adds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adds before reading any query: the segments against the book, the two quarters against the half-year. A half-year line showing more Retail-Plus customers than the tier has members fails the audit on sight, and every other number in the suite is doubted with it.</a:t>
            </a:r>
          </a:p>
        </p:txBody>
      </p:sp>
      <p:sp>
        <p:nvSpPr>
          <p:cNvPr id="12" name="Rectangle 11"/>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to get a half-year?</a:t>
            </a:r>
          </a:p>
        </p:txBody>
      </p:sp>
      <p:sp>
        <p:nvSpPr>
          <p:cNvPr id="17" name="TextBox 16"/>
          <p:cNvSpPr txBox="1"/>
          <p:nvPr/>
        </p:nvSpPr>
        <p:spPr>
          <a:xfrm>
            <a:off x="694944"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ways to the six-month column</a:t>
            </a:r>
          </a:p>
        </p:txBody>
      </p:sp>
      <p:sp>
        <p:nvSpPr>
          <p:cNvPr id="18" name="TextBox 17"/>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Do segments add up?</a:t>
            </a:r>
          </a:p>
        </p:txBody>
      </p:sp>
      <p:sp>
        <p:nvSpPr>
          <p:cNvPr id="22" name="TextBox 21"/>
          <p:cNvSpPr txBox="1"/>
          <p:nvPr/>
        </p:nvSpPr>
        <p:spPr>
          <a:xfrm>
            <a:off x="3523411"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segments against the book</a:t>
            </a:r>
          </a:p>
        </p:txBody>
      </p:sp>
      <p:sp>
        <p:nvSpPr>
          <p:cNvPr id="23" name="TextBox 22"/>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in six months?</a:t>
            </a:r>
          </a:p>
        </p:txBody>
      </p:sp>
      <p:sp>
        <p:nvSpPr>
          <p:cNvPr id="27" name="TextBox 26"/>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Retail-Plus customers, April to September</a:t>
            </a:r>
          </a:p>
        </p:txBody>
      </p:sp>
      <p:sp>
        <p:nvSpPr>
          <p:cNvPr id="28" name="TextBox 27"/>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4229100"/>
            <a:ext cx="2316403" cy="465836"/>
          </a:xfrm>
          <a:prstGeom prst="rect">
            <a:avLst/>
          </a:prstGeom>
          <a:noFill/>
        </p:spPr>
        <p:txBody>
          <a:bodyPr wrap="square" anchor="t" lIns="0" rIns="0" tIns="0" bIns="0">
            <a:spAutoFit/>
          </a:bodyPr>
          <a:lstStyle/>
          <a:p>
            <a:pPr algn="l"/>
            <a:r>
              <a:rPr sz="1300" b="1" i="0">
                <a:solidFill>
                  <a:srgbClr val="FFFFFF"/>
                </a:solidFill>
                <a:latin typeface="Calibri"/>
              </a:rPr>
              <a:t>Does the overlap explain it?</a:t>
            </a:r>
          </a:p>
        </p:txBody>
      </p:sp>
      <p:sp>
        <p:nvSpPr>
          <p:cNvPr id="32" name="TextBox 31"/>
          <p:cNvSpPr txBox="1"/>
          <p:nvPr/>
        </p:nvSpPr>
        <p:spPr>
          <a:xfrm>
            <a:off x="9180347" y="4731512"/>
            <a:ext cx="2316403" cy="201676"/>
          </a:xfrm>
          <a:prstGeom prst="rect">
            <a:avLst/>
          </a:prstGeom>
          <a:noFill/>
        </p:spPr>
        <p:txBody>
          <a:bodyPr wrap="square" anchor="t" lIns="0" rIns="0" tIns="0" bIns="0">
            <a:spAutoFit/>
          </a:bodyPr>
          <a:lstStyle/>
          <a:p>
            <a:pPr algn="l"/>
            <a:r>
              <a:rPr sz="1000" b="0" i="0">
                <a:solidFill>
                  <a:srgbClr val="CFC9EE"/>
                </a:solidFill>
                <a:latin typeface="Calibri"/>
              </a:rPr>
              <a:t>Customers in both quarters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5" name="Oval 3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1" name="Oval 4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sums the analyst checks before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sum that fails cost?</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"My analyst will add your rows before reading a single query. If they do not add up, the suite does not reach me."</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13" name="Rounded Rectangle 12"/>
          <p:cNvSpPr/>
          <p:nvPr/>
        </p:nvSpPr>
        <p:spPr>
          <a:xfrm>
            <a:off x="53035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user_c13406686cbb.png"/>
          <p:cNvPicPr>
            <a:picLocks noChangeAspect="1"/>
          </p:cNvPicPr>
          <p:nvPr/>
        </p:nvPicPr>
        <p:blipFill>
          <a:blip r:embed="rId4"/>
          <a:stretch>
            <a:fillRect/>
          </a:stretch>
        </p:blipFill>
        <p:spPr>
          <a:xfrm>
            <a:off x="841247" y="3779520"/>
            <a:ext cx="237744" cy="237744"/>
          </a:xfrm>
          <a:prstGeom prst="rect">
            <a:avLst/>
          </a:prstGeom>
        </p:spPr>
      </p:pic>
      <p:sp>
        <p:nvSpPr>
          <p:cNvPr id="16" name="TextBox 15"/>
          <p:cNvSpPr txBox="1"/>
          <p:nvPr/>
        </p:nvSpPr>
        <p:spPr>
          <a:xfrm>
            <a:off x="731519"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7" name="TextBox 16"/>
          <p:cNvSpPr txBox="1"/>
          <p:nvPr/>
        </p:nvSpPr>
        <p:spPr>
          <a:xfrm>
            <a:off x="731519"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8" name="TextBox 17"/>
          <p:cNvSpPr txBox="1"/>
          <p:nvPr/>
        </p:nvSpPr>
        <p:spPr>
          <a:xfrm>
            <a:off x="731519"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Adds every column of the suite before trusting any line of it.</a:t>
            </a:r>
          </a:p>
        </p:txBody>
      </p:sp>
      <p:sp>
        <p:nvSpPr>
          <p:cNvPr id="19" name="Rounded Rectangle 18"/>
          <p:cNvSpPr/>
          <p:nvPr/>
        </p:nvSpPr>
        <p:spPr>
          <a:xfrm>
            <a:off x="430164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502810"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art-line_ded8d80bd4ff.png"/>
          <p:cNvPicPr>
            <a:picLocks noChangeAspect="1"/>
          </p:cNvPicPr>
          <p:nvPr/>
        </p:nvPicPr>
        <p:blipFill>
          <a:blip r:embed="rId5"/>
          <a:stretch>
            <a:fillRect/>
          </a:stretch>
        </p:blipFill>
        <p:spPr>
          <a:xfrm>
            <a:off x="4612538" y="3779520"/>
            <a:ext cx="237744" cy="237744"/>
          </a:xfrm>
          <a:prstGeom prst="rect">
            <a:avLst/>
          </a:prstGeom>
        </p:spPr>
      </p:pic>
      <p:sp>
        <p:nvSpPr>
          <p:cNvPr id="22" name="TextBox 21"/>
          <p:cNvSpPr txBox="1"/>
          <p:nvPr/>
        </p:nvSpPr>
        <p:spPr>
          <a:xfrm>
            <a:off x="4502810"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23" name="TextBox 22"/>
          <p:cNvSpPr txBox="1"/>
          <p:nvPr/>
        </p:nvSpPr>
        <p:spPr>
          <a:xfrm>
            <a:off x="4502810"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Customers in a window</a:t>
            </a:r>
          </a:p>
        </p:txBody>
      </p:sp>
      <p:sp>
        <p:nvSpPr>
          <p:cNvPr id="24" name="TextBox 23"/>
          <p:cNvSpPr txBox="1"/>
          <p:nvPr/>
        </p:nvSpPr>
        <p:spPr>
          <a:xfrm>
            <a:off x="4502810" y="4815332"/>
            <a:ext cx="3186074" cy="581406"/>
          </a:xfrm>
          <a:prstGeom prst="rect">
            <a:avLst/>
          </a:prstGeom>
          <a:noFill/>
        </p:spPr>
        <p:txBody>
          <a:bodyPr wrap="square" anchor="t" lIns="0" rIns="0" tIns="0" bIns="0">
            <a:spAutoFit/>
          </a:bodyPr>
          <a:lstStyle/>
          <a:p>
            <a:pPr algn="l"/>
            <a:r>
              <a:rPr sz="1100" b="0" i="0">
                <a:solidFill>
                  <a:srgbClr val="6B6690"/>
                </a:solidFill>
                <a:latin typeface="Calibri"/>
              </a:rPr>
              <a:t>Customers who bought, each counted once, per quarter and for the half-year, April to September 2026.</a:t>
            </a:r>
          </a:p>
        </p:txBody>
      </p:sp>
      <p:sp>
        <p:nvSpPr>
          <p:cNvPr id="25" name="Rounded Rectangle 24"/>
          <p:cNvSpPr/>
          <p:nvPr/>
        </p:nvSpPr>
        <p:spPr>
          <a:xfrm>
            <a:off x="8072932" y="3468624"/>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3669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riangle-alert_e79485772e4f.png"/>
          <p:cNvPicPr>
            <a:picLocks noChangeAspect="1"/>
          </p:cNvPicPr>
          <p:nvPr/>
        </p:nvPicPr>
        <p:blipFill>
          <a:blip r:embed="rId6"/>
          <a:stretch>
            <a:fillRect/>
          </a:stretch>
        </p:blipFill>
        <p:spPr>
          <a:xfrm>
            <a:off x="8383828" y="3779520"/>
            <a:ext cx="237744" cy="237744"/>
          </a:xfrm>
          <a:prstGeom prst="rect">
            <a:avLst/>
          </a:prstGeom>
        </p:spPr>
      </p:pic>
      <p:sp>
        <p:nvSpPr>
          <p:cNvPr id="28" name="TextBox 27"/>
          <p:cNvSpPr txBox="1"/>
          <p:nvPr/>
        </p:nvSpPr>
        <p:spPr>
          <a:xfrm>
            <a:off x="8274100" y="4236720"/>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SUM THAT FAILS COSTS</a:t>
            </a:r>
          </a:p>
        </p:txBody>
      </p:sp>
      <p:sp>
        <p:nvSpPr>
          <p:cNvPr id="29" name="TextBox 28"/>
          <p:cNvSpPr txBox="1"/>
          <p:nvPr/>
        </p:nvSpPr>
        <p:spPr>
          <a:xfrm>
            <a:off x="8274100" y="4474464"/>
            <a:ext cx="3186074" cy="267716"/>
          </a:xfrm>
          <a:prstGeom prst="rect">
            <a:avLst/>
          </a:prstGeom>
          <a:noFill/>
        </p:spPr>
        <p:txBody>
          <a:bodyPr wrap="square" anchor="t" lIns="0" rIns="0" tIns="0" bIns="0">
            <a:spAutoFit/>
          </a:bodyPr>
          <a:lstStyle/>
          <a:p>
            <a:pPr algn="l"/>
            <a:r>
              <a:rPr sz="1400" b="1" i="0">
                <a:solidFill>
                  <a:srgbClr val="FFFFFF"/>
                </a:solidFill>
                <a:latin typeface="Calibri"/>
              </a:rPr>
              <a:t>The whole suite</a:t>
            </a:r>
          </a:p>
        </p:txBody>
      </p:sp>
      <p:sp>
        <p:nvSpPr>
          <p:cNvPr id="30" name="TextBox 29"/>
          <p:cNvSpPr txBox="1"/>
          <p:nvPr/>
        </p:nvSpPr>
        <p:spPr>
          <a:xfrm>
            <a:off x="8274100" y="4815332"/>
            <a:ext cx="3186074" cy="581406"/>
          </a:xfrm>
          <a:prstGeom prst="rect">
            <a:avLst/>
          </a:prstGeom>
          <a:noFill/>
        </p:spPr>
        <p:txBody>
          <a:bodyPr wrap="square" anchor="t" lIns="0" rIns="0" tIns="0" bIns="0">
            <a:spAutoFit/>
          </a:bodyPr>
          <a:lstStyle/>
          <a:p>
            <a:pPr algn="l"/>
            <a:r>
              <a:rPr sz="1100" b="0" i="0">
                <a:solidFill>
                  <a:srgbClr val="CFC9EE"/>
                </a:solidFill>
                <a:latin typeface="Calibri"/>
              </a:rPr>
              <a:t>One impossible line and every number is doubted; the members who bought nothing stay hidden.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Meta counts a person once across four apps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count people who appear in more than one group?</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3.58 billion</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DAILY ACTIVE PEOPLE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on average, December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APPS COUNTED TOGETHER</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Facebook, Instagram, Messenger, WhatsApp</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 PER PERSON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however many of the apps they opened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Meta's annual report counts a person who opened any of its apps that day once, "counting such group of accounts as one person". Adding each app's daily users would count that person twice.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 the half-year from the orders, like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should the suite produce its half-year column?</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3525317"/>
                <a:gridCol w="1187012"/>
                <a:gridCol w="3525317"/>
                <a:gridCol w="289334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the analyst audits</a:t>
                      </a:r>
                    </a:p>
                  </a:txBody>
                  <a:tcPr marL="101600" marR="101600" marT="38100" marB="38100" anchor="ctr">
                    <a:solidFill>
                      <a:srgbClr val="1A0F5C"/>
                    </a:solidFill>
                  </a:tcPr>
                </a:tc>
              </a:tr>
              <a:tr h="335280">
                <a:tc>
                  <a:txBody>
                    <a:bodyPr/>
                    <a:lstStyle/>
                    <a:p>
                      <a:r>
                        <a:rPr sz="1200" b="0" i="0">
                          <a:solidFill>
                            <a:srgbClr val="1A1440"/>
                          </a:solidFill>
                          <a:latin typeface="Calibri"/>
                        </a:rPr>
                        <a:t>A. Add each segment's two quarter rows</a:t>
                      </a:r>
                    </a:p>
                  </a:txBody>
                  <a:tcPr marL="101600" marR="101600" marT="38100" marB="38100" anchor="ctr">
                    <a:solidFill>
                      <a:srgbClr val="FFFFFF"/>
                    </a:solidFill>
                  </a:tcPr>
                </a:tc>
                <a:tc>
                  <a:txBody>
                    <a:bodyPr/>
                    <a:lstStyle/>
                    <a:p>
                      <a:r>
                        <a:rPr sz="1200" b="0" i="0">
                          <a:solidFill>
                            <a:srgbClr val="1A1440"/>
                          </a:solidFill>
                          <a:latin typeface="Calibri"/>
                        </a:rPr>
                        <a:t>8 rows</a:t>
                      </a:r>
                    </a:p>
                  </a:txBody>
                  <a:tcPr marL="101600" marR="101600" marT="38100" marB="38100" anchor="ctr">
                    <a:solidFill>
                      <a:srgbClr val="FFFFFF"/>
                    </a:solidFill>
                  </a:tcPr>
                </a:tc>
                <a:tc>
                  <a:txBody>
                    <a:bodyPr/>
                    <a:lstStyle/>
                    <a:p>
                      <a:r>
                        <a:rPr sz="1200" b="0" i="0">
                          <a:solidFill>
                            <a:srgbClr val="1A1440"/>
                          </a:solidFill>
                          <a:latin typeface="Calibri"/>
                        </a:rPr>
                        <a:t>That every measure adds across quarters</a:t>
                      </a:r>
                    </a:p>
                  </a:txBody>
                  <a:tcPr marL="101600" marR="101600" marT="38100" marB="38100" anchor="ctr">
                    <a:solidFill>
                      <a:srgbClr val="FFFFFF"/>
                    </a:solidFill>
                  </a:tcPr>
                </a:tc>
                <a:tc>
                  <a:txBody>
                    <a:bodyPr/>
                    <a:lstStyle/>
                    <a:p>
                      <a:r>
                        <a:rPr sz="1200" b="0" i="0">
                          <a:solidFill>
                            <a:srgbClr val="1A1440"/>
                          </a:solidFill>
                          <a:latin typeface="Calibri"/>
                        </a:rPr>
                        <a:t>One more step, a sum</a:t>
                      </a:r>
                    </a:p>
                  </a:txBody>
                  <a:tcPr marL="101600" marR="101600" marT="38100" marB="38100" anchor="ctr">
                    <a:solidFill>
                      <a:srgbClr val="FFFFFF"/>
                    </a:solidFill>
                  </a:tcPr>
                </a:tc>
              </a:tr>
              <a:tr h="542544">
                <a:tc>
                  <a:txBody>
                    <a:bodyPr/>
                    <a:lstStyle/>
                    <a:p>
                      <a:r>
                        <a:rPr sz="1200" b="0" i="0">
                          <a:solidFill>
                            <a:srgbClr val="1A1440"/>
                          </a:solidFill>
                          <a:latin typeface="Calibri"/>
                        </a:rPr>
                        <a:t>B. Count the half-year from the orders</a:t>
                      </a:r>
                    </a:p>
                  </a:txBody>
                  <a:tcPr marL="101600" marR="101600" marT="38100" marB="38100" anchor="ctr">
                    <a:solidFill>
                      <a:srgbClr val="F4F2FA"/>
                    </a:solidFill>
                  </a:tcPr>
                </a:tc>
                <a:tc>
                  <a:txBody>
                    <a:bodyPr/>
                    <a:lstStyle/>
                    <a:p>
                      <a:r>
                        <a:rPr sz="1200" b="0" i="0">
                          <a:solidFill>
                            <a:srgbClr val="1A1440"/>
                          </a:solidFill>
                          <a:latin typeface="Calibri"/>
                        </a:rPr>
                        <a:t>1,000 rows</a:t>
                      </a:r>
                    </a:p>
                  </a:txBody>
                  <a:tcPr marL="101600" marR="101600" marT="38100" marB="38100" anchor="ctr">
                    <a:solidFill>
                      <a:srgbClr val="F4F2FA"/>
                    </a:solidFill>
                  </a:tcPr>
                </a:tc>
                <a:tc>
                  <a:txBody>
                    <a:bodyPr/>
                    <a:lstStyle/>
                    <a:p>
                      <a:r>
                        <a:rPr sz="1200" b="0" i="0">
                          <a:solidFill>
                            <a:srgbClr val="1A1440"/>
                          </a:solidFill>
                          <a:latin typeface="Calibri"/>
                        </a:rPr>
                        <a:t>Nothing new: the quarter's definition, a wider window</a:t>
                      </a:r>
                    </a:p>
                  </a:txBody>
                  <a:tcPr marL="101600" marR="101600" marT="38100" marB="38100" anchor="ctr">
                    <a:solidFill>
                      <a:srgbClr val="F4F2FA"/>
                    </a:solidFill>
                  </a:tcPr>
                </a:tc>
                <a:tc>
                  <a:txBody>
                    <a:bodyPr/>
                    <a:lstStyle/>
                    <a:p>
                      <a:r>
                        <a:rPr sz="1200" b="0" i="0">
                          <a:solidFill>
                            <a:srgbClr val="1A1440"/>
                          </a:solidFill>
                          <a:latin typeface="Calibri"/>
                        </a:rPr>
                        <a:t>The same query without the quarter</a:t>
                      </a:r>
                    </a:p>
                  </a:txBody>
                  <a:tcPr marL="101600" marR="101600" marT="38100" marB="38100" anchor="ctr">
                    <a:solidFill>
                      <a:srgbClr val="F4F2FA"/>
                    </a:solidFill>
                  </a:tcPr>
                </a:tc>
              </a:tr>
              <a:tr h="542544">
                <a:tc>
                  <a:txBody>
                    <a:bodyPr/>
                    <a:lstStyle/>
                    <a:p>
                      <a:r>
                        <a:rPr sz="1200" b="0" i="0">
                          <a:solidFill>
                            <a:srgbClr val="1A1440"/>
                          </a:solidFill>
                          <a:latin typeface="Calibri"/>
                        </a:rPr>
                        <a:t>C. GROUPING SETS: quarters and half-year in one query</a:t>
                      </a:r>
                    </a:p>
                  </a:txBody>
                  <a:tcPr marL="101600" marR="101600" marT="38100" marB="38100" anchor="ctr">
                    <a:solidFill>
                      <a:srgbClr val="FFFFFF"/>
                    </a:solidFill>
                  </a:tcPr>
                </a:tc>
                <a:tc>
                  <a:txBody>
                    <a:bodyPr/>
                    <a:lstStyle/>
                    <a:p>
                      <a:r>
                        <a:rPr sz="1200" b="0" i="0">
                          <a:solidFill>
                            <a:srgbClr val="1A1440"/>
                          </a:solidFill>
                          <a:latin typeface="Calibri"/>
                        </a:rPr>
                        <a:t>1,000 rows, once</a:t>
                      </a:r>
                    </a:p>
                  </a:txBody>
                  <a:tcPr marL="101600" marR="101600" marT="38100" marB="38100" anchor="ctr">
                    <a:solidFill>
                      <a:srgbClr val="FFFFFF"/>
                    </a:solidFill>
                  </a:tcPr>
                </a:tc>
                <a:tc>
                  <a:txBody>
                    <a:bodyPr/>
                    <a:lstStyle/>
                    <a:p>
                      <a:r>
                        <a:rPr sz="1200" b="0" i="0">
                          <a:solidFill>
                            <a:srgbClr val="1A1440"/>
                          </a:solidFill>
                          <a:latin typeface="Calibri"/>
                        </a:rPr>
                        <a:t>Nothing new, and one more feature to read</a:t>
                      </a:r>
                    </a:p>
                  </a:txBody>
                  <a:tcPr marL="101600" marR="101600" marT="38100" marB="38100" anchor="ctr">
                    <a:solidFill>
                      <a:srgbClr val="FFFFFF"/>
                    </a:solidFill>
                  </a:tcPr>
                </a:tc>
                <a:tc>
                  <a:txBody>
                    <a:bodyPr/>
                    <a:lstStyle/>
                    <a:p>
                      <a:r>
                        <a:rPr sz="1200" b="0" i="0">
                          <a:solidFill>
                            <a:srgbClr val="1A1440"/>
                          </a:solidFill>
                          <a:latin typeface="Calibri"/>
                        </a:rPr>
                        <a:t>One query, a NULL quarter for the half-year</a:t>
                      </a:r>
                    </a:p>
                  </a:txBody>
                  <a:tcPr marL="101600" marR="101600" marT="38100" marB="38100" anchor="ctr">
                    <a:solidFill>
                      <a:srgbClr val="FFFFFF"/>
                    </a:solidFill>
                  </a:tcPr>
                </a:tc>
              </a:tr>
              <a:tr h="542544">
                <a:tc>
                  <a:txBody>
                    <a:bodyPr/>
                    <a:lstStyle/>
                    <a:p>
                      <a:r>
                        <a:rPr sz="1200" b="0" i="0">
                          <a:solidFill>
                            <a:srgbClr val="1A1440"/>
                          </a:solidFill>
                          <a:latin typeface="Calibri"/>
                        </a:rPr>
                        <a:t>D. Report no half-year</a:t>
                      </a:r>
                    </a:p>
                  </a:txBody>
                  <a:tcPr marL="101600" marR="101600" marT="38100" marB="38100" anchor="ctr">
                    <a:solidFill>
                      <a:srgbClr val="F4F2FA"/>
                    </a:solidFill>
                  </a:tcPr>
                </a:tc>
                <a:tc>
                  <a:txBody>
                    <a:bodyPr/>
                    <a:lstStyle/>
                    <a:p>
                      <a:r>
                        <a:rPr sz="1200" b="0" i="0">
                          <a:solidFill>
                            <a:srgbClr val="1A1440"/>
                          </a:solidFill>
                          <a:latin typeface="Calibri"/>
                        </a:rPr>
                        <a:t>0 rows</a:t>
                      </a:r>
                    </a:p>
                  </a:txBody>
                  <a:tcPr marL="101600" marR="101600" marT="38100" marB="38100" anchor="ctr">
                    <a:solidFill>
                      <a:srgbClr val="F4F2FA"/>
                    </a:solidFill>
                  </a:tcPr>
                </a:tc>
                <a:tc>
                  <a:txBody>
                    <a:bodyPr/>
                    <a:lstStyle/>
                    <a:p>
                      <a:r>
                        <a:rPr sz="1200" b="0" i="0">
                          <a:solidFill>
                            <a:srgbClr val="1A1440"/>
                          </a:solidFill>
                          <a:latin typeface="Calibri"/>
                        </a:rPr>
                        <a:t>That nobody wants one</a:t>
                      </a:r>
                    </a:p>
                  </a:txBody>
                  <a:tcPr marL="101600" marR="101600" marT="38100" marB="38100" anchor="ctr">
                    <a:solidFill>
                      <a:srgbClr val="F4F2FA"/>
                    </a:solidFill>
                  </a:tcPr>
                </a:tc>
                <a:tc>
                  <a:txBody>
                    <a:bodyPr/>
                    <a:lstStyle/>
                    <a:p>
                      <a:r>
                        <a:rPr sz="1200" b="0" i="0">
                          <a:solidFill>
                            <a:srgbClr val="1A1440"/>
                          </a:solidFill>
                          <a:latin typeface="Calibri"/>
                        </a:rPr>
                        <a:t>Nothing, until someone adds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On a book this size none costs a noticeable second; what separates them is what each assumes. </a:t>
            </a:r>
            <a:r>
              <a:rPr sz="1500" b="1" i="0">
                <a:solidFill>
                  <a:srgbClr val="1A1440"/>
                </a:solidFill>
                <a:latin typeface="Calibri"/>
              </a:rPr>
              <a:t>What would change it:</a:t>
            </a:r>
            <a:r>
              <a:rPr sz="1500" b="0" i="0">
                <a:solidFill>
                  <a:srgbClr val="1A1440"/>
                </a:solidFill>
                <a:latin typeface="Calibri"/>
              </a:rPr>
              <a:t> several windows at once, months, quarters and the half-year, make C worth its extra feature.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will the four segments add to 244?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Will the four segments' Q1 customers add up to the book's 244?</a:t>
            </a:r>
          </a:p>
        </p:txBody>
      </p:sp>
      <p:pic>
        <p:nvPicPr>
          <p:cNvPr id="9" name="mermaid diagram" descr="2ab3fdce4826d4df.png"/>
          <p:cNvPicPr>
            <a:picLocks noChangeAspect="1"/>
          </p:cNvPicPr>
          <p:nvPr/>
        </p:nvPicPr>
        <p:blipFill>
          <a:blip r:embed="rId5"/>
          <a:stretch>
            <a:fillRect/>
          </a:stretch>
        </p:blipFill>
        <p:spPr>
          <a:xfrm>
            <a:off x="3393237" y="1664208"/>
            <a:ext cx="5405220"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Will they add to 244? a) yes, since each customer belongs to exactly one segment; b) no, the segments add to more than 244; c) no, they add to fewer; d) only orders and rupees can be added, never customers.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yes, each customer sits in one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segments add back to the book in each quarter?</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2506109"/>
                <a:gridCol w="1482558"/>
                <a:gridCol w="2813174"/>
                <a:gridCol w="1789623"/>
                <a:gridCol w="1625124"/>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Orders, segments added</a:t>
                      </a:r>
                    </a:p>
                  </a:txBody>
                  <a:tcPr marL="101600" marR="101600" marT="38100" marB="38100" anchor="ctr">
                    <a:solidFill>
                      <a:srgbClr val="1A0F5C"/>
                    </a:solidFill>
                  </a:tcPr>
                </a:tc>
                <a:tc>
                  <a:txBody>
                    <a:bodyPr/>
                    <a:lstStyle/>
                    <a:p>
                      <a:r>
                        <a:rPr sz="1250" b="1" i="0">
                          <a:solidFill>
                            <a:srgbClr val="FFFFFF"/>
                          </a:solidFill>
                          <a:latin typeface="Calibri"/>
                        </a:rPr>
                        <a:t>Orders, book</a:t>
                      </a:r>
                    </a:p>
                  </a:txBody>
                  <a:tcPr marL="101600" marR="101600" marT="38100" marB="38100" anchor="ctr">
                    <a:solidFill>
                      <a:srgbClr val="1A0F5C"/>
                    </a:solidFill>
                  </a:tcPr>
                </a:tc>
                <a:tc>
                  <a:txBody>
                    <a:bodyPr/>
                    <a:lstStyle/>
                    <a:p>
                      <a:r>
                        <a:rPr sz="1250" b="1" i="0">
                          <a:solidFill>
                            <a:srgbClr val="FFFFFF"/>
                          </a:solidFill>
                          <a:latin typeface="Calibri"/>
                        </a:rPr>
                        <a:t>Customers, segments added</a:t>
                      </a:r>
                    </a:p>
                  </a:txBody>
                  <a:tcPr marL="101600" marR="101600" marT="38100" marB="38100" anchor="ctr">
                    <a:solidFill>
                      <a:srgbClr val="1A0F5C"/>
                    </a:solidFill>
                  </a:tcPr>
                </a:tc>
                <a:tc>
                  <a:txBody>
                    <a:bodyPr/>
                    <a:lstStyle/>
                    <a:p>
                      <a:r>
                        <a:rPr sz="1250" b="1" i="0">
                          <a:solidFill>
                            <a:srgbClr val="FFFFFF"/>
                          </a:solidFill>
                          <a:latin typeface="Calibri"/>
                        </a:rPr>
                        <a:t>Customers, book</a:t>
                      </a:r>
                    </a:p>
                  </a:txBody>
                  <a:tcPr marL="101600" marR="101600" marT="38100" marB="38100" anchor="ctr">
                    <a:solidFill>
                      <a:srgbClr val="1A0F5C"/>
                    </a:solidFill>
                  </a:tcPr>
                </a:tc>
                <a:tc>
                  <a:txBody>
                    <a:bodyPr/>
                    <a:lstStyle/>
                    <a:p>
                      <a:r>
                        <a:rPr sz="1250" b="1" i="0">
                          <a:solidFill>
                            <a:srgbClr val="FFFFFF"/>
                          </a:solidFill>
                          <a:latin typeface="Calibri"/>
                        </a:rPr>
                        <a:t>Rupees, both</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Rs 9,84,00,000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Customers add across segments because a customer belongs to one segment, so no customer sits in two of the rows being added.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77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167 Retail-Plus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half-year line say when the two quarter rows are added?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91 plus 76, the half-year line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471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IN THE BOOK</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four segments, added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5,983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CUSTOMER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 over six months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orders (355) and rupees (Rs 9,99,150) in the same line are right, which makes the customer count look right beside them, and the head of Retail-Plus would read that every member was active.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167 buyers in a tier of 120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the added line cannot be true?</a:t>
            </a:r>
          </a:p>
        </p:txBody>
      </p:sp>
      <p:pic>
        <p:nvPicPr>
          <p:cNvPr id="9" name="mermaid diagram" descr="eb178badfbf57ef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count of customers who bought can never exceed the customers who exist: the added line runs over the members in every segment (the line marks the members). A customer who bought in both quarters sits in the Q1 row and in the Q2 row, so adding the rows counts them twice.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77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107 bought once or more; 13 bought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Retail-Plus customers bought in the half-year, each counted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count(*) AS orders,</a:t>
            </a:r>
          </a:p>
          <a:p>
            <a:pPr>
              <a:spcAft>
                <a:spcPts val="200"/>
              </a:spcAft>
            </a:pPr>
            <a:r>
              <a:rPr sz="1400" b="0" i="0">
                <a:solidFill>
                  <a:srgbClr val="E4E1F1"/>
                </a:solidFill>
                <a:latin typeface="Consolas"/>
              </a:rPr>
              <a:t>       count(DISTINCT o.customer_id) AS customers, sum(o.amount) AS 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ORDER BY c.segment;</a:t>
            </a:r>
          </a:p>
        </p:txBody>
      </p:sp>
      <p:graphicFrame>
        <p:nvGraphicFramePr>
          <p:cNvPr id="14" name="Table 13"/>
          <p:cNvGraphicFramePr>
            <a:graphicFrameLocks noGrp="1"/>
          </p:cNvGraphicFramePr>
          <p:nvPr/>
        </p:nvGraphicFramePr>
        <p:xfrm>
          <a:off x="530352" y="3588512"/>
          <a:ext cx="11130990" cy="1676400"/>
        </p:xfrm>
        <a:graphic>
          <a:graphicData uri="http://schemas.openxmlformats.org/drawingml/2006/table">
            <a:tbl>
              <a:tblPr firstRow="0" bandRow="0">
                <a:tableStyleId>{2D5ABB26-0587-4C30-8999-92F81FD0307C}</a:tableStyleId>
              </a:tblPr>
              <a:tblGrid>
                <a:gridCol w="2323129"/>
                <a:gridCol w="914400"/>
                <a:gridCol w="914400"/>
                <a:gridCol w="2923185"/>
                <a:gridCol w="4055876"/>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Added</a:t>
                      </a:r>
                    </a:p>
                  </a:txBody>
                  <a:tcPr marL="101600" marR="101600" marT="38100" marB="38100" anchor="ctr">
                    <a:solidFill>
                      <a:srgbClr val="1A0F5C"/>
                    </a:solidFill>
                  </a:tcPr>
                </a:tc>
                <a:tc>
                  <a:txBody>
                    <a:bodyPr/>
                    <a:lstStyle/>
                    <a:p>
                      <a:r>
                        <a:rPr sz="1250" b="1" i="0">
                          <a:solidFill>
                            <a:srgbClr val="FFFFFF"/>
                          </a:solidFill>
                          <a:latin typeface="Calibri"/>
                        </a:rPr>
                        <a:t>Counted</a:t>
                      </a:r>
                    </a:p>
                  </a:txBody>
                  <a:tcPr marL="101600" marR="101600" marT="38100" marB="38100" anchor="ctr">
                    <a:solidFill>
                      <a:srgbClr val="1A0F5C"/>
                    </a:solidFill>
                  </a:tcPr>
                </a:tc>
                <a:tc>
                  <a:txBody>
                    <a:bodyPr/>
                    <a:lstStyle/>
                    <a:p>
                      <a:r>
                        <a:rPr sz="1250" b="1" i="0">
                          <a:solidFill>
                            <a:srgbClr val="FFFFFF"/>
                          </a:solidFill>
                          <a:latin typeface="Calibri"/>
                        </a:rPr>
                        <a:t>Counted twice</a:t>
                      </a:r>
                    </a:p>
                  </a:txBody>
                  <a:tcPr marL="101600" marR="101600" marT="38100" marB="38100" anchor="ctr">
                    <a:solidFill>
                      <a:srgbClr val="1A0F5C"/>
                    </a:solidFill>
                  </a:tcPr>
                </a:tc>
                <a:tc>
                  <a:txBody>
                    <a:bodyPr/>
                    <a:lstStyle/>
                    <a:p>
                      <a:r>
                        <a:rPr sz="1250" b="1" i="0">
                          <a:solidFill>
                            <a:srgbClr val="FFFFFF"/>
                          </a:solidFill>
                          <a:latin typeface="Calibri"/>
                        </a:rPr>
                        <a:t>Members on the book</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71</a:t>
                      </a:r>
                    </a:p>
                  </a:txBody>
                  <a:tcPr marL="101600" marR="101600" marT="38100" marB="38100" anchor="ctr">
                    <a:solidFill>
                      <a:srgbClr val="FFFFFF"/>
                    </a:solidFill>
                  </a:tcPr>
                </a:tc>
                <a:tc>
                  <a:txBody>
                    <a:bodyPr/>
                    <a:lstStyle/>
                    <a:p>
                      <a:r>
                        <a:rPr sz="1200" b="0" i="0">
                          <a:solidFill>
                            <a:srgbClr val="1A1440"/>
                          </a:solidFill>
                          <a:latin typeface="Calibri"/>
                        </a:rPr>
                        <a:t>39</a:t>
                      </a:r>
                    </a:p>
                  </a:txBody>
                  <a:tcPr marL="101600" marR="101600" marT="38100" marB="38100" anchor="ctr">
                    <a:solidFill>
                      <a:srgbClr val="FFFFFF"/>
                    </a:solidFill>
                  </a:tcPr>
                </a:tc>
                <a:tc>
                  <a:txBody>
                    <a:bodyPr/>
                    <a:lstStyle/>
                    <a:p>
                      <a:r>
                        <a:rPr sz="1200" b="0" i="0">
                          <a:solidFill>
                            <a:srgbClr val="1A1440"/>
                          </a:solidFill>
                          <a:latin typeface="Calibri"/>
                        </a:rPr>
                        <a:t>32</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198</a:t>
                      </a:r>
                    </a:p>
                  </a:txBody>
                  <a:tcPr marL="101600" marR="101600" marT="38100" marB="38100" anchor="ctr">
                    <a:solidFill>
                      <a:srgbClr val="F4F2FA"/>
                    </a:solidFill>
                  </a:tcPr>
                </a:tc>
                <a:tc>
                  <a:txBody>
                    <a:bodyPr/>
                    <a:lstStyle/>
                    <a:p>
                      <a:r>
                        <a:rPr sz="1200" b="0" i="0">
                          <a:solidFill>
                            <a:srgbClr val="1A1440"/>
                          </a:solidFill>
                          <a:latin typeface="Calibri"/>
                        </a:rPr>
                        <a:t>131</a:t>
                      </a:r>
                    </a:p>
                  </a:txBody>
                  <a:tcPr marL="101600" marR="101600" marT="38100" marB="38100" anchor="ctr">
                    <a:solidFill>
                      <a:srgbClr val="F4F2FA"/>
                    </a:solidFill>
                  </a:tcPr>
                </a:tc>
                <a:tc>
                  <a:txBody>
                    <a:bodyPr/>
                    <a:lstStyle/>
                    <a:p>
                      <a:r>
                        <a:rPr sz="1200" b="0" i="0">
                          <a:solidFill>
                            <a:srgbClr val="1A1440"/>
                          </a:solidFill>
                          <a:latin typeface="Calibri"/>
                        </a:rPr>
                        <a:t>67</a:t>
                      </a:r>
                    </a:p>
                  </a:txBody>
                  <a:tcPr marL="101600" marR="101600" marT="38100" marB="38100" anchor="ctr">
                    <a:solidFill>
                      <a:srgbClr val="F4F2FA"/>
                    </a:solidFill>
                  </a:tcPr>
                </a:tc>
                <a:tc>
                  <a:txBody>
                    <a:bodyPr/>
                    <a:lstStyle/>
                    <a:p>
                      <a:r>
                        <a:rPr sz="1200" b="0" i="0">
                          <a:solidFill>
                            <a:srgbClr val="1A1440"/>
                          </a:solidFill>
                          <a:latin typeface="Calibri"/>
                        </a:rPr>
                        <a:t>150</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167</a:t>
                      </a:r>
                    </a:p>
                  </a:txBody>
                  <a:tcPr marL="101600" marR="101600" marT="38100" marB="38100" anchor="ctr">
                    <a:solidFill>
                      <a:srgbClr val="FFFFFF"/>
                    </a:solidFill>
                  </a:tcPr>
                </a:tc>
                <a:tc>
                  <a:txBody>
                    <a:bodyPr/>
                    <a:lstStyle/>
                    <a:p>
                      <a:r>
                        <a:rPr sz="1200" b="0" i="0">
                          <a:solidFill>
                            <a:srgbClr val="1A1440"/>
                          </a:solidFill>
                          <a:latin typeface="Calibri"/>
                        </a:rPr>
                        <a:t>107</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120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24</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77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Retail-Plus buyers bought in both?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overlap between the two quarters explain the gap between 167 and 107?</a:t>
            </a:r>
          </a:p>
        </p:txBody>
      </p:sp>
      <p:pic>
        <p:nvPicPr>
          <p:cNvPr id="9" name="mermaid diagram" descr="e3ae7875d31b0f5a.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Retail-Plus customers bought in both quarters? a) 16; b) 31; c) 60; d) 76.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77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60, and 91 plus 76 less 60 is 107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overlap explain the gap in every segment?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703231"/>
                <a:gridCol w="4326976"/>
                <a:gridCol w="4100783"/>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Q1 + Q2 less both</a:t>
                      </a:r>
                    </a:p>
                  </a:txBody>
                  <a:tcPr marL="101600" marR="101600" marT="38100" marB="38100" anchor="ctr">
                    <a:solidFill>
                      <a:srgbClr val="1A0F5C"/>
                    </a:solidFill>
                  </a:tcPr>
                </a:tc>
                <a:tc>
                  <a:txBody>
                    <a:bodyPr/>
                    <a:lstStyle/>
                    <a:p>
                      <a:r>
                        <a:rPr sz="1450" b="1" i="0">
                          <a:solidFill>
                            <a:srgbClr val="FFFFFF"/>
                          </a:solidFill>
                          <a:latin typeface="Calibri"/>
                        </a:rPr>
                        <a:t>Counted directly</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36 + 35 - 32 = 39</a:t>
                      </a:r>
                    </a:p>
                  </a:txBody>
                  <a:tcPr marL="101600" marR="101600" marT="38100" marB="38100" anchor="ctr">
                    <a:solidFill>
                      <a:srgbClr val="FFFFFF"/>
                    </a:solidFill>
                  </a:tcPr>
                </a:tc>
                <a:tc>
                  <a:txBody>
                    <a:bodyPr/>
                    <a:lstStyle/>
                    <a:p>
                      <a:r>
                        <a:rPr sz="1400" b="0" i="0">
                          <a:solidFill>
                            <a:srgbClr val="1A1440"/>
                          </a:solidFill>
                          <a:latin typeface="Calibri"/>
                        </a:rPr>
                        <a:t>39</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102 + 96 - 67 = 131</a:t>
                      </a:r>
                    </a:p>
                  </a:txBody>
                  <a:tcPr marL="101600" marR="101600" marT="38100" marB="38100" anchor="ctr">
                    <a:solidFill>
                      <a:srgbClr val="F4F2FA"/>
                    </a:solidFill>
                  </a:tcPr>
                </a:tc>
                <a:tc>
                  <a:txBody>
                    <a:bodyPr/>
                    <a:lstStyle/>
                    <a:p>
                      <a:r>
                        <a:rPr sz="1400" b="0" i="0">
                          <a:solidFill>
                            <a:srgbClr val="1A1440"/>
                          </a:solidFill>
                          <a:latin typeface="Calibri"/>
                        </a:rPr>
                        <a:t>131</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91 + 76 - 60 = 107</a:t>
                      </a:r>
                    </a:p>
                  </a:txBody>
                  <a:tcPr marL="101600" marR="101600" marT="38100" marB="38100" anchor="ctr">
                    <a:solidFill>
                      <a:srgbClr val="FFFFFF"/>
                    </a:solidFill>
                  </a:tcPr>
                </a:tc>
                <a:tc>
                  <a:txBody>
                    <a:bodyPr/>
                    <a:lstStyle/>
                    <a:p>
                      <a:r>
                        <a:rPr sz="1400" b="0" i="0">
                          <a:solidFill>
                            <a:srgbClr val="1A1440"/>
                          </a:solidFill>
                          <a:latin typeface="Calibri"/>
                        </a:rPr>
                        <a:t>107</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15 + 20 - 11 = 24</a:t>
                      </a:r>
                    </a:p>
                  </a:txBody>
                  <a:tcPr marL="101600" marR="101600" marT="38100" marB="38100" anchor="ctr">
                    <a:solidFill>
                      <a:srgbClr val="F4F2FA"/>
                    </a:solidFill>
                  </a:tcPr>
                </a:tc>
                <a:tc>
                  <a:txBody>
                    <a:bodyPr/>
                    <a:lstStyle/>
                    <a:p>
                      <a:r>
                        <a:rPr sz="1400" b="0" i="0">
                          <a:solidFill>
                            <a:srgbClr val="1A1440"/>
                          </a:solidFill>
                          <a:latin typeface="Calibri"/>
                        </a:rPr>
                        <a:t>24</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In every segment the customers counted twice are exactly the customers who bought in both quarters.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adds up, and six months hold 107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do the suite's numbers add up the way Anand's analyst will add them?</a:t>
            </a:r>
          </a:p>
        </p:txBody>
      </p:sp>
      <p:graphicFrame>
        <p:nvGraphicFramePr>
          <p:cNvPr id="9" name="Table 8"/>
          <p:cNvGraphicFramePr>
            <a:graphicFrameLocks noGrp="1"/>
          </p:cNvGraphicFramePr>
          <p:nvPr/>
        </p:nvGraphicFramePr>
        <p:xfrm>
          <a:off x="530352" y="1952244"/>
          <a:ext cx="11130990" cy="1590040"/>
        </p:xfrm>
        <a:graphic>
          <a:graphicData uri="http://schemas.openxmlformats.org/drawingml/2006/table">
            <a:tbl>
              <a:tblPr firstRow="0" bandRow="0">
                <a:tableStyleId>{2D5ABB26-0587-4C30-8999-92F81FD0307C}</a:tableStyleId>
              </a:tblPr>
              <a:tblGrid>
                <a:gridCol w="4159930"/>
                <a:gridCol w="6971060"/>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to get a half-year?</a:t>
                      </a:r>
                    </a:p>
                  </a:txBody>
                  <a:tcPr marL="101600" marR="101600" marT="38100" marB="38100" anchor="ctr">
                    <a:solidFill>
                      <a:srgbClr val="FFFFFF"/>
                    </a:solidFill>
                  </a:tcPr>
                </a:tc>
                <a:tc>
                  <a:txBody>
                    <a:bodyPr/>
                    <a:lstStyle/>
                    <a:p>
                      <a:r>
                        <a:rPr sz="1100" b="0" i="0">
                          <a:solidFill>
                            <a:srgbClr val="1A1440"/>
                          </a:solidFill>
                          <a:latin typeface="Calibri"/>
                        </a:rPr>
                        <a:t>Count it from the orders, the quarter's own definition</a:t>
                      </a:r>
                    </a:p>
                  </a:txBody>
                  <a:tcPr marL="101600" marR="101600" marT="38100" marB="38100" anchor="ctr">
                    <a:solidFill>
                      <a:srgbClr val="FFFFFF"/>
                    </a:solidFill>
                  </a:tcPr>
                </a:tc>
              </a:tr>
              <a:tr h="318008">
                <a:tc>
                  <a:txBody>
                    <a:bodyPr/>
                    <a:lstStyle/>
                    <a:p>
                      <a:r>
                        <a:rPr sz="1100" b="0" i="0">
                          <a:solidFill>
                            <a:srgbClr val="1A1440"/>
                          </a:solidFill>
                          <a:latin typeface="Calibri"/>
                        </a:rPr>
                        <a:t>2. Do segments add up?</a:t>
                      </a:r>
                    </a:p>
                  </a:txBody>
                  <a:tcPr marL="101600" marR="101600" marT="38100" marB="38100" anchor="ctr">
                    <a:solidFill>
                      <a:srgbClr val="F4F2FA"/>
                    </a:solidFill>
                  </a:tcPr>
                </a:tc>
                <a:tc>
                  <a:txBody>
                    <a:bodyPr/>
                    <a:lstStyle/>
                    <a:p>
                      <a:r>
                        <a:rPr sz="1100" b="0" i="0">
                          <a:solidFill>
                            <a:srgbClr val="1A1440"/>
                          </a:solidFill>
                          <a:latin typeface="Calibri"/>
                        </a:rPr>
                        <a:t>Yes: 538 orders, Rs 10 crore and 244 customers in Q1</a:t>
                      </a:r>
                    </a:p>
                  </a:txBody>
                  <a:tcPr marL="101600" marR="101600" marT="38100" marB="38100" anchor="ctr">
                    <a:solidFill>
                      <a:srgbClr val="F4F2FA"/>
                    </a:solidFill>
                  </a:tcPr>
                </a:tc>
              </a:tr>
              <a:tr h="318008">
                <a:tc>
                  <a:txBody>
                    <a:bodyPr/>
                    <a:lstStyle/>
                    <a:p>
                      <a:r>
                        <a:rPr sz="1100" b="0" i="0">
                          <a:solidFill>
                            <a:srgbClr val="1A1440"/>
                          </a:solidFill>
                          <a:latin typeface="Calibri"/>
                        </a:rPr>
                        <a:t>3. How many in six months?</a:t>
                      </a:r>
                    </a:p>
                  </a:txBody>
                  <a:tcPr marL="101600" marR="101600" marT="38100" marB="38100" anchor="ctr">
                    <a:solidFill>
                      <a:srgbClr val="FFFFFF"/>
                    </a:solidFill>
                  </a:tcPr>
                </a:tc>
                <a:tc>
                  <a:txBody>
                    <a:bodyPr/>
                    <a:lstStyle/>
                    <a:p>
                      <a:r>
                        <a:rPr sz="1100" b="0" i="0">
                          <a:solidFill>
                            <a:srgbClr val="1A1440"/>
                          </a:solidFill>
                          <a:latin typeface="Calibri"/>
                        </a:rPr>
                        <a:t>107 Retail-Plus customers, not the added 167</a:t>
                      </a:r>
                    </a:p>
                  </a:txBody>
                  <a:tcPr marL="101600" marR="101600" marT="38100" marB="38100" anchor="ctr">
                    <a:solidFill>
                      <a:srgbClr val="FFFFFF"/>
                    </a:solidFill>
                  </a:tcPr>
                </a:tc>
              </a:tr>
              <a:tr h="318008">
                <a:tc>
                  <a:txBody>
                    <a:bodyPr/>
                    <a:lstStyle/>
                    <a:p>
                      <a:r>
                        <a:rPr sz="1100" b="0" i="0">
                          <a:solidFill>
                            <a:srgbClr val="1A1440"/>
                          </a:solidFill>
                          <a:latin typeface="Calibri"/>
                        </a:rPr>
                        <a:t>4. Does the overlap explain it?</a:t>
                      </a:r>
                    </a:p>
                  </a:txBody>
                  <a:tcPr marL="101600" marR="101600" marT="38100" marB="38100" anchor="ctr">
                    <a:solidFill>
                      <a:srgbClr val="F4F2FA"/>
                    </a:solidFill>
                  </a:tcPr>
                </a:tc>
                <a:tc>
                  <a:txBody>
                    <a:bodyPr/>
                    <a:lstStyle/>
                    <a:p>
                      <a:r>
                        <a:rPr sz="1100" b="0" i="0">
                          <a:solidFill>
                            <a:srgbClr val="1A1440"/>
                          </a:solidFill>
                          <a:latin typeface="Calibri"/>
                        </a:rPr>
                        <a:t>Yes: 60 bought in both; 91 plus 76 less 60 is 107</a:t>
                      </a:r>
                    </a:p>
                  </a:txBody>
                  <a:tcPr marL="101600" marR="101600" marT="38100" marB="38100" anchor="ctr">
                    <a:solidFill>
                      <a:srgbClr val="F4F2FA"/>
                    </a:solidFill>
                  </a:tcPr>
                </a:tc>
              </a:tr>
            </a:tbl>
          </a:graphicData>
        </a:graphic>
      </p:graphicFrame>
      <p:sp>
        <p:nvSpPr>
          <p:cNvPr id="10" name="Rounded Rectangle 9"/>
          <p:cNvSpPr/>
          <p:nvPr/>
        </p:nvSpPr>
        <p:spPr>
          <a:xfrm>
            <a:off x="530352" y="379831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614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171188"/>
            <a:ext cx="237744" cy="237744"/>
          </a:xfrm>
          <a:prstGeom prst="rect">
            <a:avLst/>
          </a:prstGeom>
        </p:spPr>
      </p:pic>
      <p:sp>
        <p:nvSpPr>
          <p:cNvPr id="13" name="TextBox 12"/>
          <p:cNvSpPr txBox="1"/>
          <p:nvPr/>
        </p:nvSpPr>
        <p:spPr>
          <a:xfrm>
            <a:off x="1399031" y="39446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164076"/>
            <a:ext cx="9987991" cy="544576"/>
          </a:xfrm>
          <a:prstGeom prst="rect">
            <a:avLst/>
          </a:prstGeom>
          <a:noFill/>
        </p:spPr>
        <p:txBody>
          <a:bodyPr wrap="square" anchor="t" lIns="0" rIns="0" tIns="0" bIns="0">
            <a:spAutoFit/>
          </a:bodyPr>
          <a:lstStyle/>
          <a:p>
            <a:r>
              <a:rPr sz="1100" b="0" i="0">
                <a:solidFill>
                  <a:srgbClr val="1A1440"/>
                </a:solidFill>
                <a:latin typeface="Calibri"/>
              </a:rPr>
              <a:t>Before you add a column, ask whether one customer can sit in two of its rows. Orders and rupees add. People add only across groups they cannot share, so a half-year of customers is counted from the orders, never added from the quarters.</a:t>
            </a:r>
          </a:p>
        </p:txBody>
      </p:sp>
      <p:sp>
        <p:nvSpPr>
          <p:cNvPr id="15" name="Rounded Rectangle 14"/>
          <p:cNvSpPr/>
          <p:nvPr/>
        </p:nvSpPr>
        <p:spPr>
          <a:xfrm>
            <a:off x="530352" y="494639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095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319268"/>
            <a:ext cx="237744" cy="237744"/>
          </a:xfrm>
          <a:prstGeom prst="rect">
            <a:avLst/>
          </a:prstGeom>
        </p:spPr>
      </p:pic>
      <p:sp>
        <p:nvSpPr>
          <p:cNvPr id="18" name="TextBox 17"/>
          <p:cNvSpPr txBox="1"/>
          <p:nvPr/>
        </p:nvSpPr>
        <p:spPr>
          <a:xfrm>
            <a:off x="1399031" y="50927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12156"/>
            <a:ext cx="9987991" cy="544576"/>
          </a:xfrm>
          <a:prstGeom prst="rect">
            <a:avLst/>
          </a:prstGeom>
          <a:noFill/>
        </p:spPr>
        <p:txBody>
          <a:bodyPr wrap="square" anchor="t" lIns="0" rIns="0" tIns="0" bIns="0">
            <a:spAutoFit/>
          </a:bodyPr>
          <a:lstStyle/>
          <a:p>
            <a:r>
              <a:rPr sz="1100" b="0" i="0">
                <a:solidFill>
                  <a:srgbClr val="1A1440"/>
                </a:solidFill>
                <a:latin typeface="Calibri"/>
              </a:rPr>
              <a:t>[F] Why can you not add two quarters' customer counts to get the half-year's? [D] A stakeholder's analyst must audit your query; what changes in how you write it, and what would you refuse to compute in a notebook?</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