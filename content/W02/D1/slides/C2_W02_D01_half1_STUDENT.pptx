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What Anand actually asked for</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reply to your note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1627632"/>
            <a:ext cx="10545775" cy="839216"/>
          </a:xfrm>
          <a:prstGeom prst="rect">
            <a:avLst/>
          </a:prstGeom>
          <a:noFill/>
        </p:spPr>
        <p:txBody>
          <a:bodyPr wrap="square" anchor="t" lIns="0" rIns="0" tIns="0" bIns="0">
            <a:spAutoFit/>
          </a:bodyPr>
          <a:lstStyle/>
          <a:p>
            <a:r>
              <a:rPr sz="1900" b="0" i="1">
                <a:solidFill>
                  <a:srgbClr val="5F6360"/>
                </a:solidFill>
                <a:latin typeface="Calibri"/>
              </a:rPr>
              <a:t>"Good note. I accept real, modest, fix frequency. Now I want these numbers every Monday, for</a:t>
            </a:r>
          </a:p>
        </p:txBody>
      </p:sp>
      <p:sp>
        <p:nvSpPr>
          <p:cNvPr id="8" name="Rectangle 7"/>
          <p:cNvSpPr/>
          <p:nvPr/>
        </p:nvSpPr>
        <p:spPr>
          <a:xfrm>
            <a:off x="685800" y="261315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13152"/>
            <a:ext cx="10545775" cy="839216"/>
          </a:xfrm>
          <a:prstGeom prst="rect">
            <a:avLst/>
          </a:prstGeom>
          <a:noFill/>
        </p:spPr>
        <p:txBody>
          <a:bodyPr wrap="square" anchor="t" lIns="0" rIns="0" tIns="0" bIns="0">
            <a:spAutoFit/>
          </a:bodyPr>
          <a:lstStyle/>
          <a:p>
            <a:r>
              <a:rPr sz="1900" b="0" i="1">
                <a:solidFill>
                  <a:srgbClr val="5F6360"/>
                </a:solidFill>
                <a:latin typeface="Calibri"/>
              </a:rPr>
              <a:t>every segment and channel, computed from the warehouse itself. No notebooks, no exports,</a:t>
            </a:r>
          </a:p>
        </p:txBody>
      </p:sp>
      <p:sp>
        <p:nvSpPr>
          <p:cNvPr id="10" name="Rectangle 9"/>
          <p:cNvSpPr/>
          <p:nvPr/>
        </p:nvSpPr>
        <p:spPr>
          <a:xfrm>
            <a:off x="685800" y="3598672"/>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598672"/>
            <a:ext cx="10545775" cy="511048"/>
          </a:xfrm>
          <a:prstGeom prst="rect">
            <a:avLst/>
          </a:prstGeom>
          <a:noFill/>
        </p:spPr>
        <p:txBody>
          <a:bodyPr wrap="square" anchor="t" lIns="0" rIns="0" tIns="0" bIns="0">
            <a:spAutoFit/>
          </a:bodyPr>
          <a:lstStyle/>
          <a:p>
            <a:r>
              <a:rPr sz="1900" b="0" i="1">
                <a:solidFill>
                  <a:srgbClr val="5F6360"/>
                </a:solidFill>
                <a:latin typeface="Calibri"/>
              </a:rPr>
              <a:t>nothing a person can mistype. Our data team will give you read access to Postgres."</a:t>
            </a:r>
          </a:p>
        </p:txBody>
      </p:sp>
      <p:sp>
        <p:nvSpPr>
          <p:cNvPr id="12" name="TextBox 11"/>
          <p:cNvSpPr txBox="1"/>
          <p:nvPr/>
        </p:nvSpPr>
        <p:spPr>
          <a:xfrm>
            <a:off x="685800" y="425602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Anand Iyer, finance controller. He is not asking for a better analysis. He is asking for the same</a:t>
            </a:r>
          </a:p>
          <a:p>
            <a:pPr>
              <a:spcAft>
                <a:spcPts val="900"/>
              </a:spcAft>
            </a:pPr>
            <a:r>
              <a:rPr sz="2000" b="0">
                <a:solidFill>
                  <a:srgbClr val="1C1C1A"/>
                </a:solidFill>
                <a:latin typeface="Calibri"/>
              </a:rPr>
              <a:t>analysis to stop depending on you.</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words in that message rule things 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483104"/>
          <a:ext cx="10820094" cy="1548384"/>
        </p:xfrm>
        <a:graphic>
          <a:graphicData uri="http://schemas.openxmlformats.org/drawingml/2006/table">
            <a:tbl>
              <a:tblPr firstRow="0" bandRow="0">
                <a:tableStyleId>{2D5ABB26-0587-4C30-8999-92F81FD0307C}</a:tableStyleId>
              </a:tblPr>
              <a:tblGrid>
                <a:gridCol w="4514000"/>
                <a:gridCol w="6306094"/>
              </a:tblGrid>
              <a:tr h="387096">
                <a:tc>
                  <a:txBody>
                    <a:bodyPr/>
                    <a:lstStyle/>
                    <a:p>
                      <a:r>
                        <a:rPr sz="1600" b="1">
                          <a:solidFill>
                            <a:srgbClr val="FFFFFF"/>
                          </a:solidFill>
                          <a:latin typeface="Calibri"/>
                        </a:rPr>
                        <a:t>What he said</a:t>
                      </a:r>
                    </a:p>
                  </a:txBody>
                  <a:tcPr marL="101600" marR="101600" marT="38100" marB="38100" anchor="ctr">
                    <a:solidFill>
                      <a:srgbClr val="2B4A7D"/>
                    </a:solidFill>
                  </a:tcPr>
                </a:tc>
                <a:tc>
                  <a:txBody>
                    <a:bodyPr/>
                    <a:lstStyle/>
                    <a:p>
                      <a:r>
                        <a:rPr sz="1600" b="1">
                          <a:solidFill>
                            <a:srgbClr val="FFFFFF"/>
                          </a:solidFill>
                          <a:latin typeface="Calibri"/>
                        </a:rPr>
                        <a:t>What it rules out</a:t>
                      </a:r>
                    </a:p>
                  </a:txBody>
                  <a:tcPr marL="101600" marR="101600" marT="38100" marB="38100" anchor="ctr">
                    <a:solidFill>
                      <a:srgbClr val="2B4A7D"/>
                    </a:solidFill>
                  </a:tcPr>
                </a:tc>
              </a:tr>
              <a:tr h="387096">
                <a:tc>
                  <a:txBody>
                    <a:bodyPr/>
                    <a:lstStyle/>
                    <a:p>
                      <a:r>
                        <a:rPr sz="1500" b="0">
                          <a:solidFill>
                            <a:srgbClr val="1C1C1A"/>
                          </a:solidFill>
                          <a:latin typeface="Calibri"/>
                        </a:rPr>
                        <a:t>every Monday</a:t>
                      </a:r>
                    </a:p>
                  </a:txBody>
                  <a:tcPr marL="101600" marR="101600" marT="38100" marB="38100" anchor="ctr">
                    <a:solidFill>
                      <a:srgbClr val="FFFFFF"/>
                    </a:solidFill>
                  </a:tcPr>
                </a:tc>
                <a:tc>
                  <a:txBody>
                    <a:bodyPr/>
                    <a:lstStyle/>
                    <a:p>
                      <a:r>
                        <a:rPr sz="1500" b="0">
                          <a:solidFill>
                            <a:srgbClr val="1C1C1A"/>
                          </a:solidFill>
                          <a:latin typeface="Calibri"/>
                        </a:rPr>
                        <a:t>A script somebody has to remember to run</a:t>
                      </a:r>
                    </a:p>
                  </a:txBody>
                  <a:tcPr marL="101600" marR="101600" marT="38100" marB="38100" anchor="ctr">
                    <a:solidFill>
                      <a:srgbClr val="FFFFFF"/>
                    </a:solidFill>
                  </a:tcPr>
                </a:tc>
              </a:tr>
              <a:tr h="387096">
                <a:tc>
                  <a:txBody>
                    <a:bodyPr/>
                    <a:lstStyle/>
                    <a:p>
                      <a:r>
                        <a:rPr sz="1500" b="0">
                          <a:solidFill>
                            <a:srgbClr val="1C1C1A"/>
                          </a:solidFill>
                          <a:latin typeface="Calibri"/>
                        </a:rPr>
                        <a:t>from the warehouse itself</a:t>
                      </a:r>
                    </a:p>
                  </a:txBody>
                  <a:tcPr marL="101600" marR="101600" marT="38100" marB="38100" anchor="ctr">
                    <a:solidFill>
                      <a:srgbClr val="F7F7F5"/>
                    </a:solidFill>
                  </a:tcPr>
                </a:tc>
                <a:tc>
                  <a:txBody>
                    <a:bodyPr/>
                    <a:lstStyle/>
                    <a:p>
                      <a:r>
                        <a:rPr sz="1500" b="0">
                          <a:solidFill>
                            <a:srgbClr val="1C1C1A"/>
                          </a:solidFill>
                          <a:latin typeface="Calibri"/>
                        </a:rPr>
                        <a:t>A CSV that left the database and aged</a:t>
                      </a:r>
                    </a:p>
                  </a:txBody>
                  <a:tcPr marL="101600" marR="101600" marT="38100" marB="38100" anchor="ctr">
                    <a:solidFill>
                      <a:srgbClr val="F7F7F5"/>
                    </a:solidFill>
                  </a:tcPr>
                </a:tc>
              </a:tr>
              <a:tr h="387096">
                <a:tc>
                  <a:txBody>
                    <a:bodyPr/>
                    <a:lstStyle/>
                    <a:p>
                      <a:r>
                        <a:rPr sz="1500" b="0">
                          <a:solidFill>
                            <a:srgbClr val="1C1C1A"/>
                          </a:solidFill>
                          <a:latin typeface="Calibri"/>
                        </a:rPr>
                        <a:t>nothing a person can mistype</a:t>
                      </a:r>
                    </a:p>
                  </a:txBody>
                  <a:tcPr marL="101600" marR="101600" marT="38100" marB="38100" anchor="ctr">
                    <a:solidFill>
                      <a:srgbClr val="FFFFFF"/>
                    </a:solidFill>
                  </a:tcPr>
                </a:tc>
                <a:tc>
                  <a:txBody>
                    <a:bodyPr/>
                    <a:lstStyle/>
                    <a:p>
                      <a:r>
                        <a:rPr sz="1500" b="0">
                          <a:solidFill>
                            <a:srgbClr val="1C1C1A"/>
                          </a:solidFill>
                          <a:latin typeface="Calibri"/>
                        </a:rPr>
                        <a:t>A cell someone edits after the fact</a:t>
                      </a:r>
                    </a:p>
                  </a:txBody>
                  <a:tcPr marL="101600" marR="101600" marT="38100" marB="38100" anchor="ctr">
                    <a:solidFill>
                      <a:srgbClr val="FFFFFF"/>
                    </a:solidFill>
                  </a:tcPr>
                </a:tc>
              </a:tr>
            </a:tbl>
          </a:graphicData>
        </a:graphic>
      </p:graphicFrame>
      <p:sp>
        <p:nvSpPr>
          <p:cNvPr id="7" name="TextBox 6"/>
          <p:cNvSpPr txBox="1"/>
          <p:nvPr/>
        </p:nvSpPr>
        <p:spPr>
          <a:xfrm>
            <a:off x="685800" y="428752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deliverable is not a number. It is a query that returns the number whenever it is run.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one more line from the platform lead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3659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736596"/>
            <a:ext cx="10545775" cy="839216"/>
          </a:xfrm>
          <a:prstGeom prst="rect">
            <a:avLst/>
          </a:prstGeom>
          <a:noFill/>
        </p:spPr>
        <p:txBody>
          <a:bodyPr wrap="square" anchor="t" lIns="0" rIns="0" tIns="0" bIns="0">
            <a:spAutoFit/>
          </a:bodyPr>
          <a:lstStyle/>
          <a:p>
            <a:r>
              <a:rPr sz="1900" b="0" i="1">
                <a:solidFill>
                  <a:srgbClr val="5F6360"/>
                </a:solidFill>
                <a:latin typeface="Calibri"/>
              </a:rPr>
              <a:t>"The warehouse holds the same orders and customers you cleaned last week, one thousand orders</a:t>
            </a:r>
          </a:p>
        </p:txBody>
      </p:sp>
      <p:sp>
        <p:nvSpPr>
          <p:cNvPr id="8" name="Rectangle 7"/>
          <p:cNvSpPr/>
          <p:nvPr/>
        </p:nvSpPr>
        <p:spPr>
          <a:xfrm>
            <a:off x="685800" y="372211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722116"/>
            <a:ext cx="10545775" cy="511048"/>
          </a:xfrm>
          <a:prstGeom prst="rect">
            <a:avLst/>
          </a:prstGeom>
          <a:noFill/>
        </p:spPr>
        <p:txBody>
          <a:bodyPr wrap="square" anchor="t" lIns="0" rIns="0" tIns="0" bIns="0">
            <a:spAutoFit/>
          </a:bodyPr>
          <a:lstStyle/>
          <a:p>
            <a:r>
              <a:rPr sz="1900" b="0" i="1">
                <a:solidFill>
                  <a:srgbClr val="5F6360"/>
                </a:solidFill>
                <a:latin typeface="Calibri"/>
              </a:rPr>
              <a:t>for the two quarters, already de-duplicated. Query it; do not export it."</a:t>
            </a:r>
          </a:p>
        </p:txBody>
      </p:sp>
      <p:sp>
        <p:nvSpPr>
          <p:cNvPr id="10" name="TextBox 9"/>
          <p:cNvSpPr txBox="1"/>
          <p:nvPr/>
        </p:nvSpPr>
        <p:spPr>
          <a:xfrm>
            <a:off x="685800" y="437946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thousand. Last week's file had two hundred rows.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Hold that number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cd1e37ed923050f.png"/>
          <p:cNvPicPr>
            <a:picLocks noChangeAspect="1"/>
          </p:cNvPicPr>
          <p:nvPr/>
        </p:nvPicPr>
        <p:blipFill>
          <a:blip r:embed="rId3"/>
          <a:stretch>
            <a:fillRect/>
          </a:stretch>
        </p:blipFill>
        <p:spPr>
          <a:xfrm>
            <a:off x="2359112" y="1517904"/>
            <a:ext cx="7473470" cy="2979928"/>
          </a:xfrm>
          <a:prstGeom prst="rect">
            <a:avLst/>
          </a:prstGeom>
        </p:spPr>
      </p:pic>
      <p:sp>
        <p:nvSpPr>
          <p:cNvPr id="7" name="TextBox 6"/>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Last week you worked a file. This week you have the book the file came out of. Nothing in your analysis was wrong. The thing you analysed was smaller than the business. That gap is the first thing today has to close, and it closes with a query rather than an apology.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Getting in</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a database is, before any syntax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8d86d0e98d680c8.png"/>
          <p:cNvPicPr>
            <a:picLocks noChangeAspect="1"/>
          </p:cNvPicPr>
          <p:nvPr/>
        </p:nvPicPr>
        <p:blipFill>
          <a:blip r:embed="rId3"/>
          <a:stretch>
            <a:fillRect/>
          </a:stretch>
        </p:blipFill>
        <p:spPr>
          <a:xfrm>
            <a:off x="685800" y="2870733"/>
            <a:ext cx="10820095" cy="882854"/>
          </a:xfrm>
          <a:prstGeom prst="rect">
            <a:avLst/>
          </a:prstGeom>
        </p:spPr>
      </p:pic>
      <p:sp>
        <p:nvSpPr>
          <p:cNvPr id="7" name="TextBox 6"/>
          <p:cNvSpPr txBox="1"/>
          <p:nvPr/>
        </p:nvSpPr>
        <p:spPr>
          <a:xfrm>
            <a:off x="685800" y="38998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send text. The server decides how to get the answer. You never touch the files.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connection, once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1272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warehouse is already running in your Codespace. The database is called kalpa.</a:t>
            </a:r>
          </a:p>
        </p:txBody>
      </p:sp>
      <p:sp>
        <p:nvSpPr>
          <p:cNvPr id="7" name="Rectangle 6"/>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A .sql file, opened in the editor, run against the connection.</a:t>
            </a:r>
          </a:p>
          <a:p>
            <a:pPr>
              <a:spcAft>
                <a:spcPts val="200"/>
              </a:spcAft>
            </a:pPr>
            <a:r>
              <a:rPr sz="1600" b="0">
                <a:solidFill>
                  <a:srgbClr val="E4ECF7"/>
                </a:solidFill>
                <a:latin typeface="Consolas"/>
              </a:rPr>
              <a:t>SELECT count(*) FROM orders;</a:t>
            </a:r>
          </a:p>
        </p:txBody>
      </p:sp>
      <p:sp>
        <p:nvSpPr>
          <p:cNvPr id="10" name="TextBox 9"/>
          <p:cNvSpPr txBox="1"/>
          <p:nvPr/>
        </p:nvSpPr>
        <p:spPr>
          <a:xfrm>
            <a:off x="685800" y="440334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thousand. That is the whole handshake.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Reading a schema before writing anything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075180"/>
          <a:ext cx="10820093" cy="2709672"/>
        </p:xfrm>
        <a:graphic>
          <a:graphicData uri="http://schemas.openxmlformats.org/drawingml/2006/table">
            <a:tbl>
              <a:tblPr firstRow="0" bandRow="0">
                <a:tableStyleId>{2D5ABB26-0587-4C30-8999-92F81FD0307C}</a:tableStyleId>
              </a:tblPr>
              <a:tblGrid>
                <a:gridCol w="2151756"/>
                <a:gridCol w="4390128"/>
                <a:gridCol w="4278209"/>
              </a:tblGrid>
              <a:tr h="387096">
                <a:tc>
                  <a:txBody>
                    <a:bodyPr/>
                    <a:lstStyle/>
                    <a:p>
                      <a:r>
                        <a:rPr sz="1600" b="1">
                          <a:solidFill>
                            <a:srgbClr val="FFFFFF"/>
                          </a:solidFill>
                          <a:latin typeface="Calibri"/>
                        </a:rPr>
                        <a:t>Table</a:t>
                      </a:r>
                    </a:p>
                  </a:txBody>
                  <a:tcPr marL="101600" marR="101600" marT="38100" marB="38100" anchor="ctr">
                    <a:solidFill>
                      <a:srgbClr val="2B4A7D"/>
                    </a:solidFill>
                  </a:tcPr>
                </a:tc>
                <a:tc>
                  <a:txBody>
                    <a:bodyPr/>
                    <a:lstStyle/>
                    <a:p>
                      <a:r>
                        <a:rPr sz="1600" b="1">
                          <a:solidFill>
                            <a:srgbClr val="FFFFFF"/>
                          </a:solidFill>
                          <a:latin typeface="Calibri"/>
                        </a:rPr>
                        <a:t>One row is</a:t>
                      </a:r>
                    </a:p>
                  </a:txBody>
                  <a:tcPr marL="101600" marR="101600" marT="38100" marB="38100" anchor="ctr">
                    <a:solidFill>
                      <a:srgbClr val="2B4A7D"/>
                    </a:solidFill>
                  </a:tcPr>
                </a:tc>
                <a:tc>
                  <a:txBody>
                    <a:bodyPr/>
                    <a:lstStyle/>
                    <a:p>
                      <a:r>
                        <a:rPr sz="1600" b="1">
                          <a:solidFill>
                            <a:srgbClr val="FFFFFF"/>
                          </a:solidFill>
                          <a:latin typeface="Calibri"/>
                        </a:rPr>
                        <a:t>Why you care today</a:t>
                      </a:r>
                    </a:p>
                  </a:txBody>
                  <a:tcPr marL="101600" marR="101600" marT="38100" marB="38100" anchor="ctr">
                    <a:solidFill>
                      <a:srgbClr val="2B4A7D"/>
                    </a:solidFill>
                  </a:tcPr>
                </a:tc>
              </a:tr>
              <a:tr h="387096">
                <a:tc>
                  <a:txBody>
                    <a:bodyPr/>
                    <a:lstStyle/>
                    <a:p>
                      <a:r>
                        <a:rPr sz="1500" b="0">
                          <a:solidFill>
                            <a:srgbClr val="1C1C1A"/>
                          </a:solidFill>
                          <a:latin typeface="Calibri"/>
                        </a:rPr>
                        <a:t>customers</a:t>
                      </a:r>
                    </a:p>
                  </a:txBody>
                  <a:tcPr marL="101600" marR="101600" marT="38100" marB="38100" anchor="ctr">
                    <a:solidFill>
                      <a:srgbClr val="FFFFFF"/>
                    </a:solidFill>
                  </a:tcPr>
                </a:tc>
                <a:tc>
                  <a:txBody>
                    <a:bodyPr/>
                    <a:lstStyle/>
                    <a:p>
                      <a:r>
                        <a:rPr sz="1500" b="0">
                          <a:solidFill>
                            <a:srgbClr val="1C1C1A"/>
                          </a:solidFill>
                          <a:latin typeface="Calibri"/>
                        </a:rPr>
                        <a:t>A person or a company that has bought</a:t>
                      </a:r>
                    </a:p>
                  </a:txBody>
                  <a:tcPr marL="101600" marR="101600" marT="38100" marB="38100" anchor="ctr">
                    <a:solidFill>
                      <a:srgbClr val="FFFFFF"/>
                    </a:solidFill>
                  </a:tcPr>
                </a:tc>
                <a:tc>
                  <a:txBody>
                    <a:bodyPr/>
                    <a:lstStyle/>
                    <a:p>
                      <a:r>
                        <a:rPr sz="1500" b="0">
                          <a:solidFill>
                            <a:srgbClr val="1C1C1A"/>
                          </a:solidFill>
                          <a:latin typeface="Calibri"/>
                        </a:rPr>
                        <a:t>Segment lives here, not on the order</a:t>
                      </a:r>
                    </a:p>
                  </a:txBody>
                  <a:tcPr marL="101600" marR="101600" marT="38100" marB="38100" anchor="ctr">
                    <a:solidFill>
                      <a:srgbClr val="FFFFFF"/>
                    </a:solidFill>
                  </a:tcPr>
                </a:tc>
              </a:tr>
              <a:tr h="387096">
                <a:tc>
                  <a:txBody>
                    <a:bodyPr/>
                    <a:lstStyle/>
                    <a:p>
                      <a:r>
                        <a:rPr sz="1500" b="0">
                          <a:solidFill>
                            <a:srgbClr val="1C1C1A"/>
                          </a:solidFill>
                          <a:latin typeface="Calibri"/>
                        </a:rPr>
                        <a:t>orders</a:t>
                      </a:r>
                    </a:p>
                  </a:txBody>
                  <a:tcPr marL="101600" marR="101600" marT="38100" marB="38100" anchor="ctr">
                    <a:solidFill>
                      <a:srgbClr val="F7F7F5"/>
                    </a:solidFill>
                  </a:tcPr>
                </a:tc>
                <a:tc>
                  <a:txBody>
                    <a:bodyPr/>
                    <a:lstStyle/>
                    <a:p>
                      <a:r>
                        <a:rPr sz="1500" b="0">
                          <a:solidFill>
                            <a:srgbClr val="1C1C1A"/>
                          </a:solidFill>
                          <a:latin typeface="Calibri"/>
                        </a:rPr>
                        <a:t>One order</a:t>
                      </a:r>
                    </a:p>
                  </a:txBody>
                  <a:tcPr marL="101600" marR="101600" marT="38100" marB="38100" anchor="ctr">
                    <a:solidFill>
                      <a:srgbClr val="F7F7F5"/>
                    </a:solidFill>
                  </a:tcPr>
                </a:tc>
                <a:tc>
                  <a:txBody>
                    <a:bodyPr/>
                    <a:lstStyle/>
                    <a:p>
                      <a:r>
                        <a:rPr sz="1500" b="0">
                          <a:solidFill>
                            <a:srgbClr val="1C1C1A"/>
                          </a:solidFill>
                          <a:latin typeface="Calibri"/>
                        </a:rPr>
                        <a:t>Amount, channel, quarter, status</a:t>
                      </a:r>
                    </a:p>
                  </a:txBody>
                  <a:tcPr marL="101600" marR="101600" marT="38100" marB="38100" anchor="ctr">
                    <a:solidFill>
                      <a:srgbClr val="F7F7F5"/>
                    </a:solidFill>
                  </a:tcPr>
                </a:tc>
              </a:tr>
              <a:tr h="387096">
                <a:tc>
                  <a:txBody>
                    <a:bodyPr/>
                    <a:lstStyle/>
                    <a:p>
                      <a:r>
                        <a:rPr sz="1500" b="0">
                          <a:solidFill>
                            <a:srgbClr val="1C1C1A"/>
                          </a:solidFill>
                          <a:latin typeface="Calibri"/>
                        </a:rPr>
                        <a:t>payments</a:t>
                      </a:r>
                    </a:p>
                  </a:txBody>
                  <a:tcPr marL="101600" marR="101600" marT="38100" marB="38100" anchor="ctr">
                    <a:solidFill>
                      <a:srgbClr val="FFFFFF"/>
                    </a:solidFill>
                  </a:tcPr>
                </a:tc>
                <a:tc>
                  <a:txBody>
                    <a:bodyPr/>
                    <a:lstStyle/>
                    <a:p>
                      <a:r>
                        <a:rPr sz="1500" b="0">
                          <a:solidFill>
                            <a:srgbClr val="1C1C1A"/>
                          </a:solidFill>
                          <a:latin typeface="Calibri"/>
                        </a:rPr>
                        <a:t>One payment attempt</a:t>
                      </a:r>
                    </a:p>
                  </a:txBody>
                  <a:tcPr marL="101600" marR="101600" marT="38100" marB="38100" anchor="ctr">
                    <a:solidFill>
                      <a:srgbClr val="FFFFFF"/>
                    </a:solidFill>
                  </a:tcPr>
                </a:tc>
                <a:tc>
                  <a:txBody>
                    <a:bodyPr/>
                    <a:lstStyle/>
                    <a:p>
                      <a:r>
                        <a:rPr sz="1500" b="0">
                          <a:solidFill>
                            <a:srgbClr val="1C1C1A"/>
                          </a:solidFill>
                          <a:latin typeface="Calibri"/>
                        </a:rPr>
                        <a:t>Tomorrow's problem, not today's</a:t>
                      </a:r>
                    </a:p>
                  </a:txBody>
                  <a:tcPr marL="101600" marR="101600" marT="38100" marB="38100" anchor="ctr">
                    <a:solidFill>
                      <a:srgbClr val="FFFFFF"/>
                    </a:solidFill>
                  </a:tcPr>
                </a:tc>
              </a:tr>
              <a:tr h="387096">
                <a:tc>
                  <a:txBody>
                    <a:bodyPr/>
                    <a:lstStyle/>
                    <a:p>
                      <a:r>
                        <a:rPr sz="1500" b="0">
                          <a:solidFill>
                            <a:srgbClr val="1C1C1A"/>
                          </a:solidFill>
                          <a:latin typeface="Calibri"/>
                        </a:rPr>
                        <a:t>refunds</a:t>
                      </a:r>
                    </a:p>
                  </a:txBody>
                  <a:tcPr marL="101600" marR="101600" marT="38100" marB="38100" anchor="ctr">
                    <a:solidFill>
                      <a:srgbClr val="F7F7F5"/>
                    </a:solidFill>
                  </a:tcPr>
                </a:tc>
                <a:tc>
                  <a:txBody>
                    <a:bodyPr/>
                    <a:lstStyle/>
                    <a:p>
                      <a:r>
                        <a:rPr sz="1500" b="0">
                          <a:solidFill>
                            <a:srgbClr val="1C1C1A"/>
                          </a:solidFill>
                          <a:latin typeface="Calibri"/>
                        </a:rPr>
                        <a:t>One refund</a:t>
                      </a:r>
                    </a:p>
                  </a:txBody>
                  <a:tcPr marL="101600" marR="101600" marT="38100" marB="38100" anchor="ctr">
                    <a:solidFill>
                      <a:srgbClr val="F7F7F5"/>
                    </a:solidFill>
                  </a:tcPr>
                </a:tc>
                <a:tc>
                  <a:txBody>
                    <a:bodyPr/>
                    <a:lstStyle/>
                    <a:p>
                      <a:r>
                        <a:rPr sz="1500" b="0">
                          <a:solidFill>
                            <a:srgbClr val="1C1C1A"/>
                          </a:solidFill>
                          <a:latin typeface="Calibri"/>
                        </a:rPr>
                        <a:t>Tomorrow's problem too</a:t>
                      </a:r>
                    </a:p>
                  </a:txBody>
                  <a:tcPr marL="101600" marR="101600" marT="38100" marB="38100" anchor="ctr">
                    <a:solidFill>
                      <a:srgbClr val="F7F7F5"/>
                    </a:solidFill>
                  </a:tcPr>
                </a:tc>
              </a:tr>
              <a:tr h="387096">
                <a:tc>
                  <a:txBody>
                    <a:bodyPr/>
                    <a:lstStyle/>
                    <a:p>
                      <a:r>
                        <a:rPr sz="1500" b="0">
                          <a:solidFill>
                            <a:srgbClr val="1C1C1A"/>
                          </a:solidFill>
                          <a:latin typeface="Calibri"/>
                        </a:rPr>
                        <a:t>campaign_exposure</a:t>
                      </a:r>
                    </a:p>
                  </a:txBody>
                  <a:tcPr marL="101600" marR="101600" marT="38100" marB="38100" anchor="ctr">
                    <a:solidFill>
                      <a:srgbClr val="FFFFFF"/>
                    </a:solidFill>
                  </a:tcPr>
                </a:tc>
                <a:tc>
                  <a:txBody>
                    <a:bodyPr/>
                    <a:lstStyle/>
                    <a:p>
                      <a:r>
                        <a:rPr sz="1500" b="0">
                          <a:solidFill>
                            <a:srgbClr val="1C1C1A"/>
                          </a:solidFill>
                          <a:latin typeface="Calibri"/>
                        </a:rPr>
                        <a:t>One customer seen by one campaign</a:t>
                      </a:r>
                    </a:p>
                  </a:txBody>
                  <a:tcPr marL="101600" marR="101600" marT="38100" marB="38100" anchor="ctr">
                    <a:solidFill>
                      <a:srgbClr val="FFFFFF"/>
                    </a:solidFill>
                  </a:tcPr>
                </a:tc>
                <a:tc>
                  <a:txBody>
                    <a:bodyPr/>
                    <a:lstStyle/>
                    <a:p>
                      <a:r>
                        <a:rPr sz="1500" b="0">
                          <a:solidFill>
                            <a:srgbClr val="1C1C1A"/>
                          </a:solidFill>
                          <a:latin typeface="Calibri"/>
                        </a:rPr>
                        <a:t>Thursday</a:t>
                      </a:r>
                    </a:p>
                  </a:txBody>
                  <a:tcPr marL="101600" marR="101600" marT="38100" marB="38100" anchor="ctr">
                    <a:solidFill>
                      <a:srgbClr val="FFFFFF"/>
                    </a:solidFill>
                  </a:tcPr>
                </a:tc>
              </a:tr>
              <a:tr h="387096">
                <a:tc>
                  <a:txBody>
                    <a:bodyPr/>
                    <a:lstStyle/>
                    <a:p>
                      <a:r>
                        <a:rPr sz="1500" b="0">
                          <a:solidFill>
                            <a:srgbClr val="1C1C1A"/>
                          </a:solidFill>
                          <a:latin typeface="Calibri"/>
                        </a:rPr>
                        <a:t>plan_line</a:t>
                      </a:r>
                    </a:p>
                  </a:txBody>
                  <a:tcPr marL="101600" marR="101600" marT="38100" marB="38100" anchor="ctr">
                    <a:solidFill>
                      <a:srgbClr val="F7F7F5"/>
                    </a:solidFill>
                  </a:tcPr>
                </a:tc>
                <a:tc>
                  <a:txBody>
                    <a:bodyPr/>
                    <a:lstStyle/>
                    <a:p>
                      <a:r>
                        <a:rPr sz="1500" b="0">
                          <a:solidFill>
                            <a:srgbClr val="1C1C1A"/>
                          </a:solidFill>
                          <a:latin typeface="Calibri"/>
                        </a:rPr>
                        <a:t>One week of the plan</a:t>
                      </a:r>
                    </a:p>
                  </a:txBody>
                  <a:tcPr marL="101600" marR="101600" marT="38100" marB="38100" anchor="ctr">
                    <a:solidFill>
                      <a:srgbClr val="F7F7F5"/>
                    </a:solidFill>
                  </a:tcPr>
                </a:tc>
                <a:tc>
                  <a:txBody>
                    <a:bodyPr/>
                    <a:lstStyle/>
                    <a:p>
                      <a:r>
                        <a:rPr sz="1500" b="0">
                          <a:solidFill>
                            <a:srgbClr val="1C1C1A"/>
                          </a:solidFill>
                          <a:latin typeface="Calibri"/>
                        </a:rPr>
                        <a:t>Wednesday</a:t>
                      </a:r>
                    </a:p>
                  </a:txBody>
                  <a:tcPr marL="101600" marR="101600" marT="38100" marB="38100" anchor="ctr">
                    <a:solidFill>
                      <a:srgbClr val="F7F7F5"/>
                    </a:solidFill>
                  </a:tcPr>
                </a:tc>
              </a:tr>
            </a:tbl>
          </a:graphicData>
        </a:graphic>
      </p:graphicFrame>
      <p:sp>
        <p:nvSpPr>
          <p:cNvPr id="7" name="TextBox 6"/>
          <p:cNvSpPr txBox="1"/>
          <p:nvPr/>
        </p:nvSpPr>
        <p:spPr>
          <a:xfrm>
            <a:off x="685800" y="504088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column you have not looked at is a column you will misuse.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 query describes the result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cce4a9b0cd7a3821.png"/>
          <p:cNvPicPr>
            <a:picLocks noChangeAspect="1"/>
          </p:cNvPicPr>
          <p:nvPr/>
        </p:nvPicPr>
        <p:blipFill>
          <a:blip r:embed="rId3"/>
          <a:stretch>
            <a:fillRect/>
          </a:stretch>
        </p:blipFill>
        <p:spPr>
          <a:xfrm>
            <a:off x="685800" y="2092920"/>
            <a:ext cx="10820095" cy="1625679"/>
          </a:xfrm>
          <a:prstGeom prst="rect">
            <a:avLst/>
          </a:prstGeom>
        </p:spPr>
      </p:pic>
      <p:sp>
        <p:nvSpPr>
          <p:cNvPr id="7" name="TextBox 6"/>
          <p:cNvSpPr txBox="1"/>
          <p:nvPr/>
        </p:nvSpPr>
        <p:spPr>
          <a:xfrm>
            <a:off x="685800" y="3864903"/>
            <a:ext cx="10820095" cy="17231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do not tell the database to open a file, walk it and add things up. You describe what you</a:t>
            </a:r>
          </a:p>
          <a:p>
            <a:pPr>
              <a:spcAft>
                <a:spcPts val="800"/>
              </a:spcAft>
            </a:pPr>
            <a:r>
              <a:rPr sz="1700" b="0">
                <a:solidFill>
                  <a:srgbClr val="1C1C1A"/>
                </a:solidFill>
                <a:latin typeface="Calibri"/>
              </a:rPr>
              <a:t>want back, and the server picks how.</a:t>
            </a:r>
          </a:p>
          <a:p>
            <a:pPr>
              <a:spcAft>
                <a:spcPts val="800"/>
              </a:spcAft>
            </a:pPr>
            <a:r>
              <a:rPr sz="1700" b="0">
                <a:solidFill>
                  <a:srgbClr val="1C1C1A"/>
                </a:solidFill>
                <a:latin typeface="Calibri"/>
              </a:rPr>
              <a:t>That is the whole difference from last week's accumulator, and it is why a query is shorter than</a:t>
            </a:r>
          </a:p>
          <a:p>
            <a:pPr>
              <a:spcAft>
                <a:spcPts val="800"/>
              </a:spcAft>
            </a:pPr>
            <a:r>
              <a:rPr sz="1700" b="0">
                <a:solidFill>
                  <a:srgbClr val="1C1C1A"/>
                </a:solidFill>
                <a:latin typeface="Calibri"/>
              </a:rPr>
              <a:t>the loop it replaces.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One table, filtered</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clauses get you a long way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8776"/>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98776"/>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99360"/>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channel</a:t>
            </a:r>
          </a:p>
          <a:p>
            <a:pPr>
              <a:spcAft>
                <a:spcPts val="200"/>
              </a:spcAft>
            </a:pPr>
            <a:r>
              <a:rPr sz="1600" b="0">
                <a:solidFill>
                  <a:srgbClr val="E4ECF7"/>
                </a:solidFill>
                <a:latin typeface="Consolas"/>
              </a:rPr>
              <a:t>FROM   orders</a:t>
            </a:r>
          </a:p>
          <a:p>
            <a:pPr>
              <a:spcAft>
                <a:spcPts val="200"/>
              </a:spcAft>
            </a:pPr>
            <a:r>
              <a:rPr sz="1600" b="0">
                <a:solidFill>
                  <a:srgbClr val="E4ECF7"/>
                </a:solidFill>
                <a:latin typeface="Consolas"/>
              </a:rPr>
              <a:t>WHERE  quarter = 'Q1'</a:t>
            </a:r>
          </a:p>
          <a:p>
            <a:pPr>
              <a:spcAft>
                <a:spcPts val="200"/>
              </a:spcAft>
            </a:pPr>
            <a:r>
              <a:rPr sz="1600" b="0">
                <a:solidFill>
                  <a:srgbClr val="E4ECF7"/>
                </a:solidFill>
                <a:latin typeface="Consolas"/>
              </a:rPr>
              <a:t>ORDER BY amount DESC</a:t>
            </a:r>
          </a:p>
          <a:p>
            <a:pPr>
              <a:spcAft>
                <a:spcPts val="200"/>
              </a:spcAft>
            </a:pPr>
            <a:r>
              <a:rPr sz="1600" b="0">
                <a:solidFill>
                  <a:srgbClr val="E4ECF7"/>
                </a:solidFill>
                <a:latin typeface="Consolas"/>
              </a:rPr>
              <a:t>LIMIT 5;</a:t>
            </a:r>
          </a:p>
        </p:txBody>
      </p:sp>
      <p:sp>
        <p:nvSpPr>
          <p:cNvPr id="9" name="TextBox 8"/>
          <p:cNvSpPr txBox="1"/>
          <p:nvPr/>
        </p:nvSpPr>
        <p:spPr>
          <a:xfrm>
            <a:off x="685800" y="4262120"/>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SELECT picks the columns, FROM names the table, WHERE keeps rows, ORDER BY sorts,</a:t>
            </a:r>
          </a:p>
          <a:p>
            <a:pPr>
              <a:spcAft>
                <a:spcPts val="900"/>
              </a:spcAft>
            </a:pPr>
            <a:r>
              <a:rPr sz="2000" b="0">
                <a:solidFill>
                  <a:srgbClr val="1C1C1A"/>
                </a:solidFill>
                <a:latin typeface="Calibri"/>
              </a:rPr>
              <a:t>LIMIT cuts.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Last week's first finding, in one statement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8427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of Week 1 spent a morning finding the order that pulled the mean away from the median.</a:t>
            </a:r>
          </a:p>
        </p:txBody>
      </p:sp>
      <p:sp>
        <p:nvSpPr>
          <p:cNvPr id="7" name="Rectangle 6"/>
          <p:cNvSpPr/>
          <p:nvPr/>
        </p:nvSpPr>
        <p:spPr>
          <a:xfrm>
            <a:off x="685800" y="37226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7226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8232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FROM orders ORDER BY amount DESC LIMIT 5;</a:t>
            </a:r>
          </a:p>
        </p:txBody>
      </p:sp>
      <p:sp>
        <p:nvSpPr>
          <p:cNvPr id="10" name="TextBox 9"/>
          <p:cNvSpPr txBox="1"/>
          <p:nvPr/>
        </p:nvSpPr>
        <p:spPr>
          <a:xfrm>
            <a:off x="685800" y="44317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lines of Python became one line. The finding was never in the Python.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LIMIT without ORDER BY is not the top five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7556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7556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7614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FROM orders LIMIT 5;</a:t>
            </a:r>
          </a:p>
        </p:txBody>
      </p:sp>
      <p:sp>
        <p:nvSpPr>
          <p:cNvPr id="9" name="TextBox 8"/>
          <p:cNvSpPr txBox="1"/>
          <p:nvPr/>
        </p:nvSpPr>
        <p:spPr>
          <a:xfrm>
            <a:off x="685800" y="3284728"/>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returns five rows. Which five is the server's business, and it may answer differently on two</a:t>
            </a:r>
          </a:p>
          <a:p>
            <a:pPr>
              <a:spcAft>
                <a:spcPts val="900"/>
              </a:spcAft>
            </a:pPr>
            <a:r>
              <a:rPr sz="2000" b="0">
                <a:solidFill>
                  <a:srgbClr val="1C1C1A"/>
                </a:solidFill>
                <a:latin typeface="Calibri"/>
              </a:rPr>
              <a:t>machines running the same query against the same data.</a:t>
            </a:r>
          </a:p>
          <a:p>
            <a:pPr>
              <a:spcAft>
                <a:spcPts val="900"/>
              </a:spcAft>
            </a:pPr>
            <a:r>
              <a:rPr sz="2000" b="0">
                <a:solidFill>
                  <a:srgbClr val="1C1C1A"/>
                </a:solidFill>
                <a:latin typeface="Calibri"/>
              </a:rPr>
              <a:t>A row has no position until you give it 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the server actually guarantees about order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9a60ab72d3c3faf.png"/>
          <p:cNvPicPr>
            <a:picLocks noChangeAspect="1"/>
          </p:cNvPicPr>
          <p:nvPr/>
        </p:nvPicPr>
        <p:blipFill>
          <a:blip r:embed="rId3"/>
          <a:stretch>
            <a:fillRect/>
          </a:stretch>
        </p:blipFill>
        <p:spPr>
          <a:xfrm>
            <a:off x="3601413" y="1517904"/>
            <a:ext cx="4988868" cy="2979928"/>
          </a:xfrm>
          <a:prstGeom prst="rect">
            <a:avLst/>
          </a:prstGeom>
        </p:spPr>
      </p:pic>
      <p:sp>
        <p:nvSpPr>
          <p:cNvPr id="8" name="TextBox 7"/>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Nothing. Not insertion order, not primary key order, not the order you saw last time. An ORDER BY is the only promise. Everything else is an accident of how the rows came back, and an accident that holds for a year can stop holding the day an index is added.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Counting is a question about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orders WHERE quarter = 'Q1';</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count(*) counts rows. count(column) counts rows where that column is not null, which is a</a:t>
            </a:r>
          </a:p>
          <a:p>
            <a:pPr>
              <a:spcAft>
                <a:spcPts val="900"/>
              </a:spcAft>
            </a:pPr>
            <a:r>
              <a:rPr sz="2000" b="0">
                <a:solidFill>
                  <a:srgbClr val="1C1C1A"/>
                </a:solidFill>
                <a:latin typeface="Calibri"/>
              </a:rPr>
              <a:t>different question and sometimes the one you meant.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The number that did not match</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 last week's headline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69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Last week's note to Meera said Q1 was Rs 2.10 crore.</a:t>
            </a:r>
          </a:p>
        </p:txBody>
      </p:sp>
      <p:sp>
        <p:nvSpPr>
          <p:cNvPr id="7" name="Rectangle 6"/>
          <p:cNvSpPr/>
          <p:nvPr/>
        </p:nvSpPr>
        <p:spPr>
          <a:xfrm>
            <a:off x="685800" y="354990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4990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048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quarter, sum(amount) FROM orders GROUP BY quarter;</a:t>
            </a:r>
          </a:p>
        </p:txBody>
      </p:sp>
      <p:sp>
        <p:nvSpPr>
          <p:cNvPr id="10" name="TextBox 9"/>
          <p:cNvSpPr txBox="1"/>
          <p:nvPr/>
        </p:nvSpPr>
        <p:spPr>
          <a:xfrm>
            <a:off x="685800" y="42590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warehouse says Q1 is Rs 10.00 crore.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Neither number is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are honest, and they answer different questions.</a:t>
            </a:r>
          </a:p>
          <a:p>
            <a:pPr>
              <a:spcAft>
                <a:spcPts val="900"/>
              </a:spcAft>
            </a:pPr>
            <a:r>
              <a:rPr sz="2000" b="0">
                <a:solidFill>
                  <a:srgbClr val="1C1C1A"/>
                </a:solidFill>
                <a:latin typeface="Calibri"/>
              </a:rPr>
              <a:t>Last week's file was an extract the data team pulled so the room could start before anybody had</a:t>
            </a:r>
          </a:p>
          <a:p>
            <a:pPr>
              <a:spcAft>
                <a:spcPts val="900"/>
              </a:spcAft>
            </a:pPr>
            <a:r>
              <a:rPr sz="2000" b="0">
                <a:solidFill>
                  <a:srgbClr val="1C1C1A"/>
                </a:solidFill>
                <a:latin typeface="Calibri"/>
              </a:rPr>
              <a:t>database access. Two hundred rows out of a thousand orders.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survives, and what does not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743a26a78d66f86.png"/>
          <p:cNvPicPr>
            <a:picLocks noChangeAspect="1"/>
          </p:cNvPicPr>
          <p:nvPr/>
        </p:nvPicPr>
        <p:blipFill>
          <a:blip r:embed="rId3"/>
          <a:stretch>
            <a:fillRect/>
          </a:stretch>
        </p:blipFill>
        <p:spPr>
          <a:xfrm>
            <a:off x="3654309" y="3675887"/>
            <a:ext cx="4883075" cy="2377440"/>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sentence you send Anand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4383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243836"/>
            <a:ext cx="10545775" cy="839216"/>
          </a:xfrm>
          <a:prstGeom prst="rect">
            <a:avLst/>
          </a:prstGeom>
          <a:noFill/>
        </p:spPr>
        <p:txBody>
          <a:bodyPr wrap="square" anchor="t" lIns="0" rIns="0" tIns="0" bIns="0">
            <a:spAutoFit/>
          </a:bodyPr>
          <a:lstStyle/>
          <a:p>
            <a:r>
              <a:rPr sz="1900" b="0" i="1">
                <a:solidFill>
                  <a:srgbClr val="5F6360"/>
                </a:solidFill>
                <a:latin typeface="Calibri"/>
              </a:rPr>
              <a:t>"Last week's figures came from a 200-row extract, so the levels were a sample's levels. The</a:t>
            </a:r>
          </a:p>
        </p:txBody>
      </p:sp>
      <p:sp>
        <p:nvSpPr>
          <p:cNvPr id="8" name="Rectangle 7"/>
          <p:cNvSpPr/>
          <p:nvPr/>
        </p:nvSpPr>
        <p:spPr>
          <a:xfrm>
            <a:off x="685800" y="322935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29356"/>
            <a:ext cx="10545775" cy="839216"/>
          </a:xfrm>
          <a:prstGeom prst="rect">
            <a:avLst/>
          </a:prstGeom>
          <a:noFill/>
        </p:spPr>
        <p:txBody>
          <a:bodyPr wrap="square" anchor="t" lIns="0" rIns="0" tIns="0" bIns="0">
            <a:spAutoFit/>
          </a:bodyPr>
          <a:lstStyle/>
          <a:p>
            <a:r>
              <a:rPr sz="1900" b="0" i="1">
                <a:solidFill>
                  <a:srgbClr val="5F6360"/>
                </a:solidFill>
                <a:latin typeface="Calibri"/>
              </a:rPr>
              <a:t>shape held: Retail-Plus frequency is still the branch that moved. Every number from Monday</a:t>
            </a:r>
          </a:p>
        </p:txBody>
      </p:sp>
      <p:sp>
        <p:nvSpPr>
          <p:cNvPr id="10" name="Rectangle 9"/>
          <p:cNvSpPr/>
          <p:nvPr/>
        </p:nvSpPr>
        <p:spPr>
          <a:xfrm>
            <a:off x="685800" y="421487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214876"/>
            <a:ext cx="10545775" cy="511048"/>
          </a:xfrm>
          <a:prstGeom prst="rect">
            <a:avLst/>
          </a:prstGeom>
          <a:noFill/>
        </p:spPr>
        <p:txBody>
          <a:bodyPr wrap="square" anchor="t" lIns="0" rIns="0" tIns="0" bIns="0">
            <a:spAutoFit/>
          </a:bodyPr>
          <a:lstStyle/>
          <a:p>
            <a:r>
              <a:rPr sz="1900" b="0" i="1">
                <a:solidFill>
                  <a:srgbClr val="5F6360"/>
                </a:solidFill>
                <a:latin typeface="Calibri"/>
              </a:rPr>
              <a:t>onward comes from the warehouse, and here is the query for each one."</a:t>
            </a:r>
          </a:p>
        </p:txBody>
      </p:sp>
      <p:sp>
        <p:nvSpPr>
          <p:cNvPr id="12" name="TextBox 11"/>
          <p:cNvSpPr txBox="1"/>
          <p:nvPr/>
        </p:nvSpPr>
        <p:spPr>
          <a:xfrm>
            <a:off x="685800" y="487222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Say it before he finds it.</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this is a good day rather than a bad one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analyst who quietly reconciles a number nobody asked about is worth more than one who is</a:t>
            </a:r>
          </a:p>
          <a:p>
            <a:pPr>
              <a:spcAft>
                <a:spcPts val="900"/>
              </a:spcAft>
            </a:pPr>
            <a:r>
              <a:rPr sz="2000" b="0">
                <a:solidFill>
                  <a:srgbClr val="1C1C1A"/>
                </a:solidFill>
                <a:latin typeface="Calibri"/>
              </a:rPr>
              <a:t>never wrong, because the second one has not checked.</a:t>
            </a:r>
          </a:p>
          <a:p>
            <a:pPr>
              <a:spcAft>
                <a:spcPts val="900"/>
              </a:spcAft>
            </a:pPr>
            <a:r>
              <a:rPr sz="2000" b="0">
                <a:solidFill>
                  <a:srgbClr val="1C1C1A"/>
                </a:solidFill>
                <a:latin typeface="Calibri"/>
              </a:rPr>
              <a:t>The gap was findable in one query. That is the argument for Anand's whole request.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half one leaves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054270cd43413d3.png"/>
          <p:cNvPicPr>
            <a:picLocks noChangeAspect="1"/>
          </p:cNvPicPr>
          <p:nvPr/>
        </p:nvPicPr>
        <p:blipFill>
          <a:blip r:embed="rId3"/>
          <a:stretch>
            <a:fillRect/>
          </a:stretch>
        </p:blipFill>
        <p:spPr>
          <a:xfrm>
            <a:off x="685800" y="2453117"/>
            <a:ext cx="10820095" cy="807750"/>
          </a:xfrm>
          <a:prstGeom prst="rect">
            <a:avLst/>
          </a:prstGeom>
        </p:spPr>
      </p:pic>
      <p:sp>
        <p:nvSpPr>
          <p:cNvPr id="7" name="TextBox 6"/>
          <p:cNvSpPr txBox="1"/>
          <p:nvPr/>
        </p:nvSpPr>
        <p:spPr>
          <a:xfrm>
            <a:off x="685800" y="3407171"/>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reach the warehouse, read its schema, filter one table, sort it, and explain why your</a:t>
            </a:r>
          </a:p>
          <a:p>
            <a:pPr>
              <a:spcAft>
                <a:spcPts val="900"/>
              </a:spcAft>
            </a:pPr>
            <a:r>
              <a:rPr sz="2000" b="0">
                <a:solidFill>
                  <a:srgbClr val="1C1C1A"/>
                </a:solidFill>
                <a:latin typeface="Calibri"/>
              </a:rPr>
              <a:t>old number and the new one are both honest.</a:t>
            </a:r>
          </a:p>
          <a:p>
            <a:pPr>
              <a:spcAft>
                <a:spcPts val="900"/>
              </a:spcAft>
            </a:pPr>
            <a:r>
              <a:rPr sz="2000" b="0">
                <a:solidFill>
                  <a:srgbClr val="1C1C1A"/>
                </a:solidFill>
                <a:latin typeface="Calibri"/>
              </a:rPr>
              <a:t>Half two turns that into the suite Anand runs every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