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leaves a copy that starts to age the day it lands.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delivered-only</a:t>
            </a:r>
          </a:p>
          <a:p>
            <a:r>
              <a:t>definition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with a predict before the schema read and inside the trap.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chief investment office's new</a:t>
            </a:r>
          </a:p>
          <a:p>
            <a:r>
              <a:t>value-at-risk model, the number that told management how much the trading book could lose;</a:t>
            </a:r>
          </a:p>
          <a:p>
            <a:r>
              <a:t>hand-moved inputs were among the problems the task force found. Do not claim the spreadsheet caused the loss; say it was one of</a:t>
            </a:r>
          </a:p>
          <a:p>
            <a:r>
              <a:t>the control failures the report names. The study notes' reading list carries the link and its check date. Then the three places the Monday</a:t>
            </a:r>
          </a:p>
          <a:p>
            <a:r>
              <a:t>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quarter totals read only the orders</a:t>
            </a:r>
          </a:p>
          <a:p>
            <a:r>
              <a:t>table, so the export copies all 1,000 order rows before Python adds anything; the query and the</a:t>
            </a:r>
          </a:p>
          <a:p>
            <a:r>
              <a:t>view return two rows. The segment lines in chapter 3 also need the customers table, and their</a:t>
            </a:r>
          </a:p>
          <a:p>
            <a:r>
              <a:t>export would copy 1,340 rows against 8. The copy 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say two, because the tree needs two; a few say d. Then run the</a:t>
            </a:r>
          </a:p>
          <a:p>
            <a:r>
              <a:t>catalogue query.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who trusts the label. Then the answer and the check.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counts rows, and a row of orders is an order. 39 of the 340 customers</a:t>
            </a:r>
          </a:p>
          <a:p>
            <a:r>
              <a:t>bought nothing in either quarter, so the customer table answers a different question: how many</a:t>
            </a:r>
          </a:p>
          <a:p>
            <a:r>
              <a:t>customers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1,000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years before the post was</a:t>
            </a:r>
          </a:p>
          <a:p>
            <a:r>
              <a:t>written. The study notes' reading list carries the link and its check date. Then four ways to 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the totals can agree while the branches differ.</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fix changes two lines of the sheet and leaves the revenue line as it was. The</a:t>
            </a:r>
          </a:p>
          <a:p>
            <a:r>
              <a:t>interview answer in one breath: put the two definitions side by side before the two numbers,</a:t>
            </a:r>
          </a:p>
          <a:p>
            <a:r>
              <a:t>recompute both from the source of record, agree which definition answers the question, and store</a:t>
            </a:r>
          </a:p>
          <a:p>
            <a:r>
              <a:t>that query. Then the 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the GROUP BY</a:t>
            </a:r>
          </a:p>
          <a:p>
            <a:r>
              <a:t>error (2), the eight rows (5), the thin groups with HAVING (4), the trap and its fix (8, never</a:t>
            </a:r>
          </a:p>
          <a:p>
            <a:r>
              <a:t>cut), the second route (2) and the close (1).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Eternal is the company behind</a:t>
            </a:r>
          </a:p>
          <a:p>
            <a:r>
              <a:t>Zomato and Blinkit, and the quarter ran to 30 June 2026. The study notes' reading list carries the link and its check date. Then four ways to put</a:t>
            </a:r>
          </a:p>
          <a:p>
            <a:r>
              <a:t>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 eight rows are still on the board from the last slide.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floating-point value,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averages each customer's own count in Python, from a different query.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a sum of counts over a number</a:t>
            </a:r>
          </a:p>
          <a:p>
            <a:r>
              <a:t>of customers, both from a different query, divided with Python's true division, so it cannot share</a:t>
            </a:r>
          </a:p>
          <a:p>
            <a:r>
              <a:t>the first route's integer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named</a:t>
            </a:r>
          </a:p>
          <a:p>
            <a:r>
              <a:t>steps (5), the branches (4), the trap, its check and its fix (10, never cut), the second route</a:t>
            </a:r>
          </a:p>
          <a:p>
            <a:r>
              <a:t>(3)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the sentence goes on</a:t>
            </a:r>
          </a:p>
          <a:p>
            <a:r>
              <a:t>to call CTEs more performant, a claim the guide makes with no test beside it; on Postgres the</a:t>
            </a:r>
          </a:p>
          <a:p>
            <a:r>
              <a:t>reason to name steps is the reader. The same guide says not to use USING in joins because it</a:t>
            </a:r>
          </a:p>
          <a:p>
            <a:r>
              <a:t>"produces inaccurate results in Snowflake"; on Postgres USING is exact, and today's lookup line</a:t>
            </a:r>
          </a:p>
          <a:p>
            <a:r>
              <a:t>uses it. The study notes' reading list carries the link and its check date.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Q1 temporary table</a:t>
            </a:r>
          </a:p>
          <a:p>
            <a:r>
              <a:t>holds four rows, one per segment, so two quarters write 8; a new session, which is what the analyst</a:t>
            </a:r>
          </a:p>
          <a:p>
            <a:r>
              <a:t>opens, finds no such table. Postgres drops a temporary table when its session ends. A and B are</a:t>
            </a:r>
          </a:p>
          <a:p>
            <a:r>
              <a:t>single statements, so the analyst reruns exactly what the team ran; B also reads in the order the</a:t>
            </a:r>
          </a:p>
          <a:p>
            <a:r>
              <a:t>work happens. The edits are counted in the query text: c.segment appears four times in A, once in</a:t>
            </a:r>
          </a:p>
          <a:p>
            <a:r>
              <a:t>B's book step, and twice in each of C's two tables. Then the 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Postgres works each step out once per 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WHEN ... THEN ... END picks a value row by row: here the order's amount when</a:t>
            </a:r>
          </a:p>
          <a:p>
            <a:r>
              <a:t>the order falls in that quarter.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customers, a group chapter 3 flagged as too thin for a rate. Then a second route</a:t>
            </a:r>
          </a:p>
          <a:p>
            <a:r>
              <a:t>that never averages: revenue over the same 107, counted in a step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route never builds a row per member and never averages, so it can disagree</a:t>
            </a:r>
          </a:p>
          <a:p>
            <a:r>
              <a:t>with the fix.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route's own count, 107, matches the fix's step, and its levels match to the</a:t>
            </a:r>
          </a:p>
          <a:p>
            <a:r>
              <a:t>rupee. When to switch: the tier's 120 is the right base when the head of Retail-Plus asks about the</a:t>
            </a:r>
          </a:p>
          <a:p>
            <a:r>
              <a:t>whole tier, including the 13 members who bought nothing in either quarter; the 107 is right for</a:t>
            </a:r>
          </a:p>
          <a:p>
            <a:r>
              <a:t>the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The study notes' reading list carries the link and its check date. Then four ways to</a:t>
            </a:r>
          </a:p>
          <a:p>
            <a:r>
              <a:t>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11.png"/><Relationship Id="rId6"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16.png"/><Relationship Id="rId6"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1.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 Id="rId5" Type="http://schemas.openxmlformats.org/officeDocument/2006/relationships/image" Target="../media/image3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3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3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3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from the book to a run that repeats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682496"/>
            <a:ext cx="5291175" cy="21579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328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4261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71907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4005072"/>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005072"/>
            <a:ext cx="4980279" cy="1320799"/>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5472175"/>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5472175"/>
            <a:ext cx="4980279"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6370167" y="1682496"/>
            <a:ext cx="250842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6370167" y="2417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6370167" y="2618740"/>
            <a:ext cx="250842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6370167" y="2871216"/>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152915" y="1682496"/>
            <a:ext cx="250842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9152915" y="2417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9152915" y="2618740"/>
            <a:ext cx="250842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9152915" y="2871216"/>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70167" y="314553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Anand allows no exports, and his analyst audits every line of every query. Kavya Nair, the team's senior analyst, reviews each chapter's answer before it leaves the team.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c33c19fd39e11ab0.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number on Anand's sheet comes from the saved query; the notebook reads the warehouse for charts and checks.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gives a Week 1 answer you already know, now computed where the book lives.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91e36644db26573e.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The GROUP BY refusal, the choice between WHERE and HAVING, and an unsorted LIMIT all follow from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from orders; the segment from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7c0daa8640e180eb.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 Revenue here is booked revenue, every order at its amount whatever its status, and the book is Kalpa Retail's record of every order Finance stands behind, kept in the warehouse. Last week's numbers, the books' Rs 1.90 crore for Q1 among them, described the 186-order extract the team was handed.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signs them; his analyst reruns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signs each quarter's orders, rupees and customers,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signs the quarter counts, and what does a customer count that is really orders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11130991"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LOSSES FOR THE YEAR</a:t>
            </a:r>
          </a:p>
        </p:txBody>
      </p:sp>
      <p:sp>
        <p:nvSpPr>
          <p:cNvPr id="15" name="TextBox 14"/>
          <p:cNvSpPr txBox="1"/>
          <p:nvPr/>
        </p:nvSpPr>
        <p:spPr>
          <a:xfrm>
            <a:off x="530352" y="4404868"/>
            <a:ext cx="11130991" cy="193421"/>
          </a:xfrm>
          <a:prstGeom prst="rect">
            <a:avLst/>
          </a:prstGeom>
          <a:noFill/>
        </p:spPr>
        <p:txBody>
          <a:bodyPr wrap="square" anchor="t" lIns="0" rIns="0" tIns="0" bIns="0">
            <a:spAutoFit/>
          </a:bodyPr>
          <a:lstStyle/>
          <a:p>
            <a:pPr algn="l"/>
            <a:r>
              <a:rPr sz="950" b="0" i="0">
                <a:solidFill>
                  <a:srgbClr val="6B6690"/>
                </a:solidFill>
                <a:latin typeface="Calibri"/>
              </a:rPr>
              <a:t>through 30 June 2012, the report's page 7</a:t>
            </a:r>
          </a:p>
        </p:txBody>
      </p:sp>
      <p:sp>
        <p:nvSpPr>
          <p:cNvPr id="16" name="Rectangle 15"/>
          <p:cNvSpPr/>
          <p:nvPr/>
        </p:nvSpPr>
        <p:spPr>
          <a:xfrm>
            <a:off x="530352" y="4657344"/>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Anand's rule takes that copying step out of the Monday sheet.</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4" name="Oval 2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2454795"/>
                <a:gridCol w="3189408"/>
                <a:gridCol w="2874574"/>
                <a:gridCol w="26122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1,000 rows: every order, since the totals read only orders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1ca753ccbc50c1a6.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tables does the warehouse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week's file was one table of orders: how many tables does the warehouse keep?</a:t>
            </a:r>
          </a:p>
        </p:txBody>
      </p:sp>
      <p:pic>
        <p:nvPicPr>
          <p:cNvPr id="9" name="mermaid diagram" descr="4dfc61a50f221e61.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tables does the warehouse hold? a) one, the orders; b) two, the orders and the customers; c) seven; d) it cannot be known without asking the data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S12a  ·  15 / 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09f7eb44c4c56753.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83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83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5290119d5614222e.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83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83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count(*) AS customers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column says customers: what did the query actually count?</a:t>
            </a:r>
          </a:p>
        </p:txBody>
      </p:sp>
      <p:pic>
        <p:nvPicPr>
          <p:cNvPr id="9" name="mermaid diagram" descr="4236028f8086313b.png"/>
          <p:cNvPicPr>
            <a:picLocks noChangeAspect="1"/>
          </p:cNvPicPr>
          <p:nvPr/>
        </p:nvPicPr>
        <p:blipFill>
          <a:blip r:embed="rId5"/>
          <a:stretch>
            <a:fillRect/>
          </a:stretch>
        </p:blipFill>
        <p:spPr>
          <a:xfrm>
            <a:off x="3524097" y="1956816"/>
            <a:ext cx="51435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did the query count? a) the customers who bought in each quarter; b) the customers on Kalpa's customer table; c) the order rows in each quarter; d) the customers who bought more than once.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S16a  ·  20 / 83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order rows, whatever the column is called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538 wrong, and which check catches it?</a:t>
            </a:r>
          </a:p>
        </p:txBody>
      </p:sp>
      <p:pic>
        <p:nvPicPr>
          <p:cNvPr id="9" name="mermaid diagram" descr="392652fefe38ea8c.png"/>
          <p:cNvPicPr>
            <a:picLocks noChangeAspect="1"/>
          </p:cNvPicPr>
          <p:nvPr/>
        </p:nvPicPr>
        <p:blipFill>
          <a:blip r:embed="rId5"/>
          <a:stretch>
            <a:fillRect/>
          </a:stretch>
        </p:blipFill>
        <p:spPr>
          <a:xfrm>
            <a:off x="3111855" y="1664208"/>
            <a:ext cx="5967984"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orders table two ways and set the customer table's own count beside them, each named for what it counts: 1,000 order rows and 301 buyers, the customers who bought across both quarters, beside 340 customers on the customer table. The answer is c: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83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Rounded Rectangle 10"/>
          <p:cNvSpPr/>
          <p:nvPr/>
        </p:nvSpPr>
        <p:spPr>
          <a:xfrm>
            <a:off x="530352" y="47304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062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172456"/>
            <a:ext cx="237744" cy="237744"/>
          </a:xfrm>
          <a:prstGeom prst="rect">
            <a:avLst/>
          </a:prstGeom>
        </p:spPr>
      </p:pic>
      <p:sp>
        <p:nvSpPr>
          <p:cNvPr id="14" name="TextBox 13"/>
          <p:cNvSpPr txBox="1"/>
          <p:nvPr/>
        </p:nvSpPr>
        <p:spPr>
          <a:xfrm>
            <a:off x="1399031" y="4876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096256"/>
            <a:ext cx="9987991" cy="682752"/>
          </a:xfrm>
          <a:prstGeom prst="rect">
            <a:avLst/>
          </a:prstGeom>
          <a:noFill/>
        </p:spPr>
        <p:txBody>
          <a:bodyPr wrap="square" anchor="t" lIns="0" rIns="0" tIns="0" bIns="0">
            <a:spAutoFit/>
          </a:bodyPr>
          <a:lstStyle/>
          <a:p>
            <a:r>
              <a:rPr sz="1500" b="0" i="0">
                <a:solidFill>
                  <a:srgbClr val="1A1440"/>
                </a:solidFill>
                <a:latin typeface="Calibri"/>
              </a:rPr>
              <a:t>[F] Why would you compute a KPI in the warehouse rather than in a notebook? [F] What do count(*), count(customer_id) and count(DISTINCT customer_id) each count?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83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750533"/>
                <a:gridCol w="7380457"/>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Where to compute?</a:t>
                      </a:r>
                    </a:p>
                  </a:txBody>
                  <a:tcPr marL="101600" marR="101600" marT="38100" marB="38100" anchor="ctr">
                    <a:solidFill>
                      <a:srgbClr val="FFFFFF"/>
                    </a:solidFill>
                  </a:tcPr>
                </a:tc>
                <a:tc>
                  <a:txBody>
                    <a:bodyPr/>
                    <a:lstStyle/>
                    <a:p>
                      <a:r>
                        <a:rPr sz="1400" b="0" i="0">
                          <a:solidFill>
                            <a:srgbClr val="1A1440"/>
                          </a:solidFill>
                          <a:latin typeface="Calibri"/>
                        </a:rPr>
                        <a:t>A .sql file: 2 rows back against an export's 1,000</a:t>
                      </a:r>
                    </a:p>
                  </a:txBody>
                  <a:tcPr marL="101600" marR="101600" marT="38100" marB="38100" anchor="ctr">
                    <a:solidFill>
                      <a:srgbClr val="FFFFFF"/>
                    </a:solidFill>
                  </a:tcPr>
                </a:tc>
              </a:tr>
              <a:tr h="369824">
                <a:tc>
                  <a:txBody>
                    <a:bodyPr/>
                    <a:lstStyle/>
                    <a:p>
                      <a:r>
                        <a:rPr sz="1400" b="0" i="0">
                          <a:solidFill>
                            <a:srgbClr val="1A1440"/>
                          </a:solidFill>
                          <a:latin typeface="Calibri"/>
                        </a:rPr>
                        <a:t>2. What does it hold?</a:t>
                      </a:r>
                    </a:p>
                  </a:txBody>
                  <a:tcPr marL="101600" marR="101600" marT="38100" marB="38100" anchor="ctr">
                    <a:solidFill>
                      <a:srgbClr val="F4F2FA"/>
                    </a:solidFill>
                  </a:tcPr>
                </a:tc>
                <a:tc>
                  <a:txBody>
                    <a:bodyPr/>
                    <a:lstStyle/>
                    <a:p>
                      <a:r>
                        <a:rPr sz="1400" b="0" i="0">
                          <a:solidFill>
                            <a:srgbClr val="1A1440"/>
                          </a:solidFill>
                          <a:latin typeface="Calibri"/>
                        </a:rPr>
                        <a:t>Seven tables; orders and customers carry today's tree</a:t>
                      </a:r>
                    </a:p>
                  </a:txBody>
                  <a:tcPr marL="101600" marR="101600" marT="38100" marB="38100" anchor="ctr">
                    <a:solidFill>
                      <a:srgbClr val="F4F2FA"/>
                    </a:solidFill>
                  </a:tcPr>
                </a:tc>
              </a:tr>
              <a:tr h="369824">
                <a:tc>
                  <a:txBody>
                    <a:bodyPr/>
                    <a:lstStyle/>
                    <a:p>
                      <a:r>
                        <a:rPr sz="1400" b="0" i="0">
                          <a:solidFill>
                            <a:srgbClr val="1A1440"/>
                          </a:solidFill>
                          <a:latin typeface="Calibri"/>
                        </a:rPr>
                        <a:t>3. What did it book?</a:t>
                      </a:r>
                    </a:p>
                  </a:txBody>
                  <a:tcPr marL="101600" marR="101600" marT="38100" marB="38100" anchor="ctr">
                    <a:solidFill>
                      <a:srgbClr val="FFFFFF"/>
                    </a:solidFill>
                  </a:tcPr>
                </a:tc>
                <a:tc>
                  <a:txBody>
                    <a:bodyPr/>
                    <a:lstStyle/>
                    <a:p>
                      <a:r>
                        <a:rPr sz="1400" b="0" i="0">
                          <a:solidFill>
                            <a:srgbClr val="1A1440"/>
                          </a:solidFill>
                          <a:latin typeface="Calibri"/>
                        </a:rPr>
                        <a:t>Rs 10,00,00,000 on 538, then Rs 9,84,00,000 on 462</a:t>
                      </a:r>
                    </a:p>
                  </a:txBody>
                  <a:tcPr marL="101600" marR="101600" marT="38100" marB="38100" anchor="ctr">
                    <a:solidFill>
                      <a:srgbClr val="FFFFFF"/>
                    </a:solidFill>
                  </a:tcPr>
                </a:tc>
              </a:tr>
              <a:tr h="369824">
                <a:tc>
                  <a:txBody>
                    <a:bodyPr/>
                    <a:lstStyle/>
                    <a:p>
                      <a:r>
                        <a:rPr sz="1400" b="0" i="0">
                          <a:solidFill>
                            <a:srgbClr val="1A1440"/>
                          </a:solidFill>
                          <a:latin typeface="Calibri"/>
                        </a:rPr>
                        <a:t>4. How many customers?</a:t>
                      </a:r>
                    </a:p>
                  </a:txBody>
                  <a:tcPr marL="101600" marR="101600" marT="38100" marB="38100" anchor="ctr">
                    <a:solidFill>
                      <a:srgbClr val="F4F2FA"/>
                    </a:solidFill>
                  </a:tcPr>
                </a:tc>
                <a:tc>
                  <a:txBody>
                    <a:bodyPr/>
                    <a:lstStyle/>
                    <a:p>
                      <a:r>
                        <a:rPr sz="1400" b="0" i="0">
                          <a:solidFill>
                            <a:srgbClr val="1A1440"/>
                          </a:solidFill>
                          <a:latin typeface="Calibri"/>
                        </a:rPr>
                        <a:t>244, then 227; count(*) said 538 and 462</a:t>
                      </a:r>
                    </a:p>
                  </a:txBody>
                  <a:tcPr marL="101600" marR="101600" marT="38100" marB="38100" anchor="ctr">
                    <a:solidFill>
                      <a:srgbClr val="F4F2FA"/>
                    </a:solidFill>
                  </a:tcPr>
                </a:tc>
              </a:tr>
              <a:tr h="369824">
                <a:tc>
                  <a:txBody>
                    <a:bodyPr/>
                    <a:lstStyle/>
                    <a:p>
                      <a:r>
                        <a:rPr sz="1400" b="0" i="0">
                          <a:solidFill>
                            <a:srgbClr val="1A1440"/>
                          </a:solidFill>
                          <a:latin typeface="Calibri"/>
                        </a:rPr>
                        <a:t>5. Does Python agree?</a:t>
                      </a:r>
                    </a:p>
                  </a:txBody>
                  <a:tcPr marL="101600" marR="101600" marT="38100" marB="38100" anchor="ctr">
                    <a:solidFill>
                      <a:srgbClr val="FFFFFF"/>
                    </a:solidFill>
                  </a:tcPr>
                </a:tc>
                <a:tc>
                  <a:txBody>
                    <a:bodyPr/>
                    <a:lstStyle/>
                    <a:p>
                      <a:r>
                        <a:rPr sz="14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83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83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signs it, and a parked Rs 12 crore rests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book tells last week's story, and which six questions lead there?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83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Whose decision rests on last week's story, and what does a story the book does not tell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83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6e8bcfad592a377.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83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2574544"/>
        </p:xfrm>
        <a:graphic>
          <a:graphicData uri="http://schemas.openxmlformats.org/drawingml/2006/table">
            <a:tbl>
              <a:tblPr firstRow="0" bandRow="0">
                <a:tableStyleId>{2D5ABB26-0587-4C30-8999-92F81FD0307C}</a:tableStyleId>
              </a:tblPr>
              <a:tblGrid>
                <a:gridCol w="2963915"/>
                <a:gridCol w="4122145"/>
                <a:gridCol w="4044929"/>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611632">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611632">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611632">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 1,000 orders and 340 customers</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83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959b4064de7cf321.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83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83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83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83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6242a2fd1cce5911.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83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83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to 227 customers, down 7.0%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Anand's sheet carry once it reads the book's own leaves?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415034"/>
                <a:gridCol w="6220348"/>
                <a:gridCol w="1495608"/>
              </a:tblGrid>
              <a:tr h="369824">
                <a:tc>
                  <a:txBody>
                    <a:bodyPr/>
                    <a:lstStyle/>
                    <a:p>
                      <a:r>
                        <a:rPr sz="1450" b="1" i="0">
                          <a:solidFill>
                            <a:srgbClr val="FFFFFF"/>
                          </a:solidFill>
                          <a:latin typeface="Calibri"/>
                        </a:rPr>
                        <a:t>Leaf on Anand's sheet</a:t>
                      </a:r>
                    </a:p>
                  </a:txBody>
                  <a:tcPr marL="101600" marR="101600" marT="38100" marB="38100" anchor="ctr">
                    <a:solidFill>
                      <a:srgbClr val="1A0F5C"/>
                    </a:solidFill>
                  </a:tcPr>
                </a:tc>
                <a:tc>
                  <a:txBody>
                    <a:bodyPr/>
                    <a:lstStyle/>
                    <a:p>
                      <a:r>
                        <a:rPr sz="1450" b="1" i="0">
                          <a:solidFill>
                            <a:srgbClr val="FFFFFF"/>
                          </a:solidFill>
                          <a:latin typeface="Calibri"/>
                        </a:rPr>
                        <a:t>The hurried sheet, copied from last week</a:t>
                      </a:r>
                    </a:p>
                  </a:txBody>
                  <a:tcPr marL="101600" marR="101600" marT="38100" marB="38100" anchor="ctr">
                    <a:solidFill>
                      <a:srgbClr val="1A0F5C"/>
                    </a:solidFill>
                  </a:tcPr>
                </a:tc>
                <a:tc>
                  <a:txBody>
                    <a:bodyPr/>
                    <a:lstStyle/>
                    <a:p>
                      <a:r>
                        <a:rPr sz="1450" b="1" i="0">
                          <a:solidFill>
                            <a:srgbClr val="FFFFFF"/>
                          </a:solidFill>
                          <a:latin typeface="Calibri"/>
                        </a:rPr>
                        <a:t>The book</a:t>
                      </a:r>
                    </a:p>
                  </a:txBody>
                  <a:tcPr marL="101600" marR="101600" marT="38100" marB="38100" anchor="ctr">
                    <a:solidFill>
                      <a:srgbClr val="1A0F5C"/>
                    </a:solidFill>
                  </a:tcPr>
                </a:tc>
              </a:tr>
              <a:tr h="369824">
                <a:tc>
                  <a:txBody>
                    <a:bodyPr/>
                    <a:lstStyle/>
                    <a:p>
                      <a:r>
                        <a:rPr sz="1400" b="0" i="0">
                          <a:solidFill>
                            <a:srgbClr val="1A1440"/>
                          </a:solidFill>
                          <a:latin typeface="Calibri"/>
                        </a:rPr>
                        <a:t>Customers who bought</a:t>
                      </a:r>
                    </a:p>
                  </a:txBody>
                  <a:tcPr marL="101600" marR="101600" marT="38100" marB="38100" anchor="ctr">
                    <a:solidFill>
                      <a:srgbClr val="FFFFFF"/>
                    </a:solidFill>
                  </a:tcPr>
                </a:tc>
                <a:tc>
                  <a:txBody>
                    <a:bodyPr/>
                    <a:lstStyle/>
                    <a:p>
                      <a:r>
                        <a:rPr sz="1400" b="0" i="0">
                          <a:solidFill>
                            <a:srgbClr val="1A1440"/>
                          </a:solidFill>
                          <a:latin typeface="Calibri"/>
                        </a:rPr>
                        <a:t>0.0%</a:t>
                      </a:r>
                    </a:p>
                  </a:txBody>
                  <a:tcPr marL="101600" marR="101600" marT="38100" marB="38100" anchor="ctr">
                    <a:solidFill>
                      <a:srgbClr val="FFFFFF"/>
                    </a:solidFill>
                  </a:tcPr>
                </a:tc>
                <a:tc>
                  <a:txBody>
                    <a:bodyPr/>
                    <a:lstStyle/>
                    <a:p>
                      <a:r>
                        <a:rPr sz="1400" b="0" i="0">
                          <a:solidFill>
                            <a:srgbClr val="1A1440"/>
                          </a:solidFill>
                          <a:latin typeface="Calibri"/>
                        </a:rPr>
                        <a:t>-7.0%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-14.0%</a:t>
                      </a:r>
                    </a:p>
                  </a:txBody>
                  <a:tcPr marL="101600" marR="101600" marT="38100" marB="38100" anchor="ctr">
                    <a:solidFill>
                      <a:srgbClr val="F4F2FA"/>
                    </a:solidFill>
                  </a:tcPr>
                </a:tc>
                <a:tc>
                  <a:txBody>
                    <a:bodyPr/>
                    <a:lstStyle/>
                    <a:p>
                      <a:r>
                        <a:rPr sz="1400" b="0" i="0">
                          <a:solidFill>
                            <a:srgbClr val="1A1440"/>
                          </a:solidFill>
                          <a:latin typeface="Calibri"/>
                        </a:rPr>
                        <a:t>-7.7%</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sheet carries the book's leaves: 244 customers bought in Q1 and 227 in Q2, 7.0 percent fewer, and each ordered 7.7 percent less often. 131 of the book's 301 customers bought in only one quarter, which an extract of customers who bought in both could never show.</a:t>
            </a:r>
          </a:p>
        </p:txBody>
      </p:sp>
      <p:sp>
        <p:nvSpPr>
          <p:cNvPr id="11" name="Rounded Rectangle 10"/>
          <p:cNvSpPr/>
          <p:nvPr/>
        </p:nvSpPr>
        <p:spPr>
          <a:xfrm>
            <a:off x="530352" y="449884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701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811268"/>
            <a:ext cx="237744" cy="237744"/>
          </a:xfrm>
          <a:prstGeom prst="rect">
            <a:avLst/>
          </a:prstGeom>
        </p:spPr>
      </p:pic>
      <p:sp>
        <p:nvSpPr>
          <p:cNvPr id="14" name="TextBox 13"/>
          <p:cNvSpPr txBox="1"/>
          <p:nvPr/>
        </p:nvSpPr>
        <p:spPr>
          <a:xfrm>
            <a:off x="1399031" y="46451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864608"/>
            <a:ext cx="9987991" cy="423672"/>
          </a:xfrm>
          <a:prstGeom prst="rect">
            <a:avLst/>
          </a:prstGeom>
          <a:noFill/>
        </p:spPr>
        <p:txBody>
          <a:bodyPr wrap="square" anchor="t" lIns="0" rIns="0" tIns="0" bIns="0">
            <a:spAutoFit/>
          </a:bodyPr>
          <a:lstStyle/>
          <a:p>
            <a:r>
              <a:rPr sz="1500" b="0" i="0">
                <a:solidFill>
                  <a:srgbClr val="1A1440"/>
                </a:solidFill>
                <a:latin typeface="Calibri"/>
              </a:rPr>
              <a:t>[D] Two analysts report different customer counts for one quarter; how do you settle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S30a  ·  36 / 83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eb26e9f036ed84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histories tie out each quarter: 170 who bought in both plus 74 who stopped is 244, and 170 plus 57 who arrived is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83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66bd45f3188120f4.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83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464510"/>
                <a:gridCol w="666648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Compare how?</a:t>
                      </a:r>
                    </a:p>
                  </a:txBody>
                  <a:tcPr marL="101600" marR="101600" marT="38100" marB="38100" anchor="ctr">
                    <a:solidFill>
                      <a:srgbClr val="FFFFFF"/>
                    </a:solidFill>
                  </a:tcPr>
                </a:tc>
                <a:tc>
                  <a:txBody>
                    <a:bodyPr/>
                    <a:lstStyle/>
                    <a:p>
                      <a:r>
                        <a:rPr sz="1400" b="0" i="0">
                          <a:solidFill>
                            <a:srgbClr val="1A1440"/>
                          </a:solidFill>
                          <a:latin typeface="Calibri"/>
                        </a:rPr>
                        <a:t>Every leaf as a change; no shared id</a:t>
                      </a:r>
                    </a:p>
                  </a:txBody>
                  <a:tcPr marL="101600" marR="101600" marT="38100" marB="38100" anchor="ctr">
                    <a:solidFill>
                      <a:srgbClr val="FFFFFF"/>
                    </a:solidFill>
                  </a:tcPr>
                </a:tc>
              </a:tr>
              <a:tr h="369824">
                <a:tc>
                  <a:txBody>
                    <a:bodyPr/>
                    <a:lstStyle/>
                    <a:p>
                      <a:r>
                        <a:rPr sz="1400" b="0" i="0">
                          <a:solidFill>
                            <a:srgbClr val="1A1440"/>
                          </a:solidFill>
                          <a:latin typeface="Calibri"/>
                        </a:rPr>
                        <a:t>2. Last week intact?</a:t>
                      </a:r>
                    </a:p>
                  </a:txBody>
                  <a:tcPr marL="101600" marR="101600" marT="38100" marB="38100" anchor="ctr">
                    <a:solidFill>
                      <a:srgbClr val="F4F2FA"/>
                    </a:solidFill>
                  </a:tcPr>
                </a:tc>
                <a:tc>
                  <a:txBody>
                    <a:bodyPr/>
                    <a:lstStyle/>
                    <a:p>
                      <a:r>
                        <a:rPr sz="1400" b="0" i="0">
                          <a:solidFill>
                            <a:srgbClr val="1A1440"/>
                          </a:solidFill>
                          <a:latin typeface="Calibri"/>
                        </a:rPr>
                        <a:t>Yes: 186 orders, all 69 in both quarters</a:t>
                      </a:r>
                    </a:p>
                  </a:txBody>
                  <a:tcPr marL="101600" marR="101600" marT="38100" marB="38100" anchor="ctr">
                    <a:solidFill>
                      <a:srgbClr val="F4F2FA"/>
                    </a:solidFill>
                  </a:tcPr>
                </a:tc>
              </a:tr>
              <a:tr h="369824">
                <a:tc>
                  <a:txBody>
                    <a:bodyPr/>
                    <a:lstStyle/>
                    <a:p>
                      <a:r>
                        <a:rPr sz="1400" b="0" i="0">
                          <a:solidFill>
                            <a:srgbClr val="1A1440"/>
                          </a:solidFill>
                          <a:latin typeface="Calibri"/>
                        </a:rPr>
                        <a:t>3. Which leaves agree?</a:t>
                      </a:r>
                    </a:p>
                  </a:txBody>
                  <a:tcPr marL="101600" marR="101600" marT="38100" marB="38100" anchor="ctr">
                    <a:solidFill>
                      <a:srgbClr val="FFFFFF"/>
                    </a:solidFill>
                  </a:tcPr>
                </a:tc>
                <a:tc>
                  <a:txBody>
                    <a:bodyPr/>
                    <a:lstStyle/>
                    <a:p>
                      <a:r>
                        <a:rPr sz="1400" b="0" i="0">
                          <a:solidFill>
                            <a:srgbClr val="1A1440"/>
                          </a:solidFill>
                          <a:latin typeface="Calibri"/>
                        </a:rPr>
                        <a:t>Revenue, orders, revenue per order</a:t>
                      </a:r>
                    </a:p>
                  </a:txBody>
                  <a:tcPr marL="101600" marR="101600" marT="38100" marB="38100" anchor="ctr">
                    <a:solidFill>
                      <a:srgbClr val="FFFFFF"/>
                    </a:solidFill>
                  </a:tcPr>
                </a:tc>
              </a:tr>
              <a:tr h="369824">
                <a:tc>
                  <a:txBody>
                    <a:bodyPr/>
                    <a:lstStyle/>
                    <a:p>
                      <a:r>
                        <a:rPr sz="1400" b="0" i="0">
                          <a:solidFill>
                            <a:srgbClr val="1A1440"/>
                          </a:solidFill>
                          <a:latin typeface="Calibri"/>
                        </a:rPr>
                        <a:t>4. Customers too?</a:t>
                      </a:r>
                    </a:p>
                  </a:txBody>
                  <a:tcPr marL="101600" marR="101600" marT="38100" marB="38100" anchor="ctr">
                    <a:solidFill>
                      <a:srgbClr val="F4F2FA"/>
                    </a:solidFill>
                  </a:tcPr>
                </a:tc>
                <a:tc>
                  <a:txBody>
                    <a:bodyPr/>
                    <a:lstStyle/>
                    <a:p>
                      <a:r>
                        <a:rPr sz="1400" b="0" i="0">
                          <a:solidFill>
                            <a:srgbClr val="1A1440"/>
                          </a:solidFill>
                          <a:latin typeface="Calibri"/>
                        </a:rPr>
                        <a:t>No: flat there, down 7.0% on the book</a:t>
                      </a:r>
                    </a:p>
                  </a:txBody>
                  <a:tcPr marL="101600" marR="101600" marT="38100" marB="38100" anchor="ctr">
                    <a:solidFill>
                      <a:srgbClr val="F4F2FA"/>
                    </a:solidFill>
                  </a:tcPr>
                </a:tc>
              </a:tr>
              <a:tr h="369824">
                <a:tc>
                  <a:txBody>
                    <a:bodyPr/>
                    <a:lstStyle/>
                    <a:p>
                      <a:r>
                        <a:rPr sz="1400" b="0" i="0">
                          <a:solidFill>
                            <a:srgbClr val="1A1440"/>
                          </a:solidFill>
                          <a:latin typeface="Calibri"/>
                        </a:rPr>
                        <a:t>5. Where did 17 go?</a:t>
                      </a:r>
                    </a:p>
                  </a:txBody>
                  <a:tcPr marL="101600" marR="101600" marT="38100" marB="38100" anchor="ctr">
                    <a:solidFill>
                      <a:srgbClr val="FFFFFF"/>
                    </a:solidFill>
                  </a:tcPr>
                </a:tc>
                <a:tc>
                  <a:txBody>
                    <a:bodyPr/>
                    <a:lstStyle/>
                    <a:p>
                      <a:r>
                        <a:rPr sz="1400" b="0" i="0">
                          <a:solidFill>
                            <a:srgbClr val="1A1440"/>
                          </a:solidFill>
                          <a:latin typeface="Calibri"/>
                        </a:rPr>
                        <a:t>74 left after Q1; 57 arrived in Q2</a:t>
                      </a:r>
                    </a:p>
                  </a:txBody>
                  <a:tcPr marL="101600" marR="101600" marT="38100" marB="38100" anchor="ctr">
                    <a:solidFill>
                      <a:srgbClr val="FFFFFF"/>
                    </a:solidFill>
                  </a:tcPr>
                </a:tc>
              </a:tr>
              <a:tr h="369824">
                <a:tc>
                  <a:txBody>
                    <a:bodyPr/>
                    <a:lstStyle/>
                    <a:p>
                      <a:r>
                        <a:rPr sz="1400" b="0" i="0">
                          <a:solidFill>
                            <a:srgbClr val="1A1440"/>
                          </a:solidFill>
                          <a:latin typeface="Calibri"/>
                        </a:rPr>
                        <a:t>6. What goes on the sheet?</a:t>
                      </a:r>
                    </a:p>
                  </a:txBody>
                  <a:tcPr marL="101600" marR="101600" marT="38100" marB="38100" anchor="ctr">
                    <a:solidFill>
                      <a:srgbClr val="F4F2FA"/>
                    </a:solidFill>
                  </a:tcPr>
                </a:tc>
                <a:tc>
                  <a:txBody>
                    <a:bodyPr/>
                    <a:lstStyle/>
                    <a:p>
                      <a:r>
                        <a:rPr sz="14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When two sources disagree, say which one is the book and put the difference in the line under the number.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83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who sets the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segment lines, and which five questions find the segment that moved?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41 / 83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Retail-Plus's line, and what does a wrong frequency cost the retention budget?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42 / 83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091be405fb6ec04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Eternal's letter gave its consumer businesses' 54 percent and each business's own growth; Kalpa's 1.6 percent sums four segments.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83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row per quarter cannot print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e88b4d09fe8a626c.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83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83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83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groups hold under 30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Kavya flags any rate that stands on fewer than 30 customers: which segment-quarters does she flag?</a:t>
            </a:r>
          </a:p>
        </p:txBody>
      </p:sp>
      <p:pic>
        <p:nvPicPr>
          <p:cNvPr id="9" name="mermaid diagram" descr="502cfcc0c160173a.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segment-quarters have fewer than 30 customers? a) none; b) Student in both quarters; c) Student in Q1 only; d) Student and Business in both quarters.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S40a  ·  48 / 83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39a4f643c1032954.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49 / 83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50 / 83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83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83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83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c21053b709b2ca2b.png"/>
          <p:cNvPicPr>
            <a:picLocks noChangeAspect="1"/>
          </p:cNvPicPr>
          <p:nvPr/>
        </p:nvPicPr>
        <p:blipFill>
          <a:blip r:embed="rId6"/>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Rounded Rectangle 10"/>
          <p:cNvSpPr/>
          <p:nvPr/>
        </p:nvSpPr>
        <p:spPr>
          <a:xfrm>
            <a:off x="530352" y="4603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35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045455"/>
            <a:ext cx="237744" cy="237744"/>
          </a:xfrm>
          <a:prstGeom prst="rect">
            <a:avLst/>
          </a:prstGeom>
        </p:spPr>
      </p:pic>
      <p:sp>
        <p:nvSpPr>
          <p:cNvPr id="14" name="TextBox 13"/>
          <p:cNvSpPr txBox="1"/>
          <p:nvPr/>
        </p:nvSpPr>
        <p:spPr>
          <a:xfrm>
            <a:off x="1399031" y="4749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969256"/>
            <a:ext cx="9987991" cy="682752"/>
          </a:xfrm>
          <a:prstGeom prst="rect">
            <a:avLst/>
          </a:prstGeom>
          <a:noFill/>
        </p:spPr>
        <p:txBody>
          <a:bodyPr wrap="square" anchor="t" lIns="0" rIns="0" tIns="0" bIns="0">
            <a:spAutoFit/>
          </a:bodyPr>
          <a:lstStyle/>
          <a:p>
            <a:r>
              <a:rPr sz="15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83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534644"/>
                <a:gridCol w="7596346"/>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One query or four?</a:t>
                      </a:r>
                    </a:p>
                  </a:txBody>
                  <a:tcPr marL="101600" marR="101600" marT="38100" marB="38100" anchor="ctr">
                    <a:solidFill>
                      <a:srgbClr val="FFFFFF"/>
                    </a:solidFill>
                  </a:tcPr>
                </a:tc>
                <a:tc>
                  <a:txBody>
                    <a:bodyPr/>
                    <a:lstStyle/>
                    <a:p>
                      <a:r>
                        <a:rPr sz="1400" b="0" i="0">
                          <a:solidFill>
                            <a:srgbClr val="1A1440"/>
                          </a:solidFill>
                          <a:latin typeface="Calibri"/>
                        </a:rPr>
                        <a:t>One GROUP BY: one query, eight rows, new segments appear</a:t>
                      </a:r>
                    </a:p>
                  </a:txBody>
                  <a:tcPr marL="101600" marR="101600" marT="38100" marB="38100" anchor="ctr">
                    <a:solidFill>
                      <a:srgbClr val="FFFFFF"/>
                    </a:solidFill>
                  </a:tcPr>
                </a:tc>
              </a:tr>
              <a:tr h="369824">
                <a:tc>
                  <a:txBody>
                    <a:bodyPr/>
                    <a:lstStyle/>
                    <a:p>
                      <a:r>
                        <a:rPr sz="1400" b="0" i="0">
                          <a:solidFill>
                            <a:srgbClr val="1A1440"/>
                          </a:solidFill>
                          <a:latin typeface="Calibri"/>
                        </a:rPr>
                        <a:t>2. What did each book?</a:t>
                      </a:r>
                    </a:p>
                  </a:txBody>
                  <a:tcPr marL="101600" marR="101600" marT="38100" marB="38100" anchor="ctr">
                    <a:solidFill>
                      <a:srgbClr val="F4F2FA"/>
                    </a:solidFill>
                  </a:tcPr>
                </a:tc>
                <a:tc>
                  <a:txBody>
                    <a:bodyPr/>
                    <a:lstStyle/>
                    <a:p>
                      <a:r>
                        <a:rPr sz="1400" b="0" i="0">
                          <a:solidFill>
                            <a:srgbClr val="1A1440"/>
                          </a:solidFill>
                          <a:latin typeface="Calibri"/>
                        </a:rPr>
                        <a:t>Retail-Plus down 29.4%, 75 of the 76 fewer orders</a:t>
                      </a:r>
                    </a:p>
                  </a:txBody>
                  <a:tcPr marL="101600" marR="101600" marT="38100" marB="38100" anchor="ctr">
                    <a:solidFill>
                      <a:srgbClr val="F4F2FA"/>
                    </a:solidFill>
                  </a:tcPr>
                </a:tc>
              </a:tr>
              <a:tr h="369824">
                <a:tc>
                  <a:txBody>
                    <a:bodyPr/>
                    <a:lstStyle/>
                    <a:p>
                      <a:r>
                        <a:rPr sz="1400" b="0" i="0">
                          <a:solidFill>
                            <a:srgbClr val="1A1440"/>
                          </a:solidFill>
                          <a:latin typeface="Calibri"/>
                        </a:rPr>
                        <a:t>3. Which are too thin?</a:t>
                      </a:r>
                    </a:p>
                  </a:txBody>
                  <a:tcPr marL="101600" marR="101600" marT="38100" marB="38100" anchor="ctr">
                    <a:solidFill>
                      <a:srgbClr val="FFFFFF"/>
                    </a:solidFill>
                  </a:tcPr>
                </a:tc>
                <a:tc>
                  <a:txBody>
                    <a:bodyPr/>
                    <a:lstStyle/>
                    <a:p>
                      <a:r>
                        <a:rPr sz="1400" b="0" i="0">
                          <a:solidFill>
                            <a:srgbClr val="1A1440"/>
                          </a:solidFill>
                          <a:latin typeface="Calibri"/>
                        </a:rPr>
                        <a:t>Student, with 15 and 20 customers</a:t>
                      </a:r>
                    </a:p>
                  </a:txBody>
                  <a:tcPr marL="101600" marR="101600" marT="38100" marB="38100" anchor="ctr">
                    <a:solidFill>
                      <a:srgbClr val="FFFFFF"/>
                    </a:solidFill>
                  </a:tcPr>
                </a:tc>
              </a:tr>
              <a:tr h="369824">
                <a:tc>
                  <a:txBody>
                    <a:bodyPr/>
                    <a:lstStyle/>
                    <a:p>
                      <a:r>
                        <a:rPr sz="1400" b="0" i="0">
                          <a:solidFill>
                            <a:srgbClr val="1A1440"/>
                          </a:solidFill>
                          <a:latin typeface="Calibri"/>
                        </a:rPr>
                        <a:t>4. How often?</a:t>
                      </a:r>
                    </a:p>
                  </a:txBody>
                  <a:tcPr marL="101600" marR="101600" marT="38100" marB="38100" anchor="ctr">
                    <a:solidFill>
                      <a:srgbClr val="F4F2FA"/>
                    </a:solidFill>
                  </a:tcPr>
                </a:tc>
                <a:tc>
                  <a:txBody>
                    <a:bodyPr/>
                    <a:lstStyle/>
                    <a:p>
                      <a:r>
                        <a:rPr sz="1400" b="0" i="0">
                          <a:solidFill>
                            <a:srgbClr val="1A1440"/>
                          </a:solidFill>
                          <a:latin typeface="Calibri"/>
                        </a:rPr>
                        <a:t>Retail-Plus 2.36 then 1.84, down 22.0%; integers said 2 then 1</a:t>
                      </a:r>
                    </a:p>
                  </a:txBody>
                  <a:tcPr marL="101600" marR="101600" marT="38100" marB="38100" anchor="ctr">
                    <a:solidFill>
                      <a:srgbClr val="F4F2FA"/>
                    </a:solidFill>
                  </a:tcPr>
                </a:tc>
              </a:tr>
              <a:tr h="369824">
                <a:tc>
                  <a:txBody>
                    <a:bodyPr/>
                    <a:lstStyle/>
                    <a:p>
                      <a:r>
                        <a:rPr sz="1400" b="0" i="0">
                          <a:solidFill>
                            <a:srgbClr val="1A1440"/>
                          </a:solidFill>
                          <a:latin typeface="Calibri"/>
                        </a:rPr>
                        <a:t>5. Another way?</a:t>
                      </a:r>
                    </a:p>
                  </a:txBody>
                  <a:tcPr marL="101600" marR="101600" marT="38100" marB="38100" anchor="ctr">
                    <a:solidFill>
                      <a:srgbClr val="FFFFFF"/>
                    </a:solidFill>
                  </a:tcPr>
                </a:tc>
                <a:tc>
                  <a:txBody>
                    <a:bodyPr/>
                    <a:lstStyle/>
                    <a:p>
                      <a:r>
                        <a:rPr sz="14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Divide in numeric and round on purpose, and keep the counts beside every ratio, so anyone reading the sheet can multiply it back.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83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56 / 83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tier's head, deciding how hard to keep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and the spend per member, and which four questions lead there?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Same levels another way?</a:t>
            </a:r>
          </a:p>
        </p:txBody>
      </p:sp>
      <p:sp>
        <p:nvSpPr>
          <p:cNvPr id="32" name="TextBox 31"/>
          <p:cNvSpPr txBox="1"/>
          <p:nvPr/>
        </p:nvSpPr>
        <p:spPr>
          <a:xfrm>
            <a:off x="9180347" y="4783582"/>
            <a:ext cx="2316403" cy="366776"/>
          </a:xfrm>
          <a:prstGeom prst="rect">
            <a:avLst/>
          </a:prstGeom>
          <a:noFill/>
        </p:spPr>
        <p:txBody>
          <a:bodyPr wrap="square" anchor="t" lIns="0" rIns="0" tIns="0" bIns="0">
            <a:spAutoFit/>
          </a:bodyPr>
          <a:lstStyle/>
          <a:p>
            <a:pPr algn="l"/>
            <a:r>
              <a:rPr sz="1000" b="0" i="0">
                <a:solidFill>
                  <a:srgbClr val="CFC9EE"/>
                </a:solidFill>
                <a:latin typeface="Calibri"/>
              </a:rPr>
              <a:t>Revenue over the buyers, counted apart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83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sets the tier's plan, and what does an average that hides the members who stopped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The rupees a Retail-Plus member spent in a quarter, averaged over the members who bought in either quarter.</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83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GitLab's style guide: prefer named steps to subqueries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 ..."</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83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one statement, one edit per rename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2478790"/>
                <a:gridCol w="2926195"/>
                <a:gridCol w="1328320"/>
                <a:gridCol w="2287045"/>
                <a:gridCol w="2110639"/>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c>
                  <a:txBody>
                    <a:bodyPr/>
                    <a:lstStyle/>
                    <a:p>
                      <a:r>
                        <a:rPr sz="1250" b="1" i="0">
                          <a:solidFill>
                            <a:srgbClr val="FFFFFF"/>
                          </a:solidFill>
                          <a:latin typeface="Calibri"/>
                        </a:rPr>
                        <a:t>Edits if segment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 one per quarter</a:t>
                      </a:r>
                    </a:p>
                  </a:txBody>
                  <a:tcPr marL="101600" marR="101600" marT="38100" marB="38100" anchor="ctr">
                    <a:solidFill>
                      <a:srgbClr val="FFFFFF"/>
                    </a:solidFill>
                  </a:tcPr>
                </a:tc>
                <a:tc>
                  <a:txBody>
                    <a:bodyPr/>
                    <a:lstStyle/>
                    <a:p>
                      <a:r>
                        <a:rPr sz="1200" b="0" i="0">
                          <a:solidFill>
                            <a:srgbClr val="1A1440"/>
                          </a:solidFill>
                          <a:latin typeface="Calibri"/>
                        </a:rPr>
                        <a:t>Three statements, run in order</a:t>
                      </a:r>
                    </a:p>
                  </a:txBody>
                  <a:tcPr marL="101600" marR="101600" marT="38100" marB="38100" anchor="ctr">
                    <a:solidFill>
                      <a:srgbClr val="FFFFFF"/>
                    </a:solidFill>
                  </a:tcPr>
                </a:tc>
                <a:tc>
                  <a:txBody>
                    <a:bodyPr/>
                    <a:lstStyle/>
                    <a:p>
                      <a:r>
                        <a:rPr sz="1200" b="0" i="0">
                          <a:solidFill>
                            <a:srgbClr val="1A1440"/>
                          </a:solidFill>
                          <a:latin typeface="Calibri"/>
                        </a:rPr>
                        <a:t>8,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one statement that reruns anywhere, read top down, and a renamed column costs one edit.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83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560140d41e25307d.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61 / 83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b91d931049669dce.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62 / 83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63 / 83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did the average member's spend move?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with a CASE per quarter, then avg of each column: how does Retail-Plus spend per member move from Q1 to Q2?</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does the average member's spend move? a) down about 15 percent; b) down about 29 percent, as revenue did; c) up, since revenue per order rose; d) it cannot be averaged, since some members have no Q2 orders.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S54a  ·  64 / 83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down 15.5%,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6,437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5,439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query says its customers spent more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answer is a, and it is wrong. The head of Retail-Plus reads a modest dip and plans a light touch, and the sheet says Retail-Core and Business customers each spent more in Q2.</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4" name="Oval 3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65 / 83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27e823bbed1f5d6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66 / 83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customers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67 / 83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revenue over the buyers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Count the members who bought in either quarter in a step of their own, then divide each quarter's Retail-Plus revenue by that count: what comes out?</a:t>
            </a:r>
          </a:p>
        </p:txBody>
      </p:sp>
      <p:pic>
        <p:nvPicPr>
          <p:cNvPr id="9" name="mermaid diagram" descr="7fd9a48739ff6025.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Retail-Plus booked Rs 5,85,770 in Q1 and Rs 4,13,380 in Q2. What does each quarter's revenue per member come to? a) Rs 6,437 then Rs 5,439, the hurried levels; b) Rs 5,474 then Rs 3,863, the fix's own levels; c) Rs 4,881 then Rs 3,445; d) it cannot be computed without averaging one row per member.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S57a  ·  68 / 83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fix's own levels by a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revenue over the members who bought, counted on their own, give the same levels?</a:t>
            </a:r>
          </a:p>
        </p:txBody>
      </p:sp>
      <p:sp>
        <p:nvSpPr>
          <p:cNvPr id="9" name="TextBox 8"/>
          <p:cNvSpPr txBox="1"/>
          <p:nvPr/>
        </p:nvSpPr>
        <p:spPr>
          <a:xfrm>
            <a:off x="53035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0" name="TextBox 9"/>
          <p:cNvSpPr txBox="1"/>
          <p:nvPr/>
        </p:nvSpPr>
        <p:spPr>
          <a:xfrm>
            <a:off x="53035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WHO BOUGHT</a:t>
            </a:r>
          </a:p>
        </p:txBody>
      </p:sp>
      <p:sp>
        <p:nvSpPr>
          <p:cNvPr id="11" name="TextBox 10"/>
          <p:cNvSpPr txBox="1"/>
          <p:nvPr/>
        </p:nvSpPr>
        <p:spPr>
          <a:xfrm>
            <a:off x="53035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once each from the orders</a:t>
            </a:r>
          </a:p>
        </p:txBody>
      </p:sp>
      <p:sp>
        <p:nvSpPr>
          <p:cNvPr id="12" name="Rectangle 11"/>
          <p:cNvSpPr/>
          <p:nvPr/>
        </p:nvSpPr>
        <p:spPr>
          <a:xfrm>
            <a:off x="53035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Rs 5,474</a:t>
            </a:r>
          </a:p>
        </p:txBody>
      </p:sp>
      <p:sp>
        <p:nvSpPr>
          <p:cNvPr id="14" name="TextBox 13"/>
          <p:cNvSpPr txBox="1"/>
          <p:nvPr/>
        </p:nvSpPr>
        <p:spPr>
          <a:xfrm>
            <a:off x="433212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REVENUE PER MEMBER</a:t>
            </a:r>
          </a:p>
        </p:txBody>
      </p:sp>
      <p:sp>
        <p:nvSpPr>
          <p:cNvPr id="15" name="TextBox 14"/>
          <p:cNvSpPr txBox="1"/>
          <p:nvPr/>
        </p:nvSpPr>
        <p:spPr>
          <a:xfrm>
            <a:off x="433212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107</a:t>
            </a:r>
          </a:p>
        </p:txBody>
      </p:sp>
      <p:sp>
        <p:nvSpPr>
          <p:cNvPr id="16" name="Rectangle 15"/>
          <p:cNvSpPr/>
          <p:nvPr/>
        </p:nvSpPr>
        <p:spPr>
          <a:xfrm>
            <a:off x="433212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Rs 3,863</a:t>
            </a:r>
          </a:p>
        </p:txBody>
      </p:sp>
      <p:sp>
        <p:nvSpPr>
          <p:cNvPr id="18" name="TextBox 17"/>
          <p:cNvSpPr txBox="1"/>
          <p:nvPr/>
        </p:nvSpPr>
        <p:spPr>
          <a:xfrm>
            <a:off x="813389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 PER MEMBER</a:t>
            </a:r>
          </a:p>
        </p:txBody>
      </p:sp>
      <p:sp>
        <p:nvSpPr>
          <p:cNvPr id="19" name="TextBox 18"/>
          <p:cNvSpPr txBox="1"/>
          <p:nvPr/>
        </p:nvSpPr>
        <p:spPr>
          <a:xfrm>
            <a:off x="813389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107, down 29.4%</a:t>
            </a:r>
          </a:p>
        </p:txBody>
      </p:sp>
      <p:sp>
        <p:nvSpPr>
          <p:cNvPr id="20" name="Rectangle 19"/>
          <p:cNvSpPr/>
          <p:nvPr/>
        </p:nvSpPr>
        <p:spPr>
          <a:xfrm>
            <a:off x="813389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38531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This route never builds a row per member and never averages, so a step that dropped or doubled a member would leave it apart from the fix. Over the tier's 120 members on the customer table the change is the same 29.4 percent at Rs 4,881 then Rs 3,445: a fixed base keeps the revenue ratio, so only the level says which base the reader is reading.</a:t>
            </a:r>
          </a:p>
        </p:txBody>
      </p:sp>
      <p:sp>
        <p:nvSpPr>
          <p:cNvPr id="22" name="Rounded Rectangle 21"/>
          <p:cNvSpPr/>
          <p:nvPr/>
        </p:nvSpPr>
        <p:spPr>
          <a:xfrm>
            <a:off x="530352" y="48381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51704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4"/>
          <a:stretch>
            <a:fillRect/>
          </a:stretch>
        </p:blipFill>
        <p:spPr>
          <a:xfrm>
            <a:off x="868680" y="5280152"/>
            <a:ext cx="237744" cy="237744"/>
          </a:xfrm>
          <a:prstGeom prst="rect">
            <a:avLst/>
          </a:prstGeom>
        </p:spPr>
      </p:pic>
      <p:sp>
        <p:nvSpPr>
          <p:cNvPr id="25" name="TextBox 24"/>
          <p:cNvSpPr txBox="1"/>
          <p:nvPr/>
        </p:nvSpPr>
        <p:spPr>
          <a:xfrm>
            <a:off x="1399031" y="49844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5203952"/>
            <a:ext cx="9987991" cy="682752"/>
          </a:xfrm>
          <a:prstGeom prst="rect">
            <a:avLst/>
          </a:prstGeom>
          <a:noFill/>
        </p:spPr>
        <p:txBody>
          <a:bodyPr wrap="square" anchor="t" lIns="0" rIns="0" tIns="0" bIns="0">
            <a:spAutoFit/>
          </a:bodyPr>
          <a:lstStyle/>
          <a:p>
            <a:r>
              <a:rPr sz="1500" b="0" i="0">
                <a:solidFill>
                  <a:srgbClr val="1A1440"/>
                </a:solidFill>
                <a:latin typeface="Calibri"/>
              </a:rPr>
              <a:t>[F] An average moved but the total did not, or moved differently; how? [F] When would you use a CTE instead of a subquery?</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69 / 83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639454"/>
                <a:gridCol w="7491536"/>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to write it?</a:t>
                      </a:r>
                    </a:p>
                  </a:txBody>
                  <a:tcPr marL="101600" marR="101600" marT="38100" marB="38100" anchor="ctr">
                    <a:solidFill>
                      <a:srgbClr val="FFFFFF"/>
                    </a:solidFill>
                  </a:tcPr>
                </a:tc>
                <a:tc>
                  <a:txBody>
                    <a:bodyPr/>
                    <a:lstStyle/>
                    <a:p>
                      <a:r>
                        <a:rPr sz="1400" b="0" i="0">
                          <a:solidFill>
                            <a:srgbClr val="1A1440"/>
                          </a:solidFill>
                          <a:latin typeface="Calibri"/>
                        </a:rPr>
                        <a:t>Named steps: read top down, one statement, rerun anywhere</a:t>
                      </a:r>
                    </a:p>
                  </a:txBody>
                  <a:tcPr marL="101600" marR="101600" marT="38100" marB="38100" anchor="ctr">
                    <a:solidFill>
                      <a:srgbClr val="FFFFFF"/>
                    </a:solidFill>
                  </a:tcPr>
                </a:tc>
              </a:tr>
              <a:tr h="369824">
                <a:tc>
                  <a:txBody>
                    <a:bodyPr/>
                    <a:lstStyle/>
                    <a:p>
                      <a:r>
                        <a:rPr sz="1400" b="0" i="0">
                          <a:solidFill>
                            <a:srgbClr val="1A1440"/>
                          </a:solidFill>
                          <a:latin typeface="Calibri"/>
                        </a:rPr>
                        <a:t>2. Which branch moved?</a:t>
                      </a:r>
                    </a:p>
                  </a:txBody>
                  <a:tcPr marL="101600" marR="101600" marT="38100" marB="38100" anchor="ctr">
                    <a:solidFill>
                      <a:srgbClr val="F4F2FA"/>
                    </a:solidFill>
                  </a:tcPr>
                </a:tc>
                <a:tc>
                  <a:txBody>
                    <a:bodyPr/>
                    <a:lstStyle/>
                    <a:p>
                      <a:r>
                        <a:rPr sz="1400" b="0" i="0">
                          <a:solidFill>
                            <a:srgbClr val="1A1440"/>
                          </a:solidFill>
                          <a:latin typeface="Calibri"/>
                        </a:rPr>
                        <a:t>Retail-Plus frequency, 0.780; customers 0.835; order value 1.084</a:t>
                      </a:r>
                    </a:p>
                  </a:txBody>
                  <a:tcPr marL="101600" marR="101600" marT="38100" marB="38100" anchor="ctr">
                    <a:solidFill>
                      <a:srgbClr val="F4F2FA"/>
                    </a:solidFill>
                  </a:tcPr>
                </a:tc>
              </a:tr>
              <a:tr h="369824">
                <a:tc>
                  <a:txBody>
                    <a:bodyPr/>
                    <a:lstStyle/>
                    <a:p>
                      <a:r>
                        <a:rPr sz="1400" b="0" i="0">
                          <a:solidFill>
                            <a:srgbClr val="1A1440"/>
                          </a:solidFill>
                          <a:latin typeface="Calibri"/>
                        </a:rPr>
                        <a:t>3. How much less each?</a:t>
                      </a:r>
                    </a:p>
                  </a:txBody>
                  <a:tcPr marL="101600" marR="101600" marT="38100" marB="38100" anchor="ctr">
                    <a:solidFill>
                      <a:srgbClr val="FFFFFF"/>
                    </a:solidFill>
                  </a:tcPr>
                </a:tc>
                <a:tc>
                  <a:txBody>
                    <a:bodyPr/>
                    <a:lstStyle/>
                    <a:p>
                      <a:r>
                        <a:rPr sz="1400" b="0" i="0">
                          <a:solidFill>
                            <a:srgbClr val="1A1440"/>
                          </a:solidFill>
                          <a:latin typeface="Calibri"/>
                        </a:rPr>
                        <a:t>Rs 5,474 to Rs 3,863 over 107 members; the quick average said 15.5%</a:t>
                      </a:r>
                    </a:p>
                  </a:txBody>
                  <a:tcPr marL="101600" marR="101600" marT="38100" marB="38100" anchor="ctr">
                    <a:solidFill>
                      <a:srgbClr val="FFFFFF"/>
                    </a:solidFill>
                  </a:tcPr>
                </a:tc>
              </a:tr>
              <a:tr h="369824">
                <a:tc>
                  <a:txBody>
                    <a:bodyPr/>
                    <a:lstStyle/>
                    <a:p>
                      <a:r>
                        <a:rPr sz="1400" b="0" i="0">
                          <a:solidFill>
                            <a:srgbClr val="1A1440"/>
                          </a:solidFill>
                          <a:latin typeface="Calibri"/>
                        </a:rPr>
                        <a:t>4. Same levels another way?</a:t>
                      </a:r>
                    </a:p>
                  </a:txBody>
                  <a:tcPr marL="101600" marR="101600" marT="38100" marB="38100" anchor="ctr">
                    <a:solidFill>
                      <a:srgbClr val="F4F2FA"/>
                    </a:solidFill>
                  </a:tcPr>
                </a:tc>
                <a:tc>
                  <a:txBody>
                    <a:bodyPr/>
                    <a:lstStyle/>
                    <a:p>
                      <a:r>
                        <a:rPr sz="1400" b="0" i="0">
                          <a:solidFill>
                            <a:srgbClr val="1A1440"/>
                          </a:solidFill>
                          <a:latin typeface="Calibri"/>
                        </a:rPr>
                        <a:t>Revenue over the 107 counted apart: Rs 5,474 then Rs 3,863</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70 / 83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83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who adds every column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adds the suite before reading it, and which four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72 / 83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adds the suite first, and what does one impossible line cost the rest of it?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73 / 83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74 / 83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75 / 83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6ea4c6fdda6c193a.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76 / 83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77 / 83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78 / 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1474627"/>
                <a:gridCol w="5568520"/>
                <a:gridCol w="408784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Half-year customers, the two quarters added</a:t>
                      </a:r>
                    </a:p>
                  </a:txBody>
                  <a:tcPr marL="101600" marR="101600" marT="38100" marB="38100" anchor="ctr">
                    <a:solidFill>
                      <a:srgbClr val="1A0F5C"/>
                    </a:solidFill>
                  </a:tcPr>
                </a:tc>
                <a:tc>
                  <a:txBody>
                    <a:bodyPr/>
                    <a:lstStyle/>
                    <a:p>
                      <a:r>
                        <a:rPr sz="1450" b="1" i="0">
                          <a:solidFill>
                            <a:srgbClr val="FFFFFF"/>
                          </a:solidFill>
                          <a:latin typeface="Calibri"/>
                        </a:rPr>
                        <a:t>Customers on the customer table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71</a:t>
                      </a:r>
                    </a:p>
                  </a:txBody>
                  <a:tcPr marL="101600" marR="101600" marT="38100" marB="38100" anchor="ctr">
                    <a:solidFill>
                      <a:srgbClr val="FFFFFF"/>
                    </a:solidFill>
                  </a:tcPr>
                </a:tc>
                <a:tc>
                  <a:txBody>
                    <a:bodyPr/>
                    <a:lstStyle/>
                    <a:p>
                      <a:r>
                        <a:rPr sz="1400" b="0" i="0">
                          <a:solidFill>
                            <a:srgbClr val="1A1440"/>
                          </a:solidFill>
                          <a:latin typeface="Calibri"/>
                        </a:rPr>
                        <a:t>40</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198</a:t>
                      </a:r>
                    </a:p>
                  </a:txBody>
                  <a:tcPr marL="101600" marR="101600" marT="38100" marB="38100" anchor="ctr">
                    <a:solidFill>
                      <a:srgbClr val="F4F2FA"/>
                    </a:solidFill>
                  </a:tcPr>
                </a:tc>
                <a:tc>
                  <a:txBody>
                    <a:bodyPr/>
                    <a:lstStyle/>
                    <a:p>
                      <a:r>
                        <a:rPr sz="1400" b="0" i="0">
                          <a:solidFill>
                            <a:srgbClr val="1A1440"/>
                          </a:solidFill>
                          <a:latin typeface="Calibri"/>
                        </a:rPr>
                        <a:t>150</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167</a:t>
                      </a:r>
                    </a:p>
                  </a:txBody>
                  <a:tcPr marL="101600" marR="101600" marT="38100" marB="38100" anchor="ctr">
                    <a:solidFill>
                      <a:srgbClr val="FFFFFF"/>
                    </a:solidFill>
                  </a:tcPr>
                </a:tc>
                <a:tc>
                  <a:txBody>
                    <a:bodyPr/>
                    <a:lstStyle/>
                    <a:p>
                      <a:r>
                        <a:rPr sz="1400" b="0" i="0">
                          <a:solidFill>
                            <a:srgbClr val="1A1440"/>
                          </a:solidFill>
                          <a:latin typeface="Calibri"/>
                        </a:rPr>
                        <a:t>120</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35</a:t>
                      </a:r>
                    </a:p>
                  </a:txBody>
                  <a:tcPr marL="101600" marR="101600" marT="38100" marB="38100" anchor="ctr">
                    <a:solidFill>
                      <a:srgbClr val="F4F2FA"/>
                    </a:solidFill>
                  </a:tcPr>
                </a:tc>
                <a:tc>
                  <a:txBody>
                    <a:bodyPr/>
                    <a:lstStyle/>
                    <a:p>
                      <a:r>
                        <a:rPr sz="1400" b="0" i="0">
                          <a:solidFill>
                            <a:srgbClr val="1A1440"/>
                          </a:solidFill>
                          <a:latin typeface="Calibri"/>
                        </a:rPr>
                        <a:t>30</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and in every segment the added count tops the customer table: Retail-Plus shows 167 buyers in a tier of 120.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79 / 83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232514"/>
                <a:gridCol w="914400"/>
                <a:gridCol w="914400"/>
                <a:gridCol w="2809165"/>
                <a:gridCol w="4260511"/>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On the customer table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80 / 83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c9840b8d3c61ee8e.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81 / 83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68249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37876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Rounded Rectangle 10"/>
          <p:cNvSpPr/>
          <p:nvPr/>
        </p:nvSpPr>
        <p:spPr>
          <a:xfrm>
            <a:off x="530352" y="468782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1495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259323"/>
            <a:ext cx="237744" cy="237744"/>
          </a:xfrm>
          <a:prstGeom prst="rect">
            <a:avLst/>
          </a:prstGeom>
        </p:spPr>
      </p:pic>
      <p:sp>
        <p:nvSpPr>
          <p:cNvPr id="14" name="TextBox 13"/>
          <p:cNvSpPr txBox="1"/>
          <p:nvPr/>
        </p:nvSpPr>
        <p:spPr>
          <a:xfrm>
            <a:off x="1399031" y="48341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053584"/>
            <a:ext cx="9987991" cy="941832"/>
          </a:xfrm>
          <a:prstGeom prst="rect">
            <a:avLst/>
          </a:prstGeom>
          <a:noFill/>
        </p:spPr>
        <p:txBody>
          <a:bodyPr wrap="square" anchor="t" lIns="0" rIns="0" tIns="0" bIns="0">
            <a:spAutoFit/>
          </a:bodyPr>
          <a:lstStyle/>
          <a:p>
            <a:r>
              <a:rPr sz="15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82 / 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4139561"/>
                <a:gridCol w="699143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How to get a half-year?</a:t>
                      </a:r>
                    </a:p>
                  </a:txBody>
                  <a:tcPr marL="101600" marR="101600" marT="38100" marB="38100" anchor="ctr">
                    <a:solidFill>
                      <a:srgbClr val="FFFFFF"/>
                    </a:solidFill>
                  </a:tcPr>
                </a:tc>
                <a:tc>
                  <a:txBody>
                    <a:bodyPr/>
                    <a:lstStyle/>
                    <a:p>
                      <a:r>
                        <a:rPr sz="1400" b="0" i="0">
                          <a:solidFill>
                            <a:srgbClr val="1A1440"/>
                          </a:solidFill>
                          <a:latin typeface="Calibri"/>
                        </a:rPr>
                        <a:t>Count it from the orders, the quarter's own definition</a:t>
                      </a:r>
                    </a:p>
                  </a:txBody>
                  <a:tcPr marL="101600" marR="101600" marT="38100" marB="38100" anchor="ctr">
                    <a:solidFill>
                      <a:srgbClr val="FFFFFF"/>
                    </a:solidFill>
                  </a:tcPr>
                </a:tc>
              </a:tr>
              <a:tr h="369824">
                <a:tc>
                  <a:txBody>
                    <a:bodyPr/>
                    <a:lstStyle/>
                    <a:p>
                      <a:r>
                        <a:rPr sz="1400" b="0" i="0">
                          <a:solidFill>
                            <a:srgbClr val="1A1440"/>
                          </a:solidFill>
                          <a:latin typeface="Calibri"/>
                        </a:rPr>
                        <a:t>2. Do segments add up?</a:t>
                      </a:r>
                    </a:p>
                  </a:txBody>
                  <a:tcPr marL="101600" marR="101600" marT="38100" marB="38100" anchor="ctr">
                    <a:solidFill>
                      <a:srgbClr val="F4F2FA"/>
                    </a:solidFill>
                  </a:tcPr>
                </a:tc>
                <a:tc>
                  <a:txBody>
                    <a:bodyPr/>
                    <a:lstStyle/>
                    <a:p>
                      <a:r>
                        <a:rPr sz="1400" b="0" i="0">
                          <a:solidFill>
                            <a:srgbClr val="1A1440"/>
                          </a:solidFill>
                          <a:latin typeface="Calibri"/>
                        </a:rPr>
                        <a:t>Yes: 538 orders, Rs 10 crore and 244 customers in Q1</a:t>
                      </a:r>
                    </a:p>
                  </a:txBody>
                  <a:tcPr marL="101600" marR="101600" marT="38100" marB="38100" anchor="ctr">
                    <a:solidFill>
                      <a:srgbClr val="F4F2FA"/>
                    </a:solidFill>
                  </a:tcPr>
                </a:tc>
              </a:tr>
              <a:tr h="369824">
                <a:tc>
                  <a:txBody>
                    <a:bodyPr/>
                    <a:lstStyle/>
                    <a:p>
                      <a:r>
                        <a:rPr sz="1400" b="0" i="0">
                          <a:solidFill>
                            <a:srgbClr val="1A1440"/>
                          </a:solidFill>
                          <a:latin typeface="Calibri"/>
                        </a:rPr>
                        <a:t>3. How many in six months?</a:t>
                      </a:r>
                    </a:p>
                  </a:txBody>
                  <a:tcPr marL="101600" marR="101600" marT="38100" marB="38100" anchor="ctr">
                    <a:solidFill>
                      <a:srgbClr val="FFFFFF"/>
                    </a:solidFill>
                  </a:tcPr>
                </a:tc>
                <a:tc>
                  <a:txBody>
                    <a:bodyPr/>
                    <a:lstStyle/>
                    <a:p>
                      <a:r>
                        <a:rPr sz="1400" b="0" i="0">
                          <a:solidFill>
                            <a:srgbClr val="1A1440"/>
                          </a:solidFill>
                          <a:latin typeface="Calibri"/>
                        </a:rPr>
                        <a:t>107 Retail-Plus customers, not the added 167</a:t>
                      </a:r>
                    </a:p>
                  </a:txBody>
                  <a:tcPr marL="101600" marR="101600" marT="38100" marB="38100" anchor="ctr">
                    <a:solidFill>
                      <a:srgbClr val="FFFFFF"/>
                    </a:solidFill>
                  </a:tcPr>
                </a:tc>
              </a:tr>
              <a:tr h="369824">
                <a:tc>
                  <a:txBody>
                    <a:bodyPr/>
                    <a:lstStyle/>
                    <a:p>
                      <a:r>
                        <a:rPr sz="1400" b="0" i="0">
                          <a:solidFill>
                            <a:srgbClr val="1A1440"/>
                          </a:solidFill>
                          <a:latin typeface="Calibri"/>
                        </a:rPr>
                        <a:t>4. Does the overlap explain it?</a:t>
                      </a:r>
                    </a:p>
                  </a:txBody>
                  <a:tcPr marL="101600" marR="101600" marT="38100" marB="38100" anchor="ctr">
                    <a:solidFill>
                      <a:srgbClr val="F4F2FA"/>
                    </a:solidFill>
                  </a:tcPr>
                </a:tc>
                <a:tc>
                  <a:txBody>
                    <a:bodyPr/>
                    <a:lstStyle/>
                    <a:p>
                      <a:r>
                        <a:rPr sz="14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83 / 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