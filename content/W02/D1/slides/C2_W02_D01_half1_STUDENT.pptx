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one minute. Read Anand's words aloud and leave them up while the room settles. Last week</a:t>
            </a:r>
          </a:p>
          <a:p>
            <a:r>
              <a:t>ended with Meera accepting "real, modest, fix frequency". This week the numbers move from files to</a:t>
            </a:r>
          </a:p>
          <a:p>
            <a:r>
              <a:t>the warehouse, and every day is a harder version of Anand's request: today the tree as queries,</a:t>
            </a:r>
          </a:p>
          <a:p>
            <a:r>
              <a:t>Tuesday booked against collected, Wednesday the top members and the running total, Thursday one</a:t>
            </a:r>
          </a:p>
          <a:p>
            <a:r>
              <a:t>row per customer in pandas, Friday the leadership deck in Excel. Say the arc once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Twenty minutes: the ask, what it rules out, and the thinking drawn on the board before any</a:t>
            </a:r>
          </a:p>
          <a:p>
            <a:r>
              <a:t>tool opens. No SQL is typed in this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stats row is the brief. Anand is the CFO of Kalpa Retail; his analyst will</a:t>
            </a:r>
          </a:p>
          <a:p>
            <a:r>
              <a:t>read every query line by line without the team beside him. The data platform lead has given read</a:t>
            </a:r>
          </a:p>
          <a:p>
            <a:r>
              <a:t>access to Postgres and one rule: query it, do not export it. Ask: which of these four numbers</a:t>
            </a:r>
          </a:p>
          <a:p>
            <a:r>
              <a:t>changes how you work most? The zero exports, because every Week 1 step ran on 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Read both messages aloud. Separate the four questions and say when each gets</a:t>
            </a:r>
          </a:p>
          <a:p>
            <a:r>
              <a:t>answered. The platform lead's "one thousand orders" is a claim the room checks in round 1; do not</a:t>
            </a:r>
          </a:p>
          <a:p>
            <a:r>
              <a:t>comment on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One minute in pairs, then letters. Expect d from the cautious and b from the</a:t>
            </a:r>
          </a:p>
          <a:p>
            <a:r>
              <a:t>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answer is a. Option d sounds disciplined and would throw away every chart the</a:t>
            </a:r>
          </a:p>
          <a:p>
            <a:r>
              <a:t>week needs. This slide is the interview answer to "why compute a KPI in the warehouse", which</a:t>
            </a:r>
          </a:p>
          <a:p>
            <a:r>
              <a:t>returns at the end of round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Draw this on the board: last week's move on the left, its SQL on the right. The</a:t>
            </a:r>
          </a:p>
          <a:p>
            <a:r>
              <a:t>contrast to say aloud: Tuesday's thirty-line profiler becomes three lines of SQL. Leave the board</a:t>
            </a:r>
          </a:p>
          <a:p>
            <a:r>
              <a:t>drawing up all morning; each round ticks one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Draw the seven boxes on the board and keep them there all day. Say: you write</a:t>
            </a:r>
          </a:p>
          <a:p>
            <a:r>
              <a:t>what you want; the database decides how. The run order explains most errors a beginner meets, and</a:t>
            </a:r>
          </a:p>
          <a:p>
            <a:r>
              <a:t>the analyst reads a query in this order whatever order it is written in. Do not teach each clause</a:t>
            </a:r>
          </a:p>
          <a:p>
            <a:r>
              <a:t>now; each round lights one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Walk the rungs. The morning is rungs 1 to 3, the first hour of the afternoon is</a:t>
            </a:r>
          </a:p>
          <a:p>
            <a:r>
              <a:t>rung 4, and the practice lab is rung 5. The IITGN block that closes the day is tentative; say it</a:t>
            </a:r>
          </a:p>
          <a:p>
            <a:r>
              <a:t>once with that word and do not describe its content.</a:t>
            </a:r>
          </a:p>
          <a:p>
            <a:r>
              <a:t>Transition: rung 1 opens with a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Fifty minutes: the question and its picture (5), first contact and the leaves (15), the</a:t>
            </a:r>
          </a:p>
          <a:p>
            <a:r>
              <a:t>customer trap (10), the sample trap and the harder variant (15), Kavya's review (5).</a:t>
            </a:r>
          </a:p>
          <a:p>
            <a:r>
              <a:t>Notebook: notebooks/C2_W02_D01_01_warehouse_STUDENT.ipynb. SQL: sql/C2_W02_D01_01_first_queries_STUDENT.sql.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Draw it. Ask what "the same story" should mean: the same totals, or the same fall?</a:t>
            </a:r>
          </a:p>
          <a:p>
            <a:r>
              <a:t>Leave the question open; the demonstration answers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minutes, the only tool-setup time today. Everyone runs r1_tables. Anyone whose connection</a:t>
            </a:r>
          </a:p>
          <a:p>
            <a:r>
              <a:t>fails pairs with a neighbour now and the support TA fixes it at the break; do not stop the room.</a:t>
            </a:r>
          </a:p>
          <a:p>
            <a:r>
              <a:t>The notebooks run the same blocks, so a learner can follow in either.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Type it with the room. Point at the comment line: the analyst reads it first,</a:t>
            </a:r>
          </a:p>
          <a:p>
            <a:r>
              <a:t>so it states the question and the definition. Then run the Q2 block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 first, then run both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answer is b. The extract held 186 cleaned orders; the warehouse holds 1,000.</a:t>
            </a:r>
          </a:p>
          <a:p>
            <a:r>
              <a:t>The rate carries over and the total does not, and that is the check whenever a source changes.</a:t>
            </a:r>
          </a:p>
          <a:p>
            <a:r>
              <a:t>Retail-Plus orders fall 34.9 percent in the book against 35.0 in the extract (r1_plus_orders).</a:t>
            </a:r>
          </a:p>
          <a:p>
            <a:r>
              <a:t>Kavya's point: the warehouse is now the source, because it agrees on the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Run it and read the result as the hurried analyst would, straight-faced. Ask</a:t>
            </a:r>
          </a:p>
          <a:p>
            <a:r>
              <a:t>whether anyone would sign it. Most hesitate at 1.00 because Week 1 said members come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Run r1_customers_three. Ask which of 301 and 340 belongs on Anand's sheet: 301</a:t>
            </a:r>
          </a:p>
          <a:p>
            <a:r>
              <a:t>for orders per customer, because a customer who bought nothing places no orders; 340 answers how</a:t>
            </a:r>
          </a:p>
          <a:p>
            <a:r>
              <a:t>many members Kalpa holds. The suite states which one it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Say the fix in one line and the change in people. Week 1 met the same trap with</a:t>
            </a:r>
          </a:p>
          <a:p>
            <a:r>
              <a:t>30 rows and 23 customers; the room should recognise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Letters, then run r1_sample_hurried. Everyone in the room gets the same five</a:t>
            </a:r>
          </a:p>
          <a:p>
            <a:r>
              <a:t>today, which is exactly why the trap survives: it looks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answer is c. Run r1_sample_after_reload: it updates two rows to the values</a:t>
            </a:r>
          </a:p>
          <a:p>
            <a:r>
              <a:t>they already hold inside a transaction, reruns, and rolls back. No number in the book changed; the</a:t>
            </a:r>
          </a:p>
          <a:p>
            <a:r>
              <a:t>audit still reports a Rs 690 disagreement. A table has no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Run r1_sample_fixed. The notebook reruns it inside the reload and checks it is</a:t>
            </a:r>
          </a:p>
          <a:p>
            <a:r>
              <a:t>identical. Wednesday returns to ties when the head of Retail-Plus wants a top fifty.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10 minutes of the room's own typing. The bars are r1_readings' three totals. The suite uses booked revenue, the definition Week 1 reconciled; the comment line</a:t>
            </a:r>
          </a:p>
          <a:p>
            <a:r>
              <a:t>says so. Fast finishers compute the median order with percentile_cont (block r1_typical): the</a:t>
            </a:r>
          </a:p>
          <a:p>
            <a:r>
              <a:t>mean is about 80 times the median, the Week 1 shape at warehouse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Ask the two questions aloud and take one answer each; the model answers are in</a:t>
            </a:r>
          </a:p>
          <a:p>
            <a:r>
              <a:t>the notebook's "In the interview" section and in the day sheet. Tick the first row of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Fifty minutes: GROUP BY and the run order (15), the GROUP BY error (2), the integer-division</a:t>
            </a:r>
          </a:p>
          <a:p>
            <a:r>
              <a:t>trap (13), HAVING and the harder variant (15), Kavya's review (5).</a:t>
            </a:r>
          </a:p>
          <a:p>
            <a:r>
              <a:t>Notebook: notebooks/C2_W02_D01_02_segments_STUDENT.ipynb. SQL: sql/C2_W02_D01_02_segments_STUDENT.sql.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segment lives on the customer, so each order borrows it with one lookup line,</a:t>
            </a:r>
          </a:p>
          <a:p>
            <a:r>
              <a:t>JOIN customers USING (customer_id). Each order has exactly one customer, so the row count stays</a:t>
            </a:r>
          </a:p>
          <a:p>
            <a:r>
              <a:t>1,000; say that joins are tomorrow's day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Predict the row count first: 2. Then the first check on any grouped result: the</a:t>
            </a:r>
          </a:p>
          <a:p>
            <a:r>
              <a:t>groups add back to the table. A grouped result that does not add back has lost or doubled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 and no more. Let it fail on the room's screens, read the last line aloud, fix it by</a:t>
            </a:r>
          </a:p>
          <a:p>
            <a:r>
              <a:t>adding the column. This is a syntax error, never a trap: nobody would ship it, because it prints no</a:t>
            </a:r>
          </a:p>
          <a:p>
            <a:r>
              <a:t>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Letters, then run r2_frequency_hurried.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answer is b. Present it straight, as the sheet would. Ask what the head of</a:t>
            </a:r>
          </a:p>
          <a:p>
            <a:r>
              <a:t>Retail-Plus would do with it. Then ask whether anyone believes Retail-Core doubled in one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Point at Retail-Plus Q2: the ratio accounts for 76 of 140 orders. The check is a</a:t>
            </a:r>
          </a:p>
          <a:p>
            <a:r>
              <a:t>calculator habit the analyst will use on every ratio on the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Run r2_frequency_fixed. Say what changed in business terms: halved becomes a</a:t>
            </a:r>
          </a:p>
          <a:p>
            <a:r>
              <a:t>fifth, doubled becomes flat.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Week 1 Thursday warned against a rate on twelve orders; the suite flags thin</a:t>
            </a:r>
          </a:p>
          <a:p>
            <a:r>
              <a:t>cells rather than hiding them. WHERE count(*) &lt; 30 fails because WHERE runs before groups exist;</a:t>
            </a:r>
          </a:p>
          <a:p>
            <a:r>
              <a:t>let one learner try it, read the last line,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10 minutes of the room's own typing. The table is the answer; reveal it after. Retail-Plus</a:t>
            </a:r>
          </a:p>
          <a:p>
            <a:r>
              <a:t>still falls on delivered orders, so the finding does not depend on the reading of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Ask both questions aloud, one learner each, under thirty seconds. Then the break</a:t>
            </a:r>
          </a:p>
          <a:p>
            <a:r>
              <a:t>of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LIVE. Fifty minutes: the subquery (5), two CTEs and the bridge (15), the AVG trap (15), the</a:t>
            </a:r>
          </a:p>
          <a:p>
            <a:r>
              <a:t>harder variant (10), Kavya's review (5). Cut first: the subquery slide, straight to CTEs.</a:t>
            </a:r>
          </a:p>
          <a:p>
            <a:r>
              <a:t>Notebook: notebooks/C2_W02_D01_03_quarters_STUDENT.ipynb. SQL: sql/C2_W02_D01_03_quarters_STUDENT.sql.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Draw the three boxes before any SQL. Each box becomes one WITH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Cut first if the morning runs late. The subquery works and hides its step inside</a:t>
            </a:r>
          </a:p>
          <a:p>
            <a:r>
              <a:t>a line; the next slide names the steps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minutes. Build it with the room from block r3_two_quarters. Ask what the last SELECT can</a:t>
            </a:r>
          </a:p>
          <a:p>
            <a:r>
              <a:t>see: both steps and every table. A later step reads every earlier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split is sequential: customers first, then frequency, then order value, and</a:t>
            </a:r>
          </a:p>
          <a:p>
            <a:r>
              <a:t>the order of steps changes it slightly; say so. Frequency costs Rs 1.08 lakh, the Week 1 lever at</a:t>
            </a:r>
          </a:p>
          <a:p>
            <a:r>
              <a:t>warehouse scale. The book also shows fewer members buying at all, which an extract of 22 members</a:t>
            </a:r>
          </a:p>
          <a:p>
            <a:r>
              <a:t>could not show. The other three segments move under 2 percent, except Student, which grew.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Letters, then run r3_member_spend_hurried.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answer is b: a CASE with no ELSE returns NULL, and a sum of nothing but NULLs</a:t>
            </a:r>
          </a:p>
          <a:p>
            <a:r>
              <a:t>is NULL. Present the 15.5 percent straight. Ask what a light touch would cost if the real fall</a:t>
            </a:r>
          </a:p>
          <a:p>
            <a:r>
              <a:t>were twice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Show the mechanism on the invented table first (block r3_invented_null), and say</a:t>
            </a:r>
          </a:p>
          <a:p>
            <a:r>
              <a:t>aloud that the three values are invented. Then the next slide finds it in the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count(*) against count(q2_spend). This is the habit: every average gets its</a:t>
            </a:r>
          </a:p>
          <a:p>
            <a:r>
              <a:t>count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honest change equals the segment's revenue change, 29.4 percent, as it must</a:t>
            </a:r>
          </a:p>
          <a:p>
            <a:r>
              <a:t>when the members are the same 107 people. That equality is the analyst's proof the denominator is</a:t>
            </a:r>
          </a:p>
          <a:p>
            <a:r>
              <a:t>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10 minutes of the room's own typing. Reveal the table after. Block r3_member_spend_by_segment.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Read the four crux lines aloud; they return word for word on the cheat sheet and</a:t>
            </a:r>
          </a:p>
          <a:p>
            <a:r>
              <a:t>the afternoon's close. Ask the [D] question and take one answer. Transition: the afternoon</a:t>
            </a:r>
          </a:p>
          <a:p>
            <a:r>
              <a:t>assembles all of it into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Relationship Id="rId5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Relationship Id="rId5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Relationship Id="rId5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9.xml"/><Relationship Id="rId5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4.xml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6.xml"/><Relationship Id="rId5" Type="http://schemas.openxmlformats.org/officeDocument/2006/relationships/image" Target="../media/image4.png"/><Relationship Id="rId6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Relationship Id="rId5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9.xml"/><Relationship Id="rId5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3.xml"/><Relationship Id="rId5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4.xml"/><Relationship Id="rId5" Type="http://schemas.openxmlformats.org/officeDocument/2006/relationships/image" Target="../media/image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66928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1952" y="804672"/>
            <a:ext cx="6858000" cy="300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133856"/>
            <a:ext cx="777240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D9A7FF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938528"/>
            <a:ext cx="10948111" cy="10972"/>
          </a:xfrm>
          <a:prstGeom prst="rect">
            <a:avLst/>
          </a:prstGeom>
          <a:solidFill>
            <a:srgbClr val="A9A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3290677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00" b="1" spc="250">
                <a:solidFill>
                  <a:srgbClr val="FFFFFF"/>
                </a:solidFill>
                <a:latin typeface="Calibri"/>
              </a:rPr>
              <a:t>WEEK 2  ·  MONDAY  ·  HALF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07208"/>
            <a:ext cx="10582351" cy="66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The Monday numbers, from the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35756"/>
            <a:ext cx="10033711" cy="9776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D9A7FF"/>
                </a:solidFill>
                <a:latin typeface="Georgia"/>
              </a:rPr>
              <a:t>“I want these numbers every Monday, for every segment and channel, computed from the warehouse itself. No notebooks, no exports, nothing a person can mistype.”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68266"/>
            <a:ext cx="10033711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Anand Iyer, CFO, Kalpa Retail, to the data and AI team at Kalpa's Global Capability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5248656"/>
            <a:ext cx="596931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5651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699" y="5248656"/>
            <a:ext cx="15433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915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963" y="5248656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8728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2776" y="5248656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2, Day 1. The Monday numbers, from the 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The CFO wants last week's tree every Monday, from the warehouse, and an analyst who audits every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78027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The 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1519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1, is it the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8975" y="5074920"/>
            <a:ext cx="155007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2, per segment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8782" y="5074920"/>
            <a:ext cx="155007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3, named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 Day 1: the Monday numbers, from the 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Monday at the GCC: the ask moves to the warehouse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Last week's note carried the growth review; this week the numbers have to run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25770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743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FALL, Q1 TO 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755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Week 1's reconciled 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1679" y="1956816"/>
            <a:ext cx="25770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every Monday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679" y="23743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HOW OFTEN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679" y="25755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for every segment and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956816"/>
            <a:ext cx="25770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3743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5755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Monday suite the analyst audits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84335" y="1956816"/>
            <a:ext cx="2577007" cy="380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5B3FD6"/>
                </a:solidFill>
                <a:latin typeface="Georgia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4335" y="2374392"/>
            <a:ext cx="257700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EXPORTS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4335" y="2575560"/>
            <a:ext cx="2577007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query it, do not export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4335" y="3145536"/>
            <a:ext cx="2577007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27" name="Oval 2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9" name="Oval 2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31" name="Oval 3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Anand wrote, and what the platform lead added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Four questions in two messages, and each has a day this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43608"/>
            <a:ext cx="11130991" cy="105257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2241296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5102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9031" y="2089912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1" y="2309368"/>
            <a:ext cx="9987991" cy="61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Calibri"/>
              </a:rPr>
              <a:t>"I want these numbers every Monday, for every segment and channel, computed from the warehouse itself. No notebooks, no exports, nothing a person can mistype."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160776"/>
            <a:ext cx="45720" cy="955040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160776"/>
            <a:ext cx="10820095" cy="955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1">
                <a:solidFill>
                  <a:srgbClr val="1A0F5C"/>
                </a:solidFill>
                <a:latin typeface="Georgia"/>
              </a:rPr>
              <a:t>"The warehouse holds the orders and customers you cleaned last week, one thousand orders for the two quarters, already de-duplicated. Query it; do not export it."</a:t>
            </a:r>
          </a:p>
          <a:p>
            <a:pPr>
              <a:spcBef>
                <a:spcPts val="400"/>
              </a:spcBef>
            </a:pPr>
            <a:r>
              <a:rPr sz="900" b="0" i="0">
                <a:solidFill>
                  <a:srgbClr val="6B6690"/>
                </a:solidFill>
                <a:latin typeface="Calibri"/>
              </a:rPr>
              <a:t>The data platform lead, Kalpa Retail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0352" y="4262120"/>
          <a:ext cx="11130990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51231"/>
                <a:gridCol w="5522581"/>
                <a:gridCol w="1357178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they asked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becomes for the team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Answered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Last week's tree as queries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leaves per segment and quarter in SQL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Readable enough to audit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Named steps, comments, an order on every list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Which Python steps become one 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COUNT, SUM, GROUP BY, WHERE, a CTE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Where SQL stops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Charts, tests and exploration stay in Python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Thursday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19" name="Oval 18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1" name="Oval 20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3" name="Oval 22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what does "from the warehouse" rule out?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Anand listed three things he never wants to see again.</a:t>
            </a:r>
          </a:p>
        </p:txBody>
      </p:sp>
      <p:pic>
        <p:nvPicPr>
          <p:cNvPr id="9" name="mermaid diagram" descr="c25ba27c6ab311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191" y="1956816"/>
            <a:ext cx="5929312" cy="27146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817745"/>
            <a:ext cx="11130991" cy="10744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945761"/>
            <a:ext cx="45720" cy="8183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936617"/>
            <a:ext cx="10564063" cy="8915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Which of these does Anand's rule still allow? a) Exploring in a notebook, while the reported number comes from a saved query; b) exporting once a quarter to a shared drive; c) pasting the query's output into the sheet by hand; d) none of them, all analysis moves to SQL.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explore anywhere, report from the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rule covers the number on the sheet; exploration still belongs in a notebook.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574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747933"/>
                <a:gridCol w="1012561"/>
                <a:gridCol w="537049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a) Explore in a notebook, report from a saved query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Allowed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reported number is rerun against the book every Monday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b) Export once a quarter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Ruled out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export is stale the day it lands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c) Paste output by hand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Ruled out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typed value leaves no trace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d) All analysis in SQL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Too far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Charts, tests and exploration are Python's job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787392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511962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293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933696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5153152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The query is what we hand over; the notebook is where we think. Keep them apart and say which is which.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17" name="Oval 1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9" name="Oval 1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Every Week 1 step has a SQL counterpart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Counting is COUNT, summing is SUM, per segment is GROUP BY, a filter is WHERE.</a:t>
            </a:r>
          </a:p>
        </p:txBody>
      </p:sp>
      <p:pic>
        <p:nvPicPr>
          <p:cNvPr id="9" name="mermaid diagram" descr="3768ea64a5341b9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12" y="1682496"/>
            <a:ext cx="3989805" cy="4517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1917" y="1956816"/>
            <a:ext cx="5899425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room knows every right answer from Week 1, so today's attention goes to the language.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query describes a result and runs in fixed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database reads a query in a different order from the one it is written in.</a:t>
            </a:r>
          </a:p>
        </p:txBody>
      </p:sp>
      <p:pic>
        <p:nvPicPr>
          <p:cNvPr id="9" name="mermaid diagram" descr="882d21cbe8d7fe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956816"/>
            <a:ext cx="11130991" cy="6789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2782110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Written order: SELECT, FROM, WHERE, GROUP BY, HAVING, ORDER BY, LIMIT. Run order: the arrows.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case, five rungs, each a harder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day climbs from one number to the suite the analyst reruns every Monday.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0299" y="2523744"/>
            <a:ext cx="9051096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RUNG 1</a:t>
            </a:r>
          </a:p>
        </p:txBody>
      </p:sp>
      <p:sp>
        <p:nvSpPr>
          <p:cNvPr id="11" name="Oval 10"/>
          <p:cNvSpPr/>
          <p:nvPr/>
        </p:nvSpPr>
        <p:spPr>
          <a:xfrm>
            <a:off x="1469715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Is it the book?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175071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leaves re-answered in SQL and checked against Week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3126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RUNG 2</a:t>
            </a:r>
          </a:p>
        </p:txBody>
      </p:sp>
      <p:sp>
        <p:nvSpPr>
          <p:cNvPr id="16" name="Oval 15"/>
          <p:cNvSpPr/>
          <p:nvPr/>
        </p:nvSpPr>
        <p:spPr>
          <a:xfrm>
            <a:off x="3732489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3126" y="2843784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7718" y="2990088"/>
            <a:ext cx="1750710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Per segment, per quarter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7718" y="3492500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Eight rows of the same leaves, with honest division.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5900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RUNG 3</a:t>
            </a:r>
          </a:p>
        </p:txBody>
      </p:sp>
      <p:sp>
        <p:nvSpPr>
          <p:cNvPr id="21" name="Oval 20"/>
          <p:cNvSpPr/>
          <p:nvPr/>
        </p:nvSpPr>
        <p:spPr>
          <a:xfrm>
            <a:off x="5995263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55900" y="2843784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492" y="2990088"/>
            <a:ext cx="1750710" cy="465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Two quarters as named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492" y="3492500"/>
            <a:ext cx="175071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branch moved, and an average that skips no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8674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RUNG 4</a:t>
            </a:r>
          </a:p>
        </p:txBody>
      </p:sp>
      <p:sp>
        <p:nvSpPr>
          <p:cNvPr id="26" name="Oval 25"/>
          <p:cNvSpPr/>
          <p:nvPr/>
        </p:nvSpPr>
        <p:spPr>
          <a:xfrm>
            <a:off x="8258037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8674" y="2843784"/>
            <a:ext cx="2079894" cy="12496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3266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Monday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3266" y="3277870"/>
            <a:ext cx="1750710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Six queries the analyst audits line by 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1448" y="1956816"/>
            <a:ext cx="2079894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RUNG 5</a:t>
            </a:r>
          </a:p>
        </p:txBody>
      </p:sp>
      <p:sp>
        <p:nvSpPr>
          <p:cNvPr id="31" name="Oval 30"/>
          <p:cNvSpPr/>
          <p:nvPr/>
        </p:nvSpPr>
        <p:spPr>
          <a:xfrm>
            <a:off x="10520812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1448" y="2843784"/>
            <a:ext cx="2079894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6040" y="2990088"/>
            <a:ext cx="175071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By 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6040" y="3277870"/>
            <a:ext cx="175071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same tree for every channel, in the practice lab.</a:t>
            </a:r>
          </a:p>
        </p:txBody>
      </p:sp>
      <p:sp>
        <p:nvSpPr>
          <p:cNvPr id="35" name="Oval 3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The ask</a:t>
            </a:r>
          </a:p>
        </p:txBody>
      </p:sp>
      <p:sp>
        <p:nvSpPr>
          <p:cNvPr id="37" name="Oval 3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39" name="Oval 3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41" name="Oval 4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Round 1, is it the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Before one number goes on Anand's sheet, the warehouse has to agree with what we already defended.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780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The 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1519" y="5074920"/>
            <a:ext cx="1727727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Round 1, is it the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8975" y="5074920"/>
            <a:ext cx="155007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2, per segment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8782" y="5074920"/>
            <a:ext cx="155007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3, named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 Day 1: the Monday numbers, from the 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question: the warehouse against 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new source that disagrees with the old one is the first thing to explain.</a:t>
            </a:r>
          </a:p>
        </p:txBody>
      </p:sp>
      <p:pic>
        <p:nvPicPr>
          <p:cNvPr id="9" name="mermaid diagram" descr="5e9d1ecb47b31b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3910" y="1956816"/>
            <a:ext cx="8143875" cy="23002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403407"/>
            <a:ext cx="11130991" cy="86258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606099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message-square_028dbd132a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15827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54971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769167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"Before your numbers go in my book, show me they match the ones you gave Meera."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7" name="Oval 1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9" name="Oval 1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First contact: a live connection, a .sql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Connect from VS Code, open a .sql file, run one block, read the result grid.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53145" y="2523744"/>
            <a:ext cx="8485403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1</a:t>
            </a:r>
          </a:p>
        </p:txBody>
      </p:sp>
      <p:sp>
        <p:nvSpPr>
          <p:cNvPr id="11" name="Oval 10"/>
          <p:cNvSpPr/>
          <p:nvPr/>
        </p:nvSpPr>
        <p:spPr>
          <a:xfrm>
            <a:off x="1752561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2316403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The Postgres extension in VS Code, the Codespace's warehouse, database kalpa.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8819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581029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58819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3411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Open the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3411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sql/C2_W02_D01_01_first_queries_STUDENT.sql, one block per question.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3</a:t>
            </a:r>
          </a:p>
        </p:txBody>
      </p:sp>
      <p:sp>
        <p:nvSpPr>
          <p:cNvPr id="21" name="Oval 20"/>
          <p:cNvSpPr/>
          <p:nvPr/>
        </p:nvSpPr>
        <p:spPr>
          <a:xfrm>
            <a:off x="7409497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87287" y="2843784"/>
            <a:ext cx="2645587" cy="1249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Run one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Cursor inside the block, run it, read the grid under the editor.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755" y="1956816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STEP 4</a:t>
            </a:r>
          </a:p>
        </p:txBody>
      </p:sp>
      <p:sp>
        <p:nvSpPr>
          <p:cNvPr id="26" name="Oval 25"/>
          <p:cNvSpPr/>
          <p:nvPr/>
        </p:nvSpPr>
        <p:spPr>
          <a:xfrm>
            <a:off x="10237965" y="2432304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5755" y="2843784"/>
            <a:ext cx="2645587" cy="124968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0347" y="2990088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Read the 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347" y="3277870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Seven tables; orders and customers carry today's tree.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276344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walkthrough is whiteboards/C2_W02_D01_execution_order_STUDENT.md, part one.</a:t>
            </a:r>
          </a:p>
        </p:txBody>
      </p:sp>
      <p:sp>
        <p:nvSpPr>
          <p:cNvPr id="31" name="Oval 3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33" name="Oval 3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35" name="Oval 3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37" name="Oval 3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SELECT, FROM, WHERE: one quarter's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Three clauses answer the first leaf: how much did Q1 book?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-- The question: how many orders did Q1 book, and for how much? Booked means every status.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count(*) AS orders, sum(amount) AS revenue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WHERE  quarter = 'Q1';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0352" y="3588512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75395"/>
                <a:gridCol w="5655595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Clause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FROM orders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Every order row in the book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WHERE quarter = 'Q1'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Keeps the Q1 rows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SELECT count(*), sum(amount)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Counts and adds what survived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7" name="Oval 1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9" name="Oval 1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what does the warehouse say for Q1?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Week 1 reconciled Q1 to Rs 1,90,00,000 and Q2 to Rs 1,87,00,000.</a:t>
            </a:r>
          </a:p>
        </p:txBody>
      </p:sp>
      <p:pic>
        <p:nvPicPr>
          <p:cNvPr id="9" name="mermaid diagram" descr="a782461c018ec3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941" y="1904333"/>
            <a:ext cx="3071812" cy="33861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436774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564790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555646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Before you run the Q1 and Q2 blocks, which of these do you expect? Answer as a letter.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five times the totals, the same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book is the whole two quarters; last week's files were an extract.</a:t>
            </a:r>
          </a:p>
        </p:txBody>
      </p:sp>
      <p:pic>
        <p:nvPicPr>
          <p:cNvPr id="9" name="mermaid diagram" descr="f3cbf4beecfb89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863" y="1664208"/>
            <a:ext cx="7617968" cy="3808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Extract: Rs 1.90 crore to Rs 1.87 crore. Warehouse: Rs 10.00 crore to Rs 9.84 crore. Both fall 1.6 percent.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plausible wrong answer: 1,000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next leaf, asked the quickest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709676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307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count(*) AS customers FROM orders;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831084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566160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767328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column's own label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019804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32122" y="2831084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2122" y="3566160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2122" y="3767328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Q1 plus Q2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2122" y="4019804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3892" y="2831084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3892" y="3566160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ORDERS PER 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3892" y="3767328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so nobody ever came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3892" y="4019804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94124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On Anand's sheet this says every customer bought once: the frequency branch, the one Meera was told to fix, reads as if there were nothing to fix.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29" name="Oval 28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31" name="Oval 30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33" name="Oval 32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wrong: count(*) counts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label is a promise the query does not keep; the database prints whatever name you give it.</a:t>
            </a:r>
          </a:p>
        </p:txBody>
      </p:sp>
      <p:pic>
        <p:nvPicPr>
          <p:cNvPr id="9" name="mermaid diagram" descr="30c75ebcae7f2f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978" y="1956816"/>
            <a:ext cx="7043737" cy="16287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731895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859911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850767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Count the same table three ways, each named for what it counts (block r1_customers_three). The three numbers differ, so at most one of them is "customers".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S14  ·  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301 customers, 3.32 orders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count(DISTINCT customer_id) counts each person once, and the frequency branch is back.</a:t>
            </a:r>
          </a:p>
        </p:txBody>
      </p:sp>
      <p:pic>
        <p:nvPicPr>
          <p:cNvPr id="9" name="mermaid diagram" descr="77f46e32dac385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455" y="1664208"/>
            <a:ext cx="7034784" cy="35173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22732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35533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4619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What changed.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699 customers who do not exist leave the sheet, and orders per customer moves from 1.00 to 3.32 over the two quarters.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S15  ·  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which five does LIMIT 5 return?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analyst will trace five delivered Q2 app orders against the ERP, and rerun your query to get the same five.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order_id, amount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WHERE  quarter = 'Q2' AND channel = 'app' AND status = 'delivered'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LIMIT  5;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588512"/>
            <a:ext cx="11130991" cy="10744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716528"/>
            <a:ext cx="45720" cy="8183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707384"/>
            <a:ext cx="10564063" cy="8915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Without ORDER BY, which five rows come back? a) The five smallest order ids; b) the five most recent; c) whichever five the database reaches first, which can change between runs; d) five at random every time.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9" name="Oval 18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21" name="Oval 20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3" name="Oval 22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S16  ·  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whichever five it reaches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reload rewrites two rows with identical values, and the same query returns a different five.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735366"/>
                <a:gridCol w="4309843"/>
                <a:gridCol w="2085781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five orders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Their total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Yours, Monday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KR-00542, 544, 545, 546, 547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3,900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analyst's, after the reload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KR-00545, 546, 547, 549, 553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4,590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pic>
        <p:nvPicPr>
          <p:cNvPr id="10" name="mermaid diagram" descr="93ad4fa194c1b7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2497" y="3218688"/>
            <a:ext cx="7886700" cy="87153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S17  ·  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order by a unique key, then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same five rows before and after the reload, so the analyst audits what you audited.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719580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31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order_id, amount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WHERE  quarter = 'Q2' AND channel = 'app' AND status = 'delivered'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ORDER  BY order_id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LIMIT  5;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840988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4173220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list-checks_bd88901d2a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82948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99031" y="398729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1" y="4206748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Every list on Anand's sheet carries an ORDER BY on a column, or a set of columns, that no two rows share. Ordering by amount alone still lets two equal amounts swap.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21" name="Oval 20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23" name="Oval 22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5" name="Oval 24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S18  ·  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Your turn: the three readings of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Week 1's readings, re-answered with one WHERE each.</a:t>
            </a:r>
          </a:p>
        </p:txBody>
      </p:sp>
      <p:pic>
        <p:nvPicPr>
          <p:cNvPr id="9" name="mermaid diagram" descr="6d288b596ca0b3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455" y="1664208"/>
            <a:ext cx="7034784" cy="35173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22732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35533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4619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harder variant.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Write the not-cancelled and delivered readings for each quarter, and say which one Anand's sheet uses and where the comment says so. Block r1_readings has the answer for both quarters together.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S19  ·  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Round 1: the warehouse is the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It agrees with Week 1 on the rate, so it is the source from Monday on.</a:t>
            </a:r>
          </a:p>
        </p:txBody>
      </p:sp>
      <p:pic>
        <p:nvPicPr>
          <p:cNvPr id="9" name="mermaid diagram" descr="4df0ce9245bcf9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8166" y="1956816"/>
            <a:ext cx="8615362" cy="8715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2974657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3306889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16617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312096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340417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Every count says what it counts, and every list says how it is ordered. The comment above the query names both, because it is the first line the analyst reads.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260913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4593145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702873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4407217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4626673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[F] What does LIMIT without ORDER BY return? [F] Why would you compute a KPI in the warehouse rather than in a notebook?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22" name="Oval 21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1, is it the book</a:t>
            </a:r>
          </a:p>
        </p:txBody>
      </p:sp>
      <p:sp>
        <p:nvSpPr>
          <p:cNvPr id="24" name="Oval 23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6" name="Oval 25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S20  ·  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Round 2, per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Eight rows of the same leaves, one clause, and a ratio the database rounds without saying 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780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The 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1519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1, is it the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8975" y="5074920"/>
            <a:ext cx="155007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Round 2, per segment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8782" y="5074920"/>
            <a:ext cx="155007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3, named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 Day 1: the Monday numbers, from the 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question: every leaf, every segment, both quarters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Anand's sheet is the tree repeated for four segments and two quarters.</a:t>
            </a:r>
          </a:p>
        </p:txBody>
      </p:sp>
      <p:pic>
        <p:nvPicPr>
          <p:cNvPr id="9" name="mermaid diagram" descr="096ef5ab22fa83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9785" y="1822132"/>
            <a:ext cx="5572125" cy="32289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197411"/>
            <a:ext cx="11130991" cy="86258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5400103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message-square_028dbd132a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09831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5343715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5563171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"Every segment. I do not want a total that hides which one moved."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7" name="Oval 1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9" name="Oval 1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S21  ·  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GROUP BY: one row per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thousand rows collapse into one row per quarter, and each aggregate runs inside its group.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quarter, count(*) AS orders, sum(amount) AS revenue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GROUP  BY quarter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ORDER  BY quarter;</a:t>
            </a:r>
          </a:p>
        </p:txBody>
      </p:sp>
      <p:pic>
        <p:nvPicPr>
          <p:cNvPr id="14" name="mermaid diagram" descr="b74f5781e730b1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978" y="3588512"/>
            <a:ext cx="7043737" cy="1800225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7" name="Oval 1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9" name="Oval 1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S22  ·  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error worth two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column that is neither grouped nor aggregated has four values per group, so the database refuses.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719580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3172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c.segment, o.quarter, count(*) AS orders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orders o JOIN customers c USING (customer_id)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GROUP  BY o.quarter;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-- ERROR: column "c.segment" must appear in the GROUP BY clause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--        or be used in an aggregate 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84098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969004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95986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Two fixes.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Add c.segment to GROUP BY, which is Anand's question, or wrap it in an aggregate, which answers another one.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9" name="Oval 18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1" name="Oval 20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23" name="Oval 22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S23  ·  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what does 140 / 76 return?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Retail-Plus in Q2: 140 orders from 76 customers. The hurried query divides count by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46710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1064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c.segment, o.quarter,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count(*) / count(DISTINCT o.customer_id) AS orders_per_customer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orders o JOIN customers c USING (customer_id)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GROUP  BY c.segment, o.quarter;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588512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3716528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707384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What does Postgres print for Retail-Plus in Q2? a) 1.84; b) 1; c) 2; d) an error.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9" name="Oval 18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1" name="Oval 20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23" name="Oval 22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  ·  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1, and the sheet says frequency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plausible wrong answer: Retail-Plus drops from 2 to 1 and Retail-Core doubles from 1 to 2.</a:t>
            </a:r>
          </a:p>
        </p:txBody>
      </p:sp>
      <p:pic>
        <p:nvPicPr>
          <p:cNvPr id="9" name="mermaid diagram" descr="776de219dc4df3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863" y="1664208"/>
            <a:ext cx="7617968" cy="3808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Read aloud to the head of Retail-Plus, it says her members now order once a quarter, and it says the loyalty budget should follow Retail-Core, whose members suddenly order twice as often.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S25  ·  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wrong: integers divide as integers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Both counts are integers, so Postgres drops the fraction; nothing on the grid warns you.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08137"/>
                <a:gridCol w="914400"/>
                <a:gridCol w="1806836"/>
                <a:gridCol w="2436151"/>
                <a:gridCol w="3065465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Segment, quarter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Hurried ratio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Orders it implies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Retail-Plus, Q1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Retail-Plus, Q2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Retail-Core, Q1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199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Retail-Core, Q2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193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88924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017263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08119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check.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Multiply the ratio back by the customers. A right ratio gives the orders; this one misses in all eight rows (block r2_frequency_check).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S26  ·  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numeric division, and the decision flips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 cast keeps the fraction; round on purpose for the reader.</a:t>
            </a:r>
          </a:p>
        </p:txBody>
      </p:sp>
      <p:pic>
        <p:nvPicPr>
          <p:cNvPr id="9" name="mermaid diagram" descr="9b66a5e9566aa2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863" y="1664208"/>
            <a:ext cx="7617968" cy="3808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round(count(*)::numeric / count(DISTINCT o.customer_id), 2): Retail-Plus falls 22 percent, 2.36 to 1.84, and Retail-Core rises 3 percent. Retail-Plus is still the segment to fix, and no budget moves to Core.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S27  ·  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WHERE keeps rows, HAVING keeps groups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filter on a count runs after GROUP BY, because before it no count exists.</a:t>
            </a:r>
          </a:p>
        </p:txBody>
      </p:sp>
      <p:pic>
        <p:nvPicPr>
          <p:cNvPr id="9" name="mermaid diagram" descr="bab6c3304ce5a2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147" y="1956816"/>
            <a:ext cx="8915400" cy="11287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231832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3359848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350704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question it answers.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Which segment-quarters hold fewer than 30 orders, too thin to read a rate from? One: Student in Q1, with 27.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S28  ·  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Your turn: the same tree on delivered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status filter tests rows, so it is a WHERE, and it runs before the groups form.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49671"/>
                <a:gridCol w="7566919"/>
                <a:gridCol w="914400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Q1 delivered orders per customer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2.08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Retail-Core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1.74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Retail-Plus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1.87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1.56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1.65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061968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189983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180840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harder variant.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Write it before you look at block r2_delivered_by_segment, and check the groups add back to 653 delivered orders.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S29  ·  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Round 2: honest ratios, per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Every ratio sits beside the two counts it divides.</a:t>
            </a:r>
          </a:p>
        </p:txBody>
      </p:sp>
      <p:pic>
        <p:nvPicPr>
          <p:cNvPr id="9" name="mermaid diagram" descr="99f9ea1747753ad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3916" y="1956816"/>
            <a:ext cx="8043862" cy="8715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2974657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3306889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416617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312096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340417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Show me the orders and customers beside every orders-per-customer figure, so I can divide them myself. Say which orders count, booked or delivered.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260913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4593145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702873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4407217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4626673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[S] WHERE against HAVING, one sentence each. [S] Explain the logical order in which a SQL query executes.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22" name="Oval 21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4" name="Oval 23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2, per segment</a:t>
            </a:r>
          </a:p>
        </p:txBody>
      </p:sp>
      <p:sp>
        <p:nvSpPr>
          <p:cNvPr id="26" name="Oval 25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3, named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S30  ·  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Round 3, named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branch moved, read top to bottom, and an average that skips no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78027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The 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1519" y="5074920"/>
            <a:ext cx="1727727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1, is it the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8975" y="5074920"/>
            <a:ext cx="155007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Round 2, per segment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8782" y="5074920"/>
            <a:ext cx="155007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Round 3, named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2 Day 1: the Monday numbers, from the 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question: which branch moved, and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Week 1's question, asked of the book: the two quarters on one row per segment.</a:t>
            </a:r>
          </a:p>
        </p:txBody>
      </p:sp>
      <p:pic>
        <p:nvPicPr>
          <p:cNvPr id="9" name="mermaid diagram" descr="230c8d2ddee8bc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953" y="1956816"/>
            <a:ext cx="7443787" cy="23002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4403407"/>
            <a:ext cx="11130991" cy="112166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735639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message-square_028dbd132a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845367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54971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769167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"Which part of the tree moved, and in which segment? The analyst has to be able to read it top to bottom."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7" name="Oval 16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9" name="Oval 18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1" name="Oval 20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S31  ·  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query inside a query: each segment's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share needs the total as its denominator, and the total is a query of its own.</a:t>
            </a:r>
          </a:p>
        </p:txBody>
      </p:sp>
      <p:pic>
        <p:nvPicPr>
          <p:cNvPr id="9" name="mermaid diagram" descr="fef96764c24f6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863" y="1664208"/>
            <a:ext cx="7617968" cy="3808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round(100 * sum(o.amount) / (SELECT sum(amount) FROM orders), 1). Business carries 99 percent of the rupees and the consumer segments carry the customers, which is why the tree is read per segment.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S32  ·  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Two CTEs: each step named, the last one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WITH q1 AS, q2 AS, then one SELECT that lines them up on segment.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3739388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3337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WITH q1 AS (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SELECT c.segment, count(DISTINCT o.customer_id) AS customers,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count(*) AS orders, sum(o.amount) AS revenue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FROM   orders o JOIN customers c USING (customer_id)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WHERE  o.quarter = 'Q1'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GROUP  BY c.segment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),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q2 AS ( ... the same, WHERE o.quarter = 'Q2' ... 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segment, q1.customers, q2.customers,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round(q1.orders::numeric / q1.customers, 2) AS q1_frequency,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round(q2.orders::numeric / q2.customers, 2) AS q2_frequency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FROM   q1 JOIN q2 USING (segment)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ORDER  BY segment;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6" name="Oval 15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8" name="Oval 17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0" name="Oval 19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S33  ·  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Retail-Plus: frequency is the biggest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Rs 1.72 lakh fall, split one branch at a time.</a:t>
            </a:r>
          </a:p>
        </p:txBody>
      </p:sp>
      <p:pic>
        <p:nvPicPr>
          <p:cNvPr id="9" name="mermaid diagram" descr="49cc1c6876eb26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0511" y="1664208"/>
            <a:ext cx="8170672" cy="4085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795264"/>
            <a:ext cx="11130991" cy="404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Customers 91 to 76, orders per customer 2.36 to 1.84, revenue per order Rs 2,725 to Rs 2,953.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S34  ·  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Question: how did spend per member move?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head of Retail-Plus asks; the hurried analyst builds one row per member and averages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2729484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23271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WITH member AS (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SELECT o.customer_id,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sum(CASE WHEN o.quarter = 'Q1' THEN o.amount END) AS q1_spend,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       sum(CASE WHEN o.quarter = 'Q2' THEN o.amount END) AS q2_spend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FROM   orders o JOIN customers c USING (customer_id)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WHERE  c.segment = 'Retail-Plus'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    GROUP  BY o.customer_id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SELECT round(avg(q1_spend)), round(avg(q2_spend)) FROM member;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4850892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" y="4978908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4969764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Question.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A member who ordered in Q1 and not in Q2 carries which Q2 spend? a) Rs 0; b) NULL, no value at all; c) their Q1 spend; d) an error.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9" name="Oval 18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1" name="Oval 20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3" name="Oval 22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S35  ·  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Answer: NULL, and the average reads a 15.5%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plausible wrong answer, as it would reach the head of Retail-Plus.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Rs 6,437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Q1 SPEND PER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hurried average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212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Rs 5,439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Q2 SPEND PER 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the hurried average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212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3892" y="1956816"/>
            <a:ext cx="352745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5B3FD6"/>
                </a:solidFill>
                <a:latin typeface="Georgia"/>
              </a:rPr>
              <a:t>15.5%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892" y="2691892"/>
            <a:ext cx="352745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1A0F5C"/>
                </a:solidFill>
                <a:latin typeface="Calibri"/>
              </a:rPr>
              <a:t>THE 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3892" y="2893060"/>
            <a:ext cx="3527450" cy="1934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6690"/>
                </a:solidFill>
                <a:latin typeface="Calibri"/>
              </a:rPr>
              <a:t>a soft quarter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3892" y="3145536"/>
            <a:ext cx="3527450" cy="10972"/>
          </a:xfrm>
          <a:prstGeom prst="rect">
            <a:avLst/>
          </a:prstGeom>
          <a:solidFill>
            <a:srgbClr val="E4E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3419856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She plans a light touch: a reminder email to members, no retention budget.</a:t>
            </a:r>
          </a:p>
        </p:txBody>
      </p:sp>
      <p:sp>
        <p:nvSpPr>
          <p:cNvPr id="22" name="Oval 21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24" name="Oval 23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6" name="Oval 25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8" name="Oval 27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S36  ·  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Why it is wrong: AVG skips NULLs, silently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average divides by the members who bought, and drops the ones who stopped.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345421"/>
                <a:gridCol w="2785569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Invented values, not Kalpa data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spend: 100, NULL, 200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three rows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avg(spend)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count(*)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count(spend)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sum(spend) / count(*)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4431792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members the head most needs to hear about have left the denominator without a word.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S37  ·  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check: count who is in each average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two averages divide by different people.</a:t>
            </a:r>
          </a:p>
        </p:txBody>
      </p:sp>
      <p:pic>
        <p:nvPicPr>
          <p:cNvPr id="9" name="mermaid diagram" descr="85613595a8e7c4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863" y="1664208"/>
            <a:ext cx="7617968" cy="3808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5518912"/>
            <a:ext cx="11130991" cy="680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1A1440"/>
                </a:solidFill>
                <a:latin typeface="Calibri"/>
              </a:rPr>
              <a:t>31 members bought in Q1 and nothing in Q2. The hurried Q2 average never saw them (block r3_member_spend_check).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3" name="Oval 12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5" name="Oval 14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7" name="Oval 16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S38  ·  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fix: say Rs 0 on purpose, and the fall doubles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coalesce(sum(...), 0) counts a member who bought nothing as spending nothing.</a:t>
            </a:r>
          </a:p>
        </p:txBody>
      </p:sp>
      <p:pic>
        <p:nvPicPr>
          <p:cNvPr id="9" name="mermaid diagram" descr="a1956adad251ad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455" y="1664208"/>
            <a:ext cx="7034784" cy="35173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5227320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5355336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46192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What changed.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The fall is 29.4 percent, from Rs 5,474 to Rs 3,863, nearly twice the hurried 15.5. The light touch becomes a retention problem.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S39  ·  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Your turn: the honest average for every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 more column in the member step, one GROUP BY at the end.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98943"/>
                <a:gridCol w="914400"/>
                <a:gridCol w="2892752"/>
                <a:gridCol w="2892752"/>
                <a:gridCol w="2132143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Members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Q1 spend each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Q2 spend each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Retail-Core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2,848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2,796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1.8% down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Retail-Plus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5,474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3,863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29.4% down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1,113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1,490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33.9% up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25,38,832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25,02,169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1.4% down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3889248"/>
            <a:ext cx="11130991" cy="5410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4017263"/>
            <a:ext cx="45720" cy="2849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008119"/>
            <a:ext cx="10564063" cy="3581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The harder variant.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Write it, then check each segment's change against its revenue change from S33's query.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15" name="Oval 14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17" name="Oval 16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19" name="Oval 18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S40  ·  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2  ·  DAY 1  ·  KALPA GLOBAL CAPABILITY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Round 3, and the crux of the morning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Named steps, honest denominators, and a sentence the analyst can check.</a:t>
            </a:r>
          </a:p>
        </p:txBody>
      </p:sp>
      <p:pic>
        <p:nvPicPr>
          <p:cNvPr id="9" name="mermaid diagram" descr="446f523db9d29f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1956816"/>
            <a:ext cx="11130991" cy="135434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0352" y="3457461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3789693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search-check_6571e64a04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99421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3603765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3823221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When a number comes out of an average, say who is in it. That is the difference between a 15 percent wobble and a 29 percent problem.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4743717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2" y="5075949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mic_caee7398c8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185677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99031" y="4890021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1" y="5109477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[D] A stakeholder's analyst must audit your query; what changes in how you write it, and what would you refuse to compute in a notebook?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59636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The ask</a:t>
            </a:r>
          </a:p>
        </p:txBody>
      </p:sp>
      <p:sp>
        <p:nvSpPr>
          <p:cNvPr id="22" name="Oval 21"/>
          <p:cNvSpPr/>
          <p:nvPr/>
        </p:nvSpPr>
        <p:spPr>
          <a:xfrm>
            <a:off x="132788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7608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1, is it the book</a:t>
            </a:r>
          </a:p>
        </p:txBody>
      </p:sp>
      <p:sp>
        <p:nvSpPr>
          <p:cNvPr id="24" name="Oval 23"/>
          <p:cNvSpPr/>
          <p:nvPr/>
        </p:nvSpPr>
        <p:spPr>
          <a:xfrm>
            <a:off x="2861500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228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Round 2, per segment</a:t>
            </a:r>
          </a:p>
        </p:txBody>
      </p:sp>
      <p:sp>
        <p:nvSpPr>
          <p:cNvPr id="26" name="Oval 25"/>
          <p:cNvSpPr/>
          <p:nvPr/>
        </p:nvSpPr>
        <p:spPr>
          <a:xfrm>
            <a:off x="425710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6831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Round 3, named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S41  ·  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