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platform lead's line aloud and leave it up while the room settles.</a:t>
            </a:r>
          </a:p>
          <a:p>
            <a:r>
              <a:t>Say the week's arc once: Monday the tree in SQL, Tuesday the join that doubled money, Wednesday</a:t>
            </a:r>
          </a:p>
          <a:p>
            <a:r>
              <a:t>ranks and falling spend, today the same moves in pandas, Friday the number reaches the deck in</a:t>
            </a:r>
          </a:p>
          <a:p>
            <a:r>
              <a:t>Excel. Every pandas move today is something the room has already done by hand; say that, and</a:t>
            </a:r>
          </a:p>
          <a:p>
            <a:r>
              <a:t>say it again at each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no code. The job of this chapter is the picture of the table: its grain,</a:t>
            </a:r>
          </a:p>
          <a:p>
            <a:r>
              <a:t>its columns, where each column comes from, and the three checks it must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ask aloud. Ask what "one row per customer" rules out: a row per order,</a:t>
            </a:r>
          </a:p>
          <a:p>
            <a:r>
              <a:t>a row per month, a row per campaign touch. The grain is the first decision and every trap today</a:t>
            </a:r>
          </a:p>
          <a:p>
            <a:r>
              <a:t>is a table that quietly changed its grain.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for one minute, then letters. Most rooms say b quickly; push on why a is</a:t>
            </a:r>
          </a:p>
          <a:p>
            <a:r>
              <a:t>wrong: the customers table knows who exists, not what they did. Hold the full mapping for the</a:t>
            </a:r>
          </a:p>
          <a:p>
            <a:r>
              <a:t>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Walk the last column: nothing on this table is new except the</a:t>
            </a:r>
          </a:p>
          <a:p>
            <a:r>
              <a:t>syntax. That is the sentence to repeat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with the room before any laptop opens, and leave it up</a:t>
            </a:r>
          </a:p>
          <a:p>
            <a:r>
              <a:t>all day; every round adds to it. The three checks on the right are Kavya's,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row and ask who wrote that SQL this week. The afternoon's second</a:t>
            </a:r>
          </a:p>
          <a:p>
            <a:r>
              <a:t>case runs one question through all three columns of this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three numbers on the board beside the drawing. Every trap this</a:t>
            </a:r>
          </a:p>
          <a:p>
            <a:r>
              <a:t>morning moves one of them, and the room should be able to say which one each time.</a:t>
            </a:r>
          </a:p>
          <a:p>
            <a:r>
              <a:t>Transition: round 1 builds the spine.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50 minutes: the question and its picture (5), the demonstration (15), the trap</a:t>
            </a:r>
          </a:p>
          <a:p>
            <a:r>
              <a:t>(10), the room's harder variant (15), Kavya's review (5). Notebook 1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split, apply, combine aloud and have the room say it back. This is the</a:t>
            </a:r>
          </a:p>
          <a:p>
            <a:r>
              <a:t>interview's staple sentence, and it is the Week 1 accumulator with a name.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notebook 1, section 1. Point out that pandas 3 shows text as str where</a:t>
            </a:r>
          </a:p>
          <a:p>
            <a:r>
              <a:t>older tutorials say object, so a check written as dtype == object misses every text column.</a:t>
            </a:r>
          </a:p>
          <a:p>
            <a:r>
              <a:t>parse_dates is what makes the date subtractable later; without it recency fails in section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Predictions first, in writing. The split will be between a and b; a few will</a:t>
            </a:r>
          </a:p>
          <a:p>
            <a:r>
              <a:t>say c without knowing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 fix is the customer list as the spine and the aggregates</a:t>
            </a:r>
          </a:p>
          <a:p>
            <a:r>
              <a:t>attached with a left merge, which is Monday's customers LEFT JOIN orders. The loop and groupby</a:t>
            </a:r>
          </a:p>
          <a:p>
            <a:r>
              <a:t>agree for all 301; the notebook checks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Type it live. The tuple is (column, function) and the keyword is the output</a:t>
            </a:r>
          </a:p>
          <a:p>
            <a:r>
              <a:t>name. Say that apply with a custom function exists and is not today's tool; named aggregations</a:t>
            </a:r>
          </a:p>
          <a:p>
            <a:r>
              <a:t>cover what the table needs.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row's "chained transformation that silently changed a dtype".</a:t>
            </a:r>
          </a:p>
          <a:p>
            <a:r>
              <a:t>Nothing errors. The fix says what missing means in the business: no orders is 0 orders.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growth team sends a discount code to every lapsed customer, lapsed meaning</a:t>
            </a:r>
          </a:p>
          <a:p>
            <a:r>
              <a:t>no order in 60 days. Ask the room what could be wrong before revealing. The notebook pins the</a:t>
            </a:r>
          </a:p>
          <a:p>
            <a:r>
              <a:t>run day so the number is exact: pd.Timestamp.today() on Monday 19 October returns that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business consequence: customers who bought a fortnight before the extract</a:t>
            </a:r>
          </a:p>
          <a:p>
            <a:r>
              <a:t>closed get a win-back discount, and the table changes every Monday with no new data, which</a:t>
            </a:r>
          </a:p>
          <a:p>
            <a:r>
              <a:t>makes it a function of the calendar. The check is one line: table["recency_days"].min() == 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55 active customers were about to get a discount. Say it as the sentence to</a:t>
            </a:r>
          </a:p>
          <a:p>
            <a:r>
              <a:t>the growth team: "111 customers have not ordered in the 60 days to 28 September, the data's</a:t>
            </a:r>
          </a:p>
          <a:p>
            <a:r>
              <a:t>last date; the table carries that 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for fast pairs, LIVE for the rest, 12 minutes with the per-segment split. The room</a:t>
            </a:r>
          </a:p>
          <a:p>
            <a:r>
              <a:t>runs this in notebook 1's cells, then splits both lists by segment. Watch for pairs who expect a</a:t>
            </a:r>
          </a:p>
          <a:p>
            <a:r>
              <a:t>stricter threshold to make the gap disappear.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the 60-day list's error per segment: 55 in all. Business moves</a:t>
            </a:r>
          </a:p>
          <a:p>
            <a:r>
              <a:t>most in proportion, 19 listed against 5 honestly, because corporate buyers order in bursts.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Take one learner's split-apply-combine sentence aloud and improve it with the</a:t>
            </a:r>
          </a:p>
          <a:p>
            <a:r>
              <a:t>room: split the orders by customer_id, apply max, count and sum, combine one row per customer;</a:t>
            </a:r>
          </a:p>
          <a:p>
            <a:r>
              <a:t>SQL's GROUP BY and Week 1's accumulator, written once. The full answer is in the notebook and</a:t>
            </a:r>
          </a:p>
          <a:p>
            <a:r>
              <a:t>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the fast half of the room. Wednesday's window functions mirrored in</a:t>
            </a:r>
          </a:p>
          <a:p>
            <a:r>
              <a:t>pandas; the escalated case uses shift for the falling flag.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50 minutes: question (5), demonstration (15), the two traps (15), the room on</a:t>
            </a:r>
          </a:p>
          <a:p>
            <a:r>
              <a:t>Kalpa's own feed (10), review (5). Notebook 2 beside it. The fan-out is shown on invented records;</a:t>
            </a:r>
          </a:p>
          <a:p>
            <a:r>
              <a:t>the room meets the real feed in the your-turn cell. The numbers they should reach are in the day</a:t>
            </a:r>
          </a:p>
          <a:p>
            <a:r>
              <a:t>sheet; do not put them on the board before the room says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dashed box is the question nobody has asked yet: is the feed one row per</a:t>
            </a:r>
          </a:p>
          <a:p>
            <a:r>
              <a:t>customer? Leave it dashed on the board until the room checks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down the table. Ask which row the Monday table needs: left, with the</a:t>
            </a:r>
          </a:p>
          <a:p>
            <a:r>
              <a:t>customer table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feed only names Retail-Core and Retail-Plus, which is the campaign's</a:t>
            </a:r>
          </a:p>
          <a:p>
            <a:r>
              <a:t>design, not a defect. The unreached 210 are the comparison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These four customers are invented for the mechanism and labelled so in the</a:t>
            </a:r>
          </a:p>
          <a:p>
            <a:r>
              <a:t>notebook. Walk the diagram: one customer, two feed rows, two merged rows, one spend counted</a:t>
            </a:r>
          </a:p>
          <a:p>
            <a:r>
              <a:t>twice. The business consequence: the case for November's budget is made with money nobody paid.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MergeError is not the two-minute kind of error: it is the check that</a:t>
            </a:r>
          </a:p>
          <a:p>
            <a:r>
              <a:t>catches the trap, so it gets the time. Read the last line aloud: which side, which promise.</a:t>
            </a:r>
          </a:p>
          <a:p>
            <a:r>
              <a:t>pandas 3 also lists the duplicated keys under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rule is stated before the code. Keep validate on after the dedupe: its</a:t>
            </a:r>
          </a:p>
          <a:p>
            <a:r>
              <a:t>job is to stop next Monday's feed if it breaks the rule in a new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room runs these in notebook 2's empty cell. Do not say what they will</a:t>
            </a:r>
          </a:p>
          <a:p>
            <a:r>
              <a:t>find. Take three sentences to the marketing lead aloud and pick the one with a number, a cause</a:t>
            </a:r>
          </a:p>
          <a:p>
            <a:r>
              <a:t>and a consequence. The numbers are in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whether 100 percent conversion is plausible for any campaign. The room</a:t>
            </a:r>
          </a:p>
          <a:p>
            <a:r>
              <a:t>usually smells it; the point is to name the mechanism,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customers that vanished are exactly the ones who were reached and did</a:t>
            </a:r>
          </a:p>
          <a:p>
            <a:r>
              <a:t>not buy. The default was checked on pandas 3; it drops a missing key unless told otherwise.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room that bought is not caused by: Week 1 Thursday showed the</a:t>
            </a:r>
          </a:p>
          <a:p>
            <a:r>
              <a:t>platform targets customers who were buying anyway. The table records exposure; it proves</a:t>
            </a:r>
          </a:p>
          <a:p>
            <a:r>
              <a:t>nothing about the sale's effect.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Answer aloud with the room: validate, with one_to_one, one_to_many or</a:t>
            </a:r>
          </a:p>
          <a:p>
            <a:r>
              <a:t>many_to_one, raising pandas.errors.MergeError naming the side whose keys are not unique. Then</a:t>
            </a:r>
          </a:p>
          <a:p>
            <a:r>
              <a:t>the [S] question: merge against join, same and different. Both in full in the study notes.</a:t>
            </a:r>
          </a:p>
          <a:p>
            <a:r>
              <a:t>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3, 50 minutes: question (5), demonstration (15), the trap (10), the room's</a:t>
            </a:r>
          </a:p>
          <a:p>
            <a:r>
              <a:t>Retail-Core variant (15), review (5). Notebook 3 beside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long table summed by month: Rs 5,85,770 in Q1 and Rs 4,13,380 in</a:t>
            </a:r>
          </a:p>
          <a:p>
            <a:r>
              <a:t>Q2. Hold these two numbers; the trap is a pivot that reports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266 member-months have orders; 107 members times 6 months is 642 once the</a:t>
            </a:r>
          </a:p>
          <a:p>
            <a:r>
              <a:t>empty months are written as zero. Ask why melt returns more rows than the long table started</a:t>
            </a:r>
          </a:p>
          <a:p>
            <a:r>
              <a:t>with.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Predictions first. Almost nobody predicts b,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Checked on pandas 3: pivot_table averages by default. The grand total against</a:t>
            </a:r>
          </a:p>
          <a:p>
            <a:r>
              <a:t>the orders is the check,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Frequency is the lever Week 1 found moving in Retail-Plus, and the averaged</a:t>
            </a:r>
          </a:p>
          <a:p>
            <a:r>
              <a:t>pivot hides exactly that lever: it reports the typical order, not the month's spend.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upper line is summed, the lower is the default. The gap is widest in the</a:t>
            </a:r>
          </a:p>
          <a:p>
            <a:r>
              <a:t>months where members ordered most often. Write aggfunc every time, the way how= goes on every</a:t>
            </a:r>
          </a:p>
          <a:p>
            <a:r>
              <a:t>merge.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totals of the order-indexed pivot are right, which is why it survives a</a:t>
            </a:r>
          </a:p>
          <a:p>
            <a:r>
              <a:t>glance. Its rows are orders, so "who is drifting" cannot be read from it. The 13 members who</a:t>
            </a:r>
          </a:p>
          <a:p>
            <a:r>
              <a:t>never ordered are absent from both views; say so when the view goes out.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room builds both in notebook 3's empty cell and checks the grand total</a:t>
            </a:r>
          </a:p>
          <a:p>
            <a:r>
              <a:t>before reading a month. Circulate for pairs who read the averaged total first.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harder form of the trap: the default did not just shrink the number, it</a:t>
            </a:r>
          </a:p>
          <a:p>
            <a:r>
              <a:t>reversed the direction of the story a stakeholder would tell.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pivot and pivot_table widen, melt lengthens. Add the follow-up: pivot against</a:t>
            </a:r>
          </a:p>
          <a:p>
            <a:r>
              <a:t>pivot_table, where pivot raises "Index contains duplicate entries, cannot reshape" on a repeated</a:t>
            </a:r>
          </a:p>
          <a:p>
            <a:r>
              <a:t>pair and pivot_table silently averages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same pattern as validate on merge: an argument or a function that</a:t>
            </a:r>
          </a:p>
          <a:p>
            <a:r>
              <a:t>makes the wrong shape loud.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board drawing from S4, now complete. The afternoon builds the</a:t>
            </a:r>
          </a:p>
          <a:p>
            <a:r>
              <a:t>whole table unguided and then runs one question in three tools.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4.png"/><Relationship Id="rId6"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8.png"/><Relationship Id="rId6"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8.png"/><Relationship Id="rId6"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customer table Marketing refreshes every Monday</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“The warehouse queries are fine for Finance, but Marketing's analysts live in Python. Build them the table in pandas, from the warehouse, and make it refreshable in one run.”</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data platform lead,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One row per customer</a:t>
            </a:r>
          </a:p>
        </p:txBody>
      </p:sp>
      <p:sp>
        <p:nvSpPr>
          <p:cNvPr id="15" name="TextBox 14"/>
          <p:cNvSpPr txBox="1"/>
          <p:nvPr/>
        </p:nvSpPr>
        <p:spPr>
          <a:xfrm>
            <a:off x="3718464"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102512"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exposure merge</a:t>
            </a:r>
          </a:p>
        </p:txBody>
      </p:sp>
      <p:sp>
        <p:nvSpPr>
          <p:cNvPr id="17" name="TextBox 16"/>
          <p:cNvSpPr txBox="1"/>
          <p:nvPr/>
        </p:nvSpPr>
        <p:spPr>
          <a:xfrm>
            <a:off x="553297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917025" y="5870448"/>
            <a:ext cx="1070133" cy="185166"/>
          </a:xfrm>
          <a:prstGeom prst="rect">
            <a:avLst/>
          </a:prstGeom>
          <a:noFill/>
        </p:spPr>
        <p:txBody>
          <a:bodyPr wrap="square" anchor="t" lIns="0" rIns="0" tIns="0" bIns="0">
            <a:spAutoFit/>
          </a:bodyPr>
          <a:lstStyle/>
          <a:p>
            <a:pPr algn="l"/>
            <a:r>
              <a:rPr sz="900" b="0" i="0">
                <a:solidFill>
                  <a:srgbClr val="FFFFFF"/>
                </a:solidFill>
                <a:latin typeface="Calibri"/>
              </a:rPr>
              <a:t>The months view</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team wants one row per customer every Monday, and the thinking comes before pandas.</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morning, the growth team's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table, one row per customer, refreshed every week without anyone rebuilding it.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"Every Monday, one table: how recently each customer bought, how often, how much, their segment, whether the monsoon sale reached them, and last week's flags. Marketing's analysts will work from it all week."</a:t>
            </a:r>
          </a:p>
        </p:txBody>
      </p:sp>
      <p:sp>
        <p:nvSpPr>
          <p:cNvPr id="14" name="Rounded Rectangle 13"/>
          <p:cNvSpPr/>
          <p:nvPr/>
        </p:nvSpPr>
        <p:spPr>
          <a:xfrm>
            <a:off x="530352" y="350215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users_11340fce0adc.png"/>
          <p:cNvPicPr>
            <a:picLocks noChangeAspect="1"/>
          </p:cNvPicPr>
          <p:nvPr/>
        </p:nvPicPr>
        <p:blipFill>
          <a:blip r:embed="rId5"/>
          <a:stretch>
            <a:fillRect/>
          </a:stretch>
        </p:blipFill>
        <p:spPr>
          <a:xfrm>
            <a:off x="841247" y="3813048"/>
            <a:ext cx="237744" cy="237744"/>
          </a:xfrm>
          <a:prstGeom prst="rect">
            <a:avLst/>
          </a:prstGeom>
        </p:spPr>
      </p:pic>
      <p:sp>
        <p:nvSpPr>
          <p:cNvPr id="17" name="TextBox 16"/>
          <p:cNvSpPr txBox="1"/>
          <p:nvPr/>
        </p:nvSpPr>
        <p:spPr>
          <a:xfrm>
            <a:off x="731519" y="427024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GRAIN</a:t>
            </a:r>
          </a:p>
        </p:txBody>
      </p:sp>
      <p:sp>
        <p:nvSpPr>
          <p:cNvPr id="18" name="TextBox 17"/>
          <p:cNvSpPr txBox="1"/>
          <p:nvPr/>
        </p:nvSpPr>
        <p:spPr>
          <a:xfrm>
            <a:off x="731519" y="4507992"/>
            <a:ext cx="3186074" cy="267716"/>
          </a:xfrm>
          <a:prstGeom prst="rect">
            <a:avLst/>
          </a:prstGeom>
          <a:noFill/>
        </p:spPr>
        <p:txBody>
          <a:bodyPr wrap="square" anchor="t" lIns="0" rIns="0" tIns="0" bIns="0">
            <a:spAutoFit/>
          </a:bodyPr>
          <a:lstStyle/>
          <a:p>
            <a:pPr algn="l"/>
            <a:r>
              <a:rPr sz="1400" b="1" i="0">
                <a:solidFill>
                  <a:srgbClr val="1A0F5C"/>
                </a:solidFill>
                <a:latin typeface="Calibri"/>
              </a:rPr>
              <a:t>One row per customer</a:t>
            </a:r>
          </a:p>
        </p:txBody>
      </p:sp>
      <p:sp>
        <p:nvSpPr>
          <p:cNvPr id="19" name="TextBox 18"/>
          <p:cNvSpPr txBox="1"/>
          <p:nvPr/>
        </p:nvSpPr>
        <p:spPr>
          <a:xfrm>
            <a:off x="731519" y="4848860"/>
            <a:ext cx="3186074" cy="399796"/>
          </a:xfrm>
          <a:prstGeom prst="rect">
            <a:avLst/>
          </a:prstGeom>
          <a:noFill/>
        </p:spPr>
        <p:txBody>
          <a:bodyPr wrap="square" anchor="t" lIns="0" rIns="0" tIns="0" bIns="0">
            <a:spAutoFit/>
          </a:bodyPr>
          <a:lstStyle/>
          <a:p>
            <a:pPr algn="l"/>
            <a:r>
              <a:rPr sz="1100" b="0" i="0">
                <a:solidFill>
                  <a:srgbClr val="6B6690"/>
                </a:solidFill>
                <a:latin typeface="Calibri"/>
              </a:rPr>
              <a:t>340 customers in the warehouse, including those who never ordered.</a:t>
            </a:r>
          </a:p>
        </p:txBody>
      </p:sp>
      <p:sp>
        <p:nvSpPr>
          <p:cNvPr id="20" name="Rounded Rectangle 19"/>
          <p:cNvSpPr/>
          <p:nvPr/>
        </p:nvSpPr>
        <p:spPr>
          <a:xfrm>
            <a:off x="4301642" y="350215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database_0f9c2895db54.png"/>
          <p:cNvPicPr>
            <a:picLocks noChangeAspect="1"/>
          </p:cNvPicPr>
          <p:nvPr/>
        </p:nvPicPr>
        <p:blipFill>
          <a:blip r:embed="rId6"/>
          <a:stretch>
            <a:fillRect/>
          </a:stretch>
        </p:blipFill>
        <p:spPr>
          <a:xfrm>
            <a:off x="4612538" y="3813048"/>
            <a:ext cx="237744" cy="237744"/>
          </a:xfrm>
          <a:prstGeom prst="rect">
            <a:avLst/>
          </a:prstGeom>
        </p:spPr>
      </p:pic>
      <p:sp>
        <p:nvSpPr>
          <p:cNvPr id="23" name="TextBox 22"/>
          <p:cNvSpPr txBox="1"/>
          <p:nvPr/>
        </p:nvSpPr>
        <p:spPr>
          <a:xfrm>
            <a:off x="4502810" y="427024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SOURCES</a:t>
            </a:r>
          </a:p>
        </p:txBody>
      </p:sp>
      <p:sp>
        <p:nvSpPr>
          <p:cNvPr id="24" name="TextBox 23"/>
          <p:cNvSpPr txBox="1"/>
          <p:nvPr/>
        </p:nvSpPr>
        <p:spPr>
          <a:xfrm>
            <a:off x="4502810" y="4507992"/>
            <a:ext cx="3186074" cy="267716"/>
          </a:xfrm>
          <a:prstGeom prst="rect">
            <a:avLst/>
          </a:prstGeom>
          <a:noFill/>
        </p:spPr>
        <p:txBody>
          <a:bodyPr wrap="square" anchor="t" lIns="0" rIns="0" tIns="0" bIns="0">
            <a:spAutoFit/>
          </a:bodyPr>
          <a:lstStyle/>
          <a:p>
            <a:pPr algn="l"/>
            <a:r>
              <a:rPr sz="1400" b="1" i="0">
                <a:solidFill>
                  <a:srgbClr val="1A0F5C"/>
                </a:solidFill>
                <a:latin typeface="Calibri"/>
              </a:rPr>
              <a:t>Warehouse plus a feed</a:t>
            </a:r>
          </a:p>
        </p:txBody>
      </p:sp>
      <p:sp>
        <p:nvSpPr>
          <p:cNvPr id="25" name="TextBox 24"/>
          <p:cNvSpPr txBox="1"/>
          <p:nvPr/>
        </p:nvSpPr>
        <p:spPr>
          <a:xfrm>
            <a:off x="4502810" y="4848860"/>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customers in Postgres; the sale's exposure arrives as a file.</a:t>
            </a:r>
          </a:p>
        </p:txBody>
      </p:sp>
      <p:sp>
        <p:nvSpPr>
          <p:cNvPr id="26" name="Rounded Rectangle 25"/>
          <p:cNvSpPr/>
          <p:nvPr/>
        </p:nvSpPr>
        <p:spPr>
          <a:xfrm>
            <a:off x="8072932" y="350215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7033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refresh-cw_c3ada071ae1b.png"/>
          <p:cNvPicPr>
            <a:picLocks noChangeAspect="1"/>
          </p:cNvPicPr>
          <p:nvPr/>
        </p:nvPicPr>
        <p:blipFill>
          <a:blip r:embed="rId7"/>
          <a:stretch>
            <a:fillRect/>
          </a:stretch>
        </p:blipFill>
        <p:spPr>
          <a:xfrm>
            <a:off x="8383828" y="3813048"/>
            <a:ext cx="237744" cy="237744"/>
          </a:xfrm>
          <a:prstGeom prst="rect">
            <a:avLst/>
          </a:prstGeom>
        </p:spPr>
      </p:pic>
      <p:sp>
        <p:nvSpPr>
          <p:cNvPr id="29" name="TextBox 28"/>
          <p:cNvSpPr txBox="1"/>
          <p:nvPr/>
        </p:nvSpPr>
        <p:spPr>
          <a:xfrm>
            <a:off x="8274100" y="427024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PROMISE</a:t>
            </a:r>
          </a:p>
        </p:txBody>
      </p:sp>
      <p:sp>
        <p:nvSpPr>
          <p:cNvPr id="30" name="TextBox 29"/>
          <p:cNvSpPr txBox="1"/>
          <p:nvPr/>
        </p:nvSpPr>
        <p:spPr>
          <a:xfrm>
            <a:off x="8274100" y="4507992"/>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run, every Monday</a:t>
            </a:r>
          </a:p>
        </p:txBody>
      </p:sp>
      <p:sp>
        <p:nvSpPr>
          <p:cNvPr id="31" name="TextBox 30"/>
          <p:cNvSpPr txBox="1"/>
          <p:nvPr/>
        </p:nvSpPr>
        <p:spPr>
          <a:xfrm>
            <a:off x="8274100" y="4848860"/>
            <a:ext cx="3186074" cy="399796"/>
          </a:xfrm>
          <a:prstGeom prst="rect">
            <a:avLst/>
          </a:prstGeom>
          <a:noFill/>
        </p:spPr>
        <p:txBody>
          <a:bodyPr wrap="square" anchor="t" lIns="0" rIns="0" tIns="0" bIns="0">
            <a:spAutoFit/>
          </a:bodyPr>
          <a:lstStyle/>
          <a:p>
            <a:pPr algn="l"/>
            <a:r>
              <a:rPr sz="1100" b="0" i="0">
                <a:solidFill>
                  <a:srgbClr val="CFC9EE"/>
                </a:solidFill>
                <a:latin typeface="Calibri"/>
              </a:rPr>
              <a:t>The same data gives the same table, and a bad feed stops the run.</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4" name="Oval 3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6" name="Oval 3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8" name="Oval 3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each column come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Seven columns, and each one is a move you have already made this week.</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706754"/>
                <a:gridCol w="4424236"/>
              </a:tblGrid>
              <a:tr h="369824">
                <a:tc>
                  <a:txBody>
                    <a:bodyPr/>
                    <a:lstStyle/>
                    <a:p>
                      <a:r>
                        <a:rPr sz="1450" b="1" i="0">
                          <a:solidFill>
                            <a:srgbClr val="FFFFFF"/>
                          </a:solidFill>
                          <a:latin typeface="Calibri"/>
                        </a:rPr>
                        <a:t>Column</a:t>
                      </a:r>
                    </a:p>
                  </a:txBody>
                  <a:tcPr marL="101600" marR="101600" marT="38100" marB="38100" anchor="ctr">
                    <a:solidFill>
                      <a:srgbClr val="1A0F5C"/>
                    </a:solidFill>
                  </a:tcPr>
                </a:tc>
                <a:tc>
                  <a:txBody>
                    <a:bodyPr/>
                    <a:lstStyle/>
                    <a:p>
                      <a:r>
                        <a:rPr sz="1450" b="1" i="0">
                          <a:solidFill>
                            <a:srgbClr val="FFFFFF"/>
                          </a:solidFill>
                          <a:latin typeface="Calibri"/>
                        </a:rPr>
                        <a:t>Where it lives</a:t>
                      </a:r>
                    </a:p>
                  </a:txBody>
                  <a:tcPr marL="101600" marR="101600" marT="38100" marB="38100" anchor="ctr">
                    <a:solidFill>
                      <a:srgbClr val="1A0F5C"/>
                    </a:solidFill>
                  </a:tcPr>
                </a:tc>
              </a:tr>
              <a:tr h="369824">
                <a:tc>
                  <a:txBody>
                    <a:bodyPr/>
                    <a:lstStyle/>
                    <a:p>
                      <a:r>
                        <a:rPr sz="1400" b="0" i="0">
                          <a:solidFill>
                            <a:srgbClr val="1A1440"/>
                          </a:solidFill>
                          <a:latin typeface="Calibri"/>
                        </a:rPr>
                        <a:t>segment</a:t>
                      </a:r>
                    </a:p>
                  </a:txBody>
                  <a:tcPr marL="101600" marR="101600" marT="38100" marB="38100" anchor="ctr">
                    <a:solidFill>
                      <a:srgbClr val="FFFFFF"/>
                    </a:solidFill>
                  </a:tcPr>
                </a:tc>
                <a:tc>
                  <a:txBody>
                    <a:bodyPr/>
                    <a:lstStyle/>
                    <a:p>
                      <a:r>
                        <a:rPr sz="1400" b="0" i="0">
                          <a:solidFill>
                            <a:srgbClr val="1A1440"/>
                          </a:solidFill>
                          <a:latin typeface="Calibri"/>
                        </a:rPr>
                        <a:t>?</a:t>
                      </a:r>
                    </a:p>
                  </a:txBody>
                  <a:tcPr marL="101600" marR="101600" marT="38100" marB="38100" anchor="ctr">
                    <a:solidFill>
                      <a:srgbClr val="FFFFFF"/>
                    </a:solidFill>
                  </a:tcPr>
                </a:tc>
              </a:tr>
              <a:tr h="369824">
                <a:tc>
                  <a:txBody>
                    <a:bodyPr/>
                    <a:lstStyle/>
                    <a:p>
                      <a:r>
                        <a:rPr sz="1400" b="0" i="0">
                          <a:solidFill>
                            <a:srgbClr val="1A1440"/>
                          </a:solidFill>
                          <a:latin typeface="Calibri"/>
                        </a:rPr>
                        <a:t>recency, frequency, spend</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r h="369824">
                <a:tc>
                  <a:txBody>
                    <a:bodyPr/>
                    <a:lstStyle/>
                    <a:p>
                      <a:r>
                        <a:rPr sz="1400" b="0" i="0">
                          <a:solidFill>
                            <a:srgbClr val="1A1440"/>
                          </a:solidFill>
                          <a:latin typeface="Calibri"/>
                        </a:rPr>
                        <a:t>reached by the sale</a:t>
                      </a:r>
                    </a:p>
                  </a:txBody>
                  <a:tcPr marL="101600" marR="101600" marT="38100" marB="38100" anchor="ctr">
                    <a:solidFill>
                      <a:srgbClr val="FFFFFF"/>
                    </a:solidFill>
                  </a:tcPr>
                </a:tc>
                <a:tc>
                  <a:txBody>
                    <a:bodyPr/>
                    <a:lstStyle/>
                    <a:p>
                      <a:r>
                        <a:rPr sz="1400" b="0" i="0">
                          <a:solidFill>
                            <a:srgbClr val="1A1440"/>
                          </a:solidFill>
                          <a:latin typeface="Calibri"/>
                        </a:rPr>
                        <a:t>?</a:t>
                      </a:r>
                    </a:p>
                  </a:txBody>
                  <a:tcPr marL="101600" marR="101600" marT="38100" marB="38100" anchor="ctr">
                    <a:solidFill>
                      <a:srgbClr val="FFFFFF"/>
                    </a:solidFill>
                  </a:tcPr>
                </a:tc>
              </a:tr>
              <a:tr h="369824">
                <a:tc>
                  <a:txBody>
                    <a:bodyPr/>
                    <a:lstStyle/>
                    <a:p>
                      <a:r>
                        <a:rPr sz="1400" b="0" i="0">
                          <a:solidFill>
                            <a:srgbClr val="1A1440"/>
                          </a:solidFill>
                          <a:latin typeface="Calibri"/>
                        </a:rPr>
                        <a:t>lapsed, falling</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source and which move produces the recency, frequency and spend columns? a) the customers table, read as it is; b) the orders table, grouped by customer; c) the exposure feed, merged on customer_id; d) Wednesday's window query, pasted 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orders, grouped, attached to the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customer list is the spine; everything else is attached to it by customer_id.</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2886649"/>
                <a:gridCol w="1847636"/>
                <a:gridCol w="2055438"/>
                <a:gridCol w="4341267"/>
              </a:tblGrid>
              <a:tr h="335280">
                <a:tc>
                  <a:txBody>
                    <a:bodyPr/>
                    <a:lstStyle/>
                    <a:p>
                      <a:r>
                        <a:rPr sz="1250" b="1" i="0">
                          <a:solidFill>
                            <a:srgbClr val="FFFFFF"/>
                          </a:solidFill>
                          <a:latin typeface="Calibri"/>
                        </a:rPr>
                        <a:t>Column</a:t>
                      </a:r>
                    </a:p>
                  </a:txBody>
                  <a:tcPr marL="101600" marR="101600" marT="38100" marB="38100" anchor="ctr">
                    <a:solidFill>
                      <a:srgbClr val="1A0F5C"/>
                    </a:solidFill>
                  </a:tcPr>
                </a:tc>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The move</a:t>
                      </a:r>
                    </a:p>
                  </a:txBody>
                  <a:tcPr marL="101600" marR="101600" marT="38100" marB="38100" anchor="ctr">
                    <a:solidFill>
                      <a:srgbClr val="1A0F5C"/>
                    </a:solidFill>
                  </a:tcPr>
                </a:tc>
                <a:tc>
                  <a:txBody>
                    <a:bodyPr/>
                    <a:lstStyle/>
                    <a:p>
                      <a:r>
                        <a:rPr sz="1250" b="1" i="0">
                          <a:solidFill>
                            <a:srgbClr val="FFFFFF"/>
                          </a:solidFill>
                          <a:latin typeface="Calibri"/>
                        </a:rPr>
                        <a:t>You did it on</a:t>
                      </a:r>
                    </a:p>
                  </a:txBody>
                  <a:tcPr marL="101600" marR="101600" marT="38100" marB="38100" anchor="ctr">
                    <a:solidFill>
                      <a:srgbClr val="1A0F5C"/>
                    </a:solidFill>
                  </a:tcPr>
                </a:tc>
              </a:tr>
              <a:tr h="335280">
                <a:tc>
                  <a:txBody>
                    <a:bodyPr/>
                    <a:lstStyle/>
                    <a:p>
                      <a:r>
                        <a:rPr sz="1200" b="0" i="0">
                          <a:solidFill>
                            <a:srgbClr val="1A1440"/>
                          </a:solidFill>
                          <a:latin typeface="Calibri"/>
                        </a:rPr>
                        <a:t>segment</a:t>
                      </a:r>
                    </a:p>
                  </a:txBody>
                  <a:tcPr marL="101600" marR="101600" marT="38100" marB="38100" anchor="ctr">
                    <a:solidFill>
                      <a:srgbClr val="FFFFFF"/>
                    </a:solidFill>
                  </a:tcPr>
                </a:tc>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the spine itself</a:t>
                      </a:r>
                    </a:p>
                  </a:txBody>
                  <a:tcPr marL="101600" marR="101600" marT="38100" marB="38100" anchor="ctr">
                    <a:solidFill>
                      <a:srgbClr val="FFFFFF"/>
                    </a:solidFill>
                  </a:tcPr>
                </a:tc>
                <a:tc>
                  <a:txBody>
                    <a:bodyPr/>
                    <a:lstStyle/>
                    <a:p>
                      <a:r>
                        <a:rPr sz="1200" b="0" i="0">
                          <a:solidFill>
                            <a:srgbClr val="1A1440"/>
                          </a:solidFill>
                          <a:latin typeface="Calibri"/>
                        </a:rPr>
                        <a:t>Monday's JOIN</a:t>
                      </a:r>
                    </a:p>
                  </a:txBody>
                  <a:tcPr marL="101600" marR="101600" marT="38100" marB="38100" anchor="ctr">
                    <a:solidFill>
                      <a:srgbClr val="FFFFFF"/>
                    </a:solidFill>
                  </a:tcPr>
                </a:tc>
              </a:tr>
              <a:tr h="335280">
                <a:tc>
                  <a:txBody>
                    <a:bodyPr/>
                    <a:lstStyle/>
                    <a:p>
                      <a:r>
                        <a:rPr sz="1200" b="0" i="0">
                          <a:solidFill>
                            <a:srgbClr val="1A1440"/>
                          </a:solidFill>
                          <a:latin typeface="Calibri"/>
                        </a:rPr>
                        <a:t>recency, frequency, spend</a:t>
                      </a:r>
                    </a:p>
                  </a:txBody>
                  <a:tcPr marL="101600" marR="101600" marT="38100" marB="38100" anchor="ctr">
                    <a:solidFill>
                      <a:srgbClr val="F4F2FA"/>
                    </a:solidFill>
                  </a:tcPr>
                </a:tc>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groupby and agg</a:t>
                      </a:r>
                    </a:p>
                  </a:txBody>
                  <a:tcPr marL="101600" marR="101600" marT="38100" marB="38100" anchor="ctr">
                    <a:solidFill>
                      <a:srgbClr val="F4F2FA"/>
                    </a:solidFill>
                  </a:tcPr>
                </a:tc>
                <a:tc>
                  <a:txBody>
                    <a:bodyPr/>
                    <a:lstStyle/>
                    <a:p>
                      <a:r>
                        <a:rPr sz="1200" b="0" i="0">
                          <a:solidFill>
                            <a:srgbClr val="1A1440"/>
                          </a:solidFill>
                          <a:latin typeface="Calibri"/>
                        </a:rPr>
                        <a:t>Week 1's accumulator, Monday's GROUP BY</a:t>
                      </a:r>
                    </a:p>
                  </a:txBody>
                  <a:tcPr marL="101600" marR="101600" marT="38100" marB="38100" anchor="ctr">
                    <a:solidFill>
                      <a:srgbClr val="F4F2FA"/>
                    </a:solidFill>
                  </a:tcPr>
                </a:tc>
              </a:tr>
              <a:tr h="335280">
                <a:tc>
                  <a:txBody>
                    <a:bodyPr/>
                    <a:lstStyle/>
                    <a:p>
                      <a:r>
                        <a:rPr sz="1200" b="0" i="0">
                          <a:solidFill>
                            <a:srgbClr val="1A1440"/>
                          </a:solidFill>
                          <a:latin typeface="Calibri"/>
                        </a:rPr>
                        <a:t>reached by the sale</a:t>
                      </a:r>
                    </a:p>
                  </a:txBody>
                  <a:tcPr marL="101600" marR="101600" marT="38100" marB="38100" anchor="ctr">
                    <a:solidFill>
                      <a:srgbClr val="FFFFFF"/>
                    </a:solidFill>
                  </a:tcPr>
                </a:tc>
                <a:tc>
                  <a:txBody>
                    <a:bodyPr/>
                    <a:lstStyle/>
                    <a:p>
                      <a:r>
                        <a:rPr sz="1200" b="0" i="0">
                          <a:solidFill>
                            <a:srgbClr val="1A1440"/>
                          </a:solidFill>
                          <a:latin typeface="Calibri"/>
                        </a:rPr>
                        <a:t>exposure feed</a:t>
                      </a:r>
                    </a:p>
                  </a:txBody>
                  <a:tcPr marL="101600" marR="101600" marT="38100" marB="38100" anchor="ctr">
                    <a:solidFill>
                      <a:srgbClr val="FFFFFF"/>
                    </a:solidFill>
                  </a:tcPr>
                </a:tc>
                <a:tc>
                  <a:txBody>
                    <a:bodyPr/>
                    <a:lstStyle/>
                    <a:p>
                      <a:r>
                        <a:rPr sz="1200" b="0" i="0">
                          <a:solidFill>
                            <a:srgbClr val="1A1440"/>
                          </a:solidFill>
                          <a:latin typeface="Calibri"/>
                        </a:rPr>
                        <a:t>merge, validated</a:t>
                      </a:r>
                    </a:p>
                  </a:txBody>
                  <a:tcPr marL="101600" marR="101600" marT="38100" marB="38100" anchor="ctr">
                    <a:solidFill>
                      <a:srgbClr val="FFFFFF"/>
                    </a:solidFill>
                  </a:tcPr>
                </a:tc>
                <a:tc>
                  <a:txBody>
                    <a:bodyPr/>
                    <a:lstStyle/>
                    <a:p>
                      <a:r>
                        <a:rPr sz="1200" b="0" i="0">
                          <a:solidFill>
                            <a:srgbClr val="1A1440"/>
                          </a:solidFill>
                          <a:latin typeface="Calibri"/>
                        </a:rPr>
                        <a:t>Tuesday's LEFT JOIN</a:t>
                      </a:r>
                    </a:p>
                  </a:txBody>
                  <a:tcPr marL="101600" marR="101600" marT="38100" marB="38100" anchor="ctr">
                    <a:solidFill>
                      <a:srgbClr val="FFFFFF"/>
                    </a:solidFill>
                  </a:tcPr>
                </a:tc>
              </a:tr>
              <a:tr h="335280">
                <a:tc>
                  <a:txBody>
                    <a:bodyPr/>
                    <a:lstStyle/>
                    <a:p>
                      <a:r>
                        <a:rPr sz="1200" b="0" i="0">
                          <a:solidFill>
                            <a:srgbClr val="1A1440"/>
                          </a:solidFill>
                          <a:latin typeface="Calibri"/>
                        </a:rPr>
                        <a:t>lapsed</a:t>
                      </a:r>
                    </a:p>
                  </a:txBody>
                  <a:tcPr marL="101600" marR="101600" marT="38100" marB="38100" anchor="ctr">
                    <a:solidFill>
                      <a:srgbClr val="F4F2FA"/>
                    </a:solidFill>
                  </a:tcPr>
                </a:tc>
                <a:tc>
                  <a:txBody>
                    <a:bodyPr/>
                    <a:lstStyle/>
                    <a:p>
                      <a:r>
                        <a:rPr sz="1200" b="0" i="0">
                          <a:solidFill>
                            <a:srgbClr val="1A1440"/>
                          </a:solidFill>
                          <a:latin typeface="Calibri"/>
                        </a:rPr>
                        <a:t>recency</a:t>
                      </a:r>
                    </a:p>
                  </a:txBody>
                  <a:tcPr marL="101600" marR="101600" marT="38100" marB="38100" anchor="ctr">
                    <a:solidFill>
                      <a:srgbClr val="F4F2FA"/>
                    </a:solidFill>
                  </a:tcPr>
                </a:tc>
                <a:tc>
                  <a:txBody>
                    <a:bodyPr/>
                    <a:lstStyle/>
                    <a:p>
                      <a:r>
                        <a:rPr sz="1200" b="0" i="0">
                          <a:solidFill>
                            <a:srgbClr val="1A1440"/>
                          </a:solidFill>
                          <a:latin typeface="Calibri"/>
                        </a:rPr>
                        <a:t>a condition</a:t>
                      </a:r>
                    </a:p>
                  </a:txBody>
                  <a:tcPr marL="101600" marR="101600" marT="38100" marB="38100" anchor="ctr">
                    <a:solidFill>
                      <a:srgbClr val="F4F2FA"/>
                    </a:solidFill>
                  </a:tcPr>
                </a:tc>
                <a:tc>
                  <a:txBody>
                    <a:bodyPr/>
                    <a:lstStyle/>
                    <a:p>
                      <a:r>
                        <a:rPr sz="1200" b="0" i="0">
                          <a:solidFill>
                            <a:srgbClr val="1A1440"/>
                          </a:solidFill>
                          <a:latin typeface="Calibri"/>
                        </a:rPr>
                        <a:t>Week 1's filter</a:t>
                      </a:r>
                    </a:p>
                  </a:txBody>
                  <a:tcPr marL="101600" marR="101600" marT="38100" marB="38100" anchor="ctr">
                    <a:solidFill>
                      <a:srgbClr val="F4F2FA"/>
                    </a:solidFill>
                  </a:tcPr>
                </a:tc>
              </a:tr>
              <a:tr h="335280">
                <a:tc>
                  <a:txBody>
                    <a:bodyPr/>
                    <a:lstStyle/>
                    <a:p>
                      <a:r>
                        <a:rPr sz="1200" b="0" i="0">
                          <a:solidFill>
                            <a:srgbClr val="1A1440"/>
                          </a:solidFill>
                          <a:latin typeface="Calibri"/>
                        </a:rPr>
                        <a:t>falling</a:t>
                      </a:r>
                    </a:p>
                  </a:txBody>
                  <a:tcPr marL="101600" marR="101600" marT="38100" marB="38100" anchor="ctr">
                    <a:solidFill>
                      <a:srgbClr val="FFFFFF"/>
                    </a:solidFill>
                  </a:tcPr>
                </a:tc>
                <a:tc>
                  <a:txBody>
                    <a:bodyPr/>
                    <a:lstStyle/>
                    <a:p>
                      <a:r>
                        <a:rPr sz="1200" b="0" i="0">
                          <a:solidFill>
                            <a:srgbClr val="1A1440"/>
                          </a:solidFill>
                          <a:latin typeface="Calibri"/>
                        </a:rPr>
                        <a:t>orders by month</a:t>
                      </a:r>
                    </a:p>
                  </a:txBody>
                  <a:tcPr marL="101600" marR="101600" marT="38100" marB="38100" anchor="ctr">
                    <a:solidFill>
                      <a:srgbClr val="FFFFFF"/>
                    </a:solidFill>
                  </a:tcPr>
                </a:tc>
                <a:tc>
                  <a:txBody>
                    <a:bodyPr/>
                    <a:lstStyle/>
                    <a:p>
                      <a:r>
                        <a:rPr sz="1200" b="0" i="0">
                          <a:solidFill>
                            <a:srgbClr val="1A1440"/>
                          </a:solidFill>
                          <a:latin typeface="Calibri"/>
                        </a:rPr>
                        <a:t>groupby and shift</a:t>
                      </a:r>
                    </a:p>
                  </a:txBody>
                  <a:tcPr marL="101600" marR="101600" marT="38100" marB="38100" anchor="ctr">
                    <a:solidFill>
                      <a:srgbClr val="FFFFFF"/>
                    </a:solidFill>
                  </a:tcPr>
                </a:tc>
                <a:tc>
                  <a:txBody>
                    <a:bodyPr/>
                    <a:lstStyle/>
                    <a:p>
                      <a:r>
                        <a:rPr sz="1200" b="0" i="0">
                          <a:solidFill>
                            <a:srgbClr val="1A1440"/>
                          </a:solidFill>
                          <a:latin typeface="Calibri"/>
                        </a:rPr>
                        <a:t>Wednesday's LAG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table, drawn before any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spine of 340 customers, three things attached, and three checks at the end.</a:t>
            </a:r>
          </a:p>
        </p:txBody>
      </p:sp>
      <p:pic>
        <p:nvPicPr>
          <p:cNvPr id="9" name="mermaid diagram" descr="739d5f4aff94c46b.png"/>
          <p:cNvPicPr>
            <a:picLocks noChangeAspect="1"/>
          </p:cNvPicPr>
          <p:nvPr/>
        </p:nvPicPr>
        <p:blipFill>
          <a:blip r:embed="rId5"/>
          <a:stretch>
            <a:fillRect/>
          </a:stretch>
        </p:blipFill>
        <p:spPr>
          <a:xfrm>
            <a:off x="588016" y="1956816"/>
            <a:ext cx="11015662" cy="2714625"/>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moves you have made, in three tools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groupby is the accumulator, merge is the join, shift is LAG.</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169858"/>
                <a:gridCol w="3220526"/>
                <a:gridCol w="2782747"/>
                <a:gridCol w="2957859"/>
              </a:tblGrid>
              <a:tr h="335280">
                <a:tc>
                  <a:txBody>
                    <a:bodyPr/>
                    <a:lstStyle/>
                    <a:p>
                      <a:r>
                        <a:rPr sz="1250" b="1" i="0">
                          <a:solidFill>
                            <a:srgbClr val="FFFFFF"/>
                          </a:solidFill>
                          <a:latin typeface="Calibri"/>
                        </a:rPr>
                        <a:t>The move</a:t>
                      </a:r>
                    </a:p>
                  </a:txBody>
                  <a:tcPr marL="101600" marR="101600" marT="38100" marB="38100" anchor="ctr">
                    <a:solidFill>
                      <a:srgbClr val="1A0F5C"/>
                    </a:solidFill>
                  </a:tcPr>
                </a:tc>
                <a:tc>
                  <a:txBody>
                    <a:bodyPr/>
                    <a:lstStyle/>
                    <a:p>
                      <a:r>
                        <a:rPr sz="1250" b="1" i="0">
                          <a:solidFill>
                            <a:srgbClr val="FFFFFF"/>
                          </a:solidFill>
                          <a:latin typeface="Calibri"/>
                        </a:rPr>
                        <a:t>Plain Python, Week 1</a:t>
                      </a:r>
                    </a:p>
                  </a:txBody>
                  <a:tcPr marL="101600" marR="101600" marT="38100" marB="38100" anchor="ctr">
                    <a:solidFill>
                      <a:srgbClr val="1A0F5C"/>
                    </a:solidFill>
                  </a:tcPr>
                </a:tc>
                <a:tc>
                  <a:txBody>
                    <a:bodyPr/>
                    <a:lstStyle/>
                    <a:p>
                      <a:r>
                        <a:rPr sz="1250" b="1" i="0">
                          <a:solidFill>
                            <a:srgbClr val="FFFFFF"/>
                          </a:solidFill>
                          <a:latin typeface="Calibri"/>
                        </a:rPr>
                        <a:t>SQL, this week</a:t>
                      </a:r>
                    </a:p>
                  </a:txBody>
                  <a:tcPr marL="101600" marR="101600" marT="38100" marB="38100" anchor="ctr">
                    <a:solidFill>
                      <a:srgbClr val="1A0F5C"/>
                    </a:solidFill>
                  </a:tcPr>
                </a:tc>
                <a:tc>
                  <a:txBody>
                    <a:bodyPr/>
                    <a:lstStyle/>
                    <a:p>
                      <a:r>
                        <a:rPr sz="1250" b="1" i="0">
                          <a:solidFill>
                            <a:srgbClr val="FFFFFF"/>
                          </a:solidFill>
                          <a:latin typeface="Calibri"/>
                        </a:rPr>
                        <a:t>pandas, today</a:t>
                      </a:r>
                    </a:p>
                  </a:txBody>
                  <a:tcPr marL="101600" marR="101600" marT="38100" marB="38100" anchor="ctr">
                    <a:solidFill>
                      <a:srgbClr val="1A0F5C"/>
                    </a:solidFill>
                  </a:tcPr>
                </a:tc>
              </a:tr>
              <a:tr h="335280">
                <a:tc>
                  <a:txBody>
                    <a:bodyPr/>
                    <a:lstStyle/>
                    <a:p>
                      <a:r>
                        <a:rPr sz="1200" b="0" i="0">
                          <a:solidFill>
                            <a:srgbClr val="1A1440"/>
                          </a:solidFill>
                          <a:latin typeface="Calibri"/>
                        </a:rPr>
                        <a:t>total per customer</a:t>
                      </a:r>
                    </a:p>
                  </a:txBody>
                  <a:tcPr marL="101600" marR="101600" marT="38100" marB="38100" anchor="ctr">
                    <a:solidFill>
                      <a:srgbClr val="FFFFFF"/>
                    </a:solidFill>
                  </a:tcPr>
                </a:tc>
                <a:tc>
                  <a:txBody>
                    <a:bodyPr/>
                    <a:lstStyle/>
                    <a:p>
                      <a:r>
                        <a:rPr sz="1200" b="0" i="0">
                          <a:solidFill>
                            <a:srgbClr val="1A1440"/>
                          </a:solidFill>
                          <a:latin typeface="Calibri"/>
                        </a:rPr>
                        <a:t>a dict, start, update, finish</a:t>
                      </a:r>
                    </a:p>
                  </a:txBody>
                  <a:tcPr marL="101600" marR="101600" marT="38100" marB="38100" anchor="ctr">
                    <a:solidFill>
                      <a:srgbClr val="FFFFFF"/>
                    </a:solidFill>
                  </a:tcPr>
                </a:tc>
                <a:tc>
                  <a:txBody>
                    <a:bodyPr/>
                    <a:lstStyle/>
                    <a:p>
                      <a:r>
                        <a:rPr sz="1200" b="0" i="0">
                          <a:solidFill>
                            <a:srgbClr val="1A1440"/>
                          </a:solidFill>
                          <a:latin typeface="Calibri"/>
                        </a:rPr>
                        <a:t>GROUP BY customer_id</a:t>
                      </a:r>
                    </a:p>
                  </a:txBody>
                  <a:tcPr marL="101600" marR="101600" marT="38100" marB="38100" anchor="ctr">
                    <a:solidFill>
                      <a:srgbClr val="FFFFFF"/>
                    </a:solidFill>
                  </a:tcPr>
                </a:tc>
                <a:tc>
                  <a:txBody>
                    <a:bodyPr/>
                    <a:lstStyle/>
                    <a:p>
                      <a:r>
                        <a:rPr sz="1200" b="0" i="0">
                          <a:solidFill>
                            <a:srgbClr val="1A1440"/>
                          </a:solidFill>
                          <a:latin typeface="Calibri"/>
                        </a:rPr>
                        <a:t>groupby("customer_id").agg(...)</a:t>
                      </a:r>
                    </a:p>
                  </a:txBody>
                  <a:tcPr marL="101600" marR="101600" marT="38100" marB="38100" anchor="ctr">
                    <a:solidFill>
                      <a:srgbClr val="FFFFFF"/>
                    </a:solidFill>
                  </a:tcPr>
                </a:tc>
              </a:tr>
              <a:tr h="335280">
                <a:tc>
                  <a:txBody>
                    <a:bodyPr/>
                    <a:lstStyle/>
                    <a:p>
                      <a:r>
                        <a:rPr sz="1200" b="0" i="0">
                          <a:solidFill>
                            <a:srgbClr val="1A1440"/>
                          </a:solidFill>
                          <a:latin typeface="Calibri"/>
                        </a:rPr>
                        <a:t>attach a second source</a:t>
                      </a:r>
                    </a:p>
                  </a:txBody>
                  <a:tcPr marL="101600" marR="101600" marT="38100" marB="38100" anchor="ctr">
                    <a:solidFill>
                      <a:srgbClr val="F4F2FA"/>
                    </a:solidFill>
                  </a:tcPr>
                </a:tc>
                <a:tc>
                  <a:txBody>
                    <a:bodyPr/>
                    <a:lstStyle/>
                    <a:p>
                      <a:r>
                        <a:rPr sz="1200" b="0" i="0">
                          <a:solidFill>
                            <a:srgbClr val="1A1440"/>
                          </a:solidFill>
                          <a:latin typeface="Calibri"/>
                        </a:rPr>
                        <a:t>a lookup inside the loop</a:t>
                      </a:r>
                    </a:p>
                  </a:txBody>
                  <a:tcPr marL="101600" marR="101600" marT="38100" marB="38100" anchor="ctr">
                    <a:solidFill>
                      <a:srgbClr val="F4F2FA"/>
                    </a:solidFill>
                  </a:tcPr>
                </a:tc>
                <a:tc>
                  <a:txBody>
                    <a:bodyPr/>
                    <a:lstStyle/>
                    <a:p>
                      <a:r>
                        <a:rPr sz="1200" b="0" i="0">
                          <a:solidFill>
                            <a:srgbClr val="1A1440"/>
                          </a:solidFill>
                          <a:latin typeface="Calibri"/>
                        </a:rPr>
                        <a:t>LEFT JOIN ... ON</a:t>
                      </a:r>
                    </a:p>
                  </a:txBody>
                  <a:tcPr marL="101600" marR="101600" marT="38100" marB="38100" anchor="ctr">
                    <a:solidFill>
                      <a:srgbClr val="F4F2FA"/>
                    </a:solidFill>
                  </a:tcPr>
                </a:tc>
                <a:tc>
                  <a:txBody>
                    <a:bodyPr/>
                    <a:lstStyle/>
                    <a:p>
                      <a:r>
                        <a:rPr sz="1200" b="0" i="0">
                          <a:solidFill>
                            <a:srgbClr val="1A1440"/>
                          </a:solidFill>
                          <a:latin typeface="Calibri"/>
                        </a:rPr>
                        <a:t>merge(how="left", validate=...)</a:t>
                      </a:r>
                    </a:p>
                  </a:txBody>
                  <a:tcPr marL="101600" marR="101600" marT="38100" marB="38100" anchor="ctr">
                    <a:solidFill>
                      <a:srgbClr val="F4F2FA"/>
                    </a:solidFill>
                  </a:tcPr>
                </a:tc>
              </a:tr>
              <a:tr h="335280">
                <a:tc>
                  <a:txBody>
                    <a:bodyPr/>
                    <a:lstStyle/>
                    <a:p>
                      <a:r>
                        <a:rPr sz="1200" b="0" i="0">
                          <a:solidFill>
                            <a:srgbClr val="1A1440"/>
                          </a:solidFill>
                          <a:latin typeface="Calibri"/>
                        </a:rPr>
                        <a:t>the previous month</a:t>
                      </a:r>
                    </a:p>
                  </a:txBody>
                  <a:tcPr marL="101600" marR="101600" marT="38100" marB="38100" anchor="ctr">
                    <a:solidFill>
                      <a:srgbClr val="FFFFFF"/>
                    </a:solidFill>
                  </a:tcPr>
                </a:tc>
                <a:tc>
                  <a:txBody>
                    <a:bodyPr/>
                    <a:lstStyle/>
                    <a:p>
                      <a:r>
                        <a:rPr sz="1200" b="0" i="0">
                          <a:solidFill>
                            <a:srgbClr val="1A1440"/>
                          </a:solidFill>
                          <a:latin typeface="Calibri"/>
                        </a:rPr>
                        <a:t>a variable carried across the loop</a:t>
                      </a:r>
                    </a:p>
                  </a:txBody>
                  <a:tcPr marL="101600" marR="101600" marT="38100" marB="38100" anchor="ctr">
                    <a:solidFill>
                      <a:srgbClr val="FFFFFF"/>
                    </a:solidFill>
                  </a:tcPr>
                </a:tc>
                <a:tc>
                  <a:txBody>
                    <a:bodyPr/>
                    <a:lstStyle/>
                    <a:p>
                      <a:r>
                        <a:rPr sz="1200" b="0" i="0">
                          <a:solidFill>
                            <a:srgbClr val="1A1440"/>
                          </a:solidFill>
                          <a:latin typeface="Calibri"/>
                        </a:rPr>
                        <a:t>LAG() OVER (PARTITION BY ...)</a:t>
                      </a:r>
                    </a:p>
                  </a:txBody>
                  <a:tcPr marL="101600" marR="101600" marT="38100" marB="38100" anchor="ctr">
                    <a:solidFill>
                      <a:srgbClr val="FFFFFF"/>
                    </a:solidFill>
                  </a:tcPr>
                </a:tc>
                <a:tc>
                  <a:txBody>
                    <a:bodyPr/>
                    <a:lstStyle/>
                    <a:p>
                      <a:r>
                        <a:rPr sz="1200" b="0" i="0">
                          <a:solidFill>
                            <a:srgbClr val="1A1440"/>
                          </a:solidFill>
                          <a:latin typeface="Calibri"/>
                        </a:rPr>
                        <a:t>groupby(...).shift(1)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pandas move today lands on something you did by hand, and saying which one is half the explanation in an interview.</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three checks the table must pass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Kavya's review before the table leaves the team, written down before it is built.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customer on the list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two-quarter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28 Sep</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AS-OF DATE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data's last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"Row count against the customer list, spend against Monday's revenue, and the date every recency was measured from. If any of the three moves, the table is wrong until you can say why."</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One row per customer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groupby turns 1,000 order rows into one row per customer, and recency needs a date to stand on.</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every customer, one row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the orders by customer, apply three calculations, combine into one row.</a:t>
            </a:r>
          </a:p>
        </p:txBody>
      </p:sp>
      <p:pic>
        <p:nvPicPr>
          <p:cNvPr id="9" name="mermaid diagram" descr="e4679f672a3fb6e2.png"/>
          <p:cNvPicPr>
            <a:picLocks noChangeAspect="1"/>
          </p:cNvPicPr>
          <p:nvPr/>
        </p:nvPicPr>
        <p:blipFill>
          <a:blip r:embed="rId6"/>
          <a:stretch>
            <a:fillRect/>
          </a:stretch>
        </p:blipFill>
        <p:spPr>
          <a:xfrm>
            <a:off x="530352" y="1956816"/>
            <a:ext cx="11130991" cy="615027"/>
          </a:xfrm>
          <a:prstGeom prst="rect">
            <a:avLst/>
          </a:prstGeom>
        </p:spPr>
      </p:pic>
      <p:sp>
        <p:nvSpPr>
          <p:cNvPr id="10" name="Rounded Rectangle 9"/>
          <p:cNvSpPr/>
          <p:nvPr/>
        </p:nvSpPr>
        <p:spPr>
          <a:xfrm>
            <a:off x="530352" y="2718147"/>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9208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3030567"/>
            <a:ext cx="237744" cy="237744"/>
          </a:xfrm>
          <a:prstGeom prst="rect">
            <a:avLst/>
          </a:prstGeom>
        </p:spPr>
      </p:pic>
      <p:sp>
        <p:nvSpPr>
          <p:cNvPr id="13" name="TextBox 12"/>
          <p:cNvSpPr txBox="1"/>
          <p:nvPr/>
        </p:nvSpPr>
        <p:spPr>
          <a:xfrm>
            <a:off x="1399031" y="2864451"/>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083907"/>
            <a:ext cx="9987991" cy="423672"/>
          </a:xfrm>
          <a:prstGeom prst="rect">
            <a:avLst/>
          </a:prstGeom>
          <a:noFill/>
        </p:spPr>
        <p:txBody>
          <a:bodyPr wrap="square" anchor="t" lIns="0" rIns="0" tIns="0" bIns="0">
            <a:spAutoFit/>
          </a:bodyPr>
          <a:lstStyle/>
          <a:p>
            <a:r>
              <a:rPr sz="1500" b="0" i="0">
                <a:solidFill>
                  <a:srgbClr val="FFFFFF"/>
                </a:solidFill>
                <a:latin typeface="Calibri"/>
              </a:rPr>
              <a:t>"How recently, how often and how much, for every customer, in one table."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 arrives as a DataFrame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read_sql runs the query in Postgres and hands back a frame whose count must match Monday.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ENG = kit.engine()</a:t>
            </a:r>
          </a:p>
          <a:p>
            <a:pPr>
              <a:spcAft>
                <a:spcPts val="200"/>
              </a:spcAft>
            </a:pPr>
            <a:r>
              <a:rPr sz="1400" b="0" i="0">
                <a:solidFill>
                  <a:srgbClr val="E4E1F1"/>
                </a:solidFill>
                <a:latin typeface="Consolas"/>
              </a:rPr>
              <a:t>orders = pd.read_sql("SELECT order_id, customer_id, order_date, quarter, "</a:t>
            </a:r>
          </a:p>
          <a:p>
            <a:pPr>
              <a:spcAft>
                <a:spcPts val="200"/>
              </a:spcAft>
            </a:pPr>
            <a:r>
              <a:rPr sz="1400" b="0" i="0">
                <a:solidFill>
                  <a:srgbClr val="E4E1F1"/>
                </a:solidFill>
                <a:latin typeface="Consolas"/>
              </a:rPr>
              <a:t>                     "channel, amount, status FROM orders", ENG,</a:t>
            </a:r>
          </a:p>
          <a:p>
            <a:pPr>
              <a:spcAft>
                <a:spcPts val="200"/>
              </a:spcAft>
            </a:pPr>
            <a:r>
              <a:rPr sz="1400" b="0" i="0">
                <a:solidFill>
                  <a:srgbClr val="E4E1F1"/>
                </a:solidFill>
                <a:latin typeface="Consolas"/>
              </a:rPr>
              <a:t>                     parse_dates=["order_date"])</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count(*), matched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float64</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numeric(12,2) read as a number</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str</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CUSTOMER_ID</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pandas 3's text dtype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orders.groupby("customer_id")["amount"].sum() on the 1,000 orders.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per_customer = orders.groupby("customer_id")["amount"].sum()</a:t>
            </a:r>
          </a:p>
          <a:p>
            <a:pPr>
              <a:spcAft>
                <a:spcPts val="200"/>
              </a:spcAft>
            </a:pPr>
            <a:r>
              <a:rPr sz="1400" b="0" i="0">
                <a:solidFill>
                  <a:srgbClr val="E4E1F1"/>
                </a:solidFill>
                <a:latin typeface="Consolas"/>
              </a:rPr>
              <a:t>len(per_customer)</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len(per_customer) print? a) 1,000, one per order; b) 340, one per customer in the warehouse; c) 301; d) 4, one per segment.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301, because 39 customers never ordered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groupby only makes a group for a key it sees, so the customer list has to be the spine.</a:t>
            </a:r>
          </a:p>
        </p:txBody>
      </p:sp>
      <p:pic>
        <p:nvPicPr>
          <p:cNvPr id="9" name="mermaid diagram" descr="d31608075fd66765.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340 customers on the list, 301 who ordered, and 39 that groupby never saw. The loop in Week 1 had the same blind spot.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aggregations say the SQL in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measures per customer in one call, each named as it would be in a SELECT.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rfm = (orders.groupby("customer_id")</a:t>
            </a:r>
          </a:p>
          <a:p>
            <a:pPr>
              <a:spcAft>
                <a:spcPts val="200"/>
              </a:spcAft>
            </a:pPr>
            <a:r>
              <a:rPr sz="1400" b="0" i="0">
                <a:solidFill>
                  <a:srgbClr val="E4E1F1"/>
                </a:solidFill>
                <a:latin typeface="Consolas"/>
              </a:rPr>
              <a:t>             .agg(last_order=("order_date", "max"),</a:t>
            </a:r>
          </a:p>
          <a:p>
            <a:pPr>
              <a:spcAft>
                <a:spcPts val="200"/>
              </a:spcAft>
            </a:pPr>
            <a:r>
              <a:rPr sz="1400" b="0" i="0">
                <a:solidFill>
                  <a:srgbClr val="E4E1F1"/>
                </a:solidFill>
                <a:latin typeface="Consolas"/>
              </a:rPr>
              <a:t>                  frequency=("order_id", "count"),</a:t>
            </a:r>
          </a:p>
          <a:p>
            <a:pPr>
              <a:spcAft>
                <a:spcPts val="200"/>
              </a:spcAft>
            </a:pPr>
            <a:r>
              <a:rPr sz="1400" b="0" i="0">
                <a:solidFill>
                  <a:srgbClr val="E4E1F1"/>
                </a:solidFill>
                <a:latin typeface="Consolas"/>
              </a:rPr>
              <a:t>                  monetary=("amount", "sum"))</a:t>
            </a:r>
          </a:p>
          <a:p>
            <a:pPr>
              <a:spcAft>
                <a:spcPts val="200"/>
              </a:spcAft>
            </a:pPr>
            <a:r>
              <a:rPr sz="1400" b="0" i="0">
                <a:solidFill>
                  <a:srgbClr val="E4E1F1"/>
                </a:solidFill>
                <a:latin typeface="Consolas"/>
              </a:rPr>
              <a:t>             .reset_index())</a:t>
            </a:r>
          </a:p>
          <a:p>
            <a:pPr>
              <a:spcAft>
                <a:spcPts val="200"/>
              </a:spcAft>
            </a:pPr>
            <a:r>
              <a:rPr sz="1400" b="0" i="0">
                <a:solidFill>
                  <a:srgbClr val="E4E1F1"/>
                </a:solidFill>
                <a:latin typeface="Consolas"/>
              </a:rPr>
              <a:t>table = customers.merge(rfm, on="customer_id", how="left",</a:t>
            </a:r>
          </a:p>
          <a:p>
            <a:pPr>
              <a:spcAft>
                <a:spcPts val="200"/>
              </a:spcAft>
            </a:pPr>
            <a:r>
              <a:rPr sz="1400" b="0" i="0">
                <a:solidFill>
                  <a:srgbClr val="E4E1F1"/>
                </a:solidFill>
                <a:latin typeface="Consolas"/>
              </a:rPr>
              <a:t>                        validate="one_to_one")</a:t>
            </a:r>
          </a:p>
        </p:txBody>
      </p:sp>
      <p:graphicFrame>
        <p:nvGraphicFramePr>
          <p:cNvPr id="14" name="Table 13"/>
          <p:cNvGraphicFramePr>
            <a:graphicFrameLocks noGrp="1"/>
          </p:cNvGraphicFramePr>
          <p:nvPr/>
        </p:nvGraphicFramePr>
        <p:xfrm>
          <a:off x="530352" y="4345939"/>
          <a:ext cx="11130990" cy="1479296"/>
        </p:xfrm>
        <a:graphic>
          <a:graphicData uri="http://schemas.openxmlformats.org/drawingml/2006/table">
            <a:tbl>
              <a:tblPr firstRow="0" bandRow="0">
                <a:tableStyleId>{2D5ABB26-0587-4C30-8999-92F81FD0307C}</a:tableStyleId>
              </a:tblPr>
              <a:tblGrid>
                <a:gridCol w="5311634"/>
                <a:gridCol w="5819356"/>
              </a:tblGrid>
              <a:tr h="369824">
                <a:tc>
                  <a:txBody>
                    <a:bodyPr/>
                    <a:lstStyle/>
                    <a:p>
                      <a:r>
                        <a:rPr sz="1450" b="1" i="0">
                          <a:solidFill>
                            <a:srgbClr val="FFFFFF"/>
                          </a:solidFill>
                          <a:latin typeface="Calibri"/>
                        </a:rPr>
                        <a:t>SQL</a:t>
                      </a:r>
                    </a:p>
                  </a:txBody>
                  <a:tcPr marL="101600" marR="101600" marT="38100" marB="38100" anchor="ctr">
                    <a:solidFill>
                      <a:srgbClr val="1A0F5C"/>
                    </a:solidFill>
                  </a:tcPr>
                </a:tc>
                <a:tc>
                  <a:txBody>
                    <a:bodyPr/>
                    <a:lstStyle/>
                    <a:p>
                      <a:r>
                        <a:rPr sz="1450" b="1" i="0">
                          <a:solidFill>
                            <a:srgbClr val="FFFFFF"/>
                          </a:solidFill>
                          <a:latin typeface="Calibri"/>
                        </a:rPr>
                        <a:t>pandas</a:t>
                      </a:r>
                    </a:p>
                  </a:txBody>
                  <a:tcPr marL="101600" marR="101600" marT="38100" marB="38100" anchor="ctr">
                    <a:solidFill>
                      <a:srgbClr val="1A0F5C"/>
                    </a:solidFill>
                  </a:tcPr>
                </a:tc>
              </a:tr>
              <a:tr h="369824">
                <a:tc>
                  <a:txBody>
                    <a:bodyPr/>
                    <a:lstStyle/>
                    <a:p>
                      <a:r>
                        <a:rPr sz="1400" b="0" i="0">
                          <a:solidFill>
                            <a:srgbClr val="1A1440"/>
                          </a:solidFill>
                          <a:latin typeface="Calibri"/>
                        </a:rPr>
                        <a:t>max(order_date) AS last_order</a:t>
                      </a:r>
                    </a:p>
                  </a:txBody>
                  <a:tcPr marL="101600" marR="101600" marT="38100" marB="38100" anchor="ctr">
                    <a:solidFill>
                      <a:srgbClr val="FFFFFF"/>
                    </a:solidFill>
                  </a:tcPr>
                </a:tc>
                <a:tc>
                  <a:txBody>
                    <a:bodyPr/>
                    <a:lstStyle/>
                    <a:p>
                      <a:r>
                        <a:rPr sz="1400" b="0" i="0">
                          <a:solidFill>
                            <a:srgbClr val="1A1440"/>
                          </a:solidFill>
                          <a:latin typeface="Calibri"/>
                        </a:rPr>
                        <a:t>last_order=("order_date", "max")</a:t>
                      </a:r>
                    </a:p>
                  </a:txBody>
                  <a:tcPr marL="101600" marR="101600" marT="38100" marB="38100" anchor="ctr">
                    <a:solidFill>
                      <a:srgbClr val="FFFFFF"/>
                    </a:solidFill>
                  </a:tcPr>
                </a:tc>
              </a:tr>
              <a:tr h="369824">
                <a:tc>
                  <a:txBody>
                    <a:bodyPr/>
                    <a:lstStyle/>
                    <a:p>
                      <a:r>
                        <a:rPr sz="1400" b="0" i="0">
                          <a:solidFill>
                            <a:srgbClr val="1A1440"/>
                          </a:solidFill>
                          <a:latin typeface="Calibri"/>
                        </a:rPr>
                        <a:t>count(*) AS frequency</a:t>
                      </a:r>
                    </a:p>
                  </a:txBody>
                  <a:tcPr marL="101600" marR="101600" marT="38100" marB="38100" anchor="ctr">
                    <a:solidFill>
                      <a:srgbClr val="F4F2FA"/>
                    </a:solidFill>
                  </a:tcPr>
                </a:tc>
                <a:tc>
                  <a:txBody>
                    <a:bodyPr/>
                    <a:lstStyle/>
                    <a:p>
                      <a:r>
                        <a:rPr sz="1400" b="0" i="0">
                          <a:solidFill>
                            <a:srgbClr val="1A1440"/>
                          </a:solidFill>
                          <a:latin typeface="Calibri"/>
                        </a:rPr>
                        <a:t>frequency=("order_id", "count")</a:t>
                      </a:r>
                    </a:p>
                  </a:txBody>
                  <a:tcPr marL="101600" marR="101600" marT="38100" marB="38100" anchor="ctr">
                    <a:solidFill>
                      <a:srgbClr val="F4F2FA"/>
                    </a:solidFill>
                  </a:tcPr>
                </a:tc>
              </a:tr>
              <a:tr h="369824">
                <a:tc>
                  <a:txBody>
                    <a:bodyPr/>
                    <a:lstStyle/>
                    <a:p>
                      <a:r>
                        <a:rPr sz="1400" b="0" i="0">
                          <a:solidFill>
                            <a:srgbClr val="1A1440"/>
                          </a:solidFill>
                          <a:latin typeface="Calibri"/>
                        </a:rPr>
                        <a:t>customers LEFT JOIN</a:t>
                      </a:r>
                    </a:p>
                  </a:txBody>
                  <a:tcPr marL="101600" marR="101600" marT="38100" marB="38100" anchor="ctr">
                    <a:solidFill>
                      <a:srgbClr val="FFFFFF"/>
                    </a:solidFill>
                  </a:tcPr>
                </a:tc>
                <a:tc>
                  <a:txBody>
                    <a:bodyPr/>
                    <a:lstStyle/>
                    <a:p>
                      <a:r>
                        <a:rPr sz="1400" b="0" i="0">
                          <a:solidFill>
                            <a:srgbClr val="1A1440"/>
                          </a:solidFill>
                          <a:latin typeface="Calibri"/>
                        </a:rPr>
                        <a:t>customers.merge(..., how="left")</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merge changed a dtype without a word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with no orders get NaN, and a column holding NaN cannot stay int64.</a:t>
            </a:r>
          </a:p>
        </p:txBody>
      </p:sp>
      <p:pic>
        <p:nvPicPr>
          <p:cNvPr id="9" name="mermaid diagram" descr="138ba54aaddc076b.png"/>
          <p:cNvPicPr>
            <a:picLocks noChangeAspect="1"/>
          </p:cNvPicPr>
          <p:nvPr/>
        </p:nvPicPr>
        <p:blipFill>
          <a:blip r:embed="rId6"/>
          <a:stretch>
            <a:fillRect/>
          </a:stretch>
        </p:blipFill>
        <p:spPr>
          <a:xfrm>
            <a:off x="530352" y="1956816"/>
            <a:ext cx="11130991" cy="1077632"/>
          </a:xfrm>
          <a:prstGeom prst="rect">
            <a:avLst/>
          </a:prstGeom>
        </p:spPr>
      </p:pic>
      <p:sp>
        <p:nvSpPr>
          <p:cNvPr id="10" name="Rounded Rectangle 9"/>
          <p:cNvSpPr/>
          <p:nvPr/>
        </p:nvSpPr>
        <p:spPr>
          <a:xfrm>
            <a:off x="530352" y="318075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3834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93172"/>
            <a:ext cx="237744" cy="237744"/>
          </a:xfrm>
          <a:prstGeom prst="rect">
            <a:avLst/>
          </a:prstGeom>
        </p:spPr>
      </p:pic>
      <p:sp>
        <p:nvSpPr>
          <p:cNvPr id="13" name="TextBox 12"/>
          <p:cNvSpPr txBox="1"/>
          <p:nvPr/>
        </p:nvSpPr>
        <p:spPr>
          <a:xfrm>
            <a:off x="1399031" y="33270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46512"/>
            <a:ext cx="9987991" cy="423672"/>
          </a:xfrm>
          <a:prstGeom prst="rect">
            <a:avLst/>
          </a:prstGeom>
          <a:noFill/>
        </p:spPr>
        <p:txBody>
          <a:bodyPr wrap="square" anchor="t" lIns="0" rIns="0" tIns="0" bIns="0">
            <a:spAutoFit/>
          </a:bodyPr>
          <a:lstStyle/>
          <a:p>
            <a:r>
              <a:rPr sz="1500" b="0" i="0">
                <a:solidFill>
                  <a:srgbClr val="1A1440"/>
                </a:solidFill>
                <a:latin typeface="Calibri"/>
              </a:rPr>
              <a:t>After every merge, read dtypes; a count that became a float is a merge that met missing keys.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166 to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Recency from today: on the first Monday refresh, the win-back list reads 166 customers.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RUN_DAY = pd.Timestamp("2026-10-19")   # pd.Timestamp.today() on the first refresh</a:t>
            </a:r>
          </a:p>
          <a:p>
            <a:pPr>
              <a:spcAft>
                <a:spcPts val="200"/>
              </a:spcAft>
            </a:pPr>
            <a:r>
              <a:rPr sz="1400" b="0" i="0">
                <a:solidFill>
                  <a:srgbClr val="E4E1F1"/>
                </a:solidFill>
                <a:latin typeface="Consolas"/>
              </a:rPr>
              <a:t>wrong = (RUN_DAY - table["last_order"]).dt.days</a:t>
            </a:r>
          </a:p>
          <a:p>
            <a:pPr>
              <a:spcAft>
                <a:spcPts val="200"/>
              </a:spcAft>
            </a:pPr>
            <a:r>
              <a:rPr sz="1400" b="0" i="0">
                <a:solidFill>
                  <a:srgbClr val="E4E1F1"/>
                </a:solidFill>
                <a:latin typeface="Consolas"/>
              </a:rPr>
              <a:t>(wrong &gt; 60).sum()                     # 166</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no order in 60 days, from the run day</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 DAYS</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most recent buyer, as the table says</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6" name="Oval 2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8" name="Oval 2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data stopped on 28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Measured from the run day, every customer looks 21 days staler than the data says.</a:t>
            </a:r>
          </a:p>
        </p:txBody>
      </p:sp>
      <p:pic>
        <p:nvPicPr>
          <p:cNvPr id="9" name="mermaid diagram" descr="4147beea77dcab71.png"/>
          <p:cNvPicPr>
            <a:picLocks noChangeAspect="1"/>
          </p:cNvPicPr>
          <p:nvPr/>
        </p:nvPicPr>
        <p:blipFill>
          <a:blip r:embed="rId5"/>
          <a:stretch>
            <a:fillRect/>
          </a:stretch>
        </p:blipFill>
        <p:spPr>
          <a:xfrm>
            <a:off x="588016" y="1956816"/>
            <a:ext cx="11015662"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Somebody bought on the data's last day, so the smallest honest recency is 0. This table's smallest is 21.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111, measured from the data's last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AS_OF is the data's own last order, and the table carries it so Marketing can read it.</a:t>
            </a:r>
          </a:p>
        </p:txBody>
      </p:sp>
      <p:pic>
        <p:nvPicPr>
          <p:cNvPr id="9" name="mermaid diagram" descr="b57e5e85c50f577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AS_OF = orders["order_date"].max() is 28 September 2026, and the table carries it as a column so Marketing reads what "as of" means.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90-day list,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for a second, stricter list; run it both ways before you answer.</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(wrong &gt; 90).sum(), (table["recency_days"] &gt; 90).sum()</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customers sit on the 90-day list measured from the data's last date, and how many from the run day? a) 101 and 74; b) 74 and 101; c) 74 and 74, since 90 days is long enough not to matter; d) 111 and 166.</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74 honestly, 101 from the run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stricter threshold shrinks the list and keeps the error: 27 customers still wrongly listed.</a:t>
            </a:r>
          </a:p>
        </p:txBody>
      </p:sp>
      <p:pic>
        <p:nvPicPr>
          <p:cNvPr id="9" name="mermaid diagram" descr="6c2103bc6ef43cdb.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shift is the same 21 days whatever the threshold, so the error never goes away; it only moves.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checks passed: 340 rows, Rs 19,84,00,000, and a smallest recency of 0.</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"The table carries its as-of date and the smallest recency is 0, which is the check I will run every Monday. Tell Marketing the list is 111 and why it is not 166, in one sentence, before they ask."</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[S] groupby in the split-apply-combine sentence.</a:t>
            </a:r>
          </a:p>
        </p:txBody>
      </p:sp>
      <p:sp>
        <p:nvSpPr>
          <p:cNvPr id="19" name="TextBox 18"/>
          <p:cNvSpPr txBox="1"/>
          <p:nvPr/>
        </p:nvSpPr>
        <p:spPr>
          <a:xfrm>
            <a:off x="53035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20" name="TextBox 19"/>
          <p:cNvSpPr txBox="1"/>
          <p:nvPr/>
        </p:nvSpPr>
        <p:spPr>
          <a:xfrm>
            <a:off x="53035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21" name="TextBox 20"/>
          <p:cNvSpPr txBox="1"/>
          <p:nvPr/>
        </p:nvSpPr>
        <p:spPr>
          <a:xfrm>
            <a:off x="53035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customer list, held</a:t>
            </a:r>
          </a:p>
        </p:txBody>
      </p:sp>
      <p:sp>
        <p:nvSpPr>
          <p:cNvPr id="22" name="Rectangle 21"/>
          <p:cNvSpPr/>
          <p:nvPr/>
        </p:nvSpPr>
        <p:spPr>
          <a:xfrm>
            <a:off x="53035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33212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24" name="TextBox 23"/>
          <p:cNvSpPr txBox="1"/>
          <p:nvPr/>
        </p:nvSpPr>
        <p:spPr>
          <a:xfrm>
            <a:off x="433212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5" name="TextBox 24"/>
          <p:cNvSpPr txBox="1"/>
          <p:nvPr/>
        </p:nvSpPr>
        <p:spPr>
          <a:xfrm>
            <a:off x="433212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book, held</a:t>
            </a:r>
          </a:p>
        </p:txBody>
      </p:sp>
      <p:sp>
        <p:nvSpPr>
          <p:cNvPr id="26" name="Rectangle 25"/>
          <p:cNvSpPr/>
          <p:nvPr/>
        </p:nvSpPr>
        <p:spPr>
          <a:xfrm>
            <a:off x="433212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3389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0 days</a:t>
            </a:r>
          </a:p>
        </p:txBody>
      </p:sp>
      <p:sp>
        <p:nvSpPr>
          <p:cNvPr id="28" name="TextBox 27"/>
          <p:cNvSpPr txBox="1"/>
          <p:nvPr/>
        </p:nvSpPr>
        <p:spPr>
          <a:xfrm>
            <a:off x="813389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29" name="TextBox 28"/>
          <p:cNvSpPr txBox="1"/>
          <p:nvPr/>
        </p:nvSpPr>
        <p:spPr>
          <a:xfrm>
            <a:off x="813389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28 September</a:t>
            </a:r>
          </a:p>
        </p:txBody>
      </p:sp>
      <p:sp>
        <p:nvSpPr>
          <p:cNvPr id="30" name="Rectangle 29"/>
          <p:cNvSpPr/>
          <p:nvPr/>
        </p:nvSpPr>
        <p:spPr>
          <a:xfrm>
            <a:off x="813389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35" name="Oval 3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7" name="Oval 3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48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transform: the pandas window function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 shrinks each group to one row; transform returns one value per original row.</a:t>
            </a:r>
          </a:p>
        </p:txBody>
      </p:sp>
      <p:sp>
        <p:nvSpPr>
          <p:cNvPr id="10" name="Rounded Rectangle 9"/>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share = table["monetary"] / table.groupby("segment")["monetary"].transform("sum")</a:t>
            </a:r>
          </a:p>
        </p:txBody>
      </p:sp>
      <p:graphicFrame>
        <p:nvGraphicFramePr>
          <p:cNvPr id="15" name="Table 14"/>
          <p:cNvGraphicFramePr>
            <a:graphicFrameLocks noGrp="1"/>
          </p:cNvGraphicFramePr>
          <p:nvPr/>
        </p:nvGraphicFramePr>
        <p:xfrm>
          <a:off x="530352" y="2831084"/>
          <a:ext cx="11130990" cy="1479296"/>
        </p:xfrm>
        <a:graphic>
          <a:graphicData uri="http://schemas.openxmlformats.org/drawingml/2006/table">
            <a:tbl>
              <a:tblPr firstRow="0" bandRow="0">
                <a:tableStyleId>{2D5ABB26-0587-4C30-8999-92F81FD0307C}</a:tableStyleId>
              </a:tblPr>
              <a:tblGrid>
                <a:gridCol w="3428498"/>
                <a:gridCol w="5361061"/>
                <a:gridCol w="2341431"/>
              </a:tblGrid>
              <a:tr h="369824">
                <a:tc>
                  <a:txBody>
                    <a:bodyPr/>
                    <a:lstStyle/>
                    <a:p>
                      <a:r>
                        <a:rPr sz="1450" b="1" i="0">
                          <a:solidFill>
                            <a:srgbClr val="FFFFFF"/>
                          </a:solidFill>
                          <a:latin typeface="Calibri"/>
                        </a:rPr>
                        <a:t>pandas</a:t>
                      </a:r>
                    </a:p>
                  </a:txBody>
                  <a:tcPr marL="101600" marR="101600" marT="38100" marB="38100" anchor="ctr">
                    <a:solidFill>
                      <a:srgbClr val="1A0F5C"/>
                    </a:solidFill>
                  </a:tcPr>
                </a:tc>
                <a:tc>
                  <a:txBody>
                    <a:bodyPr/>
                    <a:lstStyle/>
                    <a:p>
                      <a:r>
                        <a:rPr sz="1450" b="1" i="0">
                          <a:solidFill>
                            <a:srgbClr val="FFFFFF"/>
                          </a:solidFill>
                          <a:latin typeface="Calibri"/>
                        </a:rPr>
                        <a:t>SQL</a:t>
                      </a:r>
                    </a:p>
                  </a:txBody>
                  <a:tcPr marL="101600" marR="101600" marT="38100" marB="38100" anchor="ctr">
                    <a:solidFill>
                      <a:srgbClr val="1A0F5C"/>
                    </a:solidFill>
                  </a:tcPr>
                </a:tc>
                <a:tc>
                  <a:txBody>
                    <a:bodyPr/>
                    <a:lstStyle/>
                    <a:p>
                      <a:r>
                        <a:rPr sz="1450" b="1" i="0">
                          <a:solidFill>
                            <a:srgbClr val="FFFFFF"/>
                          </a:solidFill>
                          <a:latin typeface="Calibri"/>
                        </a:rPr>
                        <a:t>Rows out</a:t>
                      </a:r>
                    </a:p>
                  </a:txBody>
                  <a:tcPr marL="101600" marR="101600" marT="38100" marB="38100" anchor="ctr">
                    <a:solidFill>
                      <a:srgbClr val="1A0F5C"/>
                    </a:solidFill>
                  </a:tcPr>
                </a:tc>
              </a:tr>
              <a:tr h="369824">
                <a:tc>
                  <a:txBody>
                    <a:bodyPr/>
                    <a:lstStyle/>
                    <a:p>
                      <a:r>
                        <a:rPr sz="1400" b="0" i="0">
                          <a:solidFill>
                            <a:srgbClr val="1A1440"/>
                          </a:solidFill>
                          <a:latin typeface="Calibri"/>
                        </a:rPr>
                        <a:t>groupby().agg("sum")</a:t>
                      </a:r>
                    </a:p>
                  </a:txBody>
                  <a:tcPr marL="101600" marR="101600" marT="38100" marB="38100" anchor="ctr">
                    <a:solidFill>
                      <a:srgbClr val="FFFFFF"/>
                    </a:solidFill>
                  </a:tcPr>
                </a:tc>
                <a:tc>
                  <a:txBody>
                    <a:bodyPr/>
                    <a:lstStyle/>
                    <a:p>
                      <a:r>
                        <a:rPr sz="1400" b="0" i="0">
                          <a:solidFill>
                            <a:srgbClr val="1A1440"/>
                          </a:solidFill>
                          <a:latin typeface="Calibri"/>
                        </a:rPr>
                        <a:t>GROUP BY ... sum()</a:t>
                      </a:r>
                    </a:p>
                  </a:txBody>
                  <a:tcPr marL="101600" marR="101600" marT="38100" marB="38100" anchor="ctr">
                    <a:solidFill>
                      <a:srgbClr val="FFFFFF"/>
                    </a:solidFill>
                  </a:tcPr>
                </a:tc>
                <a:tc>
                  <a:txBody>
                    <a:bodyPr/>
                    <a:lstStyle/>
                    <a:p>
                      <a:r>
                        <a:rPr sz="1400" b="0" i="0">
                          <a:solidFill>
                            <a:srgbClr val="1A1440"/>
                          </a:solidFill>
                          <a:latin typeface="Calibri"/>
                        </a:rPr>
                        <a:t>one per group</a:t>
                      </a:r>
                    </a:p>
                  </a:txBody>
                  <a:tcPr marL="101600" marR="101600" marT="38100" marB="38100" anchor="ctr">
                    <a:solidFill>
                      <a:srgbClr val="FFFFFF"/>
                    </a:solidFill>
                  </a:tcPr>
                </a:tc>
              </a:tr>
              <a:tr h="369824">
                <a:tc>
                  <a:txBody>
                    <a:bodyPr/>
                    <a:lstStyle/>
                    <a:p>
                      <a:r>
                        <a:rPr sz="1400" b="0" i="0">
                          <a:solidFill>
                            <a:srgbClr val="1A1440"/>
                          </a:solidFill>
                          <a:latin typeface="Calibri"/>
                        </a:rPr>
                        <a:t>groupby().transform("sum")</a:t>
                      </a:r>
                    </a:p>
                  </a:txBody>
                  <a:tcPr marL="101600" marR="101600" marT="38100" marB="38100" anchor="ctr">
                    <a:solidFill>
                      <a:srgbClr val="F4F2FA"/>
                    </a:solidFill>
                  </a:tcPr>
                </a:tc>
                <a:tc>
                  <a:txBody>
                    <a:bodyPr/>
                    <a:lstStyle/>
                    <a:p>
                      <a:r>
                        <a:rPr sz="1400" b="0" i="0">
                          <a:solidFill>
                            <a:srgbClr val="1A1440"/>
                          </a:solidFill>
                          <a:latin typeface="Calibri"/>
                        </a:rPr>
                        <a:t>sum() OVER (PARTITION BY ...)</a:t>
                      </a:r>
                    </a:p>
                  </a:txBody>
                  <a:tcPr marL="101600" marR="101600" marT="38100" marB="38100" anchor="ctr">
                    <a:solidFill>
                      <a:srgbClr val="F4F2FA"/>
                    </a:solidFill>
                  </a:tcPr>
                </a:tc>
                <a:tc>
                  <a:txBody>
                    <a:bodyPr/>
                    <a:lstStyle/>
                    <a:p>
                      <a:r>
                        <a:rPr sz="1400" b="0" i="0">
                          <a:solidFill>
                            <a:srgbClr val="1A1440"/>
                          </a:solidFill>
                          <a:latin typeface="Calibri"/>
                        </a:rPr>
                        <a:t>one per input row</a:t>
                      </a:r>
                    </a:p>
                  </a:txBody>
                  <a:tcPr marL="101600" marR="101600" marT="38100" marB="38100" anchor="ctr">
                    <a:solidFill>
                      <a:srgbClr val="F4F2FA"/>
                    </a:solidFill>
                  </a:tcPr>
                </a:tc>
              </a:tr>
              <a:tr h="369824">
                <a:tc>
                  <a:txBody>
                    <a:bodyPr/>
                    <a:lstStyle/>
                    <a:p>
                      <a:r>
                        <a:rPr sz="1400" b="0" i="0">
                          <a:solidFill>
                            <a:srgbClr val="1A1440"/>
                          </a:solidFill>
                          <a:latin typeface="Calibri"/>
                        </a:rPr>
                        <a:t>groupby().shift(1)</a:t>
                      </a:r>
                    </a:p>
                  </a:txBody>
                  <a:tcPr marL="101600" marR="101600" marT="38100" marB="38100" anchor="ctr">
                    <a:solidFill>
                      <a:srgbClr val="FFFFFF"/>
                    </a:solidFill>
                  </a:tcPr>
                </a:tc>
                <a:tc>
                  <a:txBody>
                    <a:bodyPr/>
                    <a:lstStyle/>
                    <a:p>
                      <a:r>
                        <a:rPr sz="1400" b="0" i="0">
                          <a:solidFill>
                            <a:srgbClr val="1A1440"/>
                          </a:solidFill>
                          <a:latin typeface="Calibri"/>
                        </a:rPr>
                        <a:t>LAG() OVER (PARTITION BY ... ORDER BY ...)</a:t>
                      </a:r>
                    </a:p>
                  </a:txBody>
                  <a:tcPr marL="101600" marR="101600" marT="38100" marB="38100" anchor="ctr">
                    <a:solidFill>
                      <a:srgbClr val="FFFFFF"/>
                    </a:solidFill>
                  </a:tcPr>
                </a:tc>
                <a:tc>
                  <a:txBody>
                    <a:bodyPr/>
                    <a:lstStyle/>
                    <a:p>
                      <a:r>
                        <a:rPr sz="1400" b="0" i="0">
                          <a:solidFill>
                            <a:srgbClr val="1A1440"/>
                          </a:solidFill>
                          <a:latin typeface="Calibri"/>
                        </a:rPr>
                        <a:t>one per input row</a:t>
                      </a:r>
                    </a:p>
                  </a:txBody>
                  <a:tcPr marL="101600" marR="101600" marT="38100" marB="38100" anchor="ctr">
                    <a:solidFill>
                      <a:srgbClr val="FFFFFF"/>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8" name="Oval 1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0" name="Oval 1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2" name="Oval 2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exposure merge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merge is a join, validate= makes the fan-out loud, and groupby drops what has no key.</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48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who did the monsoon sale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marketing lead wants reach and conversion per segment before asking for November's budget.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"Put the monsoon sale on the customer table. I want to see, per segment, who it reached and how many of them bought."</a:t>
            </a:r>
          </a:p>
          <a:p>
            <a:pPr>
              <a:spcBef>
                <a:spcPts val="400"/>
              </a:spcBef>
            </a:pPr>
            <a:r>
              <a:rPr sz="1000" b="0" i="0">
                <a:solidFill>
                  <a:srgbClr val="6B6690"/>
                </a:solidFill>
                <a:latin typeface="Calibri"/>
              </a:rPr>
              <a:t>The marketing lead, Kalpa Retail</a:t>
            </a:r>
          </a:p>
        </p:txBody>
      </p:sp>
      <p:pic>
        <p:nvPicPr>
          <p:cNvPr id="11" name="mermaid diagram" descr="4e98f5d821e2798b.png"/>
          <p:cNvPicPr>
            <a:picLocks noChangeAspect="1"/>
          </p:cNvPicPr>
          <p:nvPr/>
        </p:nvPicPr>
        <p:blipFill>
          <a:blip r:embed="rId5"/>
          <a:stretch>
            <a:fillRect/>
          </a:stretch>
        </p:blipFill>
        <p:spPr>
          <a:xfrm>
            <a:off x="1716728" y="3129280"/>
            <a:ext cx="8758237" cy="1800225"/>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6" name="Oval 15"/>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8" name="Oval 1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merge is a join, with the same four shapes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joins in pandas, and the default is the one that drops the most.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758357"/>
                <a:gridCol w="3551668"/>
                <a:gridCol w="4820965"/>
              </a:tblGrid>
              <a:tr h="369824">
                <a:tc>
                  <a:txBody>
                    <a:bodyPr/>
                    <a:lstStyle/>
                    <a:p>
                      <a:r>
                        <a:rPr sz="1450" b="1" i="0">
                          <a:solidFill>
                            <a:srgbClr val="FFFFFF"/>
                          </a:solidFill>
                          <a:latin typeface="Calibri"/>
                        </a:rPr>
                        <a:t>SQL, Tuesday</a:t>
                      </a:r>
                    </a:p>
                  </a:txBody>
                  <a:tcPr marL="101600" marR="101600" marT="38100" marB="38100" anchor="ctr">
                    <a:solidFill>
                      <a:srgbClr val="1A0F5C"/>
                    </a:solidFill>
                  </a:tcPr>
                </a:tc>
                <a:tc>
                  <a:txBody>
                    <a:bodyPr/>
                    <a:lstStyle/>
                    <a:p>
                      <a:r>
                        <a:rPr sz="1450" b="1" i="0">
                          <a:solidFill>
                            <a:srgbClr val="FFFFFF"/>
                          </a:solidFill>
                          <a:latin typeface="Calibri"/>
                        </a:rPr>
                        <a:t>pandas, today</a:t>
                      </a:r>
                    </a:p>
                  </a:txBody>
                  <a:tcPr marL="101600" marR="101600" marT="38100" marB="38100" anchor="ctr">
                    <a:solidFill>
                      <a:srgbClr val="1A0F5C"/>
                    </a:solidFill>
                  </a:tcPr>
                </a:tc>
                <a:tc>
                  <a:txBody>
                    <a:bodyPr/>
                    <a:lstStyle/>
                    <a:p>
                      <a:r>
                        <a:rPr sz="1450" b="1" i="0">
                          <a:solidFill>
                            <a:srgbClr val="FFFFFF"/>
                          </a:solidFill>
                          <a:latin typeface="Calibri"/>
                        </a:rPr>
                        <a:t>Keeps</a:t>
                      </a:r>
                    </a:p>
                  </a:txBody>
                  <a:tcPr marL="101600" marR="101600" marT="38100" marB="38100" anchor="ctr">
                    <a:solidFill>
                      <a:srgbClr val="1A0F5C"/>
                    </a:solidFill>
                  </a:tcPr>
                </a:tc>
              </a:tr>
              <a:tr h="369824">
                <a:tc>
                  <a:txBody>
                    <a:bodyPr/>
                    <a:lstStyle/>
                    <a:p>
                      <a:r>
                        <a:rPr sz="1400" b="0" i="0">
                          <a:solidFill>
                            <a:srgbClr val="1A1440"/>
                          </a:solidFill>
                          <a:latin typeface="Calibri"/>
                        </a:rPr>
                        <a:t>INNER JOIN</a:t>
                      </a:r>
                    </a:p>
                  </a:txBody>
                  <a:tcPr marL="101600" marR="101600" marT="38100" marB="38100" anchor="ctr">
                    <a:solidFill>
                      <a:srgbClr val="FFFFFF"/>
                    </a:solidFill>
                  </a:tcPr>
                </a:tc>
                <a:tc>
                  <a:txBody>
                    <a:bodyPr/>
                    <a:lstStyle/>
                    <a:p>
                      <a:r>
                        <a:rPr sz="1400" b="0" i="0">
                          <a:solidFill>
                            <a:srgbClr val="1A1440"/>
                          </a:solidFill>
                          <a:latin typeface="Calibri"/>
                        </a:rPr>
                        <a:t>merge(), the default</a:t>
                      </a:r>
                    </a:p>
                  </a:txBody>
                  <a:tcPr marL="101600" marR="101600" marT="38100" marB="38100" anchor="ctr">
                    <a:solidFill>
                      <a:srgbClr val="FFFFFF"/>
                    </a:solidFill>
                  </a:tcPr>
                </a:tc>
                <a:tc>
                  <a:txBody>
                    <a:bodyPr/>
                    <a:lstStyle/>
                    <a:p>
                      <a:r>
                        <a:rPr sz="1400" b="0" i="0">
                          <a:solidFill>
                            <a:srgbClr val="1A1440"/>
                          </a:solidFill>
                          <a:latin typeface="Calibri"/>
                        </a:rPr>
                        <a:t>keys on both sides only</a:t>
                      </a:r>
                    </a:p>
                  </a:txBody>
                  <a:tcPr marL="101600" marR="101600" marT="38100" marB="38100" anchor="ctr">
                    <a:solidFill>
                      <a:srgbClr val="FFFFFF"/>
                    </a:solidFill>
                  </a:tcPr>
                </a:tc>
              </a:tr>
              <a:tr h="369824">
                <a:tc>
                  <a:txBody>
                    <a:bodyPr/>
                    <a:lstStyle/>
                    <a:p>
                      <a:r>
                        <a:rPr sz="1400" b="0" i="0">
                          <a:solidFill>
                            <a:srgbClr val="1A1440"/>
                          </a:solidFill>
                          <a:latin typeface="Calibri"/>
                        </a:rPr>
                        <a:t>LEFT JOIN</a:t>
                      </a:r>
                    </a:p>
                  </a:txBody>
                  <a:tcPr marL="101600" marR="101600" marT="38100" marB="38100" anchor="ctr">
                    <a:solidFill>
                      <a:srgbClr val="F4F2FA"/>
                    </a:solidFill>
                  </a:tcPr>
                </a:tc>
                <a:tc>
                  <a:txBody>
                    <a:bodyPr/>
                    <a:lstStyle/>
                    <a:p>
                      <a:r>
                        <a:rPr sz="1400" b="0" i="0">
                          <a:solidFill>
                            <a:srgbClr val="1A1440"/>
                          </a:solidFill>
                          <a:latin typeface="Calibri"/>
                        </a:rPr>
                        <a:t>merge(how="left")</a:t>
                      </a:r>
                    </a:p>
                  </a:txBody>
                  <a:tcPr marL="101600" marR="101600" marT="38100" marB="38100" anchor="ctr">
                    <a:solidFill>
                      <a:srgbClr val="F4F2FA"/>
                    </a:solidFill>
                  </a:tcPr>
                </a:tc>
                <a:tc>
                  <a:txBody>
                    <a:bodyPr/>
                    <a:lstStyle/>
                    <a:p>
                      <a:r>
                        <a:rPr sz="1400" b="0" i="0">
                          <a:solidFill>
                            <a:srgbClr val="1A1440"/>
                          </a:solidFill>
                          <a:latin typeface="Calibri"/>
                        </a:rPr>
                        <a:t>every row of the left table</a:t>
                      </a:r>
                    </a:p>
                  </a:txBody>
                  <a:tcPr marL="101600" marR="101600" marT="38100" marB="38100" anchor="ctr">
                    <a:solidFill>
                      <a:srgbClr val="F4F2FA"/>
                    </a:solidFill>
                  </a:tcPr>
                </a:tc>
              </a:tr>
              <a:tr h="369824">
                <a:tc>
                  <a:txBody>
                    <a:bodyPr/>
                    <a:lstStyle/>
                    <a:p>
                      <a:r>
                        <a:rPr sz="1400" b="0" i="0">
                          <a:solidFill>
                            <a:srgbClr val="1A1440"/>
                          </a:solidFill>
                          <a:latin typeface="Calibri"/>
                        </a:rPr>
                        <a:t>RIGHT JOIN</a:t>
                      </a:r>
                    </a:p>
                  </a:txBody>
                  <a:tcPr marL="101600" marR="101600" marT="38100" marB="38100" anchor="ctr">
                    <a:solidFill>
                      <a:srgbClr val="FFFFFF"/>
                    </a:solidFill>
                  </a:tcPr>
                </a:tc>
                <a:tc>
                  <a:txBody>
                    <a:bodyPr/>
                    <a:lstStyle/>
                    <a:p>
                      <a:r>
                        <a:rPr sz="1400" b="0" i="0">
                          <a:solidFill>
                            <a:srgbClr val="1A1440"/>
                          </a:solidFill>
                          <a:latin typeface="Calibri"/>
                        </a:rPr>
                        <a:t>merge(how="right")</a:t>
                      </a:r>
                    </a:p>
                  </a:txBody>
                  <a:tcPr marL="101600" marR="101600" marT="38100" marB="38100" anchor="ctr">
                    <a:solidFill>
                      <a:srgbClr val="FFFFFF"/>
                    </a:solidFill>
                  </a:tcPr>
                </a:tc>
                <a:tc>
                  <a:txBody>
                    <a:bodyPr/>
                    <a:lstStyle/>
                    <a:p>
                      <a:r>
                        <a:rPr sz="1400" b="0" i="0">
                          <a:solidFill>
                            <a:srgbClr val="1A1440"/>
                          </a:solidFill>
                          <a:latin typeface="Calibri"/>
                        </a:rPr>
                        <a:t>every row of the right table</a:t>
                      </a:r>
                    </a:p>
                  </a:txBody>
                  <a:tcPr marL="101600" marR="101600" marT="38100" marB="38100" anchor="ctr">
                    <a:solidFill>
                      <a:srgbClr val="FFFFFF"/>
                    </a:solidFill>
                  </a:tcPr>
                </a:tc>
              </a:tr>
              <a:tr h="369824">
                <a:tc>
                  <a:txBody>
                    <a:bodyPr/>
                    <a:lstStyle/>
                    <a:p>
                      <a:r>
                        <a:rPr sz="1400" b="0" i="0">
                          <a:solidFill>
                            <a:srgbClr val="1A1440"/>
                          </a:solidFill>
                          <a:latin typeface="Calibri"/>
                        </a:rPr>
                        <a:t>FULL OUTER JOIN</a:t>
                      </a:r>
                    </a:p>
                  </a:txBody>
                  <a:tcPr marL="101600" marR="101600" marT="38100" marB="38100" anchor="ctr">
                    <a:solidFill>
                      <a:srgbClr val="F4F2FA"/>
                    </a:solidFill>
                  </a:tcPr>
                </a:tc>
                <a:tc>
                  <a:txBody>
                    <a:bodyPr/>
                    <a:lstStyle/>
                    <a:p>
                      <a:r>
                        <a:rPr sz="1400" b="0" i="0">
                          <a:solidFill>
                            <a:srgbClr val="1A1440"/>
                          </a:solidFill>
                          <a:latin typeface="Calibri"/>
                        </a:rPr>
                        <a:t>merge(how="outer")</a:t>
                      </a:r>
                    </a:p>
                  </a:txBody>
                  <a:tcPr marL="101600" marR="101600" marT="38100" marB="38100" anchor="ctr">
                    <a:solidFill>
                      <a:srgbClr val="F4F2FA"/>
                    </a:solidFill>
                  </a:tcPr>
                </a:tc>
                <a:tc>
                  <a:txBody>
                    <a:bodyPr/>
                    <a:lstStyle/>
                    <a:p>
                      <a:r>
                        <a:rPr sz="1400" b="0" i="0">
                          <a:solidFill>
                            <a:srgbClr val="1A1440"/>
                          </a:solidFill>
                          <a:latin typeface="Calibri"/>
                        </a:rPr>
                        <a:t>every key from either side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merge keep by default?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table.merge(exposure, on="customer_id") with no how= argument.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customer</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340 rows, the whole table kept.</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it-merge_afc25af4f7e6.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Feed customers only</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default is inner.</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plus_542a2c3a8d3f.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feed row</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Unknown customers included.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slash_1e230f308fa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None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how is a required argument.</a:t>
            </a:r>
          </a:p>
        </p:txBody>
      </p:sp>
      <p:sp>
        <p:nvSpPr>
          <p:cNvPr id="33" name="Rounded Rectangle 32"/>
          <p:cNvSpPr/>
          <p:nvPr/>
        </p:nvSpPr>
        <p:spPr>
          <a:xfrm>
            <a:off x="530352" y="39141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40421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403301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customers survive a merge with no how? a) every customer on the table; b) only customers the feed names, since the default is inner; c) every feed row, including unknown customers; d) none, because how is required.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8" name="Oval 3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40" name="Oval 39"/>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42" name="Oval 4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inner, which drops the unreached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default silently removes the comparison group Marketing needs.</a:t>
            </a:r>
          </a:p>
        </p:txBody>
      </p:sp>
      <p:pic>
        <p:nvPicPr>
          <p:cNvPr id="9" name="mermaid diagram" descr="ceb6f14afdcd751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130 of 340 customers survive. Write how= every time, so the reader knows which rows survive.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Rs 34,700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records: a re-sent feed row makes the reached customers' spend a third too big.</a:t>
            </a:r>
          </a:p>
        </p:txBody>
      </p:sp>
      <p:pic>
        <p:nvPicPr>
          <p:cNvPr id="9" name="mermaid diagram" descr="f575f7f9cc4cea28.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5428335" cy="698500"/>
          </a:xfrm>
          <a:prstGeom prst="rect">
            <a:avLst/>
          </a:prstGeom>
          <a:noFill/>
        </p:spPr>
        <p:txBody>
          <a:bodyPr wrap="square" anchor="t" lIns="0" rIns="0" tIns="0" bIns="0">
            <a:spAutoFit/>
          </a:bodyPr>
          <a:lstStyle/>
          <a:p>
            <a:pPr algn="l"/>
            <a:r>
              <a:rPr sz="4400" b="0" i="0">
                <a:solidFill>
                  <a:srgbClr val="5B3FD6"/>
                </a:solidFill>
                <a:latin typeface="Georgia"/>
              </a:rPr>
              <a:t>Rs 34,700</a:t>
            </a:r>
          </a:p>
        </p:txBody>
      </p:sp>
      <p:sp>
        <p:nvSpPr>
          <p:cNvPr id="11" name="TextBox 10"/>
          <p:cNvSpPr txBox="1"/>
          <p:nvPr/>
        </p:nvSpPr>
        <p:spPr>
          <a:xfrm>
            <a:off x="530352" y="4638421"/>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WHAT THE SLIDE SAID</a:t>
            </a:r>
          </a:p>
        </p:txBody>
      </p:sp>
      <p:sp>
        <p:nvSpPr>
          <p:cNvPr id="12" name="TextBox 11"/>
          <p:cNvSpPr txBox="1"/>
          <p:nvPr/>
        </p:nvSpPr>
        <p:spPr>
          <a:xfrm>
            <a:off x="530352" y="4839589"/>
            <a:ext cx="5428335" cy="193421"/>
          </a:xfrm>
          <a:prstGeom prst="rect">
            <a:avLst/>
          </a:prstGeom>
          <a:noFill/>
        </p:spPr>
        <p:txBody>
          <a:bodyPr wrap="square" anchor="t" lIns="0" rIns="0" tIns="0" bIns="0">
            <a:spAutoFit/>
          </a:bodyPr>
          <a:lstStyle/>
          <a:p>
            <a:pPr algn="l"/>
            <a:r>
              <a:rPr sz="950" b="0" i="0">
                <a:solidFill>
                  <a:srgbClr val="6B6690"/>
                </a:solidFill>
                <a:latin typeface="Calibri"/>
              </a:rPr>
              <a:t>reached customers' spend</a:t>
            </a:r>
          </a:p>
        </p:txBody>
      </p:sp>
      <p:sp>
        <p:nvSpPr>
          <p:cNvPr id="13" name="Rectangle 12"/>
          <p:cNvSpPr/>
          <p:nvPr/>
        </p:nvSpPr>
        <p:spPr>
          <a:xfrm>
            <a:off x="530352" y="5092065"/>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33007" y="3903345"/>
            <a:ext cx="5428335" cy="698500"/>
          </a:xfrm>
          <a:prstGeom prst="rect">
            <a:avLst/>
          </a:prstGeom>
          <a:noFill/>
        </p:spPr>
        <p:txBody>
          <a:bodyPr wrap="square" anchor="t" lIns="0" rIns="0" tIns="0" bIns="0">
            <a:spAutoFit/>
          </a:bodyPr>
          <a:lstStyle/>
          <a:p>
            <a:pPr algn="l"/>
            <a:r>
              <a:rPr sz="4400" b="0" i="0">
                <a:solidFill>
                  <a:srgbClr val="5B3FD6"/>
                </a:solidFill>
                <a:latin typeface="Georgia"/>
              </a:rPr>
              <a:t>Rs 26,100</a:t>
            </a:r>
          </a:p>
        </p:txBody>
      </p:sp>
      <p:sp>
        <p:nvSpPr>
          <p:cNvPr id="15" name="TextBox 14"/>
          <p:cNvSpPr txBox="1"/>
          <p:nvPr/>
        </p:nvSpPr>
        <p:spPr>
          <a:xfrm>
            <a:off x="6233007" y="4638421"/>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WHAT THEY SPENT</a:t>
            </a:r>
          </a:p>
        </p:txBody>
      </p:sp>
      <p:sp>
        <p:nvSpPr>
          <p:cNvPr id="16" name="TextBox 15"/>
          <p:cNvSpPr txBox="1"/>
          <p:nvPr/>
        </p:nvSpPr>
        <p:spPr>
          <a:xfrm>
            <a:off x="6233007" y="4839589"/>
            <a:ext cx="5428335" cy="193421"/>
          </a:xfrm>
          <a:prstGeom prst="rect">
            <a:avLst/>
          </a:prstGeom>
          <a:noFill/>
        </p:spPr>
        <p:txBody>
          <a:bodyPr wrap="square" anchor="t" lIns="0" rIns="0" tIns="0" bIns="0">
            <a:spAutoFit/>
          </a:bodyPr>
          <a:lstStyle/>
          <a:p>
            <a:pPr algn="l"/>
            <a:r>
              <a:rPr sz="950" b="0" i="0">
                <a:solidFill>
                  <a:srgbClr val="6B6690"/>
                </a:solidFill>
                <a:latin typeface="Calibri"/>
              </a:rPr>
              <a:t>each customer once</a:t>
            </a:r>
          </a:p>
        </p:txBody>
      </p:sp>
      <p:sp>
        <p:nvSpPr>
          <p:cNvPr id="17" name="Rectangle 16"/>
          <p:cNvSpPr/>
          <p:nvPr/>
        </p:nvSpPr>
        <p:spPr>
          <a:xfrm>
            <a:off x="6233007" y="5092065"/>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2" name="Oval 21"/>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24" name="Oval 23"/>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4 rows went in, 5 came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count check catches it quietly; validate= catches it loudly, before the table exists.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small.merge(small_feed, on="customer_id", how="left",</a:t>
            </a:r>
          </a:p>
          <a:p>
            <a:pPr>
              <a:spcAft>
                <a:spcPts val="200"/>
              </a:spcAft>
            </a:pPr>
            <a:r>
              <a:rPr sz="1400" b="0" i="0">
                <a:solidFill>
                  <a:srgbClr val="E4E1F1"/>
                </a:solidFill>
                <a:latin typeface="Consolas"/>
              </a:rPr>
              <a:t>            validate="one_to_one")</a:t>
            </a:r>
          </a:p>
        </p:txBody>
      </p:sp>
      <p:sp>
        <p:nvSpPr>
          <p:cNvPr id="14" name="Rounded Rectangle 13"/>
          <p:cNvSpPr/>
          <p:nvPr/>
        </p:nvSpPr>
        <p:spPr>
          <a:xfrm>
            <a:off x="530352" y="3083560"/>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13232" y="321157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868680" y="321157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24128" y="321157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1" y="3412744"/>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MergeError: Merge keys are not unique in right dataset; not a one-to-one merge</a:t>
            </a:r>
          </a:p>
        </p:txBody>
      </p:sp>
      <p:sp>
        <p:nvSpPr>
          <p:cNvPr id="19" name="Rounded Rectangle 18"/>
          <p:cNvSpPr/>
          <p:nvPr/>
        </p:nvSpPr>
        <p:spPr>
          <a:xfrm>
            <a:off x="530352" y="3957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290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bd88901d2a37.png"/>
          <p:cNvPicPr>
            <a:picLocks noChangeAspect="1"/>
          </p:cNvPicPr>
          <p:nvPr/>
        </p:nvPicPr>
        <p:blipFill>
          <a:blip r:embed="rId4"/>
          <a:stretch>
            <a:fillRect/>
          </a:stretch>
        </p:blipFill>
        <p:spPr>
          <a:xfrm>
            <a:off x="868680" y="4399788"/>
            <a:ext cx="237744" cy="237744"/>
          </a:xfrm>
          <a:prstGeom prst="rect">
            <a:avLst/>
          </a:prstGeom>
        </p:spPr>
      </p:pic>
      <p:sp>
        <p:nvSpPr>
          <p:cNvPr id="22" name="TextBox 21"/>
          <p:cNvSpPr txBox="1"/>
          <p:nvPr/>
        </p:nvSpPr>
        <p:spPr>
          <a:xfrm>
            <a:off x="1399031" y="4104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3" name="TextBox 22"/>
          <p:cNvSpPr txBox="1"/>
          <p:nvPr/>
        </p:nvSpPr>
        <p:spPr>
          <a:xfrm>
            <a:off x="1399031" y="4323588"/>
            <a:ext cx="9987991" cy="682752"/>
          </a:xfrm>
          <a:prstGeom prst="rect">
            <a:avLst/>
          </a:prstGeom>
          <a:noFill/>
        </p:spPr>
        <p:txBody>
          <a:bodyPr wrap="square" anchor="t" lIns="0" rIns="0" tIns="0" bIns="0">
            <a:spAutoFit/>
          </a:bodyPr>
          <a:lstStyle/>
          <a:p>
            <a:r>
              <a:rPr sz="1500" b="0" i="0">
                <a:solidFill>
                  <a:srgbClr val="1A1440"/>
                </a:solidFill>
                <a:latin typeface="Calibri"/>
              </a:rPr>
              <a:t>validate= is Tuesday's row-count check made loud: it raises pandas.errors.MergeError instead of reporting after the fact.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6" name="Oval 25"/>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8" name="Oval 27"/>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0" name="Oval 29"/>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one exposure per customer, then validate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duplicate is a business question first: a customer reached twice was still reached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first_touch = (exposure.sort_values("exposed_date")</a:t>
            </a:r>
          </a:p>
          <a:p>
            <a:pPr>
              <a:spcAft>
                <a:spcPts val="200"/>
              </a:spcAft>
            </a:pPr>
            <a:r>
              <a:rPr sz="1400" b="0" i="0">
                <a:solidFill>
                  <a:srgbClr val="E4E1F1"/>
                </a:solidFill>
                <a:latin typeface="Consolas"/>
              </a:rPr>
              <a:t>                       .drop_duplicates("customer_id", keep="first"))</a:t>
            </a:r>
          </a:p>
          <a:p>
            <a:pPr>
              <a:spcAft>
                <a:spcPts val="200"/>
              </a:spcAft>
            </a:pPr>
            <a:r>
              <a:rPr sz="1400" b="0" i="0">
                <a:solidFill>
                  <a:srgbClr val="E4E1F1"/>
                </a:solidFill>
                <a:latin typeface="Consolas"/>
              </a:rPr>
              <a:t>merged = table.merge(first_touch[["customer_id", "exposed_date"]],</a:t>
            </a:r>
          </a:p>
          <a:p>
            <a:pPr>
              <a:spcAft>
                <a:spcPts val="200"/>
              </a:spcAft>
            </a:pPr>
            <a:r>
              <a:rPr sz="1400" b="0" i="0">
                <a:solidFill>
                  <a:srgbClr val="E4E1F1"/>
                </a:solidFill>
                <a:latin typeface="Consolas"/>
              </a:rPr>
              <a:t>                     on="customer_id", how="left", validate="one_to_one")</a:t>
            </a:r>
          </a:p>
        </p:txBody>
      </p:sp>
      <p:sp>
        <p:nvSpPr>
          <p:cNvPr id="14" name="TextBox 13"/>
          <p:cNvSpPr txBox="1"/>
          <p:nvPr/>
        </p:nvSpPr>
        <p:spPr>
          <a:xfrm>
            <a:off x="53035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15" name="TextBox 14"/>
          <p:cNvSpPr txBox="1"/>
          <p:nvPr/>
        </p:nvSpPr>
        <p:spPr>
          <a:xfrm>
            <a:off x="53035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16" name="TextBox 15"/>
          <p:cNvSpPr txBox="1"/>
          <p:nvPr/>
        </p:nvSpPr>
        <p:spPr>
          <a:xfrm>
            <a:off x="53035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340 in, so the grain held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19" name="TextBox 18"/>
          <p:cNvSpPr txBox="1"/>
          <p:nvPr/>
        </p:nvSpPr>
        <p:spPr>
          <a:xfrm>
            <a:off x="433212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0" name="TextBox 19"/>
          <p:cNvSpPr txBox="1"/>
          <p:nvPr/>
        </p:nvSpPr>
        <p:spPr>
          <a:xfrm>
            <a:off x="433212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unchanged by the merge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130</a:t>
            </a:r>
          </a:p>
        </p:txBody>
      </p:sp>
      <p:sp>
        <p:nvSpPr>
          <p:cNvPr id="23" name="TextBox 22"/>
          <p:cNvSpPr txBox="1"/>
          <p:nvPr/>
        </p:nvSpPr>
        <p:spPr>
          <a:xfrm>
            <a:off x="813389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4" name="TextBox 23"/>
          <p:cNvSpPr txBox="1"/>
          <p:nvPr/>
        </p:nvSpPr>
        <p:spPr>
          <a:xfrm>
            <a:off x="813389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0" name="Oval 29"/>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Kalpa's own feed, three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them in order and say each answer aloud before the next line.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exposure["customer_id"].duplicated().sum()</a:t>
            </a:r>
          </a:p>
          <a:p>
            <a:pPr>
              <a:spcAft>
                <a:spcPts val="200"/>
              </a:spcAft>
            </a:pPr>
            <a:r>
              <a:rPr sz="1400" b="0" i="0">
                <a:solidFill>
                  <a:srgbClr val="E4E1F1"/>
                </a:solidFill>
                <a:latin typeface="Consolas"/>
              </a:rPr>
              <a:t>len(table), len(table.merge(exposure, on="customer_id", how="left"))</a:t>
            </a:r>
          </a:p>
          <a:p>
            <a:pPr>
              <a:spcAft>
                <a:spcPts val="200"/>
              </a:spcAft>
            </a:pPr>
            <a:r>
              <a:rPr sz="1400" b="0" i="0">
                <a:solidFill>
                  <a:srgbClr val="E4E1F1"/>
                </a:solidFill>
                <a:latin typeface="Consolas"/>
              </a:rPr>
              <a:t>table.merge(exposure, on="customer_id", how="left", validate="one_to_one")</a:t>
            </a:r>
          </a:p>
        </p:txBody>
      </p:sp>
      <p:sp>
        <p:nvSpPr>
          <p:cNvPr id="14" name="Rounded Rectangle 13"/>
          <p:cNvSpPr/>
          <p:nvPr/>
        </p:nvSpPr>
        <p:spPr>
          <a:xfrm>
            <a:off x="530352" y="333603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668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777996"/>
            <a:ext cx="237744" cy="237744"/>
          </a:xfrm>
          <a:prstGeom prst="rect">
            <a:avLst/>
          </a:prstGeom>
        </p:spPr>
      </p:pic>
      <p:sp>
        <p:nvSpPr>
          <p:cNvPr id="17" name="TextBox 16"/>
          <p:cNvSpPr txBox="1"/>
          <p:nvPr/>
        </p:nvSpPr>
        <p:spPr>
          <a:xfrm>
            <a:off x="1399031" y="348234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701795"/>
            <a:ext cx="9987991" cy="682752"/>
          </a:xfrm>
          <a:prstGeom prst="rect">
            <a:avLst/>
          </a:prstGeom>
          <a:noFill/>
        </p:spPr>
        <p:txBody>
          <a:bodyPr wrap="square" anchor="t" lIns="0" rIns="0" tIns="0" bIns="0">
            <a:spAutoFit/>
          </a:bodyPr>
          <a:lstStyle/>
          <a:p>
            <a:r>
              <a:rPr sz="1500" b="0" i="0">
                <a:solidFill>
                  <a:srgbClr val="FFFFFF"/>
                </a:solidFill>
                <a:latin typeface="Calibri"/>
              </a:rPr>
              <a:t>"In one sentence: what would the naive merge have done to the spend of the customers the sale reached?"</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3" name="Oval 22"/>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25" name="Oval 24"/>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wrong answer: 100 percent bought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Starting from the feed, the table says every customer the sale reached went on to buy.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buyers = orders.merge(customers, on="customer_id").groupby("customer_id").agg(</a:t>
            </a:r>
          </a:p>
          <a:p>
            <a:pPr>
              <a:spcAft>
                <a:spcPts val="200"/>
              </a:spcAft>
            </a:pPr>
            <a:r>
              <a:rPr sz="1400" b="0" i="0">
                <a:solidFill>
                  <a:srgbClr val="E4E1F1"/>
                </a:solidFill>
                <a:latin typeface="Consolas"/>
              </a:rPr>
              <a:t>    segment=("segment", "first"), frequency=("order_id", "count")).reset_index()</a:t>
            </a:r>
          </a:p>
          <a:p>
            <a:pPr>
              <a:spcAft>
                <a:spcPts val="200"/>
              </a:spcAft>
            </a:pPr>
            <a:r>
              <a:rPr sz="1400" b="0" i="0">
                <a:solidFill>
                  <a:srgbClr val="E4E1F1"/>
                </a:solidFill>
                <a:latin typeface="Consolas"/>
              </a:rPr>
              <a:t>reach = buyers.merge(first_touch, on="customer_id", how="right")</a:t>
            </a:r>
          </a:p>
          <a:p>
            <a:pPr>
              <a:spcAft>
                <a:spcPts val="200"/>
              </a:spcAft>
            </a:pPr>
            <a:r>
              <a:rPr sz="1400" b="0" i="0">
                <a:solidFill>
                  <a:srgbClr val="E4E1F1"/>
                </a:solidFill>
                <a:latin typeface="Consolas"/>
              </a:rPr>
              <a:t>reach.groupby("segment").agg(reached=("customer_id", "count"),</a:t>
            </a:r>
          </a:p>
          <a:p>
            <a:pPr>
              <a:spcAft>
                <a:spcPts val="200"/>
              </a:spcAft>
            </a:pPr>
            <a:r>
              <a:rPr sz="1400" b="0" i="0">
                <a:solidFill>
                  <a:srgbClr val="E4E1F1"/>
                </a:solidFill>
                <a:latin typeface="Consolas"/>
              </a:rPr>
              <a:t>                             bought=("frequency", "count"))</a:t>
            </a:r>
          </a:p>
        </p:txBody>
      </p:sp>
      <p:sp>
        <p:nvSpPr>
          <p:cNvPr id="14" name="TextBox 13"/>
          <p:cNvSpPr txBox="1"/>
          <p:nvPr/>
        </p:nvSpPr>
        <p:spPr>
          <a:xfrm>
            <a:off x="530352"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15" name="TextBox 14"/>
          <p:cNvSpPr txBox="1"/>
          <p:nvPr/>
        </p:nvSpPr>
        <p:spPr>
          <a:xfrm>
            <a:off x="530352"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REACHED CUSTOMERS BOUGHT</a:t>
            </a:r>
          </a:p>
        </p:txBody>
      </p:sp>
      <p:sp>
        <p:nvSpPr>
          <p:cNvPr id="16" name="TextBox 15"/>
          <p:cNvSpPr txBox="1"/>
          <p:nvPr/>
        </p:nvSpPr>
        <p:spPr>
          <a:xfrm>
            <a:off x="530352"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the wrong table's headline</a:t>
            </a:r>
          </a:p>
        </p:txBody>
      </p:sp>
      <p:sp>
        <p:nvSpPr>
          <p:cNvPr id="17" name="Rectangle 16"/>
          <p:cNvSpPr/>
          <p:nvPr/>
        </p:nvSpPr>
        <p:spPr>
          <a:xfrm>
            <a:off x="530352"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9" name="TextBox 18"/>
          <p:cNvSpPr txBox="1"/>
          <p:nvPr/>
        </p:nvSpPr>
        <p:spPr>
          <a:xfrm>
            <a:off x="6233007"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0" name="TextBox 19"/>
          <p:cNvSpPr txBox="1"/>
          <p:nvPr/>
        </p:nvSpPr>
        <p:spPr>
          <a:xfrm>
            <a:off x="6233007"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by the wrong table's count</a:t>
            </a:r>
          </a:p>
        </p:txBody>
      </p:sp>
      <p:sp>
        <p:nvSpPr>
          <p:cNvPr id="21" name="Rectangle 20"/>
          <p:cNvSpPr/>
          <p:nvPr/>
        </p:nvSpPr>
        <p:spPr>
          <a:xfrm>
            <a:off x="6233007"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6" name="Oval 25"/>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28" name="Oval 2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groupby drops a missing key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Reached customers who never ordered have no order rows, so no segment, so no group.</a:t>
            </a:r>
          </a:p>
        </p:txBody>
      </p:sp>
      <p:pic>
        <p:nvPicPr>
          <p:cNvPr id="9" name="mermaid diagram" descr="8471aa61354abc2d.png"/>
          <p:cNvPicPr>
            <a:picLocks noChangeAspect="1"/>
          </p:cNvPicPr>
          <p:nvPr/>
        </p:nvPicPr>
        <p:blipFill>
          <a:blip r:embed="rId5"/>
          <a:stretch>
            <a:fillRect/>
          </a:stretch>
        </p:blipFill>
        <p:spPr>
          <a:xfrm>
            <a:off x="530352" y="1956816"/>
            <a:ext cx="11130991" cy="1121617"/>
          </a:xfrm>
          <a:prstGeom prst="rect">
            <a:avLst/>
          </a:prstGeom>
        </p:spPr>
      </p:pic>
      <p:sp>
        <p:nvSpPr>
          <p:cNvPr id="10" name="Rounded Rectangle 9"/>
          <p:cNvSpPr/>
          <p:nvPr/>
        </p:nvSpPr>
        <p:spPr>
          <a:xfrm>
            <a:off x="530352" y="322473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275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4360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The groups must add back to the rows: 107 in the groups against 130 rows. groupby(..., dropna=False) shows the missing group.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48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130 reached, 107 bought, 82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the segment from the customer list, which has one for every customer.</a:t>
            </a:r>
          </a:p>
        </p:txBody>
      </p:sp>
      <p:pic>
        <p:nvPicPr>
          <p:cNvPr id="9" name="mermaid diagram" descr="7e87c22974daea2f.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Retail-Core: 56 of 70 bought. Retail-Plus: 51 of 60. Together 107 of 130, which is 82 percent.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48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numbers moved without an error: spend a re-sent row inflated, reach a missing key shrank.</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"The row count before and after, and groups that add back to their rows, caught both. Put both checks in the refresh, and keep validate on after you fix the feed."</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Which merge argument raises on duplicate keys, and which error?</a:t>
            </a:r>
          </a:p>
        </p:txBody>
      </p:sp>
      <p:sp>
        <p:nvSpPr>
          <p:cNvPr id="19" name="TextBox 18"/>
          <p:cNvSpPr txBox="1"/>
          <p:nvPr/>
        </p:nvSpPr>
        <p:spPr>
          <a:xfrm>
            <a:off x="530352"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340</a:t>
            </a:r>
          </a:p>
        </p:txBody>
      </p:sp>
      <p:sp>
        <p:nvSpPr>
          <p:cNvPr id="20" name="TextBox 19"/>
          <p:cNvSpPr txBox="1"/>
          <p:nvPr/>
        </p:nvSpPr>
        <p:spPr>
          <a:xfrm>
            <a:off x="530352"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IN, ROWS OUT</a:t>
            </a:r>
          </a:p>
        </p:txBody>
      </p:sp>
      <p:sp>
        <p:nvSpPr>
          <p:cNvPr id="21" name="TextBox 20"/>
          <p:cNvSpPr txBox="1"/>
          <p:nvPr/>
        </p:nvSpPr>
        <p:spPr>
          <a:xfrm>
            <a:off x="530352"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the grain held</a:t>
            </a:r>
          </a:p>
        </p:txBody>
      </p:sp>
      <p:sp>
        <p:nvSpPr>
          <p:cNvPr id="22" name="Rectangle 21"/>
          <p:cNvSpPr/>
          <p:nvPr/>
        </p:nvSpPr>
        <p:spPr>
          <a:xfrm>
            <a:off x="530352"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3007"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107 of 130</a:t>
            </a:r>
          </a:p>
        </p:txBody>
      </p:sp>
      <p:sp>
        <p:nvSpPr>
          <p:cNvPr id="24" name="TextBox 23"/>
          <p:cNvSpPr txBox="1"/>
          <p:nvPr/>
        </p:nvSpPr>
        <p:spPr>
          <a:xfrm>
            <a:off x="6233007"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REACHED AND BOUGHT</a:t>
            </a:r>
          </a:p>
        </p:txBody>
      </p:sp>
      <p:sp>
        <p:nvSpPr>
          <p:cNvPr id="25" name="TextBox 24"/>
          <p:cNvSpPr txBox="1"/>
          <p:nvPr/>
        </p:nvSpPr>
        <p:spPr>
          <a:xfrm>
            <a:off x="6233007"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82 percent</a:t>
            </a:r>
          </a:p>
        </p:txBody>
      </p:sp>
      <p:sp>
        <p:nvSpPr>
          <p:cNvPr id="26" name="Rectangle 25"/>
          <p:cNvSpPr/>
          <p:nvPr/>
        </p:nvSpPr>
        <p:spPr>
          <a:xfrm>
            <a:off x="6233007"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1" name="Oval 30"/>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3" name="Oval 3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48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months view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reshape changes the question a table answers, and pivot_table averages unless told to add.</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is Retail-Plus the tier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one column per month, and the tier's fall in one number.</a:t>
            </a:r>
          </a:p>
        </p:txBody>
      </p:sp>
      <p:sp>
        <p:nvSpPr>
          <p:cNvPr id="9" name="Rounded Rectangle 8"/>
          <p:cNvSpPr/>
          <p:nvPr/>
        </p:nvSpPr>
        <p:spPr>
          <a:xfrm>
            <a:off x="530352" y="168249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026160"/>
          </a:xfrm>
          <a:prstGeom prst="rect">
            <a:avLst/>
          </a:prstGeom>
          <a:noFill/>
        </p:spPr>
        <p:txBody>
          <a:bodyPr wrap="square" anchor="t" lIns="0" rIns="0" tIns="0" bIns="0">
            <a:spAutoFit/>
          </a:bodyPr>
          <a:lstStyle/>
          <a:p>
            <a:r>
              <a:rPr sz="1600" b="0" i="1">
                <a:solidFill>
                  <a:srgbClr val="1A0F5C"/>
                </a:solidFill>
                <a:latin typeface="Georgia"/>
              </a:rPr>
              <a:t>"Give me one row per member and one column per month. I want to read along a row and see who is drifting, and the tier's fall from Q1 to Q2 in one number."</a:t>
            </a:r>
          </a:p>
          <a:p>
            <a:pPr>
              <a:spcBef>
                <a:spcPts val="400"/>
              </a:spcBef>
            </a:pPr>
            <a:r>
              <a:rPr sz="1000" b="0" i="0">
                <a:solidFill>
                  <a:srgbClr val="6B6690"/>
                </a:solidFill>
                <a:latin typeface="Calibri"/>
              </a:rPr>
              <a:t>The head of Retail-Plus, Kalpa Retail</a:t>
            </a:r>
          </a:p>
        </p:txBody>
      </p:sp>
      <p:pic>
        <p:nvPicPr>
          <p:cNvPr id="11" name="mermaid diagram" descr="005bba58f349fc57.png"/>
          <p:cNvPicPr>
            <a:picLocks noChangeAspect="1"/>
          </p:cNvPicPr>
          <p:nvPr/>
        </p:nvPicPr>
        <p:blipFill>
          <a:blip r:embed="rId5"/>
          <a:stretch>
            <a:fillRect/>
          </a:stretch>
        </p:blipFill>
        <p:spPr>
          <a:xfrm>
            <a:off x="2751175" y="2854960"/>
            <a:ext cx="6689344" cy="334467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6" name="Oval 1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8" name="Oval 17"/>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Long, wide, and long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pivot widens a table for comparison; melt lengthens it for a trend.</a:t>
            </a:r>
          </a:p>
        </p:txBody>
      </p:sp>
      <p:pic>
        <p:nvPicPr>
          <p:cNvPr id="9" name="mermaid diagram" descr="9d4e00a9bc15927b.png"/>
          <p:cNvPicPr>
            <a:picLocks noChangeAspect="1"/>
          </p:cNvPicPr>
          <p:nvPr/>
        </p:nvPicPr>
        <p:blipFill>
          <a:blip r:embed="rId6"/>
          <a:stretch>
            <a:fillRect/>
          </a:stretch>
        </p:blipFill>
        <p:spPr>
          <a:xfrm>
            <a:off x="738035" y="1956816"/>
            <a:ext cx="10715625"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Wide answers "compare across a row"; long answers "follow a line over time" and groups cleanly.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fall does the pivot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line, months as columns, then each column summed for the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wide = plus.pivot_table(index="customer_id", columns="month", values="amount")</a:t>
            </a:r>
          </a:p>
          <a:p>
            <a:pPr>
              <a:spcAft>
                <a:spcPts val="200"/>
              </a:spcAft>
            </a:pPr>
            <a:r>
              <a:rPr sz="1400" b="0" i="0">
                <a:solidFill>
                  <a:srgbClr val="E4E1F1"/>
                </a:solidFill>
                <a:latin typeface="Consolas"/>
              </a:rPr>
              <a:t>q1, q2 = wide[APR_TO_JUN].sum().sum(), wide[JUL_TO_SEP].sum().sum()</a:t>
            </a:r>
          </a:p>
          <a:p>
            <a:pPr>
              <a:spcAft>
                <a:spcPts val="200"/>
              </a:spcAft>
            </a:pPr>
            <a:r>
              <a:rPr sz="1400" b="0" i="0">
                <a:solidFill>
                  <a:srgbClr val="E4E1F1"/>
                </a:solidFill>
                <a:latin typeface="Consolas"/>
              </a:rPr>
              <a:t>q2 / q1 - 1</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fall from Q1 to Q2 does this pivot report? a) 29 percent; b) 18 percent; c) 0 percent; d) it raises an error.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 percent,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pivot_table's default aggfunc is the mean, so the columns add up averages.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18%</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REPORTS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4,12,019 to Rs 3,37,266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29%</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TRUE FALL</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to Rs 4,13,380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 lakh</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MISSING FROM THE GRAND TOTAL</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7,49,286 against Rs 9,99,150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head of Retail-Plus would defend a fall about two-thirds of its real size.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6" name="Oval 2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8" name="Oval 27"/>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mean hides how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 who ordered four times in June shows the average of the four orders.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311947"/>
                <a:gridCol w="914400"/>
                <a:gridCol w="3842440"/>
                <a:gridCol w="4062203"/>
              </a:tblGrid>
              <a:tr h="335280">
                <a:tc>
                  <a:txBody>
                    <a:bodyPr/>
                    <a:lstStyle/>
                    <a:p>
                      <a:r>
                        <a:rPr sz="1250" b="1" i="0">
                          <a:solidFill>
                            <a:srgbClr val="FFFFFF"/>
                          </a:solidFill>
                          <a:latin typeface="Calibri"/>
                        </a:rPr>
                        <a:t>C-0152</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The pivot shows</a:t>
                      </a:r>
                    </a:p>
                  </a:txBody>
                  <a:tcPr marL="101600" marR="101600" marT="38100" marB="38100" anchor="ctr">
                    <a:solidFill>
                      <a:srgbClr val="1A0F5C"/>
                    </a:solidFill>
                  </a:tcPr>
                </a:tc>
                <a:tc>
                  <a:txBody>
                    <a:bodyPr/>
                    <a:lstStyle/>
                    <a:p>
                      <a:r>
                        <a:rPr sz="1250" b="1" i="0">
                          <a:solidFill>
                            <a:srgbClr val="FFFFFF"/>
                          </a:solidFill>
                          <a:latin typeface="Calibri"/>
                        </a:rPr>
                        <a:t>The member spent</a:t>
                      </a:r>
                    </a:p>
                  </a:txBody>
                  <a:tcPr marL="101600" marR="101600" marT="38100" marB="38100" anchor="ctr">
                    <a:solidFill>
                      <a:srgbClr val="1A0F5C"/>
                    </a:solidFill>
                  </a:tcPr>
                </a:tc>
              </a:tr>
              <a:tr h="335280">
                <a:tc>
                  <a:txBody>
                    <a:bodyPr/>
                    <a:lstStyle/>
                    <a:p>
                      <a:r>
                        <a:rPr sz="1200" b="0" i="0">
                          <a:solidFill>
                            <a:srgbClr val="1A1440"/>
                          </a:solidFill>
                          <a:latin typeface="Calibri"/>
                        </a:rPr>
                        <a:t>June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Rs 2,557</a:t>
                      </a:r>
                    </a:p>
                  </a:txBody>
                  <a:tcPr marL="101600" marR="101600" marT="38100" marB="38100" anchor="ctr">
                    <a:solidFill>
                      <a:srgbClr val="FFFFFF"/>
                    </a:solidFill>
                  </a:tcPr>
                </a:tc>
                <a:tc>
                  <a:txBody>
                    <a:bodyPr/>
                    <a:lstStyle/>
                    <a:p>
                      <a:r>
                        <a:rPr sz="1200" b="0" i="0">
                          <a:solidFill>
                            <a:srgbClr val="1A1440"/>
                          </a:solidFill>
                          <a:latin typeface="Calibri"/>
                        </a:rPr>
                        <a:t>Rs 10,230</a:t>
                      </a:r>
                    </a:p>
                  </a:txBody>
                  <a:tcPr marL="101600" marR="101600" marT="38100" marB="38100" anchor="ctr">
                    <a:solidFill>
                      <a:srgbClr val="FFFFFF"/>
                    </a:solidFill>
                  </a:tcPr>
                </a:tc>
              </a:tr>
              <a:tr h="335280">
                <a:tc>
                  <a:txBody>
                    <a:bodyPr/>
                    <a:lstStyle/>
                    <a:p>
                      <a:r>
                        <a:rPr sz="1200" b="0" i="0">
                          <a:solidFill>
                            <a:srgbClr val="1A1440"/>
                          </a:solidFill>
                          <a:latin typeface="Calibri"/>
                        </a:rPr>
                        <a:t>July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2,780</a:t>
                      </a:r>
                    </a:p>
                  </a:txBody>
                  <a:tcPr marL="101600" marR="101600" marT="38100" marB="38100" anchor="ctr">
                    <a:solidFill>
                      <a:srgbClr val="F4F2FA"/>
                    </a:solidFill>
                  </a:tcPr>
                </a:tc>
                <a:tc>
                  <a:txBody>
                    <a:bodyPr/>
                    <a:lstStyle/>
                    <a:p>
                      <a:r>
                        <a:rPr sz="1200" b="0" i="0">
                          <a:solidFill>
                            <a:srgbClr val="1A1440"/>
                          </a:solidFill>
                          <a:latin typeface="Calibri"/>
                        </a:rPr>
                        <a:t>Rs 5,560</a:t>
                      </a:r>
                    </a:p>
                  </a:txBody>
                  <a:tcPr marL="101600" marR="101600" marT="38100" marB="38100" anchor="ctr">
                    <a:solidFill>
                      <a:srgbClr val="F4F2FA"/>
                    </a:solidFill>
                  </a:tcPr>
                </a:tc>
              </a:tr>
              <a:tr h="335280">
                <a:tc>
                  <a:txBody>
                    <a:bodyPr/>
                    <a:lstStyle/>
                    <a:p>
                      <a:r>
                        <a:rPr sz="1200" b="0" i="0">
                          <a:solidFill>
                            <a:srgbClr val="1A1440"/>
                          </a:solidFill>
                          <a:latin typeface="Calibri"/>
                        </a:rPr>
                        <a:t>September</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Rs 3,440</a:t>
                      </a:r>
                    </a:p>
                  </a:txBody>
                  <a:tcPr marL="101600" marR="101600" marT="38100" marB="38100" anchor="ctr">
                    <a:solidFill>
                      <a:srgbClr val="FFFFFF"/>
                    </a:solidFill>
                  </a:tcPr>
                </a:tc>
                <a:tc>
                  <a:txBody>
                    <a:bodyPr/>
                    <a:lstStyle/>
                    <a:p>
                      <a:r>
                        <a:rPr sz="1200" b="0" i="0">
                          <a:solidFill>
                            <a:srgbClr val="1A1440"/>
                          </a:solidFill>
                          <a:latin typeface="Calibri"/>
                        </a:rPr>
                        <a:t>Rs 6,880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A pivot of spend must add back to the orders it came from. This one is short by a quarter.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say what the cell means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aggfunc="sum" adds a member's orders, and fill_value=0 writes an empty month as zero.</a:t>
            </a:r>
          </a:p>
        </p:txBody>
      </p:sp>
      <p:pic>
        <p:nvPicPr>
          <p:cNvPr id="9" name="mermaid diagram" descr="bbeebe4eb4d20a0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pivot_table(..., aggfunc="sum", fill_value=0) gives the upper line; the lower is the default mean, a quarter of the spend short.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index answers a question nobody asked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Index by order_id and every order becomes a row that looks like a months view.</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973975"/>
                <a:gridCol w="914400"/>
                <a:gridCol w="4225484"/>
                <a:gridCol w="3017131"/>
              </a:tblGrid>
              <a:tr h="335280">
                <a:tc>
                  <a:txBody>
                    <a:bodyPr/>
                    <a:lstStyle/>
                    <a:p>
                      <a:r>
                        <a:rPr sz="1250" b="1" i="0">
                          <a:solidFill>
                            <a:srgbClr val="FFFFFF"/>
                          </a:solidFill>
                          <a:latin typeface="Calibri"/>
                        </a:rPr>
                        <a:t>Index</a:t>
                      </a:r>
                    </a:p>
                  </a:txBody>
                  <a:tcPr marL="101600" marR="101600" marT="38100" marB="38100" anchor="ctr">
                    <a:solidFill>
                      <a:srgbClr val="1A0F5C"/>
                    </a:solidFill>
                  </a:tcPr>
                </a:tc>
                <a:tc>
                  <a:txBody>
                    <a:bodyPr/>
                    <a:lstStyle/>
                    <a:p>
                      <a:r>
                        <a:rPr sz="1250" b="1" i="0">
                          <a:solidFill>
                            <a:srgbClr val="FFFFFF"/>
                          </a:solidFill>
                          <a:latin typeface="Calibri"/>
                        </a:rPr>
                        <a:t>Shape</a:t>
                      </a:r>
                    </a:p>
                  </a:txBody>
                  <a:tcPr marL="101600" marR="101600" marT="38100" marB="38100" anchor="ctr">
                    <a:solidFill>
                      <a:srgbClr val="1A0F5C"/>
                    </a:solidFill>
                  </a:tcPr>
                </a:tc>
                <a:tc>
                  <a:txBody>
                    <a:bodyPr/>
                    <a:lstStyle/>
                    <a:p>
                      <a:r>
                        <a:rPr sz="1250" b="1" i="0">
                          <a:solidFill>
                            <a:srgbClr val="FFFFFF"/>
                          </a:solidFill>
                          <a:latin typeface="Calibri"/>
                        </a:rPr>
                        <a:t>First row label</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r>
              <a:tr h="335280">
                <a:tc>
                  <a:txBody>
                    <a:bodyPr/>
                    <a:lstStyle/>
                    <a:p>
                      <a:r>
                        <a:rPr sz="1200" b="0" i="0">
                          <a:solidFill>
                            <a:srgbClr val="1A1440"/>
                          </a:solidFill>
                          <a:latin typeface="Calibri"/>
                        </a:rPr>
                        <a:t>customer_id</a:t>
                      </a:r>
                    </a:p>
                  </a:txBody>
                  <a:tcPr marL="101600" marR="101600" marT="38100" marB="38100" anchor="ctr">
                    <a:solidFill>
                      <a:srgbClr val="FFFFFF"/>
                    </a:solidFill>
                  </a:tcPr>
                </a:tc>
                <a:tc>
                  <a:txBody>
                    <a:bodyPr/>
                    <a:lstStyle/>
                    <a:p>
                      <a:r>
                        <a:rPr sz="1200" b="0" i="0">
                          <a:solidFill>
                            <a:srgbClr val="1A1440"/>
                          </a:solidFill>
                          <a:latin typeface="Calibri"/>
                        </a:rPr>
                        <a:t>107 by 6</a:t>
                      </a:r>
                    </a:p>
                  </a:txBody>
                  <a:tcPr marL="101600" marR="101600" marT="38100" marB="38100" anchor="ctr">
                    <a:solidFill>
                      <a:srgbClr val="FFFFFF"/>
                    </a:solidFill>
                  </a:tcPr>
                </a:tc>
                <a:tc>
                  <a:txBody>
                    <a:bodyPr/>
                    <a:lstStyle/>
                    <a:p>
                      <a:r>
                        <a:rPr sz="1200" b="0" i="0">
                          <a:solidFill>
                            <a:srgbClr val="1A1440"/>
                          </a:solidFill>
                          <a:latin typeface="Calibri"/>
                        </a:rPr>
                        <a:t>C-0151</a:t>
                      </a:r>
                    </a:p>
                  </a:txBody>
                  <a:tcPr marL="101600" marR="101600" marT="38100" marB="38100" anchor="ctr">
                    <a:solidFill>
                      <a:srgbClr val="FFFFFF"/>
                    </a:solidFill>
                  </a:tcPr>
                </a:tc>
                <a:tc>
                  <a:txBody>
                    <a:bodyPr/>
                    <a:lstStyle/>
                    <a:p>
                      <a:r>
                        <a:rPr sz="1200" b="0" i="0">
                          <a:solidFill>
                            <a:srgbClr val="1A1440"/>
                          </a:solidFill>
                          <a:latin typeface="Calibri"/>
                        </a:rPr>
                        <a:t>a member</a:t>
                      </a:r>
                    </a:p>
                  </a:txBody>
                  <a:tcPr marL="101600" marR="101600" marT="38100" marB="38100" anchor="ctr">
                    <a:solidFill>
                      <a:srgbClr val="FFFFFF"/>
                    </a:solidFill>
                  </a:tcPr>
                </a:tc>
              </a:tr>
              <a:tr h="335280">
                <a:tc>
                  <a:txBody>
                    <a:bodyPr/>
                    <a:lstStyle/>
                    <a:p>
                      <a:r>
                        <a:rPr sz="1200" b="0" i="0">
                          <a:solidFill>
                            <a:srgbClr val="1A1440"/>
                          </a:solidFill>
                          <a:latin typeface="Calibri"/>
                        </a:rPr>
                        <a:t>order_id</a:t>
                      </a:r>
                    </a:p>
                  </a:txBody>
                  <a:tcPr marL="101600" marR="101600" marT="38100" marB="38100" anchor="ctr">
                    <a:solidFill>
                      <a:srgbClr val="F4F2FA"/>
                    </a:solidFill>
                  </a:tcPr>
                </a:tc>
                <a:tc>
                  <a:txBody>
                    <a:bodyPr/>
                    <a:lstStyle/>
                    <a:p>
                      <a:r>
                        <a:rPr sz="1200" b="0" i="0">
                          <a:solidFill>
                            <a:srgbClr val="1A1440"/>
                          </a:solidFill>
                          <a:latin typeface="Calibri"/>
                        </a:rPr>
                        <a:t>355 by 6</a:t>
                      </a:r>
                    </a:p>
                  </a:txBody>
                  <a:tcPr marL="101600" marR="101600" marT="38100" marB="38100" anchor="ctr">
                    <a:solidFill>
                      <a:srgbClr val="F4F2FA"/>
                    </a:solidFill>
                  </a:tcPr>
                </a:tc>
                <a:tc>
                  <a:txBody>
                    <a:bodyPr/>
                    <a:lstStyle/>
                    <a:p>
                      <a:r>
                        <a:rPr sz="1200" b="0" i="0">
                          <a:solidFill>
                            <a:srgbClr val="1A1440"/>
                          </a:solidFill>
                          <a:latin typeface="Calibri"/>
                        </a:rPr>
                        <a:t>KR-00125</a:t>
                      </a:r>
                    </a:p>
                  </a:txBody>
                  <a:tcPr marL="101600" marR="101600" marT="38100" marB="38100" anchor="ctr">
                    <a:solidFill>
                      <a:srgbClr val="F4F2FA"/>
                    </a:solidFill>
                  </a:tcPr>
                </a:tc>
                <a:tc>
                  <a:txBody>
                    <a:bodyPr/>
                    <a:lstStyle/>
                    <a:p>
                      <a:r>
                        <a:rPr sz="1200" b="0" i="0">
                          <a:solidFill>
                            <a:srgbClr val="1A1440"/>
                          </a:solidFill>
                          <a:latin typeface="Calibri"/>
                        </a:rPr>
                        <a:t>an order</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3581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Read the row labels aloud before reading any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Retail-Core view,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Retail-Core asks for the same view of her members.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core.pivot_table(index="customer_id", columns="month", values="amount")</a:t>
            </a:r>
          </a:p>
          <a:p>
            <a:pPr>
              <a:spcAft>
                <a:spcPts val="200"/>
              </a:spcAft>
            </a:pPr>
            <a:r>
              <a:rPr sz="1400" b="0" i="0">
                <a:solidFill>
                  <a:srgbClr val="E4E1F1"/>
                </a:solidFill>
                <a:latin typeface="Consolas"/>
              </a:rPr>
              <a:t>core.pivot_table(index="customer_id", columns="month", values="amount",</a:t>
            </a:r>
          </a:p>
          <a:p>
            <a:pPr>
              <a:spcAft>
                <a:spcPts val="200"/>
              </a:spcAft>
            </a:pPr>
            <a:r>
              <a:rPr sz="1400" b="0" i="0">
                <a:solidFill>
                  <a:srgbClr val="E4E1F1"/>
                </a:solidFill>
                <a:latin typeface="Consolas"/>
              </a:rPr>
              <a:t>                 aggfunc="sum", fill_value=0)</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to Q2, what do the two pivots report for Retail-Core? a) both a fall of 1.8 percent; b) the averaged pivot a rise of 1.5 percent, the summed pivot a fall of 1.8 percent; c) the averaged pivot a fall of 18 percent; d) both a rise of 1.5 percent.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default flips the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Averaged, Retail-Core grew 1.5 percent; summed, it fell 1.8 percent.</a:t>
            </a:r>
          </a:p>
        </p:txBody>
      </p:sp>
      <p:pic>
        <p:nvPicPr>
          <p:cNvPr id="9" name="mermaid diagram" descr="d06df343547b7a5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averaged view reports a rise because Retail-Core's orders got slightly bigger while members ordered less often.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48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pivot whose grand total equals its source, and a fall of 29 percent said with its months.</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"Q1 Rs 5,85,770, Q2 Rs 4,13,380, a fall of 29 percent, from a pivot that adds back to the orders. The averaged version would have said 18. Write aggfunc every time."</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pivot against melt: which widens and which lengthens?</a:t>
            </a:r>
          </a:p>
        </p:txBody>
      </p:sp>
      <p:sp>
        <p:nvSpPr>
          <p:cNvPr id="19" name="TextBox 18"/>
          <p:cNvSpPr txBox="1"/>
          <p:nvPr/>
        </p:nvSpPr>
        <p:spPr>
          <a:xfrm>
            <a:off x="530352"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Rs 9,99,150</a:t>
            </a:r>
          </a:p>
        </p:txBody>
      </p:sp>
      <p:sp>
        <p:nvSpPr>
          <p:cNvPr id="20" name="TextBox 19"/>
          <p:cNvSpPr txBox="1"/>
          <p:nvPr/>
        </p:nvSpPr>
        <p:spPr>
          <a:xfrm>
            <a:off x="530352"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PIVOT GRAND TOTAL</a:t>
            </a:r>
          </a:p>
        </p:txBody>
      </p:sp>
      <p:sp>
        <p:nvSpPr>
          <p:cNvPr id="21" name="TextBox 20"/>
          <p:cNvSpPr txBox="1"/>
          <p:nvPr/>
        </p:nvSpPr>
        <p:spPr>
          <a:xfrm>
            <a:off x="530352"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equals the orders</a:t>
            </a:r>
          </a:p>
        </p:txBody>
      </p:sp>
      <p:sp>
        <p:nvSpPr>
          <p:cNvPr id="22" name="Rectangle 21"/>
          <p:cNvSpPr/>
          <p:nvPr/>
        </p:nvSpPr>
        <p:spPr>
          <a:xfrm>
            <a:off x="530352"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3007"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29%</a:t>
            </a:r>
          </a:p>
        </p:txBody>
      </p:sp>
      <p:sp>
        <p:nvSpPr>
          <p:cNvPr id="24" name="TextBox 23"/>
          <p:cNvSpPr txBox="1"/>
          <p:nvPr/>
        </p:nvSpPr>
        <p:spPr>
          <a:xfrm>
            <a:off x="6233007"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25" name="TextBox 24"/>
          <p:cNvSpPr txBox="1"/>
          <p:nvPr/>
        </p:nvSpPr>
        <p:spPr>
          <a:xfrm>
            <a:off x="6233007"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the tier's true fall</a:t>
            </a:r>
          </a:p>
        </p:txBody>
      </p:sp>
      <p:sp>
        <p:nvSpPr>
          <p:cNvPr id="26" name="Rectangle 25"/>
          <p:cNvSpPr/>
          <p:nvPr/>
        </p:nvSpPr>
        <p:spPr>
          <a:xfrm>
            <a:off x="6233007"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1" name="Oval 3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3" name="Oval 3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48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pivot is the loud version of pivot_table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one value per cell is expected, pivot refuses a repeat instead of averaging it.</a:t>
            </a:r>
          </a:p>
        </p:txBody>
      </p:sp>
      <p:sp>
        <p:nvSpPr>
          <p:cNvPr id="10" name="Rounded Rectangle 9"/>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plus.pivot(index="customer_id", columns="month", values="amount")</a:t>
            </a:r>
          </a:p>
        </p:txBody>
      </p:sp>
      <p:sp>
        <p:nvSpPr>
          <p:cNvPr id="15" name="Rounded Rectangle 14"/>
          <p:cNvSpPr/>
          <p:nvPr/>
        </p:nvSpPr>
        <p:spPr>
          <a:xfrm>
            <a:off x="530352" y="2831084"/>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29591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29591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29591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3160268"/>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ValueError: Index contains duplicate entries, cannot reshape</a:t>
            </a:r>
          </a:p>
        </p:txBody>
      </p:sp>
      <p:graphicFrame>
        <p:nvGraphicFramePr>
          <p:cNvPr id="20" name="Table 19"/>
          <p:cNvGraphicFramePr>
            <a:graphicFrameLocks noGrp="1"/>
          </p:cNvGraphicFramePr>
          <p:nvPr/>
        </p:nvGraphicFramePr>
        <p:xfrm>
          <a:off x="530352" y="3705352"/>
          <a:ext cx="11130990" cy="1109472"/>
        </p:xfrm>
        <a:graphic>
          <a:graphicData uri="http://schemas.openxmlformats.org/drawingml/2006/table">
            <a:tbl>
              <a:tblPr firstRow="0" bandRow="0">
                <a:tableStyleId>{2D5ABB26-0587-4C30-8999-92F81FD0307C}</a:tableStyleId>
              </a:tblPr>
              <a:tblGrid>
                <a:gridCol w="1616720"/>
                <a:gridCol w="4032424"/>
                <a:gridCol w="5481846"/>
              </a:tblGrid>
              <a:tr h="369824">
                <a:tc>
                  <a:txBody>
                    <a:bodyPr/>
                    <a:lstStyle/>
                    <a:p>
                      <a:r>
                        <a:rPr sz="1450" b="1" i="0">
                          <a:solidFill>
                            <a:srgbClr val="FFFFFF"/>
                          </a:solidFill>
                          <a:latin typeface="Calibri"/>
                        </a:rPr>
                        <a:t>Call</a:t>
                      </a:r>
                    </a:p>
                  </a:txBody>
                  <a:tcPr marL="101600" marR="101600" marT="38100" marB="38100" anchor="ctr">
                    <a:solidFill>
                      <a:srgbClr val="1A0F5C"/>
                    </a:solidFill>
                  </a:tcPr>
                </a:tc>
                <a:tc>
                  <a:txBody>
                    <a:bodyPr/>
                    <a:lstStyle/>
                    <a:p>
                      <a:r>
                        <a:rPr sz="1450" b="1" i="0">
                          <a:solidFill>
                            <a:srgbClr val="FFFFFF"/>
                          </a:solidFill>
                          <a:latin typeface="Calibri"/>
                        </a:rPr>
                        <a:t>A repeated member-month</a:t>
                      </a:r>
                    </a:p>
                  </a:txBody>
                  <a:tcPr marL="101600" marR="101600" marT="38100" marB="38100" anchor="ctr">
                    <a:solidFill>
                      <a:srgbClr val="1A0F5C"/>
                    </a:solidFill>
                  </a:tcPr>
                </a:tc>
                <a:tc>
                  <a:txBody>
                    <a:bodyPr/>
                    <a:lstStyle/>
                    <a:p>
                      <a:r>
                        <a:rPr sz="1450" b="1" i="0">
                          <a:solidFill>
                            <a:srgbClr val="FFFFFF"/>
                          </a:solidFill>
                          <a:latin typeface="Calibri"/>
                        </a:rPr>
                        <a:t>Use it when</a:t>
                      </a:r>
                    </a:p>
                  </a:txBody>
                  <a:tcPr marL="101600" marR="101600" marT="38100" marB="38100" anchor="ctr">
                    <a:solidFill>
                      <a:srgbClr val="1A0F5C"/>
                    </a:solidFill>
                  </a:tcPr>
                </a:tc>
              </a:tr>
              <a:tr h="369824">
                <a:tc>
                  <a:txBody>
                    <a:bodyPr/>
                    <a:lstStyle/>
                    <a:p>
                      <a:r>
                        <a:rPr sz="1400" b="0" i="0">
                          <a:solidFill>
                            <a:srgbClr val="1A1440"/>
                          </a:solidFill>
                          <a:latin typeface="Calibri"/>
                        </a:rPr>
                        <a:t>pivot</a:t>
                      </a:r>
                    </a:p>
                  </a:txBody>
                  <a:tcPr marL="101600" marR="101600" marT="38100" marB="38100" anchor="ctr">
                    <a:solidFill>
                      <a:srgbClr val="FFFFFF"/>
                    </a:solidFill>
                  </a:tcPr>
                </a:tc>
                <a:tc>
                  <a:txBody>
                    <a:bodyPr/>
                    <a:lstStyle/>
                    <a:p>
                      <a:r>
                        <a:rPr sz="1400" b="0" i="0">
                          <a:solidFill>
                            <a:srgbClr val="1A1440"/>
                          </a:solidFill>
                          <a:latin typeface="Calibri"/>
                        </a:rPr>
                        <a:t>raises ValueError</a:t>
                      </a:r>
                    </a:p>
                  </a:txBody>
                  <a:tcPr marL="101600" marR="101600" marT="38100" marB="38100" anchor="ctr">
                    <a:solidFill>
                      <a:srgbClr val="FFFFFF"/>
                    </a:solidFill>
                  </a:tcPr>
                </a:tc>
                <a:tc>
                  <a:txBody>
                    <a:bodyPr/>
                    <a:lstStyle/>
                    <a:p>
                      <a:r>
                        <a:rPr sz="1400" b="0" i="0">
                          <a:solidFill>
                            <a:srgbClr val="1A1440"/>
                          </a:solidFill>
                          <a:latin typeface="Calibri"/>
                        </a:rPr>
                        <a:t>one value per cell is a promise</a:t>
                      </a:r>
                    </a:p>
                  </a:txBody>
                  <a:tcPr marL="101600" marR="101600" marT="38100" marB="38100" anchor="ctr">
                    <a:solidFill>
                      <a:srgbClr val="FFFFFF"/>
                    </a:solidFill>
                  </a:tcPr>
                </a:tc>
              </a:tr>
              <a:tr h="369824">
                <a:tc>
                  <a:txBody>
                    <a:bodyPr/>
                    <a:lstStyle/>
                    <a:p>
                      <a:r>
                        <a:rPr sz="1400" b="0" i="0">
                          <a:solidFill>
                            <a:srgbClr val="1A1440"/>
                          </a:solidFill>
                          <a:latin typeface="Calibri"/>
                        </a:rPr>
                        <a:t>pivot_table</a:t>
                      </a:r>
                    </a:p>
                  </a:txBody>
                  <a:tcPr marL="101600" marR="101600" marT="38100" marB="38100" anchor="ctr">
                    <a:solidFill>
                      <a:srgbClr val="F4F2FA"/>
                    </a:solidFill>
                  </a:tcPr>
                </a:tc>
                <a:tc>
                  <a:txBody>
                    <a:bodyPr/>
                    <a:lstStyle/>
                    <a:p>
                      <a:r>
                        <a:rPr sz="1400" b="0" i="0">
                          <a:solidFill>
                            <a:srgbClr val="1A1440"/>
                          </a:solidFill>
                          <a:latin typeface="Calibri"/>
                        </a:rPr>
                        <a:t>aggregates, the mean by default</a:t>
                      </a:r>
                    </a:p>
                  </a:txBody>
                  <a:tcPr marL="101600" marR="101600" marT="38100" marB="38100" anchor="ctr">
                    <a:solidFill>
                      <a:srgbClr val="F4F2FA"/>
                    </a:solidFill>
                  </a:tcPr>
                </a:tc>
                <a:tc>
                  <a:txBody>
                    <a:bodyPr/>
                    <a:lstStyle/>
                    <a:p>
                      <a:r>
                        <a:rPr sz="1400" b="0" i="0">
                          <a:solidFill>
                            <a:srgbClr val="1A1440"/>
                          </a:solidFill>
                          <a:latin typeface="Calibri"/>
                        </a:rPr>
                        <a:t>cells should aggregate, with aggfunc stated</a:t>
                      </a:r>
                    </a:p>
                  </a:txBody>
                  <a:tcPr marL="101600" marR="101600" marT="38100" marB="38100" anchor="ctr">
                    <a:solidFill>
                      <a:srgbClr val="F4F2FA"/>
                    </a:solidFill>
                  </a:tcPr>
                </a:tc>
              </a:tr>
            </a:tbl>
          </a:graphicData>
        </a:graphic>
      </p:graphicFrame>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3" name="Oval 2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5" name="Oval 2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7" name="Oval 2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D42  ·  47 / 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morning built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customer, the sale attached, and a months view that adds back to its source.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347205"/>
                <a:gridCol w="4129753"/>
                <a:gridCol w="4654032"/>
              </a:tblGrid>
              <a:tr h="369824">
                <a:tc>
                  <a:txBody>
                    <a:bodyPr/>
                    <a:lstStyle/>
                    <a:p>
                      <a:r>
                        <a:rPr sz="1450" b="1" i="0">
                          <a:solidFill>
                            <a:srgbClr val="FFFFFF"/>
                          </a:solidFill>
                          <a:latin typeface="Calibri"/>
                        </a:rPr>
                        <a:t>Round</a:t>
                      </a:r>
                    </a:p>
                  </a:txBody>
                  <a:tcPr marL="101600" marR="101600" marT="38100" marB="38100" anchor="ctr">
                    <a:solidFill>
                      <a:srgbClr val="1A0F5C"/>
                    </a:solidFill>
                  </a:tcPr>
                </a:tc>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The trap it replaced</a:t>
                      </a:r>
                    </a:p>
                  </a:txBody>
                  <a:tcPr marL="101600" marR="101600" marT="38100" marB="38100" anchor="ctr">
                    <a:solidFill>
                      <a:srgbClr val="1A0F5C"/>
                    </a:solidFill>
                  </a:tcPr>
                </a:tc>
              </a:tr>
              <a:tr h="369824">
                <a:tc>
                  <a:txBody>
                    <a:bodyPr/>
                    <a:lstStyle/>
                    <a:p>
                      <a:r>
                        <a:rPr sz="1400" b="0" i="0">
                          <a:solidFill>
                            <a:srgbClr val="1A1440"/>
                          </a:solidFill>
                          <a:latin typeface="Calibri"/>
                        </a:rPr>
                        <a:t>One row per customer</a:t>
                      </a:r>
                    </a:p>
                  </a:txBody>
                  <a:tcPr marL="101600" marR="101600" marT="38100" marB="38100" anchor="ctr">
                    <a:solidFill>
                      <a:srgbClr val="FFFFFF"/>
                    </a:solidFill>
                  </a:tcPr>
                </a:tc>
                <a:tc>
                  <a:txBody>
                    <a:bodyPr/>
                    <a:lstStyle/>
                    <a:p>
                      <a:r>
                        <a:rPr sz="1400" b="0" i="0">
                          <a:solidFill>
                            <a:srgbClr val="1A1440"/>
                          </a:solidFill>
                          <a:latin typeface="Calibri"/>
                        </a:rPr>
                        <a:t>111 on the win-back list</a:t>
                      </a:r>
                    </a:p>
                  </a:txBody>
                  <a:tcPr marL="101600" marR="101600" marT="38100" marB="38100" anchor="ctr">
                    <a:solidFill>
                      <a:srgbClr val="FFFFFF"/>
                    </a:solidFill>
                  </a:tcPr>
                </a:tc>
                <a:tc>
                  <a:txBody>
                    <a:bodyPr/>
                    <a:lstStyle/>
                    <a:p>
                      <a:r>
                        <a:rPr sz="1400" b="0" i="0">
                          <a:solidFill>
                            <a:srgbClr val="1A1440"/>
                          </a:solidFill>
                          <a:latin typeface="Calibri"/>
                        </a:rPr>
                        <a:t>166, recency from the run day</a:t>
                      </a:r>
                    </a:p>
                  </a:txBody>
                  <a:tcPr marL="101600" marR="101600" marT="38100" marB="38100" anchor="ctr">
                    <a:solidFill>
                      <a:srgbClr val="FFFFFF"/>
                    </a:solidFill>
                  </a:tcPr>
                </a:tc>
              </a:tr>
              <a:tr h="369824">
                <a:tc>
                  <a:txBody>
                    <a:bodyPr/>
                    <a:lstStyle/>
                    <a:p>
                      <a:r>
                        <a:rPr sz="1400" b="0" i="0">
                          <a:solidFill>
                            <a:srgbClr val="1A1440"/>
                          </a:solidFill>
                          <a:latin typeface="Calibri"/>
                        </a:rPr>
                        <a:t>The exposure merge</a:t>
                      </a:r>
                    </a:p>
                  </a:txBody>
                  <a:tcPr marL="101600" marR="101600" marT="38100" marB="38100" anchor="ctr">
                    <a:solidFill>
                      <a:srgbClr val="F4F2FA"/>
                    </a:solidFill>
                  </a:tcPr>
                </a:tc>
                <a:tc>
                  <a:txBody>
                    <a:bodyPr/>
                    <a:lstStyle/>
                    <a:p>
                      <a:r>
                        <a:rPr sz="1400" b="0" i="0">
                          <a:solidFill>
                            <a:srgbClr val="1A1440"/>
                          </a:solidFill>
                          <a:latin typeface="Calibri"/>
                        </a:rPr>
                        <a:t>107 of 130 reached bought, 82 percent</a:t>
                      </a:r>
                    </a:p>
                  </a:txBody>
                  <a:tcPr marL="101600" marR="101600" marT="38100" marB="38100" anchor="ctr">
                    <a:solidFill>
                      <a:srgbClr val="F4F2FA"/>
                    </a:solidFill>
                  </a:tcPr>
                </a:tc>
                <a:tc>
                  <a:txBody>
                    <a:bodyPr/>
                    <a:lstStyle/>
                    <a:p>
                      <a:r>
                        <a:rPr sz="1400" b="0" i="0">
                          <a:solidFill>
                            <a:srgbClr val="1A1440"/>
                          </a:solidFill>
                          <a:latin typeface="Calibri"/>
                        </a:rPr>
                        <a:t>Rs 34,700 on invented records; 100 percent</a:t>
                      </a:r>
                    </a:p>
                  </a:txBody>
                  <a:tcPr marL="101600" marR="101600" marT="38100" marB="38100" anchor="ctr">
                    <a:solidFill>
                      <a:srgbClr val="F4F2FA"/>
                    </a:solidFill>
                  </a:tcPr>
                </a:tc>
              </a:tr>
              <a:tr h="369824">
                <a:tc>
                  <a:txBody>
                    <a:bodyPr/>
                    <a:lstStyle/>
                    <a:p>
                      <a:r>
                        <a:rPr sz="1400" b="0" i="0">
                          <a:solidFill>
                            <a:srgbClr val="1A1440"/>
                          </a:solidFill>
                          <a:latin typeface="Calibri"/>
                        </a:rPr>
                        <a:t>The months view</a:t>
                      </a:r>
                    </a:p>
                  </a:txBody>
                  <a:tcPr marL="101600" marR="101600" marT="38100" marB="38100" anchor="ctr">
                    <a:solidFill>
                      <a:srgbClr val="FFFFFF"/>
                    </a:solidFill>
                  </a:tcPr>
                </a:tc>
                <a:tc>
                  <a:txBody>
                    <a:bodyPr/>
                    <a:lstStyle/>
                    <a:p>
                      <a:r>
                        <a:rPr sz="1400" b="0" i="0">
                          <a:solidFill>
                            <a:srgbClr val="1A1440"/>
                          </a:solidFill>
                          <a:latin typeface="Calibri"/>
                        </a:rPr>
                        <a:t>Retail-Plus fell 29 percent</a:t>
                      </a:r>
                    </a:p>
                  </a:txBody>
                  <a:tcPr marL="101600" marR="101600" marT="38100" marB="38100" anchor="ctr">
                    <a:solidFill>
                      <a:srgbClr val="FFFFFF"/>
                    </a:solidFill>
                  </a:tcPr>
                </a:tc>
                <a:tc>
                  <a:txBody>
                    <a:bodyPr/>
                    <a:lstStyle/>
                    <a:p>
                      <a:r>
                        <a:rPr sz="1400" b="0" i="0">
                          <a:solidFill>
                            <a:srgbClr val="1A1440"/>
                          </a:solidFill>
                          <a:latin typeface="Calibri"/>
                        </a:rPr>
                        <a:t>18 percent, the default mean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948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004564"/>
            <a:ext cx="237744" cy="237744"/>
          </a:xfrm>
          <a:prstGeom prst="rect">
            <a:avLst/>
          </a:prstGeom>
        </p:spPr>
      </p:pic>
      <p:sp>
        <p:nvSpPr>
          <p:cNvPr id="13" name="TextBox 12"/>
          <p:cNvSpPr txBox="1"/>
          <p:nvPr/>
        </p:nvSpPr>
        <p:spPr>
          <a:xfrm>
            <a:off x="1399031" y="38384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057904"/>
            <a:ext cx="9987991" cy="423672"/>
          </a:xfrm>
          <a:prstGeom prst="rect">
            <a:avLst/>
          </a:prstGeom>
          <a:noFill/>
        </p:spPr>
        <p:txBody>
          <a:bodyPr wrap="square" anchor="t" lIns="0" rIns="0" tIns="0" bIns="0">
            <a:spAutoFit/>
          </a:bodyPr>
          <a:lstStyle/>
          <a:p>
            <a:r>
              <a:rPr sz="1500" b="0" i="0">
                <a:solidFill>
                  <a:srgbClr val="1A1440"/>
                </a:solidFill>
                <a:latin typeface="Calibri"/>
              </a:rPr>
              <a:t>Write how=, validate=, dropna= and aggfunc= every time; each default decided a number this morning.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