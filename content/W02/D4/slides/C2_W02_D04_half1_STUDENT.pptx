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Read the growth team's ask aloud and leave it up. The day is one question climbed in</a:t>
            </a:r>
          </a:p>
          <a:p>
            <a:r>
              <a:t>six chapters: can the growth team act on this table every Monday without an analyst checking it first?</a:t>
            </a:r>
          </a:p>
          <a:p>
            <a:r>
              <a:t>Five chapters this morning, the sixth after lunch, then the full table alone and the three-tool case in</a:t>
            </a:r>
          </a:p>
          <a:p>
            <a:r>
              <a:t>pairs. Every chapter has its own notebook, numbered the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six questions in order and say that each one is the question the previous</a:t>
            </a:r>
          </a:p>
          <a:p>
            <a:r>
              <a:t>answer raises. Chapters 1 to 5 run this morning, chapter 6 opens the afternoon. Ask the room which</a:t>
            </a:r>
          </a:p>
          <a:p>
            <a:r>
              <a:t>question they expect to be hardest; most say the tool choice, and most rooms lose the most marks on</a:t>
            </a:r>
          </a:p>
          <a:p>
            <a:r>
              <a:t>chapter 1's missing customers. Keep this slide's order on the board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growth team is Kalpa Retail's team that runs offers and campaigns; the marketing</a:t>
            </a:r>
          </a:p>
          <a:p>
            <a:r>
              <a:t>lead owns acquisition and campaigns; the head of Retail-Plus owns the paid membership tier; Anand Iyer</a:t>
            </a:r>
          </a:p>
          <a:p>
            <a:r>
              <a:t>is the finance controller. Kavya Nair, the senior analyst, will challenge the room after chapter 3: do</a:t>
            </a:r>
          </a:p>
          <a:p>
            <a:r>
              <a:t>it a third way and choose. Ask: who is hurt most by a customer missing from the table? The growth team,</a:t>
            </a:r>
          </a:p>
          <a:p>
            <a:r>
              <a:t>because a missing row is an offer never 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Pairs, two minutes: name the grain and say which table decides how many rows there</a:t>
            </a:r>
          </a:p>
          <a:p>
            <a:r>
              <a:t>are. Most pick c, because the numbers come from orders. Take the letters in chat before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this on the board and leave it up all day: it is the table's picture, and every</a:t>
            </a:r>
          </a:p>
          <a:p>
            <a:r>
              <a:t>chapter lights one arrow. c is the trap chapter 1 stages: a table built from the orders only knows</a:t>
            </a:r>
          </a:p>
          <a:p>
            <a:r>
              <a:t>customers who ordered.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Write the three numbers on the board. Spend is the value of every order at the</a:t>
            </a:r>
          </a:p>
          <a:p>
            <a:r>
              <a:t>prices charged, whatever became of it, which the retail dossier calls GMV: Monday's warehouse queries</a:t>
            </a:r>
          </a:p>
          <a:p>
            <a:r>
              <a:t>totalled it for April to September. The as-of date is the last date the data covers. Each chapter</a:t>
            </a:r>
          </a:p>
          <a:p>
            <a:r>
              <a:t>adds a way the table can fail one of these checks; chapter 6 makes the refresh refuse to ship when</a:t>
            </a:r>
          </a:p>
          <a:p>
            <a:r>
              <a:t>one fails. Then chapter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minutes. Notebook C2_W02_D04_01_customer_table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five questions; each is a notebook heading.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Retailers call the three numbers RFM, for recency, frequency and monetary value. A</a:t>
            </a:r>
          </a:p>
          <a:p>
            <a:r>
              <a:t>wrong row costs an offer: a customer left out gets nothing, a customer counted wrongly gets the wrong</a:t>
            </a:r>
          </a:p>
          <a:p>
            <a:r>
              <a:t>code. Business is 40 accounts and 99.1 percent of spend, so spend must be read by segment.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Source: Shopify Help Center, Customers reports, checked 1 Oct 2026: "RFM analysis</a:t>
            </a:r>
          </a:p>
          <a:p>
            <a:r>
              <a:t>applies a 3-digit score to each customer ... the days from a customer's most recent purchase</a:t>
            </a:r>
          </a:p>
          <a:p>
            <a:r>
              <a:t>(recency), the total number of orders (frequency), and the total amount spent (monetary value)", and</a:t>
            </a:r>
          </a:p>
          <a:p>
            <a:r>
              <a:t>Prospects, "Customers with no orders yet", are one of its 11 groups. Say it aloud: a platform that</a:t>
            </a:r>
          </a:p>
          <a:p>
            <a:r>
              <a:t>serves millions of shops keeps the non-buyers on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Rows moved is what separates a and c from b; lines of logic is what separates a from</a:t>
            </a:r>
          </a:p>
          <a:p>
            <a:r>
              <a:t>c. Ask: at 5 crore orders, which option still moves 301 rows? b. Hold that thought for chapter 5,</a:t>
            </a:r>
          </a:p>
          <a:p>
            <a:r>
              <a:t>where rows moved decides where Finance's number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This is Week 1's accumulator, written once: split the rows by a key, apply a</a:t>
            </a:r>
          </a:p>
          <a:p>
            <a:r>
              <a:t>calculation to each group, combine the results. Each name in agg becomes a column; each pair says</a:t>
            </a:r>
          </a:p>
          <a:p>
            <a:r>
              <a:t>which column to read and what to do with it. SQL says the same with GROUP BY customer_id and max,</a:t>
            </a:r>
          </a:p>
          <a:p>
            <a:r>
              <a:t>count, sum.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in chat, then run the notebook's 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pandas 2 said object for text; pandas 3 says str, checked on 3.0.6</a:t>
            </a:r>
          </a:p>
          <a:p>
            <a:r>
              <a:t>on 30 Sep 2026. The count check is Monday's habit: the frame holds 538 Q1 and 462 Q2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Most say b. Ask why before running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c. The six largest spenders are all Business accounts, which buy in</a:t>
            </a:r>
          </a:p>
          <a:p>
            <a:r>
              <a:t>lakhs; that is why spend is read by segment. The 39 missing from 340 are chapter 1's trap,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growth team's first use of the table is the first-order nudge: a welcome offer to</a:t>
            </a:r>
          </a:p>
          <a:p>
            <a:r>
              <a:t>everyone who signed up and never bought. Letters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a. Nothing errored, every row is right, and the number is wrong. The</a:t>
            </a:r>
          </a:p>
          <a:p>
            <a:r>
              <a:t>decision it misleads: a campaign with no audience, reported as "nobody to nudge".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Two layers. The table built from orders has no row for a customer with no orders. A</a:t>
            </a:r>
          </a:p>
          <a:p>
            <a:r>
              <a:t>left merge brings them back, but their count is NaN and the column turns float64, because pandas</a:t>
            </a:r>
          </a:p>
          <a:p>
            <a:r>
              <a:t>cannot hold a missing value in whole numbers, so == 0 still finds nobody.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Say what a missing number means in this business: no orders means a frequency of 0</a:t>
            </a:r>
          </a:p>
          <a:p>
            <a:r>
              <a:t>and a spend of 0, and the last order date stays empty. validate stops the merge if either side ever</a:t>
            </a:r>
          </a:p>
          <a:p>
            <a:r>
              <a:t>holds a customer twice; chapter 2 explains it. Spend did not move, which is why a spend check alone</a:t>
            </a:r>
          </a:p>
          <a:p>
            <a:r>
              <a:t>would never have caught the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route shares no code with the notebook, so a slip in the merge or a fill cannot</a:t>
            </a:r>
          </a:p>
          <a:p>
            <a:r>
              <a:t>move it. count(o.order_id) gives 0 for a customer with no orders where count(*) would give 1. When to</a:t>
            </a:r>
          </a:p>
          <a:p>
            <a:r>
              <a:t>switch: pandas to build on, SQL to hand an auditor.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 for the interview: split the orders by customer, apply the latest date,</a:t>
            </a:r>
          </a:p>
          <a:p>
            <a:r>
              <a:t>a count and a sum, combine one row per customer; it is GROUP BY, and Week 1's accumulator written</a:t>
            </a:r>
          </a:p>
          <a:p>
            <a:r>
              <a:t>once. Then chapter 2: the marketing lead wants the monsoon sale on these 340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minutes. Notebook C2_W02_D04_02_exposure_merge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six questions. Chapter 1 left 340 rows and Rs 19,84,00,000; this chapter</a:t>
            </a:r>
          </a:p>
          <a:p>
            <a:r>
              <a:t>must leave both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campaign platform sends a feed of the customers the sale reached, with the date</a:t>
            </a:r>
          </a:p>
          <a:p>
            <a:r>
              <a:t>it reached them. The feed is another team's system, so its promise of one row per customer is a</a:t>
            </a:r>
          </a:p>
          <a:p>
            <a:r>
              <a:t>promise to check, which is Tuesday's lesson in a new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Source: Meta for Developers, Handling Duplicate Pixel and Conversions API Events,</a:t>
            </a:r>
          </a:p>
          <a:p>
            <a:r>
              <a:t>checked 1 Oct 2026: an advertiser sending events both ways "must set up a deduplication method".</a:t>
            </a:r>
          </a:p>
          <a:p>
            <a:r>
              <a:t>Under the recommended method, when the same event ID and event name reach the same Pixel within 48</a:t>
            </a:r>
          </a:p>
          <a:p>
            <a:r>
              <a:t>hours, Meta keeps the first and discards the rest: a first-touch rule, like today's.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sizing column is the error each option risks: under b or c a re-sent row adds</a:t>
            </a:r>
          </a:p>
          <a:p>
            <a:r>
              <a:t>that customer's whole spend again, Rs 5,100 for a typical Retail-Core or Retail-Plus customer and up</a:t>
            </a:r>
          </a:p>
          <a:p>
            <a:r>
              <a:t>to Rs 26,020 for the largest. Ask what the date is for: whether a customer bought after the sale.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Tuesday drew these four in SQL: INNER JOIN, LEFT JOIN, RIGHT JOIN, FULL OUTER JOIN.</a:t>
            </a:r>
          </a:p>
          <a:p>
            <a:r>
              <a:t>pandas spells them how="inner", "left", "right", "outer". Next: what happens when how is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in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The default is inner, which is not what the table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Notebook 02 section 3 builds this. Four customers in, five rows out. The decision it</a:t>
            </a:r>
          </a:p>
          <a:p>
            <a:r>
              <a:t>misleads: a November budget asked for on Rs 8,600 nobody paid, a third of the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validate="one_to_one" promises each key once on both sides; many_to_one allows</a:t>
            </a:r>
          </a:p>
          <a:p>
            <a:r>
              <a:t>repeats on the left only; one_to_many the reverse. pandas 3.0.6 lists the repeated keys under the</a:t>
            </a:r>
          </a:p>
          <a:p>
            <a:r>
              <a:t>error. Then the your-turn cell: the room runs the same merge on Kalpa's feed, reads the counts aloud</a:t>
            </a:r>
          </a:p>
          <a:p>
            <a:r>
              <a:t>and says what a plain merge would have done. Give it five minutes and do not read out the ids.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 repeated customer is a business question first: reached twice is still reached.</a:t>
            </a:r>
          </a:p>
          <a:p>
            <a:r>
              <a:t>The rule: one row per customer, the date the sale first reached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c. The reached customers spent Rs 8,78,980 over the two quarters.</a:t>
            </a:r>
          </a:p>
          <a:p>
            <a:r>
              <a:t>Reached Retail-Plus members averaged Rs 8,993 against Rs 7,660 for the unreached, and Week 1 Thursday</a:t>
            </a:r>
          </a:p>
          <a:p>
            <a:r>
              <a:t>found the sale reached customers who were buying anyway, so the gap says who was chosen before it</a:t>
            </a:r>
          </a:p>
          <a:p>
            <a:r>
              <a:t>says what the sale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IN asks only whether a customer is in the feed, however often, so it cannot fan out.</a:t>
            </a:r>
          </a:p>
          <a:p>
            <a:r>
              <a:t>When to switch: the merge for the table, since the date rides along; isin for yes or no; SQL for</a:t>
            </a:r>
          </a:p>
          <a:p>
            <a:r>
              <a:t>Finance checking the marketing lead's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breath: validate with one_to_one, one_to_many or many_to_one; it raises</a:t>
            </a:r>
          </a:p>
          <a:p>
            <a:r>
              <a:t>pandas.errors.MergeError naming the side whose keys repeat; it is the count check made loud. Then</a:t>
            </a:r>
          </a:p>
          <a:p>
            <a:r>
              <a:t>chapter 3: the head of Retail-Plus wants the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minutes. Notebook C2_W02_D04_03_months_pivot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Chapter 2 left 340 rows and 130 reached. Week 1 found Retail-Plus members ordering</a:t>
            </a:r>
          </a:p>
          <a:p>
            <a:r>
              <a:t>less often; this chapter measures the tier's fall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 number too small argues the tier's problem down; rows that stand for the wrong</a:t>
            </a:r>
          </a:p>
          <a:p>
            <a:r>
              <a:t>thing protect the wrong members. Leave the question mark on the slide: the room computes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Sources, checked 1 Oct 2026: Costco's fourth-quarter fiscal 2026 supplemental</a:t>
            </a:r>
          </a:p>
          <a:p>
            <a:r>
              <a:t>information, filed with the SEC on 24 Sep 2026, and the earnings call that day, where the chief</a:t>
            </a:r>
          </a:p>
          <a:p>
            <a:r>
              <a:t>financial officer reported "traffic or shopping frequency increased 3.3% worldwide" and "our average</a:t>
            </a:r>
          </a:p>
          <a:p>
            <a:r>
              <a:t>transaction or ticket was up 5.9% worldwide". A paid membership business reports the two numbers</a:t>
            </a:r>
          </a:p>
          <a:p>
            <a:r>
              <a:t>separately for a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376 empty cells are member-months with no order. c fixes six months in its</a:t>
            </a:r>
          </a:p>
          <a:p>
            <a:r>
              <a:t>text, so every new month is an edit and a place for a typo. pivot_table turns the values of one</a:t>
            </a:r>
          </a:p>
          <a:p>
            <a:r>
              <a:t>column into columns; the next slides show what it does with repeats.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in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c. The 13 Retail-Plus members who never ordered are in no row. Hold</a:t>
            </a:r>
          </a:p>
          <a:p>
            <a:r>
              <a:t>the two quarters: Rs 5,85,770 and Rs 4,13,380.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hurried analyst writes the pivot in one line and adds up the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Ask what could make a sum of columns come in low before showing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pivot_table's default aggfunc is "mean", checked on pandas 3.0.6. A member who</a:t>
            </a:r>
          </a:p>
          <a:p>
            <a:r>
              <a:t>ordered four times in June shows the average of the four, and the column sums add averages, which hide</a:t>
            </a:r>
          </a:p>
          <a:p>
            <a:r>
              <a:t>how often members bought: the very lever Retail-Plus moved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fill_value=0 writes a month with no order as 0 spend instead of a gap. Then the</a:t>
            </a:r>
          </a:p>
          <a:p>
            <a:r>
              <a:t>your-turn: the same view for Retail-Core; the room checks the grand total first and says whether the</a:t>
            </a:r>
          </a:p>
          <a:p>
            <a:r>
              <a:t>averaged pivot even gets the direction right. It does not: summed, Retail-Core fell 1.8 percent;</a:t>
            </a:r>
          </a:p>
          <a:p>
            <a:r>
              <a:t>averaged, it rose 1.5.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minutes, notebook section 4. Ask the room to predict the shape first: 107 by 6, 355 by 6, 6</a:t>
            </a:r>
          </a:p>
          <a:p>
            <a:r>
              <a:t>by 107 or 120 by 6. The 13 members who never ordered are in neither view, a decision to state when</a:t>
            </a:r>
          </a:p>
          <a:p>
            <a:r>
              <a:t>the view goes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pivot widens, melt lengthens. The trend in members ordering each month, 56, 47, 48,</a:t>
            </a:r>
          </a:p>
          <a:p>
            <a:r>
              <a:t>40, 38, 37, is how often again, and it needs the long shape to plot.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When to switch: the pivot for the head's rows, the quarter query for the one number,</a:t>
            </a:r>
          </a:p>
          <a:p>
            <a:r>
              <a:t>and the query to trust when a pivot's arguments are in doubt.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breath: pivot and pivot_table widen, the values of one column become columns;</a:t>
            </a:r>
          </a:p>
          <a:p>
            <a:r>
              <a:t>melt lengthens, folding columns back into rows. Then the break, ten minutes, before chapter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Ten-minute break first, then thirty minutes. Notebook C2_W02_D04_04_three_tools is the</a:t>
            </a:r>
          </a:p>
          <a:p>
            <a:r>
              <a:t>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Kavya's challenge, word for word: "You did the tree in plain Python in Week 1 and in SQL</a:t>
            </a:r>
          </a:p>
          <a:p>
            <a:r>
              <a:t>on Monday. Answer it three ways, then tell me why they agree, or why they do not."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Bought means at least one order in the two quarters; whether the sale caused it is</a:t>
            </a:r>
          </a:p>
          <a:p>
            <a:r>
              <a:t>Week 1 Thursday's question. A share that leaves out the reached who never bought makes the sale look</a:t>
            </a:r>
          </a:p>
          <a:p>
            <a:r>
              <a:t>perfect.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Source: Uber Blog, "The Journey Towards Metric Standardization", 12 January 2021,</a:t>
            </a:r>
          </a:p>
          <a:p>
            <a:r>
              <a:t>checked 1 Oct 2026: Operations computed completed trips as a Presto/Hive SQL for daily dashboards</a:t>
            </a:r>
          </a:p>
          <a:p>
            <a:r>
              <a:t>while Pricing Engineering built its own from a Cassandra table; the goal became "a strictly ONE to</a:t>
            </a:r>
          </a:p>
          <a:p>
            <a:r>
              <a:t>ONE mapping" between a metric and its business logic.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Plain Python is the route for explaining a count line by line. The hurried version</a:t>
            </a:r>
          </a:p>
          <a:p>
            <a:r>
              <a:t>in every tool reads each customer's segment from their orders, which is where this chapter goes</a:t>
            </a:r>
          </a:p>
          <a:p>
            <a:r>
              <a:t>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.get returns None for a customer the dictionary does not 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b. Run the SQL version too, notebook section 3: three rows, one NULL.</a:t>
            </a:r>
          </a:p>
          <a:p>
            <a:r>
              <a:t>The 23 are reached customers with no orders, so no segment could be read from their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the room to predict before running: 82, 100, 50, or cannot be computed. The</a:t>
            </a:r>
          </a:p>
          <a:p>
            <a:r>
              <a:t>hurried pandas route reports 100 percent on 107 customers. The decision it misleads: a marketing lead</a:t>
            </a:r>
          </a:p>
          <a:p>
            <a:r>
              <a:t>asking for the same budget on perfect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groupby's dropna defaults to True, checked on pandas 3.0.6; the API page says NA</a:t>
            </a:r>
          </a:p>
          <a:p>
            <a:r>
              <a:t>keys "will be dropped". The reached who never bought are exactly the ones that vanished.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for the Retail-Plus share as a letter first: 100, 85, 80 or 51 percent. The</a:t>
            </a:r>
          </a:p>
          <a:p>
            <a:r>
              <a:t>answer is 85. The disagreement was about where the segment came from, never about the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Sets never ask for a segment, so they cannot drop one. When to switch: the grouped</a:t>
            </a:r>
          </a:p>
          <a:p>
            <a:r>
              <a:t>pandas count for the slide, the set difference when a group count looks too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breath: SQL puts NULLs in one group of their own; pandas drops them by default;</a:t>
            </a:r>
          </a:p>
          <a:p>
            <a:r>
              <a:t>check the groups add back to the rows. Then chapter 5: if three tools can agree, which should own</a:t>
            </a:r>
          </a:p>
          <a:p>
            <a:r>
              <a:t>which number?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minutes. Notebook C2_W02_D04_05_tool_choice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Week 1 Wednesday: the dashboard's Rs 2.1 crore against the books' Rs 1.9 crore, two</a:t>
            </a:r>
          </a:p>
          <a:p>
            <a:r>
              <a:t>copies of one number, a month lost to the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Kavya's words. The four recurring asks are Finance's revenue, the growth team's</a:t>
            </a:r>
          </a:p>
          <a:p>
            <a:r>
              <a:t>table, the head of Retail-Plus's months view and an auditor's one-off; slide S67 assigns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Source: LinkedIn Engineering, Unified Metrics Platform, checked 1 Oct 2026:</a:t>
            </a:r>
          </a:p>
          <a:p>
            <a:r>
              <a:t>"Multiple stakeholders come up with different ways to calculate the same metric arriving at slightly</a:t>
            </a:r>
          </a:p>
          <a:p>
            <a:r>
              <a:t>different results"; the platform "serves as the single source of truth for all business metrics at</a:t>
            </a:r>
          </a:p>
          <a:p>
            <a:r>
              <a:t>Linkedin".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Speed and rows moved are the two sizes still missing; the next slides measure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Letters, then run notebook section 2, which times each route end to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c. The bars show one run in thousandths of a second; the numbers vary</a:t>
            </a:r>
          </a:p>
          <a:p>
            <a:r>
              <a:t>each time. Say it plainly: a sizing that does not separate the options decides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before revealing: how many rows did the pandas route move out of the warehouse</a:t>
            </a:r>
          </a:p>
          <a:p>
            <a:r>
              <a:t>to produce its eight? a) 8; b) 340; c) 1,000; d) 1,340.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d, 1,340. The fix: size a route by the rows it moves and by who must</a:t>
            </a:r>
          </a:p>
          <a:p>
            <a:r>
              <a:t>rerun it. The note's line for Finance does not change; its reason is now a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Ask first which ask plain Python should own: the auditor's one-off, asked once and</a:t>
            </a:r>
          </a:p>
          <a:p>
            <a:r>
              <a:t>read line by line. The refusal is the sentence Kavya will ask for in the interview drill.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two routes share no code: chapter 1's groupby and merge against SQL. Both add up</a:t>
            </a:r>
          </a:p>
          <a:p>
            <a:r>
              <a:t>to Rs 19,84,00,000. The depth section shows a temporary view that pandas reads, so the definition is</a:t>
            </a:r>
          </a:p>
          <a:p>
            <a:r>
              <a:t>never retyped.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breath: they agree, so I choose by who reruns the number: SQL for Finance,</a:t>
            </a:r>
          </a:p>
          <a:p>
            <a:r>
              <a:t>pandas for the analyst's bench reading SQL's answers, plain Python for a one-off explained line by</a:t>
            </a:r>
          </a:p>
          <a:p>
            <a:r>
              <a:t>line; on 1,000 rows speed separates nothing, so I size by rows moved. The morning closes here;</a:t>
            </a:r>
          </a:p>
          <a:p>
            <a:r>
              <a:t>after lunch, chapter 6 makes the table rebuild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Relationship Id="rId5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Relationship Id="rId5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Relationship Id="rId5" Type="http://schemas.openxmlformats.org/officeDocument/2006/relationships/image" Target="../media/image20.png"/><Relationship Id="rId6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Relationship Id="rId5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Relationship Id="rId5" Type="http://schemas.openxmlformats.org/officeDocument/2006/relationships/image" Target="../media/image2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Relationship Id="rId5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Relationship Id="rId5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6.xml"/><Relationship Id="rId5" Type="http://schemas.openxmlformats.org/officeDocument/2006/relationships/image" Target="../media/image2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9.xml"/><Relationship Id="rId5" Type="http://schemas.openxmlformats.org/officeDocument/2006/relationships/image" Target="../media/image2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5.xml"/><Relationship Id="rId5" Type="http://schemas.openxmlformats.org/officeDocument/2006/relationships/image" Target="../media/image9.png"/><Relationship Id="rId6" Type="http://schemas.openxmlformats.org/officeDocument/2006/relationships/image" Target="../media/image28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0.xml"/><Relationship Id="rId5" Type="http://schemas.openxmlformats.org/officeDocument/2006/relationships/image" Target="../media/image2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2.xml"/><Relationship Id="rId5" Type="http://schemas.openxmlformats.org/officeDocument/2006/relationships/image" Target="../media/image30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7.xml"/><Relationship Id="rId5" Type="http://schemas.openxmlformats.org/officeDocument/2006/relationships/image" Target="../media/image3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9.xml"/><Relationship Id="rId5" Type="http://schemas.openxmlformats.org/officeDocument/2006/relationships/image" Target="../media/image3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7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479576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2  ·  THURSDAY  ·  HALF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1291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Can Marketing act on Monday's table without checking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263136"/>
            <a:ext cx="10033711" cy="9776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“One table, one row per customer, refreshed every Monday: how recently each customer bought, how often, how much, their segment, whether the monsoon sale reached them, and the flags we act on.”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29564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growth team, Kalpa Retail. The data platform lead adds: build it in pandas, from the warehouse, refreshable in one 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870448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One row per customer?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3755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7803" y="5870448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Who did the sale reach?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019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8067" y="5870448"/>
            <a:ext cx="16024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3433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7481" y="5870448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Do three tools agree?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5396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9444" y="5870448"/>
            <a:ext cx="166163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75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questions stand between the ask and Monday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Can the growth team act on one row per customer, every Monday, without checking it first?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1381734" y="2523744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1</a:t>
            </a:r>
          </a:p>
        </p:txBody>
      </p:sp>
      <p:sp>
        <p:nvSpPr>
          <p:cNvPr id="11" name="Oval 10"/>
          <p:cNvSpPr/>
          <p:nvPr/>
        </p:nvSpPr>
        <p:spPr>
          <a:xfrm>
            <a:off x="1281150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One row per customer?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recently, how often and how much has each of the 340 customers bought?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5997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2</a:t>
            </a:r>
          </a:p>
        </p:txBody>
      </p:sp>
      <p:sp>
        <p:nvSpPr>
          <p:cNvPr id="16" name="Oval 15"/>
          <p:cNvSpPr/>
          <p:nvPr/>
        </p:nvSpPr>
        <p:spPr>
          <a:xfrm>
            <a:off x="316679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415997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0589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0589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customers did the monsoon sale reach, and what did they spend?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01642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3</a:t>
            </a:r>
          </a:p>
        </p:txBody>
      </p:sp>
      <p:sp>
        <p:nvSpPr>
          <p:cNvPr id="21" name="Oval 20"/>
          <p:cNvSpPr/>
          <p:nvPr/>
        </p:nvSpPr>
        <p:spPr>
          <a:xfrm>
            <a:off x="505244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01642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6234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6234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far did Retail-Plus members' spend fall from Q1 to Q2, month by month?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7287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4</a:t>
            </a:r>
          </a:p>
        </p:txBody>
      </p:sp>
      <p:sp>
        <p:nvSpPr>
          <p:cNvPr id="26" name="Oval 25"/>
          <p:cNvSpPr/>
          <p:nvPr/>
        </p:nvSpPr>
        <p:spPr>
          <a:xfrm>
            <a:off x="6938086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87287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1879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Do three tools agree?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1879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Of the 130 reached, how many bought, in plain Python, SQL and pandas?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72932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5</a:t>
            </a:r>
          </a:p>
        </p:txBody>
      </p:sp>
      <p:sp>
        <p:nvSpPr>
          <p:cNvPr id="31" name="Oval 30"/>
          <p:cNvSpPr/>
          <p:nvPr/>
        </p:nvSpPr>
        <p:spPr>
          <a:xfrm>
            <a:off x="882373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72932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37524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7524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tool owns which recurring number, and which would you refuse for Finance?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58578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6</a:t>
            </a:r>
          </a:p>
        </p:txBody>
      </p:sp>
      <p:sp>
        <p:nvSpPr>
          <p:cNvPr id="36" name="Oval 35"/>
          <p:cNvSpPr/>
          <p:nvPr/>
        </p:nvSpPr>
        <p:spPr>
          <a:xfrm>
            <a:off x="10709376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958578" y="2843784"/>
            <a:ext cx="1702765" cy="142240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23170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Will Monday rebuild it?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23170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Can the table rebuild itself and refuse to ship when something breaks?</a:t>
            </a:r>
          </a:p>
        </p:txBody>
      </p:sp>
      <p:sp>
        <p:nvSpPr>
          <p:cNvPr id="40" name="Oval 3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2" name="Oval 4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4" name="Oval 4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6" name="Oval 4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48" name="Oval 4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75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people act on this table, each in their own 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reads the Monday table, and what do they do with a wrong row?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57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gaphone_df6318bcf2f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GROWTH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Sends the offers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win-back code to customers who have gone quiet, a first-order nudge to those who signed up and never bought. A missing row gets no offer.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57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badge-percent_43803fca0e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MARKETING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Asks for November's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53466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Wants the monsoon sale on the table: whom it reached and what they spent. An inflated number funds the wrong campaign.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57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rown_50cb0a914c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HEAD OF RETAIL-PLUS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Takes one number to the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53466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paid tier's fall from Q1 to Q2, month by month. Too small a number argues the problem away.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5755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landmark_74597fd10b4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FINANCE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Reruns every number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 Iyer's analyst ties the team's numbers to the warehouse line by line.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" y="47152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8952" y="49179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message-square_028dbd132a0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5027676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399031" y="48615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99031" y="50810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"One table, one row per customer, refreshed every Monday, and one run to rebuild it."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0" name="Oval 3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2" name="Oval 41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4" name="Oval 4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46" name="Oval 4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75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is one row of the table?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Before any tool opens, what does one row stand for, and where does each column come from?</a:t>
            </a:r>
          </a:p>
        </p:txBody>
      </p:sp>
      <p:pic>
        <p:nvPicPr>
          <p:cNvPr id="9" name="mermaid diagram" descr="cf36fd134a177b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2660" y="1956816"/>
            <a:ext cx="5286375" cy="27146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1774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945761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93661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is one row, as a letter? a) one order; b) one customer on the list; c) one customer who ordered; d) one customer the sale reached.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75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one customer on the list, 340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source decides the rows, and which ones only add columns?</a:t>
            </a:r>
          </a:p>
        </p:txBody>
      </p:sp>
      <p:pic>
        <p:nvPicPr>
          <p:cNvPr id="9" name="mermaid diagram" descr="4bacaf0978d0227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672" y="1956816"/>
            <a:ext cx="9658350" cy="27146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1774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945761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93661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answer is b. The customer list decides how many rows there are; the orders and the feed only add columns to it, and the flags are computed from those columns.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5 / 75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checks every Monday, before anyone acts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table have to agree with before it leaves the team?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68249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16357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6474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per customer on the list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287121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68249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16357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SPEND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36474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warehouse's two quarters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287121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68249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28 Sep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16357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AS 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36474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data's last order date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287121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mermaid diagram" descr="aa990960b8bbe9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3007" y="3145536"/>
            <a:ext cx="7265680" cy="3054096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6 / 75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One row per customer?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recently, how often and how much has each of Kalpa's 340 customers bought, before any offer goes out?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75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Answering it takes five smaller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answer, and what has to be settled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growth team, which sends a win-back code or a first-order nudge from this table every Monday; a customer missing from it gets no offer at all.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299" y="3496056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6971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way builds it?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loop, SQL or pandas, each sized on 1,000 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3126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73248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93126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7718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Did every order arrive?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7718" y="44648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frame against the warehouse's count and types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5900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99526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55900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492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Does groupby match the loop?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492" y="44648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Week 1's accumulator in one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8674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825803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8674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3266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never ordered?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3266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count the nudge list rests 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1448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10520812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81448" y="3816096"/>
            <a:ext cx="2079894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46040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Does SQL agree?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46040" y="4250182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same three numbers by a route that shares no code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40" name="Oval 3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2" name="Oval 41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4" name="Oval 4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46" name="Oval 4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75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numbers per customer decide the offer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growth team decide with the table, and what does a wrong row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10588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39166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 ON THE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59283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four segments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09930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10588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39166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59283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September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09930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10588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39166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SPEND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59283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order at the price charged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09930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30352" y="3373628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37324"/>
                <a:gridCol w="5108404"/>
                <a:gridCol w="438526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number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Plainly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decides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Recency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date of the last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gets a win-back code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count of orders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is a regular, who ordered once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orders' value, at the prices charged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is worth protecting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530352" y="51089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53116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421376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52552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54747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"Who has gone quiet, who never started, and who is worth the most?"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9" name="Oval 2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1" name="Oval 3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3" name="Oval 3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5" name="Oval 3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75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Shopify scores every customer, buyers or 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builds one row per customer, and what happens to customers with no orders?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 to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PER NUMBER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recency, frequency, monetary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RFM GROUPS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from Champions to Prospects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Prospects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NO ORDERS YET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of the 11, never left off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table that drops customers with no orders cannot put anyone in Shopify's Prospects group, and the offer written for them has nobody to go to.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75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pandas, because the next chapters need the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three ways should build one row per customer, and what does each cost on 1,000 orders?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74349"/>
                <a:gridCol w="3742845"/>
                <a:gridCol w="1842610"/>
                <a:gridCol w="357118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 moved out of the warehouse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Lines of logic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next five chapters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Week 1's loop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by hand, one dictionary at a time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SQL GROUP BY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new query for every new view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pandas groupby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in memory: merge, pivot, recount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81984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72840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c. The growth team's analysts work in Python, and the next chapters merge, pivot and recount the same orders. What would switch it: an orders table in the crores, too big to move each Monday; then the warehouse groups (b) and pandas reads 301 rows.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11 / 75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groupby splits, applies and combines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one line of groupby do to 1,000 order rows?</a:t>
            </a:r>
          </a:p>
        </p:txBody>
      </p:sp>
      <p:pic>
        <p:nvPicPr>
          <p:cNvPr id="9" name="mermaid diagram" descr="293fb6581593a45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84346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294658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307460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307460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4128" y="307460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327577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rfm = (orders.groupby("customer_id")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.agg(last_order=("order_date", "max"), frequency=("order_id", "count"),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spend=("amount", "sum"))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.reset_index())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12 / 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types does read_sql give pandas 3?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the frame pandas reads hold every order the warehouse holds?</a:t>
            </a:r>
          </a:p>
        </p:txBody>
      </p:sp>
      <p:pic>
        <p:nvPicPr>
          <p:cNvPr id="9" name="mermaid diagram" descr="1db146b947fa3f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3966" y="1956816"/>
            <a:ext cx="7243762" cy="11287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23183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35984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35070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types of customer_id and amount, as a letter? a) object and object; b) str and float64; c) str and int64; d) object and Decimal.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13 / 75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str for text, float64 for amounts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Did all 1,000 orders arrive, as types pandas can use?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1,000 = 1,000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pandas and Postgres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str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CUSTOMER_ID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pandas 3's text 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float64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number pandas can sum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tutorial that finds text columns with dtype == object finds none on pandas 3, because text reads as str. parse_dates makes order_date a real date, which chapter 6 subtracts.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14 / 75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rows does spend per customer have?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one line of groupby give the same totals as Week 1's loop?</a:t>
            </a:r>
          </a:p>
        </p:txBody>
      </p:sp>
      <p:pic>
        <p:nvPicPr>
          <p:cNvPr id="9" name="mermaid diagram" descr="cac8d1e3c3c4077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1091" y="1956816"/>
            <a:ext cx="7529512" cy="22002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30339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431410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42226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1,000, one per order; b) 340, one per customer on the list; c) 301; d) 4, one per segment.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15 / 75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301, the customers who ordered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 the loop and groupby agree, and on how many customers?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5B3FD6"/>
                </a:solidFill>
                <a:latin typeface="Georgia"/>
              </a:rPr>
              <a:t>301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01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02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per customer who ordered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5B3FD6"/>
                </a:solidFill>
                <a:latin typeface="Georgia"/>
              </a:rPr>
              <a:t>301 of 301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01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AGREE TO THE RUPEE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02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loop and groupby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5B3FD6"/>
                </a:solidFill>
                <a:latin typeface="Georgia"/>
              </a:rPr>
              <a:t>Rs 2,23,10,600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01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LARGEST SPENDER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02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C-0286, a Business account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groupby can only make a group for a customer it meets in the rows it was given, and the rows are orders. The loop has the same blind spot.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16 / 75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does the hurried nudge filter find?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many customers on the list have never ordered?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never = rfm[rfm["frequency"] == 0]     # the first-order nudge list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len(never)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083560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211576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202432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What does the hurried filter return, as a letter? a) 0; b) 39; c) 301; d) 340.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17 / 75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0, the plausible wrong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would the growth team have sent on Monday?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 WHO NEVER ORDERED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hurried filter's count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 IN THE 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per customer, or so it seems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welcome offer goes to nobody, and the 39 customers who signed up and never ordered stay unwelcomed.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18 / 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301 rows against 340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does the filter find nobody, and which check catches it?</a:t>
            </a:r>
          </a:p>
        </p:txBody>
      </p:sp>
      <p:pic>
        <p:nvPicPr>
          <p:cNvPr id="9" name="mermaid diagram" descr="34695c7fa9591e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76520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6832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99633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98719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Rows against the customer list before any filter: 301 against 340. The half-fix fails too: merged onto the list, the 39 arrive with a missing frequency, and a missing value never equals 0.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19 / 75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the list is the spine, and 39 appear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changes when the table starts from the customer list?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table = customers.merge(rfm, on="customer_id", how="left", validate="one_to_one")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table = table.assign(frequency=table["frequency"].fillna(0).astype("int64"),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   spend=table["spend"].fillna(0))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33603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81711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018279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customer on the list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52475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33603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81711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NEVER ORDERED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018279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Core 19, Plus 13, Student 6, Business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52475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33603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81711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SPEND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018279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unchanged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52475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20 / 75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SQL agrees on all 340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SQL, run on its own, give all 340 customers the same three numbers?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c.customer_id, max(o.order_date) AS last_order,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count(o.order_id) AS frequency, coalesce(sum(o.amount), 0) AS spend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customers c LEFT JOIN orders o ON o.customer_id = c.customer_id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GROUP BY c.customer_id;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8851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340 = 340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3235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5247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SQL and pandas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58851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 of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3235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NUMBERS AGREE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5247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last order, frequency, spend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58851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3235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FREQUENCY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5247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count(o.order_id) counts only matches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21 / 75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1: 340 rows, 39 never ordered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68249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76286"/>
                <a:gridCol w="765470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Which way builds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pandas, moving 1,000 orders; SQL grouping when they run to crores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Did every order arrive?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1,000 of 1,000, text as str, amounts as float64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Does groupby match the loop?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on all 301 customers who ordered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Who never ordered?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39 of 340; the order-built table said 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Does SQL agree?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on every customer's three numbers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950208"/>
            <a:ext cx="11130991" cy="1052576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4789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57624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09651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315968"/>
            <a:ext cx="9987991" cy="61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1A1440"/>
                </a:solidFill>
                <a:latin typeface="Calibri"/>
              </a:rPr>
              <a:t>The table's spine is the customer list, never the orders; check rows against the list, spend against the warehouse, and the never-ordered count every Monday.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167376"/>
            <a:ext cx="11130991" cy="82804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35279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62524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31368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533136"/>
            <a:ext cx="9987991" cy="389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1A1440"/>
                </a:solidFill>
                <a:latin typeface="Calibri"/>
              </a:rPr>
              <a:t>[S] Describe groupby in the split-apply-combine sentence.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22 / 75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Who did the sale reach?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customers did the monsoon sale reach, and what did they spend, before the November budget is asked for?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23 / 75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Answering it takes six smaller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answer, and what has to be settled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marketing lead, who asks for the monsoon sale's budget again in November; an overstated spend makes that case with money nobody paid.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1734" y="3496056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281150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way attaches it?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373581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flag, a merge, a counted merge or a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599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16679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15997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058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how= keep?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058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merge's default, and who it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164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05244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01642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623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a re-sent row do?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623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Invented records, one customer twice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728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6938086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7287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1879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stops it?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79" y="4250182"/>
            <a:ext cx="1373581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argument that refuses the wrong table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93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882373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72932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752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exposure stays?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752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rule, and 340 rows 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8578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6</a:t>
            </a:r>
          </a:p>
        </p:txBody>
      </p:sp>
      <p:sp>
        <p:nvSpPr>
          <p:cNvPr id="39" name="Oval 38"/>
          <p:cNvSpPr/>
          <p:nvPr/>
        </p:nvSpPr>
        <p:spPr>
          <a:xfrm>
            <a:off x="10709376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58578" y="3816096"/>
            <a:ext cx="1702765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23170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Does a count agree?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23170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Reach and spend with no merge at all</a:t>
            </a:r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5" name="Oval 4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47" name="Oval 4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9" name="Oval 4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51" name="Oval 5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24 / 75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sale's feed decides November's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marketing lead decide, and what does an inflated number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August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MONSOON SALE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15 percent off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270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 IT COULD REACH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Retail-Core and Retail-Plus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one row each?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FEED'S PROMISE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from the campaign platform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"Per segment, whom did it reach and what did they spend? I am asking for the same budget in November."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25 / 75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Meta dedupes the same purchase sent twice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meets one event arriving twice, and what do they do about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ROUTES FOR ONE PURCHASE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browser's Pixel and the server's 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ID +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HOW META MATCHES THEM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event_id and event_name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48 hours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WINDOW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after the first event arrives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Two copies of one purchase count as two purchases unless the advertiser dedupes, and a campaign that looks twice as good gets twice the budget.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26 / 75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rule, then a merge that refuses repeats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four ways should attach the sale to the table, and what does each risk?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14815"/>
                <a:gridCol w="2786368"/>
                <a:gridCol w="3496026"/>
                <a:gridCol w="233378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 out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Spend overstated per re-sent row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problem shows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isin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340, always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never; the date is lost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plain merge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340 plus one per re-sent row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5,100 to Rs 26,020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never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merge, counted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340 plus one per re-sent row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5,100 to Rs 26,020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after the table exists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d) rule and guarded merge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340, or the run stops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before the table exists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01726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8119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d: the marketing lead needs the date, and a bad feed should stop Monday's run. What would switch it: a table that only needs yes or no; then a, which cannot multiply a row.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27 / 75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merge is a join with the same four shapes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a pandas merge keep, shape by shape?</a:t>
            </a:r>
          </a:p>
        </p:txBody>
      </p:sp>
      <p:pic>
        <p:nvPicPr>
          <p:cNvPr id="9" name="mermaid diagram" descr="3e1df1a622e85b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2460" y="1956816"/>
            <a:ext cx="8486775" cy="8715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2974657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30688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16617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12096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34041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customer table is the spine, so the growth team's merge is how="left": every customer stays, and the feed adds a date where it has one.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28 / 75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customers does a merge keep by default?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customers does a merge keep when how is left out?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inner = table.merge(exposure, on="customer_id")      # how= left out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831084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959100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49956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every customer on the table; b) only the customers the feed names, since the default is inner; c) every feed row, even customers the table does not know; d) none, since how is required.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29 / 75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only the 130 the feed names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disappears with the default, and why does it matter?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130 of 340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 KEPT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default inner merge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DROPPED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customer the sale missed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unreached are exactly the comparison the marketing lead's case needs. Write how= on every merge, so a reader knows which rows survive.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30 / 75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answer: Rs 34,700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one re-sent row do to the reached customers' spend, on invented records?</a:t>
            </a:r>
          </a:p>
        </p:txBody>
      </p:sp>
      <p:pic>
        <p:nvPicPr>
          <p:cNvPr id="9" name="mermaid diagram" descr="a315cc83344e6d5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5045" y="1664208"/>
            <a:ext cx="5241603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Invented records.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Four invented customers, not Kalpa's, and a feed that names C-9002 twice. The merged slide says Rs 34,700; the reached customers spent Rs 26,100.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31 / 75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wrong, and validate stops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argument stops the merge before a wrong table exists?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small.merge(small_feed, on="customer_id", how="left", validate="one_to_one")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# MergeError: Merge keys are not unique in right dataset; not a one-to-one merge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083560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 in, 5 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818636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COUNT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019804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Tuesday's habit, after the fact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272280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3007" y="3083560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MergeError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3818636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VALIDATE=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3007" y="4019804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before the table exists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4272280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0352" y="4546600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474929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59020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469290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4912360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Every row looks right on its own; only the count, or a promise the merge checks, sees the copy.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9" name="Oval 2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31" name="Oval 3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3" name="Oval 3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5" name="Oval 3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32 / 75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exposure should each customer keep?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exposure should a customer keep, and does the table stay at 340 rows?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first_touch = (exposure.sort_values("exposed_date")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     .drop_duplicates("customer_id", keep=?)[["customer_id", "exposed_date"]])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08356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21157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20243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keep= keeps each customer's first exposure, as a letter? a) "last"; b) False; c) "first"; d) none, since the merge ignores repeats.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33 / 75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keep="first", and 340 rows stay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Did the rule and the guarded merge leave the table whole?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340 = 340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 IN AND 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validate passes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SPEND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before and after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REACHED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Core 70, Plus 60, Rs 8,78,980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keep=False drops every copy of a repeated customer, so a customer sent twice reads as never reached; keep="last" keeps a later date.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34 / 75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a flag and SQL agree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a count with no merge at all give the same reach and spend?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130, Rs 8,78,980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RULE AND THE MERGE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chapter 2's route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130, Rs 8,78,980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ISIN FLAG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flag cannot add a row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130, Rs 8,78,980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SQL, IN AND DISTINCT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 the warehouse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mermaid diagram" descr="5d0421a9bae36d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4066" y="3419856"/>
            <a:ext cx="5643562" cy="1957387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35 / 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2: 130 reached, 340 rows kept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794764"/>
          <a:ext cx="11130990" cy="22260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16584"/>
                <a:gridCol w="7614406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Which way attaches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first-exposure rule and a merge with validate="one_to_one"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how= keep?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Left out, only 130 of 340; the 210 unreached vanish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 re-sent row do?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Invented: Rs 34,700 on the slide, Rs 26,100 truly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stops it?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validate, with a MergeError before the table exists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Which exposure stays?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first; 340 rows, Rs 19,84,00,000, 130 reached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Does a count agree?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Flag, merge and SQL: 130 and Rs 8,78,980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276852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45973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69460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42315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642612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1A1440"/>
                </a:solidFill>
                <a:latin typeface="Calibri"/>
              </a:rPr>
              <a:t>A merge is a join: 340 rows in and 340 out, Rs 19,84,00,000 before and after, and the rule in writing beside the table.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264404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4472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5570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41070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630164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1A1440"/>
                </a:solidFill>
                <a:latin typeface="Calibri"/>
              </a:rPr>
              <a:t>[F] Which merge argument raises on duplicate keys, and which error does it raise?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36 / 75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Retail-Plus slipping?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far did Retail-Plus members' spend fall from Q1 to Q2, month by month, in the number the growth review hears?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37 / 75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Answering it takes six smaller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answer, and what has to be settled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head of Retail-Plus, the paid tier, who takes one number to the growth review and uses the rows to decide which members to protect.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1734" y="3496056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281150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shape answers?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Long, wide, or a query per month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599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16679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1599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058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How many member-months?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058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long table and its true totals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164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05244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0164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623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a one-line pivot say?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623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fall, read from the default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728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6938086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728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1879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is one row?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79" y="4250182"/>
            <a:ext cx="1373581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index decides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93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882373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7293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752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Compare or follow?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752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Wide against long, and melt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8578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6</a:t>
            </a:r>
          </a:p>
        </p:txBody>
      </p:sp>
      <p:sp>
        <p:nvSpPr>
          <p:cNvPr id="39" name="Oval 38"/>
          <p:cNvSpPr/>
          <p:nvPr/>
        </p:nvSpPr>
        <p:spPr>
          <a:xfrm>
            <a:off x="10709376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58578" y="3816096"/>
            <a:ext cx="1702765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23170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Does SQL agree?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23170" y="425018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fall with no pivot at all</a:t>
            </a:r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5" name="Oval 4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7" name="Oval 4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9" name="Oval 4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51" name="Oval 5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38 / 75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number goes to the growth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head of Retail-Plus decide, and what does a small number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MEMBERS ON THE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107 of them ordered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 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September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FALL, Q1 TO 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number for the review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"One row per member, one column per month, so I can read along a row and see who is drifting, and the tier's fall in one number."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39 / 75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Costco reports visits and trip size apart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splits how often members buy from what each trip is worth?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+3.3%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TRAFFIC OR SHOPPING FREQUENCY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worldwide, Q4 fiscal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+5.9%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AVERAGE TRANSACTION OR TICKET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worldwide, Q4 fiscal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RENEWAL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US and Canada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single average of the trip hides how often members come, and how often is the lever Week 1 found moving in Retail-Plus.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40 / 75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Long to hold, wide to read, in pandas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three shapes should answer the head of Retail-Plus, and what does each cost?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897161"/>
                <a:gridCol w="914400"/>
                <a:gridCol w="914400"/>
                <a:gridCol w="1907038"/>
                <a:gridCol w="2497991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Shape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Cells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Empty cells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Adding October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long, groupby on member and month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266 by 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798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wide, pivot_table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107 by 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642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376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SQL, a column per month by hand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107 by 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749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376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new line, typed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8198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72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and b together: long keeps every rupee and plots, wide is what the head reads. What would switch it: the view moving into the warehouse every Monday; then c, with a calendar table of months.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41 / 75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member-months did Retail-Plus buy in?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 how many member-months did Retail-Plus actually buy?</a:t>
            </a:r>
          </a:p>
        </p:txBody>
      </p:sp>
      <p:pic>
        <p:nvPicPr>
          <p:cNvPr id="9" name="mermaid diagram" descr="9a00e9fd465d0c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8328" y="1956816"/>
            <a:ext cx="6015037" cy="13716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474720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02736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593592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355, one per order; b) 642, 107 members times 6 months; c) 266; d) 107.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42 / 75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266, and a fall of 29.4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the tier take in each quarter, every order added up?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266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MEMBER-MONTHS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month with no order has no row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5,85,770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June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4,13,380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July to September, a fall of 29.4%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mermaid diagram" descr="a52526358b2b604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5285" y="3419856"/>
            <a:ext cx="9001125" cy="871537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43 / 75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far did the tier fall, per the one-liner?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far did the tier fall, read from a one-line pivot?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wide = plus.pivot_table(index="customer_id", columns="month", values="amount")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wide.sum()          # each month's column added up, Q1 against Q2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08356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21157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20243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fall it reports, as a letter? a) 29 percent; b) 18 percent; c) 0 percent; d) it raises an error.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44 / 75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18 percent, the plausible wrong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would the growth review have heard?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4,12,019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Q1, FROM THE PIVOT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June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3,37,267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Q2, FROM THE 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July to September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-18%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 IT REPORTS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against a true 29.4%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head of Retail-Plus defends a fall of Rs 74,752 when the tier lost Rs 1,72,390.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45 / 75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pivot_table averages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is the pivot short, and which check catches it?</a:t>
            </a:r>
          </a:p>
        </p:txBody>
      </p:sp>
      <p:pic>
        <p:nvPicPr>
          <p:cNvPr id="9" name="mermaid diagram" descr="922784c84ba570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8166" y="1956816"/>
            <a:ext cx="8615362" cy="278606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8918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01719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00805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pivot of spend holds the same total as its orders. This one holds Rs 7,49,286 against Rs 9,99,150, a quarter short.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46 / 75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aggfunc="sum" and fill_value=0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pivot say once a cell means a total?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wide = plus.pivot_table(index="customer_id", columns="month", values="amount",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      aggfunc="sum", fill_value=0)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083560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9,99,150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75513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GRAND 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956303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equals the orders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27228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083560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-29.4%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75513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TO 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3956303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Rs 1,72,390, not Rs 74,752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27228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083560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97,638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75513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 THE AVERAGE HID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3956303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how often, not how much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27228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47 / 75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Indexed by order, the pivot has 355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one row of the pivot stand for?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73975"/>
                <a:gridCol w="914400"/>
                <a:gridCol w="4225484"/>
                <a:gridCol w="3017131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Index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Shape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First row label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One row is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customer_id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107 by 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member's 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member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order_id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355 by 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KR-00125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an 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21868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55092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66064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36499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58444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order-indexed pivot's totals are right, so it survives a glance, but "who is drifting" cannot be read from rows that are orders. Read the row labels aloud before reading a number.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48 / 75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Wide compares, long follows the trend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shape compares a member's quarters, and which follows the tier's trend?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67 of 107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MEMBERS SPENT LESS IN 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wide 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 AFTER MELT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107 members times 6 months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56 to 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MEMBERS ORDERING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September, the long view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mermaid diagram" descr="240dc3c0a9f2bf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16791" y="3419856"/>
            <a:ext cx="7758112" cy="871537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49 / 75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SQL gives the same 29.4%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a query that never pivots give the same fall?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o.quarter, sum(o.amount) AS spend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orders o JOIN customers c ON c.customer_id = o.customer_id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WHERE c.segment = 'Retail-Plus'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GROUP BY o.quarter;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8851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5,85,770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2600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4612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SQL and the summed pivot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58851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4,13,380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2600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4612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SQL and the summed pivot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58851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-29.4%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2600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4612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no aggfunc to forget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50 / 75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3: a fall of 29.4 percent, Rs 1,72,390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794764"/>
          <a:ext cx="11130990" cy="22260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60544"/>
                <a:gridCol w="6570446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Which shape answers?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Long and wide together, in pandas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How many member-months?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266; Rs 5,85,770 in Q1, Rs 4,13,380 in Q2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 one-line pivot say?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18 percent, because it averages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is one row?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 member, 107; indexed by order, 355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Compare or follow?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Wide: 67 members fell; long: 56 to 37 ordering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Does SQL agree?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Yes: 29.4 percent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276852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45973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69460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42315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642612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1A1440"/>
                </a:solidFill>
                <a:latin typeface="Calibri"/>
              </a:rPr>
              <a:t>Write aggfunc= on every pivot, the way you write how= on every merge, and check the grand total against the orders.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264404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4472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5570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41070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630164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1A1440"/>
                </a:solidFill>
                <a:latin typeface="Calibri"/>
              </a:rPr>
              <a:t>[F] Pivot against melt: which widens and which lengthens?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51 / 75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Do three tools agree?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Of the 130 customers the sale reached, how many bought, and do plain Python, SQL and pandas agree on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52 / 75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Answering it takes six smaller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answer, and what has to be settled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marketing lead, through Kavya: the share of reached customers who bought is the second line of the November case, and Kavya signs nothing two tools disagree 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1734" y="3496056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281150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tool answers?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Plain Python, SQL or pandas, sized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599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16679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1599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058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Python count?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058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Sets and a dictionary of segments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164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05244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0164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623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SQL say?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6234" y="4464812"/>
            <a:ext cx="1373581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GROUP BY segment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728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6938086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728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187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Why does pandas say 100%?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7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default that drops a group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93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882373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7293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7524" y="3962400"/>
            <a:ext cx="1373581" cy="6804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Where should the segment come from?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7524" y="467944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So that all three agree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8578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6</a:t>
            </a:r>
          </a:p>
        </p:txBody>
      </p:sp>
      <p:sp>
        <p:nvSpPr>
          <p:cNvPr id="39" name="Oval 38"/>
          <p:cNvSpPr/>
          <p:nvPr/>
        </p:nvSpPr>
        <p:spPr>
          <a:xfrm>
            <a:off x="10709376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58578" y="3816096"/>
            <a:ext cx="1702765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23170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 sets agree?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23170" y="4250182"/>
            <a:ext cx="1373581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No grouping at all</a:t>
            </a:r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5" name="Oval 4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7" name="Oval 4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9" name="Oval 4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51" name="Oval 5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53 / 75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share who bought is the budget's second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is the marketing lead's question, and what does a perfect number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REACHED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chapter 2's rule, one row each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OF THEM BOUGHT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at least one order in two quarters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November case's second 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"Of the customers the sale reached, how many went on to buy?"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54 / 75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Uber's completed trips lived in two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found one question giving two answers in two tools?</a:t>
            </a:r>
          </a:p>
        </p:txBody>
      </p:sp>
      <p:pic>
        <p:nvPicPr>
          <p:cNvPr id="9" name="mermaid diagram" descr="61e3997a34edde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9597" y="1956816"/>
            <a:ext cx="8572500" cy="26574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760595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09282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ug_39ada6eff4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202555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906899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12635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Two teams computing one metric their own way drift into two numbers, and a decision built on either inherits the gap.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55 / 75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pandas answers, SQL checks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tool should answer the marketing lead's question, and what does each cost on this data?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80491"/>
                <a:gridCol w="3418544"/>
                <a:gridCol w="1848577"/>
                <a:gridCol w="4083377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 moved for this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Lines of logic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Where it runs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plain Python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 machine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SQL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warehouse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pandas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 more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 machine, table in memory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8198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72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c, checked by b: the table is in memory, and SQL shares no code with it. What would switch it: the number going to Finance or an auditor; then SQL owns it, chapter 5's question.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56 / 75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keys does Python's dictionary end with?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plain Python count, with a set of reached customers and a dictionary of segments?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seg_of_buyer = {r["customer_id"]: r["segment"] for r in rows}    # read from the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cid in reached_ids: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c = counts.setdefault(seg_of_buyer.get(cid), {"reached": 0, "bought": 0})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46405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454907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2; b) 3; c) 4; d) 130.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57 / 75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three keys, and None holds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 plain Python and SQL say, group by group?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013126"/>
                <a:gridCol w="3203465"/>
                <a:gridCol w="91440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Reached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Bought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None, or NULL in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Nothing yet: plain Python files the 23 under None, and SQL's GROUP BY puts them in a NULL group of their own. Both still count 130.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58 / 75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answer: 100 percent bought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does pandas report that every reached customer bought?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reach = buyers.merge(first_touch, on="customer_id", how="right", validate="one_to_one")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reach.groupby("segment").agg(reached=("customer_id", "count"), bought=("frequency", "count"))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# Retail-Core 56 of 56, Retail-Plus 51 of 51: 107 reached, 100 percent bought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33603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07111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OF REACHED BOUGHT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272279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pandas headline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52475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3007" y="333603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407111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REACHED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3007" y="4272279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where SQL and Python count 130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452475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59 / 75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groupby drops a missing key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default dropped the 23, and which check catches it?</a:t>
            </a:r>
          </a:p>
        </p:txBody>
      </p:sp>
      <p:pic>
        <p:nvPicPr>
          <p:cNvPr id="9" name="mermaid diagram" descr="b1c559a045f18f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5335" y="1928146"/>
            <a:ext cx="8201025" cy="30718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14626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27427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26513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groups add back to the rows: 107 against the 130 reached. groupby(..., dropna=False) shows the missing group of 23.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S55  ·  60 / 75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the segment comes from the 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 should the segment come from, so that all three tools agree?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56 of 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80 percent bought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51 of 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85 percent bought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107 of 130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ALL REACHED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82 percent, in all three tools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656" y="35478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387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What changed.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Every customer on the list has a segment, bought or not. Read it from the list, in all three tools, and the reach moves from 107 to 130 and the share from 100 percent to 82.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6" name="Oval 2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8" name="Oval 27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0" name="Oval 29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32" name="Oval 31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S56  ·  61 / 75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sets find the same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counting sets, with no grouping at all, find the same customers who never bought?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never = reached_ids - set(orders["customer_id"])     # 23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bought = len(reached_ids) - len(never)                # 107</a:t>
            </a:r>
          </a:p>
        </p:txBody>
      </p:sp>
      <p:pic>
        <p:nvPicPr>
          <p:cNvPr id="14" name="mermaid diagram" descr="16c11290a475a9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6816" y="3083560"/>
            <a:ext cx="7358062" cy="138588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S57  ·  62 / 75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4: 107 of 130 bought, 82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819656"/>
          <a:ext cx="11130990" cy="21762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104013"/>
                <a:gridCol w="6026977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Which tool answers?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pandas, in memory, checked by SQL's 2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Python count?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Three keys; None holds 23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SQL say?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Three groups; NULL holds 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Why does pandas say 100%?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dropna=True drops the missing segment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Where should the segment come from?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customer list: 107 of 130, 82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Do sets agree?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Yes: 23 never ordered, 107 bought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251960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43484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456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39826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617720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1A1440"/>
                </a:solidFill>
                <a:latin typeface="Calibri"/>
              </a:rPr>
              <a:t>When two tools disagree, look for the rows one of them dropped before you look at the code, and take a customer's attributes from the customer list.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239512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42239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532120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38581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605272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1A1440"/>
                </a:solidFill>
                <a:latin typeface="Calibri"/>
              </a:rPr>
              <a:t>[F] What does SQL's GROUP BY do with a NULL key, and pandas' groupby with a missing one?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S58  ·  63 / 75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tool for which job?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tool should own each of Marketing's and Finance's recurring numbers, and which would you refuse for Finance's?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64 / 75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Answering it takes five smaller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answer, and what has to be settled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Kavya, and behind Kavya, Anand Iyer, whose analyst reruns every number; a number that lives in two tools drifts into two numbers, which is how Week 1 Wednesday lost a month.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299" y="3496056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6971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tool for Finance?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SQL, pandas or plain Python, sized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3126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73248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93126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7718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Does speed decide?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7718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Three routes timed on 1,000 orders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5900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99526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55900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492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How many rows move?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492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size that separates them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8674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825803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8674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3266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owns which ask?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3266" y="4250182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note, and the refusal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1448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10520812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81448" y="3816096"/>
            <a:ext cx="2079894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46040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Does the table reconcile?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46040" y="44648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table against Finance's query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0" name="Oval 3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2" name="Oval 41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4" name="Oval 4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46" name="Oval 4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S59  ·  65 / 75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Finance reruns eight numbers every Monday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number does the note test, and who reruns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four segments by two quarters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THEY ADD UP 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warehouse's two quarters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every Monday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RERUN BY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Anand's analyst, line by 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"Tell me honestly which tool you would pick for which job, and which you would refuse for Finance's numbers."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S60  ·  66 / 75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LinkedIn gave every metric one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learned what one metric in many places costs?</a:t>
            </a:r>
          </a:p>
        </p:txBody>
      </p:sp>
      <p:pic>
        <p:nvPicPr>
          <p:cNvPr id="9" name="mermaid diagram" descr="213541cefeebca8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3797" y="1956816"/>
            <a:ext cx="9944100" cy="200025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4" name="Oval 1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6" name="Oval 1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18" name="Oval 1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S61  ·  67 / 75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SQL, because Finance reruns it where data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three tools should compute Finance's Monday revenue, and what does each cost?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34621"/>
                <a:gridCol w="1904776"/>
                <a:gridCol w="3869121"/>
                <a:gridCol w="3522472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Lines of logic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Where Anand's analyst reruns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Depends on, besides the data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anywhere with read access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warehouse only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pandas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 machine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notebook's state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plain Python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 machine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script's environment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8198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72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a. What would switch it: a Finance question that needs iteration, five cuts in an afternoon; then pandas reads SQL's answer, and the definition still lives in one place.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S62  ·  68 / 75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Does speed separate the three tools here?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speed separate the three tools on 1,000 orders?</a:t>
            </a:r>
          </a:p>
        </p:txBody>
      </p:sp>
      <p:pic>
        <p:nvPicPr>
          <p:cNvPr id="9" name="mermaid diagram" descr="4004dded0638aee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2647" y="1682496"/>
            <a:ext cx="5486400" cy="337185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0065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2866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1952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SQL is ten times faster than the rest; b) pandas is ten times faster; c) all three finish well inside a second; d) plain Python takes over a minute.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S63  ·  69 / 75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all three finish well inside a second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a sizing column that scores every option the same tell you?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956816"/>
            <a:ext cx="1236776" cy="4572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0F5C"/>
                </a:solidFill>
                <a:latin typeface="Calibri"/>
              </a:rPr>
              <a:t>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87168"/>
            <a:ext cx="1236776" cy="3172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a few thousandths of a second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67128" y="1956816"/>
            <a:ext cx="4019524" cy="457200"/>
          </a:xfrm>
          <a:prstGeom prst="rect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pandas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7128" y="2487168"/>
            <a:ext cx="4019524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about a hundredth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86653" y="1956816"/>
            <a:ext cx="5874689" cy="457200"/>
          </a:xfrm>
          <a:prstGeom prst="rect">
            <a:avLst/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plain 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86653" y="2487168"/>
            <a:ext cx="5874689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about two hundredths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29169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32491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58896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30632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328269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 1,000 orders speed separates nothing, and the ranking changes from run to run; a column where every option scores the same is no reason to choose.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S64  ·  70 / 75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answer: 8 rows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many rows does each tool move to answer an eight-row question?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9798"/>
                <a:gridCol w="3163945"/>
                <a:gridCol w="552724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Rows in 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hurried note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a)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 cost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b) pandas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 cost, and the shortest chain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c) plain Python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 cost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692144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820160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811016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Sized by the answer, the three tie at 8 rows, so the note picks pandas for Finance.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S65  ·  71 / 75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pandas moved 1,340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size separates the tools, and which check catches the tie?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SQL MOVED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its answer, nothing else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1,340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PANDAS MOVED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1,000 orders and 340 customers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PLAIN PYTHON MOVED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order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656" y="35478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387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Count the rows each route fetched before comparing anything: about 168 times as many for pandas today, and at a hundred times the orders pandas moves a hundred times the rows while SQL still sends 8.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6" name="Oval 2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8" name="Oval 27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0" name="Oval 29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2" name="Oval 31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S66  ·  72 / 75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note: every ask has one owner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tool should own each of the day's recurring asks, and which would you refuse for Finance?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27032"/>
                <a:gridCol w="2981915"/>
                <a:gridCol w="412204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owner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Finance's revenue by segment and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reruns where the data lives; moves 8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growth team's customer table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pandas, reading the warehouse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columns added weekly; merge and validate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head of Retail-Plus's months view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pandas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pivot and a melt in memory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customer's spend, for an auditor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plain Python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step a readable line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8998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180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refusal.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Never a pandas notebook for Finance's number: it moves every order to one machine, runs on a copy, and Anand's analyst cannot rerun it without the growth team's notebook.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S67  ·  73 / 75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the table ties to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the growth team's table reconcile with Finance's query to the rupee?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2064"/>
                <a:gridCol w="4041561"/>
                <a:gridCol w="516736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growth team's table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Finance's query, both quarters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19,65,99,040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19,65,99,040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9,99,150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9,99,150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7,39,320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7,39,320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62,490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62,490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8998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180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When to switch.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Run this reconciliation every Monday; when it fails, the warehouse is right and the table is wrong until someone can say why. Chapter 6 puts it inside the refresh.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S68  ·  74 / 75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5: SQL owns Finance's 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682496"/>
          <a:ext cx="11130991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tool for Finance?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SQL, rerun where the data lives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Does speed decide?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No: all three well inside a second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rows move?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SQL 8, pandas 1,340, plain Python 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owns which ask?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SQL Finance, pandas the table and months, Python the auditor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Does the table reconcile?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segment, Rs 19,84,00,000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15747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601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46989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30377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52323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Choose by who has to trust the number and rerun it, and size a route by the rows it moves.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18464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38734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97068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33095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55040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Same question, three tools: how do you choose, and defend one choice?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S69  ·  75 / 75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