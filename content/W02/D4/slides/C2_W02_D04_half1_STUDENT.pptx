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one minute. Read the growth team's ask aloud and leave it up. The day is one question climbed in</a:t>
            </a:r>
          </a:p>
          <a:p>
            <a:r>
              <a:t>six chapters: can the growth team act on this table every Monday without an analyst checking it first?</a:t>
            </a:r>
          </a:p>
          <a:p>
            <a:r>
              <a:t>Five chapters this morning, the sixth after lunch, then the full table alone and the three-tool case in</a:t>
            </a:r>
          </a:p>
          <a:p>
            <a:r>
              <a:t>pairs. Every chapter has its own notebook, numbered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Read the six questions in order and say that each one is the question the previous</a:t>
            </a:r>
          </a:p>
          <a:p>
            <a:r>
              <a:t>answer raises. Chapters 1 to 5 run this morning, chapter 6 opens the afternoon. Ask the room which</a:t>
            </a:r>
          </a:p>
          <a:p>
            <a:r>
              <a:t>question they expect to be hardest; expect most to say the tool choice, and expect the first slip to</a:t>
            </a:r>
          </a:p>
          <a:p>
            <a:r>
              <a:t>come earlier, at chapter 1's missing customers. Keep this slide's order on the board all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growth team is Kalpa Retail's team that runs offers and campaigns; the marketing</a:t>
            </a:r>
          </a:p>
          <a:p>
            <a:r>
              <a:t>lead owns acquisition and campaigns; the head of Retail-Plus owns the paid membership tier; Anand Iyer</a:t>
            </a:r>
          </a:p>
          <a:p>
            <a:r>
              <a:t>is the finance controller. Kavya Nair, the senior analyst, will challenge the room after chapter 3: do</a:t>
            </a:r>
          </a:p>
          <a:p>
            <a:r>
              <a:t>it a third way and choose. Ask: who is hurt most by a customer missing from the table? The growth team,</a:t>
            </a:r>
          </a:p>
          <a:p>
            <a:r>
              <a:t>because a missing row is an offer never 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Pairs, two minutes: name the grain and say which table decides how many rows there</a:t>
            </a:r>
          </a:p>
          <a:p>
            <a:r>
              <a:t>are. Most pick c, because the numbers come from orders. Take the letters in chat before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Draw this on the board and leave it up all day: it is the table's picture, and every</a:t>
            </a:r>
          </a:p>
          <a:p>
            <a:r>
              <a:t>chapter lights one arrow. c is the trap chapter 1 stages: a table built from the orders only knows</a:t>
            </a:r>
          </a:p>
          <a:p>
            <a:r>
              <a:t>customers who ordered.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Write the three numbers on the board. Spend is the value of every order at the</a:t>
            </a:r>
          </a:p>
          <a:p>
            <a:r>
              <a:t>prices charged, whatever became of it, which the retail dossier calls GMV: Monday's warehouse queries</a:t>
            </a:r>
          </a:p>
          <a:p>
            <a:r>
              <a:t>totalled it for April to September. The as-of date is the last date the data covers. Each chapter</a:t>
            </a:r>
          </a:p>
          <a:p>
            <a:r>
              <a:t>adds a way the table can fail one of these checks; chapter 6 makes the refresh refuse to ship when</a:t>
            </a:r>
          </a:p>
          <a:p>
            <a:r>
              <a:t>one fails. Then the six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minute, inside the ask's twenty, whose slides run to eighteen. Read the six topics in the</a:t>
            </a:r>
          </a:p>
          <a:p>
            <a:r>
              <a:t>curriculum's words and the chapter that teaches each, then walk the map once from the left: Monday's</a:t>
            </a:r>
          </a:p>
          <a:p>
            <a:r>
              <a:t>warehouse and GROUP BY feed read_sql and groupby, Wednesday's months per member feed the reshape,</a:t>
            </a:r>
          </a:p>
          <a:p>
            <a:r>
              <a:t>Tuesday's joins and row count feed the merge, and the merge feeds both the three tools and the</a:t>
            </a:r>
          </a:p>
          <a:p>
            <a:r>
              <a:t>chained refresh. Chapter 1 reads the warehouse into pandas and builds the three numbers; chapter 6</a:t>
            </a:r>
          </a:p>
          <a:p>
            <a:r>
              <a:t>runs the whole build as one chain and checks what it made. Name the topics here and teach none of</a:t>
            </a:r>
          </a:p>
          <a:p>
            <a:r>
              <a:t>them yet. Then chapter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LIVE. Thirty minutes. Notebook C2_W02_D04_01_customer_table is the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Read the five questions; each is a notebook heading.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Retailers call the three numbers RFM, for recency, frequency and monetary value. A</a:t>
            </a:r>
          </a:p>
          <a:p>
            <a:r>
              <a:t>wrong row costs an offer: a customer left out gets nothing, a customer counted wrongly gets the wrong</a:t>
            </a:r>
          </a:p>
          <a:p>
            <a:r>
              <a:t>code. Business is 40 accounts and 99.1 percent of spend, so spend must be read by segment. Then the</a:t>
            </a:r>
          </a:p>
          <a:p>
            <a:r>
              <a:t>M of RFM.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 with S7b. The customers are invented, small enough to add in the head. Shopify's</a:t>
            </a:r>
          </a:p>
          <a:p>
            <a:r>
              <a:t>RFM on S8 defines the M the same way, "the total amount spent (monetary value)". A and B tie on</a:t>
            </a:r>
          </a:p>
          <a:p>
            <a:r>
              <a:t>monetary value, Rs 2,500 each, one from three orders and one from a single order, which is why the</a:t>
            </a:r>
          </a:p>
          <a:p>
            <a:r>
              <a:t>table keeps frequency and spend as two columns. Letters in chat, then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inside S7a's two minutes. The answer is d. C's two orders add to Rs 4,000 and D's four to</a:t>
            </a:r>
          </a:p>
          <a:p>
            <a:r>
              <a:t>Rs 3,600, so C leads on monetary value while D leads on frequency. In the table this chapter builds,</a:t>
            </a:r>
          </a:p>
          <a:p>
            <a:r>
              <a:t>spend is the monetary value and SQL writes it as sum(amount), as Monday did. Then Shopify, which</a:t>
            </a:r>
          </a:p>
          <a:p>
            <a:r>
              <a:t>scores all three numbers for every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Source: Shopify Help Center, Customers reports, checked 1 Oct 2026: "RFM analysis</a:t>
            </a:r>
          </a:p>
          <a:p>
            <a:r>
              <a:t>applies a 3-digit score to each customer ... the days from a customer's most recent purchase</a:t>
            </a:r>
          </a:p>
          <a:p>
            <a:r>
              <a:t>(recency), the total number of orders (frequency), and the total amount spent (monetary value)", and</a:t>
            </a:r>
          </a:p>
          <a:p>
            <a:r>
              <a:t>Prospects, "Customers with no orders yet", are one of its 11 groups. Say it aloud: a platform that</a:t>
            </a:r>
          </a:p>
          <a:p>
            <a:r>
              <a:t>serves millions of shops keeps the non-buyers on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Rows moved is what separates a and c from b; lines of logic is what separates a from</a:t>
            </a:r>
          </a:p>
          <a:p>
            <a:r>
              <a:t>c. Ask: at 5 crore orders, which option's rows grow with the customers instead of the orders? b, one</a:t>
            </a:r>
          </a:p>
          <a:p>
            <a:r>
              <a:t>row per customer who ordered, 301 today. Hold that thought for chapter 5, where rows moved decides</a:t>
            </a:r>
          </a:p>
          <a:p>
            <a:r>
              <a:t>where Finance's number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This is Week 1's accumulator, written once: split the rows by a key, apply a</a:t>
            </a:r>
          </a:p>
          <a:p>
            <a:r>
              <a:t>calculation to each group, combine the results. Each name in agg becomes a column; each pair says</a:t>
            </a:r>
          </a:p>
          <a:p>
            <a:r>
              <a:t>which column to read and what to do with it. SQL says the same with GROUP BY customer_id and max,</a:t>
            </a:r>
          </a:p>
          <a:p>
            <a:r>
              <a:t>count, sum. Then the name pandas gives that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 with S10b. The orders are invented, four rows a learner can add by eye. Point at</a:t>
            </a:r>
          </a:p>
          <a:p>
            <a:r>
              <a:t>each keyword in turn: orders and spend are names the analyst chose, and each pair says which column</a:t>
            </a:r>
          </a:p>
          <a:p>
            <a:r>
              <a:t>to read and what to run on it. Letters in chat, then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inside S10a's two minutes. The answer is a. Read the printed table, then the three misreads: b</a:t>
            </a:r>
          </a:p>
          <a:p>
            <a:r>
              <a:t>is how a bare list of functions names its columns, c is a window function's shape, and d swaps count</a:t>
            </a:r>
          </a:p>
          <a:p>
            <a:r>
              <a:t>for sum. The table's own call names last_order, frequency and spend the same way. Then the frame's</a:t>
            </a:r>
          </a:p>
          <a:p>
            <a:r>
              <a:t>types: a date read as text cannot be subtracted, and an amount read as text cannot be summed.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pd.read_sql runs a query in the warehouse and returns its answer as a DataFrame,</a:t>
            </a:r>
          </a:p>
          <a:p>
            <a:r>
              <a:t>pandas' table in memory; the notebook's section 2 reads the orders with parse_dates=["order_date"]. Ask the room, before the stats: which type will customer_id arrive as? Most</a:t>
            </a:r>
          </a:p>
          <a:p>
            <a:r>
              <a:t>who learned pandas 2 say object. pandas 2 said object for text; pandas 3 says str, checked on 3.0.6</a:t>
            </a:r>
          </a:p>
          <a:p>
            <a:r>
              <a:t>on 1 Oct 2026. The count check is Monday's habit: the frame holds 538 Q1 and 462 Q2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Most say b. Ask why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answer is c. The six largest spenders are all Business accounts, which buy in</a:t>
            </a:r>
          </a:p>
          <a:p>
            <a:r>
              <a:t>lakhs; that is why spend is read by segment. The 39 missing from 340 are chapter 1's trap,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growth team's first use of the table is the first-order nudge: a welcome offer to</a:t>
            </a:r>
          </a:p>
          <a:p>
            <a:r>
              <a:t>everyone who signed up and never bought. Letters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answer is a. No error was raised and every row in the table is correct, yet the</a:t>
            </a:r>
          </a:p>
          <a:p>
            <a:r>
              <a:t>count is wrong, because the rows that would make it right are not there. The decision it misleads: a</a:t>
            </a:r>
          </a:p>
          <a:p>
            <a:r>
              <a:t>campaign with no audience, reported as "nobody to nudge".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Two layers. The table built from orders has no row for a customer with no orders. A</a:t>
            </a:r>
          </a:p>
          <a:p>
            <a:r>
              <a:t>left merge brings them back, but their count is NaN and the column turns float64, because NumPy's</a:t>
            </a:r>
          </a:p>
          <a:p>
            <a:r>
              <a:t>int64, the type a count arrives in, cannot hold a missing value; pandas' nullable Int64 could, but the</a:t>
            </a:r>
          </a:p>
          <a:p>
            <a:r>
              <a:t>merge does not choose it. So == 0 still finds nobody.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Say what a missing number means in this business: no orders means a frequency of 0</a:t>
            </a:r>
          </a:p>
          <a:p>
            <a:r>
              <a:t>and a spend of 0, and the last order date stays empty. validate stops the merge if either side ever</a:t>
            </a:r>
          </a:p>
          <a:p>
            <a:r>
              <a:t>holds a customer twice; chapter 2 explains it. Spend did not move, which is why a spend check alone</a:t>
            </a:r>
          </a:p>
          <a:p>
            <a:r>
              <a:t>would never have caught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route shares no code with the notebook, so a slip in the merge or a fill cannot</a:t>
            </a:r>
          </a:p>
          <a:p>
            <a:r>
              <a:t>move it. count(o.order_id) gives 0 for a customer with no orders where count(*) would give 1. When to</a:t>
            </a:r>
          </a:p>
          <a:p>
            <a:r>
              <a:t>switch: pandas to build on, SQL to hand an auditor.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One breath for the interview: split the orders by customer, apply the latest date,</a:t>
            </a:r>
          </a:p>
          <a:p>
            <a:r>
              <a:t>a count and a sum, combine one row per customer; it is GROUP BY, and Week 1's accumulator written</a:t>
            </a:r>
          </a:p>
          <a:p>
            <a:r>
              <a:t>once. Then chapter 2: the marketing lead wants the monsoon sale on these 340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LIVE. Thirty minutes. Notebook C2_W02_D04_02_exposure_merge is the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Read the six questions. Chapter 1 left 340 rows and Rs 19,84,00,000; this chapter</a:t>
            </a:r>
          </a:p>
          <a:p>
            <a:r>
              <a:t>must leave both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campaign platform sends a feed of the customers the sale reached, with the date</a:t>
            </a:r>
          </a:p>
          <a:p>
            <a:r>
              <a:t>it reached them. The feed is another team's system, so its promise of one row per customer is a</a:t>
            </a:r>
          </a:p>
          <a:p>
            <a:r>
              <a:t>promise to check, which is Tuesday's lesson in a new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Source: Meta for Developers, Handling Duplicate Pixel and Conversions API Events,</a:t>
            </a:r>
          </a:p>
          <a:p>
            <a:r>
              <a:t>checked 1 Oct 2026: an advertiser sending events both ways "must set up a deduplication method".</a:t>
            </a:r>
          </a:p>
          <a:p>
            <a:r>
              <a:t>Under the recommended method, when the same event ID and event name reach the same Pixel within 48</a:t>
            </a:r>
          </a:p>
          <a:p>
            <a:r>
              <a:t>hours, Meta keeps the first and discards the rest: a first-touch rule, like today's.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sizing column is the error each option risks: under b or c a re-sent row adds</a:t>
            </a:r>
          </a:p>
          <a:p>
            <a:r>
              <a:t>that customer's whole spend again, Rs 5,100 for a typical Retail-Core or Retail-Plus customer and up</a:t>
            </a:r>
          </a:p>
          <a:p>
            <a:r>
              <a:t>to Rs 26,020 for the largest. Ask what the date is for: whether a customer bought after the sale.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Tuesday drew these four in SQL: INNER JOIN, LEFT JOIN, RIGHT JOIN, FULL OUTER JOIN.</a:t>
            </a:r>
          </a:p>
          <a:p>
            <a:r>
              <a:t>pandas spells them how="inner", "left", "right", "outer". Next: what happens when how is left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Letters in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answer is b. The default is inner, which is not what the table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Notebook 02 section 3 builds this. Four customers in, five rows out. The decision it</a:t>
            </a:r>
          </a:p>
          <a:p>
            <a:r>
              <a:t>misleads: a November budget asked for on Rs 8,600 nobody paid, a third of the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validate="one_to_one" promises each key once on both sides; many_to_one allows</a:t>
            </a:r>
          </a:p>
          <a:p>
            <a:r>
              <a:t>repeats on the left only; one_to_many the reverse. pandas 3.0.6 lists the repeated keys under the</a:t>
            </a:r>
          </a:p>
          <a:p>
            <a:r>
              <a:t>error. Then the your-turn cell: the room runs the same merge on Kalpa's feed, reads the counts aloud</a:t>
            </a:r>
          </a:p>
          <a:p>
            <a:r>
              <a:t>and says what a plain merge would have done. Give it five minutes and do not read out the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A repeated customer is a business question first: reached twice is still reached.</a:t>
            </a:r>
          </a:p>
          <a:p>
            <a:r>
              <a:t>The rule: one row per customer, the date the sale first reached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answer is c. The reached customers spent Rs 8,78,980 over the two quarters.</a:t>
            </a:r>
          </a:p>
          <a:p>
            <a:r>
              <a:t>Reached Retail-Plus members averaged Rs 8,993 against Rs 7,660 for the unreached. Week 1 Thursday met</a:t>
            </a:r>
          </a:p>
          <a:p>
            <a:r>
              <a:t>the same shape: blended, the reached spent 6.1 percent more, while inside each segment they spent 3.0</a:t>
            </a:r>
          </a:p>
          <a:p>
            <a:r>
              <a:t>percent less, because half the reached group was Retail-Plus. So the gap says who was chosen before</a:t>
            </a:r>
          </a:p>
          <a:p>
            <a:r>
              <a:t>it says what the sale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IN asks only whether a customer is in the feed, however often, so it cannot fan out.</a:t>
            </a:r>
          </a:p>
          <a:p>
            <a:r>
              <a:t>When to switch: the merge for the table, since the date rides along; isin for yes or no; SQL for</a:t>
            </a:r>
          </a:p>
          <a:p>
            <a:r>
              <a:t>Finance checking the marketing lead's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One breath: validate with one_to_one, one_to_many or many_to_one; it raises</a:t>
            </a:r>
          </a:p>
          <a:p>
            <a:r>
              <a:t>pandas.errors.MergeError naming the side whose keys repeat; a row count finds the same fault after</a:t>
            </a:r>
          </a:p>
          <a:p>
            <a:r>
              <a:t>the table exists, and validate stops it before. Then chapter 3: the head of Retail-Plus wants the</a:t>
            </a:r>
          </a:p>
          <a:p>
            <a:r>
              <a:t>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LIVE. Thirty minutes. Notebook C2_W02_D04_03_months_pivot is the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Chapter 2 left 340 rows and 130 reached. Week 1 found Retail-Plus members ordering</a:t>
            </a:r>
          </a:p>
          <a:p>
            <a:r>
              <a:t>less often; this chapter measures the tier's fall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A number too small argues the tier's problem down; rows that stand for the wrong</a:t>
            </a:r>
          </a:p>
          <a:p>
            <a:r>
              <a:t>thing protect the wrong members. Leave the question mark on the slide: the room computes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Sources, checked 1 Oct 2026: Costco's fourth-quarter fiscal 2026 supplemental</a:t>
            </a:r>
          </a:p>
          <a:p>
            <a:r>
              <a:t>information, filed with the SEC on 24 Sep 2026, and the earnings call that day, where the chief</a:t>
            </a:r>
          </a:p>
          <a:p>
            <a:r>
              <a:t>financial officer reported "traffic or shopping frequency increased 3.3% worldwide" and "our average</a:t>
            </a:r>
          </a:p>
          <a:p>
            <a:r>
              <a:t>transaction or ticket was up 5.9% worldwide". A paid membership business reports the two numbers</a:t>
            </a:r>
          </a:p>
          <a:p>
            <a:r>
              <a:t>separately for a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376 empty cells are member-months with no order. c fixes six months in its</a:t>
            </a:r>
          </a:p>
          <a:p>
            <a:r>
              <a:t>text, so every new month is an edit and a place for a typo. pivot_table turns the values of one</a:t>
            </a:r>
          </a:p>
          <a:p>
            <a:r>
              <a:t>column into columns; the next slides show what it does with repeats.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Letters in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answer is c. The 13 Retail-Plus members who never ordered are in no row. Hold</a:t>
            </a:r>
          </a:p>
          <a:p>
            <a:r>
              <a:t>the two quarters: Rs 5,85,770 and Rs 4,13,380.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hurried analyst writes the pivot in one line and adds up the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answer is b. Ask what could make a sum of columns come in low before showing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pivot_table's default aggfunc is "mean", checked on pandas 3.0.6. A member who</a:t>
            </a:r>
          </a:p>
          <a:p>
            <a:r>
              <a:t>ordered four times in June shows the average of the four, and the column sums add averages, which hide</a:t>
            </a:r>
          </a:p>
          <a:p>
            <a:r>
              <a:t>how often members bought: the very lever Retail-Plus moved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fill_value=0 writes a month with no order as 0 spend instead of a gap. Then the</a:t>
            </a:r>
          </a:p>
          <a:p>
            <a:r>
              <a:t>your-turn: the same view for Retail-Core; the room checks the grand total first and says whether the</a:t>
            </a:r>
          </a:p>
          <a:p>
            <a:r>
              <a:t>averaged pivot even gets the direction right. The day sheet carries the two numbers to confirm.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minutes, notebook section 4. Point at each pivot's first row label and say what one row</a:t>
            </a:r>
          </a:p>
          <a:p>
            <a:r>
              <a:t>stands for: a member's id, then an order's id. The 13 members who never ordered are in neither view,</a:t>
            </a:r>
          </a:p>
          <a:p>
            <a:r>
              <a:t>a decision to state when the view goes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pivot widens, melt lengthens. The trend in members ordering each month, 56, 47, 48,</a:t>
            </a:r>
          </a:p>
          <a:p>
            <a:r>
              <a:t>40, 38, 37, is the frequency Week 1 found moving, and it needs the long shape to plot.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When to switch: the pivot for the head's rows, the quarter query for the one number,</a:t>
            </a:r>
          </a:p>
          <a:p>
            <a:r>
              <a:t>and the query to trust when a pivot's arguments are in doubt.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One breath: pivot and pivot_table widen, the values of one column become columns;</a:t>
            </a:r>
          </a:p>
          <a:p>
            <a:r>
              <a:t>melt lengthens, folding columns back into rows. Then the break, ten minutes, before chapter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LIVE. Ten-minute break first, then thirty minutes. Notebook C2_W02_D04_04_three_tools is the</a:t>
            </a:r>
          </a:p>
          <a:p>
            <a:r>
              <a:t>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Kavya's challenge for this chapter: answer the question in plain Python, in SQL and in</a:t>
            </a:r>
          </a:p>
          <a:p>
            <a:r>
              <a:t>pandas, then say why the three agree, or why they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Bought means at least one order in the two quarters; whether the sale caused it is</a:t>
            </a:r>
          </a:p>
          <a:p>
            <a:r>
              <a:t>Week 1 Thursday's question. A share that leaves out the reached who never bought makes the sale look</a:t>
            </a:r>
          </a:p>
          <a:p>
            <a:r>
              <a:t>perfect.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Source: Uber Blog, "The Journey Towards Metric Standardization", 12 January 2021,</a:t>
            </a:r>
          </a:p>
          <a:p>
            <a:r>
              <a:t>checked 1 Oct 2026: Operations computed completed trips as a Presto/Hive SQL for daily dashboards</a:t>
            </a:r>
          </a:p>
          <a:p>
            <a:r>
              <a:t>while Pricing Engineering built its own from a Cassandra table; the goal became "a strictly ONE to</a:t>
            </a:r>
          </a:p>
          <a:p>
            <a:r>
              <a:t>ONE mapping" between a metric and its business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Plain Python fetches the 1,000 orders and the 340-row customer list, and it is the</a:t>
            </a:r>
          </a:p>
          <a:p>
            <a:r>
              <a:t>route for explaining a count line by line. SQL sends its answer, two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Draw it before any code. A customer who never ordered has no order rows, so any</a:t>
            </a:r>
          </a:p>
          <a:p>
            <a:r>
              <a:t>attribute read from the orders is missing for them. Ask where each tool would file such a customer;</a:t>
            </a:r>
          </a:p>
          <a:p>
            <a:r>
              <a:t>the next three slides show what each one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.get returns None for a customer the dictionary does not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answer is b. Run the SQL version too, notebook section 3: three rows, one NULL.</a:t>
            </a:r>
          </a:p>
          <a:p>
            <a:r>
              <a:t>The 23 are reached customers with no orders, so no segment could be read from their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Letters in chat, then run the notebook's section 4. buyers carries each customer's</a:t>
            </a:r>
          </a:p>
          <a:p>
            <a:r>
              <a:t>segment as read from their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answer is b. The hurried pandas route reports 100 percent on 107 customers. The</a:t>
            </a:r>
          </a:p>
          <a:p>
            <a:r>
              <a:t>decision it misleads: a marketing lead asking for the same budget on perfect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groupby's dropna defaults to True, checked on pandas 3.0.6; the API page says NA</a:t>
            </a:r>
          </a:p>
          <a:p>
            <a:r>
              <a:t>keys "will be dropped". The reached who never bought are exactly the ones that vanished.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Retail-Plus's share is 85 percent, 51 of its 60 reached members. The tools</a:t>
            </a:r>
          </a:p>
          <a:p>
            <a:r>
              <a:t>disagreed because the hurried versions read the segment from the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Sets never ask for a segment, so they cannot drop one. When to switch: the grouped</a:t>
            </a:r>
          </a:p>
          <a:p>
            <a:r>
              <a:t>pandas count for the slide, the set difference when a group count looks too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One breath: SQL puts NULLs in one group of their own; pandas drops them by default;</a:t>
            </a:r>
          </a:p>
          <a:p>
            <a:r>
              <a:t>check the groups add back to the rows. Then chapter 5: if three tools can agree, which should own</a:t>
            </a:r>
          </a:p>
          <a:p>
            <a:r>
              <a:t>which number?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LIVE. Thirty minutes. Notebook C2_W02_D04_05_tool_choice is the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Week 1 Wednesday: the dashboard's Rs 2.1 crore against the books' Rs 1.9 crore, two</a:t>
            </a:r>
          </a:p>
          <a:p>
            <a:r>
              <a:t>copies of one number, a month lost to the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Kavya's words. The four recurring asks are Finance's revenue, the growth team's</a:t>
            </a:r>
          </a:p>
          <a:p>
            <a:r>
              <a:t>table, the head of Retail-Plus's months view and an auditor's one-off; the note assigns each an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Source: LinkedIn Engineering, Unified Metrics Platform, checked 1 Oct 2026:</a:t>
            </a:r>
          </a:p>
          <a:p>
            <a:r>
              <a:t>"Multiple stakeholders come up with different ways to calculate the same metric arriving at slightly</a:t>
            </a:r>
          </a:p>
          <a:p>
            <a:r>
              <a:t>different results"; the platform "serves as the single source of truth for all business metrics at</a:t>
            </a:r>
          </a:p>
          <a:p>
            <a:r>
              <a:t>Linkedin".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Speed and rows moved are the two sizes still missing; the next slides measure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Letters, then run notebook section 2, which times each route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answer is c. The stats are medians of 30 timed runs on the machine that built</a:t>
            </a:r>
          </a:p>
          <a:p>
            <a:r>
              <a:t>the notebook; the notebook prints this run's timings, which land in the same order. Then the size</a:t>
            </a:r>
          </a:p>
          <a:p>
            <a:r>
              <a:t>that does grow: the rows each route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hurried note sizes by the answer and picks pandas for Finance, because its chain</a:t>
            </a:r>
          </a:p>
          <a:p>
            <a:r>
              <a:t>is short. Letters in chat, then run the notebook's 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answer is d, 1,340. The fix: size a route by the rows it moves and by who must</a:t>
            </a:r>
          </a:p>
          <a:p>
            <a:r>
              <a:t>rerun it. The note's line for Finance does not change; its reason is now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Start from the last row: plain Python owns the auditor's one-off, asked once and</a:t>
            </a:r>
          </a:p>
          <a:p>
            <a:r>
              <a:t>read line by line. The refusal is the sentence Kavya will ask for in the interview drill.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two routes share no code: chapter 1's groupby and merge against SQL. Both add up</a:t>
            </a:r>
          </a:p>
          <a:p>
            <a:r>
              <a:t>to Rs 19,84,00,000. The depth section shows a temporary view that pandas reads, so the definition is</a:t>
            </a:r>
          </a:p>
          <a:p>
            <a:r>
              <a:t>never retyped.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One breath: they agree, so I choose by who reruns the number: SQL for Finance,</a:t>
            </a:r>
          </a:p>
          <a:p>
            <a:r>
              <a:t>pandas for the analyst's bench reading SQL's answers, plain Python for a one-off explained line by</a:t>
            </a:r>
          </a:p>
          <a:p>
            <a:r>
              <a:t>line; on 1,000 rows the tools finish hundredths of a second apart, so I size by rows moved. The morning closes here;</a:t>
            </a:r>
          </a:p>
          <a:p>
            <a:r>
              <a:t>after lunch, chapter 6 makes the table rebuild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9.xml"/><Relationship Id="rId5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3.xml"/><Relationship Id="rId5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2.xml"/><Relationship Id="rId5" Type="http://schemas.openxmlformats.org/officeDocument/2006/relationships/image" Target="../media/image9.png"/><Relationship Id="rId6" Type="http://schemas.openxmlformats.org/officeDocument/2006/relationships/image" Target="../media/image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5.xml"/><Relationship Id="rId5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9.xml"/><Relationship Id="rId5" Type="http://schemas.openxmlformats.org/officeDocument/2006/relationships/image" Target="../media/image2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6.xml"/><Relationship Id="rId5" Type="http://schemas.openxmlformats.org/officeDocument/2006/relationships/image" Target="../media/image2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7.xml"/><Relationship Id="rId5" Type="http://schemas.openxmlformats.org/officeDocument/2006/relationships/image" Target="../media/image2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0.xml"/><Relationship Id="rId5" Type="http://schemas.openxmlformats.org/officeDocument/2006/relationships/image" Target="../media/image2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3.xml"/><Relationship Id="rId5" Type="http://schemas.openxmlformats.org/officeDocument/2006/relationships/image" Target="../media/image2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9.xml"/><Relationship Id="rId5" Type="http://schemas.openxmlformats.org/officeDocument/2006/relationships/image" Target="../media/image14.png"/><Relationship Id="rId6" Type="http://schemas.openxmlformats.org/officeDocument/2006/relationships/image" Target="../media/image2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1.xml"/><Relationship Id="rId5" Type="http://schemas.openxmlformats.org/officeDocument/2006/relationships/image" Target="../media/image2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6.xml"/><Relationship Id="rId5" Type="http://schemas.openxmlformats.org/officeDocument/2006/relationships/image" Target="../media/image30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8.xml"/><Relationship Id="rId5" Type="http://schemas.openxmlformats.org/officeDocument/2006/relationships/image" Target="../media/image3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3.xml"/><Relationship Id="rId5" Type="http://schemas.openxmlformats.org/officeDocument/2006/relationships/image" Target="../media/image3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5.xml"/><Relationship Id="rId5" Type="http://schemas.openxmlformats.org/officeDocument/2006/relationships/image" Target="../media/image3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66928"/>
            <a:ext cx="1051560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01952" y="804672"/>
            <a:ext cx="6858000" cy="300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133856"/>
            <a:ext cx="777240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D9A7FF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938528"/>
            <a:ext cx="10948111" cy="10972"/>
          </a:xfrm>
          <a:prstGeom prst="rect">
            <a:avLst/>
          </a:prstGeom>
          <a:solidFill>
            <a:srgbClr val="A9A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2240280"/>
            <a:ext cx="3479576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00" b="1" spc="250">
                <a:solidFill>
                  <a:srgbClr val="FFFFFF"/>
                </a:solidFill>
                <a:latin typeface="Calibri"/>
              </a:rPr>
              <a:t>WEEK 2  ·  THURSDAY  ·  HALF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807208"/>
            <a:ext cx="10582351" cy="1291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Georgia"/>
              </a:rPr>
              <a:t>Can Marketing act on Monday's table without checking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263136"/>
            <a:ext cx="10033711" cy="9776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D9A7FF"/>
                </a:solidFill>
                <a:latin typeface="Georgia"/>
              </a:rPr>
              <a:t>“One table, one row per customer, refreshed every Monday: how recently each customer bought, how often, how much, their segment, whether the monsoon sale reached them, and the flags we act on.”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295646"/>
            <a:ext cx="10033711" cy="21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The growth team, Kalpa Retail. The data platform lead adds: build it in pandas, from the warehouse, refreshable in one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833872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39" y="5870448"/>
            <a:ext cx="142503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One row per customer?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3755" y="5833872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7803" y="5870448"/>
            <a:ext cx="154333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Who did the sale reach?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019" y="5833872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8067" y="5870448"/>
            <a:ext cx="1602486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3433" y="5833872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7481" y="5870448"/>
            <a:ext cx="142503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Do three tools agree?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5396" y="5833872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9444" y="5870448"/>
            <a:ext cx="1661636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2, Day 4. Can Marketing act on Monday's table without checking it?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 / 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Six questions stand between the ask and Monday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Can the growth team act on one row per customer, every Monday, without checking it first?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1381734" y="2523744"/>
            <a:ext cx="9428226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56816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CHAPTER 1</a:t>
            </a:r>
          </a:p>
        </p:txBody>
      </p:sp>
      <p:sp>
        <p:nvSpPr>
          <p:cNvPr id="11" name="Oval 10"/>
          <p:cNvSpPr/>
          <p:nvPr/>
        </p:nvSpPr>
        <p:spPr>
          <a:xfrm>
            <a:off x="1281150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" y="2843784"/>
            <a:ext cx="1702765" cy="142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990088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One row per customer?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492500"/>
            <a:ext cx="1373581" cy="696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How recently, how often and how much has each of the 340 customers bought?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5997" y="1956816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CHAPTER 2</a:t>
            </a:r>
          </a:p>
        </p:txBody>
      </p:sp>
      <p:sp>
        <p:nvSpPr>
          <p:cNvPr id="16" name="Oval 15"/>
          <p:cNvSpPr/>
          <p:nvPr/>
        </p:nvSpPr>
        <p:spPr>
          <a:xfrm>
            <a:off x="3166795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15997" y="2843784"/>
            <a:ext cx="1702765" cy="142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80589" y="2990088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Who did the sale reach?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0589" y="3492500"/>
            <a:ext cx="1373581" cy="696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Which customers did the monsoon sale reach, and what did they spend?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1642" y="1956816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CHAPTER 3</a:t>
            </a:r>
          </a:p>
        </p:txBody>
      </p:sp>
      <p:sp>
        <p:nvSpPr>
          <p:cNvPr id="21" name="Oval 20"/>
          <p:cNvSpPr/>
          <p:nvPr/>
        </p:nvSpPr>
        <p:spPr>
          <a:xfrm>
            <a:off x="5052441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01642" y="2843784"/>
            <a:ext cx="1702765" cy="142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6234" y="2990088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6234" y="3492500"/>
            <a:ext cx="1373581" cy="696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How far did Retail-Plus members' spend fall from Q1 to Q2, month by month?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7287" y="1956816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CHAPTER 4</a:t>
            </a:r>
          </a:p>
        </p:txBody>
      </p:sp>
      <p:sp>
        <p:nvSpPr>
          <p:cNvPr id="26" name="Oval 25"/>
          <p:cNvSpPr/>
          <p:nvPr/>
        </p:nvSpPr>
        <p:spPr>
          <a:xfrm>
            <a:off x="6938086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87287" y="2843784"/>
            <a:ext cx="1702765" cy="142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1879" y="2990088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Do three tools agree?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1879" y="3492500"/>
            <a:ext cx="1373581" cy="696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Of the 130 reached, how many bought, in plain Python, SQL and pandas?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2932" y="1956816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CHAPTER 5</a:t>
            </a:r>
          </a:p>
        </p:txBody>
      </p:sp>
      <p:sp>
        <p:nvSpPr>
          <p:cNvPr id="31" name="Oval 30"/>
          <p:cNvSpPr/>
          <p:nvPr/>
        </p:nvSpPr>
        <p:spPr>
          <a:xfrm>
            <a:off x="8823731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72932" y="2843784"/>
            <a:ext cx="1702765" cy="142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37524" y="2990088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7524" y="3492500"/>
            <a:ext cx="1373581" cy="696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Which tool owns which recurring number, and which would you refuse for Finance?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58578" y="1956816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CHAPTER 6</a:t>
            </a:r>
          </a:p>
        </p:txBody>
      </p:sp>
      <p:sp>
        <p:nvSpPr>
          <p:cNvPr id="36" name="Oval 35"/>
          <p:cNvSpPr/>
          <p:nvPr/>
        </p:nvSpPr>
        <p:spPr>
          <a:xfrm>
            <a:off x="10709376" y="2432304"/>
            <a:ext cx="201168" cy="201168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58578" y="2843784"/>
            <a:ext cx="1702765" cy="142240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23170" y="2990088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Will Monday rebuild it?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23170" y="3492500"/>
            <a:ext cx="1373581" cy="696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FC9EE"/>
                </a:solidFill>
                <a:latin typeface="Calibri"/>
              </a:rPr>
              <a:t>Can the table rebuild itself and refuse to ship when something breaks?</a:t>
            </a:r>
          </a:p>
        </p:txBody>
      </p:sp>
      <p:sp>
        <p:nvSpPr>
          <p:cNvPr id="40" name="Oval 3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42" name="Oval 4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44" name="Oval 43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46" name="Oval 45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48" name="Oval 47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  ·  2 / 81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Four people act on this table, each in their own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Who reads the Monday table, and what do they do with a wrong row?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2645587" cy="2575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megaphone_df6318bcf2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22432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GROWTH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2243251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Sends the offers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2243251" cy="9446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A win-back code to customers who have gone quiet, a first-order nudge to those who signed up and never bought. A missing row gets no offer.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8819" y="1956816"/>
            <a:ext cx="2645587" cy="2575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59987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badge-percent_43803fca0e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9715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59987" y="2724912"/>
            <a:ext cx="22432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MARKETING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987" y="2962656"/>
            <a:ext cx="2243251" cy="498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Asks for November's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9987" y="3534664"/>
            <a:ext cx="2243251" cy="763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Wants the monsoon sale on the table: whom it reached and what they spent. An inflated number funds the wrong campaign.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7" y="1956816"/>
            <a:ext cx="2645587" cy="2575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8455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crown_50cb0a914c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183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88455" y="2724912"/>
            <a:ext cx="22432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HEAD OF RETAIL-PLUS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8455" y="2962656"/>
            <a:ext cx="2243251" cy="498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Takes one number to the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8455" y="3534664"/>
            <a:ext cx="2243251" cy="763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The paid tier's fall from Q1 to Q2, month by month. Too small a number argues the problem away.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5755" y="1956816"/>
            <a:ext cx="2645587" cy="257556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16923" y="21579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Picture 28" descr="landmark_74597fd10b4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651" y="2267712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16923" y="2724912"/>
            <a:ext cx="22432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FINANCE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6923" y="2962656"/>
            <a:ext cx="2243251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Reruns every number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6923" y="3303524"/>
            <a:ext cx="2243251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Anand Iyer's analyst ties the team's numbers to the warehouse line by line.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" y="4715256"/>
            <a:ext cx="11130991" cy="86258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58952" y="491794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5" name="Picture 34" descr="message-square_028dbd132a0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027676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99031" y="486156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THE CLIENT ASKS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99031" y="5081016"/>
            <a:ext cx="9987991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Calibri"/>
              </a:rPr>
              <a:t>"One table, one row per customer, refreshed every Monday, and one run to rebuild it."</a:t>
            </a:r>
          </a:p>
        </p:txBody>
      </p:sp>
      <p:sp>
        <p:nvSpPr>
          <p:cNvPr id="38" name="Oval 3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40" name="Oval 3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42" name="Oval 41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44" name="Oval 43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46" name="Oval 45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  ·  3 / 81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Question: what is one row of the table?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Before any tool opens, what does one row stand for, and where does each column come from?</a:t>
            </a:r>
          </a:p>
        </p:txBody>
      </p:sp>
      <p:pic>
        <p:nvPicPr>
          <p:cNvPr id="9" name="mermaid diagram" descr="cf36fd134a177b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2660" y="1956816"/>
            <a:ext cx="5286375" cy="27146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4817745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4945761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936617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Which is one row, as a letter? a) one order; b) one customer on the list; c) one customer who ordered; d) one customer the sale reached.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  ·  4 / 81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one customer on the list, 340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source decides the rows, and which ones only add columns?</a:t>
            </a:r>
          </a:p>
        </p:txBody>
      </p:sp>
      <p:pic>
        <p:nvPicPr>
          <p:cNvPr id="9" name="mermaid diagram" descr="4bacaf0978d022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672" y="1956816"/>
            <a:ext cx="9658350" cy="27146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4817745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4945761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936617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call.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The answer is b. The customer list decides how many rows there are; the orders and the feed only add columns to it, and the flags are computed from those columns.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  ·  5 / 81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Three checks every Monday, before anyone 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the table have to agree with before it leaves the team?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682496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340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16357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36474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one per customer on the 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287121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682496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Rs 19,84,00,000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16357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SPEND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36474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warehouse's two quarters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287121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682496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28 Sep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16357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AS 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36474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data's last order 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287121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mermaid diagram" descr="aa990960b8bbe9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3007" y="3145536"/>
            <a:ext cx="7265680" cy="3054096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4" name="Oval 23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6" name="Oval 25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8" name="Oval 27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0" name="Oval 29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  ·  6 / 81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Today teaches groupby, merge and reshape in six 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chapter teaches each of today's six topics, and how do they build on Monday to Wednesday?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682496"/>
          <a:ext cx="11130989" cy="21762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645613"/>
                <a:gridCol w="3116032"/>
                <a:gridCol w="2369344"/>
              </a:tblGrid>
              <a:tr h="310896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Topic, in the curriculum's words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Chapter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Minutes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read_sql from the warehouse into a DataFrame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1, then 6 inside the refresh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within chapters 1 and 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groupby and agg; named aggregations; the customer table (recency, frequency, monetary)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1, with recency in days in 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merge with validate= and the count habit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2, first used in 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Reshape: pivot_table and melt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Chained transformations and dtype checks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6, first met in 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The three-tool re-expression and the tool-choice note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4, then 5, then the second case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30, 30 and 40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pic>
        <p:nvPicPr>
          <p:cNvPr id="10" name="mermaid diagram" descr="c6404e327ef892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6797" y="4114800"/>
            <a:ext cx="8258100" cy="208483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3" name="Oval 12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5" name="Oval 14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7" name="Oval 16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19" name="Oval 18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S5a  ·  7 / 81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172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D9A7FF"/>
                </a:solidFill>
                <a:latin typeface="Calibri"/>
              </a:rPr>
              <a:t>groupby and agg; named aggregations; the customer table (recency, frequency, monetary)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One row per customer?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How recently, how often and how much has each of Kalpa's 340 customers bought, before any offer goes out?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609295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One row per customer?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43" y="5074920"/>
            <a:ext cx="172772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did the sale reach?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7998" y="5074920"/>
            <a:ext cx="178694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4670" y="5074920"/>
            <a:ext cx="160929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 three tools agree?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3693" y="5074920"/>
            <a:ext cx="184615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2, Day 4. Can Marketing act on Monday's table without checking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8 / 81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Five smaller questions build the growth team's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must the growth team's table settle before a single offer goes out?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" y="2084832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075688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Who needs the answer.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The growth team, which sends a win-back code or a first-order nudge from this table every Monday; a customer missing from it gets no offer at 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299" y="3496056"/>
            <a:ext cx="9051096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929128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469715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3816096"/>
            <a:ext cx="2079894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962400"/>
            <a:ext cx="175071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Which way builds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250182"/>
            <a:ext cx="1750710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A loop, SQL or pandas, each sized on 1,000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3126" y="2929128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3732489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93126" y="3816096"/>
            <a:ext cx="2079894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57718" y="3962400"/>
            <a:ext cx="1750710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Did every order arrive?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7718" y="4464812"/>
            <a:ext cx="1750710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frame against the warehouse's count and types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5900" y="2929128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5995263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55900" y="3816096"/>
            <a:ext cx="2079894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20492" y="3962400"/>
            <a:ext cx="1750710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Does groupby match the loop?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0492" y="4464812"/>
            <a:ext cx="1750710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Week 1's accumulator in one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8674" y="2929128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4</a:t>
            </a:r>
          </a:p>
        </p:txBody>
      </p:sp>
      <p:sp>
        <p:nvSpPr>
          <p:cNvPr id="29" name="Oval 28"/>
          <p:cNvSpPr/>
          <p:nvPr/>
        </p:nvSpPr>
        <p:spPr>
          <a:xfrm>
            <a:off x="8258037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8674" y="3816096"/>
            <a:ext cx="2079894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83266" y="3962400"/>
            <a:ext cx="175071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Who never ordered?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3266" y="4250182"/>
            <a:ext cx="1750710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count the nudge list rests 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1448" y="2929128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5</a:t>
            </a:r>
          </a:p>
        </p:txBody>
      </p:sp>
      <p:sp>
        <p:nvSpPr>
          <p:cNvPr id="34" name="Oval 33"/>
          <p:cNvSpPr/>
          <p:nvPr/>
        </p:nvSpPr>
        <p:spPr>
          <a:xfrm>
            <a:off x="10520812" y="3404616"/>
            <a:ext cx="201168" cy="201168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81448" y="3816096"/>
            <a:ext cx="2079894" cy="124968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46040" y="3962400"/>
            <a:ext cx="175071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Does SQL agree?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46040" y="4250182"/>
            <a:ext cx="175071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FC9EE"/>
                </a:solidFill>
                <a:latin typeface="Calibri"/>
              </a:rPr>
              <a:t>The same three numbers by a route that shares no code</a:t>
            </a:r>
          </a:p>
        </p:txBody>
      </p:sp>
      <p:sp>
        <p:nvSpPr>
          <p:cNvPr id="38" name="Oval 3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40" name="Oval 3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42" name="Oval 41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44" name="Oval 43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46" name="Oval 45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  ·  9 / 81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Three numbers per customer decide the offer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the growth team decide with the table, and what does a wrong row cost?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10588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340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391664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CUSTOMERS ON THE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592832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four segments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099308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10588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391664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592832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April to September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099308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10588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Rs 19,84,00,000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391664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SPEND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592832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every order at the price charged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099308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30352" y="3373628"/>
          <a:ext cx="11130990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37324"/>
                <a:gridCol w="5108404"/>
                <a:gridCol w="4385262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number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Plainly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it decides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Recency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date of the last order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Who gets a win-back code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Frequency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count of orders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Who is a regular, who ordered once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orders' value, at the prices charged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Who is worth protecting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530352" y="5108956"/>
            <a:ext cx="11130991" cy="86258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8952" y="531164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message-square_028dbd132a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421376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99031" y="525526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THE CLIENT 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1" y="5474716"/>
            <a:ext cx="9987991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Calibri"/>
              </a:rPr>
              <a:t>"Who has gone quiet, who never started, and who is worth the most?"</a:t>
            </a:r>
          </a:p>
        </p:txBody>
      </p:sp>
      <p:sp>
        <p:nvSpPr>
          <p:cNvPr id="27" name="Oval 2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29" name="Oval 2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31" name="Oval 30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3" name="Oval 32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5" name="Oval 34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S7  ·  10 / 81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Monetary value adds every order a customer placed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the M in RFM measure, and how does it differ from the average order?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11130991" cy="1048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Monetary value, the M in RFM, is what a customer spent in the window: the amount of every order at the price charged, added up. The table calls it spend. Because it is a total, it grows with how often a customer buys, and the average order is that total divided by the count of orders. Two invented customers: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3133344"/>
          <a:ext cx="11130988" cy="1005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64206"/>
                <a:gridCol w="2473783"/>
                <a:gridCol w="1531054"/>
                <a:gridCol w="2197630"/>
                <a:gridCol w="2064315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Customer (invented)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Orders, Rs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Frequency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Monetary value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Average order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1,200, 800 and 500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2,500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833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2,500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2,500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0352" y="4395216"/>
            <a:ext cx="11130991" cy="10744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4523232"/>
            <a:ext cx="45720" cy="8183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514088"/>
            <a:ext cx="10564063" cy="8915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Invented customer C placed two orders, Rs 3,000 and Rs 1,000, and D placed four of Rs 900 each. What is each one's monetary value, as a letter? a) C 2 and D 4; b) C Rs 2,000 and D Rs 900, the average order of each; c) C Rs 3,000 and D Rs 900; d) C Rs 4,000 and D Rs 3,600.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16" name="Oval 15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8" name="Oval 17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0" name="Oval 19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2" name="Oval 21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S7a  ·  11 / 81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C Rs 4,000 and D Rs 3,600, every order added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did each wrong letter compute instead?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1" cy="1676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914400"/>
                <a:gridCol w="914400"/>
                <a:gridCol w="8387791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Letter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it computed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Frequency, the count of orders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b)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2,000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900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average order, monetary value divided by frequency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3,000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900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largest single order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d)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4,000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3,600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Monetary value, every order added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3889248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4221480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list-checks_bd88901d2a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31208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4035552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4255008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Monetary value is a sum over a customer's orders, so it answers how much while frequency answers how often; C spends more from fewer orders, and only the two columns together show it.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17" name="Oval 16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9" name="Oval 18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1" name="Oval 20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3" name="Oval 22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S7b  ·  12 / 81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Shopify scores every customer, buyers or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Who else builds one row per customer, and what happens to customers with no orders?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1 to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PER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recency, frequency, monetary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RFM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from Champions to Prospects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Prospects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NO ORDERS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one of the 11, never left 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419856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952" y="375208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bug_39ada6eff4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61816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99031" y="356616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WHAT BREAKS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1" y="3785616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A table that drops customers with no orders cannot put anyone in Shopify's Prospects group, and the offer written for them has nobody to go to.</a:t>
            </a:r>
          </a:p>
        </p:txBody>
      </p:sp>
      <p:sp>
        <p:nvSpPr>
          <p:cNvPr id="26" name="Oval 25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28" name="Oval 27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30" name="Oval 29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2" name="Oval 31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4" name="Oval 33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S8  ·  13 / 81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pandas, because the next chapters need the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of three ways should build one row per customer, and what does each cost on 1,000 orders?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341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74349"/>
                <a:gridCol w="3742845"/>
                <a:gridCol w="1842610"/>
                <a:gridCol w="3571185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Rows moved out of the warehouse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Lines of logic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 next five chapters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a) Week 1's loop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by hand, one dictionary at a time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b) SQL GROUP BY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301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 new query for every new view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c) pandas groupby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in memory: merge, pivot, recount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3553968"/>
            <a:ext cx="11130991" cy="10744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3681984"/>
            <a:ext cx="45720" cy="8183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672840"/>
            <a:ext cx="10564063" cy="8915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call.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c. The growth team's analysts work in Python, and the next chapters merge, pivot and recount the same orders. What would switch it: an orders table in the crores, too big to move each Monday; then the warehouse groups (b) and pandas reads 301 rows.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S9  ·  14 / 81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groupby splits, applies and combines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one line of groupby do to 1,000 order rows?</a:t>
            </a:r>
          </a:p>
        </p:txBody>
      </p:sp>
      <p:pic>
        <p:nvPicPr>
          <p:cNvPr id="9" name="mermaid diagram" descr="293fb6581593a4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956816"/>
            <a:ext cx="11130991" cy="84346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2946586"/>
            <a:ext cx="11130991" cy="1467104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307460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07460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4128" y="307460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275770"/>
            <a:ext cx="10673791" cy="1064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rfm = (orders.groupby("customer_id")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         .agg(last_order=("order_date", "max"), frequency=("order_id", "count"),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              spend=("amount", "sum"))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         .reset_index())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17" name="Oval 16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9" name="Oval 18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1" name="Oval 20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3" name="Oval 22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S10  ·  15 / 81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Named aggregation: each keyword names a 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How does one agg call say what to read, what to run and what to call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845056"/>
            <a:ext cx="11130991" cy="94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00" b="0" i="0">
                <a:solidFill>
                  <a:srgbClr val="1A1440"/>
                </a:solidFill>
                <a:latin typeface="Calibri"/>
              </a:rPr>
              <a:t>pandas calls this form named aggregation. Inside agg, each keyword becomes a column of the answer, and the pair after it names the column to read and the function to run on each group, so spend=("amount", "sum") is SQL's sum(amount) AS spend. Four invented orders: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917952"/>
            <a:ext cx="11130991" cy="1755648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3045968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045968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4128" y="3045968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247136"/>
            <a:ext cx="10673791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0" i="0">
                <a:solidFill>
                  <a:srgbClr val="E4E1F1"/>
                </a:solidFill>
                <a:latin typeface="Consolas"/>
              </a:rPr>
              <a:t>toy = pd.DataFrame({"order": [1, 2, 3, 4], "customer": ["A", "A", "B", "A"],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E4E1F1"/>
                </a:solidFill>
                <a:latin typeface="Consolas"/>
              </a:rPr>
              <a:t>                    "amount": [500, 300, 200, 100]})                   # invented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E4E1F1"/>
                </a:solidFill>
                <a:latin typeface="Consolas"/>
              </a:rPr>
              <a:t>toy.groupby("customer").agg(orders=("order", "count"), spend=("amount", "sum"))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A9A3D2"/>
                </a:solidFill>
                <a:latin typeface="Consolas"/>
              </a:rPr>
              <a:t>#           orders  spend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A9A3D2"/>
                </a:solidFill>
                <a:latin typeface="Consolas"/>
              </a:rPr>
              <a:t># A              3    900</a:t>
            </a:r>
          </a:p>
          <a:p>
            <a:pPr>
              <a:spcAft>
                <a:spcPts val="200"/>
              </a:spcAft>
            </a:pPr>
            <a:r>
              <a:rPr sz="1200" b="0" i="0">
                <a:solidFill>
                  <a:srgbClr val="A9A3D2"/>
                </a:solidFill>
                <a:latin typeface="Consolas"/>
              </a:rPr>
              <a:t># B              1    200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838192"/>
            <a:ext cx="11130991" cy="119888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4966208"/>
            <a:ext cx="45720" cy="94284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957064"/>
            <a:ext cx="10564063" cy="10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300" b="0" i="0">
                <a:solidFill>
                  <a:srgbClr val="1A1440"/>
                </a:solidFill>
                <a:latin typeface="Calibri"/>
              </a:rPr>
              <a:t>On the same four orders, what does toy.groupby("customer").agg(smallest=("amount", "min"), orders=("amount", "count")) return, as a letter? a) 2 rows with columns smallest and orders, A reading 100 and 3; b) 2 rows with columns min and count, A reading 100 and 3; c) 4 rows, one per order, with smallest and orders on each; d) 2 rows with columns smallest and orders, A reading 100 and 900.</a:t>
            </a:r>
          </a:p>
        </p:txBody>
      </p:sp>
      <p:sp>
        <p:nvSpPr>
          <p:cNvPr id="18" name="Oval 1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20" name="Oval 1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2" name="Oval 21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4" name="Oval 23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6" name="Oval 25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S10a  ·  16 / 81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two rows, named smallest and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did each wrong letter misread?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682496"/>
            <a:ext cx="5291175" cy="1972055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81051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181051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181051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011680"/>
            <a:ext cx="4833975" cy="1569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toy.groupby("customer").agg(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smallest=("amount", "min"),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orders=("amount", "count"))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A9A3D2"/>
                </a:solidFill>
                <a:latin typeface="Consolas"/>
              </a:rPr>
              <a:t>#           smallest  orders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A9A3D2"/>
                </a:solidFill>
                <a:latin typeface="Consolas"/>
              </a:rPr>
              <a:t># A              100       3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A9A3D2"/>
                </a:solidFill>
                <a:latin typeface="Consolas"/>
              </a:rPr>
              <a:t># B              200       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70167" y="1682496"/>
          <a:ext cx="5291175" cy="24465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4376775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Letter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it misread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It names the columns after the functions, as ["amount"].agg(["min", "count"]) does with no keyword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c)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It keeps a row per order, as Wednesday's window did; agg gives one row per group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It reads count as sum: 900 is A's spend, and count gives A's three orders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370167" y="4385056"/>
            <a:ext cx="5291175" cy="138074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98767" y="484682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list-checks_bd88901d2a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495" y="4956556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38847" y="4531360"/>
            <a:ext cx="4148175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8847" y="4750816"/>
            <a:ext cx="4148175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One agg call gives one row per group and one column per keyword, each written name=("column", "function").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22" name="Oval 2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4" name="Oval 23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6" name="Oval 25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8" name="Oval 27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S10b  ·  17 / 81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pandas 3 reads text as str, amounts as float64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Did all 1,000 orders arrive from the warehouse, as types pandas can use?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53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5B3FD6"/>
                </a:solidFill>
                <a:latin typeface="Georgia"/>
              </a:rPr>
              <a:t>1,000 = 1,000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53314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73431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pandas and Postgres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53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5B3FD6"/>
                </a:solidFill>
                <a:latin typeface="Georgia"/>
              </a:rPr>
              <a:t>str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53314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CUSTOMER_ID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73431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pandas 3's text 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53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5B3FD6"/>
                </a:solidFill>
                <a:latin typeface="Georgia"/>
              </a:rPr>
              <a:t>float64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53314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AMOUNT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73431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 number pandas can sum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419856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952" y="375208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bug_39ada6eff4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61816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99031" y="356616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WHAT BREAKS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1" y="3785616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A tutorial that finds text columns with dtype == object finds none on pandas 3, because text reads as str. parse_dates makes order_date a real date, which chapter 6 subtracts.</a:t>
            </a:r>
          </a:p>
        </p:txBody>
      </p:sp>
      <p:sp>
        <p:nvSpPr>
          <p:cNvPr id="26" name="Oval 25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28" name="Oval 27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30" name="Oval 29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2" name="Oval 31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4" name="Oval 33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S11  ·  18 / 81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How many rows does spend per customer have?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Does one line of groupby give the same totals as Week 1's loop?</a:t>
            </a:r>
          </a:p>
        </p:txBody>
      </p:sp>
      <p:pic>
        <p:nvPicPr>
          <p:cNvPr id="9" name="mermaid diagram" descr="cac8d1e3c3c4077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091" y="1956816"/>
            <a:ext cx="7529512" cy="22002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4303395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4431410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422267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As a letter? a) 1,000, one per order; b) 340, one per customer on the list; c) 301; d) 4, one per segment.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S12  ·  19 / 81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301, the customers who ordered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Do the loop and groupby agree, and on how many customers?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5B3FD6"/>
                </a:solidFill>
                <a:latin typeface="Georgia"/>
              </a:rPr>
              <a:t>301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5013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7025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one per customer who ordered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5B3FD6"/>
                </a:solidFill>
                <a:latin typeface="Georgia"/>
              </a:rPr>
              <a:t>301 of 301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5013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AGREE TO THE RUPEE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7025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loop and groupby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5B3FD6"/>
                </a:solidFill>
                <a:latin typeface="Georgia"/>
              </a:rPr>
              <a:t>Rs 2,23,10,600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5013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LARGEST SPENDER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7025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C-0286, a Business account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419856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952" y="375208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bug_39ada6eff4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61816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99031" y="356616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WHAT BREAKS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1" y="3785616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groupby can only make a group for a customer it meets in the rows it was given, and the rows are orders. The loop has the same blind spot.</a:t>
            </a:r>
          </a:p>
        </p:txBody>
      </p:sp>
      <p:sp>
        <p:nvSpPr>
          <p:cNvPr id="26" name="Oval 25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28" name="Oval 27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30" name="Oval 29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2" name="Oval 31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4" name="Oval 33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S13  ·  20 / 81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How many does the hurried nudge filter find?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How many customers on the list have never ordered?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962152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559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never = rfm[rfm["frequency"] == 0]     # the first-order nudge list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len(never)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3083560"/>
            <a:ext cx="11130991" cy="5410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3211576"/>
            <a:ext cx="45720" cy="2849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202432"/>
            <a:ext cx="10564063" cy="3581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What does the hurried filter return, as a letter? a) 0; b) 39; c) 301; d) 340.</a:t>
            </a:r>
          </a:p>
        </p:txBody>
      </p:sp>
      <p:sp>
        <p:nvSpPr>
          <p:cNvPr id="17" name="Oval 1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19" name="Oval 1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1" name="Oval 20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3" name="Oval 22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5" name="Oval 24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S14  ·  21 / 81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0, the plausible wrong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would the growth team have sent on Monday?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5428335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542833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CUSTOMERS WHO NEVER ORDERED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5428335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hurried filter's 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5428335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956816"/>
            <a:ext cx="5428335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301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691892"/>
            <a:ext cx="542833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ROWS IN THE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2893060"/>
            <a:ext cx="5428335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one per customer, or so it seems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3145536"/>
            <a:ext cx="5428335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" y="3419856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8952" y="375208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bug_39ada6eff4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61816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99031" y="356616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WHAT BREAKS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1" y="3785616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The welcome offer goes to nobody, and the 39 customers who signed up and never ordered stay unwelcomed.</a:t>
            </a:r>
          </a:p>
        </p:txBody>
      </p:sp>
      <p:sp>
        <p:nvSpPr>
          <p:cNvPr id="22" name="Oval 21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24" name="Oval 23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6" name="Oval 25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8" name="Oval 27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0" name="Oval 29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S15  ·  22 / 81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Why it is wrong: 301 rows against 340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Why does the filter find nobody, and which check catches it?</a:t>
            </a:r>
          </a:p>
        </p:txBody>
      </p:sp>
      <p:pic>
        <p:nvPicPr>
          <p:cNvPr id="9" name="mermaid diagram" descr="34695c7fa9591ec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956816"/>
            <a:ext cx="11130991" cy="276520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4868322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4996338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987194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check.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Rows against the customer list before any filter: 301 against 340. The half-fix fails too: merged onto the list, the 39 arrive with a missing frequency, and a missing value never equals 0.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S16  ·  23 / 81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fix: the list is the spine, and 39 appear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changes when the table starts from the customer list?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214627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8122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table = customers.merge(rfm, on="customer_id", how="left", validate="one_to_one")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table = table.assign(frequency=table["frequency"].fillna(0).astype("int64"),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                 spend=table["spend"].fillna(0))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336036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81711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018279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every customer on the 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452475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2122" y="3336036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2122" y="381711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NEVER ORDERED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2122" y="4018279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Core 19, Plus 13, Student 6, Business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2122" y="452475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3892" y="3336036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Rs 19,84,00,000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3892" y="381711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3892" y="4018279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unchanged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3892" y="452475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28" name="Oval 27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30" name="Oval 29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2" name="Oval 31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4" name="Oval 33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S17  ·  24 / 81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second route: SQL agrees on all 340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Does SQL, run on its own, give all 340 customers the same three numbers?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467104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1064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SELECT c.customer_id, max(o.order_date) AS last_order,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   count(o.order_id) AS frequency, coalesce(sum(o.amount), 0) AS spend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FROM customers c LEFT JOIN orders o ON o.customer_id = c.customer_id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GROUP BY c.customer_id;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588512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340 = 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323588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524756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SQL and pandas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4777232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2122" y="3588512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3 of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2122" y="4323588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NUMBERS AGREE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2122" y="4524756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last order, frequency, spend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2122" y="4777232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3892" y="3588512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3892" y="4323588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FREQUENCY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3892" y="4524756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count(o.order_id) counts only matches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3892" y="4777232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28" name="Oval 27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30" name="Oval 29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2" name="Oval 31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4" name="Oval 33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S18  ·  25 / 81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Chapter 1: 340 rows, 39 never ordered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did each smaller question find?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682496"/>
          <a:ext cx="11130990" cy="2011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476286"/>
                <a:gridCol w="7654704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 answer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Which way builds it?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pandas, moving 1,000 orders; SQL grouping when they run to crores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Did every order arrive?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1,000 of 1,000, text as str, amounts as float64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Does groupby match the loop?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Yes, on all 301 customers who ordered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Who never ordered?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39 of 340; the order-built table said 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Does SQL agree?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Yes, on every customer's three numbers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3950208"/>
            <a:ext cx="11130991" cy="1052576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4247896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earch-check_6571e64a04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57624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4096512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KAVYA'S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4315968"/>
            <a:ext cx="9987991" cy="613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1A1440"/>
                </a:solidFill>
                <a:latin typeface="Calibri"/>
              </a:rPr>
              <a:t>The table's spine is the customer list, never the orders; check rows against the list, spend against the warehouse, and the never-ordered count every Monday.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167376"/>
            <a:ext cx="11130991" cy="828040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8952" y="5352796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mic_caee7398c8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462524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99031" y="531368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IN THE INTERVIEW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1" y="5533136"/>
            <a:ext cx="9987991" cy="389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1A1440"/>
                </a:solidFill>
                <a:latin typeface="Calibri"/>
              </a:rPr>
              <a:t>[S] Describe groupby in the split-apply-combine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One row per customer?</a:t>
            </a:r>
          </a:p>
        </p:txBody>
      </p:sp>
      <p:sp>
        <p:nvSpPr>
          <p:cNvPr id="22" name="Oval 2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4" name="Oval 23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6" name="Oval 25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8" name="Oval 27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S19  ·  26 / 81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merge with validate= and the count habit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Who did the sale reach?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Which customers did the monsoon sale reach, and what did they spend, before the November budget is asked for?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60929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One row per customer?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43" y="5074920"/>
            <a:ext cx="1727727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Who did the sale reach?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7998" y="5074920"/>
            <a:ext cx="178694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4670" y="5074920"/>
            <a:ext cx="160929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 three tools agree?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3693" y="5074920"/>
            <a:ext cx="184615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2, Day 4. Can Marketing act on Monday's table without checking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27 / 81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Six checks stand between the feed and the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must the marketing lead's reach number survive on the way to November?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" y="2084832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075688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Who needs the answer.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The marketing lead, who asks for the monsoon sale's budget again in November; an overstated spend makes that case with money nobody paid.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81734" y="3496056"/>
            <a:ext cx="9428226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281150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3816096"/>
            <a:ext cx="1702765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962400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Which way attaches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464812"/>
            <a:ext cx="1373581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A flag, a merge, a counted merge or a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5997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3166795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15997" y="3816096"/>
            <a:ext cx="1702765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0589" y="3962400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What does how= keep?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0589" y="4464812"/>
            <a:ext cx="137358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merge's default, and who it drops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1642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5052441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01642" y="3816096"/>
            <a:ext cx="1702765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6234" y="3962400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What does a re-sent row do?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6234" y="4464812"/>
            <a:ext cx="137358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Invented records, one customer twice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7287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4</a:t>
            </a:r>
          </a:p>
        </p:txBody>
      </p:sp>
      <p:sp>
        <p:nvSpPr>
          <p:cNvPr id="29" name="Oval 28"/>
          <p:cNvSpPr/>
          <p:nvPr/>
        </p:nvSpPr>
        <p:spPr>
          <a:xfrm>
            <a:off x="6938086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87287" y="3816096"/>
            <a:ext cx="1702765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1879" y="3962400"/>
            <a:ext cx="1373581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What stops it?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1879" y="4250182"/>
            <a:ext cx="1373581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argument that refuses the wrong 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2932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5</a:t>
            </a:r>
          </a:p>
        </p:txBody>
      </p:sp>
      <p:sp>
        <p:nvSpPr>
          <p:cNvPr id="34" name="Oval 33"/>
          <p:cNvSpPr/>
          <p:nvPr/>
        </p:nvSpPr>
        <p:spPr>
          <a:xfrm>
            <a:off x="8823731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72932" y="3816096"/>
            <a:ext cx="1702765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7524" y="3962400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Which exposure stays?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7524" y="4464812"/>
            <a:ext cx="137358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rule, and 340 rows 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8578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10709376" y="3404616"/>
            <a:ext cx="201168" cy="201168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58578" y="3816096"/>
            <a:ext cx="1702765" cy="124968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23170" y="3962400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Does a count agree?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23170" y="4464812"/>
            <a:ext cx="137358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FC9EE"/>
                </a:solidFill>
                <a:latin typeface="Calibri"/>
              </a:rPr>
              <a:t>Reach and spend with no merge at all</a:t>
            </a:r>
          </a:p>
        </p:txBody>
      </p:sp>
      <p:sp>
        <p:nvSpPr>
          <p:cNvPr id="43" name="Oval 4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45" name="Oval 4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the sale reach?</a:t>
            </a:r>
          </a:p>
        </p:txBody>
      </p:sp>
      <p:sp>
        <p:nvSpPr>
          <p:cNvPr id="47" name="Oval 4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49" name="Oval 4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51" name="Oval 5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S20  ·  28 / 81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sale's feed decides November's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the marketing lead decide, and what does an inflated number cost?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53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5B3FD6"/>
                </a:solidFill>
                <a:latin typeface="Georgia"/>
              </a:rPr>
              <a:t>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53314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 MONSOON SALE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73431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15 percent 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53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5B3FD6"/>
                </a:solidFill>
                <a:latin typeface="Georgia"/>
              </a:rPr>
              <a:t>270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53314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CUSTOMERS IT COULD 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73431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Retail-Core and Retail-Plus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53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5B3FD6"/>
                </a:solidFill>
                <a:latin typeface="Georgia"/>
              </a:rPr>
              <a:t>one row each?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53314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 FEED'S PROMISE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73431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from the campaign platform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419856"/>
            <a:ext cx="11130991" cy="112166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952" y="375208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message-square_028dbd132a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61816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99031" y="356616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THE CLIENT ASKS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1" y="3785616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Calibri"/>
              </a:rPr>
              <a:t>"Per segment, whom did it reach and what did they spend? I am asking for the same budget in November."</a:t>
            </a:r>
          </a:p>
        </p:txBody>
      </p:sp>
      <p:sp>
        <p:nvSpPr>
          <p:cNvPr id="26" name="Oval 25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8" name="Oval 27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the sale reach?</a:t>
            </a:r>
          </a:p>
        </p:txBody>
      </p:sp>
      <p:sp>
        <p:nvSpPr>
          <p:cNvPr id="30" name="Oval 29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2" name="Oval 31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4" name="Oval 33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S21  ·  29 / 81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Meta dedupes the same purchase sent twice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Who else meets one event arriving twice, and what do they do about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ROUTES FOR ONE PURCHASE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browser's Pixel and the server's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ID +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HOW META MATCHES THEM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event_id and event_name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48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after the first event arrives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419856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952" y="375208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bug_39ada6eff4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61816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99031" y="356616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WHAT BREAKS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1" y="3785616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Two copies of one purchase count as two purchases unless the advertiser dedupes, and a campaign that looks twice as good gets twice the budget.</a:t>
            </a:r>
          </a:p>
        </p:txBody>
      </p:sp>
      <p:sp>
        <p:nvSpPr>
          <p:cNvPr id="26" name="Oval 25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8" name="Oval 27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the sale reach?</a:t>
            </a:r>
          </a:p>
        </p:txBody>
      </p:sp>
      <p:sp>
        <p:nvSpPr>
          <p:cNvPr id="30" name="Oval 29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2" name="Oval 31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4" name="Oval 33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S22  ·  30 / 81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rule, then a merge that refuses repeats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of four ways should attach the sale to the table, and what does each risk?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676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514815"/>
                <a:gridCol w="2786368"/>
                <a:gridCol w="3496026"/>
                <a:gridCol w="2333780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Rows out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Spend overstated per re-sent row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 problem shows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a) isin flag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340, always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never; the date is lost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b) plain merge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340 plus one per re-sent row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5,100 to Rs 26,020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never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c) merge, counted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340 plus one per re-sent row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5,100 to Rs 26,020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after the table exists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d) rule and guarded merge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340, or the run stops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before the table exists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3889248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4017263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008119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call.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d: the marketing lead needs the date, and a bad feed should stop Monday's run. What would switch it: a table that only needs yes or no; then a, which cannot multiply a row.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S23  ·  31 / 81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merge is a join with the same four shapes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a pandas merge keep, shape by shape?</a:t>
            </a:r>
          </a:p>
        </p:txBody>
      </p:sp>
      <p:pic>
        <p:nvPicPr>
          <p:cNvPr id="9" name="mermaid diagram" descr="3e1df1a622e85b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2460" y="1956816"/>
            <a:ext cx="8486775" cy="8715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2974657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3306889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list-checks_bd88901d2a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416617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3120961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3340417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The customer table is the spine, so the growth team's merge is how="left": every customer stays, and the feed adds a date where it has one.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7" name="Oval 16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the sale reach?</a:t>
            </a:r>
          </a:p>
        </p:txBody>
      </p:sp>
      <p:sp>
        <p:nvSpPr>
          <p:cNvPr id="19" name="Oval 18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1" name="Oval 20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3" name="Oval 22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S24  ·  32 / 81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Which customers does a merge keep by default?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customers does a merge keep when how is left out?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709676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30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inner = table.merge(exposure, on="customer_id")      # how= left 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2831084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2959100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949956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As a letter? a) every customer on the table; b) only the customers the feed names; c) every feed row, even customers the table does not know; d) none, since how is required.</a:t>
            </a:r>
          </a:p>
        </p:txBody>
      </p:sp>
      <p:sp>
        <p:nvSpPr>
          <p:cNvPr id="17" name="Oval 1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9" name="Oval 1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the sale reach?</a:t>
            </a:r>
          </a:p>
        </p:txBody>
      </p:sp>
      <p:sp>
        <p:nvSpPr>
          <p:cNvPr id="21" name="Oval 20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3" name="Oval 22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5" name="Oval 24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S25  ·  33 / 81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only the 130 the feed names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Who disappears with the default, and why does it matter?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5428335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130 of 340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542833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CUSTOMERS KEPT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5428335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default inner merge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5428335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956816"/>
            <a:ext cx="5428335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210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691892"/>
            <a:ext cx="542833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DROPPED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2893060"/>
            <a:ext cx="5428335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every customer the sale missed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3145536"/>
            <a:ext cx="5428335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" y="3419856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8952" y="375208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bug_39ada6eff4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61816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99031" y="356616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WHAT BREAKS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1" y="3785616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The unreached are exactly the comparison the marketing lead's case needs. Write how= on every merge, so a reader knows which rows survive.</a:t>
            </a:r>
          </a:p>
        </p:txBody>
      </p:sp>
      <p:sp>
        <p:nvSpPr>
          <p:cNvPr id="22" name="Oval 21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4" name="Oval 23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the sale reach?</a:t>
            </a:r>
          </a:p>
        </p:txBody>
      </p:sp>
      <p:sp>
        <p:nvSpPr>
          <p:cNvPr id="26" name="Oval 25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8" name="Oval 27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0" name="Oval 29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S26  ·  34 / 81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plausible wrong answer: Rs 34,700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one re-sent row do to the reached customers' spend, on invented records?</a:t>
            </a:r>
          </a:p>
        </p:txBody>
      </p:sp>
      <p:pic>
        <p:nvPicPr>
          <p:cNvPr id="9" name="mermaid diagram" descr="a315cc83344e6d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5045" y="1664208"/>
            <a:ext cx="5241603" cy="35173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5227320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5355336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346192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Invented records.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Four invented customers, not Kalpa's, and a feed that names C-9002 twice. The merged slide says Rs 34,700; the reached customers spent Rs 26,100.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S27  ·  35 / 81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Why it is wrong, and validate stops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argument stops the merge before a wrong table exists?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962152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559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small.merge(small_feed, on="customer_id", how="left", validate="one_to_one")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A9A3D2"/>
                </a:solidFill>
                <a:latin typeface="Consolas"/>
              </a:rPr>
              <a:t># MergeError: Merge keys are not unique in right dataset; not a one-to-one 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083560"/>
            <a:ext cx="5428335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4 in, 5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818636"/>
            <a:ext cx="542833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 COUNT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019804"/>
            <a:ext cx="5428335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Tuesday's habit, after the fact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4272280"/>
            <a:ext cx="5428335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3083560"/>
            <a:ext cx="5428335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MergeError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3818636"/>
            <a:ext cx="542833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VALIDATE=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4019804"/>
            <a:ext cx="5428335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before the table exists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007" y="4272280"/>
            <a:ext cx="5428335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0352" y="4546600"/>
            <a:ext cx="11130991" cy="86258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8952" y="4749292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bug_39ada6eff4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59020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99031" y="4692904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WHAT BREAKS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1" y="4912360"/>
            <a:ext cx="9987991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Every row looks right on its own; only the count, or a promise the merge checks, sees the copy.</a:t>
            </a:r>
          </a:p>
        </p:txBody>
      </p:sp>
      <p:sp>
        <p:nvSpPr>
          <p:cNvPr id="27" name="Oval 2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9" name="Oval 2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the sale reach?</a:t>
            </a:r>
          </a:p>
        </p:txBody>
      </p:sp>
      <p:sp>
        <p:nvSpPr>
          <p:cNvPr id="31" name="Oval 30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3" name="Oval 32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5" name="Oval 34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S28  ·  36 / 81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Which exposure should each customer keep?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exposure should a customer keep, and does the table stay at 340 rows?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962152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559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first_touch = (exposure.sort_values("exposed_date")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                   .drop_duplicates("customer_id", keep=?)[["customer_id", "exposed_date"]])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3083560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3211576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202432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Which keep= keeps each customer's first exposure, as a letter? a) "last"; b) False; c) "first"; d) none, since the merge ignores repeats.</a:t>
            </a:r>
          </a:p>
        </p:txBody>
      </p:sp>
      <p:sp>
        <p:nvSpPr>
          <p:cNvPr id="17" name="Oval 1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9" name="Oval 1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the sale reach?</a:t>
            </a:r>
          </a:p>
        </p:txBody>
      </p:sp>
      <p:sp>
        <p:nvSpPr>
          <p:cNvPr id="21" name="Oval 20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3" name="Oval 22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5" name="Oval 24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S29  ·  37 / 81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keep="first", and 340 rows stay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Did the rule and the guarded merge leave the table whole?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340 = 340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437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ROWS IN AND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639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validate passes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Rs 19,84,00,000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437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SPEND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639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before and after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130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437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REACHED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639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Core 70, Plus 60, Rs 8,78,980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419856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952" y="375208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bug_39ada6eff4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61816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99031" y="356616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WHAT BREAKS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1" y="3785616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keep=False drops every copy of a repeated customer, so a customer sent twice reads as never reached; keep="last" keeps a later date.</a:t>
            </a:r>
          </a:p>
        </p:txBody>
      </p:sp>
      <p:sp>
        <p:nvSpPr>
          <p:cNvPr id="26" name="Oval 25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8" name="Oval 27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the sale reach?</a:t>
            </a:r>
          </a:p>
        </p:txBody>
      </p:sp>
      <p:sp>
        <p:nvSpPr>
          <p:cNvPr id="30" name="Oval 29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2" name="Oval 31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4" name="Oval 33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S30  ·  38 / 81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second route: a flag and SQL agree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Does a count with no merge at all give the same reach and spend?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130, Rs 8,78,980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437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 RULE AND THE 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639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chapter 2's route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130, Rs 8,78,980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437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 ISIN FLAG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639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 flag cannot add a row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130, Rs 8,78,980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437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SQL, IN AND DISTINCT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639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in the warehouse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mermaid diagram" descr="5d0421a9bae36d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4066" y="3419856"/>
            <a:ext cx="5643562" cy="1957387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4" name="Oval 23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the sale reach?</a:t>
            </a:r>
          </a:p>
        </p:txBody>
      </p:sp>
      <p:sp>
        <p:nvSpPr>
          <p:cNvPr id="26" name="Oval 25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8" name="Oval 27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0" name="Oval 29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S31  ·  39 / 81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Chapter 2: 130 reached, 340 rows kept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did each smaller question find?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794764"/>
          <a:ext cx="11130990" cy="222605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16584"/>
                <a:gridCol w="7614406"/>
              </a:tblGrid>
              <a:tr h="31800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The answer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Which way attaches it?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The first-exposure rule and a merge with validate="one_to_one"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What does how= keep?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Left out, only 130 of 340; the 210 unreached vanish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What does a re-sent row do?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Invented: Rs 34,700 on the slide, Rs 26,100 truly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What stops it?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validate, with a MergeError before the table exists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Which exposure stays?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The first; 340 rows, Rs 19,84,00,000, 130 reached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Does a count agree?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Flag, merge and SQL: 130 and Rs 8,78,980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4276852"/>
            <a:ext cx="11130991" cy="822960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4459732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earch-check_6571e64a04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69460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4423156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KAVYA'S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4642612"/>
            <a:ext cx="99879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1A1440"/>
                </a:solidFill>
                <a:latin typeface="Calibri"/>
              </a:rPr>
              <a:t>A merge is a join: 340 rows in and 340 out, Rs 19,84,00,000 before and after, and the rule in writing beside the 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264404"/>
            <a:ext cx="11130991" cy="822960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8952" y="54472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mic_caee7398c8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5570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99031" y="5410708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IN THE INTERVIEW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1" y="5630164"/>
            <a:ext cx="99879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1A1440"/>
                </a:solidFill>
                <a:latin typeface="Calibri"/>
              </a:rPr>
              <a:t>[F] Which merge argument raises on duplicate keys, and which error does it raise?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2" name="Oval 2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the sale reach?</a:t>
            </a:r>
          </a:p>
        </p:txBody>
      </p:sp>
      <p:sp>
        <p:nvSpPr>
          <p:cNvPr id="24" name="Oval 23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6" name="Oval 25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8" name="Oval 27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S32  ·  40 / 81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Reshape: pivot_table and melt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Is Retail-Plus slipping?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How far did Retail-Plus members' spend fall from Q1 to Q2, month by month, in the number the growth review hears?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60929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One row per customer?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43" y="5074920"/>
            <a:ext cx="172772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did the sale reach?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7998" y="5074920"/>
            <a:ext cx="1786943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4670" y="5074920"/>
            <a:ext cx="160929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 three tools agree?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3693" y="5074920"/>
            <a:ext cx="184615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2, Day 4. Can Marketing act on Monday's table without checking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41 / 81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Six steps turn orders into the tier's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the head of Retail-Plus need settled before the growth review?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" y="2084832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075688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Who needs the answer.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The head of Retail-Plus, the paid tier, who takes one number to the growth review and uses the rows to decide which members to protect.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81734" y="3496056"/>
            <a:ext cx="9428226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281150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3816096"/>
            <a:ext cx="1702765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962400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Which shape answers?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464812"/>
            <a:ext cx="137358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Long, wide, or a query per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5997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3166795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15997" y="3816096"/>
            <a:ext cx="1702765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0589" y="3962400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How many member-months?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0589" y="4464812"/>
            <a:ext cx="137358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long table and its true totals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1642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5052441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01642" y="3816096"/>
            <a:ext cx="1702765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6234" y="3962400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What does a one-line pivot say?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6234" y="4464812"/>
            <a:ext cx="137358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fall, read from the default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7287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4</a:t>
            </a:r>
          </a:p>
        </p:txBody>
      </p:sp>
      <p:sp>
        <p:nvSpPr>
          <p:cNvPr id="29" name="Oval 28"/>
          <p:cNvSpPr/>
          <p:nvPr/>
        </p:nvSpPr>
        <p:spPr>
          <a:xfrm>
            <a:off x="6938086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87287" y="3816096"/>
            <a:ext cx="1702765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1879" y="3962400"/>
            <a:ext cx="1373581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What is one row?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1879" y="4250182"/>
            <a:ext cx="1373581" cy="2016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index decides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2932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5</a:t>
            </a:r>
          </a:p>
        </p:txBody>
      </p:sp>
      <p:sp>
        <p:nvSpPr>
          <p:cNvPr id="34" name="Oval 33"/>
          <p:cNvSpPr/>
          <p:nvPr/>
        </p:nvSpPr>
        <p:spPr>
          <a:xfrm>
            <a:off x="8823731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72932" y="3816096"/>
            <a:ext cx="1702765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7524" y="3962400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Compare or follow?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7524" y="4464812"/>
            <a:ext cx="137358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Wide against long, and melt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8578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10709376" y="3404616"/>
            <a:ext cx="201168" cy="201168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58578" y="3816096"/>
            <a:ext cx="1702765" cy="107696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23170" y="3962400"/>
            <a:ext cx="1373581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Does SQL agree?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23170" y="4250182"/>
            <a:ext cx="137358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FC9EE"/>
                </a:solidFill>
                <a:latin typeface="Calibri"/>
              </a:rPr>
              <a:t>The fall with no pivot at all</a:t>
            </a:r>
          </a:p>
        </p:txBody>
      </p:sp>
      <p:sp>
        <p:nvSpPr>
          <p:cNvPr id="43" name="Oval 4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45" name="Oval 4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47" name="Oval 4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Retail-Plus slipping?</a:t>
            </a:r>
          </a:p>
        </p:txBody>
      </p:sp>
      <p:sp>
        <p:nvSpPr>
          <p:cNvPr id="49" name="Oval 4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51" name="Oval 5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S33  ·  42 / 81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One number goes to the growth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the head of Retail-Plus decide, and what does a small number cost?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MEMBERS ON THE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107 of them ordered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355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RETAIL-PLUS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April to September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 FALL, Q1 TO 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number for the 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419856"/>
            <a:ext cx="11130991" cy="112166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952" y="375208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message-square_028dbd132a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61816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99031" y="356616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THE CLIENT ASKS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1" y="3785616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Calibri"/>
              </a:rPr>
              <a:t>"One row per member, one column per month, so I can read along a row and see who is drifting, and the tier's fall in one number."</a:t>
            </a:r>
          </a:p>
        </p:txBody>
      </p:sp>
      <p:sp>
        <p:nvSpPr>
          <p:cNvPr id="26" name="Oval 25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8" name="Oval 27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30" name="Oval 29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2" name="Oval 31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4" name="Oval 33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S34  ·  43 / 81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Costco reports visits and trip size apart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Who else splits how often members buy from what each trip is worth?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+3.3%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TRAFFIC OR SHOPPING 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worldwide, Q4 fiscal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+5.9%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AVERAGE TRANSACTION OR 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worldwide, Q4 fiscal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92.3%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RENEWAL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US and Canada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419856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952" y="375208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bug_39ada6eff4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61816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99031" y="356616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WHAT BREAKS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1" y="3785616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A single average of the trip hides how often members come, and how often is the lever Week 1 found moving in Retail-Plus.</a:t>
            </a:r>
          </a:p>
        </p:txBody>
      </p:sp>
      <p:sp>
        <p:nvSpPr>
          <p:cNvPr id="26" name="Oval 25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8" name="Oval 27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30" name="Oval 29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2" name="Oval 31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4" name="Oval 33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S35  ·  44 / 81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Long to hold, wide to read, in pandas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of three shapes should answer the head of Retail-Plus, and what does each cost?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341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984156"/>
                <a:gridCol w="2648659"/>
                <a:gridCol w="914400"/>
                <a:gridCol w="1551498"/>
                <a:gridCol w="2032276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Shape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Cells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Empty cells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Adding October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a) long, groupby on member and month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266 by 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798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nothing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b) wide, pivot_table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107 by 7, id and months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749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376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nothing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c) SQL, a column per month by hand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107 by 7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749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376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 new line, typed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3553968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3681984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672840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call.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a and b together: long keeps every rupee and plots, wide is what the head reads. What would switch it: the view moving into the warehouse every Monday; then c, with a calendar table of months.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S36  ·  45 / 81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How many member-months did Retail-Plus buy in?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In how many member-months did Retail-Plus buy?</a:t>
            </a:r>
          </a:p>
        </p:txBody>
      </p:sp>
      <p:pic>
        <p:nvPicPr>
          <p:cNvPr id="9" name="mermaid diagram" descr="9a00e9fd465d0c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8328" y="1956816"/>
            <a:ext cx="6015037" cy="1371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3474720"/>
            <a:ext cx="11130991" cy="5410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3602736"/>
            <a:ext cx="45720" cy="2849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593592"/>
            <a:ext cx="10564063" cy="3581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As a letter? a) 355, one per order; b) 642, 107 members times 6 months; c) 266; d) 107.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S37  ·  46 / 81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266, and a fall of 29.4 percent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did the tier take in each quarter, every order added up?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5B3FD6"/>
                </a:solidFill>
                <a:latin typeface="Georgia"/>
              </a:rPr>
              <a:t>266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283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MEMBER-MONTHS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295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 month with no order has no row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5B3FD6"/>
                </a:solidFill>
                <a:latin typeface="Georgia"/>
              </a:rPr>
              <a:t>Rs 5,85,770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283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295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April to June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5B3FD6"/>
                </a:solidFill>
                <a:latin typeface="Georgia"/>
              </a:rPr>
              <a:t>Rs 4,13,380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283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295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July to September, a fall of 29.4%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mermaid diagram" descr="a52526358b2b60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285" y="3419856"/>
            <a:ext cx="9001125" cy="871537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4" name="Oval 23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6" name="Oval 25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8" name="Oval 27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0" name="Oval 29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S38  ·  47 / 81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How far did the tier fall, per the one-liner?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How far did the tier fall, read from a one-line pivot?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962152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559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wide = plus.pivot_table(index="customer_id", columns="month", values="amount")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wide.sum()          # each month's column added up, Q1 against Q2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3083560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3211576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202432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The fall it reports, as a letter? a) 29 percent; b) 18 percent; c) 0 percent; d) it raises an error.</a:t>
            </a:r>
          </a:p>
        </p:txBody>
      </p:sp>
      <p:sp>
        <p:nvSpPr>
          <p:cNvPr id="17" name="Oval 1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9" name="Oval 1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1" name="Oval 20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3" name="Oval 22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5" name="Oval 24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S39  ·  48 / 81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18 percent, the plausible wrong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would the growth review have heard?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5B3FD6"/>
                </a:solidFill>
                <a:latin typeface="Georgia"/>
              </a:rPr>
              <a:t>Rs 4,12,019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283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Q1, FROM THE PIVOT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295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April to June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5B3FD6"/>
                </a:solidFill>
                <a:latin typeface="Georgia"/>
              </a:rPr>
              <a:t>Rs 3,37,267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283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Q2, FROM THE PIVOT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295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July to September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5B3FD6"/>
                </a:solidFill>
                <a:latin typeface="Georgia"/>
              </a:rPr>
              <a:t>-18%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283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 FALL IT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295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against a true 29.4%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419856"/>
            <a:ext cx="11130991" cy="86258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952" y="362254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bug_39ada6eff4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32276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99031" y="356616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WHAT BREAKS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1" y="3785616"/>
            <a:ext cx="9987991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The head of Retail-Plus defends a fall of Rs 74,752 when the tier lost Rs 1,72,390.</a:t>
            </a:r>
          </a:p>
        </p:txBody>
      </p:sp>
      <p:sp>
        <p:nvSpPr>
          <p:cNvPr id="26" name="Oval 25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8" name="Oval 27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30" name="Oval 29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2" name="Oval 31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4" name="Oval 33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S40  ·  49 / 81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Why it is wrong: pivot_table averages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Why is the pivot short, and which check catches it?</a:t>
            </a:r>
          </a:p>
        </p:txBody>
      </p:sp>
      <p:pic>
        <p:nvPicPr>
          <p:cNvPr id="9" name="mermaid diagram" descr="922784c84ba5706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8166" y="1956816"/>
            <a:ext cx="8615362" cy="278606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4889182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5017198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008054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check.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A pivot of spend holds the same total as its orders. This one holds Rs 7,49,286 against Rs 9,99,150, a quarter short.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S41  ·  50 / 81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fix: aggfunc="sum" and fill_value=0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the pivot say once a cell means a total?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962152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559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wide = plus.pivot_table(index="customer_id", columns="month", values="amount",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                    aggfunc="sum", fill_value=0)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083560"/>
            <a:ext cx="35274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5B3FD6"/>
                </a:solidFill>
                <a:latin typeface="Georgia"/>
              </a:rPr>
              <a:t>Rs 9,99,150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755136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GRAND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956303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equals the orders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4272280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2122" y="3083560"/>
            <a:ext cx="35274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5B3FD6"/>
                </a:solidFill>
                <a:latin typeface="Georgia"/>
              </a:rPr>
              <a:t>-29.4%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2122" y="3755136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Q1 TO 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2122" y="3956303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Rs 1,72,390 in rupees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2122" y="4272280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3892" y="3083560"/>
            <a:ext cx="35274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5B3FD6"/>
                </a:solidFill>
                <a:latin typeface="Georgia"/>
              </a:rPr>
              <a:t>Rs 97,638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3892" y="3755136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 FALL THE AVERAGE HID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3892" y="3956303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lost when each cell averaged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3892" y="4272280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8" name="Oval 27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30" name="Oval 29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2" name="Oval 31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4" name="Oval 33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S42  ·  51 / 81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Indexed by order, the pivot has 355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one row of the pivot stand for?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005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73975"/>
                <a:gridCol w="914400"/>
                <a:gridCol w="4225484"/>
                <a:gridCol w="3017131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Index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Shape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First row label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One row is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107 by 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 member's id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 member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order_id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355 by 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KR-00125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an order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3218688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3550920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bug_39ada6eff4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60648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3364992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WHAT BREAKS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3584448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The order-indexed pivot's totals are right, so it survives a glance, but "who is drifting" cannot be read from rows that are orders. Read the row labels aloud before reading a number.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7" name="Oval 16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9" name="Oval 18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1" name="Oval 20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3" name="Oval 22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S43  ·  52 / 81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Wide compares, long follows the trend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shape compares a member's quarters, and which follows the tier's trend?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67 of 107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MEMBERS SPENT LESS IN 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wide 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642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ROWS AFTER MELT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107 members times 6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56 to 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MEMBERS ORDERING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April to September, the long 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mermaid diagram" descr="240dc3c0a9f2bf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6791" y="3419856"/>
            <a:ext cx="7758112" cy="871537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4" name="Oval 23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6" name="Oval 25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8" name="Oval 27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0" name="Oval 29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S44  ·  53 / 81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second route: SQL gives the same 29.4%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Does a query that never pivots give the same fall?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467104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1064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SELECT o.quarter, sum(o.amount) AS spend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FROM orders o JOIN customers c ON c.customer_id = o.customer_id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WHERE c.segment = 'Retail-Plus'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GROUP BY o.quarter;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588512"/>
            <a:ext cx="35274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5B3FD6"/>
                </a:solidFill>
                <a:latin typeface="Georgia"/>
              </a:rPr>
              <a:t>Rs 5,85,770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260088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Q1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461256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SQL and the summed pivot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4777232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2122" y="3588512"/>
            <a:ext cx="35274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5B3FD6"/>
                </a:solidFill>
                <a:latin typeface="Georgia"/>
              </a:rPr>
              <a:t>Rs 4,13,380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2122" y="4260088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2122" y="4461256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SQL and the summed pivot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2122" y="4777232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3892" y="3588512"/>
            <a:ext cx="35274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5B3FD6"/>
                </a:solidFill>
                <a:latin typeface="Georgia"/>
              </a:rPr>
              <a:t>-29.4%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3892" y="4260088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 FALL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3892" y="4461256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no aggfunc to forget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3892" y="4777232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8" name="Oval 27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30" name="Oval 29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2" name="Oval 31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4" name="Oval 33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S45  ·  54 / 81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Chapter 3: a fall of 29.4 percent, Rs 1,72,390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did each smaller question find?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794764"/>
          <a:ext cx="11130990" cy="222605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60544"/>
                <a:gridCol w="6570446"/>
              </a:tblGrid>
              <a:tr h="31800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The answer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Which shape answers?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Long and wide together, in pandas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How many member-months?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266; Rs 5,85,770 in Q1, Rs 4,13,380 in Q2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What does a one-line pivot say?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18 percent, because it averages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What is one row?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A member, 107; indexed by order, 355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Compare or follow?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Wide: 67 members fell; long: 56 to 37 ordering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800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Does SQL agree?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440"/>
                          </a:solidFill>
                          <a:latin typeface="Calibri"/>
                        </a:rPr>
                        <a:t>Yes: 29.4 percent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4276852"/>
            <a:ext cx="11130991" cy="822960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4459732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earch-check_6571e64a04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69460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4423156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KAVYA'S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4642612"/>
            <a:ext cx="99879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1A1440"/>
                </a:solidFill>
                <a:latin typeface="Calibri"/>
              </a:rPr>
              <a:t>Write aggfunc= on every pivot, the way you write how= on every merge, and check the grand total against the orders.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264404"/>
            <a:ext cx="11130991" cy="822960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8952" y="54472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mic_caee7398c8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5570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99031" y="5410708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IN THE INTERVIEW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1" y="5630164"/>
            <a:ext cx="99879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1A1440"/>
                </a:solidFill>
                <a:latin typeface="Calibri"/>
              </a:rPr>
              <a:t>[F] Pivot against melt: which widens and which lengthens?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2" name="Oval 2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4" name="Oval 23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6" name="Oval 25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8" name="Oval 27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S46  ·  55 / 81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The three-tool re-expression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Do three tools agree?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Of the 130 customers the sale reached, how many bought, and do plain Python, SQL and pandas agree on it?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60929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One row per customer?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43" y="5074920"/>
            <a:ext cx="172772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did the sale reach?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7998" y="5074920"/>
            <a:ext cx="178694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4670" y="5074920"/>
            <a:ext cx="1609295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Do three tools agree?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3693" y="5074920"/>
            <a:ext cx="184615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2, Day 4. Can Marketing act on Monday's table without checking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56 / 81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Three tools must agree before Marketing hears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must Kavya see before the share who bought reaches Marketing?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" y="2084832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075688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Who needs the answer.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The marketing lead, through Kavya: the share of reached customers who bought is the second line of the November case, and Kavya signs nothing two tools disagree 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81734" y="3496056"/>
            <a:ext cx="9428226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281150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3816096"/>
            <a:ext cx="1702765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962400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Which tool answers?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464812"/>
            <a:ext cx="137358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Plain Python, SQL or pandas, sized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5997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3166795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15997" y="3816096"/>
            <a:ext cx="1702765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0589" y="3962400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What does Python count?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0589" y="4464812"/>
            <a:ext cx="137358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Sets and a dictionary of segments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1642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5052441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01642" y="3816096"/>
            <a:ext cx="1702765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6234" y="3962400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What does SQL say?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6234" y="4464812"/>
            <a:ext cx="1373581" cy="2016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GROUP BY segment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7287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4</a:t>
            </a:r>
          </a:p>
        </p:txBody>
      </p:sp>
      <p:sp>
        <p:nvSpPr>
          <p:cNvPr id="29" name="Oval 28"/>
          <p:cNvSpPr/>
          <p:nvPr/>
        </p:nvSpPr>
        <p:spPr>
          <a:xfrm>
            <a:off x="6938086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87287" y="3816096"/>
            <a:ext cx="1702765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1879" y="3962400"/>
            <a:ext cx="1373581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Why does pandas say 100%?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1879" y="4464812"/>
            <a:ext cx="137358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default that drops a group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2932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5</a:t>
            </a:r>
          </a:p>
        </p:txBody>
      </p:sp>
      <p:sp>
        <p:nvSpPr>
          <p:cNvPr id="34" name="Oval 33"/>
          <p:cNvSpPr/>
          <p:nvPr/>
        </p:nvSpPr>
        <p:spPr>
          <a:xfrm>
            <a:off x="8823731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72932" y="3816096"/>
            <a:ext cx="1702765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7524" y="3962400"/>
            <a:ext cx="1373581" cy="6804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Where should the segment come from?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7524" y="4679442"/>
            <a:ext cx="137358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So that all three agree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8578" y="2929128"/>
            <a:ext cx="1702765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10709376" y="3404616"/>
            <a:ext cx="201168" cy="201168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58578" y="3816096"/>
            <a:ext cx="1702765" cy="107696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23170" y="3962400"/>
            <a:ext cx="1373581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 sets agree?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23170" y="4250182"/>
            <a:ext cx="1373581" cy="2016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FC9EE"/>
                </a:solidFill>
                <a:latin typeface="Calibri"/>
              </a:rPr>
              <a:t>No grouping at all</a:t>
            </a:r>
          </a:p>
        </p:txBody>
      </p:sp>
      <p:sp>
        <p:nvSpPr>
          <p:cNvPr id="43" name="Oval 4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45" name="Oval 4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47" name="Oval 4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49" name="Oval 4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 three tools agree?</a:t>
            </a:r>
          </a:p>
        </p:txBody>
      </p:sp>
      <p:sp>
        <p:nvSpPr>
          <p:cNvPr id="51" name="Oval 5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S47  ·  57 / 81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share who bought is the budget's second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is the marketing lead's question, and what does a perfect number cost?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REACHED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chapter 2's rule, one row 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OF THEM BOUGHT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at least one order in two quarters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?%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November case's second 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419856"/>
            <a:ext cx="11130991" cy="86258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952" y="362254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message-square_028dbd132a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32276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99031" y="356616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THE CLIENT ASKS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1" y="3785616"/>
            <a:ext cx="9987991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Calibri"/>
              </a:rPr>
              <a:t>"Of the customers the sale reached, how many went on to buy?"</a:t>
            </a:r>
          </a:p>
        </p:txBody>
      </p:sp>
      <p:sp>
        <p:nvSpPr>
          <p:cNvPr id="26" name="Oval 25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8" name="Oval 27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30" name="Oval 29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2" name="Oval 31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 three tools agree?</a:t>
            </a:r>
          </a:p>
        </p:txBody>
      </p:sp>
      <p:sp>
        <p:nvSpPr>
          <p:cNvPr id="34" name="Oval 33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S48  ·  58 / 81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Uber's completed trips lived in two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Who else found one question giving two answers in two tools?</a:t>
            </a:r>
          </a:p>
        </p:txBody>
      </p:sp>
      <p:pic>
        <p:nvPicPr>
          <p:cNvPr id="9" name="mermaid diagram" descr="61e3997a34edde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597" y="1956816"/>
            <a:ext cx="8572500" cy="26574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4760595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5092827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bug_39ada6eff46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02555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4906899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WHAT BREAKS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5126355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Two teams computing one metric their own way drift into two numbers, and a decision built on either inherits the gap.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7" name="Oval 16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9" name="Oval 18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1" name="Oval 20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 three tools agree?</a:t>
            </a:r>
          </a:p>
        </p:txBody>
      </p:sp>
      <p:sp>
        <p:nvSpPr>
          <p:cNvPr id="23" name="Oval 22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S49  ·  59 / 81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pandas answers, SQL checks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tool should answer the marketing lead's question, and what does each cost on this data?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341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80491"/>
                <a:gridCol w="3418544"/>
                <a:gridCol w="1848577"/>
                <a:gridCol w="4083377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Rows moved for this question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Lines of logic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Where it runs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a) plain Python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1,340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analyst's machine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b) SQL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warehouse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c) pandas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 more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analyst's machine, table in memory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3553968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3681984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672840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call.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c, checked by b: the table is in memory, and SQL shares no code with it. What would switch it: the number going to Finance or an auditor; then SQL owns it, chapter 5's question.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S50  ·  60 / 81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Every reached customer bought or never ordered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Before any tool runs, what must the three counts add up to?</a:t>
            </a:r>
          </a:p>
        </p:txBody>
      </p:sp>
      <p:pic>
        <p:nvPicPr>
          <p:cNvPr id="9" name="mermaid diagram" descr="db2e069755da9ac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5335" y="1856708"/>
            <a:ext cx="8201025" cy="321468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5217699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5345715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336571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call.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Whatever the tool, the reached split into those who bought and those who never ordered, and the groups by segment must add back to 130.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S51  ·  61 / 81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How many keys does Python's dictionary end with?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plain Python count, with a set of reached customers and a dictionary of segments?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214627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8122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seg_of_buyer = {r["customer_id"]: r["segment"] for r in rows}    # read from the orders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for cid in reached_ids: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c = counts.setdefault(seg_of_buyer.get(cid), {"reached": 0, "bought": 0})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3336036"/>
            <a:ext cx="11130991" cy="5410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3464052"/>
            <a:ext cx="45720" cy="2849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454907"/>
            <a:ext cx="10564063" cy="3581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As a letter? a) 2; b) 3; c) 4; d) 130.</a:t>
            </a:r>
          </a:p>
        </p:txBody>
      </p:sp>
      <p:sp>
        <p:nvSpPr>
          <p:cNvPr id="17" name="Oval 1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9" name="Oval 1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1" name="Oval 20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3" name="Oval 22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 three tools agree?</a:t>
            </a:r>
          </a:p>
        </p:txBody>
      </p:sp>
      <p:sp>
        <p:nvSpPr>
          <p:cNvPr id="25" name="Oval 24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S52  ·  62 / 81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three keys, and None holds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 plain Python and SQL say, group by group?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1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013126"/>
                <a:gridCol w="3203465"/>
                <a:gridCol w="914400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Reached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Bought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Retail-Core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Retail-Plus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None, or NULL in SQL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4061968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4189983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180840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What it shows.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Plain Python files the 23 under None, and SQL's GROUP BY puts them in a NULL group of their own. Both still count 130.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S53  ·  63 / 81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What share does the hurried pandas route report?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pandas say about the reached customers who bought?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962152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559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reach = buyers.merge(first_touch, on="customer_id", how="right", validate="one_to_one")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reach.groupby("segment").agg(reached=("customer_id", "count"), bought=("frequency", "count"))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3083560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3211576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202432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The share of reached customers who bought, as a letter? a) 82 percent; b) 100 percent; c) 50 percent; d) it cannot be computed.</a:t>
            </a:r>
          </a:p>
        </p:txBody>
      </p:sp>
      <p:sp>
        <p:nvSpPr>
          <p:cNvPr id="17" name="Oval 1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9" name="Oval 18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1" name="Oval 20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3" name="Oval 22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 three tools agree?</a:t>
            </a:r>
          </a:p>
        </p:txBody>
      </p:sp>
      <p:sp>
        <p:nvSpPr>
          <p:cNvPr id="25" name="Oval 24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S54  ·  64 / 81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100 percent, the plausible wrong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Why does pandas report that every reached customer bought?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5B3FD6"/>
                </a:solidFill>
                <a:latin typeface="Georgia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3743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OF REACHED BOUGHT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5755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pandas headline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5B3FD6"/>
                </a:solidFill>
                <a:latin typeface="Georgia"/>
              </a:rPr>
              <a:t>107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3743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REACHED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5755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where SQL and Python count 130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5B3FD6"/>
                </a:solidFill>
                <a:latin typeface="Georgia"/>
              </a:rPr>
              <a:t>56 of 56, 51 of 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3743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RETAIL-CORE, RETAIL-PLUS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5755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every group full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3" name="Oval 22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5" name="Oval 24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7" name="Oval 26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 three tools agree?</a:t>
            </a:r>
          </a:p>
        </p:txBody>
      </p:sp>
      <p:sp>
        <p:nvSpPr>
          <p:cNvPr id="29" name="Oval 28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S55  ·  65 / 81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Why it is wrong: groupby drops a missing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default dropped the 23, and which check catches it?</a:t>
            </a:r>
          </a:p>
        </p:txBody>
      </p:sp>
      <p:pic>
        <p:nvPicPr>
          <p:cNvPr id="9" name="mermaid diagram" descr="b1c559a045f18f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5335" y="1928146"/>
            <a:ext cx="8201025" cy="30718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5146262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5274278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265134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check.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The groups add back to the rows: 107 against the 130 reached. groupby(..., dropna=False) shows the missing group of 23.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S56  ·  66 / 81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fix: the segment comes from the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Where should the segment come from, so that all three tools agree?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56 of 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RETAIL-CORE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80 percent bought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51 of 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RETAIL-PLUS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85 percent bought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107 of 130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ALL REACHED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82 percent, in all three 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419856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656" y="3547872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38728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What changed.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Every customer on the list has a segment, bought or not. Read it from the list, in all three tools, and the reach moves from 107 to 130 and the share from 100 percent to 82.</a:t>
            </a:r>
          </a:p>
        </p:txBody>
      </p:sp>
      <p:sp>
        <p:nvSpPr>
          <p:cNvPr id="24" name="Oval 23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6" name="Oval 25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8" name="Oval 27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0" name="Oval 29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 three tools agree?</a:t>
            </a:r>
          </a:p>
        </p:txBody>
      </p:sp>
      <p:sp>
        <p:nvSpPr>
          <p:cNvPr id="32" name="Oval 31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S57  ·  67 / 81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second route: sets find the same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Does counting sets, with no grouping at all, find the same customers who never bought?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962152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559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never = reached_ids - set(orders["customer_id"])     # 23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bought = len(reached_ids) - len(never)                # 107</a:t>
            </a:r>
          </a:p>
        </p:txBody>
      </p:sp>
      <p:pic>
        <p:nvPicPr>
          <p:cNvPr id="14" name="mermaid diagram" descr="56bd4f8df441f95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1072" y="3083560"/>
            <a:ext cx="7829550" cy="1800225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7" name="Oval 16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9" name="Oval 18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1" name="Oval 20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 three tools agree?</a:t>
            </a:r>
          </a:p>
        </p:txBody>
      </p:sp>
      <p:sp>
        <p:nvSpPr>
          <p:cNvPr id="23" name="Oval 22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S58  ·  68 / 81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Chapter 4: 107 of 130 bought, 82 percent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did each smaller question find?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819656"/>
          <a:ext cx="11130990" cy="21762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104013"/>
                <a:gridCol w="6026977"/>
              </a:tblGrid>
              <a:tr h="310896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The answer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Which tool answers?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pandas, in memory, checked by SQL's 2 rows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What does Python count?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Three keys; None holds 23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What does SQL say?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Three groups; NULL holds 23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Why does pandas say 100%?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dropna=True drops the missing segment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Where should the segment come from?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The customer list: 107 of 130, 82 percent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Do sets agree?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1A1440"/>
                          </a:solidFill>
                          <a:latin typeface="Calibri"/>
                        </a:rPr>
                        <a:t>Yes: 23 never ordered, 107 bought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4251960"/>
            <a:ext cx="11130991" cy="822960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4434840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earch-check_6571e64a04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44568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4398264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KAVYA'S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4617720"/>
            <a:ext cx="99879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1A1440"/>
                </a:solidFill>
                <a:latin typeface="Calibri"/>
              </a:rPr>
              <a:t>When two tools disagree, look for the rows one of them dropped before you look at the code, and take a customer's attributes from the customer list.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239512"/>
            <a:ext cx="11130991" cy="822960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8952" y="5422392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mic_caee7398c8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532120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99031" y="5385816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IN THE INTERVIEW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1" y="5605272"/>
            <a:ext cx="99879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1A1440"/>
                </a:solidFill>
                <a:latin typeface="Calibri"/>
              </a:rPr>
              <a:t>[F] What does SQL's GROUP BY do with a NULL key, and pandas' groupby with a missing one?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2" name="Oval 2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4" name="Oval 23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6" name="Oval 25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Do three tools agree?</a:t>
            </a:r>
          </a:p>
        </p:txBody>
      </p:sp>
      <p:sp>
        <p:nvSpPr>
          <p:cNvPr id="28" name="Oval 27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S59  ·  69 / 81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The tool-choice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Which tool for which job?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Which tool should own each of Marketing's and Finance's recurring numbers, and which would you refuse for Finance's?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60929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One row per customer?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43" y="5074920"/>
            <a:ext cx="172772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did the sale reach?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7998" y="5074920"/>
            <a:ext cx="178694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4670" y="5074920"/>
            <a:ext cx="160929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Do three tools agree?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3693" y="5074920"/>
            <a:ext cx="1846159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2, Day 4. Can Marketing act on Monday's table without checking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70 / 81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Five questions decide who owns Finance's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Anand Iyer's analyst need settled before Monday's rerun?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" y="2084832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075688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Who needs the answer.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Kavya, and behind Kavya, Anand Iyer, whose analyst reruns every number; a number that lives in two tools drifts into two numbers, which is how Week 1 Wednesday lost a month.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299" y="3496056"/>
            <a:ext cx="9051096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929128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469715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" y="3816096"/>
            <a:ext cx="2079894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962400"/>
            <a:ext cx="1750710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Which tool for Finance?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464812"/>
            <a:ext cx="1750710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SQL, pandas or plain Python, sized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3126" y="2929128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3732489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93126" y="3816096"/>
            <a:ext cx="2079894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57718" y="3962400"/>
            <a:ext cx="175071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Does speed decide?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7718" y="4250182"/>
            <a:ext cx="1750710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Three routes timed on 1,000 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5900" y="2929128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5995263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55900" y="3816096"/>
            <a:ext cx="2079894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20492" y="3962400"/>
            <a:ext cx="175071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How many rows move?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0492" y="4250182"/>
            <a:ext cx="1750710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size that separates them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8674" y="2929128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4</a:t>
            </a:r>
          </a:p>
        </p:txBody>
      </p:sp>
      <p:sp>
        <p:nvSpPr>
          <p:cNvPr id="29" name="Oval 28"/>
          <p:cNvSpPr/>
          <p:nvPr/>
        </p:nvSpPr>
        <p:spPr>
          <a:xfrm>
            <a:off x="8258037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8674" y="3816096"/>
            <a:ext cx="2079894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83266" y="3962400"/>
            <a:ext cx="175071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Who owns which ask?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3266" y="4250182"/>
            <a:ext cx="1750710" cy="2016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note, and the refusal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1448" y="2929128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5</a:t>
            </a:r>
          </a:p>
        </p:txBody>
      </p:sp>
      <p:sp>
        <p:nvSpPr>
          <p:cNvPr id="34" name="Oval 33"/>
          <p:cNvSpPr/>
          <p:nvPr/>
        </p:nvSpPr>
        <p:spPr>
          <a:xfrm>
            <a:off x="10520812" y="3404616"/>
            <a:ext cx="201168" cy="201168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81448" y="3816096"/>
            <a:ext cx="2079894" cy="107696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46040" y="3962400"/>
            <a:ext cx="1750710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Does the table reconcile?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46040" y="4464812"/>
            <a:ext cx="1750710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FC9EE"/>
                </a:solidFill>
                <a:latin typeface="Calibri"/>
              </a:rPr>
              <a:t>The table against Finance's query</a:t>
            </a:r>
          </a:p>
        </p:txBody>
      </p:sp>
      <p:sp>
        <p:nvSpPr>
          <p:cNvPr id="38" name="Oval 37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40" name="Oval 39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42" name="Oval 41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44" name="Oval 43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46" name="Oval 45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S60  ·  71 / 81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Finance reruns eight numbers every Monday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number does the note test, and who reruns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437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639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four segments by two quarters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Rs 19,84,00,000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437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THEY ADD UP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639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warehouse's two quarters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5B3FD6"/>
                </a:solidFill>
                <a:latin typeface="Georgia"/>
              </a:rPr>
              <a:t>every Monday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437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RERUN 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639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Anand's analyst, line by 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419856"/>
            <a:ext cx="11130991" cy="112166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952" y="375208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message-square_028dbd132a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61816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99031" y="356616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THE CLIENT ASKS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1" y="3785616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Calibri"/>
              </a:rPr>
              <a:t>"Tell me honestly which tool you would pick for which job, and which you would refuse for Finance's numbers."</a:t>
            </a:r>
          </a:p>
        </p:txBody>
      </p:sp>
      <p:sp>
        <p:nvSpPr>
          <p:cNvPr id="26" name="Oval 25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8" name="Oval 27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30" name="Oval 29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2" name="Oval 31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4" name="Oval 33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S61  ·  72 / 81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LinkedIn gave every metric one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Who else learned what one metric in many places costs?</a:t>
            </a:r>
          </a:p>
        </p:txBody>
      </p:sp>
      <p:pic>
        <p:nvPicPr>
          <p:cNvPr id="9" name="mermaid diagram" descr="213541cefeebca8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797" y="1956816"/>
            <a:ext cx="9944100" cy="200025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2" name="Oval 1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4" name="Oval 13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6" name="Oval 15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18" name="Oval 17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S62  ·  73 / 81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SQL, because Finance reruns it where data lives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of three tools should compute Finance's Monday revenue, and what does each cost?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341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34621"/>
                <a:gridCol w="1904776"/>
                <a:gridCol w="3869121"/>
                <a:gridCol w="3522472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Lines of logic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Where Anand's analyst reruns it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Depends on, besides the data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a) SQL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anywhere with read access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warehouse only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b) pandas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analyst's machine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notebook's state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c) plain Python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analyst's machine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script's environment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3553968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3681984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672840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call.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a. What would switch it: a Finance question that needs iteration, five cuts in an afternoon; then pandas reads SQL's answer, and the definition still lives in one place.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S63  ·  74 / 81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Does speed separate the three tools here?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Does speed separate the three tools on 1,000 orders?</a:t>
            </a:r>
          </a:p>
        </p:txBody>
      </p:sp>
      <p:pic>
        <p:nvPicPr>
          <p:cNvPr id="9" name="mermaid diagram" descr="4004dded0638ae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647" y="1682496"/>
            <a:ext cx="5486400" cy="33718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5200650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5328666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319522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As a letter? a) SQL is ten times faster than the rest; b) pandas is ten times faster; c) all three finish well inside a second; d) plain Python takes over a minute.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S64  ·  75 / 81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all three finish in hundredths of a second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Does speed give a reason to choose on 1,000 orders?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0.004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first on every one of 30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0.010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PANDAS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median of 30 runs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0.017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PLAIN 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median of 30 runs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419856"/>
            <a:ext cx="11130991" cy="10744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656" y="3547872"/>
            <a:ext cx="45720" cy="8183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38728"/>
            <a:ext cx="10564063" cy="8915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What it means.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Speed ranks SQL first, by about a hundredth of a second, and a hundredth of a second on a number Finance reads once a week decides nothing. The size that grows with the business is the rows each route moves.</a:t>
            </a:r>
          </a:p>
        </p:txBody>
      </p:sp>
      <p:sp>
        <p:nvSpPr>
          <p:cNvPr id="24" name="Oval 23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6" name="Oval 25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8" name="Oval 27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0" name="Oval 29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2" name="Oval 31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S65  ·  76 / 81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How many rows did pandas move for its eight?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Sized by the answer, the three tools tie: is that the cost of each?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39798"/>
                <a:gridCol w="3163945"/>
                <a:gridCol w="5527246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Rows in the answer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hurried note says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a) SQL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same cost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b) pandas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same cost, and the shortest chain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c) plain Python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same cost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3692144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3820160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811016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Sized by the answer, the three tie at 8 rows. How many rows did the pandas route move out of the warehouse to produce its eight, as a letter? a) 8; b) 340; c) 1,000; d) 1,340.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S66  ·  77 / 81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pandas moved 1,340 rows, SQL moved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size separates the tools, and which check catches the tie?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SQL MOVED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its answer, nothing else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1,340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PANDAS MOVED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1,000 orders and 340 customers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1,000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PLAIN PYTHON MOVED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every order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3419856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656" y="3547872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538728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check.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Count the rows each route fetched before comparing anything: about 168 times as many for pandas today, and at a hundred times the orders pandas moves a hundred times the rows while SQL still sends 8.</a:t>
            </a:r>
          </a:p>
        </p:txBody>
      </p:sp>
      <p:sp>
        <p:nvSpPr>
          <p:cNvPr id="24" name="Oval 23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6" name="Oval 25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8" name="Oval 27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30" name="Oval 29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32" name="Oval 31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S67  ·  78 / 81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note: every ask has one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tool should own each of the day's recurring asks, and which would you refuse for Finance?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027032"/>
                <a:gridCol w="2981915"/>
                <a:gridCol w="4122042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ask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owner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reason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Finance's revenue by segment and quarter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SQL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reruns where the data lives; moves 8 rows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growth team's customer table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pandas, reading the warehouse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columns added weekly; merge and validate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head of Retail-Plus's months view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pandas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pivot and a melt in memory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One customer's spend, for an auditor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plain Python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every step a readable line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4061968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4189983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180840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refusal.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Never a pandas notebook for Finance's number: it moves every order to one machine, runs on a copy, and Anand's analyst cannot rerun it without the growth team's notebook.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S68  ·  79 / 81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second route: the table ties to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Does the growth team's table reconcile with Finance's query to the rupee?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2064"/>
                <a:gridCol w="4041561"/>
                <a:gridCol w="5167365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growth team's table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Finance's query, both quarters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Rs 19,65,99,040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Rs 19,65,99,040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Retail-Plus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Rs 9,99,150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Rs 9,99,150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Retail-Core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Rs 7,39,320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Rs 7,39,320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Student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Rs 62,490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Rs 62,490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4061968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4189983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180840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check.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Run this reconciliation every Monday; when it fails, the warehouse is right and the table is wrong until someone can say why. Chapter 6 puts it inside the refresh.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15" name="Oval 14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17" name="Oval 16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19" name="Oval 18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1" name="Oval 20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S69  ·  80 / 81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4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Chapter 5: SQL owns Finance's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did each smaller question find?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682496"/>
          <a:ext cx="11130991" cy="22189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468944"/>
                <a:gridCol w="7662047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answer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Which tool for Finance?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SQL, rerun where the data lives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Does speed decide?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No: hundredths of a second apart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How many rows move?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SQL 8, pandas 1,340, plain Python 1,000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Who owns which ask?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SQL Finance, pandas the table and months, Python the auditor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Does the table reconcile?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Every segment, Rs 19,84,00,000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4157472"/>
            <a:ext cx="11130991" cy="86258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436016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earch-check_6571e64a04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69892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4303776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KAVYA'S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4523232"/>
            <a:ext cx="9987991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Choose by who has to trust the number and rerun it, and size a route by the rows it moves.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184648"/>
            <a:ext cx="11130991" cy="86258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8952" y="5387340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mic_caee7398c8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497068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99031" y="5330952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IN THE INTERVIEW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1" y="5550408"/>
            <a:ext cx="9987991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[D] Same question, three tools: how do you choose, and defend one choice?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One row per customer?</a:t>
            </a:r>
          </a:p>
        </p:txBody>
      </p:sp>
      <p:sp>
        <p:nvSpPr>
          <p:cNvPr id="22" name="Oval 21"/>
          <p:cNvSpPr/>
          <p:nvPr/>
        </p:nvSpPr>
        <p:spPr>
          <a:xfrm>
            <a:off x="197196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168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the sale reach?</a:t>
            </a:r>
          </a:p>
        </p:txBody>
      </p:sp>
      <p:sp>
        <p:nvSpPr>
          <p:cNvPr id="24" name="Oval 23"/>
          <p:cNvSpPr/>
          <p:nvPr/>
        </p:nvSpPr>
        <p:spPr>
          <a:xfrm>
            <a:off x="35055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5308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Is Retail-Plus slipping?</a:t>
            </a:r>
          </a:p>
        </p:txBody>
      </p:sp>
      <p:sp>
        <p:nvSpPr>
          <p:cNvPr id="26" name="Oval 25"/>
          <p:cNvSpPr/>
          <p:nvPr/>
        </p:nvSpPr>
        <p:spPr>
          <a:xfrm>
            <a:off x="508520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4934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Do three tools agree?</a:t>
            </a:r>
          </a:p>
        </p:txBody>
      </p:sp>
      <p:sp>
        <p:nvSpPr>
          <p:cNvPr id="28" name="Oval 27"/>
          <p:cNvSpPr/>
          <p:nvPr/>
        </p:nvSpPr>
        <p:spPr>
          <a:xfrm>
            <a:off x="6526815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6543" y="6437376"/>
            <a:ext cx="142446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tool for which job?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S70  ·  81 / 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