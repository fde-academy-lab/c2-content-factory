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table a chapter at a time: 340 customers, the sale's 130</a:t>
            </a:r>
          </a:p>
          <a:p>
            <a:r>
              <a:t>reached, Retail-Plus down 29.4 percent, three tools agreeing on 107 of 130, and Finance's number</a:t>
            </a:r>
          </a:p>
          <a:p>
            <a:r>
              <a:t>given to SQL. The afternoon makes the table rebuild itself (chapter 6), then the room builds it alone</a:t>
            </a:r>
          </a:p>
          <a:p>
            <a:r>
              <a:t>(the escalated case), then pairs answer Kavya in three tools, then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C2_W02_D04_06_monday_refresh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morning's table had last order dates; the refresh turns them into days and</a:t>
            </a:r>
          </a:p>
          <a:p>
            <a:r>
              <a:t>flags, and makes the whole build one call that stops when a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Recency is the days since a customer's last order; lapsed means more than 60 days</a:t>
            </a:r>
          </a:p>
          <a:p>
            <a:r>
              <a:t>before the table's as-of date, the last date the data covers. A customer who never ordered is not</a:t>
            </a:r>
          </a:p>
          <a:p>
            <a:r>
              <a:t>lapsed; they are on chapter 1's first-order list. A bad Monday sends a code to someone who bought last</a:t>
            </a:r>
          </a:p>
          <a:p>
            <a:r>
              <a:t>month, or ships a broken table before anyone looks.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1 Oct 2026: Public Health England's statement of 4 October 2020,</a:t>
            </a:r>
          </a:p>
          <a:p>
            <a:r>
              <a:t>"15,841 cases between 25 September and 2 October were not included in the reported daily COVID-19</a:t>
            </a:r>
          </a:p>
          <a:p>
            <a:r>
              <a:t>cases"; and The Register, 5 October 2020, on the cause: results "automatically fetched in CSV format"</a:t>
            </a:r>
          </a:p>
          <a:p>
            <a:r>
              <a:t>from commercial labs were stored in the older .XLS format "that limited the number of rows to 65,536</a:t>
            </a:r>
          </a:p>
          <a:p>
            <a:r>
              <a:t>per spreadsheet". A row count on every run would have stopped it on day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option most teams run today: a. Which option costs no analyst time and</a:t>
            </a:r>
          </a:p>
          <a:p>
            <a:r>
              <a:t>still ships a broken table: b and d. The sizing is the count of failures each stops: 0, 0, 4,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 input is a chance to be told something wrong; the fewer, the better.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customers, their numbers and the sale all come from the data,</a:t>
            </a:r>
          </a:p>
          <a:p>
            <a:r>
              <a:t>so the function cannot be told a stale count. Recency is the one column still missing, and it needs a</a:t>
            </a:r>
          </a:p>
          <a:p>
            <a:r>
              <a:t>date to count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hurried analyst counts to today so the refresh "stays current". The notebook</a:t>
            </a:r>
          </a:p>
          <a:p>
            <a:r>
              <a:t>pins today to 19 October, the first Monday after this session, so the number is exactly what that</a:t>
            </a:r>
          </a:p>
          <a:p>
            <a:r>
              <a:t>refresh would send.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On the class day, 15 October, the same code counts 154; every day</a:t>
            </a:r>
          </a:p>
          <a:p>
            <a:r>
              <a:t>the notebook is run, the list is different.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warehouse's last order is dated 28 September; nothing after it is loaded.</a:t>
            </a:r>
          </a:p>
          <a:p>
            <a:r>
              <a:t>Counted to the run day, every customer looks 21 days staler, and the table becomes a function of the</a:t>
            </a:r>
          </a:p>
          <a:p>
            <a:r>
              <a:t>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Writing as_of into the table lets the growth team see what 60 days was counted</a:t>
            </a:r>
          </a:p>
          <a:p>
            <a:r>
              <a:t>from. At 45 days the honest list is 144, at 90 days 74: the take-home asks which line to sign.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guard is compared with a number the warehouse gives on its own, never a number</a:t>
            </a:r>
          </a:p>
          <a:p>
            <a:r>
              <a:t>the notebook computed, which is what makes it a guard.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guard is proved the only way a guard can be: by making it fire.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repeated customer's recency is the same, so the recency guard</a:t>
            </a:r>
          </a:p>
          <a:p>
            <a:r>
              <a:t>holds. Dropping customers with no orders leaves spend unchanged, since they spend 0, so only the row</a:t>
            </a:r>
          </a:p>
          <a:p>
            <a:r>
              <a:t>count catches it, chapter 1's lesson inside the refresh.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first: 55, 14, 0 or 111 customers different. Nothing in the</a:t>
            </a:r>
          </a:p>
          <a:p>
            <a:r>
              <a:t>honest refresh reads the calendar, so the answer is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Subtracting two dates in Postgres gives whole days. The query shares no code with</a:t>
            </a:r>
          </a:p>
          <a:p>
            <a:r>
              <a:t>the refresh. When to switch: the refresh for the table, the query to confirm the list's size before</a:t>
            </a:r>
          </a:p>
          <a:p>
            <a:r>
              <a:t>a send.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from the data's last loaded date, carried in the table, never the wall</a:t>
            </a:r>
          </a:p>
          <a:p>
            <a:r>
              <a:t>clock; the check is that the smallest recency is 0. The depth section of notebook 06 mirrors</a:t>
            </a:r>
          </a:p>
          <a:p>
            <a:r>
              <a:t>Wednesday's falling flag in pandas with groupby and shift and checks it against the warehouse. Then</a:t>
            </a:r>
          </a:p>
          <a:p>
            <a:r>
              <a:t>the escalated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brief is exercises/unguided/C2_W02_D04_escalated_case_STUDENT.md</a:t>
            </a:r>
          </a:p>
          <a:p>
            <a:r>
              <a:t>and the notebook notebooks/C2_W02_D04_ex1_escalated_case_STUDENT.ipynb.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stops at __TODO1__ with a NameError by design: replace each</a:t>
            </a:r>
          </a:p>
          <a:p>
            <a:r>
              <a:t>placeholder with the option chosen and run the step's checks. Post thirteen letters and the four</a:t>
            </a:r>
          </a:p>
          <a:p>
            <a:r>
              <a:t>numbers the last cell prints.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anyone who missed the morning. The falling rule is Wednesday's, mirrored in pandas: the</a:t>
            </a:r>
          </a:p>
          <a:p>
            <a:r>
              <a:t>previous reading of the same customer, never another customer's, and a skipped month is no reading.</a:t>
            </a:r>
          </a:p>
          <a:p>
            <a:r>
              <a:t>The win-back count is the fourth number to post, and the notebook's check compares it with the</a:t>
            </a:r>
          </a:p>
          <a:p>
            <a:r>
              <a:t>warehouse.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wrong numbers during the case and put them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For each wrong number on the board, ask the room which check catches it before</a:t>
            </a:r>
          </a:p>
          <a:p>
            <a:r>
              <a:t>naming the fix. 154 is what pd.Timestamp.today() gives on 15 October; next Monday it would be 166.</a:t>
            </a:r>
          </a:p>
          <a:p>
            <a:r>
              <a:t>Do not read any customer ids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counts for one dataset, depending on the calendar. Ask for the one sentence</a:t>
            </a:r>
          </a:p>
          <a:p>
            <a:r>
              <a:t>to the growth team: the list is 111, counted to 28 September, and it will not grow unless new orders</a:t>
            </a:r>
          </a:p>
          <a:p>
            <a:r>
              <a:t>arrive. Then the break,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first, then forty minutes in pairs. The brief is</a:t>
            </a:r>
          </a:p>
          <a:p>
            <a:r>
              <a:t>exercises/unguided/C2_W02_D04_second_case_STUDENT.md and the notebook</a:t>
            </a:r>
          </a:p>
          <a:p>
            <a:r>
              <a:t>notebooks/C2_W02_D04_ex2_second_case_STUDENT.ipynb.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Week 1's branch that moved: Retail-Plus orders per member, Q1</a:t>
            </a:r>
          </a:p>
          <a:p>
            <a:r>
              <a:t>against Q2, where a member counts in a quarter if they ordered in it. The room writes the SQL first;</a:t>
            </a:r>
          </a:p>
          <a:p>
            <a:r>
              <a:t>then the trainer runs it through plain Python and pandas and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pairs have run all three routes.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c. Read two pairs' notes aloud and check each has the rows moved and</a:t>
            </a:r>
          </a:p>
          <a:p>
            <a:r>
              <a:t>a reason for the refusal. A notebook runs on a copy on one machine; an export is a copy that ages</a:t>
            </a:r>
          </a:p>
          <a:p>
            <a:r>
              <a:t>from the moment it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Two learners per question: one answers, one asks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Tags: [S] staple asked everywhere, [F] frequent in GCC and product screens, [D]</a:t>
            </a:r>
          </a:p>
          <a:p>
            <a:r>
              <a:t>differentiator. Answers in one breath are in the day sheet; push for a number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follow-ups want a sizing in the answer: rows moved, who reruns it, and</a:t>
            </a:r>
          </a:p>
          <a:p>
            <a:r>
              <a:t>the fact that would switch the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first, eight items including Wednesday's return question, then this</a:t>
            </a:r>
          </a:p>
          <a:p>
            <a:r>
              <a:t>chapter.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Every number in it was checked twice today.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a learner to read each line and give the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and leave it open; do not answer. Tonight: bring the CSV the refresh wrote</a:t>
            </a:r>
          </a:p>
          <a:p>
            <a:r>
              <a:t>to output/, with 340 rows and Rs 19,84,00,000 of spend, and read the pre-read.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the Monday table rebuild itself and hold?</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“The warehouse queries are fine for Finance, but Marketing's analysts live in Python. Build them the table in pandas, from the warehouse, and make it refreshable in one run.”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Will Monday rebuild it?</a:t>
            </a:r>
          </a:p>
        </p:txBody>
      </p:sp>
      <p:sp>
        <p:nvSpPr>
          <p:cNvPr id="13" name="TextBox 12"/>
          <p:cNvSpPr txBox="1"/>
          <p:nvPr/>
        </p:nvSpPr>
        <p:spPr>
          <a:xfrm>
            <a:off x="273205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1610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Can you build it alone?</a:t>
            </a:r>
          </a:p>
        </p:txBody>
      </p:sp>
      <p:sp>
        <p:nvSpPr>
          <p:cNvPr id="15" name="TextBox 14"/>
          <p:cNvSpPr txBox="1"/>
          <p:nvPr/>
        </p:nvSpPr>
        <p:spPr>
          <a:xfrm>
            <a:off x="48423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870448"/>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did the room go wrong?</a:t>
            </a:r>
          </a:p>
        </p:txBody>
      </p:sp>
      <p:sp>
        <p:nvSpPr>
          <p:cNvPr id="17" name="TextBox 16"/>
          <p:cNvSpPr txBox="1"/>
          <p:nvPr/>
        </p:nvSpPr>
        <p:spPr>
          <a:xfrm>
            <a:off x="7248334"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632382"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tool would you sign?</a:t>
            </a:r>
          </a:p>
        </p:txBody>
      </p:sp>
      <p:sp>
        <p:nvSpPr>
          <p:cNvPr id="19" name="TextBox 18"/>
          <p:cNvSpPr txBox="1"/>
          <p:nvPr/>
        </p:nvSpPr>
        <p:spPr>
          <a:xfrm>
            <a:off x="621792"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1005839" y="6291072"/>
            <a:ext cx="1779936" cy="185166"/>
          </a:xfrm>
          <a:prstGeom prst="rect">
            <a:avLst/>
          </a:prstGeom>
          <a:noFill/>
        </p:spPr>
        <p:txBody>
          <a:bodyPr wrap="square" anchor="t" lIns="0" rIns="0" tIns="0" bIns="0">
            <a:spAutoFit/>
          </a:bodyPr>
          <a:lstStyle/>
          <a:p>
            <a:pPr algn="l"/>
            <a:r>
              <a:rPr sz="900" b="0" i="0">
                <a:solidFill>
                  <a:srgbClr val="FFFFFF"/>
                </a:solidFill>
                <a:latin typeface="Calibri"/>
              </a:rPr>
              <a:t>How would you say it aloud?</a:t>
            </a:r>
          </a:p>
        </p:txBody>
      </p:sp>
      <p:sp>
        <p:nvSpPr>
          <p:cNvPr id="21" name="TextBox 20"/>
          <p:cNvSpPr txBox="1"/>
          <p:nvPr/>
        </p:nvSpPr>
        <p:spPr>
          <a:xfrm>
            <a:off x="2968656" y="625449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3352704" y="6291072"/>
            <a:ext cx="1898237" cy="185166"/>
          </a:xfrm>
          <a:prstGeom prst="rect">
            <a:avLst/>
          </a:prstGeom>
          <a:noFill/>
        </p:spPr>
        <p:txBody>
          <a:bodyPr wrap="square" anchor="t" lIns="0" rIns="0" tIns="0" bIns="0">
            <a:spAutoFit/>
          </a:bodyPr>
          <a:lstStyle/>
          <a:p>
            <a:pPr algn="l"/>
            <a:r>
              <a:rPr sz="900" b="0" i="0">
                <a:solidFill>
                  <a:srgbClr val="FFFFFF"/>
                </a:solidFill>
                <a:latin typeface="Calibri"/>
              </a:rPr>
              <a:t>What goes to the growth team?</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Will Monday rebuild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the table rebuild itself every Monday and refuse to ship when something breaks, before the growth team sends a single code?</a:t>
            </a:r>
          </a:p>
        </p:txBody>
      </p:sp>
      <p:sp>
        <p:nvSpPr>
          <p:cNvPr id="10" name="Rounded Rectangle 9"/>
          <p:cNvSpPr/>
          <p:nvPr/>
        </p:nvSpPr>
        <p:spPr>
          <a:xfrm>
            <a:off x="731519"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takes six smaller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has to be settled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team, who act on Monday's table with no analyst watching the run; a refresh that counts from the wrong day sends win-back codes to customers who bought a few weeks ago.</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runs it?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By hand, a report, guards or a view</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it told?</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inputs; the rest read from the data</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is on the 19 October list?</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Recency, and the date it counts to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guards fire?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one made to fire on a broken copy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two runs agree?</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data on two Mondays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warehouse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list counted in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45" name="Oval 4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9" name="Oval 4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51" name="Oval 5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53" name="Oval 5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win-back list goes out with nobody watching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send from the refresh, and what does a bad Monday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60 days</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LINE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order in the 60 days to the as-of date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every Monday</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REFRESH</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run, no analyst at the desk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code each</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to every customer flagged lapsed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"Make it refreshable in one run." The growth team adds: "and we send Monday's codes from whatever it produces."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England's lab refresh dropped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ran a daily refresh that dropped rows without an error?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LEFT OUT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65,536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SHEET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old format's limit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CSV files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FETCHED AUTOMATICALLY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commercial laboratories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refresh that never counts rows in against rows out loses them without a sound, and a week of decisions rests on the short number.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function whose guards stop a bad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run the Monday refresh, and what does each catch?</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2975340"/>
                <a:gridCol w="5088436"/>
                <a:gridCol w="306721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runs</a:t>
                      </a:r>
                    </a:p>
                  </a:txBody>
                  <a:tcPr marL="101600" marR="101600" marT="38100" marB="38100" anchor="ctr">
                    <a:solidFill>
                      <a:srgbClr val="1A0F5C"/>
                    </a:solidFill>
                  </a:tcPr>
                </a:tc>
                <a:tc>
                  <a:txBody>
                    <a:bodyPr/>
                    <a:lstStyle/>
                    <a:p>
                      <a:r>
                        <a:rPr sz="1450" b="1" i="0">
                          <a:solidFill>
                            <a:srgbClr val="FFFFFF"/>
                          </a:solidFill>
                          <a:latin typeface="Calibri"/>
                        </a:rPr>
                        <a:t>When a check fails</a:t>
                      </a:r>
                    </a:p>
                  </a:txBody>
                  <a:tcPr marL="101600" marR="101600" marT="38100" marB="38100" anchor="ctr">
                    <a:solidFill>
                      <a:srgbClr val="1A0F5C"/>
                    </a:solidFill>
                  </a:tcPr>
                </a:tc>
              </a:tr>
              <a:tr h="611632">
                <a:tc>
                  <a:txBody>
                    <a:bodyPr/>
                    <a:lstStyle/>
                    <a:p>
                      <a:r>
                        <a:rPr sz="1400" b="0" i="0">
                          <a:solidFill>
                            <a:srgbClr val="1A1440"/>
                          </a:solidFill>
                          <a:latin typeface="Calibri"/>
                        </a:rPr>
                        <a:t>a) Rerun the notebooks by hand</a:t>
                      </a:r>
                    </a:p>
                  </a:txBody>
                  <a:tcPr marL="101600" marR="101600" marT="38100" marB="38100" anchor="ctr">
                    <a:solidFill>
                      <a:srgbClr val="FFFFFF"/>
                    </a:solidFill>
                  </a:tcPr>
                </a:tc>
                <a:tc>
                  <a:txBody>
                    <a:bodyPr/>
                    <a:lstStyle/>
                    <a:p>
                      <a:r>
                        <a:rPr sz="1400" b="0" i="0">
                          <a:solidFill>
                            <a:srgbClr val="1A1440"/>
                          </a:solidFill>
                          <a:latin typeface="Calibri"/>
                        </a:rPr>
                        <a:t>An analyst runs chapters 1 to 5 and reads the numbers</a:t>
                      </a:r>
                    </a:p>
                  </a:txBody>
                  <a:tcPr marL="101600" marR="101600" marT="38100" marB="38100" anchor="ctr">
                    <a:solidFill>
                      <a:srgbClr val="FFFFFF"/>
                    </a:solidFill>
                  </a:tcPr>
                </a:tc>
                <a:tc>
                  <a:txBody>
                    <a:bodyPr/>
                    <a:lstStyle/>
                    <a:p>
                      <a:r>
                        <a:rPr sz="1400" b="0" i="0">
                          <a:solidFill>
                            <a:srgbClr val="1A1440"/>
                          </a:solidFill>
                          <a:latin typeface="Calibri"/>
                        </a:rPr>
                        <a:t>Ships if the analyst misses it</a:t>
                      </a:r>
                    </a:p>
                  </a:txBody>
                  <a:tcPr marL="101600" marR="101600" marT="38100" marB="38100" anchor="ctr">
                    <a:solidFill>
                      <a:srgbClr val="FFFFFF"/>
                    </a:solidFill>
                  </a:tcPr>
                </a:tc>
              </a:tr>
              <a:tr h="369824">
                <a:tc>
                  <a:txBody>
                    <a:bodyPr/>
                    <a:lstStyle/>
                    <a:p>
                      <a:r>
                        <a:rPr sz="1400" b="0" i="0">
                          <a:solidFill>
                            <a:srgbClr val="1A1440"/>
                          </a:solidFill>
                          <a:latin typeface="Calibri"/>
                        </a:rPr>
                        <a:t>b) A function that reports</a:t>
                      </a:r>
                    </a:p>
                  </a:txBody>
                  <a:tcPr marL="101600" marR="101600" marT="38100" marB="38100" anchor="ctr">
                    <a:solidFill>
                      <a:srgbClr val="F4F2FA"/>
                    </a:solidFill>
                  </a:tcPr>
                </a:tc>
                <a:tc>
                  <a:txBody>
                    <a:bodyPr/>
                    <a:lstStyle/>
                    <a:p>
                      <a:r>
                        <a:rPr sz="1400" b="0" i="0">
                          <a:solidFill>
                            <a:srgbClr val="1A1440"/>
                          </a:solidFill>
                          <a:latin typeface="Calibri"/>
                        </a:rPr>
                        <a:t>Prints PASS or FAIL for each check</a:t>
                      </a:r>
                    </a:p>
                  </a:txBody>
                  <a:tcPr marL="101600" marR="101600" marT="38100" marB="38100" anchor="ctr">
                    <a:solidFill>
                      <a:srgbClr val="F4F2FA"/>
                    </a:solidFill>
                  </a:tcPr>
                </a:tc>
                <a:tc>
                  <a:txBody>
                    <a:bodyPr/>
                    <a:lstStyle/>
                    <a:p>
                      <a:r>
                        <a:rPr sz="1400" b="0" i="0">
                          <a:solidFill>
                            <a:srgbClr val="1A1440"/>
                          </a:solidFill>
                          <a:latin typeface="Calibri"/>
                        </a:rPr>
                        <a:t>Ships, with a FAIL beside it</a:t>
                      </a:r>
                    </a:p>
                  </a:txBody>
                  <a:tcPr marL="101600" marR="101600" marT="38100" marB="38100" anchor="ctr">
                    <a:solidFill>
                      <a:srgbClr val="F4F2FA"/>
                    </a:solidFill>
                  </a:tcPr>
                </a:tc>
              </a:tr>
              <a:tr h="611632">
                <a:tc>
                  <a:txBody>
                    <a:bodyPr/>
                    <a:lstStyle/>
                    <a:p>
                      <a:r>
                        <a:rPr sz="1400" b="0" i="0">
                          <a:solidFill>
                            <a:srgbClr val="1A1440"/>
                          </a:solidFill>
                          <a:latin typeface="Calibri"/>
                        </a:rPr>
                        <a:t>c) A function with guards</a:t>
                      </a:r>
                    </a:p>
                  </a:txBody>
                  <a:tcPr marL="101600" marR="101600" marT="38100" marB="38100" anchor="ctr">
                    <a:solidFill>
                      <a:srgbClr val="FFFFFF"/>
                    </a:solidFill>
                  </a:tcPr>
                </a:tc>
                <a:tc>
                  <a:txBody>
                    <a:bodyPr/>
                    <a:lstStyle/>
                    <a:p>
                      <a:r>
                        <a:rPr sz="1400" b="0" i="0">
                          <a:solidFill>
                            <a:srgbClr val="1A1440"/>
                          </a:solidFill>
                          <a:latin typeface="Calibri"/>
                        </a:rPr>
                        <a:t>Every failed check raises an error</a:t>
                      </a:r>
                    </a:p>
                  </a:txBody>
                  <a:tcPr marL="101600" marR="101600" marT="38100" marB="38100" anchor="ctr">
                    <a:solidFill>
                      <a:srgbClr val="FFFFFF"/>
                    </a:solidFill>
                  </a:tcPr>
                </a:tc>
                <a:tc>
                  <a:txBody>
                    <a:bodyPr/>
                    <a:lstStyle/>
                    <a:p>
                      <a:r>
                        <a:rPr sz="1400" b="0" i="0">
                          <a:solidFill>
                            <a:srgbClr val="1A1440"/>
                          </a:solidFill>
                          <a:latin typeface="Calibri"/>
                        </a:rPr>
                        <a:t>Not written; the error says why</a:t>
                      </a:r>
                    </a:p>
                  </a:txBody>
                  <a:tcPr marL="101600" marR="101600" marT="38100" marB="38100" anchor="ctr">
                    <a:solidFill>
                      <a:srgbClr val="FFFFFF"/>
                    </a:solidFill>
                  </a:tcPr>
                </a:tc>
              </a:tr>
              <a:tr h="369824">
                <a:tc>
                  <a:txBody>
                    <a:bodyPr/>
                    <a:lstStyle/>
                    <a:p>
                      <a:r>
                        <a:rPr sz="1400" b="0" i="0">
                          <a:solidFill>
                            <a:srgbClr val="1A1440"/>
                          </a:solidFill>
                          <a:latin typeface="Calibri"/>
                        </a:rPr>
                        <a:t>d) The table as a SQL view</a:t>
                      </a:r>
                    </a:p>
                  </a:txBody>
                  <a:tcPr marL="101600" marR="101600" marT="38100" marB="38100" anchor="ctr">
                    <a:solidFill>
                      <a:srgbClr val="F4F2FA"/>
                    </a:solidFill>
                  </a:tcPr>
                </a:tc>
                <a:tc>
                  <a:txBody>
                    <a:bodyPr/>
                    <a:lstStyle/>
                    <a:p>
                      <a:r>
                        <a:rPr sz="1400" b="0" i="0">
                          <a:solidFill>
                            <a:srgbClr val="1A1440"/>
                          </a:solidFill>
                          <a:latin typeface="Calibri"/>
                        </a:rPr>
                        <a:t>The warehouse builds it when read</a:t>
                      </a:r>
                    </a:p>
                  </a:txBody>
                  <a:tcPr marL="101600" marR="101600" marT="38100" marB="38100" anchor="ctr">
                    <a:solidFill>
                      <a:srgbClr val="F4F2FA"/>
                    </a:solidFill>
                  </a:tcPr>
                </a:tc>
                <a:tc>
                  <a:txBody>
                    <a:bodyPr/>
                    <a:lstStyle/>
                    <a:p>
                      <a:r>
                        <a:rPr sz="1400" b="0" i="0">
                          <a:solidFill>
                            <a:srgbClr val="1A1440"/>
                          </a:solidFill>
                          <a:latin typeface="Calibri"/>
                        </a:rPr>
                        <a:t>Nothing runs to fail</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of the four failures the day has met, a customer missing, a customer sent twice, spend off the warehouse and a repeated key, only c stops all four before the table ships. What would switch it: readers querying the table from the warehouse, such as a dashboard; then d, with the checks as the warehouse's own tests.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must the refresh function be told?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refresh need to be told, and what can it read from the data itself?</a:t>
            </a:r>
          </a:p>
        </p:txBody>
      </p:sp>
      <p:pic>
        <p:nvPicPr>
          <p:cNvPr id="9" name="mermaid diagram" descr="2bb733d12e513832.png"/>
          <p:cNvPicPr>
            <a:picLocks noChangeAspect="1"/>
          </p:cNvPicPr>
          <p:nvPr/>
        </p:nvPicPr>
        <p:blipFill>
          <a:blip r:embed="rId5"/>
          <a:stretch>
            <a:fillRect/>
          </a:stretch>
        </p:blipFill>
        <p:spPr>
          <a:xfrm>
            <a:off x="3045466" y="1956816"/>
            <a:ext cx="6100762" cy="2400300"/>
          </a:xfrm>
          <a:prstGeom prst="rect">
            <a:avLst/>
          </a:prstGeom>
        </p:spPr>
      </p:pic>
      <p:sp>
        <p:nvSpPr>
          <p:cNvPr id="10" name="Rounded Rectangle 9"/>
          <p:cNvSpPr/>
          <p:nvPr/>
        </p:nvSpPr>
        <p:spPr>
          <a:xfrm>
            <a:off x="530352" y="45034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14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22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day to count recency from; b) the warehouse connection and the feed's path; c) the number of customers; d) the total spend.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connection and the feed's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function read for itself?</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build_table(engine, feed_path):</a:t>
            </a:r>
          </a:p>
          <a:p>
            <a:pPr>
              <a:spcAft>
                <a:spcPts val="200"/>
              </a:spcAft>
            </a:pPr>
            <a:r>
              <a:rPr sz="1400" b="0" i="0">
                <a:solidFill>
                  <a:srgbClr val="E4E1F1"/>
                </a:solidFill>
                <a:latin typeface="Consolas"/>
              </a:rPr>
              <a:t>    """Chapters 1 and 2 in one call: the list as spine, three numbers, first touch."""</a:t>
            </a:r>
          </a:p>
          <a:p>
            <a:pPr>
              <a:spcAft>
                <a:spcPts val="200"/>
              </a:spcAft>
            </a:pPr>
            <a:r>
              <a:rPr sz="1400" b="0" i="0">
                <a:solidFill>
                  <a:srgbClr val="E4E1F1"/>
                </a:solidFill>
                <a:latin typeface="Consolas"/>
              </a:rPr>
              <a:t>    ...</a:t>
            </a:r>
          </a:p>
          <a:p>
            <a:pPr>
              <a:spcAft>
                <a:spcPts val="200"/>
              </a:spcAft>
            </a:pPr>
            <a:r>
              <a:rPr sz="1400" b="0" i="0">
                <a:solidFill>
                  <a:srgbClr val="E4E1F1"/>
                </a:solidFill>
                <a:latin typeface="Consolas"/>
              </a:rPr>
              <a:t>table, orders_read = build_table(ENG, FEED_PATH)</a:t>
            </a:r>
          </a:p>
        </p:txBody>
      </p:sp>
      <p:sp>
        <p:nvSpPr>
          <p:cNvPr id="14" name="TextBox 13"/>
          <p:cNvSpPr txBox="1"/>
          <p:nvPr/>
        </p:nvSpPr>
        <p:spPr>
          <a:xfrm>
            <a:off x="53035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5" name="TextBox 14"/>
          <p:cNvSpPr txBox="1"/>
          <p:nvPr/>
        </p:nvSpPr>
        <p:spPr>
          <a:xfrm>
            <a:off x="53035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customer list</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9" name="TextBox 18"/>
          <p:cNvSpPr txBox="1"/>
          <p:nvPr/>
        </p:nvSpPr>
        <p:spPr>
          <a:xfrm>
            <a:off x="433212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orders</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23" name="TextBox 22"/>
          <p:cNvSpPr txBox="1"/>
          <p:nvPr/>
        </p:nvSpPr>
        <p:spPr>
          <a:xfrm>
            <a:off x="813389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feed, first touch</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does the 19 October refresh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land on the win-back list when the refresh runs on Monday 19 October?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pd.Timestamp.today()       # on the first Monday refresh: 19 October 2026</a:t>
            </a:r>
          </a:p>
          <a:p>
            <a:pPr>
              <a:spcAft>
                <a:spcPts val="200"/>
              </a:spcAft>
            </a:pPr>
            <a:r>
              <a:rPr sz="1400" b="0" i="0">
                <a:solidFill>
                  <a:srgbClr val="E4E1F1"/>
                </a:solidFill>
                <a:latin typeface="Consolas"/>
              </a:rPr>
              <a:t>recency = (RUN_DAY - table["last_order"]).dt.days</a:t>
            </a:r>
          </a:p>
          <a:p>
            <a:pPr>
              <a:spcAft>
                <a:spcPts val="200"/>
              </a:spcAft>
            </a:pPr>
            <a:r>
              <a:rPr sz="1400" b="0" i="0">
                <a:solidFill>
                  <a:srgbClr val="E4E1F1"/>
                </a:solidFill>
                <a:latin typeface="Consolas"/>
              </a:rPr>
              <a:t>(recency &gt; 60).sum()</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111; b) 166; c) 301; d) 55.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166, counted to the wall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Monday's send have looked like?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to 19 October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21 days</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166 codes go out, and 55 of them reach customers who ordered within 60 days of the data's last date.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21 days the data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list too long, and which check catches it?</a:t>
            </a:r>
          </a:p>
        </p:txBody>
      </p:sp>
      <p:pic>
        <p:nvPicPr>
          <p:cNvPr id="9" name="mermaid diagram" descr="6d43a9dc639d9050.png"/>
          <p:cNvPicPr>
            <a:picLocks noChangeAspect="1"/>
          </p:cNvPicPr>
          <p:nvPr/>
        </p:nvPicPr>
        <p:blipFill>
          <a:blip r:embed="rId5"/>
          <a:stretch>
            <a:fillRect/>
          </a:stretch>
        </p:blipFill>
        <p:spPr>
          <a:xfrm>
            <a:off x="1681010" y="1956816"/>
            <a:ext cx="882967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Somebody always bought on the data's last day, so the smallest recency in an honest table is 0. Here it is 21, and the list reads 166, 180 and 187 on three Mondays with no new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count to 28 September, 111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recency counts to the data's own last date?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AS_OF = orders_read["order_date"].max()          # 28 September 2026, carried in the table</a:t>
            </a:r>
          </a:p>
          <a:p>
            <a:pPr>
              <a:spcAft>
                <a:spcPts val="200"/>
              </a:spcAft>
            </a:pPr>
            <a:r>
              <a:rPr sz="1400" b="0" i="0">
                <a:solidFill>
                  <a:srgbClr val="E4E1F1"/>
                </a:solidFill>
                <a:latin typeface="Consolas"/>
              </a:rPr>
              <a:t>table = table.assign(as_of=AS_OF, recency_days=(AS_OF - table["last_order"]).dt.days)</a:t>
            </a:r>
          </a:p>
          <a:p>
            <a:pPr>
              <a:spcAft>
                <a:spcPts val="200"/>
              </a:spcAft>
            </a:pPr>
            <a:r>
              <a:rPr sz="1400" b="0" i="0">
                <a:solidFill>
                  <a:srgbClr val="E4E1F1"/>
                </a:solidFill>
                <a:latin typeface="Consolas"/>
              </a:rPr>
              <a:t>table = table.assign(lapsed=table["recency_days"] &gt; 60)</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5, Core 49, Plus 47, Student 10</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OFF</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ordered within 60 days of 28 September</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guards, each against the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a:t>
            </a:r>
          </a:p>
        </p:txBody>
      </p:sp>
      <p:graphicFrame>
        <p:nvGraphicFramePr>
          <p:cNvPr id="9" name="Table 8"/>
          <p:cNvGraphicFramePr>
            <a:graphicFrameLocks noGrp="1"/>
          </p:cNvGraphicFramePr>
          <p:nvPr/>
        </p:nvGraphicFramePr>
        <p:xfrm>
          <a:off x="530352" y="1956816"/>
          <a:ext cx="11130989" cy="1554480"/>
        </p:xfrm>
        <a:graphic>
          <a:graphicData uri="http://schemas.openxmlformats.org/drawingml/2006/table">
            <a:tbl>
              <a:tblPr firstRow="0" bandRow="0">
                <a:tableStyleId>{2D5ABB26-0587-4C30-8999-92F81FD0307C}</a:tableStyleId>
              </a:tblPr>
              <a:tblGrid>
                <a:gridCol w="3667264"/>
                <a:gridCol w="3796461"/>
                <a:gridCol w="3667264"/>
              </a:tblGrid>
              <a:tr h="310896">
                <a:tc>
                  <a:txBody>
                    <a:bodyPr/>
                    <a:lstStyle/>
                    <a:p>
                      <a:r>
                        <a:rPr sz="950" b="1" i="0">
                          <a:solidFill>
                            <a:srgbClr val="FFFFFF"/>
                          </a:solidFill>
                          <a:latin typeface="Calibri"/>
                        </a:rPr>
                        <a:t>Guard</a:t>
                      </a:r>
                    </a:p>
                  </a:txBody>
                  <a:tcPr marL="101600" marR="101600" marT="38100" marB="38100" anchor="ctr">
                    <a:solidFill>
                      <a:srgbClr val="1A0F5C"/>
                    </a:solidFill>
                  </a:tcPr>
                </a:tc>
                <a:tc>
                  <a:txBody>
                    <a:bodyPr/>
                    <a:lstStyle/>
                    <a:p>
                      <a:r>
                        <a:rPr sz="950" b="1" i="0">
                          <a:solidFill>
                            <a:srgbClr val="FFFFFF"/>
                          </a:solidFill>
                          <a:latin typeface="Calibri"/>
                        </a:rPr>
                        <a:t>Compared with</a:t>
                      </a:r>
                    </a:p>
                  </a:txBody>
                  <a:tcPr marL="101600" marR="101600" marT="38100" marB="38100" anchor="ctr">
                    <a:solidFill>
                      <a:srgbClr val="1A0F5C"/>
                    </a:solidFill>
                  </a:tcPr>
                </a:tc>
                <a:tc>
                  <a:txBody>
                    <a:bodyPr/>
                    <a:lstStyle/>
                    <a:p>
                      <a:r>
                        <a:rPr sz="950" b="1" i="0">
                          <a:solidFill>
                            <a:srgbClr val="FFFFFF"/>
                          </a:solidFill>
                          <a:latin typeface="Calibri"/>
                        </a:rPr>
                        <a:t>Stops</a:t>
                      </a:r>
                    </a:p>
                  </a:txBody>
                  <a:tcPr marL="101600" marR="101600" marT="38100" marB="38100" anchor="ctr">
                    <a:solidFill>
                      <a:srgbClr val="1A0F5C"/>
                    </a:solidFill>
                  </a:tcPr>
                </a:tc>
              </a:tr>
              <a:tr h="310896">
                <a:tc>
                  <a:txBody>
                    <a:bodyPr/>
                    <a:lstStyle/>
                    <a:p>
                      <a:r>
                        <a:rPr sz="900" b="0" i="0">
                          <a:solidFill>
                            <a:srgbClr val="1A1440"/>
                          </a:solidFill>
                          <a:latin typeface="Calibri"/>
                        </a:rPr>
                        <a:t>One row per customer</a:t>
                      </a:r>
                    </a:p>
                  </a:txBody>
                  <a:tcPr marL="101600" marR="101600" marT="38100" marB="38100" anchor="ctr">
                    <a:solidFill>
                      <a:srgbClr val="FFFFFF"/>
                    </a:solidFill>
                  </a:tcPr>
                </a:tc>
                <a:tc>
                  <a:txBody>
                    <a:bodyPr/>
                    <a:lstStyle/>
                    <a:p>
                      <a:r>
                        <a:rPr sz="900" b="0" i="0">
                          <a:solidFill>
                            <a:srgbClr val="1A1440"/>
                          </a:solidFill>
                          <a:latin typeface="Calibri"/>
                        </a:rPr>
                        <a:t>customer_id is unique</a:t>
                      </a:r>
                    </a:p>
                  </a:txBody>
                  <a:tcPr marL="101600" marR="101600" marT="38100" marB="38100" anchor="ctr">
                    <a:solidFill>
                      <a:srgbClr val="FFFFFF"/>
                    </a:solidFill>
                  </a:tcPr>
                </a:tc>
                <a:tc>
                  <a:txBody>
                    <a:bodyPr/>
                    <a:lstStyle/>
                    <a:p>
                      <a:r>
                        <a:rPr sz="900" b="0" i="0">
                          <a:solidFill>
                            <a:srgbClr val="1A1440"/>
                          </a:solidFill>
                          <a:latin typeface="Calibri"/>
                        </a:rPr>
                        <a:t>a repeated customer</a:t>
                      </a:r>
                    </a:p>
                  </a:txBody>
                  <a:tcPr marL="101600" marR="101600" marT="38100" marB="38100" anchor="ctr">
                    <a:solidFill>
                      <a:srgbClr val="FFFFFF"/>
                    </a:solidFill>
                  </a:tcPr>
                </a:tc>
              </a:tr>
              <a:tr h="310896">
                <a:tc>
                  <a:txBody>
                    <a:bodyPr/>
                    <a:lstStyle/>
                    <a:p>
                      <a:r>
                        <a:rPr sz="900" b="0" i="0">
                          <a:solidFill>
                            <a:srgbClr val="1A1440"/>
                          </a:solidFill>
                          <a:latin typeface="Calibri"/>
                        </a:rPr>
                        <a:t>Rows equal the list</a:t>
                      </a:r>
                    </a:p>
                  </a:txBody>
                  <a:tcPr marL="101600" marR="101600" marT="38100" marB="38100" anchor="ctr">
                    <a:solidFill>
                      <a:srgbClr val="F4F2FA"/>
                    </a:solidFill>
                  </a:tcPr>
                </a:tc>
                <a:tc>
                  <a:txBody>
                    <a:bodyPr/>
                    <a:lstStyle/>
                    <a:p>
                      <a:r>
                        <a:rPr sz="900" b="0" i="0">
                          <a:solidFill>
                            <a:srgbClr val="1A1440"/>
                          </a:solidFill>
                          <a:latin typeface="Calibri"/>
                        </a:rPr>
                        <a:t>340 from customers</a:t>
                      </a:r>
                    </a:p>
                  </a:txBody>
                  <a:tcPr marL="101600" marR="101600" marT="38100" marB="38100" anchor="ctr">
                    <a:solidFill>
                      <a:srgbClr val="F4F2FA"/>
                    </a:solidFill>
                  </a:tcPr>
                </a:tc>
                <a:tc>
                  <a:txBody>
                    <a:bodyPr/>
                    <a:lstStyle/>
                    <a:p>
                      <a:r>
                        <a:rPr sz="900" b="0" i="0">
                          <a:solidFill>
                            <a:srgbClr val="1A1440"/>
                          </a:solidFill>
                          <a:latin typeface="Calibri"/>
                        </a:rPr>
                        <a:t>a customer missing</a:t>
                      </a:r>
                    </a:p>
                  </a:txBody>
                  <a:tcPr marL="101600" marR="101600" marT="38100" marB="38100" anchor="ctr">
                    <a:solidFill>
                      <a:srgbClr val="F4F2FA"/>
                    </a:solidFill>
                  </a:tcPr>
                </a:tc>
              </a:tr>
              <a:tr h="310896">
                <a:tc>
                  <a:txBody>
                    <a:bodyPr/>
                    <a:lstStyle/>
                    <a:p>
                      <a:r>
                        <a:rPr sz="900" b="0" i="0">
                          <a:solidFill>
                            <a:srgbClr val="1A1440"/>
                          </a:solidFill>
                          <a:latin typeface="Calibri"/>
                        </a:rPr>
                        <a:t>Spend equals the warehouse</a:t>
                      </a:r>
                    </a:p>
                  </a:txBody>
                  <a:tcPr marL="101600" marR="101600" marT="38100" marB="38100" anchor="ctr">
                    <a:solidFill>
                      <a:srgbClr val="FFFFFF"/>
                    </a:solidFill>
                  </a:tcPr>
                </a:tc>
                <a:tc>
                  <a:txBody>
                    <a:bodyPr/>
                    <a:lstStyle/>
                    <a:p>
                      <a:r>
                        <a:rPr sz="900" b="0" i="0">
                          <a:solidFill>
                            <a:srgbClr val="1A1440"/>
                          </a:solidFill>
                          <a:latin typeface="Calibri"/>
                        </a:rPr>
                        <a:t>Rs 19,84,00,000 from orders</a:t>
                      </a:r>
                    </a:p>
                  </a:txBody>
                  <a:tcPr marL="101600" marR="101600" marT="38100" marB="38100" anchor="ctr">
                    <a:solidFill>
                      <a:srgbClr val="FFFFFF"/>
                    </a:solidFill>
                  </a:tcPr>
                </a:tc>
                <a:tc>
                  <a:txBody>
                    <a:bodyPr/>
                    <a:lstStyle/>
                    <a:p>
                      <a:r>
                        <a:rPr sz="900" b="0" i="0">
                          <a:solidFill>
                            <a:srgbClr val="1A1440"/>
                          </a:solidFill>
                          <a:latin typeface="Calibri"/>
                        </a:rPr>
                        <a:t>spend added or lost</a:t>
                      </a:r>
                    </a:p>
                  </a:txBody>
                  <a:tcPr marL="101600" marR="101600" marT="38100" marB="38100" anchor="ctr">
                    <a:solidFill>
                      <a:srgbClr val="FFFFFF"/>
                    </a:solidFill>
                  </a:tcPr>
                </a:tc>
              </a:tr>
              <a:tr h="310896">
                <a:tc>
                  <a:txBody>
                    <a:bodyPr/>
                    <a:lstStyle/>
                    <a:p>
                      <a:r>
                        <a:rPr sz="900" b="0" i="0">
                          <a:solidFill>
                            <a:srgbClr val="1A1440"/>
                          </a:solidFill>
                          <a:latin typeface="Calibri"/>
                        </a:rPr>
                        <a:t>Smallest recency is 0</a:t>
                      </a:r>
                    </a:p>
                  </a:txBody>
                  <a:tcPr marL="101600" marR="101600" marT="38100" marB="38100" anchor="ctr">
                    <a:solidFill>
                      <a:srgbClr val="F4F2FA"/>
                    </a:solidFill>
                  </a:tcPr>
                </a:tc>
                <a:tc>
                  <a:txBody>
                    <a:bodyPr/>
                    <a:lstStyle/>
                    <a:p>
                      <a:r>
                        <a:rPr sz="900" b="0" i="0">
                          <a:solidFill>
                            <a:srgbClr val="1A1440"/>
                          </a:solidFill>
                          <a:latin typeface="Calibri"/>
                        </a:rPr>
                        <a:t>the as-of date</a:t>
                      </a:r>
                    </a:p>
                  </a:txBody>
                  <a:tcPr marL="101600" marR="101600" marT="38100" marB="38100" anchor="ctr">
                    <a:solidFill>
                      <a:srgbClr val="F4F2FA"/>
                    </a:solidFill>
                  </a:tcPr>
                </a:tc>
                <a:tc>
                  <a:txBody>
                    <a:bodyPr/>
                    <a:lstStyle/>
                    <a:p>
                      <a:r>
                        <a:rPr sz="900" b="0" i="0">
                          <a:solidFill>
                            <a:srgbClr val="1A1440"/>
                          </a:solidFill>
                          <a:latin typeface="Calibri"/>
                        </a:rPr>
                        <a:t>a count from the wrong day</a:t>
                      </a:r>
                    </a:p>
                  </a:txBody>
                  <a:tcPr marL="101600" marR="101600" marT="38100" marB="38100" anchor="ctr">
                    <a:solidFill>
                      <a:srgbClr val="F4F2FA"/>
                    </a:solidFill>
                  </a:tcPr>
                </a:tc>
              </a:tr>
            </a:tbl>
          </a:graphicData>
        </a:graphic>
      </p:graphicFrame>
      <p:pic>
        <p:nvPicPr>
          <p:cNvPr id="10" name="mermaid diagram" descr="5031729d9ee3d5d4.png"/>
          <p:cNvPicPr>
            <a:picLocks noChangeAspect="1"/>
          </p:cNvPicPr>
          <p:nvPr/>
        </p:nvPicPr>
        <p:blipFill>
          <a:blip r:embed="rId5"/>
          <a:stretch>
            <a:fillRect/>
          </a:stretch>
        </p:blipFill>
        <p:spPr>
          <a:xfrm>
            <a:off x="2438247" y="3767328"/>
            <a:ext cx="7315200" cy="2128837"/>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repeated row: which guards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 and does each one fire when it should?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repeated = pd.concat([table, table[table["customer_id"] == "C-0152"]])   # one customer twice</a:t>
            </a:r>
          </a:p>
          <a:p>
            <a:pPr>
              <a:spcAft>
                <a:spcPts val="200"/>
              </a:spcAft>
            </a:pPr>
            <a:r>
              <a:rPr sz="1400" b="0" i="0">
                <a:solidFill>
                  <a:srgbClr val="E4E1F1"/>
                </a:solidFill>
                <a:latin typeface="Consolas"/>
              </a:rPr>
              <a:t>guard_failures(repeated)</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only the unique-key guard; b) the unique-key and row-count guards; c) the unique-key, row-count and spend guards; d) all four.</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fire, and the recency guard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every broken copy trip at least one guard, and the honest table none?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The table</a:t>
                      </a:r>
                    </a:p>
                  </a:txBody>
                  <a:tcPr marL="101600" marR="101600" marT="38100" marB="38100" anchor="ctr">
                    <a:solidFill>
                      <a:srgbClr val="1A0F5C"/>
                    </a:solidFill>
                  </a:tcPr>
                </a:tc>
                <a:tc>
                  <a:txBody>
                    <a:bodyPr/>
                    <a:lstStyle/>
                    <a:p>
                      <a:r>
                        <a:rPr sz="1450" b="1" i="0">
                          <a:solidFill>
                            <a:srgbClr val="FFFFFF"/>
                          </a:solidFill>
                          <a:latin typeface="Calibri"/>
                        </a:rPr>
                        <a:t>Guards that fire</a:t>
                      </a:r>
                    </a:p>
                  </a:txBody>
                  <a:tcPr marL="101600" marR="101600" marT="38100" marB="38100" anchor="ctr">
                    <a:solidFill>
                      <a:srgbClr val="1A0F5C"/>
                    </a:solidFill>
                  </a:tcPr>
                </a:tc>
              </a:tr>
              <a:tr h="369824">
                <a:tc>
                  <a:txBody>
                    <a:bodyPr/>
                    <a:lstStyle/>
                    <a:p>
                      <a:r>
                        <a:rPr sz="1400" b="0" i="0">
                          <a:solidFill>
                            <a:srgbClr val="1A1440"/>
                          </a:solidFill>
                          <a:latin typeface="Calibri"/>
                        </a:rPr>
                        <a:t>The honest table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One customer's row repeated</a:t>
                      </a:r>
                    </a:p>
                  </a:txBody>
                  <a:tcPr marL="101600" marR="101600" marT="38100" marB="38100" anchor="ctr">
                    <a:solidFill>
                      <a:srgbClr val="F4F2FA"/>
                    </a:solidFill>
                  </a:tcPr>
                </a:tc>
                <a:tc>
                  <a:txBody>
                    <a:bodyPr/>
                    <a:lstStyle/>
                    <a:p>
                      <a:r>
                        <a:rPr sz="1400" b="0" i="0">
                          <a:solidFill>
                            <a:srgbClr val="1A1440"/>
                          </a:solidFill>
                          <a:latin typeface="Calibri"/>
                        </a:rPr>
                        <a:t>one row per customer, rows equal the list, spend equals the warehouse</a:t>
                      </a:r>
                    </a:p>
                  </a:txBody>
                  <a:tcPr marL="101600" marR="101600" marT="38100" marB="38100" anchor="ctr">
                    <a:solidFill>
                      <a:srgbClr val="F4F2FA"/>
                    </a:solidFill>
                  </a:tcPr>
                </a:tc>
              </a:tr>
              <a:tr h="369824">
                <a:tc>
                  <a:txBody>
                    <a:bodyPr/>
                    <a:lstStyle/>
                    <a:p>
                      <a:r>
                        <a:rPr sz="1400" b="0" i="0">
                          <a:solidFill>
                            <a:srgbClr val="1A1440"/>
                          </a:solidFill>
                          <a:latin typeface="Calibri"/>
                        </a:rPr>
                        <a:t>Recency counted to the run day</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Customers with no orders dropped</a:t>
                      </a:r>
                    </a:p>
                  </a:txBody>
                  <a:tcPr marL="101600" marR="101600" marT="38100" marB="38100" anchor="ctr">
                    <a:solidFill>
                      <a:srgbClr val="F4F2FA"/>
                    </a:solidFill>
                  </a:tcPr>
                </a:tc>
                <a:tc>
                  <a:txBody>
                    <a:bodyPr/>
                    <a:lstStyle/>
                    <a:p>
                      <a:r>
                        <a:rPr sz="1400" b="0" i="0">
                          <a:solidFill>
                            <a:srgbClr val="1A1440"/>
                          </a:solidFill>
                          <a:latin typeface="Calibri"/>
                        </a:rPr>
                        <a:t>rows equal the list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Nothing, which is the point: every broken copy trips a guard, and the honest one trips none.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honest runs give one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runs on the same data give the same table?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CELLS THAT DIFFER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honest runs, a week apart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166 then 180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HURRIED LIST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each run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111 and 111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HONEST LIST</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28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f85ce102064018d2.png"/>
          <p:cNvPicPr>
            <a:picLocks noChangeAspect="1"/>
          </p:cNvPicPr>
          <p:nvPr/>
        </p:nvPicPr>
        <p:blipFill>
          <a:blip r:embed="rId5"/>
          <a:stretch>
            <a:fillRect/>
          </a:stretch>
        </p:blipFill>
        <p:spPr>
          <a:xfrm>
            <a:off x="3095472" y="3419856"/>
            <a:ext cx="6000750" cy="2428875"/>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 counts 111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counting on its own, find the same win-back list?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last  AS (SELECT customer_id, max(order_date) AS last_order FROM orders GROUP BY customer_id),</a:t>
            </a:r>
          </a:p>
          <a:p>
            <a:pPr>
              <a:spcAft>
                <a:spcPts val="200"/>
              </a:spcAft>
            </a:pPr>
            <a:r>
              <a:rPr sz="1400" b="0" i="0">
                <a:solidFill>
                  <a:srgbClr val="E4E1F1"/>
                </a:solidFill>
                <a:latin typeface="Consolas"/>
              </a:rPr>
              <a:t>     as_of AS (SELECT max(order_date) AS d FROM orders)</a:t>
            </a:r>
          </a:p>
          <a:p>
            <a:pPr>
              <a:spcAft>
                <a:spcPts val="200"/>
              </a:spcAft>
            </a:pPr>
            <a:r>
              <a:rPr sz="1400" b="0" i="0">
                <a:solidFill>
                  <a:srgbClr val="E4E1F1"/>
                </a:solidFill>
                <a:latin typeface="Consolas"/>
              </a:rPr>
              <a:t>SELECT count(*) AS win_back FROM last, as_of WHERE as_of.d - last.last_order &gt; 60;</a:t>
            </a:r>
          </a:p>
        </p:txBody>
      </p:sp>
      <p:sp>
        <p:nvSpPr>
          <p:cNvPr id="14" name="TextBox 13"/>
          <p:cNvSpPr txBox="1"/>
          <p:nvPr/>
        </p:nvSpPr>
        <p:spPr>
          <a:xfrm>
            <a:off x="530352" y="3336036"/>
            <a:ext cx="11130991" cy="698500"/>
          </a:xfrm>
          <a:prstGeom prst="rect">
            <a:avLst/>
          </a:prstGeom>
          <a:noFill/>
        </p:spPr>
        <p:txBody>
          <a:bodyPr wrap="square" anchor="t" lIns="0" rIns="0" tIns="0" bIns="0">
            <a:spAutoFit/>
          </a:bodyPr>
          <a:lstStyle/>
          <a:p>
            <a:pPr algn="l"/>
            <a:r>
              <a:rPr sz="4400" b="0" i="0">
                <a:solidFill>
                  <a:srgbClr val="5B3FD6"/>
                </a:solidFill>
                <a:latin typeface="Georgia"/>
              </a:rPr>
              <a:t>111 = 111</a:t>
            </a:r>
          </a:p>
        </p:txBody>
      </p:sp>
      <p:sp>
        <p:nvSpPr>
          <p:cNvPr id="15" name="TextBox 14"/>
          <p:cNvSpPr txBox="1"/>
          <p:nvPr/>
        </p:nvSpPr>
        <p:spPr>
          <a:xfrm>
            <a:off x="530352" y="407111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LIST</a:t>
            </a:r>
          </a:p>
        </p:txBody>
      </p:sp>
      <p:sp>
        <p:nvSpPr>
          <p:cNvPr id="16" name="TextBox 15"/>
          <p:cNvSpPr txBox="1"/>
          <p:nvPr/>
        </p:nvSpPr>
        <p:spPr>
          <a:xfrm>
            <a:off x="530352" y="4272279"/>
            <a:ext cx="11130991" cy="193421"/>
          </a:xfrm>
          <a:prstGeom prst="rect">
            <a:avLst/>
          </a:prstGeom>
          <a:noFill/>
        </p:spPr>
        <p:txBody>
          <a:bodyPr wrap="square" anchor="t" lIns="0" rIns="0" tIns="0" bIns="0">
            <a:spAutoFit/>
          </a:bodyPr>
          <a:lstStyle/>
          <a:p>
            <a:pPr algn="l"/>
            <a:r>
              <a:rPr sz="950" b="0" i="0">
                <a:solidFill>
                  <a:srgbClr val="6B6690"/>
                </a:solidFill>
                <a:latin typeface="Calibri"/>
              </a:rPr>
              <a:t>SQL and the refresh</a:t>
            </a:r>
          </a:p>
        </p:txBody>
      </p:sp>
      <p:sp>
        <p:nvSpPr>
          <p:cNvPr id="17" name="Rectangle 16"/>
          <p:cNvSpPr/>
          <p:nvPr/>
        </p:nvSpPr>
        <p:spPr>
          <a:xfrm>
            <a:off x="530352" y="452475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4" name="Oval 23"/>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6" name="Oval 25"/>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8" name="Oval 27"/>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111 on the list, and a run that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smaller question find?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08942"/>
                <a:gridCol w="7222048"/>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 runs it?</a:t>
                      </a:r>
                    </a:p>
                  </a:txBody>
                  <a:tcPr marL="101600" marR="101600" marT="38100" marB="38100" anchor="ctr">
                    <a:solidFill>
                      <a:srgbClr val="FFFFFF"/>
                    </a:solidFill>
                  </a:tcPr>
                </a:tc>
                <a:tc>
                  <a:txBody>
                    <a:bodyPr/>
                    <a:lstStyle/>
                    <a:p>
                      <a:r>
                        <a:rPr sz="1100" b="0" i="0">
                          <a:solidFill>
                            <a:srgbClr val="1A1440"/>
                          </a:solidFill>
                          <a:latin typeface="Calibri"/>
                        </a:rPr>
                        <a:t>One function with guards; it alone stops all four failures</a:t>
                      </a:r>
                    </a:p>
                  </a:txBody>
                  <a:tcPr marL="101600" marR="101600" marT="38100" marB="38100" anchor="ctr">
                    <a:solidFill>
                      <a:srgbClr val="FFFFFF"/>
                    </a:solidFill>
                  </a:tcPr>
                </a:tc>
              </a:tr>
              <a:tr h="318008">
                <a:tc>
                  <a:txBody>
                    <a:bodyPr/>
                    <a:lstStyle/>
                    <a:p>
                      <a:r>
                        <a:rPr sz="1100" b="0" i="0">
                          <a:solidFill>
                            <a:srgbClr val="1A1440"/>
                          </a:solidFill>
                          <a:latin typeface="Calibri"/>
                        </a:rPr>
                        <a:t>What is it told?</a:t>
                      </a:r>
                    </a:p>
                  </a:txBody>
                  <a:tcPr marL="101600" marR="101600" marT="38100" marB="38100" anchor="ctr">
                    <a:solidFill>
                      <a:srgbClr val="F4F2FA"/>
                    </a:solidFill>
                  </a:tcPr>
                </a:tc>
                <a:tc>
                  <a:txBody>
                    <a:bodyPr/>
                    <a:lstStyle/>
                    <a:p>
                      <a:r>
                        <a:rPr sz="1100" b="0" i="0">
                          <a:solidFill>
                            <a:srgbClr val="1A1440"/>
                          </a:solidFill>
                          <a:latin typeface="Calibri"/>
                        </a:rPr>
                        <a:t>The connection and the feed's path</a:t>
                      </a:r>
                    </a:p>
                  </a:txBody>
                  <a:tcPr marL="101600" marR="101600" marT="38100" marB="38100" anchor="ctr">
                    <a:solidFill>
                      <a:srgbClr val="F4F2FA"/>
                    </a:solidFill>
                  </a:tcPr>
                </a:tc>
              </a:tr>
              <a:tr h="318008">
                <a:tc>
                  <a:txBody>
                    <a:bodyPr/>
                    <a:lstStyle/>
                    <a:p>
                      <a:r>
                        <a:rPr sz="1100" b="0" i="0">
                          <a:solidFill>
                            <a:srgbClr val="1A1440"/>
                          </a:solidFill>
                          <a:latin typeface="Calibri"/>
                        </a:rPr>
                        <a:t>Who is on the 19 October list?</a:t>
                      </a:r>
                    </a:p>
                  </a:txBody>
                  <a:tcPr marL="101600" marR="101600" marT="38100" marB="38100" anchor="ctr">
                    <a:solidFill>
                      <a:srgbClr val="FFFFFF"/>
                    </a:solidFill>
                  </a:tcPr>
                </a:tc>
                <a:tc>
                  <a:txBody>
                    <a:bodyPr/>
                    <a:lstStyle/>
                    <a:p>
                      <a:r>
                        <a:rPr sz="1100" b="0" i="0">
                          <a:solidFill>
                            <a:srgbClr val="1A1440"/>
                          </a:solidFill>
                          <a:latin typeface="Calibri"/>
                        </a:rPr>
                        <a:t>166 counted to the run day; 111 counted to 28 September</a:t>
                      </a:r>
                    </a:p>
                  </a:txBody>
                  <a:tcPr marL="101600" marR="101600" marT="38100" marB="38100" anchor="ctr">
                    <a:solidFill>
                      <a:srgbClr val="FFFFFF"/>
                    </a:solidFill>
                  </a:tcPr>
                </a:tc>
              </a:tr>
              <a:tr h="318008">
                <a:tc>
                  <a:txBody>
                    <a:bodyPr/>
                    <a:lstStyle/>
                    <a:p>
                      <a:r>
                        <a:rPr sz="1100" b="0" i="0">
                          <a:solidFill>
                            <a:srgbClr val="1A1440"/>
                          </a:solidFill>
                          <a:latin typeface="Calibri"/>
                        </a:rPr>
                        <a:t>Which guards fire?</a:t>
                      </a:r>
                    </a:p>
                  </a:txBody>
                  <a:tcPr marL="101600" marR="101600" marT="38100" marB="38100" anchor="ctr">
                    <a:solidFill>
                      <a:srgbClr val="F4F2FA"/>
                    </a:solidFill>
                  </a:tcPr>
                </a:tc>
                <a:tc>
                  <a:txBody>
                    <a:bodyPr/>
                    <a:lstStyle/>
                    <a:p>
                      <a:r>
                        <a:rPr sz="1100" b="0" i="0">
                          <a:solidFill>
                            <a:srgbClr val="1A1440"/>
                          </a:solidFill>
                          <a:latin typeface="Calibri"/>
                        </a:rPr>
                        <a:t>Each broken copy trips one or more; the honest table none</a:t>
                      </a:r>
                    </a:p>
                  </a:txBody>
                  <a:tcPr marL="101600" marR="101600" marT="38100" marB="38100" anchor="ctr">
                    <a:solidFill>
                      <a:srgbClr val="F4F2FA"/>
                    </a:solidFill>
                  </a:tcPr>
                </a:tc>
              </a:tr>
              <a:tr h="318008">
                <a:tc>
                  <a:txBody>
                    <a:bodyPr/>
                    <a:lstStyle/>
                    <a:p>
                      <a:r>
                        <a:rPr sz="1100" b="0" i="0">
                          <a:solidFill>
                            <a:srgbClr val="1A1440"/>
                          </a:solidFill>
                          <a:latin typeface="Calibri"/>
                        </a:rPr>
                        <a:t>Do two runs agree?</a:t>
                      </a:r>
                    </a:p>
                  </a:txBody>
                  <a:tcPr marL="101600" marR="101600" marT="38100" marB="38100" anchor="ctr">
                    <a:solidFill>
                      <a:srgbClr val="FFFFFF"/>
                    </a:solidFill>
                  </a:tcPr>
                </a:tc>
                <a:tc>
                  <a:txBody>
                    <a:bodyPr/>
                    <a:lstStyle/>
                    <a:p>
                      <a:r>
                        <a:rPr sz="1100" b="0" i="0">
                          <a:solidFill>
                            <a:srgbClr val="1A1440"/>
                          </a:solidFill>
                          <a:latin typeface="Calibri"/>
                        </a:rPr>
                        <a:t>Cell for cell; the hurried list went 166 then 180</a:t>
                      </a:r>
                    </a:p>
                  </a:txBody>
                  <a:tcPr marL="101600" marR="101600" marT="38100" marB="38100" anchor="ctr">
                    <a:solidFill>
                      <a:srgbClr val="FFFFFF"/>
                    </a:solidFill>
                  </a:tcPr>
                </a:tc>
              </a:tr>
              <a:tr h="318008">
                <a:tc>
                  <a:txBody>
                    <a:bodyPr/>
                    <a:lstStyle/>
                    <a:p>
                      <a:r>
                        <a:rPr sz="1100" b="0" i="0">
                          <a:solidFill>
                            <a:srgbClr val="1A1440"/>
                          </a:solidFill>
                          <a:latin typeface="Calibri"/>
                        </a:rPr>
                        <a:t>Does the warehouse agree?</a:t>
                      </a:r>
                    </a:p>
                  </a:txBody>
                  <a:tcPr marL="101600" marR="101600" marT="38100" marB="38100" anchor="ctr">
                    <a:solidFill>
                      <a:srgbClr val="F4F2FA"/>
                    </a:solidFill>
                  </a:tcPr>
                </a:tc>
                <a:tc>
                  <a:txBody>
                    <a:bodyPr/>
                    <a:lstStyle/>
                    <a:p>
                      <a:r>
                        <a:rPr sz="1100" b="0" i="0">
                          <a:solidFill>
                            <a:srgbClr val="1A1440"/>
                          </a:solidFill>
                          <a:latin typeface="Calibri"/>
                        </a:rPr>
                        <a:t>Yes: 111</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The table carries its as-of date, the smallest recency is 0, and a run that fails a guard writes nothing.</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compute recency in a job that runs every week?</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6" name="Oval 2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8" name="Oval 2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0" name="Oval 2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build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growth team's whole Monday table alone, with both flags, one view and a guarded run, and post four numbers that hold?</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alone: five parts, thirteen letters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Every customer, three numbers</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spine and the aggregates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sale, one row each</a:t>
            </a:r>
          </a:p>
        </p:txBody>
      </p:sp>
      <p:sp>
        <p:nvSpPr>
          <p:cNvPr id="19" name="TextBox 18"/>
          <p:cNvSpPr txBox="1"/>
          <p:nvPr/>
        </p:nvSpPr>
        <p:spPr>
          <a:xfrm>
            <a:off x="2957718"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feed attached, and counted a second way</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two flags</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Lapsed, and Wednesday's falling rule in pandas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One view for a slide</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Spend by month and segment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One guarded run</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Two runs, one table, a CSV for Friday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definitions, and the checks to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flags does the table carry, and which numbers prove it before it ships?</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Flag</a:t>
                      </a:r>
                    </a:p>
                  </a:txBody>
                  <a:tcPr marL="101600" marR="101600" marT="38100" marB="38100" anchor="ctr">
                    <a:solidFill>
                      <a:srgbClr val="1A0F5C"/>
                    </a:solidFill>
                  </a:tcPr>
                </a:tc>
                <a:tc>
                  <a:txBody>
                    <a:bodyPr/>
                    <a:lstStyle/>
                    <a:p>
                      <a:r>
                        <a:rPr sz="1450" b="1" i="0">
                          <a:solidFill>
                            <a:srgbClr val="FFFFFF"/>
                          </a:solidFill>
                          <a:latin typeface="Calibri"/>
                        </a:rPr>
                        <a:t>Its rule</a:t>
                      </a:r>
                    </a:p>
                  </a:txBody>
                  <a:tcPr marL="101600" marR="101600" marT="38100" marB="38100" anchor="ctr">
                    <a:solidFill>
                      <a:srgbClr val="1A0F5C"/>
                    </a:solidFill>
                  </a:tcPr>
                </a:tc>
              </a:tr>
              <a:tr h="369824">
                <a:tc>
                  <a:txBody>
                    <a:bodyPr/>
                    <a:lstStyle/>
                    <a:p>
                      <a:r>
                        <a:rPr sz="1400" b="0" i="0">
                          <a:solidFill>
                            <a:srgbClr val="1A1440"/>
                          </a:solidFill>
                          <a:latin typeface="Calibri"/>
                        </a:rPr>
                        <a:t>Lapsed</a:t>
                      </a:r>
                    </a:p>
                  </a:txBody>
                  <a:tcPr marL="101600" marR="101600" marT="38100" marB="38100" anchor="ctr">
                    <a:solidFill>
                      <a:srgbClr val="FFFFFF"/>
                    </a:solidFill>
                  </a:tcPr>
                </a:tc>
                <a:tc>
                  <a:txBody>
                    <a:bodyPr/>
                    <a:lstStyle/>
                    <a:p>
                      <a:r>
                        <a:rPr sz="1400" b="0" i="0">
                          <a:solidFill>
                            <a:srgbClr val="1A1440"/>
                          </a:solidFill>
                          <a:latin typeface="Calibri"/>
                        </a:rPr>
                        <a:t>No order in the 60 days to the as-of date; a customer who never ordered is not lapsed</a:t>
                      </a:r>
                    </a:p>
                  </a:txBody>
                  <a:tcPr marL="101600" marR="101600" marT="38100" marB="38100" anchor="ctr">
                    <a:solidFill>
                      <a:srgbClr val="FFFFFF"/>
                    </a:solidFill>
                  </a:tcPr>
                </a:tc>
              </a:tr>
              <a:tr h="611632">
                <a:tc>
                  <a:txBody>
                    <a:bodyPr/>
                    <a:lstStyle/>
                    <a:p>
                      <a:r>
                        <a:rPr sz="1400" b="0" i="0">
                          <a:solidFill>
                            <a:srgbClr val="1A1440"/>
                          </a:solidFill>
                          <a:latin typeface="Calibri"/>
                        </a:rPr>
                        <a:t>Falling</a:t>
                      </a:r>
                    </a:p>
                  </a:txBody>
                  <a:tcPr marL="101600" marR="101600" marT="38100" marB="38100" anchor="ctr">
                    <a:solidFill>
                      <a:srgbClr val="F4F2FA"/>
                    </a:solidFill>
                  </a:tcPr>
                </a:tc>
                <a:tc>
                  <a:txBody>
                    <a:bodyPr/>
                    <a:lstStyle/>
                    <a:p>
                      <a:r>
                        <a:rPr sz="1400" b="0" i="0">
                          <a:solidFill>
                            <a:srgbClr val="1A1440"/>
                          </a:solidFill>
                          <a:latin typeface="Calibri"/>
                        </a:rPr>
                        <a:t>Spend lower in August than July and lower again in September, each reading the calendar month after the last, so a month with no order breaks the run</a:t>
                      </a:r>
                    </a:p>
                  </a:txBody>
                  <a:tcPr marL="101600" marR="101600" marT="38100" marB="38100" anchor="ctr">
                    <a:solidFill>
                      <a:srgbClr val="F4F2FA"/>
                    </a:solidFill>
                  </a:tcPr>
                </a:tc>
              </a:tr>
            </a:tbl>
          </a:graphicData>
        </a:graphic>
      </p:graphicFrame>
      <p:sp>
        <p:nvSpPr>
          <p:cNvPr id="10" name="TextBox 9"/>
          <p:cNvSpPr txBox="1"/>
          <p:nvPr/>
        </p:nvSpPr>
        <p:spPr>
          <a:xfrm>
            <a:off x="53035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1" name="TextBox 10"/>
          <p:cNvSpPr txBox="1"/>
          <p:nvPr/>
        </p:nvSpPr>
        <p:spPr>
          <a:xfrm>
            <a:off x="53035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2" name="TextBox 11"/>
          <p:cNvSpPr txBox="1"/>
          <p:nvPr/>
        </p:nvSpPr>
        <p:spPr>
          <a:xfrm>
            <a:off x="53035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3" name="Rectangle 12"/>
          <p:cNvSpPr/>
          <p:nvPr/>
        </p:nvSpPr>
        <p:spPr>
          <a:xfrm>
            <a:off x="53035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5" name="TextBox 14"/>
          <p:cNvSpPr txBox="1"/>
          <p:nvPr/>
        </p:nvSpPr>
        <p:spPr>
          <a:xfrm>
            <a:off x="433212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6" name="TextBox 15"/>
          <p:cNvSpPr txBox="1"/>
          <p:nvPr/>
        </p:nvSpPr>
        <p:spPr>
          <a:xfrm>
            <a:off x="433212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ties to the warehouse</a:t>
            </a:r>
          </a:p>
        </p:txBody>
      </p:sp>
      <p:sp>
        <p:nvSpPr>
          <p:cNvPr id="17" name="Rectangle 16"/>
          <p:cNvSpPr/>
          <p:nvPr/>
        </p:nvSpPr>
        <p:spPr>
          <a:xfrm>
            <a:off x="433212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9" name="TextBox 18"/>
          <p:cNvSpPr txBox="1"/>
          <p:nvPr/>
        </p:nvSpPr>
        <p:spPr>
          <a:xfrm>
            <a:off x="813389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813389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1" name="Rectangle 20"/>
          <p:cNvSpPr/>
          <p:nvPr/>
        </p:nvSpPr>
        <p:spPr>
          <a:xfrm>
            <a:off x="813389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room go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in the case, and which check would have caught each one?</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six wrong outputs, six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output came from which step, and which check would have caught it?</a:t>
            </a:r>
          </a:p>
        </p:txBody>
      </p:sp>
      <p:graphicFrame>
        <p:nvGraphicFramePr>
          <p:cNvPr id="9" name="Table 8"/>
          <p:cNvGraphicFramePr>
            <a:graphicFrameLocks noGrp="1"/>
          </p:cNvGraphicFramePr>
          <p:nvPr/>
        </p:nvGraphicFramePr>
        <p:xfrm>
          <a:off x="530352" y="1956816"/>
          <a:ext cx="11130989" cy="2226056"/>
        </p:xfrm>
        <a:graphic>
          <a:graphicData uri="http://schemas.openxmlformats.org/drawingml/2006/table">
            <a:tbl>
              <a:tblPr firstRow="0" bandRow="0">
                <a:tableStyleId>{2D5ABB26-0587-4C30-8999-92F81FD0307C}</a:tableStyleId>
              </a:tblPr>
              <a:tblGrid>
                <a:gridCol w="3889637"/>
                <a:gridCol w="3979291"/>
                <a:gridCol w="3262061"/>
              </a:tblGrid>
              <a:tr h="318008">
                <a:tc>
                  <a:txBody>
                    <a:bodyPr/>
                    <a:lstStyle/>
                    <a:p>
                      <a:r>
                        <a:rPr sz="1150" b="1" i="0">
                          <a:solidFill>
                            <a:srgbClr val="FFFFFF"/>
                          </a:solidFill>
                          <a:latin typeface="Calibri"/>
                        </a:rPr>
                        <a:t>The wrong output</a:t>
                      </a:r>
                    </a:p>
                  </a:txBody>
                  <a:tcPr marL="101600" marR="101600" marT="38100" marB="38100" anchor="ctr">
                    <a:solidFill>
                      <a:srgbClr val="1A0F5C"/>
                    </a:solidFill>
                  </a:tcPr>
                </a:tc>
                <a:tc>
                  <a:txBody>
                    <a:bodyPr/>
                    <a:lstStyle/>
                    <a:p>
                      <a:r>
                        <a:rPr sz="1150" b="1" i="0">
                          <a:solidFill>
                            <a:srgbClr val="FFFFFF"/>
                          </a:solidFill>
                          <a:latin typeface="Calibri"/>
                        </a:rPr>
                        <a:t>Where it came from</a:t>
                      </a:r>
                    </a:p>
                  </a:txBody>
                  <a:tcPr marL="101600" marR="101600" marT="38100" marB="38100" anchor="ctr">
                    <a:solidFill>
                      <a:srgbClr val="1A0F5C"/>
                    </a:solidFill>
                  </a:tcPr>
                </a:tc>
                <a:tc>
                  <a:txBody>
                    <a:bodyPr/>
                    <a:lstStyle/>
                    <a:p>
                      <a:r>
                        <a:rPr sz="1150" b="1" i="0">
                          <a:solidFill>
                            <a:srgbClr val="FFFFFF"/>
                          </a:solidFill>
                          <a:latin typeface="Calibri"/>
                        </a:rPr>
                        <a:t>The check</a:t>
                      </a:r>
                    </a:p>
                  </a:txBody>
                  <a:tcPr marL="101600" marR="101600" marT="38100" marB="38100" anchor="ctr">
                    <a:solidFill>
                      <a:srgbClr val="1A0F5C"/>
                    </a:solidFill>
                  </a:tcPr>
                </a:tc>
              </a:tr>
              <a:tr h="318008">
                <a:tc>
                  <a:txBody>
                    <a:bodyPr/>
                    <a:lstStyle/>
                    <a:p>
                      <a:r>
                        <a:rPr sz="1100" b="0" i="0">
                          <a:solidFill>
                            <a:srgbClr val="1A1440"/>
                          </a:solidFill>
                          <a:latin typeface="Calibri"/>
                        </a:rPr>
                        <a:t>301 rows</a:t>
                      </a:r>
                    </a:p>
                  </a:txBody>
                  <a:tcPr marL="101600" marR="101600" marT="38100" marB="38100" anchor="ctr">
                    <a:solidFill>
                      <a:srgbClr val="FFFFFF"/>
                    </a:solidFill>
                  </a:tcPr>
                </a:tc>
                <a:tc>
                  <a:txBody>
                    <a:bodyPr/>
                    <a:lstStyle/>
                    <a:p>
                      <a:r>
                        <a:rPr sz="1100" b="0" i="0">
                          <a:solidFill>
                            <a:srgbClr val="1A1440"/>
                          </a:solidFill>
                          <a:latin typeface="Calibri"/>
                        </a:rPr>
                        <a:t>the spine taken from the orders</a:t>
                      </a:r>
                    </a:p>
                  </a:txBody>
                  <a:tcPr marL="101600" marR="101600" marT="38100" marB="38100" anchor="ctr">
                    <a:solidFill>
                      <a:srgbClr val="FFFFFF"/>
                    </a:solidFill>
                  </a:tcPr>
                </a:tc>
                <a:tc>
                  <a:txBody>
                    <a:bodyPr/>
                    <a:lstStyle/>
                    <a:p>
                      <a:r>
                        <a:rPr sz="1100" b="0" i="0">
                          <a:solidFill>
                            <a:srgbClr val="1A1440"/>
                          </a:solidFill>
                          <a:latin typeface="Calibri"/>
                        </a:rPr>
                        <a:t>rows against the customer list</a:t>
                      </a:r>
                    </a:p>
                  </a:txBody>
                  <a:tcPr marL="101600" marR="101600" marT="38100" marB="38100" anchor="ctr">
                    <a:solidFill>
                      <a:srgbClr val="FFFFFF"/>
                    </a:solidFill>
                  </a:tcPr>
                </a:tc>
              </a:tr>
              <a:tr h="318008">
                <a:tc>
                  <a:txBody>
                    <a:bodyPr/>
                    <a:lstStyle/>
                    <a:p>
                      <a:r>
                        <a:rPr sz="1100" b="0" i="0">
                          <a:solidFill>
                            <a:srgbClr val="1A1440"/>
                          </a:solidFill>
                          <a:latin typeface="Calibri"/>
                        </a:rPr>
                        <a:t>0 customers who never ordered</a:t>
                      </a:r>
                    </a:p>
                  </a:txBody>
                  <a:tcPr marL="101600" marR="101600" marT="38100" marB="38100" anchor="ctr">
                    <a:solidFill>
                      <a:srgbClr val="F4F2FA"/>
                    </a:solidFill>
                  </a:tcPr>
                </a:tc>
                <a:tc>
                  <a:txBody>
                    <a:bodyPr/>
                    <a:lstStyle/>
                    <a:p>
                      <a:r>
                        <a:rPr sz="1100" b="0" i="0">
                          <a:solidFill>
                            <a:srgbClr val="1A1440"/>
                          </a:solidFill>
                          <a:latin typeface="Calibri"/>
                        </a:rPr>
                        <a:t>a missing count never equals 0</a:t>
                      </a:r>
                    </a:p>
                  </a:txBody>
                  <a:tcPr marL="101600" marR="101600" marT="38100" marB="38100" anchor="ctr">
                    <a:solidFill>
                      <a:srgbClr val="F4F2FA"/>
                    </a:solidFill>
                  </a:tcPr>
                </a:tc>
                <a:tc>
                  <a:txBody>
                    <a:bodyPr/>
                    <a:lstStyle/>
                    <a:p>
                      <a:r>
                        <a:rPr sz="1100" b="0" i="0">
                          <a:solidFill>
                            <a:srgbClr val="1A1440"/>
                          </a:solidFill>
                          <a:latin typeface="Calibri"/>
                        </a:rPr>
                        <a:t>fill 0 on purpose, then count</a:t>
                      </a:r>
                    </a:p>
                  </a:txBody>
                  <a:tcPr marL="101600" marR="101600" marT="38100" marB="38100" anchor="ctr">
                    <a:solidFill>
                      <a:srgbClr val="F4F2FA"/>
                    </a:solidFill>
                  </a:tcPr>
                </a:tc>
              </a:tr>
              <a:tr h="318008">
                <a:tc>
                  <a:txBody>
                    <a:bodyPr/>
                    <a:lstStyle/>
                    <a:p>
                      <a:r>
                        <a:rPr sz="1100" b="0" i="0">
                          <a:solidFill>
                            <a:srgbClr val="1A1440"/>
                          </a:solidFill>
                          <a:latin typeface="Calibri"/>
                        </a:rPr>
                        <a:t>More than 340 rows after the merge</a:t>
                      </a:r>
                    </a:p>
                  </a:txBody>
                  <a:tcPr marL="101600" marR="101600" marT="38100" marB="38100" anchor="ctr">
                    <a:solidFill>
                      <a:srgbClr val="FFFFFF"/>
                    </a:solidFill>
                  </a:tcPr>
                </a:tc>
                <a:tc>
                  <a:txBody>
                    <a:bodyPr/>
                    <a:lstStyle/>
                    <a:p>
                      <a:r>
                        <a:rPr sz="1100" b="0" i="0">
                          <a:solidFill>
                            <a:srgbClr val="1A1440"/>
                          </a:solidFill>
                          <a:latin typeface="Calibri"/>
                        </a:rPr>
                        <a:t>the feed's promise taken on trust</a:t>
                      </a:r>
                    </a:p>
                  </a:txBody>
                  <a:tcPr marL="101600" marR="101600" marT="38100" marB="38100" anchor="ctr">
                    <a:solidFill>
                      <a:srgbClr val="FFFFFF"/>
                    </a:solidFill>
                  </a:tcPr>
                </a:tc>
                <a:tc>
                  <a:txBody>
                    <a:bodyPr/>
                    <a:lstStyle/>
                    <a:p>
                      <a:r>
                        <a:rPr sz="1100" b="0" i="0">
                          <a:solidFill>
                            <a:srgbClr val="1A1440"/>
                          </a:solidFill>
                          <a:latin typeface="Calibri"/>
                        </a:rPr>
                        <a:t>validate="one_to_one"</a:t>
                      </a:r>
                    </a:p>
                  </a:txBody>
                  <a:tcPr marL="101600" marR="101600" marT="38100" marB="38100" anchor="ctr">
                    <a:solidFill>
                      <a:srgbClr val="FFFFFF"/>
                    </a:solidFill>
                  </a:tcPr>
                </a:tc>
              </a:tr>
              <a:tr h="318008">
                <a:tc>
                  <a:txBody>
                    <a:bodyPr/>
                    <a:lstStyle/>
                    <a:p>
                      <a:r>
                        <a:rPr sz="1100" b="0" i="0">
                          <a:solidFill>
                            <a:srgbClr val="1A1440"/>
                          </a:solidFill>
                          <a:latin typeface="Calibri"/>
                        </a:rPr>
                        <a:t>154 on the win-back list</a:t>
                      </a:r>
                    </a:p>
                  </a:txBody>
                  <a:tcPr marL="101600" marR="101600" marT="38100" marB="38100" anchor="ctr">
                    <a:solidFill>
                      <a:srgbClr val="F4F2FA"/>
                    </a:solidFill>
                  </a:tcPr>
                </a:tc>
                <a:tc>
                  <a:txBody>
                    <a:bodyPr/>
                    <a:lstStyle/>
                    <a:p>
                      <a:r>
                        <a:rPr sz="1100" b="0" i="0">
                          <a:solidFill>
                            <a:srgbClr val="1A1440"/>
                          </a:solidFill>
                          <a:latin typeface="Calibri"/>
                        </a:rPr>
                        <a:t>recency counted to the class day</a:t>
                      </a:r>
                    </a:p>
                  </a:txBody>
                  <a:tcPr marL="101600" marR="101600" marT="38100" marB="38100" anchor="ctr">
                    <a:solidFill>
                      <a:srgbClr val="F4F2FA"/>
                    </a:solidFill>
                  </a:tcPr>
                </a:tc>
                <a:tc>
                  <a:txBody>
                    <a:bodyPr/>
                    <a:lstStyle/>
                    <a:p>
                      <a:r>
                        <a:rPr sz="1100" b="0" i="0">
                          <a:solidFill>
                            <a:srgbClr val="1A1440"/>
                          </a:solidFill>
                          <a:latin typeface="Calibri"/>
                        </a:rPr>
                        <a:t>the smallest recency is 0</a:t>
                      </a:r>
                    </a:p>
                  </a:txBody>
                  <a:tcPr marL="101600" marR="101600" marT="38100" marB="38100" anchor="ctr">
                    <a:solidFill>
                      <a:srgbClr val="F4F2FA"/>
                    </a:solidFill>
                  </a:tcPr>
                </a:tc>
              </a:tr>
              <a:tr h="318008">
                <a:tc>
                  <a:txBody>
                    <a:bodyPr/>
                    <a:lstStyle/>
                    <a:p>
                      <a:r>
                        <a:rPr sz="1100" b="0" i="0">
                          <a:solidFill>
                            <a:srgbClr val="1A1440"/>
                          </a:solidFill>
                          <a:latin typeface="Calibri"/>
                        </a:rPr>
                        <a:t>Falling flags on customers who never fell</a:t>
                      </a:r>
                    </a:p>
                  </a:txBody>
                  <a:tcPr marL="101600" marR="101600" marT="38100" marB="38100" anchor="ctr">
                    <a:solidFill>
                      <a:srgbClr val="FFFFFF"/>
                    </a:solidFill>
                  </a:tcPr>
                </a:tc>
                <a:tc>
                  <a:txBody>
                    <a:bodyPr/>
                    <a:lstStyle/>
                    <a:p>
                      <a:r>
                        <a:rPr sz="1100" b="0" i="0">
                          <a:solidFill>
                            <a:srgbClr val="1A1440"/>
                          </a:solidFill>
                          <a:latin typeface="Calibri"/>
                        </a:rPr>
                        <a:t>the previous row read without the customer</a:t>
                      </a:r>
                    </a:p>
                  </a:txBody>
                  <a:tcPr marL="101600" marR="101600" marT="38100" marB="38100" anchor="ctr">
                    <a:solidFill>
                      <a:srgbClr val="FFFFFF"/>
                    </a:solidFill>
                  </a:tcPr>
                </a:tc>
                <a:tc>
                  <a:txBody>
                    <a:bodyPr/>
                    <a:lstStyle/>
                    <a:p>
                      <a:r>
                        <a:rPr sz="1100" b="0" i="0">
                          <a:solidFill>
                            <a:srgbClr val="1A1440"/>
                          </a:solidFill>
                          <a:latin typeface="Calibri"/>
                        </a:rPr>
                        <a:t>groupby before shift</a:t>
                      </a:r>
                    </a:p>
                  </a:txBody>
                  <a:tcPr marL="101600" marR="101600" marT="38100" marB="38100" anchor="ctr">
                    <a:solidFill>
                      <a:srgbClr val="FFFFFF"/>
                    </a:solidFill>
                  </a:tcPr>
                </a:tc>
              </a:tr>
              <a:tr h="318008">
                <a:tc>
                  <a:txBody>
                    <a:bodyPr/>
                    <a:lstStyle/>
                    <a:p>
                      <a:r>
                        <a:rPr sz="1100" b="0" i="0">
                          <a:solidFill>
                            <a:srgbClr val="1A1440"/>
                          </a:solidFill>
                          <a:latin typeface="Calibri"/>
                        </a:rPr>
                        <a:t>A view short of the warehouse</a:t>
                      </a:r>
                    </a:p>
                  </a:txBody>
                  <a:tcPr marL="101600" marR="101600" marT="38100" marB="38100" anchor="ctr">
                    <a:solidFill>
                      <a:srgbClr val="F4F2FA"/>
                    </a:solidFill>
                  </a:tcPr>
                </a:tc>
                <a:tc>
                  <a:txBody>
                    <a:bodyPr/>
                    <a:lstStyle/>
                    <a:p>
                      <a:r>
                        <a:rPr sz="1100" b="0" i="0">
                          <a:solidFill>
                            <a:srgbClr val="1A1440"/>
                          </a:solidFill>
                          <a:latin typeface="Calibri"/>
                        </a:rPr>
                        <a:t>the pivot's default mean</a:t>
                      </a:r>
                    </a:p>
                  </a:txBody>
                  <a:tcPr marL="101600" marR="101600" marT="38100" marB="38100" anchor="ctr">
                    <a:solidFill>
                      <a:srgbClr val="F4F2FA"/>
                    </a:solidFill>
                  </a:tcPr>
                </a:tc>
                <a:tc>
                  <a:txBody>
                    <a:bodyPr/>
                    <a:lstStyle/>
                    <a:p>
                      <a:r>
                        <a:rPr sz="1100" b="0" i="0">
                          <a:solidFill>
                            <a:srgbClr val="1A1440"/>
                          </a:solidFill>
                          <a:latin typeface="Calibri"/>
                        </a:rPr>
                        <a:t>the grand total against the orders</a:t>
                      </a:r>
                    </a:p>
                  </a:txBody>
                  <a:tcPr marL="101600" marR="101600" marT="38100" marB="38100" anchor="ctr">
                    <a:solidFill>
                      <a:srgbClr val="F4F2FA"/>
                    </a:solidFill>
                  </a:tcPr>
                </a:tc>
              </a:tr>
            </a:tbl>
          </a:graphicData>
        </a:graphic>
      </p:graphicFrame>
      <p:pic>
        <p:nvPicPr>
          <p:cNvPr id="10" name="mermaid diagram" descr="f3edace3a13c9b90.png"/>
          <p:cNvPicPr>
            <a:picLocks noChangeAspect="1"/>
          </p:cNvPicPr>
          <p:nvPr/>
        </p:nvPicPr>
        <p:blipFill>
          <a:blip r:embed="rId5"/>
          <a:stretch>
            <a:fillRect/>
          </a:stretch>
        </p:blipFill>
        <p:spPr>
          <a:xfrm>
            <a:off x="3459803" y="4438904"/>
            <a:ext cx="5272087"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miss most rooms make: the class-day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wall-clock count the one that survives review?</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15 OCTOBER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class 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19 OCTOBER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first Monday refresh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28 SEPTEMBER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run gives a plausible count, so nobody questions it; only the smallest-recency check or a second run on the same data exposes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tool would you sign?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Did Retail-Plus members order less often in Q2, in plain Python, SQL and pandas, and which tool would you sign for each job?</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in pairs: three tools, one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the pair for?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did the tree in plain Python in Week 1, in SQL on Monday. Do it a third way now, and tell me honestly which tool you would pick for which job."</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Plain Python</a:t>
            </a:r>
          </a:p>
        </p:txBody>
      </p:sp>
      <p:sp>
        <p:nvSpPr>
          <p:cNvPr id="19" name="TextBox 18"/>
          <p:cNvSpPr txBox="1"/>
          <p:nvPr/>
        </p:nvSpPr>
        <p:spPr>
          <a:xfrm>
            <a:off x="694944"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set per quarter, one row at a time</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SQL</a:t>
            </a:r>
          </a:p>
        </p:txBody>
      </p:sp>
      <p:sp>
        <p:nvSpPr>
          <p:cNvPr id="24" name="TextBox 23"/>
          <p:cNvSpPr txBox="1"/>
          <p:nvPr/>
        </p:nvSpPr>
        <p:spPr>
          <a:xfrm>
            <a:off x="3523411"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In the warehouse, without Monday's integer division</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pandas</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analyst's bench, members counted once</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note</a:t>
            </a:r>
          </a:p>
        </p:txBody>
      </p:sp>
      <p:sp>
        <p:nvSpPr>
          <p:cNvPr id="34" name="TextBox 33"/>
          <p:cNvSpPr txBox="1"/>
          <p:nvPr/>
        </p:nvSpPr>
        <p:spPr>
          <a:xfrm>
            <a:off x="9180347" y="4564126"/>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per tool, the rows each moved, one refusal</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tool would you sign for Finance's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three agree; which one should own a number Finance reruns every Monday?</a:t>
            </a:r>
          </a:p>
        </p:txBody>
      </p:sp>
      <p:pic>
        <p:nvPicPr>
          <p:cNvPr id="9" name="mermaid diagram" descr="9ebcbe00d76423fa.png"/>
          <p:cNvPicPr>
            <a:picLocks noChangeAspect="1"/>
          </p:cNvPicPr>
          <p:nvPr/>
        </p:nvPicPr>
        <p:blipFill>
          <a:blip r:embed="rId5"/>
          <a:stretch>
            <a:fillRect/>
          </a:stretch>
        </p:blipFill>
        <p:spPr>
          <a:xfrm>
            <a:off x="2252510" y="1870996"/>
            <a:ext cx="7686675" cy="3186112"/>
          </a:xfrm>
          <a:prstGeom prst="rect">
            <a:avLst/>
          </a:prstGeom>
        </p:spPr>
      </p:pic>
      <p:sp>
        <p:nvSpPr>
          <p:cNvPr id="10" name="Rounded Rectangle 9"/>
          <p:cNvSpPr/>
          <p:nvPr/>
        </p:nvSpPr>
        <p:spPr>
          <a:xfrm>
            <a:off x="530352" y="5203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31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22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a pandas notebook on the analyst's machine; b) a plain Python loop; c) a SQL query in the warehouse; d) a CSV export refreshed every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SQL, and pandas reads its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routes give, and what did each move?</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2.363 to 1.842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MEMBER</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Q1 215 over 91, Q2 140 over 76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 of 3</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TOOLS AGREE</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three decimal places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355 / 2 / 1,000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Python, SQL, pandas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Retail-Plus members ordered 22 percent less often in Q2, the branch Week 1 found. The note gives Finance's number to SQL, which moves only its answer, and refuses a pandas notebook for it.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0" name="Oval 29"/>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32" name="Oval 31"/>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4" name="Oval 33"/>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would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of today's interview questions sound when answered aloud, the design question among them?</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aloud: the row's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every screen ask about today's work?</a:t>
            </a:r>
          </a:p>
        </p:txBody>
      </p:sp>
      <p:graphicFrame>
        <p:nvGraphicFramePr>
          <p:cNvPr id="9" name="Table 8"/>
          <p:cNvGraphicFramePr>
            <a:graphicFrameLocks noGrp="1"/>
          </p:cNvGraphicFramePr>
          <p:nvPr/>
        </p:nvGraphicFramePr>
        <p:xfrm>
          <a:off x="530352" y="1956816"/>
          <a:ext cx="11130991" cy="1865376"/>
        </p:xfrm>
        <a:graphic>
          <a:graphicData uri="http://schemas.openxmlformats.org/drawingml/2006/table">
            <a:tbl>
              <a:tblPr firstRow="0" bandRow="0">
                <a:tableStyleId>{2D5ABB26-0587-4C30-8999-92F81FD0307C}</a:tableStyleId>
              </a:tblPr>
              <a:tblGrid>
                <a:gridCol w="914400"/>
                <a:gridCol w="10216591"/>
              </a:tblGrid>
              <a:tr h="310896">
                <a:tc>
                  <a:txBody>
                    <a:bodyPr/>
                    <a:lstStyle/>
                    <a:p>
                      <a:r>
                        <a:rPr sz="950" b="1" i="0">
                          <a:solidFill>
                            <a:srgbClr val="FFFFFF"/>
                          </a:solidFill>
                          <a:latin typeface="Calibri"/>
                        </a:rPr>
                        <a:t>Tag</a:t>
                      </a:r>
                    </a:p>
                  </a:txBody>
                  <a:tcPr marL="101600" marR="101600" marT="38100" marB="38100" anchor="ctr">
                    <a:solidFill>
                      <a:srgbClr val="1A0F5C"/>
                    </a:solidFill>
                  </a:tcPr>
                </a:tc>
                <a:tc>
                  <a:txBody>
                    <a:bodyPr/>
                    <a:lstStyle/>
                    <a:p>
                      <a:r>
                        <a:rPr sz="950" b="1" i="0">
                          <a:solidFill>
                            <a:srgbClr val="FFFFFF"/>
                          </a:solidFill>
                          <a:latin typeface="Calibri"/>
                        </a:rPr>
                        <a:t>The question</a:t>
                      </a:r>
                    </a:p>
                  </a:txBody>
                  <a:tcPr marL="101600" marR="101600" marT="38100" marB="38100" anchor="ctr">
                    <a:solidFill>
                      <a:srgbClr val="1A0F5C"/>
                    </a:solidFill>
                  </a:tcPr>
                </a:tc>
              </a:tr>
              <a:tr h="310896">
                <a:tc>
                  <a:txBody>
                    <a:bodyPr/>
                    <a:lstStyle/>
                    <a:p>
                      <a:r>
                        <a:rPr sz="900" b="0" i="0">
                          <a:solidFill>
                            <a:srgbClr val="1A1440"/>
                          </a:solidFill>
                          <a:latin typeface="Calibri"/>
                        </a:rPr>
                        <a:t>[S]</a:t>
                      </a:r>
                    </a:p>
                  </a:txBody>
                  <a:tcPr marL="101600" marR="101600" marT="38100" marB="38100" anchor="ctr">
                    <a:solidFill>
                      <a:srgbClr val="FFFFFF"/>
                    </a:solidFill>
                  </a:tcPr>
                </a:tc>
                <a:tc>
                  <a:txBody>
                    <a:bodyPr/>
                    <a:lstStyle/>
                    <a:p>
                      <a:r>
                        <a:rPr sz="900" b="0" i="0">
                          <a:solidFill>
                            <a:srgbClr val="1A1440"/>
                          </a:solidFill>
                          <a:latin typeface="Calibri"/>
                        </a:rPr>
                        <a:t>Describe groupby in the split-apply-combine sentence.</a:t>
                      </a:r>
                    </a:p>
                  </a:txBody>
                  <a:tcPr marL="101600" marR="101600" marT="38100" marB="38100" anchor="ctr">
                    <a:solidFill>
                      <a:srgbClr val="FFFFFF"/>
                    </a:solidFill>
                  </a:tcPr>
                </a:tc>
              </a:tr>
              <a:tr h="310896">
                <a:tc>
                  <a:txBody>
                    <a:bodyPr/>
                    <a:lstStyle/>
                    <a:p>
                      <a:r>
                        <a:rPr sz="900" b="0" i="0">
                          <a:solidFill>
                            <a:srgbClr val="1A1440"/>
                          </a:solidFill>
                          <a:latin typeface="Calibri"/>
                        </a:rPr>
                        <a:t>[S]</a:t>
                      </a:r>
                    </a:p>
                  </a:txBody>
                  <a:tcPr marL="101600" marR="101600" marT="38100" marB="38100" anchor="ctr">
                    <a:solidFill>
                      <a:srgbClr val="F4F2FA"/>
                    </a:solidFill>
                  </a:tcPr>
                </a:tc>
                <a:tc>
                  <a:txBody>
                    <a:bodyPr/>
                    <a:lstStyle/>
                    <a:p>
                      <a:r>
                        <a:rPr sz="900" b="0" i="0">
                          <a:solidFill>
                            <a:srgbClr val="1A1440"/>
                          </a:solidFill>
                          <a:latin typeface="Calibri"/>
                        </a:rPr>
                        <a:t>Merge against join: what is the same and what differs?</a:t>
                      </a:r>
                    </a:p>
                  </a:txBody>
                  <a:tcPr marL="101600" marR="101600" marT="38100" marB="38100" anchor="ctr">
                    <a:solidFill>
                      <a:srgbClr val="F4F2FA"/>
                    </a:solidFill>
                  </a:tcPr>
                </a:tc>
              </a:tr>
              <a:tr h="310896">
                <a:tc>
                  <a:txBody>
                    <a:bodyPr/>
                    <a:lstStyle/>
                    <a:p>
                      <a:r>
                        <a:rPr sz="900" b="0" i="0">
                          <a:solidFill>
                            <a:srgbClr val="1A1440"/>
                          </a:solidFill>
                          <a:latin typeface="Calibri"/>
                        </a:rPr>
                        <a:t>[F]</a:t>
                      </a:r>
                    </a:p>
                  </a:txBody>
                  <a:tcPr marL="101600" marR="101600" marT="38100" marB="38100" anchor="ctr">
                    <a:solidFill>
                      <a:srgbClr val="FFFFFF"/>
                    </a:solidFill>
                  </a:tcPr>
                </a:tc>
                <a:tc>
                  <a:txBody>
                    <a:bodyPr/>
                    <a:lstStyle/>
                    <a:p>
                      <a:r>
                        <a:rPr sz="900" b="0" i="0">
                          <a:solidFill>
                            <a:srgbClr val="1A1440"/>
                          </a:solidFill>
                          <a:latin typeface="Calibri"/>
                        </a:rPr>
                        <a:t>Which merge argument raises on duplicate keys, and which error?</a:t>
                      </a:r>
                    </a:p>
                  </a:txBody>
                  <a:tcPr marL="101600" marR="101600" marT="38100" marB="38100" anchor="ctr">
                    <a:solidFill>
                      <a:srgbClr val="FFFFFF"/>
                    </a:solidFill>
                  </a:tcPr>
                </a:tc>
              </a:tr>
              <a:tr h="310896">
                <a:tc>
                  <a:txBody>
                    <a:bodyPr/>
                    <a:lstStyle/>
                    <a:p>
                      <a:r>
                        <a:rPr sz="900" b="0" i="0">
                          <a:solidFill>
                            <a:srgbClr val="1A1440"/>
                          </a:solidFill>
                          <a:latin typeface="Calibri"/>
                        </a:rPr>
                        <a:t>[F]</a:t>
                      </a:r>
                    </a:p>
                  </a:txBody>
                  <a:tcPr marL="101600" marR="101600" marT="38100" marB="38100" anchor="ctr">
                    <a:solidFill>
                      <a:srgbClr val="F4F2FA"/>
                    </a:solidFill>
                  </a:tcPr>
                </a:tc>
                <a:tc>
                  <a:txBody>
                    <a:bodyPr/>
                    <a:lstStyle/>
                    <a:p>
                      <a:r>
                        <a:rPr sz="900" b="0" i="0">
                          <a:solidFill>
                            <a:srgbClr val="1A1440"/>
                          </a:solidFill>
                          <a:latin typeface="Calibri"/>
                        </a:rPr>
                        <a:t>Pivot against melt: which widens and which lengthens?</a:t>
                      </a:r>
                    </a:p>
                  </a:txBody>
                  <a:tcPr marL="101600" marR="101600" marT="38100" marB="38100" anchor="ctr">
                    <a:solidFill>
                      <a:srgbClr val="F4F2FA"/>
                    </a:solidFill>
                  </a:tcPr>
                </a:tc>
              </a:tr>
              <a:tr h="310896">
                <a:tc>
                  <a:txBody>
                    <a:bodyPr/>
                    <a:lstStyle/>
                    <a:p>
                      <a:r>
                        <a:rPr sz="900" b="0" i="0">
                          <a:solidFill>
                            <a:srgbClr val="1A1440"/>
                          </a:solidFill>
                          <a:latin typeface="Calibri"/>
                        </a:rPr>
                        <a:t>[D]</a:t>
                      </a:r>
                    </a:p>
                  </a:txBody>
                  <a:tcPr marL="101600" marR="101600" marT="38100" marB="38100" anchor="ctr">
                    <a:solidFill>
                      <a:srgbClr val="FFFFFF"/>
                    </a:solidFill>
                  </a:tcPr>
                </a:tc>
                <a:tc>
                  <a:txBody>
                    <a:bodyPr/>
                    <a:lstStyle/>
                    <a:p>
                      <a:r>
                        <a:rPr sz="9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pic>
        <p:nvPicPr>
          <p:cNvPr id="10" name="mermaid diagram" descr="840cc5e45dada99a.png"/>
          <p:cNvPicPr>
            <a:picLocks noChangeAspect="1"/>
          </p:cNvPicPr>
          <p:nvPr/>
        </p:nvPicPr>
        <p:blipFill>
          <a:blip r:embed="rId5"/>
          <a:stretch>
            <a:fillRect/>
          </a:stretch>
        </p:blipFill>
        <p:spPr>
          <a:xfrm>
            <a:off x="2588266" y="4078224"/>
            <a:ext cx="7015162"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three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case-style follow-ups does an interviewer add?</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stopped with a MergeError.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SQL's GROUP BY do with a NULL key, and pandas' groupby with a missing one?</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dashboard says 100 percent of the customers a campaign reached went on to buy. What do you check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orders table grows to 5 crore rows. Where do you build the customer table?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to the growth team?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growth team hear, which lines are worth keeping, and what does Friday ask?</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the Monday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table is ready, and it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hear, and with which caveat?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Monday table is ready: 340 customers, one row each, with spend that ties to the warehouse at Rs 19,84,00,000, the 130 customers the monsoon sale reached, and a win-back list of 111 counted to 28 September. It rebuilds itself every Monday and will not ship if a guard fails, and Finance's revenue stays in the warehouse as a query the table reconciles with every week."</a:t>
            </a:r>
          </a:p>
          <a:p>
            <a:pPr>
              <a:spcBef>
                <a:spcPts val="400"/>
              </a:spcBef>
            </a:pPr>
            <a:r>
              <a:rPr sz="1000" b="0" i="0">
                <a:solidFill>
                  <a:srgbClr val="6B6690"/>
                </a:solidFill>
                <a:latin typeface="Calibri"/>
              </a:rPr>
              <a:t>The GCC data and AI team</a:t>
            </a:r>
          </a:p>
        </p:txBody>
      </p:sp>
      <p:sp>
        <p:nvSpPr>
          <p:cNvPr id="11" name="Rounded Rectangle 10"/>
          <p:cNvSpPr/>
          <p:nvPr/>
        </p:nvSpPr>
        <p:spPr>
          <a:xfrm>
            <a:off x="530352" y="369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2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17112"/>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The table records whom the sale reached; whether the sale changed what they spent is a separate test, and Week 1 Thursday found the reached were buying anyway.</a:t>
            </a:r>
          </a:p>
        </p:txBody>
      </p:sp>
      <p:pic>
        <p:nvPicPr>
          <p:cNvPr id="14" name="mermaid diagram" descr="6354e75ce94a0a55.png"/>
          <p:cNvPicPr>
            <a:picLocks noChangeAspect="1"/>
          </p:cNvPicPr>
          <p:nvPr/>
        </p:nvPicPr>
        <p:blipFill>
          <a:blip r:embed="rId5"/>
          <a:stretch>
            <a:fillRect/>
          </a:stretch>
        </p:blipFill>
        <p:spPr>
          <a:xfrm>
            <a:off x="1509560" y="4670552"/>
            <a:ext cx="9172575"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cheat sheet print word for word?</a:t>
            </a:r>
          </a:p>
        </p:txBody>
      </p:sp>
      <p:graphicFrame>
        <p:nvGraphicFramePr>
          <p:cNvPr id="9" name="Table 8"/>
          <p:cNvGraphicFramePr>
            <a:graphicFrameLocks noGrp="1"/>
          </p:cNvGraphicFramePr>
          <p:nvPr/>
        </p:nvGraphicFramePr>
        <p:xfrm>
          <a:off x="530352" y="1956816"/>
          <a:ext cx="11130991" cy="3427984"/>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Start a customer table from the customer list, because a table built from orders leaves out everyone who never ordered: 39 of Kalpa's 340.</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Write how= and validate= on every merge, because one repeated key adds a customer's whole spend again and validate stops the merge before the table exists.</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Write aggfunc= on every pivot and check its grand total against the source, because pivot_table averages by default and turned a 29 percent fall into 18.</a:t>
                      </a:r>
                    </a:p>
                  </a:txBody>
                  <a:tcPr marL="101600" marR="101600" marT="38100" marB="38100" anchor="ctr">
                    <a:solidFill>
                      <a:srgbClr val="FFFFFF"/>
                    </a:solidFill>
                  </a:tcPr>
                </a:tc>
              </a:tr>
              <a:tr h="611632">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tools agree only when they share one definition, so give each recurring number one owner, chosen by who reruns it and sized by the rows each route moves.</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Count recency to the data's own last date and let the refresh refuse a table that fails a guard, because the wall clock put 166 customers on a list that holds 111.</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of this week belong in a sheet a director can change, and which must never be there?</a:t>
            </a:r>
          </a:p>
        </p:txBody>
      </p:sp>
      <p:sp>
        <p:nvSpPr>
          <p:cNvPr id="9" name="Rounded Rectangle 8"/>
          <p:cNvSpPr/>
          <p:nvPr/>
        </p:nvSpPr>
        <p:spPr>
          <a:xfrm>
            <a:off x="530352" y="168249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595119"/>
          </a:xfrm>
          <a:prstGeom prst="rect">
            <a:avLst/>
          </a:prstGeom>
          <a:noFill/>
        </p:spPr>
        <p:txBody>
          <a:bodyPr wrap="square" anchor="t" lIns="0" rIns="0" tIns="0" bIns="0">
            <a:spAutoFit/>
          </a:bodyPr>
          <a:lstStyle/>
          <a:p>
            <a:r>
              <a:rPr sz="1600" b="0" i="1">
                <a:solidFill>
                  <a:srgbClr val="1A0F5C"/>
                </a:solidFill>
                <a:latin typeface="Georgia"/>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a:p>
            <a:pPr>
              <a:spcBef>
                <a:spcPts val="400"/>
              </a:spcBef>
            </a:pPr>
            <a:r>
              <a:rPr sz="1000" b="0" i="0">
                <a:solidFill>
                  <a:srgbClr val="6B6690"/>
                </a:solidFill>
                <a:latin typeface="Calibri"/>
              </a:rPr>
              <a:t>Meera's chief of staff</a:t>
            </a:r>
          </a:p>
        </p:txBody>
      </p:sp>
      <p:pic>
        <p:nvPicPr>
          <p:cNvPr id="11" name="mermaid diagram" descr="ca51796da90ba60c.png"/>
          <p:cNvPicPr>
            <a:picLocks noChangeAspect="1"/>
          </p:cNvPicPr>
          <p:nvPr/>
        </p:nvPicPr>
        <p:blipFill>
          <a:blip r:embed="rId5"/>
          <a:stretch>
            <a:fillRect/>
          </a:stretch>
        </p:blipFill>
        <p:spPr>
          <a:xfrm>
            <a:off x="2459790" y="3423920"/>
            <a:ext cx="7272114" cy="2775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8" name="Oval 1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0" name="Oval 1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2" name="Oval 21"/>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