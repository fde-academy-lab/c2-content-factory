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Kavya's challenge frames the whole afternoon: the escalated case builds the</a:t>
            </a:r>
          </a:p>
          <a:p>
            <a:r>
              <a:t>table the growth team asked for, and the second case answers her in writing.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60 minutes, unguided. Brief: exercises/unguided/C2_W02_D04_escalated_STUDENT.md;</a:t>
            </a:r>
          </a:p>
          <a:p>
            <a:r>
              <a:t>notebook: notebooks/C2_W02_D04_hands_on_STUDENT.ipynb. Hold the solution until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five parts, then start the clock. The letters and four numbers are</a:t>
            </a:r>
          </a:p>
          <a:p>
            <a:r>
              <a:t>what learners post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guards are the morning's checks: one row per customer, spend equal to the</a:t>
            </a:r>
          </a:p>
          <a:p>
            <a:r>
              <a:t>book. The CSV is what learners bring to Friday.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at the start, then leave it up. A learner whose numbers differ has one</a:t>
            </a:r>
          </a:p>
          <a:p>
            <a:r>
              <a:t>of the morning's traps in their table, and the debrief names which.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Collect wrong numbers during the case and replay them here, anonymously.</a:t>
            </a:r>
          </a:p>
          <a:p>
            <a:r>
              <a:t>Every wrong number the room produced maps to one row of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For each row ask a learner who produced it to say which check would have</a:t>
            </a:r>
          </a:p>
          <a:p>
            <a:r>
              <a:t>caught it. Keep it about the default, never the person.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Friday's Kahoot return question, asked a day early.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Up to 120 extra rows, one per repeated feed row. The fix is a business rule</a:t>
            </a:r>
          </a:p>
          <a:p>
            <a:r>
              <a:t>first, then validate stays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pairs. Brief: exercises/guided/C2_W02_D04_three_tools_STUDENT.md;</a:t>
            </a:r>
          </a:p>
          <a:p>
            <a:r>
              <a:t>notebook: notebooks/C2_W02_D04_three_tools_STUDENT.ipynb; the five asks:</a:t>
            </a:r>
          </a:p>
          <a:p>
            <a:r>
              <a:t>exercises/unguided/C2_W02_D04_pick_tool_STUDENT.md. The room tries the SQL version first; the</a:t>
            </a:r>
          </a:p>
          <a:p>
            <a:r>
              <a:t>trainer then runs it through Python and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question is fixed so the comparison is about the tools. If the three</a:t>
            </a:r>
          </a:p>
          <a:p>
            <a:r>
              <a:t>disagree, one of them has a trap in it, and finding which is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list instead of a set counts a member once per order and gives 1.000. Let</a:t>
            </a:r>
          </a:p>
          <a:p>
            <a:r>
              <a:t>the room find that if a pair tries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room writes this first, before the trainer shows it. Watch for Monday's</a:t>
            </a:r>
          </a:p>
          <a:p>
            <a:r>
              <a:t>integer-division trap: without ::numeric Postgres returns 2 and 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members=("customer_id", "count") gives the order count again, and the rate</a:t>
            </a:r>
          </a:p>
          <a:p>
            <a:r>
              <a:t>reads 1.000. The same mistake as the list in plain Python, in a new tool.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number is Week 1's frequency lever, now read from the full warehouse. The</a:t>
            </a:r>
          </a:p>
          <a:p>
            <a:r>
              <a:t>agreement is the point: the choice between tools is never about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argue for two minutes, then letters.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Push on c: pandas is not wrong for Finance's analysis, it is wrong as the</a:t>
            </a:r>
          </a:p>
          <a:p>
            <a:r>
              <a:t>place the official number is born.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Each pair reads one sentence aloud. Accept any tool for any job when the reason</a:t>
            </a:r>
          </a:p>
          <a:p>
            <a:r>
              <a:t>names who must trust, rerun or audit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Random call-outs, about two minutes per question with the follow-up. The</a:t>
            </a:r>
          </a:p>
          <a:p>
            <a:r>
              <a:t>answers in one breath are in the day sheet; the full answers are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Two learners per question: one answers, one adds the follow-up the</a:t>
            </a:r>
          </a:p>
          <a:p>
            <a:r>
              <a:t>interviewer would ask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These are the morning's traps asked as an interviewer asks them. A strong</a:t>
            </a:r>
          </a:p>
          <a:p>
            <a:r>
              <a:t>answer names the default, the check and the fix,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Model it once aloud in under a minute. The interviewer is listening for the</a:t>
            </a:r>
          </a:p>
          <a:p>
            <a:r>
              <a:t>reason naming a person and a risk, not a feature list.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sentence and crux (5), the Kahoot (12), tomorrow's ask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Every number carries its definition; that is the Week 1 habit</a:t>
            </a:r>
          </a:p>
          <a:p>
            <a:r>
              <a:t>still at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Have the room read them aloud once. The cheat sheet prints them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after the Kahoot. Leave the question open; Friday answers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21.png"/><Relationship Id="rId7"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Monday table, and the honest tool choice</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“You did the tree in plain Python in Week 1, in SQL on Monday. Do it a third way now, and tell me honestly which tool you would pick for which job.”</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556758"/>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556758"/>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556758"/>
            <a:ext cx="478631" cy="185166"/>
          </a:xfrm>
          <a:prstGeom prst="rect">
            <a:avLst/>
          </a:prstGeom>
          <a:noFill/>
        </p:spPr>
        <p:txBody>
          <a:bodyPr wrap="square" anchor="t" lIns="0" rIns="0" tIns="0" bIns="0">
            <a:spAutoFit/>
          </a:bodyPr>
          <a:lstStyle/>
          <a:p>
            <a:pPr algn="l"/>
            <a:r>
              <a:rPr sz="900" b="0" i="0">
                <a:solidFill>
                  <a:srgbClr val="FFFFFF"/>
                </a:solidFill>
                <a:latin typeface="Calibri"/>
              </a:rPr>
              <a:t>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Monday table, and the honest tool choice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whole Monday table, unguided, with every check from the morning built in.</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growth team's table, end to 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each one a morning round made harder, and one run that rebuilds it all.</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"One table, one row per customer, refreshed every Monday: how recently, how often, how much, the segment, whether the monsoon sale reached them, and the flags. And one view of it by month we can put on a slide."</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spine</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340 customers, recency from the data's last date.</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exposure</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First touch per customer, merged with validate.</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flags</a:t>
            </a:r>
          </a:p>
        </p:txBody>
      </p:sp>
      <p:sp>
        <p:nvSpPr>
          <p:cNvPr id="29" name="TextBox 28"/>
          <p:cNvSpPr txBox="1"/>
          <p:nvPr/>
        </p:nvSpPr>
        <p:spPr>
          <a:xfrm>
            <a:off x="5220492" y="4823206"/>
            <a:ext cx="1750710" cy="531876"/>
          </a:xfrm>
          <a:prstGeom prst="rect">
            <a:avLst/>
          </a:prstGeom>
          <a:noFill/>
        </p:spPr>
        <p:txBody>
          <a:bodyPr wrap="square" anchor="t" lIns="0" rIns="0" tIns="0" bIns="0">
            <a:spAutoFit/>
          </a:bodyPr>
          <a:lstStyle/>
          <a:p>
            <a:pPr algn="l"/>
            <a:r>
              <a:rPr sz="1000" b="0" i="0">
                <a:solidFill>
                  <a:srgbClr val="6B6690"/>
                </a:solidFill>
                <a:latin typeface="Calibri"/>
              </a:rPr>
              <a:t>Lapsed at 60 days; falling twice in Q2, beside Wednesday's LAG.</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view</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Spend by month and segment, aggfunc stated.</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refresh</a:t>
            </a:r>
          </a:p>
        </p:txBody>
      </p:sp>
      <p:sp>
        <p:nvSpPr>
          <p:cNvPr id="39" name="TextBox 38"/>
          <p:cNvSpPr txBox="1"/>
          <p:nvPr/>
        </p:nvSpPr>
        <p:spPr>
          <a:xfrm>
            <a:off x="9746040" y="4823206"/>
            <a:ext cx="1750710" cy="366776"/>
          </a:xfrm>
          <a:prstGeom prst="rect">
            <a:avLst/>
          </a:prstGeom>
          <a:noFill/>
        </p:spPr>
        <p:txBody>
          <a:bodyPr wrap="square" anchor="t" lIns="0" rIns="0" tIns="0" bIns="0">
            <a:spAutoFit/>
          </a:bodyPr>
          <a:lstStyle/>
          <a:p>
            <a:pPr algn="l"/>
            <a:r>
              <a:rPr sz="1000" b="0" i="0">
                <a:solidFill>
                  <a:srgbClr val="CFC9EE"/>
                </a:solidFill>
                <a:latin typeface="Calibri"/>
              </a:rPr>
              <a:t>One function, two runs, the same table.</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2" name="Oval 4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4" name="Oval 4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6" name="Oval 4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refresh, drawn as one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morning did, inside one function with its guards.</a:t>
            </a:r>
          </a:p>
        </p:txBody>
      </p:sp>
      <p:pic>
        <p:nvPicPr>
          <p:cNvPr id="9" name="mermaid diagram" descr="a35d53207efb876a.png"/>
          <p:cNvPicPr>
            <a:picLocks noChangeAspect="1"/>
          </p:cNvPicPr>
          <p:nvPr/>
        </p:nvPicPr>
        <p:blipFill>
          <a:blip r:embed="rId6"/>
          <a:stretch>
            <a:fillRect/>
          </a:stretch>
        </p:blipFill>
        <p:spPr>
          <a:xfrm>
            <a:off x="530352" y="1956816"/>
            <a:ext cx="11130991" cy="1588340"/>
          </a:xfrm>
          <a:prstGeom prst="rect">
            <a:avLst/>
          </a:prstGeom>
        </p:spPr>
      </p:pic>
      <p:sp>
        <p:nvSpPr>
          <p:cNvPr id="10" name="Rounded Rectangle 9"/>
          <p:cNvSpPr/>
          <p:nvPr/>
        </p:nvSpPr>
        <p:spPr>
          <a:xfrm>
            <a:off x="530352" y="369146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941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03880"/>
            <a:ext cx="237744" cy="237744"/>
          </a:xfrm>
          <a:prstGeom prst="rect">
            <a:avLst/>
          </a:prstGeom>
        </p:spPr>
      </p:pic>
      <p:sp>
        <p:nvSpPr>
          <p:cNvPr id="13" name="TextBox 12"/>
          <p:cNvSpPr txBox="1"/>
          <p:nvPr/>
        </p:nvSpPr>
        <p:spPr>
          <a:xfrm>
            <a:off x="1399031" y="38377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57220"/>
            <a:ext cx="9987991" cy="423672"/>
          </a:xfrm>
          <a:prstGeom prst="rect">
            <a:avLst/>
          </a:prstGeom>
          <a:noFill/>
        </p:spPr>
        <p:txBody>
          <a:bodyPr wrap="square" anchor="t" lIns="0" rIns="0" tIns="0" bIns="0">
            <a:spAutoFit/>
          </a:bodyPr>
          <a:lstStyle/>
          <a:p>
            <a:r>
              <a:rPr sz="1500" b="0" i="0">
                <a:solidFill>
                  <a:srgbClr val="1A1440"/>
                </a:solidFill>
                <a:latin typeface="Calibri"/>
              </a:rPr>
              <a:t>A refresh that cannot fail loudly will one day ship a wrong table quietly.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numbers the table has to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self-check every learner reaches before posting the letters.</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adds to the book</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111</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WIN-BACK LIST</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as of 28 September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9" name="Oval 2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1" name="Oval 3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room's wrong answers, each traced to the default that produced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defaults, four wrong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trap this week was a default nobody wrote down.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96199"/>
                <a:gridCol w="3401635"/>
                <a:gridCol w="363315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default behind it</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369824">
                <a:tc>
                  <a:txBody>
                    <a:bodyPr/>
                    <a:lstStyle/>
                    <a:p>
                      <a:r>
                        <a:rPr sz="1400" b="0" i="0">
                          <a:solidFill>
                            <a:srgbClr val="1A1440"/>
                          </a:solidFill>
                          <a:latin typeface="Calibri"/>
                        </a:rPr>
                        <a:t>166 on the win-back list</a:t>
                      </a:r>
                    </a:p>
                  </a:txBody>
                  <a:tcPr marL="101600" marR="101600" marT="38100" marB="38100" anchor="ctr">
                    <a:solidFill>
                      <a:srgbClr val="FFFFFF"/>
                    </a:solidFill>
                  </a:tcPr>
                </a:tc>
                <a:tc>
                  <a:txBody>
                    <a:bodyPr/>
                    <a:lstStyle/>
                    <a:p>
                      <a:r>
                        <a:rPr sz="1400" b="0" i="0">
                          <a:solidFill>
                            <a:srgbClr val="1A1440"/>
                          </a:solidFill>
                          <a:latin typeface="Calibri"/>
                        </a:rPr>
                        <a:t>recency from the wall clock</a:t>
                      </a:r>
                    </a:p>
                  </a:txBody>
                  <a:tcPr marL="101600" marR="101600" marT="38100" marB="38100" anchor="ctr">
                    <a:solidFill>
                      <a:srgbClr val="FFFFFF"/>
                    </a:solidFill>
                  </a:tcPr>
                </a:tc>
                <a:tc>
                  <a:txBody>
                    <a:bodyPr/>
                    <a:lstStyle/>
                    <a:p>
                      <a:r>
                        <a:rPr sz="1400" b="0" i="0">
                          <a:solidFill>
                            <a:srgbClr val="1A1440"/>
                          </a:solidFill>
                          <a:latin typeface="Calibri"/>
                        </a:rPr>
                        <a:t>smallest recency is 0</a:t>
                      </a:r>
                    </a:p>
                  </a:txBody>
                  <a:tcPr marL="101600" marR="101600" marT="38100" marB="38100" anchor="ctr">
                    <a:solidFill>
                      <a:srgbClr val="FFFFFF"/>
                    </a:solidFill>
                  </a:tcPr>
                </a:tc>
              </a:tr>
              <a:tr h="369824">
                <a:tc>
                  <a:txBody>
                    <a:bodyPr/>
                    <a:lstStyle/>
                    <a:p>
                      <a:r>
                        <a:rPr sz="1400" b="0" i="0">
                          <a:solidFill>
                            <a:srgbClr val="1A1440"/>
                          </a:solidFill>
                          <a:latin typeface="Calibri"/>
                        </a:rPr>
                        <a:t>reach 107, conversion 100 percent</a:t>
                      </a:r>
                    </a:p>
                  </a:txBody>
                  <a:tcPr marL="101600" marR="101600" marT="38100" marB="38100" anchor="ctr">
                    <a:solidFill>
                      <a:srgbClr val="F4F2FA"/>
                    </a:solidFill>
                  </a:tcPr>
                </a:tc>
                <a:tc>
                  <a:txBody>
                    <a:bodyPr/>
                    <a:lstStyle/>
                    <a:p>
                      <a:r>
                        <a:rPr sz="1400" b="0" i="0">
                          <a:solidFill>
                            <a:srgbClr val="1A1440"/>
                          </a:solidFill>
                          <a:latin typeface="Calibri"/>
                        </a:rPr>
                        <a:t>groupby(dropna=True)</a:t>
                      </a:r>
                    </a:p>
                  </a:txBody>
                  <a:tcPr marL="101600" marR="101600" marT="38100" marB="38100" anchor="ctr">
                    <a:solidFill>
                      <a:srgbClr val="F4F2FA"/>
                    </a:solidFill>
                  </a:tcPr>
                </a:tc>
                <a:tc>
                  <a:txBody>
                    <a:bodyPr/>
                    <a:lstStyle/>
                    <a:p>
                      <a:r>
                        <a:rPr sz="1400" b="0" i="0">
                          <a:solidFill>
                            <a:srgbClr val="1A1440"/>
                          </a:solidFill>
                          <a:latin typeface="Calibri"/>
                        </a:rPr>
                        <a:t>groups add back to rows</a:t>
                      </a:r>
                    </a:p>
                  </a:txBody>
                  <a:tcPr marL="101600" marR="101600" marT="38100" marB="38100" anchor="ctr">
                    <a:solidFill>
                      <a:srgbClr val="F4F2FA"/>
                    </a:solidFill>
                  </a:tcPr>
                </a:tc>
              </a:tr>
              <a:tr h="369824">
                <a:tc>
                  <a:txBody>
                    <a:bodyPr/>
                    <a:lstStyle/>
                    <a:p>
                      <a:r>
                        <a:rPr sz="1400" b="0" i="0">
                          <a:solidFill>
                            <a:srgbClr val="1A1440"/>
                          </a:solidFill>
                          <a:latin typeface="Calibri"/>
                        </a:rPr>
                        <a:t>spend too big after the merge</a:t>
                      </a:r>
                    </a:p>
                  </a:txBody>
                  <a:tcPr marL="101600" marR="101600" marT="38100" marB="38100" anchor="ctr">
                    <a:solidFill>
                      <a:srgbClr val="FFFFFF"/>
                    </a:solidFill>
                  </a:tcPr>
                </a:tc>
                <a:tc>
                  <a:txBody>
                    <a:bodyPr/>
                    <a:lstStyle/>
                    <a:p>
                      <a:r>
                        <a:rPr sz="1400" b="0" i="0">
                          <a:solidFill>
                            <a:srgbClr val="1A1440"/>
                          </a:solidFill>
                          <a:latin typeface="Calibri"/>
                        </a:rPr>
                        <a:t>merge(validate=None)</a:t>
                      </a:r>
                    </a:p>
                  </a:txBody>
                  <a:tcPr marL="101600" marR="101600" marT="38100" marB="38100" anchor="ctr">
                    <a:solidFill>
                      <a:srgbClr val="FFFFFF"/>
                    </a:solidFill>
                  </a:tcPr>
                </a:tc>
                <a:tc>
                  <a:txBody>
                    <a:bodyPr/>
                    <a:lstStyle/>
                    <a:p>
                      <a:r>
                        <a:rPr sz="1400" b="0" i="0">
                          <a:solidFill>
                            <a:srgbClr val="1A1440"/>
                          </a:solidFill>
                          <a:latin typeface="Calibri"/>
                        </a:rPr>
                        <a:t>rows in equal rows out</a:t>
                      </a:r>
                    </a:p>
                  </a:txBody>
                  <a:tcPr marL="101600" marR="101600" marT="38100" marB="38100" anchor="ctr">
                    <a:solidFill>
                      <a:srgbClr val="FFFFFF"/>
                    </a:solidFill>
                  </a:tcPr>
                </a:tc>
              </a:tr>
              <a:tr h="369824">
                <a:tc>
                  <a:txBody>
                    <a:bodyPr/>
                    <a:lstStyle/>
                    <a:p>
                      <a:r>
                        <a:rPr sz="1400" b="0" i="0">
                          <a:solidFill>
                            <a:srgbClr val="1A1440"/>
                          </a:solidFill>
                          <a:latin typeface="Calibri"/>
                        </a:rPr>
                        <a:t>Retail-Plus down 18 percent</a:t>
                      </a:r>
                    </a:p>
                  </a:txBody>
                  <a:tcPr marL="101600" marR="101600" marT="38100" marB="38100" anchor="ctr">
                    <a:solidFill>
                      <a:srgbClr val="F4F2FA"/>
                    </a:solidFill>
                  </a:tcPr>
                </a:tc>
                <a:tc>
                  <a:txBody>
                    <a:bodyPr/>
                    <a:lstStyle/>
                    <a:p>
                      <a:r>
                        <a:rPr sz="1400" b="0" i="0">
                          <a:solidFill>
                            <a:srgbClr val="1A1440"/>
                          </a:solidFill>
                          <a:latin typeface="Calibri"/>
                        </a:rPr>
                        <a:t>pivot_table(aggfunc="mean")</a:t>
                      </a:r>
                    </a:p>
                  </a:txBody>
                  <a:tcPr marL="101600" marR="101600" marT="38100" marB="38100" anchor="ctr">
                    <a:solidFill>
                      <a:srgbClr val="F4F2FA"/>
                    </a:solidFill>
                  </a:tcPr>
                </a:tc>
                <a:tc>
                  <a:txBody>
                    <a:bodyPr/>
                    <a:lstStyle/>
                    <a:p>
                      <a:r>
                        <a:rPr sz="1400" b="0" i="0">
                          <a:solidFill>
                            <a:srgbClr val="1A1440"/>
                          </a:solidFill>
                          <a:latin typeface="Calibri"/>
                        </a:rPr>
                        <a:t>grand total equals the source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1,000 customers in, 1,120 rows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different team's customer table, a campaign feed merged onto it on Monday.</a:t>
            </a:r>
          </a:p>
        </p:txBody>
      </p:sp>
      <p:pic>
        <p:nvPicPr>
          <p:cNvPr id="9" name="mermaid diagram" descr="a01f555d982bf63b.png"/>
          <p:cNvPicPr>
            <a:picLocks noChangeAspect="1"/>
          </p:cNvPicPr>
          <p:nvPr/>
        </p:nvPicPr>
        <p:blipFill>
          <a:blip r:embed="rId5"/>
          <a:stretch>
            <a:fillRect/>
          </a:stretch>
        </p:blipFill>
        <p:spPr>
          <a:xfrm>
            <a:off x="2695422" y="1956816"/>
            <a:ext cx="6800850" cy="871537"/>
          </a:xfrm>
          <a:prstGeom prst="rect">
            <a:avLst/>
          </a:prstGeom>
        </p:spPr>
      </p:pic>
      <p:sp>
        <p:nvSpPr>
          <p:cNvPr id="10" name="Rounded Rectangle 9"/>
          <p:cNvSpPr/>
          <p:nvPr/>
        </p:nvSpPr>
        <p:spPr>
          <a:xfrm>
            <a:off x="530352" y="2974657"/>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happened, and which argument would have caught it? a) 120 new customers arrived, and nothing needs catching; b) the feed repeats some customer keys, and validate="one_to_one" raises; c) the left merge adds the feed's unmatched rows, and how="inner" fixes it; d) pandas duplicated rows at random, and drop_duplicates() fixes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repeated keys, and validate catches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left merge never adds customers; it multiplies the rows of customers whose key repeats.</a:t>
            </a:r>
          </a:p>
        </p:txBody>
      </p:sp>
      <p:pic>
        <p:nvPicPr>
          <p:cNvPr id="9" name="mermaid diagram" descr="18958c8c18fd7910.png"/>
          <p:cNvPicPr>
            <a:picLocks noChangeAspect="1"/>
          </p:cNvPicPr>
          <p:nvPr/>
        </p:nvPicPr>
        <p:blipFill>
          <a:blip r:embed="rId5"/>
          <a:stretch>
            <a:fillRect/>
          </a:stretch>
        </p:blipFill>
        <p:spPr>
          <a:xfrm>
            <a:off x="1745303" y="1956816"/>
            <a:ext cx="870108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Option c confuses left with outer: a left merge keeps the left table's keys and never adds unmatched right rows.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question in three tools, and a written answer to Kavya about which tool does which job.</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node that moved, asked a third time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member, Q1 against Q2: Week 1 in Python, Monday in SQL, now pandas.</a:t>
            </a:r>
          </a:p>
        </p:txBody>
      </p:sp>
      <p:pic>
        <p:nvPicPr>
          <p:cNvPr id="9" name="mermaid diagram" descr="f3a3c15a8c607a8e.png"/>
          <p:cNvPicPr>
            <a:picLocks noChangeAspect="1"/>
          </p:cNvPicPr>
          <p:nvPr/>
        </p:nvPicPr>
        <p:blipFill>
          <a:blip r:embed="rId5"/>
          <a:stretch>
            <a:fillRect/>
          </a:stretch>
        </p:blipFill>
        <p:spPr>
          <a:xfrm>
            <a:off x="1945328" y="1956816"/>
            <a:ext cx="8301037" cy="271462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Plain Python: every step visible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accumulator from Week 1, with a set for the members so each counts once.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orders_n, seen = {"Q1": 0, "Q2": 0}, {"Q1": set(), "Q2": set()}</a:t>
            </a:r>
          </a:p>
          <a:p>
            <a:pPr>
              <a:spcAft>
                <a:spcPts val="200"/>
              </a:spcAft>
            </a:pPr>
            <a:r>
              <a:rPr sz="1400" b="0" i="0">
                <a:solidFill>
                  <a:srgbClr val="E4E1F1"/>
                </a:solidFill>
                <a:latin typeface="Consolas"/>
              </a:rPr>
              <a:t>for r in rows:</a:t>
            </a:r>
          </a:p>
          <a:p>
            <a:pPr>
              <a:spcAft>
                <a:spcPts val="200"/>
              </a:spcAft>
            </a:pPr>
            <a:r>
              <a:rPr sz="1400" b="0" i="0">
                <a:solidFill>
                  <a:srgbClr val="E4E1F1"/>
                </a:solidFill>
                <a:latin typeface="Consolas"/>
              </a:rPr>
              <a:t>    orders_n[r["quarter"]] += 1</a:t>
            </a:r>
          </a:p>
          <a:p>
            <a:pPr>
              <a:spcAft>
                <a:spcPts val="200"/>
              </a:spcAft>
            </a:pPr>
            <a:r>
              <a:rPr sz="1400" b="0" i="0">
                <a:solidFill>
                  <a:srgbClr val="E4E1F1"/>
                </a:solidFill>
                <a:latin typeface="Consolas"/>
              </a:rPr>
              <a:t>    seen[r["quarter"]].add(r["customer_id"])</a:t>
            </a:r>
          </a:p>
          <a:p>
            <a:pPr>
              <a:spcAft>
                <a:spcPts val="200"/>
              </a:spcAft>
            </a:pPr>
            <a:r>
              <a:rPr sz="1400" b="0" i="0">
                <a:solidFill>
                  <a:srgbClr val="E4E1F1"/>
                </a:solidFill>
                <a:latin typeface="Consolas"/>
              </a:rPr>
              <a:t>{q: orders_n[q] / len(seen[q]) for q in ("Q1", "Q2")}</a:t>
            </a:r>
          </a:p>
        </p:txBody>
      </p:sp>
      <p:sp>
        <p:nvSpPr>
          <p:cNvPr id="14" name="Rounded Rectangle 13"/>
          <p:cNvSpPr/>
          <p:nvPr/>
        </p:nvSpPr>
        <p:spPr>
          <a:xfrm>
            <a:off x="530352" y="38409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1732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282948"/>
            <a:ext cx="237744" cy="237744"/>
          </a:xfrm>
          <a:prstGeom prst="rect">
            <a:avLst/>
          </a:prstGeom>
        </p:spPr>
      </p:pic>
      <p:sp>
        <p:nvSpPr>
          <p:cNvPr id="17" name="TextBox 16"/>
          <p:cNvSpPr txBox="1"/>
          <p:nvPr/>
        </p:nvSpPr>
        <p:spPr>
          <a:xfrm>
            <a:off x="1399031" y="39872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206748"/>
            <a:ext cx="9987991" cy="682752"/>
          </a:xfrm>
          <a:prstGeom prst="rect">
            <a:avLst/>
          </a:prstGeom>
          <a:noFill/>
        </p:spPr>
        <p:txBody>
          <a:bodyPr wrap="square" anchor="t" lIns="0" rIns="0" tIns="0" bIns="0">
            <a:spAutoFit/>
          </a:bodyPr>
          <a:lstStyle/>
          <a:p>
            <a:r>
              <a:rPr sz="1500" b="0" i="0">
                <a:solidFill>
                  <a:srgbClr val="1A1440"/>
                </a:solidFill>
                <a:latin typeface="Calibri"/>
              </a:rPr>
              <a:t>Plain Python is the tool you choose when a reader must follow every step, and the one that grows slowest when the question changes.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SQL: where the data lives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number as a statement the warehouse runs and Finance can rerun.</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o.quarter, count(*) AS orders,</a:t>
            </a:r>
          </a:p>
          <a:p>
            <a:pPr>
              <a:spcAft>
                <a:spcPts val="200"/>
              </a:spcAft>
            </a:pPr>
            <a:r>
              <a:rPr sz="1400" b="0" i="0">
                <a:solidFill>
                  <a:srgbClr val="E4E1F1"/>
                </a:solidFill>
                <a:latin typeface="Consolas"/>
              </a:rPr>
              <a:t>       count(DISTINCT o.customer_id) AS members,</a:t>
            </a:r>
          </a:p>
          <a:p>
            <a:pPr>
              <a:spcAft>
                <a:spcPts val="200"/>
              </a:spcAft>
            </a:pPr>
            <a:r>
              <a:rPr sz="1400" b="0" i="0">
                <a:solidFill>
                  <a:srgbClr val="E4E1F1"/>
                </a:solidFill>
                <a:latin typeface="Consolas"/>
              </a:rPr>
              <a:t>       round(count(*)::numeric / count(DISTINCT o.customer_id), 3) AS per_member</a:t>
            </a:r>
          </a:p>
          <a:p>
            <a:pPr>
              <a:spcAft>
                <a:spcPts val="200"/>
              </a:spcAft>
            </a:pPr>
            <a:r>
              <a:rPr sz="1400" b="0" i="0">
                <a:solidFill>
                  <a:srgbClr val="E4E1F1"/>
                </a:solidFill>
                <a:latin typeface="Consolas"/>
              </a:rPr>
              <a:t>FROM orders o JOIN customers c ON c.customer_id = o.customer_id</a:t>
            </a:r>
          </a:p>
          <a:p>
            <a:pPr>
              <a:spcAft>
                <a:spcPts val="200"/>
              </a:spcAft>
            </a:pPr>
            <a:r>
              <a:rPr sz="1400" b="0" i="0">
                <a:solidFill>
                  <a:srgbClr val="E4E1F1"/>
                </a:solidFill>
                <a:latin typeface="Consolas"/>
              </a:rPr>
              <a:t>WHERE c.segment = 'Retail-Plus'</a:t>
            </a:r>
          </a:p>
          <a:p>
            <a:pPr>
              <a:spcAft>
                <a:spcPts val="200"/>
              </a:spcAft>
            </a:pPr>
            <a:r>
              <a:rPr sz="1400" b="0" i="0">
                <a:solidFill>
                  <a:srgbClr val="E4E1F1"/>
                </a:solidFill>
                <a:latin typeface="Consolas"/>
              </a:rPr>
              <a:t>GROUP BY o.quarter ORDER BY o.quarter;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8" name="Oval 1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0" name="Oval 1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pandas: the analyst's bench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chain, and the same aggregation named as it would be in SQL.</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(df[df["segment"] == "Retail-Plus"]</a:t>
            </a:r>
          </a:p>
          <a:p>
            <a:pPr>
              <a:spcAft>
                <a:spcPts val="200"/>
              </a:spcAft>
            </a:pPr>
            <a:r>
              <a:rPr sz="1400" b="0" i="0">
                <a:solidFill>
                  <a:srgbClr val="E4E1F1"/>
                </a:solidFill>
                <a:latin typeface="Consolas"/>
              </a:rPr>
              <a:t>   .groupby("quarter")</a:t>
            </a:r>
          </a:p>
          <a:p>
            <a:pPr>
              <a:spcAft>
                <a:spcPts val="200"/>
              </a:spcAft>
            </a:pPr>
            <a:r>
              <a:rPr sz="1400" b="0" i="0">
                <a:solidFill>
                  <a:srgbClr val="E4E1F1"/>
                </a:solidFill>
                <a:latin typeface="Consolas"/>
              </a:rPr>
              <a:t>   .agg(orders=("order_id", "count"), members=("customer_id", "nunique")))</a:t>
            </a:r>
          </a:p>
        </p:txBody>
      </p:sp>
      <p:sp>
        <p:nvSpPr>
          <p:cNvPr id="14" name="Rounded Rectangle 13"/>
          <p:cNvSpPr/>
          <p:nvPr/>
        </p:nvSpPr>
        <p:spPr>
          <a:xfrm>
            <a:off x="530352" y="333603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538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648456"/>
            <a:ext cx="237744" cy="237744"/>
          </a:xfrm>
          <a:prstGeom prst="rect">
            <a:avLst/>
          </a:prstGeom>
        </p:spPr>
      </p:pic>
      <p:sp>
        <p:nvSpPr>
          <p:cNvPr id="17" name="TextBox 16"/>
          <p:cNvSpPr txBox="1"/>
          <p:nvPr/>
        </p:nvSpPr>
        <p:spPr>
          <a:xfrm>
            <a:off x="1399031" y="34823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701795"/>
            <a:ext cx="9987991" cy="423672"/>
          </a:xfrm>
          <a:prstGeom prst="rect">
            <a:avLst/>
          </a:prstGeom>
          <a:noFill/>
        </p:spPr>
        <p:txBody>
          <a:bodyPr wrap="square" anchor="t" lIns="0" rIns="0" tIns="0" bIns="0">
            <a:spAutoFit/>
          </a:bodyPr>
          <a:lstStyle/>
          <a:p>
            <a:r>
              <a:rPr sz="1500" b="0" i="0">
                <a:solidFill>
                  <a:srgbClr val="1A1440"/>
                </a:solidFill>
                <a:latin typeface="Calibri"/>
              </a:rPr>
              <a:t>count counts rows and nunique counts distinct values; members are distinct, orders are rows.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tools, one number: 2.363 to 1.842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members ordered 22 percent less often in Q2, and every tool says so.</a:t>
            </a:r>
          </a:p>
        </p:txBody>
      </p:sp>
      <p:pic>
        <p:nvPicPr>
          <p:cNvPr id="9" name="mermaid diagram" descr="dff2c7bc4b751f4b.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Q1 is 215 orders over 91 members; Q2 is 140 orders over 76 members.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tool would you refuse?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Monday revenue number, the one Anand's analyst audits.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Plain Python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script with a loop on a laptop.</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SQL view</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Defined in the warehouse, rerun by anyone.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ble_e38a0cea5ee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pandas notebook</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analyst's bench, run by hand.</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eet_bee6d428faf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spreadsheet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Exported every Monday and edited.</a:t>
            </a:r>
          </a:p>
        </p:txBody>
      </p:sp>
      <p:sp>
        <p:nvSpPr>
          <p:cNvPr id="33" name="Rounded Rectangle 32"/>
          <p:cNvSpPr/>
          <p:nvPr/>
        </p:nvSpPr>
        <p:spPr>
          <a:xfrm>
            <a:off x="530352" y="41041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42321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42230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should Finance's Monday number be computed, and which of the others would you refuse outright? a) plain Python, refusing SQL; b) a SQL view, refusing the spreadsheet; c) pandas, refusing SQL; d) the spreadsheet, refusing plain Python.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0" name="Oval 39"/>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2" name="Oval 4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4" name="Oval 43"/>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SQL view, and never a hand-edited copy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number Finance audits lives where Finance can rerun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103990"/>
                <a:gridCol w="2690087"/>
                <a:gridCol w="6336913"/>
              </a:tblGrid>
              <a:tr h="369824">
                <a:tc>
                  <a:txBody>
                    <a:bodyPr/>
                    <a:lstStyle/>
                    <a:p>
                      <a:r>
                        <a:rPr sz="1450" b="1" i="0">
                          <a:solidFill>
                            <a:srgbClr val="FFFFFF"/>
                          </a:solidFill>
                          <a:latin typeface="Calibri"/>
                        </a:rPr>
                        <a:t>Tool</a:t>
                      </a:r>
                    </a:p>
                  </a:txBody>
                  <a:tcPr marL="101600" marR="101600" marT="38100" marB="38100" anchor="ctr">
                    <a:solidFill>
                      <a:srgbClr val="1A0F5C"/>
                    </a:solidFill>
                  </a:tcPr>
                </a:tc>
                <a:tc>
                  <a:txBody>
                    <a:bodyPr/>
                    <a:lstStyle/>
                    <a:p>
                      <a:r>
                        <a:rPr sz="1450" b="1" i="0">
                          <a:solidFill>
                            <a:srgbClr val="FFFFFF"/>
                          </a:solidFill>
                          <a:latin typeface="Calibri"/>
                        </a:rPr>
                        <a:t>For Finance's number</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369824">
                <a:tc>
                  <a:txBody>
                    <a:bodyPr/>
                    <a:lstStyle/>
                    <a:p>
                      <a:r>
                        <a:rPr sz="1400" b="0" i="0">
                          <a:solidFill>
                            <a:srgbClr val="1A1440"/>
                          </a:solidFill>
                          <a:latin typeface="Calibri"/>
                        </a:rPr>
                        <a:t>SQL view</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c>
                  <a:txBody>
                    <a:bodyPr/>
                    <a:lstStyle/>
                    <a:p>
                      <a:r>
                        <a:rPr sz="1400" b="0" i="0">
                          <a:solidFill>
                            <a:srgbClr val="1A1440"/>
                          </a:solidFill>
                          <a:latin typeface="Calibri"/>
                        </a:rPr>
                        <a:t>runs where the data lives, anyone can rerun and audit it</a:t>
                      </a:r>
                    </a:p>
                  </a:txBody>
                  <a:tcPr marL="101600" marR="101600" marT="38100" marB="38100" anchor="ctr">
                    <a:solidFill>
                      <a:srgbClr val="FFFFFF"/>
                    </a:solidFill>
                  </a:tcPr>
                </a:tc>
              </a:tr>
              <a:tr h="369824">
                <a:tc>
                  <a:txBody>
                    <a:bodyPr/>
                    <a:lstStyle/>
                    <a:p>
                      <a:r>
                        <a:rPr sz="1400" b="0" i="0">
                          <a:solidFill>
                            <a:srgbClr val="1A1440"/>
                          </a:solidFill>
                          <a:latin typeface="Calibri"/>
                        </a:rPr>
                        <a:t>pandas notebook</a:t>
                      </a:r>
                    </a:p>
                  </a:txBody>
                  <a:tcPr marL="101600" marR="101600" marT="38100" marB="38100" anchor="ctr">
                    <a:solidFill>
                      <a:srgbClr val="F4F2FA"/>
                    </a:solidFill>
                  </a:tcPr>
                </a:tc>
                <a:tc>
                  <a:txBody>
                    <a:bodyPr/>
                    <a:lstStyle/>
                    <a:p>
                      <a:r>
                        <a:rPr sz="1400" b="0" i="0">
                          <a:solidFill>
                            <a:srgbClr val="1A1440"/>
                          </a:solidFill>
                          <a:latin typeface="Calibri"/>
                        </a:rPr>
                        <a:t>no, it iterates</a:t>
                      </a:r>
                    </a:p>
                  </a:txBody>
                  <a:tcPr marL="101600" marR="101600" marT="38100" marB="38100" anchor="ctr">
                    <a:solidFill>
                      <a:srgbClr val="F4F2FA"/>
                    </a:solidFill>
                  </a:tcPr>
                </a:tc>
                <a:tc>
                  <a:txBody>
                    <a:bodyPr/>
                    <a:lstStyle/>
                    <a:p>
                      <a:r>
                        <a:rPr sz="1400" b="0" i="0">
                          <a:solidFill>
                            <a:srgbClr val="1A1440"/>
                          </a:solidFill>
                          <a:latin typeface="Calibri"/>
                        </a:rPr>
                        <a:t>a copy on one laptop, rerun by hand</a:t>
                      </a:r>
                    </a:p>
                  </a:txBody>
                  <a:tcPr marL="101600" marR="101600" marT="38100" marB="38100" anchor="ctr">
                    <a:solidFill>
                      <a:srgbClr val="F4F2FA"/>
                    </a:solidFill>
                  </a:tcPr>
                </a:tc>
              </a:tr>
              <a:tr h="369824">
                <a:tc>
                  <a:txBody>
                    <a:bodyPr/>
                    <a:lstStyle/>
                    <a:p>
                      <a:r>
                        <a:rPr sz="1400" b="0" i="0">
                          <a:solidFill>
                            <a:srgbClr val="1A1440"/>
                          </a:solidFill>
                          <a:latin typeface="Calibri"/>
                        </a:rPr>
                        <a:t>plain Python</a:t>
                      </a:r>
                    </a:p>
                  </a:txBody>
                  <a:tcPr marL="101600" marR="101600" marT="38100" marB="38100" anchor="ctr">
                    <a:solidFill>
                      <a:srgbClr val="FFFFFF"/>
                    </a:solidFill>
                  </a:tcPr>
                </a:tc>
                <a:tc>
                  <a:txBody>
                    <a:bodyPr/>
                    <a:lstStyle/>
                    <a:p>
                      <a:r>
                        <a:rPr sz="1400" b="0" i="0">
                          <a:solidFill>
                            <a:srgbClr val="1A1440"/>
                          </a:solidFill>
                          <a:latin typeface="Calibri"/>
                        </a:rPr>
                        <a:t>no, it explains</a:t>
                      </a:r>
                    </a:p>
                  </a:txBody>
                  <a:tcPr marL="101600" marR="101600" marT="38100" marB="38100" anchor="ctr">
                    <a:solidFill>
                      <a:srgbClr val="FFFFFF"/>
                    </a:solidFill>
                  </a:tcPr>
                </a:tc>
                <a:tc>
                  <a:txBody>
                    <a:bodyPr/>
                    <a:lstStyle/>
                    <a:p>
                      <a:r>
                        <a:rPr sz="1400" b="0" i="0">
                          <a:solidFill>
                            <a:srgbClr val="1A1440"/>
                          </a:solidFill>
                          <a:latin typeface="Calibri"/>
                        </a:rPr>
                        <a:t>a copy, and slow to change</a:t>
                      </a:r>
                    </a:p>
                  </a:txBody>
                  <a:tcPr marL="101600" marR="101600" marT="38100" marB="38100" anchor="ctr">
                    <a:solidFill>
                      <a:srgbClr val="FFFFFF"/>
                    </a:solidFill>
                  </a:tcPr>
                </a:tc>
              </a:tr>
              <a:tr h="369824">
                <a:tc>
                  <a:txBody>
                    <a:bodyPr/>
                    <a:lstStyle/>
                    <a:p>
                      <a:r>
                        <a:rPr sz="1400" b="0" i="0">
                          <a:solidFill>
                            <a:srgbClr val="1A1440"/>
                          </a:solidFill>
                          <a:latin typeface="Calibri"/>
                        </a:rPr>
                        <a:t>hand-edited sheet</a:t>
                      </a:r>
                    </a:p>
                  </a:txBody>
                  <a:tcPr marL="101600" marR="101600" marT="38100" marB="38100" anchor="ctr">
                    <a:solidFill>
                      <a:srgbClr val="F4F2FA"/>
                    </a:solidFill>
                  </a:tcPr>
                </a:tc>
                <a:tc>
                  <a:txBody>
                    <a:bodyPr/>
                    <a:lstStyle/>
                    <a:p>
                      <a:r>
                        <a:rPr sz="1400" b="0" i="0">
                          <a:solidFill>
                            <a:srgbClr val="1A1440"/>
                          </a:solidFill>
                          <a:latin typeface="Calibri"/>
                        </a:rPr>
                        <a:t>refuse</a:t>
                      </a:r>
                    </a:p>
                  </a:txBody>
                  <a:tcPr marL="101600" marR="101600" marT="38100" marB="38100" anchor="ctr">
                    <a:solidFill>
                      <a:srgbClr val="F4F2FA"/>
                    </a:solidFill>
                  </a:tcPr>
                </a:tc>
                <a:tc>
                  <a:txBody>
                    <a:bodyPr/>
                    <a:lstStyle/>
                    <a:p>
                      <a:r>
                        <a:rPr sz="1400" b="0" i="0">
                          <a:solidFill>
                            <a:srgbClr val="1A1440"/>
                          </a:solidFill>
                          <a:latin typeface="Calibri"/>
                        </a:rPr>
                        <a:t>a typed-over cell has no audit trail</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Friday takes the refusal further: the sheet presents the number; it never computes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tool-choice note, one sentence per tool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written answer to Kavya, in the format the second case brief asks for.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PLAIN PYTHON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 explain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one-off a reader must follow line by line, or a teaching example.</a:t>
            </a:r>
          </a:p>
        </p:txBody>
      </p:sp>
      <p:sp>
        <p:nvSpPr>
          <p:cNvPr id="15" name="Rounded Rectangle 14"/>
          <p:cNvSpPr/>
          <p:nvPr/>
        </p:nvSpPr>
        <p:spPr>
          <a:xfrm>
            <a:off x="430164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27b7b11228a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SQL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To own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Anything the warehouse should own and Finance should audit, refreshed on a schedule.</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lask-conical_7f5aa1048f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PANDAS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 iterate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analyst's work in between: reshaping, merging a file, trying five cuts in an hour.</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choice with a reason per tool, and one refusal you can defend. That is the note."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answered aloud, the row's five and the follow-ups a screen adds.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this day equips you to answer, tagged as the programme tags them.</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groupby in the split-apply-combine sentence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merge against join: what is the same and what differs?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Which merge argument raises on duplicate keys, and which error?</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pivot against melt: which widens and which lengthens?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Same question, three tools: how do you choose, and defend one choice?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follow-ups a screen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Case-style questions built on today's traps.</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customer table has fewer rows than the customer list. Why, and what do you do?</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Monday refresh raised MergeError. What do you do next?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In a weekly job, recency is measured from what date?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pivot's totals look low. Where do you look first?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campaign's reached customers converted at 100 percent. What do you check?</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agg against transform: what comes back from each?</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Which tool would you refuse for Finance's numbers, and why?</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differentiator answer, built in three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Same question, three tools: the structure that makes it land.</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answer agrees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Three tools gave 2.363 and 1.842, so the choice is not about correctness.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Who must trust 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Finance audits, Marketing iterates, a reviewer follows line by line.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One choice defended</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SQL for Finance's number, because it runs where the data lives and anyone can rerun it.</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[D] Same question, three tools: how do you choose, and defend one choice?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6" name="Oval 3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38" name="Oval 3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the growth team, the lines worth keeping, and Friday's question left open.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the growth team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the message when the table ships on Monday.</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"The customer table has 340 rows, one per customer, as of 28 September, the data's last date. Spend adds to Monday's book of Rs 19,84,00,000. The monsoon sale reached 130 customers, first exposure counted once, and 107 of them bought. 111 customers are on the 60-day win-back list. The refresh stops if the feed repeats a customer."</a:t>
            </a:r>
          </a:p>
        </p:txBody>
      </p:sp>
      <p:pic>
        <p:nvPicPr>
          <p:cNvPr id="11" name="mermaid diagram" descr="d43d22ac813d90f5.png"/>
          <p:cNvPicPr>
            <a:picLocks noChangeAspect="1"/>
          </p:cNvPicPr>
          <p:nvPr/>
        </p:nvPicPr>
        <p:blipFill>
          <a:blip r:embed="rId5"/>
          <a:stretch>
            <a:fillRect/>
          </a:stretch>
        </p:blipFill>
        <p:spPr>
          <a:xfrm>
            <a:off x="2316803" y="3423920"/>
            <a:ext cx="7558087"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lines close the cheat sheet and the study notes.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groupby is the accumulator automated: split, apply, combine.</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customer list; groupby only knows the keys it sees.</a:t>
                      </a:r>
                    </a:p>
                  </a:txBody>
                  <a:tcPr marL="101600" marR="101600" marT="38100" marB="38100" anchor="ctr">
                    <a:solidFill>
                      <a:srgbClr val="F4F2FA"/>
                    </a:solidFill>
                  </a:tcPr>
                </a:tc>
              </a:tr>
              <a:tr h="369824">
                <a:tc>
                  <a:txBody>
                    <a:bodyPr/>
                    <a:lstStyle/>
                    <a:p>
                      <a:r>
                        <a:rPr sz="1400" b="0" i="0">
                          <a:solidFill>
                            <a:srgbClr val="1A1440"/>
                          </a:solidFill>
                          <a:latin typeface="Calibri"/>
                        </a:rPr>
                        <a:t>Measure recency from the data's last date, never from today.</a:t>
                      </a:r>
                    </a:p>
                  </a:txBody>
                  <a:tcPr marL="101600" marR="101600" marT="38100" marB="38100" anchor="ctr">
                    <a:solidFill>
                      <a:srgbClr val="FFFFFF"/>
                    </a:solidFill>
                  </a:tcPr>
                </a:tc>
              </a:tr>
              <a:tr h="369824">
                <a:tc>
                  <a:txBody>
                    <a:bodyPr/>
                    <a:lstStyle/>
                    <a:p>
                      <a:r>
                        <a:rPr sz="1400" b="0" i="0">
                          <a:solidFill>
                            <a:srgbClr val="1A1440"/>
                          </a:solidFill>
                          <a:latin typeface="Calibri"/>
                        </a:rPr>
                        <a:t>A merge is a join, and validate= turns the fan-out into a MergeError.</a:t>
                      </a:r>
                    </a:p>
                  </a:txBody>
                  <a:tcPr marL="101600" marR="101600" marT="38100" marB="38100" anchor="ctr">
                    <a:solidFill>
                      <a:srgbClr val="F4F2FA"/>
                    </a:solidFill>
                  </a:tcPr>
                </a:tc>
              </a:tr>
              <a:tr h="369824">
                <a:tc>
                  <a:txBody>
                    <a:bodyPr/>
                    <a:lstStyle/>
                    <a:p>
                      <a:r>
                        <a:rPr sz="1400" b="0" i="0">
                          <a:solidFill>
                            <a:srgbClr val="1A1440"/>
                          </a:solidFill>
                          <a:latin typeface="Calibri"/>
                        </a:rPr>
                        <a:t>pivot_table averages unless you write aggfunc.</a:t>
                      </a:r>
                    </a:p>
                  </a:txBody>
                  <a:tcPr marL="101600" marR="101600" marT="38100" marB="38100" anchor="ctr">
                    <a:solidFill>
                      <a:srgbClr val="FFFFFF"/>
                    </a:solidFill>
                  </a:tcPr>
                </a:tc>
              </a:tr>
              <a:tr h="369824">
                <a:tc>
                  <a:txBody>
                    <a:bodyPr/>
                    <a:lstStyle/>
                    <a:p>
                      <a:r>
                        <a:rPr sz="1400" b="0" i="0">
                          <a:solidFill>
                            <a:srgbClr val="1A1440"/>
                          </a:solidFill>
                          <a:latin typeface="Calibri"/>
                        </a:rPr>
                        <a:t>SQL for what Finance audits, pandas for the analyst's bench, plain Python to explain.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number reaches the leadership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office runs on Excel, and a director will change an assumption in the room.</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and one number on the front page with its trend. Nothing that needs Python." Meera Raghavan's chief of staff</a:t>
            </a:r>
          </a:p>
        </p:txBody>
      </p:sp>
      <p:sp>
        <p:nvSpPr>
          <p:cNvPr id="14" name="Rounded Rectangle 13"/>
          <p:cNvSpPr/>
          <p:nvPr/>
        </p:nvSpPr>
        <p:spPr>
          <a:xfrm>
            <a:off x="530352" y="3502152"/>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file-spreadsheet_6c0cde877740.png"/>
          <p:cNvPicPr>
            <a:picLocks noChangeAspect="1"/>
          </p:cNvPicPr>
          <p:nvPr/>
        </p:nvPicPr>
        <p:blipFill>
          <a:blip r:embed="rId5"/>
          <a:stretch>
            <a:fillRect/>
          </a:stretch>
        </p:blipFill>
        <p:spPr>
          <a:xfrm>
            <a:off x="841247" y="3813048"/>
            <a:ext cx="237744" cy="237744"/>
          </a:xfrm>
          <a:prstGeom prst="rect">
            <a:avLst/>
          </a:prstGeom>
        </p:spPr>
      </p:pic>
      <p:sp>
        <p:nvSpPr>
          <p:cNvPr id="17" name="TextBox 16"/>
          <p:cNvSpPr txBox="1"/>
          <p:nvPr/>
        </p:nvSpPr>
        <p:spPr>
          <a:xfrm>
            <a:off x="731519" y="427024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BRING</a:t>
            </a:r>
          </a:p>
        </p:txBody>
      </p:sp>
      <p:sp>
        <p:nvSpPr>
          <p:cNvPr id="18" name="TextBox 17"/>
          <p:cNvSpPr txBox="1"/>
          <p:nvPr/>
        </p:nvSpPr>
        <p:spPr>
          <a:xfrm>
            <a:off x="731519" y="4507992"/>
            <a:ext cx="5071719" cy="267716"/>
          </a:xfrm>
          <a:prstGeom prst="rect">
            <a:avLst/>
          </a:prstGeom>
          <a:noFill/>
        </p:spPr>
        <p:txBody>
          <a:bodyPr wrap="square" anchor="t" lIns="0" rIns="0" tIns="0" bIns="0">
            <a:spAutoFit/>
          </a:bodyPr>
          <a:lstStyle/>
          <a:p>
            <a:pPr algn="l"/>
            <a:r>
              <a:rPr sz="1400" b="1" i="0">
                <a:solidFill>
                  <a:srgbClr val="1A0F5C"/>
                </a:solidFill>
                <a:latin typeface="Calibri"/>
              </a:rPr>
              <a:t>Today's CSV</a:t>
            </a:r>
          </a:p>
        </p:txBody>
      </p:sp>
      <p:sp>
        <p:nvSpPr>
          <p:cNvPr id="19" name="TextBox 18"/>
          <p:cNvSpPr txBox="1"/>
          <p:nvPr/>
        </p:nvSpPr>
        <p:spPr>
          <a:xfrm>
            <a:off x="731519" y="4848860"/>
            <a:ext cx="5071719" cy="218186"/>
          </a:xfrm>
          <a:prstGeom prst="rect">
            <a:avLst/>
          </a:prstGeom>
          <a:noFill/>
        </p:spPr>
        <p:txBody>
          <a:bodyPr wrap="square" anchor="t" lIns="0" rIns="0" tIns="0" bIns="0">
            <a:spAutoFit/>
          </a:bodyPr>
          <a:lstStyle/>
          <a:p>
            <a:pPr algn="l"/>
            <a:r>
              <a:rPr sz="1100" b="0" i="0">
                <a:solidFill>
                  <a:srgbClr val="6B6690"/>
                </a:solidFill>
                <a:latin typeface="Calibri"/>
              </a:rPr>
              <a:t>The customer table from the escalated case's output folder.</a:t>
            </a:r>
          </a:p>
        </p:txBody>
      </p:sp>
      <p:sp>
        <p:nvSpPr>
          <p:cNvPr id="20" name="Rounded Rectangle 19"/>
          <p:cNvSpPr/>
          <p:nvPr/>
        </p:nvSpPr>
        <p:spPr>
          <a:xfrm>
            <a:off x="6187287" y="3502152"/>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circle-help_8ffc1bc6d67b.png"/>
          <p:cNvPicPr>
            <a:picLocks noChangeAspect="1"/>
          </p:cNvPicPr>
          <p:nvPr/>
        </p:nvPicPr>
        <p:blipFill>
          <a:blip r:embed="rId6"/>
          <a:stretch>
            <a:fillRect/>
          </a:stretch>
        </p:blipFill>
        <p:spPr>
          <a:xfrm>
            <a:off x="6498183" y="3813048"/>
            <a:ext cx="237744" cy="237744"/>
          </a:xfrm>
          <a:prstGeom prst="rect">
            <a:avLst/>
          </a:prstGeom>
        </p:spPr>
      </p:pic>
      <p:sp>
        <p:nvSpPr>
          <p:cNvPr id="23" name="TextBox 22"/>
          <p:cNvSpPr txBox="1"/>
          <p:nvPr/>
        </p:nvSpPr>
        <p:spPr>
          <a:xfrm>
            <a:off x="6388455" y="427024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THINK ABOUT</a:t>
            </a:r>
          </a:p>
        </p:txBody>
      </p:sp>
      <p:sp>
        <p:nvSpPr>
          <p:cNvPr id="24" name="TextBox 23"/>
          <p:cNvSpPr txBox="1"/>
          <p:nvPr/>
        </p:nvSpPr>
        <p:spPr>
          <a:xfrm>
            <a:off x="6388455" y="4507992"/>
            <a:ext cx="5071719" cy="267716"/>
          </a:xfrm>
          <a:prstGeom prst="rect">
            <a:avLst/>
          </a:prstGeom>
          <a:noFill/>
        </p:spPr>
        <p:txBody>
          <a:bodyPr wrap="square" anchor="t" lIns="0" rIns="0" tIns="0" bIns="0">
            <a:spAutoFit/>
          </a:bodyPr>
          <a:lstStyle/>
          <a:p>
            <a:pPr algn="l"/>
            <a:r>
              <a:rPr sz="1400" b="1" i="0">
                <a:solidFill>
                  <a:srgbClr val="1A0F5C"/>
                </a:solidFill>
                <a:latin typeface="Calibri"/>
              </a:rPr>
              <a:t>Where Excel ends</a:t>
            </a:r>
          </a:p>
        </p:txBody>
      </p:sp>
      <p:sp>
        <p:nvSpPr>
          <p:cNvPr id="25" name="TextBox 24"/>
          <p:cNvSpPr txBox="1"/>
          <p:nvPr/>
        </p:nvSpPr>
        <p:spPr>
          <a:xfrm>
            <a:off x="6388455" y="4848860"/>
            <a:ext cx="5071719" cy="218186"/>
          </a:xfrm>
          <a:prstGeom prst="rect">
            <a:avLst/>
          </a:prstGeom>
          <a:noFill/>
        </p:spPr>
        <p:txBody>
          <a:bodyPr wrap="square" anchor="t" lIns="0" rIns="0" tIns="0" bIns="0">
            <a:spAutoFit/>
          </a:bodyPr>
          <a:lstStyle/>
          <a:p>
            <a:pPr algn="l"/>
            <a:r>
              <a:rPr sz="1100" b="0" i="0">
                <a:solidFill>
                  <a:srgbClr val="6B6690"/>
                </a:solidFill>
                <a:latin typeface="Calibri"/>
              </a:rPr>
              <a:t>Which of this week's steps must never happen in a sheet?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2" name="Oval 3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40394"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