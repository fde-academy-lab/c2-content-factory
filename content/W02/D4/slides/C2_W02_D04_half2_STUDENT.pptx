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The morning built the table a chapter at a time: 340 customers, the sale's 130</a:t>
            </a:r>
          </a:p>
          <a:p>
            <a:r>
              <a:t>reached, Retail-Plus down 29.4 percent, three tools agreeing on 107 of 130, and Finance's number</a:t>
            </a:r>
          </a:p>
          <a:p>
            <a:r>
              <a:t>given to SQL. The afternoon makes the table rebuild itself (chapter 6), then the room builds it alone</a:t>
            </a:r>
          </a:p>
          <a:p>
            <a:r>
              <a:t>(the escalated case), then pairs answer Kavya in three tools, then the interview drill and the close.</a:t>
            </a:r>
          </a:p>
          <a:p>
            <a:r>
              <a:t>Then the six topics, and the two that chapter 6 owns.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morning taught chapters 1 to 5. Chapter 6 owns the two dark topics: the refresh</a:t>
            </a:r>
          </a:p>
          <a:p>
            <a:r>
              <a:t>reads every input from the warehouse itself, and it runs the day's steps as one chained</a:t>
            </a:r>
          </a:p>
          <a:p>
            <a:r>
              <a:t>transformation, where a type can change on the way without an error, so the chain ends on a check.</a:t>
            </a:r>
          </a:p>
          <a:p>
            <a:r>
              <a:t>It also finishes recency, which the morning left as a date. The escalated case then puts all six to</a:t>
            </a:r>
          </a:p>
          <a:p>
            <a:r>
              <a:t>work, and the second case practises the last. Then chapter 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Notebook C2_W02_D04_06_monday_refresh is the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morning's table had last order dates; the refresh turns them into days and</a:t>
            </a:r>
          </a:p>
          <a:p>
            <a:r>
              <a:t>flags, and makes the whole build one call that stops when a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Recency is the days since a customer's last order; lapsed means more than 60 days</a:t>
            </a:r>
          </a:p>
          <a:p>
            <a:r>
              <a:t>before the table's as-of date, the last date the data covers. A customer who never ordered is not</a:t>
            </a:r>
          </a:p>
          <a:p>
            <a:r>
              <a:t>lapsed; they are on chapter 1's first-order list. A bad Monday sends a code to someone who bought last</a:t>
            </a:r>
          </a:p>
          <a:p>
            <a:r>
              <a:t>month, or ships a broken table before anyone looks.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Sources, checked 1 Oct 2026: Public Health England's statement of 4 October 2020,</a:t>
            </a:r>
          </a:p>
          <a:p>
            <a:r>
              <a:t>"15,841 cases between 25 September and 2 October were not included in the reported daily COVID-19</a:t>
            </a:r>
          </a:p>
          <a:p>
            <a:r>
              <a:t>cases"; and The Register, 5 October 2020, on the cause: results "automatically fetched in CSV format"</a:t>
            </a:r>
          </a:p>
          <a:p>
            <a:r>
              <a:t>from commercial labs were stored in the older .XLS format "that limited the number of rows to 65,536</a:t>
            </a:r>
          </a:p>
          <a:p>
            <a:r>
              <a:t>per spreadsheet". A row count on every run would have stopped it on day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Ask which option most teams run today: a. Which option costs no analyst time and</a:t>
            </a:r>
          </a:p>
          <a:p>
            <a:r>
              <a:t>still ships a broken table: b and d. The four failures are the day's: a customer missing, a customer</a:t>
            </a:r>
          </a:p>
          <a:p>
            <a:r>
              <a:t>sent twice, spend off the warehouse and a repeated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Every input is a chance to be told something wrong, so the refresh is told the</a:t>
            </a:r>
          </a:p>
          <a:p>
            <a:r>
              <a:t>warehouse connection and the feed's path and nothing else. The customers, their numbers and the sale</a:t>
            </a:r>
          </a:p>
          <a:p>
            <a:r>
              <a:t>all come from the data, so the function cannot be told a stale count. The notebook's section 2 asks</a:t>
            </a:r>
          </a:p>
          <a:p>
            <a:r>
              <a:t>the room to predict the inputs first. Recency is the one column still missing, and it needs a date to</a:t>
            </a:r>
          </a:p>
          <a:p>
            <a:r>
              <a:t>count to. Before it, the chain inside build_table(),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with S5b. The customers are invented: A ordered twice, B once, C never. The merge</a:t>
            </a:r>
          </a:p>
          <a:p>
            <a:r>
              <a:t>gives C a missing count, and NumPy's int64 cannot hold a missing value, so the whole column turns</a:t>
            </a:r>
          </a:p>
          <a:p>
            <a:r>
              <a:t>float64, which is chapter 1's S16 on three rows. Letters in chat,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inside S5a's two minutes. The answer is b. fillna fills the 39 gaps with 0.0 and leaves the</a:t>
            </a:r>
          </a:p>
          <a:p>
            <a:r>
              <a:t>column float64; only astype turns it back, and no step in between raises an error. Read the three</a:t>
            </a:r>
          </a:p>
          <a:p>
            <a:r>
              <a:t>rows of the table: a is the belief the question tests, c expects the merge to complain, and d</a:t>
            </a:r>
          </a:p>
          <a:p>
            <a:r>
              <a:t>confuses a fill with a drop. The 39 still read as a frequency of 0, since 0.0 equals 0, so nothing</a:t>
            </a:r>
          </a:p>
          <a:p>
            <a:r>
              <a:t>downstream fails today, and the check keeps a type nobody chose out of the CSV Friday opens. Then</a:t>
            </a:r>
          </a:p>
          <a:p>
            <a:r>
              <a:t>recency, the one column still missing.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hurried analyst counts to today so the refresh "stays current". The notebook</a:t>
            </a:r>
          </a:p>
          <a:p>
            <a:r>
              <a:t>pins today to 19 October, the first Monday after this session, so the number is exactly what that</a:t>
            </a:r>
          </a:p>
          <a:p>
            <a:r>
              <a:t>refresh would send.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On the class day, 15 October, the same code counts 154; every day</a:t>
            </a:r>
          </a:p>
          <a:p>
            <a:r>
              <a:t>the notebook is run, the list is different.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warehouse's last order is dated 28 September; nothing after it is loaded.</a:t>
            </a:r>
          </a:p>
          <a:p>
            <a:r>
              <a:t>Counted to the run day, every customer looks 21 days staler, and the table becomes a function of the</a:t>
            </a:r>
          </a:p>
          <a:p>
            <a:r>
              <a:t>calendar.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55 customers came off the list: they ordered within 60 days of 28 September.</a:t>
            </a:r>
          </a:p>
          <a:p>
            <a:r>
              <a:t>Writing as_of into the table lets the growth team see what 60 days was counted from. The run day keeps</a:t>
            </a:r>
          </a:p>
          <a:p>
            <a:r>
              <a:t>one honest job: the gap to the as-of date is the data's age, 21 days on 19 October, the same 21 the</a:t>
            </a:r>
          </a:p>
          <a:p>
            <a:r>
              <a:t>hurried table showed as its smallest recency. A table whose orders end three weeks before the run is</a:t>
            </a:r>
          </a:p>
          <a:p>
            <a:r>
              <a:t>a stale load, and the growth team hears that before any code goes out. At 45 days the honest list is</a:t>
            </a:r>
          </a:p>
          <a:p>
            <a:r>
              <a:t>144, at 90 days 74: the take-home asks which line to sign.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Two guards read the warehouse's own counts, on every call, so a later Monday is</a:t>
            </a:r>
          </a:p>
          <a:p>
            <a:r>
              <a:t>checked against that Monday's warehouse; two check the table's own shape. Inside the refresh the</a:t>
            </a:r>
          </a:p>
          <a:p>
            <a:r>
              <a:t>recency guard passes by construction, because the as-of date comes from the same orders: it is there</a:t>
            </a:r>
          </a:p>
          <a:p>
            <a:r>
              <a:t>for the Monday someone edits the refresh to count to the calendar. Each guard raises, so a table that</a:t>
            </a:r>
          </a:p>
          <a:p>
            <a:r>
              <a:t>fails one is never written.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Prove each guard by making it fire on a copy broken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c. The repeated customer's recency is the same, so the recency guard</a:t>
            </a:r>
          </a:p>
          <a:p>
            <a:r>
              <a:t>holds. Dropping customers with no orders leaves spend unchanged, since they spend 0, so only the row</a:t>
            </a:r>
          </a:p>
          <a:p>
            <a:r>
              <a:t>count catches it, chapter 1's lesson inside the refresh.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Nothing in the honest refresh reads the calendar, so two runs on the same data give</a:t>
            </a:r>
          </a:p>
          <a:p>
            <a:r>
              <a:t>the same table cell for cell; the notebook's section 5 asks the room to predict the difference first.</a:t>
            </a:r>
          </a:p>
          <a:p>
            <a:r>
              <a:t>Subtracting two dates in Postgres gives whole days, and the query shares no code with the refresh.</a:t>
            </a:r>
          </a:p>
          <a:p>
            <a:r>
              <a:t>When to switch: the refresh for the table, the query to confirm the list's size before a send.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breath: from the data's last loaded date, carried in the table; the wall clock</a:t>
            </a:r>
          </a:p>
          <a:p>
            <a:r>
              <a:t>only measures the data's age, reported so a stale load is seen before the send; the check is that the</a:t>
            </a:r>
          </a:p>
          <a:p>
            <a:r>
              <a:t>smallest recency is 0. The depth section of notebook 06 mirrors Wednesday's falling flag in pandas</a:t>
            </a:r>
          </a:p>
          <a:p>
            <a:r>
              <a:t>with groupby and shift and checks it against the warehouse. Then the escalated case.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Fifty minutes, unguided. The brief is exercises/unguided/C2_W02_D04_escalated_case_STUDENT.md</a:t>
            </a:r>
          </a:p>
          <a:p>
            <a:r>
              <a:t>and the notebook notebooks/C2_W02_D04_ex1_escalated_case_STUDENT.ipynb.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notebook stops at __TODO1__ with a NameError by design: replace each</a:t>
            </a:r>
          </a:p>
          <a:p>
            <a:r>
              <a:t>placeholder with the option chosen and run the step's checks. Post thirteen letters and the four</a:t>
            </a:r>
          </a:p>
          <a:p>
            <a:r>
              <a:t>numbers the last cell prints.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for anyone who missed the morning. The falling rule is Wednesday's, mirrored in pandas: the</a:t>
            </a:r>
          </a:p>
          <a:p>
            <a:r>
              <a:t>previous reading of the same customer, never another customer's, and a skipped month is no reading.</a:t>
            </a:r>
          </a:p>
          <a:p>
            <a:r>
              <a:t>The win-back count is the fourth number to post, and the notebook's check compares it with the</a:t>
            </a:r>
          </a:p>
          <a:p>
            <a:r>
              <a:t>warehouse.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Fifteen minutes. Collect the wrong numbers during the case and put them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For each wrong number on the board, ask the room which check catches it before</a:t>
            </a:r>
          </a:p>
          <a:p>
            <a:r>
              <a:t>naming the fix. 154 is what pd.Timestamp.today() gives on 15 October; next Monday it would be 166.</a:t>
            </a:r>
          </a:p>
          <a:p>
            <a:r>
              <a:t>Do not read any customer ids aloud.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Three counts for one dataset, depending on the calendar. Ask for the one sentence</a:t>
            </a:r>
          </a:p>
          <a:p>
            <a:r>
              <a:t>to the growth team: the list is 111, counted to 28 September, and it will not grow unless new orders</a:t>
            </a:r>
          </a:p>
          <a:p>
            <a:r>
              <a:t>arrive. Then the break, ten minutes.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Ten-minute break first, then forty minutes in pairs. The brief is</a:t>
            </a:r>
          </a:p>
          <a:p>
            <a:r>
              <a:t>exercises/unguided/C2_W02_D04_second_case_STUDENT.md and the notebook</a:t>
            </a:r>
          </a:p>
          <a:p>
            <a:r>
              <a:t>notebooks/C2_W02_D04_ex2_second_case_STUDENT.ipynb.</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question is Week 1's branch that moved: Retail-Plus orders per member, Q1</a:t>
            </a:r>
          </a:p>
          <a:p>
            <a:r>
              <a:t>against Q2, where a member counts in a quarter if they ordered in it. Each pair writes the SQL on</a:t>
            </a:r>
          </a:p>
          <a:p>
            <a:r>
              <a:t>paper first, then runs the rate through plain Python, SQL and pandas in the notebook, and writes the</a:t>
            </a:r>
          </a:p>
          <a:p>
            <a:r>
              <a:t>note together.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after the pairs have run all three routes. Letters in chat.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answer is c. Read two pairs' notes aloud and check each has the rows moved and</a:t>
            </a:r>
          </a:p>
          <a:p>
            <a:r>
              <a:t>a reason for the refusal. A notebook runs on a copy on one machine; an export is a copy that ages</a:t>
            </a:r>
          </a:p>
          <a:p>
            <a:r>
              <a:t>from the moment it is written.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 minutes. Two learners per question: one answers, one asks the follow-up.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Tags: [S] staple asked everywhere, [F] frequent in GCC and product screens, [D]</a:t>
            </a:r>
          </a:p>
          <a:p>
            <a:r>
              <a:t>differentiator. Answers in one breath are in the day sheet; push for a number in every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The design follow-ups want a sizing in the answer: rows moved, who reruns it, and</a:t>
            </a:r>
          </a:p>
          <a:p>
            <a:r>
              <a:t>the fact that would switch the choice.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Fifteen minutes: the Kahoot first, eight items including Wednesday's return question, then this</a:t>
            </a:r>
          </a:p>
          <a:p>
            <a:r>
              <a:t>chapter.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it aloud once. Every number in it was checked twice today.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Ask a learner to read each line and give the number behind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it and leave it open; do not answer. Tonight: bring the CSV the refresh wrote</a:t>
            </a:r>
          </a:p>
          <a:p>
            <a:r>
              <a:t>to output/, with 340 rows and Rs 19,84,00,000 of spend, and read the pre-read.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9.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 Id="rId5" Type="http://schemas.openxmlformats.org/officeDocument/2006/relationships/image" Target="../media/image6.png"/><Relationship Id="rId6"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 Id="rId5"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 Id="rId5"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 Id="rId5"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479576"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2  ·  THURSDAY  ·  HALF TWO</a:t>
            </a:r>
          </a:p>
        </p:txBody>
      </p:sp>
      <p:sp>
        <p:nvSpPr>
          <p:cNvPr id="8" name="TextBox 7"/>
          <p:cNvSpPr txBox="1"/>
          <p:nvPr/>
        </p:nvSpPr>
        <p:spPr>
          <a:xfrm>
            <a:off x="621792" y="2807208"/>
            <a:ext cx="10582351" cy="1291336"/>
          </a:xfrm>
          <a:prstGeom prst="rect">
            <a:avLst/>
          </a:prstGeom>
          <a:noFill/>
        </p:spPr>
        <p:txBody>
          <a:bodyPr wrap="square" anchor="t" lIns="0" rIns="0" tIns="0" bIns="0">
            <a:spAutoFit/>
          </a:bodyPr>
          <a:lstStyle/>
          <a:p>
            <a:pPr algn="l"/>
            <a:r>
              <a:rPr sz="3800" b="0" i="0">
                <a:solidFill>
                  <a:srgbClr val="FFFFFF"/>
                </a:solidFill>
                <a:latin typeface="Georgia"/>
              </a:rPr>
              <a:t>Will Monday's table rebuild itself and hold?</a:t>
            </a:r>
          </a:p>
        </p:txBody>
      </p:sp>
      <p:sp>
        <p:nvSpPr>
          <p:cNvPr id="9" name="TextBox 8"/>
          <p:cNvSpPr txBox="1"/>
          <p:nvPr/>
        </p:nvSpPr>
        <p:spPr>
          <a:xfrm>
            <a:off x="621792" y="4263136"/>
            <a:ext cx="10033711" cy="663956"/>
          </a:xfrm>
          <a:prstGeom prst="rect">
            <a:avLst/>
          </a:prstGeom>
          <a:noFill/>
        </p:spPr>
        <p:txBody>
          <a:bodyPr wrap="square" anchor="t" lIns="0" rIns="0" tIns="0" bIns="0">
            <a:spAutoFit/>
          </a:bodyPr>
          <a:lstStyle/>
          <a:p>
            <a:pPr algn="l"/>
            <a:r>
              <a:rPr sz="1900" b="0" i="1">
                <a:solidFill>
                  <a:srgbClr val="D9A7FF"/>
                </a:solidFill>
                <a:latin typeface="Georgia"/>
              </a:rPr>
              <a:t>“Build them the table in pandas, from the warehouse, and make it refreshable in one run.”</a:t>
            </a:r>
          </a:p>
        </p:txBody>
      </p:sp>
      <p:sp>
        <p:nvSpPr>
          <p:cNvPr id="10" name="TextBox 9"/>
          <p:cNvSpPr txBox="1"/>
          <p:nvPr/>
        </p:nvSpPr>
        <p:spPr>
          <a:xfrm>
            <a:off x="621792" y="4981956"/>
            <a:ext cx="10033711" cy="218186"/>
          </a:xfrm>
          <a:prstGeom prst="rect">
            <a:avLst/>
          </a:prstGeom>
          <a:noFill/>
        </p:spPr>
        <p:txBody>
          <a:bodyPr wrap="square" anchor="t" lIns="0" rIns="0" tIns="0" bIns="0">
            <a:spAutoFit/>
          </a:bodyPr>
          <a:lstStyle/>
          <a:p>
            <a:pPr algn="l"/>
            <a:r>
              <a:rPr sz="1100" b="0" i="0">
                <a:solidFill>
                  <a:srgbClr val="CFC9EE"/>
                </a:solidFill>
                <a:latin typeface="Calibri"/>
              </a:rPr>
              <a:t>The data platform lead, Kalpa Retail</a:t>
            </a:r>
          </a:p>
        </p:txBody>
      </p:sp>
      <p:sp>
        <p:nvSpPr>
          <p:cNvPr id="11" name="TextBox 10"/>
          <p:cNvSpPr txBox="1"/>
          <p:nvPr/>
        </p:nvSpPr>
        <p:spPr>
          <a:xfrm>
            <a:off x="621792"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12" name="TextBox 11"/>
          <p:cNvSpPr txBox="1"/>
          <p:nvPr/>
        </p:nvSpPr>
        <p:spPr>
          <a:xfrm>
            <a:off x="1005839" y="5556758"/>
            <a:ext cx="1543335" cy="185166"/>
          </a:xfrm>
          <a:prstGeom prst="rect">
            <a:avLst/>
          </a:prstGeom>
          <a:noFill/>
        </p:spPr>
        <p:txBody>
          <a:bodyPr wrap="square" anchor="t" lIns="0" rIns="0" tIns="0" bIns="0">
            <a:spAutoFit/>
          </a:bodyPr>
          <a:lstStyle/>
          <a:p>
            <a:pPr algn="l"/>
            <a:r>
              <a:rPr sz="900" b="0" i="0">
                <a:solidFill>
                  <a:srgbClr val="FFFFFF"/>
                </a:solidFill>
                <a:latin typeface="Calibri"/>
              </a:rPr>
              <a:t>Will Monday rebuild it?</a:t>
            </a:r>
          </a:p>
        </p:txBody>
      </p:sp>
      <p:sp>
        <p:nvSpPr>
          <p:cNvPr id="13" name="TextBox 12"/>
          <p:cNvSpPr txBox="1"/>
          <p:nvPr/>
        </p:nvSpPr>
        <p:spPr>
          <a:xfrm>
            <a:off x="2732055"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07</a:t>
            </a:r>
          </a:p>
        </p:txBody>
      </p:sp>
      <p:sp>
        <p:nvSpPr>
          <p:cNvPr id="14" name="TextBox 13"/>
          <p:cNvSpPr txBox="1"/>
          <p:nvPr/>
        </p:nvSpPr>
        <p:spPr>
          <a:xfrm>
            <a:off x="3116103" y="5556758"/>
            <a:ext cx="1543335" cy="185166"/>
          </a:xfrm>
          <a:prstGeom prst="rect">
            <a:avLst/>
          </a:prstGeom>
          <a:noFill/>
        </p:spPr>
        <p:txBody>
          <a:bodyPr wrap="square" anchor="t" lIns="0" rIns="0" tIns="0" bIns="0">
            <a:spAutoFit/>
          </a:bodyPr>
          <a:lstStyle/>
          <a:p>
            <a:pPr algn="l"/>
            <a:r>
              <a:rPr sz="900" b="0" i="0">
                <a:solidFill>
                  <a:srgbClr val="FFFFFF"/>
                </a:solidFill>
                <a:latin typeface="Calibri"/>
              </a:rPr>
              <a:t>Can you build it alone?</a:t>
            </a:r>
          </a:p>
        </p:txBody>
      </p:sp>
      <p:sp>
        <p:nvSpPr>
          <p:cNvPr id="15" name="TextBox 14"/>
          <p:cNvSpPr txBox="1"/>
          <p:nvPr/>
        </p:nvSpPr>
        <p:spPr>
          <a:xfrm>
            <a:off x="4842319"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08</a:t>
            </a:r>
          </a:p>
        </p:txBody>
      </p:sp>
      <p:sp>
        <p:nvSpPr>
          <p:cNvPr id="16" name="TextBox 15"/>
          <p:cNvSpPr txBox="1"/>
          <p:nvPr/>
        </p:nvSpPr>
        <p:spPr>
          <a:xfrm>
            <a:off x="5226367" y="5556758"/>
            <a:ext cx="1839087" cy="185166"/>
          </a:xfrm>
          <a:prstGeom prst="rect">
            <a:avLst/>
          </a:prstGeom>
          <a:noFill/>
        </p:spPr>
        <p:txBody>
          <a:bodyPr wrap="square" anchor="t" lIns="0" rIns="0" tIns="0" bIns="0">
            <a:spAutoFit/>
          </a:bodyPr>
          <a:lstStyle/>
          <a:p>
            <a:pPr algn="l"/>
            <a:r>
              <a:rPr sz="900" b="0" i="0">
                <a:solidFill>
                  <a:srgbClr val="FFFFFF"/>
                </a:solidFill>
                <a:latin typeface="Calibri"/>
              </a:rPr>
              <a:t>Where did the room go wrong?</a:t>
            </a:r>
          </a:p>
        </p:txBody>
      </p:sp>
      <p:sp>
        <p:nvSpPr>
          <p:cNvPr id="17" name="TextBox 16"/>
          <p:cNvSpPr txBox="1"/>
          <p:nvPr/>
        </p:nvSpPr>
        <p:spPr>
          <a:xfrm>
            <a:off x="7248334"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09</a:t>
            </a:r>
          </a:p>
        </p:txBody>
      </p:sp>
      <p:sp>
        <p:nvSpPr>
          <p:cNvPr id="18" name="TextBox 17"/>
          <p:cNvSpPr txBox="1"/>
          <p:nvPr/>
        </p:nvSpPr>
        <p:spPr>
          <a:xfrm>
            <a:off x="7632382" y="5556758"/>
            <a:ext cx="1720786" cy="185166"/>
          </a:xfrm>
          <a:prstGeom prst="rect">
            <a:avLst/>
          </a:prstGeom>
          <a:noFill/>
        </p:spPr>
        <p:txBody>
          <a:bodyPr wrap="square" anchor="t" lIns="0" rIns="0" tIns="0" bIns="0">
            <a:spAutoFit/>
          </a:bodyPr>
          <a:lstStyle/>
          <a:p>
            <a:pPr algn="l"/>
            <a:r>
              <a:rPr sz="900" b="0" i="0">
                <a:solidFill>
                  <a:srgbClr val="FFFFFF"/>
                </a:solidFill>
                <a:latin typeface="Calibri"/>
              </a:rPr>
              <a:t>Which tool would you sign?</a:t>
            </a:r>
          </a:p>
        </p:txBody>
      </p:sp>
      <p:sp>
        <p:nvSpPr>
          <p:cNvPr id="19" name="TextBox 18"/>
          <p:cNvSpPr txBox="1"/>
          <p:nvPr/>
        </p:nvSpPr>
        <p:spPr>
          <a:xfrm>
            <a:off x="621792" y="5940806"/>
            <a:ext cx="365760" cy="251205"/>
          </a:xfrm>
          <a:prstGeom prst="rect">
            <a:avLst/>
          </a:prstGeom>
          <a:noFill/>
        </p:spPr>
        <p:txBody>
          <a:bodyPr wrap="square" anchor="t" lIns="0" rIns="0" tIns="0" bIns="0">
            <a:spAutoFit/>
          </a:bodyPr>
          <a:lstStyle/>
          <a:p>
            <a:pPr algn="l"/>
            <a:r>
              <a:rPr sz="1300" b="0" i="0">
                <a:solidFill>
                  <a:srgbClr val="D9A7FF"/>
                </a:solidFill>
                <a:latin typeface="Georgia"/>
              </a:rPr>
              <a:t>10</a:t>
            </a:r>
          </a:p>
        </p:txBody>
      </p:sp>
      <p:sp>
        <p:nvSpPr>
          <p:cNvPr id="20" name="TextBox 19"/>
          <p:cNvSpPr txBox="1"/>
          <p:nvPr/>
        </p:nvSpPr>
        <p:spPr>
          <a:xfrm>
            <a:off x="1005839" y="5977382"/>
            <a:ext cx="1779936" cy="185166"/>
          </a:xfrm>
          <a:prstGeom prst="rect">
            <a:avLst/>
          </a:prstGeom>
          <a:noFill/>
        </p:spPr>
        <p:txBody>
          <a:bodyPr wrap="square" anchor="t" lIns="0" rIns="0" tIns="0" bIns="0">
            <a:spAutoFit/>
          </a:bodyPr>
          <a:lstStyle/>
          <a:p>
            <a:pPr algn="l"/>
            <a:r>
              <a:rPr sz="900" b="0" i="0">
                <a:solidFill>
                  <a:srgbClr val="FFFFFF"/>
                </a:solidFill>
                <a:latin typeface="Calibri"/>
              </a:rPr>
              <a:t>How would you say it aloud?</a:t>
            </a:r>
          </a:p>
        </p:txBody>
      </p:sp>
      <p:sp>
        <p:nvSpPr>
          <p:cNvPr id="21" name="TextBox 20"/>
          <p:cNvSpPr txBox="1"/>
          <p:nvPr/>
        </p:nvSpPr>
        <p:spPr>
          <a:xfrm>
            <a:off x="2968656" y="5940806"/>
            <a:ext cx="365760" cy="251205"/>
          </a:xfrm>
          <a:prstGeom prst="rect">
            <a:avLst/>
          </a:prstGeom>
          <a:noFill/>
        </p:spPr>
        <p:txBody>
          <a:bodyPr wrap="square" anchor="t" lIns="0" rIns="0" tIns="0" bIns="0">
            <a:spAutoFit/>
          </a:bodyPr>
          <a:lstStyle/>
          <a:p>
            <a:pPr algn="l"/>
            <a:r>
              <a:rPr sz="1300" b="0" i="0">
                <a:solidFill>
                  <a:srgbClr val="D9A7FF"/>
                </a:solidFill>
                <a:latin typeface="Georgia"/>
              </a:rPr>
              <a:t>11</a:t>
            </a:r>
          </a:p>
        </p:txBody>
      </p:sp>
      <p:sp>
        <p:nvSpPr>
          <p:cNvPr id="22" name="TextBox 21"/>
          <p:cNvSpPr txBox="1"/>
          <p:nvPr/>
        </p:nvSpPr>
        <p:spPr>
          <a:xfrm>
            <a:off x="3352704" y="5977382"/>
            <a:ext cx="1898237" cy="185166"/>
          </a:xfrm>
          <a:prstGeom prst="rect">
            <a:avLst/>
          </a:prstGeom>
          <a:noFill/>
        </p:spPr>
        <p:txBody>
          <a:bodyPr wrap="square" anchor="t" lIns="0" rIns="0" tIns="0" bIns="0">
            <a:spAutoFit/>
          </a:bodyPr>
          <a:lstStyle/>
          <a:p>
            <a:pPr algn="l"/>
            <a:r>
              <a:rPr sz="900" b="0" i="0">
                <a:solidFill>
                  <a:srgbClr val="FFFFFF"/>
                </a:solidFill>
                <a:latin typeface="Calibri"/>
              </a:rPr>
              <a:t>What goes to the growth team?</a:t>
            </a:r>
          </a:p>
        </p:txBody>
      </p:sp>
      <p:sp>
        <p:nvSpPr>
          <p:cNvPr id="23" name="TextBox 2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4. Will Monday's table rebuild itself and hold?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36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Today teaches groupby, merge and reshape in six topics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six topics does chapter 6 own, and where did the morning teach the rest?</a:t>
            </a:r>
          </a:p>
        </p:txBody>
      </p:sp>
      <p:graphicFrame>
        <p:nvGraphicFramePr>
          <p:cNvPr id="9" name="Table 8"/>
          <p:cNvGraphicFramePr>
            <a:graphicFrameLocks noGrp="1"/>
          </p:cNvGraphicFramePr>
          <p:nvPr/>
        </p:nvGraphicFramePr>
        <p:xfrm>
          <a:off x="530352" y="1682496"/>
          <a:ext cx="11130989" cy="2176272"/>
        </p:xfrm>
        <a:graphic>
          <a:graphicData uri="http://schemas.openxmlformats.org/drawingml/2006/table">
            <a:tbl>
              <a:tblPr firstRow="0" bandRow="0">
                <a:tableStyleId>{2D5ABB26-0587-4C30-8999-92F81FD0307C}</a:tableStyleId>
              </a:tblPr>
              <a:tblGrid>
                <a:gridCol w="5645613"/>
                <a:gridCol w="3116032"/>
                <a:gridCol w="2369344"/>
              </a:tblGrid>
              <a:tr h="310896">
                <a:tc>
                  <a:txBody>
                    <a:bodyPr/>
                    <a:lstStyle/>
                    <a:p>
                      <a:r>
                        <a:rPr sz="950" b="1" i="0">
                          <a:solidFill>
                            <a:srgbClr val="FFFFFF"/>
                          </a:solidFill>
                          <a:latin typeface="Calibri"/>
                        </a:rPr>
                        <a:t>Topic, in the curriculum's words</a:t>
                      </a:r>
                    </a:p>
                  </a:txBody>
                  <a:tcPr marL="101600" marR="101600" marT="38100" marB="38100" anchor="ctr">
                    <a:solidFill>
                      <a:srgbClr val="1A0F5C"/>
                    </a:solidFill>
                  </a:tcPr>
                </a:tc>
                <a:tc>
                  <a:txBody>
                    <a:bodyPr/>
                    <a:lstStyle/>
                    <a:p>
                      <a:r>
                        <a:rPr sz="950" b="1" i="0">
                          <a:solidFill>
                            <a:srgbClr val="FFFFFF"/>
                          </a:solidFill>
                          <a:latin typeface="Calibri"/>
                        </a:rPr>
                        <a:t>Chapter</a:t>
                      </a:r>
                    </a:p>
                  </a:txBody>
                  <a:tcPr marL="101600" marR="101600" marT="38100" marB="38100" anchor="ctr">
                    <a:solidFill>
                      <a:srgbClr val="1A0F5C"/>
                    </a:solidFill>
                  </a:tcPr>
                </a:tc>
                <a:tc>
                  <a:txBody>
                    <a:bodyPr/>
                    <a:lstStyle/>
                    <a:p>
                      <a:r>
                        <a:rPr sz="950" b="1" i="0">
                          <a:solidFill>
                            <a:srgbClr val="FFFFFF"/>
                          </a:solidFill>
                          <a:latin typeface="Calibri"/>
                        </a:rPr>
                        <a:t>Minutes</a:t>
                      </a:r>
                    </a:p>
                  </a:txBody>
                  <a:tcPr marL="101600" marR="101600" marT="38100" marB="38100" anchor="ctr">
                    <a:solidFill>
                      <a:srgbClr val="1A0F5C"/>
                    </a:solidFill>
                  </a:tcPr>
                </a:tc>
              </a:tr>
              <a:tr h="310896">
                <a:tc>
                  <a:txBody>
                    <a:bodyPr/>
                    <a:lstStyle/>
                    <a:p>
                      <a:r>
                        <a:rPr sz="900" b="0" i="0">
                          <a:solidFill>
                            <a:srgbClr val="1A1440"/>
                          </a:solidFill>
                          <a:latin typeface="Calibri"/>
                        </a:rPr>
                        <a:t>read_sql from the warehouse into a DataFrame</a:t>
                      </a:r>
                    </a:p>
                  </a:txBody>
                  <a:tcPr marL="101600" marR="101600" marT="38100" marB="38100" anchor="ctr">
                    <a:solidFill>
                      <a:srgbClr val="FFFFFF"/>
                    </a:solidFill>
                  </a:tcPr>
                </a:tc>
                <a:tc>
                  <a:txBody>
                    <a:bodyPr/>
                    <a:lstStyle/>
                    <a:p>
                      <a:r>
                        <a:rPr sz="900" b="0" i="0">
                          <a:solidFill>
                            <a:srgbClr val="1A1440"/>
                          </a:solidFill>
                          <a:latin typeface="Calibri"/>
                        </a:rPr>
                        <a:t>1, then 6 inside the refresh</a:t>
                      </a:r>
                    </a:p>
                  </a:txBody>
                  <a:tcPr marL="101600" marR="101600" marT="38100" marB="38100" anchor="ctr">
                    <a:solidFill>
                      <a:srgbClr val="FFFFFF"/>
                    </a:solidFill>
                  </a:tcPr>
                </a:tc>
                <a:tc>
                  <a:txBody>
                    <a:bodyPr/>
                    <a:lstStyle/>
                    <a:p>
                      <a:r>
                        <a:rPr sz="900" b="0" i="0">
                          <a:solidFill>
                            <a:srgbClr val="1A1440"/>
                          </a:solidFill>
                          <a:latin typeface="Calibri"/>
                        </a:rPr>
                        <a:t>within chapters 1 and 6</a:t>
                      </a:r>
                    </a:p>
                  </a:txBody>
                  <a:tcPr marL="101600" marR="101600" marT="38100" marB="38100" anchor="ctr">
                    <a:solidFill>
                      <a:srgbClr val="FFFFFF"/>
                    </a:solidFill>
                  </a:tcPr>
                </a:tc>
              </a:tr>
              <a:tr h="310896">
                <a:tc>
                  <a:txBody>
                    <a:bodyPr/>
                    <a:lstStyle/>
                    <a:p>
                      <a:r>
                        <a:rPr sz="900" b="0" i="0">
                          <a:solidFill>
                            <a:srgbClr val="1A1440"/>
                          </a:solidFill>
                          <a:latin typeface="Calibri"/>
                        </a:rPr>
                        <a:t>groupby and agg; named aggregations; the customer table (recency, frequency, monetary)</a:t>
                      </a:r>
                    </a:p>
                  </a:txBody>
                  <a:tcPr marL="101600" marR="101600" marT="38100" marB="38100" anchor="ctr">
                    <a:solidFill>
                      <a:srgbClr val="F4F2FA"/>
                    </a:solidFill>
                  </a:tcPr>
                </a:tc>
                <a:tc>
                  <a:txBody>
                    <a:bodyPr/>
                    <a:lstStyle/>
                    <a:p>
                      <a:r>
                        <a:rPr sz="900" b="0" i="0">
                          <a:solidFill>
                            <a:srgbClr val="1A1440"/>
                          </a:solidFill>
                          <a:latin typeface="Calibri"/>
                        </a:rPr>
                        <a:t>1, with recency in days in 6</a:t>
                      </a:r>
                    </a:p>
                  </a:txBody>
                  <a:tcPr marL="101600" marR="101600" marT="38100" marB="38100" anchor="ctr">
                    <a:solidFill>
                      <a:srgbClr val="F4F2FA"/>
                    </a:solidFill>
                  </a:tcPr>
                </a:tc>
                <a:tc>
                  <a:txBody>
                    <a:bodyPr/>
                    <a:lstStyle/>
                    <a:p>
                      <a:r>
                        <a:rPr sz="900" b="0" i="0">
                          <a:solidFill>
                            <a:srgbClr val="1A1440"/>
                          </a:solidFill>
                          <a:latin typeface="Calibri"/>
                        </a:rPr>
                        <a:t>30</a:t>
                      </a:r>
                    </a:p>
                  </a:txBody>
                  <a:tcPr marL="101600" marR="101600" marT="38100" marB="38100" anchor="ctr">
                    <a:solidFill>
                      <a:srgbClr val="F4F2FA"/>
                    </a:solidFill>
                  </a:tcPr>
                </a:tc>
              </a:tr>
              <a:tr h="310896">
                <a:tc>
                  <a:txBody>
                    <a:bodyPr/>
                    <a:lstStyle/>
                    <a:p>
                      <a:r>
                        <a:rPr sz="900" b="0" i="0">
                          <a:solidFill>
                            <a:srgbClr val="1A1440"/>
                          </a:solidFill>
                          <a:latin typeface="Calibri"/>
                        </a:rPr>
                        <a:t>merge with validate= and the count habit</a:t>
                      </a:r>
                    </a:p>
                  </a:txBody>
                  <a:tcPr marL="101600" marR="101600" marT="38100" marB="38100" anchor="ctr">
                    <a:solidFill>
                      <a:srgbClr val="FFFFFF"/>
                    </a:solidFill>
                  </a:tcPr>
                </a:tc>
                <a:tc>
                  <a:txBody>
                    <a:bodyPr/>
                    <a:lstStyle/>
                    <a:p>
                      <a:r>
                        <a:rPr sz="900" b="0" i="0">
                          <a:solidFill>
                            <a:srgbClr val="1A1440"/>
                          </a:solidFill>
                          <a:latin typeface="Calibri"/>
                        </a:rPr>
                        <a:t>2, first used in 1</a:t>
                      </a:r>
                    </a:p>
                  </a:txBody>
                  <a:tcPr marL="101600" marR="101600" marT="38100" marB="38100" anchor="ctr">
                    <a:solidFill>
                      <a:srgbClr val="FFFFFF"/>
                    </a:solidFill>
                  </a:tcPr>
                </a:tc>
                <a:tc>
                  <a:txBody>
                    <a:bodyPr/>
                    <a:lstStyle/>
                    <a:p>
                      <a:r>
                        <a:rPr sz="900" b="0" i="0">
                          <a:solidFill>
                            <a:srgbClr val="1A1440"/>
                          </a:solidFill>
                          <a:latin typeface="Calibri"/>
                        </a:rPr>
                        <a:t>30</a:t>
                      </a:r>
                    </a:p>
                  </a:txBody>
                  <a:tcPr marL="101600" marR="101600" marT="38100" marB="38100" anchor="ctr">
                    <a:solidFill>
                      <a:srgbClr val="FFFFFF"/>
                    </a:solidFill>
                  </a:tcPr>
                </a:tc>
              </a:tr>
              <a:tr h="310896">
                <a:tc>
                  <a:txBody>
                    <a:bodyPr/>
                    <a:lstStyle/>
                    <a:p>
                      <a:r>
                        <a:rPr sz="900" b="0" i="0">
                          <a:solidFill>
                            <a:srgbClr val="1A1440"/>
                          </a:solidFill>
                          <a:latin typeface="Calibri"/>
                        </a:rPr>
                        <a:t>Reshape: pivot_table and melt</a:t>
                      </a:r>
                    </a:p>
                  </a:txBody>
                  <a:tcPr marL="101600" marR="101600" marT="38100" marB="38100" anchor="ctr">
                    <a:solidFill>
                      <a:srgbClr val="F4F2FA"/>
                    </a:solidFill>
                  </a:tcPr>
                </a:tc>
                <a:tc>
                  <a:txBody>
                    <a:bodyPr/>
                    <a:lstStyle/>
                    <a:p>
                      <a:r>
                        <a:rPr sz="900" b="0" i="0">
                          <a:solidFill>
                            <a:srgbClr val="1A1440"/>
                          </a:solidFill>
                          <a:latin typeface="Calibri"/>
                        </a:rPr>
                        <a:t>3</a:t>
                      </a:r>
                    </a:p>
                  </a:txBody>
                  <a:tcPr marL="101600" marR="101600" marT="38100" marB="38100" anchor="ctr">
                    <a:solidFill>
                      <a:srgbClr val="F4F2FA"/>
                    </a:solidFill>
                  </a:tcPr>
                </a:tc>
                <a:tc>
                  <a:txBody>
                    <a:bodyPr/>
                    <a:lstStyle/>
                    <a:p>
                      <a:r>
                        <a:rPr sz="900" b="0" i="0">
                          <a:solidFill>
                            <a:srgbClr val="1A1440"/>
                          </a:solidFill>
                          <a:latin typeface="Calibri"/>
                        </a:rPr>
                        <a:t>30</a:t>
                      </a:r>
                    </a:p>
                  </a:txBody>
                  <a:tcPr marL="101600" marR="101600" marT="38100" marB="38100" anchor="ctr">
                    <a:solidFill>
                      <a:srgbClr val="F4F2FA"/>
                    </a:solidFill>
                  </a:tcPr>
                </a:tc>
              </a:tr>
              <a:tr h="310896">
                <a:tc>
                  <a:txBody>
                    <a:bodyPr/>
                    <a:lstStyle/>
                    <a:p>
                      <a:r>
                        <a:rPr sz="900" b="0" i="0">
                          <a:solidFill>
                            <a:srgbClr val="1A1440"/>
                          </a:solidFill>
                          <a:latin typeface="Calibri"/>
                        </a:rPr>
                        <a:t>Chained transformations and dtype checks</a:t>
                      </a:r>
                    </a:p>
                  </a:txBody>
                  <a:tcPr marL="101600" marR="101600" marT="38100" marB="38100" anchor="ctr">
                    <a:solidFill>
                      <a:srgbClr val="FFFFFF"/>
                    </a:solidFill>
                  </a:tcPr>
                </a:tc>
                <a:tc>
                  <a:txBody>
                    <a:bodyPr/>
                    <a:lstStyle/>
                    <a:p>
                      <a:r>
                        <a:rPr sz="900" b="0" i="0">
                          <a:solidFill>
                            <a:srgbClr val="1A1440"/>
                          </a:solidFill>
                          <a:latin typeface="Calibri"/>
                        </a:rPr>
                        <a:t>6, first met in 1</a:t>
                      </a:r>
                    </a:p>
                  </a:txBody>
                  <a:tcPr marL="101600" marR="101600" marT="38100" marB="38100" anchor="ctr">
                    <a:solidFill>
                      <a:srgbClr val="FFFFFF"/>
                    </a:solidFill>
                  </a:tcPr>
                </a:tc>
                <a:tc>
                  <a:txBody>
                    <a:bodyPr/>
                    <a:lstStyle/>
                    <a:p>
                      <a:r>
                        <a:rPr sz="900" b="0" i="0">
                          <a:solidFill>
                            <a:srgbClr val="1A1440"/>
                          </a:solidFill>
                          <a:latin typeface="Calibri"/>
                        </a:rPr>
                        <a:t>30</a:t>
                      </a:r>
                    </a:p>
                  </a:txBody>
                  <a:tcPr marL="101600" marR="101600" marT="38100" marB="38100" anchor="ctr">
                    <a:solidFill>
                      <a:srgbClr val="FFFFFF"/>
                    </a:solidFill>
                  </a:tcPr>
                </a:tc>
              </a:tr>
              <a:tr h="310896">
                <a:tc>
                  <a:txBody>
                    <a:bodyPr/>
                    <a:lstStyle/>
                    <a:p>
                      <a:r>
                        <a:rPr sz="900" b="0" i="0">
                          <a:solidFill>
                            <a:srgbClr val="1A1440"/>
                          </a:solidFill>
                          <a:latin typeface="Calibri"/>
                        </a:rPr>
                        <a:t>The three-tool re-expression and the tool-choice note</a:t>
                      </a:r>
                    </a:p>
                  </a:txBody>
                  <a:tcPr marL="101600" marR="101600" marT="38100" marB="38100" anchor="ctr">
                    <a:solidFill>
                      <a:srgbClr val="F4F2FA"/>
                    </a:solidFill>
                  </a:tcPr>
                </a:tc>
                <a:tc>
                  <a:txBody>
                    <a:bodyPr/>
                    <a:lstStyle/>
                    <a:p>
                      <a:r>
                        <a:rPr sz="900" b="0" i="0">
                          <a:solidFill>
                            <a:srgbClr val="1A1440"/>
                          </a:solidFill>
                          <a:latin typeface="Calibri"/>
                        </a:rPr>
                        <a:t>4, then 5, then the second case</a:t>
                      </a:r>
                    </a:p>
                  </a:txBody>
                  <a:tcPr marL="101600" marR="101600" marT="38100" marB="38100" anchor="ctr">
                    <a:solidFill>
                      <a:srgbClr val="F4F2FA"/>
                    </a:solidFill>
                  </a:tcPr>
                </a:tc>
                <a:tc>
                  <a:txBody>
                    <a:bodyPr/>
                    <a:lstStyle/>
                    <a:p>
                      <a:r>
                        <a:rPr sz="900" b="0" i="0">
                          <a:solidFill>
                            <a:srgbClr val="1A1440"/>
                          </a:solidFill>
                          <a:latin typeface="Calibri"/>
                        </a:rPr>
                        <a:t>30, 30 and 40</a:t>
                      </a:r>
                    </a:p>
                  </a:txBody>
                  <a:tcPr marL="101600" marR="101600" marT="38100" marB="38100" anchor="ctr">
                    <a:solidFill>
                      <a:srgbClr val="F4F2FA"/>
                    </a:solidFill>
                  </a:tcPr>
                </a:tc>
              </a:tr>
            </a:tbl>
          </a:graphicData>
        </a:graphic>
      </p:graphicFrame>
      <p:pic>
        <p:nvPicPr>
          <p:cNvPr id="10" name="mermaid diagram" descr="635bd39fa6eaad55.png"/>
          <p:cNvPicPr>
            <a:picLocks noChangeAspect="1"/>
          </p:cNvPicPr>
          <p:nvPr/>
        </p:nvPicPr>
        <p:blipFill>
          <a:blip r:embed="rId5"/>
          <a:stretch>
            <a:fillRect/>
          </a:stretch>
        </p:blipFill>
        <p:spPr>
          <a:xfrm>
            <a:off x="1966797" y="4114800"/>
            <a:ext cx="8258100" cy="2084832"/>
          </a:xfrm>
          <a:prstGeom prst="rect">
            <a:avLst/>
          </a:prstGeom>
        </p:spPr>
      </p:pic>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3" name="Oval 12"/>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7" name="Oval 16"/>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19" name="Oval 18"/>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1" name="Oval 20"/>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S0  ·  2 / 36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542032"/>
            <a:ext cx="10673791" cy="317246"/>
          </a:xfrm>
          <a:prstGeom prst="rect">
            <a:avLst/>
          </a:prstGeom>
          <a:noFill/>
        </p:spPr>
        <p:txBody>
          <a:bodyPr wrap="square" anchor="t" lIns="0" rIns="0" tIns="0" bIns="0">
            <a:spAutoFit/>
          </a:bodyPr>
          <a:lstStyle/>
          <a:p>
            <a:pPr algn="l"/>
            <a:r>
              <a:rPr sz="1700" b="1" i="0">
                <a:solidFill>
                  <a:srgbClr val="D9A7FF"/>
                </a:solidFill>
                <a:latin typeface="Calibri"/>
              </a:rPr>
              <a:t>read_sql from the warehouse into a DataFrame; chained transformations and dtype checks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Will Monday rebuild it?</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Can the table rebuild itself every Monday and refuse to ship when something breaks, before the growth team sends a single code?</a:t>
            </a:r>
          </a:p>
        </p:txBody>
      </p:sp>
      <p:sp>
        <p:nvSpPr>
          <p:cNvPr id="11" name="Rounded Rectangle 10"/>
          <p:cNvSpPr/>
          <p:nvPr/>
        </p:nvSpPr>
        <p:spPr>
          <a:xfrm>
            <a:off x="731519" y="5074920"/>
            <a:ext cx="1557826"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Will Monday rebuild it?</a:t>
            </a:r>
          </a:p>
        </p:txBody>
      </p:sp>
      <p:sp>
        <p:nvSpPr>
          <p:cNvPr id="12" name="Rounded Rectangle 11"/>
          <p:cNvSpPr/>
          <p:nvPr/>
        </p:nvSpPr>
        <p:spPr>
          <a:xfrm>
            <a:off x="2399074"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build it alone?</a:t>
            </a:r>
          </a:p>
        </p:txBody>
      </p:sp>
      <p:sp>
        <p:nvSpPr>
          <p:cNvPr id="13" name="Rounded Rectangle 12"/>
          <p:cNvSpPr/>
          <p:nvPr/>
        </p:nvSpPr>
        <p:spPr>
          <a:xfrm>
            <a:off x="4066629" y="5074920"/>
            <a:ext cx="182479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room go wrong?</a:t>
            </a:r>
          </a:p>
        </p:txBody>
      </p:sp>
      <p:sp>
        <p:nvSpPr>
          <p:cNvPr id="14" name="Rounded Rectangle 13"/>
          <p:cNvSpPr/>
          <p:nvPr/>
        </p:nvSpPr>
        <p:spPr>
          <a:xfrm>
            <a:off x="6001148" y="5074920"/>
            <a:ext cx="171800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tool would you sign?</a:t>
            </a:r>
          </a:p>
        </p:txBody>
      </p:sp>
      <p:sp>
        <p:nvSpPr>
          <p:cNvPr id="15" name="Rounded Rectangle 14"/>
          <p:cNvSpPr/>
          <p:nvPr/>
        </p:nvSpPr>
        <p:spPr>
          <a:xfrm>
            <a:off x="7828881" y="5074920"/>
            <a:ext cx="177139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would you say it aloud?</a:t>
            </a:r>
          </a:p>
        </p:txBody>
      </p:sp>
      <p:sp>
        <p:nvSpPr>
          <p:cNvPr id="16" name="Rounded Rectangle 15"/>
          <p:cNvSpPr/>
          <p:nvPr/>
        </p:nvSpPr>
        <p:spPr>
          <a:xfrm>
            <a:off x="9710007" y="5074920"/>
            <a:ext cx="18781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to the growth team?</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4. Will Monday's table rebuild itself and hold?</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 / 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questions make the table safe to leave alone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must the growth team trust before Monday's send runs unwatched?</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growth team, who act on Monday's table with no analyst watching the run; a refresh that counts from the wrong day sends win-back codes to customers who bought a few weeks ago.</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way runs it?</a:t>
            </a:r>
          </a:p>
        </p:txBody>
      </p:sp>
      <p:sp>
        <p:nvSpPr>
          <p:cNvPr id="17" name="TextBox 16"/>
          <p:cNvSpPr txBox="1"/>
          <p:nvPr/>
        </p:nvSpPr>
        <p:spPr>
          <a:xfrm>
            <a:off x="69494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By hand, a report, guards or a view</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What is it told?</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Two inputs; the rest read from the data</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Who is on the 19 October list?</a:t>
            </a:r>
          </a:p>
        </p:txBody>
      </p:sp>
      <p:sp>
        <p:nvSpPr>
          <p:cNvPr id="27" name="TextBox 26"/>
          <p:cNvSpPr txBox="1"/>
          <p:nvPr/>
        </p:nvSpPr>
        <p:spPr>
          <a:xfrm>
            <a:off x="446623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Recency, and the date it counts to</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guards fire?</a:t>
            </a:r>
          </a:p>
        </p:txBody>
      </p:sp>
      <p:sp>
        <p:nvSpPr>
          <p:cNvPr id="32" name="TextBox 31"/>
          <p:cNvSpPr txBox="1"/>
          <p:nvPr/>
        </p:nvSpPr>
        <p:spPr>
          <a:xfrm>
            <a:off x="6351879"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Each one made to fire on a broken copy</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Do two runs agree?</a:t>
            </a:r>
          </a:p>
        </p:txBody>
      </p:sp>
      <p:sp>
        <p:nvSpPr>
          <p:cNvPr id="37" name="TextBox 36"/>
          <p:cNvSpPr txBox="1"/>
          <p:nvPr/>
        </p:nvSpPr>
        <p:spPr>
          <a:xfrm>
            <a:off x="823752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same data on two Mondays</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465836"/>
          </a:xfrm>
          <a:prstGeom prst="rect">
            <a:avLst/>
          </a:prstGeom>
          <a:noFill/>
        </p:spPr>
        <p:txBody>
          <a:bodyPr wrap="square" anchor="t" lIns="0" rIns="0" tIns="0" bIns="0">
            <a:spAutoFit/>
          </a:bodyPr>
          <a:lstStyle/>
          <a:p>
            <a:pPr algn="l"/>
            <a:r>
              <a:rPr sz="1300" b="1" i="0">
                <a:solidFill>
                  <a:srgbClr val="FFFFFF"/>
                </a:solidFill>
                <a:latin typeface="Calibri"/>
              </a:rPr>
              <a:t>Does the warehouse agree?</a:t>
            </a:r>
          </a:p>
        </p:txBody>
      </p:sp>
      <p:sp>
        <p:nvSpPr>
          <p:cNvPr id="42" name="TextBox 41"/>
          <p:cNvSpPr txBox="1"/>
          <p:nvPr/>
        </p:nvSpPr>
        <p:spPr>
          <a:xfrm>
            <a:off x="10123170" y="4464812"/>
            <a:ext cx="1373581" cy="366776"/>
          </a:xfrm>
          <a:prstGeom prst="rect">
            <a:avLst/>
          </a:prstGeom>
          <a:noFill/>
        </p:spPr>
        <p:txBody>
          <a:bodyPr wrap="square" anchor="t" lIns="0" rIns="0" tIns="0" bIns="0">
            <a:spAutoFit/>
          </a:bodyPr>
          <a:lstStyle/>
          <a:p>
            <a:pPr algn="l"/>
            <a:r>
              <a:rPr sz="1000" b="0" i="0">
                <a:solidFill>
                  <a:srgbClr val="CFC9EE"/>
                </a:solidFill>
                <a:latin typeface="Calibri"/>
              </a:rPr>
              <a:t>The list counted in SQL</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45" name="Oval 44"/>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47" name="Oval 4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49" name="Oval 48"/>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51" name="Oval 50"/>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53" name="Oval 52"/>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55" name="TextBox 5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4 / 36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win-back list goes out with nobody watching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growth team send from the refresh, and what does a bad Monday cost?</a:t>
            </a:r>
          </a:p>
        </p:txBody>
      </p:sp>
      <p:sp>
        <p:nvSpPr>
          <p:cNvPr id="9" name="TextBox 8"/>
          <p:cNvSpPr txBox="1"/>
          <p:nvPr/>
        </p:nvSpPr>
        <p:spPr>
          <a:xfrm>
            <a:off x="53035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60 days</a:t>
            </a:r>
          </a:p>
        </p:txBody>
      </p:sp>
      <p:sp>
        <p:nvSpPr>
          <p:cNvPr id="10" name="TextBox 9"/>
          <p:cNvSpPr txBox="1"/>
          <p:nvPr/>
        </p:nvSpPr>
        <p:spPr>
          <a:xfrm>
            <a:off x="53035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WIN-BACK LINE</a:t>
            </a:r>
          </a:p>
        </p:txBody>
      </p:sp>
      <p:sp>
        <p:nvSpPr>
          <p:cNvPr id="11" name="TextBox 10"/>
          <p:cNvSpPr txBox="1"/>
          <p:nvPr/>
        </p:nvSpPr>
        <p:spPr>
          <a:xfrm>
            <a:off x="53035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no order in the 60 days to the as-of date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every Monday</a:t>
            </a:r>
          </a:p>
        </p:txBody>
      </p:sp>
      <p:sp>
        <p:nvSpPr>
          <p:cNvPr id="14" name="TextBox 13"/>
          <p:cNvSpPr txBox="1"/>
          <p:nvPr/>
        </p:nvSpPr>
        <p:spPr>
          <a:xfrm>
            <a:off x="433212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REFRESH</a:t>
            </a:r>
          </a:p>
        </p:txBody>
      </p:sp>
      <p:sp>
        <p:nvSpPr>
          <p:cNvPr id="15" name="TextBox 14"/>
          <p:cNvSpPr txBox="1"/>
          <p:nvPr/>
        </p:nvSpPr>
        <p:spPr>
          <a:xfrm>
            <a:off x="433212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one run, no analyst at the desk</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71500"/>
          </a:xfrm>
          <a:prstGeom prst="rect">
            <a:avLst/>
          </a:prstGeom>
          <a:noFill/>
        </p:spPr>
        <p:txBody>
          <a:bodyPr wrap="square" anchor="t" lIns="0" rIns="0" tIns="0" bIns="0">
            <a:spAutoFit/>
          </a:bodyPr>
          <a:lstStyle/>
          <a:p>
            <a:pPr algn="l"/>
            <a:r>
              <a:rPr sz="3600" b="0" i="0">
                <a:solidFill>
                  <a:srgbClr val="5B3FD6"/>
                </a:solidFill>
                <a:latin typeface="Georgia"/>
              </a:rPr>
              <a:t>1 code each</a:t>
            </a:r>
          </a:p>
        </p:txBody>
      </p:sp>
      <p:sp>
        <p:nvSpPr>
          <p:cNvPr id="18" name="TextBox 17"/>
          <p:cNvSpPr txBox="1"/>
          <p:nvPr/>
        </p:nvSpPr>
        <p:spPr>
          <a:xfrm>
            <a:off x="8133892" y="2564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OFFER</a:t>
            </a:r>
          </a:p>
        </p:txBody>
      </p:sp>
      <p:sp>
        <p:nvSpPr>
          <p:cNvPr id="19" name="TextBox 18"/>
          <p:cNvSpPr txBox="1"/>
          <p:nvPr/>
        </p:nvSpPr>
        <p:spPr>
          <a:xfrm>
            <a:off x="8133892" y="2766060"/>
            <a:ext cx="3527450" cy="193421"/>
          </a:xfrm>
          <a:prstGeom prst="rect">
            <a:avLst/>
          </a:prstGeom>
          <a:noFill/>
        </p:spPr>
        <p:txBody>
          <a:bodyPr wrap="square" anchor="t" lIns="0" rIns="0" tIns="0" bIns="0">
            <a:spAutoFit/>
          </a:bodyPr>
          <a:lstStyle/>
          <a:p>
            <a:pPr algn="l"/>
            <a:r>
              <a:rPr sz="950" b="0" i="0">
                <a:solidFill>
                  <a:srgbClr val="6B6690"/>
                </a:solidFill>
                <a:latin typeface="Calibri"/>
              </a:rPr>
              <a:t>sent to every customer flagged lapsed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FFFFFF"/>
                </a:solidFill>
                <a:latin typeface="Calibri"/>
              </a:rPr>
              <a:t>"Make it refreshable in one run." The growth team adds: "and we send Monday's codes from whatever it produces."</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28" name="Oval 27"/>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30" name="Oval 29"/>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32" name="Oval 31"/>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34" name="Oval 33"/>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36" name="Oval 35"/>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5 / 36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England's lab refresh dropped 15,841 cases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else ran a daily refresh that dropped rows without an error?</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15,841</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CASES LEFT OUT</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25 September to 2 October 2020</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65,536</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PER .XLS SHEET</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old format's limit</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CSV files</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FETCHED AUTOMATICALLY</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from commercial laboratories</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ug_39ada6eff46d.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A refresh that never counts rows in against rows out loses them without an error, and a week of decisions rests on the short number.</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28" name="Oval 27"/>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30" name="Oval 29"/>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32" name="Oval 31"/>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34" name="Oval 33"/>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36" name="Oval 35"/>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6 /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function whose guards stop a bad run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four ways should run the Monday refresh, and what does each catch?</a:t>
            </a:r>
          </a:p>
        </p:txBody>
      </p:sp>
      <p:graphicFrame>
        <p:nvGraphicFramePr>
          <p:cNvPr id="9" name="Table 8"/>
          <p:cNvGraphicFramePr>
            <a:graphicFrameLocks noGrp="1"/>
          </p:cNvGraphicFramePr>
          <p:nvPr/>
        </p:nvGraphicFramePr>
        <p:xfrm>
          <a:off x="530352" y="1956816"/>
          <a:ext cx="11130990" cy="1676400"/>
        </p:xfrm>
        <a:graphic>
          <a:graphicData uri="http://schemas.openxmlformats.org/drawingml/2006/table">
            <a:tbl>
              <a:tblPr firstRow="0" bandRow="0">
                <a:tableStyleId>{2D5ABB26-0587-4C30-8999-92F81FD0307C}</a:tableStyleId>
              </a:tblPr>
              <a:tblGrid>
                <a:gridCol w="2720508"/>
                <a:gridCol w="3052453"/>
                <a:gridCol w="2803494"/>
                <a:gridCol w="2554535"/>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How it runs</a:t>
                      </a:r>
                    </a:p>
                  </a:txBody>
                  <a:tcPr marL="101600" marR="101600" marT="38100" marB="38100" anchor="ctr">
                    <a:solidFill>
                      <a:srgbClr val="1A0F5C"/>
                    </a:solidFill>
                  </a:tcPr>
                </a:tc>
                <a:tc>
                  <a:txBody>
                    <a:bodyPr/>
                    <a:lstStyle/>
                    <a:p>
                      <a:r>
                        <a:rPr sz="1250" b="1" i="0">
                          <a:solidFill>
                            <a:srgbClr val="FFFFFF"/>
                          </a:solidFill>
                          <a:latin typeface="Calibri"/>
                        </a:rPr>
                        <a:t>When a check fails</a:t>
                      </a:r>
                    </a:p>
                  </a:txBody>
                  <a:tcPr marL="101600" marR="101600" marT="38100" marB="38100" anchor="ctr">
                    <a:solidFill>
                      <a:srgbClr val="1A0F5C"/>
                    </a:solidFill>
                  </a:tcPr>
                </a:tc>
                <a:tc>
                  <a:txBody>
                    <a:bodyPr/>
                    <a:lstStyle/>
                    <a:p>
                      <a:r>
                        <a:rPr sz="1250" b="1" i="0">
                          <a:solidFill>
                            <a:srgbClr val="FFFFFF"/>
                          </a:solidFill>
                          <a:latin typeface="Calibri"/>
                        </a:rPr>
                        <a:t>Failures stopped, of four</a:t>
                      </a:r>
                    </a:p>
                  </a:txBody>
                  <a:tcPr marL="101600" marR="101600" marT="38100" marB="38100" anchor="ctr">
                    <a:solidFill>
                      <a:srgbClr val="1A0F5C"/>
                    </a:solidFill>
                  </a:tcPr>
                </a:tc>
              </a:tr>
              <a:tr h="335280">
                <a:tc>
                  <a:txBody>
                    <a:bodyPr/>
                    <a:lstStyle/>
                    <a:p>
                      <a:r>
                        <a:rPr sz="1200" b="0" i="0">
                          <a:solidFill>
                            <a:srgbClr val="1A1440"/>
                          </a:solidFill>
                          <a:latin typeface="Calibri"/>
                        </a:rPr>
                        <a:t>a) Rerun the notebooks by hand</a:t>
                      </a:r>
                    </a:p>
                  </a:txBody>
                  <a:tcPr marL="101600" marR="101600" marT="38100" marB="38100" anchor="ctr">
                    <a:solidFill>
                      <a:srgbClr val="FFFFFF"/>
                    </a:solidFill>
                  </a:tcPr>
                </a:tc>
                <a:tc>
                  <a:txBody>
                    <a:bodyPr/>
                    <a:lstStyle/>
                    <a:p>
                      <a:r>
                        <a:rPr sz="1200" b="0" i="0">
                          <a:solidFill>
                            <a:srgbClr val="1A1440"/>
                          </a:solidFill>
                          <a:latin typeface="Calibri"/>
                        </a:rPr>
                        <a:t>An analyst reruns chapters 1 to 5</a:t>
                      </a:r>
                    </a:p>
                  </a:txBody>
                  <a:tcPr marL="101600" marR="101600" marT="38100" marB="38100" anchor="ctr">
                    <a:solidFill>
                      <a:srgbClr val="FFFFFF"/>
                    </a:solidFill>
                  </a:tcPr>
                </a:tc>
                <a:tc>
                  <a:txBody>
                    <a:bodyPr/>
                    <a:lstStyle/>
                    <a:p>
                      <a:r>
                        <a:rPr sz="1200" b="0" i="0">
                          <a:solidFill>
                            <a:srgbClr val="1A1440"/>
                          </a:solidFill>
                          <a:latin typeface="Calibri"/>
                        </a:rPr>
                        <a:t>Ships if the analyst misses it</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r>
              <a:tr h="335280">
                <a:tc>
                  <a:txBody>
                    <a:bodyPr/>
                    <a:lstStyle/>
                    <a:p>
                      <a:r>
                        <a:rPr sz="1200" b="0" i="0">
                          <a:solidFill>
                            <a:srgbClr val="1A1440"/>
                          </a:solidFill>
                          <a:latin typeface="Calibri"/>
                        </a:rPr>
                        <a:t>b) A function that reports</a:t>
                      </a:r>
                    </a:p>
                  </a:txBody>
                  <a:tcPr marL="101600" marR="101600" marT="38100" marB="38100" anchor="ctr">
                    <a:solidFill>
                      <a:srgbClr val="F4F2FA"/>
                    </a:solidFill>
                  </a:tcPr>
                </a:tc>
                <a:tc>
                  <a:txBody>
                    <a:bodyPr/>
                    <a:lstStyle/>
                    <a:p>
                      <a:r>
                        <a:rPr sz="1200" b="0" i="0">
                          <a:solidFill>
                            <a:srgbClr val="1A1440"/>
                          </a:solidFill>
                          <a:latin typeface="Calibri"/>
                        </a:rPr>
                        <a:t>Prints PASS or FAIL for each check</a:t>
                      </a:r>
                    </a:p>
                  </a:txBody>
                  <a:tcPr marL="101600" marR="101600" marT="38100" marB="38100" anchor="ctr">
                    <a:solidFill>
                      <a:srgbClr val="F4F2FA"/>
                    </a:solidFill>
                  </a:tcPr>
                </a:tc>
                <a:tc>
                  <a:txBody>
                    <a:bodyPr/>
                    <a:lstStyle/>
                    <a:p>
                      <a:r>
                        <a:rPr sz="1200" b="0" i="0">
                          <a:solidFill>
                            <a:srgbClr val="1A1440"/>
                          </a:solidFill>
                          <a:latin typeface="Calibri"/>
                        </a:rPr>
                        <a:t>Ships, with a FAIL beside it</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r>
              <a:tr h="335280">
                <a:tc>
                  <a:txBody>
                    <a:bodyPr/>
                    <a:lstStyle/>
                    <a:p>
                      <a:r>
                        <a:rPr sz="1200" b="0" i="0">
                          <a:solidFill>
                            <a:srgbClr val="1A1440"/>
                          </a:solidFill>
                          <a:latin typeface="Calibri"/>
                        </a:rPr>
                        <a:t>c) A function with guards</a:t>
                      </a:r>
                    </a:p>
                  </a:txBody>
                  <a:tcPr marL="101600" marR="101600" marT="38100" marB="38100" anchor="ctr">
                    <a:solidFill>
                      <a:srgbClr val="FFFFFF"/>
                    </a:solidFill>
                  </a:tcPr>
                </a:tc>
                <a:tc>
                  <a:txBody>
                    <a:bodyPr/>
                    <a:lstStyle/>
                    <a:p>
                      <a:r>
                        <a:rPr sz="1200" b="0" i="0">
                          <a:solidFill>
                            <a:srgbClr val="1A1440"/>
                          </a:solidFill>
                          <a:latin typeface="Calibri"/>
                        </a:rPr>
                        <a:t>Every failed check raises an error</a:t>
                      </a:r>
                    </a:p>
                  </a:txBody>
                  <a:tcPr marL="101600" marR="101600" marT="38100" marB="38100" anchor="ctr">
                    <a:solidFill>
                      <a:srgbClr val="FFFFFF"/>
                    </a:solidFill>
                  </a:tcPr>
                </a:tc>
                <a:tc>
                  <a:txBody>
                    <a:bodyPr/>
                    <a:lstStyle/>
                    <a:p>
                      <a:r>
                        <a:rPr sz="1200" b="0" i="0">
                          <a:solidFill>
                            <a:srgbClr val="1A1440"/>
                          </a:solidFill>
                          <a:latin typeface="Calibri"/>
                        </a:rPr>
                        <a:t>Not written; the error says why</a:t>
                      </a:r>
                    </a:p>
                  </a:txBody>
                  <a:tcPr marL="101600" marR="101600" marT="38100" marB="38100" anchor="ctr">
                    <a:solidFill>
                      <a:srgbClr val="FFFFFF"/>
                    </a:solidFill>
                  </a:tcPr>
                </a:tc>
                <a:tc>
                  <a:txBody>
                    <a:bodyPr/>
                    <a:lstStyle/>
                    <a:p>
                      <a:r>
                        <a:rPr sz="1200" b="0" i="0">
                          <a:solidFill>
                            <a:srgbClr val="1A1440"/>
                          </a:solidFill>
                          <a:latin typeface="Calibri"/>
                        </a:rPr>
                        <a:t>4</a:t>
                      </a:r>
                    </a:p>
                  </a:txBody>
                  <a:tcPr marL="101600" marR="101600" marT="38100" marB="38100" anchor="ctr">
                    <a:solidFill>
                      <a:srgbClr val="FFFFFF"/>
                    </a:solidFill>
                  </a:tcPr>
                </a:tc>
              </a:tr>
              <a:tr h="335280">
                <a:tc>
                  <a:txBody>
                    <a:bodyPr/>
                    <a:lstStyle/>
                    <a:p>
                      <a:r>
                        <a:rPr sz="1200" b="0" i="0">
                          <a:solidFill>
                            <a:srgbClr val="1A1440"/>
                          </a:solidFill>
                          <a:latin typeface="Calibri"/>
                        </a:rPr>
                        <a:t>d) The table as a SQL view</a:t>
                      </a:r>
                    </a:p>
                  </a:txBody>
                  <a:tcPr marL="101600" marR="101600" marT="38100" marB="38100" anchor="ctr">
                    <a:solidFill>
                      <a:srgbClr val="F4F2FA"/>
                    </a:solidFill>
                  </a:tcPr>
                </a:tc>
                <a:tc>
                  <a:txBody>
                    <a:bodyPr/>
                    <a:lstStyle/>
                    <a:p>
                      <a:r>
                        <a:rPr sz="1200" b="0" i="0">
                          <a:solidFill>
                            <a:srgbClr val="1A1440"/>
                          </a:solidFill>
                          <a:latin typeface="Calibri"/>
                        </a:rPr>
                        <a:t>The warehouse builds it when read</a:t>
                      </a:r>
                    </a:p>
                  </a:txBody>
                  <a:tcPr marL="101600" marR="101600" marT="38100" marB="38100" anchor="ctr">
                    <a:solidFill>
                      <a:srgbClr val="F4F2FA"/>
                    </a:solidFill>
                  </a:tcPr>
                </a:tc>
                <a:tc>
                  <a:txBody>
                    <a:bodyPr/>
                    <a:lstStyle/>
                    <a:p>
                      <a:r>
                        <a:rPr sz="1200" b="0" i="0">
                          <a:solidFill>
                            <a:srgbClr val="1A1440"/>
                          </a:solidFill>
                          <a:latin typeface="Calibri"/>
                        </a:rPr>
                        <a:t>Nothing runs to fail</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11582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c: of the four failures the day has met, a customer missing, a customer sent twice, spend off the warehouse and a repeated key, only c stops all four before the table ships. What would switch it: readers querying the table from the warehouse, such as a dashboard; then d, with the checks as the warehouse's own tests.</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5" name="Oval 14"/>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7" name="Oval 1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9" name="Oval 18"/>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1" name="Oval 20"/>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3" name="Oval 22"/>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7 / 36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refresh is told two things and reads the rest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must the refresh be told, and what can it read from the data itself?</a:t>
            </a:r>
          </a:p>
        </p:txBody>
      </p:sp>
      <p:pic>
        <p:nvPicPr>
          <p:cNvPr id="9" name="mermaid diagram" descr="c5a49d1f1c6d72f8.png"/>
          <p:cNvPicPr>
            <a:picLocks noChangeAspect="1"/>
          </p:cNvPicPr>
          <p:nvPr/>
        </p:nvPicPr>
        <p:blipFill>
          <a:blip r:embed="rId5"/>
          <a:stretch>
            <a:fillRect/>
          </a:stretch>
        </p:blipFill>
        <p:spPr>
          <a:xfrm>
            <a:off x="1002353" y="1956816"/>
            <a:ext cx="10186987" cy="1800225"/>
          </a:xfrm>
          <a:prstGeom prst="rect">
            <a:avLst/>
          </a:prstGeom>
        </p:spPr>
      </p:pic>
      <p:sp>
        <p:nvSpPr>
          <p:cNvPr id="10" name="TextBox 9"/>
          <p:cNvSpPr txBox="1"/>
          <p:nvPr/>
        </p:nvSpPr>
        <p:spPr>
          <a:xfrm>
            <a:off x="530352" y="3903345"/>
            <a:ext cx="3527450" cy="444500"/>
          </a:xfrm>
          <a:prstGeom prst="rect">
            <a:avLst/>
          </a:prstGeom>
          <a:noFill/>
        </p:spPr>
        <p:txBody>
          <a:bodyPr wrap="square" anchor="t" lIns="0" rIns="0" tIns="0" bIns="0">
            <a:spAutoFit/>
          </a:bodyPr>
          <a:lstStyle/>
          <a:p>
            <a:pPr algn="l"/>
            <a:r>
              <a:rPr sz="2800" b="0" i="0">
                <a:solidFill>
                  <a:srgbClr val="5B3FD6"/>
                </a:solidFill>
                <a:latin typeface="Georgia"/>
              </a:rPr>
              <a:t>340</a:t>
            </a:r>
          </a:p>
        </p:txBody>
      </p:sp>
      <p:sp>
        <p:nvSpPr>
          <p:cNvPr id="11" name="TextBox 10"/>
          <p:cNvSpPr txBox="1"/>
          <p:nvPr/>
        </p:nvSpPr>
        <p:spPr>
          <a:xfrm>
            <a:off x="530352" y="4384420"/>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a:t>
            </a:r>
          </a:p>
        </p:txBody>
      </p:sp>
      <p:sp>
        <p:nvSpPr>
          <p:cNvPr id="12" name="TextBox 11"/>
          <p:cNvSpPr txBox="1"/>
          <p:nvPr/>
        </p:nvSpPr>
        <p:spPr>
          <a:xfrm>
            <a:off x="530352" y="4585588"/>
            <a:ext cx="3527450" cy="193421"/>
          </a:xfrm>
          <a:prstGeom prst="rect">
            <a:avLst/>
          </a:prstGeom>
          <a:noFill/>
        </p:spPr>
        <p:txBody>
          <a:bodyPr wrap="square" anchor="t" lIns="0" rIns="0" tIns="0" bIns="0">
            <a:spAutoFit/>
          </a:bodyPr>
          <a:lstStyle/>
          <a:p>
            <a:pPr algn="l"/>
            <a:r>
              <a:rPr sz="950" b="0" i="0">
                <a:solidFill>
                  <a:srgbClr val="6B6690"/>
                </a:solidFill>
                <a:latin typeface="Calibri"/>
              </a:rPr>
              <a:t>read from the customer list</a:t>
            </a:r>
          </a:p>
        </p:txBody>
      </p:sp>
      <p:sp>
        <p:nvSpPr>
          <p:cNvPr id="13" name="Rectangle 12"/>
          <p:cNvSpPr/>
          <p:nvPr/>
        </p:nvSpPr>
        <p:spPr>
          <a:xfrm>
            <a:off x="530352" y="5092065"/>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32122" y="3903345"/>
            <a:ext cx="3527450" cy="444500"/>
          </a:xfrm>
          <a:prstGeom prst="rect">
            <a:avLst/>
          </a:prstGeom>
          <a:noFill/>
        </p:spPr>
        <p:txBody>
          <a:bodyPr wrap="square" anchor="t" lIns="0" rIns="0" tIns="0" bIns="0">
            <a:spAutoFit/>
          </a:bodyPr>
          <a:lstStyle/>
          <a:p>
            <a:pPr algn="l"/>
            <a:r>
              <a:rPr sz="2800" b="0" i="0">
                <a:solidFill>
                  <a:srgbClr val="5B3FD6"/>
                </a:solidFill>
                <a:latin typeface="Georgia"/>
              </a:rPr>
              <a:t>Rs 19,84,00,000</a:t>
            </a:r>
          </a:p>
        </p:txBody>
      </p:sp>
      <p:sp>
        <p:nvSpPr>
          <p:cNvPr id="15" name="TextBox 14"/>
          <p:cNvSpPr txBox="1"/>
          <p:nvPr/>
        </p:nvSpPr>
        <p:spPr>
          <a:xfrm>
            <a:off x="4332122" y="4384420"/>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SPEND</a:t>
            </a:r>
          </a:p>
        </p:txBody>
      </p:sp>
      <p:sp>
        <p:nvSpPr>
          <p:cNvPr id="16" name="TextBox 15"/>
          <p:cNvSpPr txBox="1"/>
          <p:nvPr/>
        </p:nvSpPr>
        <p:spPr>
          <a:xfrm>
            <a:off x="4332122" y="4585588"/>
            <a:ext cx="3527450" cy="193421"/>
          </a:xfrm>
          <a:prstGeom prst="rect">
            <a:avLst/>
          </a:prstGeom>
          <a:noFill/>
        </p:spPr>
        <p:txBody>
          <a:bodyPr wrap="square" anchor="t" lIns="0" rIns="0" tIns="0" bIns="0">
            <a:spAutoFit/>
          </a:bodyPr>
          <a:lstStyle/>
          <a:p>
            <a:pPr algn="l"/>
            <a:r>
              <a:rPr sz="950" b="0" i="0">
                <a:solidFill>
                  <a:srgbClr val="6B6690"/>
                </a:solidFill>
                <a:latin typeface="Calibri"/>
              </a:rPr>
              <a:t>read from the orders</a:t>
            </a:r>
          </a:p>
        </p:txBody>
      </p:sp>
      <p:sp>
        <p:nvSpPr>
          <p:cNvPr id="17" name="Rectangle 16"/>
          <p:cNvSpPr/>
          <p:nvPr/>
        </p:nvSpPr>
        <p:spPr>
          <a:xfrm>
            <a:off x="4332122" y="5092065"/>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33892" y="3903345"/>
            <a:ext cx="3527450" cy="444500"/>
          </a:xfrm>
          <a:prstGeom prst="rect">
            <a:avLst/>
          </a:prstGeom>
          <a:noFill/>
        </p:spPr>
        <p:txBody>
          <a:bodyPr wrap="square" anchor="t" lIns="0" rIns="0" tIns="0" bIns="0">
            <a:spAutoFit/>
          </a:bodyPr>
          <a:lstStyle/>
          <a:p>
            <a:pPr algn="l"/>
            <a:r>
              <a:rPr sz="2800" b="0" i="0">
                <a:solidFill>
                  <a:srgbClr val="5B3FD6"/>
                </a:solidFill>
                <a:latin typeface="Georgia"/>
              </a:rPr>
              <a:t>130</a:t>
            </a:r>
          </a:p>
        </p:txBody>
      </p:sp>
      <p:sp>
        <p:nvSpPr>
          <p:cNvPr id="19" name="TextBox 18"/>
          <p:cNvSpPr txBox="1"/>
          <p:nvPr/>
        </p:nvSpPr>
        <p:spPr>
          <a:xfrm>
            <a:off x="8133892" y="4384420"/>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REACHED</a:t>
            </a:r>
          </a:p>
        </p:txBody>
      </p:sp>
      <p:sp>
        <p:nvSpPr>
          <p:cNvPr id="20" name="TextBox 19"/>
          <p:cNvSpPr txBox="1"/>
          <p:nvPr/>
        </p:nvSpPr>
        <p:spPr>
          <a:xfrm>
            <a:off x="8133892" y="4585588"/>
            <a:ext cx="3527450" cy="193421"/>
          </a:xfrm>
          <a:prstGeom prst="rect">
            <a:avLst/>
          </a:prstGeom>
          <a:noFill/>
        </p:spPr>
        <p:txBody>
          <a:bodyPr wrap="square" anchor="t" lIns="0" rIns="0" tIns="0" bIns="0">
            <a:spAutoFit/>
          </a:bodyPr>
          <a:lstStyle/>
          <a:p>
            <a:pPr algn="l"/>
            <a:r>
              <a:rPr sz="950" b="0" i="0">
                <a:solidFill>
                  <a:srgbClr val="6B6690"/>
                </a:solidFill>
                <a:latin typeface="Calibri"/>
              </a:rPr>
              <a:t>read from the feed, first touch</a:t>
            </a:r>
          </a:p>
        </p:txBody>
      </p:sp>
      <p:sp>
        <p:nvSpPr>
          <p:cNvPr id="21" name="Rectangle 20"/>
          <p:cNvSpPr/>
          <p:nvPr/>
        </p:nvSpPr>
        <p:spPr>
          <a:xfrm>
            <a:off x="8133892" y="5092065"/>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24" name="Oval 23"/>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26" name="Oval 25"/>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8" name="Oval 27"/>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30" name="Oval 29"/>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32" name="Oval 31"/>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8 / 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chain can change a dtype without raising an error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a chained transformation, and where does its dtype check go?</a:t>
            </a:r>
          </a:p>
        </p:txBody>
      </p:sp>
      <p:sp>
        <p:nvSpPr>
          <p:cNvPr id="9" name="TextBox 8"/>
          <p:cNvSpPr txBox="1"/>
          <p:nvPr/>
        </p:nvSpPr>
        <p:spPr>
          <a:xfrm>
            <a:off x="530352" y="1885696"/>
            <a:ext cx="11130991" cy="1186688"/>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A chained transformation is a run of steps, each taking the frame the step before it returned and handing a new one on. build_table() is one: read_sql from the warehouse, groupby and agg, a merge onto the customer list, a merge with the sale's feed, then the fill. No step checks the one before it, so a type that changes on the way changes in silence. Three invented customers:</a:t>
            </a:r>
          </a:p>
        </p:txBody>
      </p:sp>
      <p:graphicFrame>
        <p:nvGraphicFramePr>
          <p:cNvPr id="10" name="Table 9"/>
          <p:cNvGraphicFramePr>
            <a:graphicFrameLocks noGrp="1"/>
          </p:cNvGraphicFramePr>
          <p:nvPr/>
        </p:nvGraphicFramePr>
        <p:xfrm>
          <a:off x="530352" y="3200400"/>
          <a:ext cx="11130989" cy="1341120"/>
        </p:xfrm>
        <a:graphic>
          <a:graphicData uri="http://schemas.openxmlformats.org/drawingml/2006/table">
            <a:tbl>
              <a:tblPr firstRow="0" bandRow="0">
                <a:tableStyleId>{2D5ABB26-0587-4C30-8999-92F81FD0307C}</a:tableStyleId>
              </a:tblPr>
              <a:tblGrid>
                <a:gridCol w="6818735"/>
                <a:gridCol w="2711259"/>
                <a:gridCol w="1600995"/>
              </a:tblGrid>
              <a:tr h="335280">
                <a:tc>
                  <a:txBody>
                    <a:bodyPr/>
                    <a:lstStyle/>
                    <a:p>
                      <a:r>
                        <a:rPr sz="1250" b="1" i="0">
                          <a:solidFill>
                            <a:srgbClr val="FFFFFF"/>
                          </a:solidFill>
                          <a:latin typeface="Calibri"/>
                        </a:rPr>
                        <a:t>Step, on invented customers A, B and C</a:t>
                      </a:r>
                    </a:p>
                  </a:txBody>
                  <a:tcPr marL="101600" marR="101600" marT="38100" marB="38100" anchor="ctr">
                    <a:solidFill>
                      <a:srgbClr val="1A0F5C"/>
                    </a:solidFill>
                  </a:tcPr>
                </a:tc>
                <a:tc>
                  <a:txBody>
                    <a:bodyPr/>
                    <a:lstStyle/>
                    <a:p>
                      <a:r>
                        <a:rPr sz="1250" b="1" i="0">
                          <a:solidFill>
                            <a:srgbClr val="FFFFFF"/>
                          </a:solidFill>
                          <a:latin typeface="Calibri"/>
                        </a:rPr>
                        <a:t>n, the count</a:t>
                      </a:r>
                    </a:p>
                  </a:txBody>
                  <a:tcPr marL="101600" marR="101600" marT="38100" marB="38100" anchor="ctr">
                    <a:solidFill>
                      <a:srgbClr val="1A0F5C"/>
                    </a:solidFill>
                  </a:tcPr>
                </a:tc>
                <a:tc>
                  <a:txBody>
                    <a:bodyPr/>
                    <a:lstStyle/>
                    <a:p>
                      <a:r>
                        <a:rPr sz="1250" b="1" i="0">
                          <a:solidFill>
                            <a:srgbClr val="FFFFFF"/>
                          </a:solidFill>
                          <a:latin typeface="Calibri"/>
                        </a:rPr>
                        <a:t>Its dtype</a:t>
                      </a:r>
                    </a:p>
                  </a:txBody>
                  <a:tcPr marL="101600" marR="101600" marT="38100" marB="38100" anchor="ctr">
                    <a:solidFill>
                      <a:srgbClr val="1A0F5C"/>
                    </a:solidFill>
                  </a:tcPr>
                </a:tc>
              </a:tr>
              <a:tr h="335280">
                <a:tc>
                  <a:txBody>
                    <a:bodyPr/>
                    <a:lstStyle/>
                    <a:p>
                      <a:r>
                        <a:rPr sz="1200" b="0" i="0">
                          <a:solidFill>
                            <a:srgbClr val="1A1440"/>
                          </a:solidFill>
                          <a:latin typeface="Calibri"/>
                        </a:rPr>
                        <a:t>orders.groupby("customer").agg(n=("order", "count"))</a:t>
                      </a:r>
                    </a:p>
                  </a:txBody>
                  <a:tcPr marL="101600" marR="101600" marT="38100" marB="38100" anchor="ctr">
                    <a:solidFill>
                      <a:srgbClr val="FFFFFF"/>
                    </a:solidFill>
                  </a:tcPr>
                </a:tc>
                <a:tc>
                  <a:txBody>
                    <a:bodyPr/>
                    <a:lstStyle/>
                    <a:p>
                      <a:r>
                        <a:rPr sz="1200" b="0" i="0">
                          <a:solidFill>
                            <a:srgbClr val="1A1440"/>
                          </a:solidFill>
                          <a:latin typeface="Calibri"/>
                        </a:rPr>
                        <a:t>A 2, B 1</a:t>
                      </a:r>
                    </a:p>
                  </a:txBody>
                  <a:tcPr marL="101600" marR="101600" marT="38100" marB="38100" anchor="ctr">
                    <a:solidFill>
                      <a:srgbClr val="FFFFFF"/>
                    </a:solidFill>
                  </a:tcPr>
                </a:tc>
                <a:tc>
                  <a:txBody>
                    <a:bodyPr/>
                    <a:lstStyle/>
                    <a:p>
                      <a:r>
                        <a:rPr sz="1200" b="0" i="0">
                          <a:solidFill>
                            <a:srgbClr val="1A1440"/>
                          </a:solidFill>
                          <a:latin typeface="Calibri"/>
                        </a:rPr>
                        <a:t>int64</a:t>
                      </a:r>
                    </a:p>
                  </a:txBody>
                  <a:tcPr marL="101600" marR="101600" marT="38100" marB="38100" anchor="ctr">
                    <a:solidFill>
                      <a:srgbClr val="FFFFFF"/>
                    </a:solidFill>
                  </a:tcPr>
                </a:tc>
              </a:tr>
              <a:tr h="335280">
                <a:tc>
                  <a:txBody>
                    <a:bodyPr/>
                    <a:lstStyle/>
                    <a:p>
                      <a:r>
                        <a:rPr sz="1200" b="0" i="0">
                          <a:solidFill>
                            <a:srgbClr val="1A1440"/>
                          </a:solidFill>
                          <a:latin typeface="Calibri"/>
                        </a:rPr>
                        <a:t>customers.merge(counts, on="customer", how="left")</a:t>
                      </a:r>
                    </a:p>
                  </a:txBody>
                  <a:tcPr marL="101600" marR="101600" marT="38100" marB="38100" anchor="ctr">
                    <a:solidFill>
                      <a:srgbClr val="F4F2FA"/>
                    </a:solidFill>
                  </a:tcPr>
                </a:tc>
                <a:tc>
                  <a:txBody>
                    <a:bodyPr/>
                    <a:lstStyle/>
                    <a:p>
                      <a:r>
                        <a:rPr sz="1200" b="0" i="0">
                          <a:solidFill>
                            <a:srgbClr val="1A1440"/>
                          </a:solidFill>
                          <a:latin typeface="Calibri"/>
                        </a:rPr>
                        <a:t>A 2.0, B 1.0, C NaN</a:t>
                      </a:r>
                    </a:p>
                  </a:txBody>
                  <a:tcPr marL="101600" marR="101600" marT="38100" marB="38100" anchor="ctr">
                    <a:solidFill>
                      <a:srgbClr val="F4F2FA"/>
                    </a:solidFill>
                  </a:tcPr>
                </a:tc>
                <a:tc>
                  <a:txBody>
                    <a:bodyPr/>
                    <a:lstStyle/>
                    <a:p>
                      <a:r>
                        <a:rPr sz="1200" b="0" i="0">
                          <a:solidFill>
                            <a:srgbClr val="1A1440"/>
                          </a:solidFill>
                          <a:latin typeface="Calibri"/>
                        </a:rPr>
                        <a:t>float64</a:t>
                      </a:r>
                    </a:p>
                  </a:txBody>
                  <a:tcPr marL="101600" marR="101600" marT="38100" marB="38100" anchor="ctr">
                    <a:solidFill>
                      <a:srgbClr val="F4F2FA"/>
                    </a:solidFill>
                  </a:tcPr>
                </a:tc>
              </a:tr>
              <a:tr h="335280">
                <a:tc>
                  <a:txBody>
                    <a:bodyPr/>
                    <a:lstStyle/>
                    <a:p>
                      <a:r>
                        <a:rPr sz="1200" b="0" i="0">
                          <a:solidFill>
                            <a:srgbClr val="1A1440"/>
                          </a:solidFill>
                          <a:latin typeface="Calibri"/>
                        </a:rPr>
                        <a:t>t["n"].fillna(0).astype("int64")</a:t>
                      </a:r>
                    </a:p>
                  </a:txBody>
                  <a:tcPr marL="101600" marR="101600" marT="38100" marB="38100" anchor="ctr">
                    <a:solidFill>
                      <a:srgbClr val="FFFFFF"/>
                    </a:solidFill>
                  </a:tcPr>
                </a:tc>
                <a:tc>
                  <a:txBody>
                    <a:bodyPr/>
                    <a:lstStyle/>
                    <a:p>
                      <a:r>
                        <a:rPr sz="1200" b="0" i="0">
                          <a:solidFill>
                            <a:srgbClr val="1A1440"/>
                          </a:solidFill>
                          <a:latin typeface="Calibri"/>
                        </a:rPr>
                        <a:t>A 2, B 1, C 0</a:t>
                      </a:r>
                    </a:p>
                  </a:txBody>
                  <a:tcPr marL="101600" marR="101600" marT="38100" marB="38100" anchor="ctr">
                    <a:solidFill>
                      <a:srgbClr val="FFFFFF"/>
                    </a:solidFill>
                  </a:tcPr>
                </a:tc>
                <a:tc>
                  <a:txBody>
                    <a:bodyPr/>
                    <a:lstStyle/>
                    <a:p>
                      <a:r>
                        <a:rPr sz="1200" b="0" i="0">
                          <a:solidFill>
                            <a:srgbClr val="1A1440"/>
                          </a:solidFill>
                          <a:latin typeface="Calibri"/>
                        </a:rPr>
                        <a:t>int64</a:t>
                      </a:r>
                    </a:p>
                  </a:txBody>
                  <a:tcPr marL="101600" marR="101600" marT="38100" marB="38100" anchor="ctr">
                    <a:solidFill>
                      <a:srgbClr val="FFFFFF"/>
                    </a:solidFill>
                  </a:tcPr>
                </a:tc>
              </a:tr>
            </a:tbl>
          </a:graphicData>
        </a:graphic>
      </p:graphicFrame>
      <p:sp>
        <p:nvSpPr>
          <p:cNvPr id="11" name="Rounded Rectangle 10"/>
          <p:cNvSpPr/>
          <p:nvPr/>
        </p:nvSpPr>
        <p:spPr>
          <a:xfrm>
            <a:off x="530352" y="4797552"/>
            <a:ext cx="11130991" cy="119888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925568"/>
            <a:ext cx="45720" cy="94284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916424"/>
            <a:ext cx="10564063" cy="1016000"/>
          </a:xfrm>
          <a:prstGeom prst="rect">
            <a:avLst/>
          </a:prstGeom>
          <a:noFill/>
        </p:spPr>
        <p:txBody>
          <a:bodyPr wrap="square" anchor="ctr" lIns="0" rIns="0" tIns="0" bIns="0">
            <a:spAutoFit/>
          </a:bodyPr>
          <a:lstStyle/>
          <a:p>
            <a:r>
              <a:rPr sz="1300" b="1">
                <a:solidFill>
                  <a:srgbClr val="5B3FD6"/>
                </a:solidFill>
                <a:latin typeface="Calibri"/>
              </a:rPr>
              <a:t>Question. </a:t>
            </a:r>
            <a:r>
              <a:rPr sz="1300" b="0" i="0">
                <a:solidFill>
                  <a:srgbClr val="1A1440"/>
                </a:solidFill>
                <a:latin typeface="Calibri"/>
              </a:rPr>
              <a:t>build_table() runs these steps on Kalpa's 340 customers. Leave .astype("int64") off its fill: what does the table ship, as a letter? a) int64, since fillna(0) puts the whole numbers back; b) float64, with the 39 at 0.0 and no error raised; c) a ValueError at the merge, where 39 customers have no count; d) 301 rows, since fillna drops the rows it cannot fill.</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6" name="Oval 15"/>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8" name="Oval 17"/>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0" name="Oval 19"/>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2" name="Oval 21"/>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4" name="Oval 23"/>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S5a  ·  9 / 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float64, and no step raises an error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in build_table() does the count change type, and what catches it?</a:t>
            </a:r>
          </a:p>
        </p:txBody>
      </p:sp>
      <p:pic>
        <p:nvPicPr>
          <p:cNvPr id="9" name="mermaid diagram" descr="743895a8f1ea4ec5.png"/>
          <p:cNvPicPr>
            <a:picLocks noChangeAspect="1"/>
          </p:cNvPicPr>
          <p:nvPr/>
        </p:nvPicPr>
        <p:blipFill>
          <a:blip r:embed="rId6"/>
          <a:stretch>
            <a:fillRect/>
          </a:stretch>
        </p:blipFill>
        <p:spPr>
          <a:xfrm>
            <a:off x="530352" y="1956816"/>
            <a:ext cx="11130991" cy="948595"/>
          </a:xfrm>
          <a:prstGeom prst="rect">
            <a:avLst/>
          </a:prstGeom>
        </p:spPr>
      </p:pic>
      <p:graphicFrame>
        <p:nvGraphicFramePr>
          <p:cNvPr id="10" name="Table 9"/>
          <p:cNvGraphicFramePr>
            <a:graphicFrameLocks noGrp="1"/>
          </p:cNvGraphicFramePr>
          <p:nvPr/>
        </p:nvGraphicFramePr>
        <p:xfrm>
          <a:off x="530352" y="3051715"/>
          <a:ext cx="11130991" cy="1479296"/>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Letter</a:t>
                      </a:r>
                    </a:p>
                  </a:txBody>
                  <a:tcPr marL="101600" marR="101600" marT="38100" marB="38100" anchor="ctr">
                    <a:solidFill>
                      <a:srgbClr val="1A0F5C"/>
                    </a:solidFill>
                  </a:tcPr>
                </a:tc>
                <a:tc>
                  <a:txBody>
                    <a:bodyPr/>
                    <a:lstStyle/>
                    <a:p>
                      <a:r>
                        <a:rPr sz="1450" b="1" i="0">
                          <a:solidFill>
                            <a:srgbClr val="FFFFFF"/>
                          </a:solidFill>
                          <a:latin typeface="Calibri"/>
                        </a:rPr>
                        <a:t>Why it does not hold</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fillna(0) writes 0.0 into the gaps and keeps the column float64</a:t>
                      </a:r>
                    </a:p>
                  </a:txBody>
                  <a:tcPr marL="101600" marR="101600" marT="38100" marB="38100" anchor="ctr">
                    <a:solidFill>
                      <a:srgbClr val="FFFFFF"/>
                    </a:solidFill>
                  </a:tcPr>
                </a:tc>
              </a:tr>
              <a:tr h="369824">
                <a:tc>
                  <a:txBody>
                    <a:bodyPr/>
                    <a:lstStyle/>
                    <a:p>
                      <a:r>
                        <a:rPr sz="1400" b="0" i="0">
                          <a:solidFill>
                            <a:srgbClr val="1A1440"/>
                          </a:solidFill>
                          <a:latin typeface="Calibri"/>
                        </a:rPr>
                        <a:t>c)</a:t>
                      </a:r>
                    </a:p>
                  </a:txBody>
                  <a:tcPr marL="101600" marR="101600" marT="38100" marB="38100" anchor="ctr">
                    <a:solidFill>
                      <a:srgbClr val="F4F2FA"/>
                    </a:solidFill>
                  </a:tcPr>
                </a:tc>
                <a:tc>
                  <a:txBody>
                    <a:bodyPr/>
                    <a:lstStyle/>
                    <a:p>
                      <a:r>
                        <a:rPr sz="1400" b="0" i="0">
                          <a:solidFill>
                            <a:srgbClr val="1A1440"/>
                          </a:solidFill>
                          <a:latin typeface="Calibri"/>
                        </a:rPr>
                        <a:t>A left merge keeps a customer with no match and raises nothing</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A fill keeps every row, so the table stays at 340</a:t>
                      </a:r>
                    </a:p>
                  </a:txBody>
                  <a:tcPr marL="101600" marR="101600" marT="38100" marB="38100" anchor="ctr">
                    <a:solidFill>
                      <a:srgbClr val="FFFFFF"/>
                    </a:solidFill>
                  </a:tcPr>
                </a:tc>
              </a:tr>
            </a:tbl>
          </a:graphicData>
        </a:graphic>
      </p:graphicFrame>
      <p:sp>
        <p:nvSpPr>
          <p:cNvPr id="11" name="Rounded Rectangle 10"/>
          <p:cNvSpPr/>
          <p:nvPr/>
        </p:nvSpPr>
        <p:spPr>
          <a:xfrm>
            <a:off x="530352" y="4787043"/>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5119275"/>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list-checks_bd88901d2a37.png"/>
          <p:cNvPicPr>
            <a:picLocks noChangeAspect="1"/>
          </p:cNvPicPr>
          <p:nvPr/>
        </p:nvPicPr>
        <p:blipFill>
          <a:blip r:embed="rId5"/>
          <a:stretch>
            <a:fillRect/>
          </a:stretch>
        </p:blipFill>
        <p:spPr>
          <a:xfrm>
            <a:off x="868680" y="5229003"/>
            <a:ext cx="237744" cy="237744"/>
          </a:xfrm>
          <a:prstGeom prst="rect">
            <a:avLst/>
          </a:prstGeom>
        </p:spPr>
      </p:pic>
      <p:sp>
        <p:nvSpPr>
          <p:cNvPr id="14" name="TextBox 13"/>
          <p:cNvSpPr txBox="1"/>
          <p:nvPr/>
        </p:nvSpPr>
        <p:spPr>
          <a:xfrm>
            <a:off x="1399031" y="4933347"/>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5" name="TextBox 14"/>
          <p:cNvSpPr txBox="1"/>
          <p:nvPr/>
        </p:nvSpPr>
        <p:spPr>
          <a:xfrm>
            <a:off x="1399031" y="5152803"/>
            <a:ext cx="9987991" cy="682752"/>
          </a:xfrm>
          <a:prstGeom prst="rect">
            <a:avLst/>
          </a:prstGeom>
          <a:noFill/>
        </p:spPr>
        <p:txBody>
          <a:bodyPr wrap="square" anchor="t" lIns="0" rIns="0" tIns="0" bIns="0">
            <a:spAutoFit/>
          </a:bodyPr>
          <a:lstStyle/>
          <a:p>
            <a:r>
              <a:rPr sz="1500" b="0" i="0">
                <a:solidFill>
                  <a:srgbClr val="1A1440"/>
                </a:solidFill>
                <a:latin typeface="Calibri"/>
              </a:rPr>
              <a:t>End a chain on a check of what the next step relies on, its rows, its totals and its dtypes: table["frequency"].dtype == "int64" is one line, the check chapter 1 ran after its fix.</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8" name="Oval 17"/>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20" name="Oval 19"/>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2" name="Oval 21"/>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4" name="Oval 23"/>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6" name="Oval 25"/>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S5b  ·  10 / 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many does the 19 October refresh list?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customers land on the win-back list when the refresh runs on Monday 19 October?</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RUN_DAY = pd.Timestamp.today()       # on the first Monday refresh: 19 October 2026</a:t>
            </a:r>
          </a:p>
          <a:p>
            <a:pPr>
              <a:spcAft>
                <a:spcPts val="200"/>
              </a:spcAft>
            </a:pPr>
            <a:r>
              <a:rPr sz="1400" b="0" i="0">
                <a:solidFill>
                  <a:srgbClr val="E4E1F1"/>
                </a:solidFill>
                <a:latin typeface="Consolas"/>
              </a:rPr>
              <a:t>recency = (RUN_DAY - table["last_order"]).dt.days</a:t>
            </a:r>
          </a:p>
          <a:p>
            <a:pPr>
              <a:spcAft>
                <a:spcPts val="200"/>
              </a:spcAft>
            </a:pPr>
            <a:r>
              <a:rPr sz="1400" b="0" i="0">
                <a:solidFill>
                  <a:srgbClr val="E4E1F1"/>
                </a:solidFill>
                <a:latin typeface="Consolas"/>
              </a:rPr>
              <a:t>(recency &gt; 60).sum()</a:t>
            </a:r>
          </a:p>
        </p:txBody>
      </p:sp>
      <p:sp>
        <p:nvSpPr>
          <p:cNvPr id="14" name="Rounded Rectangle 13"/>
          <p:cNvSpPr/>
          <p:nvPr/>
        </p:nvSpPr>
        <p:spPr>
          <a:xfrm>
            <a:off x="530352" y="333603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46405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454907"/>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As a letter? a) 111; b) 166; c) 301; d) 55.</a:t>
            </a:r>
          </a:p>
        </p:txBody>
      </p:sp>
      <p:sp>
        <p:nvSpPr>
          <p:cNvPr id="17" name="Oval 1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9" name="Oval 18"/>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21" name="Oval 20"/>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3" name="Oval 22"/>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5" name="Oval 24"/>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7" name="Oval 26"/>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11 / 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166, counted to the wall clock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would Monday's send have looked like?</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166</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ON THE WIN-BACK LIST</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counted to 19 October</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21 days</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SMALLEST RECENCY</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the most recent buyer, as the table says</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bug_39ada6eff46d.png"/>
          <p:cNvPicPr>
            <a:picLocks noChangeAspect="1"/>
          </p:cNvPicPr>
          <p:nvPr/>
        </p:nvPicPr>
        <p:blipFill>
          <a:blip r:embed="rId4"/>
          <a:stretch>
            <a:fillRect/>
          </a:stretch>
        </p:blipFill>
        <p:spPr>
          <a:xfrm>
            <a:off x="868680" y="3732276"/>
            <a:ext cx="237744" cy="237744"/>
          </a:xfrm>
          <a:prstGeom prst="rect">
            <a:avLst/>
          </a:prstGeom>
        </p:spPr>
      </p:pic>
      <p:sp>
        <p:nvSpPr>
          <p:cNvPr id="20" name="TextBox 19"/>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1" name="TextBox 20"/>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1A1440"/>
                </a:solidFill>
                <a:latin typeface="Calibri"/>
              </a:rPr>
              <a:t>166 codes go out, and 55 of them reach customers who ordered within 60 days of the data's last date.</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24" name="Oval 23"/>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26" name="Oval 25"/>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8" name="Oval 27"/>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30" name="Oval 29"/>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32" name="Oval 31"/>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12 / 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21 days the data never saw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is the list too long, and which check catches it?</a:t>
            </a:r>
          </a:p>
        </p:txBody>
      </p:sp>
      <p:pic>
        <p:nvPicPr>
          <p:cNvPr id="9" name="mermaid diagram" descr="6d43a9dc639d9050.png"/>
          <p:cNvPicPr>
            <a:picLocks noChangeAspect="1"/>
          </p:cNvPicPr>
          <p:nvPr/>
        </p:nvPicPr>
        <p:blipFill>
          <a:blip r:embed="rId5"/>
          <a:stretch>
            <a:fillRect/>
          </a:stretch>
        </p:blipFill>
        <p:spPr>
          <a:xfrm>
            <a:off x="1681010" y="1956816"/>
            <a:ext cx="8829675" cy="871537"/>
          </a:xfrm>
          <a:prstGeom prst="rect">
            <a:avLst/>
          </a:prstGeom>
        </p:spPr>
      </p:pic>
      <p:sp>
        <p:nvSpPr>
          <p:cNvPr id="10" name="Rounded Rectangle 9"/>
          <p:cNvSpPr/>
          <p:nvPr/>
        </p:nvSpPr>
        <p:spPr>
          <a:xfrm>
            <a:off x="530352" y="2974657"/>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0267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93529"/>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Somebody always bought on the data's last day, so the smallest recency in an honest table is 0. Here it is 21, and the list reads 166, 180 and 187 on three Mondays with no new data.</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5" name="Oval 14"/>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7" name="Oval 1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9" name="Oval 18"/>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1" name="Oval 20"/>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3" name="Oval 22"/>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13 / 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count to 28 September, 111 remain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when recency counts to the data's own last date?</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AS_OF = orders_read["order_date"].max()          # 28 September 2026, carried in the table</a:t>
            </a:r>
          </a:p>
          <a:p>
            <a:pPr>
              <a:spcAft>
                <a:spcPts val="200"/>
              </a:spcAft>
            </a:pPr>
            <a:r>
              <a:rPr sz="1400" b="0" i="0">
                <a:solidFill>
                  <a:srgbClr val="E4E1F1"/>
                </a:solidFill>
                <a:latin typeface="Consolas"/>
              </a:rPr>
              <a:t>table = table.assign(as_of=AS_OF, recency_days=(AS_OF - table["last_order"]).dt.days)</a:t>
            </a:r>
          </a:p>
          <a:p>
            <a:pPr>
              <a:spcAft>
                <a:spcPts val="200"/>
              </a:spcAft>
            </a:pPr>
            <a:r>
              <a:rPr sz="1400" b="0" i="0">
                <a:solidFill>
                  <a:srgbClr val="E4E1F1"/>
                </a:solidFill>
                <a:latin typeface="Consolas"/>
              </a:rPr>
              <a:t>table = table.assign(lapsed=table["recency_days"] &gt; 60)</a:t>
            </a:r>
          </a:p>
        </p:txBody>
      </p:sp>
      <p:pic>
        <p:nvPicPr>
          <p:cNvPr id="14" name="mermaid diagram" descr="c53f2c651561437e.png"/>
          <p:cNvPicPr>
            <a:picLocks noChangeAspect="1"/>
          </p:cNvPicPr>
          <p:nvPr/>
        </p:nvPicPr>
        <p:blipFill>
          <a:blip r:embed="rId5"/>
          <a:stretch>
            <a:fillRect/>
          </a:stretch>
        </p:blipFill>
        <p:spPr>
          <a:xfrm>
            <a:off x="1038072" y="3336036"/>
            <a:ext cx="10115550" cy="1914525"/>
          </a:xfrm>
          <a:prstGeom prst="rect">
            <a:avLst/>
          </a:prstGeom>
        </p:spPr>
      </p:pic>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7" name="Oval 16"/>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9" name="Oval 18"/>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1" name="Oval 20"/>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3" name="Oval 22"/>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5" name="Oval 24"/>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14 / 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guards: two on the warehouse, two on the shape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guards stop a bad Monday, and what does each compare with?</a:t>
            </a:r>
          </a:p>
        </p:txBody>
      </p:sp>
      <p:graphicFrame>
        <p:nvGraphicFramePr>
          <p:cNvPr id="9" name="Table 8"/>
          <p:cNvGraphicFramePr>
            <a:graphicFrameLocks noGrp="1"/>
          </p:cNvGraphicFramePr>
          <p:nvPr/>
        </p:nvGraphicFramePr>
        <p:xfrm>
          <a:off x="530352" y="1956816"/>
          <a:ext cx="11130989" cy="1849120"/>
        </p:xfrm>
        <a:graphic>
          <a:graphicData uri="http://schemas.openxmlformats.org/drawingml/2006/table">
            <a:tbl>
              <a:tblPr firstRow="0" bandRow="0">
                <a:tableStyleId>{2D5ABB26-0587-4C30-8999-92F81FD0307C}</a:tableStyleId>
              </a:tblPr>
              <a:tblGrid>
                <a:gridCol w="3092881"/>
                <a:gridCol w="4945227"/>
                <a:gridCol w="3092881"/>
              </a:tblGrid>
              <a:tr h="369824">
                <a:tc>
                  <a:txBody>
                    <a:bodyPr/>
                    <a:lstStyle/>
                    <a:p>
                      <a:r>
                        <a:rPr sz="1450" b="1" i="0">
                          <a:solidFill>
                            <a:srgbClr val="FFFFFF"/>
                          </a:solidFill>
                          <a:latin typeface="Calibri"/>
                        </a:rPr>
                        <a:t>Guard</a:t>
                      </a:r>
                    </a:p>
                  </a:txBody>
                  <a:tcPr marL="101600" marR="101600" marT="38100" marB="38100" anchor="ctr">
                    <a:solidFill>
                      <a:srgbClr val="1A0F5C"/>
                    </a:solidFill>
                  </a:tcPr>
                </a:tc>
                <a:tc>
                  <a:txBody>
                    <a:bodyPr/>
                    <a:lstStyle/>
                    <a:p>
                      <a:r>
                        <a:rPr sz="1450" b="1" i="0">
                          <a:solidFill>
                            <a:srgbClr val="FFFFFF"/>
                          </a:solidFill>
                          <a:latin typeface="Calibri"/>
                        </a:rPr>
                        <a:t>Compared with</a:t>
                      </a:r>
                    </a:p>
                  </a:txBody>
                  <a:tcPr marL="101600" marR="101600" marT="38100" marB="38100" anchor="ctr">
                    <a:solidFill>
                      <a:srgbClr val="1A0F5C"/>
                    </a:solidFill>
                  </a:tcPr>
                </a:tc>
                <a:tc>
                  <a:txBody>
                    <a:bodyPr/>
                    <a:lstStyle/>
                    <a:p>
                      <a:r>
                        <a:rPr sz="1450" b="1" i="0">
                          <a:solidFill>
                            <a:srgbClr val="FFFFFF"/>
                          </a:solidFill>
                          <a:latin typeface="Calibri"/>
                        </a:rPr>
                        <a:t>Stops</a:t>
                      </a:r>
                    </a:p>
                  </a:txBody>
                  <a:tcPr marL="101600" marR="101600" marT="38100" marB="38100" anchor="ctr">
                    <a:solidFill>
                      <a:srgbClr val="1A0F5C"/>
                    </a:solidFill>
                  </a:tcPr>
                </a:tc>
              </a:tr>
              <a:tr h="369824">
                <a:tc>
                  <a:txBody>
                    <a:bodyPr/>
                    <a:lstStyle/>
                    <a:p>
                      <a:r>
                        <a:rPr sz="1400" b="0" i="0">
                          <a:solidFill>
                            <a:srgbClr val="1A1440"/>
                          </a:solidFill>
                          <a:latin typeface="Calibri"/>
                        </a:rPr>
                        <a:t>One row per customer</a:t>
                      </a:r>
                    </a:p>
                  </a:txBody>
                  <a:tcPr marL="101600" marR="101600" marT="38100" marB="38100" anchor="ctr">
                    <a:solidFill>
                      <a:srgbClr val="FFFFFF"/>
                    </a:solidFill>
                  </a:tcPr>
                </a:tc>
                <a:tc>
                  <a:txBody>
                    <a:bodyPr/>
                    <a:lstStyle/>
                    <a:p>
                      <a:r>
                        <a:rPr sz="1400" b="0" i="0">
                          <a:solidFill>
                            <a:srgbClr val="1A1440"/>
                          </a:solidFill>
                          <a:latin typeface="Calibri"/>
                        </a:rPr>
                        <a:t>the table itself: customer_id is unique</a:t>
                      </a:r>
                    </a:p>
                  </a:txBody>
                  <a:tcPr marL="101600" marR="101600" marT="38100" marB="38100" anchor="ctr">
                    <a:solidFill>
                      <a:srgbClr val="FFFFFF"/>
                    </a:solidFill>
                  </a:tcPr>
                </a:tc>
                <a:tc>
                  <a:txBody>
                    <a:bodyPr/>
                    <a:lstStyle/>
                    <a:p>
                      <a:r>
                        <a:rPr sz="1400" b="0" i="0">
                          <a:solidFill>
                            <a:srgbClr val="1A1440"/>
                          </a:solidFill>
                          <a:latin typeface="Calibri"/>
                        </a:rPr>
                        <a:t>a repeated customer</a:t>
                      </a:r>
                    </a:p>
                  </a:txBody>
                  <a:tcPr marL="101600" marR="101600" marT="38100" marB="38100" anchor="ctr">
                    <a:solidFill>
                      <a:srgbClr val="FFFFFF"/>
                    </a:solidFill>
                  </a:tcPr>
                </a:tc>
              </a:tr>
              <a:tr h="369824">
                <a:tc>
                  <a:txBody>
                    <a:bodyPr/>
                    <a:lstStyle/>
                    <a:p>
                      <a:r>
                        <a:rPr sz="1400" b="0" i="0">
                          <a:solidFill>
                            <a:srgbClr val="1A1440"/>
                          </a:solidFill>
                          <a:latin typeface="Calibri"/>
                        </a:rPr>
                        <a:t>Rows equal the list</a:t>
                      </a:r>
                    </a:p>
                  </a:txBody>
                  <a:tcPr marL="101600" marR="101600" marT="38100" marB="38100" anchor="ctr">
                    <a:solidFill>
                      <a:srgbClr val="F4F2FA"/>
                    </a:solidFill>
                  </a:tcPr>
                </a:tc>
                <a:tc>
                  <a:txBody>
                    <a:bodyPr/>
                    <a:lstStyle/>
                    <a:p>
                      <a:r>
                        <a:rPr sz="1400" b="0" i="0">
                          <a:solidFill>
                            <a:srgbClr val="1A1440"/>
                          </a:solidFill>
                          <a:latin typeface="Calibri"/>
                        </a:rPr>
                        <a:t>the warehouse: 340 from customers</a:t>
                      </a:r>
                    </a:p>
                  </a:txBody>
                  <a:tcPr marL="101600" marR="101600" marT="38100" marB="38100" anchor="ctr">
                    <a:solidFill>
                      <a:srgbClr val="F4F2FA"/>
                    </a:solidFill>
                  </a:tcPr>
                </a:tc>
                <a:tc>
                  <a:txBody>
                    <a:bodyPr/>
                    <a:lstStyle/>
                    <a:p>
                      <a:r>
                        <a:rPr sz="1400" b="0" i="0">
                          <a:solidFill>
                            <a:srgbClr val="1A1440"/>
                          </a:solidFill>
                          <a:latin typeface="Calibri"/>
                        </a:rPr>
                        <a:t>a customer missing</a:t>
                      </a:r>
                    </a:p>
                  </a:txBody>
                  <a:tcPr marL="101600" marR="101600" marT="38100" marB="38100" anchor="ctr">
                    <a:solidFill>
                      <a:srgbClr val="F4F2FA"/>
                    </a:solidFill>
                  </a:tcPr>
                </a:tc>
              </a:tr>
              <a:tr h="369824">
                <a:tc>
                  <a:txBody>
                    <a:bodyPr/>
                    <a:lstStyle/>
                    <a:p>
                      <a:r>
                        <a:rPr sz="1400" b="0" i="0">
                          <a:solidFill>
                            <a:srgbClr val="1A1440"/>
                          </a:solidFill>
                          <a:latin typeface="Calibri"/>
                        </a:rPr>
                        <a:t>Spend equals the warehouse</a:t>
                      </a:r>
                    </a:p>
                  </a:txBody>
                  <a:tcPr marL="101600" marR="101600" marT="38100" marB="38100" anchor="ctr">
                    <a:solidFill>
                      <a:srgbClr val="FFFFFF"/>
                    </a:solidFill>
                  </a:tcPr>
                </a:tc>
                <a:tc>
                  <a:txBody>
                    <a:bodyPr/>
                    <a:lstStyle/>
                    <a:p>
                      <a:r>
                        <a:rPr sz="1400" b="0" i="0">
                          <a:solidFill>
                            <a:srgbClr val="1A1440"/>
                          </a:solidFill>
                          <a:latin typeface="Calibri"/>
                        </a:rPr>
                        <a:t>the warehouse: Rs 19,84,00,000 from orders</a:t>
                      </a:r>
                    </a:p>
                  </a:txBody>
                  <a:tcPr marL="101600" marR="101600" marT="38100" marB="38100" anchor="ctr">
                    <a:solidFill>
                      <a:srgbClr val="FFFFFF"/>
                    </a:solidFill>
                  </a:tcPr>
                </a:tc>
                <a:tc>
                  <a:txBody>
                    <a:bodyPr/>
                    <a:lstStyle/>
                    <a:p>
                      <a:r>
                        <a:rPr sz="1400" b="0" i="0">
                          <a:solidFill>
                            <a:srgbClr val="1A1440"/>
                          </a:solidFill>
                          <a:latin typeface="Calibri"/>
                        </a:rPr>
                        <a:t>spend added or lost</a:t>
                      </a:r>
                    </a:p>
                  </a:txBody>
                  <a:tcPr marL="101600" marR="101600" marT="38100" marB="38100" anchor="ctr">
                    <a:solidFill>
                      <a:srgbClr val="FFFFFF"/>
                    </a:solidFill>
                  </a:tcPr>
                </a:tc>
              </a:tr>
              <a:tr h="369824">
                <a:tc>
                  <a:txBody>
                    <a:bodyPr/>
                    <a:lstStyle/>
                    <a:p>
                      <a:r>
                        <a:rPr sz="1400" b="0" i="0">
                          <a:solidFill>
                            <a:srgbClr val="1A1440"/>
                          </a:solidFill>
                          <a:latin typeface="Calibri"/>
                        </a:rPr>
                        <a:t>Smallest recency is 0</a:t>
                      </a:r>
                    </a:p>
                  </a:txBody>
                  <a:tcPr marL="101600" marR="101600" marT="38100" marB="38100" anchor="ctr">
                    <a:solidFill>
                      <a:srgbClr val="F4F2FA"/>
                    </a:solidFill>
                  </a:tcPr>
                </a:tc>
                <a:tc>
                  <a:txBody>
                    <a:bodyPr/>
                    <a:lstStyle/>
                    <a:p>
                      <a:r>
                        <a:rPr sz="1400" b="0" i="0">
                          <a:solidFill>
                            <a:srgbClr val="1A1440"/>
                          </a:solidFill>
                          <a:latin typeface="Calibri"/>
                        </a:rPr>
                        <a:t>the table itself: counted to its as-of date</a:t>
                      </a:r>
                    </a:p>
                  </a:txBody>
                  <a:tcPr marL="101600" marR="101600" marT="38100" marB="38100" anchor="ctr">
                    <a:solidFill>
                      <a:srgbClr val="F4F2FA"/>
                    </a:solidFill>
                  </a:tcPr>
                </a:tc>
                <a:tc>
                  <a:txBody>
                    <a:bodyPr/>
                    <a:lstStyle/>
                    <a:p>
                      <a:r>
                        <a:rPr sz="1400" b="0" i="0">
                          <a:solidFill>
                            <a:srgbClr val="1A1440"/>
                          </a:solidFill>
                          <a:latin typeface="Calibri"/>
                        </a:rPr>
                        <a:t>a count from the wrong day</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2" name="Oval 11"/>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4" name="Oval 13"/>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6" name="Oval 15"/>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18" name="Oval 17"/>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0" name="Oval 19"/>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15 / 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repeated row: which guards fire?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guards stop a bad Monday, and does each one fire when it should?</a:t>
            </a:r>
          </a:p>
        </p:txBody>
      </p:sp>
      <p:sp>
        <p:nvSpPr>
          <p:cNvPr id="9" name="Rounded Rectangle 8"/>
          <p:cNvSpPr/>
          <p:nvPr/>
        </p:nvSpPr>
        <p:spPr>
          <a:xfrm>
            <a:off x="530352" y="1956816"/>
            <a:ext cx="11130991" cy="962152"/>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559816"/>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repeated = pd.concat([table, table[table["customer_id"] == "C-0152"]])   # one customer twice</a:t>
            </a:r>
          </a:p>
          <a:p>
            <a:pPr>
              <a:spcAft>
                <a:spcPts val="200"/>
              </a:spcAft>
            </a:pPr>
            <a:r>
              <a:rPr sz="1400" b="0" i="0">
                <a:solidFill>
                  <a:srgbClr val="E4E1F1"/>
                </a:solidFill>
                <a:latin typeface="Consolas"/>
              </a:rPr>
              <a:t>guard_failures(repeated)</a:t>
            </a:r>
          </a:p>
        </p:txBody>
      </p:sp>
      <p:sp>
        <p:nvSpPr>
          <p:cNvPr id="14" name="Rounded Rectangle 13"/>
          <p:cNvSpPr/>
          <p:nvPr/>
        </p:nvSpPr>
        <p:spPr>
          <a:xfrm>
            <a:off x="530352" y="308356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21157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202432"/>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As a letter? a) only the unique-key guard; b) the unique-key and row-count guards; c) the unique-key, row-count and spend guards; d) all four.</a:t>
            </a:r>
          </a:p>
        </p:txBody>
      </p:sp>
      <p:sp>
        <p:nvSpPr>
          <p:cNvPr id="17" name="Oval 1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9" name="Oval 18"/>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21" name="Oval 20"/>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3" name="Oval 22"/>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5" name="Oval 24"/>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7" name="Oval 26"/>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16 / 36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three fire, and the recency guard holds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every broken copy trip at least one guard, and the honest table none?</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4034277"/>
                <a:gridCol w="7096713"/>
              </a:tblGrid>
              <a:tr h="369824">
                <a:tc>
                  <a:txBody>
                    <a:bodyPr/>
                    <a:lstStyle/>
                    <a:p>
                      <a:r>
                        <a:rPr sz="1450" b="1" i="0">
                          <a:solidFill>
                            <a:srgbClr val="FFFFFF"/>
                          </a:solidFill>
                          <a:latin typeface="Calibri"/>
                        </a:rPr>
                        <a:t>The table</a:t>
                      </a:r>
                    </a:p>
                  </a:txBody>
                  <a:tcPr marL="101600" marR="101600" marT="38100" marB="38100" anchor="ctr">
                    <a:solidFill>
                      <a:srgbClr val="1A0F5C"/>
                    </a:solidFill>
                  </a:tcPr>
                </a:tc>
                <a:tc>
                  <a:txBody>
                    <a:bodyPr/>
                    <a:lstStyle/>
                    <a:p>
                      <a:r>
                        <a:rPr sz="1450" b="1" i="0">
                          <a:solidFill>
                            <a:srgbClr val="FFFFFF"/>
                          </a:solidFill>
                          <a:latin typeface="Calibri"/>
                        </a:rPr>
                        <a:t>Guards that fire</a:t>
                      </a:r>
                    </a:p>
                  </a:txBody>
                  <a:tcPr marL="101600" marR="101600" marT="38100" marB="38100" anchor="ctr">
                    <a:solidFill>
                      <a:srgbClr val="1A0F5C"/>
                    </a:solidFill>
                  </a:tcPr>
                </a:tc>
              </a:tr>
              <a:tr h="369824">
                <a:tc>
                  <a:txBody>
                    <a:bodyPr/>
                    <a:lstStyle/>
                    <a:p>
                      <a:r>
                        <a:rPr sz="1400" b="0" i="0">
                          <a:solidFill>
                            <a:srgbClr val="1A1440"/>
                          </a:solidFill>
                          <a:latin typeface="Calibri"/>
                        </a:rPr>
                        <a:t>The honest table</a:t>
                      </a:r>
                    </a:p>
                  </a:txBody>
                  <a:tcPr marL="101600" marR="101600" marT="38100" marB="38100" anchor="ctr">
                    <a:solidFill>
                      <a:srgbClr val="FFFFFF"/>
                    </a:solidFill>
                  </a:tcPr>
                </a:tc>
                <a:tc>
                  <a:txBody>
                    <a:bodyPr/>
                    <a:lstStyle/>
                    <a:p>
                      <a:r>
                        <a:rPr sz="1400" b="0" i="0">
                          <a:solidFill>
                            <a:srgbClr val="1A1440"/>
                          </a:solidFill>
                          <a:latin typeface="Calibri"/>
                        </a:rPr>
                        <a:t>none</a:t>
                      </a:r>
                    </a:p>
                  </a:txBody>
                  <a:tcPr marL="101600" marR="101600" marT="38100" marB="38100" anchor="ctr">
                    <a:solidFill>
                      <a:srgbClr val="FFFFFF"/>
                    </a:solidFill>
                  </a:tcPr>
                </a:tc>
              </a:tr>
              <a:tr h="369824">
                <a:tc>
                  <a:txBody>
                    <a:bodyPr/>
                    <a:lstStyle/>
                    <a:p>
                      <a:r>
                        <a:rPr sz="1400" b="0" i="0">
                          <a:solidFill>
                            <a:srgbClr val="1A1440"/>
                          </a:solidFill>
                          <a:latin typeface="Calibri"/>
                        </a:rPr>
                        <a:t>One customer's row repeated</a:t>
                      </a:r>
                    </a:p>
                  </a:txBody>
                  <a:tcPr marL="101600" marR="101600" marT="38100" marB="38100" anchor="ctr">
                    <a:solidFill>
                      <a:srgbClr val="F4F2FA"/>
                    </a:solidFill>
                  </a:tcPr>
                </a:tc>
                <a:tc>
                  <a:txBody>
                    <a:bodyPr/>
                    <a:lstStyle/>
                    <a:p>
                      <a:r>
                        <a:rPr sz="1400" b="0" i="0">
                          <a:solidFill>
                            <a:srgbClr val="1A1440"/>
                          </a:solidFill>
                          <a:latin typeface="Calibri"/>
                        </a:rPr>
                        <a:t>one row per customer, rows equal the list, spend equals the warehouse</a:t>
                      </a:r>
                    </a:p>
                  </a:txBody>
                  <a:tcPr marL="101600" marR="101600" marT="38100" marB="38100" anchor="ctr">
                    <a:solidFill>
                      <a:srgbClr val="F4F2FA"/>
                    </a:solidFill>
                  </a:tcPr>
                </a:tc>
              </a:tr>
              <a:tr h="369824">
                <a:tc>
                  <a:txBody>
                    <a:bodyPr/>
                    <a:lstStyle/>
                    <a:p>
                      <a:r>
                        <a:rPr sz="1400" b="0" i="0">
                          <a:solidFill>
                            <a:srgbClr val="1A1440"/>
                          </a:solidFill>
                          <a:latin typeface="Calibri"/>
                        </a:rPr>
                        <a:t>Recency counted to the run day</a:t>
                      </a:r>
                    </a:p>
                  </a:txBody>
                  <a:tcPr marL="101600" marR="101600" marT="38100" marB="38100" anchor="ctr">
                    <a:solidFill>
                      <a:srgbClr val="FFFFFF"/>
                    </a:solidFill>
                  </a:tcPr>
                </a:tc>
                <a:tc>
                  <a:txBody>
                    <a:bodyPr/>
                    <a:lstStyle/>
                    <a:p>
                      <a:r>
                        <a:rPr sz="1400" b="0" i="0">
                          <a:solidFill>
                            <a:srgbClr val="1A1440"/>
                          </a:solidFill>
                          <a:latin typeface="Calibri"/>
                        </a:rPr>
                        <a:t>smallest recency is 0</a:t>
                      </a:r>
                    </a:p>
                  </a:txBody>
                  <a:tcPr marL="101600" marR="101600" marT="38100" marB="38100" anchor="ctr">
                    <a:solidFill>
                      <a:srgbClr val="FFFFFF"/>
                    </a:solidFill>
                  </a:tcPr>
                </a:tc>
              </a:tr>
              <a:tr h="369824">
                <a:tc>
                  <a:txBody>
                    <a:bodyPr/>
                    <a:lstStyle/>
                    <a:p>
                      <a:r>
                        <a:rPr sz="1400" b="0" i="0">
                          <a:solidFill>
                            <a:srgbClr val="1A1440"/>
                          </a:solidFill>
                          <a:latin typeface="Calibri"/>
                        </a:rPr>
                        <a:t>Customers with no orders dropped</a:t>
                      </a:r>
                    </a:p>
                  </a:txBody>
                  <a:tcPr marL="101600" marR="101600" marT="38100" marB="38100" anchor="ctr">
                    <a:solidFill>
                      <a:srgbClr val="F4F2FA"/>
                    </a:solidFill>
                  </a:tcPr>
                </a:tc>
                <a:tc>
                  <a:txBody>
                    <a:bodyPr/>
                    <a:lstStyle/>
                    <a:p>
                      <a:r>
                        <a:rPr sz="1400" b="0" i="0">
                          <a:solidFill>
                            <a:srgbClr val="1A1440"/>
                          </a:solidFill>
                          <a:latin typeface="Calibri"/>
                        </a:rPr>
                        <a:t>rows equal the list</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624840"/>
          </a:xfrm>
          <a:prstGeom prst="rect">
            <a:avLst/>
          </a:prstGeom>
          <a:noFill/>
        </p:spPr>
        <p:txBody>
          <a:bodyPr wrap="square" anchor="ctr" lIns="0" rIns="0" tIns="0" bIns="0">
            <a:spAutoFit/>
          </a:bodyPr>
          <a:lstStyle/>
          <a:p>
            <a:r>
              <a:rPr sz="1500" b="1">
                <a:solidFill>
                  <a:srgbClr val="5B3FD6"/>
                </a:solidFill>
                <a:latin typeface="Calibri"/>
              </a:rPr>
              <a:t>What it shows. </a:t>
            </a:r>
            <a:r>
              <a:rPr sz="1500" b="0" i="0">
                <a:solidFill>
                  <a:srgbClr val="1A1440"/>
                </a:solidFill>
                <a:latin typeface="Calibri"/>
              </a:rPr>
              <a:t>Every broken copy trips a guard, and the honest table trips none, so the guards tell a broken Monday from an honest one.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15" name="Oval 14"/>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7" name="Oval 1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9" name="Oval 18"/>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1" name="Oval 20"/>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3" name="Oval 22"/>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17 / 36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Two runs agree, and the warehouse counts 111</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 two runs on the same data agree, and does the warehouse, counting on its own, find the same list?</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WITH last  AS (SELECT customer_id, max(order_date) AS last_order FROM orders GROUP BY customer_id),</a:t>
            </a:r>
          </a:p>
          <a:p>
            <a:pPr>
              <a:spcAft>
                <a:spcPts val="200"/>
              </a:spcAft>
            </a:pPr>
            <a:r>
              <a:rPr sz="1400" b="0" i="0">
                <a:solidFill>
                  <a:srgbClr val="E4E1F1"/>
                </a:solidFill>
                <a:latin typeface="Consolas"/>
              </a:rPr>
              <a:t>     as_of AS (SELECT max(order_date) AS d FROM orders)</a:t>
            </a:r>
          </a:p>
          <a:p>
            <a:pPr>
              <a:spcAft>
                <a:spcPts val="200"/>
              </a:spcAft>
            </a:pPr>
            <a:r>
              <a:rPr sz="1400" b="0" i="0">
                <a:solidFill>
                  <a:srgbClr val="E4E1F1"/>
                </a:solidFill>
                <a:latin typeface="Consolas"/>
              </a:rPr>
              <a:t>SELECT count(*) AS win_back FROM last, as_of WHERE as_of.d - last.last_order &gt; 60;</a:t>
            </a:r>
          </a:p>
        </p:txBody>
      </p:sp>
      <p:sp>
        <p:nvSpPr>
          <p:cNvPr id="14" name="TextBox 13"/>
          <p:cNvSpPr txBox="1"/>
          <p:nvPr/>
        </p:nvSpPr>
        <p:spPr>
          <a:xfrm>
            <a:off x="530352" y="3336036"/>
            <a:ext cx="3527450" cy="571500"/>
          </a:xfrm>
          <a:prstGeom prst="rect">
            <a:avLst/>
          </a:prstGeom>
          <a:noFill/>
        </p:spPr>
        <p:txBody>
          <a:bodyPr wrap="square" anchor="t" lIns="0" rIns="0" tIns="0" bIns="0">
            <a:spAutoFit/>
          </a:bodyPr>
          <a:lstStyle/>
          <a:p>
            <a:pPr algn="l"/>
            <a:r>
              <a:rPr sz="3600" b="0" i="0">
                <a:solidFill>
                  <a:srgbClr val="5B3FD6"/>
                </a:solidFill>
                <a:latin typeface="Georgia"/>
              </a:rPr>
              <a:t>0</a:t>
            </a:r>
          </a:p>
        </p:txBody>
      </p:sp>
      <p:sp>
        <p:nvSpPr>
          <p:cNvPr id="15" name="TextBox 14"/>
          <p:cNvSpPr txBox="1"/>
          <p:nvPr/>
        </p:nvSpPr>
        <p:spPr>
          <a:xfrm>
            <a:off x="530352" y="3944111"/>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CELLS THAT DIFFER</a:t>
            </a:r>
          </a:p>
        </p:txBody>
      </p:sp>
      <p:sp>
        <p:nvSpPr>
          <p:cNvPr id="16" name="TextBox 15"/>
          <p:cNvSpPr txBox="1"/>
          <p:nvPr/>
        </p:nvSpPr>
        <p:spPr>
          <a:xfrm>
            <a:off x="530352" y="4145279"/>
            <a:ext cx="3527450" cy="193421"/>
          </a:xfrm>
          <a:prstGeom prst="rect">
            <a:avLst/>
          </a:prstGeom>
          <a:noFill/>
        </p:spPr>
        <p:txBody>
          <a:bodyPr wrap="square" anchor="t" lIns="0" rIns="0" tIns="0" bIns="0">
            <a:spAutoFit/>
          </a:bodyPr>
          <a:lstStyle/>
          <a:p>
            <a:pPr algn="l"/>
            <a:r>
              <a:rPr sz="950" b="0" i="0">
                <a:solidFill>
                  <a:srgbClr val="6B6690"/>
                </a:solidFill>
                <a:latin typeface="Calibri"/>
              </a:rPr>
              <a:t>two honest runs, a week apart</a:t>
            </a:r>
          </a:p>
        </p:txBody>
      </p:sp>
      <p:sp>
        <p:nvSpPr>
          <p:cNvPr id="17" name="Rectangle 16"/>
          <p:cNvSpPr/>
          <p:nvPr/>
        </p:nvSpPr>
        <p:spPr>
          <a:xfrm>
            <a:off x="530352" y="452475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332122" y="3336036"/>
            <a:ext cx="3527450" cy="571500"/>
          </a:xfrm>
          <a:prstGeom prst="rect">
            <a:avLst/>
          </a:prstGeom>
          <a:noFill/>
        </p:spPr>
        <p:txBody>
          <a:bodyPr wrap="square" anchor="t" lIns="0" rIns="0" tIns="0" bIns="0">
            <a:spAutoFit/>
          </a:bodyPr>
          <a:lstStyle/>
          <a:p>
            <a:pPr algn="l"/>
            <a:r>
              <a:rPr sz="3600" b="0" i="0">
                <a:solidFill>
                  <a:srgbClr val="5B3FD6"/>
                </a:solidFill>
                <a:latin typeface="Georgia"/>
              </a:rPr>
              <a:t>166 then 180</a:t>
            </a:r>
          </a:p>
        </p:txBody>
      </p:sp>
      <p:sp>
        <p:nvSpPr>
          <p:cNvPr id="19" name="TextBox 18"/>
          <p:cNvSpPr txBox="1"/>
          <p:nvPr/>
        </p:nvSpPr>
        <p:spPr>
          <a:xfrm>
            <a:off x="4332122" y="3944111"/>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HURRIED LIST</a:t>
            </a:r>
          </a:p>
        </p:txBody>
      </p:sp>
      <p:sp>
        <p:nvSpPr>
          <p:cNvPr id="20" name="TextBox 19"/>
          <p:cNvSpPr txBox="1"/>
          <p:nvPr/>
        </p:nvSpPr>
        <p:spPr>
          <a:xfrm>
            <a:off x="4332122" y="4145279"/>
            <a:ext cx="3527450" cy="193421"/>
          </a:xfrm>
          <a:prstGeom prst="rect">
            <a:avLst/>
          </a:prstGeom>
          <a:noFill/>
        </p:spPr>
        <p:txBody>
          <a:bodyPr wrap="square" anchor="t" lIns="0" rIns="0" tIns="0" bIns="0">
            <a:spAutoFit/>
          </a:bodyPr>
          <a:lstStyle/>
          <a:p>
            <a:pPr algn="l"/>
            <a:r>
              <a:rPr sz="950" b="0" i="0">
                <a:solidFill>
                  <a:srgbClr val="6B6690"/>
                </a:solidFill>
                <a:latin typeface="Calibri"/>
              </a:rPr>
              <a:t>counted to each run day</a:t>
            </a:r>
          </a:p>
        </p:txBody>
      </p:sp>
      <p:sp>
        <p:nvSpPr>
          <p:cNvPr id="21" name="Rectangle 20"/>
          <p:cNvSpPr/>
          <p:nvPr/>
        </p:nvSpPr>
        <p:spPr>
          <a:xfrm>
            <a:off x="4332122" y="452475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33892" y="3336036"/>
            <a:ext cx="3527450" cy="571500"/>
          </a:xfrm>
          <a:prstGeom prst="rect">
            <a:avLst/>
          </a:prstGeom>
          <a:noFill/>
        </p:spPr>
        <p:txBody>
          <a:bodyPr wrap="square" anchor="t" lIns="0" rIns="0" tIns="0" bIns="0">
            <a:spAutoFit/>
          </a:bodyPr>
          <a:lstStyle/>
          <a:p>
            <a:pPr algn="l"/>
            <a:r>
              <a:rPr sz="3600" b="0" i="0">
                <a:solidFill>
                  <a:srgbClr val="5B3FD6"/>
                </a:solidFill>
                <a:latin typeface="Georgia"/>
              </a:rPr>
              <a:t>111 = 111</a:t>
            </a:r>
          </a:p>
        </p:txBody>
      </p:sp>
      <p:sp>
        <p:nvSpPr>
          <p:cNvPr id="23" name="TextBox 22"/>
          <p:cNvSpPr txBox="1"/>
          <p:nvPr/>
        </p:nvSpPr>
        <p:spPr>
          <a:xfrm>
            <a:off x="8133892" y="3944111"/>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WIN-BACK LIST</a:t>
            </a:r>
          </a:p>
        </p:txBody>
      </p:sp>
      <p:sp>
        <p:nvSpPr>
          <p:cNvPr id="24" name="TextBox 23"/>
          <p:cNvSpPr txBox="1"/>
          <p:nvPr/>
        </p:nvSpPr>
        <p:spPr>
          <a:xfrm>
            <a:off x="8133892" y="4145279"/>
            <a:ext cx="3527450" cy="193421"/>
          </a:xfrm>
          <a:prstGeom prst="rect">
            <a:avLst/>
          </a:prstGeom>
          <a:noFill/>
        </p:spPr>
        <p:txBody>
          <a:bodyPr wrap="square" anchor="t" lIns="0" rIns="0" tIns="0" bIns="0">
            <a:spAutoFit/>
          </a:bodyPr>
          <a:lstStyle/>
          <a:p>
            <a:pPr algn="l"/>
            <a:r>
              <a:rPr sz="950" b="0" i="0">
                <a:solidFill>
                  <a:srgbClr val="6B6690"/>
                </a:solidFill>
                <a:latin typeface="Calibri"/>
              </a:rPr>
              <a:t>SQL and the refresh</a:t>
            </a:r>
          </a:p>
        </p:txBody>
      </p:sp>
      <p:sp>
        <p:nvSpPr>
          <p:cNvPr id="25" name="Rectangle 24"/>
          <p:cNvSpPr/>
          <p:nvPr/>
        </p:nvSpPr>
        <p:spPr>
          <a:xfrm>
            <a:off x="8133892" y="452475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28" name="Oval 27"/>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30" name="Oval 29"/>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32" name="Oval 31"/>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34" name="Oval 33"/>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36" name="Oval 35"/>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18 / 36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6: 111 on the list, and a run that stops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each smaller question find?</a:t>
            </a:r>
          </a:p>
        </p:txBody>
      </p:sp>
      <p:graphicFrame>
        <p:nvGraphicFramePr>
          <p:cNvPr id="9" name="Table 8"/>
          <p:cNvGraphicFramePr>
            <a:graphicFrameLocks noGrp="1"/>
          </p:cNvGraphicFramePr>
          <p:nvPr/>
        </p:nvGraphicFramePr>
        <p:xfrm>
          <a:off x="530352" y="1794764"/>
          <a:ext cx="11130990" cy="2226056"/>
        </p:xfrm>
        <a:graphic>
          <a:graphicData uri="http://schemas.openxmlformats.org/drawingml/2006/table">
            <a:tbl>
              <a:tblPr firstRow="0" bandRow="0">
                <a:tableStyleId>{2D5ABB26-0587-4C30-8999-92F81FD0307C}</a:tableStyleId>
              </a:tblPr>
              <a:tblGrid>
                <a:gridCol w="3908942"/>
                <a:gridCol w="7222048"/>
              </a:tblGrid>
              <a:tr h="318008">
                <a:tc>
                  <a:txBody>
                    <a:bodyPr/>
                    <a:lstStyle/>
                    <a:p>
                      <a:r>
                        <a:rPr sz="1150" b="1" i="0">
                          <a:solidFill>
                            <a:srgbClr val="FFFFFF"/>
                          </a:solidFill>
                          <a:latin typeface="Calibri"/>
                        </a:rPr>
                        <a:t>Question</a:t>
                      </a:r>
                    </a:p>
                  </a:txBody>
                  <a:tcPr marL="101600" marR="101600" marT="38100" marB="38100" anchor="ctr">
                    <a:solidFill>
                      <a:srgbClr val="1A0F5C"/>
                    </a:solidFill>
                  </a:tcPr>
                </a:tc>
                <a:tc>
                  <a:txBody>
                    <a:bodyPr/>
                    <a:lstStyle/>
                    <a:p>
                      <a:r>
                        <a:rPr sz="1150" b="1" i="0">
                          <a:solidFill>
                            <a:srgbClr val="FFFFFF"/>
                          </a:solidFill>
                          <a:latin typeface="Calibri"/>
                        </a:rPr>
                        <a:t>The answer</a:t>
                      </a:r>
                    </a:p>
                  </a:txBody>
                  <a:tcPr marL="101600" marR="101600" marT="38100" marB="38100" anchor="ctr">
                    <a:solidFill>
                      <a:srgbClr val="1A0F5C"/>
                    </a:solidFill>
                  </a:tcPr>
                </a:tc>
              </a:tr>
              <a:tr h="318008">
                <a:tc>
                  <a:txBody>
                    <a:bodyPr/>
                    <a:lstStyle/>
                    <a:p>
                      <a:r>
                        <a:rPr sz="1100" b="0" i="0">
                          <a:solidFill>
                            <a:srgbClr val="1A1440"/>
                          </a:solidFill>
                          <a:latin typeface="Calibri"/>
                        </a:rPr>
                        <a:t>Which way runs it?</a:t>
                      </a:r>
                    </a:p>
                  </a:txBody>
                  <a:tcPr marL="101600" marR="101600" marT="38100" marB="38100" anchor="ctr">
                    <a:solidFill>
                      <a:srgbClr val="FFFFFF"/>
                    </a:solidFill>
                  </a:tcPr>
                </a:tc>
                <a:tc>
                  <a:txBody>
                    <a:bodyPr/>
                    <a:lstStyle/>
                    <a:p>
                      <a:r>
                        <a:rPr sz="1100" b="0" i="0">
                          <a:solidFill>
                            <a:srgbClr val="1A1440"/>
                          </a:solidFill>
                          <a:latin typeface="Calibri"/>
                        </a:rPr>
                        <a:t>One function with guards; it alone stops all four failures</a:t>
                      </a:r>
                    </a:p>
                  </a:txBody>
                  <a:tcPr marL="101600" marR="101600" marT="38100" marB="38100" anchor="ctr">
                    <a:solidFill>
                      <a:srgbClr val="FFFFFF"/>
                    </a:solidFill>
                  </a:tcPr>
                </a:tc>
              </a:tr>
              <a:tr h="318008">
                <a:tc>
                  <a:txBody>
                    <a:bodyPr/>
                    <a:lstStyle/>
                    <a:p>
                      <a:r>
                        <a:rPr sz="1100" b="0" i="0">
                          <a:solidFill>
                            <a:srgbClr val="1A1440"/>
                          </a:solidFill>
                          <a:latin typeface="Calibri"/>
                        </a:rPr>
                        <a:t>What is it told?</a:t>
                      </a:r>
                    </a:p>
                  </a:txBody>
                  <a:tcPr marL="101600" marR="101600" marT="38100" marB="38100" anchor="ctr">
                    <a:solidFill>
                      <a:srgbClr val="F4F2FA"/>
                    </a:solidFill>
                  </a:tcPr>
                </a:tc>
                <a:tc>
                  <a:txBody>
                    <a:bodyPr/>
                    <a:lstStyle/>
                    <a:p>
                      <a:r>
                        <a:rPr sz="1100" b="0" i="0">
                          <a:solidFill>
                            <a:srgbClr val="1A1440"/>
                          </a:solidFill>
                          <a:latin typeface="Calibri"/>
                        </a:rPr>
                        <a:t>The connection and the feed's path</a:t>
                      </a:r>
                    </a:p>
                  </a:txBody>
                  <a:tcPr marL="101600" marR="101600" marT="38100" marB="38100" anchor="ctr">
                    <a:solidFill>
                      <a:srgbClr val="F4F2FA"/>
                    </a:solidFill>
                  </a:tcPr>
                </a:tc>
              </a:tr>
              <a:tr h="318008">
                <a:tc>
                  <a:txBody>
                    <a:bodyPr/>
                    <a:lstStyle/>
                    <a:p>
                      <a:r>
                        <a:rPr sz="1100" b="0" i="0">
                          <a:solidFill>
                            <a:srgbClr val="1A1440"/>
                          </a:solidFill>
                          <a:latin typeface="Calibri"/>
                        </a:rPr>
                        <a:t>Who is on the 19 October list?</a:t>
                      </a:r>
                    </a:p>
                  </a:txBody>
                  <a:tcPr marL="101600" marR="101600" marT="38100" marB="38100" anchor="ctr">
                    <a:solidFill>
                      <a:srgbClr val="FFFFFF"/>
                    </a:solidFill>
                  </a:tcPr>
                </a:tc>
                <a:tc>
                  <a:txBody>
                    <a:bodyPr/>
                    <a:lstStyle/>
                    <a:p>
                      <a:r>
                        <a:rPr sz="1100" b="0" i="0">
                          <a:solidFill>
                            <a:srgbClr val="1A1440"/>
                          </a:solidFill>
                          <a:latin typeface="Calibri"/>
                        </a:rPr>
                        <a:t>166 counted to the run day; 111 counted to 28 September</a:t>
                      </a:r>
                    </a:p>
                  </a:txBody>
                  <a:tcPr marL="101600" marR="101600" marT="38100" marB="38100" anchor="ctr">
                    <a:solidFill>
                      <a:srgbClr val="FFFFFF"/>
                    </a:solidFill>
                  </a:tcPr>
                </a:tc>
              </a:tr>
              <a:tr h="318008">
                <a:tc>
                  <a:txBody>
                    <a:bodyPr/>
                    <a:lstStyle/>
                    <a:p>
                      <a:r>
                        <a:rPr sz="1100" b="0" i="0">
                          <a:solidFill>
                            <a:srgbClr val="1A1440"/>
                          </a:solidFill>
                          <a:latin typeface="Calibri"/>
                        </a:rPr>
                        <a:t>Which guards fire?</a:t>
                      </a:r>
                    </a:p>
                  </a:txBody>
                  <a:tcPr marL="101600" marR="101600" marT="38100" marB="38100" anchor="ctr">
                    <a:solidFill>
                      <a:srgbClr val="F4F2FA"/>
                    </a:solidFill>
                  </a:tcPr>
                </a:tc>
                <a:tc>
                  <a:txBody>
                    <a:bodyPr/>
                    <a:lstStyle/>
                    <a:p>
                      <a:r>
                        <a:rPr sz="1100" b="0" i="0">
                          <a:solidFill>
                            <a:srgbClr val="1A1440"/>
                          </a:solidFill>
                          <a:latin typeface="Calibri"/>
                        </a:rPr>
                        <a:t>Each broken copy trips one or more; the honest table none</a:t>
                      </a:r>
                    </a:p>
                  </a:txBody>
                  <a:tcPr marL="101600" marR="101600" marT="38100" marB="38100" anchor="ctr">
                    <a:solidFill>
                      <a:srgbClr val="F4F2FA"/>
                    </a:solidFill>
                  </a:tcPr>
                </a:tc>
              </a:tr>
              <a:tr h="318008">
                <a:tc>
                  <a:txBody>
                    <a:bodyPr/>
                    <a:lstStyle/>
                    <a:p>
                      <a:r>
                        <a:rPr sz="1100" b="0" i="0">
                          <a:solidFill>
                            <a:srgbClr val="1A1440"/>
                          </a:solidFill>
                          <a:latin typeface="Calibri"/>
                        </a:rPr>
                        <a:t>Do two runs agree?</a:t>
                      </a:r>
                    </a:p>
                  </a:txBody>
                  <a:tcPr marL="101600" marR="101600" marT="38100" marB="38100" anchor="ctr">
                    <a:solidFill>
                      <a:srgbClr val="FFFFFF"/>
                    </a:solidFill>
                  </a:tcPr>
                </a:tc>
                <a:tc>
                  <a:txBody>
                    <a:bodyPr/>
                    <a:lstStyle/>
                    <a:p>
                      <a:r>
                        <a:rPr sz="1100" b="0" i="0">
                          <a:solidFill>
                            <a:srgbClr val="1A1440"/>
                          </a:solidFill>
                          <a:latin typeface="Calibri"/>
                        </a:rPr>
                        <a:t>Cell for cell; the hurried list went 166 then 180</a:t>
                      </a:r>
                    </a:p>
                  </a:txBody>
                  <a:tcPr marL="101600" marR="101600" marT="38100" marB="38100" anchor="ctr">
                    <a:solidFill>
                      <a:srgbClr val="FFFFFF"/>
                    </a:solidFill>
                  </a:tcPr>
                </a:tc>
              </a:tr>
              <a:tr h="318008">
                <a:tc>
                  <a:txBody>
                    <a:bodyPr/>
                    <a:lstStyle/>
                    <a:p>
                      <a:r>
                        <a:rPr sz="1100" b="0" i="0">
                          <a:solidFill>
                            <a:srgbClr val="1A1440"/>
                          </a:solidFill>
                          <a:latin typeface="Calibri"/>
                        </a:rPr>
                        <a:t>Does the warehouse agree?</a:t>
                      </a:r>
                    </a:p>
                  </a:txBody>
                  <a:tcPr marL="101600" marR="101600" marT="38100" marB="38100" anchor="ctr">
                    <a:solidFill>
                      <a:srgbClr val="F4F2FA"/>
                    </a:solidFill>
                  </a:tcPr>
                </a:tc>
                <a:tc>
                  <a:txBody>
                    <a:bodyPr/>
                    <a:lstStyle/>
                    <a:p>
                      <a:r>
                        <a:rPr sz="1100" b="0" i="0">
                          <a:solidFill>
                            <a:srgbClr val="1A1440"/>
                          </a:solidFill>
                          <a:latin typeface="Calibri"/>
                        </a:rPr>
                        <a:t>Yes: 111</a:t>
                      </a:r>
                    </a:p>
                  </a:txBody>
                  <a:tcPr marL="101600" marR="101600" marT="38100" marB="38100" anchor="ctr">
                    <a:solidFill>
                      <a:srgbClr val="F4F2FA"/>
                    </a:solidFill>
                  </a:tcPr>
                </a:tc>
              </a:tr>
            </a:tbl>
          </a:graphicData>
        </a:graphic>
      </p:graphicFrame>
      <p:sp>
        <p:nvSpPr>
          <p:cNvPr id="10" name="Rounded Rectangle 9"/>
          <p:cNvSpPr/>
          <p:nvPr/>
        </p:nvSpPr>
        <p:spPr>
          <a:xfrm>
            <a:off x="530352" y="427685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5973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69460"/>
            <a:ext cx="237744" cy="237744"/>
          </a:xfrm>
          <a:prstGeom prst="rect">
            <a:avLst/>
          </a:prstGeom>
        </p:spPr>
      </p:pic>
      <p:sp>
        <p:nvSpPr>
          <p:cNvPr id="13" name="TextBox 12"/>
          <p:cNvSpPr txBox="1"/>
          <p:nvPr/>
        </p:nvSpPr>
        <p:spPr>
          <a:xfrm>
            <a:off x="1399031" y="44231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42612"/>
            <a:ext cx="9987991" cy="384048"/>
          </a:xfrm>
          <a:prstGeom prst="rect">
            <a:avLst/>
          </a:prstGeom>
          <a:noFill/>
        </p:spPr>
        <p:txBody>
          <a:bodyPr wrap="square" anchor="t" lIns="0" rIns="0" tIns="0" bIns="0">
            <a:spAutoFit/>
          </a:bodyPr>
          <a:lstStyle/>
          <a:p>
            <a:r>
              <a:rPr sz="1100" b="0" i="0">
                <a:solidFill>
                  <a:srgbClr val="1A1440"/>
                </a:solidFill>
                <a:latin typeface="Calibri"/>
              </a:rPr>
              <a:t>The table carries its as-of date and reports its age, the smallest recency is 0, and a run that fails a guard writes nothing.</a:t>
            </a:r>
          </a:p>
        </p:txBody>
      </p:sp>
      <p:sp>
        <p:nvSpPr>
          <p:cNvPr id="15" name="Rounded Rectangle 14"/>
          <p:cNvSpPr/>
          <p:nvPr/>
        </p:nvSpPr>
        <p:spPr>
          <a:xfrm>
            <a:off x="530352" y="526440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472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57012"/>
            <a:ext cx="237744" cy="237744"/>
          </a:xfrm>
          <a:prstGeom prst="rect">
            <a:avLst/>
          </a:prstGeom>
        </p:spPr>
      </p:pic>
      <p:sp>
        <p:nvSpPr>
          <p:cNvPr id="18" name="TextBox 17"/>
          <p:cNvSpPr txBox="1"/>
          <p:nvPr/>
        </p:nvSpPr>
        <p:spPr>
          <a:xfrm>
            <a:off x="1399031" y="54107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30164"/>
            <a:ext cx="9987991" cy="384048"/>
          </a:xfrm>
          <a:prstGeom prst="rect">
            <a:avLst/>
          </a:prstGeom>
          <a:noFill/>
        </p:spPr>
        <p:txBody>
          <a:bodyPr wrap="square" anchor="t" lIns="0" rIns="0" tIns="0" bIns="0">
            <a:spAutoFit/>
          </a:bodyPr>
          <a:lstStyle/>
          <a:p>
            <a:r>
              <a:rPr sz="1100" b="0" i="0">
                <a:solidFill>
                  <a:srgbClr val="1A1440"/>
                </a:solidFill>
                <a:latin typeface="Calibri"/>
              </a:rPr>
              <a:t>[F] How do you compute recency in a job that runs every week?</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Will Monday rebuild it?</a:t>
            </a:r>
          </a:p>
        </p:txBody>
      </p:sp>
      <p:sp>
        <p:nvSpPr>
          <p:cNvPr id="22" name="Oval 21"/>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24" name="Oval 23"/>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6" name="Oval 25"/>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8" name="Oval 27"/>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30" name="Oval 29"/>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19 / 36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you build it alone?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Can you build the growth team's whole Monday table alone, with both flags, one view and a guarded run, and post four numbers that hold?</a:t>
            </a:r>
          </a:p>
        </p:txBody>
      </p:sp>
      <p:sp>
        <p:nvSpPr>
          <p:cNvPr id="10" name="Rounded Rectangle 9"/>
          <p:cNvSpPr/>
          <p:nvPr/>
        </p:nvSpPr>
        <p:spPr>
          <a:xfrm>
            <a:off x="731519"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Will Monday rebuild it?</a:t>
            </a:r>
          </a:p>
        </p:txBody>
      </p:sp>
      <p:sp>
        <p:nvSpPr>
          <p:cNvPr id="11" name="Rounded Rectangle 10"/>
          <p:cNvSpPr/>
          <p:nvPr/>
        </p:nvSpPr>
        <p:spPr>
          <a:xfrm>
            <a:off x="2399074" y="5074920"/>
            <a:ext cx="1557826"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you build it alone?</a:t>
            </a:r>
          </a:p>
        </p:txBody>
      </p:sp>
      <p:sp>
        <p:nvSpPr>
          <p:cNvPr id="12" name="Rounded Rectangle 11"/>
          <p:cNvSpPr/>
          <p:nvPr/>
        </p:nvSpPr>
        <p:spPr>
          <a:xfrm>
            <a:off x="4066629" y="5074920"/>
            <a:ext cx="182479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room go wrong?</a:t>
            </a:r>
          </a:p>
        </p:txBody>
      </p:sp>
      <p:sp>
        <p:nvSpPr>
          <p:cNvPr id="13" name="Rounded Rectangle 12"/>
          <p:cNvSpPr/>
          <p:nvPr/>
        </p:nvSpPr>
        <p:spPr>
          <a:xfrm>
            <a:off x="6001148" y="5074920"/>
            <a:ext cx="171800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tool would you sign?</a:t>
            </a:r>
          </a:p>
        </p:txBody>
      </p:sp>
      <p:sp>
        <p:nvSpPr>
          <p:cNvPr id="14" name="Rounded Rectangle 13"/>
          <p:cNvSpPr/>
          <p:nvPr/>
        </p:nvSpPr>
        <p:spPr>
          <a:xfrm>
            <a:off x="7828881" y="5074920"/>
            <a:ext cx="177139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would you say it aloud?</a:t>
            </a:r>
          </a:p>
        </p:txBody>
      </p:sp>
      <p:sp>
        <p:nvSpPr>
          <p:cNvPr id="15" name="Rounded Rectangle 14"/>
          <p:cNvSpPr/>
          <p:nvPr/>
        </p:nvSpPr>
        <p:spPr>
          <a:xfrm>
            <a:off x="9710007" y="5074920"/>
            <a:ext cx="18781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to the growth team?</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4. Will Monday's table rebuild itself and hold?</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20 / 36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Alone: five parts, thirteen letters, four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escalated case ask, part by part?</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465836"/>
          </a:xfrm>
          <a:prstGeom prst="rect">
            <a:avLst/>
          </a:prstGeom>
          <a:noFill/>
        </p:spPr>
        <p:txBody>
          <a:bodyPr wrap="square" anchor="t" lIns="0" rIns="0" tIns="0" bIns="0">
            <a:spAutoFit/>
          </a:bodyPr>
          <a:lstStyle/>
          <a:p>
            <a:pPr algn="l"/>
            <a:r>
              <a:rPr sz="1300" b="1" i="0">
                <a:solidFill>
                  <a:srgbClr val="1A0F5C"/>
                </a:solidFill>
                <a:latin typeface="Calibri"/>
              </a:rPr>
              <a:t>Every customer, three numbers</a:t>
            </a:r>
          </a:p>
        </p:txBody>
      </p:sp>
      <p:sp>
        <p:nvSpPr>
          <p:cNvPr id="14" name="TextBox 13"/>
          <p:cNvSpPr txBox="1"/>
          <p:nvPr/>
        </p:nvSpPr>
        <p:spPr>
          <a:xfrm>
            <a:off x="694944" y="3492500"/>
            <a:ext cx="1750710" cy="366776"/>
          </a:xfrm>
          <a:prstGeom prst="rect">
            <a:avLst/>
          </a:prstGeom>
          <a:noFill/>
        </p:spPr>
        <p:txBody>
          <a:bodyPr wrap="square" anchor="t" lIns="0" rIns="0" tIns="0" bIns="0">
            <a:spAutoFit/>
          </a:bodyPr>
          <a:lstStyle/>
          <a:p>
            <a:pPr algn="l"/>
            <a:r>
              <a:rPr sz="1000" b="0" i="0">
                <a:solidFill>
                  <a:srgbClr val="6B6690"/>
                </a:solidFill>
                <a:latin typeface="Calibri"/>
              </a:rPr>
              <a:t>The spine and the aggregates</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465836"/>
          </a:xfrm>
          <a:prstGeom prst="rect">
            <a:avLst/>
          </a:prstGeom>
          <a:noFill/>
        </p:spPr>
        <p:txBody>
          <a:bodyPr wrap="square" anchor="t" lIns="0" rIns="0" tIns="0" bIns="0">
            <a:spAutoFit/>
          </a:bodyPr>
          <a:lstStyle/>
          <a:p>
            <a:pPr algn="l"/>
            <a:r>
              <a:rPr sz="1300" b="1" i="0">
                <a:solidFill>
                  <a:srgbClr val="1A0F5C"/>
                </a:solidFill>
                <a:latin typeface="Calibri"/>
              </a:rPr>
              <a:t>The sale, one row each</a:t>
            </a:r>
          </a:p>
        </p:txBody>
      </p:sp>
      <p:sp>
        <p:nvSpPr>
          <p:cNvPr id="19" name="TextBox 18"/>
          <p:cNvSpPr txBox="1"/>
          <p:nvPr/>
        </p:nvSpPr>
        <p:spPr>
          <a:xfrm>
            <a:off x="2957718" y="3492500"/>
            <a:ext cx="1750710" cy="366776"/>
          </a:xfrm>
          <a:prstGeom prst="rect">
            <a:avLst/>
          </a:prstGeom>
          <a:noFill/>
        </p:spPr>
        <p:txBody>
          <a:bodyPr wrap="square" anchor="t" lIns="0" rIns="0" tIns="0" bIns="0">
            <a:spAutoFit/>
          </a:bodyPr>
          <a:lstStyle/>
          <a:p>
            <a:pPr algn="l"/>
            <a:r>
              <a:rPr sz="1000" b="0" i="0">
                <a:solidFill>
                  <a:srgbClr val="6B6690"/>
                </a:solidFill>
                <a:latin typeface="Calibri"/>
              </a:rPr>
              <a:t>The feed attached, and counted a second way</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two flags</a:t>
            </a:r>
          </a:p>
        </p:txBody>
      </p:sp>
      <p:sp>
        <p:nvSpPr>
          <p:cNvPr id="24" name="TextBox 23"/>
          <p:cNvSpPr txBox="1"/>
          <p:nvPr/>
        </p:nvSpPr>
        <p:spPr>
          <a:xfrm>
            <a:off x="5220492"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Lapsed, and Wednesday's falling rule in pandas</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One view for a slide</a:t>
            </a:r>
          </a:p>
        </p:txBody>
      </p:sp>
      <p:sp>
        <p:nvSpPr>
          <p:cNvPr id="29" name="TextBox 28"/>
          <p:cNvSpPr txBox="1"/>
          <p:nvPr/>
        </p:nvSpPr>
        <p:spPr>
          <a:xfrm>
            <a:off x="7483266" y="3277870"/>
            <a:ext cx="1750710" cy="201676"/>
          </a:xfrm>
          <a:prstGeom prst="rect">
            <a:avLst/>
          </a:prstGeom>
          <a:noFill/>
        </p:spPr>
        <p:txBody>
          <a:bodyPr wrap="square" anchor="t" lIns="0" rIns="0" tIns="0" bIns="0">
            <a:spAutoFit/>
          </a:bodyPr>
          <a:lstStyle/>
          <a:p>
            <a:pPr algn="l"/>
            <a:r>
              <a:rPr sz="1000" b="0" i="0">
                <a:solidFill>
                  <a:srgbClr val="6B6690"/>
                </a:solidFill>
                <a:latin typeface="Calibri"/>
              </a:rPr>
              <a:t>Spend by month and segment</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31" name="Oval 30"/>
          <p:cNvSpPr/>
          <p:nvPr/>
        </p:nvSpPr>
        <p:spPr>
          <a:xfrm>
            <a:off x="10520812"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251205"/>
          </a:xfrm>
          <a:prstGeom prst="rect">
            <a:avLst/>
          </a:prstGeom>
          <a:noFill/>
        </p:spPr>
        <p:txBody>
          <a:bodyPr wrap="square" anchor="t" lIns="0" rIns="0" tIns="0" bIns="0">
            <a:spAutoFit/>
          </a:bodyPr>
          <a:lstStyle/>
          <a:p>
            <a:pPr algn="l"/>
            <a:r>
              <a:rPr sz="1300" b="1" i="0">
                <a:solidFill>
                  <a:srgbClr val="FFFFFF"/>
                </a:solidFill>
                <a:latin typeface="Calibri"/>
              </a:rPr>
              <a:t>One guarded run</a:t>
            </a:r>
          </a:p>
        </p:txBody>
      </p:sp>
      <p:sp>
        <p:nvSpPr>
          <p:cNvPr id="34" name="TextBox 33"/>
          <p:cNvSpPr txBox="1"/>
          <p:nvPr/>
        </p:nvSpPr>
        <p:spPr>
          <a:xfrm>
            <a:off x="9746040" y="3277870"/>
            <a:ext cx="1750710" cy="366776"/>
          </a:xfrm>
          <a:prstGeom prst="rect">
            <a:avLst/>
          </a:prstGeom>
          <a:noFill/>
        </p:spPr>
        <p:txBody>
          <a:bodyPr wrap="square" anchor="t" lIns="0" rIns="0" tIns="0" bIns="0">
            <a:spAutoFit/>
          </a:bodyPr>
          <a:lstStyle/>
          <a:p>
            <a:pPr algn="l"/>
            <a:r>
              <a:rPr sz="1000" b="0" i="0">
                <a:solidFill>
                  <a:srgbClr val="CFC9EE"/>
                </a:solidFill>
                <a:latin typeface="Calibri"/>
              </a:rPr>
              <a:t>Two runs, one table, a CSV for Friday</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37" name="Oval 36"/>
          <p:cNvSpPr/>
          <p:nvPr/>
        </p:nvSpPr>
        <p:spPr>
          <a:xfrm>
            <a:off x="20639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17370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Can you build it alone?</a:t>
            </a:r>
          </a:p>
        </p:txBody>
      </p:sp>
      <p:sp>
        <p:nvSpPr>
          <p:cNvPr id="39" name="Oval 38"/>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41" name="Oval 40"/>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43" name="Oval 42"/>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45" name="Oval 44"/>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47" name="TextBox 4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21 / 36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Two definitions, and the checks to reach</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flags does the table carry, and which numbers prove it before it ships?</a:t>
            </a:r>
          </a:p>
        </p:txBody>
      </p:sp>
      <p:graphicFrame>
        <p:nvGraphicFramePr>
          <p:cNvPr id="10" name="Table 9"/>
          <p:cNvGraphicFramePr>
            <a:graphicFrameLocks noGrp="1"/>
          </p:cNvGraphicFramePr>
          <p:nvPr/>
        </p:nvGraphicFramePr>
        <p:xfrm>
          <a:off x="530352" y="1956816"/>
          <a:ext cx="11130991" cy="1351280"/>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Flag</a:t>
                      </a:r>
                    </a:p>
                  </a:txBody>
                  <a:tcPr marL="101600" marR="101600" marT="38100" marB="38100" anchor="ctr">
                    <a:solidFill>
                      <a:srgbClr val="1A0F5C"/>
                    </a:solidFill>
                  </a:tcPr>
                </a:tc>
                <a:tc>
                  <a:txBody>
                    <a:bodyPr/>
                    <a:lstStyle/>
                    <a:p>
                      <a:r>
                        <a:rPr sz="1450" b="1" i="0">
                          <a:solidFill>
                            <a:srgbClr val="FFFFFF"/>
                          </a:solidFill>
                          <a:latin typeface="Calibri"/>
                        </a:rPr>
                        <a:t>Its rule</a:t>
                      </a:r>
                    </a:p>
                  </a:txBody>
                  <a:tcPr marL="101600" marR="101600" marT="38100" marB="38100" anchor="ctr">
                    <a:solidFill>
                      <a:srgbClr val="1A0F5C"/>
                    </a:solidFill>
                  </a:tcPr>
                </a:tc>
              </a:tr>
              <a:tr h="369824">
                <a:tc>
                  <a:txBody>
                    <a:bodyPr/>
                    <a:lstStyle/>
                    <a:p>
                      <a:r>
                        <a:rPr sz="1400" b="0" i="0">
                          <a:solidFill>
                            <a:srgbClr val="1A1440"/>
                          </a:solidFill>
                          <a:latin typeface="Calibri"/>
                        </a:rPr>
                        <a:t>Lapsed</a:t>
                      </a:r>
                    </a:p>
                  </a:txBody>
                  <a:tcPr marL="101600" marR="101600" marT="38100" marB="38100" anchor="ctr">
                    <a:solidFill>
                      <a:srgbClr val="FFFFFF"/>
                    </a:solidFill>
                  </a:tcPr>
                </a:tc>
                <a:tc>
                  <a:txBody>
                    <a:bodyPr/>
                    <a:lstStyle/>
                    <a:p>
                      <a:r>
                        <a:rPr sz="1400" b="0" i="0">
                          <a:solidFill>
                            <a:srgbClr val="1A1440"/>
                          </a:solidFill>
                          <a:latin typeface="Calibri"/>
                        </a:rPr>
                        <a:t>No order in the 60 days to the as-of date; a customer who never ordered is not lapsed</a:t>
                      </a:r>
                    </a:p>
                  </a:txBody>
                  <a:tcPr marL="101600" marR="101600" marT="38100" marB="38100" anchor="ctr">
                    <a:solidFill>
                      <a:srgbClr val="FFFFFF"/>
                    </a:solidFill>
                  </a:tcPr>
                </a:tc>
              </a:tr>
              <a:tr h="611632">
                <a:tc>
                  <a:txBody>
                    <a:bodyPr/>
                    <a:lstStyle/>
                    <a:p>
                      <a:r>
                        <a:rPr sz="1400" b="0" i="0">
                          <a:solidFill>
                            <a:srgbClr val="1A1440"/>
                          </a:solidFill>
                          <a:latin typeface="Calibri"/>
                        </a:rPr>
                        <a:t>Falling</a:t>
                      </a:r>
                    </a:p>
                  </a:txBody>
                  <a:tcPr marL="101600" marR="101600" marT="38100" marB="38100" anchor="ctr">
                    <a:solidFill>
                      <a:srgbClr val="F4F2FA"/>
                    </a:solidFill>
                  </a:tcPr>
                </a:tc>
                <a:tc>
                  <a:txBody>
                    <a:bodyPr/>
                    <a:lstStyle/>
                    <a:p>
                      <a:r>
                        <a:rPr sz="1400" b="0" i="0">
                          <a:solidFill>
                            <a:srgbClr val="1A1440"/>
                          </a:solidFill>
                          <a:latin typeface="Calibri"/>
                        </a:rPr>
                        <a:t>Spend lower in August than July and lower again in September, each reading the calendar month after the last, so a month with no order breaks the run</a:t>
                      </a:r>
                    </a:p>
                  </a:txBody>
                  <a:tcPr marL="101600" marR="101600" marT="38100" marB="38100" anchor="ctr">
                    <a:solidFill>
                      <a:srgbClr val="F4F2FA"/>
                    </a:solidFill>
                  </a:tcPr>
                </a:tc>
              </a:tr>
            </a:tbl>
          </a:graphicData>
        </a:graphic>
      </p:graphicFrame>
      <p:sp>
        <p:nvSpPr>
          <p:cNvPr id="11" name="TextBox 10"/>
          <p:cNvSpPr txBox="1"/>
          <p:nvPr/>
        </p:nvSpPr>
        <p:spPr>
          <a:xfrm>
            <a:off x="530352" y="3564128"/>
            <a:ext cx="3527450" cy="444500"/>
          </a:xfrm>
          <a:prstGeom prst="rect">
            <a:avLst/>
          </a:prstGeom>
          <a:noFill/>
        </p:spPr>
        <p:txBody>
          <a:bodyPr wrap="square" anchor="t" lIns="0" rIns="0" tIns="0" bIns="0">
            <a:spAutoFit/>
          </a:bodyPr>
          <a:lstStyle/>
          <a:p>
            <a:pPr algn="l"/>
            <a:r>
              <a:rPr sz="2800" b="0" i="0">
                <a:solidFill>
                  <a:srgbClr val="5B3FD6"/>
                </a:solidFill>
                <a:latin typeface="Georgia"/>
              </a:rPr>
              <a:t>340</a:t>
            </a:r>
          </a:p>
        </p:txBody>
      </p:sp>
      <p:sp>
        <p:nvSpPr>
          <p:cNvPr id="12" name="TextBox 11"/>
          <p:cNvSpPr txBox="1"/>
          <p:nvPr/>
        </p:nvSpPr>
        <p:spPr>
          <a:xfrm>
            <a:off x="530352" y="40452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CUSTOMERS</a:t>
            </a:r>
          </a:p>
        </p:txBody>
      </p:sp>
      <p:sp>
        <p:nvSpPr>
          <p:cNvPr id="13" name="TextBox 12"/>
          <p:cNvSpPr txBox="1"/>
          <p:nvPr/>
        </p:nvSpPr>
        <p:spPr>
          <a:xfrm>
            <a:off x="530352" y="4246371"/>
            <a:ext cx="3527450" cy="193421"/>
          </a:xfrm>
          <a:prstGeom prst="rect">
            <a:avLst/>
          </a:prstGeom>
          <a:noFill/>
        </p:spPr>
        <p:txBody>
          <a:bodyPr wrap="square" anchor="t" lIns="0" rIns="0" tIns="0" bIns="0">
            <a:spAutoFit/>
          </a:bodyPr>
          <a:lstStyle/>
          <a:p>
            <a:pPr algn="l"/>
            <a:r>
              <a:rPr sz="950" b="0" i="0">
                <a:solidFill>
                  <a:srgbClr val="6B6690"/>
                </a:solidFill>
                <a:latin typeface="Calibri"/>
              </a:rPr>
              <a:t>one row each</a:t>
            </a:r>
          </a:p>
        </p:txBody>
      </p:sp>
      <p:sp>
        <p:nvSpPr>
          <p:cNvPr id="14" name="Rectangle 13"/>
          <p:cNvSpPr/>
          <p:nvPr/>
        </p:nvSpPr>
        <p:spPr>
          <a:xfrm>
            <a:off x="530352" y="47528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32122" y="3564128"/>
            <a:ext cx="3527450" cy="444500"/>
          </a:xfrm>
          <a:prstGeom prst="rect">
            <a:avLst/>
          </a:prstGeom>
          <a:noFill/>
        </p:spPr>
        <p:txBody>
          <a:bodyPr wrap="square" anchor="t" lIns="0" rIns="0" tIns="0" bIns="0">
            <a:spAutoFit/>
          </a:bodyPr>
          <a:lstStyle/>
          <a:p>
            <a:pPr algn="l"/>
            <a:r>
              <a:rPr sz="2800" b="0" i="0">
                <a:solidFill>
                  <a:srgbClr val="5B3FD6"/>
                </a:solidFill>
                <a:latin typeface="Georgia"/>
              </a:rPr>
              <a:t>Rs 19,84,00,000</a:t>
            </a:r>
          </a:p>
        </p:txBody>
      </p:sp>
      <p:sp>
        <p:nvSpPr>
          <p:cNvPr id="16" name="TextBox 15"/>
          <p:cNvSpPr txBox="1"/>
          <p:nvPr/>
        </p:nvSpPr>
        <p:spPr>
          <a:xfrm>
            <a:off x="4332122" y="40452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SPEND</a:t>
            </a:r>
          </a:p>
        </p:txBody>
      </p:sp>
      <p:sp>
        <p:nvSpPr>
          <p:cNvPr id="17" name="TextBox 16"/>
          <p:cNvSpPr txBox="1"/>
          <p:nvPr/>
        </p:nvSpPr>
        <p:spPr>
          <a:xfrm>
            <a:off x="4332122" y="4246371"/>
            <a:ext cx="3527450" cy="193421"/>
          </a:xfrm>
          <a:prstGeom prst="rect">
            <a:avLst/>
          </a:prstGeom>
          <a:noFill/>
        </p:spPr>
        <p:txBody>
          <a:bodyPr wrap="square" anchor="t" lIns="0" rIns="0" tIns="0" bIns="0">
            <a:spAutoFit/>
          </a:bodyPr>
          <a:lstStyle/>
          <a:p>
            <a:pPr algn="l"/>
            <a:r>
              <a:rPr sz="950" b="0" i="0">
                <a:solidFill>
                  <a:srgbClr val="6B6690"/>
                </a:solidFill>
                <a:latin typeface="Calibri"/>
              </a:rPr>
              <a:t>ties to the warehouse</a:t>
            </a:r>
          </a:p>
        </p:txBody>
      </p:sp>
      <p:sp>
        <p:nvSpPr>
          <p:cNvPr id="18" name="Rectangle 17"/>
          <p:cNvSpPr/>
          <p:nvPr/>
        </p:nvSpPr>
        <p:spPr>
          <a:xfrm>
            <a:off x="4332122" y="47528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133892" y="3564128"/>
            <a:ext cx="3527450" cy="444500"/>
          </a:xfrm>
          <a:prstGeom prst="rect">
            <a:avLst/>
          </a:prstGeom>
          <a:noFill/>
        </p:spPr>
        <p:txBody>
          <a:bodyPr wrap="square" anchor="t" lIns="0" rIns="0" tIns="0" bIns="0">
            <a:spAutoFit/>
          </a:bodyPr>
          <a:lstStyle/>
          <a:p>
            <a:pPr algn="l"/>
            <a:r>
              <a:rPr sz="2800" b="0" i="0">
                <a:solidFill>
                  <a:srgbClr val="5B3FD6"/>
                </a:solidFill>
                <a:latin typeface="Georgia"/>
              </a:rPr>
              <a:t>130</a:t>
            </a:r>
          </a:p>
        </p:txBody>
      </p:sp>
      <p:sp>
        <p:nvSpPr>
          <p:cNvPr id="20" name="TextBox 19"/>
          <p:cNvSpPr txBox="1"/>
          <p:nvPr/>
        </p:nvSpPr>
        <p:spPr>
          <a:xfrm>
            <a:off x="8133892" y="40452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REACHED</a:t>
            </a:r>
          </a:p>
        </p:txBody>
      </p:sp>
      <p:sp>
        <p:nvSpPr>
          <p:cNvPr id="21" name="TextBox 20"/>
          <p:cNvSpPr txBox="1"/>
          <p:nvPr/>
        </p:nvSpPr>
        <p:spPr>
          <a:xfrm>
            <a:off x="8133892" y="4246371"/>
            <a:ext cx="3527450" cy="193421"/>
          </a:xfrm>
          <a:prstGeom prst="rect">
            <a:avLst/>
          </a:prstGeom>
          <a:noFill/>
        </p:spPr>
        <p:txBody>
          <a:bodyPr wrap="square" anchor="t" lIns="0" rIns="0" tIns="0" bIns="0">
            <a:spAutoFit/>
          </a:bodyPr>
          <a:lstStyle/>
          <a:p>
            <a:pPr algn="l"/>
            <a:r>
              <a:rPr sz="950" b="0" i="0">
                <a:solidFill>
                  <a:srgbClr val="6B6690"/>
                </a:solidFill>
                <a:latin typeface="Calibri"/>
              </a:rPr>
              <a:t>first exposure per customer</a:t>
            </a:r>
          </a:p>
        </p:txBody>
      </p:sp>
      <p:sp>
        <p:nvSpPr>
          <p:cNvPr id="22" name="Rectangle 21"/>
          <p:cNvSpPr/>
          <p:nvPr/>
        </p:nvSpPr>
        <p:spPr>
          <a:xfrm>
            <a:off x="8133892" y="47528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25" name="Oval 24"/>
          <p:cNvSpPr/>
          <p:nvPr/>
        </p:nvSpPr>
        <p:spPr>
          <a:xfrm>
            <a:off x="206397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173700"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Can you build it alone?</a:t>
            </a:r>
          </a:p>
        </p:txBody>
      </p:sp>
      <p:sp>
        <p:nvSpPr>
          <p:cNvPr id="27" name="Oval 2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9" name="Oval 28"/>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31" name="Oval 30"/>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33" name="Oval 32"/>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D16  ·  22 / 36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Where did the room go wrong?</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wrong numbers did the room produce in the case, and which check would have caught each one?</a:t>
            </a:r>
          </a:p>
        </p:txBody>
      </p:sp>
      <p:sp>
        <p:nvSpPr>
          <p:cNvPr id="10" name="Rounded Rectangle 9"/>
          <p:cNvSpPr/>
          <p:nvPr/>
        </p:nvSpPr>
        <p:spPr>
          <a:xfrm>
            <a:off x="731519"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Will Monday rebuild it?</a:t>
            </a:r>
          </a:p>
        </p:txBody>
      </p:sp>
      <p:sp>
        <p:nvSpPr>
          <p:cNvPr id="11" name="Rounded Rectangle 10"/>
          <p:cNvSpPr/>
          <p:nvPr/>
        </p:nvSpPr>
        <p:spPr>
          <a:xfrm>
            <a:off x="2399074"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build it alone?</a:t>
            </a:r>
          </a:p>
        </p:txBody>
      </p:sp>
      <p:sp>
        <p:nvSpPr>
          <p:cNvPr id="12" name="Rounded Rectangle 11"/>
          <p:cNvSpPr/>
          <p:nvPr/>
        </p:nvSpPr>
        <p:spPr>
          <a:xfrm>
            <a:off x="4066629" y="5074920"/>
            <a:ext cx="182479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Where did the room go wrong?</a:t>
            </a:r>
          </a:p>
        </p:txBody>
      </p:sp>
      <p:sp>
        <p:nvSpPr>
          <p:cNvPr id="13" name="Rounded Rectangle 12"/>
          <p:cNvSpPr/>
          <p:nvPr/>
        </p:nvSpPr>
        <p:spPr>
          <a:xfrm>
            <a:off x="6001148" y="5074920"/>
            <a:ext cx="171800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tool would you sign?</a:t>
            </a:r>
          </a:p>
        </p:txBody>
      </p:sp>
      <p:sp>
        <p:nvSpPr>
          <p:cNvPr id="14" name="Rounded Rectangle 13"/>
          <p:cNvSpPr/>
          <p:nvPr/>
        </p:nvSpPr>
        <p:spPr>
          <a:xfrm>
            <a:off x="7828881" y="5074920"/>
            <a:ext cx="177139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would you say it aloud?</a:t>
            </a:r>
          </a:p>
        </p:txBody>
      </p:sp>
      <p:sp>
        <p:nvSpPr>
          <p:cNvPr id="15" name="Rounded Rectangle 14"/>
          <p:cNvSpPr/>
          <p:nvPr/>
        </p:nvSpPr>
        <p:spPr>
          <a:xfrm>
            <a:off x="9710007" y="5074920"/>
            <a:ext cx="18781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to the growth team?</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4. Will Monday's table rebuild itself and hold?</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23 / 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wrong outputs to expect, and their checks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wrong output came from which step, and which check would have caught it?</a:t>
            </a:r>
          </a:p>
        </p:txBody>
      </p:sp>
      <p:graphicFrame>
        <p:nvGraphicFramePr>
          <p:cNvPr id="9" name="Table 8"/>
          <p:cNvGraphicFramePr>
            <a:graphicFrameLocks noGrp="1"/>
          </p:cNvGraphicFramePr>
          <p:nvPr/>
        </p:nvGraphicFramePr>
        <p:xfrm>
          <a:off x="530352" y="1956816"/>
          <a:ext cx="11130990" cy="3556000"/>
        </p:xfrm>
        <a:graphic>
          <a:graphicData uri="http://schemas.openxmlformats.org/drawingml/2006/table">
            <a:tbl>
              <a:tblPr firstRow="0" bandRow="0">
                <a:tableStyleId>{2D5ABB26-0587-4C30-8999-92F81FD0307C}</a:tableStyleId>
              </a:tblPr>
              <a:tblGrid>
                <a:gridCol w="3881372"/>
                <a:gridCol w="4137934"/>
                <a:gridCol w="3111684"/>
              </a:tblGrid>
              <a:tr h="369824">
                <a:tc>
                  <a:txBody>
                    <a:bodyPr/>
                    <a:lstStyle/>
                    <a:p>
                      <a:r>
                        <a:rPr sz="1450" b="1" i="0">
                          <a:solidFill>
                            <a:srgbClr val="FFFFFF"/>
                          </a:solidFill>
                          <a:latin typeface="Calibri"/>
                        </a:rPr>
                        <a:t>The wrong output</a:t>
                      </a:r>
                    </a:p>
                  </a:txBody>
                  <a:tcPr marL="101600" marR="101600" marT="38100" marB="38100" anchor="ctr">
                    <a:solidFill>
                      <a:srgbClr val="1A0F5C"/>
                    </a:solidFill>
                  </a:tcPr>
                </a:tc>
                <a:tc>
                  <a:txBody>
                    <a:bodyPr/>
                    <a:lstStyle/>
                    <a:p>
                      <a:r>
                        <a:rPr sz="1450" b="1" i="0">
                          <a:solidFill>
                            <a:srgbClr val="FFFFFF"/>
                          </a:solidFill>
                          <a:latin typeface="Calibri"/>
                        </a:rPr>
                        <a:t>Where it came from</a:t>
                      </a:r>
                    </a:p>
                  </a:txBody>
                  <a:tcPr marL="101600" marR="101600" marT="38100" marB="38100" anchor="ctr">
                    <a:solidFill>
                      <a:srgbClr val="1A0F5C"/>
                    </a:solidFill>
                  </a:tcPr>
                </a:tc>
                <a:tc>
                  <a:txBody>
                    <a:bodyPr/>
                    <a:lstStyle/>
                    <a:p>
                      <a:r>
                        <a:rPr sz="1450" b="1" i="0">
                          <a:solidFill>
                            <a:srgbClr val="FFFFFF"/>
                          </a:solidFill>
                          <a:latin typeface="Calibri"/>
                        </a:rPr>
                        <a:t>The check</a:t>
                      </a:r>
                    </a:p>
                  </a:txBody>
                  <a:tcPr marL="101600" marR="101600" marT="38100" marB="38100" anchor="ctr">
                    <a:solidFill>
                      <a:srgbClr val="1A0F5C"/>
                    </a:solidFill>
                  </a:tcPr>
                </a:tc>
              </a:tr>
              <a:tr h="611632">
                <a:tc>
                  <a:txBody>
                    <a:bodyPr/>
                    <a:lstStyle/>
                    <a:p>
                      <a:r>
                        <a:rPr sz="1400" b="0" i="0">
                          <a:solidFill>
                            <a:srgbClr val="1A1440"/>
                          </a:solidFill>
                          <a:latin typeface="Calibri"/>
                        </a:rPr>
                        <a:t>301 rows</a:t>
                      </a:r>
                    </a:p>
                  </a:txBody>
                  <a:tcPr marL="101600" marR="101600" marT="38100" marB="38100" anchor="ctr">
                    <a:solidFill>
                      <a:srgbClr val="FFFFFF"/>
                    </a:solidFill>
                  </a:tcPr>
                </a:tc>
                <a:tc>
                  <a:txBody>
                    <a:bodyPr/>
                    <a:lstStyle/>
                    <a:p>
                      <a:r>
                        <a:rPr sz="1400" b="0" i="0">
                          <a:solidFill>
                            <a:srgbClr val="1A1440"/>
                          </a:solidFill>
                          <a:latin typeface="Calibri"/>
                        </a:rPr>
                        <a:t>the spine taken from the customers who ordered</a:t>
                      </a:r>
                    </a:p>
                  </a:txBody>
                  <a:tcPr marL="101600" marR="101600" marT="38100" marB="38100" anchor="ctr">
                    <a:solidFill>
                      <a:srgbClr val="FFFFFF"/>
                    </a:solidFill>
                  </a:tcPr>
                </a:tc>
                <a:tc>
                  <a:txBody>
                    <a:bodyPr/>
                    <a:lstStyle/>
                    <a:p>
                      <a:r>
                        <a:rPr sz="1400" b="0" i="0">
                          <a:solidFill>
                            <a:srgbClr val="1A1440"/>
                          </a:solidFill>
                          <a:latin typeface="Calibri"/>
                        </a:rPr>
                        <a:t>rows against the customer list</a:t>
                      </a:r>
                    </a:p>
                  </a:txBody>
                  <a:tcPr marL="101600" marR="101600" marT="38100" marB="38100" anchor="ctr">
                    <a:solidFill>
                      <a:srgbClr val="FFFFFF"/>
                    </a:solidFill>
                  </a:tcPr>
                </a:tc>
              </a:tr>
              <a:tr h="369824">
                <a:tc>
                  <a:txBody>
                    <a:bodyPr/>
                    <a:lstStyle/>
                    <a:p>
                      <a:r>
                        <a:rPr sz="1400" b="0" i="0">
                          <a:solidFill>
                            <a:srgbClr val="1A1440"/>
                          </a:solidFill>
                          <a:latin typeface="Calibri"/>
                        </a:rPr>
                        <a:t>0 customers who never ordered</a:t>
                      </a:r>
                    </a:p>
                  </a:txBody>
                  <a:tcPr marL="101600" marR="101600" marT="38100" marB="38100" anchor="ctr">
                    <a:solidFill>
                      <a:srgbClr val="F4F2FA"/>
                    </a:solidFill>
                  </a:tcPr>
                </a:tc>
                <a:tc>
                  <a:txBody>
                    <a:bodyPr/>
                    <a:lstStyle/>
                    <a:p>
                      <a:r>
                        <a:rPr sz="1400" b="0" i="0">
                          <a:solidFill>
                            <a:srgbClr val="1A1440"/>
                          </a:solidFill>
                          <a:latin typeface="Calibri"/>
                        </a:rPr>
                        <a:t>a missing count never equals 0</a:t>
                      </a:r>
                    </a:p>
                  </a:txBody>
                  <a:tcPr marL="101600" marR="101600" marT="38100" marB="38100" anchor="ctr">
                    <a:solidFill>
                      <a:srgbClr val="F4F2FA"/>
                    </a:solidFill>
                  </a:tcPr>
                </a:tc>
                <a:tc>
                  <a:txBody>
                    <a:bodyPr/>
                    <a:lstStyle/>
                    <a:p>
                      <a:r>
                        <a:rPr sz="1400" b="0" i="0">
                          <a:solidFill>
                            <a:srgbClr val="1A1440"/>
                          </a:solidFill>
                          <a:latin typeface="Calibri"/>
                        </a:rPr>
                        <a:t>fill 0 on purpose, then count</a:t>
                      </a:r>
                    </a:p>
                  </a:txBody>
                  <a:tcPr marL="101600" marR="101600" marT="38100" marB="38100" anchor="ctr">
                    <a:solidFill>
                      <a:srgbClr val="F4F2FA"/>
                    </a:solidFill>
                  </a:tcPr>
                </a:tc>
              </a:tr>
              <a:tr h="611632">
                <a:tc>
                  <a:txBody>
                    <a:bodyPr/>
                    <a:lstStyle/>
                    <a:p>
                      <a:r>
                        <a:rPr sz="1400" b="0" i="0">
                          <a:solidFill>
                            <a:srgbClr val="1A1440"/>
                          </a:solidFill>
                          <a:latin typeface="Calibri"/>
                        </a:rPr>
                        <a:t>Reached customers who read as never reached</a:t>
                      </a:r>
                    </a:p>
                  </a:txBody>
                  <a:tcPr marL="101600" marR="101600" marT="38100" marB="38100" anchor="ctr">
                    <a:solidFill>
                      <a:srgbClr val="FFFFFF"/>
                    </a:solidFill>
                  </a:tcPr>
                </a:tc>
                <a:tc>
                  <a:txBody>
                    <a:bodyPr/>
                    <a:lstStyle/>
                    <a:p>
                      <a:r>
                        <a:rPr sz="1400" b="0" i="0">
                          <a:solidFill>
                            <a:srgbClr val="1A1440"/>
                          </a:solidFill>
                          <a:latin typeface="Calibri"/>
                        </a:rPr>
                        <a:t>a repeated customer dropped entirely</a:t>
                      </a:r>
                    </a:p>
                  </a:txBody>
                  <a:tcPr marL="101600" marR="101600" marT="38100" marB="38100" anchor="ctr">
                    <a:solidFill>
                      <a:srgbClr val="FFFFFF"/>
                    </a:solidFill>
                  </a:tcPr>
                </a:tc>
                <a:tc>
                  <a:txBody>
                    <a:bodyPr/>
                    <a:lstStyle/>
                    <a:p>
                      <a:r>
                        <a:rPr sz="1400" b="0" i="0">
                          <a:solidFill>
                            <a:srgbClr val="1A1440"/>
                          </a:solidFill>
                          <a:latin typeface="Calibri"/>
                        </a:rPr>
                        <a:t>the second count from the raw feed</a:t>
                      </a:r>
                    </a:p>
                  </a:txBody>
                  <a:tcPr marL="101600" marR="101600" marT="38100" marB="38100" anchor="ctr">
                    <a:solidFill>
                      <a:srgbClr val="FFFFFF"/>
                    </a:solidFill>
                  </a:tcPr>
                </a:tc>
              </a:tr>
              <a:tr h="369824">
                <a:tc>
                  <a:txBody>
                    <a:bodyPr/>
                    <a:lstStyle/>
                    <a:p>
                      <a:r>
                        <a:rPr sz="1400" b="0" i="0">
                          <a:solidFill>
                            <a:srgbClr val="1A1440"/>
                          </a:solidFill>
                          <a:latin typeface="Calibri"/>
                        </a:rPr>
                        <a:t>154 on the win-back list</a:t>
                      </a:r>
                    </a:p>
                  </a:txBody>
                  <a:tcPr marL="101600" marR="101600" marT="38100" marB="38100" anchor="ctr">
                    <a:solidFill>
                      <a:srgbClr val="F4F2FA"/>
                    </a:solidFill>
                  </a:tcPr>
                </a:tc>
                <a:tc>
                  <a:txBody>
                    <a:bodyPr/>
                    <a:lstStyle/>
                    <a:p>
                      <a:r>
                        <a:rPr sz="1400" b="0" i="0">
                          <a:solidFill>
                            <a:srgbClr val="1A1440"/>
                          </a:solidFill>
                          <a:latin typeface="Calibri"/>
                        </a:rPr>
                        <a:t>recency counted to the class day</a:t>
                      </a:r>
                    </a:p>
                  </a:txBody>
                  <a:tcPr marL="101600" marR="101600" marT="38100" marB="38100" anchor="ctr">
                    <a:solidFill>
                      <a:srgbClr val="F4F2FA"/>
                    </a:solidFill>
                  </a:tcPr>
                </a:tc>
                <a:tc>
                  <a:txBody>
                    <a:bodyPr/>
                    <a:lstStyle/>
                    <a:p>
                      <a:r>
                        <a:rPr sz="1400" b="0" i="0">
                          <a:solidFill>
                            <a:srgbClr val="1A1440"/>
                          </a:solidFill>
                          <a:latin typeface="Calibri"/>
                        </a:rPr>
                        <a:t>the smallest recency is 0</a:t>
                      </a:r>
                    </a:p>
                  </a:txBody>
                  <a:tcPr marL="101600" marR="101600" marT="38100" marB="38100" anchor="ctr">
                    <a:solidFill>
                      <a:srgbClr val="F4F2FA"/>
                    </a:solidFill>
                  </a:tcPr>
                </a:tc>
              </a:tr>
              <a:tr h="611632">
                <a:tc>
                  <a:txBody>
                    <a:bodyPr/>
                    <a:lstStyle/>
                    <a:p>
                      <a:r>
                        <a:rPr sz="1400" b="0" i="0">
                          <a:solidFill>
                            <a:srgbClr val="1A1440"/>
                          </a:solidFill>
                          <a:latin typeface="Calibri"/>
                        </a:rPr>
                        <a:t>Falling flags on customers who never fell</a:t>
                      </a:r>
                    </a:p>
                  </a:txBody>
                  <a:tcPr marL="101600" marR="101600" marT="38100" marB="38100" anchor="ctr">
                    <a:solidFill>
                      <a:srgbClr val="FFFFFF"/>
                    </a:solidFill>
                  </a:tcPr>
                </a:tc>
                <a:tc>
                  <a:txBody>
                    <a:bodyPr/>
                    <a:lstStyle/>
                    <a:p>
                      <a:r>
                        <a:rPr sz="1400" b="0" i="0">
                          <a:solidFill>
                            <a:srgbClr val="1A1440"/>
                          </a:solidFill>
                          <a:latin typeface="Calibri"/>
                        </a:rPr>
                        <a:t>earlier readings taken without the customer</a:t>
                      </a:r>
                    </a:p>
                  </a:txBody>
                  <a:tcPr marL="101600" marR="101600" marT="38100" marB="38100" anchor="ctr">
                    <a:solidFill>
                      <a:srgbClr val="FFFFFF"/>
                    </a:solidFill>
                  </a:tcPr>
                </a:tc>
                <a:tc>
                  <a:txBody>
                    <a:bodyPr/>
                    <a:lstStyle/>
                    <a:p>
                      <a:r>
                        <a:rPr sz="1400" b="0" i="0">
                          <a:solidFill>
                            <a:srgbClr val="1A1440"/>
                          </a:solidFill>
                          <a:latin typeface="Calibri"/>
                        </a:rPr>
                        <a:t>the flag against Wednesday's query</a:t>
                      </a:r>
                    </a:p>
                  </a:txBody>
                  <a:tcPr marL="101600" marR="101600" marT="38100" marB="38100" anchor="ctr">
                    <a:solidFill>
                      <a:srgbClr val="FFFFFF"/>
                    </a:solidFill>
                  </a:tcPr>
                </a:tc>
              </a:tr>
              <a:tr h="611632">
                <a:tc>
                  <a:txBody>
                    <a:bodyPr/>
                    <a:lstStyle/>
                    <a:p>
                      <a:r>
                        <a:rPr sz="1400" b="0" i="0">
                          <a:solidFill>
                            <a:srgbClr val="1A1440"/>
                          </a:solidFill>
                          <a:latin typeface="Calibri"/>
                        </a:rPr>
                        <a:t>A view short of the warehouse</a:t>
                      </a:r>
                    </a:p>
                  </a:txBody>
                  <a:tcPr marL="101600" marR="101600" marT="38100" marB="38100" anchor="ctr">
                    <a:solidFill>
                      <a:srgbClr val="F4F2FA"/>
                    </a:solidFill>
                  </a:tcPr>
                </a:tc>
                <a:tc>
                  <a:txBody>
                    <a:bodyPr/>
                    <a:lstStyle/>
                    <a:p>
                      <a:r>
                        <a:rPr sz="1400" b="0" i="0">
                          <a:solidFill>
                            <a:srgbClr val="1A1440"/>
                          </a:solidFill>
                          <a:latin typeface="Calibri"/>
                        </a:rPr>
                        <a:t>the pivot's default mean</a:t>
                      </a:r>
                    </a:p>
                  </a:txBody>
                  <a:tcPr marL="101600" marR="101600" marT="38100" marB="38100" anchor="ctr">
                    <a:solidFill>
                      <a:srgbClr val="F4F2FA"/>
                    </a:solidFill>
                  </a:tcPr>
                </a:tc>
                <a:tc>
                  <a:txBody>
                    <a:bodyPr/>
                    <a:lstStyle/>
                    <a:p>
                      <a:r>
                        <a:rPr sz="1400" b="0" i="0">
                          <a:solidFill>
                            <a:srgbClr val="1A1440"/>
                          </a:solidFill>
                          <a:latin typeface="Calibri"/>
                        </a:rPr>
                        <a:t>the grand total against the orders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2" name="Oval 11"/>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4" name="Oval 13"/>
          <p:cNvSpPr/>
          <p:nvPr/>
        </p:nvSpPr>
        <p:spPr>
          <a:xfrm>
            <a:off x="359759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07320"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Where did the room go wrong?</a:t>
            </a:r>
          </a:p>
        </p:txBody>
      </p:sp>
      <p:sp>
        <p:nvSpPr>
          <p:cNvPr id="16" name="Oval 15"/>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18" name="Oval 17"/>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0" name="Oval 19"/>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24 / 36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miss to expect: the class-day date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is the wall-clock count the one that survives review?</a:t>
            </a:r>
          </a:p>
        </p:txBody>
      </p:sp>
      <p:pic>
        <p:nvPicPr>
          <p:cNvPr id="9" name="mermaid diagram" descr="6c81d53cdfc650ea.png"/>
          <p:cNvPicPr>
            <a:picLocks noChangeAspect="1"/>
          </p:cNvPicPr>
          <p:nvPr/>
        </p:nvPicPr>
        <p:blipFill>
          <a:blip r:embed="rId6"/>
          <a:stretch>
            <a:fillRect/>
          </a:stretch>
        </p:blipFill>
        <p:spPr>
          <a:xfrm>
            <a:off x="2509685" y="1956816"/>
            <a:ext cx="7172325" cy="1128712"/>
          </a:xfrm>
          <a:prstGeom prst="rect">
            <a:avLst/>
          </a:prstGeom>
        </p:spPr>
      </p:pic>
      <p:sp>
        <p:nvSpPr>
          <p:cNvPr id="10" name="Rounded Rectangle 9"/>
          <p:cNvSpPr/>
          <p:nvPr/>
        </p:nvSpPr>
        <p:spPr>
          <a:xfrm>
            <a:off x="530352" y="32318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5640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3673792"/>
            <a:ext cx="237744" cy="237744"/>
          </a:xfrm>
          <a:prstGeom prst="rect">
            <a:avLst/>
          </a:prstGeom>
        </p:spPr>
      </p:pic>
      <p:sp>
        <p:nvSpPr>
          <p:cNvPr id="13" name="TextBox 12"/>
          <p:cNvSpPr txBox="1"/>
          <p:nvPr/>
        </p:nvSpPr>
        <p:spPr>
          <a:xfrm>
            <a:off x="1399031" y="33781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3597592"/>
            <a:ext cx="9987991" cy="682752"/>
          </a:xfrm>
          <a:prstGeom prst="rect">
            <a:avLst/>
          </a:prstGeom>
          <a:noFill/>
        </p:spPr>
        <p:txBody>
          <a:bodyPr wrap="square" anchor="t" lIns="0" rIns="0" tIns="0" bIns="0">
            <a:spAutoFit/>
          </a:bodyPr>
          <a:lstStyle/>
          <a:p>
            <a:r>
              <a:rPr sz="1500" b="0" i="0">
                <a:solidFill>
                  <a:srgbClr val="1A1440"/>
                </a:solidFill>
                <a:latin typeface="Calibri"/>
              </a:rPr>
              <a:t>Every run gives a plausible count, so nobody questions it; only the smallest-recency check or a second run on the same data exposes it.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7" name="Oval 16"/>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9" name="Oval 18"/>
          <p:cNvSpPr/>
          <p:nvPr/>
        </p:nvSpPr>
        <p:spPr>
          <a:xfrm>
            <a:off x="359759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07320"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Where did the room go wrong?</a:t>
            </a:r>
          </a:p>
        </p:txBody>
      </p:sp>
      <p:sp>
        <p:nvSpPr>
          <p:cNvPr id="21" name="Oval 20"/>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3" name="Oval 22"/>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5" name="Oval 24"/>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25 / 36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tool would you sign?</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Did Retail-Plus members order less often in Q2, in plain Python, SQL and pandas, and which tool would you sign for each job?</a:t>
            </a:r>
          </a:p>
        </p:txBody>
      </p:sp>
      <p:sp>
        <p:nvSpPr>
          <p:cNvPr id="10" name="Rounded Rectangle 9"/>
          <p:cNvSpPr/>
          <p:nvPr/>
        </p:nvSpPr>
        <p:spPr>
          <a:xfrm>
            <a:off x="731519"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Will Monday rebuild it?</a:t>
            </a:r>
          </a:p>
        </p:txBody>
      </p:sp>
      <p:sp>
        <p:nvSpPr>
          <p:cNvPr id="11" name="Rounded Rectangle 10"/>
          <p:cNvSpPr/>
          <p:nvPr/>
        </p:nvSpPr>
        <p:spPr>
          <a:xfrm>
            <a:off x="2399074"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build it alone?</a:t>
            </a:r>
          </a:p>
        </p:txBody>
      </p:sp>
      <p:sp>
        <p:nvSpPr>
          <p:cNvPr id="12" name="Rounded Rectangle 11"/>
          <p:cNvSpPr/>
          <p:nvPr/>
        </p:nvSpPr>
        <p:spPr>
          <a:xfrm>
            <a:off x="4066629" y="5074920"/>
            <a:ext cx="182479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room go wrong?</a:t>
            </a:r>
          </a:p>
        </p:txBody>
      </p:sp>
      <p:sp>
        <p:nvSpPr>
          <p:cNvPr id="13" name="Rounded Rectangle 12"/>
          <p:cNvSpPr/>
          <p:nvPr/>
        </p:nvSpPr>
        <p:spPr>
          <a:xfrm>
            <a:off x="6001148" y="5074920"/>
            <a:ext cx="171800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tool would you sign?</a:t>
            </a:r>
          </a:p>
        </p:txBody>
      </p:sp>
      <p:sp>
        <p:nvSpPr>
          <p:cNvPr id="14" name="Rounded Rectangle 13"/>
          <p:cNvSpPr/>
          <p:nvPr/>
        </p:nvSpPr>
        <p:spPr>
          <a:xfrm>
            <a:off x="7828881" y="5074920"/>
            <a:ext cx="177139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would you say it aloud?</a:t>
            </a:r>
          </a:p>
        </p:txBody>
      </p:sp>
      <p:sp>
        <p:nvSpPr>
          <p:cNvPr id="15" name="Rounded Rectangle 14"/>
          <p:cNvSpPr/>
          <p:nvPr/>
        </p:nvSpPr>
        <p:spPr>
          <a:xfrm>
            <a:off x="9710007" y="5074920"/>
            <a:ext cx="18781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to the growth team?</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4. Will Monday's table rebuild itself and hold?</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26 / 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In pairs: one rate in three tools, then the note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Kavya ask the pair for?</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"You did the tree in plain Python in Week 1, in SQL on Monday. Do it a third way now, and tell me honestly which tool you would pick for which job."</a:t>
            </a:r>
          </a:p>
        </p:txBody>
      </p:sp>
      <p:sp>
        <p:nvSpPr>
          <p:cNvPr id="14" name="Rectangle 13"/>
          <p:cNvSpPr/>
          <p:nvPr/>
        </p:nvSpPr>
        <p:spPr>
          <a:xfrm>
            <a:off x="1853145" y="3810000"/>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0352" y="324307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6" name="Oval 15"/>
          <p:cNvSpPr/>
          <p:nvPr/>
        </p:nvSpPr>
        <p:spPr>
          <a:xfrm>
            <a:off x="1752561"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413004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94944" y="4276344"/>
            <a:ext cx="2316403" cy="251205"/>
          </a:xfrm>
          <a:prstGeom prst="rect">
            <a:avLst/>
          </a:prstGeom>
          <a:noFill/>
        </p:spPr>
        <p:txBody>
          <a:bodyPr wrap="square" anchor="t" lIns="0" rIns="0" tIns="0" bIns="0">
            <a:spAutoFit/>
          </a:bodyPr>
          <a:lstStyle/>
          <a:p>
            <a:pPr algn="l"/>
            <a:r>
              <a:rPr sz="1300" b="1" i="0">
                <a:solidFill>
                  <a:srgbClr val="1A0F5C"/>
                </a:solidFill>
                <a:latin typeface="Calibri"/>
              </a:rPr>
              <a:t>Plain Python</a:t>
            </a:r>
          </a:p>
        </p:txBody>
      </p:sp>
      <p:sp>
        <p:nvSpPr>
          <p:cNvPr id="19" name="TextBox 18"/>
          <p:cNvSpPr txBox="1"/>
          <p:nvPr/>
        </p:nvSpPr>
        <p:spPr>
          <a:xfrm>
            <a:off x="694944" y="4564126"/>
            <a:ext cx="2316403" cy="366776"/>
          </a:xfrm>
          <a:prstGeom prst="rect">
            <a:avLst/>
          </a:prstGeom>
          <a:noFill/>
        </p:spPr>
        <p:txBody>
          <a:bodyPr wrap="square" anchor="t" lIns="0" rIns="0" tIns="0" bIns="0">
            <a:spAutoFit/>
          </a:bodyPr>
          <a:lstStyle/>
          <a:p>
            <a:pPr algn="l"/>
            <a:r>
              <a:rPr sz="1000" b="0" i="0">
                <a:solidFill>
                  <a:srgbClr val="6B6690"/>
                </a:solidFill>
                <a:latin typeface="Calibri"/>
              </a:rPr>
              <a:t>A set per quarter, one row at a time</a:t>
            </a:r>
          </a:p>
        </p:txBody>
      </p:sp>
      <p:sp>
        <p:nvSpPr>
          <p:cNvPr id="20" name="TextBox 19"/>
          <p:cNvSpPr txBox="1"/>
          <p:nvPr/>
        </p:nvSpPr>
        <p:spPr>
          <a:xfrm>
            <a:off x="3358819" y="324307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1" name="Oval 20"/>
          <p:cNvSpPr/>
          <p:nvPr/>
        </p:nvSpPr>
        <p:spPr>
          <a:xfrm>
            <a:off x="4581029"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3358819" y="413004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523411" y="4276344"/>
            <a:ext cx="2316403" cy="251205"/>
          </a:xfrm>
          <a:prstGeom prst="rect">
            <a:avLst/>
          </a:prstGeom>
          <a:noFill/>
        </p:spPr>
        <p:txBody>
          <a:bodyPr wrap="square" anchor="t" lIns="0" rIns="0" tIns="0" bIns="0">
            <a:spAutoFit/>
          </a:bodyPr>
          <a:lstStyle/>
          <a:p>
            <a:pPr algn="l"/>
            <a:r>
              <a:rPr sz="1300" b="1" i="0">
                <a:solidFill>
                  <a:srgbClr val="1A0F5C"/>
                </a:solidFill>
                <a:latin typeface="Calibri"/>
              </a:rPr>
              <a:t>SQL</a:t>
            </a:r>
          </a:p>
        </p:txBody>
      </p:sp>
      <p:sp>
        <p:nvSpPr>
          <p:cNvPr id="24" name="TextBox 23"/>
          <p:cNvSpPr txBox="1"/>
          <p:nvPr/>
        </p:nvSpPr>
        <p:spPr>
          <a:xfrm>
            <a:off x="3523411" y="4564126"/>
            <a:ext cx="2316403" cy="366776"/>
          </a:xfrm>
          <a:prstGeom prst="rect">
            <a:avLst/>
          </a:prstGeom>
          <a:noFill/>
        </p:spPr>
        <p:txBody>
          <a:bodyPr wrap="square" anchor="t" lIns="0" rIns="0" tIns="0" bIns="0">
            <a:spAutoFit/>
          </a:bodyPr>
          <a:lstStyle/>
          <a:p>
            <a:pPr algn="l"/>
            <a:r>
              <a:rPr sz="1000" b="0" i="0">
                <a:solidFill>
                  <a:srgbClr val="6B6690"/>
                </a:solidFill>
                <a:latin typeface="Calibri"/>
              </a:rPr>
              <a:t>In the warehouse, without Monday's integer division</a:t>
            </a:r>
          </a:p>
        </p:txBody>
      </p:sp>
      <p:sp>
        <p:nvSpPr>
          <p:cNvPr id="25" name="TextBox 24"/>
          <p:cNvSpPr txBox="1"/>
          <p:nvPr/>
        </p:nvSpPr>
        <p:spPr>
          <a:xfrm>
            <a:off x="6187287" y="324307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6" name="Oval 25"/>
          <p:cNvSpPr/>
          <p:nvPr/>
        </p:nvSpPr>
        <p:spPr>
          <a:xfrm>
            <a:off x="7409497"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187287" y="413004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51879" y="4276344"/>
            <a:ext cx="2316403" cy="251205"/>
          </a:xfrm>
          <a:prstGeom prst="rect">
            <a:avLst/>
          </a:prstGeom>
          <a:noFill/>
        </p:spPr>
        <p:txBody>
          <a:bodyPr wrap="square" anchor="t" lIns="0" rIns="0" tIns="0" bIns="0">
            <a:spAutoFit/>
          </a:bodyPr>
          <a:lstStyle/>
          <a:p>
            <a:pPr algn="l"/>
            <a:r>
              <a:rPr sz="1300" b="1" i="0">
                <a:solidFill>
                  <a:srgbClr val="1A0F5C"/>
                </a:solidFill>
                <a:latin typeface="Calibri"/>
              </a:rPr>
              <a:t>pandas</a:t>
            </a:r>
          </a:p>
        </p:txBody>
      </p:sp>
      <p:sp>
        <p:nvSpPr>
          <p:cNvPr id="29" name="TextBox 28"/>
          <p:cNvSpPr txBox="1"/>
          <p:nvPr/>
        </p:nvSpPr>
        <p:spPr>
          <a:xfrm>
            <a:off x="6351879" y="4564126"/>
            <a:ext cx="2316403" cy="366776"/>
          </a:xfrm>
          <a:prstGeom prst="rect">
            <a:avLst/>
          </a:prstGeom>
          <a:noFill/>
        </p:spPr>
        <p:txBody>
          <a:bodyPr wrap="square" anchor="t" lIns="0" rIns="0" tIns="0" bIns="0">
            <a:spAutoFit/>
          </a:bodyPr>
          <a:lstStyle/>
          <a:p>
            <a:pPr algn="l"/>
            <a:r>
              <a:rPr sz="1000" b="0" i="0">
                <a:solidFill>
                  <a:srgbClr val="6B6690"/>
                </a:solidFill>
                <a:latin typeface="Calibri"/>
              </a:rPr>
              <a:t>The analyst's bench, members counted once</a:t>
            </a:r>
          </a:p>
        </p:txBody>
      </p:sp>
      <p:sp>
        <p:nvSpPr>
          <p:cNvPr id="30" name="TextBox 29"/>
          <p:cNvSpPr txBox="1"/>
          <p:nvPr/>
        </p:nvSpPr>
        <p:spPr>
          <a:xfrm>
            <a:off x="9015755" y="324307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1" name="Oval 30"/>
          <p:cNvSpPr/>
          <p:nvPr/>
        </p:nvSpPr>
        <p:spPr>
          <a:xfrm>
            <a:off x="10237965" y="3718560"/>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015755" y="4130040"/>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80347" y="4276344"/>
            <a:ext cx="2316403" cy="251205"/>
          </a:xfrm>
          <a:prstGeom prst="rect">
            <a:avLst/>
          </a:prstGeom>
          <a:noFill/>
        </p:spPr>
        <p:txBody>
          <a:bodyPr wrap="square" anchor="t" lIns="0" rIns="0" tIns="0" bIns="0">
            <a:spAutoFit/>
          </a:bodyPr>
          <a:lstStyle/>
          <a:p>
            <a:pPr algn="l"/>
            <a:r>
              <a:rPr sz="1300" b="1" i="0">
                <a:solidFill>
                  <a:srgbClr val="FFFFFF"/>
                </a:solidFill>
                <a:latin typeface="Calibri"/>
              </a:rPr>
              <a:t>The note</a:t>
            </a:r>
          </a:p>
        </p:txBody>
      </p:sp>
      <p:sp>
        <p:nvSpPr>
          <p:cNvPr id="34" name="TextBox 33"/>
          <p:cNvSpPr txBox="1"/>
          <p:nvPr/>
        </p:nvSpPr>
        <p:spPr>
          <a:xfrm>
            <a:off x="9180347" y="4564126"/>
            <a:ext cx="2316403" cy="366776"/>
          </a:xfrm>
          <a:prstGeom prst="rect">
            <a:avLst/>
          </a:prstGeom>
          <a:noFill/>
        </p:spPr>
        <p:txBody>
          <a:bodyPr wrap="square" anchor="t" lIns="0" rIns="0" tIns="0" bIns="0">
            <a:spAutoFit/>
          </a:bodyPr>
          <a:lstStyle/>
          <a:p>
            <a:pPr algn="l"/>
            <a:r>
              <a:rPr sz="1000" b="0" i="0">
                <a:solidFill>
                  <a:srgbClr val="CFC9EE"/>
                </a:solidFill>
                <a:latin typeface="Calibri"/>
              </a:rPr>
              <a:t>One line per tool, the rows each moved, one refusal</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37" name="Oval 36"/>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39" name="Oval 38"/>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41" name="Oval 40"/>
          <p:cNvSpPr/>
          <p:nvPr/>
        </p:nvSpPr>
        <p:spPr>
          <a:xfrm>
            <a:off x="536124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47096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tool would you sign?</a:t>
            </a:r>
          </a:p>
        </p:txBody>
      </p:sp>
      <p:sp>
        <p:nvSpPr>
          <p:cNvPr id="43" name="Oval 42"/>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45" name="Oval 44"/>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47" name="TextBox 4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27 / 36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tool would you sign for Finance's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three agree; which one should own a number Finance reruns every Monday?</a:t>
            </a:r>
          </a:p>
        </p:txBody>
      </p:sp>
      <p:pic>
        <p:nvPicPr>
          <p:cNvPr id="9" name="mermaid diagram" descr="9ebcbe00d76423fa.png"/>
          <p:cNvPicPr>
            <a:picLocks noChangeAspect="1"/>
          </p:cNvPicPr>
          <p:nvPr/>
        </p:nvPicPr>
        <p:blipFill>
          <a:blip r:embed="rId5"/>
          <a:stretch>
            <a:fillRect/>
          </a:stretch>
        </p:blipFill>
        <p:spPr>
          <a:xfrm>
            <a:off x="2252510" y="1696497"/>
            <a:ext cx="7686675" cy="318611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As a letter? a) pandas, since the growth team's table already holds the numbers; b) plain Python, since an auditor can read every line; c) SQL, since it runs where the data lives; d) a CSV export, since Finance opens every number in a spreadsheet.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5" name="Oval 14"/>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7" name="Oval 1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9" name="Oval 18"/>
          <p:cNvSpPr/>
          <p:nvPr/>
        </p:nvSpPr>
        <p:spPr>
          <a:xfrm>
            <a:off x="536124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47096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tool would you sign?</a:t>
            </a:r>
          </a:p>
        </p:txBody>
      </p:sp>
      <p:sp>
        <p:nvSpPr>
          <p:cNvPr id="21" name="Oval 20"/>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3" name="Oval 22"/>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28 / 36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SQL, and pandas reads its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three routes give, and what did each move?</a:t>
            </a:r>
          </a:p>
        </p:txBody>
      </p:sp>
      <p:sp>
        <p:nvSpPr>
          <p:cNvPr id="9" name="TextBox 8"/>
          <p:cNvSpPr txBox="1"/>
          <p:nvPr/>
        </p:nvSpPr>
        <p:spPr>
          <a:xfrm>
            <a:off x="530352" y="1956816"/>
            <a:ext cx="3527450" cy="444500"/>
          </a:xfrm>
          <a:prstGeom prst="rect">
            <a:avLst/>
          </a:prstGeom>
          <a:noFill/>
        </p:spPr>
        <p:txBody>
          <a:bodyPr wrap="square" anchor="t" lIns="0" rIns="0" tIns="0" bIns="0">
            <a:spAutoFit/>
          </a:bodyPr>
          <a:lstStyle/>
          <a:p>
            <a:pPr algn="l"/>
            <a:r>
              <a:rPr sz="2800" b="0" i="0">
                <a:solidFill>
                  <a:srgbClr val="5B3FD6"/>
                </a:solidFill>
                <a:latin typeface="Georgia"/>
              </a:rPr>
              <a:t>2.363 to 1.842</a:t>
            </a:r>
          </a:p>
        </p:txBody>
      </p:sp>
      <p:sp>
        <p:nvSpPr>
          <p:cNvPr id="10" name="TextBox 9"/>
          <p:cNvSpPr txBox="1"/>
          <p:nvPr/>
        </p:nvSpPr>
        <p:spPr>
          <a:xfrm>
            <a:off x="530352" y="2437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ORDERS PER MEMBER</a:t>
            </a:r>
          </a:p>
        </p:txBody>
      </p:sp>
      <p:sp>
        <p:nvSpPr>
          <p:cNvPr id="11" name="TextBox 10"/>
          <p:cNvSpPr txBox="1"/>
          <p:nvPr/>
        </p:nvSpPr>
        <p:spPr>
          <a:xfrm>
            <a:off x="530352" y="2639060"/>
            <a:ext cx="3527450" cy="193421"/>
          </a:xfrm>
          <a:prstGeom prst="rect">
            <a:avLst/>
          </a:prstGeom>
          <a:noFill/>
        </p:spPr>
        <p:txBody>
          <a:bodyPr wrap="square" anchor="t" lIns="0" rIns="0" tIns="0" bIns="0">
            <a:spAutoFit/>
          </a:bodyPr>
          <a:lstStyle/>
          <a:p>
            <a:pPr algn="l"/>
            <a:r>
              <a:rPr sz="950" b="0" i="0">
                <a:solidFill>
                  <a:srgbClr val="6B6690"/>
                </a:solidFill>
                <a:latin typeface="Calibri"/>
              </a:rPr>
              <a:t>Q1 215 over 91, Q2 140 over 76</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444500"/>
          </a:xfrm>
          <a:prstGeom prst="rect">
            <a:avLst/>
          </a:prstGeom>
          <a:noFill/>
        </p:spPr>
        <p:txBody>
          <a:bodyPr wrap="square" anchor="t" lIns="0" rIns="0" tIns="0" bIns="0">
            <a:spAutoFit/>
          </a:bodyPr>
          <a:lstStyle/>
          <a:p>
            <a:pPr algn="l"/>
            <a:r>
              <a:rPr sz="2800" b="0" i="0">
                <a:solidFill>
                  <a:srgbClr val="5B3FD6"/>
                </a:solidFill>
                <a:latin typeface="Georgia"/>
              </a:rPr>
              <a:t>3 of 3</a:t>
            </a:r>
          </a:p>
        </p:txBody>
      </p:sp>
      <p:sp>
        <p:nvSpPr>
          <p:cNvPr id="14" name="TextBox 13"/>
          <p:cNvSpPr txBox="1"/>
          <p:nvPr/>
        </p:nvSpPr>
        <p:spPr>
          <a:xfrm>
            <a:off x="4332122" y="2437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TOOLS AGREE</a:t>
            </a:r>
          </a:p>
        </p:txBody>
      </p:sp>
      <p:sp>
        <p:nvSpPr>
          <p:cNvPr id="15" name="TextBox 14"/>
          <p:cNvSpPr txBox="1"/>
          <p:nvPr/>
        </p:nvSpPr>
        <p:spPr>
          <a:xfrm>
            <a:off x="4332122" y="2639060"/>
            <a:ext cx="3527450" cy="193421"/>
          </a:xfrm>
          <a:prstGeom prst="rect">
            <a:avLst/>
          </a:prstGeom>
          <a:noFill/>
        </p:spPr>
        <p:txBody>
          <a:bodyPr wrap="square" anchor="t" lIns="0" rIns="0" tIns="0" bIns="0">
            <a:spAutoFit/>
          </a:bodyPr>
          <a:lstStyle/>
          <a:p>
            <a:pPr algn="l"/>
            <a:r>
              <a:rPr sz="950" b="0" i="0">
                <a:solidFill>
                  <a:srgbClr val="6B6690"/>
                </a:solidFill>
                <a:latin typeface="Calibri"/>
              </a:rPr>
              <a:t>to three decimal places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444500"/>
          </a:xfrm>
          <a:prstGeom prst="rect">
            <a:avLst/>
          </a:prstGeom>
          <a:noFill/>
        </p:spPr>
        <p:txBody>
          <a:bodyPr wrap="square" anchor="t" lIns="0" rIns="0" tIns="0" bIns="0">
            <a:spAutoFit/>
          </a:bodyPr>
          <a:lstStyle/>
          <a:p>
            <a:pPr algn="l"/>
            <a:r>
              <a:rPr sz="2800" b="0" i="0">
                <a:solidFill>
                  <a:srgbClr val="5B3FD6"/>
                </a:solidFill>
                <a:latin typeface="Georgia"/>
              </a:rPr>
              <a:t>355 / 2 / 1,000</a:t>
            </a:r>
          </a:p>
        </p:txBody>
      </p:sp>
      <p:sp>
        <p:nvSpPr>
          <p:cNvPr id="18" name="TextBox 17"/>
          <p:cNvSpPr txBox="1"/>
          <p:nvPr/>
        </p:nvSpPr>
        <p:spPr>
          <a:xfrm>
            <a:off x="8133892" y="2437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MOVED</a:t>
            </a:r>
          </a:p>
        </p:txBody>
      </p:sp>
      <p:sp>
        <p:nvSpPr>
          <p:cNvPr id="19" name="TextBox 18"/>
          <p:cNvSpPr txBox="1"/>
          <p:nvPr/>
        </p:nvSpPr>
        <p:spPr>
          <a:xfrm>
            <a:off x="8133892" y="2639060"/>
            <a:ext cx="3527450" cy="193421"/>
          </a:xfrm>
          <a:prstGeom prst="rect">
            <a:avLst/>
          </a:prstGeom>
          <a:noFill/>
        </p:spPr>
        <p:txBody>
          <a:bodyPr wrap="square" anchor="t" lIns="0" rIns="0" tIns="0" bIns="0">
            <a:spAutoFit/>
          </a:bodyPr>
          <a:lstStyle/>
          <a:p>
            <a:pPr algn="l"/>
            <a:r>
              <a:rPr sz="950" b="0" i="0">
                <a:solidFill>
                  <a:srgbClr val="6B6690"/>
                </a:solidFill>
                <a:latin typeface="Calibri"/>
              </a:rPr>
              <a:t>Python, SQL, pandas</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Retail-Plus members ordered 22 percent less often in Q2, the branch Week 1 found. The note gives Finance's number to SQL, which moves only its answer, and refuses a pandas notebook for it.</a:t>
            </a: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26" name="Oval 25"/>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28" name="Oval 27"/>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30" name="Oval 29"/>
          <p:cNvSpPr/>
          <p:nvPr/>
        </p:nvSpPr>
        <p:spPr>
          <a:xfrm>
            <a:off x="536124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470969"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tool would you sign?</a:t>
            </a:r>
          </a:p>
        </p:txBody>
      </p:sp>
      <p:sp>
        <p:nvSpPr>
          <p:cNvPr id="32" name="Oval 31"/>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34" name="Oval 33"/>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29 / 36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would you say it aloud?</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does each of today's interview questions sound when answered aloud, the design question among them?</a:t>
            </a:r>
          </a:p>
        </p:txBody>
      </p:sp>
      <p:sp>
        <p:nvSpPr>
          <p:cNvPr id="10" name="Rounded Rectangle 9"/>
          <p:cNvSpPr/>
          <p:nvPr/>
        </p:nvSpPr>
        <p:spPr>
          <a:xfrm>
            <a:off x="731519"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Will Monday rebuild it?</a:t>
            </a:r>
          </a:p>
        </p:txBody>
      </p:sp>
      <p:sp>
        <p:nvSpPr>
          <p:cNvPr id="11" name="Rounded Rectangle 10"/>
          <p:cNvSpPr/>
          <p:nvPr/>
        </p:nvSpPr>
        <p:spPr>
          <a:xfrm>
            <a:off x="2399074"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build it alone?</a:t>
            </a:r>
          </a:p>
        </p:txBody>
      </p:sp>
      <p:sp>
        <p:nvSpPr>
          <p:cNvPr id="12" name="Rounded Rectangle 11"/>
          <p:cNvSpPr/>
          <p:nvPr/>
        </p:nvSpPr>
        <p:spPr>
          <a:xfrm>
            <a:off x="4066629" y="5074920"/>
            <a:ext cx="182479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room go wrong?</a:t>
            </a:r>
          </a:p>
        </p:txBody>
      </p:sp>
      <p:sp>
        <p:nvSpPr>
          <p:cNvPr id="13" name="Rounded Rectangle 12"/>
          <p:cNvSpPr/>
          <p:nvPr/>
        </p:nvSpPr>
        <p:spPr>
          <a:xfrm>
            <a:off x="6001148" y="5074920"/>
            <a:ext cx="171800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tool would you sign?</a:t>
            </a:r>
          </a:p>
        </p:txBody>
      </p:sp>
      <p:sp>
        <p:nvSpPr>
          <p:cNvPr id="14" name="Rounded Rectangle 13"/>
          <p:cNvSpPr/>
          <p:nvPr/>
        </p:nvSpPr>
        <p:spPr>
          <a:xfrm>
            <a:off x="7828881" y="5074920"/>
            <a:ext cx="1771398"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would you say it aloud?</a:t>
            </a:r>
          </a:p>
        </p:txBody>
      </p:sp>
      <p:sp>
        <p:nvSpPr>
          <p:cNvPr id="15" name="Rounded Rectangle 14"/>
          <p:cNvSpPr/>
          <p:nvPr/>
        </p:nvSpPr>
        <p:spPr>
          <a:xfrm>
            <a:off x="9710007" y="5074920"/>
            <a:ext cx="18781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to the growth team?</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4. Will Monday's table rebuild itself and hold?</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30 / 36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interview questions, answered aloud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questions does every screen ask about today's work?</a:t>
            </a:r>
          </a:p>
        </p:txBody>
      </p:sp>
      <p:graphicFrame>
        <p:nvGraphicFramePr>
          <p:cNvPr id="9" name="Table 8"/>
          <p:cNvGraphicFramePr>
            <a:graphicFrameLocks noGrp="1"/>
          </p:cNvGraphicFramePr>
          <p:nvPr/>
        </p:nvGraphicFramePr>
        <p:xfrm>
          <a:off x="530352" y="1956816"/>
          <a:ext cx="11130991" cy="2218944"/>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The question</a:t>
                      </a:r>
                    </a:p>
                  </a:txBody>
                  <a:tcPr marL="101600" marR="101600" marT="38100" marB="38100" anchor="ctr">
                    <a:solidFill>
                      <a:srgbClr val="1A0F5C"/>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Describe groupby in the split-apply-combine sentence.</a:t>
                      </a:r>
                    </a:p>
                  </a:txBody>
                  <a:tcPr marL="101600" marR="101600" marT="38100" marB="38100" anchor="ctr">
                    <a:solidFill>
                      <a:srgbClr val="FFFFFF"/>
                    </a:solidFill>
                  </a:tcPr>
                </a:tc>
              </a:tr>
              <a:tr h="369824">
                <a:tc>
                  <a:txBody>
                    <a:bodyPr/>
                    <a:lstStyle/>
                    <a:p>
                      <a:r>
                        <a:rPr sz="1400" b="0" i="0">
                          <a:solidFill>
                            <a:srgbClr val="1A1440"/>
                          </a:solidFill>
                          <a:latin typeface="Calibri"/>
                        </a:rPr>
                        <a:t>[S]</a:t>
                      </a:r>
                    </a:p>
                  </a:txBody>
                  <a:tcPr marL="101600" marR="101600" marT="38100" marB="38100" anchor="ctr">
                    <a:solidFill>
                      <a:srgbClr val="F4F2FA"/>
                    </a:solidFill>
                  </a:tcPr>
                </a:tc>
                <a:tc>
                  <a:txBody>
                    <a:bodyPr/>
                    <a:lstStyle/>
                    <a:p>
                      <a:r>
                        <a:rPr sz="1400" b="0" i="0">
                          <a:solidFill>
                            <a:srgbClr val="1A1440"/>
                          </a:solidFill>
                          <a:latin typeface="Calibri"/>
                        </a:rPr>
                        <a:t>Merge against join: what is the same and what differs?</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Which merge argument raises on duplicate keys, and which error?</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Pivot against melt: which widens and which lengthens?</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Same question, three tools: how do you choose, and defend one choice?</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2" name="Oval 11"/>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4" name="Oval 13"/>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6" name="Oval 15"/>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18" name="Oval 17"/>
          <p:cNvSpPr/>
          <p:nvPr/>
        </p:nvSpPr>
        <p:spPr>
          <a:xfrm>
            <a:off x="70328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142606"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How would you say it aloud?</a:t>
            </a:r>
          </a:p>
        </p:txBody>
      </p:sp>
      <p:sp>
        <p:nvSpPr>
          <p:cNvPr id="20" name="Oval 19"/>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31 / 36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Seven follow-ups, three of them design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case-style follow-ups does an interviewer add?</a:t>
            </a:r>
          </a:p>
        </p:txBody>
      </p:sp>
      <p:graphicFrame>
        <p:nvGraphicFramePr>
          <p:cNvPr id="9" name="Table 8"/>
          <p:cNvGraphicFramePr>
            <a:graphicFrameLocks noGrp="1"/>
          </p:cNvGraphicFramePr>
          <p:nvPr/>
        </p:nvGraphicFramePr>
        <p:xfrm>
          <a:off x="530352" y="1956816"/>
          <a:ext cx="11130991" cy="2958592"/>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The follow-up</a:t>
                      </a:r>
                    </a:p>
                  </a:txBody>
                  <a:tcPr marL="101600" marR="101600" marT="38100" marB="38100" anchor="ctr">
                    <a:solidFill>
                      <a:srgbClr val="1A0F5C"/>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Your customer table has fewer rows than the customer list. Why, and what do you do?</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Your Monday refresh stopped with a MergeError. What do you do?</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Your pivot's totals look low. Where do you look first?</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What does SQL's GROUP BY do with a NULL key, and pandas' groupby with a missing one?</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A dashboard says 100 percent of the customers a campaign reached went on to buy. What do you check first?</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Which tool would you refuse for Finance's numbers, and why?</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The orders table grows to 5 crore rows. Where do you build the customer table?</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2" name="Oval 11"/>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4" name="Oval 13"/>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6" name="Oval 15"/>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18" name="Oval 17"/>
          <p:cNvSpPr/>
          <p:nvPr/>
        </p:nvSpPr>
        <p:spPr>
          <a:xfrm>
            <a:off x="70328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142606"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How would you say it aloud?</a:t>
            </a:r>
          </a:p>
        </p:txBody>
      </p:sp>
      <p:sp>
        <p:nvSpPr>
          <p:cNvPr id="20" name="Oval 19"/>
          <p:cNvSpPr/>
          <p:nvPr/>
        </p:nvSpPr>
        <p:spPr>
          <a:xfrm>
            <a:off x="875052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86025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goes to the growth team?</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32 / 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goes to the growth team?</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does the growth team hear, which lines are worth keeping, and what does Friday ask?</a:t>
            </a:r>
          </a:p>
        </p:txBody>
      </p:sp>
      <p:sp>
        <p:nvSpPr>
          <p:cNvPr id="10" name="Rounded Rectangle 9"/>
          <p:cNvSpPr/>
          <p:nvPr/>
        </p:nvSpPr>
        <p:spPr>
          <a:xfrm>
            <a:off x="731519"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Will Monday rebuild it?</a:t>
            </a:r>
          </a:p>
        </p:txBody>
      </p:sp>
      <p:sp>
        <p:nvSpPr>
          <p:cNvPr id="11" name="Rounded Rectangle 10"/>
          <p:cNvSpPr/>
          <p:nvPr/>
        </p:nvSpPr>
        <p:spPr>
          <a:xfrm>
            <a:off x="2399074" y="5074920"/>
            <a:ext cx="1557826"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build it alone?</a:t>
            </a:r>
          </a:p>
        </p:txBody>
      </p:sp>
      <p:sp>
        <p:nvSpPr>
          <p:cNvPr id="12" name="Rounded Rectangle 11"/>
          <p:cNvSpPr/>
          <p:nvPr/>
        </p:nvSpPr>
        <p:spPr>
          <a:xfrm>
            <a:off x="4066629" y="5074920"/>
            <a:ext cx="182479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room go wrong?</a:t>
            </a:r>
          </a:p>
        </p:txBody>
      </p:sp>
      <p:sp>
        <p:nvSpPr>
          <p:cNvPr id="13" name="Rounded Rectangle 12"/>
          <p:cNvSpPr/>
          <p:nvPr/>
        </p:nvSpPr>
        <p:spPr>
          <a:xfrm>
            <a:off x="6001148" y="5074920"/>
            <a:ext cx="171800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tool would you sign?</a:t>
            </a:r>
          </a:p>
        </p:txBody>
      </p:sp>
      <p:sp>
        <p:nvSpPr>
          <p:cNvPr id="14" name="Rounded Rectangle 13"/>
          <p:cNvSpPr/>
          <p:nvPr/>
        </p:nvSpPr>
        <p:spPr>
          <a:xfrm>
            <a:off x="7828881" y="5074920"/>
            <a:ext cx="1771398"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would you say it aloud?</a:t>
            </a:r>
          </a:p>
        </p:txBody>
      </p:sp>
      <p:sp>
        <p:nvSpPr>
          <p:cNvPr id="15" name="Rounded Rectangle 14"/>
          <p:cNvSpPr/>
          <p:nvPr/>
        </p:nvSpPr>
        <p:spPr>
          <a:xfrm>
            <a:off x="9710007" y="5074920"/>
            <a:ext cx="187818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goes to the growth team?</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4. Will Monday's table rebuild itself and hold?</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33 / 36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table is ready, and it holds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growth team hear, and with which caveat?</a:t>
            </a:r>
          </a:p>
        </p:txBody>
      </p:sp>
      <p:sp>
        <p:nvSpPr>
          <p:cNvPr id="9" name="Rounded Rectangle 8"/>
          <p:cNvSpPr/>
          <p:nvPr/>
        </p:nvSpPr>
        <p:spPr>
          <a:xfrm>
            <a:off x="530352" y="1956816"/>
            <a:ext cx="45720" cy="159511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595119"/>
          </a:xfrm>
          <a:prstGeom prst="rect">
            <a:avLst/>
          </a:prstGeom>
          <a:noFill/>
        </p:spPr>
        <p:txBody>
          <a:bodyPr wrap="square" anchor="t" lIns="0" rIns="0" tIns="0" bIns="0">
            <a:spAutoFit/>
          </a:bodyPr>
          <a:lstStyle/>
          <a:p>
            <a:r>
              <a:rPr sz="1600" b="0" i="1">
                <a:solidFill>
                  <a:srgbClr val="1A0F5C"/>
                </a:solidFill>
                <a:latin typeface="Georgia"/>
              </a:rPr>
              <a:t>"The Monday table is ready: 340 customers, one row each, with spend that ties to the warehouse at Rs 19,84,00,000, the 130 customers the monsoon sale reached, and a win-back list of 111 counted to 28 September. It rebuilds itself every Monday and will not ship if a guard fails, and Finance's revenue stays in the warehouse as a query the table reconciles with every week."</a:t>
            </a:r>
          </a:p>
          <a:p>
            <a:pPr>
              <a:spcBef>
                <a:spcPts val="400"/>
              </a:spcBef>
            </a:pPr>
            <a:r>
              <a:rPr sz="1000" b="0" i="0">
                <a:solidFill>
                  <a:srgbClr val="6B6690"/>
                </a:solidFill>
                <a:latin typeface="Calibri"/>
              </a:rPr>
              <a:t>The GCC data and AI team</a:t>
            </a:r>
          </a:p>
        </p:txBody>
      </p:sp>
      <p:sp>
        <p:nvSpPr>
          <p:cNvPr id="11" name="Rounded Rectangle 10"/>
          <p:cNvSpPr/>
          <p:nvPr/>
        </p:nvSpPr>
        <p:spPr>
          <a:xfrm>
            <a:off x="530352" y="369824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382625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3817112"/>
            <a:ext cx="10564063" cy="891540"/>
          </a:xfrm>
          <a:prstGeom prst="rect">
            <a:avLst/>
          </a:prstGeom>
          <a:noFill/>
        </p:spPr>
        <p:txBody>
          <a:bodyPr wrap="square" anchor="ctr" lIns="0" rIns="0" tIns="0" bIns="0">
            <a:spAutoFit/>
          </a:bodyPr>
          <a:lstStyle/>
          <a:p>
            <a:r>
              <a:rPr sz="1500" b="1">
                <a:solidFill>
                  <a:srgbClr val="5B3FD6"/>
                </a:solidFill>
                <a:latin typeface="Calibri"/>
              </a:rPr>
              <a:t>The caveat. </a:t>
            </a:r>
            <a:r>
              <a:rPr sz="1500" b="0" i="0">
                <a:solidFill>
                  <a:srgbClr val="1A1440"/>
                </a:solidFill>
                <a:latin typeface="Calibri"/>
              </a:rPr>
              <a:t>The table records whom the sale reached; whether the sale changed what they spent is a separate test, and Week 1 Thursday found a blended rise of 6.1 percent that turned into 3.0 percent less inside each segment.</a:t>
            </a:r>
          </a:p>
        </p:txBody>
      </p:sp>
      <p:pic>
        <p:nvPicPr>
          <p:cNvPr id="14" name="mermaid diagram" descr="6354e75ce94a0a55.png"/>
          <p:cNvPicPr>
            <a:picLocks noChangeAspect="1"/>
          </p:cNvPicPr>
          <p:nvPr/>
        </p:nvPicPr>
        <p:blipFill>
          <a:blip r:embed="rId5"/>
          <a:stretch>
            <a:fillRect/>
          </a:stretch>
        </p:blipFill>
        <p:spPr>
          <a:xfrm>
            <a:off x="1509560" y="4937252"/>
            <a:ext cx="9172575" cy="871537"/>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7" name="Oval 16"/>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9" name="Oval 18"/>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21" name="Oval 20"/>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3" name="Oval 22"/>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5" name="Oval 24"/>
          <p:cNvSpPr/>
          <p:nvPr/>
        </p:nvSpPr>
        <p:spPr>
          <a:xfrm>
            <a:off x="875052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86025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goes to the growth team?</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34 / 36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lines worth keeping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cheat sheet print word for word?</a:t>
            </a:r>
          </a:p>
        </p:txBody>
      </p:sp>
      <p:graphicFrame>
        <p:nvGraphicFramePr>
          <p:cNvPr id="9" name="Table 8"/>
          <p:cNvGraphicFramePr>
            <a:graphicFrameLocks noGrp="1"/>
          </p:cNvGraphicFramePr>
          <p:nvPr/>
        </p:nvGraphicFramePr>
        <p:xfrm>
          <a:off x="530352" y="1956816"/>
          <a:ext cx="11130991" cy="3427984"/>
        </p:xfrm>
        <a:graphic>
          <a:graphicData uri="http://schemas.openxmlformats.org/drawingml/2006/table">
            <a:tbl>
              <a:tblPr firstRow="0" bandRow="0">
                <a:tableStyleId>{2D5ABB26-0587-4C30-8999-92F81FD0307C}</a:tableStyleId>
              </a:tblPr>
              <a:tblGrid>
                <a:gridCol w="914400"/>
                <a:gridCol w="10216591"/>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The line</a:t>
                      </a:r>
                    </a:p>
                  </a:txBody>
                  <a:tcPr marL="101600" marR="101600" marT="38100" marB="38100" anchor="ctr">
                    <a:solidFill>
                      <a:srgbClr val="1A0F5C"/>
                    </a:solidFill>
                  </a:tcPr>
                </a:tc>
              </a:tr>
              <a:tr h="611632">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Start a customer table from the customer list, because a table built from orders leaves out everyone who never ordered: 39 of Kalpa's 340.</a:t>
                      </a:r>
                    </a:p>
                  </a:txBody>
                  <a:tcPr marL="101600" marR="101600" marT="38100" marB="38100" anchor="ctr">
                    <a:solidFill>
                      <a:srgbClr val="FFFFFF"/>
                    </a:solidFill>
                  </a:tcPr>
                </a:tc>
              </a:tr>
              <a:tr h="611632">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Write how= and validate= on every merge, because one repeated key adds a customer's whole spend again and validate stops the merge before the table exists.</a:t>
                      </a:r>
                    </a:p>
                  </a:txBody>
                  <a:tcPr marL="101600" marR="101600" marT="38100" marB="38100" anchor="ctr">
                    <a:solidFill>
                      <a:srgbClr val="F4F2FA"/>
                    </a:solidFill>
                  </a:tcPr>
                </a:tc>
              </a:tr>
              <a:tr h="611632">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Write aggfunc= on every pivot and check its grand total against the source, because pivot_table averages by default and turned a 29 percent fall into 18.</a:t>
                      </a:r>
                    </a:p>
                  </a:txBody>
                  <a:tcPr marL="101600" marR="101600" marT="38100" marB="38100" anchor="ctr">
                    <a:solidFill>
                      <a:srgbClr val="FFFFFF"/>
                    </a:solidFill>
                  </a:tcPr>
                </a:tc>
              </a:tr>
              <a:tr h="611632">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Two tools agree only when they share one definition, so give each recurring number one owner, chosen by who reruns it and sized by the rows each route moves.</a:t>
                      </a:r>
                    </a:p>
                  </a:txBody>
                  <a:tcPr marL="101600" marR="101600" marT="38100" marB="38100" anchor="ctr">
                    <a:solidFill>
                      <a:srgbClr val="F4F2FA"/>
                    </a:solidFill>
                  </a:tcPr>
                </a:tc>
              </a:tr>
              <a:tr h="611632">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Count recency to the data's own last date and let the refresh refuse a table that fails a guard, because the wall clock put 166 customers on a list that holds 111.</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2" name="Oval 11"/>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4" name="Oval 13"/>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6" name="Oval 15"/>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18" name="Oval 17"/>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0" name="Oval 19"/>
          <p:cNvSpPr/>
          <p:nvPr/>
        </p:nvSpPr>
        <p:spPr>
          <a:xfrm>
            <a:off x="875052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86025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goes to the growth team?</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35 / 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Tomorrow's question, left open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parts of this week belong in a sheet a director can change, and which must never be there?</a:t>
            </a:r>
          </a:p>
        </p:txBody>
      </p:sp>
      <p:sp>
        <p:nvSpPr>
          <p:cNvPr id="9" name="Rounded Rectangle 8"/>
          <p:cNvSpPr/>
          <p:nvPr/>
        </p:nvSpPr>
        <p:spPr>
          <a:xfrm>
            <a:off x="530352" y="1682496"/>
            <a:ext cx="45720" cy="159511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682496"/>
            <a:ext cx="10820095" cy="1595119"/>
          </a:xfrm>
          <a:prstGeom prst="rect">
            <a:avLst/>
          </a:prstGeom>
          <a:noFill/>
        </p:spPr>
        <p:txBody>
          <a:bodyPr wrap="square" anchor="t" lIns="0" rIns="0" tIns="0" bIns="0">
            <a:spAutoFit/>
          </a:bodyPr>
          <a:lstStyle/>
          <a:p>
            <a:r>
              <a:rPr sz="1600" b="0" i="1">
                <a:solidFill>
                  <a:srgbClr val="1A0F5C"/>
                </a:solidFill>
                <a:latin typeface="Georgia"/>
              </a:rPr>
              <a:t>"Monday's growth review deck needs three things I can open on my laptop without a login: the revenue tree by segment for both quarters, the top-fifty protect list with a lookup so I can find any member by id, and one number on the front page with its trend. Nothing that needs Python. If a director changes an assumption in the room, the sheet must recalculate in front of them."</a:t>
            </a:r>
          </a:p>
          <a:p>
            <a:pPr>
              <a:spcBef>
                <a:spcPts val="400"/>
              </a:spcBef>
            </a:pPr>
            <a:r>
              <a:rPr sz="1000" b="0" i="0">
                <a:solidFill>
                  <a:srgbClr val="6B6690"/>
                </a:solidFill>
                <a:latin typeface="Calibri"/>
              </a:rPr>
              <a:t>Meera's chief of staff</a:t>
            </a:r>
          </a:p>
        </p:txBody>
      </p:sp>
      <p:pic>
        <p:nvPicPr>
          <p:cNvPr id="11" name="mermaid diagram" descr="ca51796da90ba60c.png"/>
          <p:cNvPicPr>
            <a:picLocks noChangeAspect="1"/>
          </p:cNvPicPr>
          <p:nvPr/>
        </p:nvPicPr>
        <p:blipFill>
          <a:blip r:embed="rId5"/>
          <a:stretch>
            <a:fillRect/>
          </a:stretch>
        </p:blipFill>
        <p:spPr>
          <a:xfrm>
            <a:off x="2459790" y="3423920"/>
            <a:ext cx="7272114" cy="2775712"/>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Will Monday rebuild it?</a:t>
            </a:r>
          </a:p>
        </p:txBody>
      </p:sp>
      <p:sp>
        <p:nvSpPr>
          <p:cNvPr id="14" name="Oval 13"/>
          <p:cNvSpPr/>
          <p:nvPr/>
        </p:nvSpPr>
        <p:spPr>
          <a:xfrm>
            <a:off x="206397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73700"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Can you build it alone?</a:t>
            </a:r>
          </a:p>
        </p:txBody>
      </p:sp>
      <p:sp>
        <p:nvSpPr>
          <p:cNvPr id="16" name="Oval 15"/>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07320"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Where did the room go wrong?</a:t>
            </a:r>
          </a:p>
        </p:txBody>
      </p:sp>
      <p:sp>
        <p:nvSpPr>
          <p:cNvPr id="18" name="Oval 17"/>
          <p:cNvSpPr/>
          <p:nvPr/>
        </p:nvSpPr>
        <p:spPr>
          <a:xfrm>
            <a:off x="536124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470969"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tool would you sign?</a:t>
            </a:r>
          </a:p>
        </p:txBody>
      </p:sp>
      <p:sp>
        <p:nvSpPr>
          <p:cNvPr id="20" name="Oval 19"/>
          <p:cNvSpPr/>
          <p:nvPr/>
        </p:nvSpPr>
        <p:spPr>
          <a:xfrm>
            <a:off x="70328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142606"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How would you say it aloud?</a:t>
            </a:r>
          </a:p>
        </p:txBody>
      </p:sp>
      <p:sp>
        <p:nvSpPr>
          <p:cNvPr id="22" name="Oval 21"/>
          <p:cNvSpPr/>
          <p:nvPr/>
        </p:nvSpPr>
        <p:spPr>
          <a:xfrm>
            <a:off x="875052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86025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goes to the growth team?</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36 / 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