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Kavya's challenge frames the whole afternoon: the escalated case builds the</a:t>
            </a:r>
          </a:p>
          <a:p>
            <a:r>
              <a:t>table the growth team asked for, and the second case answers her in writing.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60 minutes, unguided. Brief: exercises/unguided/C2_W02_D04_escalated_STUDENT.md;</a:t>
            </a:r>
          </a:p>
          <a:p>
            <a:r>
              <a:t>notebook: notebooks/C2_W02_D04_hands_on_STUDENT.ipynb. Hold the solution until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Walk the five parts, then start the clock. The letters and four numbers are</a:t>
            </a:r>
          </a:p>
          <a:p>
            <a:r>
              <a:t>what learners post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guards are the morning's checks: one row per customer, spend equal to the</a:t>
            </a:r>
          </a:p>
          <a:p>
            <a:r>
              <a:t>book. The CSV is what learners bring to Friday.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screen at the start, then leave it up. A learner whose numbers differ has one</a:t>
            </a:r>
          </a:p>
          <a:p>
            <a:r>
              <a:t>of the morning's traps in their table, and the debrief names which.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Collect wrong numbers during the case and replay them here, anonymously.</a:t>
            </a:r>
          </a:p>
          <a:p>
            <a:r>
              <a:t>Every wrong number the room produced maps to one row of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For each row ask a learner who produced it to say which check would have</a:t>
            </a:r>
          </a:p>
          <a:p>
            <a:r>
              <a:t>caught it. Keep it about the default, never the person.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is Friday's Kahoot return question, asked a day early. Letters first.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Up to 120 extra rows, one per repeated feed row. The fix is a business rule</a:t>
            </a:r>
          </a:p>
          <a:p>
            <a:r>
              <a:t>first, then validate stays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45 minutes in pairs. Brief: exercises/guided/C2_W02_D04_three_tools_STUDENT.md;</a:t>
            </a:r>
          </a:p>
          <a:p>
            <a:r>
              <a:t>notebook: notebooks/C2_W02_D04_three_tools_STUDENT.ipynb; the five asks:</a:t>
            </a:r>
          </a:p>
          <a:p>
            <a:r>
              <a:t>exercises/unguided/C2_W02_D04_pick_tool_STUDENT.md. The room tries the SQL version first; the</a:t>
            </a:r>
          </a:p>
          <a:p>
            <a:r>
              <a:t>trainer then runs it through Python and closes the loop.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question is fixed so the comparison is about the tools. If the three</a:t>
            </a:r>
          </a:p>
          <a:p>
            <a:r>
              <a:t>disagree, one of them has a trap in it, and finding which is the exercise.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 list instead of a set counts a member once per order and gives 1.000. Let</a:t>
            </a:r>
          </a:p>
          <a:p>
            <a:r>
              <a:t>the room find that if a pair tries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The room writes this first, before the trainer shows it. Watch for Monday's</a:t>
            </a:r>
          </a:p>
          <a:p>
            <a:r>
              <a:t>integer-division trap: without ::numeric Postgres returns 2 and 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members=("customer_id", "count") gives the order count again, and the rate</a:t>
            </a:r>
          </a:p>
          <a:p>
            <a:r>
              <a:t>reads 1.000. The same mistake as the list in plain Python, in a new tool.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number is Week 1's frequency lever, now read from the full warehouse. The</a:t>
            </a:r>
          </a:p>
          <a:p>
            <a:r>
              <a:t>agreement is the point: the choice between tools is never about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Pairs argue for two minutes, then letters.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Push on c: pandas serves Finance's analysis well; the official number is</a:t>
            </a:r>
          </a:p>
          <a:p>
            <a:r>
              <a:t>born in the warehouse, where Finance reruns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Each pair reads one sentence aloud. Accept any tool for any job when the reason</a:t>
            </a:r>
          </a:p>
          <a:p>
            <a:r>
              <a:t>names who must trust, rerun or audit the number.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Random call-outs, about two minutes per question with the follow-up. The</a:t>
            </a:r>
          </a:p>
          <a:p>
            <a:r>
              <a:t>answers in one breath are in the day sheet; the full answers are in the study notes.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Two learners per question: one answers, one adds the follow-up the</a:t>
            </a:r>
          </a:p>
          <a:p>
            <a:r>
              <a:t>interviewer would ask next.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These are the morning's traps asked as an interviewer asks them. A strong</a:t>
            </a:r>
          </a:p>
          <a:p>
            <a:r>
              <a:t>answer names the default, the check and the fix, in that order.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Model it once aloud in under a minute. The interviewer is listening for the</a:t>
            </a:r>
          </a:p>
          <a:p>
            <a:r>
              <a:t>reason naming a person and a risk, not a feature list.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the sentence and crux (5), the Kahoot (12), tomorrow's ask (3).</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it aloud. Every number carries its definition; that is the Week 1 habit</a:t>
            </a:r>
          </a:p>
          <a:p>
            <a:r>
              <a:t>still at work.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Have the room read them aloud once. The cheat sheet prints them word for word.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after the Kahoot. Leave the question open; Friday answers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 Id="rId6"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19.png"/><Relationship Id="rId6" Type="http://schemas.openxmlformats.org/officeDocument/2006/relationships/image" Target="../media/image21.png"/><Relationship Id="rId7"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479576"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THURSDAY  ·  HALF TWO</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The Monday table, and the honest tool choice</a:t>
            </a:r>
          </a:p>
        </p:txBody>
      </p:sp>
      <p:sp>
        <p:nvSpPr>
          <p:cNvPr id="9" name="TextBox 8"/>
          <p:cNvSpPr txBox="1"/>
          <p:nvPr/>
        </p:nvSpPr>
        <p:spPr>
          <a:xfrm>
            <a:off x="621792" y="4263136"/>
            <a:ext cx="10033711" cy="663956"/>
          </a:xfrm>
          <a:prstGeom prst="rect">
            <a:avLst/>
          </a:prstGeom>
          <a:noFill/>
        </p:spPr>
        <p:txBody>
          <a:bodyPr wrap="square" anchor="t" lIns="0" rIns="0" tIns="0" bIns="0">
            <a:spAutoFit/>
          </a:bodyPr>
          <a:lstStyle/>
          <a:p>
            <a:pPr algn="l"/>
            <a:r>
              <a:rPr sz="1900" b="0" i="1">
                <a:solidFill>
                  <a:srgbClr val="D9A7FF"/>
                </a:solidFill>
                <a:latin typeface="Georgia"/>
              </a:rPr>
              <a:t>“You did the tree in plain Python in Week 1, in SQL on Monday. Do it a third way now, and tell me honestly which tool you would pick for which job.”</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Kavya Nair, senior analyst, Kalpa Retail data team</a:t>
            </a:r>
          </a:p>
        </p:txBody>
      </p:sp>
      <p:sp>
        <p:nvSpPr>
          <p:cNvPr id="11" name="TextBox 10"/>
          <p:cNvSpPr txBox="1"/>
          <p:nvPr/>
        </p:nvSpPr>
        <p:spPr>
          <a:xfrm>
            <a:off x="62179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556758"/>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3" name="TextBox 12"/>
          <p:cNvSpPr txBox="1"/>
          <p:nvPr/>
        </p:nvSpPr>
        <p:spPr>
          <a:xfrm>
            <a:off x="2436304"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820352" y="5556758"/>
            <a:ext cx="833532" cy="185166"/>
          </a:xfrm>
          <a:prstGeom prst="rect">
            <a:avLst/>
          </a:prstGeom>
          <a:noFill/>
        </p:spPr>
        <p:txBody>
          <a:bodyPr wrap="square" anchor="t" lIns="0" rIns="0" tIns="0" bIns="0">
            <a:spAutoFit/>
          </a:bodyPr>
          <a:lstStyle/>
          <a:p>
            <a:pPr algn="l"/>
            <a:r>
              <a:rPr sz="900" b="0" i="0">
                <a:solidFill>
                  <a:srgbClr val="FFFFFF"/>
                </a:solidFill>
                <a:latin typeface="Calibri"/>
              </a:rPr>
              <a:t>The debrief</a:t>
            </a:r>
          </a:p>
        </p:txBody>
      </p:sp>
      <p:sp>
        <p:nvSpPr>
          <p:cNvPr id="15" name="TextBox 14"/>
          <p:cNvSpPr txBox="1"/>
          <p:nvPr/>
        </p:nvSpPr>
        <p:spPr>
          <a:xfrm>
            <a:off x="3836765"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220813" y="5556758"/>
            <a:ext cx="1070133" cy="185166"/>
          </a:xfrm>
          <a:prstGeom prst="rect">
            <a:avLst/>
          </a:prstGeom>
          <a:noFill/>
        </p:spPr>
        <p:txBody>
          <a:bodyPr wrap="square" anchor="t" lIns="0" rIns="0" tIns="0" bIns="0">
            <a:spAutoFit/>
          </a:bodyPr>
          <a:lstStyle/>
          <a:p>
            <a:pPr algn="l"/>
            <a:r>
              <a:rPr sz="900" b="0" i="0">
                <a:solidFill>
                  <a:srgbClr val="FFFFFF"/>
                </a:solidFill>
                <a:latin typeface="Calibri"/>
              </a:rPr>
              <a:t>The second case</a:t>
            </a:r>
          </a:p>
        </p:txBody>
      </p:sp>
      <p:sp>
        <p:nvSpPr>
          <p:cNvPr id="17" name="TextBox 16"/>
          <p:cNvSpPr txBox="1"/>
          <p:nvPr/>
        </p:nvSpPr>
        <p:spPr>
          <a:xfrm>
            <a:off x="5473826"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5857874" y="5556758"/>
            <a:ext cx="1306734" cy="185166"/>
          </a:xfrm>
          <a:prstGeom prst="rect">
            <a:avLst/>
          </a:prstGeom>
          <a:noFill/>
        </p:spPr>
        <p:txBody>
          <a:bodyPr wrap="square" anchor="t" lIns="0" rIns="0" tIns="0" bIns="0">
            <a:spAutoFit/>
          </a:bodyPr>
          <a:lstStyle/>
          <a:p>
            <a:pPr algn="l"/>
            <a:r>
              <a:rPr sz="900" b="0" i="0">
                <a:solidFill>
                  <a:srgbClr val="FFFFFF"/>
                </a:solidFill>
                <a:latin typeface="Calibri"/>
              </a:rPr>
              <a:t>The interview drill</a:t>
            </a:r>
          </a:p>
        </p:txBody>
      </p:sp>
      <p:sp>
        <p:nvSpPr>
          <p:cNvPr id="19" name="TextBox 18"/>
          <p:cNvSpPr txBox="1"/>
          <p:nvPr/>
        </p:nvSpPr>
        <p:spPr>
          <a:xfrm>
            <a:off x="7347489"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7731537" y="5556758"/>
            <a:ext cx="478631" cy="185166"/>
          </a:xfrm>
          <a:prstGeom prst="rect">
            <a:avLst/>
          </a:prstGeom>
          <a:noFill/>
        </p:spPr>
        <p:txBody>
          <a:bodyPr wrap="square" anchor="t" lIns="0" rIns="0" tIns="0" bIns="0">
            <a:spAutoFit/>
          </a:bodyPr>
          <a:lstStyle/>
          <a:p>
            <a:pPr algn="l"/>
            <a:r>
              <a:rPr sz="900" b="0" i="0">
                <a:solidFill>
                  <a:srgbClr val="FFFFFF"/>
                </a:solidFill>
                <a:latin typeface="Calibri"/>
              </a:rPr>
              <a:t>Close</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The Monday table, and the honest tool choice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whole Monday table, unguided, with every check from the morning built in.</a:t>
            </a:r>
          </a:p>
        </p:txBody>
      </p:sp>
      <p:sp>
        <p:nvSpPr>
          <p:cNvPr id="10" name="Rounded Rectangle 9"/>
          <p:cNvSpPr/>
          <p:nvPr/>
        </p:nvSpPr>
        <p:spPr>
          <a:xfrm>
            <a:off x="73151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6618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the customer table Marketing refreshes every Monday</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growth team's table, end to end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parts, each one a morning round made harder, and one run that rebuilds it all.</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"One table, one row per customer, refreshed every Monday: how recently, how often, how much, the segment, whether the monsoon sale reached them, and the flags. And one view of it by month we can put on a slide."</a:t>
            </a:r>
          </a:p>
        </p:txBody>
      </p:sp>
      <p:sp>
        <p:nvSpPr>
          <p:cNvPr id="14" name="Rectangle 13"/>
          <p:cNvSpPr/>
          <p:nvPr/>
        </p:nvSpPr>
        <p:spPr>
          <a:xfrm>
            <a:off x="1570299" y="4069080"/>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6" name="Oval 15"/>
          <p:cNvSpPr/>
          <p:nvPr/>
        </p:nvSpPr>
        <p:spPr>
          <a:xfrm>
            <a:off x="1469715"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38912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535424"/>
            <a:ext cx="1750710" cy="251205"/>
          </a:xfrm>
          <a:prstGeom prst="rect">
            <a:avLst/>
          </a:prstGeom>
          <a:noFill/>
        </p:spPr>
        <p:txBody>
          <a:bodyPr wrap="square" anchor="t" lIns="0" rIns="0" tIns="0" bIns="0">
            <a:spAutoFit/>
          </a:bodyPr>
          <a:lstStyle/>
          <a:p>
            <a:pPr algn="l"/>
            <a:r>
              <a:rPr sz="1300" b="1" i="0">
                <a:solidFill>
                  <a:srgbClr val="1A0F5C"/>
                </a:solidFill>
                <a:latin typeface="Calibri"/>
              </a:rPr>
              <a:t>The spine</a:t>
            </a:r>
          </a:p>
        </p:txBody>
      </p:sp>
      <p:sp>
        <p:nvSpPr>
          <p:cNvPr id="19" name="TextBox 18"/>
          <p:cNvSpPr txBox="1"/>
          <p:nvPr/>
        </p:nvSpPr>
        <p:spPr>
          <a:xfrm>
            <a:off x="694944" y="4823206"/>
            <a:ext cx="1750710" cy="366776"/>
          </a:xfrm>
          <a:prstGeom prst="rect">
            <a:avLst/>
          </a:prstGeom>
          <a:noFill/>
        </p:spPr>
        <p:txBody>
          <a:bodyPr wrap="square" anchor="t" lIns="0" rIns="0" tIns="0" bIns="0">
            <a:spAutoFit/>
          </a:bodyPr>
          <a:lstStyle/>
          <a:p>
            <a:pPr algn="l"/>
            <a:r>
              <a:rPr sz="1000" b="0" i="0">
                <a:solidFill>
                  <a:srgbClr val="6B6690"/>
                </a:solidFill>
                <a:latin typeface="Calibri"/>
              </a:rPr>
              <a:t>340 customers, recency from the data's last date.</a:t>
            </a:r>
          </a:p>
        </p:txBody>
      </p:sp>
      <p:sp>
        <p:nvSpPr>
          <p:cNvPr id="20" name="TextBox 19"/>
          <p:cNvSpPr txBox="1"/>
          <p:nvPr/>
        </p:nvSpPr>
        <p:spPr>
          <a:xfrm>
            <a:off x="2793126"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21" name="Oval 20"/>
          <p:cNvSpPr/>
          <p:nvPr/>
        </p:nvSpPr>
        <p:spPr>
          <a:xfrm>
            <a:off x="3732489"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2793126" y="438912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957718" y="4535424"/>
            <a:ext cx="1750710" cy="251205"/>
          </a:xfrm>
          <a:prstGeom prst="rect">
            <a:avLst/>
          </a:prstGeom>
          <a:noFill/>
        </p:spPr>
        <p:txBody>
          <a:bodyPr wrap="square" anchor="t" lIns="0" rIns="0" tIns="0" bIns="0">
            <a:spAutoFit/>
          </a:bodyPr>
          <a:lstStyle/>
          <a:p>
            <a:pPr algn="l"/>
            <a:r>
              <a:rPr sz="1300" b="1" i="0">
                <a:solidFill>
                  <a:srgbClr val="1A0F5C"/>
                </a:solidFill>
                <a:latin typeface="Calibri"/>
              </a:rPr>
              <a:t>The exposure</a:t>
            </a:r>
          </a:p>
        </p:txBody>
      </p:sp>
      <p:sp>
        <p:nvSpPr>
          <p:cNvPr id="24" name="TextBox 23"/>
          <p:cNvSpPr txBox="1"/>
          <p:nvPr/>
        </p:nvSpPr>
        <p:spPr>
          <a:xfrm>
            <a:off x="2957718" y="4823206"/>
            <a:ext cx="1750710" cy="366776"/>
          </a:xfrm>
          <a:prstGeom prst="rect">
            <a:avLst/>
          </a:prstGeom>
          <a:noFill/>
        </p:spPr>
        <p:txBody>
          <a:bodyPr wrap="square" anchor="t" lIns="0" rIns="0" tIns="0" bIns="0">
            <a:spAutoFit/>
          </a:bodyPr>
          <a:lstStyle/>
          <a:p>
            <a:pPr algn="l"/>
            <a:r>
              <a:rPr sz="1000" b="0" i="0">
                <a:solidFill>
                  <a:srgbClr val="6B6690"/>
                </a:solidFill>
                <a:latin typeface="Calibri"/>
              </a:rPr>
              <a:t>First touch per customer, merged with validate.</a:t>
            </a:r>
          </a:p>
        </p:txBody>
      </p:sp>
      <p:sp>
        <p:nvSpPr>
          <p:cNvPr id="25" name="TextBox 24"/>
          <p:cNvSpPr txBox="1"/>
          <p:nvPr/>
        </p:nvSpPr>
        <p:spPr>
          <a:xfrm>
            <a:off x="5055900"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6" name="Oval 25"/>
          <p:cNvSpPr/>
          <p:nvPr/>
        </p:nvSpPr>
        <p:spPr>
          <a:xfrm>
            <a:off x="5995263"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055900" y="438912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20492" y="4535424"/>
            <a:ext cx="1750710" cy="251205"/>
          </a:xfrm>
          <a:prstGeom prst="rect">
            <a:avLst/>
          </a:prstGeom>
          <a:noFill/>
        </p:spPr>
        <p:txBody>
          <a:bodyPr wrap="square" anchor="t" lIns="0" rIns="0" tIns="0" bIns="0">
            <a:spAutoFit/>
          </a:bodyPr>
          <a:lstStyle/>
          <a:p>
            <a:pPr algn="l"/>
            <a:r>
              <a:rPr sz="1300" b="1" i="0">
                <a:solidFill>
                  <a:srgbClr val="1A0F5C"/>
                </a:solidFill>
                <a:latin typeface="Calibri"/>
              </a:rPr>
              <a:t>The flags</a:t>
            </a:r>
          </a:p>
        </p:txBody>
      </p:sp>
      <p:sp>
        <p:nvSpPr>
          <p:cNvPr id="29" name="TextBox 28"/>
          <p:cNvSpPr txBox="1"/>
          <p:nvPr/>
        </p:nvSpPr>
        <p:spPr>
          <a:xfrm>
            <a:off x="5220492" y="4823206"/>
            <a:ext cx="1750710" cy="531876"/>
          </a:xfrm>
          <a:prstGeom prst="rect">
            <a:avLst/>
          </a:prstGeom>
          <a:noFill/>
        </p:spPr>
        <p:txBody>
          <a:bodyPr wrap="square" anchor="t" lIns="0" rIns="0" tIns="0" bIns="0">
            <a:spAutoFit/>
          </a:bodyPr>
          <a:lstStyle/>
          <a:p>
            <a:pPr algn="l"/>
            <a:r>
              <a:rPr sz="1000" b="0" i="0">
                <a:solidFill>
                  <a:srgbClr val="6B6690"/>
                </a:solidFill>
                <a:latin typeface="Calibri"/>
              </a:rPr>
              <a:t>Lapsed at 60 days; falling twice in Q2, beside Wednesday's LAG.</a:t>
            </a:r>
          </a:p>
        </p:txBody>
      </p:sp>
      <p:sp>
        <p:nvSpPr>
          <p:cNvPr id="30" name="TextBox 29"/>
          <p:cNvSpPr txBox="1"/>
          <p:nvPr/>
        </p:nvSpPr>
        <p:spPr>
          <a:xfrm>
            <a:off x="7318674"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31" name="Oval 30"/>
          <p:cNvSpPr/>
          <p:nvPr/>
        </p:nvSpPr>
        <p:spPr>
          <a:xfrm>
            <a:off x="8258037"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7318674" y="438912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83266" y="4535424"/>
            <a:ext cx="1750710" cy="251205"/>
          </a:xfrm>
          <a:prstGeom prst="rect">
            <a:avLst/>
          </a:prstGeom>
          <a:noFill/>
        </p:spPr>
        <p:txBody>
          <a:bodyPr wrap="square" anchor="t" lIns="0" rIns="0" tIns="0" bIns="0">
            <a:spAutoFit/>
          </a:bodyPr>
          <a:lstStyle/>
          <a:p>
            <a:pPr algn="l"/>
            <a:r>
              <a:rPr sz="1300" b="1" i="0">
                <a:solidFill>
                  <a:srgbClr val="1A0F5C"/>
                </a:solidFill>
                <a:latin typeface="Calibri"/>
              </a:rPr>
              <a:t>The view</a:t>
            </a:r>
          </a:p>
        </p:txBody>
      </p:sp>
      <p:sp>
        <p:nvSpPr>
          <p:cNvPr id="34" name="TextBox 33"/>
          <p:cNvSpPr txBox="1"/>
          <p:nvPr/>
        </p:nvSpPr>
        <p:spPr>
          <a:xfrm>
            <a:off x="7483266" y="4823206"/>
            <a:ext cx="1750710" cy="366776"/>
          </a:xfrm>
          <a:prstGeom prst="rect">
            <a:avLst/>
          </a:prstGeom>
          <a:noFill/>
        </p:spPr>
        <p:txBody>
          <a:bodyPr wrap="square" anchor="t" lIns="0" rIns="0" tIns="0" bIns="0">
            <a:spAutoFit/>
          </a:bodyPr>
          <a:lstStyle/>
          <a:p>
            <a:pPr algn="l"/>
            <a:r>
              <a:rPr sz="1000" b="0" i="0">
                <a:solidFill>
                  <a:srgbClr val="6B6690"/>
                </a:solidFill>
                <a:latin typeface="Calibri"/>
              </a:rPr>
              <a:t>Spend by month and segment, aggfunc stated.</a:t>
            </a:r>
          </a:p>
        </p:txBody>
      </p:sp>
      <p:sp>
        <p:nvSpPr>
          <p:cNvPr id="35" name="TextBox 34"/>
          <p:cNvSpPr txBox="1"/>
          <p:nvPr/>
        </p:nvSpPr>
        <p:spPr>
          <a:xfrm>
            <a:off x="9581448"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6" name="Oval 35"/>
          <p:cNvSpPr/>
          <p:nvPr/>
        </p:nvSpPr>
        <p:spPr>
          <a:xfrm>
            <a:off x="10520812" y="397764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581448" y="4389120"/>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746040" y="4535424"/>
            <a:ext cx="1750710" cy="251205"/>
          </a:xfrm>
          <a:prstGeom prst="rect">
            <a:avLst/>
          </a:prstGeom>
          <a:noFill/>
        </p:spPr>
        <p:txBody>
          <a:bodyPr wrap="square" anchor="t" lIns="0" rIns="0" tIns="0" bIns="0">
            <a:spAutoFit/>
          </a:bodyPr>
          <a:lstStyle/>
          <a:p>
            <a:pPr algn="l"/>
            <a:r>
              <a:rPr sz="1300" b="1" i="0">
                <a:solidFill>
                  <a:srgbClr val="FFFFFF"/>
                </a:solidFill>
                <a:latin typeface="Calibri"/>
              </a:rPr>
              <a:t>The refresh</a:t>
            </a:r>
          </a:p>
        </p:txBody>
      </p:sp>
      <p:sp>
        <p:nvSpPr>
          <p:cNvPr id="39" name="TextBox 38"/>
          <p:cNvSpPr txBox="1"/>
          <p:nvPr/>
        </p:nvSpPr>
        <p:spPr>
          <a:xfrm>
            <a:off x="9746040" y="4823206"/>
            <a:ext cx="1750710" cy="366776"/>
          </a:xfrm>
          <a:prstGeom prst="rect">
            <a:avLst/>
          </a:prstGeom>
          <a:noFill/>
        </p:spPr>
        <p:txBody>
          <a:bodyPr wrap="square" anchor="t" lIns="0" rIns="0" tIns="0" bIns="0">
            <a:spAutoFit/>
          </a:bodyPr>
          <a:lstStyle/>
          <a:p>
            <a:pPr algn="l"/>
            <a:r>
              <a:rPr sz="1000" b="0" i="0">
                <a:solidFill>
                  <a:srgbClr val="CFC9EE"/>
                </a:solidFill>
                <a:latin typeface="Calibri"/>
              </a:rPr>
              <a:t>One function, two runs, the same table.</a:t>
            </a:r>
          </a:p>
        </p:txBody>
      </p:sp>
      <p:sp>
        <p:nvSpPr>
          <p:cNvPr id="40" name="Oval 3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42" name="Oval 4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44" name="Oval 4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46" name="Oval 4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8" name="Oval 4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refresh, drawn as one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Everything the morning did, inside one function with its guards.</a:t>
            </a:r>
          </a:p>
        </p:txBody>
      </p:sp>
      <p:pic>
        <p:nvPicPr>
          <p:cNvPr id="9" name="mermaid diagram" descr="a35d53207efb876a.png"/>
          <p:cNvPicPr>
            <a:picLocks noChangeAspect="1"/>
          </p:cNvPicPr>
          <p:nvPr/>
        </p:nvPicPr>
        <p:blipFill>
          <a:blip r:embed="rId6"/>
          <a:stretch>
            <a:fillRect/>
          </a:stretch>
        </p:blipFill>
        <p:spPr>
          <a:xfrm>
            <a:off x="530352" y="1956816"/>
            <a:ext cx="11130991" cy="1588340"/>
          </a:xfrm>
          <a:prstGeom prst="rect">
            <a:avLst/>
          </a:prstGeom>
        </p:spPr>
      </p:pic>
      <p:sp>
        <p:nvSpPr>
          <p:cNvPr id="10" name="Rounded Rectangle 9"/>
          <p:cNvSpPr/>
          <p:nvPr/>
        </p:nvSpPr>
        <p:spPr>
          <a:xfrm>
            <a:off x="530352" y="3691460"/>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941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003880"/>
            <a:ext cx="237744" cy="237744"/>
          </a:xfrm>
          <a:prstGeom prst="rect">
            <a:avLst/>
          </a:prstGeom>
        </p:spPr>
      </p:pic>
      <p:sp>
        <p:nvSpPr>
          <p:cNvPr id="13" name="TextBox 12"/>
          <p:cNvSpPr txBox="1"/>
          <p:nvPr/>
        </p:nvSpPr>
        <p:spPr>
          <a:xfrm>
            <a:off x="1399031" y="38377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057220"/>
            <a:ext cx="9987991" cy="423672"/>
          </a:xfrm>
          <a:prstGeom prst="rect">
            <a:avLst/>
          </a:prstGeom>
          <a:noFill/>
        </p:spPr>
        <p:txBody>
          <a:bodyPr wrap="square" anchor="t" lIns="0" rIns="0" tIns="0" bIns="0">
            <a:spAutoFit/>
          </a:bodyPr>
          <a:lstStyle/>
          <a:p>
            <a:r>
              <a:rPr sz="1500" b="0" i="0">
                <a:solidFill>
                  <a:srgbClr val="1A1440"/>
                </a:solidFill>
                <a:latin typeface="Calibri"/>
              </a:rPr>
              <a:t>A refresh that cannot fail loudly will one day ship a wrong table quietly.</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four numbers the table has to show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self-check every learner reaches before posting the letters.</a:t>
            </a:r>
          </a:p>
        </p:txBody>
      </p:sp>
      <p:sp>
        <p:nvSpPr>
          <p:cNvPr id="9" name="TextBox 8"/>
          <p:cNvSpPr txBox="1"/>
          <p:nvPr/>
        </p:nvSpPr>
        <p:spPr>
          <a:xfrm>
            <a:off x="530352"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340</a:t>
            </a:r>
          </a:p>
        </p:txBody>
      </p:sp>
      <p:sp>
        <p:nvSpPr>
          <p:cNvPr id="10" name="TextBox 9"/>
          <p:cNvSpPr txBox="1"/>
          <p:nvPr/>
        </p:nvSpPr>
        <p:spPr>
          <a:xfrm>
            <a:off x="530352"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CUSTOMERS</a:t>
            </a:r>
          </a:p>
        </p:txBody>
      </p:sp>
      <p:sp>
        <p:nvSpPr>
          <p:cNvPr id="11" name="TextBox 10"/>
          <p:cNvSpPr txBox="1"/>
          <p:nvPr/>
        </p:nvSpPr>
        <p:spPr>
          <a:xfrm>
            <a:off x="530352"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one row each</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Rs 19.84 cr</a:t>
            </a:r>
          </a:p>
        </p:txBody>
      </p:sp>
      <p:sp>
        <p:nvSpPr>
          <p:cNvPr id="14" name="TextBox 13"/>
          <p:cNvSpPr txBox="1"/>
          <p:nvPr/>
        </p:nvSpPr>
        <p:spPr>
          <a:xfrm>
            <a:off x="3381679"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SPEND</a:t>
            </a:r>
          </a:p>
        </p:txBody>
      </p:sp>
      <p:sp>
        <p:nvSpPr>
          <p:cNvPr id="15" name="TextBox 14"/>
          <p:cNvSpPr txBox="1"/>
          <p:nvPr/>
        </p:nvSpPr>
        <p:spPr>
          <a:xfrm>
            <a:off x="3381679"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adds to the book</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130</a:t>
            </a:r>
          </a:p>
        </p:txBody>
      </p:sp>
      <p:sp>
        <p:nvSpPr>
          <p:cNvPr id="18" name="TextBox 17"/>
          <p:cNvSpPr txBox="1"/>
          <p:nvPr/>
        </p:nvSpPr>
        <p:spPr>
          <a:xfrm>
            <a:off x="6233007"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REACHED</a:t>
            </a:r>
          </a:p>
        </p:txBody>
      </p:sp>
      <p:sp>
        <p:nvSpPr>
          <p:cNvPr id="19" name="TextBox 18"/>
          <p:cNvSpPr txBox="1"/>
          <p:nvPr/>
        </p:nvSpPr>
        <p:spPr>
          <a:xfrm>
            <a:off x="6233007"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first exposure per customer</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111</a:t>
            </a:r>
          </a:p>
        </p:txBody>
      </p:sp>
      <p:sp>
        <p:nvSpPr>
          <p:cNvPr id="22" name="TextBox 21"/>
          <p:cNvSpPr txBox="1"/>
          <p:nvPr/>
        </p:nvSpPr>
        <p:spPr>
          <a:xfrm>
            <a:off x="9084335"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WIN-BACK LIST</a:t>
            </a:r>
          </a:p>
        </p:txBody>
      </p:sp>
      <p:sp>
        <p:nvSpPr>
          <p:cNvPr id="23" name="TextBox 22"/>
          <p:cNvSpPr txBox="1"/>
          <p:nvPr/>
        </p:nvSpPr>
        <p:spPr>
          <a:xfrm>
            <a:off x="9084335"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as of 28 September</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27" name="Oval 2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9" name="Oval 2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1" name="Oval 3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3" name="Oval 3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debrief</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room's wrong answers, each traced to the default that produced it.</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6618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the customer table Marketing refreshes every Monday</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defaults, four wrong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trap this week was a default nobody wrote down.</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4096199"/>
                <a:gridCol w="3401635"/>
                <a:gridCol w="3633156"/>
              </a:tblGrid>
              <a:tr h="369824">
                <a:tc>
                  <a:txBody>
                    <a:bodyPr/>
                    <a:lstStyle/>
                    <a:p>
                      <a:r>
                        <a:rPr sz="1450" b="1" i="0">
                          <a:solidFill>
                            <a:srgbClr val="FFFFFF"/>
                          </a:solidFill>
                          <a:latin typeface="Calibri"/>
                        </a:rPr>
                        <a:t>The wrong number</a:t>
                      </a:r>
                    </a:p>
                  </a:txBody>
                  <a:tcPr marL="101600" marR="101600" marT="38100" marB="38100" anchor="ctr">
                    <a:solidFill>
                      <a:srgbClr val="1A0F5C"/>
                    </a:solidFill>
                  </a:tcPr>
                </a:tc>
                <a:tc>
                  <a:txBody>
                    <a:bodyPr/>
                    <a:lstStyle/>
                    <a:p>
                      <a:r>
                        <a:rPr sz="1450" b="1" i="0">
                          <a:solidFill>
                            <a:srgbClr val="FFFFFF"/>
                          </a:solidFill>
                          <a:latin typeface="Calibri"/>
                        </a:rPr>
                        <a:t>The default behind it</a:t>
                      </a:r>
                    </a:p>
                  </a:txBody>
                  <a:tcPr marL="101600" marR="101600" marT="38100" marB="38100" anchor="ctr">
                    <a:solidFill>
                      <a:srgbClr val="1A0F5C"/>
                    </a:solidFill>
                  </a:tcPr>
                </a:tc>
                <a:tc>
                  <a:txBody>
                    <a:bodyPr/>
                    <a:lstStyle/>
                    <a:p>
                      <a:r>
                        <a:rPr sz="1450" b="1" i="0">
                          <a:solidFill>
                            <a:srgbClr val="FFFFFF"/>
                          </a:solidFill>
                          <a:latin typeface="Calibri"/>
                        </a:rPr>
                        <a:t>The check that catches it</a:t>
                      </a:r>
                    </a:p>
                  </a:txBody>
                  <a:tcPr marL="101600" marR="101600" marT="38100" marB="38100" anchor="ctr">
                    <a:solidFill>
                      <a:srgbClr val="1A0F5C"/>
                    </a:solidFill>
                  </a:tcPr>
                </a:tc>
              </a:tr>
              <a:tr h="369824">
                <a:tc>
                  <a:txBody>
                    <a:bodyPr/>
                    <a:lstStyle/>
                    <a:p>
                      <a:r>
                        <a:rPr sz="1400" b="0" i="0">
                          <a:solidFill>
                            <a:srgbClr val="1A1440"/>
                          </a:solidFill>
                          <a:latin typeface="Calibri"/>
                        </a:rPr>
                        <a:t>166 on the win-back list</a:t>
                      </a:r>
                    </a:p>
                  </a:txBody>
                  <a:tcPr marL="101600" marR="101600" marT="38100" marB="38100" anchor="ctr">
                    <a:solidFill>
                      <a:srgbClr val="FFFFFF"/>
                    </a:solidFill>
                  </a:tcPr>
                </a:tc>
                <a:tc>
                  <a:txBody>
                    <a:bodyPr/>
                    <a:lstStyle/>
                    <a:p>
                      <a:r>
                        <a:rPr sz="1400" b="0" i="0">
                          <a:solidFill>
                            <a:srgbClr val="1A1440"/>
                          </a:solidFill>
                          <a:latin typeface="Calibri"/>
                        </a:rPr>
                        <a:t>recency from the wall clock</a:t>
                      </a:r>
                    </a:p>
                  </a:txBody>
                  <a:tcPr marL="101600" marR="101600" marT="38100" marB="38100" anchor="ctr">
                    <a:solidFill>
                      <a:srgbClr val="FFFFFF"/>
                    </a:solidFill>
                  </a:tcPr>
                </a:tc>
                <a:tc>
                  <a:txBody>
                    <a:bodyPr/>
                    <a:lstStyle/>
                    <a:p>
                      <a:r>
                        <a:rPr sz="1400" b="0" i="0">
                          <a:solidFill>
                            <a:srgbClr val="1A1440"/>
                          </a:solidFill>
                          <a:latin typeface="Calibri"/>
                        </a:rPr>
                        <a:t>smallest recency is 0</a:t>
                      </a:r>
                    </a:p>
                  </a:txBody>
                  <a:tcPr marL="101600" marR="101600" marT="38100" marB="38100" anchor="ctr">
                    <a:solidFill>
                      <a:srgbClr val="FFFFFF"/>
                    </a:solidFill>
                  </a:tcPr>
                </a:tc>
              </a:tr>
              <a:tr h="369824">
                <a:tc>
                  <a:txBody>
                    <a:bodyPr/>
                    <a:lstStyle/>
                    <a:p>
                      <a:r>
                        <a:rPr sz="1400" b="0" i="0">
                          <a:solidFill>
                            <a:srgbClr val="1A1440"/>
                          </a:solidFill>
                          <a:latin typeface="Calibri"/>
                        </a:rPr>
                        <a:t>reach 107, conversion 100 percent</a:t>
                      </a:r>
                    </a:p>
                  </a:txBody>
                  <a:tcPr marL="101600" marR="101600" marT="38100" marB="38100" anchor="ctr">
                    <a:solidFill>
                      <a:srgbClr val="F4F2FA"/>
                    </a:solidFill>
                  </a:tcPr>
                </a:tc>
                <a:tc>
                  <a:txBody>
                    <a:bodyPr/>
                    <a:lstStyle/>
                    <a:p>
                      <a:r>
                        <a:rPr sz="1400" b="0" i="0">
                          <a:solidFill>
                            <a:srgbClr val="1A1440"/>
                          </a:solidFill>
                          <a:latin typeface="Calibri"/>
                        </a:rPr>
                        <a:t>groupby(dropna=True)</a:t>
                      </a:r>
                    </a:p>
                  </a:txBody>
                  <a:tcPr marL="101600" marR="101600" marT="38100" marB="38100" anchor="ctr">
                    <a:solidFill>
                      <a:srgbClr val="F4F2FA"/>
                    </a:solidFill>
                  </a:tcPr>
                </a:tc>
                <a:tc>
                  <a:txBody>
                    <a:bodyPr/>
                    <a:lstStyle/>
                    <a:p>
                      <a:r>
                        <a:rPr sz="1400" b="0" i="0">
                          <a:solidFill>
                            <a:srgbClr val="1A1440"/>
                          </a:solidFill>
                          <a:latin typeface="Calibri"/>
                        </a:rPr>
                        <a:t>groups add back to rows</a:t>
                      </a:r>
                    </a:p>
                  </a:txBody>
                  <a:tcPr marL="101600" marR="101600" marT="38100" marB="38100" anchor="ctr">
                    <a:solidFill>
                      <a:srgbClr val="F4F2FA"/>
                    </a:solidFill>
                  </a:tcPr>
                </a:tc>
              </a:tr>
              <a:tr h="369824">
                <a:tc>
                  <a:txBody>
                    <a:bodyPr/>
                    <a:lstStyle/>
                    <a:p>
                      <a:r>
                        <a:rPr sz="1400" b="0" i="0">
                          <a:solidFill>
                            <a:srgbClr val="1A1440"/>
                          </a:solidFill>
                          <a:latin typeface="Calibri"/>
                        </a:rPr>
                        <a:t>spend too big after the merge</a:t>
                      </a:r>
                    </a:p>
                  </a:txBody>
                  <a:tcPr marL="101600" marR="101600" marT="38100" marB="38100" anchor="ctr">
                    <a:solidFill>
                      <a:srgbClr val="FFFFFF"/>
                    </a:solidFill>
                  </a:tcPr>
                </a:tc>
                <a:tc>
                  <a:txBody>
                    <a:bodyPr/>
                    <a:lstStyle/>
                    <a:p>
                      <a:r>
                        <a:rPr sz="1400" b="0" i="0">
                          <a:solidFill>
                            <a:srgbClr val="1A1440"/>
                          </a:solidFill>
                          <a:latin typeface="Calibri"/>
                        </a:rPr>
                        <a:t>merge(validate=None)</a:t>
                      </a:r>
                    </a:p>
                  </a:txBody>
                  <a:tcPr marL="101600" marR="101600" marT="38100" marB="38100" anchor="ctr">
                    <a:solidFill>
                      <a:srgbClr val="FFFFFF"/>
                    </a:solidFill>
                  </a:tcPr>
                </a:tc>
                <a:tc>
                  <a:txBody>
                    <a:bodyPr/>
                    <a:lstStyle/>
                    <a:p>
                      <a:r>
                        <a:rPr sz="1400" b="0" i="0">
                          <a:solidFill>
                            <a:srgbClr val="1A1440"/>
                          </a:solidFill>
                          <a:latin typeface="Calibri"/>
                        </a:rPr>
                        <a:t>rows in equal rows out</a:t>
                      </a:r>
                    </a:p>
                  </a:txBody>
                  <a:tcPr marL="101600" marR="101600" marT="38100" marB="38100" anchor="ctr">
                    <a:solidFill>
                      <a:srgbClr val="FFFFFF"/>
                    </a:solidFill>
                  </a:tcPr>
                </a:tc>
              </a:tr>
              <a:tr h="369824">
                <a:tc>
                  <a:txBody>
                    <a:bodyPr/>
                    <a:lstStyle/>
                    <a:p>
                      <a:r>
                        <a:rPr sz="1400" b="0" i="0">
                          <a:solidFill>
                            <a:srgbClr val="1A1440"/>
                          </a:solidFill>
                          <a:latin typeface="Calibri"/>
                        </a:rPr>
                        <a:t>Retail-Plus down 18 percent</a:t>
                      </a:r>
                    </a:p>
                  </a:txBody>
                  <a:tcPr marL="101600" marR="101600" marT="38100" marB="38100" anchor="ctr">
                    <a:solidFill>
                      <a:srgbClr val="F4F2FA"/>
                    </a:solidFill>
                  </a:tcPr>
                </a:tc>
                <a:tc>
                  <a:txBody>
                    <a:bodyPr/>
                    <a:lstStyle/>
                    <a:p>
                      <a:r>
                        <a:rPr sz="1400" b="0" i="0">
                          <a:solidFill>
                            <a:srgbClr val="1A1440"/>
                          </a:solidFill>
                          <a:latin typeface="Calibri"/>
                        </a:rPr>
                        <a:t>pivot_table(aggfunc="mean")</a:t>
                      </a:r>
                    </a:p>
                  </a:txBody>
                  <a:tcPr marL="101600" marR="101600" marT="38100" marB="38100" anchor="ctr">
                    <a:solidFill>
                      <a:srgbClr val="F4F2FA"/>
                    </a:solidFill>
                  </a:tcPr>
                </a:tc>
                <a:tc>
                  <a:txBody>
                    <a:bodyPr/>
                    <a:lstStyle/>
                    <a:p>
                      <a:r>
                        <a:rPr sz="1400" b="0" i="0">
                          <a:solidFill>
                            <a:srgbClr val="1A1440"/>
                          </a:solidFill>
                          <a:latin typeface="Calibri"/>
                        </a:rPr>
                        <a:t>grand total equals the source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4" name="Oval 1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6" name="Oval 1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8" name="Oval 1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7 / 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1,000 customers in, 1,120 rows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different team's customer table, a campaign feed merged onto it on Monday.</a:t>
            </a:r>
          </a:p>
        </p:txBody>
      </p:sp>
      <p:pic>
        <p:nvPicPr>
          <p:cNvPr id="9" name="mermaid diagram" descr="a01f555d982bf63b.png"/>
          <p:cNvPicPr>
            <a:picLocks noChangeAspect="1"/>
          </p:cNvPicPr>
          <p:nvPr/>
        </p:nvPicPr>
        <p:blipFill>
          <a:blip r:embed="rId5"/>
          <a:stretch>
            <a:fillRect/>
          </a:stretch>
        </p:blipFill>
        <p:spPr>
          <a:xfrm>
            <a:off x="2695422" y="1956816"/>
            <a:ext cx="6800850" cy="871537"/>
          </a:xfrm>
          <a:prstGeom prst="rect">
            <a:avLst/>
          </a:prstGeom>
        </p:spPr>
      </p:pic>
      <p:sp>
        <p:nvSpPr>
          <p:cNvPr id="10" name="Rounded Rectangle 9"/>
          <p:cNvSpPr/>
          <p:nvPr/>
        </p:nvSpPr>
        <p:spPr>
          <a:xfrm>
            <a:off x="530352" y="2974657"/>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02673"/>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93529"/>
            <a:ext cx="10564063" cy="11582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happened, and which argument would have caught it? a) 120 new customers arrived, and nothing needs catching; b) the feed repeats some customer keys, and validate="one_to_one" raises; c) the left merge adds the feed's unmatched rows, and how="inner" fixes it; d) pandas duplicated rows at random, and drop_duplicates() fixes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7" name="Oval 16"/>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9" name="Oval 18"/>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8 / 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repeated keys, and validate catches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left merge never adds customers; it multiplies the rows of customers whose key repeats.</a:t>
            </a:r>
          </a:p>
        </p:txBody>
      </p:sp>
      <p:pic>
        <p:nvPicPr>
          <p:cNvPr id="9" name="mermaid diagram" descr="18958c8c18fd7910.png"/>
          <p:cNvPicPr>
            <a:picLocks noChangeAspect="1"/>
          </p:cNvPicPr>
          <p:nvPr/>
        </p:nvPicPr>
        <p:blipFill>
          <a:blip r:embed="rId5"/>
          <a:stretch>
            <a:fillRect/>
          </a:stretch>
        </p:blipFill>
        <p:spPr>
          <a:xfrm>
            <a:off x="1745303" y="1956816"/>
            <a:ext cx="8701087" cy="1800225"/>
          </a:xfrm>
          <a:prstGeom prst="rect">
            <a:avLst/>
          </a:prstGeom>
        </p:spPr>
      </p:pic>
      <p:sp>
        <p:nvSpPr>
          <p:cNvPr id="10" name="TextBox 9"/>
          <p:cNvSpPr txBox="1"/>
          <p:nvPr/>
        </p:nvSpPr>
        <p:spPr>
          <a:xfrm>
            <a:off x="530352" y="39033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Option c confuses left with outer: a left merge keeps the left table's keys and never adds unmatched right rows.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5" name="Oval 14"/>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9 / 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second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One question in three tools, and a written answer to Kavya about which tool does which job.</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6618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the customer table Marketing refreshes every Monday</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10 / 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node that moved, asked a third time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orders per member, Q1 against Q2: Week 1 in Python, Monday in SQL, now pandas.</a:t>
            </a:r>
          </a:p>
        </p:txBody>
      </p:sp>
      <p:pic>
        <p:nvPicPr>
          <p:cNvPr id="9" name="mermaid diagram" descr="f3a3c15a8c607a8e.png"/>
          <p:cNvPicPr>
            <a:picLocks noChangeAspect="1"/>
          </p:cNvPicPr>
          <p:nvPr/>
        </p:nvPicPr>
        <p:blipFill>
          <a:blip r:embed="rId5"/>
          <a:stretch>
            <a:fillRect/>
          </a:stretch>
        </p:blipFill>
        <p:spPr>
          <a:xfrm>
            <a:off x="1945328" y="1956816"/>
            <a:ext cx="8301037" cy="2714625"/>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16" name="Oval 1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8" name="Oval 1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11 / 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Plain Python: every step visible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accumulator from Week 1, with a set for the members so each counts once.</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orders_n, seen = {"Q1": 0, "Q2": 0}, {"Q1": set(), "Q2": set()}</a:t>
            </a:r>
          </a:p>
          <a:p>
            <a:pPr>
              <a:spcAft>
                <a:spcPts val="200"/>
              </a:spcAft>
            </a:pPr>
            <a:r>
              <a:rPr sz="1400" b="0" i="0">
                <a:solidFill>
                  <a:srgbClr val="E4E1F1"/>
                </a:solidFill>
                <a:latin typeface="Consolas"/>
              </a:rPr>
              <a:t>for r in rows:</a:t>
            </a:r>
          </a:p>
          <a:p>
            <a:pPr>
              <a:spcAft>
                <a:spcPts val="200"/>
              </a:spcAft>
            </a:pPr>
            <a:r>
              <a:rPr sz="1400" b="0" i="0">
                <a:solidFill>
                  <a:srgbClr val="E4E1F1"/>
                </a:solidFill>
                <a:latin typeface="Consolas"/>
              </a:rPr>
              <a:t>    orders_n[r["quarter"]] += 1</a:t>
            </a:r>
          </a:p>
          <a:p>
            <a:pPr>
              <a:spcAft>
                <a:spcPts val="200"/>
              </a:spcAft>
            </a:pPr>
            <a:r>
              <a:rPr sz="1400" b="0" i="0">
                <a:solidFill>
                  <a:srgbClr val="E4E1F1"/>
                </a:solidFill>
                <a:latin typeface="Consolas"/>
              </a:rPr>
              <a:t>    seen[r["quarter"]].add(r["customer_id"])</a:t>
            </a:r>
          </a:p>
          <a:p>
            <a:pPr>
              <a:spcAft>
                <a:spcPts val="200"/>
              </a:spcAft>
            </a:pPr>
            <a:r>
              <a:rPr sz="1400" b="0" i="0">
                <a:solidFill>
                  <a:srgbClr val="E4E1F1"/>
                </a:solidFill>
                <a:latin typeface="Consolas"/>
              </a:rPr>
              <a:t>{q: orders_n[q] / len(seen[q]) for q in ("Q1", "Q2")}</a:t>
            </a:r>
          </a:p>
        </p:txBody>
      </p:sp>
      <p:sp>
        <p:nvSpPr>
          <p:cNvPr id="14" name="Rounded Rectangle 13"/>
          <p:cNvSpPr/>
          <p:nvPr/>
        </p:nvSpPr>
        <p:spPr>
          <a:xfrm>
            <a:off x="530352" y="384098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41732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4282948"/>
            <a:ext cx="237744" cy="237744"/>
          </a:xfrm>
          <a:prstGeom prst="rect">
            <a:avLst/>
          </a:prstGeom>
        </p:spPr>
      </p:pic>
      <p:sp>
        <p:nvSpPr>
          <p:cNvPr id="17" name="TextBox 16"/>
          <p:cNvSpPr txBox="1"/>
          <p:nvPr/>
        </p:nvSpPr>
        <p:spPr>
          <a:xfrm>
            <a:off x="1399031" y="398729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4206748"/>
            <a:ext cx="9987991" cy="682752"/>
          </a:xfrm>
          <a:prstGeom prst="rect">
            <a:avLst/>
          </a:prstGeom>
          <a:noFill/>
        </p:spPr>
        <p:txBody>
          <a:bodyPr wrap="square" anchor="t" lIns="0" rIns="0" tIns="0" bIns="0">
            <a:spAutoFit/>
          </a:bodyPr>
          <a:lstStyle/>
          <a:p>
            <a:r>
              <a:rPr sz="1500" b="0" i="0">
                <a:solidFill>
                  <a:srgbClr val="1A1440"/>
                </a:solidFill>
                <a:latin typeface="Calibri"/>
              </a:rPr>
              <a:t>Plain Python is the tool you choose when a reader must follow every step, and the one that grows slowest when the question changes.</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1" name="Oval 20"/>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3" name="Oval 22"/>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25" name="Oval 24"/>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12 / 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SQL: where the data lives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number as a statement the warehouse runs and Finance can rerun.</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o.quarter, count(*) AS orders,</a:t>
            </a:r>
          </a:p>
          <a:p>
            <a:pPr>
              <a:spcAft>
                <a:spcPts val="200"/>
              </a:spcAft>
            </a:pPr>
            <a:r>
              <a:rPr sz="1400" b="0" i="0">
                <a:solidFill>
                  <a:srgbClr val="E4E1F1"/>
                </a:solidFill>
                <a:latin typeface="Consolas"/>
              </a:rPr>
              <a:t>       count(DISTINCT o.customer_id) AS members,</a:t>
            </a:r>
          </a:p>
          <a:p>
            <a:pPr>
              <a:spcAft>
                <a:spcPts val="200"/>
              </a:spcAft>
            </a:pPr>
            <a:r>
              <a:rPr sz="1400" b="0" i="0">
                <a:solidFill>
                  <a:srgbClr val="E4E1F1"/>
                </a:solidFill>
                <a:latin typeface="Consolas"/>
              </a:rPr>
              <a:t>       round(count(*)::numeric / count(DISTINCT o.customer_id), 3) AS per_member</a:t>
            </a:r>
          </a:p>
          <a:p>
            <a:pPr>
              <a:spcAft>
                <a:spcPts val="200"/>
              </a:spcAft>
            </a:pPr>
            <a:r>
              <a:rPr sz="1400" b="0" i="0">
                <a:solidFill>
                  <a:srgbClr val="E4E1F1"/>
                </a:solidFill>
                <a:latin typeface="Consolas"/>
              </a:rPr>
              <a:t>FROM orders o JOIN customers c ON c.customer_id = o.customer_id</a:t>
            </a:r>
          </a:p>
          <a:p>
            <a:pPr>
              <a:spcAft>
                <a:spcPts val="200"/>
              </a:spcAft>
            </a:pPr>
            <a:r>
              <a:rPr sz="1400" b="0" i="0">
                <a:solidFill>
                  <a:srgbClr val="E4E1F1"/>
                </a:solidFill>
                <a:latin typeface="Consolas"/>
              </a:rPr>
              <a:t>WHERE c.segment = 'Retail-Plus'</a:t>
            </a:r>
          </a:p>
          <a:p>
            <a:pPr>
              <a:spcAft>
                <a:spcPts val="200"/>
              </a:spcAft>
            </a:pPr>
            <a:r>
              <a:rPr sz="1400" b="0" i="0">
                <a:solidFill>
                  <a:srgbClr val="E4E1F1"/>
                </a:solidFill>
                <a:latin typeface="Consolas"/>
              </a:rPr>
              <a:t>GROUP BY o.quarter ORDER BY o.quarter;</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8" name="Oval 17"/>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20" name="Oval 19"/>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2" name="Oval 21"/>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13 / 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pandas: the analyst's bench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chain, and the same aggregation named as it would be in SQL.</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(df[df["segment"] == "Retail-Plus"]</a:t>
            </a:r>
          </a:p>
          <a:p>
            <a:pPr>
              <a:spcAft>
                <a:spcPts val="200"/>
              </a:spcAft>
            </a:pPr>
            <a:r>
              <a:rPr sz="1400" b="0" i="0">
                <a:solidFill>
                  <a:srgbClr val="E4E1F1"/>
                </a:solidFill>
                <a:latin typeface="Consolas"/>
              </a:rPr>
              <a:t>   .groupby("quarter")</a:t>
            </a:r>
          </a:p>
          <a:p>
            <a:pPr>
              <a:spcAft>
                <a:spcPts val="200"/>
              </a:spcAft>
            </a:pPr>
            <a:r>
              <a:rPr sz="1400" b="0" i="0">
                <a:solidFill>
                  <a:srgbClr val="E4E1F1"/>
                </a:solidFill>
                <a:latin typeface="Consolas"/>
              </a:rPr>
              <a:t>   .agg(orders=("order_id", "count"), members=("customer_id", "nunique")))</a:t>
            </a:r>
          </a:p>
        </p:txBody>
      </p:sp>
      <p:sp>
        <p:nvSpPr>
          <p:cNvPr id="14" name="Rounded Rectangle 13"/>
          <p:cNvSpPr/>
          <p:nvPr/>
        </p:nvSpPr>
        <p:spPr>
          <a:xfrm>
            <a:off x="530352" y="333603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538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3648456"/>
            <a:ext cx="237744" cy="237744"/>
          </a:xfrm>
          <a:prstGeom prst="rect">
            <a:avLst/>
          </a:prstGeom>
        </p:spPr>
      </p:pic>
      <p:sp>
        <p:nvSpPr>
          <p:cNvPr id="17" name="TextBox 16"/>
          <p:cNvSpPr txBox="1"/>
          <p:nvPr/>
        </p:nvSpPr>
        <p:spPr>
          <a:xfrm>
            <a:off x="1399031" y="34823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3701795"/>
            <a:ext cx="9987991" cy="423672"/>
          </a:xfrm>
          <a:prstGeom prst="rect">
            <a:avLst/>
          </a:prstGeom>
          <a:noFill/>
        </p:spPr>
        <p:txBody>
          <a:bodyPr wrap="square" anchor="t" lIns="0" rIns="0" tIns="0" bIns="0">
            <a:spAutoFit/>
          </a:bodyPr>
          <a:lstStyle/>
          <a:p>
            <a:r>
              <a:rPr sz="1500" b="0" i="0">
                <a:solidFill>
                  <a:srgbClr val="1A1440"/>
                </a:solidFill>
                <a:latin typeface="Calibri"/>
              </a:rPr>
              <a:t>count counts rows and nunique counts distinct values; members are distinct, orders are rows.</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1" name="Oval 20"/>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3" name="Oval 22"/>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25" name="Oval 24"/>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14 / 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tools, one number: 2.363 to 1.842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members ordered 22 percent less often in Q2, and every tool says so.</a:t>
            </a:r>
          </a:p>
        </p:txBody>
      </p:sp>
      <p:pic>
        <p:nvPicPr>
          <p:cNvPr id="9" name="mermaid diagram" descr="dff2c7bc4b751f4b.png"/>
          <p:cNvPicPr>
            <a:picLocks noChangeAspect="1"/>
          </p:cNvPicPr>
          <p:nvPr/>
        </p:nvPicPr>
        <p:blipFill>
          <a:blip r:embed="rId5"/>
          <a:stretch>
            <a:fillRect/>
          </a:stretch>
        </p:blipFill>
        <p:spPr>
          <a:xfrm>
            <a:off x="2010511" y="1664208"/>
            <a:ext cx="8170672" cy="4085336"/>
          </a:xfrm>
          <a:prstGeom prst="rect">
            <a:avLst/>
          </a:prstGeom>
        </p:spPr>
      </p:pic>
      <p:sp>
        <p:nvSpPr>
          <p:cNvPr id="10" name="TextBox 9"/>
          <p:cNvSpPr txBox="1"/>
          <p:nvPr/>
        </p:nvSpPr>
        <p:spPr>
          <a:xfrm>
            <a:off x="530352" y="5795264"/>
            <a:ext cx="11130991" cy="404367"/>
          </a:xfrm>
          <a:prstGeom prst="rect">
            <a:avLst/>
          </a:prstGeom>
          <a:noFill/>
        </p:spPr>
        <p:txBody>
          <a:bodyPr wrap="square" anchor="t" lIns="0" rIns="0" tIns="0" bIns="0">
            <a:spAutoFit/>
          </a:bodyPr>
          <a:lstStyle/>
          <a:p>
            <a:r>
              <a:rPr sz="1600" b="0" i="0">
                <a:solidFill>
                  <a:srgbClr val="1A1440"/>
                </a:solidFill>
                <a:latin typeface="Calibri"/>
              </a:rPr>
              <a:t>Q1 is 215 orders over 91 members; Q2 is 140 orders over 76 members.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15 / 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tool would you refuse?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Finance's Monday revenue number, the one Anand's analyst audits.</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ook-open_a730d506939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Plain Python</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script with a loop on a laptop.</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database_0f9c2895db54.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 SQL view</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Defined in the warehouse, rerun by anyone.</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able_e38a0cea5ee5.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 pandas notebook</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analyst's bench, run by hand.</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eet_bee6d428fafb.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 spreadsheet</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Exported every Monday and edited.</a:t>
            </a:r>
          </a:p>
        </p:txBody>
      </p:sp>
      <p:sp>
        <p:nvSpPr>
          <p:cNvPr id="33" name="Rounded Rectangle 32"/>
          <p:cNvSpPr/>
          <p:nvPr/>
        </p:nvSpPr>
        <p:spPr>
          <a:xfrm>
            <a:off x="530352" y="41041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676656" y="42321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77824" y="422300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Where should Finance's Monday number be computed, and which of the others would you refuse outright? a) plain Python, refusing SQL; b) a SQL view, refusing the spreadsheet; c) pandas, refusing SQL; d) the spreadsheet, refusing plain Python.</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8" name="Oval 3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40" name="Oval 39"/>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42" name="Oval 41"/>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4" name="Oval 43"/>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16 / 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SQL view, and never a hand-edited copy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number Finance audits lives where Finance can rerun it.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2103990"/>
                <a:gridCol w="2690087"/>
                <a:gridCol w="6336913"/>
              </a:tblGrid>
              <a:tr h="369824">
                <a:tc>
                  <a:txBody>
                    <a:bodyPr/>
                    <a:lstStyle/>
                    <a:p>
                      <a:r>
                        <a:rPr sz="1450" b="1" i="0">
                          <a:solidFill>
                            <a:srgbClr val="FFFFFF"/>
                          </a:solidFill>
                          <a:latin typeface="Calibri"/>
                        </a:rPr>
                        <a:t>Tool</a:t>
                      </a:r>
                    </a:p>
                  </a:txBody>
                  <a:tcPr marL="101600" marR="101600" marT="38100" marB="38100" anchor="ctr">
                    <a:solidFill>
                      <a:srgbClr val="1A0F5C"/>
                    </a:solidFill>
                  </a:tcPr>
                </a:tc>
                <a:tc>
                  <a:txBody>
                    <a:bodyPr/>
                    <a:lstStyle/>
                    <a:p>
                      <a:r>
                        <a:rPr sz="1450" b="1" i="0">
                          <a:solidFill>
                            <a:srgbClr val="FFFFFF"/>
                          </a:solidFill>
                          <a:latin typeface="Calibri"/>
                        </a:rPr>
                        <a:t>For Finance's number</a:t>
                      </a:r>
                    </a:p>
                  </a:txBody>
                  <a:tcPr marL="101600" marR="101600" marT="38100" marB="38100" anchor="ctr">
                    <a:solidFill>
                      <a:srgbClr val="1A0F5C"/>
                    </a:solidFill>
                  </a:tcPr>
                </a:tc>
                <a:tc>
                  <a:txBody>
                    <a:bodyPr/>
                    <a:lstStyle/>
                    <a:p>
                      <a:r>
                        <a:rPr sz="1450" b="1" i="0">
                          <a:solidFill>
                            <a:srgbClr val="FFFFFF"/>
                          </a:solidFill>
                          <a:latin typeface="Calibri"/>
                        </a:rPr>
                        <a:t>Why</a:t>
                      </a:r>
                    </a:p>
                  </a:txBody>
                  <a:tcPr marL="101600" marR="101600" marT="38100" marB="38100" anchor="ctr">
                    <a:solidFill>
                      <a:srgbClr val="1A0F5C"/>
                    </a:solidFill>
                  </a:tcPr>
                </a:tc>
              </a:tr>
              <a:tr h="369824">
                <a:tc>
                  <a:txBody>
                    <a:bodyPr/>
                    <a:lstStyle/>
                    <a:p>
                      <a:r>
                        <a:rPr sz="1400" b="0" i="0">
                          <a:solidFill>
                            <a:srgbClr val="1A1440"/>
                          </a:solidFill>
                          <a:latin typeface="Calibri"/>
                        </a:rPr>
                        <a:t>SQL view</a:t>
                      </a:r>
                    </a:p>
                  </a:txBody>
                  <a:tcPr marL="101600" marR="101600" marT="38100" marB="38100" anchor="ctr">
                    <a:solidFill>
                      <a:srgbClr val="FFFFFF"/>
                    </a:solidFill>
                  </a:tcPr>
                </a:tc>
                <a:tc>
                  <a:txBody>
                    <a:bodyPr/>
                    <a:lstStyle/>
                    <a:p>
                      <a:r>
                        <a:rPr sz="1400" b="0" i="0">
                          <a:solidFill>
                            <a:srgbClr val="1A1440"/>
                          </a:solidFill>
                          <a:latin typeface="Calibri"/>
                        </a:rPr>
                        <a:t>yes</a:t>
                      </a:r>
                    </a:p>
                  </a:txBody>
                  <a:tcPr marL="101600" marR="101600" marT="38100" marB="38100" anchor="ctr">
                    <a:solidFill>
                      <a:srgbClr val="FFFFFF"/>
                    </a:solidFill>
                  </a:tcPr>
                </a:tc>
                <a:tc>
                  <a:txBody>
                    <a:bodyPr/>
                    <a:lstStyle/>
                    <a:p>
                      <a:r>
                        <a:rPr sz="1400" b="0" i="0">
                          <a:solidFill>
                            <a:srgbClr val="1A1440"/>
                          </a:solidFill>
                          <a:latin typeface="Calibri"/>
                        </a:rPr>
                        <a:t>runs where the data lives, anyone can rerun and audit it</a:t>
                      </a:r>
                    </a:p>
                  </a:txBody>
                  <a:tcPr marL="101600" marR="101600" marT="38100" marB="38100" anchor="ctr">
                    <a:solidFill>
                      <a:srgbClr val="FFFFFF"/>
                    </a:solidFill>
                  </a:tcPr>
                </a:tc>
              </a:tr>
              <a:tr h="369824">
                <a:tc>
                  <a:txBody>
                    <a:bodyPr/>
                    <a:lstStyle/>
                    <a:p>
                      <a:r>
                        <a:rPr sz="1400" b="0" i="0">
                          <a:solidFill>
                            <a:srgbClr val="1A1440"/>
                          </a:solidFill>
                          <a:latin typeface="Calibri"/>
                        </a:rPr>
                        <a:t>pandas notebook</a:t>
                      </a:r>
                    </a:p>
                  </a:txBody>
                  <a:tcPr marL="101600" marR="101600" marT="38100" marB="38100" anchor="ctr">
                    <a:solidFill>
                      <a:srgbClr val="F4F2FA"/>
                    </a:solidFill>
                  </a:tcPr>
                </a:tc>
                <a:tc>
                  <a:txBody>
                    <a:bodyPr/>
                    <a:lstStyle/>
                    <a:p>
                      <a:r>
                        <a:rPr sz="1400" b="0" i="0">
                          <a:solidFill>
                            <a:srgbClr val="1A1440"/>
                          </a:solidFill>
                          <a:latin typeface="Calibri"/>
                        </a:rPr>
                        <a:t>no, it iterates</a:t>
                      </a:r>
                    </a:p>
                  </a:txBody>
                  <a:tcPr marL="101600" marR="101600" marT="38100" marB="38100" anchor="ctr">
                    <a:solidFill>
                      <a:srgbClr val="F4F2FA"/>
                    </a:solidFill>
                  </a:tcPr>
                </a:tc>
                <a:tc>
                  <a:txBody>
                    <a:bodyPr/>
                    <a:lstStyle/>
                    <a:p>
                      <a:r>
                        <a:rPr sz="1400" b="0" i="0">
                          <a:solidFill>
                            <a:srgbClr val="1A1440"/>
                          </a:solidFill>
                          <a:latin typeface="Calibri"/>
                        </a:rPr>
                        <a:t>a copy on one laptop, rerun by hand</a:t>
                      </a:r>
                    </a:p>
                  </a:txBody>
                  <a:tcPr marL="101600" marR="101600" marT="38100" marB="38100" anchor="ctr">
                    <a:solidFill>
                      <a:srgbClr val="F4F2FA"/>
                    </a:solidFill>
                  </a:tcPr>
                </a:tc>
              </a:tr>
              <a:tr h="369824">
                <a:tc>
                  <a:txBody>
                    <a:bodyPr/>
                    <a:lstStyle/>
                    <a:p>
                      <a:r>
                        <a:rPr sz="1400" b="0" i="0">
                          <a:solidFill>
                            <a:srgbClr val="1A1440"/>
                          </a:solidFill>
                          <a:latin typeface="Calibri"/>
                        </a:rPr>
                        <a:t>plain Python</a:t>
                      </a:r>
                    </a:p>
                  </a:txBody>
                  <a:tcPr marL="101600" marR="101600" marT="38100" marB="38100" anchor="ctr">
                    <a:solidFill>
                      <a:srgbClr val="FFFFFF"/>
                    </a:solidFill>
                  </a:tcPr>
                </a:tc>
                <a:tc>
                  <a:txBody>
                    <a:bodyPr/>
                    <a:lstStyle/>
                    <a:p>
                      <a:r>
                        <a:rPr sz="1400" b="0" i="0">
                          <a:solidFill>
                            <a:srgbClr val="1A1440"/>
                          </a:solidFill>
                          <a:latin typeface="Calibri"/>
                        </a:rPr>
                        <a:t>no, it explains</a:t>
                      </a:r>
                    </a:p>
                  </a:txBody>
                  <a:tcPr marL="101600" marR="101600" marT="38100" marB="38100" anchor="ctr">
                    <a:solidFill>
                      <a:srgbClr val="FFFFFF"/>
                    </a:solidFill>
                  </a:tcPr>
                </a:tc>
                <a:tc>
                  <a:txBody>
                    <a:bodyPr/>
                    <a:lstStyle/>
                    <a:p>
                      <a:r>
                        <a:rPr sz="1400" b="0" i="0">
                          <a:solidFill>
                            <a:srgbClr val="1A1440"/>
                          </a:solidFill>
                          <a:latin typeface="Calibri"/>
                        </a:rPr>
                        <a:t>a copy, and slow to change</a:t>
                      </a:r>
                    </a:p>
                  </a:txBody>
                  <a:tcPr marL="101600" marR="101600" marT="38100" marB="38100" anchor="ctr">
                    <a:solidFill>
                      <a:srgbClr val="FFFFFF"/>
                    </a:solidFill>
                  </a:tcPr>
                </a:tc>
              </a:tr>
              <a:tr h="369824">
                <a:tc>
                  <a:txBody>
                    <a:bodyPr/>
                    <a:lstStyle/>
                    <a:p>
                      <a:r>
                        <a:rPr sz="1400" b="0" i="0">
                          <a:solidFill>
                            <a:srgbClr val="1A1440"/>
                          </a:solidFill>
                          <a:latin typeface="Calibri"/>
                        </a:rPr>
                        <a:t>hand-edited sheet</a:t>
                      </a:r>
                    </a:p>
                  </a:txBody>
                  <a:tcPr marL="101600" marR="101600" marT="38100" marB="38100" anchor="ctr">
                    <a:solidFill>
                      <a:srgbClr val="F4F2FA"/>
                    </a:solidFill>
                  </a:tcPr>
                </a:tc>
                <a:tc>
                  <a:txBody>
                    <a:bodyPr/>
                    <a:lstStyle/>
                    <a:p>
                      <a:r>
                        <a:rPr sz="1400" b="0" i="0">
                          <a:solidFill>
                            <a:srgbClr val="1A1440"/>
                          </a:solidFill>
                          <a:latin typeface="Calibri"/>
                        </a:rPr>
                        <a:t>refuse</a:t>
                      </a:r>
                    </a:p>
                  </a:txBody>
                  <a:tcPr marL="101600" marR="101600" marT="38100" marB="38100" anchor="ctr">
                    <a:solidFill>
                      <a:srgbClr val="F4F2FA"/>
                    </a:solidFill>
                  </a:tcPr>
                </a:tc>
                <a:tc>
                  <a:txBody>
                    <a:bodyPr/>
                    <a:lstStyle/>
                    <a:p>
                      <a:r>
                        <a:rPr sz="1400" b="0" i="0">
                          <a:solidFill>
                            <a:srgbClr val="1A1440"/>
                          </a:solidFill>
                          <a:latin typeface="Calibri"/>
                        </a:rPr>
                        <a:t>a typed-over cell has no audit trail</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Friday takes the refusal further: the sheet presents the number; it never computes the source of truth.</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17 / 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tool-choice note, one sentence per tool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written answer to Kavya, in the format the second case brief asks for.</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ook-open_a730d506939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PLAIN PYTHON</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To explain</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one-off a reader must follow line by line, or a teaching example.</a:t>
            </a:r>
          </a:p>
        </p:txBody>
      </p:sp>
      <p:sp>
        <p:nvSpPr>
          <p:cNvPr id="15" name="Rounded Rectangle 14"/>
          <p:cNvSpPr/>
          <p:nvPr/>
        </p:nvSpPr>
        <p:spPr>
          <a:xfrm>
            <a:off x="430164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database_27b7b11228a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SQL</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To own</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Anything the warehouse should own and Finance should audit, refreshed on a schedule.</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flask-conical_7f5aa1048f7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PANDAS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To iterate</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analyst's work in between: reshaping, merging a file, trying five cuts in an hour.</a:t>
            </a:r>
          </a:p>
        </p:txBody>
      </p:sp>
      <p:sp>
        <p:nvSpPr>
          <p:cNvPr id="27" name="Rounded Rectangle 26"/>
          <p:cNvSpPr/>
          <p:nvPr/>
        </p:nvSpPr>
        <p:spPr>
          <a:xfrm>
            <a:off x="530352" y="41041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earch-check_6571e64a041f.png"/>
          <p:cNvPicPr>
            <a:picLocks noChangeAspect="1"/>
          </p:cNvPicPr>
          <p:nvPr/>
        </p:nvPicPr>
        <p:blipFill>
          <a:blip r:embed="rId7"/>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1A1440"/>
                </a:solidFill>
                <a:latin typeface="Calibri"/>
              </a:rPr>
              <a:t>"A choice with a reason per tool, and one refusal you can defend. That is the note."</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4" name="Oval 3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6" name="Oval 35"/>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38" name="Oval 3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0" name="Oval 39"/>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18 / 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interview drill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Twelve questions answered aloud, the row's five and the follow-ups a screen adds.</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interview drill</a:t>
            </a:r>
          </a:p>
        </p:txBody>
      </p:sp>
      <p:sp>
        <p:nvSpPr>
          <p:cNvPr id="14" name="Rounded Rectangle 13"/>
          <p:cNvSpPr/>
          <p:nvPr/>
        </p:nvSpPr>
        <p:spPr>
          <a:xfrm>
            <a:off x="6364078" y="5074920"/>
            <a:ext cx="6618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the customer table Marketing refreshes every Monday</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row's five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questions this day equips you to answer, tagged as the programme tags them.</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groupby in the split-apply-combine sentence</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merge against join: what is the same and what differs?</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Which merge argument raises on duplicate keys, and which error?</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pivot against melt: which widens and which lengthens?</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Same question, three tools: how do you choose, and defend one choice?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6" name="Oval 15"/>
          <p:cNvSpPr/>
          <p:nvPr/>
        </p:nvSpPr>
        <p:spPr>
          <a:xfrm>
            <a:off x="39810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18" name="Oval 1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20 / 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follow-ups a screen adds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Case-style questions built on today's traps.</a:t>
            </a:r>
          </a:p>
        </p:txBody>
      </p:sp>
      <p:graphicFrame>
        <p:nvGraphicFramePr>
          <p:cNvPr id="9" name="Table 8"/>
          <p:cNvGraphicFramePr>
            <a:graphicFrameLocks noGrp="1"/>
          </p:cNvGraphicFramePr>
          <p:nvPr/>
        </p:nvGraphicFramePr>
        <p:xfrm>
          <a:off x="530352" y="1956816"/>
          <a:ext cx="11130991" cy="295859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customer table has fewer rows than the customer list. Why, and what do you do?</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Your Monday refresh raised MergeError. What do you do next?</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In a weekly job, recency is measured from what date?</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Your pivot's totals look low. Where do you look first?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A campaign's reached customers converted at 100 percent. What do you check?</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agg against transform: what comes back from each?</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Which tool would you refuse for Finance's numbers, and why?</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6" name="Oval 15"/>
          <p:cNvSpPr/>
          <p:nvPr/>
        </p:nvSpPr>
        <p:spPr>
          <a:xfrm>
            <a:off x="39810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18" name="Oval 1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21 / 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differentiator answer, built in three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Same question, three tools: the structure that makes it land.</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MOVE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The answer agrees</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Three tools gave 2.363 and 1.842, so the choice is not about correctness.</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MOVE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Who must trust it</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Finance audits, Marketing iterates, a reviewer follows line by line.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MOVE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One choice defended</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SQL for Finance's number, because it runs where the data lives and anyone can rerun it.</a:t>
            </a:r>
          </a:p>
        </p:txBody>
      </p:sp>
      <p:sp>
        <p:nvSpPr>
          <p:cNvPr id="25" name="Rounded Rectangle 24"/>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mic_caee7398c80d.png"/>
          <p:cNvPicPr>
            <a:picLocks noChangeAspect="1"/>
          </p:cNvPicPr>
          <p:nvPr/>
        </p:nvPicPr>
        <p:blipFill>
          <a:blip r:embed="rId4"/>
          <a:stretch>
            <a:fillRect/>
          </a:stretch>
        </p:blipFill>
        <p:spPr>
          <a:xfrm>
            <a:off x="868680" y="4416044"/>
            <a:ext cx="237744" cy="237744"/>
          </a:xfrm>
          <a:prstGeom prst="rect">
            <a:avLst/>
          </a:prstGeom>
        </p:spPr>
      </p:pic>
      <p:sp>
        <p:nvSpPr>
          <p:cNvPr id="28" name="TextBox 27"/>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9" name="TextBox 28"/>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[D] Same question, three tools: how do you choose, and defend one choice?</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2" name="Oval 3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4" name="Oval 3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6" name="Oval 35"/>
          <p:cNvSpPr/>
          <p:nvPr/>
        </p:nvSpPr>
        <p:spPr>
          <a:xfrm>
            <a:off x="39810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090797"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38" name="Oval 3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440394"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22 / 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sentence to the growth team, the lines worth keeping, and Friday's question left open.</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66183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the customer table Marketing refreshes every Monday</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23 / 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to the growth team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in the message when the table ships on Monday.</a:t>
            </a:r>
          </a:p>
        </p:txBody>
      </p:sp>
      <p:sp>
        <p:nvSpPr>
          <p:cNvPr id="9" name="Rounded Rectangle 8"/>
          <p:cNvSpPr/>
          <p:nvPr/>
        </p:nvSpPr>
        <p:spPr>
          <a:xfrm>
            <a:off x="530352" y="1956816"/>
            <a:ext cx="45720" cy="132079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320799"/>
          </a:xfrm>
          <a:prstGeom prst="rect">
            <a:avLst/>
          </a:prstGeom>
          <a:noFill/>
        </p:spPr>
        <p:txBody>
          <a:bodyPr wrap="square" anchor="t" lIns="0" rIns="0" tIns="0" bIns="0">
            <a:spAutoFit/>
          </a:bodyPr>
          <a:lstStyle/>
          <a:p>
            <a:r>
              <a:rPr sz="1600" b="0" i="1">
                <a:solidFill>
                  <a:srgbClr val="1A0F5C"/>
                </a:solidFill>
                <a:latin typeface="Georgia"/>
              </a:rPr>
              <a:t>"The customer table has 340 rows, one per customer, as of 28 September, the data's last date. Spend adds to Monday's book of Rs 19,84,00,000. The monsoon sale reached 130 customers, first exposure counted once, and 107 of them bought. 111 customers are on the 60-day win-back list. The refresh stops if the feed repeats a customer."</a:t>
            </a:r>
          </a:p>
        </p:txBody>
      </p:sp>
      <p:pic>
        <p:nvPicPr>
          <p:cNvPr id="11" name="mermaid diagram" descr="d43d22ac813d90f5.png"/>
          <p:cNvPicPr>
            <a:picLocks noChangeAspect="1"/>
          </p:cNvPicPr>
          <p:nvPr/>
        </p:nvPicPr>
        <p:blipFill>
          <a:blip r:embed="rId5"/>
          <a:stretch>
            <a:fillRect/>
          </a:stretch>
        </p:blipFill>
        <p:spPr>
          <a:xfrm>
            <a:off x="2316803" y="3423920"/>
            <a:ext cx="7558087" cy="871537"/>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6" name="Oval 15"/>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8" name="Oval 1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440394" y="6437376"/>
            <a:ext cx="504348" cy="152146"/>
          </a:xfrm>
          <a:prstGeom prst="rect">
            <a:avLst/>
          </a:prstGeom>
          <a:noFill/>
        </p:spPr>
        <p:txBody>
          <a:bodyPr wrap="square" anchor="t" lIns="0" rIns="0" tIns="0" bIns="0">
            <a:spAutoFit/>
          </a:bodyPr>
          <a:lstStyle/>
          <a:p>
            <a:pPr algn="l"/>
            <a:r>
              <a:rPr sz="700" b="1" i="0">
                <a:solidFill>
                  <a:srgbClr val="5B3FD6"/>
                </a:solidFill>
                <a:latin typeface="Calibri"/>
              </a:rPr>
              <a:t>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24 / 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lines worth keeping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lines close the cheat sheet and the study notes.</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11130991"/>
              </a:tblGrid>
              <a:tr h="369824">
                <a:tc>
                  <a:txBody>
                    <a:bodyPr/>
                    <a:lstStyle/>
                    <a:p>
                      <a:r>
                        <a:rPr sz="1450" b="1" i="0">
                          <a:solidFill>
                            <a:srgbClr val="FFFFFF"/>
                          </a:solidFill>
                          <a:latin typeface="Calibri"/>
                        </a:rPr>
                        <a:t>The line</a:t>
                      </a:r>
                    </a:p>
                  </a:txBody>
                  <a:tcPr marL="101600" marR="101600" marT="38100" marB="38100" anchor="ctr">
                    <a:solidFill>
                      <a:srgbClr val="1A0F5C"/>
                    </a:solidFill>
                  </a:tcPr>
                </a:tc>
              </a:tr>
              <a:tr h="369824">
                <a:tc>
                  <a:txBody>
                    <a:bodyPr/>
                    <a:lstStyle/>
                    <a:p>
                      <a:r>
                        <a:rPr sz="1400" b="0" i="0">
                          <a:solidFill>
                            <a:srgbClr val="1A1440"/>
                          </a:solidFill>
                          <a:latin typeface="Calibri"/>
                        </a:rPr>
                        <a:t>groupby is the accumulator automated: split, apply, combine.</a:t>
                      </a:r>
                    </a:p>
                  </a:txBody>
                  <a:tcPr marL="101600" marR="101600" marT="38100" marB="38100" anchor="ctr">
                    <a:solidFill>
                      <a:srgbClr val="FFFFFF"/>
                    </a:solidFill>
                  </a:tcPr>
                </a:tc>
              </a:tr>
              <a:tr h="369824">
                <a:tc>
                  <a:txBody>
                    <a:bodyPr/>
                    <a:lstStyle/>
                    <a:p>
                      <a:r>
                        <a:rPr sz="1400" b="0" i="0">
                          <a:solidFill>
                            <a:srgbClr val="1A1440"/>
                          </a:solidFill>
                          <a:latin typeface="Calibri"/>
                        </a:rPr>
                        <a:t>Start from the customer list; groupby only knows the keys it sees.</a:t>
                      </a:r>
                    </a:p>
                  </a:txBody>
                  <a:tcPr marL="101600" marR="101600" marT="38100" marB="38100" anchor="ctr">
                    <a:solidFill>
                      <a:srgbClr val="F4F2FA"/>
                    </a:solidFill>
                  </a:tcPr>
                </a:tc>
              </a:tr>
              <a:tr h="369824">
                <a:tc>
                  <a:txBody>
                    <a:bodyPr/>
                    <a:lstStyle/>
                    <a:p>
                      <a:r>
                        <a:rPr sz="1400" b="0" i="0">
                          <a:solidFill>
                            <a:srgbClr val="1A1440"/>
                          </a:solidFill>
                          <a:latin typeface="Calibri"/>
                        </a:rPr>
                        <a:t>Measure recency from the data's last date, never from today.</a:t>
                      </a:r>
                    </a:p>
                  </a:txBody>
                  <a:tcPr marL="101600" marR="101600" marT="38100" marB="38100" anchor="ctr">
                    <a:solidFill>
                      <a:srgbClr val="FFFFFF"/>
                    </a:solidFill>
                  </a:tcPr>
                </a:tc>
              </a:tr>
              <a:tr h="369824">
                <a:tc>
                  <a:txBody>
                    <a:bodyPr/>
                    <a:lstStyle/>
                    <a:p>
                      <a:r>
                        <a:rPr sz="1400" b="0" i="0">
                          <a:solidFill>
                            <a:srgbClr val="1A1440"/>
                          </a:solidFill>
                          <a:latin typeface="Calibri"/>
                        </a:rPr>
                        <a:t>A merge is a join, and validate= turns the fan-out into a MergeError.</a:t>
                      </a:r>
                    </a:p>
                  </a:txBody>
                  <a:tcPr marL="101600" marR="101600" marT="38100" marB="38100" anchor="ctr">
                    <a:solidFill>
                      <a:srgbClr val="F4F2FA"/>
                    </a:solidFill>
                  </a:tcPr>
                </a:tc>
              </a:tr>
              <a:tr h="369824">
                <a:tc>
                  <a:txBody>
                    <a:bodyPr/>
                    <a:lstStyle/>
                    <a:p>
                      <a:r>
                        <a:rPr sz="1400" b="0" i="0">
                          <a:solidFill>
                            <a:srgbClr val="1A1440"/>
                          </a:solidFill>
                          <a:latin typeface="Calibri"/>
                        </a:rPr>
                        <a:t>pivot_table averages unless you write aggfunc.</a:t>
                      </a:r>
                    </a:p>
                  </a:txBody>
                  <a:tcPr marL="101600" marR="101600" marT="38100" marB="38100" anchor="ctr">
                    <a:solidFill>
                      <a:srgbClr val="FFFFFF"/>
                    </a:solidFill>
                  </a:tcPr>
                </a:tc>
              </a:tr>
              <a:tr h="369824">
                <a:tc>
                  <a:txBody>
                    <a:bodyPr/>
                    <a:lstStyle/>
                    <a:p>
                      <a:r>
                        <a:rPr sz="1400" b="0" i="0">
                          <a:solidFill>
                            <a:srgbClr val="1A1440"/>
                          </a:solidFill>
                          <a:latin typeface="Calibri"/>
                        </a:rPr>
                        <a:t>SQL for what Finance audits, pandas for the analyst's bench, plain Python to explain.</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6" name="Oval 1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8" name="Oval 17"/>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504348" cy="152146"/>
          </a:xfrm>
          <a:prstGeom prst="rect">
            <a:avLst/>
          </a:prstGeom>
          <a:noFill/>
        </p:spPr>
        <p:txBody>
          <a:bodyPr wrap="square" anchor="t" lIns="0" rIns="0" tIns="0" bIns="0">
            <a:spAutoFit/>
          </a:bodyPr>
          <a:lstStyle/>
          <a:p>
            <a:pPr algn="l"/>
            <a:r>
              <a:rPr sz="700" b="1" i="0">
                <a:solidFill>
                  <a:srgbClr val="5B3FD6"/>
                </a:solidFill>
                <a:latin typeface="Calibri"/>
              </a:rPr>
              <a:t>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25 / 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the number reaches the leadership deck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Meera's office runs on Excel, and a director will change an assumption in the room.</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"Monday's growth review deck needs three things I can open on my laptop without a login: the revenue tree by segment for both quarters, the top-fifty protect list with a lookup, and one number on the front page with its trend. Nothing that needs Python." Meera Raghavan's chief of staff</a:t>
            </a:r>
          </a:p>
        </p:txBody>
      </p:sp>
      <p:sp>
        <p:nvSpPr>
          <p:cNvPr id="14" name="Rounded Rectangle 13"/>
          <p:cNvSpPr/>
          <p:nvPr/>
        </p:nvSpPr>
        <p:spPr>
          <a:xfrm>
            <a:off x="530352" y="3502152"/>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70332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file-spreadsheet_6c0cde877740.png"/>
          <p:cNvPicPr>
            <a:picLocks noChangeAspect="1"/>
          </p:cNvPicPr>
          <p:nvPr/>
        </p:nvPicPr>
        <p:blipFill>
          <a:blip r:embed="rId5"/>
          <a:stretch>
            <a:fillRect/>
          </a:stretch>
        </p:blipFill>
        <p:spPr>
          <a:xfrm>
            <a:off x="841247" y="3813048"/>
            <a:ext cx="237744" cy="237744"/>
          </a:xfrm>
          <a:prstGeom prst="rect">
            <a:avLst/>
          </a:prstGeom>
        </p:spPr>
      </p:pic>
      <p:sp>
        <p:nvSpPr>
          <p:cNvPr id="17" name="TextBox 16"/>
          <p:cNvSpPr txBox="1"/>
          <p:nvPr/>
        </p:nvSpPr>
        <p:spPr>
          <a:xfrm>
            <a:off x="731519" y="427024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BRING</a:t>
            </a:r>
          </a:p>
        </p:txBody>
      </p:sp>
      <p:sp>
        <p:nvSpPr>
          <p:cNvPr id="18" name="TextBox 17"/>
          <p:cNvSpPr txBox="1"/>
          <p:nvPr/>
        </p:nvSpPr>
        <p:spPr>
          <a:xfrm>
            <a:off x="731519" y="4507992"/>
            <a:ext cx="5071719" cy="267716"/>
          </a:xfrm>
          <a:prstGeom prst="rect">
            <a:avLst/>
          </a:prstGeom>
          <a:noFill/>
        </p:spPr>
        <p:txBody>
          <a:bodyPr wrap="square" anchor="t" lIns="0" rIns="0" tIns="0" bIns="0">
            <a:spAutoFit/>
          </a:bodyPr>
          <a:lstStyle/>
          <a:p>
            <a:pPr algn="l"/>
            <a:r>
              <a:rPr sz="1400" b="1" i="0">
                <a:solidFill>
                  <a:srgbClr val="1A0F5C"/>
                </a:solidFill>
                <a:latin typeface="Calibri"/>
              </a:rPr>
              <a:t>Today's CSV</a:t>
            </a:r>
          </a:p>
        </p:txBody>
      </p:sp>
      <p:sp>
        <p:nvSpPr>
          <p:cNvPr id="19" name="TextBox 18"/>
          <p:cNvSpPr txBox="1"/>
          <p:nvPr/>
        </p:nvSpPr>
        <p:spPr>
          <a:xfrm>
            <a:off x="731519" y="4848860"/>
            <a:ext cx="5071719" cy="218186"/>
          </a:xfrm>
          <a:prstGeom prst="rect">
            <a:avLst/>
          </a:prstGeom>
          <a:noFill/>
        </p:spPr>
        <p:txBody>
          <a:bodyPr wrap="square" anchor="t" lIns="0" rIns="0" tIns="0" bIns="0">
            <a:spAutoFit/>
          </a:bodyPr>
          <a:lstStyle/>
          <a:p>
            <a:pPr algn="l"/>
            <a:r>
              <a:rPr sz="1100" b="0" i="0">
                <a:solidFill>
                  <a:srgbClr val="6B6690"/>
                </a:solidFill>
                <a:latin typeface="Calibri"/>
              </a:rPr>
              <a:t>The customer table from the escalated case's output folder.</a:t>
            </a:r>
          </a:p>
        </p:txBody>
      </p:sp>
      <p:sp>
        <p:nvSpPr>
          <p:cNvPr id="20" name="Rounded Rectangle 19"/>
          <p:cNvSpPr/>
          <p:nvPr/>
        </p:nvSpPr>
        <p:spPr>
          <a:xfrm>
            <a:off x="6187287" y="3502152"/>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6388455" y="370332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circle-help_8ffc1bc6d67b.png"/>
          <p:cNvPicPr>
            <a:picLocks noChangeAspect="1"/>
          </p:cNvPicPr>
          <p:nvPr/>
        </p:nvPicPr>
        <p:blipFill>
          <a:blip r:embed="rId6"/>
          <a:stretch>
            <a:fillRect/>
          </a:stretch>
        </p:blipFill>
        <p:spPr>
          <a:xfrm>
            <a:off x="6498183" y="3813048"/>
            <a:ext cx="237744" cy="237744"/>
          </a:xfrm>
          <a:prstGeom prst="rect">
            <a:avLst/>
          </a:prstGeom>
        </p:spPr>
      </p:pic>
      <p:sp>
        <p:nvSpPr>
          <p:cNvPr id="23" name="TextBox 22"/>
          <p:cNvSpPr txBox="1"/>
          <p:nvPr/>
        </p:nvSpPr>
        <p:spPr>
          <a:xfrm>
            <a:off x="6388455" y="427024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THINK ABOUT</a:t>
            </a:r>
          </a:p>
        </p:txBody>
      </p:sp>
      <p:sp>
        <p:nvSpPr>
          <p:cNvPr id="24" name="TextBox 23"/>
          <p:cNvSpPr txBox="1"/>
          <p:nvPr/>
        </p:nvSpPr>
        <p:spPr>
          <a:xfrm>
            <a:off x="6388455" y="4507992"/>
            <a:ext cx="5071719" cy="267716"/>
          </a:xfrm>
          <a:prstGeom prst="rect">
            <a:avLst/>
          </a:prstGeom>
          <a:noFill/>
        </p:spPr>
        <p:txBody>
          <a:bodyPr wrap="square" anchor="t" lIns="0" rIns="0" tIns="0" bIns="0">
            <a:spAutoFit/>
          </a:bodyPr>
          <a:lstStyle/>
          <a:p>
            <a:pPr algn="l"/>
            <a:r>
              <a:rPr sz="1400" b="1" i="0">
                <a:solidFill>
                  <a:srgbClr val="1A0F5C"/>
                </a:solidFill>
                <a:latin typeface="Calibri"/>
              </a:rPr>
              <a:t>Where Excel ends</a:t>
            </a:r>
          </a:p>
        </p:txBody>
      </p:sp>
      <p:sp>
        <p:nvSpPr>
          <p:cNvPr id="25" name="TextBox 24"/>
          <p:cNvSpPr txBox="1"/>
          <p:nvPr/>
        </p:nvSpPr>
        <p:spPr>
          <a:xfrm>
            <a:off x="6388455" y="4848860"/>
            <a:ext cx="5071719" cy="218186"/>
          </a:xfrm>
          <a:prstGeom prst="rect">
            <a:avLst/>
          </a:prstGeom>
          <a:noFill/>
        </p:spPr>
        <p:txBody>
          <a:bodyPr wrap="square" anchor="t" lIns="0" rIns="0" tIns="0" bIns="0">
            <a:spAutoFit/>
          </a:bodyPr>
          <a:lstStyle/>
          <a:p>
            <a:pPr algn="l"/>
            <a:r>
              <a:rPr sz="1100" b="0" i="0">
                <a:solidFill>
                  <a:srgbClr val="6B6690"/>
                </a:solidFill>
                <a:latin typeface="Calibri"/>
              </a:rPr>
              <a:t>Which of this week's steps must never happen in a sheet?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8" name="Oval 2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0" name="Oval 29"/>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2" name="Oval 31"/>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4" name="Oval 33"/>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440394" y="6437376"/>
            <a:ext cx="504348" cy="152146"/>
          </a:xfrm>
          <a:prstGeom prst="rect">
            <a:avLst/>
          </a:prstGeom>
          <a:noFill/>
        </p:spPr>
        <p:txBody>
          <a:bodyPr wrap="square" anchor="t" lIns="0" rIns="0" tIns="0" bIns="0">
            <a:spAutoFit/>
          </a:bodyPr>
          <a:lstStyle/>
          <a:p>
            <a:pPr algn="l"/>
            <a:r>
              <a:rPr sz="700" b="1" i="0">
                <a:solidFill>
                  <a:srgbClr val="5B3FD6"/>
                </a:solidFill>
                <a:latin typeface="Calibri"/>
              </a:rPr>
              <a:t>Close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26 / 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