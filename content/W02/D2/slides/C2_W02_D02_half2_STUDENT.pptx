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trainer keeps the afternoon's first 60 minutes: chapter 6 (30), the escalated</a:t>
            </a:r>
          </a:p>
          <a:p>
            <a:r>
              <a:t>case's first two parts (20), and the Kahoot with tomorrow's question (10).</a:t>
            </a:r>
          </a:p>
          <a:p>
            <a:r>
              <a:t>The tentative IITGN faculty block W2-2 takes the last 120 minutes.</a:t>
            </a:r>
          </a:p>
          <a:p>
            <a:r>
              <a:t>The rest of the escalated case, the second case and</a:t>
            </a:r>
          </a:p>
          <a:p>
            <a:r>
              <a:t>the interview drill move to the TA-led practice lab and the take-home; their slides are marked D so</a:t>
            </a:r>
          </a:p>
          <a:p>
            <a:r>
              <a:t>a learner can work them alone.</a:t>
            </a:r>
          </a:p>
          <a:p>
            <a:r>
              <a:t>Transition: one slide of what the morning settled,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lines as the room's own findings; each learner's collected figure,</a:t>
            </a:r>
          </a:p>
          <a:p>
            <a:r>
              <a:t>gap and lists are on their own page from chapter 5. Five wrong reports appeared on the way, each</a:t>
            </a:r>
          </a:p>
          <a:p>
            <a:r>
              <a:t>plausible: the fan-out draft, the plain JOIN, the quarter in WHERE, each order's gap added up, and</a:t>
            </a:r>
          </a:p>
          <a:p>
            <a:r>
              <a:t>posted read as collected. Chapter 6 builds the checks that stop all five, every Monday.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the map, the need and Wirecard (4), the four ways and the call (4),</a:t>
            </a:r>
          </a:p>
          <a:p>
            <a:r>
              <a:t>the hurried checks and why they pass (6), the tie-back suite on one report and on all five (8),</a:t>
            </a:r>
          </a:p>
          <a:p>
            <a:r>
              <a:t>Kalpa's report (2), the second route (3), the reporting-day rule (2), the close (1). Notebook 6,</a:t>
            </a:r>
          </a:p>
          <a:p>
            <a:r>
              <a:t>C2_W02_D02_06_can_it_leave_STUDENT.ipynb.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is the collected figure and its gap, every Monday, and the checks that</a:t>
            </a:r>
          </a:p>
          <a:p>
            <a:r>
              <a:t>stand between them and Anand: which of the day's wrong reports each check would stop.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it plainly: a check is worth only its power to fail. Ask the room for a check in</a:t>
            </a:r>
          </a:p>
          <a:p>
            <a:r>
              <a:t>their own work that has never failed, and what that proves.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BBC News, 18, 22 and 25 June 2020; the FT's report republished by the</a:t>
            </a:r>
          </a:p>
          <a:p>
            <a:r>
              <a:t>Irish Times on 26 June 2020, attributed to people with first-hand knowledge; all checked 30 Sep 2026,</a:t>
            </a:r>
          </a:p>
          <a:p>
            <a:r>
              <a:t>URLs in the provenance. Wirecard claimed up to 1 billion euros in cash at OCBC; the 1.9 billion was</a:t>
            </a:r>
          </a:p>
          <a:p>
            <a:r>
              <a:t>later said to sit in banks in the Philippines. The point for the day: every check this chapter</a:t>
            </a:r>
          </a:p>
          <a:p>
            <a:r>
              <a:t>builds reads Kalpa's own tables, so name what they cannot see.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is not sized, since what it catches depends on who reads. B costs the same as C</a:t>
            </a:r>
          </a:p>
          <a:p>
            <a:r>
              <a:t>and stops one report in five. Hold the call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tie-back check compares a figure on the report with the same figure computed</a:t>
            </a:r>
          </a:p>
          <a:p>
            <a:r>
              <a:t>from one table alone, where no join can multiply or drop anything. The Python recomputation reaches</a:t>
            </a:r>
          </a:p>
          <a:p>
            <a:r>
              <a:t>the numbers by a different tool and a different rule for counting a payment once, so an error in</a:t>
            </a:r>
          </a:p>
          <a:p>
            <a:r>
              <a:t>the SQL and the same error in the checks would still be caught.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Most rooms expect at least one check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wrong output exactly: 3 of 3 passed.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report is internally consistent and externally wrong. Every plausibility check</a:t>
            </a:r>
          </a:p>
          <a:p>
            <a:r>
              <a:t>tests the report against itself, which is the Wirecard pattern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tie-back check recomputes one figure from a single table and compares it with</a:t>
            </a:r>
          </a:p>
          <a:p>
            <a:r>
              <a:t>the report.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fix for the hurried suite: the same report, checked against the two</a:t>
            </a:r>
          </a:p>
          <a:p>
            <a:r>
              <a:t>tables, fails three ways.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setup cell rebuilt all five on the invented tables, exactly as each</a:t>
            </a:r>
          </a:p>
          <a:p>
            <a:r>
              <a:t>chapter's trap wrote them.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fan-out row is the one to dwell on: a correct gap sitting on a wrong report.</a:t>
            </a:r>
          </a:p>
          <a:p>
            <a:r>
              <a:t>Kavya's rule follows from this slide: do not send a PASS you have never seen fail.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verdicts print; the figures that would name what the room is finding stay on</a:t>
            </a:r>
          </a:p>
          <a:p>
            <a:r>
              <a:t>each learner's own page. Say the sentence: this report may leave the team.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route shares no join, no GROUP BY and no NULL rule with the SQL report, so a</a:t>
            </a:r>
          </a:p>
          <a:p>
            <a:r>
              <a:t>mistake in one is unlikely to repeat in the other. Its own blind spot: it assumes a retry repeats the</a:t>
            </a:r>
          </a:p>
          <a:p>
            <a:r>
              <a:t>same amount, which chapter 3's cap method checked. Each route covers a place the other cannot see.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failed check is information, and the day it fails matters: late on reporting day</a:t>
            </a:r>
          </a:p>
          <a:p>
            <a:r>
              <a:t>there may be no time to fix it.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c is the one people send, and it is the one that puts an unreconciled figure</a:t>
            </a:r>
          </a:p>
          <a:p>
            <a:r>
              <a:t>on the CEO's page. Every check has a named owner. Interview [D]: design the validation you run</a:t>
            </a:r>
          </a:p>
          <a:p>
            <a:r>
              <a:t>before a joined number reaches Finance, and say what you do when it fails at the end of reporting 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day's answer, for Anand: Q2 booked Rs 9,84,00,000; collected, each payment</a:t>
            </a:r>
          </a:p>
          <a:p>
            <a:r>
              <a:t>counted once, is the figure on each learner's own page; the gap is the orders nobody paid, named by</a:t>
            </a:r>
          </a:p>
          <a:p>
            <a:r>
              <a:t>channel; the retries and the payments with no order go to the platform lead; and every figure ties</a:t>
            </a:r>
          </a:p>
          <a:p>
            <a:r>
              <a:t>back to the two tables through checks that have each been seen to fail.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20 minutes here, parts 1 and 2 alone, with</a:t>
            </a:r>
          </a:p>
          <a:p>
            <a:r>
              <a:t>notebooks/C2_W02_D02_ex1_escalated_case_STUDENT.ipynb and exercises/unguided/C2_W02_D02_escalated_STUDENT.md.</a:t>
            </a:r>
          </a:p>
          <a:p>
            <a:r>
              <a:t>Parts 3 to 5 move to the TA-led practice lab.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parts aloud, then start the clock. Each part's check tells a learner</a:t>
            </a:r>
          </a:p>
          <a:p>
            <a:r>
              <a:t>whether their pick holds without showing the answer. Walk the room; the common stall in Part 2 is the</a:t>
            </a:r>
          </a:p>
          <a:p>
            <a:r>
              <a:t>grain of the payments CTE.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case is the day's chapters without the scaffolding. The debrief of wrong picks</a:t>
            </a:r>
          </a:p>
          <a:p>
            <a:r>
              <a:t>runs in the practice lab, where the TA reads the most common wrong letters for each part.</a:t>
            </a:r>
          </a:p>
          <a:p>
            <a:r>
              <a:t>Transition: what the lab and tonight carry.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These slides are for the TA-led practice lab and for a learner working alone. The</a:t>
            </a:r>
          </a:p>
          <a:p>
            <a:r>
              <a:t>trainer names them in one minute and moves to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TA runs the lab from the practice set and these slides. Name the order once and move</a:t>
            </a:r>
          </a:p>
          <a:p>
            <a:r>
              <a:t>on to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40 minutes in the lab. This question starts from payments, because it is about every row</a:t>
            </a:r>
          </a:p>
          <a:p>
            <a:r>
              <a:t>the feed holds, which is the fact chapter 1 said would change the join. A retry is the same order and</a:t>
            </a:r>
          </a:p>
          <a:p>
            <a:r>
              <a:t>instalment posted twice; the platform lead fixes the feed, so the audit covers both quarters.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20 minutes in the lab, aloud in pairs: sixty seconds per answer, the partner times it.</a:t>
            </a:r>
          </a:p>
          <a:p>
            <a:r>
              <a:t>The full answers are in each chapter notebook's "In the interview" section and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design question is the [D] rows: which approach, sized how, and what would make you</a:t>
            </a:r>
          </a:p>
          <a:p>
            <a:r>
              <a:t>switch. A strong answer names the check, the number it compares and the wrong report it stops.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about 10 minutes inside the trainer's hour: the sentence, the six lines, the</a:t>
            </a:r>
          </a:p>
          <a:p>
            <a:r>
              <a:t>Kahoot, and 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fills the blanks from their own page; nobody reads another's figures</a:t>
            </a:r>
          </a:p>
          <a:p>
            <a:r>
              <a:t>aloud. The sentence carries the definition, the gap with its orders, the second list's owner and</a:t>
            </a:r>
          </a:p>
          <a:p>
            <a:r>
              <a:t>the proof.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the crux lines the cheat sheet prints word for word. Ask each learner to</a:t>
            </a:r>
          </a:p>
          <a:p>
            <a:r>
              <a:t>star the one they would have broken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Run it from kahoot/C2_W02_D02_quiz_STUDENT.md. After each item, one sentence on</a:t>
            </a:r>
          </a:p>
          <a:p>
            <a:r>
              <a:t>the wrong answer most of the room picked.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question open: do not name tomorrow's tools. The room's first move</a:t>
            </a:r>
          </a:p>
          <a:p>
            <a:r>
              <a:t>tomorrow is to say why GROUP BY alone cannot answer it.</a:t>
            </a:r>
          </a:p>
          <a:p>
            <a:r>
              <a:t>Then hand over to the tentative IITGN faculty block W2-2.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6.xml"/><Relationship Id="rId6"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33.xml"/><Relationship Id="rId6"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the collected number leave the team?</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“If there is a gap, I want to know which orders and which channel.”</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in the message that opened the day</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the number leave?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Which orders make the gap?</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85517"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What do the lab and tonight carry?</a:t>
            </a:r>
          </a:p>
        </p:txBody>
      </p:sp>
      <p:sp>
        <p:nvSpPr>
          <p:cNvPr id="17" name="TextBox 16"/>
          <p:cNvSpPr txBox="1"/>
          <p:nvPr/>
        </p:nvSpPr>
        <p:spPr>
          <a:xfrm>
            <a:off x="74617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845837"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What leaves the room today?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answers the morning reached, with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chapters 1 to 5 settle before the number can leave?</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settled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a join keep?</a:t>
                      </a:r>
                    </a:p>
                  </a:txBody>
                  <a:tcPr marL="101600" marR="101600" marT="38100" marB="38100" anchor="ctr">
                    <a:solidFill>
                      <a:srgbClr val="FFFFFF"/>
                    </a:solidFill>
                  </a:tcPr>
                </a:tc>
                <a:tc>
                  <a:txBody>
                    <a:bodyPr/>
                    <a:lstStyle/>
                    <a:p>
                      <a:r>
                        <a:rPr sz="1400" b="0" i="0">
                          <a:solidFill>
                            <a:srgbClr val="1A1440"/>
                          </a:solidFill>
                          <a:latin typeface="Calibri"/>
                        </a:rPr>
                        <a:t>LEFT JOIN with orders first keeps every booked order; on five invented orders INNER returns 6 rows, LEFT 7, RIGHT 7, FULL 8</a:t>
                      </a:r>
                    </a:p>
                  </a:txBody>
                  <a:tcPr marL="101600" marR="101600" marT="38100" marB="38100" anchor="ctr">
                    <a:solidFill>
                      <a:srgbClr val="FFFFFF"/>
                    </a:solidFill>
                  </a:tcPr>
                </a:tc>
              </a:tr>
              <a:tr h="611632">
                <a:tc>
                  <a:txBody>
                    <a:bodyPr/>
                    <a:lstStyle/>
                    <a:p>
                      <a:r>
                        <a:rPr sz="1400" b="0" i="0">
                          <a:solidFill>
                            <a:srgbClr val="1A1440"/>
                          </a:solidFill>
                          <a:latin typeface="Calibri"/>
                        </a:rPr>
                        <a:t>2. Why twice the bookings?</a:t>
                      </a:r>
                    </a:p>
                  </a:txBody>
                  <a:tcPr marL="101600" marR="101600" marT="38100" marB="38100" anchor="ctr">
                    <a:solidFill>
                      <a:srgbClr val="F4F2FA"/>
                    </a:solidFill>
                  </a:tcPr>
                </a:tc>
                <a:tc>
                  <a:txBody>
                    <a:bodyPr/>
                    <a:lstStyle/>
                    <a:p>
                      <a:r>
                        <a:rPr sz="1400" b="0" i="0">
                          <a:solidFill>
                            <a:srgbClr val="1A1440"/>
                          </a:solidFill>
                          <a:latin typeface="Calibri"/>
                        </a:rPr>
                        <a:t>A fan-out: the first draft reported Rs 19,29,04,410 against Rs 9,84,00,000 booked; payments go to one row per order before the join</a:t>
                      </a:r>
                    </a:p>
                  </a:txBody>
                  <a:tcPr marL="101600" marR="101600" marT="38100" marB="38100" anchor="ctr">
                    <a:solidFill>
                      <a:srgbClr val="F4F2FA"/>
                    </a:solidFill>
                  </a:tcPr>
                </a:tc>
              </a:tr>
              <a:tr h="611632">
                <a:tc>
                  <a:txBody>
                    <a:bodyPr/>
                    <a:lstStyle/>
                    <a:p>
                      <a:r>
                        <a:rPr sz="1400" b="0" i="0">
                          <a:solidFill>
                            <a:srgbClr val="1A1440"/>
                          </a:solidFill>
                          <a:latin typeface="Calibri"/>
                        </a:rPr>
                        <a:t>3. Is every order there?</a:t>
                      </a:r>
                    </a:p>
                  </a:txBody>
                  <a:tcPr marL="101600" marR="101600" marT="38100" marB="38100" anchor="ctr">
                    <a:solidFill>
                      <a:srgbClr val="FFFFFF"/>
                    </a:solidFill>
                  </a:tcPr>
                </a:tc>
                <a:tc>
                  <a:txBody>
                    <a:bodyPr/>
                    <a:lstStyle/>
                    <a:p>
                      <a:r>
                        <a:rPr sz="1400" b="0" i="0">
                          <a:solidFill>
                            <a:srgbClr val="1A1440"/>
                          </a:solidFill>
                          <a:latin typeface="Calibri"/>
                        </a:rPr>
                        <a:t>Rows in 462, rows out 462; a plain JOIN drops the unpaid order, and the bridge names every rupee from booked to posted</a:t>
                      </a:r>
                    </a:p>
                  </a:txBody>
                  <a:tcPr marL="101600" marR="101600" marT="38100" marB="38100" anchor="ctr">
                    <a:solidFill>
                      <a:srgbClr val="FFFFFF"/>
                    </a:solidFill>
                  </a:tcPr>
                </a:tc>
              </a:tr>
              <a:tr h="611632">
                <a:tc>
                  <a:txBody>
                    <a:bodyPr/>
                    <a:lstStyle/>
                    <a:p>
                      <a:r>
                        <a:rPr sz="1400" b="0" i="0">
                          <a:solidFill>
                            <a:srgbClr val="1A1440"/>
                          </a:solidFill>
                          <a:latin typeface="Calibri"/>
                        </a:rPr>
                        <a:t>4. Which orders, exactly?</a:t>
                      </a:r>
                    </a:p>
                  </a:txBody>
                  <a:tcPr marL="101600" marR="101600" marT="38100" marB="38100" anchor="ctr">
                    <a:solidFill>
                      <a:srgbClr val="F4F2FA"/>
                    </a:solidFill>
                  </a:tcPr>
                </a:tc>
                <a:tc>
                  <a:txBody>
                    <a:bodyPr/>
                    <a:lstStyle/>
                    <a:p>
                      <a:r>
                        <a:rPr sz="1400" b="0" i="0">
                          <a:solidFill>
                            <a:srgbClr val="1A1440"/>
                          </a:solidFill>
                          <a:latin typeface="Calibri"/>
                        </a:rPr>
                        <a:t>The unpaid list is an anti-join; a date filter in WHERE empties it; a retry is one order and instalment posted twice</a:t>
                      </a:r>
                    </a:p>
                  </a:txBody>
                  <a:tcPr marL="101600" marR="101600" marT="38100" marB="38100" anchor="ctr">
                    <a:solidFill>
                      <a:srgbClr val="F4F2FA"/>
                    </a:solidFill>
                  </a:tcPr>
                </a:tc>
              </a:tr>
              <a:tr h="611632">
                <a:tc>
                  <a:txBody>
                    <a:bodyPr/>
                    <a:lstStyle/>
                    <a:p>
                      <a:r>
                        <a:rPr sz="1400" b="0" i="0">
                          <a:solidFill>
                            <a:srgbClr val="1A1440"/>
                          </a:solidFill>
                          <a:latin typeface="Calibri"/>
                        </a:rPr>
                        <a:t>5. What does Anand sign?</a:t>
                      </a:r>
                    </a:p>
                  </a:txBody>
                  <a:tcPr marL="101600" marR="101600" marT="38100" marB="38100" anchor="ctr">
                    <a:solidFill>
                      <a:srgbClr val="FFFFFF"/>
                    </a:solidFill>
                  </a:tcPr>
                </a:tc>
                <a:tc>
                  <a:txBody>
                    <a:bodyPr/>
                    <a:lstStyle/>
                    <a:p>
                      <a:r>
                        <a:rPr sz="1400" b="0" i="0">
                          <a:solidFill>
                            <a:srgbClr val="1A1440"/>
                          </a:solidFill>
                          <a:latin typeface="Calibri"/>
                        </a:rPr>
                        <a:t>The page by channel, reconciled, with both lists; coalesce keeps an unpaid order in the gap</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6" name="Oval 15"/>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the number leave?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checks must pass before the collected number leaves the team, and what does Anand get when one fails at the end of reporting day?</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a PASS to a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6's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who reviews every number before it leaves the team; Anand, who forwards it to the CEO's Monday page; and you, who sign it. A validation that cannot fail puts a PASS stamp on a wrong number, and a stamped wrong number is harder to withdraw than an unstamped one.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Hurried checks?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they pass a report that hides an unpaid order?</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Tie back how?</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checks read the two tables.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Every wrong one?</a:t>
            </a:r>
          </a:p>
        </p:txBody>
      </p:sp>
      <p:sp>
        <p:nvSpPr>
          <p:cNvPr id="27" name="TextBox 26"/>
          <p:cNvSpPr txBox="1"/>
          <p:nvPr/>
        </p:nvSpPr>
        <p:spPr>
          <a:xfrm>
            <a:off x="446623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suite against the day's five wrong reports.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Kalpa's Q2?</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suite pass the real page?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second tool?</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numbers from the raw rows.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When one fails?</a:t>
            </a:r>
          </a:p>
        </p:txBody>
      </p:sp>
      <p:sp>
        <p:nvSpPr>
          <p:cNvPr id="42" name="TextBox 41"/>
          <p:cNvSpPr txBox="1"/>
          <p:nvPr/>
        </p:nvSpPr>
        <p:spPr>
          <a:xfrm>
            <a:off x="10123170" y="4516882"/>
            <a:ext cx="1373581" cy="531876"/>
          </a:xfrm>
          <a:prstGeom prst="rect">
            <a:avLst/>
          </a:prstGeom>
          <a:noFill/>
        </p:spPr>
        <p:txBody>
          <a:bodyPr wrap="square" anchor="t" lIns="0" rIns="0" tIns="0" bIns="0">
            <a:spAutoFit/>
          </a:bodyPr>
          <a:lstStyle/>
          <a:p>
            <a:pPr algn="l"/>
            <a:r>
              <a:rPr sz="1000" b="0" i="0">
                <a:solidFill>
                  <a:srgbClr val="CFC9EE"/>
                </a:solidFill>
                <a:latin typeface="Calibri"/>
              </a:rPr>
              <a:t>What Anand gets at the end of reporting day.</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47" name="Oval 4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49" name="Oval 4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is worth its power to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PASS stamp cost when the check behind it could not fail?</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clock_84fb0b5a882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EVERY MONDAY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Whoever is on the rota</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number is refreshed weekly, sometimes late on reporting day, by whoever runs it that week.</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check_14037a39f6a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CHECKS BUY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No line-by-line read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Checks let a number leave without Kavya reading every query.</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CHECK THAT CANNOT FAIL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Worse than none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PASS line travels with the number, and Anand forwards it with more confidence than an unchecked one.</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29" name="Oval 2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3" name="Oval 3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Wirecard reported cash it did not have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company's checks read its own records back to 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18 JUNE 2020</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No sign-off</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EY refused to sign off on the accounts, saying it was unable to confirm the money existed.</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22 JUNE 2020</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1.9 billion euros</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Wirecard said there was "a prevailing likelihood" that its trust account balances did not exist.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25 JUNE 2020</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Insolvency</a:t>
            </a:r>
          </a:p>
        </p:txBody>
      </p:sp>
      <p:sp>
        <p:nvSpPr>
          <p:cNvPr id="24" name="TextBox 23"/>
          <p:cNvSpPr txBox="1"/>
          <p:nvPr/>
        </p:nvSpPr>
        <p:spPr>
          <a:xfrm>
            <a:off x="6351879"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Wirecard filed for insolvency.</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2016 TO 2018</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465836"/>
          </a:xfrm>
          <a:prstGeom prst="rect">
            <a:avLst/>
          </a:prstGeom>
          <a:noFill/>
        </p:spPr>
        <p:txBody>
          <a:bodyPr wrap="square" anchor="t" lIns="0" rIns="0" tIns="0" bIns="0">
            <a:spAutoFit/>
          </a:bodyPr>
          <a:lstStyle/>
          <a:p>
            <a:pPr algn="l"/>
            <a:r>
              <a:rPr sz="1300" b="1" i="0">
                <a:solidFill>
                  <a:srgbClr val="FFFFFF"/>
                </a:solidFill>
                <a:latin typeface="Calibri"/>
              </a:rPr>
              <a:t>The check that could not fail</a:t>
            </a:r>
          </a:p>
        </p:txBody>
      </p:sp>
      <p:sp>
        <p:nvSpPr>
          <p:cNvPr id="29" name="TextBox 28"/>
          <p:cNvSpPr txBox="1"/>
          <p:nvPr/>
        </p:nvSpPr>
        <p:spPr>
          <a:xfrm>
            <a:off x="9180347" y="3492500"/>
            <a:ext cx="2316403" cy="862076"/>
          </a:xfrm>
          <a:prstGeom prst="rect">
            <a:avLst/>
          </a:prstGeom>
          <a:noFill/>
        </p:spPr>
        <p:txBody>
          <a:bodyPr wrap="square" anchor="t" lIns="0" rIns="0" tIns="0" bIns="0">
            <a:spAutoFit/>
          </a:bodyPr>
          <a:lstStyle/>
          <a:p>
            <a:pPr algn="l"/>
            <a:r>
              <a:rPr sz="1000" b="0" i="0">
                <a:solidFill>
                  <a:srgbClr val="CFC9EE"/>
                </a:solidFill>
                <a:latin typeface="Calibri"/>
              </a:rPr>
              <a:t>EY had not checked directly with Singapore's OCBC Bank and relied on documents and screenshots from a trustee and from Wirecard itself, the FT reported.</a:t>
            </a:r>
          </a:p>
        </p:txBody>
      </p:sp>
      <p:sp>
        <p:nvSpPr>
          <p:cNvPr id="30" name="TextBox 29"/>
          <p:cNvSpPr txBox="1"/>
          <p:nvPr/>
        </p:nvSpPr>
        <p:spPr>
          <a:xfrm>
            <a:off x="530352" y="46217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check that reads a company's own records back to it cannot fail.</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5" name="Oval 3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7" name="Oval 3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validate, sized on five wrong reports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validate stops the day's wrong reports, and what does each cost?</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328521"/>
                <a:gridCol w="4603100"/>
                <a:gridCol w="2353334"/>
                <a:gridCol w="1846034"/>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does</a:t>
                      </a:r>
                    </a:p>
                  </a:txBody>
                  <a:tcPr marL="101600" marR="101600" marT="38100" marB="38100" anchor="ctr">
                    <a:solidFill>
                      <a:srgbClr val="1A0F5C"/>
                    </a:solidFill>
                  </a:tcPr>
                </a:tc>
                <a:tc>
                  <a:txBody>
                    <a:bodyPr/>
                    <a:lstStyle/>
                    <a:p>
                      <a:r>
                        <a:rPr sz="1250" b="1" i="0">
                          <a:solidFill>
                            <a:srgbClr val="FFFFFF"/>
                          </a:solidFill>
                          <a:latin typeface="Calibri"/>
                        </a:rPr>
                        <a:t>Wrong reports it stops, of 5</a:t>
                      </a:r>
                    </a:p>
                  </a:txBody>
                  <a:tcPr marL="101600" marR="101600" marT="38100" marB="38100" anchor="ctr">
                    <a:solidFill>
                      <a:srgbClr val="1A0F5C"/>
                    </a:solidFill>
                  </a:tcPr>
                </a:tc>
                <a:tc>
                  <a:txBody>
                    <a:bodyPr/>
                    <a:lstStyle/>
                    <a:p>
                      <a:r>
                        <a:rPr sz="1250" b="1" i="0">
                          <a:solidFill>
                            <a:srgbClr val="FFFFFF"/>
                          </a:solidFill>
                          <a:latin typeface="Calibri"/>
                        </a:rPr>
                        <a:t>Time on Kalpa's Q2</a:t>
                      </a:r>
                    </a:p>
                  </a:txBody>
                  <a:tcPr marL="101600" marR="101600" marT="38100" marB="38100" anchor="ctr">
                    <a:solidFill>
                      <a:srgbClr val="1A0F5C"/>
                    </a:solidFill>
                  </a:tcPr>
                </a:tc>
              </a:tr>
              <a:tr h="335280">
                <a:tc>
                  <a:txBody>
                    <a:bodyPr/>
                    <a:lstStyle/>
                    <a:p>
                      <a:r>
                        <a:rPr sz="1200" b="0" i="0">
                          <a:solidFill>
                            <a:srgbClr val="1A1440"/>
                          </a:solidFill>
                          <a:latin typeface="Calibri"/>
                        </a:rPr>
                        <a:t>A. Read the report</a:t>
                      </a:r>
                    </a:p>
                  </a:txBody>
                  <a:tcPr marL="101600" marR="101600" marT="38100" marB="38100" anchor="ctr">
                    <a:solidFill>
                      <a:srgbClr val="FFFFFF"/>
                    </a:solidFill>
                  </a:tcPr>
                </a:tc>
                <a:tc>
                  <a:txBody>
                    <a:bodyPr/>
                    <a:lstStyle/>
                    <a:p>
                      <a:r>
                        <a:rPr sz="1200" b="0" i="0">
                          <a:solidFill>
                            <a:srgbClr val="1A1440"/>
                          </a:solidFill>
                          <a:latin typeface="Calibri"/>
                        </a:rPr>
                        <a:t>A person looks at the page</a:t>
                      </a:r>
                    </a:p>
                  </a:txBody>
                  <a:tcPr marL="101600" marR="101600" marT="38100" marB="38100" anchor="ctr">
                    <a:solidFill>
                      <a:srgbClr val="FFFFFF"/>
                    </a:solidFill>
                  </a:tcPr>
                </a:tc>
                <a:tc>
                  <a:txBody>
                    <a:bodyPr/>
                    <a:lstStyle/>
                    <a:p>
                      <a:r>
                        <a:rPr sz="1200" b="0" i="0">
                          <a:solidFill>
                            <a:srgbClr val="1A1440"/>
                          </a:solidFill>
                          <a:latin typeface="Calibri"/>
                        </a:rPr>
                        <a:t>depends on the reader</a:t>
                      </a:r>
                    </a:p>
                  </a:txBody>
                  <a:tcPr marL="101600" marR="101600" marT="38100" marB="38100" anchor="ctr">
                    <a:solidFill>
                      <a:srgbClr val="FFFFFF"/>
                    </a:solidFill>
                  </a:tcPr>
                </a:tc>
                <a:tc>
                  <a:txBody>
                    <a:bodyPr/>
                    <a:lstStyle/>
                    <a:p>
                      <a:r>
                        <a:rPr sz="1200" b="0" i="0">
                          <a:solidFill>
                            <a:srgbClr val="1A1440"/>
                          </a:solidFill>
                          <a:latin typeface="Calibri"/>
                        </a:rPr>
                        <a:t>minutes of a person</a:t>
                      </a:r>
                    </a:p>
                  </a:txBody>
                  <a:tcPr marL="101600" marR="101600" marT="38100" marB="38100" anchor="ctr">
                    <a:solidFill>
                      <a:srgbClr val="FFFFFF"/>
                    </a:solidFill>
                  </a:tcPr>
                </a:tc>
              </a:tr>
              <a:tr h="542544">
                <a:tc>
                  <a:txBody>
                    <a:bodyPr/>
                    <a:lstStyle/>
                    <a:p>
                      <a:r>
                        <a:rPr sz="1200" b="0" i="0">
                          <a:solidFill>
                            <a:srgbClr val="1A1440"/>
                          </a:solidFill>
                          <a:latin typeface="Calibri"/>
                        </a:rPr>
                        <a:t>B. Plausibility checks</a:t>
                      </a:r>
                    </a:p>
                  </a:txBody>
                  <a:tcPr marL="101600" marR="101600" marT="38100" marB="38100" anchor="ctr">
                    <a:solidFill>
                      <a:srgbClr val="F4F2FA"/>
                    </a:solidFill>
                  </a:tcPr>
                </a:tc>
                <a:tc>
                  <a:txBody>
                    <a:bodyPr/>
                    <a:lstStyle/>
                    <a:p>
                      <a:r>
                        <a:rPr sz="1200" b="0" i="0">
                          <a:solidFill>
                            <a:srgbClr val="1A1440"/>
                          </a:solidFill>
                          <a:latin typeface="Calibri"/>
                        </a:rPr>
                        <a:t>Collected at most booked, no negative gap, every channel present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3 ms, the report alone</a:t>
                      </a:r>
                    </a:p>
                  </a:txBody>
                  <a:tcPr marL="101600" marR="101600" marT="38100" marB="38100" anchor="ctr">
                    <a:solidFill>
                      <a:srgbClr val="F4F2FA"/>
                    </a:solidFill>
                  </a:tcPr>
                </a:tc>
              </a:tr>
              <a:tr h="542544">
                <a:tc>
                  <a:txBody>
                    <a:bodyPr/>
                    <a:lstStyle/>
                    <a:p>
                      <a:r>
                        <a:rPr sz="1200" b="0" i="0">
                          <a:solidFill>
                            <a:srgbClr val="1A1440"/>
                          </a:solidFill>
                          <a:latin typeface="Calibri"/>
                        </a:rPr>
                        <a:t>C. Tie-back checks</a:t>
                      </a:r>
                    </a:p>
                  </a:txBody>
                  <a:tcPr marL="101600" marR="101600" marT="38100" marB="38100" anchor="ctr">
                    <a:solidFill>
                      <a:srgbClr val="FFFFFF"/>
                    </a:solidFill>
                  </a:tcPr>
                </a:tc>
                <a:tc>
                  <a:txBody>
                    <a:bodyPr/>
                    <a:lstStyle/>
                    <a:p>
                      <a:r>
                        <a:rPr sz="1200" b="0" i="0">
                          <a:solidFill>
                            <a:srgbClr val="1A1440"/>
                          </a:solidFill>
                          <a:latin typeface="Calibri"/>
                        </a:rPr>
                        <a:t>Every figure recomputed from one table alone and compared</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 ms, report and sources</a:t>
                      </a:r>
                    </a:p>
                  </a:txBody>
                  <a:tcPr marL="101600" marR="101600" marT="38100" marB="38100" anchor="ctr">
                    <a:solidFill>
                      <a:srgbClr val="FFFFFF"/>
                    </a:solidFill>
                  </a:tcPr>
                </a:tc>
              </a:tr>
              <a:tr h="542544">
                <a:tc>
                  <a:txBody>
                    <a:bodyPr/>
                    <a:lstStyle/>
                    <a:p>
                      <a:r>
                        <a:rPr sz="1200" b="0" i="0">
                          <a:solidFill>
                            <a:srgbClr val="1A1440"/>
                          </a:solidFill>
                          <a:latin typeface="Calibri"/>
                        </a:rPr>
                        <a:t>D. An independent recomputation</a:t>
                      </a:r>
                    </a:p>
                  </a:txBody>
                  <a:tcPr marL="101600" marR="101600" marT="38100" marB="38100" anchor="ctr">
                    <a:solidFill>
                      <a:srgbClr val="F4F2FA"/>
                    </a:solidFill>
                  </a:tcPr>
                </a:tc>
                <a:tc>
                  <a:txBody>
                    <a:bodyPr/>
                    <a:lstStyle/>
                    <a:p>
                      <a:r>
                        <a:rPr sz="1200" b="0" i="0">
                          <a:solidFill>
                            <a:srgbClr val="1A1440"/>
                          </a:solidFill>
                          <a:latin typeface="Calibri"/>
                        </a:rPr>
                        <a:t>The same figures from the raw rows by another tool</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 ms, the raw rows</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The notebook rebuilds the day's five wrong reports on the invented tables and counts how many each option stops.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tie-back, with a recompute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fits, and what fact would change the call?</a:t>
            </a:r>
          </a:p>
        </p:txBody>
      </p:sp>
      <p:pic>
        <p:nvPicPr>
          <p:cNvPr id="9" name="mermaid diagram" descr="0bb799dff746d920.png"/>
          <p:cNvPicPr>
            <a:picLocks noChangeAspect="1"/>
          </p:cNvPicPr>
          <p:nvPr/>
        </p:nvPicPr>
        <p:blipFill>
          <a:blip r:embed="rId5"/>
          <a:stretch>
            <a:fillRect/>
          </a:stretch>
        </p:blipFill>
        <p:spPr>
          <a:xfrm>
            <a:off x="3447135" y="1664208"/>
            <a:ext cx="529742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settlement file from the gateway, the list of what reached Kalpa's bank, would be a source outside Kalpa's own tables, and reconciling to it would become the strongest check of all.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 the hurried checks pass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checks a hurried analyst writes pass a report that hides an unpaid order?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hurried validation checks what a finance reader expects of any collections report: collected is at most booked, the gap is not negative, and all three channels are on the page. It runs on chapter 3's plain JOIN report, which dropped T-4.</a:t>
            </a:r>
          </a:p>
        </p:txBody>
      </p:sp>
      <p:graphicFrame>
        <p:nvGraphicFramePr>
          <p:cNvPr id="12" name="Table 11"/>
          <p:cNvGraphicFramePr>
            <a:graphicFrameLocks noGrp="1"/>
          </p:cNvGraphicFramePr>
          <p:nvPr/>
        </p:nvGraphicFramePr>
        <p:xfrm>
          <a:off x="530352" y="3195828"/>
          <a:ext cx="11130991" cy="1849120"/>
        </p:xfrm>
        <a:graphic>
          <a:graphicData uri="http://schemas.openxmlformats.org/drawingml/2006/table">
            <a:tbl>
              <a:tblPr firstRow="0" bandRow="0">
                <a:tableStyleId>{2D5ABB26-0587-4C30-8999-92F81FD0307C}</a:tableStyleId>
              </a:tblPr>
              <a:tblGrid>
                <a:gridCol w="10216591"/>
                <a:gridCol w="914400"/>
              </a:tblGrid>
              <a:tr h="369824">
                <a:tc>
                  <a:txBody>
                    <a:bodyPr/>
                    <a:lstStyle/>
                    <a:p>
                      <a:r>
                        <a:rPr sz="1450" b="1" i="0">
                          <a:solidFill>
                            <a:srgbClr val="FFFFFF"/>
                          </a:solidFill>
                          <a:latin typeface="Calibri"/>
                        </a:rPr>
                        <a:t>The plain JOIN report, invented</a:t>
                      </a:r>
                    </a:p>
                  </a:txBody>
                  <a:tcPr marL="101600" marR="101600" marT="38100" marB="38100" anchor="ctr">
                    <a:solidFill>
                      <a:srgbClr val="1A0F5C"/>
                    </a:solidFill>
                  </a:tcPr>
                </a:tc>
                <a:tc>
                  <a:txBody>
                    <a:bodyPr/>
                    <a:lstStyle/>
                    <a:p>
                      <a:r>
                        <a:rPr sz="1450" b="1" i="0">
                          <a:solidFill>
                            <a:srgbClr val="FFFFFF"/>
                          </a:solidFill>
                          <a:latin typeface="Calibri"/>
                        </a:rPr>
                        <a:t>Figure</a:t>
                      </a:r>
                    </a:p>
                  </a:txBody>
                  <a:tcPr marL="101600" marR="101600" marT="38100" marB="38100" anchor="ctr">
                    <a:solidFill>
                      <a:srgbClr val="1A0F5C"/>
                    </a:solidFill>
                  </a:tcPr>
                </a:tc>
              </a:tr>
              <a:tr h="369824">
                <a:tc>
                  <a:txBody>
                    <a:bodyPr/>
                    <a:lstStyle/>
                    <a:p>
                      <a:r>
                        <a:rPr sz="1400" b="0" i="0">
                          <a:solidFill>
                            <a:srgbClr val="1A1440"/>
                          </a:solidFill>
                          <a:latin typeface="Calibri"/>
                        </a:rPr>
                        <a:t>Orders</a:t>
                      </a:r>
                    </a:p>
                  </a:txBody>
                  <a:tcPr marL="101600" marR="101600" marT="38100" marB="38100" anchor="ctr">
                    <a:solidFill>
                      <a:srgbClr val="FFFFFF"/>
                    </a:solidFill>
                  </a:tcPr>
                </a:tc>
                <a:tc>
                  <a:txBody>
                    <a:bodyPr/>
                    <a:lstStyle/>
                    <a:p>
                      <a:r>
                        <a:rPr sz="1400" b="0" i="0">
                          <a:solidFill>
                            <a:srgbClr val="1A1440"/>
                          </a:solidFill>
                          <a:latin typeface="Calibri"/>
                        </a:rPr>
                        <a:t>4</a:t>
                      </a:r>
                    </a:p>
                  </a:txBody>
                  <a:tcPr marL="101600" marR="101600" marT="38100" marB="38100" anchor="ctr">
                    <a:solidFill>
                      <a:srgbClr val="FFFFFF"/>
                    </a:solidFill>
                  </a:tcPr>
                </a:tc>
              </a:tr>
              <a:tr h="369824">
                <a:tc>
                  <a:txBody>
                    <a:bodyPr/>
                    <a:lstStyle/>
                    <a:p>
                      <a:r>
                        <a:rPr sz="1400" b="0" i="0">
                          <a:solidFill>
                            <a:srgbClr val="1A1440"/>
                          </a:solidFill>
                          <a:latin typeface="Calibri"/>
                        </a:rPr>
                        <a:t>Booked</a:t>
                      </a:r>
                    </a:p>
                  </a:txBody>
                  <a:tcPr marL="101600" marR="101600" marT="38100" marB="38100" anchor="ctr">
                    <a:solidFill>
                      <a:srgbClr val="F4F2FA"/>
                    </a:solidFill>
                  </a:tcPr>
                </a:tc>
                <a:tc>
                  <a:txBody>
                    <a:bodyPr/>
                    <a:lstStyle/>
                    <a:p>
                      <a:r>
                        <a:rPr sz="1400" b="0" i="0">
                          <a:solidFill>
                            <a:srgbClr val="1A1440"/>
                          </a:solidFill>
                          <a:latin typeface="Calibri"/>
                        </a:rPr>
                        <a:t>5,000</a:t>
                      </a:r>
                    </a:p>
                  </a:txBody>
                  <a:tcPr marL="101600" marR="101600" marT="38100" marB="38100" anchor="ctr">
                    <a:solidFill>
                      <a:srgbClr val="F4F2FA"/>
                    </a:solidFill>
                  </a:tcPr>
                </a:tc>
              </a:tr>
              <a:tr h="369824">
                <a:tc>
                  <a:txBody>
                    <a:bodyPr/>
                    <a:lstStyle/>
                    <a:p>
                      <a:r>
                        <a:rPr sz="1400" b="0" i="0">
                          <a:solidFill>
                            <a:srgbClr val="1A1440"/>
                          </a:solidFill>
                          <a:latin typeface="Calibri"/>
                        </a:rPr>
                        <a:t>Collected</a:t>
                      </a:r>
                    </a:p>
                  </a:txBody>
                  <a:tcPr marL="101600" marR="101600" marT="38100" marB="38100" anchor="ctr">
                    <a:solidFill>
                      <a:srgbClr val="FFFFFF"/>
                    </a:solidFill>
                  </a:tcPr>
                </a:tc>
                <a:tc>
                  <a:txBody>
                    <a:bodyPr/>
                    <a:lstStyle/>
                    <a:p>
                      <a:r>
                        <a:rPr sz="1400" b="0" i="0">
                          <a:solidFill>
                            <a:srgbClr val="1A1440"/>
                          </a:solidFill>
                          <a:latin typeface="Calibri"/>
                        </a:rPr>
                        <a:t>5,000</a:t>
                      </a:r>
                    </a:p>
                  </a:txBody>
                  <a:tcPr marL="101600" marR="101600" marT="38100" marB="38100" anchor="ctr">
                    <a:solidFill>
                      <a:srgbClr val="FFFFFF"/>
                    </a:solidFill>
                  </a:tcPr>
                </a:tc>
              </a:tr>
              <a:tr h="369824">
                <a:tc>
                  <a:txBody>
                    <a:bodyPr/>
                    <a:lstStyle/>
                    <a:p>
                      <a:r>
                        <a:rPr sz="1400" b="0" i="0">
                          <a:solidFill>
                            <a:srgbClr val="1A1440"/>
                          </a:solidFill>
                          <a:latin typeface="Calibri"/>
                        </a:rPr>
                        <a:t>Gap</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bl>
          </a:graphicData>
        </a:graphic>
      </p:graphicFrame>
      <p:sp>
        <p:nvSpPr>
          <p:cNvPr id="13" name="Rounded Rectangle 12"/>
          <p:cNvSpPr/>
          <p:nvPr/>
        </p:nvSpPr>
        <p:spPr>
          <a:xfrm>
            <a:off x="530352" y="530098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42899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41985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three checks pass? a) none; b) one; c) two; d) all three.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2" name="Oval 21"/>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three pass, and the number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hurried suite report on a page that hides T-4?</a:t>
            </a:r>
          </a:p>
        </p:txBody>
      </p:sp>
      <p:pic>
        <p:nvPicPr>
          <p:cNvPr id="9" name="mermaid diagram" descr="96732578034c4f37.png"/>
          <p:cNvPicPr>
            <a:picLocks noChangeAspect="1"/>
          </p:cNvPicPr>
          <p:nvPr/>
        </p:nvPicPr>
        <p:blipFill>
          <a:blip r:embed="rId5"/>
          <a:stretch>
            <a:fillRect/>
          </a:stretch>
        </p:blipFill>
        <p:spPr>
          <a:xfrm>
            <a:off x="580872" y="1956816"/>
            <a:ext cx="11029950" cy="871537"/>
          </a:xfrm>
          <a:prstGeom prst="rect">
            <a:avLst/>
          </a:prstGeom>
        </p:spPr>
      </p:pic>
      <p:sp>
        <p:nvSpPr>
          <p:cNvPr id="10" name="TextBox 9"/>
          <p:cNvSpPr txBox="1"/>
          <p:nvPr/>
        </p:nvSpPr>
        <p:spPr>
          <a:xfrm>
            <a:off x="530352" y="29746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Collected 5,000 is at most booked 5,000, the gap of 0 is not negative, and app is still on the page through T-1. The suite stamps "3 of 3 passed" on a page that hides the one order nobody paid.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each check reads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suite that never looks outside the report not see what it left out?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309277"/>
                <a:gridCol w="2842937"/>
                <a:gridCol w="4978775"/>
              </a:tblGrid>
              <a:tr h="369824">
                <a:tc>
                  <a:txBody>
                    <a:bodyPr/>
                    <a:lstStyle/>
                    <a:p>
                      <a:r>
                        <a:rPr sz="1450" b="1" i="0">
                          <a:solidFill>
                            <a:srgbClr val="FFFFFF"/>
                          </a:solidFill>
                          <a:latin typeface="Calibri"/>
                        </a:rPr>
                        <a:t>Plausibility check</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Why the missing order cannot fail it</a:t>
                      </a:r>
                    </a:p>
                  </a:txBody>
                  <a:tcPr marL="101600" marR="101600" marT="38100" marB="38100" anchor="ctr">
                    <a:solidFill>
                      <a:srgbClr val="1A0F5C"/>
                    </a:solidFill>
                  </a:tcPr>
                </a:tc>
              </a:tr>
              <a:tr h="369824">
                <a:tc>
                  <a:txBody>
                    <a:bodyPr/>
                    <a:lstStyle/>
                    <a:p>
                      <a:r>
                        <a:rPr sz="1400" b="0" i="0">
                          <a:solidFill>
                            <a:srgbClr val="1A1440"/>
                          </a:solidFill>
                          <a:latin typeface="Calibri"/>
                        </a:rPr>
                        <a:t>Collected at most booked</a:t>
                      </a:r>
                    </a:p>
                  </a:txBody>
                  <a:tcPr marL="101600" marR="101600" marT="38100" marB="38100" anchor="ctr">
                    <a:solidFill>
                      <a:srgbClr val="FFFFFF"/>
                    </a:solidFill>
                  </a:tcPr>
                </a:tc>
                <a:tc>
                  <a:txBody>
                    <a:bodyPr/>
                    <a:lstStyle/>
                    <a:p>
                      <a:r>
                        <a:rPr sz="1400" b="0" i="0">
                          <a:solidFill>
                            <a:srgbClr val="1A1440"/>
                          </a:solidFill>
                          <a:latin typeface="Calibri"/>
                        </a:rPr>
                        <a:t>the report with itself</a:t>
                      </a:r>
                    </a:p>
                  </a:txBody>
                  <a:tcPr marL="101600" marR="101600" marT="38100" marB="38100" anchor="ctr">
                    <a:solidFill>
                      <a:srgbClr val="FFFFFF"/>
                    </a:solidFill>
                  </a:tcPr>
                </a:tc>
                <a:tc>
                  <a:txBody>
                    <a:bodyPr/>
                    <a:lstStyle/>
                    <a:p>
                      <a:r>
                        <a:rPr sz="1400" b="0" i="0">
                          <a:solidFill>
                            <a:srgbClr val="1A1440"/>
                          </a:solidFill>
                          <a:latin typeface="Calibri"/>
                        </a:rPr>
                        <a:t>T-4 took its booked amount with it</a:t>
                      </a:r>
                    </a:p>
                  </a:txBody>
                  <a:tcPr marL="101600" marR="101600" marT="38100" marB="38100" anchor="ctr">
                    <a:solidFill>
                      <a:srgbClr val="FFFFFF"/>
                    </a:solidFill>
                  </a:tcPr>
                </a:tc>
              </a:tr>
              <a:tr h="369824">
                <a:tc>
                  <a:txBody>
                    <a:bodyPr/>
                    <a:lstStyle/>
                    <a:p>
                      <a:r>
                        <a:rPr sz="1400" b="0" i="0">
                          <a:solidFill>
                            <a:srgbClr val="1A1440"/>
                          </a:solidFill>
                          <a:latin typeface="Calibri"/>
                        </a:rPr>
                        <a:t>The gap is not negative</a:t>
                      </a:r>
                    </a:p>
                  </a:txBody>
                  <a:tcPr marL="101600" marR="101600" marT="38100" marB="38100" anchor="ctr">
                    <a:solidFill>
                      <a:srgbClr val="F4F2FA"/>
                    </a:solidFill>
                  </a:tcPr>
                </a:tc>
                <a:tc>
                  <a:txBody>
                    <a:bodyPr/>
                    <a:lstStyle/>
                    <a:p>
                      <a:r>
                        <a:rPr sz="1400" b="0" i="0">
                          <a:solidFill>
                            <a:srgbClr val="1A1440"/>
                          </a:solidFill>
                          <a:latin typeface="Calibri"/>
                        </a:rPr>
                        <a:t>the report with itself</a:t>
                      </a:r>
                    </a:p>
                  </a:txBody>
                  <a:tcPr marL="101600" marR="101600" marT="38100" marB="38100" anchor="ctr">
                    <a:solidFill>
                      <a:srgbClr val="F4F2FA"/>
                    </a:solidFill>
                  </a:tcPr>
                </a:tc>
                <a:tc>
                  <a:txBody>
                    <a:bodyPr/>
                    <a:lstStyle/>
                    <a:p>
                      <a:r>
                        <a:rPr sz="1400" b="0" i="0">
                          <a:solidFill>
                            <a:srgbClr val="1A1440"/>
                          </a:solidFill>
                          <a:latin typeface="Calibri"/>
                        </a:rPr>
                        <a:t>0 is not negative</a:t>
                      </a:r>
                    </a:p>
                  </a:txBody>
                  <a:tcPr marL="101600" marR="101600" marT="38100" marB="38100" anchor="ctr">
                    <a:solidFill>
                      <a:srgbClr val="F4F2FA"/>
                    </a:solidFill>
                  </a:tcPr>
                </a:tc>
              </a:tr>
              <a:tr h="369824">
                <a:tc>
                  <a:txBody>
                    <a:bodyPr/>
                    <a:lstStyle/>
                    <a:p>
                      <a:r>
                        <a:rPr sz="1400" b="0" i="0">
                          <a:solidFill>
                            <a:srgbClr val="1A1440"/>
                          </a:solidFill>
                          <a:latin typeface="Calibri"/>
                        </a:rPr>
                        <a:t>All three channels present</a:t>
                      </a:r>
                    </a:p>
                  </a:txBody>
                  <a:tcPr marL="101600" marR="101600" marT="38100" marB="38100" anchor="ctr">
                    <a:solidFill>
                      <a:srgbClr val="FFFFFF"/>
                    </a:solidFill>
                  </a:tcPr>
                </a:tc>
                <a:tc>
                  <a:txBody>
                    <a:bodyPr/>
                    <a:lstStyle/>
                    <a:p>
                      <a:r>
                        <a:rPr sz="1400" b="0" i="0">
                          <a:solidFill>
                            <a:srgbClr val="1A1440"/>
                          </a:solidFill>
                          <a:latin typeface="Calibri"/>
                        </a:rPr>
                        <a:t>the report with itself</a:t>
                      </a:r>
                    </a:p>
                  </a:txBody>
                  <a:tcPr marL="101600" marR="101600" marT="38100" marB="38100" anchor="ctr">
                    <a:solidFill>
                      <a:srgbClr val="FFFFFF"/>
                    </a:solidFill>
                  </a:tcPr>
                </a:tc>
                <a:tc>
                  <a:txBody>
                    <a:bodyPr/>
                    <a:lstStyle/>
                    <a:p>
                      <a:r>
                        <a:rPr sz="1400" b="0" i="0">
                          <a:solidFill>
                            <a:srgbClr val="1A1440"/>
                          </a:solidFill>
                          <a:latin typeface="Calibri"/>
                        </a:rPr>
                        <a:t>app is there through T-1</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One that looks outside the report: orders on the report against orders in the table, 4 against 5.</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tie-back checks fail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tie the report back to the two tables, and which of them fail the plain JOIN report?</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7662047"/>
                <a:gridCol w="3468944"/>
              </a:tblGrid>
              <a:tr h="369824">
                <a:tc>
                  <a:txBody>
                    <a:bodyPr/>
                    <a:lstStyle/>
                    <a:p>
                      <a:r>
                        <a:rPr sz="1450" b="1" i="0">
                          <a:solidFill>
                            <a:srgbClr val="FFFFFF"/>
                          </a:solidFill>
                          <a:latin typeface="Calibri"/>
                        </a:rPr>
                        <a:t>Tie-back check</a:t>
                      </a:r>
                    </a:p>
                  </a:txBody>
                  <a:tcPr marL="101600" marR="101600" marT="38100" marB="38100" anchor="ctr">
                    <a:solidFill>
                      <a:srgbClr val="1A0F5C"/>
                    </a:solidFill>
                  </a:tcPr>
                </a:tc>
                <a:tc>
                  <a:txBody>
                    <a:bodyPr/>
                    <a:lstStyle/>
                    <a:p>
                      <a:r>
                        <a:rPr sz="1450" b="1" i="0">
                          <a:solidFill>
                            <a:srgbClr val="FFFFFF"/>
                          </a:solidFill>
                          <a:latin typeface="Calibri"/>
                        </a:rPr>
                        <a:t>Computed from</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orders alone</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orders alone</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the report's own columns</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unpaid list's total</a:t>
                      </a:r>
                    </a:p>
                  </a:txBody>
                  <a:tcPr marL="101600" marR="101600" marT="38100" marB="38100" anchor="ctr">
                    <a:solidFill>
                      <a:srgbClr val="F4F2FA"/>
                    </a:solidFill>
                  </a:tcPr>
                </a:tc>
                <a:tc>
                  <a:txBody>
                    <a:bodyPr/>
                    <a:lstStyle/>
                    <a:p>
                      <a:r>
                        <a:rPr sz="1400" b="0" i="0">
                          <a:solidFill>
                            <a:srgbClr val="1A1440"/>
                          </a:solidFill>
                          <a:latin typeface="Calibri"/>
                        </a:rPr>
                        <a:t>the anti-join, NOT EXISTS</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 from payments alone</a:t>
                      </a:r>
                    </a:p>
                  </a:txBody>
                  <a:tcPr marL="101600" marR="101600" marT="38100" marB="38100" anchor="ctr">
                    <a:solidFill>
                      <a:srgbClr val="FFFFFF"/>
                    </a:solidFill>
                  </a:tcPr>
                </a:tc>
                <a:tc>
                  <a:txBody>
                    <a:bodyPr/>
                    <a:lstStyle/>
                    <a:p>
                      <a:r>
                        <a:rPr sz="1400" b="0" i="0">
                          <a:solidFill>
                            <a:srgbClr val="1A1440"/>
                          </a:solidFill>
                          <a:latin typeface="Calibri"/>
                        </a:rPr>
                        <a:t>payments alone</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plain JOIN report, which checks fail? a) none; b) orders, booked and the unpaid list; c) only the gap; d) all five.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orders, booked and the unpaid list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tie-back suite say about the report the hurried suite passed?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7096713"/>
                <a:gridCol w="4034277"/>
              </a:tblGrid>
              <a:tr h="369824">
                <a:tc>
                  <a:txBody>
                    <a:bodyPr/>
                    <a:lstStyle/>
                    <a:p>
                      <a:r>
                        <a:rPr sz="1450" b="1" i="0">
                          <a:solidFill>
                            <a:srgbClr val="FFFFFF"/>
                          </a:solidFill>
                          <a:latin typeface="Calibri"/>
                        </a:rPr>
                        <a:t>Tie-back check</a:t>
                      </a:r>
                    </a:p>
                  </a:txBody>
                  <a:tcPr marL="101600" marR="101600" marT="38100" marB="38100" anchor="ctr">
                    <a:solidFill>
                      <a:srgbClr val="1A0F5C"/>
                    </a:solidFill>
                  </a:tcPr>
                </a:tc>
                <a:tc>
                  <a:txBody>
                    <a:bodyPr/>
                    <a:lstStyle/>
                    <a:p>
                      <a:r>
                        <a:rPr sz="1450" b="1" i="0">
                          <a:solidFill>
                            <a:srgbClr val="FFFFFF"/>
                          </a:solidFill>
                          <a:latin typeface="Calibri"/>
                        </a:rPr>
                        <a:t>On the plain JOIN report</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FAIL, 4 against 5</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FAIL, 5,000 against 5,800</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unpaid list's total</a:t>
                      </a:r>
                    </a:p>
                  </a:txBody>
                  <a:tcPr marL="101600" marR="101600" marT="38100" marB="38100" anchor="ctr">
                    <a:solidFill>
                      <a:srgbClr val="F4F2FA"/>
                    </a:solidFill>
                  </a:tcPr>
                </a:tc>
                <a:tc>
                  <a:txBody>
                    <a:bodyPr/>
                    <a:lstStyle/>
                    <a:p>
                      <a:r>
                        <a:rPr sz="1400" b="0" i="0">
                          <a:solidFill>
                            <a:srgbClr val="1A1440"/>
                          </a:solidFill>
                          <a:latin typeface="Calibri"/>
                        </a:rPr>
                        <a:t>FAIL, 0 against a list worth 800</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 from payments alone</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report's own arithmetic passes; only checks that look outside it can say it is wrong.</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wrong reports get through?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suite fail every wrong report the day has met?</a:t>
            </a:r>
          </a:p>
        </p:txBody>
      </p:sp>
      <p:pic>
        <p:nvPicPr>
          <p:cNvPr id="9" name="mermaid diagram" descr="741bb391915ef400.png"/>
          <p:cNvPicPr>
            <a:picLocks noChangeAspect="1"/>
          </p:cNvPicPr>
          <p:nvPr/>
        </p:nvPicPr>
        <p:blipFill>
          <a:blip r:embed="rId5"/>
          <a:stretch>
            <a:fillRect/>
          </a:stretch>
        </p:blipFill>
        <p:spPr>
          <a:xfrm>
            <a:off x="3188341" y="1956816"/>
            <a:ext cx="5815012"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day's five wrong reports, how many does the plausibility suite let through? a) none; b) one; c) four; d) all five.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four get through the hurried suite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reports does each suite stop?</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622152"/>
                <a:gridCol w="3754419"/>
                <a:gridCol w="3754419"/>
              </a:tblGrid>
              <a:tr h="369824">
                <a:tc>
                  <a:txBody>
                    <a:bodyPr/>
                    <a:lstStyle/>
                    <a:p>
                      <a:r>
                        <a:rPr sz="1450" b="1" i="0">
                          <a:solidFill>
                            <a:srgbClr val="FFFFFF"/>
                          </a:solidFill>
                          <a:latin typeface="Calibri"/>
                        </a:rPr>
                        <a:t>Wrong report</a:t>
                      </a:r>
                    </a:p>
                  </a:txBody>
                  <a:tcPr marL="101600" marR="101600" marT="38100" marB="38100" anchor="ctr">
                    <a:solidFill>
                      <a:srgbClr val="1A0F5C"/>
                    </a:solidFill>
                  </a:tcPr>
                </a:tc>
                <a:tc>
                  <a:txBody>
                    <a:bodyPr/>
                    <a:lstStyle/>
                    <a:p>
                      <a:r>
                        <a:rPr sz="1450" b="1" i="0">
                          <a:solidFill>
                            <a:srgbClr val="FFFFFF"/>
                          </a:solidFill>
                          <a:latin typeface="Calibri"/>
                        </a:rPr>
                        <a:t>Plausibility suite</a:t>
                      </a:r>
                    </a:p>
                  </a:txBody>
                  <a:tcPr marL="101600" marR="101600" marT="38100" marB="38100" anchor="ctr">
                    <a:solidFill>
                      <a:srgbClr val="1A0F5C"/>
                    </a:solidFill>
                  </a:tcPr>
                </a:tc>
                <a:tc>
                  <a:txBody>
                    <a:bodyPr/>
                    <a:lstStyle/>
                    <a:p>
                      <a:r>
                        <a:rPr sz="1450" b="1" i="0">
                          <a:solidFill>
                            <a:srgbClr val="FFFFFF"/>
                          </a:solidFill>
                          <a:latin typeface="Calibri"/>
                        </a:rPr>
                        <a:t>Tie-back suite</a:t>
                      </a:r>
                    </a:p>
                  </a:txBody>
                  <a:tcPr marL="101600" marR="101600" marT="38100" marB="38100" anchor="ctr">
                    <a:solidFill>
                      <a:srgbClr val="1A0F5C"/>
                    </a:solidFill>
                  </a:tcPr>
                </a:tc>
              </a:tr>
              <a:tr h="369824">
                <a:tc>
                  <a:txBody>
                    <a:bodyPr/>
                    <a:lstStyle/>
                    <a:p>
                      <a:r>
                        <a:rPr sz="1400" b="0" i="0">
                          <a:solidFill>
                            <a:srgbClr val="1A1440"/>
                          </a:solidFill>
                          <a:latin typeface="Calibri"/>
                        </a:rPr>
                        <a:t>The fan-out draft</a:t>
                      </a:r>
                    </a:p>
                  </a:txBody>
                  <a:tcPr marL="101600" marR="101600" marT="38100" marB="38100" anchor="ctr">
                    <a:solidFill>
                      <a:srgbClr val="FFFFFF"/>
                    </a:solidFill>
                  </a:tcPr>
                </a:tc>
                <a:tc>
                  <a:txBody>
                    <a:bodyPr/>
                    <a:lstStyle/>
                    <a:p>
                      <a:r>
                        <a:rPr sz="1400" b="0" i="0">
                          <a:solidFill>
                            <a:srgbClr val="1A1440"/>
                          </a:solidFill>
                          <a:latin typeface="Calibri"/>
                        </a:rPr>
                        <a:t>passes</a:t>
                      </a:r>
                    </a:p>
                  </a:txBody>
                  <a:tcPr marL="101600" marR="101600" marT="38100" marB="38100" anchor="ctr">
                    <a:solidFill>
                      <a:srgbClr val="FFFFFF"/>
                    </a:solidFill>
                  </a:tcPr>
                </a:tc>
                <a:tc>
                  <a:txBody>
                    <a:bodyPr/>
                    <a:lstStyle/>
                    <a:p>
                      <a:r>
                        <a:rPr sz="1400" b="0" i="0">
                          <a:solidFill>
                            <a:srgbClr val="1A1440"/>
                          </a:solidFill>
                          <a:latin typeface="Calibri"/>
                        </a:rPr>
                        <a:t>fails on orders and booked</a:t>
                      </a:r>
                    </a:p>
                  </a:txBody>
                  <a:tcPr marL="101600" marR="101600" marT="38100" marB="38100" anchor="ctr">
                    <a:solidFill>
                      <a:srgbClr val="FFFFFF"/>
                    </a:solidFill>
                  </a:tcPr>
                </a:tc>
              </a:tr>
              <a:tr h="369824">
                <a:tc>
                  <a:txBody>
                    <a:bodyPr/>
                    <a:lstStyle/>
                    <a:p>
                      <a:r>
                        <a:rPr sz="1400" b="0" i="0">
                          <a:solidFill>
                            <a:srgbClr val="1A1440"/>
                          </a:solidFill>
                          <a:latin typeface="Calibri"/>
                        </a:rPr>
                        <a:t>The plain JOIN</a:t>
                      </a:r>
                    </a:p>
                  </a:txBody>
                  <a:tcPr marL="101600" marR="101600" marT="38100" marB="38100" anchor="ctr">
                    <a:solidFill>
                      <a:srgbClr val="F4F2FA"/>
                    </a:solidFill>
                  </a:tcPr>
                </a:tc>
                <a:tc>
                  <a:txBody>
                    <a:bodyPr/>
                    <a:lstStyle/>
                    <a:p>
                      <a:r>
                        <a:rPr sz="1400" b="0" i="0">
                          <a:solidFill>
                            <a:srgbClr val="1A1440"/>
                          </a:solidFill>
                          <a:latin typeface="Calibri"/>
                        </a:rPr>
                        <a:t>passes</a:t>
                      </a:r>
                    </a:p>
                  </a:txBody>
                  <a:tcPr marL="101600" marR="101600" marT="38100" marB="38100" anchor="ctr">
                    <a:solidFill>
                      <a:srgbClr val="F4F2FA"/>
                    </a:solidFill>
                  </a:tcPr>
                </a:tc>
                <a:tc>
                  <a:txBody>
                    <a:bodyPr/>
                    <a:lstStyle/>
                    <a:p>
                      <a:r>
                        <a:rPr sz="1400" b="0" i="0">
                          <a:solidFill>
                            <a:srgbClr val="1A1440"/>
                          </a:solidFill>
                          <a:latin typeface="Calibri"/>
                        </a:rPr>
                        <a:t>fails 3 of 5</a:t>
                      </a:r>
                    </a:p>
                  </a:txBody>
                  <a:tcPr marL="101600" marR="101600" marT="38100" marB="38100" anchor="ctr">
                    <a:solidFill>
                      <a:srgbClr val="F4F2FA"/>
                    </a:solidFill>
                  </a:tcPr>
                </a:tc>
              </a:tr>
              <a:tr h="369824">
                <a:tc>
                  <a:txBody>
                    <a:bodyPr/>
                    <a:lstStyle/>
                    <a:p>
                      <a:r>
                        <a:rPr sz="1400" b="0" i="0">
                          <a:solidFill>
                            <a:srgbClr val="1A1440"/>
                          </a:solidFill>
                          <a:latin typeface="Calibri"/>
                        </a:rPr>
                        <a:t>The quarter in WHERE</a:t>
                      </a:r>
                    </a:p>
                  </a:txBody>
                  <a:tcPr marL="101600" marR="101600" marT="38100" marB="38100" anchor="ctr">
                    <a:solidFill>
                      <a:srgbClr val="FFFFFF"/>
                    </a:solidFill>
                  </a:tcPr>
                </a:tc>
                <a:tc>
                  <a:txBody>
                    <a:bodyPr/>
                    <a:lstStyle/>
                    <a:p>
                      <a:r>
                        <a:rPr sz="1400" b="0" i="0">
                          <a:solidFill>
                            <a:srgbClr val="1A1440"/>
                          </a:solidFill>
                          <a:latin typeface="Calibri"/>
                        </a:rPr>
                        <a:t>passes</a:t>
                      </a:r>
                    </a:p>
                  </a:txBody>
                  <a:tcPr marL="101600" marR="101600" marT="38100" marB="38100" anchor="ctr">
                    <a:solidFill>
                      <a:srgbClr val="FFFFFF"/>
                    </a:solidFill>
                  </a:tcPr>
                </a:tc>
                <a:tc>
                  <a:txBody>
                    <a:bodyPr/>
                    <a:lstStyle/>
                    <a:p>
                      <a:r>
                        <a:rPr sz="1400" b="0" i="0">
                          <a:solidFill>
                            <a:srgbClr val="1A1440"/>
                          </a:solidFill>
                          <a:latin typeface="Calibri"/>
                        </a:rPr>
                        <a:t>fails</a:t>
                      </a:r>
                    </a:p>
                  </a:txBody>
                  <a:tcPr marL="101600" marR="101600" marT="38100" marB="38100" anchor="ctr">
                    <a:solidFill>
                      <a:srgbClr val="FFFFFF"/>
                    </a:solidFill>
                  </a:tcPr>
                </a:tc>
              </a:tr>
              <a:tr h="369824">
                <a:tc>
                  <a:txBody>
                    <a:bodyPr/>
                    <a:lstStyle/>
                    <a:p>
                      <a:r>
                        <a:rPr sz="1400" b="0" i="0">
                          <a:solidFill>
                            <a:srgbClr val="1A1440"/>
                          </a:solidFill>
                          <a:latin typeface="Calibri"/>
                        </a:rPr>
                        <a:t>Each order's gap added up</a:t>
                      </a:r>
                    </a:p>
                  </a:txBody>
                  <a:tcPr marL="101600" marR="101600" marT="38100" marB="38100" anchor="ctr">
                    <a:solidFill>
                      <a:srgbClr val="F4F2FA"/>
                    </a:solidFill>
                  </a:tcPr>
                </a:tc>
                <a:tc>
                  <a:txBody>
                    <a:bodyPr/>
                    <a:lstStyle/>
                    <a:p>
                      <a:r>
                        <a:rPr sz="1400" b="0" i="0">
                          <a:solidFill>
                            <a:srgbClr val="1A1440"/>
                          </a:solidFill>
                          <a:latin typeface="Calibri"/>
                        </a:rPr>
                        <a:t>passes</a:t>
                      </a:r>
                    </a:p>
                  </a:txBody>
                  <a:tcPr marL="101600" marR="101600" marT="38100" marB="38100" anchor="ctr">
                    <a:solidFill>
                      <a:srgbClr val="F4F2FA"/>
                    </a:solidFill>
                  </a:tcPr>
                </a:tc>
                <a:tc>
                  <a:txBody>
                    <a:bodyPr/>
                    <a:lstStyle/>
                    <a:p>
                      <a:r>
                        <a:rPr sz="1400" b="0" i="0">
                          <a:solidFill>
                            <a:srgbClr val="1A1440"/>
                          </a:solidFill>
                          <a:latin typeface="Calibri"/>
                        </a:rPr>
                        <a:t>fails on the gap</a:t>
                      </a:r>
                    </a:p>
                  </a:txBody>
                  <a:tcPr marL="101600" marR="101600" marT="38100" marB="38100" anchor="ctr">
                    <a:solidFill>
                      <a:srgbClr val="F4F2FA"/>
                    </a:solidFill>
                  </a:tcPr>
                </a:tc>
              </a:tr>
              <a:tr h="369824">
                <a:tc>
                  <a:txBody>
                    <a:bodyPr/>
                    <a:lstStyle/>
                    <a:p>
                      <a:r>
                        <a:rPr sz="1400" b="0" i="0">
                          <a:solidFill>
                            <a:srgbClr val="1A1440"/>
                          </a:solidFill>
                          <a:latin typeface="Calibri"/>
                        </a:rPr>
                        <a:t>Posted read as collected</a:t>
                      </a:r>
                    </a:p>
                  </a:txBody>
                  <a:tcPr marL="101600" marR="101600" marT="38100" marB="38100" anchor="ctr">
                    <a:solidFill>
                      <a:srgbClr val="FFFFFF"/>
                    </a:solidFill>
                  </a:tcPr>
                </a:tc>
                <a:tc>
                  <a:txBody>
                    <a:bodyPr/>
                    <a:lstStyle/>
                    <a:p>
                      <a:r>
                        <a:rPr sz="1400" b="0" i="0">
                          <a:solidFill>
                            <a:srgbClr val="1A1440"/>
                          </a:solidFill>
                          <a:latin typeface="Calibri"/>
                        </a:rPr>
                        <a:t>fails: 6,500 exceeds 5,800</a:t>
                      </a:r>
                    </a:p>
                  </a:txBody>
                  <a:tcPr marL="101600" marR="101600" marT="38100" marB="38100" anchor="ctr">
                    <a:solidFill>
                      <a:srgbClr val="FFFFFF"/>
                    </a:solidFill>
                  </a:tcPr>
                </a:tc>
                <a:tc>
                  <a:txBody>
                    <a:bodyPr/>
                    <a:lstStyle/>
                    <a:p>
                      <a:r>
                        <a:rPr sz="1400" b="0" i="0">
                          <a:solidFill>
                            <a:srgbClr val="1A1440"/>
                          </a:solidFill>
                          <a:latin typeface="Calibri"/>
                        </a:rPr>
                        <a:t>fails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fan-out draft inflates booked and collected together, so its gap, 800, is even right, and only the orders and booked checks stop it. </a:t>
            </a:r>
            <a:r>
              <a:rPr sz="1600" b="1" i="0">
                <a:solidFill>
                  <a:srgbClr val="1A1440"/>
                </a:solidFill>
                <a:latin typeface="Calibri"/>
              </a:rPr>
              <a:t>The check.</a:t>
            </a:r>
            <a:r>
              <a:rPr sz="1600" b="0" i="0">
                <a:solidFill>
                  <a:srgbClr val="1A1440"/>
                </a:solidFill>
                <a:latin typeface="Calibri"/>
              </a:rPr>
              <a:t> The tie-back suite fails every wrong report on at least one check and passes the true report on all five.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Kalpa's Q2 page passes all five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suite pass Kalpa's Q2 report?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5495918"/>
                <a:gridCol w="1161437"/>
                <a:gridCol w="4473635"/>
              </a:tblGrid>
              <a:tr h="369824">
                <a:tc>
                  <a:txBody>
                    <a:bodyPr/>
                    <a:lstStyle/>
                    <a:p>
                      <a:r>
                        <a:rPr sz="1450" b="1" i="0">
                          <a:solidFill>
                            <a:srgbClr val="FFFFFF"/>
                          </a:solidFill>
                          <a:latin typeface="Calibri"/>
                        </a:rPr>
                        <a:t>Tie-back check, Kalpa's Q2</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Detail</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462 against 462</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PASS</a:t>
                      </a:r>
                    </a:p>
                  </a:txBody>
                  <a:tcPr marL="101600" marR="101600" marT="38100" marB="38100" anchor="ctr">
                    <a:solidFill>
                      <a:srgbClr val="F4F2FA"/>
                    </a:solidFill>
                  </a:tcPr>
                </a:tc>
                <a:tc>
                  <a:txBody>
                    <a:bodyPr/>
                    <a:lstStyle/>
                    <a:p>
                      <a:r>
                        <a:rPr sz="1400" b="0" i="0">
                          <a:solidFill>
                            <a:srgbClr val="1A1440"/>
                          </a:solidFill>
                          <a:latin typeface="Calibri"/>
                        </a:rPr>
                        <a:t>Rs 9,84,00,000 against Rs 9,84,00,000</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equal, figures on your own page</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unpaid list's total</a:t>
                      </a:r>
                    </a:p>
                  </a:txBody>
                  <a:tcPr marL="101600" marR="101600" marT="38100" marB="38100" anchor="ctr">
                    <a:solidFill>
                      <a:srgbClr val="F4F2FA"/>
                    </a:solidFill>
                  </a:tcPr>
                </a:tc>
                <a:tc>
                  <a:txBody>
                    <a:bodyPr/>
                    <a:lstStyle/>
                    <a:p>
                      <a:r>
                        <a:rPr sz="1400" b="0" i="0">
                          <a:solidFill>
                            <a:srgbClr val="1A1440"/>
                          </a:solidFill>
                          <a:latin typeface="Calibri"/>
                        </a:rPr>
                        <a:t>PASS</a:t>
                      </a:r>
                    </a:p>
                  </a:txBody>
                  <a:tcPr marL="101600" marR="101600" marT="38100" marB="38100" anchor="ctr">
                    <a:solidFill>
                      <a:srgbClr val="F4F2FA"/>
                    </a:solidFill>
                  </a:tcPr>
                </a:tc>
                <a:tc>
                  <a:txBody>
                    <a:bodyPr/>
                    <a:lstStyle/>
                    <a:p>
                      <a:r>
                        <a:rPr sz="1400" b="0" i="0">
                          <a:solidFill>
                            <a:srgbClr val="1A1440"/>
                          </a:solidFill>
                          <a:latin typeface="Calibri"/>
                        </a:rPr>
                        <a:t>equal, figures on your own page</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equal, figures on your own page</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page may leave the team, and every one of the 1,428 payment rows sits on a Q1 order, a Q2 order or no order at all.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counts the raw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second tool, working from the raw rows, reach the same numbers?</a:t>
            </a:r>
          </a:p>
        </p:txBody>
      </p:sp>
      <p:pic>
        <p:nvPicPr>
          <p:cNvPr id="9" name="mermaid diagram" descr="2c9ff9ae5bedf1c3.png"/>
          <p:cNvPicPr>
            <a:picLocks noChangeAspect="1"/>
          </p:cNvPicPr>
          <p:nvPr/>
        </p:nvPicPr>
        <p:blipFill>
          <a:blip r:embed="rId5"/>
          <a:stretch>
            <a:fillRect/>
          </a:stretch>
        </p:blipFill>
        <p:spPr>
          <a:xfrm>
            <a:off x="530352" y="1956816"/>
            <a:ext cx="11130991" cy="1979765"/>
          </a:xfrm>
          <a:prstGeom prst="rect">
            <a:avLst/>
          </a:prstGeom>
        </p:spPr>
      </p:pic>
      <p:sp>
        <p:nvSpPr>
          <p:cNvPr id="10" name="TextBox 9"/>
          <p:cNvSpPr txBox="1"/>
          <p:nvPr/>
        </p:nvSpPr>
        <p:spPr>
          <a:xfrm>
            <a:off x="530352" y="408288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repeat of the same instalment overwrites itself in the dictionary and counts once. </a:t>
            </a:r>
            <a:r>
              <a:rPr sz="1600" b="1" i="0">
                <a:solidFill>
                  <a:srgbClr val="1A1440"/>
                </a:solidFill>
                <a:latin typeface="Calibri"/>
              </a:rPr>
              <a:t>The check.</a:t>
            </a:r>
            <a:r>
              <a:rPr sz="1600" b="0" i="0">
                <a:solidFill>
                  <a:srgbClr val="1A1440"/>
                </a:solidFill>
                <a:latin typeface="Calibri"/>
              </a:rPr>
              <a:t> On the invented tables both tools give 5 orders, booked 5,800, collected 5,000 and a gap of 800, and they agree on Kalpa's Q2.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Anand get when a check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get when a check fails at the end of reporting day?</a:t>
            </a:r>
          </a:p>
        </p:txBody>
      </p:sp>
      <p:pic>
        <p:nvPicPr>
          <p:cNvPr id="9" name="mermaid diagram" descr="61c759709507ab46.png"/>
          <p:cNvPicPr>
            <a:picLocks noChangeAspect="1"/>
          </p:cNvPicPr>
          <p:nvPr/>
        </p:nvPicPr>
        <p:blipFill>
          <a:blip r:embed="rId5"/>
          <a:stretch>
            <a:fillRect/>
          </a:stretch>
        </p:blipFill>
        <p:spPr>
          <a:xfrm>
            <a:off x="4135871" y="1664208"/>
            <a:ext cx="3919952"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does the team send? a) nothing until the check is fixed; b) booked, which ties to orders alone, with the open line named and collected held; c) the collected figure with a footnote saying one check failed; d) last week's collected figure.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booked leaves, collected is held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failing means what, and who fixes it the same day?</a:t>
            </a:r>
          </a:p>
        </p:txBody>
      </p:sp>
      <p:graphicFrame>
        <p:nvGraphicFramePr>
          <p:cNvPr id="9" name="Table 8"/>
          <p:cNvGraphicFramePr>
            <a:graphicFrameLocks noGrp="1"/>
          </p:cNvGraphicFramePr>
          <p:nvPr/>
        </p:nvGraphicFramePr>
        <p:xfrm>
          <a:off x="530352" y="1868424"/>
          <a:ext cx="11130990" cy="2840736"/>
        </p:xfrm>
        <a:graphic>
          <a:graphicData uri="http://schemas.openxmlformats.org/drawingml/2006/table">
            <a:tbl>
              <a:tblPr firstRow="0" bandRow="0">
                <a:tableStyleId>{2D5ABB26-0587-4C30-8999-92F81FD0307C}</a:tableStyleId>
              </a:tblPr>
              <a:tblGrid>
                <a:gridCol w="3365107"/>
                <a:gridCol w="2989391"/>
                <a:gridCol w="3289964"/>
                <a:gridCol w="1486528"/>
              </a:tblGrid>
              <a:tr h="335280">
                <a:tc>
                  <a:txBody>
                    <a:bodyPr/>
                    <a:lstStyle/>
                    <a:p>
                      <a:r>
                        <a:rPr sz="1250" b="1" i="0">
                          <a:solidFill>
                            <a:srgbClr val="FFFFFF"/>
                          </a:solidFill>
                          <a:latin typeface="Calibri"/>
                        </a:rPr>
                        <a:t>The check that fails</a:t>
                      </a:r>
                    </a:p>
                  </a:txBody>
                  <a:tcPr marL="101600" marR="101600" marT="38100" marB="38100" anchor="ctr">
                    <a:solidFill>
                      <a:srgbClr val="1A0F5C"/>
                    </a:solidFill>
                  </a:tcPr>
                </a:tc>
                <a:tc>
                  <a:txBody>
                    <a:bodyPr/>
                    <a:lstStyle/>
                    <a:p>
                      <a:r>
                        <a:rPr sz="1250" b="1" i="0">
                          <a:solidFill>
                            <a:srgbClr val="FFFFFF"/>
                          </a:solidFill>
                          <a:latin typeface="Calibri"/>
                        </a:rPr>
                        <a:t>What it means</a:t>
                      </a:r>
                    </a:p>
                  </a:txBody>
                  <a:tcPr marL="101600" marR="101600" marT="38100" marB="38100" anchor="ctr">
                    <a:solidFill>
                      <a:srgbClr val="1A0F5C"/>
                    </a:solidFill>
                  </a:tcPr>
                </a:tc>
                <a:tc>
                  <a:txBody>
                    <a:bodyPr/>
                    <a:lstStyle/>
                    <a:p>
                      <a:r>
                        <a:rPr sz="1250" b="1" i="0">
                          <a:solidFill>
                            <a:srgbClr val="FFFFFF"/>
                          </a:solidFill>
                          <a:latin typeface="Calibri"/>
                        </a:rPr>
                        <a:t>What Anand gets that day</a:t>
                      </a:r>
                    </a:p>
                  </a:txBody>
                  <a:tcPr marL="101600" marR="101600" marT="38100" marB="38100" anchor="ctr">
                    <a:solidFill>
                      <a:srgbClr val="1A0F5C"/>
                    </a:solidFill>
                  </a:tcPr>
                </a:tc>
                <a:tc>
                  <a:txBody>
                    <a:bodyPr/>
                    <a:lstStyle/>
                    <a:p>
                      <a:r>
                        <a:rPr sz="1250" b="1" i="0">
                          <a:solidFill>
                            <a:srgbClr val="FFFFFF"/>
                          </a:solidFill>
                          <a:latin typeface="Calibri"/>
                        </a:rPr>
                        <a:t>Who fixes it</a:t>
                      </a:r>
                    </a:p>
                  </a:txBody>
                  <a:tcPr marL="101600" marR="101600" marT="38100" marB="38100" anchor="ctr">
                    <a:solidFill>
                      <a:srgbClr val="1A0F5C"/>
                    </a:solidFill>
                  </a:tcPr>
                </a:tc>
              </a:tr>
              <a:tr h="542544">
                <a:tc>
                  <a:txBody>
                    <a:bodyPr/>
                    <a:lstStyle/>
                    <a:p>
                      <a:r>
                        <a:rPr sz="1200" b="0" i="0">
                          <a:solidFill>
                            <a:srgbClr val="1A1440"/>
                          </a:solidFill>
                          <a:latin typeface="Calibri"/>
                        </a:rPr>
                        <a:t>Orders against the table</a:t>
                      </a:r>
                    </a:p>
                  </a:txBody>
                  <a:tcPr marL="101600" marR="101600" marT="38100" marB="38100" anchor="ctr">
                    <a:solidFill>
                      <a:srgbClr val="FFFFFF"/>
                    </a:solidFill>
                  </a:tcPr>
                </a:tc>
                <a:tc>
                  <a:txBody>
                    <a:bodyPr/>
                    <a:lstStyle/>
                    <a:p>
                      <a:r>
                        <a:rPr sz="1200" b="0" i="0">
                          <a:solidFill>
                            <a:srgbClr val="1A1440"/>
                          </a:solidFill>
                          <a:latin typeface="Calibri"/>
                        </a:rPr>
                        <a:t>The join dropped or repeated an order</a:t>
                      </a:r>
                    </a:p>
                  </a:txBody>
                  <a:tcPr marL="101600" marR="101600" marT="38100" marB="38100" anchor="ctr">
                    <a:solidFill>
                      <a:srgbClr val="FFFFFF"/>
                    </a:solidFill>
                  </a:tcPr>
                </a:tc>
                <a:tc>
                  <a:txBody>
                    <a:bodyPr/>
                    <a:lstStyle/>
                    <a:p>
                      <a:r>
                        <a:rPr sz="1200" b="0" i="0">
                          <a:solidFill>
                            <a:srgbClr val="1A1440"/>
                          </a:solidFill>
                          <a:latin typeface="Calibri"/>
                        </a:rPr>
                        <a:t>Booked; collected held</a:t>
                      </a:r>
                    </a:p>
                  </a:txBody>
                  <a:tcPr marL="101600" marR="101600" marT="38100" marB="38100" anchor="ctr">
                    <a:solidFill>
                      <a:srgbClr val="FFFFFF"/>
                    </a:solidFill>
                  </a:tcPr>
                </a:tc>
                <a:tc>
                  <a:txBody>
                    <a:bodyPr/>
                    <a:lstStyle/>
                    <a:p>
                      <a:r>
                        <a:rPr sz="1200" b="0" i="0">
                          <a:solidFill>
                            <a:srgbClr val="1A1440"/>
                          </a:solidFill>
                          <a:latin typeface="Calibri"/>
                        </a:rPr>
                        <a:t>You</a:t>
                      </a:r>
                    </a:p>
                  </a:txBody>
                  <a:tcPr marL="101600" marR="101600" marT="38100" marB="38100" anchor="ctr">
                    <a:solidFill>
                      <a:srgbClr val="FFFFFF"/>
                    </a:solidFill>
                  </a:tcPr>
                </a:tc>
              </a:tr>
              <a:tr h="542544">
                <a:tc>
                  <a:txBody>
                    <a:bodyPr/>
                    <a:lstStyle/>
                    <a:p>
                      <a:r>
                        <a:rPr sz="1200" b="0" i="0">
                          <a:solidFill>
                            <a:srgbClr val="1A1440"/>
                          </a:solidFill>
                          <a:latin typeface="Calibri"/>
                        </a:rPr>
                        <a:t>Booked against orders alone</a:t>
                      </a:r>
                    </a:p>
                  </a:txBody>
                  <a:tcPr marL="101600" marR="101600" marT="38100" marB="38100" anchor="ctr">
                    <a:solidFill>
                      <a:srgbClr val="F4F2FA"/>
                    </a:solidFill>
                  </a:tcPr>
                </a:tc>
                <a:tc>
                  <a:txBody>
                    <a:bodyPr/>
                    <a:lstStyle/>
                    <a:p>
                      <a:r>
                        <a:rPr sz="1200" b="0" i="0">
                          <a:solidFill>
                            <a:srgbClr val="1A1440"/>
                          </a:solidFill>
                          <a:latin typeface="Calibri"/>
                        </a:rPr>
                        <a:t>A fan-out or a dropped order</a:t>
                      </a:r>
                    </a:p>
                  </a:txBody>
                  <a:tcPr marL="101600" marR="101600" marT="38100" marB="38100" anchor="ctr">
                    <a:solidFill>
                      <a:srgbClr val="F4F2FA"/>
                    </a:solidFill>
                  </a:tcPr>
                </a:tc>
                <a:tc>
                  <a:txBody>
                    <a:bodyPr/>
                    <a:lstStyle/>
                    <a:p>
                      <a:r>
                        <a:rPr sz="1200" b="0" i="0">
                          <a:solidFill>
                            <a:srgbClr val="1A1440"/>
                          </a:solidFill>
                          <a:latin typeface="Calibri"/>
                        </a:rPr>
                        <a:t>Booked from orders alone; collected held</a:t>
                      </a:r>
                    </a:p>
                  </a:txBody>
                  <a:tcPr marL="101600" marR="101600" marT="38100" marB="38100" anchor="ctr">
                    <a:solidFill>
                      <a:srgbClr val="F4F2FA"/>
                    </a:solidFill>
                  </a:tcPr>
                </a:tc>
                <a:tc>
                  <a:txBody>
                    <a:bodyPr/>
                    <a:lstStyle/>
                    <a:p>
                      <a:r>
                        <a:rPr sz="1200" b="0" i="0">
                          <a:solidFill>
                            <a:srgbClr val="1A1440"/>
                          </a:solidFill>
                          <a:latin typeface="Calibri"/>
                        </a:rPr>
                        <a:t>You</a:t>
                      </a:r>
                    </a:p>
                  </a:txBody>
                  <a:tcPr marL="101600" marR="101600" marT="38100" marB="38100" anchor="ctr">
                    <a:solidFill>
                      <a:srgbClr val="F4F2FA"/>
                    </a:solidFill>
                  </a:tcPr>
                </a:tc>
              </a:tr>
              <a:tr h="335280">
                <a:tc>
                  <a:txBody>
                    <a:bodyPr/>
                    <a:lstStyle/>
                    <a:p>
                      <a:r>
                        <a:rPr sz="1200" b="0" i="0">
                          <a:solidFill>
                            <a:srgbClr val="1A1440"/>
                          </a:solidFill>
                          <a:latin typeface="Calibri"/>
                        </a:rPr>
                        <a:t>The gap against booked less collected</a:t>
                      </a:r>
                    </a:p>
                  </a:txBody>
                  <a:tcPr marL="101600" marR="101600" marT="38100" marB="38100" anchor="ctr">
                    <a:solidFill>
                      <a:srgbClr val="FFFFFF"/>
                    </a:solidFill>
                  </a:tcPr>
                </a:tc>
                <a:tc>
                  <a:txBody>
                    <a:bodyPr/>
                    <a:lstStyle/>
                    <a:p>
                      <a:r>
                        <a:rPr sz="1200" b="0" i="0">
                          <a:solidFill>
                            <a:srgbClr val="1A1440"/>
                          </a:solidFill>
                          <a:latin typeface="Calibri"/>
                        </a:rPr>
                        <a:t>A NULL fell out of a sum</a:t>
                      </a:r>
                    </a:p>
                  </a:txBody>
                  <a:tcPr marL="101600" marR="101600" marT="38100" marB="38100" anchor="ctr">
                    <a:solidFill>
                      <a:srgbClr val="FFFFFF"/>
                    </a:solidFill>
                  </a:tcPr>
                </a:tc>
                <a:tc>
                  <a:txBody>
                    <a:bodyPr/>
                    <a:lstStyle/>
                    <a:p>
                      <a:r>
                        <a:rPr sz="1200" b="0" i="0">
                          <a:solidFill>
                            <a:srgbClr val="1A1440"/>
                          </a:solidFill>
                          <a:latin typeface="Calibri"/>
                        </a:rPr>
                        <a:t>The page with the gap recomputed</a:t>
                      </a:r>
                    </a:p>
                  </a:txBody>
                  <a:tcPr marL="101600" marR="101600" marT="38100" marB="38100" anchor="ctr">
                    <a:solidFill>
                      <a:srgbClr val="FFFFFF"/>
                    </a:solidFill>
                  </a:tcPr>
                </a:tc>
                <a:tc>
                  <a:txBody>
                    <a:bodyPr/>
                    <a:lstStyle/>
                    <a:p>
                      <a:r>
                        <a:rPr sz="1200" b="0" i="0">
                          <a:solidFill>
                            <a:srgbClr val="1A1440"/>
                          </a:solidFill>
                          <a:latin typeface="Calibri"/>
                        </a:rPr>
                        <a:t>You</a:t>
                      </a:r>
                    </a:p>
                  </a:txBody>
                  <a:tcPr marL="101600" marR="101600" marT="38100" marB="38100" anchor="ctr">
                    <a:solidFill>
                      <a:srgbClr val="FFFFFF"/>
                    </a:solidFill>
                  </a:tcPr>
                </a:tc>
              </a:tr>
              <a:tr h="542544">
                <a:tc>
                  <a:txBody>
                    <a:bodyPr/>
                    <a:lstStyle/>
                    <a:p>
                      <a:r>
                        <a:rPr sz="1200" b="0" i="0">
                          <a:solidFill>
                            <a:srgbClr val="1A1440"/>
                          </a:solidFill>
                          <a:latin typeface="Calibri"/>
                        </a:rPr>
                        <a:t>The gap against the unpaid list</a:t>
                      </a:r>
                    </a:p>
                  </a:txBody>
                  <a:tcPr marL="101600" marR="101600" marT="38100" marB="38100" anchor="ctr">
                    <a:solidFill>
                      <a:srgbClr val="F4F2FA"/>
                    </a:solidFill>
                  </a:tcPr>
                </a:tc>
                <a:tc>
                  <a:txBody>
                    <a:bodyPr/>
                    <a:lstStyle/>
                    <a:p>
                      <a:r>
                        <a:rPr sz="1200" b="0" i="0">
                          <a:solidFill>
                            <a:srgbClr val="1A1440"/>
                          </a:solidFill>
                          <a:latin typeface="Calibri"/>
                        </a:rPr>
                        <a:t>A list or a bar is wrong</a:t>
                      </a:r>
                    </a:p>
                  </a:txBody>
                  <a:tcPr marL="101600" marR="101600" marT="38100" marB="38100" anchor="ctr">
                    <a:solidFill>
                      <a:srgbClr val="F4F2FA"/>
                    </a:solidFill>
                  </a:tcPr>
                </a:tc>
                <a:tc>
                  <a:txBody>
                    <a:bodyPr/>
                    <a:lstStyle/>
                    <a:p>
                      <a:r>
                        <a:rPr sz="1200" b="0" i="0">
                          <a:solidFill>
                            <a:srgbClr val="1A1440"/>
                          </a:solidFill>
                          <a:latin typeface="Calibri"/>
                        </a:rPr>
                        <a:t>Booked and collected, the gap provisional</a:t>
                      </a:r>
                    </a:p>
                  </a:txBody>
                  <a:tcPr marL="101600" marR="101600" marT="38100" marB="38100" anchor="ctr">
                    <a:solidFill>
                      <a:srgbClr val="F4F2FA"/>
                    </a:solidFill>
                  </a:tcPr>
                </a:tc>
                <a:tc>
                  <a:txBody>
                    <a:bodyPr/>
                    <a:lstStyle/>
                    <a:p>
                      <a:r>
                        <a:rPr sz="1200" b="0" i="0">
                          <a:solidFill>
                            <a:srgbClr val="1A1440"/>
                          </a:solidFill>
                          <a:latin typeface="Calibri"/>
                        </a:rPr>
                        <a:t>You, with Kavya</a:t>
                      </a:r>
                    </a:p>
                  </a:txBody>
                  <a:tcPr marL="101600" marR="101600" marT="38100" marB="38100" anchor="ctr">
                    <a:solidFill>
                      <a:srgbClr val="F4F2FA"/>
                    </a:solidFill>
                  </a:tcPr>
                </a:tc>
              </a:tr>
              <a:tr h="542544">
                <a:tc>
                  <a:txBody>
                    <a:bodyPr/>
                    <a:lstStyle/>
                    <a:p>
                      <a:r>
                        <a:rPr sz="1200" b="0" i="0">
                          <a:solidFill>
                            <a:srgbClr val="1A1440"/>
                          </a:solidFill>
                          <a:latin typeface="Calibri"/>
                        </a:rPr>
                        <a:t>Collected plus posted twice against posted</a:t>
                      </a:r>
                    </a:p>
                  </a:txBody>
                  <a:tcPr marL="101600" marR="101600" marT="38100" marB="38100" anchor="ctr">
                    <a:solidFill>
                      <a:srgbClr val="FFFFFF"/>
                    </a:solidFill>
                  </a:tcPr>
                </a:tc>
                <a:tc>
                  <a:txBody>
                    <a:bodyPr/>
                    <a:lstStyle/>
                    <a:p>
                      <a:r>
                        <a:rPr sz="1200" b="0" i="0">
                          <a:solidFill>
                            <a:srgbClr val="1A1440"/>
                          </a:solidFill>
                          <a:latin typeface="Calibri"/>
                        </a:rPr>
                        <a:t>The feed changed</a:t>
                      </a:r>
                    </a:p>
                  </a:txBody>
                  <a:tcPr marL="101600" marR="101600" marT="38100" marB="38100" anchor="ctr">
                    <a:solidFill>
                      <a:srgbClr val="FFFFFF"/>
                    </a:solidFill>
                  </a:tcPr>
                </a:tc>
                <a:tc>
                  <a:txBody>
                    <a:bodyPr/>
                    <a:lstStyle/>
                    <a:p>
                      <a:r>
                        <a:rPr sz="1200" b="0" i="0">
                          <a:solidFill>
                            <a:srgbClr val="1A1440"/>
                          </a:solidFill>
                          <a:latin typeface="Calibri"/>
                        </a:rPr>
                        <a:t>Booked; collected held; the lead told</a:t>
                      </a:r>
                    </a:p>
                  </a:txBody>
                  <a:tcPr marL="101600" marR="101600" marT="38100" marB="38100" anchor="ctr">
                    <a:solidFill>
                      <a:srgbClr val="FFFFFF"/>
                    </a:solidFill>
                  </a:tcPr>
                </a:tc>
                <a:tc>
                  <a:txBody>
                    <a:bodyPr/>
                    <a:lstStyle/>
                    <a:p>
                      <a:r>
                        <a:rPr sz="1200" b="0" i="0">
                          <a:solidFill>
                            <a:srgbClr val="1A1440"/>
                          </a:solidFill>
                          <a:latin typeface="Calibri"/>
                        </a:rPr>
                        <a:t>The platform lead</a:t>
                      </a:r>
                    </a:p>
                  </a:txBody>
                  <a:tcPr marL="101600" marR="101600" marT="38100" marB="38100" anchor="ctr">
                    <a:solidFill>
                      <a:srgbClr val="FFFFFF"/>
                    </a:solidFill>
                  </a:tcPr>
                </a:tc>
              </a:tr>
            </a:tbl>
          </a:graphicData>
        </a:graphic>
      </p:graphicFrame>
      <p:sp>
        <p:nvSpPr>
          <p:cNvPr id="10" name="TextBox 9"/>
          <p:cNvSpPr txBox="1"/>
          <p:nvPr/>
        </p:nvSpPr>
        <p:spPr>
          <a:xfrm>
            <a:off x="530352" y="49651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The rule.</a:t>
            </a:r>
            <a:r>
              <a:rPr sz="1600" b="0" i="0">
                <a:solidFill>
                  <a:srgbClr val="1A1440"/>
                </a:solidFill>
                <a:latin typeface="Calibri"/>
              </a:rPr>
              <a:t> Booked always leaves, because it ties to the orders table alone; an unreconciled collected figure never leaves; the open line, which check failed, what it means and when it will close, goes with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6 answer, and what does the day's page now carry?</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594636"/>
                <a:gridCol w="853635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Hurried checks?</a:t>
                      </a:r>
                    </a:p>
                  </a:txBody>
                  <a:tcPr marL="101600" marR="101600" marT="38100" marB="38100" anchor="ctr">
                    <a:solidFill>
                      <a:srgbClr val="FFFFFF"/>
                    </a:solidFill>
                  </a:tcPr>
                </a:tc>
                <a:tc>
                  <a:txBody>
                    <a:bodyPr/>
                    <a:lstStyle/>
                    <a:p>
                      <a:r>
                        <a:rPr sz="1400" b="0" i="0">
                          <a:solidFill>
                            <a:srgbClr val="1A1440"/>
                          </a:solidFill>
                          <a:latin typeface="Calibri"/>
                        </a:rPr>
                        <a:t>They pass the plain JOIN report 3 of 3, because each reads the report alone</a:t>
                      </a:r>
                    </a:p>
                  </a:txBody>
                  <a:tcPr marL="101600" marR="101600" marT="38100" marB="38100" anchor="ctr">
                    <a:solidFill>
                      <a:srgbClr val="FFFFFF"/>
                    </a:solidFill>
                  </a:tcPr>
                </a:tc>
              </a:tr>
              <a:tr h="369824">
                <a:tc>
                  <a:txBody>
                    <a:bodyPr/>
                    <a:lstStyle/>
                    <a:p>
                      <a:r>
                        <a:rPr sz="1400" b="0" i="0">
                          <a:solidFill>
                            <a:srgbClr val="1A1440"/>
                          </a:solidFill>
                          <a:latin typeface="Calibri"/>
                        </a:rPr>
                        <a:t>Tie back how?</a:t>
                      </a:r>
                    </a:p>
                  </a:txBody>
                  <a:tcPr marL="101600" marR="101600" marT="38100" marB="38100" anchor="ctr">
                    <a:solidFill>
                      <a:srgbClr val="F4F2FA"/>
                    </a:solidFill>
                  </a:tcPr>
                </a:tc>
                <a:tc>
                  <a:txBody>
                    <a:bodyPr/>
                    <a:lstStyle/>
                    <a:p>
                      <a:r>
                        <a:rPr sz="1400" b="0" i="0">
                          <a:solidFill>
                            <a:srgbClr val="1A1440"/>
                          </a:solidFill>
                          <a:latin typeface="Calibri"/>
                        </a:rPr>
                        <a:t>Five checks recompute orders, booked, the gap and posted from one table each</a:t>
                      </a:r>
                    </a:p>
                  </a:txBody>
                  <a:tcPr marL="101600" marR="101600" marT="38100" marB="38100" anchor="ctr">
                    <a:solidFill>
                      <a:srgbClr val="F4F2FA"/>
                    </a:solidFill>
                  </a:tcPr>
                </a:tc>
              </a:tr>
              <a:tr h="369824">
                <a:tc>
                  <a:txBody>
                    <a:bodyPr/>
                    <a:lstStyle/>
                    <a:p>
                      <a:r>
                        <a:rPr sz="1400" b="0" i="0">
                          <a:solidFill>
                            <a:srgbClr val="1A1440"/>
                          </a:solidFill>
                          <a:latin typeface="Calibri"/>
                        </a:rPr>
                        <a:t>Every wrong one?</a:t>
                      </a:r>
                    </a:p>
                  </a:txBody>
                  <a:tcPr marL="101600" marR="101600" marT="38100" marB="38100" anchor="ctr">
                    <a:solidFill>
                      <a:srgbClr val="FFFFFF"/>
                    </a:solidFill>
                  </a:tcPr>
                </a:tc>
                <a:tc>
                  <a:txBody>
                    <a:bodyPr/>
                    <a:lstStyle/>
                    <a:p>
                      <a:r>
                        <a:rPr sz="1400" b="0" i="0">
                          <a:solidFill>
                            <a:srgbClr val="1A1440"/>
                          </a:solidFill>
                          <a:latin typeface="Calibri"/>
                        </a:rPr>
                        <a:t>Plausibility lets 4 of 5 through; the tie-back suite stops all 5</a:t>
                      </a:r>
                    </a:p>
                  </a:txBody>
                  <a:tcPr marL="101600" marR="101600" marT="38100" marB="38100" anchor="ctr">
                    <a:solidFill>
                      <a:srgbClr val="FFFFFF"/>
                    </a:solidFill>
                  </a:tcPr>
                </a:tc>
              </a:tr>
              <a:tr h="369824">
                <a:tc>
                  <a:txBody>
                    <a:bodyPr/>
                    <a:lstStyle/>
                    <a:p>
                      <a:r>
                        <a:rPr sz="1400" b="0" i="0">
                          <a:solidFill>
                            <a:srgbClr val="1A1440"/>
                          </a:solidFill>
                          <a:latin typeface="Calibri"/>
                        </a:rPr>
                        <a:t>Kalpa's Q2?</a:t>
                      </a:r>
                    </a:p>
                  </a:txBody>
                  <a:tcPr marL="101600" marR="101600" marT="38100" marB="38100" anchor="ctr">
                    <a:solidFill>
                      <a:srgbClr val="F4F2FA"/>
                    </a:solidFill>
                  </a:tcPr>
                </a:tc>
                <a:tc>
                  <a:txBody>
                    <a:bodyPr/>
                    <a:lstStyle/>
                    <a:p>
                      <a:r>
                        <a:rPr sz="1400" b="0" i="0">
                          <a:solidFill>
                            <a:srgbClr val="1A1440"/>
                          </a:solidFill>
                          <a:latin typeface="Calibri"/>
                        </a:rPr>
                        <a:t>5 of 5 pass: 462 against 462, Rs 9,84,00,000 against Rs 9,84,00,000</a:t>
                      </a:r>
                    </a:p>
                  </a:txBody>
                  <a:tcPr marL="101600" marR="101600" marT="38100" marB="38100" anchor="ctr">
                    <a:solidFill>
                      <a:srgbClr val="F4F2FA"/>
                    </a:solidFill>
                  </a:tcPr>
                </a:tc>
              </a:tr>
              <a:tr h="369824">
                <a:tc>
                  <a:txBody>
                    <a:bodyPr/>
                    <a:lstStyle/>
                    <a:p>
                      <a:r>
                        <a:rPr sz="1400" b="0" i="0">
                          <a:solidFill>
                            <a:srgbClr val="1A1440"/>
                          </a:solidFill>
                          <a:latin typeface="Calibri"/>
                        </a:rPr>
                        <a:t>A second tool?</a:t>
                      </a:r>
                    </a:p>
                  </a:txBody>
                  <a:tcPr marL="101600" marR="101600" marT="38100" marB="38100" anchor="ctr">
                    <a:solidFill>
                      <a:srgbClr val="FFFFFF"/>
                    </a:solidFill>
                  </a:tcPr>
                </a:tc>
                <a:tc>
                  <a:txBody>
                    <a:bodyPr/>
                    <a:lstStyle/>
                    <a:p>
                      <a:r>
                        <a:rPr sz="1400" b="0" i="0">
                          <a:solidFill>
                            <a:srgbClr val="1A1440"/>
                          </a:solidFill>
                          <a:latin typeface="Calibri"/>
                        </a:rPr>
                        <a:t>Python from the raw rows matches on orders, booked, collected and the gap</a:t>
                      </a:r>
                    </a:p>
                  </a:txBody>
                  <a:tcPr marL="101600" marR="101600" marT="38100" marB="38100" anchor="ctr">
                    <a:solidFill>
                      <a:srgbClr val="FFFFFF"/>
                    </a:solidFill>
                  </a:tcPr>
                </a:tc>
              </a:tr>
              <a:tr h="369824">
                <a:tc>
                  <a:txBody>
                    <a:bodyPr/>
                    <a:lstStyle/>
                    <a:p>
                      <a:r>
                        <a:rPr sz="1400" b="0" i="0">
                          <a:solidFill>
                            <a:srgbClr val="1A1440"/>
                          </a:solidFill>
                          <a:latin typeface="Calibri"/>
                        </a:rPr>
                        <a:t>When one fails?</a:t>
                      </a:r>
                    </a:p>
                  </a:txBody>
                  <a:tcPr marL="101600" marR="101600" marT="38100" marB="38100" anchor="ctr">
                    <a:solidFill>
                      <a:srgbClr val="F4F2FA"/>
                    </a:solidFill>
                  </a:tcPr>
                </a:tc>
                <a:tc>
                  <a:txBody>
                    <a:bodyPr/>
                    <a:lstStyle/>
                    <a:p>
                      <a:r>
                        <a:rPr sz="1400" b="0" i="0">
                          <a:solidFill>
                            <a:srgbClr val="1A1440"/>
                          </a:solidFill>
                          <a:latin typeface="Calibri"/>
                        </a:rPr>
                        <a:t>Booked leaves with the open line; collected is held; the owner hears that day</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"A check that cannot fail is decoration. For every check, tell me which wrong report it would have stopped, and do not send me a PASS you have never seen fail."</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1" name="Oval 20"/>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make the gap?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Q2 orders and channels make the gap, and how do you prove the collected figure counts no payment twice, working alone from the warehouse?</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five parts, two of them now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escalated case ask, and which parts run before the tentative faculty block?</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Booked by channel</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From the orders table alone, the baseline every later figure reconciles to.</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Collected, counted</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At order grain, with the reconciliation written before the query runs.</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unpaid list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Q2 order with no payment, its total against the gap.</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double-paid list</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Retries only, its surplus against posted less collected.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The page and its proof</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One line per channel, the check that proves it, and the sentence to Anand.</a:t>
            </a:r>
          </a:p>
        </p:txBody>
      </p:sp>
      <p:sp>
        <p:nvSpPr>
          <p:cNvPr id="35" name="Rounded Rectangle 34"/>
          <p:cNvSpPr/>
          <p:nvPr/>
        </p:nvSpPr>
        <p:spPr>
          <a:xfrm>
            <a:off x="530352" y="4276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76656" y="4404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77824" y="4395216"/>
            <a:ext cx="10564063" cy="624840"/>
          </a:xfrm>
          <a:prstGeom prst="rect">
            <a:avLst/>
          </a:prstGeom>
          <a:noFill/>
        </p:spPr>
        <p:txBody>
          <a:bodyPr wrap="square" anchor="ctr" lIns="0" rIns="0" tIns="0" bIns="0">
            <a:spAutoFit/>
          </a:bodyPr>
          <a:lstStyle/>
          <a:p>
            <a:r>
              <a:rPr sz="1500" b="1">
                <a:solidFill>
                  <a:srgbClr val="5B3FD6"/>
                </a:solidFill>
                <a:latin typeface="Calibri"/>
              </a:rPr>
              <a:t>Now, alone, 20 minutes. </a:t>
            </a:r>
            <a:r>
              <a:rPr sz="1500" b="0" i="0">
                <a:solidFill>
                  <a:srgbClr val="1A1440"/>
                </a:solidFill>
                <a:latin typeface="Calibri"/>
              </a:rPr>
              <a:t>Parts 1 and 2 in the case notebook: pick each lettered option, run the check under it, and write the reconciliation lines. Parts 3 to 5 run in the practice lab.</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40" name="Oval 39"/>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orders make the gap?</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44" name="Oval 43"/>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case asks that the chapters did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escalated case harder than the six chapters?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NO INVENTED TABLE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Kalpa's warehouse only</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Every list is built on the real Q2 orders and payments, with nothing traced first on five rows.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8726d21bc746.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YOUR OWN PICKS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Eight lettered choices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grain, the join, the anti-join condition, the retry grain, its surplus, the gap expression and the proving check.</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n-line_fbe9fe928d7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YOUR OWN PAGE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sentence to Anand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Written from the figures you found, with the check that lets it leave.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29" name="Oval 28"/>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8168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orders make the gap?</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3" name="Oval 3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the lab and tonight carry?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parts of the day move to the TA-led practice lab and the take-home, since the tentative faculty block takes the last 120 minutes?</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parts 3 to 5, the second case, the drill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moves from the afternoon to the lab and the take-home, and in what order?</a:t>
            </a:r>
          </a:p>
        </p:txBody>
      </p:sp>
      <p:sp>
        <p:nvSpPr>
          <p:cNvPr id="10" name="Rectangle 9"/>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FIRST</a:t>
            </a:r>
          </a:p>
        </p:txBody>
      </p:sp>
      <p:sp>
        <p:nvSpPr>
          <p:cNvPr id="12" name="Oval 11"/>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The escalated case, parts 3 to 5</a:t>
            </a:r>
          </a:p>
        </p:txBody>
      </p:sp>
      <p:sp>
        <p:nvSpPr>
          <p:cNvPr id="15" name="TextBox 14"/>
          <p:cNvSpPr txBox="1"/>
          <p:nvPr/>
        </p:nvSpPr>
        <p:spPr>
          <a:xfrm>
            <a:off x="694944" y="3492500"/>
            <a:ext cx="2316403" cy="696976"/>
          </a:xfrm>
          <a:prstGeom prst="rect">
            <a:avLst/>
          </a:prstGeom>
          <a:noFill/>
        </p:spPr>
        <p:txBody>
          <a:bodyPr wrap="square" anchor="t" lIns="0" rIns="0" tIns="0" bIns="0">
            <a:spAutoFit/>
          </a:bodyPr>
          <a:lstStyle/>
          <a:p>
            <a:pPr algn="l"/>
            <a:r>
              <a:rPr sz="1000" b="0" i="0">
                <a:solidFill>
                  <a:srgbClr val="6B6690"/>
                </a:solidFill>
                <a:latin typeface="Calibri"/>
              </a:rPr>
              <a:t>The unpaid list, the double-paid list and the page with its proof, alone, then the debrief of wrong picks.</a:t>
            </a:r>
          </a:p>
        </p:txBody>
      </p:sp>
      <p:sp>
        <p:nvSpPr>
          <p:cNvPr id="16" name="TextBox 15"/>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THEN</a:t>
            </a:r>
          </a:p>
        </p:txBody>
      </p:sp>
      <p:sp>
        <p:nvSpPr>
          <p:cNvPr id="17" name="Oval 16"/>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second case, in pairs</a:t>
            </a:r>
          </a:p>
        </p:txBody>
      </p:sp>
      <p:sp>
        <p:nvSpPr>
          <p:cNvPr id="20" name="TextBox 19"/>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platform lead's audit of the feed, both quarters, four parts.</a:t>
            </a:r>
          </a:p>
        </p:txBody>
      </p:sp>
      <p:sp>
        <p:nvSpPr>
          <p:cNvPr id="21" name="TextBox 20"/>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LAST</a:t>
            </a:r>
          </a:p>
        </p:txBody>
      </p:sp>
      <p:sp>
        <p:nvSpPr>
          <p:cNvPr id="22" name="Oval 21"/>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interview drill</a:t>
            </a:r>
          </a:p>
        </p:txBody>
      </p:sp>
      <p:sp>
        <p:nvSpPr>
          <p:cNvPr id="25" name="TextBox 24"/>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day's questions aloud in pairs, sixty seconds each, the design question among them.</a:t>
            </a:r>
          </a:p>
        </p:txBody>
      </p:sp>
      <p:sp>
        <p:nvSpPr>
          <p:cNvPr id="26" name="TextBox 25"/>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27" name="Oval 26"/>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take-home</a:t>
            </a:r>
          </a:p>
        </p:txBody>
      </p:sp>
      <p:sp>
        <p:nvSpPr>
          <p:cNvPr id="30" name="TextBox 29"/>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A second book in its own schema, collected net of refunds by channel, and a join question of your own.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37" name="Oval 3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the platform lead's audit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payment rows in the feed should not be there, and what should the platform lead fix first?</a:t>
            </a:r>
          </a:p>
        </p:txBody>
      </p:sp>
      <p:sp>
        <p:nvSpPr>
          <p:cNvPr id="10" name="Rounded Rectangle 9"/>
          <p:cNvSpPr/>
          <p:nvPr/>
        </p:nvSpPr>
        <p:spPr>
          <a:xfrm>
            <a:off x="530352" y="1809051"/>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27082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2380551"/>
            <a:ext cx="237744" cy="237744"/>
          </a:xfrm>
          <a:prstGeom prst="rect">
            <a:avLst/>
          </a:prstGeom>
        </p:spPr>
      </p:pic>
      <p:sp>
        <p:nvSpPr>
          <p:cNvPr id="13" name="TextBox 12"/>
          <p:cNvSpPr txBox="1"/>
          <p:nvPr/>
        </p:nvSpPr>
        <p:spPr>
          <a:xfrm>
            <a:off x="1399031" y="1955355"/>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2174811"/>
            <a:ext cx="9987991" cy="941832"/>
          </a:xfrm>
          <a:prstGeom prst="rect">
            <a:avLst/>
          </a:prstGeom>
          <a:noFill/>
        </p:spPr>
        <p:txBody>
          <a:bodyPr wrap="square" anchor="t" lIns="0" rIns="0" tIns="0" bIns="0">
            <a:spAutoFit/>
          </a:bodyPr>
          <a:lstStyle/>
          <a:p>
            <a:r>
              <a:rPr sz="1500" b="0" i="0">
                <a:solidFill>
                  <a:srgbClr val="FFFFFF"/>
                </a:solidFill>
                <a:latin typeface="Calibri"/>
              </a:rPr>
              <a:t>"Before I repair the payments feed, tell me which rows in it should not be there: payments with no order behind them, and payments the gateway posted twice. Both quarters, with the dates, the methods and the rupees at stake, and tell me what to fix first." The data platform lead, Kalpa Retail</a:t>
            </a:r>
          </a:p>
        </p:txBody>
      </p:sp>
      <p:pic>
        <p:nvPicPr>
          <p:cNvPr id="15" name="mermaid diagram" descr="99fa2ec1c56e2489.png"/>
          <p:cNvPicPr>
            <a:picLocks noChangeAspect="1"/>
          </p:cNvPicPr>
          <p:nvPr/>
        </p:nvPicPr>
        <p:blipFill>
          <a:blip r:embed="rId6"/>
          <a:stretch>
            <a:fillRect/>
          </a:stretch>
        </p:blipFill>
        <p:spPr>
          <a:xfrm>
            <a:off x="1073791" y="3354387"/>
            <a:ext cx="10044112" cy="1800225"/>
          </a:xfrm>
          <a:prstGeom prst="rect">
            <a:avLst/>
          </a:prstGeom>
        </p:spPr>
      </p:pic>
      <p:sp>
        <p:nvSpPr>
          <p:cNvPr id="16" name="TextBox 15"/>
          <p:cNvSpPr txBox="1"/>
          <p:nvPr/>
        </p:nvSpPr>
        <p:spPr>
          <a:xfrm>
            <a:off x="530352" y="53009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pairs in the lab: four parts in notebooks/C2_W02_D02_ex2_second_case_STUDENT.ipynb and its brief in exercises/unguided/C2_W02_D02_second_case_STUDENT.md.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9" name="Oval 1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1" name="Oval 20"/>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23" name="Oval 2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six questions every screen asks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does this day equip, and how is each tagged?</a:t>
            </a:r>
          </a:p>
        </p:txBody>
      </p:sp>
      <p:graphicFrame>
        <p:nvGraphicFramePr>
          <p:cNvPr id="10" name="Table 9"/>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INNER against LEFT join: what does each drop or keep?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Your join grew the row count; name the cause and the check.</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orders with no payment?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doubled after a join and every row looks fine; where do you look?</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the validation you run before a joined number reaches Finance, and say what you do when it fails at the end of reporting day.</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When is an INNER join the honest choice?</a:t>
                      </a:r>
                    </a:p>
                  </a:txBody>
                  <a:tcPr marL="101600" marR="101600" marT="38100" marB="38100" anchor="ctr">
                    <a:solidFill>
                      <a:srgbClr val="F4F2FA"/>
                    </a:solidFill>
                  </a:tcPr>
                </a:tc>
              </a:tr>
            </a:tbl>
          </a:graphicData>
        </a:graphic>
      </p:graphicFrame>
      <p:sp>
        <p:nvSpPr>
          <p:cNvPr id="11" name="TextBox 10"/>
          <p:cNvSpPr txBox="1"/>
          <p:nvPr/>
        </p:nvSpPr>
        <p:spPr>
          <a:xfrm>
            <a:off x="530352" y="50434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Tags: [S] a staple asked everywhere; [F] frequent in GCC and product screens; [D] a differentiator.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18" name="Oval 17"/>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Follow-ups and the design question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does an interviewer ask once the first answer lands?</a:t>
            </a:r>
          </a:p>
        </p:txBody>
      </p:sp>
      <p:graphicFrame>
        <p:nvGraphicFramePr>
          <p:cNvPr id="10" name="Table 9"/>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filter on the right-hand table of a LEFT JOIN: WHERE or ON, and what changes?</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HAVING COUNT(*) &gt; 1 on payments by order: what does it find, and what does it wrongly include?</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reconcile a total after a join back to its source table?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Two errors cancel and the total looks right: how would you find them?</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Anand says the gap is too small to matter: how do you decide whether to chase it?</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If you could keep only one check before a joined number leaves, which would you keep?</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room today?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sentence goes to Anand, which lines are worth keeping, and what does tomorrow ask?</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sentence Anand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read, in one sentence he can repeat?</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"Q2 booked Rs 9,84,00,000 and collected Rs ___, each payment counted once. The gap of Rs ___ is ___ orders nobody has paid, listed by channel, largest first. Separately, Rs ___ was posted twice by gateway retries and ___ payments match no order; both lists go to the platform lead. Every figure ties back to the orders and payments tables through checks that have each been seen to fail."</a:t>
            </a:r>
          </a:p>
        </p:txBody>
      </p:sp>
      <p:pic>
        <p:nvPicPr>
          <p:cNvPr id="11" name="mermaid diagram" descr="e3f02b4a48641d12.png"/>
          <p:cNvPicPr>
            <a:picLocks noChangeAspect="1"/>
          </p:cNvPicPr>
          <p:nvPr/>
        </p:nvPicPr>
        <p:blipFill>
          <a:blip r:embed="rId5"/>
          <a:stretch>
            <a:fillRect/>
          </a:stretch>
        </p:blipFill>
        <p:spPr>
          <a:xfrm>
            <a:off x="1088078" y="3708400"/>
            <a:ext cx="10015537"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8" name="Oval 17"/>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from today hold on every join, in any tool?</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11130991"/>
              </a:tblGrid>
              <a:tr h="369824">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A join is done when its row count is explained: rows in, rows out, the difference named.</a:t>
                      </a:r>
                    </a:p>
                  </a:txBody>
                  <a:tcPr marL="101600" marR="101600" marT="38100" marB="38100" anchor="ctr">
                    <a:solidFill>
                      <a:srgbClr val="FFFFFF"/>
                    </a:solidFill>
                  </a:tcPr>
                </a:tc>
              </a:tr>
              <a:tr h="369824">
                <a:tc>
                  <a:txBody>
                    <a:bodyPr/>
                    <a:lstStyle/>
                    <a:p>
                      <a:r>
                        <a:rPr sz="1400" b="0" i="0">
                          <a:solidFill>
                            <a:srgbClr val="1A1440"/>
                          </a:solidFill>
                          <a:latin typeface="Calibri"/>
                        </a:rPr>
                        <a:t>Start from the table whose every row must survive, and name its grain.</a:t>
                      </a:r>
                    </a:p>
                  </a:txBody>
                  <a:tcPr marL="101600" marR="101600" marT="38100" marB="38100" anchor="ctr">
                    <a:solidFill>
                      <a:srgbClr val="F4F2FA"/>
                    </a:solidFill>
                  </a:tcPr>
                </a:tc>
              </a:tr>
              <a:tr h="369824">
                <a:tc>
                  <a:txBody>
                    <a:bodyPr/>
                    <a:lstStyle/>
                    <a:p>
                      <a:r>
                        <a:rPr sz="1400" b="0" i="0">
                          <a:solidFill>
                            <a:srgbClr val="1A1440"/>
                          </a:solidFill>
                          <a:latin typeface="Calibri"/>
                        </a:rPr>
                        <a:t>Bring the many side to the grain of the question before you join.</a:t>
                      </a:r>
                    </a:p>
                  </a:txBody>
                  <a:tcPr marL="101600" marR="101600" marT="38100" marB="38100" anchor="ctr">
                    <a:solidFill>
                      <a:srgbClr val="FFFFFF"/>
                    </a:solidFill>
                  </a:tcPr>
                </a:tc>
              </a:tr>
              <a:tr h="369824">
                <a:tc>
                  <a:txBody>
                    <a:bodyPr/>
                    <a:lstStyle/>
                    <a:p>
                      <a:r>
                        <a:rPr sz="1400" b="0" i="0">
                          <a:solidFill>
                            <a:srgbClr val="1A1440"/>
                          </a:solidFill>
                          <a:latin typeface="Calibri"/>
                        </a:rPr>
                        <a:t>In a LEFT JOIN, a condition on the right-hand table goes in ON.</a:t>
                      </a:r>
                    </a:p>
                  </a:txBody>
                  <a:tcPr marL="101600" marR="101600" marT="38100" marB="38100" anchor="ctr">
                    <a:solidFill>
                      <a:srgbClr val="F4F2FA"/>
                    </a:solidFill>
                  </a:tcPr>
                </a:tc>
              </a:tr>
              <a:tr h="369824">
                <a:tc>
                  <a:txBody>
                    <a:bodyPr/>
                    <a:lstStyle/>
                    <a:p>
                      <a:r>
                        <a:rPr sz="1400" b="0" i="0">
                          <a:solidFill>
                            <a:srgbClr val="1A1440"/>
                          </a:solidFill>
                          <a:latin typeface="Calibri"/>
                        </a:rPr>
                        <a:t>Two payment rows are not a double payment: a retry is one order and instalment, twice.</a:t>
                      </a:r>
                    </a:p>
                  </a:txBody>
                  <a:tcPr marL="101600" marR="101600" marT="38100" marB="38100" anchor="ctr">
                    <a:solidFill>
                      <a:srgbClr val="FFFFFF"/>
                    </a:solidFill>
                  </a:tcPr>
                </a:tc>
              </a:tr>
              <a:tr h="369824">
                <a:tc>
                  <a:txBody>
                    <a:bodyPr/>
                    <a:lstStyle/>
                    <a:p>
                      <a:r>
                        <a:rPr sz="1400" b="0" i="0">
                          <a:solidFill>
                            <a:srgbClr val="1A1440"/>
                          </a:solidFill>
                          <a:latin typeface="Calibri"/>
                        </a:rPr>
                        <a:t>A check is worth its power to fail: tie every figure back to one table alone.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6" name="Oval 15"/>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ideas held, one question each?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scored on correctness and speed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MONDAY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WHERE against HAVING, one level up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KAHOOT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tentative faculty block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items: which side a LEFT JOIN keeps; a row count to predict; what an INNER join does to unpaid orders; the anti-join in words; the first check after a doubled total; what HAVING COUNT(*) &gt; 1 finds; where WHERE and HAVING go; a WHERE on the payments side.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8" name="Oval 27"/>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ask next, and what would you need to answer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 Marketing, Kalpa Retail</a:t>
            </a:r>
          </a:p>
        </p:txBody>
      </p:sp>
      <p:pic>
        <p:nvPicPr>
          <p:cNvPr id="14" name="mermaid diagram" descr="47cc74fe8fe61d19.png"/>
          <p:cNvPicPr>
            <a:picLocks noChangeAspect="1"/>
          </p:cNvPicPr>
          <p:nvPr/>
        </p:nvPicPr>
        <p:blipFill>
          <a:blip r:embed="rId6"/>
          <a:stretch>
            <a:fillRect/>
          </a:stretch>
        </p:blipFill>
        <p:spPr>
          <a:xfrm>
            <a:off x="1831028" y="3243072"/>
            <a:ext cx="8529637" cy="1371600"/>
          </a:xfrm>
          <a:prstGeom prst="rect">
            <a:avLst/>
          </a:prstGeom>
        </p:spPr>
      </p:pic>
      <p:sp>
        <p:nvSpPr>
          <p:cNvPr id="15" name="TextBox 14"/>
          <p:cNvSpPr txBox="1"/>
          <p:nvPr/>
        </p:nvSpPr>
        <p:spPr>
          <a:xfrm>
            <a:off x="530352" y="476097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pre-read for tomorrow ships tonight with the take-home.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2" name="Oval 21"/>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