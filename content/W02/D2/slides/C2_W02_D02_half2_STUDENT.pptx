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trainer's afternoon is 60 minutes: the escalated case (45) and the Kahoot</a:t>
            </a:r>
          </a:p>
          <a:p>
            <a:r>
              <a:t>with tomorrow's ask (15). There is no second case today. The rest of the afternoon is the</a:t>
            </a:r>
          </a:p>
          <a:p>
            <a:r>
              <a:t>tentative IITGN session, which picks up where this hour stops.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This chapter runs 45 minutes: the brief (5), the room alone on the case (30), the debrief of</a:t>
            </a:r>
          </a:p>
          <a:p>
            <a:r>
              <a:t>the wrong answers the room produced (10). The brief is exercises/unguided/C2_W02_D02_case_STUDENT.md;</a:t>
            </a:r>
          </a:p>
          <a:p>
            <a:r>
              <a:t>the start file is sql/C2_W02_D02_05_case_start_STUDENT.sql, with notebooks/C2_W02_D02_case_STUDENT.ipynb</a:t>
            </a:r>
          </a:p>
          <a:p>
            <a:r>
              <a:t>for anyone who prefers the notebook. No hints during the 30 minutes.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Only booked is known when the case starts; everything dashed is the room's to</a:t>
            </a:r>
          </a:p>
          <a:p>
            <a:r>
              <a:t>fill from the data. Read Anand's last sentence twice: it is the reason the reconciliation is part</a:t>
            </a:r>
          </a:p>
          <a:p>
            <a:r>
              <a:t>of the deliverable and not an appendix.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timing: parts 1 and 2 in the first 15 minutes, parts 3 and 4 in the next</a:t>
            </a:r>
          </a:p>
          <a:p>
            <a:r>
              <a:t>10, part 5 in the last 5. A learner who runs out of time ships part 5 with an open line in the</a:t>
            </a:r>
          </a:p>
          <a:p>
            <a:r>
              <a:t>reconciliation, never a collected number without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this slide up for the 30 minutes: it is the definition of done.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before the room starts, then silence for 30 minutes. Walk the room; the support</a:t>
            </a:r>
          </a:p>
          <a:p>
            <a:r>
              <a:t>TA answers environment problems only. Note which of the four wrong answers on the next slide you</a:t>
            </a:r>
          </a:p>
          <a:p>
            <a:r>
              <a:t>see on screens,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of the debrief. Ask for a volunteer whose report met one of these, and have them</a:t>
            </a:r>
          </a:p>
          <a:p>
            <a:r>
              <a:t>say the check that caught it. Do not display anyone's collected number on the projector; the day</a:t>
            </a:r>
          </a:p>
          <a:p>
            <a:r>
              <a:t>sheet has the numbers for you. If nobody met a trap, ask who ran the INNER version on purpose and</a:t>
            </a:r>
          </a:p>
          <a:p>
            <a:r>
              <a:t>what its order count was.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learners read their two sentences aloud and the room checks the four parts.</a:t>
            </a:r>
          </a:p>
          <a:p>
            <a:r>
              <a:t>Close the case on the interview question: the validation is these three cards plus the bridge,</a:t>
            </a:r>
          </a:p>
          <a:p>
            <a:r>
              <a:t>and when it fails late on reporting day, send booked with the reconciliation's open line named and</a:t>
            </a:r>
          </a:p>
          <a:p>
            <a:r>
              <a:t>hold collected; never ship an unreconciled number with a promise to fix it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This chapter runs 15 minutes: the Kahoot (9), the crux lines and the interview list (3),</a:t>
            </a:r>
          </a:p>
          <a:p>
            <a:r>
              <a:t>tonight and tomorrow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the pack from the kahoot folder. Pause on any question below 60 percent</a:t>
            </a:r>
          </a:p>
          <a:p>
            <a:r>
              <a:t>correct and ask one learner who got it right to explain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lines aloud, left column only. The cheat sheet repeats them word for</a:t>
            </a:r>
          </a:p>
          <a:p>
            <a:r>
              <a:t>word.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to point at it. [S] is asked everywhere, [F] often in GCC and product</a:t>
            </a:r>
          </a:p>
          <a:p>
            <a:r>
              <a:t>screens, [D] separates candidates. Learners practise them aloud in pairs tonight.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IITGN session is tentative until the institute confirms it; say so. The</a:t>
            </a:r>
          </a:p>
          <a:p>
            <a:r>
              <a:t>practice lab set is exercises/practice/C2_W02_D02_lab_STUDENT.md.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message and stop. Do not predict the answer; ask only one question to</a:t>
            </a:r>
          </a:p>
          <a:p>
            <a:r>
              <a:t>leave open: which of Monday's clauses can rank a row within its own segment? None of them, which is</a:t>
            </a:r>
          </a:p>
          <a:p>
            <a:r>
              <a:t>tomorrow's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 Id="rId6"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report Anand signs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“How do you know it is not double-counted?”</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before he uses the collected number</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The report Anand signs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three rounds become one report by channel, with the reconciliation that proves it.</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booked against collected</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in Anand's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 by order, by channel, with the proof above the number.</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"Show me, order by order, what we actually collected against what we booked in Q2. If there is a gap, I want to know which orders and which channel. And tell me how you know it is not double-counted."</a:t>
            </a:r>
          </a:p>
        </p:txBody>
      </p:sp>
      <p:pic>
        <p:nvPicPr>
          <p:cNvPr id="14" name="mermaid diagram" descr="6344c0648cf3cdc9.png"/>
          <p:cNvPicPr>
            <a:picLocks noChangeAspect="1"/>
          </p:cNvPicPr>
          <p:nvPr/>
        </p:nvPicPr>
        <p:blipFill>
          <a:blip r:embed="rId6"/>
          <a:stretch>
            <a:fillRect/>
          </a:stretch>
        </p:blipFill>
        <p:spPr>
          <a:xfrm>
            <a:off x="1588141" y="3243072"/>
            <a:ext cx="9015412" cy="1543050"/>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parts, forty-five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one of the morning's rungs, run on Q2 and split by channel.</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baseline</a:t>
            </a:r>
          </a:p>
        </p:txBody>
      </p:sp>
      <p:sp>
        <p:nvSpPr>
          <p:cNvPr id="14" name="TextBox 13"/>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Q2 orders and booked by channel, from orders alone.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Collected</a:t>
            </a:r>
          </a:p>
        </p:txBody>
      </p:sp>
      <p:sp>
        <p:nvSpPr>
          <p:cNvPr id="19" name="TextBox 18"/>
          <p:cNvSpPr txBox="1"/>
          <p:nvPr/>
        </p:nvSpPr>
        <p:spPr>
          <a:xfrm>
            <a:off x="2957718"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Payments at order grain, a LEFT JOIN, the count reconciliation written above it.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unpaid list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Q2 order with no payment, with channel and amount.</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double-paid list</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payment the gateway posted twice, with the surplus.</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report</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By channel, with the checks, the bridge and two sentences to Anand.</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7" name="Oval 3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 finished report carries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Columns, checks and sentences, with every number coming from your own query.</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1665226"/>
                <a:gridCol w="3748917"/>
                <a:gridCol w="5716847"/>
              </a:tblGrid>
              <a:tr h="369824">
                <a:tc>
                  <a:txBody>
                    <a:bodyPr/>
                    <a:lstStyle/>
                    <a:p>
                      <a:r>
                        <a:rPr sz="1450" b="1" i="0">
                          <a:solidFill>
                            <a:srgbClr val="FFFFFF"/>
                          </a:solidFill>
                          <a:latin typeface="Calibri"/>
                        </a:rPr>
                        <a:t>Column</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c>
                  <a:txBody>
                    <a:bodyPr/>
                    <a:lstStyle/>
                    <a:p>
                      <a:r>
                        <a:rPr sz="1450" b="1" i="0">
                          <a:solidFill>
                            <a:srgbClr val="FFFFFF"/>
                          </a:solidFill>
                          <a:latin typeface="Calibri"/>
                        </a:rPr>
                        <a:t>The check beside it</a:t>
                      </a:r>
                    </a:p>
                  </a:txBody>
                  <a:tcPr marL="101600" marR="101600" marT="38100" marB="38100" anchor="ctr">
                    <a:solidFill>
                      <a:srgbClr val="1A0F5C"/>
                    </a:solidFill>
                  </a:tcPr>
                </a:tc>
              </a:tr>
              <a:tr h="369824">
                <a:tc>
                  <a:txBody>
                    <a:bodyPr/>
                    <a:lstStyle/>
                    <a:p>
                      <a:r>
                        <a:rPr sz="1400" b="0" i="0">
                          <a:solidFill>
                            <a:srgbClr val="1A1440"/>
                          </a:solidFill>
                          <a:latin typeface="Calibri"/>
                        </a:rPr>
                        <a:t>Orders</a:t>
                      </a:r>
                    </a:p>
                  </a:txBody>
                  <a:tcPr marL="101600" marR="101600" marT="38100" marB="38100" anchor="ctr">
                    <a:solidFill>
                      <a:srgbClr val="FFFFFF"/>
                    </a:solidFill>
                  </a:tcPr>
                </a:tc>
                <a:tc>
                  <a:txBody>
                    <a:bodyPr/>
                    <a:lstStyle/>
                    <a:p>
                      <a:r>
                        <a:rPr sz="1400" b="0" i="0">
                          <a:solidFill>
                            <a:srgbClr val="1A1440"/>
                          </a:solidFill>
                          <a:latin typeface="Calibri"/>
                        </a:rPr>
                        <a:t>Q2 orders per channel</a:t>
                      </a:r>
                    </a:p>
                  </a:txBody>
                  <a:tcPr marL="101600" marR="101600" marT="38100" marB="38100" anchor="ctr">
                    <a:solidFill>
                      <a:srgbClr val="FFFFFF"/>
                    </a:solidFill>
                  </a:tcPr>
                </a:tc>
                <a:tc>
                  <a:txBody>
                    <a:bodyPr/>
                    <a:lstStyle/>
                    <a:p>
                      <a:r>
                        <a:rPr sz="1400" b="0" i="0">
                          <a:solidFill>
                            <a:srgbClr val="1A1440"/>
                          </a:solidFill>
                          <a:latin typeface="Calibri"/>
                        </a:rPr>
                        <a:t>Rows out equals rows in</a:t>
                      </a:r>
                    </a:p>
                  </a:txBody>
                  <a:tcPr marL="101600" marR="101600" marT="38100" marB="38100" anchor="ctr">
                    <a:solidFill>
                      <a:srgbClr val="FFFFFF"/>
                    </a:solidFill>
                  </a:tcPr>
                </a:tc>
              </a:tr>
              <a:tr h="369824">
                <a:tc>
                  <a:txBody>
                    <a:bodyPr/>
                    <a:lstStyle/>
                    <a:p>
                      <a:r>
                        <a:rPr sz="1400" b="0" i="0">
                          <a:solidFill>
                            <a:srgbClr val="1A1440"/>
                          </a:solidFill>
                          <a:latin typeface="Calibri"/>
                        </a:rPr>
                        <a:t>Booked</a:t>
                      </a:r>
                    </a:p>
                  </a:txBody>
                  <a:tcPr marL="101600" marR="101600" marT="38100" marB="38100" anchor="ctr">
                    <a:solidFill>
                      <a:srgbClr val="F4F2FA"/>
                    </a:solidFill>
                  </a:tcPr>
                </a:tc>
                <a:tc>
                  <a:txBody>
                    <a:bodyPr/>
                    <a:lstStyle/>
                    <a:p>
                      <a:r>
                        <a:rPr sz="1400" b="0" i="0">
                          <a:solidFill>
                            <a:srgbClr val="1A1440"/>
                          </a:solidFill>
                          <a:latin typeface="Calibri"/>
                        </a:rPr>
                        <a:t>From orders alone</a:t>
                      </a:r>
                    </a:p>
                  </a:txBody>
                  <a:tcPr marL="101600" marR="101600" marT="38100" marB="38100" anchor="ctr">
                    <a:solidFill>
                      <a:srgbClr val="F4F2FA"/>
                    </a:solidFill>
                  </a:tcPr>
                </a:tc>
                <a:tc>
                  <a:txBody>
                    <a:bodyPr/>
                    <a:lstStyle/>
                    <a:p>
                      <a:r>
                        <a:rPr sz="1400" b="0" i="0">
                          <a:solidFill>
                            <a:srgbClr val="1A1440"/>
                          </a:solidFill>
                          <a:latin typeface="Calibri"/>
                        </a:rPr>
                        <a:t>Equals Monday's booked, Rs 9,84,00,000 in total</a:t>
                      </a:r>
                    </a:p>
                  </a:txBody>
                  <a:tcPr marL="101600" marR="101600" marT="38100" marB="38100" anchor="ctr">
                    <a:solidFill>
                      <a:srgbClr val="F4F2FA"/>
                    </a:solidFill>
                  </a:tcPr>
                </a:tc>
              </a:tr>
              <a:tr h="369824">
                <a:tc>
                  <a:txBody>
                    <a:bodyPr/>
                    <a:lstStyle/>
                    <a:p>
                      <a:r>
                        <a:rPr sz="1400" b="0" i="0">
                          <a:solidFill>
                            <a:srgbClr val="1A1440"/>
                          </a:solidFill>
                          <a:latin typeface="Calibri"/>
                        </a:rPr>
                        <a:t>Collected</a:t>
                      </a:r>
                    </a:p>
                  </a:txBody>
                  <a:tcPr marL="101600" marR="101600" marT="38100" marB="38100" anchor="ctr">
                    <a:solidFill>
                      <a:srgbClr val="FFFFFF"/>
                    </a:solidFill>
                  </a:tcPr>
                </a:tc>
                <a:tc>
                  <a:txBody>
                    <a:bodyPr/>
                    <a:lstStyle/>
                    <a:p>
                      <a:r>
                        <a:rPr sz="1400" b="0" i="0">
                          <a:solidFill>
                            <a:srgbClr val="1A1440"/>
                          </a:solidFill>
                          <a:latin typeface="Calibri"/>
                        </a:rPr>
                        <a:t>Each payment counted once</a:t>
                      </a:r>
                    </a:p>
                  </a:txBody>
                  <a:tcPr marL="101600" marR="101600" marT="38100" marB="38100" anchor="ctr">
                    <a:solidFill>
                      <a:srgbClr val="FFFFFF"/>
                    </a:solidFill>
                  </a:tcPr>
                </a:tc>
                <a:tc>
                  <a:txBody>
                    <a:bodyPr/>
                    <a:lstStyle/>
                    <a:p>
                      <a:r>
                        <a:rPr sz="1400" b="0" i="0">
                          <a:solidFill>
                            <a:srgbClr val="1A1440"/>
                          </a:solidFill>
                          <a:latin typeface="Calibri"/>
                        </a:rPr>
                        <a:t>Never above booked</a:t>
                      </a:r>
                    </a:p>
                  </a:txBody>
                  <a:tcPr marL="101600" marR="101600" marT="38100" marB="38100" anchor="ctr">
                    <a:solidFill>
                      <a:srgbClr val="FFFFFF"/>
                    </a:solidFill>
                  </a:tcPr>
                </a:tc>
              </a:tr>
              <a:tr h="369824">
                <a:tc>
                  <a:txBody>
                    <a:bodyPr/>
                    <a:lstStyle/>
                    <a:p>
                      <a:r>
                        <a:rPr sz="1400" b="0" i="0">
                          <a:solidFill>
                            <a:srgbClr val="1A1440"/>
                          </a:solidFill>
                          <a:latin typeface="Calibri"/>
                        </a:rPr>
                        <a:t>Gap</a:t>
                      </a:r>
                    </a:p>
                  </a:txBody>
                  <a:tcPr marL="101600" marR="101600" marT="38100" marB="38100" anchor="ctr">
                    <a:solidFill>
                      <a:srgbClr val="F4F2FA"/>
                    </a:solidFill>
                  </a:tcPr>
                </a:tc>
                <a:tc>
                  <a:txBody>
                    <a:bodyPr/>
                    <a:lstStyle/>
                    <a:p>
                      <a:r>
                        <a:rPr sz="1400" b="0" i="0">
                          <a:solidFill>
                            <a:srgbClr val="1A1440"/>
                          </a:solidFill>
                          <a:latin typeface="Calibri"/>
                        </a:rPr>
                        <a:t>Booked less collected</a:t>
                      </a:r>
                    </a:p>
                  </a:txBody>
                  <a:tcPr marL="101600" marR="101600" marT="38100" marB="38100" anchor="ctr">
                    <a:solidFill>
                      <a:srgbClr val="F4F2FA"/>
                    </a:solidFill>
                  </a:tcPr>
                </a:tc>
                <a:tc>
                  <a:txBody>
                    <a:bodyPr/>
                    <a:lstStyle/>
                    <a:p>
                      <a:r>
                        <a:rPr sz="1400" b="0" i="0">
                          <a:solidFill>
                            <a:srgbClr val="1A1440"/>
                          </a:solidFill>
                          <a:latin typeface="Calibri"/>
                        </a:rPr>
                        <a:t>Equals the unpaid list's booked total</a:t>
                      </a:r>
                    </a:p>
                  </a:txBody>
                  <a:tcPr marL="101600" marR="101600" marT="38100" marB="38100" anchor="ctr">
                    <a:solidFill>
                      <a:srgbClr val="F4F2FA"/>
                    </a:solidFill>
                  </a:tcPr>
                </a:tc>
              </a:tr>
              <a:tr h="369824">
                <a:tc>
                  <a:txBody>
                    <a:bodyPr/>
                    <a:lstStyle/>
                    <a:p>
                      <a:r>
                        <a:rPr sz="1400" b="0" i="0">
                          <a:solidFill>
                            <a:srgbClr val="1A1440"/>
                          </a:solidFill>
                          <a:latin typeface="Calibri"/>
                        </a:rPr>
                        <a:t>Posted twice</a:t>
                      </a:r>
                    </a:p>
                  </a:txBody>
                  <a:tcPr marL="101600" marR="101600" marT="38100" marB="38100" anchor="ctr">
                    <a:solidFill>
                      <a:srgbClr val="FFFFFF"/>
                    </a:solidFill>
                  </a:tcPr>
                </a:tc>
                <a:tc>
                  <a:txBody>
                    <a:bodyPr/>
                    <a:lstStyle/>
                    <a:p>
                      <a:r>
                        <a:rPr sz="1400" b="0" i="0">
                          <a:solidFill>
                            <a:srgbClr val="1A1440"/>
                          </a:solidFill>
                          <a:latin typeface="Calibri"/>
                        </a:rPr>
                        <a:t>The double-paid list's surplus</a:t>
                      </a:r>
                    </a:p>
                  </a:txBody>
                  <a:tcPr marL="101600" marR="101600" marT="38100" marB="38100" anchor="ctr">
                    <a:solidFill>
                      <a:srgbClr val="FFFFFF"/>
                    </a:solidFill>
                  </a:tcPr>
                </a:tc>
                <a:tc>
                  <a:txBody>
                    <a:bodyPr/>
                    <a:lstStyle/>
                    <a:p>
                      <a:r>
                        <a:rPr sz="1400" b="0" i="0">
                          <a:solidFill>
                            <a:srgbClr val="1A1440"/>
                          </a:solidFill>
                          <a:latin typeface="Calibri"/>
                        </a:rPr>
                        <a:t>Collected plus it equals the feed</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last check. </a:t>
            </a:r>
            <a:r>
              <a:rPr sz="1500" b="0" i="0">
                <a:solidFill>
                  <a:srgbClr val="1A1440"/>
                </a:solidFill>
                <a:latin typeface="Calibri"/>
              </a:rPr>
              <a:t>Every one of the 1,428 payment rows is matched to a Q1 order, a Q2 order, or to no order, and the unmatched ones go back to the platform lead.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two sentences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claim with its evidence, a caveat, and the next step, in four parts.</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763235"/>
                <a:gridCol w="9367755"/>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What Anand listens for</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Collected against booked for Q2, as one number and one percentage</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The gap by channel, with the unpaid list behind it and the count reconciliation closed</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What the feed cannot tell you, such as whether an unpaid order is late or disputed</a:t>
                      </a:r>
                    </a:p>
                  </a:txBody>
                  <a:tcPr marL="101600" marR="101600" marT="38100" marB="38100" anchor="ctr">
                    <a:solidFill>
                      <a:srgbClr val="FFFFFF"/>
                    </a:solidFill>
                  </a:tcPr>
                </a:tc>
              </a:tr>
              <a:tr h="369824">
                <a:tc>
                  <a:txBody>
                    <a:bodyPr/>
                    <a:lstStyle/>
                    <a:p>
                      <a:r>
                        <a:rPr sz="1400" b="0" i="0">
                          <a:solidFill>
                            <a:srgbClr val="1A1440"/>
                          </a:solidFill>
                          <a:latin typeface="Calibri"/>
                        </a:rPr>
                        <a:t>Next step</a:t>
                      </a:r>
                    </a:p>
                  </a:txBody>
                  <a:tcPr marL="101600" marR="101600" marT="38100" marB="38100" anchor="ctr">
                    <a:solidFill>
                      <a:srgbClr val="F4F2FA"/>
                    </a:solidFill>
                  </a:tcPr>
                </a:tc>
                <a:tc>
                  <a:txBody>
                    <a:bodyPr/>
                    <a:lstStyle/>
                    <a:p>
                      <a:r>
                        <a:rPr sz="1400" b="0" i="0">
                          <a:solidFill>
                            <a:srgbClr val="1A1440"/>
                          </a:solidFill>
                          <a:latin typeface="Calibri"/>
                        </a:rPr>
                        <a:t>Who chases which orders, and what goes back to the platform lead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646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7438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423672"/>
          </a:xfrm>
          <a:prstGeom prst="rect">
            <a:avLst/>
          </a:prstGeom>
          <a:noFill/>
        </p:spPr>
        <p:txBody>
          <a:bodyPr wrap="square" anchor="t" lIns="0" rIns="0" tIns="0" bIns="0">
            <a:spAutoFit/>
          </a:bodyPr>
          <a:lstStyle/>
          <a:p>
            <a:r>
              <a:rPr sz="1500" b="0" i="0">
                <a:solidFill>
                  <a:srgbClr val="1A1440"/>
                </a:solidFill>
                <a:latin typeface="Calibri"/>
              </a:rPr>
              <a:t>If the count does not close, the sentence says so and the collected number waits.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wrong answers to look for in your own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debrief: each is a morning trap met again on Q2, and each has a one-line check.</a:t>
            </a:r>
          </a:p>
        </p:txBody>
      </p:sp>
      <p:pic>
        <p:nvPicPr>
          <p:cNvPr id="9" name="mermaid diagram" descr="24edbc87ddfd4e81.png"/>
          <p:cNvPicPr>
            <a:picLocks noChangeAspect="1"/>
          </p:cNvPicPr>
          <p:nvPr/>
        </p:nvPicPr>
        <p:blipFill>
          <a:blip r:embed="rId5"/>
          <a:stretch>
            <a:fillRect/>
          </a:stretch>
        </p:blipFill>
        <p:spPr>
          <a:xfrm>
            <a:off x="2988316" y="1682496"/>
            <a:ext cx="6215062" cy="4400550"/>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what the checks prove, in Anand's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 your reconciliation aloud as the answer to "how do you know it is not double-counted".</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ows-3_9db7509de18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NO ROW REPEATED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Rows out equals rows in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Payments were brought to one row per order before the join, so no order is summed twice.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opy-x_46629d24160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NO PAYMENT COUNTED TWICE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Retries removed by grain</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same instalment posted twice counts once in collected, and the surplus is listed.</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NO ORDER HIDDEN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gap has names</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Booked less collected equals the unpaid list's total, order by order.</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[D] Design the validation you run before a joined number reaches Finance, and say what you do when it fails at 5 pm on reporting day.</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lines to carry, and tomorrow's question.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booked against collected</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Ungraded, and one of them returns to Monday.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on today, one returning to Monday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as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PLAY</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answers, discussed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ef5c2344ee288baa.png"/>
          <p:cNvPicPr>
            <a:picLocks noChangeAspect="1"/>
          </p:cNvPicPr>
          <p:nvPr/>
        </p:nvPicPr>
        <p:blipFill>
          <a:blip r:embed="rId5"/>
          <a:stretch>
            <a:fillRect/>
          </a:stretch>
        </p:blipFill>
        <p:spPr>
          <a:xfrm>
            <a:off x="2023910" y="3419856"/>
            <a:ext cx="8143875" cy="1543050"/>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to carry out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five lines close the notes and head the cheat sheet.</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Line</a:t>
                      </a:r>
                    </a:p>
                  </a:txBody>
                  <a:tcPr marL="101600" marR="101600" marT="38100" marB="38100" anchor="ctr">
                    <a:solidFill>
                      <a:srgbClr val="1A0F5C"/>
                    </a:solidFill>
                  </a:tcPr>
                </a:tc>
                <a:tc>
                  <a:txBody>
                    <a:bodyPr/>
                    <a:lstStyle/>
                    <a:p>
                      <a:r>
                        <a:rPr sz="1450" b="1" i="0">
                          <a:solidFill>
                            <a:srgbClr val="FFFFFF"/>
                          </a:solidFill>
                          <a:latin typeface="Calibri"/>
                        </a:rPr>
                        <a:t>The day's evidence</a:t>
                      </a:r>
                    </a:p>
                  </a:txBody>
                  <a:tcPr marL="101600" marR="101600" marT="38100" marB="38100" anchor="ctr">
                    <a:solidFill>
                      <a:srgbClr val="1A0F5C"/>
                    </a:solidFill>
                  </a:tcPr>
                </a:tc>
              </a:tr>
              <a:tr h="611632">
                <a:tc>
                  <a:txBody>
                    <a:bodyPr/>
                    <a:lstStyle/>
                    <a:p>
                      <a:r>
                        <a:rPr sz="1400" b="0" i="0">
                          <a:solidFill>
                            <a:srgbClr val="1A1440"/>
                          </a:solidFill>
                          <a:latin typeface="Calibri"/>
                        </a:rPr>
                        <a:t>Every join answers a question about the rows that do not match; choose the join by that question.</a:t>
                      </a:r>
                    </a:p>
                  </a:txBody>
                  <a:tcPr marL="101600" marR="101600" marT="38100" marB="38100" anchor="ctr">
                    <a:solidFill>
                      <a:srgbClr val="FFFFFF"/>
                    </a:solidFill>
                  </a:tcPr>
                </a:tc>
                <a:tc>
                  <a:txBody>
                    <a:bodyPr/>
                    <a:lstStyle/>
                    <a:p>
                      <a:r>
                        <a:rPr sz="1400" b="0" i="0">
                          <a:solidFill>
                            <a:srgbClr val="1A1440"/>
                          </a:solidFill>
                          <a:latin typeface="Calibri"/>
                        </a:rPr>
                        <a:t>INNER, LEFT, RIGHT and FULL on the tiny tables: 6, 7, 7 and 8 rows</a:t>
                      </a:r>
                    </a:p>
                  </a:txBody>
                  <a:tcPr marL="101600" marR="101600" marT="38100" marB="38100" anchor="ctr">
                    <a:solidFill>
                      <a:srgbClr val="FFFFFF"/>
                    </a:solidFill>
                  </a:tcPr>
                </a:tc>
              </a:tr>
              <a:tr h="611632">
                <a:tc>
                  <a:txBody>
                    <a:bodyPr/>
                    <a:lstStyle/>
                    <a:p>
                      <a:r>
                        <a:rPr sz="1400" b="0" i="0">
                          <a:solidFill>
                            <a:srgbClr val="1A1440"/>
                          </a:solidFill>
                          <a:latin typeface="Calibri"/>
                        </a:rPr>
                        <a:t>A key that repeats on one side multiplies the other side's rows before any number is summed.</a:t>
                      </a:r>
                    </a:p>
                  </a:txBody>
                  <a:tcPr marL="101600" marR="101600" marT="38100" marB="38100" anchor="ctr">
                    <a:solidFill>
                      <a:srgbClr val="F4F2FA"/>
                    </a:solidFill>
                  </a:tcPr>
                </a:tc>
                <a:tc>
                  <a:txBody>
                    <a:bodyPr/>
                    <a:lstStyle/>
                    <a:p>
                      <a:r>
                        <a:rPr sz="1400" b="0" i="0">
                          <a:solidFill>
                            <a:srgbClr val="1A1440"/>
                          </a:solidFill>
                          <a:latin typeface="Calibri"/>
                        </a:rPr>
                        <a:t>Rs 19.29 crore "collected" against Rs 9.84 crore booked</a:t>
                      </a:r>
                    </a:p>
                  </a:txBody>
                  <a:tcPr marL="101600" marR="101600" marT="38100" marB="38100" anchor="ctr">
                    <a:solidFill>
                      <a:srgbClr val="F4F2FA"/>
                    </a:solidFill>
                  </a:tcPr>
                </a:tc>
              </a:tr>
              <a:tr h="611632">
                <a:tc>
                  <a:txBody>
                    <a:bodyPr/>
                    <a:lstStyle/>
                    <a:p>
                      <a:r>
                        <a:rPr sz="1400" b="0" i="0">
                          <a:solidFill>
                            <a:srgbClr val="1A1440"/>
                          </a:solidFill>
                          <a:latin typeface="Calibri"/>
                        </a:rPr>
                        <a:t>A join is done when its row count is explained: rows in, rows out, and the difference named.</a:t>
                      </a:r>
                    </a:p>
                  </a:txBody>
                  <a:tcPr marL="101600" marR="101600" marT="38100" marB="38100" anchor="ctr">
                    <a:solidFill>
                      <a:srgbClr val="FFFFFF"/>
                    </a:solidFill>
                  </a:tcPr>
                </a:tc>
                <a:tc>
                  <a:txBody>
                    <a:bodyPr/>
                    <a:lstStyle/>
                    <a:p>
                      <a:r>
                        <a:rPr sz="1400" b="0" i="0">
                          <a:solidFill>
                            <a:srgbClr val="1A1440"/>
                          </a:solidFill>
                          <a:latin typeface="Calibri"/>
                        </a:rPr>
                        <a:t>462 orders in, 462 rows out, at order grain</a:t>
                      </a:r>
                    </a:p>
                  </a:txBody>
                  <a:tcPr marL="101600" marR="101600" marT="38100" marB="38100" anchor="ctr">
                    <a:solidFill>
                      <a:srgbClr val="FFFFFF"/>
                    </a:solidFill>
                  </a:tcPr>
                </a:tc>
              </a:tr>
              <a:tr h="611632">
                <a:tc>
                  <a:txBody>
                    <a:bodyPr/>
                    <a:lstStyle/>
                    <a:p>
                      <a:r>
                        <a:rPr sz="1400" b="0" i="0">
                          <a:solidFill>
                            <a:srgbClr val="1A1440"/>
                          </a:solidFill>
                          <a:latin typeface="Calibri"/>
                        </a:rPr>
                        <a:t>A condition on the right-hand table belongs in the ON clause, or the LEFT JOIN becomes an INNER one.</a:t>
                      </a:r>
                    </a:p>
                  </a:txBody>
                  <a:tcPr marL="101600" marR="101600" marT="38100" marB="38100" anchor="ctr">
                    <a:solidFill>
                      <a:srgbClr val="F4F2FA"/>
                    </a:solidFill>
                  </a:tcPr>
                </a:tc>
                <a:tc>
                  <a:txBody>
                    <a:bodyPr/>
                    <a:lstStyle/>
                    <a:p>
                      <a:r>
                        <a:rPr sz="1400" b="0" i="0">
                          <a:solidFill>
                            <a:srgbClr val="1A1440"/>
                          </a:solidFill>
                          <a:latin typeface="Calibri"/>
                        </a:rPr>
                        <a:t>Six rows and T-4 gone on the tiny tables</a:t>
                      </a:r>
                    </a:p>
                  </a:txBody>
                  <a:tcPr marL="101600" marR="101600" marT="38100" marB="38100" anchor="ctr">
                    <a:solidFill>
                      <a:srgbClr val="F4F2FA"/>
                    </a:solidFill>
                  </a:tcPr>
                </a:tc>
              </a:tr>
              <a:tr h="611632">
                <a:tc>
                  <a:txBody>
                    <a:bodyPr/>
                    <a:lstStyle/>
                    <a:p>
                      <a:r>
                        <a:rPr sz="1400" b="0" i="0">
                          <a:solidFill>
                            <a:srgbClr val="1A1440"/>
                          </a:solidFill>
                          <a:latin typeface="Calibri"/>
                        </a:rPr>
                        <a:t>Two payment rows are not a double payment until the grain says they are the same payment.</a:t>
                      </a:r>
                    </a:p>
                  </a:txBody>
                  <a:tcPr marL="101600" marR="101600" marT="38100" marB="38100" anchor="ctr">
                    <a:solidFill>
                      <a:srgbClr val="FFFFFF"/>
                    </a:solidFill>
                  </a:tcPr>
                </a:tc>
                <a:tc>
                  <a:txBody>
                    <a:bodyPr/>
                    <a:lstStyle/>
                    <a:p>
                      <a:r>
                        <a:rPr sz="1400" b="0" i="0">
                          <a:solidFill>
                            <a:srgbClr val="1A1440"/>
                          </a:solidFill>
                          <a:latin typeface="Calibri"/>
                        </a:rPr>
                        <a:t>216 Q2 orders flagged, most of them instalments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questions of the day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Eleven questions, tagged by how often they are asked; the answers are in the study notes.</a:t>
            </a:r>
          </a:p>
        </p:txBody>
      </p:sp>
      <p:graphicFrame>
        <p:nvGraphicFramePr>
          <p:cNvPr id="10" name="Table 9"/>
          <p:cNvGraphicFramePr>
            <a:graphicFrameLocks noGrp="1"/>
          </p:cNvGraphicFramePr>
          <p:nvPr/>
        </p:nvGraphicFramePr>
        <p:xfrm>
          <a:off x="530352" y="1825752"/>
          <a:ext cx="11130991" cy="4230624"/>
        </p:xfrm>
        <a:graphic>
          <a:graphicData uri="http://schemas.openxmlformats.org/drawingml/2006/table">
            <a:tbl>
              <a:tblPr firstRow="0" bandRow="0">
                <a:tableStyleId>{2D5ABB26-0587-4C30-8999-92F81FD0307C}</a:tableStyleId>
              </a:tblPr>
              <a:tblGrid>
                <a:gridCol w="914400"/>
                <a:gridCol w="10216591"/>
              </a:tblGrid>
              <a:tr h="335280">
                <a:tc>
                  <a:txBody>
                    <a:bodyPr/>
                    <a:lstStyle/>
                    <a:p>
                      <a:r>
                        <a:rPr sz="1250" b="1" i="0">
                          <a:solidFill>
                            <a:srgbClr val="FFFFFF"/>
                          </a:solidFill>
                          <a:latin typeface="Calibri"/>
                        </a:rPr>
                        <a:t>Tag</a:t>
                      </a:r>
                    </a:p>
                  </a:txBody>
                  <a:tcPr marL="101600" marR="101600" marT="38100" marB="38100" anchor="ctr">
                    <a:solidFill>
                      <a:srgbClr val="1A0F5C"/>
                    </a:solidFill>
                  </a:tcPr>
                </a:tc>
                <a:tc>
                  <a:txBody>
                    <a:bodyPr/>
                    <a:lstStyle/>
                    <a:p>
                      <a:r>
                        <a:rPr sz="1250" b="1" i="0">
                          <a:solidFill>
                            <a:srgbClr val="FFFFFF"/>
                          </a:solidFill>
                          <a:latin typeface="Calibri"/>
                        </a:rPr>
                        <a:t>Question</a:t>
                      </a:r>
                    </a:p>
                  </a:txBody>
                  <a:tcPr marL="101600" marR="101600" marT="38100" marB="38100" anchor="ctr">
                    <a:solidFill>
                      <a:srgbClr val="1A0F5C"/>
                    </a:solidFill>
                  </a:tcPr>
                </a:tc>
              </a:tr>
              <a:tr h="335280">
                <a:tc>
                  <a:txBody>
                    <a:bodyPr/>
                    <a:lstStyle/>
                    <a:p>
                      <a:r>
                        <a:rPr sz="1200" b="0" i="0">
                          <a:solidFill>
                            <a:srgbClr val="1A1440"/>
                          </a:solidFill>
                          <a:latin typeface="Calibri"/>
                        </a:rPr>
                        <a:t>[S]</a:t>
                      </a:r>
                    </a:p>
                  </a:txBody>
                  <a:tcPr marL="101600" marR="101600" marT="38100" marB="38100" anchor="ctr">
                    <a:solidFill>
                      <a:srgbClr val="FFFFFF"/>
                    </a:solidFill>
                  </a:tcPr>
                </a:tc>
                <a:tc>
                  <a:txBody>
                    <a:bodyPr/>
                    <a:lstStyle/>
                    <a:p>
                      <a:r>
                        <a:rPr sz="1200" b="0" i="0">
                          <a:solidFill>
                            <a:srgbClr val="1A1440"/>
                          </a:solidFill>
                          <a:latin typeface="Calibri"/>
                        </a:rPr>
                        <a:t>INNER against LEFT join: what does each drop or keep?</a:t>
                      </a:r>
                    </a:p>
                  </a:txBody>
                  <a:tcPr marL="101600" marR="101600" marT="38100" marB="38100" anchor="ctr">
                    <a:solidFill>
                      <a:srgbClr val="FFFFFF"/>
                    </a:solidFill>
                  </a:tcPr>
                </a:tc>
              </a:tr>
              <a:tr h="335280">
                <a:tc>
                  <a:txBody>
                    <a:bodyPr/>
                    <a:lstStyle/>
                    <a:p>
                      <a:r>
                        <a:rPr sz="1200" b="0" i="0">
                          <a:solidFill>
                            <a:srgbClr val="1A1440"/>
                          </a:solidFill>
                          <a:latin typeface="Calibri"/>
                        </a:rPr>
                        <a:t>[S]</a:t>
                      </a:r>
                    </a:p>
                  </a:txBody>
                  <a:tcPr marL="101600" marR="101600" marT="38100" marB="38100" anchor="ctr">
                    <a:solidFill>
                      <a:srgbClr val="F4F2FA"/>
                    </a:solidFill>
                  </a:tcPr>
                </a:tc>
                <a:tc>
                  <a:txBody>
                    <a:bodyPr/>
                    <a:lstStyle/>
                    <a:p>
                      <a:r>
                        <a:rPr sz="1200" b="0" i="0">
                          <a:solidFill>
                            <a:srgbClr val="1A1440"/>
                          </a:solidFill>
                          <a:latin typeface="Calibri"/>
                        </a:rPr>
                        <a:t>Your join grew the row count; name the cause and the check.</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How do you find orders with no payment?</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Revenue doubled after a join and every row looks fine; where do you look?</a:t>
                      </a:r>
                    </a:p>
                  </a:txBody>
                  <a:tcPr marL="101600" marR="101600" marT="38100" marB="38100" anchor="ctr">
                    <a:solidFill>
                      <a:srgbClr val="F4F2FA"/>
                    </a:solidFill>
                  </a:tcPr>
                </a:tc>
              </a:tr>
              <a:tr h="542544">
                <a:tc>
                  <a:txBody>
                    <a:bodyPr/>
                    <a:lstStyle/>
                    <a:p>
                      <a:r>
                        <a:rPr sz="1200" b="0" i="0">
                          <a:solidFill>
                            <a:srgbClr val="1A1440"/>
                          </a:solidFill>
                          <a:latin typeface="Calibri"/>
                        </a:rPr>
                        <a:t>[D]</a:t>
                      </a:r>
                    </a:p>
                  </a:txBody>
                  <a:tcPr marL="101600" marR="101600" marT="38100" marB="38100" anchor="ctr">
                    <a:solidFill>
                      <a:srgbClr val="FFFFFF"/>
                    </a:solidFill>
                  </a:tcPr>
                </a:tc>
                <a:tc>
                  <a:txBody>
                    <a:bodyPr/>
                    <a:lstStyle/>
                    <a:p>
                      <a:r>
                        <a:rPr sz="1200" b="0" i="0">
                          <a:solidFill>
                            <a:srgbClr val="1A1440"/>
                          </a:solidFill>
                          <a:latin typeface="Calibri"/>
                        </a:rPr>
                        <a:t>Design the validation you run before a joined number reaches Finance, and say what you do when it fails at 5 pm on reporting day.</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A filter on the right-hand table of a LEFT JOIN: WHERE or ON, and what changes?</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HAVING COUNT(*) &gt; 1 on payments by order: what does it find, and what does it wrongly include?</a:t>
                      </a:r>
                    </a:p>
                  </a:txBody>
                  <a:tcPr marL="101600" marR="101600" marT="38100" marB="38100" anchor="ctr">
                    <a:solidFill>
                      <a:srgbClr val="FFFFFF"/>
                    </a:solidFill>
                  </a:tcPr>
                </a:tc>
              </a:tr>
              <a:tr h="335280">
                <a:tc>
                  <a:txBody>
                    <a:bodyPr/>
                    <a:lstStyle/>
                    <a:p>
                      <a:r>
                        <a:rPr sz="1200" b="0" i="0">
                          <a:solidFill>
                            <a:srgbClr val="1A1440"/>
                          </a:solidFill>
                          <a:latin typeface="Calibri"/>
                        </a:rPr>
                        <a:t>[S]</a:t>
                      </a:r>
                    </a:p>
                  </a:txBody>
                  <a:tcPr marL="101600" marR="101600" marT="38100" marB="38100" anchor="ctr">
                    <a:solidFill>
                      <a:srgbClr val="F4F2FA"/>
                    </a:solidFill>
                  </a:tcPr>
                </a:tc>
                <a:tc>
                  <a:txBody>
                    <a:bodyPr/>
                    <a:lstStyle/>
                    <a:p>
                      <a:r>
                        <a:rPr sz="1200" b="0" i="0">
                          <a:solidFill>
                            <a:srgbClr val="1A1440"/>
                          </a:solidFill>
                          <a:latin typeface="Calibri"/>
                        </a:rPr>
                        <a:t>When is an INNER join the honest choice?</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How do you reconcile a total after a join back to its source table?</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Anand says the gap is too small to matter; how do you decide whether to chase it?</a:t>
                      </a:r>
                    </a:p>
                  </a:txBody>
                  <a:tcPr marL="101600" marR="101600" marT="38100" marB="38100" anchor="ctr">
                    <a:solidFill>
                      <a:srgbClr val="F4F2FA"/>
                    </a:solidFill>
                  </a:tcPr>
                </a:tc>
              </a:tr>
              <a:tr h="335280">
                <a:tc>
                  <a:txBody>
                    <a:bodyPr/>
                    <a:lstStyle/>
                    <a:p>
                      <a:r>
                        <a:rPr sz="1200" b="0" i="0">
                          <a:solidFill>
                            <a:srgbClr val="1A1440"/>
                          </a:solidFill>
                          <a:latin typeface="Calibri"/>
                        </a:rPr>
                        <a:t>[S]</a:t>
                      </a:r>
                    </a:p>
                  </a:txBody>
                  <a:tcPr marL="101600" marR="101600" marT="38100" marB="38100" anchor="ctr">
                    <a:solidFill>
                      <a:srgbClr val="FFFFFF"/>
                    </a:solidFill>
                  </a:tcPr>
                </a:tc>
                <a:tc>
                  <a:txBody>
                    <a:bodyPr/>
                    <a:lstStyle/>
                    <a:p>
                      <a:r>
                        <a:rPr sz="1200" b="0" i="0">
                          <a:solidFill>
                            <a:srgbClr val="1A1440"/>
                          </a:solidFill>
                          <a:latin typeface="Calibri"/>
                        </a:rPr>
                        <a:t>What does a FULL OUTER JOIN add, and when would you reach for it?</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Tonight, and after this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practice lab, the take-home and the reading, in the order they run.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NEXT</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The IITGN session, tentative</a:t>
            </a:r>
          </a:p>
        </p:txBody>
      </p:sp>
      <p:sp>
        <p:nvSpPr>
          <p:cNvPr id="14" name="TextBox 13"/>
          <p:cNvSpPr txBox="1"/>
          <p:nvPr/>
        </p:nvSpPr>
        <p:spPr>
          <a:xfrm>
            <a:off x="694944" y="3492500"/>
            <a:ext cx="2316403" cy="531876"/>
          </a:xfrm>
          <a:prstGeom prst="rect">
            <a:avLst/>
          </a:prstGeom>
          <a:noFill/>
        </p:spPr>
        <p:txBody>
          <a:bodyPr wrap="square" anchor="t" lIns="0" rIns="0" tIns="0" bIns="0">
            <a:spAutoFit/>
          </a:bodyPr>
          <a:lstStyle/>
          <a:p>
            <a:pPr algn="l"/>
            <a:r>
              <a:rPr sz="1000" b="0" i="0">
                <a:solidFill>
                  <a:srgbClr val="6B6690"/>
                </a:solidFill>
                <a:latin typeface="Calibri"/>
              </a:rPr>
              <a:t>Confidence intervals and the t-test family, 120 minutes, as currently planned.</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THEN</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practice lab</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TA-led, four problems climbing, with solutions at the end.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take-home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second payments book with its own surprises, reconciled by channel.</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Reading</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SQLBolt lessons 6 to 8, and the study notes.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4367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Marketing wants the best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joined table is ready, and the next question is about each row's neighbours.</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"Retail-Plus frequency is the problem, so we want to protect our best members before they drift. Give us the top fifty customers by Q2 revenue in each segment, and flag anyone whose monthly spend has fallen for two months running."</a:t>
            </a:r>
          </a:p>
        </p:txBody>
      </p:sp>
      <p:pic>
        <p:nvPicPr>
          <p:cNvPr id="14" name="mermaid diagram" descr="37a40a42c6b7f2b6.png"/>
          <p:cNvPicPr>
            <a:picLocks noChangeAspect="1"/>
          </p:cNvPicPr>
          <p:nvPr/>
        </p:nvPicPr>
        <p:blipFill>
          <a:blip r:embed="rId6"/>
          <a:stretch>
            <a:fillRect/>
          </a:stretch>
        </p:blipFill>
        <p:spPr>
          <a:xfrm>
            <a:off x="3224060" y="3502152"/>
            <a:ext cx="5743575" cy="20431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