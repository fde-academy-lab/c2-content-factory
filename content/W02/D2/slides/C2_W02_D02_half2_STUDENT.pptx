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trainer's afternoon is 60 minutes: the escalated case (45) and the Kahoot</a:t>
            </a:r>
          </a:p>
          <a:p>
            <a:r>
              <a:t>with tomorrow's ask (15). There is no second case today. The rest of the afternoon is the</a:t>
            </a:r>
          </a:p>
          <a:p>
            <a:r>
              <a:t>tentative IITGN session, which picks up where this hour stops.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45 minutes: the brief (5), the room alone on the case (30), the debrief of</a:t>
            </a:r>
          </a:p>
          <a:p>
            <a:r>
              <a:t>the wrong answers the room produced (10). The brief is exercises/unguided/C2_W02_D02_case_STUDENT.md;</a:t>
            </a:r>
          </a:p>
          <a:p>
            <a:r>
              <a:t>the start file is sql/C2_W02_D02_05_case_start_STUDENT.sql, with notebooks/C2_W02_D02_case_STUDENT.ipynb</a:t>
            </a:r>
          </a:p>
          <a:p>
            <a:r>
              <a:t>for anyone who prefers the notebook. No hints during the 30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booked is known when the case starts; everything dashed is the room's to</a:t>
            </a:r>
          </a:p>
          <a:p>
            <a:r>
              <a:t>fill from the data. Read Anand's last sentence twice: it is the reason the reconciliation is part</a:t>
            </a:r>
          </a:p>
          <a:p>
            <a:r>
              <a:t>of the deliverable and not an appendix.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timing: parts 1 and 2 in the first 15 minutes, parts 3 and 4 in the next</a:t>
            </a:r>
          </a:p>
          <a:p>
            <a:r>
              <a:t>10, part 5 in the last 5. A learner who runs out of time ships part 5 with an open line in the</a:t>
            </a:r>
          </a:p>
          <a:p>
            <a:r>
              <a:t>reconciliation, never a collected number without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slide up for the 30 minutes: it is the definition of done.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room starts, then silence for 30 minutes. Walk the room; the support</a:t>
            </a:r>
          </a:p>
          <a:p>
            <a:r>
              <a:t>TA answers environment problems only. Note which of the four wrong answers on the next slide you</a:t>
            </a:r>
          </a:p>
          <a:p>
            <a:r>
              <a:t>see on screens,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of the debrief. Ask for a volunteer whose report met one of these, and have them</a:t>
            </a:r>
          </a:p>
          <a:p>
            <a:r>
              <a:t>say the check that caught it. Do not display anyone's collected number on the projector; the day</a:t>
            </a:r>
          </a:p>
          <a:p>
            <a:r>
              <a:t>sheet has the numbers for you. If nobody met a trap, ask who ran the INNER version on purpose and</a:t>
            </a:r>
          </a:p>
          <a:p>
            <a:r>
              <a:t>what its order count was.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learners read their two sentences aloud and the room checks the four parts.</a:t>
            </a:r>
          </a:p>
          <a:p>
            <a:r>
              <a:t>Close the case on the interview question: the validation is these three cards plus the bridge,</a:t>
            </a:r>
          </a:p>
          <a:p>
            <a:r>
              <a:t>and when it fails late on reporting day, send booked with the reconciliation's open line named and</a:t>
            </a:r>
          </a:p>
          <a:p>
            <a:r>
              <a:t>hold collected; never ship an unreconciled number with a promise to fix it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15 minutes: the Kahoot (9), the crux lines and the interview list (3),</a:t>
            </a:r>
          </a:p>
          <a:p>
            <a:r>
              <a:t>tonight and tomorrow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the pack from the kahoot folder. Pause on any question below 60 percent</a:t>
            </a:r>
          </a:p>
          <a:p>
            <a:r>
              <a:t>correct and ask one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lines aloud, left column only. The cheat sheet repeats them word for</a:t>
            </a:r>
          </a:p>
          <a:p>
            <a:r>
              <a:t>word.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to point at it. [S] is asked everywhere, [F] often in GCC and product</a:t>
            </a:r>
          </a:p>
          <a:p>
            <a:r>
              <a:t>screens, [D] separates candidates. Learners practise them aloud in pairs tonight.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IITGN session is tentative until the institute confirms it; say so. The</a:t>
            </a:r>
          </a:p>
          <a:p>
            <a:r>
              <a:t>practice lab set is exercises/practice/C2_W02_D02_lab_STUDENT.md.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message and stop. Do not predict the answer; ask only one question to</a:t>
            </a:r>
          </a:p>
          <a:p>
            <a:r>
              <a:t>leave open: which of Monday's clauses can rank a row within its own segment? None of them, which is</a:t>
            </a:r>
          </a:p>
          <a:p>
            <a:r>
              <a:t>tomorrow's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 Id="rId6"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report Anand signs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“How do you know it is not double-counted?”</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before he uses the collected number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The report Anand signs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three rounds become one report by channel, with the reconciliation that proves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The report Anand signs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in Anand's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by order, by channel, with the proof above the number.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"Show me, order by order, what we actually collected against what we booked in Q2. If there is a gap, I want to know which orders and which channel. And tell me how you know it is not double-counted."</a:t>
            </a:r>
          </a:p>
        </p:txBody>
      </p:sp>
      <p:pic>
        <p:nvPicPr>
          <p:cNvPr id="14" name="mermaid diagram" descr="6344c0648cf3cdc9.png"/>
          <p:cNvPicPr>
            <a:picLocks noChangeAspect="1"/>
          </p:cNvPicPr>
          <p:nvPr/>
        </p:nvPicPr>
        <p:blipFill>
          <a:blip r:embed="rId6"/>
          <a:stretch>
            <a:fillRect/>
          </a:stretch>
        </p:blipFill>
        <p:spPr>
          <a:xfrm>
            <a:off x="1588141" y="3243072"/>
            <a:ext cx="9015412" cy="154305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forty-five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of the morning's rungs, run on Q2 and split by channel.</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baseline</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Q2 orders and booked by channel, from orders alone.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a:t>
            </a:r>
          </a:p>
        </p:txBody>
      </p:sp>
      <p:sp>
        <p:nvSpPr>
          <p:cNvPr id="19" name="TextBox 18"/>
          <p:cNvSpPr txBox="1"/>
          <p:nvPr/>
        </p:nvSpPr>
        <p:spPr>
          <a:xfrm>
            <a:off x="2957718"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Payments at order grain, a LEFT JOIN, the count reconciliation written above it.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with channel and amount.</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payment the gateway posted twice, with the surplus.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report</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By channel, with the checks, the bridge and two sentences to Anand.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finished report carries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Columns, checks and sentences, with every number coming from your own query.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1665226"/>
                <a:gridCol w="3748917"/>
                <a:gridCol w="5716847"/>
              </a:tblGrid>
              <a:tr h="369824">
                <a:tc>
                  <a:txBody>
                    <a:bodyPr/>
                    <a:lstStyle/>
                    <a:p>
                      <a:r>
                        <a:rPr sz="1450" b="1" i="0">
                          <a:solidFill>
                            <a:srgbClr val="FFFFFF"/>
                          </a:solidFill>
                          <a:latin typeface="Calibri"/>
                        </a:rPr>
                        <a:t>Column</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c>
                  <a:txBody>
                    <a:bodyPr/>
                    <a:lstStyle/>
                    <a:p>
                      <a:r>
                        <a:rPr sz="1450" b="1" i="0">
                          <a:solidFill>
                            <a:srgbClr val="FFFFFF"/>
                          </a:solidFill>
                          <a:latin typeface="Calibri"/>
                        </a:rPr>
                        <a:t>The check beside it</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Q2 orders per channel</a:t>
                      </a:r>
                    </a:p>
                  </a:txBody>
                  <a:tcPr marL="101600" marR="101600" marT="38100" marB="38100" anchor="ctr">
                    <a:solidFill>
                      <a:srgbClr val="FFFFFF"/>
                    </a:solidFill>
                  </a:tcPr>
                </a:tc>
                <a:tc>
                  <a:txBody>
                    <a:bodyPr/>
                    <a:lstStyle/>
                    <a:p>
                      <a:r>
                        <a:rPr sz="1400" b="0" i="0">
                          <a:solidFill>
                            <a:srgbClr val="1A1440"/>
                          </a:solidFill>
                          <a:latin typeface="Calibri"/>
                        </a:rPr>
                        <a:t>Rows out equals rows in</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From orders alone</a:t>
                      </a:r>
                    </a:p>
                  </a:txBody>
                  <a:tcPr marL="101600" marR="101600" marT="38100" marB="38100" anchor="ctr">
                    <a:solidFill>
                      <a:srgbClr val="F4F2FA"/>
                    </a:solidFill>
                  </a:tcPr>
                </a:tc>
                <a:tc>
                  <a:txBody>
                    <a:bodyPr/>
                    <a:lstStyle/>
                    <a:p>
                      <a:r>
                        <a:rPr sz="1400" b="0" i="0">
                          <a:solidFill>
                            <a:srgbClr val="1A1440"/>
                          </a:solidFill>
                          <a:latin typeface="Calibri"/>
                        </a:rPr>
                        <a:t>Equals Monday's booked, Rs 9,84,00,000 in total</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Each payment counted once</a:t>
                      </a:r>
                    </a:p>
                  </a:txBody>
                  <a:tcPr marL="101600" marR="101600" marT="38100" marB="38100" anchor="ctr">
                    <a:solidFill>
                      <a:srgbClr val="FFFFFF"/>
                    </a:solidFill>
                  </a:tcPr>
                </a:tc>
                <a:tc>
                  <a:txBody>
                    <a:bodyPr/>
                    <a:lstStyle/>
                    <a:p>
                      <a:r>
                        <a:rPr sz="1400" b="0" i="0">
                          <a:solidFill>
                            <a:srgbClr val="1A1440"/>
                          </a:solidFill>
                          <a:latin typeface="Calibri"/>
                        </a:rPr>
                        <a:t>Never above booked</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Booked less collected</a:t>
                      </a:r>
                    </a:p>
                  </a:txBody>
                  <a:tcPr marL="101600" marR="101600" marT="38100" marB="38100" anchor="ctr">
                    <a:solidFill>
                      <a:srgbClr val="F4F2FA"/>
                    </a:solidFill>
                  </a:tcPr>
                </a:tc>
                <a:tc>
                  <a:txBody>
                    <a:bodyPr/>
                    <a:lstStyle/>
                    <a:p>
                      <a:r>
                        <a:rPr sz="1400" b="0" i="0">
                          <a:solidFill>
                            <a:srgbClr val="1A1440"/>
                          </a:solidFill>
                          <a:latin typeface="Calibri"/>
                        </a:rPr>
                        <a:t>Equals the unpaid list's booked total</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The double-paid list's surplus</a:t>
                      </a:r>
                    </a:p>
                  </a:txBody>
                  <a:tcPr marL="101600" marR="101600" marT="38100" marB="38100" anchor="ctr">
                    <a:solidFill>
                      <a:srgbClr val="FFFFFF"/>
                    </a:solidFill>
                  </a:tcPr>
                </a:tc>
                <a:tc>
                  <a:txBody>
                    <a:bodyPr/>
                    <a:lstStyle/>
                    <a:p>
                      <a:r>
                        <a:rPr sz="1400" b="0" i="0">
                          <a:solidFill>
                            <a:srgbClr val="1A1440"/>
                          </a:solidFill>
                          <a:latin typeface="Calibri"/>
                        </a:rPr>
                        <a:t>Collected plus it equals the feed</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last check. </a:t>
            </a:r>
            <a:r>
              <a:rPr sz="1500" b="0" i="0">
                <a:solidFill>
                  <a:srgbClr val="1A1440"/>
                </a:solidFill>
                <a:latin typeface="Calibri"/>
              </a:rPr>
              <a:t>Every one of the 1,428 payment rows is matched to a Q1 order, a Q2 order, or to no order, and the unmatched ones go back to the platform lead.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sentences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with its evidence, a caveat, and the next step, in four parts.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763235"/>
                <a:gridCol w="9367755"/>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Anand listens for</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Collected against booked for Q2, as one number and one percentage</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The gap by channel, with the unpaid list behind it and the count reconciliation closed</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What the feed cannot tell you, such as whether an unpaid order is late or disputed</a:t>
                      </a:r>
                    </a:p>
                  </a:txBody>
                  <a:tcPr marL="101600" marR="101600" marT="38100" marB="38100" anchor="ctr">
                    <a:solidFill>
                      <a:srgbClr val="FFFFFF"/>
                    </a:solidFill>
                  </a:tcPr>
                </a:tc>
              </a:tr>
              <a:tr h="369824">
                <a:tc>
                  <a:txBody>
                    <a:bodyPr/>
                    <a:lstStyle/>
                    <a:p>
                      <a:r>
                        <a:rPr sz="1400" b="0" i="0">
                          <a:solidFill>
                            <a:srgbClr val="1A1440"/>
                          </a:solidFill>
                          <a:latin typeface="Calibri"/>
                        </a:rPr>
                        <a:t>Next step</a:t>
                      </a:r>
                    </a:p>
                  </a:txBody>
                  <a:tcPr marL="101600" marR="101600" marT="38100" marB="38100" anchor="ctr">
                    <a:solidFill>
                      <a:srgbClr val="F4F2FA"/>
                    </a:solidFill>
                  </a:tcPr>
                </a:tc>
                <a:tc>
                  <a:txBody>
                    <a:bodyPr/>
                    <a:lstStyle/>
                    <a:p>
                      <a:r>
                        <a:rPr sz="1400" b="0" i="0">
                          <a:solidFill>
                            <a:srgbClr val="1A1440"/>
                          </a:solidFill>
                          <a:latin typeface="Calibri"/>
                        </a:rPr>
                        <a:t>Who chases which orders, and what goes back to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If the count does not close, the sentence says so and the collected number waits.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wrong answers to look for in your own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debrief: each is a morning trap met again on Q2, and each has a one-line check.</a:t>
            </a:r>
          </a:p>
        </p:txBody>
      </p:sp>
      <p:pic>
        <p:nvPicPr>
          <p:cNvPr id="9" name="mermaid diagram" descr="24edbc87ddfd4e81.png"/>
          <p:cNvPicPr>
            <a:picLocks noChangeAspect="1"/>
          </p:cNvPicPr>
          <p:nvPr/>
        </p:nvPicPr>
        <p:blipFill>
          <a:blip r:embed="rId5"/>
          <a:stretch>
            <a:fillRect/>
          </a:stretch>
        </p:blipFill>
        <p:spPr>
          <a:xfrm>
            <a:off x="2988316" y="1682496"/>
            <a:ext cx="6215062" cy="4400550"/>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the checks prove, in Anand's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 your reconciliation aloud as the answer to "how do you know it is not double-counted".</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ows-3_9db7509de18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ROW REPEATED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Rows out equals rows in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Payments were brought to one row per order before the join, so no order is summed twice.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opy-x_46629d24160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PAYMENT COUNTED TWICE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Retries removed by grain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same instalment posted twice counts once in collected, and the surplus is listed.</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NO ORDER HIDDEN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gap has names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Booked less collected equals the unpaid list's total, order by order.</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[D] Design the validation you run before a joined number reaches Finance, and say what you do when it fails at the end of reporting day.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lines to carry,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The report Anand signs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Ungraded, and one of them returns to Monday.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to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ef5c2344ee288baa.png"/>
          <p:cNvPicPr>
            <a:picLocks noChangeAspect="1"/>
          </p:cNvPicPr>
          <p:nvPr/>
        </p:nvPicPr>
        <p:blipFill>
          <a:blip r:embed="rId5"/>
          <a:stretch>
            <a:fillRect/>
          </a:stretch>
        </p:blipFill>
        <p:spPr>
          <a:xfrm>
            <a:off x="2023910" y="3419856"/>
            <a:ext cx="8143875" cy="1543050"/>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lines close the notes and head the cheat sheet.</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The day's evidence</a:t>
                      </a:r>
                    </a:p>
                  </a:txBody>
                  <a:tcPr marL="101600" marR="101600" marT="38100" marB="38100" anchor="ctr">
                    <a:solidFill>
                      <a:srgbClr val="1A0F5C"/>
                    </a:solidFill>
                  </a:tcPr>
                </a:tc>
              </a:tr>
              <a:tr h="611632">
                <a:tc>
                  <a:txBody>
                    <a:bodyPr/>
                    <a:lstStyle/>
                    <a:p>
                      <a:r>
                        <a:rPr sz="1400" b="0" i="0">
                          <a:solidFill>
                            <a:srgbClr val="1A1440"/>
                          </a:solidFill>
                          <a:latin typeface="Calibri"/>
                        </a:rPr>
                        <a:t>Every join answers a question about the rows that do not match; choose the join by that question.</a:t>
                      </a:r>
                    </a:p>
                  </a:txBody>
                  <a:tcPr marL="101600" marR="101600" marT="38100" marB="38100" anchor="ctr">
                    <a:solidFill>
                      <a:srgbClr val="FFFFFF"/>
                    </a:solidFill>
                  </a:tcPr>
                </a:tc>
                <a:tc>
                  <a:txBody>
                    <a:bodyPr/>
                    <a:lstStyle/>
                    <a:p>
                      <a:r>
                        <a:rPr sz="1400" b="0" i="0">
                          <a:solidFill>
                            <a:srgbClr val="1A1440"/>
                          </a:solidFill>
                          <a:latin typeface="Calibri"/>
                        </a:rPr>
                        <a:t>INNER, LEFT, RIGHT and FULL on the tiny tables: 6, 7, 7 and 8 rows</a:t>
                      </a:r>
                    </a:p>
                  </a:txBody>
                  <a:tcPr marL="101600" marR="101600" marT="38100" marB="38100" anchor="ctr">
                    <a:solidFill>
                      <a:srgbClr val="FFFFFF"/>
                    </a:solidFill>
                  </a:tcPr>
                </a:tc>
              </a:tr>
              <a:tr h="611632">
                <a:tc>
                  <a:txBody>
                    <a:bodyPr/>
                    <a:lstStyle/>
                    <a:p>
                      <a:r>
                        <a:rPr sz="1400" b="0" i="0">
                          <a:solidFill>
                            <a:srgbClr val="1A1440"/>
                          </a:solidFill>
                          <a:latin typeface="Calibri"/>
                        </a:rPr>
                        <a:t>A key that repeats on one side multiplies the other side's rows before any number is summed.</a:t>
                      </a:r>
                    </a:p>
                  </a:txBody>
                  <a:tcPr marL="101600" marR="101600" marT="38100" marB="38100" anchor="ctr">
                    <a:solidFill>
                      <a:srgbClr val="F4F2FA"/>
                    </a:solidFill>
                  </a:tcPr>
                </a:tc>
                <a:tc>
                  <a:txBody>
                    <a:bodyPr/>
                    <a:lstStyle/>
                    <a:p>
                      <a:r>
                        <a:rPr sz="1400" b="0" i="0">
                          <a:solidFill>
                            <a:srgbClr val="1A1440"/>
                          </a:solidFill>
                          <a:latin typeface="Calibri"/>
                        </a:rPr>
                        <a:t>Rs 19.29 crore "collected" against Rs 9.84 crore booked</a:t>
                      </a:r>
                    </a:p>
                  </a:txBody>
                  <a:tcPr marL="101600" marR="101600" marT="38100" marB="38100" anchor="ctr">
                    <a:solidFill>
                      <a:srgbClr val="F4F2FA"/>
                    </a:solidFill>
                  </a:tcPr>
                </a:tc>
              </a:tr>
              <a:tr h="611632">
                <a:tc>
                  <a:txBody>
                    <a:bodyPr/>
                    <a:lstStyle/>
                    <a:p>
                      <a:r>
                        <a:rPr sz="1400" b="0" i="0">
                          <a:solidFill>
                            <a:srgbClr val="1A1440"/>
                          </a:solidFill>
                          <a:latin typeface="Calibri"/>
                        </a:rPr>
                        <a:t>A join is done when its row count is explained: rows in, rows out, and the difference named.</a:t>
                      </a:r>
                    </a:p>
                  </a:txBody>
                  <a:tcPr marL="101600" marR="101600" marT="38100" marB="38100" anchor="ctr">
                    <a:solidFill>
                      <a:srgbClr val="FFFFFF"/>
                    </a:solidFill>
                  </a:tcPr>
                </a:tc>
                <a:tc>
                  <a:txBody>
                    <a:bodyPr/>
                    <a:lstStyle/>
                    <a:p>
                      <a:r>
                        <a:rPr sz="1400" b="0" i="0">
                          <a:solidFill>
                            <a:srgbClr val="1A1440"/>
                          </a:solidFill>
                          <a:latin typeface="Calibri"/>
                        </a:rPr>
                        <a:t>462 orders in, 462 rows out, at order grain</a:t>
                      </a:r>
                    </a:p>
                  </a:txBody>
                  <a:tcPr marL="101600" marR="101600" marT="38100" marB="38100" anchor="ctr">
                    <a:solidFill>
                      <a:srgbClr val="FFFFFF"/>
                    </a:solidFill>
                  </a:tcPr>
                </a:tc>
              </a:tr>
              <a:tr h="611632">
                <a:tc>
                  <a:txBody>
                    <a:bodyPr/>
                    <a:lstStyle/>
                    <a:p>
                      <a:r>
                        <a:rPr sz="1400" b="0" i="0">
                          <a:solidFill>
                            <a:srgbClr val="1A1440"/>
                          </a:solidFill>
                          <a:latin typeface="Calibri"/>
                        </a:rPr>
                        <a:t>A condition on the right-hand table belongs in the ON clause, or the LEFT JOIN becomes an INNER one.</a:t>
                      </a:r>
                    </a:p>
                  </a:txBody>
                  <a:tcPr marL="101600" marR="101600" marT="38100" marB="38100" anchor="ctr">
                    <a:solidFill>
                      <a:srgbClr val="F4F2FA"/>
                    </a:solidFill>
                  </a:tcPr>
                </a:tc>
                <a:tc>
                  <a:txBody>
                    <a:bodyPr/>
                    <a:lstStyle/>
                    <a:p>
                      <a:r>
                        <a:rPr sz="1400" b="0" i="0">
                          <a:solidFill>
                            <a:srgbClr val="1A1440"/>
                          </a:solidFill>
                          <a:latin typeface="Calibri"/>
                        </a:rPr>
                        <a:t>Six rows and T-4 gone on the tiny tables</a:t>
                      </a:r>
                    </a:p>
                  </a:txBody>
                  <a:tcPr marL="101600" marR="101600" marT="38100" marB="38100" anchor="ctr">
                    <a:solidFill>
                      <a:srgbClr val="F4F2FA"/>
                    </a:solidFill>
                  </a:tcPr>
                </a:tc>
              </a:tr>
              <a:tr h="611632">
                <a:tc>
                  <a:txBody>
                    <a:bodyPr/>
                    <a:lstStyle/>
                    <a:p>
                      <a:r>
                        <a:rPr sz="1400" b="0" i="0">
                          <a:solidFill>
                            <a:srgbClr val="1A1440"/>
                          </a:solidFill>
                          <a:latin typeface="Calibri"/>
                        </a:rPr>
                        <a:t>Two payment rows are not a double payment until the grain says they are the same payment.</a:t>
                      </a:r>
                    </a:p>
                  </a:txBody>
                  <a:tcPr marL="101600" marR="101600" marT="38100" marB="38100" anchor="ctr">
                    <a:solidFill>
                      <a:srgbClr val="FFFFFF"/>
                    </a:solidFill>
                  </a:tcPr>
                </a:tc>
                <a:tc>
                  <a:txBody>
                    <a:bodyPr/>
                    <a:lstStyle/>
                    <a:p>
                      <a:r>
                        <a:rPr sz="1400" b="0" i="0">
                          <a:solidFill>
                            <a:srgbClr val="1A1440"/>
                          </a:solidFill>
                          <a:latin typeface="Calibri"/>
                        </a:rPr>
                        <a:t>216 Q2 orders flagged, most of them instalments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of the 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Eleven questions, tagged by how often they are asked; the answers are in the study notes.</a:t>
            </a:r>
          </a:p>
        </p:txBody>
      </p:sp>
      <p:graphicFrame>
        <p:nvGraphicFramePr>
          <p:cNvPr id="10" name="Table 9"/>
          <p:cNvGraphicFramePr>
            <a:graphicFrameLocks noGrp="1"/>
          </p:cNvGraphicFramePr>
          <p:nvPr/>
        </p:nvGraphicFramePr>
        <p:xfrm>
          <a:off x="530352" y="1825752"/>
          <a:ext cx="11130991" cy="4230624"/>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INNER against LEFT join: what does each drop or keep?</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Your join grew the row count; name the cause and the check.</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How do you find orders with no payment?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542544">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A filter on the right-hand table of a LEFT JOIN: WHERE or ON, and what changes?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HAVING COUNT(*) &gt; 1 on payments by order: what does it find, and what does it wrongly include?</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When is an INNER join the honest choice?</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Anand says the gap is too small to matter; how do you decide whether to chase it?</a:t>
                      </a:r>
                    </a:p>
                  </a:txBody>
                  <a:tcPr marL="101600" marR="101600" marT="38100" marB="38100" anchor="ctr">
                    <a:solidFill>
                      <a:srgbClr val="F4F2FA"/>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What does a FULL OUTER JOIN add, and when would you reach for it?</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after this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practice lab, the take-home and the reading, in the order they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NEXT</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IITGN session, tentative</a:t>
            </a:r>
          </a:p>
        </p:txBody>
      </p:sp>
      <p:sp>
        <p:nvSpPr>
          <p:cNvPr id="14" name="TextBox 13"/>
          <p:cNvSpPr txBox="1"/>
          <p:nvPr/>
        </p:nvSpPr>
        <p:spPr>
          <a:xfrm>
            <a:off x="694944"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Confidence intervals and the t-test family, 120 minutes, as currently planned.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practice lab</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TA-led, four problems climbing, with solutions at the end.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take-home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second payments book with its own surprises, reconciled by channel.</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Reading</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SQLBolt lessons 6 to 8, and the study notes.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Marketing wants the best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joined table is ready, and the next question is about each row's neighbours.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a:t>
            </a:r>
          </a:p>
        </p:txBody>
      </p:sp>
      <p:pic>
        <p:nvPicPr>
          <p:cNvPr id="14" name="mermaid diagram" descr="37a40a42c6b7f2b6.png"/>
          <p:cNvPicPr>
            <a:picLocks noChangeAspect="1"/>
          </p:cNvPicPr>
          <p:nvPr/>
        </p:nvPicPr>
        <p:blipFill>
          <a:blip r:embed="rId6"/>
          <a:stretch>
            <a:fillRect/>
          </a:stretch>
        </p:blipFill>
        <p:spPr>
          <a:xfrm>
            <a:off x="3224060" y="3502152"/>
            <a:ext cx="5743575" cy="20431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