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The trainer keeps the afternoon's first 60 minutes: chapter 6 (30), the escalated</a:t>
            </a:r>
          </a:p>
          <a:p>
            <a:r>
              <a:t>case's first two parts (20), and the Kahoot with tomorrow's question (10).</a:t>
            </a:r>
          </a:p>
          <a:p>
            <a:r>
              <a:t>The tentative IITGN faculty block W2-2 takes the last 120 minutes.</a:t>
            </a:r>
          </a:p>
          <a:p>
            <a:r>
              <a:t>The rest of the escalated case, the second case and</a:t>
            </a:r>
          </a:p>
          <a:p>
            <a:r>
              <a:t>the interview drill move to the TA-led practice lab and the take-home; their slides are marked D so</a:t>
            </a:r>
          </a:p>
          <a:p>
            <a:r>
              <a:t>a learner can work them alone.</a:t>
            </a:r>
          </a:p>
          <a:p>
            <a:r>
              <a:t>Transition: one slide of what the morning settled, then chapter 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five lines as the room's own findings; each learner's collected figure,</a:t>
            </a:r>
          </a:p>
          <a:p>
            <a:r>
              <a:t>gap and lists are on their own page from chapter 5. Five wrong pages appeared on the way, each</a:t>
            </a:r>
          </a:p>
          <a:p>
            <a:r>
              <a:t>plausible: chapter 2's fan-out draft, chapter 3's plain JOIN draft and its LEFT JOIN that still read</a:t>
            </a:r>
          </a:p>
          <a:p>
            <a:r>
              <a:t>posted as collected, chapter 4's quarter in WHERE, and chapter 5's gap added up order by order.</a:t>
            </a:r>
          </a:p>
          <a:p>
            <a:r>
              <a:t>Chapter 6 builds the checks that stop all five, every Monday.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folded into the minute of S1. These are chapter 1's tables, the ones every chapter traced by</a:t>
            </a:r>
          </a:p>
          <a:p>
            <a:r>
              <a:t>hand; the afternoon's wrong pages are all written on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Chapter 6 runs 30 minutes with the cover and the morning's five answers (2): the map, the need</a:t>
            </a:r>
          </a:p>
          <a:p>
            <a:r>
              <a:t>and Wirecard (4), the four ways and the call (4), the hurried checks and why they pass (6), the</a:t>
            </a:r>
          </a:p>
          <a:p>
            <a:r>
              <a:t>tie-back suite on one report and on all five (7), Kalpa's report (1), the second route (2), the</a:t>
            </a:r>
          </a:p>
          <a:p>
            <a:r>
              <a:t>reporting-day rule (3), the close (1). Notebook 6,</a:t>
            </a:r>
          </a:p>
          <a:p>
            <a:r>
              <a:t>C2_W02_D02_06_can_it_leave_STUDENT.ipynb.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metric is the collected figure and its gap, every Monday, and the checks that</a:t>
            </a:r>
          </a:p>
          <a:p>
            <a:r>
              <a:t>stand between them and Anand: which of the day's wrong reports each check would stop.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Say it plainly: a check is worth only its power to fail. Ask the room for a check in</a:t>
            </a:r>
          </a:p>
          <a:p>
            <a:r>
              <a:t>their own work that has never failed, and what that proves.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Sources: BBC News, 18, 22 and 25 June 2020; the FT's report republished by the</a:t>
            </a:r>
          </a:p>
          <a:p>
            <a:r>
              <a:t>Irish Times on 26 June 2020, attributed to people with first-hand knowledge; all checked 1 Oct 2026,</a:t>
            </a:r>
          </a:p>
          <a:p>
            <a:r>
              <a:t>URLs in the provenance. Wirecard claimed up to 1 billion euros in cash at OCBC; the 1.9 billion was</a:t>
            </a:r>
          </a:p>
          <a:p>
            <a:r>
              <a:t>later said to sit in banks in the Philippines. The point for the day: every check this chapter</a:t>
            </a:r>
          </a:p>
          <a:p>
            <a:r>
              <a:t>builds reads Kalpa's own tables, so name what they cannot see.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 is not sized, since what it catches depends on who reads. B costs the same as C</a:t>
            </a:r>
          </a:p>
          <a:p>
            <a:r>
              <a:t>and stops three pages in five; which two it misses is S12's question, so do not say. Hold the call</a:t>
            </a:r>
          </a:p>
          <a:p>
            <a:r>
              <a:t>for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Each tie-back check compares a figure on the report with the same figure computed</a:t>
            </a:r>
          </a:p>
          <a:p>
            <a:r>
              <a:t>outside it: booked from orders alone, posted from payments alone, and the gap from lists no join can</a:t>
            </a:r>
          </a:p>
          <a:p>
            <a:r>
              <a:t>multiply. The Python recomputation reaches</a:t>
            </a:r>
          </a:p>
          <a:p>
            <a:r>
              <a:t>the numbers by a different tool and a different rule for counting a payment once, so an error in</a:t>
            </a:r>
          </a:p>
          <a:p>
            <a:r>
              <a:t>the SQL and the same error in the checks would still be caught.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Take letters. Most rooms expect at least one check to catch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Say the wrong output exactly: 3 of 3 passed. This is the chapter's trap.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report agrees with itself and disagrees with the tables. Every plausibility</a:t>
            </a:r>
          </a:p>
          <a:p>
            <a:r>
              <a:t>check tests the report against itself, which is the Wirecard pattern in miniature.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Each tie-back check recomputes one figure outside the report and compares it with</a:t>
            </a:r>
          </a:p>
          <a:p>
            <a:r>
              <a:t>the report. Take letters.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This is the fix for the hurried suite: the same page, checked against the two</a:t>
            </a:r>
          </a:p>
          <a:p>
            <a:r>
              <a:t>tables, fails three ways. The gap is tied to both lists, the orders never paid and the orders paid</a:t>
            </a:r>
          </a:p>
          <a:p>
            <a:r>
              <a:t>in part, since a part-paid order is a gap too; on these tables nothing is paid short.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Each page is one of the day's mistakes written with its chapter's figures, and</a:t>
            </a:r>
          </a:p>
          <a:p>
            <a:r>
              <a:t>every page carries all three channels. Take letters.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Dwell on the last two rows: the mistakes that hide an unpaid order are the quiet</a:t>
            </a:r>
          </a:p>
          <a:p>
            <a:r>
              <a:t>ones, and they are the ones Anand's question is about. Kavya's rule follows from this slide: do not</a:t>
            </a:r>
          </a:p>
          <a:p>
            <a:r>
              <a:t>send a PASS you have never seen fail.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verdicts print; the figures that would name what the room is finding stay on</a:t>
            </a:r>
          </a:p>
          <a:p>
            <a:r>
              <a:t>each learner's own page. Say the sentence: this report may leave the team.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route shares no join, no GROUP BY and no NULL rule with the SQL report, so a</a:t>
            </a:r>
          </a:p>
          <a:p>
            <a:r>
              <a:t>mistake in one is unlikely to repeat in the other. Its own blind spot: it assumes a retry repeats the</a:t>
            </a:r>
          </a:p>
          <a:p>
            <a:r>
              <a:t>same amount, which chapter 3's cap method checked.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 failed check is information, and the day it fails matters: late on reporting day</a:t>
            </a:r>
          </a:p>
          <a:p>
            <a:r>
              <a:t>there may be no time to fix it. Take letters.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Option c is the one people send, and it is the one that puts an unreconciled figure</a:t>
            </a:r>
          </a:p>
          <a:p>
            <a:r>
              <a:t>on the CEO's page. Every check has a named owner. Interview [D]: design the validation you run</a:t>
            </a:r>
          </a:p>
          <a:p>
            <a:r>
              <a:t>before a joined number reaches Finance, and say what you do when it fails at the end of reporting day.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day's answer, for Anand: Q2 booked Rs 9,84,00,000; collected, each payment</a:t>
            </a:r>
          </a:p>
          <a:p>
            <a:r>
              <a:t>counted once, is the figure on each learner's own page; the gap is the orders nobody paid, named by</a:t>
            </a:r>
          </a:p>
          <a:p>
            <a:r>
              <a:t>channel; the retries and the payments with no order go to the platform lead; and every figure ties</a:t>
            </a:r>
          </a:p>
          <a:p>
            <a:r>
              <a:t>back to the two tables through checks that have each been seen to fail.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escalated case runs 20 minutes here, parts 1 and 2 alone, with</a:t>
            </a:r>
          </a:p>
          <a:p>
            <a:r>
              <a:t>notebooks/C2_W02_D02_ex1_escalated_case_STUDENT.ipynb and exercises/unguided/C2_W02_D02_escalated_STUDENT.md.</a:t>
            </a:r>
          </a:p>
          <a:p>
            <a:r>
              <a:t>Parts 3 to 5 move to the TA-led practice lab.</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five parts aloud, show the next slide, then start the clock: 15 minutes</a:t>
            </a:r>
          </a:p>
          <a:p>
            <a:r>
              <a:t>alone on parts 1 and 2, which with these two slides makes the block's 20. Each part's check tells a</a:t>
            </a:r>
          </a:p>
          <a:p>
            <a:r>
              <a:t>learner whether their pick holds without showing the answer. Walk the room; the common stall in Part</a:t>
            </a:r>
          </a:p>
          <a:p>
            <a:r>
              <a:t>2 is the grain of the payments CTE.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before the clock starts. The case is the day's chapters without the scaffolding.</a:t>
            </a:r>
          </a:p>
          <a:p>
            <a:r>
              <a:t>The debrief of wrong picks runs in the practice lab, where the TA reads the most common wrong letters</a:t>
            </a:r>
          </a:p>
          <a:p>
            <a:r>
              <a:t>for each part. When the 15 minutes end, name the lab slides in one sentence and go to the close.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These slides are for the TA-led practice lab and for a learner working alone. The</a:t>
            </a:r>
          </a:p>
          <a:p>
            <a:r>
              <a:t>trainer names them in one minute and moves to the Kahoot.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The TA runs the lab from the practice set and these slides, in this order: the escalated</a:t>
            </a:r>
          </a:p>
          <a:p>
            <a:r>
              <a:t>case's parts 3 to 5 (30 minutes) and the debrief of wrong letters (10), the practice set's problems 1</a:t>
            </a:r>
          </a:p>
          <a:p>
            <a:r>
              <a:t>to 3 (35), the second case in pairs (40), the drill (20), and problem 4 on the warehouse (25, or</a:t>
            </a:r>
          </a:p>
          <a:p>
            <a:r>
              <a:t>tonight). Name the order once and move on to the Kahoot.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40 minutes in the lab. The pairs post their four letters and the request; the TA reads</a:t>
            </a:r>
          </a:p>
          <a:p>
            <a:r>
              <a:t>the most common wrong letter for each part, and the reasons are in the case's solution page.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20 minutes in the lab, aloud in pairs: sixty seconds per answer, the partner times it.</a:t>
            </a:r>
          </a:p>
          <a:p>
            <a:r>
              <a:t>Each answer in one breath, in the table's order. INNER keeps only matched rows; LEFT keeps every</a:t>
            </a:r>
          </a:p>
          <a:p>
            <a:r>
              <a:t>left row with NULLs where nothing matched; both repeat a left row once per matching right row. A</a:t>
            </a:r>
          </a:p>
          <a:p>
            <a:r>
              <a:t>row count grows when the join key repeats on the other table: count rows before and after, count that</a:t>
            </a:r>
          </a:p>
          <a:p>
            <a:r>
              <a:t>table's rows per key, and bring it to the key's grain before the join. Orders with no payment come</a:t>
            </a:r>
          </a:p>
          <a:p>
            <a:r>
              <a:t>from a LEFT JOIN that keeps the rows whose payment key IS NULL, or from NOT EXISTS, with the list's</a:t>
            </a:r>
          </a:p>
          <a:p>
            <a:r>
              <a:t>booked total checked against total booked less total collected, less anything paid short, each</a:t>
            </a:r>
          </a:p>
          <a:p>
            <a:r>
              <a:t>computed without the list; never NOT IN, which returns nothing once the subquery holds a NULL. When revenue doubles and every row looks fine, look at the grain: every row is real and the</a:t>
            </a:r>
          </a:p>
          <a:p>
            <a:r>
              <a:t>sum runs per payment, so bring the many side to one row per order and recompute each table alone.</a:t>
            </a:r>
          </a:p>
          <a:p>
            <a:r>
              <a:t>The validation design is counts, including a unique key on the one side and the unmatched keys on</a:t>
            </a:r>
          </a:p>
          <a:p>
            <a:r>
              <a:t>the other; tie-backs to each table alone; one independent recomputation on a feed shown complete to</a:t>
            </a:r>
          </a:p>
          <a:p>
            <a:r>
              <a:t>the cut-off; and a test of the suite on known wrong reports. When a check fails late on reporting</a:t>
            </a:r>
          </a:p>
          <a:p>
            <a:r>
              <a:t>day, booked leaves with the open line named and collected is held. An INNER join is honest when the unmatched rows are</a:t>
            </a:r>
          </a:p>
          <a:p>
            <a:r>
              <a:t>outside the question by definition, such as days to the first payment for paid orders, and the</a:t>
            </a:r>
          </a:p>
          <a:p>
            <a:r>
              <a:t>report says so.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inside the drill's 20 minutes, sixty seconds an answer. The design question is the [D]</a:t>
            </a:r>
          </a:p>
          <a:p>
            <a:r>
              <a:t>rows: which approach, sized how, and what would make you switch. A strong answer names the check, the number it compares and the wrong report it stops.</a:t>
            </a:r>
          </a:p>
          <a:p>
            <a:r>
              <a:t>Each answer in one breath, in the table's order. A condition on the right-hand table goes in ON; in</a:t>
            </a:r>
          </a:p>
          <a:p>
            <a:r>
              <a:t>WHERE it runs after the join, drops the NULL rows and turns the LEFT JOIN into an INNER one.</a:t>
            </a:r>
          </a:p>
          <a:p>
            <a:r>
              <a:t>HAVING COUNT(*) &gt; 1 by order finds every order with more than one payment row, legitimate</a:t>
            </a:r>
          </a:p>
          <a:p>
            <a:r>
              <a:t>instalments included; a retry is one order and instalment posted twice. A joined total is reconciled</a:t>
            </a:r>
          </a:p>
          <a:p>
            <a:r>
              <a:t>by recomputing it from the source table alone and naming every rupee of difference as a move with</a:t>
            </a:r>
          </a:p>
          <a:p>
            <a:r>
              <a:t>its list. Two errors that cancel are found by counting first and then splitting the difference into</a:t>
            </a:r>
          </a:p>
          <a:p>
            <a:r>
              <a:t>moves with definitions, so each error gets its own bar. A gap that looks too small is sized as a</a:t>
            </a:r>
          </a:p>
          <a:p>
            <a:r>
              <a:t>share of booked, then by channel and by order, since a small total can be one large invoice, and by</a:t>
            </a:r>
          </a:p>
          <a:p>
            <a:r>
              <a:t>age, since an old unpaid order is overdue; the cost of chasing is set against the cash, the large,</a:t>
            </a:r>
          </a:p>
          <a:p>
            <a:r>
              <a:t>old orders go first, and booked and collected stay beside the gap. The one check to keep is orders</a:t>
            </a:r>
          </a:p>
          <a:p>
            <a:r>
              <a:t>on the report against orders in the table: it reads no rupee and catches both ways a join goes</a:t>
            </a:r>
          </a:p>
          <a:p>
            <a:r>
              <a:t>wrong, a fan-out and a dropped order. It misses what goes wrong after the join, posted read as</a:t>
            </a:r>
          </a:p>
          <a:p>
            <a:r>
              <a:t>collected and the gap summed past a NULL, which is why the gap's tie-back to the two lists is added</a:t>
            </a:r>
          </a:p>
          <a:p>
            <a:r>
              <a:t>second. That tie-back stops all five wrong pages and still comes second, because the lists are</a:t>
            </a:r>
          </a:p>
          <a:p>
            <a:r>
              <a:t>queries of their own that can carry the page's mistake, while the count reads nothing but orders.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close runs about 10 minutes inside the trainer's hour: the sentence, the six lines, the</a:t>
            </a:r>
          </a:p>
          <a:p>
            <a:r>
              <a:t>Kahoot, and tomorrow's question.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Each learner fills the blanks from their own page; nobody reads another's figures</a:t>
            </a:r>
          </a:p>
          <a:p>
            <a:r>
              <a:t>aloud. The sentence carries the definition, the gap with its orders, the second list's owner and</a:t>
            </a:r>
          </a:p>
          <a:p>
            <a:r>
              <a:t>the proof.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These are the crux lines the cheat sheet prints word for word. Ask each learner to</a:t>
            </a:r>
          </a:p>
          <a:p>
            <a:r>
              <a:t>star the one they would have broken this morning.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Run it from kahoot/C2_W02_D02_quiz_STUDENT.md. After each item, one sentence on</a:t>
            </a:r>
          </a:p>
          <a:p>
            <a:r>
              <a:t>the wrong answer most of the room picked.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Leave the question open: do not name tomorrow's tools. The room's first move</a:t>
            </a:r>
          </a:p>
          <a:p>
            <a:r>
              <a:t>tomorrow is to say why GROUP BY alone cannot answer it.</a:t>
            </a:r>
          </a:p>
          <a:p>
            <a:r>
              <a:t>Then hand over to the tentative IITGN faculty block W2-2.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xml"/><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8.xml"/><Relationship Id="rId5"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 Id="rId5"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notesSlide" Target="../notesSlides/notesSlide27.xml"/><Relationship Id="rId6"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 Id="rId5"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notesSlide" Target="../notesSlides/notesSlide34.xml"/><Relationship Id="rId6"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479576"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2  ·  TUESDAY  ·  AFTERNOON</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Can the collected number leave the team?</a:t>
            </a:r>
          </a:p>
        </p:txBody>
      </p:sp>
      <p:sp>
        <p:nvSpPr>
          <p:cNvPr id="9" name="TextBox 8"/>
          <p:cNvSpPr txBox="1"/>
          <p:nvPr/>
        </p:nvSpPr>
        <p:spPr>
          <a:xfrm>
            <a:off x="621792" y="3635756"/>
            <a:ext cx="10033711" cy="350266"/>
          </a:xfrm>
          <a:prstGeom prst="rect">
            <a:avLst/>
          </a:prstGeom>
          <a:noFill/>
        </p:spPr>
        <p:txBody>
          <a:bodyPr wrap="square" anchor="t" lIns="0" rIns="0" tIns="0" bIns="0">
            <a:spAutoFit/>
          </a:bodyPr>
          <a:lstStyle/>
          <a:p>
            <a:pPr algn="l"/>
            <a:r>
              <a:rPr sz="1900" b="0" i="1">
                <a:solidFill>
                  <a:srgbClr val="D9A7FF"/>
                </a:solidFill>
                <a:latin typeface="Georgia"/>
              </a:rPr>
              <a:t>“If there is a gap, I want to know which orders and which channel.”</a:t>
            </a:r>
          </a:p>
        </p:txBody>
      </p:sp>
      <p:sp>
        <p:nvSpPr>
          <p:cNvPr id="10" name="TextBox 9"/>
          <p:cNvSpPr txBox="1"/>
          <p:nvPr/>
        </p:nvSpPr>
        <p:spPr>
          <a:xfrm>
            <a:off x="621792" y="4040886"/>
            <a:ext cx="10033711" cy="218186"/>
          </a:xfrm>
          <a:prstGeom prst="rect">
            <a:avLst/>
          </a:prstGeom>
          <a:noFill/>
        </p:spPr>
        <p:txBody>
          <a:bodyPr wrap="square" anchor="t" lIns="0" rIns="0" tIns="0" bIns="0">
            <a:spAutoFit/>
          </a:bodyPr>
          <a:lstStyle/>
          <a:p>
            <a:pPr algn="l"/>
            <a:r>
              <a:rPr sz="1100" b="0" i="0">
                <a:solidFill>
                  <a:srgbClr val="CFC9EE"/>
                </a:solidFill>
                <a:latin typeface="Calibri"/>
              </a:rPr>
              <a:t>Anand Iyer, finance controller, Kalpa Retail, in the message that opened the day</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06</a:t>
            </a:r>
          </a:p>
        </p:txBody>
      </p:sp>
      <p:sp>
        <p:nvSpPr>
          <p:cNvPr id="12" name="TextBox 11"/>
          <p:cNvSpPr txBox="1"/>
          <p:nvPr/>
        </p:nvSpPr>
        <p:spPr>
          <a:xfrm>
            <a:off x="1005839" y="5248656"/>
            <a:ext cx="1425035" cy="185166"/>
          </a:xfrm>
          <a:prstGeom prst="rect">
            <a:avLst/>
          </a:prstGeom>
          <a:noFill/>
        </p:spPr>
        <p:txBody>
          <a:bodyPr wrap="square" anchor="t" lIns="0" rIns="0" tIns="0" bIns="0">
            <a:spAutoFit/>
          </a:bodyPr>
          <a:lstStyle/>
          <a:p>
            <a:pPr algn="l"/>
            <a:r>
              <a:rPr sz="900" b="0" i="0">
                <a:solidFill>
                  <a:srgbClr val="FFFFFF"/>
                </a:solidFill>
                <a:latin typeface="Calibri"/>
              </a:rPr>
              <a:t>Can the number leave?</a:t>
            </a:r>
          </a:p>
        </p:txBody>
      </p:sp>
      <p:sp>
        <p:nvSpPr>
          <p:cNvPr id="13" name="TextBox 12"/>
          <p:cNvSpPr txBox="1"/>
          <p:nvPr/>
        </p:nvSpPr>
        <p:spPr>
          <a:xfrm>
            <a:off x="2613755"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07</a:t>
            </a:r>
          </a:p>
        </p:txBody>
      </p:sp>
      <p:sp>
        <p:nvSpPr>
          <p:cNvPr id="14" name="TextBox 13"/>
          <p:cNvSpPr txBox="1"/>
          <p:nvPr/>
        </p:nvSpPr>
        <p:spPr>
          <a:xfrm>
            <a:off x="2997803" y="5248656"/>
            <a:ext cx="1720786" cy="185166"/>
          </a:xfrm>
          <a:prstGeom prst="rect">
            <a:avLst/>
          </a:prstGeom>
          <a:noFill/>
        </p:spPr>
        <p:txBody>
          <a:bodyPr wrap="square" anchor="t" lIns="0" rIns="0" tIns="0" bIns="0">
            <a:spAutoFit/>
          </a:bodyPr>
          <a:lstStyle/>
          <a:p>
            <a:pPr algn="l"/>
            <a:r>
              <a:rPr sz="900" b="0" i="0">
                <a:solidFill>
                  <a:srgbClr val="FFFFFF"/>
                </a:solidFill>
                <a:latin typeface="Calibri"/>
              </a:rPr>
              <a:t>Which orders make the gap?</a:t>
            </a:r>
          </a:p>
        </p:txBody>
      </p:sp>
      <p:sp>
        <p:nvSpPr>
          <p:cNvPr id="15" name="TextBox 14"/>
          <p:cNvSpPr txBox="1"/>
          <p:nvPr/>
        </p:nvSpPr>
        <p:spPr>
          <a:xfrm>
            <a:off x="4901469"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08</a:t>
            </a:r>
          </a:p>
        </p:txBody>
      </p:sp>
      <p:sp>
        <p:nvSpPr>
          <p:cNvPr id="16" name="TextBox 15"/>
          <p:cNvSpPr txBox="1"/>
          <p:nvPr/>
        </p:nvSpPr>
        <p:spPr>
          <a:xfrm>
            <a:off x="5285517" y="5248656"/>
            <a:ext cx="1993392" cy="333756"/>
          </a:xfrm>
          <a:prstGeom prst="rect">
            <a:avLst/>
          </a:prstGeom>
          <a:noFill/>
        </p:spPr>
        <p:txBody>
          <a:bodyPr wrap="square" anchor="t" lIns="0" rIns="0" tIns="0" bIns="0">
            <a:spAutoFit/>
          </a:bodyPr>
          <a:lstStyle/>
          <a:p>
            <a:pPr algn="l"/>
            <a:r>
              <a:rPr sz="900" b="0" i="0">
                <a:solidFill>
                  <a:srgbClr val="FFFFFF"/>
                </a:solidFill>
                <a:latin typeface="Calibri"/>
              </a:rPr>
              <a:t>What do the lab and tonight carry?</a:t>
            </a:r>
          </a:p>
        </p:txBody>
      </p:sp>
      <p:sp>
        <p:nvSpPr>
          <p:cNvPr id="17" name="TextBox 16"/>
          <p:cNvSpPr txBox="1"/>
          <p:nvPr/>
        </p:nvSpPr>
        <p:spPr>
          <a:xfrm>
            <a:off x="7461789"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09</a:t>
            </a:r>
          </a:p>
        </p:txBody>
      </p:sp>
      <p:sp>
        <p:nvSpPr>
          <p:cNvPr id="18" name="TextBox 17"/>
          <p:cNvSpPr txBox="1"/>
          <p:nvPr/>
        </p:nvSpPr>
        <p:spPr>
          <a:xfrm>
            <a:off x="7845837" y="5248656"/>
            <a:ext cx="1779936" cy="185166"/>
          </a:xfrm>
          <a:prstGeom prst="rect">
            <a:avLst/>
          </a:prstGeom>
          <a:noFill/>
        </p:spPr>
        <p:txBody>
          <a:bodyPr wrap="square" anchor="t" lIns="0" rIns="0" tIns="0" bIns="0">
            <a:spAutoFit/>
          </a:bodyPr>
          <a:lstStyle/>
          <a:p>
            <a:pPr algn="l"/>
            <a:r>
              <a:rPr sz="900" b="0" i="0">
                <a:solidFill>
                  <a:srgbClr val="FFFFFF"/>
                </a:solidFill>
                <a:latin typeface="Calibri"/>
              </a:rPr>
              <a:t>What leaves the room today?</a:t>
            </a:r>
          </a:p>
        </p:txBody>
      </p:sp>
      <p:sp>
        <p:nvSpPr>
          <p:cNvPr id="19" name="TextBox 18"/>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2. Can the collected number leave the team?</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answers the morning reached, with numbers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chapters 1 to 5 settle before the number can leave?</a:t>
            </a:r>
          </a:p>
        </p:txBody>
      </p:sp>
      <p:graphicFrame>
        <p:nvGraphicFramePr>
          <p:cNvPr id="9" name="Table 8"/>
          <p:cNvGraphicFramePr>
            <a:graphicFrameLocks noGrp="1"/>
          </p:cNvGraphicFramePr>
          <p:nvPr/>
        </p:nvGraphicFramePr>
        <p:xfrm>
          <a:off x="530352" y="1956816"/>
          <a:ext cx="11130990" cy="3427984"/>
        </p:xfrm>
        <a:graphic>
          <a:graphicData uri="http://schemas.openxmlformats.org/drawingml/2006/table">
            <a:tbl>
              <a:tblPr firstRow="0" bandRow="0">
                <a:tableStyleId>{2D5ABB26-0587-4C30-8999-92F81FD0307C}</a:tableStyleId>
              </a:tblPr>
              <a:tblGrid>
                <a:gridCol w="3555158"/>
                <a:gridCol w="7575832"/>
              </a:tblGrid>
              <a:tr h="369824">
                <a:tc>
                  <a:txBody>
                    <a:bodyPr/>
                    <a:lstStyle/>
                    <a:p>
                      <a:r>
                        <a:rPr sz="1450" b="1" i="0">
                          <a:solidFill>
                            <a:srgbClr val="FFFFFF"/>
                          </a:solidFill>
                          <a:latin typeface="Calibri"/>
                        </a:rPr>
                        <a:t>Chapter</a:t>
                      </a:r>
                    </a:p>
                  </a:txBody>
                  <a:tcPr marL="101600" marR="101600" marT="38100" marB="38100" anchor="ctr">
                    <a:solidFill>
                      <a:srgbClr val="1A0F5C"/>
                    </a:solidFill>
                  </a:tcPr>
                </a:tc>
                <a:tc>
                  <a:txBody>
                    <a:bodyPr/>
                    <a:lstStyle/>
                    <a:p>
                      <a:r>
                        <a:rPr sz="1450" b="1" i="0">
                          <a:solidFill>
                            <a:srgbClr val="FFFFFF"/>
                          </a:solidFill>
                          <a:latin typeface="Calibri"/>
                        </a:rPr>
                        <a:t>What it settled</a:t>
                      </a:r>
                    </a:p>
                  </a:txBody>
                  <a:tcPr marL="101600" marR="101600" marT="38100" marB="38100" anchor="ctr">
                    <a:solidFill>
                      <a:srgbClr val="1A0F5C"/>
                    </a:solidFill>
                  </a:tcPr>
                </a:tc>
              </a:tr>
              <a:tr h="611632">
                <a:tc>
                  <a:txBody>
                    <a:bodyPr/>
                    <a:lstStyle/>
                    <a:p>
                      <a:r>
                        <a:rPr sz="1400" b="0" i="0">
                          <a:solidFill>
                            <a:srgbClr val="1A1440"/>
                          </a:solidFill>
                          <a:latin typeface="Calibri"/>
                        </a:rPr>
                        <a:t>1. What does a join keep?</a:t>
                      </a:r>
                    </a:p>
                  </a:txBody>
                  <a:tcPr marL="101600" marR="101600" marT="38100" marB="38100" anchor="ctr">
                    <a:solidFill>
                      <a:srgbClr val="FFFFFF"/>
                    </a:solidFill>
                  </a:tcPr>
                </a:tc>
                <a:tc>
                  <a:txBody>
                    <a:bodyPr/>
                    <a:lstStyle/>
                    <a:p>
                      <a:r>
                        <a:rPr sz="1400" b="0" i="0">
                          <a:solidFill>
                            <a:srgbClr val="1A1440"/>
                          </a:solidFill>
                          <a:latin typeface="Calibri"/>
                        </a:rPr>
                        <a:t>LEFT JOIN with orders first keeps every booked order; on five invented orders INNER returns 6 rows, LEFT 7, RIGHT 7, FULL 8</a:t>
                      </a:r>
                    </a:p>
                  </a:txBody>
                  <a:tcPr marL="101600" marR="101600" marT="38100" marB="38100" anchor="ctr">
                    <a:solidFill>
                      <a:srgbClr val="FFFFFF"/>
                    </a:solidFill>
                  </a:tcPr>
                </a:tc>
              </a:tr>
              <a:tr h="611632">
                <a:tc>
                  <a:txBody>
                    <a:bodyPr/>
                    <a:lstStyle/>
                    <a:p>
                      <a:r>
                        <a:rPr sz="1400" b="0" i="0">
                          <a:solidFill>
                            <a:srgbClr val="1A1440"/>
                          </a:solidFill>
                          <a:latin typeface="Calibri"/>
                        </a:rPr>
                        <a:t>2. Why twice the bookings?</a:t>
                      </a:r>
                    </a:p>
                  </a:txBody>
                  <a:tcPr marL="101600" marR="101600" marT="38100" marB="38100" anchor="ctr">
                    <a:solidFill>
                      <a:srgbClr val="F4F2FA"/>
                    </a:solidFill>
                  </a:tcPr>
                </a:tc>
                <a:tc>
                  <a:txBody>
                    <a:bodyPr/>
                    <a:lstStyle/>
                    <a:p>
                      <a:r>
                        <a:rPr sz="1400" b="0" i="0">
                          <a:solidFill>
                            <a:srgbClr val="1A1440"/>
                          </a:solidFill>
                          <a:latin typeface="Calibri"/>
                        </a:rPr>
                        <a:t>A fan-out: the first draft reported Rs 19,29,04,410 against Rs 9,84,00,000 booked; payments go to one row per order before the join</a:t>
                      </a:r>
                    </a:p>
                  </a:txBody>
                  <a:tcPr marL="101600" marR="101600" marT="38100" marB="38100" anchor="ctr">
                    <a:solidFill>
                      <a:srgbClr val="F4F2FA"/>
                    </a:solidFill>
                  </a:tcPr>
                </a:tc>
              </a:tr>
              <a:tr h="611632">
                <a:tc>
                  <a:txBody>
                    <a:bodyPr/>
                    <a:lstStyle/>
                    <a:p>
                      <a:r>
                        <a:rPr sz="1400" b="0" i="0">
                          <a:solidFill>
                            <a:srgbClr val="1A1440"/>
                          </a:solidFill>
                          <a:latin typeface="Calibri"/>
                        </a:rPr>
                        <a:t>3. Is every order there?</a:t>
                      </a:r>
                    </a:p>
                  </a:txBody>
                  <a:tcPr marL="101600" marR="101600" marT="38100" marB="38100" anchor="ctr">
                    <a:solidFill>
                      <a:srgbClr val="FFFFFF"/>
                    </a:solidFill>
                  </a:tcPr>
                </a:tc>
                <a:tc>
                  <a:txBody>
                    <a:bodyPr/>
                    <a:lstStyle/>
                    <a:p>
                      <a:r>
                        <a:rPr sz="1400" b="0" i="0">
                          <a:solidFill>
                            <a:srgbClr val="1A1440"/>
                          </a:solidFill>
                          <a:latin typeface="Calibri"/>
                        </a:rPr>
                        <a:t>Rows in 462, rows out 462; a plain JOIN drops the unpaid order, and the bridge names every rupee from booked to posted</a:t>
                      </a:r>
                    </a:p>
                  </a:txBody>
                  <a:tcPr marL="101600" marR="101600" marT="38100" marB="38100" anchor="ctr">
                    <a:solidFill>
                      <a:srgbClr val="FFFFFF"/>
                    </a:solidFill>
                  </a:tcPr>
                </a:tc>
              </a:tr>
              <a:tr h="611632">
                <a:tc>
                  <a:txBody>
                    <a:bodyPr/>
                    <a:lstStyle/>
                    <a:p>
                      <a:r>
                        <a:rPr sz="1400" b="0" i="0">
                          <a:solidFill>
                            <a:srgbClr val="1A1440"/>
                          </a:solidFill>
                          <a:latin typeface="Calibri"/>
                        </a:rPr>
                        <a:t>4. Which orders, exactly?</a:t>
                      </a:r>
                    </a:p>
                  </a:txBody>
                  <a:tcPr marL="101600" marR="101600" marT="38100" marB="38100" anchor="ctr">
                    <a:solidFill>
                      <a:srgbClr val="F4F2FA"/>
                    </a:solidFill>
                  </a:tcPr>
                </a:tc>
                <a:tc>
                  <a:txBody>
                    <a:bodyPr/>
                    <a:lstStyle/>
                    <a:p>
                      <a:r>
                        <a:rPr sz="1400" b="0" i="0">
                          <a:solidFill>
                            <a:srgbClr val="1A1440"/>
                          </a:solidFill>
                          <a:latin typeface="Calibri"/>
                        </a:rPr>
                        <a:t>The unpaid list is an anti-join; a date filter in WHERE empties it; a retry is one order and instalment posted twice</a:t>
                      </a:r>
                    </a:p>
                  </a:txBody>
                  <a:tcPr marL="101600" marR="101600" marT="38100" marB="38100" anchor="ctr">
                    <a:solidFill>
                      <a:srgbClr val="F4F2FA"/>
                    </a:solidFill>
                  </a:tcPr>
                </a:tc>
              </a:tr>
              <a:tr h="611632">
                <a:tc>
                  <a:txBody>
                    <a:bodyPr/>
                    <a:lstStyle/>
                    <a:p>
                      <a:r>
                        <a:rPr sz="1400" b="0" i="0">
                          <a:solidFill>
                            <a:srgbClr val="1A1440"/>
                          </a:solidFill>
                          <a:latin typeface="Calibri"/>
                        </a:rPr>
                        <a:t>5. What does Anand sign?</a:t>
                      </a:r>
                    </a:p>
                  </a:txBody>
                  <a:tcPr marL="101600" marR="101600" marT="38100" marB="38100" anchor="ctr">
                    <a:solidFill>
                      <a:srgbClr val="FFFFFF"/>
                    </a:solidFill>
                  </a:tcPr>
                </a:tc>
                <a:tc>
                  <a:txBody>
                    <a:bodyPr/>
                    <a:lstStyle/>
                    <a:p>
                      <a:r>
                        <a:rPr sz="1400" b="0" i="0">
                          <a:solidFill>
                            <a:srgbClr val="1A1440"/>
                          </a:solidFill>
                          <a:latin typeface="Calibri"/>
                        </a:rPr>
                        <a:t>The page by channel, reconciled, with both lists; coalesce keeps an unpaid order in the gap</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the number leave?</a:t>
            </a:r>
          </a:p>
        </p:txBody>
      </p:sp>
      <p:sp>
        <p:nvSpPr>
          <p:cNvPr id="12" name="Oval 11"/>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6" name="Oval 15"/>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2 / 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orders, seven payments, every row checkable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invented tables does chapter 6 test its checks on?</a:t>
            </a:r>
          </a:p>
        </p:txBody>
      </p:sp>
      <p:pic>
        <p:nvPicPr>
          <p:cNvPr id="9" name="mermaid diagram" descr="2bf6e342ac1f16b1.png"/>
          <p:cNvPicPr>
            <a:picLocks noChangeAspect="1"/>
          </p:cNvPicPr>
          <p:nvPr/>
        </p:nvPicPr>
        <p:blipFill>
          <a:blip r:embed="rId5"/>
          <a:stretch>
            <a:fillRect/>
          </a:stretch>
        </p:blipFill>
        <p:spPr>
          <a:xfrm>
            <a:off x="530352" y="1902046"/>
            <a:ext cx="4786326" cy="4078035"/>
          </a:xfrm>
          <a:prstGeom prst="rect">
            <a:avLst/>
          </a:prstGeom>
        </p:spPr>
      </p:pic>
      <p:sp>
        <p:nvSpPr>
          <p:cNvPr id="10" name="TextBox 9"/>
          <p:cNvSpPr txBox="1"/>
          <p:nvPr/>
        </p:nvSpPr>
        <p:spPr>
          <a:xfrm>
            <a:off x="5761917" y="1956816"/>
            <a:ext cx="5899425" cy="187756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T-2 paid in two instalments, the gateway posted T-3's one payment twice, T-4 was never paid, and P-7 names an order the orders table does not hold. Booked is 5,800; collected, each payment counted once, is 5,000; the feed posted 6,500 against these five orders; the gap is 800, which is T-4.</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the number leave?</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7" name="Oval 16"/>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S1b  ·  3 / 34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Can the number leave?</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checks must pass before the collected number leaves the team, and what does Anand get when one fails at the end of reporting day?</a:t>
            </a:r>
          </a:p>
        </p:txBody>
      </p:sp>
      <p:sp>
        <p:nvSpPr>
          <p:cNvPr id="10" name="Rounded Rectangle 9"/>
          <p:cNvSpPr/>
          <p:nvPr/>
        </p:nvSpPr>
        <p:spPr>
          <a:xfrm>
            <a:off x="731519" y="5074920"/>
            <a:ext cx="160929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Can the number leave?</a:t>
            </a:r>
          </a:p>
        </p:txBody>
      </p:sp>
      <p:sp>
        <p:nvSpPr>
          <p:cNvPr id="11" name="Rounded Rectangle 10"/>
          <p:cNvSpPr/>
          <p:nvPr/>
        </p:nvSpPr>
        <p:spPr>
          <a:xfrm>
            <a:off x="2450543"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orders make the gap?</a:t>
            </a:r>
          </a:p>
        </p:txBody>
      </p:sp>
      <p:sp>
        <p:nvSpPr>
          <p:cNvPr id="12" name="Rounded Rectangle 11"/>
          <p:cNvSpPr/>
          <p:nvPr/>
        </p:nvSpPr>
        <p:spPr>
          <a:xfrm>
            <a:off x="4465646"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the lab and tonight carry?</a:t>
            </a:r>
          </a:p>
        </p:txBody>
      </p:sp>
      <p:sp>
        <p:nvSpPr>
          <p:cNvPr id="13" name="Rounded Rectangle 12"/>
          <p:cNvSpPr/>
          <p:nvPr/>
        </p:nvSpPr>
        <p:spPr>
          <a:xfrm>
            <a:off x="6724214"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leaves the room today?</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2. Can the collected number leave the team?</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4 / 34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in six steps, from a PASS to a rule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chapter 6's answer, and which smaller questions lead to it?</a:t>
            </a:r>
          </a:p>
        </p:txBody>
      </p:sp>
      <p:sp>
        <p:nvSpPr>
          <p:cNvPr id="9" name="Rounded Rectangle 8"/>
          <p:cNvSpPr/>
          <p:nvPr/>
        </p:nvSpPr>
        <p:spPr>
          <a:xfrm>
            <a:off x="530352" y="1956816"/>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11582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Kavya Nair, the team's senior analyst, who reviews every number before it leaves the team; Anand, who forwards it to the CEO's Monday page; and you, who sign it. A validation that cannot fail puts a PASS stamp on a wrong number, and a stamped wrong number is harder to withdraw than an unstamped one.</a:t>
            </a:r>
          </a:p>
        </p:txBody>
      </p:sp>
      <p:sp>
        <p:nvSpPr>
          <p:cNvPr id="12" name="Rectangle 11"/>
          <p:cNvSpPr/>
          <p:nvPr/>
        </p:nvSpPr>
        <p:spPr>
          <a:xfrm>
            <a:off x="1381734" y="40294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3494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495800"/>
            <a:ext cx="1373581" cy="680466"/>
          </a:xfrm>
          <a:prstGeom prst="rect">
            <a:avLst/>
          </a:prstGeom>
          <a:noFill/>
        </p:spPr>
        <p:txBody>
          <a:bodyPr wrap="square" anchor="t" lIns="0" rIns="0" tIns="0" bIns="0">
            <a:spAutoFit/>
          </a:bodyPr>
          <a:lstStyle/>
          <a:p>
            <a:pPr algn="l"/>
            <a:r>
              <a:rPr sz="1300" b="1" i="0">
                <a:solidFill>
                  <a:srgbClr val="1A0F5C"/>
                </a:solidFill>
                <a:latin typeface="Calibri"/>
              </a:rPr>
              <a:t>Can hurried checks miss an order?</a:t>
            </a:r>
          </a:p>
        </p:txBody>
      </p:sp>
      <p:sp>
        <p:nvSpPr>
          <p:cNvPr id="17" name="TextBox 16"/>
          <p:cNvSpPr txBox="1"/>
          <p:nvPr/>
        </p:nvSpPr>
        <p:spPr>
          <a:xfrm>
            <a:off x="694944" y="5212842"/>
            <a:ext cx="1373581" cy="531876"/>
          </a:xfrm>
          <a:prstGeom prst="rect">
            <a:avLst/>
          </a:prstGeom>
          <a:noFill/>
        </p:spPr>
        <p:txBody>
          <a:bodyPr wrap="square" anchor="t" lIns="0" rIns="0" tIns="0" bIns="0">
            <a:spAutoFit/>
          </a:bodyPr>
          <a:lstStyle/>
          <a:p>
            <a:pPr algn="l"/>
            <a:r>
              <a:rPr sz="1000" b="0" i="0">
                <a:solidFill>
                  <a:srgbClr val="6B6690"/>
                </a:solidFill>
                <a:latin typeface="Calibri"/>
              </a:rPr>
              <a:t>Three plausibility checks on a page that hides one.</a:t>
            </a:r>
          </a:p>
        </p:txBody>
      </p:sp>
      <p:sp>
        <p:nvSpPr>
          <p:cNvPr id="18" name="TextBox 17"/>
          <p:cNvSpPr txBox="1"/>
          <p:nvPr/>
        </p:nvSpPr>
        <p:spPr>
          <a:xfrm>
            <a:off x="2415997"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43494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Which checks tie to the tables?</a:t>
            </a:r>
          </a:p>
        </p:txBody>
      </p:sp>
      <p:sp>
        <p:nvSpPr>
          <p:cNvPr id="22" name="TextBox 21"/>
          <p:cNvSpPr txBox="1"/>
          <p:nvPr/>
        </p:nvSpPr>
        <p:spPr>
          <a:xfrm>
            <a:off x="2580589" y="4998212"/>
            <a:ext cx="1373581" cy="531876"/>
          </a:xfrm>
          <a:prstGeom prst="rect">
            <a:avLst/>
          </a:prstGeom>
          <a:noFill/>
        </p:spPr>
        <p:txBody>
          <a:bodyPr wrap="square" anchor="t" lIns="0" rIns="0" tIns="0" bIns="0">
            <a:spAutoFit/>
          </a:bodyPr>
          <a:lstStyle/>
          <a:p>
            <a:pPr algn="l"/>
            <a:r>
              <a:rPr sz="1000" b="0" i="0">
                <a:solidFill>
                  <a:srgbClr val="6B6690"/>
                </a:solidFill>
                <a:latin typeface="Calibri"/>
              </a:rPr>
              <a:t>Five checks, each read outside the report.</a:t>
            </a:r>
          </a:p>
        </p:txBody>
      </p:sp>
      <p:sp>
        <p:nvSpPr>
          <p:cNvPr id="23" name="TextBox 22"/>
          <p:cNvSpPr txBox="1"/>
          <p:nvPr/>
        </p:nvSpPr>
        <p:spPr>
          <a:xfrm>
            <a:off x="4301642"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43494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Do the two suites stop all five?</a:t>
            </a:r>
          </a:p>
        </p:txBody>
      </p:sp>
      <p:sp>
        <p:nvSpPr>
          <p:cNvPr id="27" name="TextBox 26"/>
          <p:cNvSpPr txBox="1"/>
          <p:nvPr/>
        </p:nvSpPr>
        <p:spPr>
          <a:xfrm>
            <a:off x="4466234" y="4998212"/>
            <a:ext cx="1373581" cy="531876"/>
          </a:xfrm>
          <a:prstGeom prst="rect">
            <a:avLst/>
          </a:prstGeom>
          <a:noFill/>
        </p:spPr>
        <p:txBody>
          <a:bodyPr wrap="square" anchor="t" lIns="0" rIns="0" tIns="0" bIns="0">
            <a:spAutoFit/>
          </a:bodyPr>
          <a:lstStyle/>
          <a:p>
            <a:pPr algn="l"/>
            <a:r>
              <a:rPr sz="1000" b="0" i="0">
                <a:solidFill>
                  <a:srgbClr val="6B6690"/>
                </a:solidFill>
                <a:latin typeface="Calibri"/>
              </a:rPr>
              <a:t>The day's five wrong reports, one by one.</a:t>
            </a:r>
          </a:p>
        </p:txBody>
      </p:sp>
      <p:sp>
        <p:nvSpPr>
          <p:cNvPr id="28" name="TextBox 27"/>
          <p:cNvSpPr txBox="1"/>
          <p:nvPr/>
        </p:nvSpPr>
        <p:spPr>
          <a:xfrm>
            <a:off x="6187287"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43494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Does Kalpa's Q2 page pass?</a:t>
            </a:r>
          </a:p>
        </p:txBody>
      </p:sp>
      <p:sp>
        <p:nvSpPr>
          <p:cNvPr id="32" name="TextBox 31"/>
          <p:cNvSpPr txBox="1"/>
          <p:nvPr/>
        </p:nvSpPr>
        <p:spPr>
          <a:xfrm>
            <a:off x="6351879" y="4998212"/>
            <a:ext cx="1373581" cy="366776"/>
          </a:xfrm>
          <a:prstGeom prst="rect">
            <a:avLst/>
          </a:prstGeom>
          <a:noFill/>
        </p:spPr>
        <p:txBody>
          <a:bodyPr wrap="square" anchor="t" lIns="0" rIns="0" tIns="0" bIns="0">
            <a:spAutoFit/>
          </a:bodyPr>
          <a:lstStyle/>
          <a:p>
            <a:pPr algn="l"/>
            <a:r>
              <a:rPr sz="1000" b="0" i="0">
                <a:solidFill>
                  <a:srgbClr val="6B6690"/>
                </a:solidFill>
                <a:latin typeface="Calibri"/>
              </a:rPr>
              <a:t>The suite on the real page.</a:t>
            </a:r>
          </a:p>
        </p:txBody>
      </p:sp>
      <p:sp>
        <p:nvSpPr>
          <p:cNvPr id="33" name="TextBox 32"/>
          <p:cNvSpPr txBox="1"/>
          <p:nvPr/>
        </p:nvSpPr>
        <p:spPr>
          <a:xfrm>
            <a:off x="8072932"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4349496"/>
            <a:ext cx="1702765"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4495800"/>
            <a:ext cx="1373581" cy="465836"/>
          </a:xfrm>
          <a:prstGeom prst="rect">
            <a:avLst/>
          </a:prstGeom>
          <a:noFill/>
        </p:spPr>
        <p:txBody>
          <a:bodyPr wrap="square" anchor="t" lIns="0" rIns="0" tIns="0" bIns="0">
            <a:spAutoFit/>
          </a:bodyPr>
          <a:lstStyle/>
          <a:p>
            <a:pPr algn="l"/>
            <a:r>
              <a:rPr sz="1300" b="1" i="0">
                <a:solidFill>
                  <a:srgbClr val="1A0F5C"/>
                </a:solidFill>
                <a:latin typeface="Calibri"/>
              </a:rPr>
              <a:t>Does Python reach the same?</a:t>
            </a:r>
          </a:p>
        </p:txBody>
      </p:sp>
      <p:sp>
        <p:nvSpPr>
          <p:cNvPr id="37" name="TextBox 36"/>
          <p:cNvSpPr txBox="1"/>
          <p:nvPr/>
        </p:nvSpPr>
        <p:spPr>
          <a:xfrm>
            <a:off x="8237524" y="4998212"/>
            <a:ext cx="1373581" cy="366776"/>
          </a:xfrm>
          <a:prstGeom prst="rect">
            <a:avLst/>
          </a:prstGeom>
          <a:noFill/>
        </p:spPr>
        <p:txBody>
          <a:bodyPr wrap="square" anchor="t" lIns="0" rIns="0" tIns="0" bIns="0">
            <a:spAutoFit/>
          </a:bodyPr>
          <a:lstStyle/>
          <a:p>
            <a:pPr algn="l"/>
            <a:r>
              <a:rPr sz="1000" b="0" i="0">
                <a:solidFill>
                  <a:srgbClr val="6B6690"/>
                </a:solidFill>
                <a:latin typeface="Calibri"/>
              </a:rPr>
              <a:t>The same numbers from the raw rows.</a:t>
            </a:r>
          </a:p>
        </p:txBody>
      </p:sp>
      <p:sp>
        <p:nvSpPr>
          <p:cNvPr id="38" name="TextBox 37"/>
          <p:cNvSpPr txBox="1"/>
          <p:nvPr/>
        </p:nvSpPr>
        <p:spPr>
          <a:xfrm>
            <a:off x="9958578" y="34625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9380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4349496"/>
            <a:ext cx="1702765"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4495800"/>
            <a:ext cx="1373581" cy="465836"/>
          </a:xfrm>
          <a:prstGeom prst="rect">
            <a:avLst/>
          </a:prstGeom>
          <a:noFill/>
        </p:spPr>
        <p:txBody>
          <a:bodyPr wrap="square" anchor="t" lIns="0" rIns="0" tIns="0" bIns="0">
            <a:spAutoFit/>
          </a:bodyPr>
          <a:lstStyle/>
          <a:p>
            <a:pPr algn="l"/>
            <a:r>
              <a:rPr sz="1300" b="1" i="0">
                <a:solidFill>
                  <a:srgbClr val="FFFFFF"/>
                </a:solidFill>
                <a:latin typeface="Calibri"/>
              </a:rPr>
              <a:t>What leaves when a check fails?</a:t>
            </a:r>
          </a:p>
        </p:txBody>
      </p:sp>
      <p:sp>
        <p:nvSpPr>
          <p:cNvPr id="42" name="TextBox 41"/>
          <p:cNvSpPr txBox="1"/>
          <p:nvPr/>
        </p:nvSpPr>
        <p:spPr>
          <a:xfrm>
            <a:off x="10123170" y="4998212"/>
            <a:ext cx="1373581" cy="366776"/>
          </a:xfrm>
          <a:prstGeom prst="rect">
            <a:avLst/>
          </a:prstGeom>
          <a:noFill/>
        </p:spPr>
        <p:txBody>
          <a:bodyPr wrap="square" anchor="t" lIns="0" rIns="0" tIns="0" bIns="0">
            <a:spAutoFit/>
          </a:bodyPr>
          <a:lstStyle/>
          <a:p>
            <a:pPr algn="l"/>
            <a:r>
              <a:rPr sz="1000" b="0" i="0">
                <a:solidFill>
                  <a:srgbClr val="CFC9EE"/>
                </a:solidFill>
                <a:latin typeface="Calibri"/>
              </a:rPr>
              <a:t>What Anand gets late on reporting day.</a:t>
            </a:r>
          </a:p>
        </p:txBody>
      </p:sp>
      <p:sp>
        <p:nvSpPr>
          <p:cNvPr id="43" name="Oval 4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45" name="Oval 4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47" name="Oval 4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49" name="Oval 48"/>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51" name="TextBox 5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5 / 34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PASS on a wrong number is forwarded with more trust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PASS stamp cost when the check behind it could not fail?</a:t>
            </a:r>
          </a:p>
        </p:txBody>
      </p:sp>
      <p:sp>
        <p:nvSpPr>
          <p:cNvPr id="9" name="Rounded Rectangle 8"/>
          <p:cNvSpPr/>
          <p:nvPr/>
        </p:nvSpPr>
        <p:spPr>
          <a:xfrm>
            <a:off x="53035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alendar-clock_84fb0b5a8829.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EVERY MONDAY</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Whoever is on the rota</a:t>
            </a:r>
          </a:p>
        </p:txBody>
      </p:sp>
      <p:sp>
        <p:nvSpPr>
          <p:cNvPr id="14" name="TextBox 13"/>
          <p:cNvSpPr txBox="1"/>
          <p:nvPr/>
        </p:nvSpPr>
        <p:spPr>
          <a:xfrm>
            <a:off x="731519"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The number is refreshed weekly, sometimes late on reporting day, by whoever runs it that week.</a:t>
            </a:r>
          </a:p>
        </p:txBody>
      </p:sp>
      <p:sp>
        <p:nvSpPr>
          <p:cNvPr id="15" name="Rounded Rectangle 14"/>
          <p:cNvSpPr/>
          <p:nvPr/>
        </p:nvSpPr>
        <p:spPr>
          <a:xfrm>
            <a:off x="430164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shield-check_14037a39f6ae.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WHAT CHECKS BUY</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No line-by-line read</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Checks let a number leave without Kavya reading every query.</a:t>
            </a:r>
          </a:p>
        </p:txBody>
      </p:sp>
      <p:sp>
        <p:nvSpPr>
          <p:cNvPr id="21" name="Rounded Rectangle 20"/>
          <p:cNvSpPr/>
          <p:nvPr/>
        </p:nvSpPr>
        <p:spPr>
          <a:xfrm>
            <a:off x="8072932" y="1956816"/>
            <a:ext cx="3588410"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riangle-alert_e79485772e4f.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A CHECK THAT CANNOT FAIL</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Worse than none</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CFC9EE"/>
                </a:solidFill>
                <a:latin typeface="Calibri"/>
              </a:rPr>
              <a:t>The PASS line travels with the number, and Anand forwards it with more confidence than an unchecked one.</a:t>
            </a:r>
          </a:p>
        </p:txBody>
      </p:sp>
      <p:sp>
        <p:nvSpPr>
          <p:cNvPr id="27" name="Oval 26"/>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29" name="Oval 28"/>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31" name="Oval 30"/>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33" name="Oval 32"/>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6 / 34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Wirecard reported cash it did not have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real company's checks read its own records back to it?</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2016 TO 2018</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59512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465836"/>
          </a:xfrm>
          <a:prstGeom prst="rect">
            <a:avLst/>
          </a:prstGeom>
          <a:noFill/>
        </p:spPr>
        <p:txBody>
          <a:bodyPr wrap="square" anchor="t" lIns="0" rIns="0" tIns="0" bIns="0">
            <a:spAutoFit/>
          </a:bodyPr>
          <a:lstStyle/>
          <a:p>
            <a:pPr algn="l"/>
            <a:r>
              <a:rPr sz="1300" b="1" i="0">
                <a:solidFill>
                  <a:srgbClr val="FFFFFF"/>
                </a:solidFill>
                <a:latin typeface="Calibri"/>
              </a:rPr>
              <a:t>The check that could not fail</a:t>
            </a:r>
          </a:p>
        </p:txBody>
      </p:sp>
      <p:sp>
        <p:nvSpPr>
          <p:cNvPr id="14" name="TextBox 13"/>
          <p:cNvSpPr txBox="1"/>
          <p:nvPr/>
        </p:nvSpPr>
        <p:spPr>
          <a:xfrm>
            <a:off x="694944" y="3492500"/>
            <a:ext cx="2316403" cy="862076"/>
          </a:xfrm>
          <a:prstGeom prst="rect">
            <a:avLst/>
          </a:prstGeom>
          <a:noFill/>
        </p:spPr>
        <p:txBody>
          <a:bodyPr wrap="square" anchor="t" lIns="0" rIns="0" tIns="0" bIns="0">
            <a:spAutoFit/>
          </a:bodyPr>
          <a:lstStyle/>
          <a:p>
            <a:pPr algn="l"/>
            <a:r>
              <a:rPr sz="1000" b="0" i="0">
                <a:solidFill>
                  <a:srgbClr val="CFC9EE"/>
                </a:solidFill>
                <a:latin typeface="Calibri"/>
              </a:rPr>
              <a:t>EY had not checked directly with Singapore's OCBC Bank and relied on documents and screenshots from a trustee and from Wirecard itself, the FT reported.</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18 JUNE 2020</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No sign-off</a:t>
            </a:r>
          </a:p>
        </p:txBody>
      </p:sp>
      <p:sp>
        <p:nvSpPr>
          <p:cNvPr id="19" name="TextBox 18"/>
          <p:cNvSpPr txBox="1"/>
          <p:nvPr/>
        </p:nvSpPr>
        <p:spPr>
          <a:xfrm>
            <a:off x="3523411"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EY refused to sign off on the accounts, saying it was unable to confirm the money existed.</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22 JUNE 2020</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1.9 billion euros</a:t>
            </a:r>
          </a:p>
        </p:txBody>
      </p:sp>
      <p:sp>
        <p:nvSpPr>
          <p:cNvPr id="24" name="TextBox 23"/>
          <p:cNvSpPr txBox="1"/>
          <p:nvPr/>
        </p:nvSpPr>
        <p:spPr>
          <a:xfrm>
            <a:off x="6351879"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Wirecard said there was "a prevailing likelihood" that its trust account balances did not exist.</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25 JUNE 2020</a:t>
            </a:r>
          </a:p>
        </p:txBody>
      </p:sp>
      <p:sp>
        <p:nvSpPr>
          <p:cNvPr id="26" name="Oval 25"/>
          <p:cNvSpPr/>
          <p:nvPr/>
        </p:nvSpPr>
        <p:spPr>
          <a:xfrm>
            <a:off x="1023796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Insolvency</a:t>
            </a:r>
          </a:p>
        </p:txBody>
      </p:sp>
      <p:sp>
        <p:nvSpPr>
          <p:cNvPr id="29" name="TextBox 28"/>
          <p:cNvSpPr txBox="1"/>
          <p:nvPr/>
        </p:nvSpPr>
        <p:spPr>
          <a:xfrm>
            <a:off x="9180347" y="3277870"/>
            <a:ext cx="2316403" cy="201676"/>
          </a:xfrm>
          <a:prstGeom prst="rect">
            <a:avLst/>
          </a:prstGeom>
          <a:noFill/>
        </p:spPr>
        <p:txBody>
          <a:bodyPr wrap="square" anchor="t" lIns="0" rIns="0" tIns="0" bIns="0">
            <a:spAutoFit/>
          </a:bodyPr>
          <a:lstStyle/>
          <a:p>
            <a:pPr algn="l"/>
            <a:r>
              <a:rPr sz="1000" b="0" i="0">
                <a:solidFill>
                  <a:srgbClr val="6B6690"/>
                </a:solidFill>
                <a:latin typeface="Calibri"/>
              </a:rPr>
              <a:t>Wirecard filed for insolvency.</a:t>
            </a:r>
          </a:p>
        </p:txBody>
      </p:sp>
      <p:sp>
        <p:nvSpPr>
          <p:cNvPr id="30" name="Oval 2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32" name="Oval 31"/>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34" name="Oval 3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36" name="Oval 35"/>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7 / 34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ways to validate, sized on five wrong reports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four ways to validate stops the day's wrong reports, and what does each cost?</a:t>
            </a:r>
          </a:p>
        </p:txBody>
      </p:sp>
      <p:graphicFrame>
        <p:nvGraphicFramePr>
          <p:cNvPr id="9" name="Table 8"/>
          <p:cNvGraphicFramePr>
            <a:graphicFrameLocks noGrp="1"/>
          </p:cNvGraphicFramePr>
          <p:nvPr/>
        </p:nvGraphicFramePr>
        <p:xfrm>
          <a:off x="530352" y="1956816"/>
          <a:ext cx="11130989" cy="2505456"/>
        </p:xfrm>
        <a:graphic>
          <a:graphicData uri="http://schemas.openxmlformats.org/drawingml/2006/table">
            <a:tbl>
              <a:tblPr firstRow="0" bandRow="0">
                <a:tableStyleId>{2D5ABB26-0587-4C30-8999-92F81FD0307C}</a:tableStyleId>
              </a:tblPr>
              <a:tblGrid>
                <a:gridCol w="2218614"/>
                <a:gridCol w="4385832"/>
                <a:gridCol w="2242256"/>
                <a:gridCol w="2284287"/>
              </a:tblGrid>
              <a:tr h="542544">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What it does</a:t>
                      </a:r>
                    </a:p>
                  </a:txBody>
                  <a:tcPr marL="101600" marR="101600" marT="38100" marB="38100" anchor="ctr">
                    <a:solidFill>
                      <a:srgbClr val="1A0F5C"/>
                    </a:solidFill>
                  </a:tcPr>
                </a:tc>
                <a:tc>
                  <a:txBody>
                    <a:bodyPr/>
                    <a:lstStyle/>
                    <a:p>
                      <a:r>
                        <a:rPr sz="1250" b="1" i="0">
                          <a:solidFill>
                            <a:srgbClr val="FFFFFF"/>
                          </a:solidFill>
                          <a:latin typeface="Calibri"/>
                        </a:rPr>
                        <a:t>Wrong reports it stops, of 5</a:t>
                      </a:r>
                    </a:p>
                  </a:txBody>
                  <a:tcPr marL="101600" marR="101600" marT="38100" marB="38100" anchor="ctr">
                    <a:solidFill>
                      <a:srgbClr val="1A0F5C"/>
                    </a:solidFill>
                  </a:tcPr>
                </a:tc>
                <a:tc>
                  <a:txBody>
                    <a:bodyPr/>
                    <a:lstStyle/>
                    <a:p>
                      <a:r>
                        <a:rPr sz="1250" b="1" i="0">
                          <a:solidFill>
                            <a:srgbClr val="FFFFFF"/>
                          </a:solidFill>
                          <a:latin typeface="Calibri"/>
                        </a:rPr>
                        <a:t>Time on Kalpa's Q2</a:t>
                      </a:r>
                    </a:p>
                  </a:txBody>
                  <a:tcPr marL="101600" marR="101600" marT="38100" marB="38100" anchor="ctr">
                    <a:solidFill>
                      <a:srgbClr val="1A0F5C"/>
                    </a:solidFill>
                  </a:tcPr>
                </a:tc>
              </a:tr>
              <a:tr h="335280">
                <a:tc>
                  <a:txBody>
                    <a:bodyPr/>
                    <a:lstStyle/>
                    <a:p>
                      <a:r>
                        <a:rPr sz="1200" b="0" i="0">
                          <a:solidFill>
                            <a:srgbClr val="1A1440"/>
                          </a:solidFill>
                          <a:latin typeface="Calibri"/>
                        </a:rPr>
                        <a:t>A. Read the report</a:t>
                      </a:r>
                    </a:p>
                  </a:txBody>
                  <a:tcPr marL="101600" marR="101600" marT="38100" marB="38100" anchor="ctr">
                    <a:solidFill>
                      <a:srgbClr val="FFFFFF"/>
                    </a:solidFill>
                  </a:tcPr>
                </a:tc>
                <a:tc>
                  <a:txBody>
                    <a:bodyPr/>
                    <a:lstStyle/>
                    <a:p>
                      <a:r>
                        <a:rPr sz="1200" b="0" i="0">
                          <a:solidFill>
                            <a:srgbClr val="1A1440"/>
                          </a:solidFill>
                          <a:latin typeface="Calibri"/>
                        </a:rPr>
                        <a:t>A person looks at the page</a:t>
                      </a:r>
                    </a:p>
                  </a:txBody>
                  <a:tcPr marL="101600" marR="101600" marT="38100" marB="38100" anchor="ctr">
                    <a:solidFill>
                      <a:srgbClr val="FFFFFF"/>
                    </a:solidFill>
                  </a:tcPr>
                </a:tc>
                <a:tc>
                  <a:txBody>
                    <a:bodyPr/>
                    <a:lstStyle/>
                    <a:p>
                      <a:r>
                        <a:rPr sz="1200" b="0" i="0">
                          <a:solidFill>
                            <a:srgbClr val="1A1440"/>
                          </a:solidFill>
                          <a:latin typeface="Calibri"/>
                        </a:rPr>
                        <a:t>depends on the reader</a:t>
                      </a:r>
                    </a:p>
                  </a:txBody>
                  <a:tcPr marL="101600" marR="101600" marT="38100" marB="38100" anchor="ctr">
                    <a:solidFill>
                      <a:srgbClr val="FFFFFF"/>
                    </a:solidFill>
                  </a:tcPr>
                </a:tc>
                <a:tc>
                  <a:txBody>
                    <a:bodyPr/>
                    <a:lstStyle/>
                    <a:p>
                      <a:r>
                        <a:rPr sz="1200" b="0" i="0">
                          <a:solidFill>
                            <a:srgbClr val="1A1440"/>
                          </a:solidFill>
                          <a:latin typeface="Calibri"/>
                        </a:rPr>
                        <a:t>minutes of a person</a:t>
                      </a:r>
                    </a:p>
                  </a:txBody>
                  <a:tcPr marL="101600" marR="101600" marT="38100" marB="38100" anchor="ctr">
                    <a:solidFill>
                      <a:srgbClr val="FFFFFF"/>
                    </a:solidFill>
                  </a:tcPr>
                </a:tc>
              </a:tr>
              <a:tr h="542544">
                <a:tc>
                  <a:txBody>
                    <a:bodyPr/>
                    <a:lstStyle/>
                    <a:p>
                      <a:r>
                        <a:rPr sz="1200" b="0" i="0">
                          <a:solidFill>
                            <a:srgbClr val="1A1440"/>
                          </a:solidFill>
                          <a:latin typeface="Calibri"/>
                        </a:rPr>
                        <a:t>B. Plausibility checks</a:t>
                      </a:r>
                    </a:p>
                  </a:txBody>
                  <a:tcPr marL="101600" marR="101600" marT="38100" marB="38100" anchor="ctr">
                    <a:solidFill>
                      <a:srgbClr val="F4F2FA"/>
                    </a:solidFill>
                  </a:tcPr>
                </a:tc>
                <a:tc>
                  <a:txBody>
                    <a:bodyPr/>
                    <a:lstStyle/>
                    <a:p>
                      <a:r>
                        <a:rPr sz="1200" b="0" i="0">
                          <a:solidFill>
                            <a:srgbClr val="1A1440"/>
                          </a:solidFill>
                          <a:latin typeface="Calibri"/>
                        </a:rPr>
                        <a:t>Collected at most booked, no negative gap, every channel present</a:t>
                      </a:r>
                    </a:p>
                  </a:txBody>
                  <a:tcPr marL="101600" marR="101600" marT="38100" marB="38100" anchor="ctr">
                    <a:solidFill>
                      <a:srgbClr val="F4F2FA"/>
                    </a:solidFill>
                  </a:tcPr>
                </a:tc>
                <a:tc>
                  <a:txBody>
                    <a:bodyPr/>
                    <a:lstStyle/>
                    <a:p>
                      <a:r>
                        <a:rPr sz="1200" b="0" i="0">
                          <a:solidFill>
                            <a:srgbClr val="1A1440"/>
                          </a:solidFill>
                          <a:latin typeface="Calibri"/>
                        </a:rPr>
                        <a:t>3</a:t>
                      </a:r>
                    </a:p>
                  </a:txBody>
                  <a:tcPr marL="101600" marR="101600" marT="38100" marB="38100" anchor="ctr">
                    <a:solidFill>
                      <a:srgbClr val="F4F2FA"/>
                    </a:solidFill>
                  </a:tcPr>
                </a:tc>
                <a:tc>
                  <a:txBody>
                    <a:bodyPr/>
                    <a:lstStyle/>
                    <a:p>
                      <a:r>
                        <a:rPr sz="1200" b="0" i="0">
                          <a:solidFill>
                            <a:srgbClr val="1A1440"/>
                          </a:solidFill>
                          <a:latin typeface="Calibri"/>
                        </a:rPr>
                        <a:t>milliseconds, the report alone</a:t>
                      </a:r>
                    </a:p>
                  </a:txBody>
                  <a:tcPr marL="101600" marR="101600" marT="38100" marB="38100" anchor="ctr">
                    <a:solidFill>
                      <a:srgbClr val="F4F2FA"/>
                    </a:solidFill>
                  </a:tcPr>
                </a:tc>
              </a:tr>
              <a:tr h="542544">
                <a:tc>
                  <a:txBody>
                    <a:bodyPr/>
                    <a:lstStyle/>
                    <a:p>
                      <a:r>
                        <a:rPr sz="1200" b="0" i="0">
                          <a:solidFill>
                            <a:srgbClr val="1A1440"/>
                          </a:solidFill>
                          <a:latin typeface="Calibri"/>
                        </a:rPr>
                        <a:t>C. Tie-back checks</a:t>
                      </a:r>
                    </a:p>
                  </a:txBody>
                  <a:tcPr marL="101600" marR="101600" marT="38100" marB="38100" anchor="ctr">
                    <a:solidFill>
                      <a:srgbClr val="FFFFFF"/>
                    </a:solidFill>
                  </a:tcPr>
                </a:tc>
                <a:tc>
                  <a:txBody>
                    <a:bodyPr/>
                    <a:lstStyle/>
                    <a:p>
                      <a:r>
                        <a:rPr sz="1200" b="0" i="0">
                          <a:solidFill>
                            <a:srgbClr val="1A1440"/>
                          </a:solidFill>
                          <a:latin typeface="Calibri"/>
                        </a:rPr>
                        <a:t>Every figure recomputed from the source tables and compared</a:t>
                      </a:r>
                    </a:p>
                  </a:txBody>
                  <a:tcPr marL="101600" marR="101600" marT="38100" marB="38100" anchor="ctr">
                    <a:solidFill>
                      <a:srgbClr val="FFFFFF"/>
                    </a:solidFill>
                  </a:tcPr>
                </a:tc>
                <a:tc>
                  <a:txBody>
                    <a:bodyPr/>
                    <a:lstStyle/>
                    <a:p>
                      <a:r>
                        <a:rPr sz="1200" b="0" i="0">
                          <a:solidFill>
                            <a:srgbClr val="1A1440"/>
                          </a:solidFill>
                          <a:latin typeface="Calibri"/>
                        </a:rPr>
                        <a:t>5</a:t>
                      </a:r>
                    </a:p>
                  </a:txBody>
                  <a:tcPr marL="101600" marR="101600" marT="38100" marB="38100" anchor="ctr">
                    <a:solidFill>
                      <a:srgbClr val="FFFFFF"/>
                    </a:solidFill>
                  </a:tcPr>
                </a:tc>
                <a:tc>
                  <a:txBody>
                    <a:bodyPr/>
                    <a:lstStyle/>
                    <a:p>
                      <a:r>
                        <a:rPr sz="1200" b="0" i="0">
                          <a:solidFill>
                            <a:srgbClr val="1A1440"/>
                          </a:solidFill>
                          <a:latin typeface="Calibri"/>
                        </a:rPr>
                        <a:t>milliseconds, report and sources</a:t>
                      </a:r>
                    </a:p>
                  </a:txBody>
                  <a:tcPr marL="101600" marR="101600" marT="38100" marB="38100" anchor="ctr">
                    <a:solidFill>
                      <a:srgbClr val="FFFFFF"/>
                    </a:solidFill>
                  </a:tcPr>
                </a:tc>
              </a:tr>
              <a:tr h="542544">
                <a:tc>
                  <a:txBody>
                    <a:bodyPr/>
                    <a:lstStyle/>
                    <a:p>
                      <a:r>
                        <a:rPr sz="1200" b="0" i="0">
                          <a:solidFill>
                            <a:srgbClr val="1A1440"/>
                          </a:solidFill>
                          <a:latin typeface="Calibri"/>
                        </a:rPr>
                        <a:t>D. An independent recomputation</a:t>
                      </a:r>
                    </a:p>
                  </a:txBody>
                  <a:tcPr marL="101600" marR="101600" marT="38100" marB="38100" anchor="ctr">
                    <a:solidFill>
                      <a:srgbClr val="F4F2FA"/>
                    </a:solidFill>
                  </a:tcPr>
                </a:tc>
                <a:tc>
                  <a:txBody>
                    <a:bodyPr/>
                    <a:lstStyle/>
                    <a:p>
                      <a:r>
                        <a:rPr sz="1200" b="0" i="0">
                          <a:solidFill>
                            <a:srgbClr val="1A1440"/>
                          </a:solidFill>
                          <a:latin typeface="Calibri"/>
                        </a:rPr>
                        <a:t>The same figures from the raw rows by another tool</a:t>
                      </a:r>
                    </a:p>
                  </a:txBody>
                  <a:tcPr marL="101600" marR="101600" marT="38100" marB="38100" anchor="ctr">
                    <a:solidFill>
                      <a:srgbClr val="F4F2FA"/>
                    </a:solidFill>
                  </a:tcPr>
                </a:tc>
                <a:tc>
                  <a:txBody>
                    <a:bodyPr/>
                    <a:lstStyle/>
                    <a:p>
                      <a:r>
                        <a:rPr sz="1200" b="0" i="0">
                          <a:solidFill>
                            <a:srgbClr val="1A1440"/>
                          </a:solidFill>
                          <a:latin typeface="Calibri"/>
                        </a:rPr>
                        <a:t>5</a:t>
                      </a:r>
                    </a:p>
                  </a:txBody>
                  <a:tcPr marL="101600" marR="101600" marT="38100" marB="38100" anchor="ctr">
                    <a:solidFill>
                      <a:srgbClr val="F4F2FA"/>
                    </a:solidFill>
                  </a:tcPr>
                </a:tc>
                <a:tc>
                  <a:txBody>
                    <a:bodyPr/>
                    <a:lstStyle/>
                    <a:p>
                      <a:r>
                        <a:rPr sz="1200" b="0" i="0">
                          <a:solidFill>
                            <a:srgbClr val="1A1440"/>
                          </a:solidFill>
                          <a:latin typeface="Calibri"/>
                        </a:rPr>
                        <a:t>milliseconds, the raw rows</a:t>
                      </a:r>
                    </a:p>
                  </a:txBody>
                  <a:tcPr marL="101600" marR="101600" marT="38100" marB="38100" anchor="ctr">
                    <a:solidFill>
                      <a:srgbClr val="F4F2FA"/>
                    </a:solidFill>
                  </a:tcPr>
                </a:tc>
              </a:tr>
            </a:tbl>
          </a:graphicData>
        </a:graphic>
      </p:graphicFrame>
      <p:sp>
        <p:nvSpPr>
          <p:cNvPr id="10" name="Rounded Rectangle 9"/>
          <p:cNvSpPr/>
          <p:nvPr/>
        </p:nvSpPr>
        <p:spPr>
          <a:xfrm>
            <a:off x="530352" y="4718304"/>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846320"/>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837176"/>
            <a:ext cx="10564063" cy="891540"/>
          </a:xfrm>
          <a:prstGeom prst="rect">
            <a:avLst/>
          </a:prstGeom>
          <a:noFill/>
        </p:spPr>
        <p:txBody>
          <a:bodyPr wrap="square" anchor="ctr" lIns="0" rIns="0" tIns="0" bIns="0">
            <a:spAutoFit/>
          </a:bodyPr>
          <a:lstStyle/>
          <a:p>
            <a:r>
              <a:rPr sz="1500" b="1">
                <a:solidFill>
                  <a:srgbClr val="5B3FD6"/>
                </a:solidFill>
                <a:latin typeface="Calibri"/>
              </a:rPr>
              <a:t>The five wrong pages. </a:t>
            </a:r>
            <a:r>
              <a:rPr sz="1500" b="0" i="0">
                <a:solidFill>
                  <a:srgbClr val="1A1440"/>
                </a:solidFill>
                <a:latin typeface="Calibri"/>
              </a:rPr>
              <a:t>Chapter 2's fan-out draft, chapter 3's plain JOIN draft and its LEFT JOIN that still read posted as collected, chapter 4's quarter in WHERE, and chapter 5's gap summed order by order, each written on the invented tables.</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9" name="Oval 18"/>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8 / 34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call: tie-back, with a recompute beside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way fits, and what fact would change the call?</a:t>
            </a:r>
          </a:p>
        </p:txBody>
      </p:sp>
      <p:pic>
        <p:nvPicPr>
          <p:cNvPr id="9" name="mermaid diagram" descr="023caaedab520cc2.png"/>
          <p:cNvPicPr>
            <a:picLocks noChangeAspect="1"/>
          </p:cNvPicPr>
          <p:nvPr/>
        </p:nvPicPr>
        <p:blipFill>
          <a:blip r:embed="rId5"/>
          <a:stretch>
            <a:fillRect/>
          </a:stretch>
        </p:blipFill>
        <p:spPr>
          <a:xfrm>
            <a:off x="3447135" y="1664208"/>
            <a:ext cx="5297424" cy="3250692"/>
          </a:xfrm>
          <a:prstGeom prst="rect">
            <a:avLst/>
          </a:prstGeom>
        </p:spPr>
      </p:pic>
      <p:sp>
        <p:nvSpPr>
          <p:cNvPr id="10" name="Rounded Rectangle 9"/>
          <p:cNvSpPr/>
          <p:nvPr/>
        </p:nvSpPr>
        <p:spPr>
          <a:xfrm>
            <a:off x="530352" y="496062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8863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79492"/>
            <a:ext cx="10564063" cy="891540"/>
          </a:xfrm>
          <a:prstGeom prst="rect">
            <a:avLst/>
          </a:prstGeom>
          <a:noFill/>
        </p:spPr>
        <p:txBody>
          <a:bodyPr wrap="square" anchor="ctr" lIns="0" rIns="0" tIns="0" bIns="0">
            <a:spAutoFit/>
          </a:bodyPr>
          <a:lstStyle/>
          <a:p>
            <a:r>
              <a:rPr sz="1500" b="1">
                <a:solidFill>
                  <a:srgbClr val="5B3FD6"/>
                </a:solidFill>
                <a:latin typeface="Calibri"/>
              </a:rPr>
              <a:t>The fact that would change the call. </a:t>
            </a:r>
            <a:r>
              <a:rPr sz="1500" b="0" i="0">
                <a:solidFill>
                  <a:srgbClr val="1A1440"/>
                </a:solidFill>
                <a:latin typeface="Calibri"/>
              </a:rPr>
              <a:t>A settlement file from the gateway, the list of what reached Kalpa's bank, would be a source outside Kalpa's own tables, and reconciling to it would become the strongest check of all.</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9" name="Oval 18"/>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9 / 34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do the hurried checks pass the report?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 the checks a hurried analyst writes pass a report that hides an unpaid order?</a:t>
            </a:r>
          </a:p>
        </p:txBody>
      </p:sp>
      <p:sp>
        <p:nvSpPr>
          <p:cNvPr id="9" name="Rounded Rectangle 8"/>
          <p:cNvSpPr/>
          <p:nvPr/>
        </p:nvSpPr>
        <p:spPr>
          <a:xfrm>
            <a:off x="530352" y="1865122"/>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93138"/>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83994"/>
            <a:ext cx="10564063" cy="1158240"/>
          </a:xfrm>
          <a:prstGeom prst="rect">
            <a:avLst/>
          </a:prstGeom>
          <a:noFill/>
        </p:spPr>
        <p:txBody>
          <a:bodyPr wrap="square" anchor="ctr" lIns="0" rIns="0" tIns="0" bIns="0">
            <a:spAutoFit/>
          </a:bodyPr>
          <a:lstStyle/>
          <a:p>
            <a:r>
              <a:rPr sz="1500" b="1">
                <a:solidFill>
                  <a:srgbClr val="5B3FD6"/>
                </a:solidFill>
                <a:latin typeface="Calibri"/>
              </a:rPr>
              <a:t>The plausible wrong answer. </a:t>
            </a:r>
            <a:r>
              <a:rPr sz="1500" b="0" i="0">
                <a:solidFill>
                  <a:srgbClr val="1A1440"/>
                </a:solidFill>
                <a:latin typeface="Calibri"/>
              </a:rPr>
              <a:t>A hurried validation checks what a finance reader expects of any collections report: collected is at most booked, the gap is not negative, and all three channels are on the page. It runs on the page written with chapter 4's mistake, the quarter's dates on payments placed in WHERE, which dropped T-4.</a:t>
            </a:r>
          </a:p>
        </p:txBody>
      </p:sp>
      <p:graphicFrame>
        <p:nvGraphicFramePr>
          <p:cNvPr id="12" name="Table 11"/>
          <p:cNvGraphicFramePr>
            <a:graphicFrameLocks noGrp="1"/>
          </p:cNvGraphicFramePr>
          <p:nvPr/>
        </p:nvGraphicFramePr>
        <p:xfrm>
          <a:off x="530352" y="3370834"/>
          <a:ext cx="11130991" cy="1849120"/>
        </p:xfrm>
        <a:graphic>
          <a:graphicData uri="http://schemas.openxmlformats.org/drawingml/2006/table">
            <a:tbl>
              <a:tblPr firstRow="0" bandRow="0">
                <a:tableStyleId>{2D5ABB26-0587-4C30-8999-92F81FD0307C}</a:tableStyleId>
              </a:tblPr>
              <a:tblGrid>
                <a:gridCol w="10216591"/>
                <a:gridCol w="914400"/>
              </a:tblGrid>
              <a:tr h="369824">
                <a:tc>
                  <a:txBody>
                    <a:bodyPr/>
                    <a:lstStyle/>
                    <a:p>
                      <a:r>
                        <a:rPr sz="1450" b="1" i="0">
                          <a:solidFill>
                            <a:srgbClr val="FFFFFF"/>
                          </a:solidFill>
                          <a:latin typeface="Calibri"/>
                        </a:rPr>
                        <a:t>The quarter-in-WHERE page, invented</a:t>
                      </a:r>
                    </a:p>
                  </a:txBody>
                  <a:tcPr marL="101600" marR="101600" marT="38100" marB="38100" anchor="ctr">
                    <a:solidFill>
                      <a:srgbClr val="1A0F5C"/>
                    </a:solidFill>
                  </a:tcPr>
                </a:tc>
                <a:tc>
                  <a:txBody>
                    <a:bodyPr/>
                    <a:lstStyle/>
                    <a:p>
                      <a:r>
                        <a:rPr sz="1450" b="1" i="0">
                          <a:solidFill>
                            <a:srgbClr val="FFFFFF"/>
                          </a:solidFill>
                          <a:latin typeface="Calibri"/>
                        </a:rPr>
                        <a:t>Figure</a:t>
                      </a:r>
                    </a:p>
                  </a:txBody>
                  <a:tcPr marL="101600" marR="101600" marT="38100" marB="38100" anchor="ctr">
                    <a:solidFill>
                      <a:srgbClr val="1A0F5C"/>
                    </a:solidFill>
                  </a:tcPr>
                </a:tc>
              </a:tr>
              <a:tr h="369824">
                <a:tc>
                  <a:txBody>
                    <a:bodyPr/>
                    <a:lstStyle/>
                    <a:p>
                      <a:r>
                        <a:rPr sz="1400" b="0" i="0">
                          <a:solidFill>
                            <a:srgbClr val="1A1440"/>
                          </a:solidFill>
                          <a:latin typeface="Calibri"/>
                        </a:rPr>
                        <a:t>Orders</a:t>
                      </a:r>
                    </a:p>
                  </a:txBody>
                  <a:tcPr marL="101600" marR="101600" marT="38100" marB="38100" anchor="ctr">
                    <a:solidFill>
                      <a:srgbClr val="FFFFFF"/>
                    </a:solidFill>
                  </a:tcPr>
                </a:tc>
                <a:tc>
                  <a:txBody>
                    <a:bodyPr/>
                    <a:lstStyle/>
                    <a:p>
                      <a:r>
                        <a:rPr sz="1400" b="0" i="0">
                          <a:solidFill>
                            <a:srgbClr val="1A1440"/>
                          </a:solidFill>
                          <a:latin typeface="Calibri"/>
                        </a:rPr>
                        <a:t>4</a:t>
                      </a:r>
                    </a:p>
                  </a:txBody>
                  <a:tcPr marL="101600" marR="101600" marT="38100" marB="38100" anchor="ctr">
                    <a:solidFill>
                      <a:srgbClr val="FFFFFF"/>
                    </a:solidFill>
                  </a:tcPr>
                </a:tc>
              </a:tr>
              <a:tr h="369824">
                <a:tc>
                  <a:txBody>
                    <a:bodyPr/>
                    <a:lstStyle/>
                    <a:p>
                      <a:r>
                        <a:rPr sz="1400" b="0" i="0">
                          <a:solidFill>
                            <a:srgbClr val="1A1440"/>
                          </a:solidFill>
                          <a:latin typeface="Calibri"/>
                        </a:rPr>
                        <a:t>Booked</a:t>
                      </a:r>
                    </a:p>
                  </a:txBody>
                  <a:tcPr marL="101600" marR="101600" marT="38100" marB="38100" anchor="ctr">
                    <a:solidFill>
                      <a:srgbClr val="F4F2FA"/>
                    </a:solidFill>
                  </a:tcPr>
                </a:tc>
                <a:tc>
                  <a:txBody>
                    <a:bodyPr/>
                    <a:lstStyle/>
                    <a:p>
                      <a:r>
                        <a:rPr sz="1400" b="0" i="0">
                          <a:solidFill>
                            <a:srgbClr val="1A1440"/>
                          </a:solidFill>
                          <a:latin typeface="Calibri"/>
                        </a:rPr>
                        <a:t>5,000</a:t>
                      </a:r>
                    </a:p>
                  </a:txBody>
                  <a:tcPr marL="101600" marR="101600" marT="38100" marB="38100" anchor="ctr">
                    <a:solidFill>
                      <a:srgbClr val="F4F2FA"/>
                    </a:solidFill>
                  </a:tcPr>
                </a:tc>
              </a:tr>
              <a:tr h="369824">
                <a:tc>
                  <a:txBody>
                    <a:bodyPr/>
                    <a:lstStyle/>
                    <a:p>
                      <a:r>
                        <a:rPr sz="1400" b="0" i="0">
                          <a:solidFill>
                            <a:srgbClr val="1A1440"/>
                          </a:solidFill>
                          <a:latin typeface="Calibri"/>
                        </a:rPr>
                        <a:t>Collected</a:t>
                      </a:r>
                    </a:p>
                  </a:txBody>
                  <a:tcPr marL="101600" marR="101600" marT="38100" marB="38100" anchor="ctr">
                    <a:solidFill>
                      <a:srgbClr val="FFFFFF"/>
                    </a:solidFill>
                  </a:tcPr>
                </a:tc>
                <a:tc>
                  <a:txBody>
                    <a:bodyPr/>
                    <a:lstStyle/>
                    <a:p>
                      <a:r>
                        <a:rPr sz="1400" b="0" i="0">
                          <a:solidFill>
                            <a:srgbClr val="1A1440"/>
                          </a:solidFill>
                          <a:latin typeface="Calibri"/>
                        </a:rPr>
                        <a:t>5,000</a:t>
                      </a:r>
                    </a:p>
                  </a:txBody>
                  <a:tcPr marL="101600" marR="101600" marT="38100" marB="38100" anchor="ctr">
                    <a:solidFill>
                      <a:srgbClr val="FFFFFF"/>
                    </a:solidFill>
                  </a:tcPr>
                </a:tc>
              </a:tr>
              <a:tr h="369824">
                <a:tc>
                  <a:txBody>
                    <a:bodyPr/>
                    <a:lstStyle/>
                    <a:p>
                      <a:r>
                        <a:rPr sz="1400" b="0" i="0">
                          <a:solidFill>
                            <a:srgbClr val="1A1440"/>
                          </a:solidFill>
                          <a:latin typeface="Calibri"/>
                        </a:rPr>
                        <a:t>Gap</a:t>
                      </a:r>
                    </a:p>
                  </a:txBody>
                  <a:tcPr marL="101600" marR="101600" marT="38100" marB="38100" anchor="ctr">
                    <a:solidFill>
                      <a:srgbClr val="F4F2FA"/>
                    </a:solidFill>
                  </a:tcPr>
                </a:tc>
                <a:tc>
                  <a:txBody>
                    <a:bodyPr/>
                    <a:lstStyle/>
                    <a:p>
                      <a:r>
                        <a:rPr sz="1400" b="0" i="0">
                          <a:solidFill>
                            <a:srgbClr val="1A1440"/>
                          </a:solidFill>
                          <a:latin typeface="Calibri"/>
                        </a:rPr>
                        <a:t>0</a:t>
                      </a:r>
                    </a:p>
                  </a:txBody>
                  <a:tcPr marL="101600" marR="101600" marT="38100" marB="38100" anchor="ctr">
                    <a:solidFill>
                      <a:srgbClr val="F4F2FA"/>
                    </a:solidFill>
                  </a:tcPr>
                </a:tc>
              </a:tr>
            </a:tbl>
          </a:graphicData>
        </a:graphic>
      </p:graphicFrame>
      <p:sp>
        <p:nvSpPr>
          <p:cNvPr id="13" name="Rounded Rectangle 12"/>
          <p:cNvSpPr/>
          <p:nvPr/>
        </p:nvSpPr>
        <p:spPr>
          <a:xfrm>
            <a:off x="530352" y="5475986"/>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5604002"/>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5594858"/>
            <a:ext cx="10564063" cy="3581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How many of the three checks pass? a) none; b) one; c) two; d) all three.</a:t>
            </a:r>
          </a:p>
        </p:txBody>
      </p:sp>
      <p:sp>
        <p:nvSpPr>
          <p:cNvPr id="16" name="Oval 1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18" name="Oval 17"/>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20" name="Oval 1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22" name="Oval 21"/>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10 / 34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all three pass, and the number leaves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exactly does the hurried suite report on a page that hides T-4?</a:t>
            </a:r>
          </a:p>
        </p:txBody>
      </p:sp>
      <p:pic>
        <p:nvPicPr>
          <p:cNvPr id="9" name="mermaid diagram" descr="f97224823f7960e8.png"/>
          <p:cNvPicPr>
            <a:picLocks noChangeAspect="1"/>
          </p:cNvPicPr>
          <p:nvPr/>
        </p:nvPicPr>
        <p:blipFill>
          <a:blip r:embed="rId5"/>
          <a:stretch>
            <a:fillRect/>
          </a:stretch>
        </p:blipFill>
        <p:spPr>
          <a:xfrm>
            <a:off x="530352" y="1956816"/>
            <a:ext cx="11130991" cy="1123050"/>
          </a:xfrm>
          <a:prstGeom prst="rect">
            <a:avLst/>
          </a:prstGeom>
        </p:spPr>
      </p:pic>
      <p:sp>
        <p:nvSpPr>
          <p:cNvPr id="10" name="TextBox 9"/>
          <p:cNvSpPr txBox="1"/>
          <p:nvPr/>
        </p:nvSpPr>
        <p:spPr>
          <a:xfrm>
            <a:off x="530352" y="3226170"/>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d. Collected 5,000 is at most booked 5,000, the gap of 0 is not negative, and app is still on the page through T-1. The suite stamps "3 of 3 passed" on a page that hides the one order nobody paid.</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7" name="Oval 16"/>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11 / 34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each check reads the report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can a suite that never looks outside the report not see what it left out?</a:t>
            </a:r>
          </a:p>
        </p:txBody>
      </p:sp>
      <p:graphicFrame>
        <p:nvGraphicFramePr>
          <p:cNvPr id="9" name="Table 8"/>
          <p:cNvGraphicFramePr>
            <a:graphicFrameLocks noGrp="1"/>
          </p:cNvGraphicFramePr>
          <p:nvPr/>
        </p:nvGraphicFramePr>
        <p:xfrm>
          <a:off x="530352" y="1956816"/>
          <a:ext cx="11130989" cy="1479296"/>
        </p:xfrm>
        <a:graphic>
          <a:graphicData uri="http://schemas.openxmlformats.org/drawingml/2006/table">
            <a:tbl>
              <a:tblPr firstRow="0" bandRow="0">
                <a:tableStyleId>{2D5ABB26-0587-4C30-8999-92F81FD0307C}</a:tableStyleId>
              </a:tblPr>
              <a:tblGrid>
                <a:gridCol w="3309277"/>
                <a:gridCol w="2842937"/>
                <a:gridCol w="4978775"/>
              </a:tblGrid>
              <a:tr h="369824">
                <a:tc>
                  <a:txBody>
                    <a:bodyPr/>
                    <a:lstStyle/>
                    <a:p>
                      <a:r>
                        <a:rPr sz="1450" b="1" i="0">
                          <a:solidFill>
                            <a:srgbClr val="FFFFFF"/>
                          </a:solidFill>
                          <a:latin typeface="Calibri"/>
                        </a:rPr>
                        <a:t>Plausibility check</a:t>
                      </a:r>
                    </a:p>
                  </a:txBody>
                  <a:tcPr marL="101600" marR="101600" marT="38100" marB="38100" anchor="ctr">
                    <a:solidFill>
                      <a:srgbClr val="1A0F5C"/>
                    </a:solidFill>
                  </a:tcPr>
                </a:tc>
                <a:tc>
                  <a:txBody>
                    <a:bodyPr/>
                    <a:lstStyle/>
                    <a:p>
                      <a:r>
                        <a:rPr sz="1450" b="1" i="0">
                          <a:solidFill>
                            <a:srgbClr val="FFFFFF"/>
                          </a:solidFill>
                          <a:latin typeface="Calibri"/>
                        </a:rPr>
                        <a:t>What it compares</a:t>
                      </a:r>
                    </a:p>
                  </a:txBody>
                  <a:tcPr marL="101600" marR="101600" marT="38100" marB="38100" anchor="ctr">
                    <a:solidFill>
                      <a:srgbClr val="1A0F5C"/>
                    </a:solidFill>
                  </a:tcPr>
                </a:tc>
                <a:tc>
                  <a:txBody>
                    <a:bodyPr/>
                    <a:lstStyle/>
                    <a:p>
                      <a:r>
                        <a:rPr sz="1450" b="1" i="0">
                          <a:solidFill>
                            <a:srgbClr val="FFFFFF"/>
                          </a:solidFill>
                          <a:latin typeface="Calibri"/>
                        </a:rPr>
                        <a:t>Why the missing order cannot fail it</a:t>
                      </a:r>
                    </a:p>
                  </a:txBody>
                  <a:tcPr marL="101600" marR="101600" marT="38100" marB="38100" anchor="ctr">
                    <a:solidFill>
                      <a:srgbClr val="1A0F5C"/>
                    </a:solidFill>
                  </a:tcPr>
                </a:tc>
              </a:tr>
              <a:tr h="369824">
                <a:tc>
                  <a:txBody>
                    <a:bodyPr/>
                    <a:lstStyle/>
                    <a:p>
                      <a:r>
                        <a:rPr sz="1400" b="0" i="0">
                          <a:solidFill>
                            <a:srgbClr val="1A1440"/>
                          </a:solidFill>
                          <a:latin typeface="Calibri"/>
                        </a:rPr>
                        <a:t>Collected at most booked</a:t>
                      </a:r>
                    </a:p>
                  </a:txBody>
                  <a:tcPr marL="101600" marR="101600" marT="38100" marB="38100" anchor="ctr">
                    <a:solidFill>
                      <a:srgbClr val="FFFFFF"/>
                    </a:solidFill>
                  </a:tcPr>
                </a:tc>
                <a:tc>
                  <a:txBody>
                    <a:bodyPr/>
                    <a:lstStyle/>
                    <a:p>
                      <a:r>
                        <a:rPr sz="1400" b="0" i="0">
                          <a:solidFill>
                            <a:srgbClr val="1A1440"/>
                          </a:solidFill>
                          <a:latin typeface="Calibri"/>
                        </a:rPr>
                        <a:t>the report with itself</a:t>
                      </a:r>
                    </a:p>
                  </a:txBody>
                  <a:tcPr marL="101600" marR="101600" marT="38100" marB="38100" anchor="ctr">
                    <a:solidFill>
                      <a:srgbClr val="FFFFFF"/>
                    </a:solidFill>
                  </a:tcPr>
                </a:tc>
                <a:tc>
                  <a:txBody>
                    <a:bodyPr/>
                    <a:lstStyle/>
                    <a:p>
                      <a:r>
                        <a:rPr sz="1400" b="0" i="0">
                          <a:solidFill>
                            <a:srgbClr val="1A1440"/>
                          </a:solidFill>
                          <a:latin typeface="Calibri"/>
                        </a:rPr>
                        <a:t>T-4 took its booked amount with it</a:t>
                      </a:r>
                    </a:p>
                  </a:txBody>
                  <a:tcPr marL="101600" marR="101600" marT="38100" marB="38100" anchor="ctr">
                    <a:solidFill>
                      <a:srgbClr val="FFFFFF"/>
                    </a:solidFill>
                  </a:tcPr>
                </a:tc>
              </a:tr>
              <a:tr h="369824">
                <a:tc>
                  <a:txBody>
                    <a:bodyPr/>
                    <a:lstStyle/>
                    <a:p>
                      <a:r>
                        <a:rPr sz="1400" b="0" i="0">
                          <a:solidFill>
                            <a:srgbClr val="1A1440"/>
                          </a:solidFill>
                          <a:latin typeface="Calibri"/>
                        </a:rPr>
                        <a:t>The gap is not negative</a:t>
                      </a:r>
                    </a:p>
                  </a:txBody>
                  <a:tcPr marL="101600" marR="101600" marT="38100" marB="38100" anchor="ctr">
                    <a:solidFill>
                      <a:srgbClr val="F4F2FA"/>
                    </a:solidFill>
                  </a:tcPr>
                </a:tc>
                <a:tc>
                  <a:txBody>
                    <a:bodyPr/>
                    <a:lstStyle/>
                    <a:p>
                      <a:r>
                        <a:rPr sz="1400" b="0" i="0">
                          <a:solidFill>
                            <a:srgbClr val="1A1440"/>
                          </a:solidFill>
                          <a:latin typeface="Calibri"/>
                        </a:rPr>
                        <a:t>the report with itself</a:t>
                      </a:r>
                    </a:p>
                  </a:txBody>
                  <a:tcPr marL="101600" marR="101600" marT="38100" marB="38100" anchor="ctr">
                    <a:solidFill>
                      <a:srgbClr val="F4F2FA"/>
                    </a:solidFill>
                  </a:tcPr>
                </a:tc>
                <a:tc>
                  <a:txBody>
                    <a:bodyPr/>
                    <a:lstStyle/>
                    <a:p>
                      <a:r>
                        <a:rPr sz="1400" b="0" i="0">
                          <a:solidFill>
                            <a:srgbClr val="1A1440"/>
                          </a:solidFill>
                          <a:latin typeface="Calibri"/>
                        </a:rPr>
                        <a:t>0 is not negative</a:t>
                      </a:r>
                    </a:p>
                  </a:txBody>
                  <a:tcPr marL="101600" marR="101600" marT="38100" marB="38100" anchor="ctr">
                    <a:solidFill>
                      <a:srgbClr val="F4F2FA"/>
                    </a:solidFill>
                  </a:tcPr>
                </a:tc>
              </a:tr>
              <a:tr h="369824">
                <a:tc>
                  <a:txBody>
                    <a:bodyPr/>
                    <a:lstStyle/>
                    <a:p>
                      <a:r>
                        <a:rPr sz="1400" b="0" i="0">
                          <a:solidFill>
                            <a:srgbClr val="1A1440"/>
                          </a:solidFill>
                          <a:latin typeface="Calibri"/>
                        </a:rPr>
                        <a:t>All three channels present</a:t>
                      </a:r>
                    </a:p>
                  </a:txBody>
                  <a:tcPr marL="101600" marR="101600" marT="38100" marB="38100" anchor="ctr">
                    <a:solidFill>
                      <a:srgbClr val="FFFFFF"/>
                    </a:solidFill>
                  </a:tcPr>
                </a:tc>
                <a:tc>
                  <a:txBody>
                    <a:bodyPr/>
                    <a:lstStyle/>
                    <a:p>
                      <a:r>
                        <a:rPr sz="1400" b="0" i="0">
                          <a:solidFill>
                            <a:srgbClr val="1A1440"/>
                          </a:solidFill>
                          <a:latin typeface="Calibri"/>
                        </a:rPr>
                        <a:t>the report with itself</a:t>
                      </a:r>
                    </a:p>
                  </a:txBody>
                  <a:tcPr marL="101600" marR="101600" marT="38100" marB="38100" anchor="ctr">
                    <a:solidFill>
                      <a:srgbClr val="FFFFFF"/>
                    </a:solidFill>
                  </a:tcPr>
                </a:tc>
                <a:tc>
                  <a:txBody>
                    <a:bodyPr/>
                    <a:lstStyle/>
                    <a:p>
                      <a:r>
                        <a:rPr sz="1400" b="0" i="0">
                          <a:solidFill>
                            <a:srgbClr val="1A1440"/>
                          </a:solidFill>
                          <a:latin typeface="Calibri"/>
                        </a:rPr>
                        <a:t>app is there through T-1</a:t>
                      </a:r>
                    </a:p>
                  </a:txBody>
                  <a:tcPr marL="101600" marR="101600" marT="38100" marB="38100" anchor="ctr">
                    <a:solidFill>
                      <a:srgbClr val="FFFFFF"/>
                    </a:solidFill>
                  </a:tcPr>
                </a:tc>
              </a:tr>
            </a:tbl>
          </a:graphicData>
        </a:graphic>
      </p:graphicFrame>
      <p:sp>
        <p:nvSpPr>
          <p:cNvPr id="10" name="Rounded Rectangle 9"/>
          <p:cNvSpPr/>
          <p:nvPr/>
        </p:nvSpPr>
        <p:spPr>
          <a:xfrm>
            <a:off x="530352" y="3692144"/>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82016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811016"/>
            <a:ext cx="10564063" cy="624840"/>
          </a:xfrm>
          <a:prstGeom prst="rect">
            <a:avLst/>
          </a:prstGeom>
          <a:noFill/>
        </p:spPr>
        <p:txBody>
          <a:bodyPr wrap="square" anchor="ctr" lIns="0" rIns="0" tIns="0" bIns="0">
            <a:spAutoFit/>
          </a:bodyPr>
          <a:lstStyle/>
          <a:p>
            <a:r>
              <a:rPr sz="1500" b="1">
                <a:solidFill>
                  <a:srgbClr val="5B3FD6"/>
                </a:solidFill>
                <a:latin typeface="Calibri"/>
              </a:rPr>
              <a:t>The check that catches it. </a:t>
            </a:r>
            <a:r>
              <a:rPr sz="1500" b="0" i="0">
                <a:solidFill>
                  <a:srgbClr val="1A1440"/>
                </a:solidFill>
                <a:latin typeface="Calibri"/>
              </a:rPr>
              <a:t>One that looks outside the report: orders on the report against orders in the table, 4 against 5.</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9" name="Oval 18"/>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12 / 34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tie-back checks fail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checks tie the report back to the two tables, and which of them fail the quarter-in-WHERE page?</a:t>
            </a:r>
          </a:p>
        </p:txBody>
      </p:sp>
      <p:graphicFrame>
        <p:nvGraphicFramePr>
          <p:cNvPr id="9" name="Table 8"/>
          <p:cNvGraphicFramePr>
            <a:graphicFrameLocks noGrp="1"/>
          </p:cNvGraphicFramePr>
          <p:nvPr/>
        </p:nvGraphicFramePr>
        <p:xfrm>
          <a:off x="530352" y="1956816"/>
          <a:ext cx="11130990" cy="2702560"/>
        </p:xfrm>
        <a:graphic>
          <a:graphicData uri="http://schemas.openxmlformats.org/drawingml/2006/table">
            <a:tbl>
              <a:tblPr firstRow="0" bandRow="0">
                <a:tableStyleId>{2D5ABB26-0587-4C30-8999-92F81FD0307C}</a:tableStyleId>
              </a:tblPr>
              <a:tblGrid>
                <a:gridCol w="5565495"/>
                <a:gridCol w="5565495"/>
              </a:tblGrid>
              <a:tr h="369824">
                <a:tc>
                  <a:txBody>
                    <a:bodyPr/>
                    <a:lstStyle/>
                    <a:p>
                      <a:r>
                        <a:rPr sz="1450" b="1" i="0">
                          <a:solidFill>
                            <a:srgbClr val="FFFFFF"/>
                          </a:solidFill>
                          <a:latin typeface="Calibri"/>
                        </a:rPr>
                        <a:t>Tie-back check</a:t>
                      </a:r>
                    </a:p>
                  </a:txBody>
                  <a:tcPr marL="101600" marR="101600" marT="38100" marB="38100" anchor="ctr">
                    <a:solidFill>
                      <a:srgbClr val="1A0F5C"/>
                    </a:solidFill>
                  </a:tcPr>
                </a:tc>
                <a:tc>
                  <a:txBody>
                    <a:bodyPr/>
                    <a:lstStyle/>
                    <a:p>
                      <a:r>
                        <a:rPr sz="1450" b="1" i="0">
                          <a:solidFill>
                            <a:srgbClr val="FFFFFF"/>
                          </a:solidFill>
                          <a:latin typeface="Calibri"/>
                        </a:rPr>
                        <a:t>Computed from</a:t>
                      </a:r>
                    </a:p>
                  </a:txBody>
                  <a:tcPr marL="101600" marR="101600" marT="38100" marB="38100" anchor="ctr">
                    <a:solidFill>
                      <a:srgbClr val="1A0F5C"/>
                    </a:solidFill>
                  </a:tcPr>
                </a:tc>
              </a:tr>
              <a:tr h="369824">
                <a:tc>
                  <a:txBody>
                    <a:bodyPr/>
                    <a:lstStyle/>
                    <a:p>
                      <a:r>
                        <a:rPr sz="1400" b="0" i="0">
                          <a:solidFill>
                            <a:srgbClr val="1A1440"/>
                          </a:solidFill>
                          <a:latin typeface="Calibri"/>
                        </a:rPr>
                        <a:t>Orders on the report equal orders in the table</a:t>
                      </a:r>
                    </a:p>
                  </a:txBody>
                  <a:tcPr marL="101600" marR="101600" marT="38100" marB="38100" anchor="ctr">
                    <a:solidFill>
                      <a:srgbClr val="FFFFFF"/>
                    </a:solidFill>
                  </a:tcPr>
                </a:tc>
                <a:tc>
                  <a:txBody>
                    <a:bodyPr/>
                    <a:lstStyle/>
                    <a:p>
                      <a:r>
                        <a:rPr sz="1400" b="0" i="0">
                          <a:solidFill>
                            <a:srgbClr val="1A1440"/>
                          </a:solidFill>
                          <a:latin typeface="Calibri"/>
                        </a:rPr>
                        <a:t>orders alone</a:t>
                      </a:r>
                    </a:p>
                  </a:txBody>
                  <a:tcPr marL="101600" marR="101600" marT="38100" marB="38100" anchor="ctr">
                    <a:solidFill>
                      <a:srgbClr val="FFFFFF"/>
                    </a:solidFill>
                  </a:tcPr>
                </a:tc>
              </a:tr>
              <a:tr h="369824">
                <a:tc>
                  <a:txBody>
                    <a:bodyPr/>
                    <a:lstStyle/>
                    <a:p>
                      <a:r>
                        <a:rPr sz="1400" b="0" i="0">
                          <a:solidFill>
                            <a:srgbClr val="1A1440"/>
                          </a:solidFill>
                          <a:latin typeface="Calibri"/>
                        </a:rPr>
                        <a:t>Booked equals booked from orders alone</a:t>
                      </a:r>
                    </a:p>
                  </a:txBody>
                  <a:tcPr marL="101600" marR="101600" marT="38100" marB="38100" anchor="ctr">
                    <a:solidFill>
                      <a:srgbClr val="F4F2FA"/>
                    </a:solidFill>
                  </a:tcPr>
                </a:tc>
                <a:tc>
                  <a:txBody>
                    <a:bodyPr/>
                    <a:lstStyle/>
                    <a:p>
                      <a:r>
                        <a:rPr sz="1400" b="0" i="0">
                          <a:solidFill>
                            <a:srgbClr val="1A1440"/>
                          </a:solidFill>
                          <a:latin typeface="Calibri"/>
                        </a:rPr>
                        <a:t>orders alone</a:t>
                      </a:r>
                    </a:p>
                  </a:txBody>
                  <a:tcPr marL="101600" marR="101600" marT="38100" marB="38100" anchor="ctr">
                    <a:solidFill>
                      <a:srgbClr val="F4F2FA"/>
                    </a:solidFill>
                  </a:tcPr>
                </a:tc>
              </a:tr>
              <a:tr h="369824">
                <a:tc>
                  <a:txBody>
                    <a:bodyPr/>
                    <a:lstStyle/>
                    <a:p>
                      <a:r>
                        <a:rPr sz="1400" b="0" i="0">
                          <a:solidFill>
                            <a:srgbClr val="1A1440"/>
                          </a:solidFill>
                          <a:latin typeface="Calibri"/>
                        </a:rPr>
                        <a:t>The gap equals booked less collected</a:t>
                      </a:r>
                    </a:p>
                  </a:txBody>
                  <a:tcPr marL="101600" marR="101600" marT="38100" marB="38100" anchor="ctr">
                    <a:solidFill>
                      <a:srgbClr val="FFFFFF"/>
                    </a:solidFill>
                  </a:tcPr>
                </a:tc>
                <a:tc>
                  <a:txBody>
                    <a:bodyPr/>
                    <a:lstStyle/>
                    <a:p>
                      <a:r>
                        <a:rPr sz="1400" b="0" i="0">
                          <a:solidFill>
                            <a:srgbClr val="1A1440"/>
                          </a:solidFill>
                          <a:latin typeface="Calibri"/>
                        </a:rPr>
                        <a:t>the report's own columns</a:t>
                      </a:r>
                    </a:p>
                  </a:txBody>
                  <a:tcPr marL="101600" marR="101600" marT="38100" marB="38100" anchor="ctr">
                    <a:solidFill>
                      <a:srgbClr val="FFFFFF"/>
                    </a:solidFill>
                  </a:tcPr>
                </a:tc>
              </a:tr>
              <a:tr h="611632">
                <a:tc>
                  <a:txBody>
                    <a:bodyPr/>
                    <a:lstStyle/>
                    <a:p>
                      <a:r>
                        <a:rPr sz="1400" b="0" i="0">
                          <a:solidFill>
                            <a:srgbClr val="1A1440"/>
                          </a:solidFill>
                          <a:latin typeface="Calibri"/>
                        </a:rPr>
                        <a:t>The gap equals the never-paid and paid-short lists</a:t>
                      </a:r>
                    </a:p>
                  </a:txBody>
                  <a:tcPr marL="101600" marR="101600" marT="38100" marB="38100" anchor="ctr">
                    <a:solidFill>
                      <a:srgbClr val="F4F2FA"/>
                    </a:solidFill>
                  </a:tcPr>
                </a:tc>
                <a:tc>
                  <a:txBody>
                    <a:bodyPr/>
                    <a:lstStyle/>
                    <a:p>
                      <a:r>
                        <a:rPr sz="1400" b="0" i="0">
                          <a:solidFill>
                            <a:srgbClr val="1A1440"/>
                          </a:solidFill>
                          <a:latin typeface="Calibri"/>
                        </a:rPr>
                        <a:t>the anti-join, and each order's instalments against its booked</a:t>
                      </a:r>
                    </a:p>
                  </a:txBody>
                  <a:tcPr marL="101600" marR="101600" marT="38100" marB="38100" anchor="ctr">
                    <a:solidFill>
                      <a:srgbClr val="F4F2FA"/>
                    </a:solidFill>
                  </a:tcPr>
                </a:tc>
              </a:tr>
              <a:tr h="611632">
                <a:tc>
                  <a:txBody>
                    <a:bodyPr/>
                    <a:lstStyle/>
                    <a:p>
                      <a:r>
                        <a:rPr sz="1400" b="0" i="0">
                          <a:solidFill>
                            <a:srgbClr val="1A1440"/>
                          </a:solidFill>
                          <a:latin typeface="Calibri"/>
                        </a:rPr>
                        <a:t>Collected plus posted twice equals posted from payments alone</a:t>
                      </a:r>
                    </a:p>
                  </a:txBody>
                  <a:tcPr marL="101600" marR="101600" marT="38100" marB="38100" anchor="ctr">
                    <a:solidFill>
                      <a:srgbClr val="FFFFFF"/>
                    </a:solidFill>
                  </a:tcPr>
                </a:tc>
                <a:tc>
                  <a:txBody>
                    <a:bodyPr/>
                    <a:lstStyle/>
                    <a:p>
                      <a:r>
                        <a:rPr sz="1400" b="0" i="0">
                          <a:solidFill>
                            <a:srgbClr val="1A1440"/>
                          </a:solidFill>
                          <a:latin typeface="Calibri"/>
                        </a:rPr>
                        <a:t>payments alone</a:t>
                      </a:r>
                    </a:p>
                  </a:txBody>
                  <a:tcPr marL="101600" marR="101600" marT="38100" marB="38100" anchor="ctr">
                    <a:solidFill>
                      <a:srgbClr val="FFFFFF"/>
                    </a:solidFill>
                  </a:tcPr>
                </a:tc>
              </a:tr>
            </a:tbl>
          </a:graphicData>
        </a:graphic>
      </p:graphicFrame>
      <p:sp>
        <p:nvSpPr>
          <p:cNvPr id="10" name="Rounded Rectangle 9"/>
          <p:cNvSpPr/>
          <p:nvPr/>
        </p:nvSpPr>
        <p:spPr>
          <a:xfrm>
            <a:off x="530352" y="491540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4342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34280"/>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On the same page, which checks fail? a) none; b) orders, booked and the two lists; c) only the gap; d) all five.</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9" name="Oval 18"/>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13 / 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orders, booked and the two lists fail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tie-back suite say about the report the hurried suite passed?</a:t>
            </a:r>
          </a:p>
        </p:txBody>
      </p:sp>
      <p:graphicFrame>
        <p:nvGraphicFramePr>
          <p:cNvPr id="9" name="Table 8"/>
          <p:cNvGraphicFramePr>
            <a:graphicFrameLocks noGrp="1"/>
          </p:cNvGraphicFramePr>
          <p:nvPr/>
        </p:nvGraphicFramePr>
        <p:xfrm>
          <a:off x="530352" y="1956816"/>
          <a:ext cx="11130991" cy="2218944"/>
        </p:xfrm>
        <a:graphic>
          <a:graphicData uri="http://schemas.openxmlformats.org/drawingml/2006/table">
            <a:tbl>
              <a:tblPr firstRow="0" bandRow="0">
                <a:tableStyleId>{2D5ABB26-0587-4C30-8999-92F81FD0307C}</a:tableStyleId>
              </a:tblPr>
              <a:tblGrid>
                <a:gridCol w="6127853"/>
                <a:gridCol w="5003138"/>
              </a:tblGrid>
              <a:tr h="369824">
                <a:tc>
                  <a:txBody>
                    <a:bodyPr/>
                    <a:lstStyle/>
                    <a:p>
                      <a:r>
                        <a:rPr sz="1450" b="1" i="0">
                          <a:solidFill>
                            <a:srgbClr val="FFFFFF"/>
                          </a:solidFill>
                          <a:latin typeface="Calibri"/>
                        </a:rPr>
                        <a:t>Tie-back check</a:t>
                      </a:r>
                    </a:p>
                  </a:txBody>
                  <a:tcPr marL="101600" marR="101600" marT="38100" marB="38100" anchor="ctr">
                    <a:solidFill>
                      <a:srgbClr val="1A0F5C"/>
                    </a:solidFill>
                  </a:tcPr>
                </a:tc>
                <a:tc>
                  <a:txBody>
                    <a:bodyPr/>
                    <a:lstStyle/>
                    <a:p>
                      <a:r>
                        <a:rPr sz="1450" b="1" i="0">
                          <a:solidFill>
                            <a:srgbClr val="FFFFFF"/>
                          </a:solidFill>
                          <a:latin typeface="Calibri"/>
                        </a:rPr>
                        <a:t>On the quarter-in-WHERE page</a:t>
                      </a:r>
                    </a:p>
                  </a:txBody>
                  <a:tcPr marL="101600" marR="101600" marT="38100" marB="38100" anchor="ctr">
                    <a:solidFill>
                      <a:srgbClr val="1A0F5C"/>
                    </a:solidFill>
                  </a:tcPr>
                </a:tc>
              </a:tr>
              <a:tr h="369824">
                <a:tc>
                  <a:txBody>
                    <a:bodyPr/>
                    <a:lstStyle/>
                    <a:p>
                      <a:r>
                        <a:rPr sz="1400" b="0" i="0">
                          <a:solidFill>
                            <a:srgbClr val="1A1440"/>
                          </a:solidFill>
                          <a:latin typeface="Calibri"/>
                        </a:rPr>
                        <a:t>Orders on the report equal orders in the table</a:t>
                      </a:r>
                    </a:p>
                  </a:txBody>
                  <a:tcPr marL="101600" marR="101600" marT="38100" marB="38100" anchor="ctr">
                    <a:solidFill>
                      <a:srgbClr val="FFFFFF"/>
                    </a:solidFill>
                  </a:tcPr>
                </a:tc>
                <a:tc>
                  <a:txBody>
                    <a:bodyPr/>
                    <a:lstStyle/>
                    <a:p>
                      <a:r>
                        <a:rPr sz="1400" b="0" i="0">
                          <a:solidFill>
                            <a:srgbClr val="1A1440"/>
                          </a:solidFill>
                          <a:latin typeface="Calibri"/>
                        </a:rPr>
                        <a:t>FAIL, 4 against 5</a:t>
                      </a:r>
                    </a:p>
                  </a:txBody>
                  <a:tcPr marL="101600" marR="101600" marT="38100" marB="38100" anchor="ctr">
                    <a:solidFill>
                      <a:srgbClr val="FFFFFF"/>
                    </a:solidFill>
                  </a:tcPr>
                </a:tc>
              </a:tr>
              <a:tr h="369824">
                <a:tc>
                  <a:txBody>
                    <a:bodyPr/>
                    <a:lstStyle/>
                    <a:p>
                      <a:r>
                        <a:rPr sz="1400" b="0" i="0">
                          <a:solidFill>
                            <a:srgbClr val="1A1440"/>
                          </a:solidFill>
                          <a:latin typeface="Calibri"/>
                        </a:rPr>
                        <a:t>Booked equals booked from orders alone</a:t>
                      </a:r>
                    </a:p>
                  </a:txBody>
                  <a:tcPr marL="101600" marR="101600" marT="38100" marB="38100" anchor="ctr">
                    <a:solidFill>
                      <a:srgbClr val="F4F2FA"/>
                    </a:solidFill>
                  </a:tcPr>
                </a:tc>
                <a:tc>
                  <a:txBody>
                    <a:bodyPr/>
                    <a:lstStyle/>
                    <a:p>
                      <a:r>
                        <a:rPr sz="1400" b="0" i="0">
                          <a:solidFill>
                            <a:srgbClr val="1A1440"/>
                          </a:solidFill>
                          <a:latin typeface="Calibri"/>
                        </a:rPr>
                        <a:t>FAIL, 5,000 against 5,800</a:t>
                      </a:r>
                    </a:p>
                  </a:txBody>
                  <a:tcPr marL="101600" marR="101600" marT="38100" marB="38100" anchor="ctr">
                    <a:solidFill>
                      <a:srgbClr val="F4F2FA"/>
                    </a:solidFill>
                  </a:tcPr>
                </a:tc>
              </a:tr>
              <a:tr h="369824">
                <a:tc>
                  <a:txBody>
                    <a:bodyPr/>
                    <a:lstStyle/>
                    <a:p>
                      <a:r>
                        <a:rPr sz="1400" b="0" i="0">
                          <a:solidFill>
                            <a:srgbClr val="1A1440"/>
                          </a:solidFill>
                          <a:latin typeface="Calibri"/>
                        </a:rPr>
                        <a:t>The gap equals booked less collected</a:t>
                      </a:r>
                    </a:p>
                  </a:txBody>
                  <a:tcPr marL="101600" marR="101600" marT="38100" marB="38100" anchor="ctr">
                    <a:solidFill>
                      <a:srgbClr val="FFFFFF"/>
                    </a:solidFill>
                  </a:tcPr>
                </a:tc>
                <a:tc>
                  <a:txBody>
                    <a:bodyPr/>
                    <a:lstStyle/>
                    <a:p>
                      <a:r>
                        <a:rPr sz="1400" b="0" i="0">
                          <a:solidFill>
                            <a:srgbClr val="1A1440"/>
                          </a:solidFill>
                          <a:latin typeface="Calibri"/>
                        </a:rPr>
                        <a:t>PASS</a:t>
                      </a:r>
                    </a:p>
                  </a:txBody>
                  <a:tcPr marL="101600" marR="101600" marT="38100" marB="38100" anchor="ctr">
                    <a:solidFill>
                      <a:srgbClr val="FFFFFF"/>
                    </a:solidFill>
                  </a:tcPr>
                </a:tc>
              </a:tr>
              <a:tr h="369824">
                <a:tc>
                  <a:txBody>
                    <a:bodyPr/>
                    <a:lstStyle/>
                    <a:p>
                      <a:r>
                        <a:rPr sz="1400" b="0" i="0">
                          <a:solidFill>
                            <a:srgbClr val="1A1440"/>
                          </a:solidFill>
                          <a:latin typeface="Calibri"/>
                        </a:rPr>
                        <a:t>The gap equals the never-paid and paid-short lists</a:t>
                      </a:r>
                    </a:p>
                  </a:txBody>
                  <a:tcPr marL="101600" marR="101600" marT="38100" marB="38100" anchor="ctr">
                    <a:solidFill>
                      <a:srgbClr val="F4F2FA"/>
                    </a:solidFill>
                  </a:tcPr>
                </a:tc>
                <a:tc>
                  <a:txBody>
                    <a:bodyPr/>
                    <a:lstStyle/>
                    <a:p>
                      <a:r>
                        <a:rPr sz="1400" b="0" i="0">
                          <a:solidFill>
                            <a:srgbClr val="1A1440"/>
                          </a:solidFill>
                          <a:latin typeface="Calibri"/>
                        </a:rPr>
                        <a:t>FAIL, 0 against 800 never paid and 0 paid short</a:t>
                      </a:r>
                    </a:p>
                  </a:txBody>
                  <a:tcPr marL="101600" marR="101600" marT="38100" marB="38100" anchor="ctr">
                    <a:solidFill>
                      <a:srgbClr val="F4F2FA"/>
                    </a:solidFill>
                  </a:tcPr>
                </a:tc>
              </a:tr>
              <a:tr h="369824">
                <a:tc>
                  <a:txBody>
                    <a:bodyPr/>
                    <a:lstStyle/>
                    <a:p>
                      <a:r>
                        <a:rPr sz="1400" b="0" i="0">
                          <a:solidFill>
                            <a:srgbClr val="1A1440"/>
                          </a:solidFill>
                          <a:latin typeface="Calibri"/>
                        </a:rPr>
                        <a:t>Collected plus posted twice equals posted from payments alone</a:t>
                      </a:r>
                    </a:p>
                  </a:txBody>
                  <a:tcPr marL="101600" marR="101600" marT="38100" marB="38100" anchor="ctr">
                    <a:solidFill>
                      <a:srgbClr val="FFFFFF"/>
                    </a:solidFill>
                  </a:tcPr>
                </a:tc>
                <a:tc>
                  <a:txBody>
                    <a:bodyPr/>
                    <a:lstStyle/>
                    <a:p>
                      <a:r>
                        <a:rPr sz="1400" b="0" i="0">
                          <a:solidFill>
                            <a:srgbClr val="1A1440"/>
                          </a:solidFill>
                          <a:latin typeface="Calibri"/>
                        </a:rPr>
                        <a:t>PASS</a:t>
                      </a:r>
                    </a:p>
                  </a:txBody>
                  <a:tcPr marL="101600" marR="101600" marT="38100" marB="38100" anchor="ctr">
                    <a:solidFill>
                      <a:srgbClr val="FFFFFF"/>
                    </a:solidFill>
                  </a:tcPr>
                </a:tc>
              </a:tr>
            </a:tbl>
          </a:graphicData>
        </a:graphic>
      </p:graphicFrame>
      <p:sp>
        <p:nvSpPr>
          <p:cNvPr id="10" name="TextBox 9"/>
          <p:cNvSpPr txBox="1"/>
          <p:nvPr/>
        </p:nvSpPr>
        <p:spPr>
          <a:xfrm>
            <a:off x="530352" y="4431792"/>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The page's own arithmetic passes; only checks that look outside it can say it is wrong.</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7" name="Oval 16"/>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14 / 34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two wrong pages get through?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 the two suites stop every wrong report the day has met?</a:t>
            </a:r>
          </a:p>
        </p:txBody>
      </p:sp>
      <p:graphicFrame>
        <p:nvGraphicFramePr>
          <p:cNvPr id="9" name="Table 8"/>
          <p:cNvGraphicFramePr>
            <a:graphicFrameLocks noGrp="1"/>
          </p:cNvGraphicFramePr>
          <p:nvPr/>
        </p:nvGraphicFramePr>
        <p:xfrm>
          <a:off x="530352" y="1956816"/>
          <a:ext cx="11130989" cy="2011680"/>
        </p:xfrm>
        <a:graphic>
          <a:graphicData uri="http://schemas.openxmlformats.org/drawingml/2006/table">
            <a:tbl>
              <a:tblPr firstRow="0" bandRow="0">
                <a:tableStyleId>{2D5ABB26-0587-4C30-8999-92F81FD0307C}</a:tableStyleId>
              </a:tblPr>
              <a:tblGrid>
                <a:gridCol w="2889869"/>
                <a:gridCol w="3537275"/>
                <a:gridCol w="914400"/>
                <a:gridCol w="914400"/>
                <a:gridCol w="1387888"/>
                <a:gridCol w="1487157"/>
              </a:tblGrid>
              <a:tr h="335280">
                <a:tc>
                  <a:txBody>
                    <a:bodyPr/>
                    <a:lstStyle/>
                    <a:p>
                      <a:r>
                        <a:rPr sz="1250" b="1" i="0">
                          <a:solidFill>
                            <a:srgbClr val="FFFFFF"/>
                          </a:solidFill>
                          <a:latin typeface="Calibri"/>
                        </a:rPr>
                        <a:t>Wrong page, invented</a:t>
                      </a:r>
                    </a:p>
                  </a:txBody>
                  <a:tcPr marL="101600" marR="101600" marT="38100" marB="38100" anchor="ctr">
                    <a:solidFill>
                      <a:srgbClr val="1A0F5C"/>
                    </a:solidFill>
                  </a:tcPr>
                </a:tc>
                <a:tc>
                  <a:txBody>
                    <a:bodyPr/>
                    <a:lstStyle/>
                    <a:p>
                      <a:r>
                        <a:rPr sz="1250" b="1" i="0">
                          <a:solidFill>
                            <a:srgbClr val="FFFFFF"/>
                          </a:solidFill>
                          <a:latin typeface="Calibri"/>
                        </a:rPr>
                        <a:t>Where the day met it</a:t>
                      </a:r>
                    </a:p>
                  </a:txBody>
                  <a:tcPr marL="101600" marR="101600" marT="38100" marB="38100" anchor="ctr">
                    <a:solidFill>
                      <a:srgbClr val="1A0F5C"/>
                    </a:solidFill>
                  </a:tcPr>
                </a:tc>
                <a:tc>
                  <a:txBody>
                    <a:bodyPr/>
                    <a:lstStyle/>
                    <a:p>
                      <a:r>
                        <a:rPr sz="1250" b="1" i="0">
                          <a:solidFill>
                            <a:srgbClr val="FFFFFF"/>
                          </a:solidFill>
                          <a:latin typeface="Calibri"/>
                        </a:rPr>
                        <a:t>Orders</a:t>
                      </a:r>
                    </a:p>
                  </a:txBody>
                  <a:tcPr marL="101600" marR="101600" marT="38100" marB="38100" anchor="ctr">
                    <a:solidFill>
                      <a:srgbClr val="1A0F5C"/>
                    </a:solidFill>
                  </a:tcPr>
                </a:tc>
                <a:tc>
                  <a:txBody>
                    <a:bodyPr/>
                    <a:lstStyle/>
                    <a:p>
                      <a:r>
                        <a:rPr sz="1250" b="1" i="0">
                          <a:solidFill>
                            <a:srgbClr val="FFFFFF"/>
                          </a:solidFill>
                          <a:latin typeface="Calibri"/>
                        </a:rPr>
                        <a:t>Booked</a:t>
                      </a:r>
                    </a:p>
                  </a:txBody>
                  <a:tcPr marL="101600" marR="101600" marT="38100" marB="38100" anchor="ctr">
                    <a:solidFill>
                      <a:srgbClr val="1A0F5C"/>
                    </a:solidFill>
                  </a:tcPr>
                </a:tc>
                <a:tc>
                  <a:txBody>
                    <a:bodyPr/>
                    <a:lstStyle/>
                    <a:p>
                      <a:r>
                        <a:rPr sz="1250" b="1" i="0">
                          <a:solidFill>
                            <a:srgbClr val="FFFFFF"/>
                          </a:solidFill>
                          <a:latin typeface="Calibri"/>
                        </a:rPr>
                        <a:t>Collected</a:t>
                      </a:r>
                    </a:p>
                  </a:txBody>
                  <a:tcPr marL="101600" marR="101600" marT="38100" marB="38100" anchor="ctr">
                    <a:solidFill>
                      <a:srgbClr val="1A0F5C"/>
                    </a:solidFill>
                  </a:tcPr>
                </a:tc>
                <a:tc>
                  <a:txBody>
                    <a:bodyPr/>
                    <a:lstStyle/>
                    <a:p>
                      <a:r>
                        <a:rPr sz="1250" b="1" i="0">
                          <a:solidFill>
                            <a:srgbClr val="FFFFFF"/>
                          </a:solidFill>
                          <a:latin typeface="Calibri"/>
                        </a:rPr>
                        <a:t>Gap</a:t>
                      </a:r>
                    </a:p>
                  </a:txBody>
                  <a:tcPr marL="101600" marR="101600" marT="38100" marB="38100" anchor="ctr">
                    <a:solidFill>
                      <a:srgbClr val="1A0F5C"/>
                    </a:solidFill>
                  </a:tcPr>
                </a:tc>
              </a:tr>
              <a:tr h="335280">
                <a:tc>
                  <a:txBody>
                    <a:bodyPr/>
                    <a:lstStyle/>
                    <a:p>
                      <a:r>
                        <a:rPr sz="1200" b="0" i="0">
                          <a:solidFill>
                            <a:srgbClr val="1A1440"/>
                          </a:solidFill>
                          <a:latin typeface="Calibri"/>
                        </a:rPr>
                        <a:t>The fan-out draft</a:t>
                      </a:r>
                    </a:p>
                  </a:txBody>
                  <a:tcPr marL="101600" marR="101600" marT="38100" marB="38100" anchor="ctr">
                    <a:solidFill>
                      <a:srgbClr val="FFFFFF"/>
                    </a:solidFill>
                  </a:tcPr>
                </a:tc>
                <a:tc>
                  <a:txBody>
                    <a:bodyPr/>
                    <a:lstStyle/>
                    <a:p>
                      <a:r>
                        <a:rPr sz="1200" b="0" i="0">
                          <a:solidFill>
                            <a:srgbClr val="1A1440"/>
                          </a:solidFill>
                          <a:latin typeface="Calibri"/>
                        </a:rPr>
                        <a:t>Chapter 2</a:t>
                      </a:r>
                    </a:p>
                  </a:txBody>
                  <a:tcPr marL="101600" marR="101600" marT="38100" marB="38100" anchor="ctr">
                    <a:solidFill>
                      <a:srgbClr val="FFFFFF"/>
                    </a:solidFill>
                  </a:tcPr>
                </a:tc>
                <a:tc>
                  <a:txBody>
                    <a:bodyPr/>
                    <a:lstStyle/>
                    <a:p>
                      <a:r>
                        <a:rPr sz="1200" b="0" i="0">
                          <a:solidFill>
                            <a:srgbClr val="1A1440"/>
                          </a:solidFill>
                          <a:latin typeface="Calibri"/>
                        </a:rPr>
                        <a:t>7</a:t>
                      </a:r>
                    </a:p>
                  </a:txBody>
                  <a:tcPr marL="101600" marR="101600" marT="38100" marB="38100" anchor="ctr">
                    <a:solidFill>
                      <a:srgbClr val="FFFFFF"/>
                    </a:solidFill>
                  </a:tcPr>
                </a:tc>
                <a:tc>
                  <a:txBody>
                    <a:bodyPr/>
                    <a:lstStyle/>
                    <a:p>
                      <a:r>
                        <a:rPr sz="1200" b="0" i="0">
                          <a:solidFill>
                            <a:srgbClr val="1A1440"/>
                          </a:solidFill>
                          <a:latin typeface="Calibri"/>
                        </a:rPr>
                        <a:t>5,800</a:t>
                      </a:r>
                    </a:p>
                  </a:txBody>
                  <a:tcPr marL="101600" marR="101600" marT="38100" marB="38100" anchor="ctr">
                    <a:solidFill>
                      <a:srgbClr val="FFFFFF"/>
                    </a:solidFill>
                  </a:tcPr>
                </a:tc>
                <a:tc>
                  <a:txBody>
                    <a:bodyPr/>
                    <a:lstStyle/>
                    <a:p>
                      <a:r>
                        <a:rPr sz="1200" b="0" i="0">
                          <a:solidFill>
                            <a:srgbClr val="1A1440"/>
                          </a:solidFill>
                          <a:latin typeface="Calibri"/>
                        </a:rPr>
                        <a:t>8,500</a:t>
                      </a:r>
                    </a:p>
                  </a:txBody>
                  <a:tcPr marL="101600" marR="101600" marT="38100" marB="38100" anchor="ctr">
                    <a:solidFill>
                      <a:srgbClr val="FFFFFF"/>
                    </a:solidFill>
                  </a:tcPr>
                </a:tc>
                <a:tc>
                  <a:txBody>
                    <a:bodyPr/>
                    <a:lstStyle/>
                    <a:p>
                      <a:r>
                        <a:rPr sz="1200" b="0" i="0">
                          <a:solidFill>
                            <a:srgbClr val="1A1440"/>
                          </a:solidFill>
                          <a:latin typeface="Calibri"/>
                        </a:rPr>
                        <a:t>minus 2,700</a:t>
                      </a:r>
                    </a:p>
                  </a:txBody>
                  <a:tcPr marL="101600" marR="101600" marT="38100" marB="38100" anchor="ctr">
                    <a:solidFill>
                      <a:srgbClr val="FFFFFF"/>
                    </a:solidFill>
                  </a:tcPr>
                </a:tc>
              </a:tr>
              <a:tr h="335280">
                <a:tc>
                  <a:txBody>
                    <a:bodyPr/>
                    <a:lstStyle/>
                    <a:p>
                      <a:r>
                        <a:rPr sz="1200" b="0" i="0">
                          <a:solidFill>
                            <a:srgbClr val="1A1440"/>
                          </a:solidFill>
                          <a:latin typeface="Calibri"/>
                        </a:rPr>
                        <a:t>The plain JOIN draft</a:t>
                      </a:r>
                    </a:p>
                  </a:txBody>
                  <a:tcPr marL="101600" marR="101600" marT="38100" marB="38100" anchor="ctr">
                    <a:solidFill>
                      <a:srgbClr val="F4F2FA"/>
                    </a:solidFill>
                  </a:tcPr>
                </a:tc>
                <a:tc>
                  <a:txBody>
                    <a:bodyPr/>
                    <a:lstStyle/>
                    <a:p>
                      <a:r>
                        <a:rPr sz="1200" b="0" i="0">
                          <a:solidFill>
                            <a:srgbClr val="1A1440"/>
                          </a:solidFill>
                          <a:latin typeface="Calibri"/>
                        </a:rPr>
                        <a:t>Chapter 3</a:t>
                      </a:r>
                    </a:p>
                  </a:txBody>
                  <a:tcPr marL="101600" marR="101600" marT="38100" marB="38100" anchor="ctr">
                    <a:solidFill>
                      <a:srgbClr val="F4F2FA"/>
                    </a:solidFill>
                  </a:tcPr>
                </a:tc>
                <a:tc>
                  <a:txBody>
                    <a:bodyPr/>
                    <a:lstStyle/>
                    <a:p>
                      <a:r>
                        <a:rPr sz="1200" b="0" i="0">
                          <a:solidFill>
                            <a:srgbClr val="1A1440"/>
                          </a:solidFill>
                          <a:latin typeface="Calibri"/>
                        </a:rPr>
                        <a:t>4</a:t>
                      </a:r>
                    </a:p>
                  </a:txBody>
                  <a:tcPr marL="101600" marR="101600" marT="38100" marB="38100" anchor="ctr">
                    <a:solidFill>
                      <a:srgbClr val="F4F2FA"/>
                    </a:solidFill>
                  </a:tcPr>
                </a:tc>
                <a:tc>
                  <a:txBody>
                    <a:bodyPr/>
                    <a:lstStyle/>
                    <a:p>
                      <a:r>
                        <a:rPr sz="1200" b="0" i="0">
                          <a:solidFill>
                            <a:srgbClr val="1A1440"/>
                          </a:solidFill>
                          <a:latin typeface="Calibri"/>
                        </a:rPr>
                        <a:t>5,000</a:t>
                      </a:r>
                    </a:p>
                  </a:txBody>
                  <a:tcPr marL="101600" marR="101600" marT="38100" marB="38100" anchor="ctr">
                    <a:solidFill>
                      <a:srgbClr val="F4F2FA"/>
                    </a:solidFill>
                  </a:tcPr>
                </a:tc>
                <a:tc>
                  <a:txBody>
                    <a:bodyPr/>
                    <a:lstStyle/>
                    <a:p>
                      <a:r>
                        <a:rPr sz="1200" b="0" i="0">
                          <a:solidFill>
                            <a:srgbClr val="1A1440"/>
                          </a:solidFill>
                          <a:latin typeface="Calibri"/>
                        </a:rPr>
                        <a:t>6,500</a:t>
                      </a:r>
                    </a:p>
                  </a:txBody>
                  <a:tcPr marL="101600" marR="101600" marT="38100" marB="38100" anchor="ctr">
                    <a:solidFill>
                      <a:srgbClr val="F4F2FA"/>
                    </a:solidFill>
                  </a:tcPr>
                </a:tc>
                <a:tc>
                  <a:txBody>
                    <a:bodyPr/>
                    <a:lstStyle/>
                    <a:p>
                      <a:r>
                        <a:rPr sz="1200" b="0" i="0">
                          <a:solidFill>
                            <a:srgbClr val="1A1440"/>
                          </a:solidFill>
                          <a:latin typeface="Calibri"/>
                        </a:rPr>
                        <a:t>minus 1,500</a:t>
                      </a:r>
                    </a:p>
                  </a:txBody>
                  <a:tcPr marL="101600" marR="101600" marT="38100" marB="38100" anchor="ctr">
                    <a:solidFill>
                      <a:srgbClr val="F4F2FA"/>
                    </a:solidFill>
                  </a:tcPr>
                </a:tc>
              </a:tr>
              <a:tr h="335280">
                <a:tc>
                  <a:txBody>
                    <a:bodyPr/>
                    <a:lstStyle/>
                    <a:p>
                      <a:r>
                        <a:rPr sz="1200" b="0" i="0">
                          <a:solidFill>
                            <a:srgbClr val="1A1440"/>
                          </a:solidFill>
                          <a:latin typeface="Calibri"/>
                        </a:rPr>
                        <a:t>Posted as collected</a:t>
                      </a:r>
                    </a:p>
                  </a:txBody>
                  <a:tcPr marL="101600" marR="101600" marT="38100" marB="38100" anchor="ctr">
                    <a:solidFill>
                      <a:srgbClr val="FFFFFF"/>
                    </a:solidFill>
                  </a:tcPr>
                </a:tc>
                <a:tc>
                  <a:txBody>
                    <a:bodyPr/>
                    <a:lstStyle/>
                    <a:p>
                      <a:r>
                        <a:rPr sz="1200" b="0" i="0">
                          <a:solidFill>
                            <a:srgbClr val="1A1440"/>
                          </a:solidFill>
                          <a:latin typeface="Calibri"/>
                        </a:rPr>
                        <a:t>Chapter 3, after the LEFT JOIN</a:t>
                      </a:r>
                    </a:p>
                  </a:txBody>
                  <a:tcPr marL="101600" marR="101600" marT="38100" marB="38100" anchor="ctr">
                    <a:solidFill>
                      <a:srgbClr val="FFFFFF"/>
                    </a:solidFill>
                  </a:tcPr>
                </a:tc>
                <a:tc>
                  <a:txBody>
                    <a:bodyPr/>
                    <a:lstStyle/>
                    <a:p>
                      <a:r>
                        <a:rPr sz="1200" b="0" i="0">
                          <a:solidFill>
                            <a:srgbClr val="1A1440"/>
                          </a:solidFill>
                          <a:latin typeface="Calibri"/>
                        </a:rPr>
                        <a:t>5</a:t>
                      </a:r>
                    </a:p>
                  </a:txBody>
                  <a:tcPr marL="101600" marR="101600" marT="38100" marB="38100" anchor="ctr">
                    <a:solidFill>
                      <a:srgbClr val="FFFFFF"/>
                    </a:solidFill>
                  </a:tcPr>
                </a:tc>
                <a:tc>
                  <a:txBody>
                    <a:bodyPr/>
                    <a:lstStyle/>
                    <a:p>
                      <a:r>
                        <a:rPr sz="1200" b="0" i="0">
                          <a:solidFill>
                            <a:srgbClr val="1A1440"/>
                          </a:solidFill>
                          <a:latin typeface="Calibri"/>
                        </a:rPr>
                        <a:t>5,800</a:t>
                      </a:r>
                    </a:p>
                  </a:txBody>
                  <a:tcPr marL="101600" marR="101600" marT="38100" marB="38100" anchor="ctr">
                    <a:solidFill>
                      <a:srgbClr val="FFFFFF"/>
                    </a:solidFill>
                  </a:tcPr>
                </a:tc>
                <a:tc>
                  <a:txBody>
                    <a:bodyPr/>
                    <a:lstStyle/>
                    <a:p>
                      <a:r>
                        <a:rPr sz="1200" b="0" i="0">
                          <a:solidFill>
                            <a:srgbClr val="1A1440"/>
                          </a:solidFill>
                          <a:latin typeface="Calibri"/>
                        </a:rPr>
                        <a:t>6,500</a:t>
                      </a:r>
                    </a:p>
                  </a:txBody>
                  <a:tcPr marL="101600" marR="101600" marT="38100" marB="38100" anchor="ctr">
                    <a:solidFill>
                      <a:srgbClr val="FFFFFF"/>
                    </a:solidFill>
                  </a:tcPr>
                </a:tc>
                <a:tc>
                  <a:txBody>
                    <a:bodyPr/>
                    <a:lstStyle/>
                    <a:p>
                      <a:r>
                        <a:rPr sz="1200" b="0" i="0">
                          <a:solidFill>
                            <a:srgbClr val="1A1440"/>
                          </a:solidFill>
                          <a:latin typeface="Calibri"/>
                        </a:rPr>
                        <a:t>minus 700</a:t>
                      </a:r>
                    </a:p>
                  </a:txBody>
                  <a:tcPr marL="101600" marR="101600" marT="38100" marB="38100" anchor="ctr">
                    <a:solidFill>
                      <a:srgbClr val="FFFFFF"/>
                    </a:solidFill>
                  </a:tcPr>
                </a:tc>
              </a:tr>
              <a:tr h="335280">
                <a:tc>
                  <a:txBody>
                    <a:bodyPr/>
                    <a:lstStyle/>
                    <a:p>
                      <a:r>
                        <a:rPr sz="1200" b="0" i="0">
                          <a:solidFill>
                            <a:srgbClr val="1A1440"/>
                          </a:solidFill>
                          <a:latin typeface="Calibri"/>
                        </a:rPr>
                        <a:t>The quarter in WHERE</a:t>
                      </a:r>
                    </a:p>
                  </a:txBody>
                  <a:tcPr marL="101600" marR="101600" marT="38100" marB="38100" anchor="ctr">
                    <a:solidFill>
                      <a:srgbClr val="F4F2FA"/>
                    </a:solidFill>
                  </a:tcPr>
                </a:tc>
                <a:tc>
                  <a:txBody>
                    <a:bodyPr/>
                    <a:lstStyle/>
                    <a:p>
                      <a:r>
                        <a:rPr sz="1200" b="0" i="0">
                          <a:solidFill>
                            <a:srgbClr val="1A1440"/>
                          </a:solidFill>
                          <a:latin typeface="Calibri"/>
                        </a:rPr>
                        <a:t>Chapter 4</a:t>
                      </a:r>
                    </a:p>
                  </a:txBody>
                  <a:tcPr marL="101600" marR="101600" marT="38100" marB="38100" anchor="ctr">
                    <a:solidFill>
                      <a:srgbClr val="F4F2FA"/>
                    </a:solidFill>
                  </a:tcPr>
                </a:tc>
                <a:tc>
                  <a:txBody>
                    <a:bodyPr/>
                    <a:lstStyle/>
                    <a:p>
                      <a:r>
                        <a:rPr sz="1200" b="0" i="0">
                          <a:solidFill>
                            <a:srgbClr val="1A1440"/>
                          </a:solidFill>
                          <a:latin typeface="Calibri"/>
                        </a:rPr>
                        <a:t>4</a:t>
                      </a:r>
                    </a:p>
                  </a:txBody>
                  <a:tcPr marL="101600" marR="101600" marT="38100" marB="38100" anchor="ctr">
                    <a:solidFill>
                      <a:srgbClr val="F4F2FA"/>
                    </a:solidFill>
                  </a:tcPr>
                </a:tc>
                <a:tc>
                  <a:txBody>
                    <a:bodyPr/>
                    <a:lstStyle/>
                    <a:p>
                      <a:r>
                        <a:rPr sz="1200" b="0" i="0">
                          <a:solidFill>
                            <a:srgbClr val="1A1440"/>
                          </a:solidFill>
                          <a:latin typeface="Calibri"/>
                        </a:rPr>
                        <a:t>5,000</a:t>
                      </a:r>
                    </a:p>
                  </a:txBody>
                  <a:tcPr marL="101600" marR="101600" marT="38100" marB="38100" anchor="ctr">
                    <a:solidFill>
                      <a:srgbClr val="F4F2FA"/>
                    </a:solidFill>
                  </a:tcPr>
                </a:tc>
                <a:tc>
                  <a:txBody>
                    <a:bodyPr/>
                    <a:lstStyle/>
                    <a:p>
                      <a:r>
                        <a:rPr sz="1200" b="0" i="0">
                          <a:solidFill>
                            <a:srgbClr val="1A1440"/>
                          </a:solidFill>
                          <a:latin typeface="Calibri"/>
                        </a:rPr>
                        <a:t>5,000</a:t>
                      </a:r>
                    </a:p>
                  </a:txBody>
                  <a:tcPr marL="101600" marR="101600" marT="38100" marB="38100" anchor="ctr">
                    <a:solidFill>
                      <a:srgbClr val="F4F2FA"/>
                    </a:solidFill>
                  </a:tcPr>
                </a:tc>
                <a:tc>
                  <a:txBody>
                    <a:bodyPr/>
                    <a:lstStyle/>
                    <a:p>
                      <a:r>
                        <a:rPr sz="1200" b="0" i="0">
                          <a:solidFill>
                            <a:srgbClr val="1A1440"/>
                          </a:solidFill>
                          <a:latin typeface="Calibri"/>
                        </a:rPr>
                        <a:t>0</a:t>
                      </a:r>
                    </a:p>
                  </a:txBody>
                  <a:tcPr marL="101600" marR="101600" marT="38100" marB="38100" anchor="ctr">
                    <a:solidFill>
                      <a:srgbClr val="F4F2FA"/>
                    </a:solidFill>
                  </a:tcPr>
                </a:tc>
              </a:tr>
              <a:tr h="335280">
                <a:tc>
                  <a:txBody>
                    <a:bodyPr/>
                    <a:lstStyle/>
                    <a:p>
                      <a:r>
                        <a:rPr sz="1200" b="0" i="0">
                          <a:solidFill>
                            <a:srgbClr val="1A1440"/>
                          </a:solidFill>
                          <a:latin typeface="Calibri"/>
                        </a:rPr>
                        <a:t>The gap summed per order</a:t>
                      </a:r>
                    </a:p>
                  </a:txBody>
                  <a:tcPr marL="101600" marR="101600" marT="38100" marB="38100" anchor="ctr">
                    <a:solidFill>
                      <a:srgbClr val="FFFFFF"/>
                    </a:solidFill>
                  </a:tcPr>
                </a:tc>
                <a:tc>
                  <a:txBody>
                    <a:bodyPr/>
                    <a:lstStyle/>
                    <a:p>
                      <a:r>
                        <a:rPr sz="1200" b="0" i="0">
                          <a:solidFill>
                            <a:srgbClr val="1A1440"/>
                          </a:solidFill>
                          <a:latin typeface="Calibri"/>
                        </a:rPr>
                        <a:t>Chapter 5</a:t>
                      </a:r>
                    </a:p>
                  </a:txBody>
                  <a:tcPr marL="101600" marR="101600" marT="38100" marB="38100" anchor="ctr">
                    <a:solidFill>
                      <a:srgbClr val="FFFFFF"/>
                    </a:solidFill>
                  </a:tcPr>
                </a:tc>
                <a:tc>
                  <a:txBody>
                    <a:bodyPr/>
                    <a:lstStyle/>
                    <a:p>
                      <a:r>
                        <a:rPr sz="1200" b="0" i="0">
                          <a:solidFill>
                            <a:srgbClr val="1A1440"/>
                          </a:solidFill>
                          <a:latin typeface="Calibri"/>
                        </a:rPr>
                        <a:t>5</a:t>
                      </a:r>
                    </a:p>
                  </a:txBody>
                  <a:tcPr marL="101600" marR="101600" marT="38100" marB="38100" anchor="ctr">
                    <a:solidFill>
                      <a:srgbClr val="FFFFFF"/>
                    </a:solidFill>
                  </a:tcPr>
                </a:tc>
                <a:tc>
                  <a:txBody>
                    <a:bodyPr/>
                    <a:lstStyle/>
                    <a:p>
                      <a:r>
                        <a:rPr sz="1200" b="0" i="0">
                          <a:solidFill>
                            <a:srgbClr val="1A1440"/>
                          </a:solidFill>
                          <a:latin typeface="Calibri"/>
                        </a:rPr>
                        <a:t>5,800</a:t>
                      </a:r>
                    </a:p>
                  </a:txBody>
                  <a:tcPr marL="101600" marR="101600" marT="38100" marB="38100" anchor="ctr">
                    <a:solidFill>
                      <a:srgbClr val="FFFFFF"/>
                    </a:solidFill>
                  </a:tcPr>
                </a:tc>
                <a:tc>
                  <a:txBody>
                    <a:bodyPr/>
                    <a:lstStyle/>
                    <a:p>
                      <a:r>
                        <a:rPr sz="1200" b="0" i="0">
                          <a:solidFill>
                            <a:srgbClr val="1A1440"/>
                          </a:solidFill>
                          <a:latin typeface="Calibri"/>
                        </a:rPr>
                        <a:t>5,000</a:t>
                      </a:r>
                    </a:p>
                  </a:txBody>
                  <a:tcPr marL="101600" marR="101600" marT="38100" marB="38100" anchor="ctr">
                    <a:solidFill>
                      <a:srgbClr val="FFFFFF"/>
                    </a:solidFill>
                  </a:tcPr>
                </a:tc>
                <a:tc>
                  <a:txBody>
                    <a:bodyPr/>
                    <a:lstStyle/>
                    <a:p>
                      <a:r>
                        <a:rPr sz="1200" b="0" i="0">
                          <a:solidFill>
                            <a:srgbClr val="1A1440"/>
                          </a:solidFill>
                          <a:latin typeface="Calibri"/>
                        </a:rPr>
                        <a:t>0</a:t>
                      </a:r>
                    </a:p>
                  </a:txBody>
                  <a:tcPr marL="101600" marR="101600" marT="38100" marB="38100" anchor="ctr">
                    <a:solidFill>
                      <a:srgbClr val="FFFFFF"/>
                    </a:solidFill>
                  </a:tcPr>
                </a:tc>
              </a:tr>
            </a:tbl>
          </a:graphicData>
        </a:graphic>
      </p:graphicFrame>
      <p:sp>
        <p:nvSpPr>
          <p:cNvPr id="10" name="Rounded Rectangle 9"/>
          <p:cNvSpPr/>
          <p:nvPr/>
        </p:nvSpPr>
        <p:spPr>
          <a:xfrm>
            <a:off x="530352" y="422452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35254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343400"/>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The plausibility suite stops three of the five. Which two does it let through? a) the fan-out and plain JOIN drafts; b) the quarter in WHERE and the summed gap; c) posted as collected and the quarter in WHERE; d) the fan-out draft and the summed gap.</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15" name="Oval 14"/>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9" name="Oval 18"/>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15 / 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two pages that hide T-4 get through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wrong pages does each suite stop?</a:t>
            </a:r>
          </a:p>
        </p:txBody>
      </p:sp>
      <p:graphicFrame>
        <p:nvGraphicFramePr>
          <p:cNvPr id="9" name="Table 8"/>
          <p:cNvGraphicFramePr>
            <a:graphicFrameLocks noGrp="1"/>
          </p:cNvGraphicFramePr>
          <p:nvPr/>
        </p:nvGraphicFramePr>
        <p:xfrm>
          <a:off x="530352" y="1956816"/>
          <a:ext cx="11130990" cy="2218944"/>
        </p:xfrm>
        <a:graphic>
          <a:graphicData uri="http://schemas.openxmlformats.org/drawingml/2006/table">
            <a:tbl>
              <a:tblPr firstRow="0" bandRow="0">
                <a:tableStyleId>{2D5ABB26-0587-4C30-8999-92F81FD0307C}</a:tableStyleId>
              </a:tblPr>
              <a:tblGrid>
                <a:gridCol w="2819753"/>
                <a:gridCol w="3033492"/>
                <a:gridCol w="5277745"/>
              </a:tblGrid>
              <a:tr h="369824">
                <a:tc>
                  <a:txBody>
                    <a:bodyPr/>
                    <a:lstStyle/>
                    <a:p>
                      <a:r>
                        <a:rPr sz="1450" b="1" i="0">
                          <a:solidFill>
                            <a:srgbClr val="FFFFFF"/>
                          </a:solidFill>
                          <a:latin typeface="Calibri"/>
                        </a:rPr>
                        <a:t>Wrong page</a:t>
                      </a:r>
                    </a:p>
                  </a:txBody>
                  <a:tcPr marL="101600" marR="101600" marT="38100" marB="38100" anchor="ctr">
                    <a:solidFill>
                      <a:srgbClr val="1A0F5C"/>
                    </a:solidFill>
                  </a:tcPr>
                </a:tc>
                <a:tc>
                  <a:txBody>
                    <a:bodyPr/>
                    <a:lstStyle/>
                    <a:p>
                      <a:r>
                        <a:rPr sz="1450" b="1" i="0">
                          <a:solidFill>
                            <a:srgbClr val="FFFFFF"/>
                          </a:solidFill>
                          <a:latin typeface="Calibri"/>
                        </a:rPr>
                        <a:t>Plausibility suite</a:t>
                      </a:r>
                    </a:p>
                  </a:txBody>
                  <a:tcPr marL="101600" marR="101600" marT="38100" marB="38100" anchor="ctr">
                    <a:solidFill>
                      <a:srgbClr val="1A0F5C"/>
                    </a:solidFill>
                  </a:tcPr>
                </a:tc>
                <a:tc>
                  <a:txBody>
                    <a:bodyPr/>
                    <a:lstStyle/>
                    <a:p>
                      <a:r>
                        <a:rPr sz="1450" b="1" i="0">
                          <a:solidFill>
                            <a:srgbClr val="FFFFFF"/>
                          </a:solidFill>
                          <a:latin typeface="Calibri"/>
                        </a:rPr>
                        <a:t>Tie-back suite</a:t>
                      </a:r>
                    </a:p>
                  </a:txBody>
                  <a:tcPr marL="101600" marR="101600" marT="38100" marB="38100" anchor="ctr">
                    <a:solidFill>
                      <a:srgbClr val="1A0F5C"/>
                    </a:solidFill>
                  </a:tcPr>
                </a:tc>
              </a:tr>
              <a:tr h="369824">
                <a:tc>
                  <a:txBody>
                    <a:bodyPr/>
                    <a:lstStyle/>
                    <a:p>
                      <a:r>
                        <a:rPr sz="1400" b="0" i="0">
                          <a:solidFill>
                            <a:srgbClr val="1A1440"/>
                          </a:solidFill>
                          <a:latin typeface="Calibri"/>
                        </a:rPr>
                        <a:t>The fan-out draft</a:t>
                      </a:r>
                    </a:p>
                  </a:txBody>
                  <a:tcPr marL="101600" marR="101600" marT="38100" marB="38100" anchor="ctr">
                    <a:solidFill>
                      <a:srgbClr val="FFFFFF"/>
                    </a:solidFill>
                  </a:tcPr>
                </a:tc>
                <a:tc>
                  <a:txBody>
                    <a:bodyPr/>
                    <a:lstStyle/>
                    <a:p>
                      <a:r>
                        <a:rPr sz="1400" b="0" i="0">
                          <a:solidFill>
                            <a:srgbClr val="1A1440"/>
                          </a:solidFill>
                          <a:latin typeface="Calibri"/>
                        </a:rPr>
                        <a:t>fails: 8,500 exceeds 5,800</a:t>
                      </a:r>
                    </a:p>
                  </a:txBody>
                  <a:tcPr marL="101600" marR="101600" marT="38100" marB="38100" anchor="ctr">
                    <a:solidFill>
                      <a:srgbClr val="FFFFFF"/>
                    </a:solidFill>
                  </a:tcPr>
                </a:tc>
                <a:tc>
                  <a:txBody>
                    <a:bodyPr/>
                    <a:lstStyle/>
                    <a:p>
                      <a:r>
                        <a:rPr sz="1400" b="0" i="0">
                          <a:solidFill>
                            <a:srgbClr val="1A1440"/>
                          </a:solidFill>
                          <a:latin typeface="Calibri"/>
                        </a:rPr>
                        <a:t>fails on orders, the two lists and posted</a:t>
                      </a:r>
                    </a:p>
                  </a:txBody>
                  <a:tcPr marL="101600" marR="101600" marT="38100" marB="38100" anchor="ctr">
                    <a:solidFill>
                      <a:srgbClr val="FFFFFF"/>
                    </a:solidFill>
                  </a:tcPr>
                </a:tc>
              </a:tr>
              <a:tr h="369824">
                <a:tc>
                  <a:txBody>
                    <a:bodyPr/>
                    <a:lstStyle/>
                    <a:p>
                      <a:r>
                        <a:rPr sz="1400" b="0" i="0">
                          <a:solidFill>
                            <a:srgbClr val="1A1440"/>
                          </a:solidFill>
                          <a:latin typeface="Calibri"/>
                        </a:rPr>
                        <a:t>The plain JOIN draft</a:t>
                      </a:r>
                    </a:p>
                  </a:txBody>
                  <a:tcPr marL="101600" marR="101600" marT="38100" marB="38100" anchor="ctr">
                    <a:solidFill>
                      <a:srgbClr val="F4F2FA"/>
                    </a:solidFill>
                  </a:tcPr>
                </a:tc>
                <a:tc>
                  <a:txBody>
                    <a:bodyPr/>
                    <a:lstStyle/>
                    <a:p>
                      <a:r>
                        <a:rPr sz="1400" b="0" i="0">
                          <a:solidFill>
                            <a:srgbClr val="1A1440"/>
                          </a:solidFill>
                          <a:latin typeface="Calibri"/>
                        </a:rPr>
                        <a:t>fails: 6,500 exceeds 5,000</a:t>
                      </a:r>
                    </a:p>
                  </a:txBody>
                  <a:tcPr marL="101600" marR="101600" marT="38100" marB="38100" anchor="ctr">
                    <a:solidFill>
                      <a:srgbClr val="F4F2FA"/>
                    </a:solidFill>
                  </a:tcPr>
                </a:tc>
                <a:tc>
                  <a:txBody>
                    <a:bodyPr/>
                    <a:lstStyle/>
                    <a:p>
                      <a:r>
                        <a:rPr sz="1400" b="0" i="0">
                          <a:solidFill>
                            <a:srgbClr val="1A1440"/>
                          </a:solidFill>
                          <a:latin typeface="Calibri"/>
                        </a:rPr>
                        <a:t>fails 4 of 5, all but the page's own arithmetic</a:t>
                      </a:r>
                    </a:p>
                  </a:txBody>
                  <a:tcPr marL="101600" marR="101600" marT="38100" marB="38100" anchor="ctr">
                    <a:solidFill>
                      <a:srgbClr val="F4F2FA"/>
                    </a:solidFill>
                  </a:tcPr>
                </a:tc>
              </a:tr>
              <a:tr h="369824">
                <a:tc>
                  <a:txBody>
                    <a:bodyPr/>
                    <a:lstStyle/>
                    <a:p>
                      <a:r>
                        <a:rPr sz="1400" b="0" i="0">
                          <a:solidFill>
                            <a:srgbClr val="1A1440"/>
                          </a:solidFill>
                          <a:latin typeface="Calibri"/>
                        </a:rPr>
                        <a:t>Posted as collected</a:t>
                      </a:r>
                    </a:p>
                  </a:txBody>
                  <a:tcPr marL="101600" marR="101600" marT="38100" marB="38100" anchor="ctr">
                    <a:solidFill>
                      <a:srgbClr val="FFFFFF"/>
                    </a:solidFill>
                  </a:tcPr>
                </a:tc>
                <a:tc>
                  <a:txBody>
                    <a:bodyPr/>
                    <a:lstStyle/>
                    <a:p>
                      <a:r>
                        <a:rPr sz="1400" b="0" i="0">
                          <a:solidFill>
                            <a:srgbClr val="1A1440"/>
                          </a:solidFill>
                          <a:latin typeface="Calibri"/>
                        </a:rPr>
                        <a:t>fails: 6,500 exceeds 5,800</a:t>
                      </a:r>
                    </a:p>
                  </a:txBody>
                  <a:tcPr marL="101600" marR="101600" marT="38100" marB="38100" anchor="ctr">
                    <a:solidFill>
                      <a:srgbClr val="FFFFFF"/>
                    </a:solidFill>
                  </a:tcPr>
                </a:tc>
                <a:tc>
                  <a:txBody>
                    <a:bodyPr/>
                    <a:lstStyle/>
                    <a:p>
                      <a:r>
                        <a:rPr sz="1400" b="0" i="0">
                          <a:solidFill>
                            <a:srgbClr val="1A1440"/>
                          </a:solidFill>
                          <a:latin typeface="Calibri"/>
                        </a:rPr>
                        <a:t>fails on the two lists and posted</a:t>
                      </a:r>
                    </a:p>
                  </a:txBody>
                  <a:tcPr marL="101600" marR="101600" marT="38100" marB="38100" anchor="ctr">
                    <a:solidFill>
                      <a:srgbClr val="FFFFFF"/>
                    </a:solidFill>
                  </a:tcPr>
                </a:tc>
              </a:tr>
              <a:tr h="369824">
                <a:tc>
                  <a:txBody>
                    <a:bodyPr/>
                    <a:lstStyle/>
                    <a:p>
                      <a:r>
                        <a:rPr sz="1400" b="0" i="0">
                          <a:solidFill>
                            <a:srgbClr val="1A1440"/>
                          </a:solidFill>
                          <a:latin typeface="Calibri"/>
                        </a:rPr>
                        <a:t>The quarter in WHERE</a:t>
                      </a:r>
                    </a:p>
                  </a:txBody>
                  <a:tcPr marL="101600" marR="101600" marT="38100" marB="38100" anchor="ctr">
                    <a:solidFill>
                      <a:srgbClr val="F4F2FA"/>
                    </a:solidFill>
                  </a:tcPr>
                </a:tc>
                <a:tc>
                  <a:txBody>
                    <a:bodyPr/>
                    <a:lstStyle/>
                    <a:p>
                      <a:r>
                        <a:rPr sz="1400" b="0" i="0">
                          <a:solidFill>
                            <a:srgbClr val="1A1440"/>
                          </a:solidFill>
                          <a:latin typeface="Calibri"/>
                        </a:rPr>
                        <a:t>passes</a:t>
                      </a:r>
                    </a:p>
                  </a:txBody>
                  <a:tcPr marL="101600" marR="101600" marT="38100" marB="38100" anchor="ctr">
                    <a:solidFill>
                      <a:srgbClr val="F4F2FA"/>
                    </a:solidFill>
                  </a:tcPr>
                </a:tc>
                <a:tc>
                  <a:txBody>
                    <a:bodyPr/>
                    <a:lstStyle/>
                    <a:p>
                      <a:r>
                        <a:rPr sz="1400" b="0" i="0">
                          <a:solidFill>
                            <a:srgbClr val="1A1440"/>
                          </a:solidFill>
                          <a:latin typeface="Calibri"/>
                        </a:rPr>
                        <a:t>fails on orders, booked and the two lists</a:t>
                      </a:r>
                    </a:p>
                  </a:txBody>
                  <a:tcPr marL="101600" marR="101600" marT="38100" marB="38100" anchor="ctr">
                    <a:solidFill>
                      <a:srgbClr val="F4F2FA"/>
                    </a:solidFill>
                  </a:tcPr>
                </a:tc>
              </a:tr>
              <a:tr h="369824">
                <a:tc>
                  <a:txBody>
                    <a:bodyPr/>
                    <a:lstStyle/>
                    <a:p>
                      <a:r>
                        <a:rPr sz="1400" b="0" i="0">
                          <a:solidFill>
                            <a:srgbClr val="1A1440"/>
                          </a:solidFill>
                          <a:latin typeface="Calibri"/>
                        </a:rPr>
                        <a:t>The gap summed per order</a:t>
                      </a:r>
                    </a:p>
                  </a:txBody>
                  <a:tcPr marL="101600" marR="101600" marT="38100" marB="38100" anchor="ctr">
                    <a:solidFill>
                      <a:srgbClr val="FFFFFF"/>
                    </a:solidFill>
                  </a:tcPr>
                </a:tc>
                <a:tc>
                  <a:txBody>
                    <a:bodyPr/>
                    <a:lstStyle/>
                    <a:p>
                      <a:r>
                        <a:rPr sz="1400" b="0" i="0">
                          <a:solidFill>
                            <a:srgbClr val="1A1440"/>
                          </a:solidFill>
                          <a:latin typeface="Calibri"/>
                        </a:rPr>
                        <a:t>passes</a:t>
                      </a:r>
                    </a:p>
                  </a:txBody>
                  <a:tcPr marL="101600" marR="101600" marT="38100" marB="38100" anchor="ctr">
                    <a:solidFill>
                      <a:srgbClr val="FFFFFF"/>
                    </a:solidFill>
                  </a:tcPr>
                </a:tc>
                <a:tc>
                  <a:txBody>
                    <a:bodyPr/>
                    <a:lstStyle/>
                    <a:p>
                      <a:r>
                        <a:rPr sz="1400" b="0" i="0">
                          <a:solidFill>
                            <a:srgbClr val="1A1440"/>
                          </a:solidFill>
                          <a:latin typeface="Calibri"/>
                        </a:rPr>
                        <a:t>fails on both gap checks</a:t>
                      </a:r>
                    </a:p>
                  </a:txBody>
                  <a:tcPr marL="101600" marR="101600" marT="38100" marB="38100" anchor="ctr">
                    <a:solidFill>
                      <a:srgbClr val="FFFFFF"/>
                    </a:solidFill>
                  </a:tcPr>
                </a:tc>
              </a:tr>
            </a:tbl>
          </a:graphicData>
        </a:graphic>
      </p:graphicFrame>
      <p:sp>
        <p:nvSpPr>
          <p:cNvPr id="10" name="TextBox 9"/>
          <p:cNvSpPr txBox="1"/>
          <p:nvPr/>
        </p:nvSpPr>
        <p:spPr>
          <a:xfrm>
            <a:off x="530352" y="4431792"/>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Every page with more cash on it than was booked fails the hurried suite at once; a page that hides T-4 loses its booked and its cash together, or loses the gap to a NULL, so nothing on it looks wrong. </a:t>
            </a:r>
            <a:r>
              <a:rPr sz="1600" b="1" i="0">
                <a:solidFill>
                  <a:srgbClr val="1A1440"/>
                </a:solidFill>
                <a:latin typeface="Calibri"/>
              </a:rPr>
              <a:t>The check.</a:t>
            </a:r>
            <a:r>
              <a:rPr sz="1600" b="0" i="0">
                <a:solidFill>
                  <a:srgbClr val="1A1440"/>
                </a:solidFill>
                <a:latin typeface="Calibri"/>
              </a:rPr>
              <a:t> The tie-back suite fails every wrong page on at least one check and passes the true page on all five.</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7" name="Oval 16"/>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16 / 34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Kalpa's Q2 page passes all five checks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the suite pass Kalpa's Q2 report?</a:t>
            </a:r>
          </a:p>
        </p:txBody>
      </p:sp>
      <p:graphicFrame>
        <p:nvGraphicFramePr>
          <p:cNvPr id="9" name="Table 8"/>
          <p:cNvGraphicFramePr>
            <a:graphicFrameLocks noGrp="1"/>
          </p:cNvGraphicFramePr>
          <p:nvPr/>
        </p:nvGraphicFramePr>
        <p:xfrm>
          <a:off x="530352" y="1956816"/>
          <a:ext cx="11130990" cy="2218944"/>
        </p:xfrm>
        <a:graphic>
          <a:graphicData uri="http://schemas.openxmlformats.org/drawingml/2006/table">
            <a:tbl>
              <a:tblPr firstRow="0" bandRow="0">
                <a:tableStyleId>{2D5ABB26-0587-4C30-8999-92F81FD0307C}</a:tableStyleId>
              </a:tblPr>
              <a:tblGrid>
                <a:gridCol w="5716911"/>
                <a:gridCol w="1115889"/>
                <a:gridCol w="4298190"/>
              </a:tblGrid>
              <a:tr h="369824">
                <a:tc>
                  <a:txBody>
                    <a:bodyPr/>
                    <a:lstStyle/>
                    <a:p>
                      <a:r>
                        <a:rPr sz="1450" b="1" i="0">
                          <a:solidFill>
                            <a:srgbClr val="FFFFFF"/>
                          </a:solidFill>
                          <a:latin typeface="Calibri"/>
                        </a:rPr>
                        <a:t>Tie-back check, Kalpa's Q2</a:t>
                      </a:r>
                    </a:p>
                  </a:txBody>
                  <a:tcPr marL="101600" marR="101600" marT="38100" marB="38100" anchor="ctr">
                    <a:solidFill>
                      <a:srgbClr val="1A0F5C"/>
                    </a:solidFill>
                  </a:tcPr>
                </a:tc>
                <a:tc>
                  <a:txBody>
                    <a:bodyPr/>
                    <a:lstStyle/>
                    <a:p>
                      <a:r>
                        <a:rPr sz="1450" b="1" i="0">
                          <a:solidFill>
                            <a:srgbClr val="FFFFFF"/>
                          </a:solidFill>
                          <a:latin typeface="Calibri"/>
                        </a:rPr>
                        <a:t>Verdict</a:t>
                      </a:r>
                    </a:p>
                  </a:txBody>
                  <a:tcPr marL="101600" marR="101600" marT="38100" marB="38100" anchor="ctr">
                    <a:solidFill>
                      <a:srgbClr val="1A0F5C"/>
                    </a:solidFill>
                  </a:tcPr>
                </a:tc>
                <a:tc>
                  <a:txBody>
                    <a:bodyPr/>
                    <a:lstStyle/>
                    <a:p>
                      <a:r>
                        <a:rPr sz="1450" b="1" i="0">
                          <a:solidFill>
                            <a:srgbClr val="FFFFFF"/>
                          </a:solidFill>
                          <a:latin typeface="Calibri"/>
                        </a:rPr>
                        <a:t>Detail</a:t>
                      </a:r>
                    </a:p>
                  </a:txBody>
                  <a:tcPr marL="101600" marR="101600" marT="38100" marB="38100" anchor="ctr">
                    <a:solidFill>
                      <a:srgbClr val="1A0F5C"/>
                    </a:solidFill>
                  </a:tcPr>
                </a:tc>
              </a:tr>
              <a:tr h="369824">
                <a:tc>
                  <a:txBody>
                    <a:bodyPr/>
                    <a:lstStyle/>
                    <a:p>
                      <a:r>
                        <a:rPr sz="1400" b="0" i="0">
                          <a:solidFill>
                            <a:srgbClr val="1A1440"/>
                          </a:solidFill>
                          <a:latin typeface="Calibri"/>
                        </a:rPr>
                        <a:t>Orders on the report equal orders in the table</a:t>
                      </a:r>
                    </a:p>
                  </a:txBody>
                  <a:tcPr marL="101600" marR="101600" marT="38100" marB="38100" anchor="ctr">
                    <a:solidFill>
                      <a:srgbClr val="FFFFFF"/>
                    </a:solidFill>
                  </a:tcPr>
                </a:tc>
                <a:tc>
                  <a:txBody>
                    <a:bodyPr/>
                    <a:lstStyle/>
                    <a:p>
                      <a:r>
                        <a:rPr sz="1400" b="0" i="0">
                          <a:solidFill>
                            <a:srgbClr val="1A1440"/>
                          </a:solidFill>
                          <a:latin typeface="Calibri"/>
                        </a:rPr>
                        <a:t>PASS</a:t>
                      </a:r>
                    </a:p>
                  </a:txBody>
                  <a:tcPr marL="101600" marR="101600" marT="38100" marB="38100" anchor="ctr">
                    <a:solidFill>
                      <a:srgbClr val="FFFFFF"/>
                    </a:solidFill>
                  </a:tcPr>
                </a:tc>
                <a:tc>
                  <a:txBody>
                    <a:bodyPr/>
                    <a:lstStyle/>
                    <a:p>
                      <a:r>
                        <a:rPr sz="1400" b="0" i="0">
                          <a:solidFill>
                            <a:srgbClr val="1A1440"/>
                          </a:solidFill>
                          <a:latin typeface="Calibri"/>
                        </a:rPr>
                        <a:t>462 against 462</a:t>
                      </a:r>
                    </a:p>
                  </a:txBody>
                  <a:tcPr marL="101600" marR="101600" marT="38100" marB="38100" anchor="ctr">
                    <a:solidFill>
                      <a:srgbClr val="FFFFFF"/>
                    </a:solidFill>
                  </a:tcPr>
                </a:tc>
              </a:tr>
              <a:tr h="369824">
                <a:tc>
                  <a:txBody>
                    <a:bodyPr/>
                    <a:lstStyle/>
                    <a:p>
                      <a:r>
                        <a:rPr sz="1400" b="0" i="0">
                          <a:solidFill>
                            <a:srgbClr val="1A1440"/>
                          </a:solidFill>
                          <a:latin typeface="Calibri"/>
                        </a:rPr>
                        <a:t>Booked equals booked from orders alone</a:t>
                      </a:r>
                    </a:p>
                  </a:txBody>
                  <a:tcPr marL="101600" marR="101600" marT="38100" marB="38100" anchor="ctr">
                    <a:solidFill>
                      <a:srgbClr val="F4F2FA"/>
                    </a:solidFill>
                  </a:tcPr>
                </a:tc>
                <a:tc>
                  <a:txBody>
                    <a:bodyPr/>
                    <a:lstStyle/>
                    <a:p>
                      <a:r>
                        <a:rPr sz="1400" b="0" i="0">
                          <a:solidFill>
                            <a:srgbClr val="1A1440"/>
                          </a:solidFill>
                          <a:latin typeface="Calibri"/>
                        </a:rPr>
                        <a:t>PASS</a:t>
                      </a:r>
                    </a:p>
                  </a:txBody>
                  <a:tcPr marL="101600" marR="101600" marT="38100" marB="38100" anchor="ctr">
                    <a:solidFill>
                      <a:srgbClr val="F4F2FA"/>
                    </a:solidFill>
                  </a:tcPr>
                </a:tc>
                <a:tc>
                  <a:txBody>
                    <a:bodyPr/>
                    <a:lstStyle/>
                    <a:p>
                      <a:r>
                        <a:rPr sz="1400" b="0" i="0">
                          <a:solidFill>
                            <a:srgbClr val="1A1440"/>
                          </a:solidFill>
                          <a:latin typeface="Calibri"/>
                        </a:rPr>
                        <a:t>Rs 9,84,00,000 against Rs 9,84,00,000</a:t>
                      </a:r>
                    </a:p>
                  </a:txBody>
                  <a:tcPr marL="101600" marR="101600" marT="38100" marB="38100" anchor="ctr">
                    <a:solidFill>
                      <a:srgbClr val="F4F2FA"/>
                    </a:solidFill>
                  </a:tcPr>
                </a:tc>
              </a:tr>
              <a:tr h="369824">
                <a:tc>
                  <a:txBody>
                    <a:bodyPr/>
                    <a:lstStyle/>
                    <a:p>
                      <a:r>
                        <a:rPr sz="1400" b="0" i="0">
                          <a:solidFill>
                            <a:srgbClr val="1A1440"/>
                          </a:solidFill>
                          <a:latin typeface="Calibri"/>
                        </a:rPr>
                        <a:t>The gap equals booked less collected</a:t>
                      </a:r>
                    </a:p>
                  </a:txBody>
                  <a:tcPr marL="101600" marR="101600" marT="38100" marB="38100" anchor="ctr">
                    <a:solidFill>
                      <a:srgbClr val="FFFFFF"/>
                    </a:solidFill>
                  </a:tcPr>
                </a:tc>
                <a:tc>
                  <a:txBody>
                    <a:bodyPr/>
                    <a:lstStyle/>
                    <a:p>
                      <a:r>
                        <a:rPr sz="1400" b="0" i="0">
                          <a:solidFill>
                            <a:srgbClr val="1A1440"/>
                          </a:solidFill>
                          <a:latin typeface="Calibri"/>
                        </a:rPr>
                        <a:t>PASS</a:t>
                      </a:r>
                    </a:p>
                  </a:txBody>
                  <a:tcPr marL="101600" marR="101600" marT="38100" marB="38100" anchor="ctr">
                    <a:solidFill>
                      <a:srgbClr val="FFFFFF"/>
                    </a:solidFill>
                  </a:tcPr>
                </a:tc>
                <a:tc>
                  <a:txBody>
                    <a:bodyPr/>
                    <a:lstStyle/>
                    <a:p>
                      <a:r>
                        <a:rPr sz="1400" b="0" i="0">
                          <a:solidFill>
                            <a:srgbClr val="1A1440"/>
                          </a:solidFill>
                          <a:latin typeface="Calibri"/>
                        </a:rPr>
                        <a:t>equal, figures on your own page</a:t>
                      </a:r>
                    </a:p>
                  </a:txBody>
                  <a:tcPr marL="101600" marR="101600" marT="38100" marB="38100" anchor="ctr">
                    <a:solidFill>
                      <a:srgbClr val="FFFFFF"/>
                    </a:solidFill>
                  </a:tcPr>
                </a:tc>
              </a:tr>
              <a:tr h="369824">
                <a:tc>
                  <a:txBody>
                    <a:bodyPr/>
                    <a:lstStyle/>
                    <a:p>
                      <a:r>
                        <a:rPr sz="1400" b="0" i="0">
                          <a:solidFill>
                            <a:srgbClr val="1A1440"/>
                          </a:solidFill>
                          <a:latin typeface="Calibri"/>
                        </a:rPr>
                        <a:t>The gap equals the never-paid and paid-short lists</a:t>
                      </a:r>
                    </a:p>
                  </a:txBody>
                  <a:tcPr marL="101600" marR="101600" marT="38100" marB="38100" anchor="ctr">
                    <a:solidFill>
                      <a:srgbClr val="F4F2FA"/>
                    </a:solidFill>
                  </a:tcPr>
                </a:tc>
                <a:tc>
                  <a:txBody>
                    <a:bodyPr/>
                    <a:lstStyle/>
                    <a:p>
                      <a:r>
                        <a:rPr sz="1400" b="0" i="0">
                          <a:solidFill>
                            <a:srgbClr val="1A1440"/>
                          </a:solidFill>
                          <a:latin typeface="Calibri"/>
                        </a:rPr>
                        <a:t>PASS</a:t>
                      </a:r>
                    </a:p>
                  </a:txBody>
                  <a:tcPr marL="101600" marR="101600" marT="38100" marB="38100" anchor="ctr">
                    <a:solidFill>
                      <a:srgbClr val="F4F2FA"/>
                    </a:solidFill>
                  </a:tcPr>
                </a:tc>
                <a:tc>
                  <a:txBody>
                    <a:bodyPr/>
                    <a:lstStyle/>
                    <a:p>
                      <a:r>
                        <a:rPr sz="1400" b="0" i="0">
                          <a:solidFill>
                            <a:srgbClr val="1A1440"/>
                          </a:solidFill>
                          <a:latin typeface="Calibri"/>
                        </a:rPr>
                        <a:t>equal, figures on your own page</a:t>
                      </a:r>
                    </a:p>
                  </a:txBody>
                  <a:tcPr marL="101600" marR="101600" marT="38100" marB="38100" anchor="ctr">
                    <a:solidFill>
                      <a:srgbClr val="F4F2FA"/>
                    </a:solidFill>
                  </a:tcPr>
                </a:tc>
              </a:tr>
              <a:tr h="369824">
                <a:tc>
                  <a:txBody>
                    <a:bodyPr/>
                    <a:lstStyle/>
                    <a:p>
                      <a:r>
                        <a:rPr sz="1400" b="0" i="0">
                          <a:solidFill>
                            <a:srgbClr val="1A1440"/>
                          </a:solidFill>
                          <a:latin typeface="Calibri"/>
                        </a:rPr>
                        <a:t>Collected plus posted twice equals posted</a:t>
                      </a:r>
                    </a:p>
                  </a:txBody>
                  <a:tcPr marL="101600" marR="101600" marT="38100" marB="38100" anchor="ctr">
                    <a:solidFill>
                      <a:srgbClr val="FFFFFF"/>
                    </a:solidFill>
                  </a:tcPr>
                </a:tc>
                <a:tc>
                  <a:txBody>
                    <a:bodyPr/>
                    <a:lstStyle/>
                    <a:p>
                      <a:r>
                        <a:rPr sz="1400" b="0" i="0">
                          <a:solidFill>
                            <a:srgbClr val="1A1440"/>
                          </a:solidFill>
                          <a:latin typeface="Calibri"/>
                        </a:rPr>
                        <a:t>PASS</a:t>
                      </a:r>
                    </a:p>
                  </a:txBody>
                  <a:tcPr marL="101600" marR="101600" marT="38100" marB="38100" anchor="ctr">
                    <a:solidFill>
                      <a:srgbClr val="FFFFFF"/>
                    </a:solidFill>
                  </a:tcPr>
                </a:tc>
                <a:tc>
                  <a:txBody>
                    <a:bodyPr/>
                    <a:lstStyle/>
                    <a:p>
                      <a:r>
                        <a:rPr sz="1400" b="0" i="0">
                          <a:solidFill>
                            <a:srgbClr val="1A1440"/>
                          </a:solidFill>
                          <a:latin typeface="Calibri"/>
                        </a:rPr>
                        <a:t>equal, figures on your own page</a:t>
                      </a:r>
                    </a:p>
                  </a:txBody>
                  <a:tcPr marL="101600" marR="101600" marT="38100" marB="38100" anchor="ctr">
                    <a:solidFill>
                      <a:srgbClr val="FFFFFF"/>
                    </a:solidFill>
                  </a:tcPr>
                </a:tc>
              </a:tr>
            </a:tbl>
          </a:graphicData>
        </a:graphic>
      </p:graphicFrame>
      <p:sp>
        <p:nvSpPr>
          <p:cNvPr id="10" name="TextBox 9"/>
          <p:cNvSpPr txBox="1"/>
          <p:nvPr/>
        </p:nvSpPr>
        <p:spPr>
          <a:xfrm>
            <a:off x="530352" y="443179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page may leave the team, and every one of the 1,428 payment rows sits on a Q1 order, a Q2 order or no order at all.</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7" name="Oval 16"/>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17 / 34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Python counts the raw rows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a second tool, working from the raw rows, reach the same numbers?</a:t>
            </a:r>
          </a:p>
        </p:txBody>
      </p:sp>
      <p:pic>
        <p:nvPicPr>
          <p:cNvPr id="9" name="mermaid diagram" descr="2c9ff9ae5bedf1c3.png"/>
          <p:cNvPicPr>
            <a:picLocks noChangeAspect="1"/>
          </p:cNvPicPr>
          <p:nvPr/>
        </p:nvPicPr>
        <p:blipFill>
          <a:blip r:embed="rId5"/>
          <a:stretch>
            <a:fillRect/>
          </a:stretch>
        </p:blipFill>
        <p:spPr>
          <a:xfrm>
            <a:off x="530352" y="1956816"/>
            <a:ext cx="11130991" cy="1979765"/>
          </a:xfrm>
          <a:prstGeom prst="rect">
            <a:avLst/>
          </a:prstGeom>
        </p:spPr>
      </p:pic>
      <p:sp>
        <p:nvSpPr>
          <p:cNvPr id="10" name="TextBox 9"/>
          <p:cNvSpPr txBox="1"/>
          <p:nvPr/>
        </p:nvSpPr>
        <p:spPr>
          <a:xfrm>
            <a:off x="530352" y="4082885"/>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repeat of the same instalment overwrites itself in the dictionary and counts once. </a:t>
            </a:r>
            <a:r>
              <a:rPr sz="1600" b="1" i="0">
                <a:solidFill>
                  <a:srgbClr val="1A1440"/>
                </a:solidFill>
                <a:latin typeface="Calibri"/>
              </a:rPr>
              <a:t>The check.</a:t>
            </a:r>
            <a:r>
              <a:rPr sz="1600" b="0" i="0">
                <a:solidFill>
                  <a:srgbClr val="1A1440"/>
                </a:solidFill>
                <a:latin typeface="Calibri"/>
              </a:rPr>
              <a:t> On the invented tables both tools give 5 orders, booked 5,800, collected 5,000 and a gap of 800, and they agree on Kalpa's Q2.</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7" name="Oval 16"/>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18 / 34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what does Anand get when a check fails?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Anand get when a check fails at the end of reporting day?</a:t>
            </a:r>
          </a:p>
        </p:txBody>
      </p:sp>
      <p:pic>
        <p:nvPicPr>
          <p:cNvPr id="9" name="mermaid diagram" descr="8910964a77dac4d4.png"/>
          <p:cNvPicPr>
            <a:picLocks noChangeAspect="1"/>
          </p:cNvPicPr>
          <p:nvPr/>
        </p:nvPicPr>
        <p:blipFill>
          <a:blip r:embed="rId5"/>
          <a:stretch>
            <a:fillRect/>
          </a:stretch>
        </p:blipFill>
        <p:spPr>
          <a:xfrm>
            <a:off x="574604" y="1682496"/>
            <a:ext cx="4697821" cy="4517136"/>
          </a:xfrm>
          <a:prstGeom prst="rect">
            <a:avLst/>
          </a:prstGeom>
        </p:spPr>
      </p:pic>
      <p:sp>
        <p:nvSpPr>
          <p:cNvPr id="10" name="TextBox 9"/>
          <p:cNvSpPr txBox="1"/>
          <p:nvPr/>
        </p:nvSpPr>
        <p:spPr>
          <a:xfrm>
            <a:off x="5761917" y="1956816"/>
            <a:ext cx="5899425"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An open line names a failed check, what it means and when it will close.</a:t>
            </a:r>
          </a:p>
        </p:txBody>
      </p:sp>
      <p:sp>
        <p:nvSpPr>
          <p:cNvPr id="11" name="Rounded Rectangle 10"/>
          <p:cNvSpPr/>
          <p:nvPr/>
        </p:nvSpPr>
        <p:spPr>
          <a:xfrm>
            <a:off x="5761917" y="2856992"/>
            <a:ext cx="5899425" cy="1874519"/>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908221" y="2985008"/>
            <a:ext cx="45720" cy="1618487"/>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109389" y="2975864"/>
            <a:ext cx="5332497" cy="1691639"/>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Which does the team send? a) nothing, until the check is fixed and the open line is closed; b) booked from orders alone, with the open line; collected held; c) collected, with an open line saying that one check failed; d) last week's collected, which passed every check.</a:t>
            </a:r>
          </a:p>
        </p:txBody>
      </p:sp>
      <p:sp>
        <p:nvSpPr>
          <p:cNvPr id="14" name="Oval 1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16" name="Oval 15"/>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8" name="Oval 1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20" name="Oval 19"/>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19 / 34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booked leaves, collected is held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check failing means what, and who fixes it the same day?</a:t>
            </a:r>
          </a:p>
        </p:txBody>
      </p:sp>
      <p:graphicFrame>
        <p:nvGraphicFramePr>
          <p:cNvPr id="9" name="Table 8"/>
          <p:cNvGraphicFramePr>
            <a:graphicFrameLocks noGrp="1"/>
          </p:cNvGraphicFramePr>
          <p:nvPr/>
        </p:nvGraphicFramePr>
        <p:xfrm>
          <a:off x="530352" y="1868424"/>
          <a:ext cx="11130989" cy="2840736"/>
        </p:xfrm>
        <a:graphic>
          <a:graphicData uri="http://schemas.openxmlformats.org/drawingml/2006/table">
            <a:tbl>
              <a:tblPr firstRow="0" bandRow="0">
                <a:tableStyleId>{2D5ABB26-0587-4C30-8999-92F81FD0307C}</a:tableStyleId>
              </a:tblPr>
              <a:tblGrid>
                <a:gridCol w="3112929"/>
                <a:gridCol w="3599514"/>
                <a:gridCol w="3043417"/>
                <a:gridCol w="1375129"/>
              </a:tblGrid>
              <a:tr h="335280">
                <a:tc>
                  <a:txBody>
                    <a:bodyPr/>
                    <a:lstStyle/>
                    <a:p>
                      <a:r>
                        <a:rPr sz="1250" b="1" i="0">
                          <a:solidFill>
                            <a:srgbClr val="FFFFFF"/>
                          </a:solidFill>
                          <a:latin typeface="Calibri"/>
                        </a:rPr>
                        <a:t>The check that fails</a:t>
                      </a:r>
                    </a:p>
                  </a:txBody>
                  <a:tcPr marL="101600" marR="101600" marT="38100" marB="38100" anchor="ctr">
                    <a:solidFill>
                      <a:srgbClr val="1A0F5C"/>
                    </a:solidFill>
                  </a:tcPr>
                </a:tc>
                <a:tc>
                  <a:txBody>
                    <a:bodyPr/>
                    <a:lstStyle/>
                    <a:p>
                      <a:r>
                        <a:rPr sz="1250" b="1" i="0">
                          <a:solidFill>
                            <a:srgbClr val="FFFFFF"/>
                          </a:solidFill>
                          <a:latin typeface="Calibri"/>
                        </a:rPr>
                        <a:t>What it means</a:t>
                      </a:r>
                    </a:p>
                  </a:txBody>
                  <a:tcPr marL="101600" marR="101600" marT="38100" marB="38100" anchor="ctr">
                    <a:solidFill>
                      <a:srgbClr val="1A0F5C"/>
                    </a:solidFill>
                  </a:tcPr>
                </a:tc>
                <a:tc>
                  <a:txBody>
                    <a:bodyPr/>
                    <a:lstStyle/>
                    <a:p>
                      <a:r>
                        <a:rPr sz="1250" b="1" i="0">
                          <a:solidFill>
                            <a:srgbClr val="FFFFFF"/>
                          </a:solidFill>
                          <a:latin typeface="Calibri"/>
                        </a:rPr>
                        <a:t>What Anand gets that day</a:t>
                      </a:r>
                    </a:p>
                  </a:txBody>
                  <a:tcPr marL="101600" marR="101600" marT="38100" marB="38100" anchor="ctr">
                    <a:solidFill>
                      <a:srgbClr val="1A0F5C"/>
                    </a:solidFill>
                  </a:tcPr>
                </a:tc>
                <a:tc>
                  <a:txBody>
                    <a:bodyPr/>
                    <a:lstStyle/>
                    <a:p>
                      <a:r>
                        <a:rPr sz="1250" b="1" i="0">
                          <a:solidFill>
                            <a:srgbClr val="FFFFFF"/>
                          </a:solidFill>
                          <a:latin typeface="Calibri"/>
                        </a:rPr>
                        <a:t>Who fixes it</a:t>
                      </a:r>
                    </a:p>
                  </a:txBody>
                  <a:tcPr marL="101600" marR="101600" marT="38100" marB="38100" anchor="ctr">
                    <a:solidFill>
                      <a:srgbClr val="1A0F5C"/>
                    </a:solidFill>
                  </a:tcPr>
                </a:tc>
              </a:tr>
              <a:tr h="335280">
                <a:tc>
                  <a:txBody>
                    <a:bodyPr/>
                    <a:lstStyle/>
                    <a:p>
                      <a:r>
                        <a:rPr sz="1200" b="0" i="0">
                          <a:solidFill>
                            <a:srgbClr val="1A1440"/>
                          </a:solidFill>
                          <a:latin typeface="Calibri"/>
                        </a:rPr>
                        <a:t>Orders against the table</a:t>
                      </a:r>
                    </a:p>
                  </a:txBody>
                  <a:tcPr marL="101600" marR="101600" marT="38100" marB="38100" anchor="ctr">
                    <a:solidFill>
                      <a:srgbClr val="FFFFFF"/>
                    </a:solidFill>
                  </a:tcPr>
                </a:tc>
                <a:tc>
                  <a:txBody>
                    <a:bodyPr/>
                    <a:lstStyle/>
                    <a:p>
                      <a:r>
                        <a:rPr sz="1200" b="0" i="0">
                          <a:solidFill>
                            <a:srgbClr val="1A1440"/>
                          </a:solidFill>
                          <a:latin typeface="Calibri"/>
                        </a:rPr>
                        <a:t>The join dropped or repeated an order</a:t>
                      </a:r>
                    </a:p>
                  </a:txBody>
                  <a:tcPr marL="101600" marR="101600" marT="38100" marB="38100" anchor="ctr">
                    <a:solidFill>
                      <a:srgbClr val="FFFFFF"/>
                    </a:solidFill>
                  </a:tcPr>
                </a:tc>
                <a:tc>
                  <a:txBody>
                    <a:bodyPr/>
                    <a:lstStyle/>
                    <a:p>
                      <a:r>
                        <a:rPr sz="1200" b="0" i="0">
                          <a:solidFill>
                            <a:srgbClr val="1A1440"/>
                          </a:solidFill>
                          <a:latin typeface="Calibri"/>
                        </a:rPr>
                        <a:t>Booked; collected held</a:t>
                      </a:r>
                    </a:p>
                  </a:txBody>
                  <a:tcPr marL="101600" marR="101600" marT="38100" marB="38100" anchor="ctr">
                    <a:solidFill>
                      <a:srgbClr val="FFFFFF"/>
                    </a:solidFill>
                  </a:tcPr>
                </a:tc>
                <a:tc>
                  <a:txBody>
                    <a:bodyPr/>
                    <a:lstStyle/>
                    <a:p>
                      <a:r>
                        <a:rPr sz="1200" b="0" i="0">
                          <a:solidFill>
                            <a:srgbClr val="1A1440"/>
                          </a:solidFill>
                          <a:latin typeface="Calibri"/>
                        </a:rPr>
                        <a:t>You</a:t>
                      </a:r>
                    </a:p>
                  </a:txBody>
                  <a:tcPr marL="101600" marR="101600" marT="38100" marB="38100" anchor="ctr">
                    <a:solidFill>
                      <a:srgbClr val="FFFFFF"/>
                    </a:solidFill>
                  </a:tcPr>
                </a:tc>
              </a:tr>
              <a:tr h="542544">
                <a:tc>
                  <a:txBody>
                    <a:bodyPr/>
                    <a:lstStyle/>
                    <a:p>
                      <a:r>
                        <a:rPr sz="1200" b="0" i="0">
                          <a:solidFill>
                            <a:srgbClr val="1A1440"/>
                          </a:solidFill>
                          <a:latin typeface="Calibri"/>
                        </a:rPr>
                        <a:t>Booked against orders alone</a:t>
                      </a:r>
                    </a:p>
                  </a:txBody>
                  <a:tcPr marL="101600" marR="101600" marT="38100" marB="38100" anchor="ctr">
                    <a:solidFill>
                      <a:srgbClr val="F4F2FA"/>
                    </a:solidFill>
                  </a:tcPr>
                </a:tc>
                <a:tc>
                  <a:txBody>
                    <a:bodyPr/>
                    <a:lstStyle/>
                    <a:p>
                      <a:r>
                        <a:rPr sz="1200" b="0" i="0">
                          <a:solidFill>
                            <a:srgbClr val="1A1440"/>
                          </a:solidFill>
                          <a:latin typeface="Calibri"/>
                        </a:rPr>
                        <a:t>A fan-out that reached booked, or a dropped order</a:t>
                      </a:r>
                    </a:p>
                  </a:txBody>
                  <a:tcPr marL="101600" marR="101600" marT="38100" marB="38100" anchor="ctr">
                    <a:solidFill>
                      <a:srgbClr val="F4F2FA"/>
                    </a:solidFill>
                  </a:tcPr>
                </a:tc>
                <a:tc>
                  <a:txBody>
                    <a:bodyPr/>
                    <a:lstStyle/>
                    <a:p>
                      <a:r>
                        <a:rPr sz="1200" b="0" i="0">
                          <a:solidFill>
                            <a:srgbClr val="1A1440"/>
                          </a:solidFill>
                          <a:latin typeface="Calibri"/>
                        </a:rPr>
                        <a:t>Booked from orders alone; collected held</a:t>
                      </a:r>
                    </a:p>
                  </a:txBody>
                  <a:tcPr marL="101600" marR="101600" marT="38100" marB="38100" anchor="ctr">
                    <a:solidFill>
                      <a:srgbClr val="F4F2FA"/>
                    </a:solidFill>
                  </a:tcPr>
                </a:tc>
                <a:tc>
                  <a:txBody>
                    <a:bodyPr/>
                    <a:lstStyle/>
                    <a:p>
                      <a:r>
                        <a:rPr sz="1200" b="0" i="0">
                          <a:solidFill>
                            <a:srgbClr val="1A1440"/>
                          </a:solidFill>
                          <a:latin typeface="Calibri"/>
                        </a:rPr>
                        <a:t>You</a:t>
                      </a:r>
                    </a:p>
                  </a:txBody>
                  <a:tcPr marL="101600" marR="101600" marT="38100" marB="38100" anchor="ctr">
                    <a:solidFill>
                      <a:srgbClr val="F4F2FA"/>
                    </a:solidFill>
                  </a:tcPr>
                </a:tc>
              </a:tr>
              <a:tr h="542544">
                <a:tc>
                  <a:txBody>
                    <a:bodyPr/>
                    <a:lstStyle/>
                    <a:p>
                      <a:r>
                        <a:rPr sz="1200" b="0" i="0">
                          <a:solidFill>
                            <a:srgbClr val="1A1440"/>
                          </a:solidFill>
                          <a:latin typeface="Calibri"/>
                        </a:rPr>
                        <a:t>The gap against booked less collected</a:t>
                      </a:r>
                    </a:p>
                  </a:txBody>
                  <a:tcPr marL="101600" marR="101600" marT="38100" marB="38100" anchor="ctr">
                    <a:solidFill>
                      <a:srgbClr val="FFFFFF"/>
                    </a:solidFill>
                  </a:tcPr>
                </a:tc>
                <a:tc>
                  <a:txBody>
                    <a:bodyPr/>
                    <a:lstStyle/>
                    <a:p>
                      <a:r>
                        <a:rPr sz="1200" b="0" i="0">
                          <a:solidFill>
                            <a:srgbClr val="1A1440"/>
                          </a:solidFill>
                          <a:latin typeface="Calibri"/>
                        </a:rPr>
                        <a:t>A NULL fell out of a sum</a:t>
                      </a:r>
                    </a:p>
                  </a:txBody>
                  <a:tcPr marL="101600" marR="101600" marT="38100" marB="38100" anchor="ctr">
                    <a:solidFill>
                      <a:srgbClr val="FFFFFF"/>
                    </a:solidFill>
                  </a:tcPr>
                </a:tc>
                <a:tc>
                  <a:txBody>
                    <a:bodyPr/>
                    <a:lstStyle/>
                    <a:p>
                      <a:r>
                        <a:rPr sz="1200" b="0" i="0">
                          <a:solidFill>
                            <a:srgbClr val="1A1440"/>
                          </a:solidFill>
                          <a:latin typeface="Calibri"/>
                        </a:rPr>
                        <a:t>The page with the gap recomputed</a:t>
                      </a:r>
                    </a:p>
                  </a:txBody>
                  <a:tcPr marL="101600" marR="101600" marT="38100" marB="38100" anchor="ctr">
                    <a:solidFill>
                      <a:srgbClr val="FFFFFF"/>
                    </a:solidFill>
                  </a:tcPr>
                </a:tc>
                <a:tc>
                  <a:txBody>
                    <a:bodyPr/>
                    <a:lstStyle/>
                    <a:p>
                      <a:r>
                        <a:rPr sz="1200" b="0" i="0">
                          <a:solidFill>
                            <a:srgbClr val="1A1440"/>
                          </a:solidFill>
                          <a:latin typeface="Calibri"/>
                        </a:rPr>
                        <a:t>You</a:t>
                      </a:r>
                    </a:p>
                  </a:txBody>
                  <a:tcPr marL="101600" marR="101600" marT="38100" marB="38100" anchor="ctr">
                    <a:solidFill>
                      <a:srgbClr val="FFFFFF"/>
                    </a:solidFill>
                  </a:tcPr>
                </a:tc>
              </a:tr>
              <a:tr h="542544">
                <a:tc>
                  <a:txBody>
                    <a:bodyPr/>
                    <a:lstStyle/>
                    <a:p>
                      <a:r>
                        <a:rPr sz="1200" b="0" i="0">
                          <a:solidFill>
                            <a:srgbClr val="1A1440"/>
                          </a:solidFill>
                          <a:latin typeface="Calibri"/>
                        </a:rPr>
                        <a:t>The gap against the two lists</a:t>
                      </a:r>
                    </a:p>
                  </a:txBody>
                  <a:tcPr marL="101600" marR="101600" marT="38100" marB="38100" anchor="ctr">
                    <a:solidFill>
                      <a:srgbClr val="F4F2FA"/>
                    </a:solidFill>
                  </a:tcPr>
                </a:tc>
                <a:tc>
                  <a:txBody>
                    <a:bodyPr/>
                    <a:lstStyle/>
                    <a:p>
                      <a:r>
                        <a:rPr sz="1200" b="0" i="0">
                          <a:solidFill>
                            <a:srgbClr val="1A1440"/>
                          </a:solidFill>
                          <a:latin typeface="Calibri"/>
                        </a:rPr>
                        <a:t>A list or a bar is wrong</a:t>
                      </a:r>
                    </a:p>
                  </a:txBody>
                  <a:tcPr marL="101600" marR="101600" marT="38100" marB="38100" anchor="ctr">
                    <a:solidFill>
                      <a:srgbClr val="F4F2FA"/>
                    </a:solidFill>
                  </a:tcPr>
                </a:tc>
                <a:tc>
                  <a:txBody>
                    <a:bodyPr/>
                    <a:lstStyle/>
                    <a:p>
                      <a:r>
                        <a:rPr sz="1200" b="0" i="0">
                          <a:solidFill>
                            <a:srgbClr val="1A1440"/>
                          </a:solidFill>
                          <a:latin typeface="Calibri"/>
                        </a:rPr>
                        <a:t>Booked and collected, the gap provisional</a:t>
                      </a:r>
                    </a:p>
                  </a:txBody>
                  <a:tcPr marL="101600" marR="101600" marT="38100" marB="38100" anchor="ctr">
                    <a:solidFill>
                      <a:srgbClr val="F4F2FA"/>
                    </a:solidFill>
                  </a:tcPr>
                </a:tc>
                <a:tc>
                  <a:txBody>
                    <a:bodyPr/>
                    <a:lstStyle/>
                    <a:p>
                      <a:r>
                        <a:rPr sz="1200" b="0" i="0">
                          <a:solidFill>
                            <a:srgbClr val="1A1440"/>
                          </a:solidFill>
                          <a:latin typeface="Calibri"/>
                        </a:rPr>
                        <a:t>You, with Kavya</a:t>
                      </a:r>
                    </a:p>
                  </a:txBody>
                  <a:tcPr marL="101600" marR="101600" marT="38100" marB="38100" anchor="ctr">
                    <a:solidFill>
                      <a:srgbClr val="F4F2FA"/>
                    </a:solidFill>
                  </a:tcPr>
                </a:tc>
              </a:tr>
              <a:tr h="542544">
                <a:tc>
                  <a:txBody>
                    <a:bodyPr/>
                    <a:lstStyle/>
                    <a:p>
                      <a:r>
                        <a:rPr sz="1200" b="0" i="0">
                          <a:solidFill>
                            <a:srgbClr val="1A1440"/>
                          </a:solidFill>
                          <a:latin typeface="Calibri"/>
                        </a:rPr>
                        <a:t>Collected plus posted twice against posted</a:t>
                      </a:r>
                    </a:p>
                  </a:txBody>
                  <a:tcPr marL="101600" marR="101600" marT="38100" marB="38100" anchor="ctr">
                    <a:solidFill>
                      <a:srgbClr val="FFFFFF"/>
                    </a:solidFill>
                  </a:tcPr>
                </a:tc>
                <a:tc>
                  <a:txBody>
                    <a:bodyPr/>
                    <a:lstStyle/>
                    <a:p>
                      <a:r>
                        <a:rPr sz="1200" b="0" i="0">
                          <a:solidFill>
                            <a:srgbClr val="1A1440"/>
                          </a:solidFill>
                          <a:latin typeface="Calibri"/>
                        </a:rPr>
                        <a:t>The feed changed</a:t>
                      </a:r>
                    </a:p>
                  </a:txBody>
                  <a:tcPr marL="101600" marR="101600" marT="38100" marB="38100" anchor="ctr">
                    <a:solidFill>
                      <a:srgbClr val="FFFFFF"/>
                    </a:solidFill>
                  </a:tcPr>
                </a:tc>
                <a:tc>
                  <a:txBody>
                    <a:bodyPr/>
                    <a:lstStyle/>
                    <a:p>
                      <a:r>
                        <a:rPr sz="1200" b="0" i="0">
                          <a:solidFill>
                            <a:srgbClr val="1A1440"/>
                          </a:solidFill>
                          <a:latin typeface="Calibri"/>
                        </a:rPr>
                        <a:t>Booked; collected held; the lead told</a:t>
                      </a:r>
                    </a:p>
                  </a:txBody>
                  <a:tcPr marL="101600" marR="101600" marT="38100" marB="38100" anchor="ctr">
                    <a:solidFill>
                      <a:srgbClr val="FFFFFF"/>
                    </a:solidFill>
                  </a:tcPr>
                </a:tc>
                <a:tc>
                  <a:txBody>
                    <a:bodyPr/>
                    <a:lstStyle/>
                    <a:p>
                      <a:r>
                        <a:rPr sz="1200" b="0" i="0">
                          <a:solidFill>
                            <a:srgbClr val="1A1440"/>
                          </a:solidFill>
                          <a:latin typeface="Calibri"/>
                        </a:rPr>
                        <a:t>The platform lead</a:t>
                      </a:r>
                    </a:p>
                  </a:txBody>
                  <a:tcPr marL="101600" marR="101600" marT="38100" marB="38100" anchor="ctr">
                    <a:solidFill>
                      <a:srgbClr val="FFFFFF"/>
                    </a:solidFill>
                  </a:tcPr>
                </a:tc>
              </a:tr>
            </a:tbl>
          </a:graphicData>
        </a:graphic>
      </p:graphicFrame>
      <p:sp>
        <p:nvSpPr>
          <p:cNvPr id="10" name="TextBox 9"/>
          <p:cNvSpPr txBox="1"/>
          <p:nvPr/>
        </p:nvSpPr>
        <p:spPr>
          <a:xfrm>
            <a:off x="530352" y="4965192"/>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a:t>
            </a:r>
            <a:r>
              <a:rPr sz="1600" b="1" i="0">
                <a:solidFill>
                  <a:srgbClr val="1A1440"/>
                </a:solidFill>
                <a:latin typeface="Calibri"/>
              </a:rPr>
              <a:t>The rule.</a:t>
            </a:r>
            <a:r>
              <a:rPr sz="1600" b="0" i="0">
                <a:solidFill>
                  <a:srgbClr val="1A1440"/>
                </a:solidFill>
                <a:latin typeface="Calibri"/>
              </a:rPr>
              <a:t> Booked always leaves, because it ties to the orders table alone; an unreconciled collected figure never leaves; the open line, which check failed, what it means and when it will close, goes with it.</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7" name="Oval 16"/>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20 / 34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Chapter 6, answered in six lines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chapter 6 answer, and what does the day's page now carry?</a:t>
            </a:r>
          </a:p>
        </p:txBody>
      </p:sp>
      <p:graphicFrame>
        <p:nvGraphicFramePr>
          <p:cNvPr id="9" name="Table 8"/>
          <p:cNvGraphicFramePr>
            <a:graphicFrameLocks noGrp="1"/>
          </p:cNvGraphicFramePr>
          <p:nvPr/>
        </p:nvGraphicFramePr>
        <p:xfrm>
          <a:off x="530352" y="1682496"/>
          <a:ext cx="11130990" cy="2176272"/>
        </p:xfrm>
        <a:graphic>
          <a:graphicData uri="http://schemas.openxmlformats.org/drawingml/2006/table">
            <a:tbl>
              <a:tblPr firstRow="0" bandRow="0">
                <a:tableStyleId>{2D5ABB26-0587-4C30-8999-92F81FD0307C}</a:tableStyleId>
              </a:tblPr>
              <a:tblGrid>
                <a:gridCol w="3479980"/>
                <a:gridCol w="7651010"/>
              </a:tblGrid>
              <a:tr h="310896">
                <a:tc>
                  <a:txBody>
                    <a:bodyPr/>
                    <a:lstStyle/>
                    <a:p>
                      <a:r>
                        <a:rPr sz="950" b="1" i="0">
                          <a:solidFill>
                            <a:srgbClr val="FFFFFF"/>
                          </a:solidFill>
                          <a:latin typeface="Calibri"/>
                        </a:rPr>
                        <a:t>Question</a:t>
                      </a:r>
                    </a:p>
                  </a:txBody>
                  <a:tcPr marL="101600" marR="101600" marT="38100" marB="38100" anchor="ctr">
                    <a:solidFill>
                      <a:srgbClr val="1A0F5C"/>
                    </a:solidFill>
                  </a:tcPr>
                </a:tc>
                <a:tc>
                  <a:txBody>
                    <a:bodyPr/>
                    <a:lstStyle/>
                    <a:p>
                      <a:r>
                        <a:rPr sz="950" b="1" i="0">
                          <a:solidFill>
                            <a:srgbClr val="FFFFFF"/>
                          </a:solidFill>
                          <a:latin typeface="Calibri"/>
                        </a:rPr>
                        <a:t>The answer, with its number</a:t>
                      </a:r>
                    </a:p>
                  </a:txBody>
                  <a:tcPr marL="101600" marR="101600" marT="38100" marB="38100" anchor="ctr">
                    <a:solidFill>
                      <a:srgbClr val="1A0F5C"/>
                    </a:solidFill>
                  </a:tcPr>
                </a:tc>
              </a:tr>
              <a:tr h="310896">
                <a:tc>
                  <a:txBody>
                    <a:bodyPr/>
                    <a:lstStyle/>
                    <a:p>
                      <a:r>
                        <a:rPr sz="900" b="0" i="0">
                          <a:solidFill>
                            <a:srgbClr val="1A1440"/>
                          </a:solidFill>
                          <a:latin typeface="Calibri"/>
                        </a:rPr>
                        <a:t>Can hurried checks miss an order?</a:t>
                      </a:r>
                    </a:p>
                  </a:txBody>
                  <a:tcPr marL="101600" marR="101600" marT="38100" marB="38100" anchor="ctr">
                    <a:solidFill>
                      <a:srgbClr val="FFFFFF"/>
                    </a:solidFill>
                  </a:tcPr>
                </a:tc>
                <a:tc>
                  <a:txBody>
                    <a:bodyPr/>
                    <a:lstStyle/>
                    <a:p>
                      <a:r>
                        <a:rPr sz="900" b="0" i="0">
                          <a:solidFill>
                            <a:srgbClr val="1A1440"/>
                          </a:solidFill>
                          <a:latin typeface="Calibri"/>
                        </a:rPr>
                        <a:t>Yes: 3 of 3 pass the quarter-in-WHERE page, which hides T-4</a:t>
                      </a:r>
                    </a:p>
                  </a:txBody>
                  <a:tcPr marL="101600" marR="101600" marT="38100" marB="38100" anchor="ctr">
                    <a:solidFill>
                      <a:srgbClr val="FFFFFF"/>
                    </a:solidFill>
                  </a:tcPr>
                </a:tc>
              </a:tr>
              <a:tr h="310896">
                <a:tc>
                  <a:txBody>
                    <a:bodyPr/>
                    <a:lstStyle/>
                    <a:p>
                      <a:r>
                        <a:rPr sz="900" b="0" i="0">
                          <a:solidFill>
                            <a:srgbClr val="1A1440"/>
                          </a:solidFill>
                          <a:latin typeface="Calibri"/>
                        </a:rPr>
                        <a:t>Which checks tie to the tables?</a:t>
                      </a:r>
                    </a:p>
                  </a:txBody>
                  <a:tcPr marL="101600" marR="101600" marT="38100" marB="38100" anchor="ctr">
                    <a:solidFill>
                      <a:srgbClr val="F4F2FA"/>
                    </a:solidFill>
                  </a:tcPr>
                </a:tc>
                <a:tc>
                  <a:txBody>
                    <a:bodyPr/>
                    <a:lstStyle/>
                    <a:p>
                      <a:r>
                        <a:rPr sz="900" b="0" i="0">
                          <a:solidFill>
                            <a:srgbClr val="1A1440"/>
                          </a:solidFill>
                          <a:latin typeface="Calibri"/>
                        </a:rPr>
                        <a:t>Five checks recompute orders, booked, the gap and posted outside the page</a:t>
                      </a:r>
                    </a:p>
                  </a:txBody>
                  <a:tcPr marL="101600" marR="101600" marT="38100" marB="38100" anchor="ctr">
                    <a:solidFill>
                      <a:srgbClr val="F4F2FA"/>
                    </a:solidFill>
                  </a:tcPr>
                </a:tc>
              </a:tr>
              <a:tr h="310896">
                <a:tc>
                  <a:txBody>
                    <a:bodyPr/>
                    <a:lstStyle/>
                    <a:p>
                      <a:r>
                        <a:rPr sz="900" b="0" i="0">
                          <a:solidFill>
                            <a:srgbClr val="1A1440"/>
                          </a:solidFill>
                          <a:latin typeface="Calibri"/>
                        </a:rPr>
                        <a:t>Do the two suites stop all five?</a:t>
                      </a:r>
                    </a:p>
                  </a:txBody>
                  <a:tcPr marL="101600" marR="101600" marT="38100" marB="38100" anchor="ctr">
                    <a:solidFill>
                      <a:srgbClr val="FFFFFF"/>
                    </a:solidFill>
                  </a:tcPr>
                </a:tc>
                <a:tc>
                  <a:txBody>
                    <a:bodyPr/>
                    <a:lstStyle/>
                    <a:p>
                      <a:r>
                        <a:rPr sz="900" b="0" i="0">
                          <a:solidFill>
                            <a:srgbClr val="1A1440"/>
                          </a:solidFill>
                          <a:latin typeface="Calibri"/>
                        </a:rPr>
                        <a:t>Plausibility lets 2 of 5 through; the tie-back suite stops all 5</a:t>
                      </a:r>
                    </a:p>
                  </a:txBody>
                  <a:tcPr marL="101600" marR="101600" marT="38100" marB="38100" anchor="ctr">
                    <a:solidFill>
                      <a:srgbClr val="FFFFFF"/>
                    </a:solidFill>
                  </a:tcPr>
                </a:tc>
              </a:tr>
              <a:tr h="310896">
                <a:tc>
                  <a:txBody>
                    <a:bodyPr/>
                    <a:lstStyle/>
                    <a:p>
                      <a:r>
                        <a:rPr sz="900" b="0" i="0">
                          <a:solidFill>
                            <a:srgbClr val="1A1440"/>
                          </a:solidFill>
                          <a:latin typeface="Calibri"/>
                        </a:rPr>
                        <a:t>Does Kalpa's Q2 page pass?</a:t>
                      </a:r>
                    </a:p>
                  </a:txBody>
                  <a:tcPr marL="101600" marR="101600" marT="38100" marB="38100" anchor="ctr">
                    <a:solidFill>
                      <a:srgbClr val="F4F2FA"/>
                    </a:solidFill>
                  </a:tcPr>
                </a:tc>
                <a:tc>
                  <a:txBody>
                    <a:bodyPr/>
                    <a:lstStyle/>
                    <a:p>
                      <a:r>
                        <a:rPr sz="900" b="0" i="0">
                          <a:solidFill>
                            <a:srgbClr val="1A1440"/>
                          </a:solidFill>
                          <a:latin typeface="Calibri"/>
                        </a:rPr>
                        <a:t>Yes, 5 of 5: 462 against 462, Rs 9,84,00,000 against Rs 9,84,00,000</a:t>
                      </a:r>
                    </a:p>
                  </a:txBody>
                  <a:tcPr marL="101600" marR="101600" marT="38100" marB="38100" anchor="ctr">
                    <a:solidFill>
                      <a:srgbClr val="F4F2FA"/>
                    </a:solidFill>
                  </a:tcPr>
                </a:tc>
              </a:tr>
              <a:tr h="310896">
                <a:tc>
                  <a:txBody>
                    <a:bodyPr/>
                    <a:lstStyle/>
                    <a:p>
                      <a:r>
                        <a:rPr sz="900" b="0" i="0">
                          <a:solidFill>
                            <a:srgbClr val="1A1440"/>
                          </a:solidFill>
                          <a:latin typeface="Calibri"/>
                        </a:rPr>
                        <a:t>Does Python reach the same?</a:t>
                      </a:r>
                    </a:p>
                  </a:txBody>
                  <a:tcPr marL="101600" marR="101600" marT="38100" marB="38100" anchor="ctr">
                    <a:solidFill>
                      <a:srgbClr val="FFFFFF"/>
                    </a:solidFill>
                  </a:tcPr>
                </a:tc>
                <a:tc>
                  <a:txBody>
                    <a:bodyPr/>
                    <a:lstStyle/>
                    <a:p>
                      <a:r>
                        <a:rPr sz="900" b="0" i="0">
                          <a:solidFill>
                            <a:srgbClr val="1A1440"/>
                          </a:solidFill>
                          <a:latin typeface="Calibri"/>
                        </a:rPr>
                        <a:t>Yes: orders, booked, collected and the gap all match</a:t>
                      </a:r>
                    </a:p>
                  </a:txBody>
                  <a:tcPr marL="101600" marR="101600" marT="38100" marB="38100" anchor="ctr">
                    <a:solidFill>
                      <a:srgbClr val="FFFFFF"/>
                    </a:solidFill>
                  </a:tcPr>
                </a:tc>
              </a:tr>
              <a:tr h="310896">
                <a:tc>
                  <a:txBody>
                    <a:bodyPr/>
                    <a:lstStyle/>
                    <a:p>
                      <a:r>
                        <a:rPr sz="900" b="0" i="0">
                          <a:solidFill>
                            <a:srgbClr val="1A1440"/>
                          </a:solidFill>
                          <a:latin typeface="Calibri"/>
                        </a:rPr>
                        <a:t>What leaves when a check fails?</a:t>
                      </a:r>
                    </a:p>
                  </a:txBody>
                  <a:tcPr marL="101600" marR="101600" marT="38100" marB="38100" anchor="ctr">
                    <a:solidFill>
                      <a:srgbClr val="F4F2FA"/>
                    </a:solidFill>
                  </a:tcPr>
                </a:tc>
                <a:tc>
                  <a:txBody>
                    <a:bodyPr/>
                    <a:lstStyle/>
                    <a:p>
                      <a:r>
                        <a:rPr sz="900" b="0" i="0">
                          <a:solidFill>
                            <a:srgbClr val="1A1440"/>
                          </a:solidFill>
                          <a:latin typeface="Calibri"/>
                        </a:rPr>
                        <a:t>Booked leaves with the open line; collected is held; the owner hears that day</a:t>
                      </a:r>
                    </a:p>
                  </a:txBody>
                  <a:tcPr marL="101600" marR="101600" marT="38100" marB="38100" anchor="ctr">
                    <a:solidFill>
                      <a:srgbClr val="F4F2FA"/>
                    </a:solidFill>
                  </a:tcPr>
                </a:tc>
              </a:tr>
            </a:tbl>
          </a:graphicData>
        </a:graphic>
      </p:graphicFrame>
      <p:sp>
        <p:nvSpPr>
          <p:cNvPr id="10" name="Rounded Rectangle 9"/>
          <p:cNvSpPr/>
          <p:nvPr/>
        </p:nvSpPr>
        <p:spPr>
          <a:xfrm>
            <a:off x="530352" y="4114800"/>
            <a:ext cx="11130991" cy="9489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6067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470400"/>
            <a:ext cx="237744" cy="237744"/>
          </a:xfrm>
          <a:prstGeom prst="rect">
            <a:avLst/>
          </a:prstGeom>
        </p:spPr>
      </p:pic>
      <p:sp>
        <p:nvSpPr>
          <p:cNvPr id="13" name="TextBox 12"/>
          <p:cNvSpPr txBox="1"/>
          <p:nvPr/>
        </p:nvSpPr>
        <p:spPr>
          <a:xfrm>
            <a:off x="1399031" y="4261104"/>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480560"/>
            <a:ext cx="9987991" cy="510032"/>
          </a:xfrm>
          <a:prstGeom prst="rect">
            <a:avLst/>
          </a:prstGeom>
          <a:noFill/>
        </p:spPr>
        <p:txBody>
          <a:bodyPr wrap="square" anchor="t" lIns="0" rIns="0" tIns="0" bIns="0">
            <a:spAutoFit/>
          </a:bodyPr>
          <a:lstStyle/>
          <a:p>
            <a:r>
              <a:rPr sz="1000" b="0" i="0">
                <a:solidFill>
                  <a:srgbClr val="1A1440"/>
                </a:solidFill>
                <a:latin typeface="Calibri"/>
              </a:rPr>
              <a:t>"A check that cannot fail is decoration. For every check, tell me which wrong report it would have stopped, and do not send me a PASS you have never seen fail."</a:t>
            </a:r>
          </a:p>
        </p:txBody>
      </p:sp>
      <p:sp>
        <p:nvSpPr>
          <p:cNvPr id="15" name="Rounded Rectangle 14"/>
          <p:cNvSpPr/>
          <p:nvPr/>
        </p:nvSpPr>
        <p:spPr>
          <a:xfrm>
            <a:off x="530352" y="5228336"/>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112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20944"/>
            <a:ext cx="237744" cy="237744"/>
          </a:xfrm>
          <a:prstGeom prst="rect">
            <a:avLst/>
          </a:prstGeom>
        </p:spPr>
      </p:pic>
      <p:sp>
        <p:nvSpPr>
          <p:cNvPr id="18" name="TextBox 17"/>
          <p:cNvSpPr txBox="1"/>
          <p:nvPr/>
        </p:nvSpPr>
        <p:spPr>
          <a:xfrm>
            <a:off x="1399031" y="537464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594096"/>
            <a:ext cx="9987991" cy="384048"/>
          </a:xfrm>
          <a:prstGeom prst="rect">
            <a:avLst/>
          </a:prstGeom>
          <a:noFill/>
        </p:spPr>
        <p:txBody>
          <a:bodyPr wrap="square" anchor="t" lIns="0" rIns="0" tIns="0" bIns="0">
            <a:spAutoFit/>
          </a:bodyPr>
          <a:lstStyle/>
          <a:p>
            <a:r>
              <a:rPr sz="1000" b="0" i="0">
                <a:solidFill>
                  <a:srgbClr val="1A1440"/>
                </a:solidFill>
                <a:latin typeface="Calibri"/>
              </a:rPr>
              <a:t>[D] Design the validation a joined number passes before Finance, and what you do when it fails late. And [S] which one check would you keep?</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the number leave?</a:t>
            </a:r>
          </a:p>
        </p:txBody>
      </p:sp>
      <p:sp>
        <p:nvSpPr>
          <p:cNvPr id="22" name="Oval 21"/>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24" name="Oval 2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26" name="Oval 25"/>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21 / 34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07</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orders make the gap?</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Q2 orders and channels make the gap, and how do you prove the collected figure counts no payment twice, working alone from the warehouse?</a:t>
            </a:r>
          </a:p>
        </p:txBody>
      </p:sp>
      <p:sp>
        <p:nvSpPr>
          <p:cNvPr id="10" name="Rounded Rectangle 9"/>
          <p:cNvSpPr/>
          <p:nvPr/>
        </p:nvSpPr>
        <p:spPr>
          <a:xfrm>
            <a:off x="73151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the number leave?</a:t>
            </a:r>
          </a:p>
        </p:txBody>
      </p:sp>
      <p:sp>
        <p:nvSpPr>
          <p:cNvPr id="11" name="Rounded Rectangle 10"/>
          <p:cNvSpPr/>
          <p:nvPr/>
        </p:nvSpPr>
        <p:spPr>
          <a:xfrm>
            <a:off x="2450543" y="5074920"/>
            <a:ext cx="190537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orders make the gap?</a:t>
            </a:r>
          </a:p>
        </p:txBody>
      </p:sp>
      <p:sp>
        <p:nvSpPr>
          <p:cNvPr id="12" name="Rounded Rectangle 11"/>
          <p:cNvSpPr/>
          <p:nvPr/>
        </p:nvSpPr>
        <p:spPr>
          <a:xfrm>
            <a:off x="4465646"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the lab and tonight carry?</a:t>
            </a:r>
          </a:p>
        </p:txBody>
      </p:sp>
      <p:sp>
        <p:nvSpPr>
          <p:cNvPr id="13" name="Rounded Rectangle 12"/>
          <p:cNvSpPr/>
          <p:nvPr/>
        </p:nvSpPr>
        <p:spPr>
          <a:xfrm>
            <a:off x="6724214"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leaves the room today?</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2. Can the collected number leave the team?</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22 / 34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in five parts, two of them now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escalated case ask, and which parts run before the tentative faculty block?</a:t>
            </a:r>
          </a:p>
        </p:txBody>
      </p:sp>
      <p:sp>
        <p:nvSpPr>
          <p:cNvPr id="9" name="Rectangle 8"/>
          <p:cNvSpPr/>
          <p:nvPr/>
        </p:nvSpPr>
        <p:spPr>
          <a:xfrm>
            <a:off x="1570299" y="2523744"/>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1</a:t>
            </a:r>
          </a:p>
        </p:txBody>
      </p:sp>
      <p:sp>
        <p:nvSpPr>
          <p:cNvPr id="11" name="Oval 10"/>
          <p:cNvSpPr/>
          <p:nvPr/>
        </p:nvSpPr>
        <p:spPr>
          <a:xfrm>
            <a:off x="146971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Booked by channel</a:t>
            </a:r>
          </a:p>
        </p:txBody>
      </p:sp>
      <p:sp>
        <p:nvSpPr>
          <p:cNvPr id="14" name="TextBox 13"/>
          <p:cNvSpPr txBox="1"/>
          <p:nvPr/>
        </p:nvSpPr>
        <p:spPr>
          <a:xfrm>
            <a:off x="694944"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From the orders table alone, the baseline every later figure reconciles to.</a:t>
            </a:r>
          </a:p>
        </p:txBody>
      </p:sp>
      <p:sp>
        <p:nvSpPr>
          <p:cNvPr id="15" name="TextBox 14"/>
          <p:cNvSpPr txBox="1"/>
          <p:nvPr/>
        </p:nvSpPr>
        <p:spPr>
          <a:xfrm>
            <a:off x="2793126"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2</a:t>
            </a:r>
          </a:p>
        </p:txBody>
      </p:sp>
      <p:sp>
        <p:nvSpPr>
          <p:cNvPr id="16" name="Oval 15"/>
          <p:cNvSpPr/>
          <p:nvPr/>
        </p:nvSpPr>
        <p:spPr>
          <a:xfrm>
            <a:off x="373248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793126"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957718"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Collected, counted</a:t>
            </a:r>
          </a:p>
        </p:txBody>
      </p:sp>
      <p:sp>
        <p:nvSpPr>
          <p:cNvPr id="19" name="TextBox 18"/>
          <p:cNvSpPr txBox="1"/>
          <p:nvPr/>
        </p:nvSpPr>
        <p:spPr>
          <a:xfrm>
            <a:off x="2957718"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At order grain, with the reconciliation written before the query runs.</a:t>
            </a:r>
          </a:p>
        </p:txBody>
      </p:sp>
      <p:sp>
        <p:nvSpPr>
          <p:cNvPr id="20" name="TextBox 19"/>
          <p:cNvSpPr txBox="1"/>
          <p:nvPr/>
        </p:nvSpPr>
        <p:spPr>
          <a:xfrm>
            <a:off x="5055900"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3</a:t>
            </a:r>
          </a:p>
        </p:txBody>
      </p:sp>
      <p:sp>
        <p:nvSpPr>
          <p:cNvPr id="21" name="Oval 20"/>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055900"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220492"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The unpaid list</a:t>
            </a:r>
          </a:p>
        </p:txBody>
      </p:sp>
      <p:sp>
        <p:nvSpPr>
          <p:cNvPr id="24" name="TextBox 23"/>
          <p:cNvSpPr txBox="1"/>
          <p:nvPr/>
        </p:nvSpPr>
        <p:spPr>
          <a:xfrm>
            <a:off x="5220492"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Every Q2 order with no payment, its total against the gap.</a:t>
            </a:r>
          </a:p>
        </p:txBody>
      </p:sp>
      <p:sp>
        <p:nvSpPr>
          <p:cNvPr id="25" name="TextBox 24"/>
          <p:cNvSpPr txBox="1"/>
          <p:nvPr/>
        </p:nvSpPr>
        <p:spPr>
          <a:xfrm>
            <a:off x="7318674"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4</a:t>
            </a:r>
          </a:p>
        </p:txBody>
      </p:sp>
      <p:sp>
        <p:nvSpPr>
          <p:cNvPr id="26" name="Oval 25"/>
          <p:cNvSpPr/>
          <p:nvPr/>
        </p:nvSpPr>
        <p:spPr>
          <a:xfrm>
            <a:off x="825803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318674"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83266"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The double-paid list</a:t>
            </a:r>
          </a:p>
        </p:txBody>
      </p:sp>
      <p:sp>
        <p:nvSpPr>
          <p:cNvPr id="29" name="TextBox 28"/>
          <p:cNvSpPr txBox="1"/>
          <p:nvPr/>
        </p:nvSpPr>
        <p:spPr>
          <a:xfrm>
            <a:off x="7483266"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Retries only, its surplus against posted less collected.</a:t>
            </a:r>
          </a:p>
        </p:txBody>
      </p:sp>
      <p:sp>
        <p:nvSpPr>
          <p:cNvPr id="30" name="TextBox 29"/>
          <p:cNvSpPr txBox="1"/>
          <p:nvPr/>
        </p:nvSpPr>
        <p:spPr>
          <a:xfrm>
            <a:off x="9581448"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5</a:t>
            </a:r>
          </a:p>
        </p:txBody>
      </p:sp>
      <p:sp>
        <p:nvSpPr>
          <p:cNvPr id="31" name="Oval 30"/>
          <p:cNvSpPr/>
          <p:nvPr/>
        </p:nvSpPr>
        <p:spPr>
          <a:xfrm>
            <a:off x="10520812"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9581448" y="2843784"/>
            <a:ext cx="2079894"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746040" y="2990088"/>
            <a:ext cx="1750710" cy="465836"/>
          </a:xfrm>
          <a:prstGeom prst="rect">
            <a:avLst/>
          </a:prstGeom>
          <a:noFill/>
        </p:spPr>
        <p:txBody>
          <a:bodyPr wrap="square" anchor="t" lIns="0" rIns="0" tIns="0" bIns="0">
            <a:spAutoFit/>
          </a:bodyPr>
          <a:lstStyle/>
          <a:p>
            <a:pPr algn="l"/>
            <a:r>
              <a:rPr sz="1300" b="1" i="0">
                <a:solidFill>
                  <a:srgbClr val="FFFFFF"/>
                </a:solidFill>
                <a:latin typeface="Calibri"/>
              </a:rPr>
              <a:t>The page and its proof</a:t>
            </a:r>
          </a:p>
        </p:txBody>
      </p:sp>
      <p:sp>
        <p:nvSpPr>
          <p:cNvPr id="34" name="TextBox 33"/>
          <p:cNvSpPr txBox="1"/>
          <p:nvPr/>
        </p:nvSpPr>
        <p:spPr>
          <a:xfrm>
            <a:off x="9746040" y="3492500"/>
            <a:ext cx="1750710" cy="531876"/>
          </a:xfrm>
          <a:prstGeom prst="rect">
            <a:avLst/>
          </a:prstGeom>
          <a:noFill/>
        </p:spPr>
        <p:txBody>
          <a:bodyPr wrap="square" anchor="t" lIns="0" rIns="0" tIns="0" bIns="0">
            <a:spAutoFit/>
          </a:bodyPr>
          <a:lstStyle/>
          <a:p>
            <a:pPr algn="l"/>
            <a:r>
              <a:rPr sz="1000" b="0" i="0">
                <a:solidFill>
                  <a:srgbClr val="CFC9EE"/>
                </a:solidFill>
                <a:latin typeface="Calibri"/>
              </a:rPr>
              <a:t>One line per channel, the check that proves it, and the sentence to Anand.</a:t>
            </a:r>
          </a:p>
        </p:txBody>
      </p:sp>
      <p:sp>
        <p:nvSpPr>
          <p:cNvPr id="35" name="Rounded Rectangle 34"/>
          <p:cNvSpPr/>
          <p:nvPr/>
        </p:nvSpPr>
        <p:spPr>
          <a:xfrm>
            <a:off x="530352" y="4276344"/>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676656" y="440436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77824" y="4395216"/>
            <a:ext cx="10564063" cy="624840"/>
          </a:xfrm>
          <a:prstGeom prst="rect">
            <a:avLst/>
          </a:prstGeom>
          <a:noFill/>
        </p:spPr>
        <p:txBody>
          <a:bodyPr wrap="square" anchor="ctr" lIns="0" rIns="0" tIns="0" bIns="0">
            <a:spAutoFit/>
          </a:bodyPr>
          <a:lstStyle/>
          <a:p>
            <a:r>
              <a:rPr sz="1500" b="1">
                <a:solidFill>
                  <a:srgbClr val="5B3FD6"/>
                </a:solidFill>
                <a:latin typeface="Calibri"/>
              </a:rPr>
              <a:t>Now, alone, 20 minutes. </a:t>
            </a:r>
            <a:r>
              <a:rPr sz="1500" b="0" i="0">
                <a:solidFill>
                  <a:srgbClr val="1A1440"/>
                </a:solidFill>
                <a:latin typeface="Calibri"/>
              </a:rPr>
              <a:t>Parts 1 and 2 in the case notebook: pick each lettered option, run the check under it, and write the reconciliation lines. Parts 3 to 5 run in the practice lab.</a:t>
            </a:r>
          </a:p>
        </p:txBody>
      </p:sp>
      <p:sp>
        <p:nvSpPr>
          <p:cNvPr id="38" name="Oval 3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the number leave?</a:t>
            </a:r>
          </a:p>
        </p:txBody>
      </p:sp>
      <p:sp>
        <p:nvSpPr>
          <p:cNvPr id="40" name="Oval 39"/>
          <p:cNvSpPr/>
          <p:nvPr/>
        </p:nvSpPr>
        <p:spPr>
          <a:xfrm>
            <a:off x="197196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081688"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orders make the gap?</a:t>
            </a:r>
          </a:p>
        </p:txBody>
      </p:sp>
      <p:sp>
        <p:nvSpPr>
          <p:cNvPr id="42" name="Oval 41"/>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44" name="Oval 43"/>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23 / 34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Harder: Kalpa's data, your own picks and page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is the escalated case harder than the six chapters?</a:t>
            </a:r>
          </a:p>
        </p:txBody>
      </p:sp>
      <p:sp>
        <p:nvSpPr>
          <p:cNvPr id="9" name="Rounded Rectangle 8"/>
          <p:cNvSpPr/>
          <p:nvPr/>
        </p:nvSpPr>
        <p:spPr>
          <a:xfrm>
            <a:off x="53035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database_0f9c2895db54.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NO INVENTED TABLE</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Kalpa's warehouse only</a:t>
            </a:r>
          </a:p>
        </p:txBody>
      </p:sp>
      <p:sp>
        <p:nvSpPr>
          <p:cNvPr id="14" name="TextBox 13"/>
          <p:cNvSpPr txBox="1"/>
          <p:nvPr/>
        </p:nvSpPr>
        <p:spPr>
          <a:xfrm>
            <a:off x="731519"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Every list is built on the real Q2 orders and payments, with nothing traced first on five rows.</a:t>
            </a:r>
          </a:p>
        </p:txBody>
      </p:sp>
      <p:sp>
        <p:nvSpPr>
          <p:cNvPr id="15" name="Rounded Rectangle 14"/>
          <p:cNvSpPr/>
          <p:nvPr/>
        </p:nvSpPr>
        <p:spPr>
          <a:xfrm>
            <a:off x="430164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checks_8726d21bc746.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YOUR OWN PICKS</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Eight lettered choices</a:t>
            </a:r>
          </a:p>
        </p:txBody>
      </p:sp>
      <p:sp>
        <p:nvSpPr>
          <p:cNvPr id="20" name="TextBox 19"/>
          <p:cNvSpPr txBox="1"/>
          <p:nvPr/>
        </p:nvSpPr>
        <p:spPr>
          <a:xfrm>
            <a:off x="450281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The grain, the join, the anti-join condition, the retry grain, its surplus, the gap expression and the proving check.</a:t>
            </a:r>
          </a:p>
        </p:txBody>
      </p:sp>
      <p:sp>
        <p:nvSpPr>
          <p:cNvPr id="21" name="Rounded Rectangle 20"/>
          <p:cNvSpPr/>
          <p:nvPr/>
        </p:nvSpPr>
        <p:spPr>
          <a:xfrm>
            <a:off x="8072932" y="1956816"/>
            <a:ext cx="3588410"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pen-line_fbe9fe928d7c.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YOUR OWN PAGE</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The sentence to Anand</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Written from the figures you found, with the check that lets it leave.</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the number leave?</a:t>
            </a:r>
          </a:p>
        </p:txBody>
      </p:sp>
      <p:sp>
        <p:nvSpPr>
          <p:cNvPr id="29" name="Oval 28"/>
          <p:cNvSpPr/>
          <p:nvPr/>
        </p:nvSpPr>
        <p:spPr>
          <a:xfrm>
            <a:off x="197196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081688"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Which orders make the gap?</a:t>
            </a:r>
          </a:p>
        </p:txBody>
      </p:sp>
      <p:sp>
        <p:nvSpPr>
          <p:cNvPr id="31" name="Oval 30"/>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33" name="Oval 32"/>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24 / 34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08</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 the lab and tonight carry?</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parts of the day move to the TA-led practice lab and the take-home, since the tentative faculty block takes the last 120 minutes?</a:t>
            </a:r>
          </a:p>
        </p:txBody>
      </p:sp>
      <p:sp>
        <p:nvSpPr>
          <p:cNvPr id="10" name="Rounded Rectangle 9"/>
          <p:cNvSpPr/>
          <p:nvPr/>
        </p:nvSpPr>
        <p:spPr>
          <a:xfrm>
            <a:off x="73151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the number leave?</a:t>
            </a:r>
          </a:p>
        </p:txBody>
      </p:sp>
      <p:sp>
        <p:nvSpPr>
          <p:cNvPr id="11" name="Rounded Rectangle 10"/>
          <p:cNvSpPr/>
          <p:nvPr/>
        </p:nvSpPr>
        <p:spPr>
          <a:xfrm>
            <a:off x="2450543"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orders make the gap?</a:t>
            </a:r>
          </a:p>
        </p:txBody>
      </p:sp>
      <p:sp>
        <p:nvSpPr>
          <p:cNvPr id="12" name="Rounded Rectangle 11"/>
          <p:cNvSpPr/>
          <p:nvPr/>
        </p:nvSpPr>
        <p:spPr>
          <a:xfrm>
            <a:off x="4465646" y="5074920"/>
            <a:ext cx="2148840"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 the lab and tonight carry?</a:t>
            </a:r>
          </a:p>
        </p:txBody>
      </p:sp>
      <p:sp>
        <p:nvSpPr>
          <p:cNvPr id="13" name="Rounded Rectangle 12"/>
          <p:cNvSpPr/>
          <p:nvPr/>
        </p:nvSpPr>
        <p:spPr>
          <a:xfrm>
            <a:off x="6724214"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leaves the room today?</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2. Can the collected number leave the team?</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25 / 34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Answer: parts 3 to 5, the second case, the drill</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moves from the afternoon to the lab and the take-home, and in what order?</a:t>
            </a:r>
          </a:p>
        </p:txBody>
      </p:sp>
      <p:sp>
        <p:nvSpPr>
          <p:cNvPr id="10" name="Rectangle 9"/>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LAB, FIRST</a:t>
            </a:r>
          </a:p>
        </p:txBody>
      </p:sp>
      <p:sp>
        <p:nvSpPr>
          <p:cNvPr id="12" name="Oval 11"/>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30352" y="2843784"/>
            <a:ext cx="26455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94944" y="2990088"/>
            <a:ext cx="2316403" cy="465836"/>
          </a:xfrm>
          <a:prstGeom prst="rect">
            <a:avLst/>
          </a:prstGeom>
          <a:noFill/>
        </p:spPr>
        <p:txBody>
          <a:bodyPr wrap="square" anchor="t" lIns="0" rIns="0" tIns="0" bIns="0">
            <a:spAutoFit/>
          </a:bodyPr>
          <a:lstStyle/>
          <a:p>
            <a:pPr algn="l"/>
            <a:r>
              <a:rPr sz="1300" b="1" i="0">
                <a:solidFill>
                  <a:srgbClr val="1A0F5C"/>
                </a:solidFill>
                <a:latin typeface="Calibri"/>
              </a:rPr>
              <a:t>The escalated case, parts 3 to 5</a:t>
            </a:r>
          </a:p>
        </p:txBody>
      </p:sp>
      <p:sp>
        <p:nvSpPr>
          <p:cNvPr id="15" name="TextBox 14"/>
          <p:cNvSpPr txBox="1"/>
          <p:nvPr/>
        </p:nvSpPr>
        <p:spPr>
          <a:xfrm>
            <a:off x="694944" y="3492500"/>
            <a:ext cx="2316403" cy="696976"/>
          </a:xfrm>
          <a:prstGeom prst="rect">
            <a:avLst/>
          </a:prstGeom>
          <a:noFill/>
        </p:spPr>
        <p:txBody>
          <a:bodyPr wrap="square" anchor="t" lIns="0" rIns="0" tIns="0" bIns="0">
            <a:spAutoFit/>
          </a:bodyPr>
          <a:lstStyle/>
          <a:p>
            <a:pPr algn="l"/>
            <a:r>
              <a:rPr sz="1000" b="0" i="0">
                <a:solidFill>
                  <a:srgbClr val="6B6690"/>
                </a:solidFill>
                <a:latin typeface="Calibri"/>
              </a:rPr>
              <a:t>The unpaid list, the double-paid list and the page with its proof, alone, then the debrief of wrong picks.</a:t>
            </a:r>
          </a:p>
        </p:txBody>
      </p:sp>
      <p:sp>
        <p:nvSpPr>
          <p:cNvPr id="16" name="TextBox 15"/>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LAB, THEN</a:t>
            </a:r>
          </a:p>
        </p:txBody>
      </p:sp>
      <p:sp>
        <p:nvSpPr>
          <p:cNvPr id="17" name="Oval 16"/>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3358819" y="2843784"/>
            <a:ext cx="26455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The second case, in pairs</a:t>
            </a:r>
          </a:p>
        </p:txBody>
      </p:sp>
      <p:sp>
        <p:nvSpPr>
          <p:cNvPr id="20" name="TextBox 19"/>
          <p:cNvSpPr txBox="1"/>
          <p:nvPr/>
        </p:nvSpPr>
        <p:spPr>
          <a:xfrm>
            <a:off x="3523411"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The platform lead's audit of the payments feed, in four parts.</a:t>
            </a:r>
          </a:p>
        </p:txBody>
      </p:sp>
      <p:sp>
        <p:nvSpPr>
          <p:cNvPr id="21" name="TextBox 20"/>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LAB, LAST</a:t>
            </a:r>
          </a:p>
        </p:txBody>
      </p:sp>
      <p:sp>
        <p:nvSpPr>
          <p:cNvPr id="22" name="Oval 21"/>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187287" y="2843784"/>
            <a:ext cx="26455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The interview drill</a:t>
            </a:r>
          </a:p>
        </p:txBody>
      </p:sp>
      <p:sp>
        <p:nvSpPr>
          <p:cNvPr id="25" name="TextBox 24"/>
          <p:cNvSpPr txBox="1"/>
          <p:nvPr/>
        </p:nvSpPr>
        <p:spPr>
          <a:xfrm>
            <a:off x="6351879"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The day's questions aloud in pairs, sixty seconds each, the design question among them.</a:t>
            </a:r>
          </a:p>
        </p:txBody>
      </p:sp>
      <p:sp>
        <p:nvSpPr>
          <p:cNvPr id="26" name="TextBox 25"/>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TONIGHT</a:t>
            </a:r>
          </a:p>
        </p:txBody>
      </p:sp>
      <p:sp>
        <p:nvSpPr>
          <p:cNvPr id="27" name="Oval 26"/>
          <p:cNvSpPr/>
          <p:nvPr/>
        </p:nvSpPr>
        <p:spPr>
          <a:xfrm>
            <a:off x="10237965"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9015755" y="2843784"/>
            <a:ext cx="2645587" cy="142240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FFFFFF"/>
                </a:solidFill>
                <a:latin typeface="Calibri"/>
              </a:rPr>
              <a:t>The take-home</a:t>
            </a:r>
          </a:p>
        </p:txBody>
      </p:sp>
      <p:sp>
        <p:nvSpPr>
          <p:cNvPr id="30" name="TextBox 29"/>
          <p:cNvSpPr txBox="1"/>
          <p:nvPr/>
        </p:nvSpPr>
        <p:spPr>
          <a:xfrm>
            <a:off x="9180347" y="3277870"/>
            <a:ext cx="2316403" cy="531876"/>
          </a:xfrm>
          <a:prstGeom prst="rect">
            <a:avLst/>
          </a:prstGeom>
          <a:noFill/>
        </p:spPr>
        <p:txBody>
          <a:bodyPr wrap="square" anchor="t" lIns="0" rIns="0" tIns="0" bIns="0">
            <a:spAutoFit/>
          </a:bodyPr>
          <a:lstStyle/>
          <a:p>
            <a:pPr algn="l"/>
            <a:r>
              <a:rPr sz="1000" b="0" i="0">
                <a:solidFill>
                  <a:srgbClr val="CFC9EE"/>
                </a:solidFill>
                <a:latin typeface="Calibri"/>
              </a:rPr>
              <a:t>A second book in its own schema, collected net of refunds by channel, and a join question of your own.</a:t>
            </a:r>
          </a:p>
        </p:txBody>
      </p:sp>
      <p:sp>
        <p:nvSpPr>
          <p:cNvPr id="31" name="Oval 3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the number leave?</a:t>
            </a:r>
          </a:p>
        </p:txBody>
      </p:sp>
      <p:sp>
        <p:nvSpPr>
          <p:cNvPr id="33" name="Oval 3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35" name="Oval 34"/>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753326" y="6437376"/>
            <a:ext cx="1838515" cy="152146"/>
          </a:xfrm>
          <a:prstGeom prst="rect">
            <a:avLst/>
          </a:prstGeom>
          <a:noFill/>
        </p:spPr>
        <p:txBody>
          <a:bodyPr wrap="square" anchor="t" lIns="0" rIns="0" tIns="0" bIns="0">
            <a:spAutoFit/>
          </a:bodyPr>
          <a:lstStyle/>
          <a:p>
            <a:pPr algn="l"/>
            <a:r>
              <a:rPr sz="700" b="1" i="0">
                <a:solidFill>
                  <a:srgbClr val="5B3FD6"/>
                </a:solidFill>
                <a:latin typeface="Calibri"/>
              </a:rPr>
              <a:t>What do the lab and tonight carry?</a:t>
            </a:r>
          </a:p>
        </p:txBody>
      </p:sp>
      <p:sp>
        <p:nvSpPr>
          <p:cNvPr id="37" name="Oval 36"/>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  ·  26 / 34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second case: the platform lead's audit</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payment rows in the feed should not be there, and what should the platform lead fix first?</a:t>
            </a:r>
          </a:p>
        </p:txBody>
      </p:sp>
      <p:pic>
        <p:nvPicPr>
          <p:cNvPr id="10" name="mermaid diagram" descr="8a735fc47f5122e5.png"/>
          <p:cNvPicPr>
            <a:picLocks noChangeAspect="1"/>
          </p:cNvPicPr>
          <p:nvPr/>
        </p:nvPicPr>
        <p:blipFill>
          <a:blip r:embed="rId6"/>
          <a:stretch>
            <a:fillRect/>
          </a:stretch>
        </p:blipFill>
        <p:spPr>
          <a:xfrm>
            <a:off x="1380972" y="1911667"/>
            <a:ext cx="9429750" cy="1800225"/>
          </a:xfrm>
          <a:prstGeom prst="rect">
            <a:avLst/>
          </a:prstGeom>
        </p:spPr>
      </p:pic>
      <p:sp>
        <p:nvSpPr>
          <p:cNvPr id="11" name="Rounded Rectangle 10"/>
          <p:cNvSpPr/>
          <p:nvPr/>
        </p:nvSpPr>
        <p:spPr>
          <a:xfrm>
            <a:off x="530352" y="4005072"/>
            <a:ext cx="11130991" cy="138074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58952" y="446684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message-square_028dbd132a0a.png"/>
          <p:cNvPicPr>
            <a:picLocks noChangeAspect="1"/>
          </p:cNvPicPr>
          <p:nvPr/>
        </p:nvPicPr>
        <p:blipFill>
          <a:blip r:embed="rId4"/>
          <a:stretch>
            <a:fillRect/>
          </a:stretch>
        </p:blipFill>
        <p:spPr>
          <a:xfrm>
            <a:off x="868680" y="4576572"/>
            <a:ext cx="237744" cy="237744"/>
          </a:xfrm>
          <a:prstGeom prst="rect">
            <a:avLst/>
          </a:prstGeom>
        </p:spPr>
      </p:pic>
      <p:sp>
        <p:nvSpPr>
          <p:cNvPr id="14" name="TextBox 13"/>
          <p:cNvSpPr txBox="1"/>
          <p:nvPr/>
        </p:nvSpPr>
        <p:spPr>
          <a:xfrm>
            <a:off x="1399031" y="4151376"/>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5" name="TextBox 14"/>
          <p:cNvSpPr txBox="1"/>
          <p:nvPr/>
        </p:nvSpPr>
        <p:spPr>
          <a:xfrm>
            <a:off x="1399031" y="4370832"/>
            <a:ext cx="9987991" cy="941832"/>
          </a:xfrm>
          <a:prstGeom prst="rect">
            <a:avLst/>
          </a:prstGeom>
          <a:noFill/>
        </p:spPr>
        <p:txBody>
          <a:bodyPr wrap="square" anchor="t" lIns="0" rIns="0" tIns="0" bIns="0">
            <a:spAutoFit/>
          </a:bodyPr>
          <a:lstStyle/>
          <a:p>
            <a:r>
              <a:rPr sz="1500" b="0" i="0">
                <a:solidFill>
                  <a:srgbClr val="FFFFFF"/>
                </a:solidFill>
                <a:latin typeface="Calibri"/>
              </a:rPr>
              <a:t>"Before I repair the payments feed, tell me which rows in it should not be there: payments with no order behind them, and payments the gateway posted twice, with the dates, the methods and the rupees at stake, and tell me what to fix first." The data platform lead, Kalpa Retail</a:t>
            </a:r>
          </a:p>
        </p:txBody>
      </p:sp>
      <p:sp>
        <p:nvSpPr>
          <p:cNvPr id="16" name="TextBox 15"/>
          <p:cNvSpPr txBox="1"/>
          <p:nvPr/>
        </p:nvSpPr>
        <p:spPr>
          <a:xfrm>
            <a:off x="530352" y="5550408"/>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In pairs in the lab, four parts: is every payment row in the feed accounted for; which payments match no order; which instalments did the feed post more than once; and is there a pattern the gateway team can act on. The notebook is notebooks/C2_W02_D02_ex2_second_case_STUDENT.ipynb.</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the number leave?</a:t>
            </a:r>
          </a:p>
        </p:txBody>
      </p:sp>
      <p:sp>
        <p:nvSpPr>
          <p:cNvPr id="19" name="Oval 18"/>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21" name="Oval 20"/>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753326" y="6437376"/>
            <a:ext cx="1838515" cy="152146"/>
          </a:xfrm>
          <a:prstGeom prst="rect">
            <a:avLst/>
          </a:prstGeom>
          <a:noFill/>
        </p:spPr>
        <p:txBody>
          <a:bodyPr wrap="square" anchor="t" lIns="0" rIns="0" tIns="0" bIns="0">
            <a:spAutoFit/>
          </a:bodyPr>
          <a:lstStyle/>
          <a:p>
            <a:pPr algn="l"/>
            <a:r>
              <a:rPr sz="700" b="1" i="0">
                <a:solidFill>
                  <a:srgbClr val="5B3FD6"/>
                </a:solidFill>
                <a:latin typeface="Calibri"/>
              </a:rPr>
              <a:t>What do the lab and tonight carry?</a:t>
            </a:r>
          </a:p>
        </p:txBody>
      </p:sp>
      <p:sp>
        <p:nvSpPr>
          <p:cNvPr id="23" name="Oval 22"/>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  ·  27 / 34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interview drill: six questions, aloud in pairs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interview questions does this day equip, and how is each tagged?</a:t>
            </a:r>
          </a:p>
        </p:txBody>
      </p:sp>
      <p:graphicFrame>
        <p:nvGraphicFramePr>
          <p:cNvPr id="10" name="Table 9"/>
          <p:cNvGraphicFramePr>
            <a:graphicFrameLocks noGrp="1"/>
          </p:cNvGraphicFramePr>
          <p:nvPr/>
        </p:nvGraphicFramePr>
        <p:xfrm>
          <a:off x="530352" y="1956816"/>
          <a:ext cx="11130991" cy="2830576"/>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The question</a:t>
                      </a:r>
                    </a:p>
                  </a:txBody>
                  <a:tcPr marL="101600" marR="101600" marT="38100" marB="38100" anchor="ctr">
                    <a:solidFill>
                      <a:srgbClr val="1A0F5C"/>
                    </a:solidFill>
                  </a:tcPr>
                </a:tc>
              </a:tr>
              <a:tr h="369824">
                <a:tc>
                  <a:txBody>
                    <a:bodyPr/>
                    <a:lstStyle/>
                    <a:p>
                      <a:r>
                        <a:rPr sz="1400" b="0" i="0">
                          <a:solidFill>
                            <a:srgbClr val="1A1440"/>
                          </a:solidFill>
                          <a:latin typeface="Calibri"/>
                        </a:rPr>
                        <a:t>[S]</a:t>
                      </a:r>
                    </a:p>
                  </a:txBody>
                  <a:tcPr marL="101600" marR="101600" marT="38100" marB="38100" anchor="ctr">
                    <a:solidFill>
                      <a:srgbClr val="FFFFFF"/>
                    </a:solidFill>
                  </a:tcPr>
                </a:tc>
                <a:tc>
                  <a:txBody>
                    <a:bodyPr/>
                    <a:lstStyle/>
                    <a:p>
                      <a:r>
                        <a:rPr sz="1400" b="0" i="0">
                          <a:solidFill>
                            <a:srgbClr val="1A1440"/>
                          </a:solidFill>
                          <a:latin typeface="Calibri"/>
                        </a:rPr>
                        <a:t>INNER against LEFT join: what does each drop or keep?</a:t>
                      </a:r>
                    </a:p>
                  </a:txBody>
                  <a:tcPr marL="101600" marR="101600" marT="38100" marB="38100" anchor="ctr">
                    <a:solidFill>
                      <a:srgbClr val="FFFFFF"/>
                    </a:solidFill>
                  </a:tcPr>
                </a:tc>
              </a:tr>
              <a:tr h="369824">
                <a:tc>
                  <a:txBody>
                    <a:bodyPr/>
                    <a:lstStyle/>
                    <a:p>
                      <a:r>
                        <a:rPr sz="1400" b="0" i="0">
                          <a:solidFill>
                            <a:srgbClr val="1A1440"/>
                          </a:solidFill>
                          <a:latin typeface="Calibri"/>
                        </a:rPr>
                        <a:t>[S]</a:t>
                      </a:r>
                    </a:p>
                  </a:txBody>
                  <a:tcPr marL="101600" marR="101600" marT="38100" marB="38100" anchor="ctr">
                    <a:solidFill>
                      <a:srgbClr val="F4F2FA"/>
                    </a:solidFill>
                  </a:tcPr>
                </a:tc>
                <a:tc>
                  <a:txBody>
                    <a:bodyPr/>
                    <a:lstStyle/>
                    <a:p>
                      <a:r>
                        <a:rPr sz="1400" b="0" i="0">
                          <a:solidFill>
                            <a:srgbClr val="1A1440"/>
                          </a:solidFill>
                          <a:latin typeface="Calibri"/>
                        </a:rPr>
                        <a:t>Your join grew the row count; name the cause and the check.</a:t>
                      </a:r>
                    </a:p>
                  </a:txBody>
                  <a:tcPr marL="101600" marR="101600" marT="38100" marB="38100" anchor="ctr">
                    <a:solidFill>
                      <a:srgbClr val="F4F2FA"/>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How do you find orders with no payment?</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Revenue doubled after a join and every row looks fine; where do you look?</a:t>
                      </a:r>
                    </a:p>
                  </a:txBody>
                  <a:tcPr marL="101600" marR="101600" marT="38100" marB="38100" anchor="ctr">
                    <a:solidFill>
                      <a:srgbClr val="F4F2FA"/>
                    </a:solidFill>
                  </a:tcPr>
                </a:tc>
              </a:tr>
              <a:tr h="611632">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Design the validation you run before a joined number reaches Finance, and say what you do when it fails at the end of reporting day.</a:t>
                      </a:r>
                    </a:p>
                  </a:txBody>
                  <a:tcPr marL="101600" marR="101600" marT="38100" marB="38100" anchor="ctr">
                    <a:solidFill>
                      <a:srgbClr val="FFFFFF"/>
                    </a:solidFill>
                  </a:tcPr>
                </a:tc>
              </a:tr>
              <a:tr h="369824">
                <a:tc>
                  <a:txBody>
                    <a:bodyPr/>
                    <a:lstStyle/>
                    <a:p>
                      <a:r>
                        <a:rPr sz="1400" b="0" i="0">
                          <a:solidFill>
                            <a:srgbClr val="1A1440"/>
                          </a:solidFill>
                          <a:latin typeface="Calibri"/>
                        </a:rPr>
                        <a:t>[S]</a:t>
                      </a:r>
                    </a:p>
                  </a:txBody>
                  <a:tcPr marL="101600" marR="101600" marT="38100" marB="38100" anchor="ctr">
                    <a:solidFill>
                      <a:srgbClr val="F4F2FA"/>
                    </a:solidFill>
                  </a:tcPr>
                </a:tc>
                <a:tc>
                  <a:txBody>
                    <a:bodyPr/>
                    <a:lstStyle/>
                    <a:p>
                      <a:r>
                        <a:rPr sz="1400" b="0" i="0">
                          <a:solidFill>
                            <a:srgbClr val="1A1440"/>
                          </a:solidFill>
                          <a:latin typeface="Calibri"/>
                        </a:rPr>
                        <a:t>When is an INNER join the honest choice?</a:t>
                      </a:r>
                    </a:p>
                  </a:txBody>
                  <a:tcPr marL="101600" marR="101600" marT="38100" marB="38100" anchor="ctr">
                    <a:solidFill>
                      <a:srgbClr val="F4F2FA"/>
                    </a:solidFill>
                  </a:tcPr>
                </a:tc>
              </a:tr>
            </a:tbl>
          </a:graphicData>
        </a:graphic>
      </p:graphicFrame>
      <p:sp>
        <p:nvSpPr>
          <p:cNvPr id="11" name="TextBox 10"/>
          <p:cNvSpPr txBox="1"/>
          <p:nvPr/>
        </p:nvSpPr>
        <p:spPr>
          <a:xfrm>
            <a:off x="530352" y="5043424"/>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Tags: [S] a staple asked everywhere; [F] frequent in GCC and product screens; [D] a differentiator.</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the number leave?</a:t>
            </a:r>
          </a:p>
        </p:txBody>
      </p:sp>
      <p:sp>
        <p:nvSpPr>
          <p:cNvPr id="14" name="Oval 13"/>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6" name="Oval 15"/>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838515" cy="152146"/>
          </a:xfrm>
          <a:prstGeom prst="rect">
            <a:avLst/>
          </a:prstGeom>
          <a:noFill/>
        </p:spPr>
        <p:txBody>
          <a:bodyPr wrap="square" anchor="t" lIns="0" rIns="0" tIns="0" bIns="0">
            <a:spAutoFit/>
          </a:bodyPr>
          <a:lstStyle/>
          <a:p>
            <a:pPr algn="l"/>
            <a:r>
              <a:rPr sz="700" b="1" i="0">
                <a:solidFill>
                  <a:srgbClr val="5B3FD6"/>
                </a:solidFill>
                <a:latin typeface="Calibri"/>
              </a:rPr>
              <a:t>What do the lab and tonight carry?</a:t>
            </a:r>
          </a:p>
        </p:txBody>
      </p:sp>
      <p:sp>
        <p:nvSpPr>
          <p:cNvPr id="18" name="Oval 17"/>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D3  ·  28 / 34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Follow-ups and the design question</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follow-ups does an interviewer ask once the first answer lands?</a:t>
            </a:r>
          </a:p>
        </p:txBody>
      </p:sp>
      <p:graphicFrame>
        <p:nvGraphicFramePr>
          <p:cNvPr id="10" name="Table 9"/>
          <p:cNvGraphicFramePr>
            <a:graphicFrameLocks noGrp="1"/>
          </p:cNvGraphicFramePr>
          <p:nvPr/>
        </p:nvGraphicFramePr>
        <p:xfrm>
          <a:off x="530352" y="1956816"/>
          <a:ext cx="11130991" cy="2588768"/>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The follow-up</a:t>
                      </a:r>
                    </a:p>
                  </a:txBody>
                  <a:tcPr marL="101600" marR="101600" marT="38100" marB="38100" anchor="ctr">
                    <a:solidFill>
                      <a:srgbClr val="1A0F5C"/>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A filter on the right-hand table of a LEFT JOIN: WHERE or ON, and what changes?</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HAVING COUNT(*) &gt; 1 on payments by order: what does it find, and what does it wrongly include?</a:t>
                      </a:r>
                    </a:p>
                  </a:txBody>
                  <a:tcPr marL="101600" marR="101600" marT="38100" marB="38100" anchor="ctr">
                    <a:solidFill>
                      <a:srgbClr val="F4F2FA"/>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How do you reconcile a total after a join back to its source table?</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Two errors cancel and the total looks right: how would you find them?</a:t>
                      </a:r>
                    </a:p>
                  </a:txBody>
                  <a:tcPr marL="101600" marR="101600" marT="38100" marB="38100" anchor="ctr">
                    <a:solidFill>
                      <a:srgbClr val="F4F2FA"/>
                    </a:solidFill>
                  </a:tcPr>
                </a:tc>
              </a:tr>
              <a:tr h="369824">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Anand says the gap is too small to matter: how do you decide whether to chase it?</a:t>
                      </a:r>
                    </a:p>
                  </a:txBody>
                  <a:tcPr marL="101600" marR="101600" marT="38100" marB="38100" anchor="ctr">
                    <a:solidFill>
                      <a:srgbClr val="FFFFFF"/>
                    </a:solidFill>
                  </a:tcPr>
                </a:tc>
              </a:tr>
              <a:tr h="369824">
                <a:tc>
                  <a:txBody>
                    <a:bodyPr/>
                    <a:lstStyle/>
                    <a:p>
                      <a:r>
                        <a:rPr sz="1400" b="0" i="0">
                          <a:solidFill>
                            <a:srgbClr val="1A1440"/>
                          </a:solidFill>
                          <a:latin typeface="Calibri"/>
                        </a:rPr>
                        <a:t>[S]</a:t>
                      </a:r>
                    </a:p>
                  </a:txBody>
                  <a:tcPr marL="101600" marR="101600" marT="38100" marB="38100" anchor="ctr">
                    <a:solidFill>
                      <a:srgbClr val="F4F2FA"/>
                    </a:solidFill>
                  </a:tcPr>
                </a:tc>
                <a:tc>
                  <a:txBody>
                    <a:bodyPr/>
                    <a:lstStyle/>
                    <a:p>
                      <a:r>
                        <a:rPr sz="1400" b="0" i="0">
                          <a:solidFill>
                            <a:srgbClr val="1A1440"/>
                          </a:solidFill>
                          <a:latin typeface="Calibri"/>
                        </a:rPr>
                        <a:t>If you could keep only one check before a joined number leaves, which would you keep?</a:t>
                      </a:r>
                    </a:p>
                  </a:txBody>
                  <a:tcPr marL="101600" marR="101600" marT="38100" marB="38100" anchor="ctr">
                    <a:solidFill>
                      <a:srgbClr val="F4F2FA"/>
                    </a:solidFill>
                  </a:tcPr>
                </a:tc>
              </a:tr>
            </a:tbl>
          </a:graphicData>
        </a:graphic>
      </p:graphicFrame>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the number leave?</a:t>
            </a:r>
          </a:p>
        </p:txBody>
      </p:sp>
      <p:sp>
        <p:nvSpPr>
          <p:cNvPr id="13" name="Oval 12"/>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5" name="Oval 14"/>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838515" cy="152146"/>
          </a:xfrm>
          <a:prstGeom prst="rect">
            <a:avLst/>
          </a:prstGeom>
          <a:noFill/>
        </p:spPr>
        <p:txBody>
          <a:bodyPr wrap="square" anchor="t" lIns="0" rIns="0" tIns="0" bIns="0">
            <a:spAutoFit/>
          </a:bodyPr>
          <a:lstStyle/>
          <a:p>
            <a:pPr algn="l"/>
            <a:r>
              <a:rPr sz="700" b="1" i="0">
                <a:solidFill>
                  <a:srgbClr val="5B3FD6"/>
                </a:solidFill>
                <a:latin typeface="Calibri"/>
              </a:rPr>
              <a:t>What do the lab and tonight carry?</a:t>
            </a:r>
          </a:p>
        </p:txBody>
      </p:sp>
      <p:sp>
        <p:nvSpPr>
          <p:cNvPr id="17" name="Oval 16"/>
          <p:cNvSpPr/>
          <p:nvPr/>
        </p:nvSpPr>
        <p:spPr>
          <a:xfrm>
            <a:off x="56832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793009"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What leaves the room today?</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D4  ·  29 / 34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09</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leaves the room today?</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What sentence goes to Anand, which lines are worth keeping, and what does tomorrow ask?</a:t>
            </a:r>
          </a:p>
        </p:txBody>
      </p:sp>
      <p:sp>
        <p:nvSpPr>
          <p:cNvPr id="10" name="Rounded Rectangle 9"/>
          <p:cNvSpPr/>
          <p:nvPr/>
        </p:nvSpPr>
        <p:spPr>
          <a:xfrm>
            <a:off x="73151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the number leave?</a:t>
            </a:r>
          </a:p>
        </p:txBody>
      </p:sp>
      <p:sp>
        <p:nvSpPr>
          <p:cNvPr id="11" name="Rounded Rectangle 10"/>
          <p:cNvSpPr/>
          <p:nvPr/>
        </p:nvSpPr>
        <p:spPr>
          <a:xfrm>
            <a:off x="2450543"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orders make the gap?</a:t>
            </a:r>
          </a:p>
        </p:txBody>
      </p:sp>
      <p:sp>
        <p:nvSpPr>
          <p:cNvPr id="12" name="Rounded Rectangle 11"/>
          <p:cNvSpPr/>
          <p:nvPr/>
        </p:nvSpPr>
        <p:spPr>
          <a:xfrm>
            <a:off x="4465646"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the lab and tonight carry?</a:t>
            </a:r>
          </a:p>
        </p:txBody>
      </p:sp>
      <p:sp>
        <p:nvSpPr>
          <p:cNvPr id="13" name="Rounded Rectangle 12"/>
          <p:cNvSpPr/>
          <p:nvPr/>
        </p:nvSpPr>
        <p:spPr>
          <a:xfrm>
            <a:off x="6724214" y="5074920"/>
            <a:ext cx="196459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leaves the room today?</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2. Can the collected number leave the team?</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30 / 34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sentence Anand can repeat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Anand read, in one sentence he can repeat?</a:t>
            </a:r>
          </a:p>
        </p:txBody>
      </p:sp>
      <p:sp>
        <p:nvSpPr>
          <p:cNvPr id="9" name="Rounded Rectangle 8"/>
          <p:cNvSpPr/>
          <p:nvPr/>
        </p:nvSpPr>
        <p:spPr>
          <a:xfrm>
            <a:off x="530352" y="1956816"/>
            <a:ext cx="45720" cy="160527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605279"/>
          </a:xfrm>
          <a:prstGeom prst="rect">
            <a:avLst/>
          </a:prstGeom>
          <a:noFill/>
        </p:spPr>
        <p:txBody>
          <a:bodyPr wrap="square" anchor="t" lIns="0" rIns="0" tIns="0" bIns="0">
            <a:spAutoFit/>
          </a:bodyPr>
          <a:lstStyle/>
          <a:p>
            <a:r>
              <a:rPr sz="1600" b="0" i="1">
                <a:solidFill>
                  <a:srgbClr val="1A0F5C"/>
                </a:solidFill>
                <a:latin typeface="Georgia"/>
              </a:rPr>
              <a:t>"Q2 booked Rs 9,84,00,000 and collected Rs ___, each payment counted once. The gap of Rs ___ is ___ orders nobody has paid, listed by channel, largest first. Separately, Rs ___ was posted twice by gateway retries and ___ payments match no order; both lists go to the platform lead. Every figure ties back to the orders and payments tables through checks that have each been seen to fail."</a:t>
            </a:r>
          </a:p>
        </p:txBody>
      </p:sp>
      <p:pic>
        <p:nvPicPr>
          <p:cNvPr id="11" name="mermaid diagram" descr="e3f02b4a48641d12.png"/>
          <p:cNvPicPr>
            <a:picLocks noChangeAspect="1"/>
          </p:cNvPicPr>
          <p:nvPr/>
        </p:nvPicPr>
        <p:blipFill>
          <a:blip r:embed="rId5"/>
          <a:stretch>
            <a:fillRect/>
          </a:stretch>
        </p:blipFill>
        <p:spPr>
          <a:xfrm>
            <a:off x="1088078" y="3708400"/>
            <a:ext cx="10015537" cy="1128712"/>
          </a:xfrm>
          <a:prstGeom prst="rect">
            <a:avLst/>
          </a:prstGeom>
        </p:spPr>
      </p:pic>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the number leave?</a:t>
            </a:r>
          </a:p>
        </p:txBody>
      </p:sp>
      <p:sp>
        <p:nvSpPr>
          <p:cNvPr id="14" name="Oval 13"/>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8" name="Oval 17"/>
          <p:cNvSpPr/>
          <p:nvPr/>
        </p:nvSpPr>
        <p:spPr>
          <a:xfrm>
            <a:off x="56832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793009"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What leaves the room today?</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31 / 34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lines worth keeping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rules from today hold on every join, in any tool?</a:t>
            </a:r>
          </a:p>
        </p:txBody>
      </p:sp>
      <p:graphicFrame>
        <p:nvGraphicFramePr>
          <p:cNvPr id="9" name="Table 8"/>
          <p:cNvGraphicFramePr>
            <a:graphicFrameLocks noGrp="1"/>
          </p:cNvGraphicFramePr>
          <p:nvPr/>
        </p:nvGraphicFramePr>
        <p:xfrm>
          <a:off x="530352" y="1956816"/>
          <a:ext cx="11130991" cy="2588768"/>
        </p:xfrm>
        <a:graphic>
          <a:graphicData uri="http://schemas.openxmlformats.org/drawingml/2006/table">
            <a:tbl>
              <a:tblPr firstRow="0" bandRow="0">
                <a:tableStyleId>{2D5ABB26-0587-4C30-8999-92F81FD0307C}</a:tableStyleId>
              </a:tblPr>
              <a:tblGrid>
                <a:gridCol w="11130991"/>
              </a:tblGrid>
              <a:tr h="369824">
                <a:tc>
                  <a:txBody>
                    <a:bodyPr/>
                    <a:lstStyle/>
                    <a:p>
                      <a:r>
                        <a:rPr sz="1450" b="1" i="0">
                          <a:solidFill>
                            <a:srgbClr val="FFFFFF"/>
                          </a:solidFill>
                          <a:latin typeface="Calibri"/>
                        </a:rPr>
                        <a:t>The line</a:t>
                      </a:r>
                    </a:p>
                  </a:txBody>
                  <a:tcPr marL="101600" marR="101600" marT="38100" marB="38100" anchor="ctr">
                    <a:solidFill>
                      <a:srgbClr val="1A0F5C"/>
                    </a:solidFill>
                  </a:tcPr>
                </a:tc>
              </a:tr>
              <a:tr h="369824">
                <a:tc>
                  <a:txBody>
                    <a:bodyPr/>
                    <a:lstStyle/>
                    <a:p>
                      <a:r>
                        <a:rPr sz="1400" b="0" i="0">
                          <a:solidFill>
                            <a:srgbClr val="1A1440"/>
                          </a:solidFill>
                          <a:latin typeface="Calibri"/>
                        </a:rPr>
                        <a:t>A join is done when its row count is explained: rows in, rows out, the difference named.</a:t>
                      </a:r>
                    </a:p>
                  </a:txBody>
                  <a:tcPr marL="101600" marR="101600" marT="38100" marB="38100" anchor="ctr">
                    <a:solidFill>
                      <a:srgbClr val="FFFFFF"/>
                    </a:solidFill>
                  </a:tcPr>
                </a:tc>
              </a:tr>
              <a:tr h="369824">
                <a:tc>
                  <a:txBody>
                    <a:bodyPr/>
                    <a:lstStyle/>
                    <a:p>
                      <a:r>
                        <a:rPr sz="1400" b="0" i="0">
                          <a:solidFill>
                            <a:srgbClr val="1A1440"/>
                          </a:solidFill>
                          <a:latin typeface="Calibri"/>
                        </a:rPr>
                        <a:t>Start from the table whose every row must survive, and name its grain.</a:t>
                      </a:r>
                    </a:p>
                  </a:txBody>
                  <a:tcPr marL="101600" marR="101600" marT="38100" marB="38100" anchor="ctr">
                    <a:solidFill>
                      <a:srgbClr val="F4F2FA"/>
                    </a:solidFill>
                  </a:tcPr>
                </a:tc>
              </a:tr>
              <a:tr h="369824">
                <a:tc>
                  <a:txBody>
                    <a:bodyPr/>
                    <a:lstStyle/>
                    <a:p>
                      <a:r>
                        <a:rPr sz="1400" b="0" i="0">
                          <a:solidFill>
                            <a:srgbClr val="1A1440"/>
                          </a:solidFill>
                          <a:latin typeface="Calibri"/>
                        </a:rPr>
                        <a:t>Bring the many side to the grain of the question before you join.</a:t>
                      </a:r>
                    </a:p>
                  </a:txBody>
                  <a:tcPr marL="101600" marR="101600" marT="38100" marB="38100" anchor="ctr">
                    <a:solidFill>
                      <a:srgbClr val="FFFFFF"/>
                    </a:solidFill>
                  </a:tcPr>
                </a:tc>
              </a:tr>
              <a:tr h="369824">
                <a:tc>
                  <a:txBody>
                    <a:bodyPr/>
                    <a:lstStyle/>
                    <a:p>
                      <a:r>
                        <a:rPr sz="1400" b="0" i="0">
                          <a:solidFill>
                            <a:srgbClr val="1A1440"/>
                          </a:solidFill>
                          <a:latin typeface="Calibri"/>
                        </a:rPr>
                        <a:t>In a LEFT JOIN, a condition on the right-hand table goes in ON.</a:t>
                      </a:r>
                    </a:p>
                  </a:txBody>
                  <a:tcPr marL="101600" marR="101600" marT="38100" marB="38100" anchor="ctr">
                    <a:solidFill>
                      <a:srgbClr val="F4F2FA"/>
                    </a:solidFill>
                  </a:tcPr>
                </a:tc>
              </a:tr>
              <a:tr h="369824">
                <a:tc>
                  <a:txBody>
                    <a:bodyPr/>
                    <a:lstStyle/>
                    <a:p>
                      <a:r>
                        <a:rPr sz="1400" b="0" i="0">
                          <a:solidFill>
                            <a:srgbClr val="1A1440"/>
                          </a:solidFill>
                          <a:latin typeface="Calibri"/>
                        </a:rPr>
                        <a:t>Two payment rows are not a double payment: a retry is one order and instalment, twice.</a:t>
                      </a:r>
                    </a:p>
                  </a:txBody>
                  <a:tcPr marL="101600" marR="101600" marT="38100" marB="38100" anchor="ctr">
                    <a:solidFill>
                      <a:srgbClr val="FFFFFF"/>
                    </a:solidFill>
                  </a:tcPr>
                </a:tc>
              </a:tr>
              <a:tr h="369824">
                <a:tc>
                  <a:txBody>
                    <a:bodyPr/>
                    <a:lstStyle/>
                    <a:p>
                      <a:r>
                        <a:rPr sz="1400" b="0" i="0">
                          <a:solidFill>
                            <a:srgbClr val="1A1440"/>
                          </a:solidFill>
                          <a:latin typeface="Calibri"/>
                        </a:rPr>
                        <a:t>A check is worth its power to fail: tie every figure back to one table alone.</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the number leave?</a:t>
            </a:r>
          </a:p>
        </p:txBody>
      </p:sp>
      <p:sp>
        <p:nvSpPr>
          <p:cNvPr id="12" name="Oval 11"/>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16" name="Oval 15"/>
          <p:cNvSpPr/>
          <p:nvPr/>
        </p:nvSpPr>
        <p:spPr>
          <a:xfrm>
            <a:off x="56832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93009"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What leaves the room today?</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32 / 34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Kahoot: eight items, ungraded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the day's ideas held, one question each?</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8</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ITEMS</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ungraded, scored on correctness and speed</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1</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FROM MONDAY</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WHERE against HAVING, one level up</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6 min</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KAHOOT</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then tomorrow's question and the tentative faculty block</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items: which side a LEFT JOIN keeps; a row count to predict; what an INNER join does to unpaid orders; the anti-join in words; the first check after a doubled total; what HAVING COUNT(*) &gt; 1 finds; where WHERE and HAVING go; a WHERE on the payments side.</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the number leave?</a:t>
            </a:r>
          </a:p>
        </p:txBody>
      </p:sp>
      <p:sp>
        <p:nvSpPr>
          <p:cNvPr id="24" name="Oval 23"/>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26" name="Oval 2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28" name="Oval 27"/>
          <p:cNvSpPr/>
          <p:nvPr/>
        </p:nvSpPr>
        <p:spPr>
          <a:xfrm>
            <a:off x="56832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793009"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What leaves the room today?</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33 / 34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2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Tomorrow's question, left open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Marketing ask next, and what would you need to answer it?</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"Give us the top fifty customers by Q2 revenue in each segment, and flag anyone whose monthly spend has fallen for two months running." Marketing, Kalpa Retail</a:t>
            </a:r>
          </a:p>
        </p:txBody>
      </p:sp>
      <p:pic>
        <p:nvPicPr>
          <p:cNvPr id="14" name="mermaid diagram" descr="47cc74fe8fe61d19.png"/>
          <p:cNvPicPr>
            <a:picLocks noChangeAspect="1"/>
          </p:cNvPicPr>
          <p:nvPr/>
        </p:nvPicPr>
        <p:blipFill>
          <a:blip r:embed="rId6"/>
          <a:stretch>
            <a:fillRect/>
          </a:stretch>
        </p:blipFill>
        <p:spPr>
          <a:xfrm>
            <a:off x="1831028" y="3243072"/>
            <a:ext cx="8529637" cy="1371600"/>
          </a:xfrm>
          <a:prstGeom prst="rect">
            <a:avLst/>
          </a:prstGeom>
        </p:spPr>
      </p:pic>
      <p:sp>
        <p:nvSpPr>
          <p:cNvPr id="15" name="TextBox 14"/>
          <p:cNvSpPr txBox="1"/>
          <p:nvPr/>
        </p:nvSpPr>
        <p:spPr>
          <a:xfrm>
            <a:off x="530352" y="4760976"/>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pre-read for tomorrow ships tonight with the take-home.</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the number leave?</a:t>
            </a:r>
          </a:p>
        </p:txBody>
      </p:sp>
      <p:sp>
        <p:nvSpPr>
          <p:cNvPr id="18" name="Oval 17"/>
          <p:cNvSpPr/>
          <p:nvPr/>
        </p:nvSpPr>
        <p:spPr>
          <a:xfrm>
            <a:off x="197196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081688"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Which orders make the gap?</a:t>
            </a:r>
          </a:p>
        </p:txBody>
      </p:sp>
      <p:sp>
        <p:nvSpPr>
          <p:cNvPr id="20" name="Oval 1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53326" y="6437376"/>
            <a:ext cx="1838515" cy="152146"/>
          </a:xfrm>
          <a:prstGeom prst="rect">
            <a:avLst/>
          </a:prstGeom>
          <a:noFill/>
        </p:spPr>
        <p:txBody>
          <a:bodyPr wrap="square" anchor="t" lIns="0" rIns="0" tIns="0" bIns="0">
            <a:spAutoFit/>
          </a:bodyPr>
          <a:lstStyle/>
          <a:p>
            <a:pPr algn="l"/>
            <a:r>
              <a:rPr sz="700" b="0" i="0">
                <a:solidFill>
                  <a:srgbClr val="6B6690"/>
                </a:solidFill>
                <a:latin typeface="Calibri"/>
              </a:rPr>
              <a:t>What do the lab and tonight carry?</a:t>
            </a:r>
          </a:p>
        </p:txBody>
      </p:sp>
      <p:sp>
        <p:nvSpPr>
          <p:cNvPr id="22" name="Oval 21"/>
          <p:cNvSpPr/>
          <p:nvPr/>
        </p:nvSpPr>
        <p:spPr>
          <a:xfrm>
            <a:off x="56832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793009"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What leaves the room today?</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34 / 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