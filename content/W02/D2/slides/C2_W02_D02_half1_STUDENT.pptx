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one minute. Read Anand's line aloud and leave it on screen while the room settles.</a:t>
            </a:r>
          </a:p>
          <a:p>
            <a:r>
              <a:t>Yesterday the room rebuilt Week 1's tree as queries, one table at a time. Today the second table</a:t>
            </a:r>
          </a:p>
          <a:p>
            <a:r>
              <a:t>arrives, and with it the first number in this programme that can be wrong while every row is right.</a:t>
            </a:r>
          </a:p>
          <a:p>
            <a:r>
              <a:t>The arc of the morning: the ask and the thinking, then three rounds of fifty minutes. The escalated</a:t>
            </a:r>
          </a:p>
          <a:p>
            <a:r>
              <a:t>case runs after lunch.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This chapter runs 20 minutes. No query runs in it. Its job is to turn Anand's message into</a:t>
            </a:r>
          </a:p>
          <a:p>
            <a:r>
              <a:t>questions about rows, and to draw the one picture the whole day rests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booked figure is Monday's own number, so the room can check it without</a:t>
            </a:r>
          </a:p>
          <a:p>
            <a:r>
              <a:t>running anything. Ask: what would make collected smaller than booked? Collect answers: unpaid</a:t>
            </a:r>
          </a:p>
          <a:p>
            <a:r>
              <a:t>orders, refunds, partial payments. Then ask: what could make it larger? Let the room sit with that</a:t>
            </a:r>
          </a:p>
          <a:p>
            <a:r>
              <a:t>one; the platform lead answers it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grain column is the slide. Orders has one row per order; payments has one</a:t>
            </a:r>
          </a:p>
          <a:p>
            <a:r>
              <a:t>row per payment event, which is a different grain. Any time two tables have different grains, a</a:t>
            </a:r>
          </a:p>
          <a:p>
            <a:r>
              <a:t>join between them can change the number of rows. Do not say fan-out yet; the room finds it in</a:t>
            </a:r>
          </a:p>
          <a:p>
            <a:r>
              <a:t>round 1. Point at the remark: a retry is a second payment row for the same payment.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One minute in pairs, then a show of letters. Expect a split between a and c.</a:t>
            </a:r>
          </a:p>
          <a:p>
            <a:r>
              <a:t>Do not resolve it 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answer is b. Refunds are real and belong to the take-home; the twelve</a:t>
            </a:r>
          </a:p>
          <a:p>
            <a:r>
              <a:t>refund rows in the warehouse all sit on Q1 orders, so Q2's report can say so in one line.</a:t>
            </a:r>
          </a:p>
          <a:p>
            <a:r>
              <a:t>Say that option c returns in round 1 as the first wrong number of the day.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Draw this on the board with the room, left to right, before anything else. Ask</a:t>
            </a:r>
          </a:p>
          <a:p>
            <a:r>
              <a:t>of each arrow: how many rows does this order produce after the join? One, two, and "it depends on</a:t>
            </a:r>
          </a:p>
          <a:p>
            <a:r>
              <a:t>the join". This drawing stays on the board all day; every trap of the day is one of its arrows.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This is Week 1 Wednesday's reconciliation, one tool later: input equals clean</a:t>
            </a:r>
          </a:p>
          <a:p>
            <a:r>
              <a:t>plus rejected became rows in equals rows out plus what the join did. The model answer to the</a:t>
            </a:r>
          </a:p>
          <a:p>
            <a:r>
              <a:t>interview question is these five steps plus a fallback: ship the booked figure with the</a:t>
            </a:r>
          </a:p>
          <a:p>
            <a:r>
              <a:t>reconciliation's open line stated, never an unreconciled collected figure. The answer is in the</a:t>
            </a:r>
          </a:p>
          <a:p>
            <a:r>
              <a:t>day sheet.</a:t>
            </a:r>
          </a:p>
          <a:p>
            <a:r>
              <a:t>Transition: round 1 starts on two tables small enough to trace by hand.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Round 1 runs 50 minutes: the question and its picture (8), the tiny tables traced (12), the</a:t>
            </a:r>
          </a:p>
          <a:p>
            <a:r>
              <a:t>warehouse join and its trap (15), the room's harder variant (10), Kavya's review (5).</a:t>
            </a:r>
          </a:p>
          <a:p>
            <a:r>
              <a:t>Notebook 1 and sql/C2_W02_D02_01 and 02 run beside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These numbers are invented to show the mechanism, and the slide says so. Copy the</a:t>
            </a:r>
          </a:p>
          <a:p>
            <a:r>
              <a:t>table onto the board. The story column is what the room should be able to say after tracing.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Copy this beside the orders on the board. Ask the room to find, in words, the</a:t>
            </a:r>
          </a:p>
          <a:p>
            <a:r>
              <a:t>order with two parts, the payment posted twice, the order never paid and the payment whose order</a:t>
            </a:r>
          </a:p>
          <a:p>
            <a:r>
              <a:t>is not in the orders table. The same four stories are in the warehouse; the room will find them</a:t>
            </a:r>
          </a:p>
          <a:p>
            <a:r>
              <a:t>there without being told how many.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Two minutes alone, writing four numbers on paper, then a show of letters. The</a:t>
            </a:r>
          </a:p>
          <a:p>
            <a:r>
              <a:t>most common wrong answer is a, from people who think a join keeps one row per order. Do not</a:t>
            </a:r>
          </a:p>
          <a:p>
            <a:r>
              <a:t>correct anyone yet.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The answer is b. Trace the INNER join on the board, drawing a line from each</a:t>
            </a:r>
          </a:p>
          <a:p>
            <a:r>
              <a:t>order to each of its payments: the lines are the rows. Then add T-4 for LEFT and P-7 for RIGHT.</a:t>
            </a:r>
          </a:p>
          <a:p>
            <a:r>
              <a:t>Run sql/C2_W02_D02_01, step 6, to confirm the four counts. Keep the lines on the board.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model answer: INNER keeps rows that match on both sides and drops the rest</a:t>
            </a:r>
          </a:p>
          <a:p>
            <a:r>
              <a:t>from both; LEFT keeps every row of the left table and fills the right side with NULL where nothing</a:t>
            </a:r>
          </a:p>
          <a:p>
            <a:r>
              <a:t>matched; both repeat a left row once per matching right row. The last clause is the one most</a:t>
            </a:r>
          </a:p>
          <a:p>
            <a:r>
              <a:t>candidates forget. FULL OUTER is named and parked, as the row says.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Run steps 1 and 2 of sql/C2_W02_D02_02. The room sees that order_id repeats in</a:t>
            </a:r>
          </a:p>
          <a:p>
            <a:r>
              <a:t>payments, so the join will multiply. Ask what the second rows are. Some are second instalments on</a:t>
            </a:r>
          </a:p>
          <a:p>
            <a:r>
              <a:t>large invoices; the platform lead's remark says some might be retries. Which is which is round 3's</a:t>
            </a:r>
          </a:p>
          <a:p>
            <a:r>
              <a:t>question, and nobody should answer it yet.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Pairs predict, then show letters. Most rooms say a, because the query "only</a:t>
            </a:r>
          </a:p>
          <a:p>
            <a:r>
              <a:t>keeps paid orders". The ones who say c have understood S9. Run it after the letters are up.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answer is c. The bars are the hurried collected by channel; the line is</a:t>
            </a:r>
          </a:p>
          <a:p>
            <a:r>
              <a:t>booked, from Monday. Let the room find the doubling before anyone says fan-out: ask why an order would be</a:t>
            </a:r>
          </a:p>
          <a:p>
            <a:r>
              <a:t>summed twice. Someone will point at S10's lines. Then, and only then, name it: a fan-out.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Two checks, and either one catches it: rows out against rows in, and collected</a:t>
            </a:r>
          </a:p>
          <a:p>
            <a:r>
              <a:t>against booked. Run step 4 of sql/C2_W02_D02_02. Say the sentence: a SUM after a join sums at</a:t>
            </a:r>
          </a:p>
          <a:p>
            <a:r>
              <a:t>the grain of the join, which is the payment, whatever column it names.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What changed: 216 repeated rows went away, the order-side sum went from Rs 19.29 crore</a:t>
            </a:r>
          </a:p>
          <a:p>
            <a:r>
              <a:t>back to Rs 9.84 crore, and the order amount is summed once per order. Steps 6 and 7 of sql 02 run</a:t>
            </a:r>
          </a:p>
          <a:p>
            <a:r>
              <a:t>this and the one-line check. Do not read the paid column aloud yet; round 2 reconciles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for the fast half, LIVE for the room in the 10-minute variant slot. Pairs run step 5 of</a:t>
            </a:r>
          </a:p>
          <a:p>
            <a:r>
              <a:t>sql 02 and answer before looking. Walk the room, and ask each pair which column is wrong and why.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answer is b. The same mechanism misleads in the opposite direction: S14 stood</a:t>
            </a:r>
          </a:p>
          <a:p>
            <a:r>
              <a:t>collections down, this one would send a team after Rs 9.8 crore that was never owed. A fan-out has</a:t>
            </a:r>
          </a:p>
          <a:p>
            <a:r>
              <a:t>no direction of its own; it inflates whichever side repeats. The fix is S16's, on the booked side.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Two learners answer the interview questions aloud in under thirty seconds each.</a:t>
            </a:r>
          </a:p>
          <a:p>
            <a:r>
              <a:t>The model answers: the cause is duplicate keys on the right, usually a one-to-many relationship</a:t>
            </a:r>
          </a:p>
          <a:p>
            <a:r>
              <a:t>read as one-to-one; the check is the count before and after and a GROUP BY key HAVING count(*) &gt; 1</a:t>
            </a:r>
          </a:p>
          <a:p>
            <a:r>
              <a:t>on the right table; for a doubled revenue, look at the grain of the join, not at the rows, because</a:t>
            </a:r>
          </a:p>
          <a:p>
            <a:r>
              <a:t>each row is individually correct. Transition: the join is now at the right grain; round 2 asks</a:t>
            </a:r>
          </a:p>
          <a:p>
            <a:r>
              <a:t>whether it kept every order.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Round 2 runs 50 minutes: the question (6), the reconciliation template (8), the INNER trap on</a:t>
            </a:r>
          </a:p>
          <a:p>
            <a:r>
              <a:t>the tiny tables (14), the bridge (10), the room's variant on Q2 (8), Kavya's review (4).</a:t>
            </a:r>
          </a:p>
          <a:p>
            <a:r>
              <a:t>Notebook 2 and sql/C2_W02_D02_03 run beside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After round 1 the join is at order grain, so rows out can only fall short of rows</a:t>
            </a:r>
          </a:p>
          <a:p>
            <a:r>
              <a:t>in, never exceed it. Ask: which join types can make rows out smaller than rows in? INNER, and any</a:t>
            </a:r>
          </a:p>
          <a:p>
            <a:r>
              <a:t>filter. That is the whole of round 2 and half of round 3.</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blank is deliberate: it is filled from the data, never from the slide.</a:t>
            </a:r>
          </a:p>
          <a:p>
            <a:r>
              <a:t>This comment block is the deliverable the row asks for in the escalated case. Anand's analyst</a:t>
            </a:r>
          </a:p>
          <a:p>
            <a:r>
              <a:t>reads it before reading the number.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Pairs trace it on the board from the tables on S7 and S8 before anyone runs part A of</a:t>
            </a:r>
          </a:p>
          <a:p>
            <a:r>
              <a:t>sql/C2_W02_D02_03. The ones who say a have forgotten that INNER drops T-4.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answer is c. Two errors cancel into a comfortable number: the INNER join</a:t>
            </a:r>
          </a:p>
          <a:p>
            <a:r>
              <a:t>hides the unpaid order, and the retry inflates collected. These numbers are invented; the trainer</a:t>
            </a:r>
          </a:p>
          <a:p>
            <a:r>
              <a:t>runs the same query on Q2 live, and the room writes down what it sees without reading it aloud.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first check needs no rupee at all, which is why it is the habit: count the</a:t>
            </a:r>
          </a:p>
          <a:p>
            <a:r>
              <a:t>orders in the report against the orders in the table. Ask the room which check would catch this</a:t>
            </a:r>
          </a:p>
          <a:p>
            <a:r>
              <a:t>on Kalpa's Q2 in one query. Answer: count(*) against 462.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What changed: one order and 800 of booked came back. What did not: the retry.</a:t>
            </a:r>
          </a:p>
          <a:p>
            <a:r>
              <a:t>This is the argument for a bridge, on the next slide: separate the moves so each has a name.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The notebook draws this as a bridge chart with kit.bridge, and the companion page</a:t>
            </a:r>
          </a:p>
          <a:p>
            <a:r>
              <a:t>redraws it as the room changes one assumption at a time. Say what a bridge buys: each bar is a</a:t>
            </a:r>
          </a:p>
          <a:p>
            <a:r>
              <a:t>question for Anand, and each bar has a list of orders behind it. The bridge closes when booked plus</a:t>
            </a:r>
          </a:p>
          <a:p>
            <a:r>
              <a:t>every move equals what the feed posted.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8 minutes. The room runs it; the trainer walks the room and does not read results aloud.</a:t>
            </a:r>
          </a:p>
          <a:p>
            <a:r>
              <a:t>Anyone who finishes early runs the INNER version on Q2 and compares its order count with B1.</a:t>
            </a:r>
          </a:p>
          <a:p>
            <a:r>
              <a:t>The day sheet carries the numbers. The discovery is theirs.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Two learners answer aloud. Model answers: INNER is honest when unmatched rows are</a:t>
            </a:r>
          </a:p>
          <a:p>
            <a:r>
              <a:t>out of scope by definition, and the report says so; reconcile by recomputing the total from the</a:t>
            </a:r>
          </a:p>
          <a:p>
            <a:r>
              <a:t>source table alone and explaining every rupee of difference as a bridge. Break for 10 minutes.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Round 3 runs 50 minutes: the question (5), the WHERE trap on the tiny tables (12), the</a:t>
            </a:r>
          </a:p>
          <a:p>
            <a:r>
              <a:t>anti-join (8), the HAVING trap on the warehouse (13), the room's variant (8), Kavya's review (4).</a:t>
            </a:r>
          </a:p>
          <a:p>
            <a:r>
              <a:t>Notebook 3 and sql/C2_W02_D02_04 run beside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Tie each list to a bar of S26's bridge. A list whose total does not equal its</a:t>
            </a:r>
          </a:p>
          <a:p>
            <a:r>
              <a:t>bar is the wrong list, which is the check for the rest of the round.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Pairs trace T-4's row: after the join it has NULL paid_date. Ask what</a:t>
            </a:r>
          </a:p>
          <a:p>
            <a:r>
              <a:t>NULL BETWEEN two dates evaluates to. Most of the room has not met three-valued logic by name.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answer is b. NULL compared with anything is unknown, and WHERE keeps only</a:t>
            </a:r>
          </a:p>
          <a:p>
            <a:r>
              <a:t>rows that are true. The trainer runs the same query on Q2 live; the room counts rows against 462</a:t>
            </a:r>
          </a:p>
          <a:p>
            <a:r>
              <a:t>and sees the shortfall without the trainer naming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What changed: one row, and the whole unpaid list. The model answer: in ON, the</a:t>
            </a:r>
          </a:p>
          <a:p>
            <a:r>
              <a:t>filter decides which right rows match and every left row survives; in WHERE, it runs after the</a:t>
            </a:r>
          </a:p>
          <a:p>
            <a:r>
              <a:t>join and removes the NULL rows, so the LEFT JOIN behaves as INNER. The PostgreSQL 16 manual's</a:t>
            </a:r>
          </a:p>
          <a:p>
            <a:r>
              <a:t>table-expressions page says the same; the link is in the notes.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On the tiny tables it returns T-4. On Q2 the room runs step B1 of sql 04 and</a:t>
            </a:r>
          </a:p>
          <a:p>
            <a:r>
              <a:t>reads the count first. NOT EXISTS gives the same list and reads as Anand's sentence; both are fine,</a:t>
            </a:r>
          </a:p>
          <a:p>
            <a:r>
              <a:t>and the day sheet has the numbers. The model answer: a LEFT JOIN with IS NULL on the right key, or</a:t>
            </a:r>
          </a:p>
          <a:p>
            <a:r>
              <a:t>NOT EXISTS, and a check that the list's booked total equals the gap.</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Pairs predict. S12 already showed 216 orders with two payment rows, so the sharp</a:t>
            </a:r>
          </a:p>
          <a:p>
            <a:r>
              <a:t>ones answer b from memory. Ask them what kind of orders those are.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answer is b. Two payment rows can be two instalments or one payment posted</a:t>
            </a:r>
          </a:p>
          <a:p>
            <a:r>
              <a:t>twice; the count cannot tell them apart. Ask what column could: instalment_no.</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room runs step B3 and B4 of sql 04 and counts its own list; step B4 prints</a:t>
            </a:r>
          </a:p>
          <a:p>
            <a:r>
              <a:t>the patterns. Do not read the count aloud. The check: the list's surplus must equal the bridge's</a:t>
            </a:r>
          </a:p>
          <a:p>
            <a:r>
              <a:t>"posted twice" bar from S27.</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8 minutes. The room runs it. Anyone who finds the unmatched payments has found what the FULL</a:t>
            </a:r>
          </a:p>
          <a:p>
            <a:r>
              <a:t>OUTER join would show; name that and park it. The escalated case after lunch packages all of it</a:t>
            </a:r>
          </a:p>
          <a:p>
            <a:r>
              <a:t>by channel for Anand.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[D] answer: size it by channel and by order, since a small total can hide one</a:t>
            </a:r>
          </a:p>
          <a:p>
            <a:r>
              <a:t>large invoice; check its age, since an unpaid order from July is overdue while one from yesterday</a:t>
            </a:r>
          </a:p>
          <a:p>
            <a:r>
              <a:t>is not; and state the cost of chasing against the cash at stake. The answer is in the day sheet.</a:t>
            </a:r>
          </a:p>
          <a:p>
            <a:r>
              <a:t>Transition: after lunch, the escalated case puts the three rounds into one report by channel.</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Ask the room which row felt weakest by a show of hands, and note it for the</a:t>
            </a:r>
          </a:p>
          <a:p>
            <a:r>
              <a:t>escalated case: that is where the room will stall after lunch.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xml"/><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xml"/><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xml"/><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2.xml"/><Relationship Id="rId5"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0.png"/><Relationship Id="rId6" Type="http://schemas.openxmlformats.org/officeDocument/2006/relationships/image" Target="../media/image13.png"/><Relationship Id="rId7" Type="http://schemas.openxmlformats.org/officeDocument/2006/relationships/image" Target="../media/image8.png"/><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5.xml"/><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7.xml"/><Relationship Id="rId5"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8.xml"/><Relationship Id="rId5"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9.xml"/><Relationship Id="rId5"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image" Target="../media/image14.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24.xml"/><Relationship Id="rId6"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7.xml"/><Relationship Id="rId5"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0.xml"/><Relationship Id="rId5"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image" Target="../media/image21.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34.xml"/><Relationship Id="rId6"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6.xml"/><Relationship Id="rId5" Type="http://schemas.openxmlformats.org/officeDocument/2006/relationships/image" Target="../media/image2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8.xml"/><Relationship Id="rId5" Type="http://schemas.openxmlformats.org/officeDocument/2006/relationships/image" Target="../media/image8.png"/><Relationship Id="rId6" Type="http://schemas.openxmlformats.org/officeDocument/2006/relationships/image" Target="../media/image3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0.xml"/><Relationship Id="rId5" Type="http://schemas.openxmlformats.org/officeDocument/2006/relationships/image" Target="../media/image3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image" Target="../media/image27.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621792" y="566928"/>
            <a:ext cx="1051560" cy="1051560"/>
          </a:xfrm>
          <a:prstGeom prst="rect">
            <a:avLst/>
          </a:prstGeom>
        </p:spPr>
      </p:pic>
      <p:sp>
        <p:nvSpPr>
          <p:cNvPr id="4" name="TextBox 3"/>
          <p:cNvSpPr txBox="1"/>
          <p:nvPr/>
        </p:nvSpPr>
        <p:spPr>
          <a:xfrm>
            <a:off x="1901952" y="804672"/>
            <a:ext cx="6858000" cy="300735"/>
          </a:xfrm>
          <a:prstGeom prst="rect">
            <a:avLst/>
          </a:prstGeom>
          <a:noFill/>
        </p:spPr>
        <p:txBody>
          <a:bodyPr wrap="square" anchor="t" lIns="0" rIns="0" tIns="0" bIns="0">
            <a:spAutoFit/>
          </a:bodyPr>
          <a:lstStyle/>
          <a:p>
            <a:pPr algn="l"/>
            <a:r>
              <a:rPr sz="1600" b="1" i="0">
                <a:solidFill>
                  <a:srgbClr val="FFFFFF"/>
                </a:solidFill>
                <a:latin typeface="Calibri"/>
              </a:rPr>
              <a:t>Indian Institute of Technology Gandhinagar</a:t>
            </a:r>
          </a:p>
        </p:txBody>
      </p:sp>
      <p:sp>
        <p:nvSpPr>
          <p:cNvPr id="5" name="TextBox 4"/>
          <p:cNvSpPr txBox="1"/>
          <p:nvPr/>
        </p:nvSpPr>
        <p:spPr>
          <a:xfrm>
            <a:off x="1901952" y="1133856"/>
            <a:ext cx="7772400" cy="152146"/>
          </a:xfrm>
          <a:prstGeom prst="rect">
            <a:avLst/>
          </a:prstGeom>
          <a:noFill/>
        </p:spPr>
        <p:txBody>
          <a:bodyPr wrap="square" anchor="t" lIns="0" rIns="0" tIns="0" bIns="0">
            <a:spAutoFit/>
          </a:bodyPr>
          <a:lstStyle/>
          <a:p>
            <a:pPr algn="l"/>
            <a:r>
              <a:rPr sz="700" b="1" i="0" spc="300">
                <a:solidFill>
                  <a:srgbClr val="D9A7FF"/>
                </a:solidFill>
                <a:latin typeface="Calibri"/>
              </a:rPr>
              <a:t>ADMINISTERED THROUGH THE COMPETENCY ADVANCEMENT ACADEMY</a:t>
            </a:r>
          </a:p>
        </p:txBody>
      </p:sp>
      <p:sp>
        <p:nvSpPr>
          <p:cNvPr id="6" name="Rectangle 5"/>
          <p:cNvSpPr/>
          <p:nvPr/>
        </p:nvSpPr>
        <p:spPr>
          <a:xfrm>
            <a:off x="621792" y="1938528"/>
            <a:ext cx="10948111" cy="10972"/>
          </a:xfrm>
          <a:prstGeom prst="rect">
            <a:avLst/>
          </a:prstGeom>
          <a:solidFill>
            <a:srgbClr val="A9A3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21792" y="2240280"/>
            <a:ext cx="3290677" cy="329184"/>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900" b="1" spc="250">
                <a:solidFill>
                  <a:srgbClr val="FFFFFF"/>
                </a:solidFill>
                <a:latin typeface="Calibri"/>
              </a:rPr>
              <a:t>WEEK 2  ·  TUESDAY  ·  MORNING</a:t>
            </a:r>
          </a:p>
        </p:txBody>
      </p:sp>
      <p:sp>
        <p:nvSpPr>
          <p:cNvPr id="8" name="TextBox 7"/>
          <p:cNvSpPr txBox="1"/>
          <p:nvPr/>
        </p:nvSpPr>
        <p:spPr>
          <a:xfrm>
            <a:off x="621792" y="2807208"/>
            <a:ext cx="10582351" cy="663956"/>
          </a:xfrm>
          <a:prstGeom prst="rect">
            <a:avLst/>
          </a:prstGeom>
          <a:noFill/>
        </p:spPr>
        <p:txBody>
          <a:bodyPr wrap="square" anchor="t" lIns="0" rIns="0" tIns="0" bIns="0">
            <a:spAutoFit/>
          </a:bodyPr>
          <a:lstStyle/>
          <a:p>
            <a:pPr algn="l"/>
            <a:r>
              <a:rPr sz="3800" b="0" i="0">
                <a:solidFill>
                  <a:srgbClr val="FFFFFF"/>
                </a:solidFill>
                <a:latin typeface="Georgia"/>
              </a:rPr>
              <a:t>Booked against collected, without lying</a:t>
            </a:r>
          </a:p>
        </p:txBody>
      </p:sp>
      <p:sp>
        <p:nvSpPr>
          <p:cNvPr id="9" name="TextBox 8"/>
          <p:cNvSpPr txBox="1"/>
          <p:nvPr/>
        </p:nvSpPr>
        <p:spPr>
          <a:xfrm>
            <a:off x="621792" y="3635756"/>
            <a:ext cx="10033711" cy="663956"/>
          </a:xfrm>
          <a:prstGeom prst="rect">
            <a:avLst/>
          </a:prstGeom>
          <a:noFill/>
        </p:spPr>
        <p:txBody>
          <a:bodyPr wrap="square" anchor="t" lIns="0" rIns="0" tIns="0" bIns="0">
            <a:spAutoFit/>
          </a:bodyPr>
          <a:lstStyle/>
          <a:p>
            <a:pPr algn="l"/>
            <a:r>
              <a:rPr sz="1900" b="0" i="1">
                <a:solidFill>
                  <a:srgbClr val="D9A7FF"/>
                </a:solidFill>
                <a:latin typeface="Georgia"/>
              </a:rPr>
              <a:t>“Booked revenue is not collected revenue. Show me, order by order, what we actually collected against what we booked in Q2.”</a:t>
            </a:r>
          </a:p>
        </p:txBody>
      </p:sp>
      <p:sp>
        <p:nvSpPr>
          <p:cNvPr id="10" name="TextBox 9"/>
          <p:cNvSpPr txBox="1"/>
          <p:nvPr/>
        </p:nvSpPr>
        <p:spPr>
          <a:xfrm>
            <a:off x="621792" y="4354576"/>
            <a:ext cx="10033711" cy="218186"/>
          </a:xfrm>
          <a:prstGeom prst="rect">
            <a:avLst/>
          </a:prstGeom>
          <a:noFill/>
        </p:spPr>
        <p:txBody>
          <a:bodyPr wrap="square" anchor="t" lIns="0" rIns="0" tIns="0" bIns="0">
            <a:spAutoFit/>
          </a:bodyPr>
          <a:lstStyle/>
          <a:p>
            <a:pPr algn="l"/>
            <a:r>
              <a:rPr sz="1100" b="0" i="0">
                <a:solidFill>
                  <a:srgbClr val="CFC9EE"/>
                </a:solidFill>
                <a:latin typeface="Calibri"/>
              </a:rPr>
              <a:t>Anand Iyer, finance controller, Kalpa Retail, replying to the team's Monday suite</a:t>
            </a:r>
          </a:p>
        </p:txBody>
      </p:sp>
      <p:sp>
        <p:nvSpPr>
          <p:cNvPr id="11" name="TextBox 10"/>
          <p:cNvSpPr txBox="1"/>
          <p:nvPr/>
        </p:nvSpPr>
        <p:spPr>
          <a:xfrm>
            <a:off x="621792"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01</a:t>
            </a:r>
          </a:p>
        </p:txBody>
      </p:sp>
      <p:sp>
        <p:nvSpPr>
          <p:cNvPr id="12" name="TextBox 11"/>
          <p:cNvSpPr txBox="1"/>
          <p:nvPr/>
        </p:nvSpPr>
        <p:spPr>
          <a:xfrm>
            <a:off x="1005839" y="5248656"/>
            <a:ext cx="596931" cy="185166"/>
          </a:xfrm>
          <a:prstGeom prst="rect">
            <a:avLst/>
          </a:prstGeom>
          <a:noFill/>
        </p:spPr>
        <p:txBody>
          <a:bodyPr wrap="square" anchor="t" lIns="0" rIns="0" tIns="0" bIns="0">
            <a:spAutoFit/>
          </a:bodyPr>
          <a:lstStyle/>
          <a:p>
            <a:pPr algn="l"/>
            <a:r>
              <a:rPr sz="900" b="0" i="0">
                <a:solidFill>
                  <a:srgbClr val="FFFFFF"/>
                </a:solidFill>
                <a:latin typeface="Calibri"/>
              </a:rPr>
              <a:t>The ask</a:t>
            </a:r>
          </a:p>
        </p:txBody>
      </p:sp>
      <p:sp>
        <p:nvSpPr>
          <p:cNvPr id="13" name="TextBox 12"/>
          <p:cNvSpPr txBox="1"/>
          <p:nvPr/>
        </p:nvSpPr>
        <p:spPr>
          <a:xfrm>
            <a:off x="1785651"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02</a:t>
            </a:r>
          </a:p>
        </p:txBody>
      </p:sp>
      <p:sp>
        <p:nvSpPr>
          <p:cNvPr id="14" name="TextBox 13"/>
          <p:cNvSpPr txBox="1"/>
          <p:nvPr/>
        </p:nvSpPr>
        <p:spPr>
          <a:xfrm>
            <a:off x="2169699" y="5248656"/>
            <a:ext cx="1839087" cy="185166"/>
          </a:xfrm>
          <a:prstGeom prst="rect">
            <a:avLst/>
          </a:prstGeom>
          <a:noFill/>
        </p:spPr>
        <p:txBody>
          <a:bodyPr wrap="square" anchor="t" lIns="0" rIns="0" tIns="0" bIns="0">
            <a:spAutoFit/>
          </a:bodyPr>
          <a:lstStyle/>
          <a:p>
            <a:pPr algn="l"/>
            <a:r>
              <a:rPr sz="900" b="0" i="0">
                <a:solidFill>
                  <a:srgbClr val="FFFFFF"/>
                </a:solidFill>
                <a:latin typeface="Calibri"/>
              </a:rPr>
              <a:t>What a join does to the rows</a:t>
            </a:r>
          </a:p>
        </p:txBody>
      </p:sp>
      <p:sp>
        <p:nvSpPr>
          <p:cNvPr id="15" name="TextBox 14"/>
          <p:cNvSpPr txBox="1"/>
          <p:nvPr/>
        </p:nvSpPr>
        <p:spPr>
          <a:xfrm>
            <a:off x="4191666"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03</a:t>
            </a:r>
          </a:p>
        </p:txBody>
      </p:sp>
      <p:sp>
        <p:nvSpPr>
          <p:cNvPr id="16" name="TextBox 15"/>
          <p:cNvSpPr txBox="1"/>
          <p:nvPr/>
        </p:nvSpPr>
        <p:spPr>
          <a:xfrm>
            <a:off x="4575714" y="5248656"/>
            <a:ext cx="1993392" cy="185166"/>
          </a:xfrm>
          <a:prstGeom prst="rect">
            <a:avLst/>
          </a:prstGeom>
          <a:noFill/>
        </p:spPr>
        <p:txBody>
          <a:bodyPr wrap="square" anchor="t" lIns="0" rIns="0" tIns="0" bIns="0">
            <a:spAutoFit/>
          </a:bodyPr>
          <a:lstStyle/>
          <a:p>
            <a:pPr algn="l"/>
            <a:r>
              <a:rPr sz="900" b="0" i="0">
                <a:solidFill>
                  <a:srgbClr val="FFFFFF"/>
                </a:solidFill>
                <a:latin typeface="Calibri"/>
              </a:rPr>
              <a:t>Prove the join before the number</a:t>
            </a:r>
          </a:p>
        </p:txBody>
      </p:sp>
      <p:sp>
        <p:nvSpPr>
          <p:cNvPr id="17" name="TextBox 16"/>
          <p:cNvSpPr txBox="1"/>
          <p:nvPr/>
        </p:nvSpPr>
        <p:spPr>
          <a:xfrm>
            <a:off x="6751986"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04</a:t>
            </a:r>
          </a:p>
        </p:txBody>
      </p:sp>
      <p:sp>
        <p:nvSpPr>
          <p:cNvPr id="18" name="TextBox 17"/>
          <p:cNvSpPr txBox="1"/>
          <p:nvPr/>
        </p:nvSpPr>
        <p:spPr>
          <a:xfrm>
            <a:off x="7136034" y="5248656"/>
            <a:ext cx="1993392" cy="185166"/>
          </a:xfrm>
          <a:prstGeom prst="rect">
            <a:avLst/>
          </a:prstGeom>
          <a:noFill/>
        </p:spPr>
        <p:txBody>
          <a:bodyPr wrap="square" anchor="t" lIns="0" rIns="0" tIns="0" bIns="0">
            <a:spAutoFit/>
          </a:bodyPr>
          <a:lstStyle/>
          <a:p>
            <a:pPr algn="l"/>
            <a:r>
              <a:rPr sz="900" b="0" i="0">
                <a:solidFill>
                  <a:srgbClr val="FFFFFF"/>
                </a:solidFill>
                <a:latin typeface="Calibri"/>
              </a:rPr>
              <a:t>Which orders, and which payments</a:t>
            </a:r>
          </a:p>
        </p:txBody>
      </p:sp>
      <p:sp>
        <p:nvSpPr>
          <p:cNvPr id="19" name="TextBox 18"/>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2. Booked against collected, without lying</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44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01</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The ask</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A finance controller wants cash against bookings, and the payments feed has a habit.</a:t>
            </a:r>
          </a:p>
        </p:txBody>
      </p:sp>
      <p:sp>
        <p:nvSpPr>
          <p:cNvPr id="10" name="Rounded Rectangle 9"/>
          <p:cNvSpPr/>
          <p:nvPr/>
        </p:nvSpPr>
        <p:spPr>
          <a:xfrm>
            <a:off x="731519" y="5074920"/>
            <a:ext cx="780271"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The ask</a:t>
            </a:r>
          </a:p>
        </p:txBody>
      </p:sp>
      <p:sp>
        <p:nvSpPr>
          <p:cNvPr id="11" name="Rounded Rectangle 10"/>
          <p:cNvSpPr/>
          <p:nvPr/>
        </p:nvSpPr>
        <p:spPr>
          <a:xfrm>
            <a:off x="1621519" y="5074920"/>
            <a:ext cx="202380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a join does to the rows</a:t>
            </a:r>
          </a:p>
        </p:txBody>
      </p:sp>
      <p:sp>
        <p:nvSpPr>
          <p:cNvPr id="12" name="Rounded Rectangle 11"/>
          <p:cNvSpPr/>
          <p:nvPr/>
        </p:nvSpPr>
        <p:spPr>
          <a:xfrm>
            <a:off x="3755055" y="5074920"/>
            <a:ext cx="214884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Prove the join before the number</a:t>
            </a:r>
          </a:p>
        </p:txBody>
      </p:sp>
      <p:sp>
        <p:nvSpPr>
          <p:cNvPr id="13" name="Rounded Rectangle 12"/>
          <p:cNvSpPr/>
          <p:nvPr/>
        </p:nvSpPr>
        <p:spPr>
          <a:xfrm>
            <a:off x="6013623" y="5074920"/>
            <a:ext cx="214884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orders, and which payments</a:t>
            </a:r>
          </a:p>
        </p:txBody>
      </p:sp>
      <p:sp>
        <p:nvSpPr>
          <p:cNvPr id="14" name="TextBox 13"/>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2. Booked against collected, without lying</a:t>
            </a:r>
          </a:p>
        </p:txBody>
      </p:sp>
      <p:sp>
        <p:nvSpPr>
          <p:cNvPr id="15" name="TextBox 1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 / 44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Anand's reply to Monday's suite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Monday's numbers were bookings; Finance runs on cash.</a:t>
            </a:r>
          </a:p>
        </p:txBody>
      </p:sp>
      <p:sp>
        <p:nvSpPr>
          <p:cNvPr id="9" name="Rounded Rectangle 8"/>
          <p:cNvSpPr/>
          <p:nvPr/>
        </p:nvSpPr>
        <p:spPr>
          <a:xfrm>
            <a:off x="530352" y="1956816"/>
            <a:ext cx="11130991" cy="138074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41858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52831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941832"/>
          </a:xfrm>
          <a:prstGeom prst="rect">
            <a:avLst/>
          </a:prstGeom>
          <a:noFill/>
        </p:spPr>
        <p:txBody>
          <a:bodyPr wrap="square" anchor="t" lIns="0" rIns="0" tIns="0" bIns="0">
            <a:spAutoFit/>
          </a:bodyPr>
          <a:lstStyle/>
          <a:p>
            <a:r>
              <a:rPr sz="1500" b="0" i="0">
                <a:solidFill>
                  <a:srgbClr val="FFFFFF"/>
                </a:solidFill>
                <a:latin typeface="Calibri"/>
              </a:rPr>
              <a:t>"Booked revenue is not collected revenue. Some orders are paid in two instalments, some are refunded, some were never paid at all. Show me, order by order, what we actually collected against what we booked in Q2. If there is a gap, I want to know which orders and which channel."</a:t>
            </a:r>
          </a:p>
        </p:txBody>
      </p:sp>
      <p:sp>
        <p:nvSpPr>
          <p:cNvPr id="14" name="TextBox 13"/>
          <p:cNvSpPr txBox="1"/>
          <p:nvPr/>
        </p:nvSpPr>
        <p:spPr>
          <a:xfrm>
            <a:off x="530352" y="3502152"/>
            <a:ext cx="3527450" cy="698500"/>
          </a:xfrm>
          <a:prstGeom prst="rect">
            <a:avLst/>
          </a:prstGeom>
          <a:noFill/>
        </p:spPr>
        <p:txBody>
          <a:bodyPr wrap="square" anchor="t" lIns="0" rIns="0" tIns="0" bIns="0">
            <a:spAutoFit/>
          </a:bodyPr>
          <a:lstStyle/>
          <a:p>
            <a:pPr algn="l"/>
            <a:r>
              <a:rPr sz="4400" b="0" i="0">
                <a:solidFill>
                  <a:srgbClr val="5B3FD6"/>
                </a:solidFill>
                <a:latin typeface="Georgia"/>
              </a:rPr>
              <a:t>Rs 9.84 cr</a:t>
            </a:r>
          </a:p>
        </p:txBody>
      </p:sp>
      <p:sp>
        <p:nvSpPr>
          <p:cNvPr id="15" name="TextBox 14"/>
          <p:cNvSpPr txBox="1"/>
          <p:nvPr/>
        </p:nvSpPr>
        <p:spPr>
          <a:xfrm>
            <a:off x="530352" y="4237228"/>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BOOKED IN Q2</a:t>
            </a:r>
          </a:p>
        </p:txBody>
      </p:sp>
      <p:sp>
        <p:nvSpPr>
          <p:cNvPr id="16" name="TextBox 15"/>
          <p:cNvSpPr txBox="1"/>
          <p:nvPr/>
        </p:nvSpPr>
        <p:spPr>
          <a:xfrm>
            <a:off x="530352" y="4438396"/>
            <a:ext cx="3527450" cy="193421"/>
          </a:xfrm>
          <a:prstGeom prst="rect">
            <a:avLst/>
          </a:prstGeom>
          <a:noFill/>
        </p:spPr>
        <p:txBody>
          <a:bodyPr wrap="square" anchor="t" lIns="0" rIns="0" tIns="0" bIns="0">
            <a:spAutoFit/>
          </a:bodyPr>
          <a:lstStyle/>
          <a:p>
            <a:pPr algn="l"/>
            <a:r>
              <a:rPr sz="950" b="0" i="0">
                <a:solidFill>
                  <a:srgbClr val="6B6690"/>
                </a:solidFill>
                <a:latin typeface="Calibri"/>
              </a:rPr>
              <a:t>Monday's number, from orders alone</a:t>
            </a:r>
          </a:p>
        </p:txBody>
      </p:sp>
      <p:sp>
        <p:nvSpPr>
          <p:cNvPr id="17" name="Rectangle 16"/>
          <p:cNvSpPr/>
          <p:nvPr/>
        </p:nvSpPr>
        <p:spPr>
          <a:xfrm>
            <a:off x="530352" y="4690872"/>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332122" y="3502152"/>
            <a:ext cx="3527450" cy="698500"/>
          </a:xfrm>
          <a:prstGeom prst="rect">
            <a:avLst/>
          </a:prstGeom>
          <a:noFill/>
        </p:spPr>
        <p:txBody>
          <a:bodyPr wrap="square" anchor="t" lIns="0" rIns="0" tIns="0" bIns="0">
            <a:spAutoFit/>
          </a:bodyPr>
          <a:lstStyle/>
          <a:p>
            <a:pPr algn="l"/>
            <a:r>
              <a:rPr sz="4400" b="0" i="0">
                <a:solidFill>
                  <a:srgbClr val="5B3FD6"/>
                </a:solidFill>
                <a:latin typeface="Georgia"/>
              </a:rPr>
              <a:t>462</a:t>
            </a:r>
          </a:p>
        </p:txBody>
      </p:sp>
      <p:sp>
        <p:nvSpPr>
          <p:cNvPr id="19" name="TextBox 18"/>
          <p:cNvSpPr txBox="1"/>
          <p:nvPr/>
        </p:nvSpPr>
        <p:spPr>
          <a:xfrm>
            <a:off x="4332122" y="4237228"/>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Q2 ORDERS</a:t>
            </a:r>
          </a:p>
        </p:txBody>
      </p:sp>
      <p:sp>
        <p:nvSpPr>
          <p:cNvPr id="20" name="TextBox 19"/>
          <p:cNvSpPr txBox="1"/>
          <p:nvPr/>
        </p:nvSpPr>
        <p:spPr>
          <a:xfrm>
            <a:off x="4332122" y="4438396"/>
            <a:ext cx="3527450" cy="193421"/>
          </a:xfrm>
          <a:prstGeom prst="rect">
            <a:avLst/>
          </a:prstGeom>
          <a:noFill/>
        </p:spPr>
        <p:txBody>
          <a:bodyPr wrap="square" anchor="t" lIns="0" rIns="0" tIns="0" bIns="0">
            <a:spAutoFit/>
          </a:bodyPr>
          <a:lstStyle/>
          <a:p>
            <a:pPr algn="l"/>
            <a:r>
              <a:rPr sz="950" b="0" i="0">
                <a:solidFill>
                  <a:srgbClr val="6B6690"/>
                </a:solidFill>
                <a:latin typeface="Calibri"/>
              </a:rPr>
              <a:t>one row each in the orders table</a:t>
            </a:r>
          </a:p>
        </p:txBody>
      </p:sp>
      <p:sp>
        <p:nvSpPr>
          <p:cNvPr id="21" name="Rectangle 20"/>
          <p:cNvSpPr/>
          <p:nvPr/>
        </p:nvSpPr>
        <p:spPr>
          <a:xfrm>
            <a:off x="4332122" y="4690872"/>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133892" y="3502152"/>
            <a:ext cx="3527450" cy="698500"/>
          </a:xfrm>
          <a:prstGeom prst="rect">
            <a:avLst/>
          </a:prstGeom>
          <a:noFill/>
        </p:spPr>
        <p:txBody>
          <a:bodyPr wrap="square" anchor="t" lIns="0" rIns="0" tIns="0" bIns="0">
            <a:spAutoFit/>
          </a:bodyPr>
          <a:lstStyle/>
          <a:p>
            <a:pPr algn="l"/>
            <a:r>
              <a:rPr sz="4400" b="0" i="0">
                <a:solidFill>
                  <a:srgbClr val="5B3FD6"/>
                </a:solidFill>
                <a:latin typeface="Georgia"/>
              </a:rPr>
              <a:t>?</a:t>
            </a:r>
          </a:p>
        </p:txBody>
      </p:sp>
      <p:sp>
        <p:nvSpPr>
          <p:cNvPr id="23" name="TextBox 22"/>
          <p:cNvSpPr txBox="1"/>
          <p:nvPr/>
        </p:nvSpPr>
        <p:spPr>
          <a:xfrm>
            <a:off x="8133892" y="4237228"/>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COLLECTED IN Q2</a:t>
            </a:r>
          </a:p>
        </p:txBody>
      </p:sp>
      <p:sp>
        <p:nvSpPr>
          <p:cNvPr id="24" name="TextBox 23"/>
          <p:cNvSpPr txBox="1"/>
          <p:nvPr/>
        </p:nvSpPr>
        <p:spPr>
          <a:xfrm>
            <a:off x="8133892" y="4438396"/>
            <a:ext cx="3527450" cy="193421"/>
          </a:xfrm>
          <a:prstGeom prst="rect">
            <a:avLst/>
          </a:prstGeom>
          <a:noFill/>
        </p:spPr>
        <p:txBody>
          <a:bodyPr wrap="square" anchor="t" lIns="0" rIns="0" tIns="0" bIns="0">
            <a:spAutoFit/>
          </a:bodyPr>
          <a:lstStyle/>
          <a:p>
            <a:pPr algn="l"/>
            <a:r>
              <a:rPr sz="950" b="0" i="0">
                <a:solidFill>
                  <a:srgbClr val="6B6690"/>
                </a:solidFill>
                <a:latin typeface="Calibri"/>
              </a:rPr>
              <a:t>today's question</a:t>
            </a:r>
          </a:p>
        </p:txBody>
      </p:sp>
      <p:sp>
        <p:nvSpPr>
          <p:cNvPr id="25" name="Rectangle 24"/>
          <p:cNvSpPr/>
          <p:nvPr/>
        </p:nvSpPr>
        <p:spPr>
          <a:xfrm>
            <a:off x="8133892" y="4690872"/>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596360" cy="152146"/>
          </a:xfrm>
          <a:prstGeom prst="rect">
            <a:avLst/>
          </a:prstGeom>
          <a:noFill/>
        </p:spPr>
        <p:txBody>
          <a:bodyPr wrap="square" anchor="t" lIns="0" rIns="0" tIns="0" bIns="0">
            <a:spAutoFit/>
          </a:bodyPr>
          <a:lstStyle/>
          <a:p>
            <a:pPr algn="l"/>
            <a:r>
              <a:rPr sz="700" b="1" i="0">
                <a:solidFill>
                  <a:srgbClr val="5B3FD6"/>
                </a:solidFill>
                <a:latin typeface="Calibri"/>
              </a:rPr>
              <a:t>The ask</a:t>
            </a:r>
          </a:p>
        </p:txBody>
      </p:sp>
      <p:sp>
        <p:nvSpPr>
          <p:cNvPr id="28" name="Oval 27"/>
          <p:cNvSpPr/>
          <p:nvPr/>
        </p:nvSpPr>
        <p:spPr>
          <a:xfrm>
            <a:off x="13278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1437608"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What a join does to the rows</a:t>
            </a:r>
          </a:p>
        </p:txBody>
      </p:sp>
      <p:sp>
        <p:nvSpPr>
          <p:cNvPr id="30" name="Oval 29"/>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32" name="Oval 31"/>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34" name="TextBox 3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3 / 44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the platform lead added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new table, a new grain, and a remark made in passing.</a:t>
            </a:r>
          </a:p>
        </p:txBody>
      </p:sp>
      <p:pic>
        <p:nvPicPr>
          <p:cNvPr id="9" name="mermaid diagram" descr="d6b5088e8cdc2732.png"/>
          <p:cNvPicPr>
            <a:picLocks noChangeAspect="1"/>
          </p:cNvPicPr>
          <p:nvPr/>
        </p:nvPicPr>
        <p:blipFill>
          <a:blip r:embed="rId5"/>
          <a:stretch>
            <a:fillRect/>
          </a:stretch>
        </p:blipFill>
        <p:spPr>
          <a:xfrm>
            <a:off x="2009622" y="1824768"/>
            <a:ext cx="8172450" cy="1128712"/>
          </a:xfrm>
          <a:prstGeom prst="rect">
            <a:avLst/>
          </a:prstGeom>
        </p:spPr>
      </p:pic>
      <p:sp>
        <p:nvSpPr>
          <p:cNvPr id="10" name="Rounded Rectangle 9"/>
          <p:cNvSpPr/>
          <p:nvPr/>
        </p:nvSpPr>
        <p:spPr>
          <a:xfrm>
            <a:off x="530352" y="3099784"/>
            <a:ext cx="45720" cy="74168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86384" y="3099784"/>
            <a:ext cx="10820095" cy="741680"/>
          </a:xfrm>
          <a:prstGeom prst="rect">
            <a:avLst/>
          </a:prstGeom>
          <a:noFill/>
        </p:spPr>
        <p:txBody>
          <a:bodyPr wrap="square" anchor="t" lIns="0" rIns="0" tIns="0" bIns="0">
            <a:spAutoFit/>
          </a:bodyPr>
          <a:lstStyle/>
          <a:p>
            <a:r>
              <a:rPr sz="1600" b="0" i="1">
                <a:solidFill>
                  <a:srgbClr val="1A0F5C"/>
                </a:solidFill>
                <a:latin typeface="Georgia"/>
              </a:rPr>
              <a:t>"The payments feed sometimes double-posts when the gateway retries."</a:t>
            </a:r>
          </a:p>
          <a:p>
            <a:pPr>
              <a:spcBef>
                <a:spcPts val="400"/>
              </a:spcBef>
            </a:pPr>
            <a:r>
              <a:rPr sz="1000" b="0" i="0">
                <a:solidFill>
                  <a:srgbClr val="6B6690"/>
                </a:solidFill>
                <a:latin typeface="Calibri"/>
              </a:rPr>
              <a:t>The data platform lead, Kalpa Retail</a:t>
            </a:r>
          </a:p>
        </p:txBody>
      </p:sp>
      <p:graphicFrame>
        <p:nvGraphicFramePr>
          <p:cNvPr id="12" name="Table 11"/>
          <p:cNvGraphicFramePr>
            <a:graphicFrameLocks noGrp="1"/>
          </p:cNvGraphicFramePr>
          <p:nvPr/>
        </p:nvGraphicFramePr>
        <p:xfrm>
          <a:off x="530352" y="3987768"/>
          <a:ext cx="11130990" cy="1005840"/>
        </p:xfrm>
        <a:graphic>
          <a:graphicData uri="http://schemas.openxmlformats.org/drawingml/2006/table">
            <a:tbl>
              <a:tblPr firstRow="0" bandRow="0">
                <a:tableStyleId>{2D5ABB26-0587-4C30-8999-92F81FD0307C}</a:tableStyleId>
              </a:tblPr>
              <a:tblGrid>
                <a:gridCol w="914400"/>
                <a:gridCol w="1700192"/>
                <a:gridCol w="914400"/>
                <a:gridCol w="7601998"/>
              </a:tblGrid>
              <a:tr h="335280">
                <a:tc>
                  <a:txBody>
                    <a:bodyPr/>
                    <a:lstStyle/>
                    <a:p>
                      <a:r>
                        <a:rPr sz="1250" b="1" i="0">
                          <a:solidFill>
                            <a:srgbClr val="FFFFFF"/>
                          </a:solidFill>
                          <a:latin typeface="Calibri"/>
                        </a:rPr>
                        <a:t>Table</a:t>
                      </a:r>
                    </a:p>
                  </a:txBody>
                  <a:tcPr marL="101600" marR="101600" marT="38100" marB="38100" anchor="ctr">
                    <a:solidFill>
                      <a:srgbClr val="1A0F5C"/>
                    </a:solidFill>
                  </a:tcPr>
                </a:tc>
                <a:tc>
                  <a:txBody>
                    <a:bodyPr/>
                    <a:lstStyle/>
                    <a:p>
                      <a:r>
                        <a:rPr sz="1250" b="1" i="0">
                          <a:solidFill>
                            <a:srgbClr val="FFFFFF"/>
                          </a:solidFill>
                          <a:latin typeface="Calibri"/>
                        </a:rPr>
                        <a:t>One row per</a:t>
                      </a:r>
                    </a:p>
                  </a:txBody>
                  <a:tcPr marL="101600" marR="101600" marT="38100" marB="38100" anchor="ctr">
                    <a:solidFill>
                      <a:srgbClr val="1A0F5C"/>
                    </a:solidFill>
                  </a:tcPr>
                </a:tc>
                <a:tc>
                  <a:txBody>
                    <a:bodyPr/>
                    <a:lstStyle/>
                    <a:p>
                      <a:r>
                        <a:rPr sz="1250" b="1" i="0">
                          <a:solidFill>
                            <a:srgbClr val="FFFFFF"/>
                          </a:solidFill>
                          <a:latin typeface="Calibri"/>
                        </a:rPr>
                        <a:t>Rows</a:t>
                      </a:r>
                    </a:p>
                  </a:txBody>
                  <a:tcPr marL="101600" marR="101600" marT="38100" marB="38100" anchor="ctr">
                    <a:solidFill>
                      <a:srgbClr val="1A0F5C"/>
                    </a:solidFill>
                  </a:tcPr>
                </a:tc>
                <a:tc>
                  <a:txBody>
                    <a:bodyPr/>
                    <a:lstStyle/>
                    <a:p>
                      <a:r>
                        <a:rPr sz="1250" b="1" i="0">
                          <a:solidFill>
                            <a:srgbClr val="FFFFFF"/>
                          </a:solidFill>
                          <a:latin typeface="Calibri"/>
                        </a:rPr>
                        <a:t>What it carries</a:t>
                      </a:r>
                    </a:p>
                  </a:txBody>
                  <a:tcPr marL="101600" marR="101600" marT="38100" marB="38100" anchor="ctr">
                    <a:solidFill>
                      <a:srgbClr val="1A0F5C"/>
                    </a:solidFill>
                  </a:tcPr>
                </a:tc>
              </a:tr>
              <a:tr h="335280">
                <a:tc>
                  <a:txBody>
                    <a:bodyPr/>
                    <a:lstStyle/>
                    <a:p>
                      <a:r>
                        <a:rPr sz="1200" b="0" i="0">
                          <a:solidFill>
                            <a:srgbClr val="1A1440"/>
                          </a:solidFill>
                          <a:latin typeface="Calibri"/>
                        </a:rPr>
                        <a:t>orders</a:t>
                      </a:r>
                    </a:p>
                  </a:txBody>
                  <a:tcPr marL="101600" marR="101600" marT="38100" marB="38100" anchor="ctr">
                    <a:solidFill>
                      <a:srgbClr val="FFFFFF"/>
                    </a:solidFill>
                  </a:tcPr>
                </a:tc>
                <a:tc>
                  <a:txBody>
                    <a:bodyPr/>
                    <a:lstStyle/>
                    <a:p>
                      <a:r>
                        <a:rPr sz="1200" b="0" i="0">
                          <a:solidFill>
                            <a:srgbClr val="1A1440"/>
                          </a:solidFill>
                          <a:latin typeface="Calibri"/>
                        </a:rPr>
                        <a:t>Order</a:t>
                      </a:r>
                    </a:p>
                  </a:txBody>
                  <a:tcPr marL="101600" marR="101600" marT="38100" marB="38100" anchor="ctr">
                    <a:solidFill>
                      <a:srgbClr val="FFFFFF"/>
                    </a:solidFill>
                  </a:tcPr>
                </a:tc>
                <a:tc>
                  <a:txBody>
                    <a:bodyPr/>
                    <a:lstStyle/>
                    <a:p>
                      <a:r>
                        <a:rPr sz="1200" b="0" i="0">
                          <a:solidFill>
                            <a:srgbClr val="1A1440"/>
                          </a:solidFill>
                          <a:latin typeface="Calibri"/>
                        </a:rPr>
                        <a:t>1,000</a:t>
                      </a:r>
                    </a:p>
                  </a:txBody>
                  <a:tcPr marL="101600" marR="101600" marT="38100" marB="38100" anchor="ctr">
                    <a:solidFill>
                      <a:srgbClr val="FFFFFF"/>
                    </a:solidFill>
                  </a:tcPr>
                </a:tc>
                <a:tc>
                  <a:txBody>
                    <a:bodyPr/>
                    <a:lstStyle/>
                    <a:p>
                      <a:r>
                        <a:rPr sz="1200" b="0" i="0">
                          <a:solidFill>
                            <a:srgbClr val="1A1440"/>
                          </a:solidFill>
                          <a:latin typeface="Calibri"/>
                        </a:rPr>
                        <a:t>The amount booked, the channel, the quarter and the status</a:t>
                      </a:r>
                    </a:p>
                  </a:txBody>
                  <a:tcPr marL="101600" marR="101600" marT="38100" marB="38100" anchor="ctr">
                    <a:solidFill>
                      <a:srgbClr val="FFFFFF"/>
                    </a:solidFill>
                  </a:tcPr>
                </a:tc>
              </a:tr>
              <a:tr h="335280">
                <a:tc>
                  <a:txBody>
                    <a:bodyPr/>
                    <a:lstStyle/>
                    <a:p>
                      <a:r>
                        <a:rPr sz="1200" b="0" i="0">
                          <a:solidFill>
                            <a:srgbClr val="1A1440"/>
                          </a:solidFill>
                          <a:latin typeface="Calibri"/>
                        </a:rPr>
                        <a:t>payments</a:t>
                      </a:r>
                    </a:p>
                  </a:txBody>
                  <a:tcPr marL="101600" marR="101600" marT="38100" marB="38100" anchor="ctr">
                    <a:solidFill>
                      <a:srgbClr val="F4F2FA"/>
                    </a:solidFill>
                  </a:tcPr>
                </a:tc>
                <a:tc>
                  <a:txBody>
                    <a:bodyPr/>
                    <a:lstStyle/>
                    <a:p>
                      <a:r>
                        <a:rPr sz="1200" b="0" i="0">
                          <a:solidFill>
                            <a:srgbClr val="1A1440"/>
                          </a:solidFill>
                          <a:latin typeface="Calibri"/>
                        </a:rPr>
                        <a:t>Payment event</a:t>
                      </a:r>
                    </a:p>
                  </a:txBody>
                  <a:tcPr marL="101600" marR="101600" marT="38100" marB="38100" anchor="ctr">
                    <a:solidFill>
                      <a:srgbClr val="F4F2FA"/>
                    </a:solidFill>
                  </a:tcPr>
                </a:tc>
                <a:tc>
                  <a:txBody>
                    <a:bodyPr/>
                    <a:lstStyle/>
                    <a:p>
                      <a:r>
                        <a:rPr sz="1200" b="0" i="0">
                          <a:solidFill>
                            <a:srgbClr val="1A1440"/>
                          </a:solidFill>
                          <a:latin typeface="Calibri"/>
                        </a:rPr>
                        <a:t>1,428</a:t>
                      </a:r>
                    </a:p>
                  </a:txBody>
                  <a:tcPr marL="101600" marR="101600" marT="38100" marB="38100" anchor="ctr">
                    <a:solidFill>
                      <a:srgbClr val="F4F2FA"/>
                    </a:solidFill>
                  </a:tcPr>
                </a:tc>
                <a:tc>
                  <a:txBody>
                    <a:bodyPr/>
                    <a:lstStyle/>
                    <a:p>
                      <a:r>
                        <a:rPr sz="1200" b="0" i="0">
                          <a:solidFill>
                            <a:srgbClr val="1A1440"/>
                          </a:solidFill>
                          <a:latin typeface="Calibri"/>
                        </a:rPr>
                        <a:t>The order it pays, the date, the amount, the method and the instalment number</a:t>
                      </a:r>
                    </a:p>
                  </a:txBody>
                  <a:tcPr marL="101600" marR="101600" marT="38100" marB="38100" anchor="ctr">
                    <a:solidFill>
                      <a:srgbClr val="F4F2FA"/>
                    </a:solidFill>
                  </a:tcPr>
                </a:tc>
              </a:tr>
            </a:tbl>
          </a:graphicData>
        </a:graphic>
      </p:graphicFrame>
      <p:sp>
        <p:nvSpPr>
          <p:cNvPr id="13" name="Rounded Rectangle 12"/>
          <p:cNvSpPr/>
          <p:nvPr/>
        </p:nvSpPr>
        <p:spPr>
          <a:xfrm>
            <a:off x="530352" y="524964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76656" y="537765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77824" y="5368512"/>
            <a:ext cx="10564063" cy="624840"/>
          </a:xfrm>
          <a:prstGeom prst="rect">
            <a:avLst/>
          </a:prstGeom>
          <a:noFill/>
        </p:spPr>
        <p:txBody>
          <a:bodyPr wrap="square" anchor="ctr" lIns="0" rIns="0" tIns="0" bIns="0">
            <a:spAutoFit/>
          </a:bodyPr>
          <a:lstStyle/>
          <a:p>
            <a:r>
              <a:rPr sz="1500" b="1">
                <a:solidFill>
                  <a:srgbClr val="5B3FD6"/>
                </a:solidFill>
                <a:latin typeface="Calibri"/>
              </a:rPr>
              <a:t>Your role. </a:t>
            </a:r>
            <a:r>
              <a:rPr sz="1500" b="0" i="0">
                <a:solidFill>
                  <a:srgbClr val="1A1440"/>
                </a:solidFill>
                <a:latin typeface="Calibri"/>
              </a:rPr>
              <a:t>You sign off the collected number, and Anand will ask how you know it is not double-counted before he uses it.</a:t>
            </a:r>
          </a:p>
        </p:txBody>
      </p:sp>
      <p:sp>
        <p:nvSpPr>
          <p:cNvPr id="16" name="Oval 1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596360" cy="152146"/>
          </a:xfrm>
          <a:prstGeom prst="rect">
            <a:avLst/>
          </a:prstGeom>
          <a:noFill/>
        </p:spPr>
        <p:txBody>
          <a:bodyPr wrap="square" anchor="t" lIns="0" rIns="0" tIns="0" bIns="0">
            <a:spAutoFit/>
          </a:bodyPr>
          <a:lstStyle/>
          <a:p>
            <a:pPr algn="l"/>
            <a:r>
              <a:rPr sz="700" b="1" i="0">
                <a:solidFill>
                  <a:srgbClr val="5B3FD6"/>
                </a:solidFill>
                <a:latin typeface="Calibri"/>
              </a:rPr>
              <a:t>The ask</a:t>
            </a:r>
          </a:p>
        </p:txBody>
      </p:sp>
      <p:sp>
        <p:nvSpPr>
          <p:cNvPr id="18" name="Oval 17"/>
          <p:cNvSpPr/>
          <p:nvPr/>
        </p:nvSpPr>
        <p:spPr>
          <a:xfrm>
            <a:off x="13278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437608"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What a join does to the rows</a:t>
            </a:r>
          </a:p>
        </p:txBody>
      </p:sp>
      <p:sp>
        <p:nvSpPr>
          <p:cNvPr id="20" name="Oval 19"/>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22" name="Oval 21"/>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4 / 44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which number is "collected"?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Three honest totals sit in the payments feed, and Anand wants one.</a:t>
            </a:r>
          </a:p>
        </p:txBody>
      </p:sp>
      <p:pic>
        <p:nvPicPr>
          <p:cNvPr id="9" name="mermaid diagram" descr="7fd0ae4c4ef5cb4f.png"/>
          <p:cNvPicPr>
            <a:picLocks noChangeAspect="1"/>
          </p:cNvPicPr>
          <p:nvPr/>
        </p:nvPicPr>
        <p:blipFill>
          <a:blip r:embed="rId5"/>
          <a:stretch>
            <a:fillRect/>
          </a:stretch>
        </p:blipFill>
        <p:spPr>
          <a:xfrm>
            <a:off x="1852460" y="1956816"/>
            <a:ext cx="8486775" cy="871537"/>
          </a:xfrm>
          <a:prstGeom prst="rect">
            <a:avLst/>
          </a:prstGeom>
        </p:spPr>
      </p:pic>
      <p:sp>
        <p:nvSpPr>
          <p:cNvPr id="10" name="Rounded Rectangle 9"/>
          <p:cNvSpPr/>
          <p:nvPr/>
        </p:nvSpPr>
        <p:spPr>
          <a:xfrm>
            <a:off x="530352" y="2974657"/>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102673"/>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093529"/>
            <a:ext cx="10564063" cy="8915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Anand asks for collected revenue. Which total does he mean? a) the sum of every payment row the feed posted; b) the cash that arrived, with each payment counted once; c) the booked amount of every order that has at least one payment; d) booked less refunds.</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596360" cy="152146"/>
          </a:xfrm>
          <a:prstGeom prst="rect">
            <a:avLst/>
          </a:prstGeom>
          <a:noFill/>
        </p:spPr>
        <p:txBody>
          <a:bodyPr wrap="square" anchor="t" lIns="0" rIns="0" tIns="0" bIns="0">
            <a:spAutoFit/>
          </a:bodyPr>
          <a:lstStyle/>
          <a:p>
            <a:pPr algn="l"/>
            <a:r>
              <a:rPr sz="700" b="1" i="0">
                <a:solidFill>
                  <a:srgbClr val="5B3FD6"/>
                </a:solidFill>
                <a:latin typeface="Calibri"/>
              </a:rPr>
              <a:t>The ask</a:t>
            </a:r>
          </a:p>
        </p:txBody>
      </p:sp>
      <p:sp>
        <p:nvSpPr>
          <p:cNvPr id="15" name="Oval 14"/>
          <p:cNvSpPr/>
          <p:nvPr/>
        </p:nvSpPr>
        <p:spPr>
          <a:xfrm>
            <a:off x="13278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437608"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What a join does to the rows</a:t>
            </a:r>
          </a:p>
        </p:txBody>
      </p:sp>
      <p:sp>
        <p:nvSpPr>
          <p:cNvPr id="17" name="Oval 16"/>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19" name="Oval 18"/>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5 / 44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cash that arrived, counted once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feed's own total and the value of paid orders are both easy to compute and both wrong.</a:t>
            </a:r>
          </a:p>
        </p:txBody>
      </p:sp>
      <p:graphicFrame>
        <p:nvGraphicFramePr>
          <p:cNvPr id="9" name="Table 8"/>
          <p:cNvGraphicFramePr>
            <a:graphicFrameLocks noGrp="1"/>
          </p:cNvGraphicFramePr>
          <p:nvPr/>
        </p:nvGraphicFramePr>
        <p:xfrm>
          <a:off x="530352" y="1956816"/>
          <a:ext cx="11130990" cy="1849120"/>
        </p:xfrm>
        <a:graphic>
          <a:graphicData uri="http://schemas.openxmlformats.org/drawingml/2006/table">
            <a:tbl>
              <a:tblPr firstRow="0" bandRow="0">
                <a:tableStyleId>{2D5ABB26-0587-4C30-8999-92F81FD0307C}</a:tableStyleId>
              </a:tblPr>
              <a:tblGrid>
                <a:gridCol w="3157788"/>
                <a:gridCol w="4425385"/>
                <a:gridCol w="3547817"/>
              </a:tblGrid>
              <a:tr h="369824">
                <a:tc>
                  <a:txBody>
                    <a:bodyPr/>
                    <a:lstStyle/>
                    <a:p>
                      <a:r>
                        <a:rPr sz="1450" b="1" i="0">
                          <a:solidFill>
                            <a:srgbClr val="FFFFFF"/>
                          </a:solidFill>
                          <a:latin typeface="Calibri"/>
                        </a:rPr>
                        <a:t>Reading</a:t>
                      </a:r>
                    </a:p>
                  </a:txBody>
                  <a:tcPr marL="101600" marR="101600" marT="38100" marB="38100" anchor="ctr">
                    <a:solidFill>
                      <a:srgbClr val="1A0F5C"/>
                    </a:solidFill>
                  </a:tcPr>
                </a:tc>
                <a:tc>
                  <a:txBody>
                    <a:bodyPr/>
                    <a:lstStyle/>
                    <a:p>
                      <a:r>
                        <a:rPr sz="1450" b="1" i="0">
                          <a:solidFill>
                            <a:srgbClr val="FFFFFF"/>
                          </a:solidFill>
                          <a:latin typeface="Calibri"/>
                        </a:rPr>
                        <a:t>Why it is tempting</a:t>
                      </a:r>
                    </a:p>
                  </a:txBody>
                  <a:tcPr marL="101600" marR="101600" marT="38100" marB="38100" anchor="ctr">
                    <a:solidFill>
                      <a:srgbClr val="1A0F5C"/>
                    </a:solidFill>
                  </a:tcPr>
                </a:tc>
                <a:tc>
                  <a:txBody>
                    <a:bodyPr/>
                    <a:lstStyle/>
                    <a:p>
                      <a:r>
                        <a:rPr sz="1450" b="1" i="0">
                          <a:solidFill>
                            <a:srgbClr val="FFFFFF"/>
                          </a:solidFill>
                          <a:latin typeface="Calibri"/>
                        </a:rPr>
                        <a:t>What it gets wrong</a:t>
                      </a:r>
                    </a:p>
                  </a:txBody>
                  <a:tcPr marL="101600" marR="101600" marT="38100" marB="38100" anchor="ctr">
                    <a:solidFill>
                      <a:srgbClr val="1A0F5C"/>
                    </a:solidFill>
                  </a:tcPr>
                </a:tc>
              </a:tr>
              <a:tr h="369824">
                <a:tc>
                  <a:txBody>
                    <a:bodyPr/>
                    <a:lstStyle/>
                    <a:p>
                      <a:r>
                        <a:rPr sz="1400" b="0" i="0">
                          <a:solidFill>
                            <a:srgbClr val="1A1440"/>
                          </a:solidFill>
                          <a:latin typeface="Calibri"/>
                        </a:rPr>
                        <a:t>a) Every posted row</a:t>
                      </a:r>
                    </a:p>
                  </a:txBody>
                  <a:tcPr marL="101600" marR="101600" marT="38100" marB="38100" anchor="ctr">
                    <a:solidFill>
                      <a:srgbClr val="FFFFFF"/>
                    </a:solidFill>
                  </a:tcPr>
                </a:tc>
                <a:tc>
                  <a:txBody>
                    <a:bodyPr/>
                    <a:lstStyle/>
                    <a:p>
                      <a:r>
                        <a:rPr sz="1400" b="0" i="0">
                          <a:solidFill>
                            <a:srgbClr val="1A1440"/>
                          </a:solidFill>
                          <a:latin typeface="Calibri"/>
                        </a:rPr>
                        <a:t>It is one SUM over one table</a:t>
                      </a:r>
                    </a:p>
                  </a:txBody>
                  <a:tcPr marL="101600" marR="101600" marT="38100" marB="38100" anchor="ctr">
                    <a:solidFill>
                      <a:srgbClr val="FFFFFF"/>
                    </a:solidFill>
                  </a:tcPr>
                </a:tc>
                <a:tc>
                  <a:txBody>
                    <a:bodyPr/>
                    <a:lstStyle/>
                    <a:p>
                      <a:r>
                        <a:rPr sz="1400" b="0" i="0">
                          <a:solidFill>
                            <a:srgbClr val="1A1440"/>
                          </a:solidFill>
                          <a:latin typeface="Calibri"/>
                        </a:rPr>
                        <a:t>A retried payment is counted twice</a:t>
                      </a:r>
                    </a:p>
                  </a:txBody>
                  <a:tcPr marL="101600" marR="101600" marT="38100" marB="38100" anchor="ctr">
                    <a:solidFill>
                      <a:srgbClr val="FFFFFF"/>
                    </a:solidFill>
                  </a:tcPr>
                </a:tc>
              </a:tr>
              <a:tr h="369824">
                <a:tc>
                  <a:txBody>
                    <a:bodyPr/>
                    <a:lstStyle/>
                    <a:p>
                      <a:r>
                        <a:rPr sz="1400" b="0" i="0">
                          <a:solidFill>
                            <a:srgbClr val="1A1440"/>
                          </a:solidFill>
                          <a:latin typeface="Calibri"/>
                        </a:rPr>
                        <a:t>b) Cash counted once</a:t>
                      </a:r>
                    </a:p>
                  </a:txBody>
                  <a:tcPr marL="101600" marR="101600" marT="38100" marB="38100" anchor="ctr">
                    <a:solidFill>
                      <a:srgbClr val="F4F2FA"/>
                    </a:solidFill>
                  </a:tcPr>
                </a:tc>
                <a:tc>
                  <a:txBody>
                    <a:bodyPr/>
                    <a:lstStyle/>
                    <a:p>
                      <a:r>
                        <a:rPr sz="1400" b="0" i="0">
                          <a:solidFill>
                            <a:srgbClr val="1A1440"/>
                          </a:solidFill>
                          <a:latin typeface="Calibri"/>
                        </a:rPr>
                        <a:t>It is what reached Kalpa's bank</a:t>
                      </a:r>
                    </a:p>
                  </a:txBody>
                  <a:tcPr marL="101600" marR="101600" marT="38100" marB="38100" anchor="ctr">
                    <a:solidFill>
                      <a:srgbClr val="F4F2FA"/>
                    </a:solidFill>
                  </a:tcPr>
                </a:tc>
                <a:tc>
                  <a:txBody>
                    <a:bodyPr/>
                    <a:lstStyle/>
                    <a:p>
                      <a:r>
                        <a:rPr sz="1400" b="0" i="0">
                          <a:solidFill>
                            <a:srgbClr val="1A1440"/>
                          </a:solidFill>
                          <a:latin typeface="Calibri"/>
                        </a:rPr>
                        <a:t>Nothing; this is Anand's number</a:t>
                      </a:r>
                    </a:p>
                  </a:txBody>
                  <a:tcPr marL="101600" marR="101600" marT="38100" marB="38100" anchor="ctr">
                    <a:solidFill>
                      <a:srgbClr val="F4F2FA"/>
                    </a:solidFill>
                  </a:tcPr>
                </a:tc>
              </a:tr>
              <a:tr h="369824">
                <a:tc>
                  <a:txBody>
                    <a:bodyPr/>
                    <a:lstStyle/>
                    <a:p>
                      <a:r>
                        <a:rPr sz="1400" b="0" i="0">
                          <a:solidFill>
                            <a:srgbClr val="1A1440"/>
                          </a:solidFill>
                          <a:latin typeface="Calibri"/>
                        </a:rPr>
                        <a:t>c) Booked value of paid orders</a:t>
                      </a:r>
                    </a:p>
                  </a:txBody>
                  <a:tcPr marL="101600" marR="101600" marT="38100" marB="38100" anchor="ctr">
                    <a:solidFill>
                      <a:srgbClr val="FFFFFF"/>
                    </a:solidFill>
                  </a:tcPr>
                </a:tc>
                <a:tc>
                  <a:txBody>
                    <a:bodyPr/>
                    <a:lstStyle/>
                    <a:p>
                      <a:r>
                        <a:rPr sz="1400" b="0" i="0">
                          <a:solidFill>
                            <a:srgbClr val="1A1440"/>
                          </a:solidFill>
                          <a:latin typeface="Calibri"/>
                        </a:rPr>
                        <a:t>It feels like "the orders we were paid for"</a:t>
                      </a:r>
                    </a:p>
                  </a:txBody>
                  <a:tcPr marL="101600" marR="101600" marT="38100" marB="38100" anchor="ctr">
                    <a:solidFill>
                      <a:srgbClr val="FFFFFF"/>
                    </a:solidFill>
                  </a:tcPr>
                </a:tc>
                <a:tc>
                  <a:txBody>
                    <a:bodyPr/>
                    <a:lstStyle/>
                    <a:p>
                      <a:r>
                        <a:rPr sz="1400" b="0" i="0">
                          <a:solidFill>
                            <a:srgbClr val="1A1440"/>
                          </a:solidFill>
                          <a:latin typeface="Calibri"/>
                        </a:rPr>
                        <a:t>A part-paid order counts in full</a:t>
                      </a:r>
                    </a:p>
                  </a:txBody>
                  <a:tcPr marL="101600" marR="101600" marT="38100" marB="38100" anchor="ctr">
                    <a:solidFill>
                      <a:srgbClr val="FFFFFF"/>
                    </a:solidFill>
                  </a:tcPr>
                </a:tc>
              </a:tr>
              <a:tr h="369824">
                <a:tc>
                  <a:txBody>
                    <a:bodyPr/>
                    <a:lstStyle/>
                    <a:p>
                      <a:r>
                        <a:rPr sz="1400" b="0" i="0">
                          <a:solidFill>
                            <a:srgbClr val="1A1440"/>
                          </a:solidFill>
                          <a:latin typeface="Calibri"/>
                        </a:rPr>
                        <a:t>d) Booked less refunds</a:t>
                      </a:r>
                    </a:p>
                  </a:txBody>
                  <a:tcPr marL="101600" marR="101600" marT="38100" marB="38100" anchor="ctr">
                    <a:solidFill>
                      <a:srgbClr val="F4F2FA"/>
                    </a:solidFill>
                  </a:tcPr>
                </a:tc>
                <a:tc>
                  <a:txBody>
                    <a:bodyPr/>
                    <a:lstStyle/>
                    <a:p>
                      <a:r>
                        <a:rPr sz="1400" b="0" i="0">
                          <a:solidFill>
                            <a:srgbClr val="1A1440"/>
                          </a:solidFill>
                          <a:latin typeface="Calibri"/>
                        </a:rPr>
                        <a:t>Refunds are in Anand's message</a:t>
                      </a:r>
                    </a:p>
                  </a:txBody>
                  <a:tcPr marL="101600" marR="101600" marT="38100" marB="38100" anchor="ctr">
                    <a:solidFill>
                      <a:srgbClr val="F4F2FA"/>
                    </a:solidFill>
                  </a:tcPr>
                </a:tc>
                <a:tc>
                  <a:txBody>
                    <a:bodyPr/>
                    <a:lstStyle/>
                    <a:p>
                      <a:r>
                        <a:rPr sz="1400" b="0" i="0">
                          <a:solidFill>
                            <a:srgbClr val="1A1440"/>
                          </a:solidFill>
                          <a:latin typeface="Calibri"/>
                        </a:rPr>
                        <a:t>It never looks at payments at all</a:t>
                      </a:r>
                    </a:p>
                  </a:txBody>
                  <a:tcPr marL="101600" marR="101600" marT="38100" marB="38100" anchor="ctr">
                    <a:solidFill>
                      <a:srgbClr val="F4F2FA"/>
                    </a:solidFill>
                  </a:tcPr>
                </a:tc>
              </a:tr>
            </a:tbl>
          </a:graphicData>
        </a:graphic>
      </p:graphicFrame>
      <p:sp>
        <p:nvSpPr>
          <p:cNvPr id="10" name="Rounded Rectangle 9"/>
          <p:cNvSpPr/>
          <p:nvPr/>
        </p:nvSpPr>
        <p:spPr>
          <a:xfrm>
            <a:off x="530352" y="4061968"/>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39420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4"/>
          <a:stretch>
            <a:fillRect/>
          </a:stretch>
        </p:blipFill>
        <p:spPr>
          <a:xfrm>
            <a:off x="868680" y="4503928"/>
            <a:ext cx="237744" cy="237744"/>
          </a:xfrm>
          <a:prstGeom prst="rect">
            <a:avLst/>
          </a:prstGeom>
        </p:spPr>
      </p:pic>
      <p:sp>
        <p:nvSpPr>
          <p:cNvPr id="13" name="TextBox 12"/>
          <p:cNvSpPr txBox="1"/>
          <p:nvPr/>
        </p:nvSpPr>
        <p:spPr>
          <a:xfrm>
            <a:off x="1399031" y="420827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427728"/>
            <a:ext cx="9987991" cy="682752"/>
          </a:xfrm>
          <a:prstGeom prst="rect">
            <a:avLst/>
          </a:prstGeom>
          <a:noFill/>
        </p:spPr>
        <p:txBody>
          <a:bodyPr wrap="square" anchor="t" lIns="0" rIns="0" tIns="0" bIns="0">
            <a:spAutoFit/>
          </a:bodyPr>
          <a:lstStyle/>
          <a:p>
            <a:r>
              <a:rPr sz="1500" b="0" i="0">
                <a:solidFill>
                  <a:srgbClr val="1A1440"/>
                </a:solidFill>
                <a:latin typeface="Calibri"/>
              </a:rPr>
              <a:t>Write the definition above the number: "Collected, Q2 orders, each payment counted once." Then every query you write has to earn that sentence.</a:t>
            </a:r>
          </a:p>
        </p:txBody>
      </p:sp>
      <p:sp>
        <p:nvSpPr>
          <p:cNvPr id="15" name="Oval 14"/>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596360" cy="152146"/>
          </a:xfrm>
          <a:prstGeom prst="rect">
            <a:avLst/>
          </a:prstGeom>
          <a:noFill/>
        </p:spPr>
        <p:txBody>
          <a:bodyPr wrap="square" anchor="t" lIns="0" rIns="0" tIns="0" bIns="0">
            <a:spAutoFit/>
          </a:bodyPr>
          <a:lstStyle/>
          <a:p>
            <a:pPr algn="l"/>
            <a:r>
              <a:rPr sz="700" b="1" i="0">
                <a:solidFill>
                  <a:srgbClr val="5B3FD6"/>
                </a:solidFill>
                <a:latin typeface="Calibri"/>
              </a:rPr>
              <a:t>The ask</a:t>
            </a:r>
          </a:p>
        </p:txBody>
      </p:sp>
      <p:sp>
        <p:nvSpPr>
          <p:cNvPr id="17" name="Oval 16"/>
          <p:cNvSpPr/>
          <p:nvPr/>
        </p:nvSpPr>
        <p:spPr>
          <a:xfrm>
            <a:off x="13278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437608"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What a join does to the rows</a:t>
            </a:r>
          </a:p>
        </p:txBody>
      </p:sp>
      <p:sp>
        <p:nvSpPr>
          <p:cNvPr id="19" name="Oval 18"/>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21" name="Oval 20"/>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6 / 44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Every join asks about the rows that miss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Before any tool opens: what happens to an order with no payment, and a payment with no order?</a:t>
            </a:r>
          </a:p>
        </p:txBody>
      </p:sp>
      <p:pic>
        <p:nvPicPr>
          <p:cNvPr id="9" name="mermaid diagram" descr="a9540866942eae2f.png"/>
          <p:cNvPicPr>
            <a:picLocks noChangeAspect="1"/>
          </p:cNvPicPr>
          <p:nvPr/>
        </p:nvPicPr>
        <p:blipFill>
          <a:blip r:embed="rId5"/>
          <a:stretch>
            <a:fillRect/>
          </a:stretch>
        </p:blipFill>
        <p:spPr>
          <a:xfrm>
            <a:off x="2316803" y="1747043"/>
            <a:ext cx="7558087" cy="3643312"/>
          </a:xfrm>
          <a:prstGeom prst="rect">
            <a:avLst/>
          </a:prstGeom>
        </p:spPr>
      </p:pic>
      <p:sp>
        <p:nvSpPr>
          <p:cNvPr id="10" name="TextBox 9"/>
          <p:cNvSpPr txBox="1"/>
          <p:nvPr/>
        </p:nvSpPr>
        <p:spPr>
          <a:xfrm>
            <a:off x="530352" y="5518912"/>
            <a:ext cx="11130991" cy="680720"/>
          </a:xfrm>
          <a:prstGeom prst="rect">
            <a:avLst/>
          </a:prstGeom>
          <a:noFill/>
        </p:spPr>
        <p:txBody>
          <a:bodyPr wrap="square" anchor="t" lIns="0" rIns="0" tIns="0" bIns="0">
            <a:spAutoFit/>
          </a:bodyPr>
          <a:lstStyle/>
          <a:p>
            <a:r>
              <a:rPr sz="1600" b="0" i="0">
                <a:solidFill>
                  <a:srgbClr val="1A1440"/>
                </a:solidFill>
                <a:latin typeface="Calibri"/>
              </a:rPr>
              <a:t>The join type is the answer to the two open questions, and the grain of the right-hand table decides whether an order comes out once or twice.</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596360" cy="152146"/>
          </a:xfrm>
          <a:prstGeom prst="rect">
            <a:avLst/>
          </a:prstGeom>
          <a:noFill/>
        </p:spPr>
        <p:txBody>
          <a:bodyPr wrap="square" anchor="t" lIns="0" rIns="0" tIns="0" bIns="0">
            <a:spAutoFit/>
          </a:bodyPr>
          <a:lstStyle/>
          <a:p>
            <a:pPr algn="l"/>
            <a:r>
              <a:rPr sz="700" b="1" i="0">
                <a:solidFill>
                  <a:srgbClr val="5B3FD6"/>
                </a:solidFill>
                <a:latin typeface="Calibri"/>
              </a:rPr>
              <a:t>The ask</a:t>
            </a:r>
          </a:p>
        </p:txBody>
      </p:sp>
      <p:sp>
        <p:nvSpPr>
          <p:cNvPr id="13" name="Oval 12"/>
          <p:cNvSpPr/>
          <p:nvPr/>
        </p:nvSpPr>
        <p:spPr>
          <a:xfrm>
            <a:off x="13278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437608"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What a join does to the rows</a:t>
            </a:r>
          </a:p>
        </p:txBody>
      </p:sp>
      <p:sp>
        <p:nvSpPr>
          <p:cNvPr id="15" name="Oval 14"/>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17" name="Oval 16"/>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7 / 44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habit the whole day rests 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join is finished when its row count is explained, and not a moment before.</a:t>
            </a:r>
          </a:p>
        </p:txBody>
      </p:sp>
      <p:sp>
        <p:nvSpPr>
          <p:cNvPr id="9" name="Rectangle 8"/>
          <p:cNvSpPr/>
          <p:nvPr/>
        </p:nvSpPr>
        <p:spPr>
          <a:xfrm>
            <a:off x="1570299" y="2523744"/>
            <a:ext cx="905109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STEP 1</a:t>
            </a:r>
          </a:p>
        </p:txBody>
      </p:sp>
      <p:sp>
        <p:nvSpPr>
          <p:cNvPr id="11" name="Oval 10"/>
          <p:cNvSpPr/>
          <p:nvPr/>
        </p:nvSpPr>
        <p:spPr>
          <a:xfrm>
            <a:off x="1469715"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Rows in</a:t>
            </a:r>
          </a:p>
        </p:txBody>
      </p:sp>
      <p:sp>
        <p:nvSpPr>
          <p:cNvPr id="14" name="TextBox 13"/>
          <p:cNvSpPr txBox="1"/>
          <p:nvPr/>
        </p:nvSpPr>
        <p:spPr>
          <a:xfrm>
            <a:off x="694944" y="3277870"/>
            <a:ext cx="1750710" cy="366776"/>
          </a:xfrm>
          <a:prstGeom prst="rect">
            <a:avLst/>
          </a:prstGeom>
          <a:noFill/>
        </p:spPr>
        <p:txBody>
          <a:bodyPr wrap="square" anchor="t" lIns="0" rIns="0" tIns="0" bIns="0">
            <a:spAutoFit/>
          </a:bodyPr>
          <a:lstStyle/>
          <a:p>
            <a:pPr algn="l"/>
            <a:r>
              <a:rPr sz="1000" b="0" i="0">
                <a:solidFill>
                  <a:srgbClr val="6B6690"/>
                </a:solidFill>
                <a:latin typeface="Calibri"/>
              </a:rPr>
              <a:t>Count each table at its own grain before the join.</a:t>
            </a:r>
          </a:p>
        </p:txBody>
      </p:sp>
      <p:sp>
        <p:nvSpPr>
          <p:cNvPr id="15" name="TextBox 14"/>
          <p:cNvSpPr txBox="1"/>
          <p:nvPr/>
        </p:nvSpPr>
        <p:spPr>
          <a:xfrm>
            <a:off x="2793126"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STEP 2</a:t>
            </a:r>
          </a:p>
        </p:txBody>
      </p:sp>
      <p:sp>
        <p:nvSpPr>
          <p:cNvPr id="16" name="Oval 15"/>
          <p:cNvSpPr/>
          <p:nvPr/>
        </p:nvSpPr>
        <p:spPr>
          <a:xfrm>
            <a:off x="373248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2793126" y="2843784"/>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957718"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Predict</a:t>
            </a:r>
          </a:p>
        </p:txBody>
      </p:sp>
      <p:sp>
        <p:nvSpPr>
          <p:cNvPr id="19" name="TextBox 18"/>
          <p:cNvSpPr txBox="1"/>
          <p:nvPr/>
        </p:nvSpPr>
        <p:spPr>
          <a:xfrm>
            <a:off x="2957718" y="3277870"/>
            <a:ext cx="1750710" cy="366776"/>
          </a:xfrm>
          <a:prstGeom prst="rect">
            <a:avLst/>
          </a:prstGeom>
          <a:noFill/>
        </p:spPr>
        <p:txBody>
          <a:bodyPr wrap="square" anchor="t" lIns="0" rIns="0" tIns="0" bIns="0">
            <a:spAutoFit/>
          </a:bodyPr>
          <a:lstStyle/>
          <a:p>
            <a:pPr algn="l"/>
            <a:r>
              <a:rPr sz="1000" b="0" i="0">
                <a:solidFill>
                  <a:srgbClr val="6B6690"/>
                </a:solidFill>
                <a:latin typeface="Calibri"/>
              </a:rPr>
              <a:t>Say how many rows the join should return, and why.</a:t>
            </a:r>
          </a:p>
        </p:txBody>
      </p:sp>
      <p:sp>
        <p:nvSpPr>
          <p:cNvPr id="20" name="TextBox 19"/>
          <p:cNvSpPr txBox="1"/>
          <p:nvPr/>
        </p:nvSpPr>
        <p:spPr>
          <a:xfrm>
            <a:off x="5055900"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STEP 3</a:t>
            </a:r>
          </a:p>
        </p:txBody>
      </p:sp>
      <p:sp>
        <p:nvSpPr>
          <p:cNvPr id="21" name="Oval 20"/>
          <p:cNvSpPr/>
          <p:nvPr/>
        </p:nvSpPr>
        <p:spPr>
          <a:xfrm>
            <a:off x="5995263"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5055900" y="2843784"/>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220492"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Rows out</a:t>
            </a:r>
          </a:p>
        </p:txBody>
      </p:sp>
      <p:sp>
        <p:nvSpPr>
          <p:cNvPr id="24" name="TextBox 23"/>
          <p:cNvSpPr txBox="1"/>
          <p:nvPr/>
        </p:nvSpPr>
        <p:spPr>
          <a:xfrm>
            <a:off x="5220492" y="3277870"/>
            <a:ext cx="1750710" cy="366776"/>
          </a:xfrm>
          <a:prstGeom prst="rect">
            <a:avLst/>
          </a:prstGeom>
          <a:noFill/>
        </p:spPr>
        <p:txBody>
          <a:bodyPr wrap="square" anchor="t" lIns="0" rIns="0" tIns="0" bIns="0">
            <a:spAutoFit/>
          </a:bodyPr>
          <a:lstStyle/>
          <a:p>
            <a:pPr algn="l"/>
            <a:r>
              <a:rPr sz="1000" b="0" i="0">
                <a:solidFill>
                  <a:srgbClr val="6B6690"/>
                </a:solidFill>
                <a:latin typeface="Calibri"/>
              </a:rPr>
              <a:t>Count what the join returned.</a:t>
            </a:r>
          </a:p>
        </p:txBody>
      </p:sp>
      <p:sp>
        <p:nvSpPr>
          <p:cNvPr id="25" name="TextBox 24"/>
          <p:cNvSpPr txBox="1"/>
          <p:nvPr/>
        </p:nvSpPr>
        <p:spPr>
          <a:xfrm>
            <a:off x="7318674"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STEP 4</a:t>
            </a:r>
          </a:p>
        </p:txBody>
      </p:sp>
      <p:sp>
        <p:nvSpPr>
          <p:cNvPr id="26" name="Oval 25"/>
          <p:cNvSpPr/>
          <p:nvPr/>
        </p:nvSpPr>
        <p:spPr>
          <a:xfrm>
            <a:off x="825803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7318674" y="2843784"/>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483266"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Explain</a:t>
            </a:r>
          </a:p>
        </p:txBody>
      </p:sp>
      <p:sp>
        <p:nvSpPr>
          <p:cNvPr id="29" name="TextBox 28"/>
          <p:cNvSpPr txBox="1"/>
          <p:nvPr/>
        </p:nvSpPr>
        <p:spPr>
          <a:xfrm>
            <a:off x="7483266" y="3277870"/>
            <a:ext cx="1750710" cy="531876"/>
          </a:xfrm>
          <a:prstGeom prst="rect">
            <a:avLst/>
          </a:prstGeom>
          <a:noFill/>
        </p:spPr>
        <p:txBody>
          <a:bodyPr wrap="square" anchor="t" lIns="0" rIns="0" tIns="0" bIns="0">
            <a:spAutoFit/>
          </a:bodyPr>
          <a:lstStyle/>
          <a:p>
            <a:pPr algn="l"/>
            <a:r>
              <a:rPr sz="1000" b="0" i="0">
                <a:solidFill>
                  <a:srgbClr val="6B6690"/>
                </a:solidFill>
                <a:latin typeface="Calibri"/>
              </a:rPr>
              <a:t>Name every row of difference: repeated keys, unmatched rows, filters.</a:t>
            </a:r>
          </a:p>
        </p:txBody>
      </p:sp>
      <p:sp>
        <p:nvSpPr>
          <p:cNvPr id="30" name="TextBox 29"/>
          <p:cNvSpPr txBox="1"/>
          <p:nvPr/>
        </p:nvSpPr>
        <p:spPr>
          <a:xfrm>
            <a:off x="9581448"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STEP 5</a:t>
            </a:r>
          </a:p>
        </p:txBody>
      </p:sp>
      <p:sp>
        <p:nvSpPr>
          <p:cNvPr id="31" name="Oval 30"/>
          <p:cNvSpPr/>
          <p:nvPr/>
        </p:nvSpPr>
        <p:spPr>
          <a:xfrm>
            <a:off x="10520812"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9581448" y="2843784"/>
            <a:ext cx="2079894" cy="124968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746040" y="2990088"/>
            <a:ext cx="1750710" cy="251205"/>
          </a:xfrm>
          <a:prstGeom prst="rect">
            <a:avLst/>
          </a:prstGeom>
          <a:noFill/>
        </p:spPr>
        <p:txBody>
          <a:bodyPr wrap="square" anchor="t" lIns="0" rIns="0" tIns="0" bIns="0">
            <a:spAutoFit/>
          </a:bodyPr>
          <a:lstStyle/>
          <a:p>
            <a:pPr algn="l"/>
            <a:r>
              <a:rPr sz="1300" b="1" i="0">
                <a:solidFill>
                  <a:srgbClr val="FFFFFF"/>
                </a:solidFill>
                <a:latin typeface="Calibri"/>
              </a:rPr>
              <a:t>Then the number</a:t>
            </a:r>
          </a:p>
        </p:txBody>
      </p:sp>
      <p:sp>
        <p:nvSpPr>
          <p:cNvPr id="34" name="TextBox 33"/>
          <p:cNvSpPr txBox="1"/>
          <p:nvPr/>
        </p:nvSpPr>
        <p:spPr>
          <a:xfrm>
            <a:off x="9746040" y="3277870"/>
            <a:ext cx="1750710" cy="531876"/>
          </a:xfrm>
          <a:prstGeom prst="rect">
            <a:avLst/>
          </a:prstGeom>
          <a:noFill/>
        </p:spPr>
        <p:txBody>
          <a:bodyPr wrap="square" anchor="t" lIns="0" rIns="0" tIns="0" bIns="0">
            <a:spAutoFit/>
          </a:bodyPr>
          <a:lstStyle/>
          <a:p>
            <a:pPr algn="l"/>
            <a:r>
              <a:rPr sz="1000" b="0" i="0">
                <a:solidFill>
                  <a:srgbClr val="CFC9EE"/>
                </a:solidFill>
                <a:latin typeface="Calibri"/>
              </a:rPr>
              <a:t>Only now read the total, with the reconciliation written above it.</a:t>
            </a:r>
          </a:p>
        </p:txBody>
      </p:sp>
      <p:sp>
        <p:nvSpPr>
          <p:cNvPr id="35" name="Rounded Rectangle 34"/>
          <p:cNvSpPr/>
          <p:nvPr/>
        </p:nvSpPr>
        <p:spPr>
          <a:xfrm>
            <a:off x="530352" y="4276344"/>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758952" y="460857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mic_caee7398c80d.png"/>
          <p:cNvPicPr>
            <a:picLocks noChangeAspect="1"/>
          </p:cNvPicPr>
          <p:nvPr/>
        </p:nvPicPr>
        <p:blipFill>
          <a:blip r:embed="rId4"/>
          <a:stretch>
            <a:fillRect/>
          </a:stretch>
        </p:blipFill>
        <p:spPr>
          <a:xfrm>
            <a:off x="868680" y="4718304"/>
            <a:ext cx="237744" cy="237744"/>
          </a:xfrm>
          <a:prstGeom prst="rect">
            <a:avLst/>
          </a:prstGeom>
        </p:spPr>
      </p:pic>
      <p:sp>
        <p:nvSpPr>
          <p:cNvPr id="38" name="TextBox 37"/>
          <p:cNvSpPr txBox="1"/>
          <p:nvPr/>
        </p:nvSpPr>
        <p:spPr>
          <a:xfrm>
            <a:off x="1399031" y="442264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39" name="TextBox 38"/>
          <p:cNvSpPr txBox="1"/>
          <p:nvPr/>
        </p:nvSpPr>
        <p:spPr>
          <a:xfrm>
            <a:off x="1399031" y="4642104"/>
            <a:ext cx="9987991" cy="682752"/>
          </a:xfrm>
          <a:prstGeom prst="rect">
            <a:avLst/>
          </a:prstGeom>
          <a:noFill/>
        </p:spPr>
        <p:txBody>
          <a:bodyPr wrap="square" anchor="t" lIns="0" rIns="0" tIns="0" bIns="0">
            <a:spAutoFit/>
          </a:bodyPr>
          <a:lstStyle/>
          <a:p>
            <a:r>
              <a:rPr sz="1500" b="0" i="0">
                <a:solidFill>
                  <a:srgbClr val="1A1440"/>
                </a:solidFill>
                <a:latin typeface="Calibri"/>
              </a:rPr>
              <a:t>[D] Design the validation you run before a joined number reaches Finance, and say what you do when it fails at the end of reporting day.</a:t>
            </a:r>
          </a:p>
        </p:txBody>
      </p:sp>
      <p:sp>
        <p:nvSpPr>
          <p:cNvPr id="40" name="Oval 3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40080" y="6437376"/>
            <a:ext cx="596360" cy="152146"/>
          </a:xfrm>
          <a:prstGeom prst="rect">
            <a:avLst/>
          </a:prstGeom>
          <a:noFill/>
        </p:spPr>
        <p:txBody>
          <a:bodyPr wrap="square" anchor="t" lIns="0" rIns="0" tIns="0" bIns="0">
            <a:spAutoFit/>
          </a:bodyPr>
          <a:lstStyle/>
          <a:p>
            <a:pPr algn="l"/>
            <a:r>
              <a:rPr sz="700" b="1" i="0">
                <a:solidFill>
                  <a:srgbClr val="5B3FD6"/>
                </a:solidFill>
                <a:latin typeface="Calibri"/>
              </a:rPr>
              <a:t>The ask</a:t>
            </a:r>
          </a:p>
        </p:txBody>
      </p:sp>
      <p:sp>
        <p:nvSpPr>
          <p:cNvPr id="42" name="Oval 41"/>
          <p:cNvSpPr/>
          <p:nvPr/>
        </p:nvSpPr>
        <p:spPr>
          <a:xfrm>
            <a:off x="13278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1437608"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What a join does to the rows</a:t>
            </a:r>
          </a:p>
        </p:txBody>
      </p:sp>
      <p:sp>
        <p:nvSpPr>
          <p:cNvPr id="44" name="Oval 43"/>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46" name="Oval 45"/>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48" name="TextBox 4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8 / 44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02</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a join does to the rows</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Two tiny tables traced by hand, then the warehouse's first join and the number it doubles.</a:t>
            </a:r>
          </a:p>
        </p:txBody>
      </p:sp>
      <p:sp>
        <p:nvSpPr>
          <p:cNvPr id="10" name="Rounded Rectangle 9"/>
          <p:cNvSpPr/>
          <p:nvPr/>
        </p:nvSpPr>
        <p:spPr>
          <a:xfrm>
            <a:off x="731519" y="5074920"/>
            <a:ext cx="78027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ask</a:t>
            </a:r>
          </a:p>
        </p:txBody>
      </p:sp>
      <p:sp>
        <p:nvSpPr>
          <p:cNvPr id="11" name="Rounded Rectangle 10"/>
          <p:cNvSpPr/>
          <p:nvPr/>
        </p:nvSpPr>
        <p:spPr>
          <a:xfrm>
            <a:off x="1621519" y="5074920"/>
            <a:ext cx="2023807"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a join does to the rows</a:t>
            </a:r>
          </a:p>
        </p:txBody>
      </p:sp>
      <p:sp>
        <p:nvSpPr>
          <p:cNvPr id="12" name="Rounded Rectangle 11"/>
          <p:cNvSpPr/>
          <p:nvPr/>
        </p:nvSpPr>
        <p:spPr>
          <a:xfrm>
            <a:off x="3755055" y="5074920"/>
            <a:ext cx="214884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Prove the join before the number</a:t>
            </a:r>
          </a:p>
        </p:txBody>
      </p:sp>
      <p:sp>
        <p:nvSpPr>
          <p:cNvPr id="13" name="Rounded Rectangle 12"/>
          <p:cNvSpPr/>
          <p:nvPr/>
        </p:nvSpPr>
        <p:spPr>
          <a:xfrm>
            <a:off x="6013623" y="5074920"/>
            <a:ext cx="214884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orders, and which payments</a:t>
            </a:r>
          </a:p>
        </p:txBody>
      </p:sp>
      <p:sp>
        <p:nvSpPr>
          <p:cNvPr id="14" name="TextBox 13"/>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2. Booked against collected, without lying</a:t>
            </a:r>
          </a:p>
        </p:txBody>
      </p:sp>
      <p:sp>
        <p:nvSpPr>
          <p:cNvPr id="15" name="TextBox 1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9 / 44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Five invented orders, small enough to trace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left-hand table: one row per order, and the payment story of each.</a:t>
            </a:r>
          </a:p>
        </p:txBody>
      </p:sp>
      <p:graphicFrame>
        <p:nvGraphicFramePr>
          <p:cNvPr id="9" name="Table 8"/>
          <p:cNvGraphicFramePr>
            <a:graphicFrameLocks noGrp="1"/>
          </p:cNvGraphicFramePr>
          <p:nvPr/>
        </p:nvGraphicFramePr>
        <p:xfrm>
          <a:off x="530352" y="1956816"/>
          <a:ext cx="11130991" cy="2011680"/>
        </p:xfrm>
        <a:graphic>
          <a:graphicData uri="http://schemas.openxmlformats.org/drawingml/2006/table">
            <a:tbl>
              <a:tblPr firstRow="0" bandRow="0">
                <a:tableStyleId>{2D5ABB26-0587-4C30-8999-92F81FD0307C}</a:tableStyleId>
              </a:tblPr>
              <a:tblGrid>
                <a:gridCol w="1932447"/>
                <a:gridCol w="914400"/>
                <a:gridCol w="914400"/>
                <a:gridCol w="7369744"/>
              </a:tblGrid>
              <a:tr h="335280">
                <a:tc>
                  <a:txBody>
                    <a:bodyPr/>
                    <a:lstStyle/>
                    <a:p>
                      <a:r>
                        <a:rPr sz="1250" b="1" i="0">
                          <a:solidFill>
                            <a:srgbClr val="FFFFFF"/>
                          </a:solidFill>
                          <a:latin typeface="Calibri"/>
                        </a:rPr>
                        <a:t>order_id</a:t>
                      </a:r>
                    </a:p>
                  </a:txBody>
                  <a:tcPr marL="101600" marR="101600" marT="38100" marB="38100" anchor="ctr">
                    <a:solidFill>
                      <a:srgbClr val="1A0F5C"/>
                    </a:solidFill>
                  </a:tcPr>
                </a:tc>
                <a:tc>
                  <a:txBody>
                    <a:bodyPr/>
                    <a:lstStyle/>
                    <a:p>
                      <a:r>
                        <a:rPr sz="1250" b="1" i="0">
                          <a:solidFill>
                            <a:srgbClr val="FFFFFF"/>
                          </a:solidFill>
                          <a:latin typeface="Calibri"/>
                        </a:rPr>
                        <a:t>channel</a:t>
                      </a:r>
                    </a:p>
                  </a:txBody>
                  <a:tcPr marL="101600" marR="101600" marT="38100" marB="38100" anchor="ctr">
                    <a:solidFill>
                      <a:srgbClr val="1A0F5C"/>
                    </a:solidFill>
                  </a:tcPr>
                </a:tc>
                <a:tc>
                  <a:txBody>
                    <a:bodyPr/>
                    <a:lstStyle/>
                    <a:p>
                      <a:r>
                        <a:rPr sz="1250" b="1" i="0">
                          <a:solidFill>
                            <a:srgbClr val="FFFFFF"/>
                          </a:solidFill>
                          <a:latin typeface="Calibri"/>
                        </a:rPr>
                        <a:t>amount</a:t>
                      </a:r>
                    </a:p>
                  </a:txBody>
                  <a:tcPr marL="101600" marR="101600" marT="38100" marB="38100" anchor="ctr">
                    <a:solidFill>
                      <a:srgbClr val="1A0F5C"/>
                    </a:solidFill>
                  </a:tcPr>
                </a:tc>
                <a:tc>
                  <a:txBody>
                    <a:bodyPr/>
                    <a:lstStyle/>
                    <a:p>
                      <a:r>
                        <a:rPr sz="1250" b="1" i="0">
                          <a:solidFill>
                            <a:srgbClr val="FFFFFF"/>
                          </a:solidFill>
                          <a:latin typeface="Calibri"/>
                        </a:rPr>
                        <a:t>Its payment story</a:t>
                      </a:r>
                    </a:p>
                  </a:txBody>
                  <a:tcPr marL="101600" marR="101600" marT="38100" marB="38100" anchor="ctr">
                    <a:solidFill>
                      <a:srgbClr val="1A0F5C"/>
                    </a:solidFill>
                  </a:tcPr>
                </a:tc>
              </a:tr>
              <a:tr h="335280">
                <a:tc>
                  <a:txBody>
                    <a:bodyPr/>
                    <a:lstStyle/>
                    <a:p>
                      <a:r>
                        <a:rPr sz="1200" b="0" i="0">
                          <a:solidFill>
                            <a:srgbClr val="1A1440"/>
                          </a:solidFill>
                          <a:latin typeface="Calibri"/>
                        </a:rPr>
                        <a:t>T-1</a:t>
                      </a:r>
                    </a:p>
                  </a:txBody>
                  <a:tcPr marL="101600" marR="101600" marT="38100" marB="38100" anchor="ctr">
                    <a:solidFill>
                      <a:srgbClr val="FFFFFF"/>
                    </a:solidFill>
                  </a:tcPr>
                </a:tc>
                <a:tc>
                  <a:txBody>
                    <a:bodyPr/>
                    <a:lstStyle/>
                    <a:p>
                      <a:r>
                        <a:rPr sz="1200" b="0" i="0">
                          <a:solidFill>
                            <a:srgbClr val="1A1440"/>
                          </a:solidFill>
                          <a:latin typeface="Calibri"/>
                        </a:rPr>
                        <a:t>app</a:t>
                      </a:r>
                    </a:p>
                  </a:txBody>
                  <a:tcPr marL="101600" marR="101600" marT="38100" marB="38100" anchor="ctr">
                    <a:solidFill>
                      <a:srgbClr val="FFFFFF"/>
                    </a:solidFill>
                  </a:tcPr>
                </a:tc>
                <a:tc>
                  <a:txBody>
                    <a:bodyPr/>
                    <a:lstStyle/>
                    <a:p>
                      <a:r>
                        <a:rPr sz="1200" b="0" i="0">
                          <a:solidFill>
                            <a:srgbClr val="1A1440"/>
                          </a:solidFill>
                          <a:latin typeface="Calibri"/>
                        </a:rPr>
                        <a:t>1,000</a:t>
                      </a:r>
                    </a:p>
                  </a:txBody>
                  <a:tcPr marL="101600" marR="101600" marT="38100" marB="38100" anchor="ctr">
                    <a:solidFill>
                      <a:srgbClr val="FFFFFF"/>
                    </a:solidFill>
                  </a:tcPr>
                </a:tc>
                <a:tc>
                  <a:txBody>
                    <a:bodyPr/>
                    <a:lstStyle/>
                    <a:p>
                      <a:r>
                        <a:rPr sz="1200" b="0" i="0">
                          <a:solidFill>
                            <a:srgbClr val="1A1440"/>
                          </a:solidFill>
                          <a:latin typeface="Calibri"/>
                        </a:rPr>
                        <a:t>Paid once, in full</a:t>
                      </a:r>
                    </a:p>
                  </a:txBody>
                  <a:tcPr marL="101600" marR="101600" marT="38100" marB="38100" anchor="ctr">
                    <a:solidFill>
                      <a:srgbClr val="FFFFFF"/>
                    </a:solidFill>
                  </a:tcPr>
                </a:tc>
              </a:tr>
              <a:tr h="335280">
                <a:tc>
                  <a:txBody>
                    <a:bodyPr/>
                    <a:lstStyle/>
                    <a:p>
                      <a:r>
                        <a:rPr sz="1200" b="0" i="0">
                          <a:solidFill>
                            <a:srgbClr val="1A1440"/>
                          </a:solidFill>
                          <a:latin typeface="Calibri"/>
                        </a:rPr>
                        <a:t>T-2</a:t>
                      </a:r>
                    </a:p>
                  </a:txBody>
                  <a:tcPr marL="101600" marR="101600" marT="38100" marB="38100" anchor="ctr">
                    <a:solidFill>
                      <a:srgbClr val="F4F2FA"/>
                    </a:solidFill>
                  </a:tcPr>
                </a:tc>
                <a:tc>
                  <a:txBody>
                    <a:bodyPr/>
                    <a:lstStyle/>
                    <a:p>
                      <a:r>
                        <a:rPr sz="1200" b="0" i="0">
                          <a:solidFill>
                            <a:srgbClr val="1A1440"/>
                          </a:solidFill>
                          <a:latin typeface="Calibri"/>
                        </a:rPr>
                        <a:t>web</a:t>
                      </a:r>
                    </a:p>
                  </a:txBody>
                  <a:tcPr marL="101600" marR="101600" marT="38100" marB="38100" anchor="ctr">
                    <a:solidFill>
                      <a:srgbClr val="F4F2FA"/>
                    </a:solidFill>
                  </a:tcPr>
                </a:tc>
                <a:tc>
                  <a:txBody>
                    <a:bodyPr/>
                    <a:lstStyle/>
                    <a:p>
                      <a:r>
                        <a:rPr sz="1200" b="0" i="0">
                          <a:solidFill>
                            <a:srgbClr val="1A1440"/>
                          </a:solidFill>
                          <a:latin typeface="Calibri"/>
                        </a:rPr>
                        <a:t>2,000</a:t>
                      </a:r>
                    </a:p>
                  </a:txBody>
                  <a:tcPr marL="101600" marR="101600" marT="38100" marB="38100" anchor="ctr">
                    <a:solidFill>
                      <a:srgbClr val="F4F2FA"/>
                    </a:solidFill>
                  </a:tcPr>
                </a:tc>
                <a:tc>
                  <a:txBody>
                    <a:bodyPr/>
                    <a:lstStyle/>
                    <a:p>
                      <a:r>
                        <a:rPr sz="1200" b="0" i="0">
                          <a:solidFill>
                            <a:srgbClr val="1A1440"/>
                          </a:solidFill>
                          <a:latin typeface="Calibri"/>
                        </a:rPr>
                        <a:t>Paid in two instalments</a:t>
                      </a:r>
                    </a:p>
                  </a:txBody>
                  <a:tcPr marL="101600" marR="101600" marT="38100" marB="38100" anchor="ctr">
                    <a:solidFill>
                      <a:srgbClr val="F4F2FA"/>
                    </a:solidFill>
                  </a:tcPr>
                </a:tc>
              </a:tr>
              <a:tr h="335280">
                <a:tc>
                  <a:txBody>
                    <a:bodyPr/>
                    <a:lstStyle/>
                    <a:p>
                      <a:r>
                        <a:rPr sz="1200" b="0" i="0">
                          <a:solidFill>
                            <a:srgbClr val="1A1440"/>
                          </a:solidFill>
                          <a:latin typeface="Calibri"/>
                        </a:rPr>
                        <a:t>T-3</a:t>
                      </a:r>
                    </a:p>
                  </a:txBody>
                  <a:tcPr marL="101600" marR="101600" marT="38100" marB="38100" anchor="ctr">
                    <a:solidFill>
                      <a:srgbClr val="FFFFFF"/>
                    </a:solidFill>
                  </a:tcPr>
                </a:tc>
                <a:tc>
                  <a:txBody>
                    <a:bodyPr/>
                    <a:lstStyle/>
                    <a:p>
                      <a:r>
                        <a:rPr sz="1200" b="0" i="0">
                          <a:solidFill>
                            <a:srgbClr val="1A1440"/>
                          </a:solidFill>
                          <a:latin typeface="Calibri"/>
                        </a:rPr>
                        <a:t>store</a:t>
                      </a:r>
                    </a:p>
                  </a:txBody>
                  <a:tcPr marL="101600" marR="101600" marT="38100" marB="38100" anchor="ctr">
                    <a:solidFill>
                      <a:srgbClr val="FFFFFF"/>
                    </a:solidFill>
                  </a:tcPr>
                </a:tc>
                <a:tc>
                  <a:txBody>
                    <a:bodyPr/>
                    <a:lstStyle/>
                    <a:p>
                      <a:r>
                        <a:rPr sz="1200" b="0" i="0">
                          <a:solidFill>
                            <a:srgbClr val="1A1440"/>
                          </a:solidFill>
                          <a:latin typeface="Calibri"/>
                        </a:rPr>
                        <a:t>1,500</a:t>
                      </a:r>
                    </a:p>
                  </a:txBody>
                  <a:tcPr marL="101600" marR="101600" marT="38100" marB="38100" anchor="ctr">
                    <a:solidFill>
                      <a:srgbClr val="FFFFFF"/>
                    </a:solidFill>
                  </a:tcPr>
                </a:tc>
                <a:tc>
                  <a:txBody>
                    <a:bodyPr/>
                    <a:lstStyle/>
                    <a:p>
                      <a:r>
                        <a:rPr sz="1200" b="0" i="0">
                          <a:solidFill>
                            <a:srgbClr val="1A1440"/>
                          </a:solidFill>
                          <a:latin typeface="Calibri"/>
                        </a:rPr>
                        <a:t>Paid once, and the gateway posted it twice</a:t>
                      </a:r>
                    </a:p>
                  </a:txBody>
                  <a:tcPr marL="101600" marR="101600" marT="38100" marB="38100" anchor="ctr">
                    <a:solidFill>
                      <a:srgbClr val="FFFFFF"/>
                    </a:solidFill>
                  </a:tcPr>
                </a:tc>
              </a:tr>
              <a:tr h="335280">
                <a:tc>
                  <a:txBody>
                    <a:bodyPr/>
                    <a:lstStyle/>
                    <a:p>
                      <a:r>
                        <a:rPr sz="1200" b="0" i="0">
                          <a:solidFill>
                            <a:srgbClr val="1A1440"/>
                          </a:solidFill>
                          <a:latin typeface="Calibri"/>
                        </a:rPr>
                        <a:t>T-4</a:t>
                      </a:r>
                    </a:p>
                  </a:txBody>
                  <a:tcPr marL="101600" marR="101600" marT="38100" marB="38100" anchor="ctr">
                    <a:solidFill>
                      <a:srgbClr val="F4F2FA"/>
                    </a:solidFill>
                  </a:tcPr>
                </a:tc>
                <a:tc>
                  <a:txBody>
                    <a:bodyPr/>
                    <a:lstStyle/>
                    <a:p>
                      <a:r>
                        <a:rPr sz="1200" b="0" i="0">
                          <a:solidFill>
                            <a:srgbClr val="1A1440"/>
                          </a:solidFill>
                          <a:latin typeface="Calibri"/>
                        </a:rPr>
                        <a:t>app</a:t>
                      </a:r>
                    </a:p>
                  </a:txBody>
                  <a:tcPr marL="101600" marR="101600" marT="38100" marB="38100" anchor="ctr">
                    <a:solidFill>
                      <a:srgbClr val="F4F2FA"/>
                    </a:solidFill>
                  </a:tcPr>
                </a:tc>
                <a:tc>
                  <a:txBody>
                    <a:bodyPr/>
                    <a:lstStyle/>
                    <a:p>
                      <a:r>
                        <a:rPr sz="1200" b="0" i="0">
                          <a:solidFill>
                            <a:srgbClr val="1A1440"/>
                          </a:solidFill>
                          <a:latin typeface="Calibri"/>
                        </a:rPr>
                        <a:t>800</a:t>
                      </a:r>
                    </a:p>
                  </a:txBody>
                  <a:tcPr marL="101600" marR="101600" marT="38100" marB="38100" anchor="ctr">
                    <a:solidFill>
                      <a:srgbClr val="F4F2FA"/>
                    </a:solidFill>
                  </a:tcPr>
                </a:tc>
                <a:tc>
                  <a:txBody>
                    <a:bodyPr/>
                    <a:lstStyle/>
                    <a:p>
                      <a:r>
                        <a:rPr sz="1200" b="0" i="0">
                          <a:solidFill>
                            <a:srgbClr val="1A1440"/>
                          </a:solidFill>
                          <a:latin typeface="Calibri"/>
                        </a:rPr>
                        <a:t>Never paid</a:t>
                      </a:r>
                    </a:p>
                  </a:txBody>
                  <a:tcPr marL="101600" marR="101600" marT="38100" marB="38100" anchor="ctr">
                    <a:solidFill>
                      <a:srgbClr val="F4F2FA"/>
                    </a:solidFill>
                  </a:tcPr>
                </a:tc>
              </a:tr>
              <a:tr h="335280">
                <a:tc>
                  <a:txBody>
                    <a:bodyPr/>
                    <a:lstStyle/>
                    <a:p>
                      <a:r>
                        <a:rPr sz="1200" b="0" i="0">
                          <a:solidFill>
                            <a:srgbClr val="1A1440"/>
                          </a:solidFill>
                          <a:latin typeface="Calibri"/>
                        </a:rPr>
                        <a:t>T-5</a:t>
                      </a:r>
                    </a:p>
                  </a:txBody>
                  <a:tcPr marL="101600" marR="101600" marT="38100" marB="38100" anchor="ctr">
                    <a:solidFill>
                      <a:srgbClr val="FFFFFF"/>
                    </a:solidFill>
                  </a:tcPr>
                </a:tc>
                <a:tc>
                  <a:txBody>
                    <a:bodyPr/>
                    <a:lstStyle/>
                    <a:p>
                      <a:r>
                        <a:rPr sz="1200" b="0" i="0">
                          <a:solidFill>
                            <a:srgbClr val="1A1440"/>
                          </a:solidFill>
                          <a:latin typeface="Calibri"/>
                        </a:rPr>
                        <a:t>store</a:t>
                      </a:r>
                    </a:p>
                  </a:txBody>
                  <a:tcPr marL="101600" marR="101600" marT="38100" marB="38100" anchor="ctr">
                    <a:solidFill>
                      <a:srgbClr val="FFFFFF"/>
                    </a:solidFill>
                  </a:tcPr>
                </a:tc>
                <a:tc>
                  <a:txBody>
                    <a:bodyPr/>
                    <a:lstStyle/>
                    <a:p>
                      <a:r>
                        <a:rPr sz="1200" b="0" i="0">
                          <a:solidFill>
                            <a:srgbClr val="1A1440"/>
                          </a:solidFill>
                          <a:latin typeface="Calibri"/>
                        </a:rPr>
                        <a:t>500</a:t>
                      </a:r>
                    </a:p>
                  </a:txBody>
                  <a:tcPr marL="101600" marR="101600" marT="38100" marB="38100" anchor="ctr">
                    <a:solidFill>
                      <a:srgbClr val="FFFFFF"/>
                    </a:solidFill>
                  </a:tcPr>
                </a:tc>
                <a:tc>
                  <a:txBody>
                    <a:bodyPr/>
                    <a:lstStyle/>
                    <a:p>
                      <a:r>
                        <a:rPr sz="1200" b="0" i="0">
                          <a:solidFill>
                            <a:srgbClr val="1A1440"/>
                          </a:solidFill>
                          <a:latin typeface="Calibri"/>
                        </a:rPr>
                        <a:t>Paid once, in full</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12" name="Oval 11"/>
          <p:cNvSpPr/>
          <p:nvPr/>
        </p:nvSpPr>
        <p:spPr>
          <a:xfrm>
            <a:off x="13278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437608" y="6437376"/>
            <a:ext cx="1562480" cy="152146"/>
          </a:xfrm>
          <a:prstGeom prst="rect">
            <a:avLst/>
          </a:prstGeom>
          <a:noFill/>
        </p:spPr>
        <p:txBody>
          <a:bodyPr wrap="square" anchor="t" lIns="0" rIns="0" tIns="0" bIns="0">
            <a:spAutoFit/>
          </a:bodyPr>
          <a:lstStyle/>
          <a:p>
            <a:pPr algn="l"/>
            <a:r>
              <a:rPr sz="700" b="1" i="0">
                <a:solidFill>
                  <a:srgbClr val="5B3FD6"/>
                </a:solidFill>
                <a:latin typeface="Calibri"/>
              </a:rPr>
              <a:t>What a join does to the rows</a:t>
            </a:r>
          </a:p>
        </p:txBody>
      </p:sp>
      <p:sp>
        <p:nvSpPr>
          <p:cNvPr id="14" name="Oval 13"/>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16" name="Oval 15"/>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10 / 44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Seven invented payments, one of them an orphan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right-hand table: one row per payment event, a different grain from orders.</a:t>
            </a:r>
          </a:p>
        </p:txBody>
      </p:sp>
      <p:graphicFrame>
        <p:nvGraphicFramePr>
          <p:cNvPr id="9" name="Table 8"/>
          <p:cNvGraphicFramePr>
            <a:graphicFrameLocks noGrp="1"/>
          </p:cNvGraphicFramePr>
          <p:nvPr/>
        </p:nvGraphicFramePr>
        <p:xfrm>
          <a:off x="530352" y="1956816"/>
          <a:ext cx="11130988" cy="2682240"/>
        </p:xfrm>
        <a:graphic>
          <a:graphicData uri="http://schemas.openxmlformats.org/drawingml/2006/table">
            <a:tbl>
              <a:tblPr firstRow="0" bandRow="0">
                <a:tableStyleId>{2D5ABB26-0587-4C30-8999-92F81FD0307C}</a:tableStyleId>
              </a:tblPr>
              <a:tblGrid>
                <a:gridCol w="2554147"/>
                <a:gridCol w="2144975"/>
                <a:gridCol w="2349561"/>
                <a:gridCol w="914400"/>
                <a:gridCol w="3167905"/>
              </a:tblGrid>
              <a:tr h="335280">
                <a:tc>
                  <a:txBody>
                    <a:bodyPr/>
                    <a:lstStyle/>
                    <a:p>
                      <a:r>
                        <a:rPr sz="1250" b="1" i="0">
                          <a:solidFill>
                            <a:srgbClr val="FFFFFF"/>
                          </a:solidFill>
                          <a:latin typeface="Calibri"/>
                        </a:rPr>
                        <a:t>payment_id</a:t>
                      </a:r>
                    </a:p>
                  </a:txBody>
                  <a:tcPr marL="101600" marR="101600" marT="38100" marB="38100" anchor="ctr">
                    <a:solidFill>
                      <a:srgbClr val="1A0F5C"/>
                    </a:solidFill>
                  </a:tcPr>
                </a:tc>
                <a:tc>
                  <a:txBody>
                    <a:bodyPr/>
                    <a:lstStyle/>
                    <a:p>
                      <a:r>
                        <a:rPr sz="1250" b="1" i="0">
                          <a:solidFill>
                            <a:srgbClr val="FFFFFF"/>
                          </a:solidFill>
                          <a:latin typeface="Calibri"/>
                        </a:rPr>
                        <a:t>order_id</a:t>
                      </a:r>
                    </a:p>
                  </a:txBody>
                  <a:tcPr marL="101600" marR="101600" marT="38100" marB="38100" anchor="ctr">
                    <a:solidFill>
                      <a:srgbClr val="1A0F5C"/>
                    </a:solidFill>
                  </a:tcPr>
                </a:tc>
                <a:tc>
                  <a:txBody>
                    <a:bodyPr/>
                    <a:lstStyle/>
                    <a:p>
                      <a:r>
                        <a:rPr sz="1250" b="1" i="0">
                          <a:solidFill>
                            <a:srgbClr val="FFFFFF"/>
                          </a:solidFill>
                          <a:latin typeface="Calibri"/>
                        </a:rPr>
                        <a:t>paid_date</a:t>
                      </a:r>
                    </a:p>
                  </a:txBody>
                  <a:tcPr marL="101600" marR="101600" marT="38100" marB="38100" anchor="ctr">
                    <a:solidFill>
                      <a:srgbClr val="1A0F5C"/>
                    </a:solidFill>
                  </a:tcPr>
                </a:tc>
                <a:tc>
                  <a:txBody>
                    <a:bodyPr/>
                    <a:lstStyle/>
                    <a:p>
                      <a:r>
                        <a:rPr sz="1250" b="1" i="0">
                          <a:solidFill>
                            <a:srgbClr val="FFFFFF"/>
                          </a:solidFill>
                          <a:latin typeface="Calibri"/>
                        </a:rPr>
                        <a:t>amount</a:t>
                      </a:r>
                    </a:p>
                  </a:txBody>
                  <a:tcPr marL="101600" marR="101600" marT="38100" marB="38100" anchor="ctr">
                    <a:solidFill>
                      <a:srgbClr val="1A0F5C"/>
                    </a:solidFill>
                  </a:tcPr>
                </a:tc>
                <a:tc>
                  <a:txBody>
                    <a:bodyPr/>
                    <a:lstStyle/>
                    <a:p>
                      <a:r>
                        <a:rPr sz="1250" b="1" i="0">
                          <a:solidFill>
                            <a:srgbClr val="FFFFFF"/>
                          </a:solidFill>
                          <a:latin typeface="Calibri"/>
                        </a:rPr>
                        <a:t>instalment_no</a:t>
                      </a:r>
                    </a:p>
                  </a:txBody>
                  <a:tcPr marL="101600" marR="101600" marT="38100" marB="38100" anchor="ctr">
                    <a:solidFill>
                      <a:srgbClr val="1A0F5C"/>
                    </a:solidFill>
                  </a:tcPr>
                </a:tc>
              </a:tr>
              <a:tr h="335280">
                <a:tc>
                  <a:txBody>
                    <a:bodyPr/>
                    <a:lstStyle/>
                    <a:p>
                      <a:r>
                        <a:rPr sz="1200" b="0" i="0">
                          <a:solidFill>
                            <a:srgbClr val="1A1440"/>
                          </a:solidFill>
                          <a:latin typeface="Calibri"/>
                        </a:rPr>
                        <a:t>P-1</a:t>
                      </a:r>
                    </a:p>
                  </a:txBody>
                  <a:tcPr marL="101600" marR="101600" marT="38100" marB="38100" anchor="ctr">
                    <a:solidFill>
                      <a:srgbClr val="FFFFFF"/>
                    </a:solidFill>
                  </a:tcPr>
                </a:tc>
                <a:tc>
                  <a:txBody>
                    <a:bodyPr/>
                    <a:lstStyle/>
                    <a:p>
                      <a:r>
                        <a:rPr sz="1200" b="0" i="0">
                          <a:solidFill>
                            <a:srgbClr val="1A1440"/>
                          </a:solidFill>
                          <a:latin typeface="Calibri"/>
                        </a:rPr>
                        <a:t>T-1</a:t>
                      </a:r>
                    </a:p>
                  </a:txBody>
                  <a:tcPr marL="101600" marR="101600" marT="38100" marB="38100" anchor="ctr">
                    <a:solidFill>
                      <a:srgbClr val="FFFFFF"/>
                    </a:solidFill>
                  </a:tcPr>
                </a:tc>
                <a:tc>
                  <a:txBody>
                    <a:bodyPr/>
                    <a:lstStyle/>
                    <a:p>
                      <a:r>
                        <a:rPr sz="1200" b="0" i="0">
                          <a:solidFill>
                            <a:srgbClr val="1A1440"/>
                          </a:solidFill>
                          <a:latin typeface="Calibri"/>
                        </a:rPr>
                        <a:t>3 Jul</a:t>
                      </a:r>
                    </a:p>
                  </a:txBody>
                  <a:tcPr marL="101600" marR="101600" marT="38100" marB="38100" anchor="ctr">
                    <a:solidFill>
                      <a:srgbClr val="FFFFFF"/>
                    </a:solidFill>
                  </a:tcPr>
                </a:tc>
                <a:tc>
                  <a:txBody>
                    <a:bodyPr/>
                    <a:lstStyle/>
                    <a:p>
                      <a:r>
                        <a:rPr sz="1200" b="0" i="0">
                          <a:solidFill>
                            <a:srgbClr val="1A1440"/>
                          </a:solidFill>
                          <a:latin typeface="Calibri"/>
                        </a:rPr>
                        <a:t>1,000</a:t>
                      </a:r>
                    </a:p>
                  </a:txBody>
                  <a:tcPr marL="101600" marR="101600" marT="38100" marB="38100" anchor="ctr">
                    <a:solidFill>
                      <a:srgbClr val="FFFFFF"/>
                    </a:solidFill>
                  </a:tcPr>
                </a:tc>
                <a:tc>
                  <a:txBody>
                    <a:bodyPr/>
                    <a:lstStyle/>
                    <a:p>
                      <a:r>
                        <a:rPr sz="1200" b="0" i="0">
                          <a:solidFill>
                            <a:srgbClr val="1A1440"/>
                          </a:solidFill>
                          <a:latin typeface="Calibri"/>
                        </a:rPr>
                        <a:t>1</a:t>
                      </a:r>
                    </a:p>
                  </a:txBody>
                  <a:tcPr marL="101600" marR="101600" marT="38100" marB="38100" anchor="ctr">
                    <a:solidFill>
                      <a:srgbClr val="FFFFFF"/>
                    </a:solidFill>
                  </a:tcPr>
                </a:tc>
              </a:tr>
              <a:tr h="335280">
                <a:tc>
                  <a:txBody>
                    <a:bodyPr/>
                    <a:lstStyle/>
                    <a:p>
                      <a:r>
                        <a:rPr sz="1200" b="0" i="0">
                          <a:solidFill>
                            <a:srgbClr val="1A1440"/>
                          </a:solidFill>
                          <a:latin typeface="Calibri"/>
                        </a:rPr>
                        <a:t>P-2</a:t>
                      </a:r>
                    </a:p>
                  </a:txBody>
                  <a:tcPr marL="101600" marR="101600" marT="38100" marB="38100" anchor="ctr">
                    <a:solidFill>
                      <a:srgbClr val="F4F2FA"/>
                    </a:solidFill>
                  </a:tcPr>
                </a:tc>
                <a:tc>
                  <a:txBody>
                    <a:bodyPr/>
                    <a:lstStyle/>
                    <a:p>
                      <a:r>
                        <a:rPr sz="1200" b="0" i="0">
                          <a:solidFill>
                            <a:srgbClr val="1A1440"/>
                          </a:solidFill>
                          <a:latin typeface="Calibri"/>
                        </a:rPr>
                        <a:t>T-2</a:t>
                      </a:r>
                    </a:p>
                  </a:txBody>
                  <a:tcPr marL="101600" marR="101600" marT="38100" marB="38100" anchor="ctr">
                    <a:solidFill>
                      <a:srgbClr val="F4F2FA"/>
                    </a:solidFill>
                  </a:tcPr>
                </a:tc>
                <a:tc>
                  <a:txBody>
                    <a:bodyPr/>
                    <a:lstStyle/>
                    <a:p>
                      <a:r>
                        <a:rPr sz="1200" b="0" i="0">
                          <a:solidFill>
                            <a:srgbClr val="1A1440"/>
                          </a:solidFill>
                          <a:latin typeface="Calibri"/>
                        </a:rPr>
                        <a:t>5 Jul</a:t>
                      </a:r>
                    </a:p>
                  </a:txBody>
                  <a:tcPr marL="101600" marR="101600" marT="38100" marB="38100" anchor="ctr">
                    <a:solidFill>
                      <a:srgbClr val="F4F2FA"/>
                    </a:solidFill>
                  </a:tcPr>
                </a:tc>
                <a:tc>
                  <a:txBody>
                    <a:bodyPr/>
                    <a:lstStyle/>
                    <a:p>
                      <a:r>
                        <a:rPr sz="1200" b="0" i="0">
                          <a:solidFill>
                            <a:srgbClr val="1A1440"/>
                          </a:solidFill>
                          <a:latin typeface="Calibri"/>
                        </a:rPr>
                        <a:t>1,200</a:t>
                      </a:r>
                    </a:p>
                  </a:txBody>
                  <a:tcPr marL="101600" marR="101600" marT="38100" marB="38100" anchor="ctr">
                    <a:solidFill>
                      <a:srgbClr val="F4F2FA"/>
                    </a:solidFill>
                  </a:tcPr>
                </a:tc>
                <a:tc>
                  <a:txBody>
                    <a:bodyPr/>
                    <a:lstStyle/>
                    <a:p>
                      <a:r>
                        <a:rPr sz="1200" b="0" i="0">
                          <a:solidFill>
                            <a:srgbClr val="1A1440"/>
                          </a:solidFill>
                          <a:latin typeface="Calibri"/>
                        </a:rPr>
                        <a:t>1</a:t>
                      </a:r>
                    </a:p>
                  </a:txBody>
                  <a:tcPr marL="101600" marR="101600" marT="38100" marB="38100" anchor="ctr">
                    <a:solidFill>
                      <a:srgbClr val="F4F2FA"/>
                    </a:solidFill>
                  </a:tcPr>
                </a:tc>
              </a:tr>
              <a:tr h="335280">
                <a:tc>
                  <a:txBody>
                    <a:bodyPr/>
                    <a:lstStyle/>
                    <a:p>
                      <a:r>
                        <a:rPr sz="1200" b="0" i="0">
                          <a:solidFill>
                            <a:srgbClr val="1A1440"/>
                          </a:solidFill>
                          <a:latin typeface="Calibri"/>
                        </a:rPr>
                        <a:t>P-3</a:t>
                      </a:r>
                    </a:p>
                  </a:txBody>
                  <a:tcPr marL="101600" marR="101600" marT="38100" marB="38100" anchor="ctr">
                    <a:solidFill>
                      <a:srgbClr val="FFFFFF"/>
                    </a:solidFill>
                  </a:tcPr>
                </a:tc>
                <a:tc>
                  <a:txBody>
                    <a:bodyPr/>
                    <a:lstStyle/>
                    <a:p>
                      <a:r>
                        <a:rPr sz="1200" b="0" i="0">
                          <a:solidFill>
                            <a:srgbClr val="1A1440"/>
                          </a:solidFill>
                          <a:latin typeface="Calibri"/>
                        </a:rPr>
                        <a:t>T-2</a:t>
                      </a:r>
                    </a:p>
                  </a:txBody>
                  <a:tcPr marL="101600" marR="101600" marT="38100" marB="38100" anchor="ctr">
                    <a:solidFill>
                      <a:srgbClr val="FFFFFF"/>
                    </a:solidFill>
                  </a:tcPr>
                </a:tc>
                <a:tc>
                  <a:txBody>
                    <a:bodyPr/>
                    <a:lstStyle/>
                    <a:p>
                      <a:r>
                        <a:rPr sz="1200" b="0" i="0">
                          <a:solidFill>
                            <a:srgbClr val="1A1440"/>
                          </a:solidFill>
                          <a:latin typeface="Calibri"/>
                        </a:rPr>
                        <a:t>5 Aug</a:t>
                      </a:r>
                    </a:p>
                  </a:txBody>
                  <a:tcPr marL="101600" marR="101600" marT="38100" marB="38100" anchor="ctr">
                    <a:solidFill>
                      <a:srgbClr val="FFFFFF"/>
                    </a:solidFill>
                  </a:tcPr>
                </a:tc>
                <a:tc>
                  <a:txBody>
                    <a:bodyPr/>
                    <a:lstStyle/>
                    <a:p>
                      <a:r>
                        <a:rPr sz="1200" b="0" i="0">
                          <a:solidFill>
                            <a:srgbClr val="1A1440"/>
                          </a:solidFill>
                          <a:latin typeface="Calibri"/>
                        </a:rPr>
                        <a:t>800</a:t>
                      </a:r>
                    </a:p>
                  </a:txBody>
                  <a:tcPr marL="101600" marR="101600" marT="38100" marB="38100" anchor="ctr">
                    <a:solidFill>
                      <a:srgbClr val="FFFFFF"/>
                    </a:solidFill>
                  </a:tcPr>
                </a:tc>
                <a:tc>
                  <a:txBody>
                    <a:bodyPr/>
                    <a:lstStyle/>
                    <a:p>
                      <a:r>
                        <a:rPr sz="1200" b="0" i="0">
                          <a:solidFill>
                            <a:srgbClr val="1A1440"/>
                          </a:solidFill>
                          <a:latin typeface="Calibri"/>
                        </a:rPr>
                        <a:t>2</a:t>
                      </a:r>
                    </a:p>
                  </a:txBody>
                  <a:tcPr marL="101600" marR="101600" marT="38100" marB="38100" anchor="ctr">
                    <a:solidFill>
                      <a:srgbClr val="FFFFFF"/>
                    </a:solidFill>
                  </a:tcPr>
                </a:tc>
              </a:tr>
              <a:tr h="335280">
                <a:tc>
                  <a:txBody>
                    <a:bodyPr/>
                    <a:lstStyle/>
                    <a:p>
                      <a:r>
                        <a:rPr sz="1200" b="0" i="0">
                          <a:solidFill>
                            <a:srgbClr val="1A1440"/>
                          </a:solidFill>
                          <a:latin typeface="Calibri"/>
                        </a:rPr>
                        <a:t>P-4</a:t>
                      </a:r>
                    </a:p>
                  </a:txBody>
                  <a:tcPr marL="101600" marR="101600" marT="38100" marB="38100" anchor="ctr">
                    <a:solidFill>
                      <a:srgbClr val="F4F2FA"/>
                    </a:solidFill>
                  </a:tcPr>
                </a:tc>
                <a:tc>
                  <a:txBody>
                    <a:bodyPr/>
                    <a:lstStyle/>
                    <a:p>
                      <a:r>
                        <a:rPr sz="1200" b="0" i="0">
                          <a:solidFill>
                            <a:srgbClr val="1A1440"/>
                          </a:solidFill>
                          <a:latin typeface="Calibri"/>
                        </a:rPr>
                        <a:t>T-3</a:t>
                      </a:r>
                    </a:p>
                  </a:txBody>
                  <a:tcPr marL="101600" marR="101600" marT="38100" marB="38100" anchor="ctr">
                    <a:solidFill>
                      <a:srgbClr val="F4F2FA"/>
                    </a:solidFill>
                  </a:tcPr>
                </a:tc>
                <a:tc>
                  <a:txBody>
                    <a:bodyPr/>
                    <a:lstStyle/>
                    <a:p>
                      <a:r>
                        <a:rPr sz="1200" b="0" i="0">
                          <a:solidFill>
                            <a:srgbClr val="1A1440"/>
                          </a:solidFill>
                          <a:latin typeface="Calibri"/>
                        </a:rPr>
                        <a:t>9 Jul</a:t>
                      </a:r>
                    </a:p>
                  </a:txBody>
                  <a:tcPr marL="101600" marR="101600" marT="38100" marB="38100" anchor="ctr">
                    <a:solidFill>
                      <a:srgbClr val="F4F2FA"/>
                    </a:solidFill>
                  </a:tcPr>
                </a:tc>
                <a:tc>
                  <a:txBody>
                    <a:bodyPr/>
                    <a:lstStyle/>
                    <a:p>
                      <a:r>
                        <a:rPr sz="1200" b="0" i="0">
                          <a:solidFill>
                            <a:srgbClr val="1A1440"/>
                          </a:solidFill>
                          <a:latin typeface="Calibri"/>
                        </a:rPr>
                        <a:t>1,500</a:t>
                      </a:r>
                    </a:p>
                  </a:txBody>
                  <a:tcPr marL="101600" marR="101600" marT="38100" marB="38100" anchor="ctr">
                    <a:solidFill>
                      <a:srgbClr val="F4F2FA"/>
                    </a:solidFill>
                  </a:tcPr>
                </a:tc>
                <a:tc>
                  <a:txBody>
                    <a:bodyPr/>
                    <a:lstStyle/>
                    <a:p>
                      <a:r>
                        <a:rPr sz="1200" b="0" i="0">
                          <a:solidFill>
                            <a:srgbClr val="1A1440"/>
                          </a:solidFill>
                          <a:latin typeface="Calibri"/>
                        </a:rPr>
                        <a:t>1</a:t>
                      </a:r>
                    </a:p>
                  </a:txBody>
                  <a:tcPr marL="101600" marR="101600" marT="38100" marB="38100" anchor="ctr">
                    <a:solidFill>
                      <a:srgbClr val="F4F2FA"/>
                    </a:solidFill>
                  </a:tcPr>
                </a:tc>
              </a:tr>
              <a:tr h="335280">
                <a:tc>
                  <a:txBody>
                    <a:bodyPr/>
                    <a:lstStyle/>
                    <a:p>
                      <a:r>
                        <a:rPr sz="1200" b="0" i="0">
                          <a:solidFill>
                            <a:srgbClr val="1A1440"/>
                          </a:solidFill>
                          <a:latin typeface="Calibri"/>
                        </a:rPr>
                        <a:t>P-5</a:t>
                      </a:r>
                    </a:p>
                  </a:txBody>
                  <a:tcPr marL="101600" marR="101600" marT="38100" marB="38100" anchor="ctr">
                    <a:solidFill>
                      <a:srgbClr val="FFFFFF"/>
                    </a:solidFill>
                  </a:tcPr>
                </a:tc>
                <a:tc>
                  <a:txBody>
                    <a:bodyPr/>
                    <a:lstStyle/>
                    <a:p>
                      <a:r>
                        <a:rPr sz="1200" b="0" i="0">
                          <a:solidFill>
                            <a:srgbClr val="1A1440"/>
                          </a:solidFill>
                          <a:latin typeface="Calibri"/>
                        </a:rPr>
                        <a:t>T-3</a:t>
                      </a:r>
                    </a:p>
                  </a:txBody>
                  <a:tcPr marL="101600" marR="101600" marT="38100" marB="38100" anchor="ctr">
                    <a:solidFill>
                      <a:srgbClr val="FFFFFF"/>
                    </a:solidFill>
                  </a:tcPr>
                </a:tc>
                <a:tc>
                  <a:txBody>
                    <a:bodyPr/>
                    <a:lstStyle/>
                    <a:p>
                      <a:r>
                        <a:rPr sz="1200" b="0" i="0">
                          <a:solidFill>
                            <a:srgbClr val="1A1440"/>
                          </a:solidFill>
                          <a:latin typeface="Calibri"/>
                        </a:rPr>
                        <a:t>9 Jul</a:t>
                      </a:r>
                    </a:p>
                  </a:txBody>
                  <a:tcPr marL="101600" marR="101600" marT="38100" marB="38100" anchor="ctr">
                    <a:solidFill>
                      <a:srgbClr val="FFFFFF"/>
                    </a:solidFill>
                  </a:tcPr>
                </a:tc>
                <a:tc>
                  <a:txBody>
                    <a:bodyPr/>
                    <a:lstStyle/>
                    <a:p>
                      <a:r>
                        <a:rPr sz="1200" b="0" i="0">
                          <a:solidFill>
                            <a:srgbClr val="1A1440"/>
                          </a:solidFill>
                          <a:latin typeface="Calibri"/>
                        </a:rPr>
                        <a:t>1,500</a:t>
                      </a:r>
                    </a:p>
                  </a:txBody>
                  <a:tcPr marL="101600" marR="101600" marT="38100" marB="38100" anchor="ctr">
                    <a:solidFill>
                      <a:srgbClr val="FFFFFF"/>
                    </a:solidFill>
                  </a:tcPr>
                </a:tc>
                <a:tc>
                  <a:txBody>
                    <a:bodyPr/>
                    <a:lstStyle/>
                    <a:p>
                      <a:r>
                        <a:rPr sz="1200" b="0" i="0">
                          <a:solidFill>
                            <a:srgbClr val="1A1440"/>
                          </a:solidFill>
                          <a:latin typeface="Calibri"/>
                        </a:rPr>
                        <a:t>1</a:t>
                      </a:r>
                    </a:p>
                  </a:txBody>
                  <a:tcPr marL="101600" marR="101600" marT="38100" marB="38100" anchor="ctr">
                    <a:solidFill>
                      <a:srgbClr val="FFFFFF"/>
                    </a:solidFill>
                  </a:tcPr>
                </a:tc>
              </a:tr>
              <a:tr h="335280">
                <a:tc>
                  <a:txBody>
                    <a:bodyPr/>
                    <a:lstStyle/>
                    <a:p>
                      <a:r>
                        <a:rPr sz="1200" b="0" i="0">
                          <a:solidFill>
                            <a:srgbClr val="1A1440"/>
                          </a:solidFill>
                          <a:latin typeface="Calibri"/>
                        </a:rPr>
                        <a:t>P-6</a:t>
                      </a:r>
                    </a:p>
                  </a:txBody>
                  <a:tcPr marL="101600" marR="101600" marT="38100" marB="38100" anchor="ctr">
                    <a:solidFill>
                      <a:srgbClr val="F4F2FA"/>
                    </a:solidFill>
                  </a:tcPr>
                </a:tc>
                <a:tc>
                  <a:txBody>
                    <a:bodyPr/>
                    <a:lstStyle/>
                    <a:p>
                      <a:r>
                        <a:rPr sz="1200" b="0" i="0">
                          <a:solidFill>
                            <a:srgbClr val="1A1440"/>
                          </a:solidFill>
                          <a:latin typeface="Calibri"/>
                        </a:rPr>
                        <a:t>T-5</a:t>
                      </a:r>
                    </a:p>
                  </a:txBody>
                  <a:tcPr marL="101600" marR="101600" marT="38100" marB="38100" anchor="ctr">
                    <a:solidFill>
                      <a:srgbClr val="F4F2FA"/>
                    </a:solidFill>
                  </a:tcPr>
                </a:tc>
                <a:tc>
                  <a:txBody>
                    <a:bodyPr/>
                    <a:lstStyle/>
                    <a:p>
                      <a:r>
                        <a:rPr sz="1200" b="0" i="0">
                          <a:solidFill>
                            <a:srgbClr val="1A1440"/>
                          </a:solidFill>
                          <a:latin typeface="Calibri"/>
                        </a:rPr>
                        <a:t>12 Jul</a:t>
                      </a:r>
                    </a:p>
                  </a:txBody>
                  <a:tcPr marL="101600" marR="101600" marT="38100" marB="38100" anchor="ctr">
                    <a:solidFill>
                      <a:srgbClr val="F4F2FA"/>
                    </a:solidFill>
                  </a:tcPr>
                </a:tc>
                <a:tc>
                  <a:txBody>
                    <a:bodyPr/>
                    <a:lstStyle/>
                    <a:p>
                      <a:r>
                        <a:rPr sz="1200" b="0" i="0">
                          <a:solidFill>
                            <a:srgbClr val="1A1440"/>
                          </a:solidFill>
                          <a:latin typeface="Calibri"/>
                        </a:rPr>
                        <a:t>500</a:t>
                      </a:r>
                    </a:p>
                  </a:txBody>
                  <a:tcPr marL="101600" marR="101600" marT="38100" marB="38100" anchor="ctr">
                    <a:solidFill>
                      <a:srgbClr val="F4F2FA"/>
                    </a:solidFill>
                  </a:tcPr>
                </a:tc>
                <a:tc>
                  <a:txBody>
                    <a:bodyPr/>
                    <a:lstStyle/>
                    <a:p>
                      <a:r>
                        <a:rPr sz="1200" b="0" i="0">
                          <a:solidFill>
                            <a:srgbClr val="1A1440"/>
                          </a:solidFill>
                          <a:latin typeface="Calibri"/>
                        </a:rPr>
                        <a:t>1</a:t>
                      </a:r>
                    </a:p>
                  </a:txBody>
                  <a:tcPr marL="101600" marR="101600" marT="38100" marB="38100" anchor="ctr">
                    <a:solidFill>
                      <a:srgbClr val="F4F2FA"/>
                    </a:solidFill>
                  </a:tcPr>
                </a:tc>
              </a:tr>
              <a:tr h="335280">
                <a:tc>
                  <a:txBody>
                    <a:bodyPr/>
                    <a:lstStyle/>
                    <a:p>
                      <a:r>
                        <a:rPr sz="1200" b="0" i="0">
                          <a:solidFill>
                            <a:srgbClr val="1A1440"/>
                          </a:solidFill>
                          <a:latin typeface="Calibri"/>
                        </a:rPr>
                        <a:t>P-7</a:t>
                      </a:r>
                    </a:p>
                  </a:txBody>
                  <a:tcPr marL="101600" marR="101600" marT="38100" marB="38100" anchor="ctr">
                    <a:solidFill>
                      <a:srgbClr val="FFFFFF"/>
                    </a:solidFill>
                  </a:tcPr>
                </a:tc>
                <a:tc>
                  <a:txBody>
                    <a:bodyPr/>
                    <a:lstStyle/>
                    <a:p>
                      <a:r>
                        <a:rPr sz="1200" b="0" i="0">
                          <a:solidFill>
                            <a:srgbClr val="1A1440"/>
                          </a:solidFill>
                          <a:latin typeface="Calibri"/>
                        </a:rPr>
                        <a:t>T-9</a:t>
                      </a:r>
                    </a:p>
                  </a:txBody>
                  <a:tcPr marL="101600" marR="101600" marT="38100" marB="38100" anchor="ctr">
                    <a:solidFill>
                      <a:srgbClr val="FFFFFF"/>
                    </a:solidFill>
                  </a:tcPr>
                </a:tc>
                <a:tc>
                  <a:txBody>
                    <a:bodyPr/>
                    <a:lstStyle/>
                    <a:p>
                      <a:r>
                        <a:rPr sz="1200" b="0" i="0">
                          <a:solidFill>
                            <a:srgbClr val="1A1440"/>
                          </a:solidFill>
                          <a:latin typeface="Calibri"/>
                        </a:rPr>
                        <a:t>14 Jul</a:t>
                      </a:r>
                    </a:p>
                  </a:txBody>
                  <a:tcPr marL="101600" marR="101600" marT="38100" marB="38100" anchor="ctr">
                    <a:solidFill>
                      <a:srgbClr val="FFFFFF"/>
                    </a:solidFill>
                  </a:tcPr>
                </a:tc>
                <a:tc>
                  <a:txBody>
                    <a:bodyPr/>
                    <a:lstStyle/>
                    <a:p>
                      <a:r>
                        <a:rPr sz="1200" b="0" i="0">
                          <a:solidFill>
                            <a:srgbClr val="1A1440"/>
                          </a:solidFill>
                          <a:latin typeface="Calibri"/>
                        </a:rPr>
                        <a:t>600</a:t>
                      </a:r>
                    </a:p>
                  </a:txBody>
                  <a:tcPr marL="101600" marR="101600" marT="38100" marB="38100" anchor="ctr">
                    <a:solidFill>
                      <a:srgbClr val="FFFFFF"/>
                    </a:solidFill>
                  </a:tcPr>
                </a:tc>
                <a:tc>
                  <a:txBody>
                    <a:bodyPr/>
                    <a:lstStyle/>
                    <a:p>
                      <a:r>
                        <a:rPr sz="1200" b="0" i="0">
                          <a:solidFill>
                            <a:srgbClr val="1A1440"/>
                          </a:solidFill>
                          <a:latin typeface="Calibri"/>
                        </a:rPr>
                        <a:t>1</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12" name="Oval 11"/>
          <p:cNvSpPr/>
          <p:nvPr/>
        </p:nvSpPr>
        <p:spPr>
          <a:xfrm>
            <a:off x="13278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437608" y="6437376"/>
            <a:ext cx="1562480" cy="152146"/>
          </a:xfrm>
          <a:prstGeom prst="rect">
            <a:avLst/>
          </a:prstGeom>
          <a:noFill/>
        </p:spPr>
        <p:txBody>
          <a:bodyPr wrap="square" anchor="t" lIns="0" rIns="0" tIns="0" bIns="0">
            <a:spAutoFit/>
          </a:bodyPr>
          <a:lstStyle/>
          <a:p>
            <a:pPr algn="l"/>
            <a:r>
              <a:rPr sz="700" b="1" i="0">
                <a:solidFill>
                  <a:srgbClr val="5B3FD6"/>
                </a:solidFill>
                <a:latin typeface="Calibri"/>
              </a:rPr>
              <a:t>What a join does to the rows</a:t>
            </a:r>
          </a:p>
        </p:txBody>
      </p:sp>
      <p:sp>
        <p:nvSpPr>
          <p:cNvPr id="14" name="Oval 13"/>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16" name="Oval 15"/>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11 / 44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four joins, four row counts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Write your four numbers before anyone runs anything.</a:t>
            </a:r>
          </a:p>
        </p:txBody>
      </p:sp>
      <p:pic>
        <p:nvPicPr>
          <p:cNvPr id="9" name="mermaid diagram" descr="8e0fbbbcd47f6a81.png"/>
          <p:cNvPicPr>
            <a:picLocks noChangeAspect="1"/>
          </p:cNvPicPr>
          <p:nvPr/>
        </p:nvPicPr>
        <p:blipFill>
          <a:blip r:embed="rId5"/>
          <a:stretch>
            <a:fillRect/>
          </a:stretch>
        </p:blipFill>
        <p:spPr>
          <a:xfrm>
            <a:off x="4192317" y="1664208"/>
            <a:ext cx="3807059" cy="3517392"/>
          </a:xfrm>
          <a:prstGeom prst="rect">
            <a:avLst/>
          </a:prstGeom>
        </p:spPr>
      </p:pic>
      <p:sp>
        <p:nvSpPr>
          <p:cNvPr id="10" name="Rounded Rectangle 9"/>
          <p:cNvSpPr/>
          <p:nvPr/>
        </p:nvSpPr>
        <p:spPr>
          <a:xfrm>
            <a:off x="530352" y="522732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35533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346192"/>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Joining tiny_orders to tiny_payments on order_id, how many rows does each join return? a) 5, 5, 7, 7; b) 6, 7, 7, 8; c) 5, 6, 7, 8; d) 6, 6, 7, 7.</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15" name="Oval 14"/>
          <p:cNvSpPr/>
          <p:nvPr/>
        </p:nvSpPr>
        <p:spPr>
          <a:xfrm>
            <a:off x="13278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437608" y="6437376"/>
            <a:ext cx="1562480" cy="152146"/>
          </a:xfrm>
          <a:prstGeom prst="rect">
            <a:avLst/>
          </a:prstGeom>
          <a:noFill/>
        </p:spPr>
        <p:txBody>
          <a:bodyPr wrap="square" anchor="t" lIns="0" rIns="0" tIns="0" bIns="0">
            <a:spAutoFit/>
          </a:bodyPr>
          <a:lstStyle/>
          <a:p>
            <a:pPr algn="l"/>
            <a:r>
              <a:rPr sz="700" b="1" i="0">
                <a:solidFill>
                  <a:srgbClr val="5B3FD6"/>
                </a:solidFill>
                <a:latin typeface="Calibri"/>
              </a:rPr>
              <a:t>What a join does to the rows</a:t>
            </a:r>
          </a:p>
        </p:txBody>
      </p:sp>
      <p:sp>
        <p:nvSpPr>
          <p:cNvPr id="17" name="Oval 16"/>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19" name="Oval 18"/>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12 / 44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6, 7, 7 and 8, traced row by row</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T-2 and T-3 come out twice, T-4 appears only with LEFT, and P-7 only with RIGHT.</a:t>
            </a:r>
          </a:p>
        </p:txBody>
      </p:sp>
      <p:graphicFrame>
        <p:nvGraphicFramePr>
          <p:cNvPr id="9" name="Table 8"/>
          <p:cNvGraphicFramePr>
            <a:graphicFrameLocks noGrp="1"/>
          </p:cNvGraphicFramePr>
          <p:nvPr/>
        </p:nvGraphicFramePr>
        <p:xfrm>
          <a:off x="530352" y="1956816"/>
          <a:ext cx="11130991" cy="1849120"/>
        </p:xfrm>
        <a:graphic>
          <a:graphicData uri="http://schemas.openxmlformats.org/drawingml/2006/table">
            <a:tbl>
              <a:tblPr firstRow="0" bandRow="0">
                <a:tableStyleId>{2D5ABB26-0587-4C30-8999-92F81FD0307C}</a:tableStyleId>
              </a:tblPr>
              <a:tblGrid>
                <a:gridCol w="914400"/>
                <a:gridCol w="914400"/>
                <a:gridCol w="9302191"/>
              </a:tblGrid>
              <a:tr h="369824">
                <a:tc>
                  <a:txBody>
                    <a:bodyPr/>
                    <a:lstStyle/>
                    <a:p>
                      <a:r>
                        <a:rPr sz="1450" b="1" i="0">
                          <a:solidFill>
                            <a:srgbClr val="FFFFFF"/>
                          </a:solidFill>
                          <a:latin typeface="Calibri"/>
                        </a:rPr>
                        <a:t>Join</a:t>
                      </a:r>
                    </a:p>
                  </a:txBody>
                  <a:tcPr marL="101600" marR="101600" marT="38100" marB="38100" anchor="ctr">
                    <a:solidFill>
                      <a:srgbClr val="1A0F5C"/>
                    </a:solidFill>
                  </a:tcPr>
                </a:tc>
                <a:tc>
                  <a:txBody>
                    <a:bodyPr/>
                    <a:lstStyle/>
                    <a:p>
                      <a:r>
                        <a:rPr sz="1450" b="1" i="0">
                          <a:solidFill>
                            <a:srgbClr val="FFFFFF"/>
                          </a:solidFill>
                          <a:latin typeface="Calibri"/>
                        </a:rPr>
                        <a:t>Rows</a:t>
                      </a:r>
                    </a:p>
                  </a:txBody>
                  <a:tcPr marL="101600" marR="101600" marT="38100" marB="38100" anchor="ctr">
                    <a:solidFill>
                      <a:srgbClr val="1A0F5C"/>
                    </a:solidFill>
                  </a:tcPr>
                </a:tc>
                <a:tc>
                  <a:txBody>
                    <a:bodyPr/>
                    <a:lstStyle/>
                    <a:p>
                      <a:r>
                        <a:rPr sz="1450" b="1" i="0">
                          <a:solidFill>
                            <a:srgbClr val="FFFFFF"/>
                          </a:solidFill>
                          <a:latin typeface="Calibri"/>
                        </a:rPr>
                        <a:t>Where the rows come from</a:t>
                      </a:r>
                    </a:p>
                  </a:txBody>
                  <a:tcPr marL="101600" marR="101600" marT="38100" marB="38100" anchor="ctr">
                    <a:solidFill>
                      <a:srgbClr val="1A0F5C"/>
                    </a:solidFill>
                  </a:tcPr>
                </a:tc>
              </a:tr>
              <a:tr h="369824">
                <a:tc>
                  <a:txBody>
                    <a:bodyPr/>
                    <a:lstStyle/>
                    <a:p>
                      <a:r>
                        <a:rPr sz="1400" b="0" i="0">
                          <a:solidFill>
                            <a:srgbClr val="1A1440"/>
                          </a:solidFill>
                          <a:latin typeface="Calibri"/>
                        </a:rPr>
                        <a:t>INNER</a:t>
                      </a:r>
                    </a:p>
                  </a:txBody>
                  <a:tcPr marL="101600" marR="101600" marT="38100" marB="38100" anchor="ctr">
                    <a:solidFill>
                      <a:srgbClr val="FFFFFF"/>
                    </a:solidFill>
                  </a:tcPr>
                </a:tc>
                <a:tc>
                  <a:txBody>
                    <a:bodyPr/>
                    <a:lstStyle/>
                    <a:p>
                      <a:r>
                        <a:rPr sz="1400" b="0" i="0">
                          <a:solidFill>
                            <a:srgbClr val="1A1440"/>
                          </a:solidFill>
                          <a:latin typeface="Calibri"/>
                        </a:rPr>
                        <a:t>6</a:t>
                      </a:r>
                    </a:p>
                  </a:txBody>
                  <a:tcPr marL="101600" marR="101600" marT="38100" marB="38100" anchor="ctr">
                    <a:solidFill>
                      <a:srgbClr val="FFFFFF"/>
                    </a:solidFill>
                  </a:tcPr>
                </a:tc>
                <a:tc>
                  <a:txBody>
                    <a:bodyPr/>
                    <a:lstStyle/>
                    <a:p>
                      <a:r>
                        <a:rPr sz="1400" b="0" i="0">
                          <a:solidFill>
                            <a:srgbClr val="1A1440"/>
                          </a:solidFill>
                          <a:latin typeface="Calibri"/>
                        </a:rPr>
                        <a:t>T-1 once, T-2 twice, T-3 twice, T-5 once</a:t>
                      </a:r>
                    </a:p>
                  </a:txBody>
                  <a:tcPr marL="101600" marR="101600" marT="38100" marB="38100" anchor="ctr">
                    <a:solidFill>
                      <a:srgbClr val="FFFFFF"/>
                    </a:solidFill>
                  </a:tcPr>
                </a:tc>
              </a:tr>
              <a:tr h="369824">
                <a:tc>
                  <a:txBody>
                    <a:bodyPr/>
                    <a:lstStyle/>
                    <a:p>
                      <a:r>
                        <a:rPr sz="1400" b="0" i="0">
                          <a:solidFill>
                            <a:srgbClr val="1A1440"/>
                          </a:solidFill>
                          <a:latin typeface="Calibri"/>
                        </a:rPr>
                        <a:t>LEFT</a:t>
                      </a:r>
                    </a:p>
                  </a:txBody>
                  <a:tcPr marL="101600" marR="101600" marT="38100" marB="38100" anchor="ctr">
                    <a:solidFill>
                      <a:srgbClr val="F4F2FA"/>
                    </a:solidFill>
                  </a:tcPr>
                </a:tc>
                <a:tc>
                  <a:txBody>
                    <a:bodyPr/>
                    <a:lstStyle/>
                    <a:p>
                      <a:r>
                        <a:rPr sz="1400" b="0" i="0">
                          <a:solidFill>
                            <a:srgbClr val="1A1440"/>
                          </a:solidFill>
                          <a:latin typeface="Calibri"/>
                        </a:rPr>
                        <a:t>7</a:t>
                      </a:r>
                    </a:p>
                  </a:txBody>
                  <a:tcPr marL="101600" marR="101600" marT="38100" marB="38100" anchor="ctr">
                    <a:solidFill>
                      <a:srgbClr val="F4F2FA"/>
                    </a:solidFill>
                  </a:tcPr>
                </a:tc>
                <a:tc>
                  <a:txBody>
                    <a:bodyPr/>
                    <a:lstStyle/>
                    <a:p>
                      <a:r>
                        <a:rPr sz="1400" b="0" i="0">
                          <a:solidFill>
                            <a:srgbClr val="1A1440"/>
                          </a:solidFill>
                          <a:latin typeface="Calibri"/>
                        </a:rPr>
                        <a:t>The six, plus T-4 with NULLs on the payments side</a:t>
                      </a:r>
                    </a:p>
                  </a:txBody>
                  <a:tcPr marL="101600" marR="101600" marT="38100" marB="38100" anchor="ctr">
                    <a:solidFill>
                      <a:srgbClr val="F4F2FA"/>
                    </a:solidFill>
                  </a:tcPr>
                </a:tc>
              </a:tr>
              <a:tr h="369824">
                <a:tc>
                  <a:txBody>
                    <a:bodyPr/>
                    <a:lstStyle/>
                    <a:p>
                      <a:r>
                        <a:rPr sz="1400" b="0" i="0">
                          <a:solidFill>
                            <a:srgbClr val="1A1440"/>
                          </a:solidFill>
                          <a:latin typeface="Calibri"/>
                        </a:rPr>
                        <a:t>RIGHT</a:t>
                      </a:r>
                    </a:p>
                  </a:txBody>
                  <a:tcPr marL="101600" marR="101600" marT="38100" marB="38100" anchor="ctr">
                    <a:solidFill>
                      <a:srgbClr val="FFFFFF"/>
                    </a:solidFill>
                  </a:tcPr>
                </a:tc>
                <a:tc>
                  <a:txBody>
                    <a:bodyPr/>
                    <a:lstStyle/>
                    <a:p>
                      <a:r>
                        <a:rPr sz="1400" b="0" i="0">
                          <a:solidFill>
                            <a:srgbClr val="1A1440"/>
                          </a:solidFill>
                          <a:latin typeface="Calibri"/>
                        </a:rPr>
                        <a:t>7</a:t>
                      </a:r>
                    </a:p>
                  </a:txBody>
                  <a:tcPr marL="101600" marR="101600" marT="38100" marB="38100" anchor="ctr">
                    <a:solidFill>
                      <a:srgbClr val="FFFFFF"/>
                    </a:solidFill>
                  </a:tcPr>
                </a:tc>
                <a:tc>
                  <a:txBody>
                    <a:bodyPr/>
                    <a:lstStyle/>
                    <a:p>
                      <a:r>
                        <a:rPr sz="1400" b="0" i="0">
                          <a:solidFill>
                            <a:srgbClr val="1A1440"/>
                          </a:solidFill>
                          <a:latin typeface="Calibri"/>
                        </a:rPr>
                        <a:t>The six, plus P-7 with NULLs on the orders side</a:t>
                      </a:r>
                    </a:p>
                  </a:txBody>
                  <a:tcPr marL="101600" marR="101600" marT="38100" marB="38100" anchor="ctr">
                    <a:solidFill>
                      <a:srgbClr val="FFFFFF"/>
                    </a:solidFill>
                  </a:tcPr>
                </a:tc>
              </a:tr>
              <a:tr h="369824">
                <a:tc>
                  <a:txBody>
                    <a:bodyPr/>
                    <a:lstStyle/>
                    <a:p>
                      <a:r>
                        <a:rPr sz="1400" b="0" i="0">
                          <a:solidFill>
                            <a:srgbClr val="1A1440"/>
                          </a:solidFill>
                          <a:latin typeface="Calibri"/>
                        </a:rPr>
                        <a:t>FULL</a:t>
                      </a:r>
                    </a:p>
                  </a:txBody>
                  <a:tcPr marL="101600" marR="101600" marT="38100" marB="38100" anchor="ctr">
                    <a:solidFill>
                      <a:srgbClr val="F4F2FA"/>
                    </a:solidFill>
                  </a:tcPr>
                </a:tc>
                <a:tc>
                  <a:txBody>
                    <a:bodyPr/>
                    <a:lstStyle/>
                    <a:p>
                      <a:r>
                        <a:rPr sz="1400" b="0" i="0">
                          <a:solidFill>
                            <a:srgbClr val="1A1440"/>
                          </a:solidFill>
                          <a:latin typeface="Calibri"/>
                        </a:rPr>
                        <a:t>8</a:t>
                      </a:r>
                    </a:p>
                  </a:txBody>
                  <a:tcPr marL="101600" marR="101600" marT="38100" marB="38100" anchor="ctr">
                    <a:solidFill>
                      <a:srgbClr val="F4F2FA"/>
                    </a:solidFill>
                  </a:tcPr>
                </a:tc>
                <a:tc>
                  <a:txBody>
                    <a:bodyPr/>
                    <a:lstStyle/>
                    <a:p>
                      <a:r>
                        <a:rPr sz="1400" b="0" i="0">
                          <a:solidFill>
                            <a:srgbClr val="1A1440"/>
                          </a:solidFill>
                          <a:latin typeface="Calibri"/>
                        </a:rPr>
                        <a:t>The six, plus T-4, plus P-7</a:t>
                      </a:r>
                    </a:p>
                  </a:txBody>
                  <a:tcPr marL="101600" marR="101600" marT="38100" marB="38100" anchor="ctr">
                    <a:solidFill>
                      <a:srgbClr val="F4F2FA"/>
                    </a:solidFill>
                  </a:tcPr>
                </a:tc>
              </a:tr>
            </a:tbl>
          </a:graphicData>
        </a:graphic>
      </p:graphicFrame>
      <p:sp>
        <p:nvSpPr>
          <p:cNvPr id="10" name="Rounded Rectangle 9"/>
          <p:cNvSpPr/>
          <p:nvPr/>
        </p:nvSpPr>
        <p:spPr>
          <a:xfrm>
            <a:off x="530352" y="4061968"/>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39420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4"/>
          <a:stretch>
            <a:fillRect/>
          </a:stretch>
        </p:blipFill>
        <p:spPr>
          <a:xfrm>
            <a:off x="868680" y="4503928"/>
            <a:ext cx="237744" cy="237744"/>
          </a:xfrm>
          <a:prstGeom prst="rect">
            <a:avLst/>
          </a:prstGeom>
        </p:spPr>
      </p:pic>
      <p:sp>
        <p:nvSpPr>
          <p:cNvPr id="13" name="TextBox 12"/>
          <p:cNvSpPr txBox="1"/>
          <p:nvPr/>
        </p:nvSpPr>
        <p:spPr>
          <a:xfrm>
            <a:off x="1399031" y="420827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4427728"/>
            <a:ext cx="9987991" cy="682752"/>
          </a:xfrm>
          <a:prstGeom prst="rect">
            <a:avLst/>
          </a:prstGeom>
          <a:noFill/>
        </p:spPr>
        <p:txBody>
          <a:bodyPr wrap="square" anchor="t" lIns="0" rIns="0" tIns="0" bIns="0">
            <a:spAutoFit/>
          </a:bodyPr>
          <a:lstStyle/>
          <a:p>
            <a:r>
              <a:rPr sz="1500" b="0" i="0">
                <a:solidFill>
                  <a:srgbClr val="1A1440"/>
                </a:solidFill>
                <a:latin typeface="Calibri"/>
              </a:rPr>
              <a:t>An order comes out once per matching payment row, so a key that repeats on the right multiplies the left before any number is summed.</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17" name="Oval 16"/>
          <p:cNvSpPr/>
          <p:nvPr/>
        </p:nvSpPr>
        <p:spPr>
          <a:xfrm>
            <a:off x="13278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437608" y="6437376"/>
            <a:ext cx="1562480" cy="152146"/>
          </a:xfrm>
          <a:prstGeom prst="rect">
            <a:avLst/>
          </a:prstGeom>
          <a:noFill/>
        </p:spPr>
        <p:txBody>
          <a:bodyPr wrap="square" anchor="t" lIns="0" rIns="0" tIns="0" bIns="0">
            <a:spAutoFit/>
          </a:bodyPr>
          <a:lstStyle/>
          <a:p>
            <a:pPr algn="l"/>
            <a:r>
              <a:rPr sz="700" b="1" i="0">
                <a:solidFill>
                  <a:srgbClr val="5B3FD6"/>
                </a:solidFill>
                <a:latin typeface="Calibri"/>
              </a:rPr>
              <a:t>What a join does to the rows</a:t>
            </a:r>
          </a:p>
        </p:txBody>
      </p:sp>
      <p:sp>
        <p:nvSpPr>
          <p:cNvPr id="19" name="Oval 18"/>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21" name="Oval 20"/>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S10  ·  13 / 44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INNER and LEFT answer different questions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Choose a join by the question you are asking about the rows that do not match.</a:t>
            </a:r>
          </a:p>
        </p:txBody>
      </p:sp>
      <p:sp>
        <p:nvSpPr>
          <p:cNvPr id="9" name="Rounded Rectangle 8"/>
          <p:cNvSpPr/>
          <p:nvPr/>
        </p:nvSpPr>
        <p:spPr>
          <a:xfrm>
            <a:off x="53035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filter_c3942426586e.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INNER JOIN</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Only the matches</a:t>
            </a:r>
          </a:p>
        </p:txBody>
      </p:sp>
      <p:sp>
        <p:nvSpPr>
          <p:cNvPr id="14" name="TextBox 13"/>
          <p:cNvSpPr txBox="1"/>
          <p:nvPr/>
        </p:nvSpPr>
        <p:spPr>
          <a:xfrm>
            <a:off x="731519"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Answers "what do the paid orders look like?" An unpaid order disappears without a trace.</a:t>
            </a:r>
          </a:p>
        </p:txBody>
      </p:sp>
      <p:sp>
        <p:nvSpPr>
          <p:cNvPr id="15" name="Rounded Rectangle 14"/>
          <p:cNvSpPr/>
          <p:nvPr/>
        </p:nvSpPr>
        <p:spPr>
          <a:xfrm>
            <a:off x="4301642" y="1956816"/>
            <a:ext cx="3588410" cy="2154428"/>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list-checks_bd88901d2a37.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LEFT JOIN</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Every order, matched or not</a:t>
            </a:r>
          </a:p>
        </p:txBody>
      </p:sp>
      <p:sp>
        <p:nvSpPr>
          <p:cNvPr id="20" name="TextBox 19"/>
          <p:cNvSpPr txBox="1"/>
          <p:nvPr/>
        </p:nvSpPr>
        <p:spPr>
          <a:xfrm>
            <a:off x="4502810" y="3303524"/>
            <a:ext cx="3186074" cy="581406"/>
          </a:xfrm>
          <a:prstGeom prst="rect">
            <a:avLst/>
          </a:prstGeom>
          <a:noFill/>
        </p:spPr>
        <p:txBody>
          <a:bodyPr wrap="square" anchor="t" lIns="0" rIns="0" tIns="0" bIns="0">
            <a:spAutoFit/>
          </a:bodyPr>
          <a:lstStyle/>
          <a:p>
            <a:pPr algn="l"/>
            <a:r>
              <a:rPr sz="1100" b="0" i="0">
                <a:solidFill>
                  <a:srgbClr val="CFC9EE"/>
                </a:solidFill>
                <a:latin typeface="Calibri"/>
              </a:rPr>
              <a:t>Answers "what happened to each order we booked?" An unpaid order stays, with NULL where its payment would be.</a:t>
            </a:r>
          </a:p>
        </p:txBody>
      </p:sp>
      <p:sp>
        <p:nvSpPr>
          <p:cNvPr id="21" name="Rounded Rectangle 20"/>
          <p:cNvSpPr/>
          <p:nvPr/>
        </p:nvSpPr>
        <p:spPr>
          <a:xfrm>
            <a:off x="807293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arrow-left-right_d71405cfa9e3.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RIGHT AND FULL</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The other side's orphans</a:t>
            </a:r>
          </a:p>
        </p:txBody>
      </p:sp>
      <p:sp>
        <p:nvSpPr>
          <p:cNvPr id="26" name="TextBox 25"/>
          <p:cNvSpPr txBox="1"/>
          <p:nvPr/>
        </p:nvSpPr>
        <p:spPr>
          <a:xfrm>
            <a:off x="8274100" y="3303524"/>
            <a:ext cx="3186074" cy="581406"/>
          </a:xfrm>
          <a:prstGeom prst="rect">
            <a:avLst/>
          </a:prstGeom>
          <a:noFill/>
        </p:spPr>
        <p:txBody>
          <a:bodyPr wrap="square" anchor="t" lIns="0" rIns="0" tIns="0" bIns="0">
            <a:spAutoFit/>
          </a:bodyPr>
          <a:lstStyle/>
          <a:p>
            <a:pPr algn="l"/>
            <a:r>
              <a:rPr sz="1100" b="0" i="0">
                <a:solidFill>
                  <a:srgbClr val="6B6690"/>
                </a:solidFill>
                <a:latin typeface="Calibri"/>
              </a:rPr>
              <a:t>RIGHT keeps every payment; FULL keeps both sides. Named today and used later, when two feeds are reconciled.</a:t>
            </a:r>
          </a:p>
        </p:txBody>
      </p:sp>
      <p:sp>
        <p:nvSpPr>
          <p:cNvPr id="27" name="Rounded Rectangle 26"/>
          <p:cNvSpPr/>
          <p:nvPr/>
        </p:nvSpPr>
        <p:spPr>
          <a:xfrm>
            <a:off x="530352" y="4294124"/>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758952" y="449681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mic_caee7398c80d.png"/>
          <p:cNvPicPr>
            <a:picLocks noChangeAspect="1"/>
          </p:cNvPicPr>
          <p:nvPr/>
        </p:nvPicPr>
        <p:blipFill>
          <a:blip r:embed="rId7"/>
          <a:stretch>
            <a:fillRect/>
          </a:stretch>
        </p:blipFill>
        <p:spPr>
          <a:xfrm>
            <a:off x="868680" y="4606544"/>
            <a:ext cx="237744" cy="237744"/>
          </a:xfrm>
          <a:prstGeom prst="rect">
            <a:avLst/>
          </a:prstGeom>
        </p:spPr>
      </p:pic>
      <p:sp>
        <p:nvSpPr>
          <p:cNvPr id="30" name="TextBox 29"/>
          <p:cNvSpPr txBox="1"/>
          <p:nvPr/>
        </p:nvSpPr>
        <p:spPr>
          <a:xfrm>
            <a:off x="1399031" y="444042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31" name="TextBox 30"/>
          <p:cNvSpPr txBox="1"/>
          <p:nvPr/>
        </p:nvSpPr>
        <p:spPr>
          <a:xfrm>
            <a:off x="1399031" y="4659884"/>
            <a:ext cx="9987991" cy="423672"/>
          </a:xfrm>
          <a:prstGeom prst="rect">
            <a:avLst/>
          </a:prstGeom>
          <a:noFill/>
        </p:spPr>
        <p:txBody>
          <a:bodyPr wrap="square" anchor="t" lIns="0" rIns="0" tIns="0" bIns="0">
            <a:spAutoFit/>
          </a:bodyPr>
          <a:lstStyle/>
          <a:p>
            <a:r>
              <a:rPr sz="1500" b="0" i="0">
                <a:solidFill>
                  <a:srgbClr val="1A1440"/>
                </a:solidFill>
                <a:latin typeface="Calibri"/>
              </a:rPr>
              <a:t>[S] INNER against LEFT join: what does each drop or keep?</a:t>
            </a:r>
          </a:p>
        </p:txBody>
      </p:sp>
      <p:sp>
        <p:nvSpPr>
          <p:cNvPr id="32" name="Oval 3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34" name="Oval 33"/>
          <p:cNvSpPr/>
          <p:nvPr/>
        </p:nvSpPr>
        <p:spPr>
          <a:xfrm>
            <a:off x="13278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1437608" y="6437376"/>
            <a:ext cx="1562480" cy="152146"/>
          </a:xfrm>
          <a:prstGeom prst="rect">
            <a:avLst/>
          </a:prstGeom>
          <a:noFill/>
        </p:spPr>
        <p:txBody>
          <a:bodyPr wrap="square" anchor="t" lIns="0" rIns="0" tIns="0" bIns="0">
            <a:spAutoFit/>
          </a:bodyPr>
          <a:lstStyle/>
          <a:p>
            <a:pPr algn="l"/>
            <a:r>
              <a:rPr sz="700" b="1" i="0">
                <a:solidFill>
                  <a:srgbClr val="5B3FD6"/>
                </a:solidFill>
                <a:latin typeface="Calibri"/>
              </a:rPr>
              <a:t>What a join does to the rows</a:t>
            </a:r>
          </a:p>
        </p:txBody>
      </p:sp>
      <p:sp>
        <p:nvSpPr>
          <p:cNvPr id="36" name="Oval 35"/>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38" name="Oval 37"/>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40" name="TextBox 3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S11  ·  14 / 44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warehouse's grain, checked first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Before the warehouse join, count each table and ask whether order_id repeats in payments.</a:t>
            </a:r>
          </a:p>
        </p:txBody>
      </p:sp>
      <p:pic>
        <p:nvPicPr>
          <p:cNvPr id="9" name="mermaid diagram" descr="5f1fee385e552e1c.png"/>
          <p:cNvPicPr>
            <a:picLocks noChangeAspect="1"/>
          </p:cNvPicPr>
          <p:nvPr/>
        </p:nvPicPr>
        <p:blipFill>
          <a:blip r:embed="rId5"/>
          <a:stretch>
            <a:fillRect/>
          </a:stretch>
        </p:blipFill>
        <p:spPr>
          <a:xfrm>
            <a:off x="530352" y="1682496"/>
            <a:ext cx="5291175" cy="1273064"/>
          </a:xfrm>
          <a:prstGeom prst="rect">
            <a:avLst/>
          </a:prstGeom>
        </p:spPr>
      </p:pic>
      <p:sp>
        <p:nvSpPr>
          <p:cNvPr id="10" name="TextBox 9"/>
          <p:cNvSpPr txBox="1"/>
          <p:nvPr/>
        </p:nvSpPr>
        <p:spPr>
          <a:xfrm>
            <a:off x="530352" y="3101864"/>
            <a:ext cx="1580845" cy="508000"/>
          </a:xfrm>
          <a:prstGeom prst="rect">
            <a:avLst/>
          </a:prstGeom>
          <a:noFill/>
        </p:spPr>
        <p:txBody>
          <a:bodyPr wrap="square" anchor="t" lIns="0" rIns="0" tIns="0" bIns="0">
            <a:spAutoFit/>
          </a:bodyPr>
          <a:lstStyle/>
          <a:p>
            <a:pPr algn="l"/>
            <a:r>
              <a:rPr sz="3200" b="0" i="0">
                <a:solidFill>
                  <a:srgbClr val="5B3FD6"/>
                </a:solidFill>
                <a:latin typeface="Georgia"/>
              </a:rPr>
              <a:t>462</a:t>
            </a:r>
          </a:p>
        </p:txBody>
      </p:sp>
      <p:sp>
        <p:nvSpPr>
          <p:cNvPr id="11" name="TextBox 10"/>
          <p:cNvSpPr txBox="1"/>
          <p:nvPr/>
        </p:nvSpPr>
        <p:spPr>
          <a:xfrm>
            <a:off x="530352" y="3646440"/>
            <a:ext cx="1580845" cy="168656"/>
          </a:xfrm>
          <a:prstGeom prst="rect">
            <a:avLst/>
          </a:prstGeom>
          <a:noFill/>
        </p:spPr>
        <p:txBody>
          <a:bodyPr wrap="square" anchor="t" lIns="0" rIns="0" tIns="0" bIns="0">
            <a:spAutoFit/>
          </a:bodyPr>
          <a:lstStyle/>
          <a:p>
            <a:pPr algn="l"/>
            <a:r>
              <a:rPr sz="800" b="1" i="0" spc="250">
                <a:solidFill>
                  <a:srgbClr val="1A0F5C"/>
                </a:solidFill>
                <a:latin typeface="Calibri"/>
              </a:rPr>
              <a:t>Q2 ORDERS</a:t>
            </a:r>
          </a:p>
        </p:txBody>
      </p:sp>
      <p:sp>
        <p:nvSpPr>
          <p:cNvPr id="12" name="TextBox 11"/>
          <p:cNvSpPr txBox="1"/>
          <p:nvPr/>
        </p:nvSpPr>
        <p:spPr>
          <a:xfrm>
            <a:off x="530352" y="3847608"/>
            <a:ext cx="1580845" cy="350266"/>
          </a:xfrm>
          <a:prstGeom prst="rect">
            <a:avLst/>
          </a:prstGeom>
          <a:noFill/>
        </p:spPr>
        <p:txBody>
          <a:bodyPr wrap="square" anchor="t" lIns="0" rIns="0" tIns="0" bIns="0">
            <a:spAutoFit/>
          </a:bodyPr>
          <a:lstStyle/>
          <a:p>
            <a:pPr algn="l"/>
            <a:r>
              <a:rPr sz="950" b="0" i="0">
                <a:solidFill>
                  <a:srgbClr val="6B6690"/>
                </a:solidFill>
                <a:latin typeface="Calibri"/>
              </a:rPr>
              <a:t>one row each, Rs 9.84 crore booked</a:t>
            </a:r>
          </a:p>
        </p:txBody>
      </p:sp>
      <p:sp>
        <p:nvSpPr>
          <p:cNvPr id="13" name="Rectangle 12"/>
          <p:cNvSpPr/>
          <p:nvPr/>
        </p:nvSpPr>
        <p:spPr>
          <a:xfrm>
            <a:off x="530352" y="4290584"/>
            <a:ext cx="158084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385517" y="3101864"/>
            <a:ext cx="1580845" cy="508000"/>
          </a:xfrm>
          <a:prstGeom prst="rect">
            <a:avLst/>
          </a:prstGeom>
          <a:noFill/>
        </p:spPr>
        <p:txBody>
          <a:bodyPr wrap="square" anchor="t" lIns="0" rIns="0" tIns="0" bIns="0">
            <a:spAutoFit/>
          </a:bodyPr>
          <a:lstStyle/>
          <a:p>
            <a:pPr algn="l"/>
            <a:r>
              <a:rPr sz="3200" b="0" i="0">
                <a:solidFill>
                  <a:srgbClr val="5B3FD6"/>
                </a:solidFill>
                <a:latin typeface="Georgia"/>
              </a:rPr>
              <a:t>1,428</a:t>
            </a:r>
          </a:p>
        </p:txBody>
      </p:sp>
      <p:sp>
        <p:nvSpPr>
          <p:cNvPr id="15" name="TextBox 14"/>
          <p:cNvSpPr txBox="1"/>
          <p:nvPr/>
        </p:nvSpPr>
        <p:spPr>
          <a:xfrm>
            <a:off x="2385517" y="3646440"/>
            <a:ext cx="1580845" cy="168656"/>
          </a:xfrm>
          <a:prstGeom prst="rect">
            <a:avLst/>
          </a:prstGeom>
          <a:noFill/>
        </p:spPr>
        <p:txBody>
          <a:bodyPr wrap="square" anchor="t" lIns="0" rIns="0" tIns="0" bIns="0">
            <a:spAutoFit/>
          </a:bodyPr>
          <a:lstStyle/>
          <a:p>
            <a:pPr algn="l"/>
            <a:r>
              <a:rPr sz="800" b="1" i="0" spc="250">
                <a:solidFill>
                  <a:srgbClr val="1A0F5C"/>
                </a:solidFill>
                <a:latin typeface="Calibri"/>
              </a:rPr>
              <a:t>PAYMENT ROWS</a:t>
            </a:r>
          </a:p>
        </p:txBody>
      </p:sp>
      <p:sp>
        <p:nvSpPr>
          <p:cNvPr id="16" name="TextBox 15"/>
          <p:cNvSpPr txBox="1"/>
          <p:nvPr/>
        </p:nvSpPr>
        <p:spPr>
          <a:xfrm>
            <a:off x="2385517" y="3847608"/>
            <a:ext cx="1580845" cy="193421"/>
          </a:xfrm>
          <a:prstGeom prst="rect">
            <a:avLst/>
          </a:prstGeom>
          <a:noFill/>
        </p:spPr>
        <p:txBody>
          <a:bodyPr wrap="square" anchor="t" lIns="0" rIns="0" tIns="0" bIns="0">
            <a:spAutoFit/>
          </a:bodyPr>
          <a:lstStyle/>
          <a:p>
            <a:pPr algn="l"/>
            <a:r>
              <a:rPr sz="950" b="0" i="0">
                <a:solidFill>
                  <a:srgbClr val="6B6690"/>
                </a:solidFill>
                <a:latin typeface="Calibri"/>
              </a:rPr>
              <a:t>across both quarters</a:t>
            </a:r>
          </a:p>
        </p:txBody>
      </p:sp>
      <p:sp>
        <p:nvSpPr>
          <p:cNvPr id="17" name="Rectangle 16"/>
          <p:cNvSpPr/>
          <p:nvPr/>
        </p:nvSpPr>
        <p:spPr>
          <a:xfrm>
            <a:off x="2385517" y="4290584"/>
            <a:ext cx="158084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240682" y="3101864"/>
            <a:ext cx="1580845" cy="508000"/>
          </a:xfrm>
          <a:prstGeom prst="rect">
            <a:avLst/>
          </a:prstGeom>
          <a:noFill/>
        </p:spPr>
        <p:txBody>
          <a:bodyPr wrap="square" anchor="t" lIns="0" rIns="0" tIns="0" bIns="0">
            <a:spAutoFit/>
          </a:bodyPr>
          <a:lstStyle/>
          <a:p>
            <a:pPr algn="l"/>
            <a:r>
              <a:rPr sz="3200" b="0" i="0">
                <a:solidFill>
                  <a:srgbClr val="5B3FD6"/>
                </a:solidFill>
                <a:latin typeface="Georgia"/>
              </a:rPr>
              <a:t>450</a:t>
            </a:r>
          </a:p>
        </p:txBody>
      </p:sp>
      <p:sp>
        <p:nvSpPr>
          <p:cNvPr id="19" name="TextBox 18"/>
          <p:cNvSpPr txBox="1"/>
          <p:nvPr/>
        </p:nvSpPr>
        <p:spPr>
          <a:xfrm>
            <a:off x="4240682" y="3646440"/>
            <a:ext cx="1580845" cy="168656"/>
          </a:xfrm>
          <a:prstGeom prst="rect">
            <a:avLst/>
          </a:prstGeom>
          <a:noFill/>
        </p:spPr>
        <p:txBody>
          <a:bodyPr wrap="square" anchor="t" lIns="0" rIns="0" tIns="0" bIns="0">
            <a:spAutoFit/>
          </a:bodyPr>
          <a:lstStyle/>
          <a:p>
            <a:pPr algn="l"/>
            <a:r>
              <a:rPr sz="800" b="1" i="0" spc="250">
                <a:solidFill>
                  <a:srgbClr val="1A0F5C"/>
                </a:solidFill>
                <a:latin typeface="Calibri"/>
              </a:rPr>
              <a:t>ORDERS WITH TWO PAYMENT ROWS</a:t>
            </a:r>
          </a:p>
        </p:txBody>
      </p:sp>
      <p:sp>
        <p:nvSpPr>
          <p:cNvPr id="20" name="TextBox 19"/>
          <p:cNvSpPr txBox="1"/>
          <p:nvPr/>
        </p:nvSpPr>
        <p:spPr>
          <a:xfrm>
            <a:off x="4240682" y="3847608"/>
            <a:ext cx="1580845" cy="350266"/>
          </a:xfrm>
          <a:prstGeom prst="rect">
            <a:avLst/>
          </a:prstGeom>
          <a:noFill/>
        </p:spPr>
        <p:txBody>
          <a:bodyPr wrap="square" anchor="t" lIns="0" rIns="0" tIns="0" bIns="0">
            <a:spAutoFit/>
          </a:bodyPr>
          <a:lstStyle/>
          <a:p>
            <a:pPr algn="l"/>
            <a:r>
              <a:rPr sz="950" b="0" i="0">
                <a:solidFill>
                  <a:srgbClr val="6B6690"/>
                </a:solidFill>
                <a:latin typeface="Calibri"/>
              </a:rPr>
              <a:t>both quarters, sql 02, step 2</a:t>
            </a:r>
          </a:p>
        </p:txBody>
      </p:sp>
      <p:sp>
        <p:nvSpPr>
          <p:cNvPr id="21" name="Rectangle 20"/>
          <p:cNvSpPr/>
          <p:nvPr/>
        </p:nvSpPr>
        <p:spPr>
          <a:xfrm>
            <a:off x="4240682" y="4290584"/>
            <a:ext cx="158084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370167" y="1682496"/>
            <a:ext cx="5291175" cy="146710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6553047" y="181051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6708495" y="181051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6863943" y="181051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644487" y="2011680"/>
            <a:ext cx="4833975" cy="1064768"/>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SELECT order_id, count(*) AS payment_rows</a:t>
            </a:r>
          </a:p>
          <a:p>
            <a:pPr>
              <a:spcAft>
                <a:spcPts val="200"/>
              </a:spcAft>
            </a:pPr>
            <a:r>
              <a:rPr sz="1400" b="0" i="0">
                <a:solidFill>
                  <a:srgbClr val="E4E1F1"/>
                </a:solidFill>
                <a:latin typeface="Consolas"/>
              </a:rPr>
              <a:t>FROM payments</a:t>
            </a:r>
          </a:p>
          <a:p>
            <a:pPr>
              <a:spcAft>
                <a:spcPts val="200"/>
              </a:spcAft>
            </a:pPr>
            <a:r>
              <a:rPr sz="1400" b="0" i="0">
                <a:solidFill>
                  <a:srgbClr val="E4E1F1"/>
                </a:solidFill>
                <a:latin typeface="Consolas"/>
              </a:rPr>
              <a:t>GROUP BY order_id</a:t>
            </a:r>
          </a:p>
          <a:p>
            <a:pPr>
              <a:spcAft>
                <a:spcPts val="200"/>
              </a:spcAft>
            </a:pPr>
            <a:r>
              <a:rPr sz="1400" b="0" i="0">
                <a:solidFill>
                  <a:srgbClr val="E4E1F1"/>
                </a:solidFill>
                <a:latin typeface="Consolas"/>
              </a:rPr>
              <a:t>HAVING count(*) &gt; 1;</a:t>
            </a:r>
          </a:p>
        </p:txBody>
      </p:sp>
      <p:sp>
        <p:nvSpPr>
          <p:cNvPr id="27" name="Oval 2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29" name="Oval 28"/>
          <p:cNvSpPr/>
          <p:nvPr/>
        </p:nvSpPr>
        <p:spPr>
          <a:xfrm>
            <a:off x="13278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437608" y="6437376"/>
            <a:ext cx="1562480" cy="152146"/>
          </a:xfrm>
          <a:prstGeom prst="rect">
            <a:avLst/>
          </a:prstGeom>
          <a:noFill/>
        </p:spPr>
        <p:txBody>
          <a:bodyPr wrap="square" anchor="t" lIns="0" rIns="0" tIns="0" bIns="0">
            <a:spAutoFit/>
          </a:bodyPr>
          <a:lstStyle/>
          <a:p>
            <a:pPr algn="l"/>
            <a:r>
              <a:rPr sz="700" b="1" i="0">
                <a:solidFill>
                  <a:srgbClr val="5B3FD6"/>
                </a:solidFill>
                <a:latin typeface="Calibri"/>
              </a:rPr>
              <a:t>What a join does to the rows</a:t>
            </a:r>
          </a:p>
        </p:txBody>
      </p:sp>
      <p:sp>
        <p:nvSpPr>
          <p:cNvPr id="31" name="Oval 30"/>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33" name="Oval 32"/>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35" name="TextBox 3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S12  ·  15 / 44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what did Kalpa collect in Q2?</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hurried analyst writes the value of the orders that were paid.</a:t>
            </a:r>
          </a:p>
        </p:txBody>
      </p:sp>
      <p:sp>
        <p:nvSpPr>
          <p:cNvPr id="9" name="Rounded Rectangle 8"/>
          <p:cNvSpPr/>
          <p:nvPr/>
        </p:nvSpPr>
        <p:spPr>
          <a:xfrm>
            <a:off x="530352" y="1956816"/>
            <a:ext cx="11130991" cy="146710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064768"/>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SELECT sum(o.amount) AS collected_as_reported</a:t>
            </a:r>
          </a:p>
          <a:p>
            <a:pPr>
              <a:spcAft>
                <a:spcPts val="200"/>
              </a:spcAft>
            </a:pPr>
            <a:r>
              <a:rPr sz="1400" b="0" i="0">
                <a:solidFill>
                  <a:srgbClr val="E4E1F1"/>
                </a:solidFill>
                <a:latin typeface="Consolas"/>
              </a:rPr>
              <a:t>FROM orders o</a:t>
            </a:r>
          </a:p>
          <a:p>
            <a:pPr>
              <a:spcAft>
                <a:spcPts val="200"/>
              </a:spcAft>
            </a:pPr>
            <a:r>
              <a:rPr sz="1400" b="0" i="0">
                <a:solidFill>
                  <a:srgbClr val="E4E1F1"/>
                </a:solidFill>
                <a:latin typeface="Consolas"/>
              </a:rPr>
              <a:t>JOIN payments p ON p.order_id = o.order_id</a:t>
            </a:r>
          </a:p>
          <a:p>
            <a:pPr>
              <a:spcAft>
                <a:spcPts val="200"/>
              </a:spcAft>
            </a:pPr>
            <a:r>
              <a:rPr sz="1400" b="0" i="0">
                <a:solidFill>
                  <a:srgbClr val="E4E1F1"/>
                </a:solidFill>
                <a:latin typeface="Consolas"/>
              </a:rPr>
              <a:t>WHERE o.quarter = 'Q2';</a:t>
            </a:r>
          </a:p>
        </p:txBody>
      </p:sp>
      <p:sp>
        <p:nvSpPr>
          <p:cNvPr id="14" name="Rounded Rectangle 13"/>
          <p:cNvSpPr/>
          <p:nvPr/>
        </p:nvSpPr>
        <p:spPr>
          <a:xfrm>
            <a:off x="530352" y="3588512"/>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76656" y="3716528"/>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77824" y="3707384"/>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Booked in Q2 is Rs 9,84,00,000. What does this query return? a) a little under Rs 9.84 crore, since some orders are unpaid; b) exactly Rs 9.84 crore; c) about Rs 19.3 crore; d) about Rs 4.9 crore.</a:t>
            </a:r>
          </a:p>
        </p:txBody>
      </p:sp>
      <p:sp>
        <p:nvSpPr>
          <p:cNvPr id="17" name="Oval 1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19" name="Oval 18"/>
          <p:cNvSpPr/>
          <p:nvPr/>
        </p:nvSpPr>
        <p:spPr>
          <a:xfrm>
            <a:off x="13278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437608" y="6437376"/>
            <a:ext cx="1562480" cy="152146"/>
          </a:xfrm>
          <a:prstGeom prst="rect">
            <a:avLst/>
          </a:prstGeom>
          <a:noFill/>
        </p:spPr>
        <p:txBody>
          <a:bodyPr wrap="square" anchor="t" lIns="0" rIns="0" tIns="0" bIns="0">
            <a:spAutoFit/>
          </a:bodyPr>
          <a:lstStyle/>
          <a:p>
            <a:pPr algn="l"/>
            <a:r>
              <a:rPr sz="700" b="1" i="0">
                <a:solidFill>
                  <a:srgbClr val="5B3FD6"/>
                </a:solidFill>
                <a:latin typeface="Calibri"/>
              </a:rPr>
              <a:t>What a join does to the rows</a:t>
            </a:r>
          </a:p>
        </p:txBody>
      </p:sp>
      <p:sp>
        <p:nvSpPr>
          <p:cNvPr id="21" name="Oval 20"/>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23" name="Oval 22"/>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S13  ·  16 / 44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the plausible wrong answer, Rs 19.29 crore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bars are collected as reported by channel; the line is booked, and every bar sits near twice it.</a:t>
            </a:r>
          </a:p>
        </p:txBody>
      </p:sp>
      <p:sp>
        <p:nvSpPr>
          <p:cNvPr id="9" name="TextBox 8"/>
          <p:cNvSpPr txBox="1"/>
          <p:nvPr/>
        </p:nvSpPr>
        <p:spPr>
          <a:xfrm>
            <a:off x="530352" y="1682496"/>
            <a:ext cx="3527450" cy="444500"/>
          </a:xfrm>
          <a:prstGeom prst="rect">
            <a:avLst/>
          </a:prstGeom>
          <a:noFill/>
        </p:spPr>
        <p:txBody>
          <a:bodyPr wrap="square" anchor="t" lIns="0" rIns="0" tIns="0" bIns="0">
            <a:spAutoFit/>
          </a:bodyPr>
          <a:lstStyle/>
          <a:p>
            <a:pPr algn="l"/>
            <a:r>
              <a:rPr sz="2800" b="0" i="0">
                <a:solidFill>
                  <a:srgbClr val="5B3FD6"/>
                </a:solidFill>
                <a:latin typeface="Georgia"/>
              </a:rPr>
              <a:t>Rs 19,29,04,410</a:t>
            </a:r>
          </a:p>
        </p:txBody>
      </p:sp>
      <p:sp>
        <p:nvSpPr>
          <p:cNvPr id="10" name="TextBox 9"/>
          <p:cNvSpPr txBox="1"/>
          <p:nvPr/>
        </p:nvSpPr>
        <p:spPr>
          <a:xfrm>
            <a:off x="530352" y="216357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COLLECTED, AS REPORTED</a:t>
            </a:r>
          </a:p>
        </p:txBody>
      </p:sp>
      <p:sp>
        <p:nvSpPr>
          <p:cNvPr id="11" name="TextBox 10"/>
          <p:cNvSpPr txBox="1"/>
          <p:nvPr/>
        </p:nvSpPr>
        <p:spPr>
          <a:xfrm>
            <a:off x="530352" y="2364740"/>
            <a:ext cx="3527450" cy="193421"/>
          </a:xfrm>
          <a:prstGeom prst="rect">
            <a:avLst/>
          </a:prstGeom>
          <a:noFill/>
        </p:spPr>
        <p:txBody>
          <a:bodyPr wrap="square" anchor="t" lIns="0" rIns="0" tIns="0" bIns="0">
            <a:spAutoFit/>
          </a:bodyPr>
          <a:lstStyle/>
          <a:p>
            <a:pPr algn="l"/>
            <a:r>
              <a:rPr sz="950" b="0" i="0">
                <a:solidFill>
                  <a:srgbClr val="6B6690"/>
                </a:solidFill>
                <a:latin typeface="Calibri"/>
              </a:rPr>
              <a:t>the hurried query</a:t>
            </a:r>
          </a:p>
        </p:txBody>
      </p:sp>
      <p:sp>
        <p:nvSpPr>
          <p:cNvPr id="12" name="Rectangle 11"/>
          <p:cNvSpPr/>
          <p:nvPr/>
        </p:nvSpPr>
        <p:spPr>
          <a:xfrm>
            <a:off x="530352" y="287121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682496"/>
            <a:ext cx="3527450" cy="444500"/>
          </a:xfrm>
          <a:prstGeom prst="rect">
            <a:avLst/>
          </a:prstGeom>
          <a:noFill/>
        </p:spPr>
        <p:txBody>
          <a:bodyPr wrap="square" anchor="t" lIns="0" rIns="0" tIns="0" bIns="0">
            <a:spAutoFit/>
          </a:bodyPr>
          <a:lstStyle/>
          <a:p>
            <a:pPr algn="l"/>
            <a:r>
              <a:rPr sz="2800" b="0" i="0">
                <a:solidFill>
                  <a:srgbClr val="5B3FD6"/>
                </a:solidFill>
                <a:latin typeface="Georgia"/>
              </a:rPr>
              <a:t>Rs 9,84,00,000</a:t>
            </a:r>
          </a:p>
        </p:txBody>
      </p:sp>
      <p:sp>
        <p:nvSpPr>
          <p:cNvPr id="14" name="TextBox 13"/>
          <p:cNvSpPr txBox="1"/>
          <p:nvPr/>
        </p:nvSpPr>
        <p:spPr>
          <a:xfrm>
            <a:off x="4332122" y="216357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BOOKED</a:t>
            </a:r>
          </a:p>
        </p:txBody>
      </p:sp>
      <p:sp>
        <p:nvSpPr>
          <p:cNvPr id="15" name="TextBox 14"/>
          <p:cNvSpPr txBox="1"/>
          <p:nvPr/>
        </p:nvSpPr>
        <p:spPr>
          <a:xfrm>
            <a:off x="4332122" y="2364740"/>
            <a:ext cx="3527450" cy="193421"/>
          </a:xfrm>
          <a:prstGeom prst="rect">
            <a:avLst/>
          </a:prstGeom>
          <a:noFill/>
        </p:spPr>
        <p:txBody>
          <a:bodyPr wrap="square" anchor="t" lIns="0" rIns="0" tIns="0" bIns="0">
            <a:spAutoFit/>
          </a:bodyPr>
          <a:lstStyle/>
          <a:p>
            <a:pPr algn="l"/>
            <a:r>
              <a:rPr sz="950" b="0" i="0">
                <a:solidFill>
                  <a:srgbClr val="6B6690"/>
                </a:solidFill>
                <a:latin typeface="Calibri"/>
              </a:rPr>
              <a:t>Monday's number</a:t>
            </a:r>
          </a:p>
        </p:txBody>
      </p:sp>
      <p:sp>
        <p:nvSpPr>
          <p:cNvPr id="16" name="Rectangle 15"/>
          <p:cNvSpPr/>
          <p:nvPr/>
        </p:nvSpPr>
        <p:spPr>
          <a:xfrm>
            <a:off x="4332122" y="287121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682496"/>
            <a:ext cx="3527450" cy="444500"/>
          </a:xfrm>
          <a:prstGeom prst="rect">
            <a:avLst/>
          </a:prstGeom>
          <a:noFill/>
        </p:spPr>
        <p:txBody>
          <a:bodyPr wrap="square" anchor="t" lIns="0" rIns="0" tIns="0" bIns="0">
            <a:spAutoFit/>
          </a:bodyPr>
          <a:lstStyle/>
          <a:p>
            <a:pPr algn="l"/>
            <a:r>
              <a:rPr sz="2800" b="0" i="0">
                <a:solidFill>
                  <a:srgbClr val="5B3FD6"/>
                </a:solidFill>
                <a:latin typeface="Georgia"/>
              </a:rPr>
              <a:t>1.96 x</a:t>
            </a:r>
          </a:p>
        </p:txBody>
      </p:sp>
      <p:sp>
        <p:nvSpPr>
          <p:cNvPr id="18" name="TextBox 17"/>
          <p:cNvSpPr txBox="1"/>
          <p:nvPr/>
        </p:nvSpPr>
        <p:spPr>
          <a:xfrm>
            <a:off x="8133892" y="216357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COLLECTED OVER BOOKED</a:t>
            </a:r>
          </a:p>
        </p:txBody>
      </p:sp>
      <p:sp>
        <p:nvSpPr>
          <p:cNvPr id="19" name="TextBox 18"/>
          <p:cNvSpPr txBox="1"/>
          <p:nvPr/>
        </p:nvSpPr>
        <p:spPr>
          <a:xfrm>
            <a:off x="8133892" y="2364740"/>
            <a:ext cx="3527450" cy="193421"/>
          </a:xfrm>
          <a:prstGeom prst="rect">
            <a:avLst/>
          </a:prstGeom>
          <a:noFill/>
        </p:spPr>
        <p:txBody>
          <a:bodyPr wrap="square" anchor="t" lIns="0" rIns="0" tIns="0" bIns="0">
            <a:spAutoFit/>
          </a:bodyPr>
          <a:lstStyle/>
          <a:p>
            <a:pPr algn="l"/>
            <a:r>
              <a:rPr sz="950" b="0" i="0">
                <a:solidFill>
                  <a:srgbClr val="6B6690"/>
                </a:solidFill>
                <a:latin typeface="Calibri"/>
              </a:rPr>
              <a:t>the fan-out</a:t>
            </a:r>
          </a:p>
        </p:txBody>
      </p:sp>
      <p:sp>
        <p:nvSpPr>
          <p:cNvPr id="20" name="Rectangle 19"/>
          <p:cNvSpPr/>
          <p:nvPr/>
        </p:nvSpPr>
        <p:spPr>
          <a:xfrm>
            <a:off x="8133892" y="287121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mermaid diagram" descr="31cfe99f33ea4d24.png"/>
          <p:cNvPicPr>
            <a:picLocks noChangeAspect="1"/>
          </p:cNvPicPr>
          <p:nvPr/>
        </p:nvPicPr>
        <p:blipFill>
          <a:blip r:embed="rId5"/>
          <a:stretch>
            <a:fillRect/>
          </a:stretch>
        </p:blipFill>
        <p:spPr>
          <a:xfrm>
            <a:off x="3041751" y="3145536"/>
            <a:ext cx="6108192" cy="3054096"/>
          </a:xfrm>
          <a:prstGeom prst="rect">
            <a:avLst/>
          </a:prstGeom>
        </p:spPr>
      </p:pic>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24" name="Oval 23"/>
          <p:cNvSpPr/>
          <p:nvPr/>
        </p:nvSpPr>
        <p:spPr>
          <a:xfrm>
            <a:off x="13278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437608" y="6437376"/>
            <a:ext cx="1562480" cy="152146"/>
          </a:xfrm>
          <a:prstGeom prst="rect">
            <a:avLst/>
          </a:prstGeom>
          <a:noFill/>
        </p:spPr>
        <p:txBody>
          <a:bodyPr wrap="square" anchor="t" lIns="0" rIns="0" tIns="0" bIns="0">
            <a:spAutoFit/>
          </a:bodyPr>
          <a:lstStyle/>
          <a:p>
            <a:pPr algn="l"/>
            <a:r>
              <a:rPr sz="700" b="1" i="0">
                <a:solidFill>
                  <a:srgbClr val="5B3FD6"/>
                </a:solidFill>
                <a:latin typeface="Calibri"/>
              </a:rPr>
              <a:t>What a join does to the rows</a:t>
            </a:r>
          </a:p>
        </p:txBody>
      </p:sp>
      <p:sp>
        <p:nvSpPr>
          <p:cNvPr id="26" name="Oval 25"/>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28" name="Oval 27"/>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S14  ·  17 / 44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Why it is wrong, and the check that catches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order amount rides along on every payment row, so a two-part order is summed twice.</a:t>
            </a:r>
          </a:p>
        </p:txBody>
      </p:sp>
      <p:sp>
        <p:nvSpPr>
          <p:cNvPr id="9" name="Rounded Rectangle 8"/>
          <p:cNvSpPr/>
          <p:nvPr/>
        </p:nvSpPr>
        <p:spPr>
          <a:xfrm>
            <a:off x="530352" y="1682496"/>
            <a:ext cx="5291175"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1810512"/>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1801368"/>
            <a:ext cx="4724247" cy="1158240"/>
          </a:xfrm>
          <a:prstGeom prst="rect">
            <a:avLst/>
          </a:prstGeom>
          <a:noFill/>
        </p:spPr>
        <p:txBody>
          <a:bodyPr wrap="square" anchor="ctr" lIns="0" rIns="0" tIns="0" bIns="0">
            <a:spAutoFit/>
          </a:bodyPr>
          <a:lstStyle/>
          <a:p>
            <a:r>
              <a:rPr sz="1500" b="1">
                <a:solidFill>
                  <a:srgbClr val="5B3FD6"/>
                </a:solidFill>
                <a:latin typeface="Calibri"/>
              </a:rPr>
              <a:t>What it would have misled. </a:t>
            </a:r>
            <a:r>
              <a:rPr sz="1500" b="0" i="0">
                <a:solidFill>
                  <a:srgbClr val="1A1440"/>
                </a:solidFill>
                <a:latin typeface="Calibri"/>
              </a:rPr>
              <a:t>"Collections are running ahead of bookings" stands the collections team down in the one quarter Anand is asking about.</a:t>
            </a:r>
          </a:p>
        </p:txBody>
      </p:sp>
      <p:pic>
        <p:nvPicPr>
          <p:cNvPr id="12" name="mermaid diagram" descr="e917e2c89f93b072.png"/>
          <p:cNvPicPr>
            <a:picLocks noChangeAspect="1"/>
          </p:cNvPicPr>
          <p:nvPr/>
        </p:nvPicPr>
        <p:blipFill>
          <a:blip r:embed="rId5"/>
          <a:stretch>
            <a:fillRect/>
          </a:stretch>
        </p:blipFill>
        <p:spPr>
          <a:xfrm>
            <a:off x="530352" y="3188208"/>
            <a:ext cx="5291175" cy="1714042"/>
          </a:xfrm>
          <a:prstGeom prst="rect">
            <a:avLst/>
          </a:prstGeom>
        </p:spPr>
      </p:pic>
      <p:graphicFrame>
        <p:nvGraphicFramePr>
          <p:cNvPr id="13" name="Table 12"/>
          <p:cNvGraphicFramePr>
            <a:graphicFrameLocks noGrp="1"/>
          </p:cNvGraphicFramePr>
          <p:nvPr/>
        </p:nvGraphicFramePr>
        <p:xfrm>
          <a:off x="6370167" y="1682496"/>
          <a:ext cx="5291175" cy="1627632"/>
        </p:xfrm>
        <a:graphic>
          <a:graphicData uri="http://schemas.openxmlformats.org/drawingml/2006/table">
            <a:tbl>
              <a:tblPr firstRow="0" bandRow="0">
                <a:tableStyleId>{2D5ABB26-0587-4C30-8999-92F81FD0307C}</a:tableStyleId>
              </a:tblPr>
              <a:tblGrid>
                <a:gridCol w="1684486"/>
                <a:gridCol w="914400"/>
                <a:gridCol w="914400"/>
                <a:gridCol w="1777889"/>
              </a:tblGrid>
              <a:tr h="335280">
                <a:tc>
                  <a:txBody>
                    <a:bodyPr/>
                    <a:lstStyle/>
                    <a:p>
                      <a:r>
                        <a:rPr sz="1250" b="1" i="0">
                          <a:solidFill>
                            <a:srgbClr val="FFFFFF"/>
                          </a:solidFill>
                          <a:latin typeface="Calibri"/>
                        </a:rPr>
                        <a:t>Check</a:t>
                      </a:r>
                    </a:p>
                  </a:txBody>
                  <a:tcPr marL="101600" marR="101600" marT="38100" marB="38100" anchor="ctr">
                    <a:solidFill>
                      <a:srgbClr val="1A0F5C"/>
                    </a:solidFill>
                  </a:tcPr>
                </a:tc>
                <a:tc>
                  <a:txBody>
                    <a:bodyPr/>
                    <a:lstStyle/>
                    <a:p>
                      <a:r>
                        <a:rPr sz="1250" b="1" i="0">
                          <a:solidFill>
                            <a:srgbClr val="FFFFFF"/>
                          </a:solidFill>
                          <a:latin typeface="Calibri"/>
                        </a:rPr>
                        <a:t>Rows in</a:t>
                      </a:r>
                    </a:p>
                  </a:txBody>
                  <a:tcPr marL="101600" marR="101600" marT="38100" marB="38100" anchor="ctr">
                    <a:solidFill>
                      <a:srgbClr val="1A0F5C"/>
                    </a:solidFill>
                  </a:tcPr>
                </a:tc>
                <a:tc>
                  <a:txBody>
                    <a:bodyPr/>
                    <a:lstStyle/>
                    <a:p>
                      <a:r>
                        <a:rPr sz="1250" b="1" i="0">
                          <a:solidFill>
                            <a:srgbClr val="FFFFFF"/>
                          </a:solidFill>
                          <a:latin typeface="Calibri"/>
                        </a:rPr>
                        <a:t>Rows out</a:t>
                      </a:r>
                    </a:p>
                  </a:txBody>
                  <a:tcPr marL="101600" marR="101600" marT="38100" marB="38100" anchor="ctr">
                    <a:solidFill>
                      <a:srgbClr val="1A0F5C"/>
                    </a:solidFill>
                  </a:tcPr>
                </a:tc>
                <a:tc>
                  <a:txBody>
                    <a:bodyPr/>
                    <a:lstStyle/>
                    <a:p>
                      <a:r>
                        <a:rPr sz="1250" b="1" i="0">
                          <a:solidFill>
                            <a:srgbClr val="FFFFFF"/>
                          </a:solidFill>
                          <a:latin typeface="Calibri"/>
                        </a:rPr>
                        <a:t>Verdict</a:t>
                      </a:r>
                    </a:p>
                  </a:txBody>
                  <a:tcPr marL="101600" marR="101600" marT="38100" marB="38100" anchor="ctr">
                    <a:solidFill>
                      <a:srgbClr val="1A0F5C"/>
                    </a:solidFill>
                  </a:tcPr>
                </a:tc>
              </a:tr>
              <a:tr h="542544">
                <a:tc>
                  <a:txBody>
                    <a:bodyPr/>
                    <a:lstStyle/>
                    <a:p>
                      <a:r>
                        <a:rPr sz="1200" b="0" i="0">
                          <a:solidFill>
                            <a:srgbClr val="1A1440"/>
                          </a:solidFill>
                          <a:latin typeface="Calibri"/>
                        </a:rPr>
                        <a:t>Orders LEFT JOIN payments, Q2</a:t>
                      </a:r>
                    </a:p>
                  </a:txBody>
                  <a:tcPr marL="101600" marR="101600" marT="38100" marB="38100" anchor="ctr">
                    <a:solidFill>
                      <a:srgbClr val="FFFFFF"/>
                    </a:solidFill>
                  </a:tcPr>
                </a:tc>
                <a:tc>
                  <a:txBody>
                    <a:bodyPr/>
                    <a:lstStyle/>
                    <a:p>
                      <a:r>
                        <a:rPr sz="1200" b="0" i="0">
                          <a:solidFill>
                            <a:srgbClr val="1A1440"/>
                          </a:solidFill>
                          <a:latin typeface="Calibri"/>
                        </a:rPr>
                        <a:t>462 orders</a:t>
                      </a:r>
                    </a:p>
                  </a:txBody>
                  <a:tcPr marL="101600" marR="101600" marT="38100" marB="38100" anchor="ctr">
                    <a:solidFill>
                      <a:srgbClr val="FFFFFF"/>
                    </a:solidFill>
                  </a:tcPr>
                </a:tc>
                <a:tc>
                  <a:txBody>
                    <a:bodyPr/>
                    <a:lstStyle/>
                    <a:p>
                      <a:r>
                        <a:rPr sz="1200" b="0" i="0">
                          <a:solidFill>
                            <a:srgbClr val="1A1440"/>
                          </a:solidFill>
                          <a:latin typeface="Calibri"/>
                        </a:rPr>
                        <a:t>678 rows</a:t>
                      </a:r>
                    </a:p>
                  </a:txBody>
                  <a:tcPr marL="101600" marR="101600" marT="38100" marB="38100" anchor="ctr">
                    <a:solidFill>
                      <a:srgbClr val="FFFFFF"/>
                    </a:solidFill>
                  </a:tcPr>
                </a:tc>
                <a:tc>
                  <a:txBody>
                    <a:bodyPr/>
                    <a:lstStyle/>
                    <a:p>
                      <a:r>
                        <a:rPr sz="1200" b="0" i="0">
                          <a:solidFill>
                            <a:srgbClr val="1A1440"/>
                          </a:solidFill>
                          <a:latin typeface="Calibri"/>
                        </a:rPr>
                        <a:t>The join multiplied 216 rows</a:t>
                      </a:r>
                    </a:p>
                  </a:txBody>
                  <a:tcPr marL="101600" marR="101600" marT="38100" marB="38100" anchor="ctr">
                    <a:solidFill>
                      <a:srgbClr val="FFFFFF"/>
                    </a:solidFill>
                  </a:tcPr>
                </a:tc>
              </a:tr>
              <a:tr h="749808">
                <a:tc>
                  <a:txBody>
                    <a:bodyPr/>
                    <a:lstStyle/>
                    <a:p>
                      <a:r>
                        <a:rPr sz="1200" b="0" i="0">
                          <a:solidFill>
                            <a:srgbClr val="1A1440"/>
                          </a:solidFill>
                          <a:latin typeface="Calibri"/>
                        </a:rPr>
                        <a:t>Collected against booked</a:t>
                      </a:r>
                    </a:p>
                  </a:txBody>
                  <a:tcPr marL="101600" marR="101600" marT="38100" marB="38100" anchor="ctr">
                    <a:solidFill>
                      <a:srgbClr val="F4F2FA"/>
                    </a:solidFill>
                  </a:tcPr>
                </a:tc>
                <a:tc>
                  <a:txBody>
                    <a:bodyPr/>
                    <a:lstStyle/>
                    <a:p>
                      <a:r>
                        <a:rPr sz="1200" b="0" i="0">
                          <a:solidFill>
                            <a:srgbClr val="1A1440"/>
                          </a:solidFill>
                          <a:latin typeface="Calibri"/>
                        </a:rPr>
                        <a:t>Rs 9.84 crore</a:t>
                      </a:r>
                    </a:p>
                  </a:txBody>
                  <a:tcPr marL="101600" marR="101600" marT="38100" marB="38100" anchor="ctr">
                    <a:solidFill>
                      <a:srgbClr val="F4F2FA"/>
                    </a:solidFill>
                  </a:tcPr>
                </a:tc>
                <a:tc>
                  <a:txBody>
                    <a:bodyPr/>
                    <a:lstStyle/>
                    <a:p>
                      <a:r>
                        <a:rPr sz="1200" b="0" i="0">
                          <a:solidFill>
                            <a:srgbClr val="1A1440"/>
                          </a:solidFill>
                          <a:latin typeface="Calibri"/>
                        </a:rPr>
                        <a:t>Rs 19.29 crore</a:t>
                      </a:r>
                    </a:p>
                  </a:txBody>
                  <a:tcPr marL="101600" marR="101600" marT="38100" marB="38100" anchor="ctr">
                    <a:solidFill>
                      <a:srgbClr val="F4F2FA"/>
                    </a:solidFill>
                  </a:tcPr>
                </a:tc>
                <a:tc>
                  <a:txBody>
                    <a:bodyPr/>
                    <a:lstStyle/>
                    <a:p>
                      <a:r>
                        <a:rPr sz="1200" b="0" i="0">
                          <a:solidFill>
                            <a:srgbClr val="1A1440"/>
                          </a:solidFill>
                          <a:latin typeface="Calibri"/>
                        </a:rPr>
                        <a:t>Collected cannot exceed booked by 96 percent</a:t>
                      </a:r>
                    </a:p>
                  </a:txBody>
                  <a:tcPr marL="101600" marR="101600" marT="38100" marB="38100" anchor="ctr">
                    <a:solidFill>
                      <a:srgbClr val="F4F2FA"/>
                    </a:solidFill>
                  </a:tcPr>
                </a:tc>
              </a:tr>
            </a:tbl>
          </a:graphicData>
        </a:graphic>
      </p:graphicFrame>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16" name="Oval 15"/>
          <p:cNvSpPr/>
          <p:nvPr/>
        </p:nvSpPr>
        <p:spPr>
          <a:xfrm>
            <a:off x="13278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437608" y="6437376"/>
            <a:ext cx="1562480" cy="152146"/>
          </a:xfrm>
          <a:prstGeom prst="rect">
            <a:avLst/>
          </a:prstGeom>
          <a:noFill/>
        </p:spPr>
        <p:txBody>
          <a:bodyPr wrap="square" anchor="t" lIns="0" rIns="0" tIns="0" bIns="0">
            <a:spAutoFit/>
          </a:bodyPr>
          <a:lstStyle/>
          <a:p>
            <a:pPr algn="l"/>
            <a:r>
              <a:rPr sz="700" b="1" i="0">
                <a:solidFill>
                  <a:srgbClr val="5B3FD6"/>
                </a:solidFill>
                <a:latin typeface="Calibri"/>
              </a:rPr>
              <a:t>What a join does to the rows</a:t>
            </a:r>
          </a:p>
        </p:txBody>
      </p:sp>
      <p:sp>
        <p:nvSpPr>
          <p:cNvPr id="18" name="Oval 17"/>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20" name="Oval 19"/>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S15  ·  18 / 44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fix: bring payments to the order's grain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Aggregate the many side to one row per order, then join, and the count closes.</a:t>
            </a:r>
          </a:p>
        </p:txBody>
      </p:sp>
      <p:pic>
        <p:nvPicPr>
          <p:cNvPr id="9" name="mermaid diagram" descr="99f23d59b49fbc5e.png"/>
          <p:cNvPicPr>
            <a:picLocks noChangeAspect="1"/>
          </p:cNvPicPr>
          <p:nvPr/>
        </p:nvPicPr>
        <p:blipFill>
          <a:blip r:embed="rId5"/>
          <a:stretch>
            <a:fillRect/>
          </a:stretch>
        </p:blipFill>
        <p:spPr>
          <a:xfrm>
            <a:off x="530352" y="1682496"/>
            <a:ext cx="5291175" cy="442139"/>
          </a:xfrm>
          <a:prstGeom prst="rect">
            <a:avLst/>
          </a:prstGeom>
        </p:spPr>
      </p:pic>
      <p:sp>
        <p:nvSpPr>
          <p:cNvPr id="10" name="Rounded Rectangle 9"/>
          <p:cNvSpPr/>
          <p:nvPr/>
        </p:nvSpPr>
        <p:spPr>
          <a:xfrm>
            <a:off x="530352" y="2270939"/>
            <a:ext cx="5291175" cy="3270503"/>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13232" y="2398955"/>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868680" y="2398955"/>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1024128" y="2398955"/>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04671" y="2600123"/>
            <a:ext cx="4833975" cy="2868167"/>
          </a:xfrm>
          <a:prstGeom prst="rect">
            <a:avLst/>
          </a:prstGeom>
          <a:noFill/>
        </p:spPr>
        <p:txBody>
          <a:bodyPr wrap="square" anchor="t" lIns="0" rIns="0" tIns="0" bIns="0">
            <a:spAutoFit/>
          </a:bodyPr>
          <a:lstStyle/>
          <a:p>
            <a:pPr>
              <a:spcAft>
                <a:spcPts val="200"/>
              </a:spcAft>
            </a:pPr>
            <a:r>
              <a:rPr sz="1200" b="0" i="0">
                <a:solidFill>
                  <a:srgbClr val="E4E1F1"/>
                </a:solidFill>
                <a:latin typeface="Consolas"/>
              </a:rPr>
              <a:t>WITH paid_per_order AS (</a:t>
            </a:r>
          </a:p>
          <a:p>
            <a:pPr>
              <a:spcAft>
                <a:spcPts val="200"/>
              </a:spcAft>
            </a:pPr>
            <a:r>
              <a:rPr sz="1200" b="0" i="0">
                <a:solidFill>
                  <a:srgbClr val="E4E1F1"/>
                </a:solidFill>
                <a:latin typeface="Consolas"/>
              </a:rPr>
              <a:t>    SELECT order_id, sum(amount) AS paid, count(*) AS payment_rows</a:t>
            </a:r>
          </a:p>
          <a:p>
            <a:pPr>
              <a:spcAft>
                <a:spcPts val="200"/>
              </a:spcAft>
            </a:pPr>
            <a:r>
              <a:rPr sz="1200" b="0" i="0">
                <a:solidFill>
                  <a:srgbClr val="E4E1F1"/>
                </a:solidFill>
                <a:latin typeface="Consolas"/>
              </a:rPr>
              <a:t>    FROM payments</a:t>
            </a:r>
          </a:p>
          <a:p>
            <a:pPr>
              <a:spcAft>
                <a:spcPts val="200"/>
              </a:spcAft>
            </a:pPr>
            <a:r>
              <a:rPr sz="1200" b="0" i="0">
                <a:solidFill>
                  <a:srgbClr val="E4E1F1"/>
                </a:solidFill>
                <a:latin typeface="Consolas"/>
              </a:rPr>
              <a:t>    GROUP BY order_id</a:t>
            </a:r>
          </a:p>
          <a:p>
            <a:pPr>
              <a:spcAft>
                <a:spcPts val="200"/>
              </a:spcAft>
            </a:pPr>
            <a:r>
              <a:rPr sz="1200" b="0" i="0">
                <a:solidFill>
                  <a:srgbClr val="E4E1F1"/>
                </a:solidFill>
                <a:latin typeface="Consolas"/>
              </a:rPr>
              <a:t>)</a:t>
            </a:r>
          </a:p>
          <a:p>
            <a:pPr>
              <a:spcAft>
                <a:spcPts val="200"/>
              </a:spcAft>
            </a:pPr>
            <a:r>
              <a:rPr sz="1200" b="0" i="0">
                <a:solidFill>
                  <a:srgbClr val="E4E1F1"/>
                </a:solidFill>
                <a:latin typeface="Consolas"/>
              </a:rPr>
              <a:t>SELECT count(*) AS rows_out, sum(o.amount) AS booked,</a:t>
            </a:r>
          </a:p>
          <a:p>
            <a:pPr>
              <a:spcAft>
                <a:spcPts val="200"/>
              </a:spcAft>
            </a:pPr>
            <a:r>
              <a:rPr sz="1200" b="0" i="0">
                <a:solidFill>
                  <a:srgbClr val="E4E1F1"/>
                </a:solidFill>
                <a:latin typeface="Consolas"/>
              </a:rPr>
              <a:t>       sum(coalesce(pp.paid, 0)) AS paid_as_posted</a:t>
            </a:r>
          </a:p>
          <a:p>
            <a:pPr>
              <a:spcAft>
                <a:spcPts val="200"/>
              </a:spcAft>
            </a:pPr>
            <a:r>
              <a:rPr sz="1200" b="0" i="0">
                <a:solidFill>
                  <a:srgbClr val="E4E1F1"/>
                </a:solidFill>
                <a:latin typeface="Consolas"/>
              </a:rPr>
              <a:t>FROM orders o</a:t>
            </a:r>
          </a:p>
          <a:p>
            <a:pPr>
              <a:spcAft>
                <a:spcPts val="200"/>
              </a:spcAft>
            </a:pPr>
            <a:r>
              <a:rPr sz="1200" b="0" i="0">
                <a:solidFill>
                  <a:srgbClr val="E4E1F1"/>
                </a:solidFill>
                <a:latin typeface="Consolas"/>
              </a:rPr>
              <a:t>LEFT JOIN paid_per_order pp ON pp.order_id = o.order_id</a:t>
            </a:r>
          </a:p>
          <a:p>
            <a:pPr>
              <a:spcAft>
                <a:spcPts val="200"/>
              </a:spcAft>
            </a:pPr>
            <a:r>
              <a:rPr sz="1200" b="0" i="0">
                <a:solidFill>
                  <a:srgbClr val="E4E1F1"/>
                </a:solidFill>
                <a:latin typeface="Consolas"/>
              </a:rPr>
              <a:t>WHERE o.quarter = 'Q2';</a:t>
            </a:r>
          </a:p>
        </p:txBody>
      </p:sp>
      <p:sp>
        <p:nvSpPr>
          <p:cNvPr id="15" name="TextBox 14"/>
          <p:cNvSpPr txBox="1"/>
          <p:nvPr/>
        </p:nvSpPr>
        <p:spPr>
          <a:xfrm>
            <a:off x="6370167" y="1682496"/>
            <a:ext cx="2508427" cy="317500"/>
          </a:xfrm>
          <a:prstGeom prst="rect">
            <a:avLst/>
          </a:prstGeom>
          <a:noFill/>
        </p:spPr>
        <p:txBody>
          <a:bodyPr wrap="square" anchor="t" lIns="0" rIns="0" tIns="0" bIns="0">
            <a:spAutoFit/>
          </a:bodyPr>
          <a:lstStyle/>
          <a:p>
            <a:pPr algn="l"/>
            <a:r>
              <a:rPr sz="2000" b="0" i="0">
                <a:solidFill>
                  <a:srgbClr val="5B3FD6"/>
                </a:solidFill>
                <a:latin typeface="Georgia"/>
              </a:rPr>
              <a:t>462</a:t>
            </a:r>
          </a:p>
        </p:txBody>
      </p:sp>
      <p:sp>
        <p:nvSpPr>
          <p:cNvPr id="16" name="TextBox 15"/>
          <p:cNvSpPr txBox="1"/>
          <p:nvPr/>
        </p:nvSpPr>
        <p:spPr>
          <a:xfrm>
            <a:off x="6370167" y="2036572"/>
            <a:ext cx="2508427" cy="168656"/>
          </a:xfrm>
          <a:prstGeom prst="rect">
            <a:avLst/>
          </a:prstGeom>
          <a:noFill/>
        </p:spPr>
        <p:txBody>
          <a:bodyPr wrap="square" anchor="t" lIns="0" rIns="0" tIns="0" bIns="0">
            <a:spAutoFit/>
          </a:bodyPr>
          <a:lstStyle/>
          <a:p>
            <a:pPr algn="l"/>
            <a:r>
              <a:rPr sz="800" b="1" i="0" spc="250">
                <a:solidFill>
                  <a:srgbClr val="1A0F5C"/>
                </a:solidFill>
                <a:latin typeface="Calibri"/>
              </a:rPr>
              <a:t>ROWS OUT</a:t>
            </a:r>
          </a:p>
        </p:txBody>
      </p:sp>
      <p:sp>
        <p:nvSpPr>
          <p:cNvPr id="17" name="TextBox 16"/>
          <p:cNvSpPr txBox="1"/>
          <p:nvPr/>
        </p:nvSpPr>
        <p:spPr>
          <a:xfrm>
            <a:off x="6370167" y="2237740"/>
            <a:ext cx="2508427" cy="193421"/>
          </a:xfrm>
          <a:prstGeom prst="rect">
            <a:avLst/>
          </a:prstGeom>
          <a:noFill/>
        </p:spPr>
        <p:txBody>
          <a:bodyPr wrap="square" anchor="t" lIns="0" rIns="0" tIns="0" bIns="0">
            <a:spAutoFit/>
          </a:bodyPr>
          <a:lstStyle/>
          <a:p>
            <a:pPr algn="l"/>
            <a:r>
              <a:rPr sz="950" b="0" i="0">
                <a:solidFill>
                  <a:srgbClr val="6B6690"/>
                </a:solidFill>
                <a:latin typeface="Calibri"/>
              </a:rPr>
              <a:t>equals the 462 orders in</a:t>
            </a:r>
          </a:p>
        </p:txBody>
      </p:sp>
      <p:sp>
        <p:nvSpPr>
          <p:cNvPr id="18" name="Rectangle 17"/>
          <p:cNvSpPr/>
          <p:nvPr/>
        </p:nvSpPr>
        <p:spPr>
          <a:xfrm>
            <a:off x="6370167" y="2704795"/>
            <a:ext cx="250842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152915" y="1682496"/>
            <a:ext cx="2508427" cy="317500"/>
          </a:xfrm>
          <a:prstGeom prst="rect">
            <a:avLst/>
          </a:prstGeom>
          <a:noFill/>
        </p:spPr>
        <p:txBody>
          <a:bodyPr wrap="square" anchor="t" lIns="0" rIns="0" tIns="0" bIns="0">
            <a:spAutoFit/>
          </a:bodyPr>
          <a:lstStyle/>
          <a:p>
            <a:pPr algn="l"/>
            <a:r>
              <a:rPr sz="2000" b="0" i="0">
                <a:solidFill>
                  <a:srgbClr val="5B3FD6"/>
                </a:solidFill>
                <a:latin typeface="Georgia"/>
              </a:rPr>
              <a:t>Rs 9,84,00,000</a:t>
            </a:r>
          </a:p>
        </p:txBody>
      </p:sp>
      <p:sp>
        <p:nvSpPr>
          <p:cNvPr id="20" name="TextBox 19"/>
          <p:cNvSpPr txBox="1"/>
          <p:nvPr/>
        </p:nvSpPr>
        <p:spPr>
          <a:xfrm>
            <a:off x="9152915" y="2036572"/>
            <a:ext cx="2508427" cy="168656"/>
          </a:xfrm>
          <a:prstGeom prst="rect">
            <a:avLst/>
          </a:prstGeom>
          <a:noFill/>
        </p:spPr>
        <p:txBody>
          <a:bodyPr wrap="square" anchor="t" lIns="0" rIns="0" tIns="0" bIns="0">
            <a:spAutoFit/>
          </a:bodyPr>
          <a:lstStyle/>
          <a:p>
            <a:pPr algn="l"/>
            <a:r>
              <a:rPr sz="800" b="1" i="0" spc="250">
                <a:solidFill>
                  <a:srgbClr val="1A0F5C"/>
                </a:solidFill>
                <a:latin typeface="Calibri"/>
              </a:rPr>
              <a:t>BOOKED AFTER THE JOIN</a:t>
            </a:r>
          </a:p>
        </p:txBody>
      </p:sp>
      <p:sp>
        <p:nvSpPr>
          <p:cNvPr id="21" name="TextBox 20"/>
          <p:cNvSpPr txBox="1"/>
          <p:nvPr/>
        </p:nvSpPr>
        <p:spPr>
          <a:xfrm>
            <a:off x="9152915" y="2237740"/>
            <a:ext cx="2508427" cy="193421"/>
          </a:xfrm>
          <a:prstGeom prst="rect">
            <a:avLst/>
          </a:prstGeom>
          <a:noFill/>
        </p:spPr>
        <p:txBody>
          <a:bodyPr wrap="square" anchor="t" lIns="0" rIns="0" tIns="0" bIns="0">
            <a:spAutoFit/>
          </a:bodyPr>
          <a:lstStyle/>
          <a:p>
            <a:pPr algn="l"/>
            <a:r>
              <a:rPr sz="950" b="0" i="0">
                <a:solidFill>
                  <a:srgbClr val="6B6690"/>
                </a:solidFill>
                <a:latin typeface="Calibri"/>
              </a:rPr>
              <a:t>equals Monday's booked</a:t>
            </a:r>
          </a:p>
        </p:txBody>
      </p:sp>
      <p:sp>
        <p:nvSpPr>
          <p:cNvPr id="22" name="Rectangle 21"/>
          <p:cNvSpPr/>
          <p:nvPr/>
        </p:nvSpPr>
        <p:spPr>
          <a:xfrm>
            <a:off x="9152915" y="2704795"/>
            <a:ext cx="250842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25" name="Oval 24"/>
          <p:cNvSpPr/>
          <p:nvPr/>
        </p:nvSpPr>
        <p:spPr>
          <a:xfrm>
            <a:off x="13278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437608" y="6437376"/>
            <a:ext cx="1562480" cy="152146"/>
          </a:xfrm>
          <a:prstGeom prst="rect">
            <a:avLst/>
          </a:prstGeom>
          <a:noFill/>
        </p:spPr>
        <p:txBody>
          <a:bodyPr wrap="square" anchor="t" lIns="0" rIns="0" tIns="0" bIns="0">
            <a:spAutoFit/>
          </a:bodyPr>
          <a:lstStyle/>
          <a:p>
            <a:pPr algn="l"/>
            <a:r>
              <a:rPr sz="700" b="1" i="0">
                <a:solidFill>
                  <a:srgbClr val="5B3FD6"/>
                </a:solidFill>
                <a:latin typeface="Calibri"/>
              </a:rPr>
              <a:t>What a join does to the rows</a:t>
            </a:r>
          </a:p>
        </p:txBody>
      </p:sp>
      <p:sp>
        <p:nvSpPr>
          <p:cNvPr id="27" name="Oval 26"/>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29" name="Oval 28"/>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31" name="TextBox 3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S16  ·  19 / 44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the both-columns report by channel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room's harder variant: booked and collected side by side, from one join.</a:t>
            </a:r>
          </a:p>
        </p:txBody>
      </p:sp>
      <p:sp>
        <p:nvSpPr>
          <p:cNvPr id="9" name="Rounded Rectangle 8"/>
          <p:cNvSpPr/>
          <p:nvPr/>
        </p:nvSpPr>
        <p:spPr>
          <a:xfrm>
            <a:off x="530352" y="1956816"/>
            <a:ext cx="11130991" cy="1719580"/>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317244"/>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SELECT o.channel, sum(o.amount) AS booked, sum(p.amount) AS collected</a:t>
            </a:r>
          </a:p>
          <a:p>
            <a:pPr>
              <a:spcAft>
                <a:spcPts val="200"/>
              </a:spcAft>
            </a:pPr>
            <a:r>
              <a:rPr sz="1400" b="0" i="0">
                <a:solidFill>
                  <a:srgbClr val="E4E1F1"/>
                </a:solidFill>
                <a:latin typeface="Consolas"/>
              </a:rPr>
              <a:t>FROM orders o</a:t>
            </a:r>
          </a:p>
          <a:p>
            <a:pPr>
              <a:spcAft>
                <a:spcPts val="200"/>
              </a:spcAft>
            </a:pPr>
            <a:r>
              <a:rPr sz="1400" b="0" i="0">
                <a:solidFill>
                  <a:srgbClr val="E4E1F1"/>
                </a:solidFill>
                <a:latin typeface="Consolas"/>
              </a:rPr>
              <a:t>LEFT JOIN payments p ON p.order_id = o.order_id</a:t>
            </a:r>
          </a:p>
          <a:p>
            <a:pPr>
              <a:spcAft>
                <a:spcPts val="200"/>
              </a:spcAft>
            </a:pPr>
            <a:r>
              <a:rPr sz="1400" b="0" i="0">
                <a:solidFill>
                  <a:srgbClr val="E4E1F1"/>
                </a:solidFill>
                <a:latin typeface="Consolas"/>
              </a:rPr>
              <a:t>WHERE o.quarter = 'Q2'</a:t>
            </a:r>
          </a:p>
          <a:p>
            <a:pPr>
              <a:spcAft>
                <a:spcPts val="200"/>
              </a:spcAft>
            </a:pPr>
            <a:r>
              <a:rPr sz="1400" b="0" i="0">
                <a:solidFill>
                  <a:srgbClr val="E4E1F1"/>
                </a:solidFill>
                <a:latin typeface="Consolas"/>
              </a:rPr>
              <a:t>GROUP BY o.channel;</a:t>
            </a:r>
          </a:p>
        </p:txBody>
      </p:sp>
      <p:sp>
        <p:nvSpPr>
          <p:cNvPr id="14" name="Rounded Rectangle 13"/>
          <p:cNvSpPr/>
          <p:nvPr/>
        </p:nvSpPr>
        <p:spPr>
          <a:xfrm>
            <a:off x="530352" y="3840988"/>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76656" y="3969004"/>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77824" y="3959860"/>
            <a:ext cx="10564063" cy="8915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The collected column now sums payment amounts, so it looks safe. What does the report say? a) collected close to booked on every channel; b) booked near Rs 19.5 crore and about half of it collected; c) collected near Rs 19.3 crore again; d) the query fails because of the NULLs.</a:t>
            </a:r>
          </a:p>
        </p:txBody>
      </p:sp>
      <p:sp>
        <p:nvSpPr>
          <p:cNvPr id="17" name="Oval 1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19" name="Oval 18"/>
          <p:cNvSpPr/>
          <p:nvPr/>
        </p:nvSpPr>
        <p:spPr>
          <a:xfrm>
            <a:off x="13278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437608" y="6437376"/>
            <a:ext cx="1562480" cy="152146"/>
          </a:xfrm>
          <a:prstGeom prst="rect">
            <a:avLst/>
          </a:prstGeom>
          <a:noFill/>
        </p:spPr>
        <p:txBody>
          <a:bodyPr wrap="square" anchor="t" lIns="0" rIns="0" tIns="0" bIns="0">
            <a:spAutoFit/>
          </a:bodyPr>
          <a:lstStyle/>
          <a:p>
            <a:pPr algn="l"/>
            <a:r>
              <a:rPr sz="700" b="1" i="0">
                <a:solidFill>
                  <a:srgbClr val="5B3FD6"/>
                </a:solidFill>
                <a:latin typeface="Calibri"/>
              </a:rPr>
              <a:t>What a join does to the rows</a:t>
            </a:r>
          </a:p>
        </p:txBody>
      </p:sp>
      <p:sp>
        <p:nvSpPr>
          <p:cNvPr id="21" name="Oval 20"/>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23" name="Oval 22"/>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S17  ·  20 / 44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half of Q2 "uncollected", which is false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same fan-out, now on the booked side, invents a collections crisis.</a:t>
            </a:r>
          </a:p>
        </p:txBody>
      </p:sp>
      <p:graphicFrame>
        <p:nvGraphicFramePr>
          <p:cNvPr id="9" name="Table 8"/>
          <p:cNvGraphicFramePr>
            <a:graphicFrameLocks noGrp="1"/>
          </p:cNvGraphicFramePr>
          <p:nvPr/>
        </p:nvGraphicFramePr>
        <p:xfrm>
          <a:off x="530352" y="1956816"/>
          <a:ext cx="11130990" cy="1341120"/>
        </p:xfrm>
        <a:graphic>
          <a:graphicData uri="http://schemas.openxmlformats.org/drawingml/2006/table">
            <a:tbl>
              <a:tblPr firstRow="0" bandRow="0">
                <a:tableStyleId>{2D5ABB26-0587-4C30-8999-92F81FD0307C}</a:tableStyleId>
              </a:tblPr>
              <a:tblGrid>
                <a:gridCol w="914400"/>
                <a:gridCol w="3459200"/>
                <a:gridCol w="3942228"/>
                <a:gridCol w="2815162"/>
              </a:tblGrid>
              <a:tr h="335280">
                <a:tc>
                  <a:txBody>
                    <a:bodyPr/>
                    <a:lstStyle/>
                    <a:p>
                      <a:r>
                        <a:rPr sz="1250" b="1" i="0">
                          <a:solidFill>
                            <a:srgbClr val="FFFFFF"/>
                          </a:solidFill>
                          <a:latin typeface="Calibri"/>
                        </a:rPr>
                        <a:t>Channel</a:t>
                      </a:r>
                    </a:p>
                  </a:txBody>
                  <a:tcPr marL="101600" marR="101600" marT="38100" marB="38100" anchor="ctr">
                    <a:solidFill>
                      <a:srgbClr val="1A0F5C"/>
                    </a:solidFill>
                  </a:tcPr>
                </a:tc>
                <a:tc>
                  <a:txBody>
                    <a:bodyPr/>
                    <a:lstStyle/>
                    <a:p>
                      <a:r>
                        <a:rPr sz="1250" b="1" i="0">
                          <a:solidFill>
                            <a:srgbClr val="FFFFFF"/>
                          </a:solidFill>
                          <a:latin typeface="Calibri"/>
                        </a:rPr>
                        <a:t>Booked, as reported</a:t>
                      </a:r>
                    </a:p>
                  </a:txBody>
                  <a:tcPr marL="101600" marR="101600" marT="38100" marB="38100" anchor="ctr">
                    <a:solidFill>
                      <a:srgbClr val="1A0F5C"/>
                    </a:solidFill>
                  </a:tcPr>
                </a:tc>
                <a:tc>
                  <a:txBody>
                    <a:bodyPr/>
                    <a:lstStyle/>
                    <a:p>
                      <a:r>
                        <a:rPr sz="1250" b="1" i="0">
                          <a:solidFill>
                            <a:srgbClr val="FFFFFF"/>
                          </a:solidFill>
                          <a:latin typeface="Calibri"/>
                        </a:rPr>
                        <a:t>Collected, as reported</a:t>
                      </a:r>
                    </a:p>
                  </a:txBody>
                  <a:tcPr marL="101600" marR="101600" marT="38100" marB="38100" anchor="ctr">
                    <a:solidFill>
                      <a:srgbClr val="1A0F5C"/>
                    </a:solidFill>
                  </a:tcPr>
                </a:tc>
                <a:tc>
                  <a:txBody>
                    <a:bodyPr/>
                    <a:lstStyle/>
                    <a:p>
                      <a:r>
                        <a:rPr sz="1250" b="1" i="0">
                          <a:solidFill>
                            <a:srgbClr val="FFFFFF"/>
                          </a:solidFill>
                          <a:latin typeface="Calibri"/>
                        </a:rPr>
                        <a:t>Share collected</a:t>
                      </a:r>
                    </a:p>
                  </a:txBody>
                  <a:tcPr marL="101600" marR="101600" marT="38100" marB="38100" anchor="ctr">
                    <a:solidFill>
                      <a:srgbClr val="1A0F5C"/>
                    </a:solidFill>
                  </a:tcPr>
                </a:tc>
              </a:tr>
              <a:tr h="335280">
                <a:tc>
                  <a:txBody>
                    <a:bodyPr/>
                    <a:lstStyle/>
                    <a:p>
                      <a:r>
                        <a:rPr sz="1200" b="0" i="0">
                          <a:solidFill>
                            <a:srgbClr val="1A1440"/>
                          </a:solidFill>
                          <a:latin typeface="Calibri"/>
                        </a:rPr>
                        <a:t>app</a:t>
                      </a:r>
                    </a:p>
                  </a:txBody>
                  <a:tcPr marL="101600" marR="101600" marT="38100" marB="38100" anchor="ctr">
                    <a:solidFill>
                      <a:srgbClr val="FFFFFF"/>
                    </a:solidFill>
                  </a:tcPr>
                </a:tc>
                <a:tc>
                  <a:txBody>
                    <a:bodyPr/>
                    <a:lstStyle/>
                    <a:p>
                      <a:r>
                        <a:rPr sz="1200" b="0" i="0">
                          <a:solidFill>
                            <a:srgbClr val="1A1440"/>
                          </a:solidFill>
                          <a:latin typeface="Calibri"/>
                        </a:rPr>
                        <a:t>Rs 8,50,44,740</a:t>
                      </a:r>
                    </a:p>
                  </a:txBody>
                  <a:tcPr marL="101600" marR="101600" marT="38100" marB="38100" anchor="ctr">
                    <a:solidFill>
                      <a:srgbClr val="FFFFFF"/>
                    </a:solidFill>
                  </a:tcPr>
                </a:tc>
                <a:tc>
                  <a:txBody>
                    <a:bodyPr/>
                    <a:lstStyle/>
                    <a:p>
                      <a:r>
                        <a:rPr sz="1200" b="0" i="0">
                          <a:solidFill>
                            <a:srgbClr val="1A1440"/>
                          </a:solidFill>
                          <a:latin typeface="Calibri"/>
                        </a:rPr>
                        <a:t>Rs 4,25,89,770</a:t>
                      </a:r>
                    </a:p>
                  </a:txBody>
                  <a:tcPr marL="101600" marR="101600" marT="38100" marB="38100" anchor="ctr">
                    <a:solidFill>
                      <a:srgbClr val="FFFFFF"/>
                    </a:solidFill>
                  </a:tcPr>
                </a:tc>
                <a:tc>
                  <a:txBody>
                    <a:bodyPr/>
                    <a:lstStyle/>
                    <a:p>
                      <a:r>
                        <a:rPr sz="1200" b="0" i="0">
                          <a:solidFill>
                            <a:srgbClr val="1A1440"/>
                          </a:solidFill>
                          <a:latin typeface="Calibri"/>
                        </a:rPr>
                        <a:t>50.1 percent</a:t>
                      </a:r>
                    </a:p>
                  </a:txBody>
                  <a:tcPr marL="101600" marR="101600" marT="38100" marB="38100" anchor="ctr">
                    <a:solidFill>
                      <a:srgbClr val="FFFFFF"/>
                    </a:solidFill>
                  </a:tcPr>
                </a:tc>
              </a:tr>
              <a:tr h="335280">
                <a:tc>
                  <a:txBody>
                    <a:bodyPr/>
                    <a:lstStyle/>
                    <a:p>
                      <a:r>
                        <a:rPr sz="1200" b="0" i="0">
                          <a:solidFill>
                            <a:srgbClr val="1A1440"/>
                          </a:solidFill>
                          <a:latin typeface="Calibri"/>
                        </a:rPr>
                        <a:t>store</a:t>
                      </a:r>
                    </a:p>
                  </a:txBody>
                  <a:tcPr marL="101600" marR="101600" marT="38100" marB="38100" anchor="ctr">
                    <a:solidFill>
                      <a:srgbClr val="F4F2FA"/>
                    </a:solidFill>
                  </a:tcPr>
                </a:tc>
                <a:tc>
                  <a:txBody>
                    <a:bodyPr/>
                    <a:lstStyle/>
                    <a:p>
                      <a:r>
                        <a:rPr sz="1200" b="0" i="0">
                          <a:solidFill>
                            <a:srgbClr val="1A1440"/>
                          </a:solidFill>
                          <a:latin typeface="Calibri"/>
                        </a:rPr>
                        <a:t>Rs 6,32,06,360</a:t>
                      </a:r>
                    </a:p>
                  </a:txBody>
                  <a:tcPr marL="101600" marR="101600" marT="38100" marB="38100" anchor="ctr">
                    <a:solidFill>
                      <a:srgbClr val="F4F2FA"/>
                    </a:solidFill>
                  </a:tcPr>
                </a:tc>
                <a:tc>
                  <a:txBody>
                    <a:bodyPr/>
                    <a:lstStyle/>
                    <a:p>
                      <a:r>
                        <a:rPr sz="1200" b="0" i="0">
                          <a:solidFill>
                            <a:srgbClr val="1A1440"/>
                          </a:solidFill>
                          <a:latin typeface="Calibri"/>
                        </a:rPr>
                        <a:t>Rs 3,11,96,760</a:t>
                      </a:r>
                    </a:p>
                  </a:txBody>
                  <a:tcPr marL="101600" marR="101600" marT="38100" marB="38100" anchor="ctr">
                    <a:solidFill>
                      <a:srgbClr val="F4F2FA"/>
                    </a:solidFill>
                  </a:tcPr>
                </a:tc>
                <a:tc>
                  <a:txBody>
                    <a:bodyPr/>
                    <a:lstStyle/>
                    <a:p>
                      <a:r>
                        <a:rPr sz="1200" b="0" i="0">
                          <a:solidFill>
                            <a:srgbClr val="1A1440"/>
                          </a:solidFill>
                          <a:latin typeface="Calibri"/>
                        </a:rPr>
                        <a:t>49.4 percent</a:t>
                      </a:r>
                    </a:p>
                  </a:txBody>
                  <a:tcPr marL="101600" marR="101600" marT="38100" marB="38100" anchor="ctr">
                    <a:solidFill>
                      <a:srgbClr val="F4F2FA"/>
                    </a:solidFill>
                  </a:tcPr>
                </a:tc>
              </a:tr>
              <a:tr h="335280">
                <a:tc>
                  <a:txBody>
                    <a:bodyPr/>
                    <a:lstStyle/>
                    <a:p>
                      <a:r>
                        <a:rPr sz="1200" b="0" i="0">
                          <a:solidFill>
                            <a:srgbClr val="1A1440"/>
                          </a:solidFill>
                          <a:latin typeface="Calibri"/>
                        </a:rPr>
                        <a:t>web</a:t>
                      </a:r>
                    </a:p>
                  </a:txBody>
                  <a:tcPr marL="101600" marR="101600" marT="38100" marB="38100" anchor="ctr">
                    <a:solidFill>
                      <a:srgbClr val="FFFFFF"/>
                    </a:solidFill>
                  </a:tcPr>
                </a:tc>
                <a:tc>
                  <a:txBody>
                    <a:bodyPr/>
                    <a:lstStyle/>
                    <a:p>
                      <a:r>
                        <a:rPr sz="1200" b="0" i="0">
                          <a:solidFill>
                            <a:srgbClr val="1A1440"/>
                          </a:solidFill>
                          <a:latin typeface="Calibri"/>
                        </a:rPr>
                        <a:t>Rs 4,64,08,240</a:t>
                      </a:r>
                    </a:p>
                  </a:txBody>
                  <a:tcPr marL="101600" marR="101600" marT="38100" marB="38100" anchor="ctr">
                    <a:solidFill>
                      <a:srgbClr val="FFFFFF"/>
                    </a:solidFill>
                  </a:tcPr>
                </a:tc>
                <a:tc>
                  <a:txBody>
                    <a:bodyPr/>
                    <a:lstStyle/>
                    <a:p>
                      <a:r>
                        <a:rPr sz="1200" b="0" i="0">
                          <a:solidFill>
                            <a:srgbClr val="1A1440"/>
                          </a:solidFill>
                          <a:latin typeface="Calibri"/>
                        </a:rPr>
                        <a:t>Rs 2,28,79,290</a:t>
                      </a:r>
                    </a:p>
                  </a:txBody>
                  <a:tcPr marL="101600" marR="101600" marT="38100" marB="38100" anchor="ctr">
                    <a:solidFill>
                      <a:srgbClr val="FFFFFF"/>
                    </a:solidFill>
                  </a:tcPr>
                </a:tc>
                <a:tc>
                  <a:txBody>
                    <a:bodyPr/>
                    <a:lstStyle/>
                    <a:p>
                      <a:r>
                        <a:rPr sz="1200" b="0" i="0">
                          <a:solidFill>
                            <a:srgbClr val="1A1440"/>
                          </a:solidFill>
                          <a:latin typeface="Calibri"/>
                        </a:rPr>
                        <a:t>49.3 percent</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12" name="Oval 11"/>
          <p:cNvSpPr/>
          <p:nvPr/>
        </p:nvSpPr>
        <p:spPr>
          <a:xfrm>
            <a:off x="13278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437608" y="6437376"/>
            <a:ext cx="1562480" cy="152146"/>
          </a:xfrm>
          <a:prstGeom prst="rect">
            <a:avLst/>
          </a:prstGeom>
          <a:noFill/>
        </p:spPr>
        <p:txBody>
          <a:bodyPr wrap="square" anchor="t" lIns="0" rIns="0" tIns="0" bIns="0">
            <a:spAutoFit/>
          </a:bodyPr>
          <a:lstStyle/>
          <a:p>
            <a:pPr algn="l"/>
            <a:r>
              <a:rPr sz="700" b="1" i="0">
                <a:solidFill>
                  <a:srgbClr val="5B3FD6"/>
                </a:solidFill>
                <a:latin typeface="Calibri"/>
              </a:rPr>
              <a:t>What a join does to the rows</a:t>
            </a:r>
          </a:p>
        </p:txBody>
      </p:sp>
      <p:sp>
        <p:nvSpPr>
          <p:cNvPr id="14" name="Oval 13"/>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16" name="Oval 15"/>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S18  ·  21 / 44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Kavya's review of round 1</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join is a multiplication until you prove it is not.</a:t>
            </a:r>
          </a:p>
        </p:txBody>
      </p:sp>
      <p:sp>
        <p:nvSpPr>
          <p:cNvPr id="9" name="Rounded Rectangle 8"/>
          <p:cNvSpPr/>
          <p:nvPr/>
        </p:nvSpPr>
        <p:spPr>
          <a:xfrm>
            <a:off x="530352" y="1905000"/>
            <a:ext cx="11130991" cy="82804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09042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search-check_6571e64a041f.png"/>
          <p:cNvPicPr>
            <a:picLocks noChangeAspect="1"/>
          </p:cNvPicPr>
          <p:nvPr/>
        </p:nvPicPr>
        <p:blipFill>
          <a:blip r:embed="rId4"/>
          <a:stretch>
            <a:fillRect/>
          </a:stretch>
        </p:blipFill>
        <p:spPr>
          <a:xfrm>
            <a:off x="868680" y="2200148"/>
            <a:ext cx="237744" cy="237744"/>
          </a:xfrm>
          <a:prstGeom prst="rect">
            <a:avLst/>
          </a:prstGeom>
        </p:spPr>
      </p:pic>
      <p:sp>
        <p:nvSpPr>
          <p:cNvPr id="12" name="TextBox 11"/>
          <p:cNvSpPr txBox="1"/>
          <p:nvPr/>
        </p:nvSpPr>
        <p:spPr>
          <a:xfrm>
            <a:off x="1399031" y="2051304"/>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3" name="TextBox 12"/>
          <p:cNvSpPr txBox="1"/>
          <p:nvPr/>
        </p:nvSpPr>
        <p:spPr>
          <a:xfrm>
            <a:off x="1399031" y="2270760"/>
            <a:ext cx="9987991" cy="389128"/>
          </a:xfrm>
          <a:prstGeom prst="rect">
            <a:avLst/>
          </a:prstGeom>
          <a:noFill/>
        </p:spPr>
        <p:txBody>
          <a:bodyPr wrap="square" anchor="t" lIns="0" rIns="0" tIns="0" bIns="0">
            <a:spAutoFit/>
          </a:bodyPr>
          <a:lstStyle/>
          <a:p>
            <a:r>
              <a:rPr sz="1300" b="0" i="0">
                <a:solidFill>
                  <a:srgbClr val="1A1440"/>
                </a:solidFill>
                <a:latin typeface="Calibri"/>
              </a:rPr>
              <a:t>A join is a multiplication until you prove it is not. Tell me the grain of each table before you tell me a total.</a:t>
            </a:r>
          </a:p>
        </p:txBody>
      </p:sp>
      <p:sp>
        <p:nvSpPr>
          <p:cNvPr id="14" name="Rounded Rectangle 13"/>
          <p:cNvSpPr/>
          <p:nvPr/>
        </p:nvSpPr>
        <p:spPr>
          <a:xfrm>
            <a:off x="530352" y="2897632"/>
            <a:ext cx="11130991" cy="1052576"/>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58952" y="319532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6" name="Picture 15" descr="mic_caee7398c80d.png"/>
          <p:cNvPicPr>
            <a:picLocks noChangeAspect="1"/>
          </p:cNvPicPr>
          <p:nvPr/>
        </p:nvPicPr>
        <p:blipFill>
          <a:blip r:embed="rId5"/>
          <a:stretch>
            <a:fillRect/>
          </a:stretch>
        </p:blipFill>
        <p:spPr>
          <a:xfrm>
            <a:off x="868680" y="3305048"/>
            <a:ext cx="237744" cy="237744"/>
          </a:xfrm>
          <a:prstGeom prst="rect">
            <a:avLst/>
          </a:prstGeom>
        </p:spPr>
      </p:pic>
      <p:sp>
        <p:nvSpPr>
          <p:cNvPr id="17" name="TextBox 16"/>
          <p:cNvSpPr txBox="1"/>
          <p:nvPr/>
        </p:nvSpPr>
        <p:spPr>
          <a:xfrm>
            <a:off x="1399031" y="304393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8" name="TextBox 17"/>
          <p:cNvSpPr txBox="1"/>
          <p:nvPr/>
        </p:nvSpPr>
        <p:spPr>
          <a:xfrm>
            <a:off x="1399031" y="3263392"/>
            <a:ext cx="9987991" cy="613664"/>
          </a:xfrm>
          <a:prstGeom prst="rect">
            <a:avLst/>
          </a:prstGeom>
          <a:noFill/>
        </p:spPr>
        <p:txBody>
          <a:bodyPr wrap="square" anchor="t" lIns="0" rIns="0" tIns="0" bIns="0">
            <a:spAutoFit/>
          </a:bodyPr>
          <a:lstStyle/>
          <a:p>
            <a:r>
              <a:rPr sz="1300" b="0" i="0">
                <a:solidFill>
                  <a:srgbClr val="1A1440"/>
                </a:solidFill>
                <a:latin typeface="Calibri"/>
              </a:rPr>
              <a:t>[S] Your join grew the row count; name the cause and the check. [F] Revenue doubled after a join and every row looks fine; where do you look?</a:t>
            </a:r>
          </a:p>
        </p:txBody>
      </p:sp>
      <p:sp>
        <p:nvSpPr>
          <p:cNvPr id="19" name="Rounded Rectangle 18"/>
          <p:cNvSpPr/>
          <p:nvPr/>
        </p:nvSpPr>
        <p:spPr>
          <a:xfrm>
            <a:off x="530352" y="4114800"/>
            <a:ext cx="3588410" cy="18623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31519" y="4315968"/>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search-check_efc46fa23a6f.png"/>
          <p:cNvPicPr>
            <a:picLocks noChangeAspect="1"/>
          </p:cNvPicPr>
          <p:nvPr/>
        </p:nvPicPr>
        <p:blipFill>
          <a:blip r:embed="rId6"/>
          <a:stretch>
            <a:fillRect/>
          </a:stretch>
        </p:blipFill>
        <p:spPr>
          <a:xfrm>
            <a:off x="841247" y="4425696"/>
            <a:ext cx="237744" cy="237744"/>
          </a:xfrm>
          <a:prstGeom prst="rect">
            <a:avLst/>
          </a:prstGeom>
        </p:spPr>
      </p:pic>
      <p:sp>
        <p:nvSpPr>
          <p:cNvPr id="22" name="TextBox 21"/>
          <p:cNvSpPr txBox="1"/>
          <p:nvPr/>
        </p:nvSpPr>
        <p:spPr>
          <a:xfrm>
            <a:off x="731519" y="4882896"/>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CAUSE</a:t>
            </a:r>
          </a:p>
        </p:txBody>
      </p:sp>
      <p:sp>
        <p:nvSpPr>
          <p:cNvPr id="23" name="TextBox 22"/>
          <p:cNvSpPr txBox="1"/>
          <p:nvPr/>
        </p:nvSpPr>
        <p:spPr>
          <a:xfrm>
            <a:off x="731519" y="5120640"/>
            <a:ext cx="3186074" cy="234696"/>
          </a:xfrm>
          <a:prstGeom prst="rect">
            <a:avLst/>
          </a:prstGeom>
          <a:noFill/>
        </p:spPr>
        <p:txBody>
          <a:bodyPr wrap="square" anchor="t" lIns="0" rIns="0" tIns="0" bIns="0">
            <a:spAutoFit/>
          </a:bodyPr>
          <a:lstStyle/>
          <a:p>
            <a:pPr algn="l"/>
            <a:r>
              <a:rPr sz="1200" b="1" i="0">
                <a:solidFill>
                  <a:srgbClr val="1A0F5C"/>
                </a:solidFill>
                <a:latin typeface="Calibri"/>
              </a:rPr>
              <a:t>A key that repeats</a:t>
            </a:r>
          </a:p>
        </p:txBody>
      </p:sp>
      <p:sp>
        <p:nvSpPr>
          <p:cNvPr id="24" name="TextBox 23"/>
          <p:cNvSpPr txBox="1"/>
          <p:nvPr/>
        </p:nvSpPr>
        <p:spPr>
          <a:xfrm>
            <a:off x="731519" y="5428488"/>
            <a:ext cx="3186074" cy="333756"/>
          </a:xfrm>
          <a:prstGeom prst="rect">
            <a:avLst/>
          </a:prstGeom>
          <a:noFill/>
        </p:spPr>
        <p:txBody>
          <a:bodyPr wrap="square" anchor="t" lIns="0" rIns="0" tIns="0" bIns="0">
            <a:spAutoFit/>
          </a:bodyPr>
          <a:lstStyle/>
          <a:p>
            <a:pPr algn="l"/>
            <a:r>
              <a:rPr sz="900" b="0" i="0">
                <a:solidFill>
                  <a:srgbClr val="6B6690"/>
                </a:solidFill>
                <a:latin typeface="Calibri"/>
              </a:rPr>
              <a:t>The right-hand table has more than one row per key, so each left row comes out once per match.</a:t>
            </a:r>
          </a:p>
        </p:txBody>
      </p:sp>
      <p:sp>
        <p:nvSpPr>
          <p:cNvPr id="25" name="Rounded Rectangle 24"/>
          <p:cNvSpPr/>
          <p:nvPr/>
        </p:nvSpPr>
        <p:spPr>
          <a:xfrm>
            <a:off x="4301642" y="4114800"/>
            <a:ext cx="3588410" cy="18623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4502810" y="4315968"/>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calculator_852ec1ae1794.png"/>
          <p:cNvPicPr>
            <a:picLocks noChangeAspect="1"/>
          </p:cNvPicPr>
          <p:nvPr/>
        </p:nvPicPr>
        <p:blipFill>
          <a:blip r:embed="rId7"/>
          <a:stretch>
            <a:fillRect/>
          </a:stretch>
        </p:blipFill>
        <p:spPr>
          <a:xfrm>
            <a:off x="4612538" y="4425696"/>
            <a:ext cx="237744" cy="237744"/>
          </a:xfrm>
          <a:prstGeom prst="rect">
            <a:avLst/>
          </a:prstGeom>
        </p:spPr>
      </p:pic>
      <p:sp>
        <p:nvSpPr>
          <p:cNvPr id="28" name="TextBox 27"/>
          <p:cNvSpPr txBox="1"/>
          <p:nvPr/>
        </p:nvSpPr>
        <p:spPr>
          <a:xfrm>
            <a:off x="4502810" y="4882896"/>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CHECK</a:t>
            </a:r>
          </a:p>
        </p:txBody>
      </p:sp>
      <p:sp>
        <p:nvSpPr>
          <p:cNvPr id="29" name="TextBox 28"/>
          <p:cNvSpPr txBox="1"/>
          <p:nvPr/>
        </p:nvSpPr>
        <p:spPr>
          <a:xfrm>
            <a:off x="4502810" y="5120640"/>
            <a:ext cx="3186074" cy="234696"/>
          </a:xfrm>
          <a:prstGeom prst="rect">
            <a:avLst/>
          </a:prstGeom>
          <a:noFill/>
        </p:spPr>
        <p:txBody>
          <a:bodyPr wrap="square" anchor="t" lIns="0" rIns="0" tIns="0" bIns="0">
            <a:spAutoFit/>
          </a:bodyPr>
          <a:lstStyle/>
          <a:p>
            <a:pPr algn="l"/>
            <a:r>
              <a:rPr sz="1200" b="1" i="0">
                <a:solidFill>
                  <a:srgbClr val="1A0F5C"/>
                </a:solidFill>
                <a:latin typeface="Calibri"/>
              </a:rPr>
              <a:t>Rows in, rows out</a:t>
            </a:r>
          </a:p>
        </p:txBody>
      </p:sp>
      <p:sp>
        <p:nvSpPr>
          <p:cNvPr id="30" name="TextBox 29"/>
          <p:cNvSpPr txBox="1"/>
          <p:nvPr/>
        </p:nvSpPr>
        <p:spPr>
          <a:xfrm>
            <a:off x="4502810" y="5428488"/>
            <a:ext cx="3186074" cy="333756"/>
          </a:xfrm>
          <a:prstGeom prst="rect">
            <a:avLst/>
          </a:prstGeom>
          <a:noFill/>
        </p:spPr>
        <p:txBody>
          <a:bodyPr wrap="square" anchor="t" lIns="0" rIns="0" tIns="0" bIns="0">
            <a:spAutoFit/>
          </a:bodyPr>
          <a:lstStyle/>
          <a:p>
            <a:pPr algn="l"/>
            <a:r>
              <a:rPr sz="900" b="0" i="0">
                <a:solidFill>
                  <a:srgbClr val="6B6690"/>
                </a:solidFill>
                <a:latin typeface="Calibri"/>
              </a:rPr>
              <a:t>Count before and after; any growth is explained by the repeated keys, or the join is wrong.</a:t>
            </a:r>
          </a:p>
        </p:txBody>
      </p:sp>
      <p:sp>
        <p:nvSpPr>
          <p:cNvPr id="31" name="Rounded Rectangle 30"/>
          <p:cNvSpPr/>
          <p:nvPr/>
        </p:nvSpPr>
        <p:spPr>
          <a:xfrm>
            <a:off x="8072932" y="4114800"/>
            <a:ext cx="3588410" cy="1862328"/>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8274100" y="431596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3" name="Picture 32" descr="layers_3abcfa9ee070.png"/>
          <p:cNvPicPr>
            <a:picLocks noChangeAspect="1"/>
          </p:cNvPicPr>
          <p:nvPr/>
        </p:nvPicPr>
        <p:blipFill>
          <a:blip r:embed="rId8"/>
          <a:stretch>
            <a:fillRect/>
          </a:stretch>
        </p:blipFill>
        <p:spPr>
          <a:xfrm>
            <a:off x="8383828" y="4425696"/>
            <a:ext cx="237744" cy="237744"/>
          </a:xfrm>
          <a:prstGeom prst="rect">
            <a:avLst/>
          </a:prstGeom>
        </p:spPr>
      </p:pic>
      <p:sp>
        <p:nvSpPr>
          <p:cNvPr id="34" name="TextBox 33"/>
          <p:cNvSpPr txBox="1"/>
          <p:nvPr/>
        </p:nvSpPr>
        <p:spPr>
          <a:xfrm>
            <a:off x="8274100" y="4882896"/>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THE FIX</a:t>
            </a:r>
          </a:p>
        </p:txBody>
      </p:sp>
      <p:sp>
        <p:nvSpPr>
          <p:cNvPr id="35" name="TextBox 34"/>
          <p:cNvSpPr txBox="1"/>
          <p:nvPr/>
        </p:nvSpPr>
        <p:spPr>
          <a:xfrm>
            <a:off x="8274100" y="5120640"/>
            <a:ext cx="3186074" cy="234696"/>
          </a:xfrm>
          <a:prstGeom prst="rect">
            <a:avLst/>
          </a:prstGeom>
          <a:noFill/>
        </p:spPr>
        <p:txBody>
          <a:bodyPr wrap="square" anchor="t" lIns="0" rIns="0" tIns="0" bIns="0">
            <a:spAutoFit/>
          </a:bodyPr>
          <a:lstStyle/>
          <a:p>
            <a:pPr algn="l"/>
            <a:r>
              <a:rPr sz="1200" b="1" i="0">
                <a:solidFill>
                  <a:srgbClr val="FFFFFF"/>
                </a:solidFill>
                <a:latin typeface="Calibri"/>
              </a:rPr>
              <a:t>Match the grain</a:t>
            </a:r>
          </a:p>
        </p:txBody>
      </p:sp>
      <p:sp>
        <p:nvSpPr>
          <p:cNvPr id="36" name="TextBox 35"/>
          <p:cNvSpPr txBox="1"/>
          <p:nvPr/>
        </p:nvSpPr>
        <p:spPr>
          <a:xfrm>
            <a:off x="8274100" y="5428488"/>
            <a:ext cx="3186074" cy="333756"/>
          </a:xfrm>
          <a:prstGeom prst="rect">
            <a:avLst/>
          </a:prstGeom>
          <a:noFill/>
        </p:spPr>
        <p:txBody>
          <a:bodyPr wrap="square" anchor="t" lIns="0" rIns="0" tIns="0" bIns="0">
            <a:spAutoFit/>
          </a:bodyPr>
          <a:lstStyle/>
          <a:p>
            <a:pPr algn="l"/>
            <a:r>
              <a:rPr sz="900" b="0" i="0">
                <a:solidFill>
                  <a:srgbClr val="CFC9EE"/>
                </a:solidFill>
                <a:latin typeface="Calibri"/>
              </a:rPr>
              <a:t>Aggregate the many side to the key's grain in a CTE, then join.</a:t>
            </a:r>
          </a:p>
        </p:txBody>
      </p:sp>
      <p:sp>
        <p:nvSpPr>
          <p:cNvPr id="37" name="Oval 3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39" name="Oval 38"/>
          <p:cNvSpPr/>
          <p:nvPr/>
        </p:nvSpPr>
        <p:spPr>
          <a:xfrm>
            <a:off x="13278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1437608" y="6437376"/>
            <a:ext cx="1562480" cy="152146"/>
          </a:xfrm>
          <a:prstGeom prst="rect">
            <a:avLst/>
          </a:prstGeom>
          <a:noFill/>
        </p:spPr>
        <p:txBody>
          <a:bodyPr wrap="square" anchor="t" lIns="0" rIns="0" tIns="0" bIns="0">
            <a:spAutoFit/>
          </a:bodyPr>
          <a:lstStyle/>
          <a:p>
            <a:pPr algn="l"/>
            <a:r>
              <a:rPr sz="700" b="1" i="0">
                <a:solidFill>
                  <a:srgbClr val="5B3FD6"/>
                </a:solidFill>
                <a:latin typeface="Calibri"/>
              </a:rPr>
              <a:t>What a join does to the rows</a:t>
            </a:r>
          </a:p>
        </p:txBody>
      </p:sp>
      <p:sp>
        <p:nvSpPr>
          <p:cNvPr id="41" name="Oval 40"/>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43" name="Oval 42"/>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45" name="TextBox 4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S19  ·  22 / 44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03</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Prove the join before the number</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Rows in, rows out, the difference named, then the bridge from booked to collected.</a:t>
            </a:r>
          </a:p>
        </p:txBody>
      </p:sp>
      <p:sp>
        <p:nvSpPr>
          <p:cNvPr id="10" name="Rounded Rectangle 9"/>
          <p:cNvSpPr/>
          <p:nvPr/>
        </p:nvSpPr>
        <p:spPr>
          <a:xfrm>
            <a:off x="731519" y="5074920"/>
            <a:ext cx="78027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ask</a:t>
            </a:r>
          </a:p>
        </p:txBody>
      </p:sp>
      <p:sp>
        <p:nvSpPr>
          <p:cNvPr id="11" name="Rounded Rectangle 10"/>
          <p:cNvSpPr/>
          <p:nvPr/>
        </p:nvSpPr>
        <p:spPr>
          <a:xfrm>
            <a:off x="1621519" y="5074920"/>
            <a:ext cx="202380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a join does to the rows</a:t>
            </a:r>
          </a:p>
        </p:txBody>
      </p:sp>
      <p:sp>
        <p:nvSpPr>
          <p:cNvPr id="12" name="Rounded Rectangle 11"/>
          <p:cNvSpPr/>
          <p:nvPr/>
        </p:nvSpPr>
        <p:spPr>
          <a:xfrm>
            <a:off x="3755055" y="5074920"/>
            <a:ext cx="2148840"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Prove the join before the number</a:t>
            </a:r>
          </a:p>
        </p:txBody>
      </p:sp>
      <p:sp>
        <p:nvSpPr>
          <p:cNvPr id="13" name="Rounded Rectangle 12"/>
          <p:cNvSpPr/>
          <p:nvPr/>
        </p:nvSpPr>
        <p:spPr>
          <a:xfrm>
            <a:off x="6013623" y="5074920"/>
            <a:ext cx="214884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orders, and which payments</a:t>
            </a:r>
          </a:p>
        </p:txBody>
      </p:sp>
      <p:sp>
        <p:nvSpPr>
          <p:cNvPr id="14" name="TextBox 13"/>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2. Booked against collected, without lying</a:t>
            </a:r>
          </a:p>
        </p:txBody>
      </p:sp>
      <p:sp>
        <p:nvSpPr>
          <p:cNvPr id="15" name="TextBox 1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23 / 44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Every Q2 order has to survive the join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Anand asked order by order, so an order that vanishes is an order he never sees.</a:t>
            </a:r>
          </a:p>
        </p:txBody>
      </p:sp>
      <p:sp>
        <p:nvSpPr>
          <p:cNvPr id="9" name="Rounded Rectangle 8"/>
          <p:cNvSpPr/>
          <p:nvPr/>
        </p:nvSpPr>
        <p:spPr>
          <a:xfrm>
            <a:off x="530352" y="1956816"/>
            <a:ext cx="11130991"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2890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39877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682752"/>
          </a:xfrm>
          <a:prstGeom prst="rect">
            <a:avLst/>
          </a:prstGeom>
          <a:noFill/>
        </p:spPr>
        <p:txBody>
          <a:bodyPr wrap="square" anchor="t" lIns="0" rIns="0" tIns="0" bIns="0">
            <a:spAutoFit/>
          </a:bodyPr>
          <a:lstStyle/>
          <a:p>
            <a:r>
              <a:rPr sz="1500" b="0" i="0">
                <a:solidFill>
                  <a:srgbClr val="FFFFFF"/>
                </a:solidFill>
                <a:latin typeface="Calibri"/>
              </a:rPr>
              <a:t>"If there is a gap, I want to know which orders." An order missing from the report cannot be on anyone's list.</a:t>
            </a:r>
          </a:p>
        </p:txBody>
      </p:sp>
      <p:pic>
        <p:nvPicPr>
          <p:cNvPr id="14" name="mermaid diagram" descr="280f48fae156e22e.png"/>
          <p:cNvPicPr>
            <a:picLocks noChangeAspect="1"/>
          </p:cNvPicPr>
          <p:nvPr/>
        </p:nvPicPr>
        <p:blipFill>
          <a:blip r:embed="rId6"/>
          <a:stretch>
            <a:fillRect/>
          </a:stretch>
        </p:blipFill>
        <p:spPr>
          <a:xfrm>
            <a:off x="530352" y="3243072"/>
            <a:ext cx="11130991" cy="1498664"/>
          </a:xfrm>
          <a:prstGeom prst="rect">
            <a:avLst/>
          </a:prstGeom>
        </p:spPr>
      </p:pic>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17" name="Oval 16"/>
          <p:cNvSpPr/>
          <p:nvPr/>
        </p:nvSpPr>
        <p:spPr>
          <a:xfrm>
            <a:off x="13278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437608"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What a join does to the rows</a:t>
            </a:r>
          </a:p>
        </p:txBody>
      </p:sp>
      <p:sp>
        <p:nvSpPr>
          <p:cNvPr id="19" name="Oval 18"/>
          <p:cNvSpPr/>
          <p:nvPr/>
        </p:nvSpPr>
        <p:spPr>
          <a:xfrm>
            <a:off x="309152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201257"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Prove the join before the number</a:t>
            </a:r>
          </a:p>
        </p:txBody>
      </p:sp>
      <p:sp>
        <p:nvSpPr>
          <p:cNvPr id="21" name="Oval 20"/>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S20  ·  24 / 44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reconciliation, written above the number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Four lines of comment that make a joined total auditable by Anand's analyst.</a:t>
            </a:r>
          </a:p>
        </p:txBody>
      </p:sp>
      <p:sp>
        <p:nvSpPr>
          <p:cNvPr id="9" name="Rounded Rectangle 8"/>
          <p:cNvSpPr/>
          <p:nvPr/>
        </p:nvSpPr>
        <p:spPr>
          <a:xfrm>
            <a:off x="530352" y="1956816"/>
            <a:ext cx="11130991" cy="146710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064768"/>
          </a:xfrm>
          <a:prstGeom prst="rect">
            <a:avLst/>
          </a:prstGeom>
          <a:noFill/>
        </p:spPr>
        <p:txBody>
          <a:bodyPr wrap="square" anchor="t" lIns="0" rIns="0" tIns="0" bIns="0">
            <a:spAutoFit/>
          </a:bodyPr>
          <a:lstStyle/>
          <a:p>
            <a:pPr>
              <a:spcAft>
                <a:spcPts val="200"/>
              </a:spcAft>
            </a:pPr>
            <a:r>
              <a:rPr sz="1400" b="0" i="0">
                <a:solidFill>
                  <a:srgbClr val="A9A3D2"/>
                </a:solidFill>
                <a:latin typeface="Consolas"/>
              </a:rPr>
              <a:t>-- Rows in:   462 Q2 orders, Rs 9,84,00,000 booked (orders alone).</a:t>
            </a:r>
          </a:p>
          <a:p>
            <a:pPr>
              <a:spcAft>
                <a:spcPts val="200"/>
              </a:spcAft>
            </a:pPr>
            <a:r>
              <a:rPr sz="1400" b="0" i="0">
                <a:solidFill>
                  <a:srgbClr val="A9A3D2"/>
                </a:solidFill>
                <a:latin typeface="Consolas"/>
              </a:rPr>
              <a:t>-- Rows out:  ___ rows after the join at order grain.</a:t>
            </a:r>
          </a:p>
          <a:p>
            <a:pPr>
              <a:spcAft>
                <a:spcPts val="200"/>
              </a:spcAft>
            </a:pPr>
            <a:r>
              <a:rPr sz="1400" b="0" i="0">
                <a:solidFill>
                  <a:srgbClr val="A9A3D2"/>
                </a:solidFill>
                <a:latin typeface="Consolas"/>
              </a:rPr>
              <a:t>-- Booked:    the sum over rows out equals the booked above.</a:t>
            </a:r>
          </a:p>
          <a:p>
            <a:pPr>
              <a:spcAft>
                <a:spcPts val="200"/>
              </a:spcAft>
            </a:pPr>
            <a:r>
              <a:rPr sz="1400" b="0" i="0">
                <a:solidFill>
                  <a:srgbClr val="A9A3D2"/>
                </a:solidFill>
                <a:latin typeface="Consolas"/>
              </a:rPr>
              <a:t>-- The gap:   booked minus collected equals the unpaid orders' booked value.</a:t>
            </a:r>
          </a:p>
        </p:txBody>
      </p:sp>
      <p:graphicFrame>
        <p:nvGraphicFramePr>
          <p:cNvPr id="14" name="Table 13"/>
          <p:cNvGraphicFramePr>
            <a:graphicFrameLocks noGrp="1"/>
          </p:cNvGraphicFramePr>
          <p:nvPr/>
        </p:nvGraphicFramePr>
        <p:xfrm>
          <a:off x="530352" y="3588512"/>
          <a:ext cx="11130990" cy="1479296"/>
        </p:xfrm>
        <a:graphic>
          <a:graphicData uri="http://schemas.openxmlformats.org/drawingml/2006/table">
            <a:tbl>
              <a:tblPr firstRow="0" bandRow="0">
                <a:tableStyleId>{2D5ABB26-0587-4C30-8999-92F81FD0307C}</a:tableStyleId>
              </a:tblPr>
              <a:tblGrid>
                <a:gridCol w="2166357"/>
                <a:gridCol w="4204401"/>
                <a:gridCol w="4760232"/>
              </a:tblGrid>
              <a:tr h="369824">
                <a:tc>
                  <a:txBody>
                    <a:bodyPr/>
                    <a:lstStyle/>
                    <a:p>
                      <a:r>
                        <a:rPr sz="1450" b="1" i="0">
                          <a:solidFill>
                            <a:srgbClr val="FFFFFF"/>
                          </a:solidFill>
                          <a:latin typeface="Calibri"/>
                        </a:rPr>
                        <a:t>Line</a:t>
                      </a:r>
                    </a:p>
                  </a:txBody>
                  <a:tcPr marL="101600" marR="101600" marT="38100" marB="38100" anchor="ctr">
                    <a:solidFill>
                      <a:srgbClr val="1A0F5C"/>
                    </a:solidFill>
                  </a:tcPr>
                </a:tc>
                <a:tc>
                  <a:txBody>
                    <a:bodyPr/>
                    <a:lstStyle/>
                    <a:p>
                      <a:r>
                        <a:rPr sz="1450" b="1" i="0">
                          <a:solidFill>
                            <a:srgbClr val="FFFFFF"/>
                          </a:solidFill>
                          <a:latin typeface="Calibri"/>
                        </a:rPr>
                        <a:t>What it proves</a:t>
                      </a:r>
                    </a:p>
                  </a:txBody>
                  <a:tcPr marL="101600" marR="101600" marT="38100" marB="38100" anchor="ctr">
                    <a:solidFill>
                      <a:srgbClr val="1A0F5C"/>
                    </a:solidFill>
                  </a:tcPr>
                </a:tc>
                <a:tc>
                  <a:txBody>
                    <a:bodyPr/>
                    <a:lstStyle/>
                    <a:p>
                      <a:r>
                        <a:rPr sz="1450" b="1" i="0">
                          <a:solidFill>
                            <a:srgbClr val="FFFFFF"/>
                          </a:solidFill>
                          <a:latin typeface="Calibri"/>
                        </a:rPr>
                        <a:t>What breaks it</a:t>
                      </a:r>
                    </a:p>
                  </a:txBody>
                  <a:tcPr marL="101600" marR="101600" marT="38100" marB="38100" anchor="ctr">
                    <a:solidFill>
                      <a:srgbClr val="1A0F5C"/>
                    </a:solidFill>
                  </a:tcPr>
                </a:tc>
              </a:tr>
              <a:tr h="369824">
                <a:tc>
                  <a:txBody>
                    <a:bodyPr/>
                    <a:lstStyle/>
                    <a:p>
                      <a:r>
                        <a:rPr sz="1400" b="0" i="0">
                          <a:solidFill>
                            <a:srgbClr val="1A1440"/>
                          </a:solidFill>
                          <a:latin typeface="Calibri"/>
                        </a:rPr>
                        <a:t>Rows in and out</a:t>
                      </a:r>
                    </a:p>
                  </a:txBody>
                  <a:tcPr marL="101600" marR="101600" marT="38100" marB="38100" anchor="ctr">
                    <a:solidFill>
                      <a:srgbClr val="FFFFFF"/>
                    </a:solidFill>
                  </a:tcPr>
                </a:tc>
                <a:tc>
                  <a:txBody>
                    <a:bodyPr/>
                    <a:lstStyle/>
                    <a:p>
                      <a:r>
                        <a:rPr sz="1400" b="0" i="0">
                          <a:solidFill>
                            <a:srgbClr val="1A1440"/>
                          </a:solidFill>
                          <a:latin typeface="Calibri"/>
                        </a:rPr>
                        <a:t>No order was dropped or repeated</a:t>
                      </a:r>
                    </a:p>
                  </a:txBody>
                  <a:tcPr marL="101600" marR="101600" marT="38100" marB="38100" anchor="ctr">
                    <a:solidFill>
                      <a:srgbClr val="FFFFFF"/>
                    </a:solidFill>
                  </a:tcPr>
                </a:tc>
                <a:tc>
                  <a:txBody>
                    <a:bodyPr/>
                    <a:lstStyle/>
                    <a:p>
                      <a:r>
                        <a:rPr sz="1400" b="0" i="0">
                          <a:solidFill>
                            <a:srgbClr val="1A1440"/>
                          </a:solidFill>
                          <a:latin typeface="Calibri"/>
                        </a:rPr>
                        <a:t>An INNER join, a filter, a repeated key</a:t>
                      </a:r>
                    </a:p>
                  </a:txBody>
                  <a:tcPr marL="101600" marR="101600" marT="38100" marB="38100" anchor="ctr">
                    <a:solidFill>
                      <a:srgbClr val="FFFFFF"/>
                    </a:solidFill>
                  </a:tcPr>
                </a:tc>
              </a:tr>
              <a:tr h="369824">
                <a:tc>
                  <a:txBody>
                    <a:bodyPr/>
                    <a:lstStyle/>
                    <a:p>
                      <a:r>
                        <a:rPr sz="1400" b="0" i="0">
                          <a:solidFill>
                            <a:srgbClr val="1A1440"/>
                          </a:solidFill>
                          <a:latin typeface="Calibri"/>
                        </a:rPr>
                        <a:t>Booked after the join</a:t>
                      </a:r>
                    </a:p>
                  </a:txBody>
                  <a:tcPr marL="101600" marR="101600" marT="38100" marB="38100" anchor="ctr">
                    <a:solidFill>
                      <a:srgbClr val="F4F2FA"/>
                    </a:solidFill>
                  </a:tcPr>
                </a:tc>
                <a:tc>
                  <a:txBody>
                    <a:bodyPr/>
                    <a:lstStyle/>
                    <a:p>
                      <a:r>
                        <a:rPr sz="1400" b="0" i="0">
                          <a:solidFill>
                            <a:srgbClr val="1A1440"/>
                          </a:solidFill>
                          <a:latin typeface="Calibri"/>
                        </a:rPr>
                        <a:t>The join added and lost nothing</a:t>
                      </a:r>
                    </a:p>
                  </a:txBody>
                  <a:tcPr marL="101600" marR="101600" marT="38100" marB="38100" anchor="ctr">
                    <a:solidFill>
                      <a:srgbClr val="F4F2FA"/>
                    </a:solidFill>
                  </a:tcPr>
                </a:tc>
                <a:tc>
                  <a:txBody>
                    <a:bodyPr/>
                    <a:lstStyle/>
                    <a:p>
                      <a:r>
                        <a:rPr sz="1400" b="0" i="0">
                          <a:solidFill>
                            <a:srgbClr val="1A1440"/>
                          </a:solidFill>
                          <a:latin typeface="Calibri"/>
                        </a:rPr>
                        <a:t>A fan-out on the order side</a:t>
                      </a:r>
                    </a:p>
                  </a:txBody>
                  <a:tcPr marL="101600" marR="101600" marT="38100" marB="38100" anchor="ctr">
                    <a:solidFill>
                      <a:srgbClr val="F4F2FA"/>
                    </a:solidFill>
                  </a:tcPr>
                </a:tc>
              </a:tr>
              <a:tr h="369824">
                <a:tc>
                  <a:txBody>
                    <a:bodyPr/>
                    <a:lstStyle/>
                    <a:p>
                      <a:r>
                        <a:rPr sz="1400" b="0" i="0">
                          <a:solidFill>
                            <a:srgbClr val="1A1440"/>
                          </a:solidFill>
                          <a:latin typeface="Calibri"/>
                        </a:rPr>
                        <a:t>The gap</a:t>
                      </a:r>
                    </a:p>
                  </a:txBody>
                  <a:tcPr marL="101600" marR="101600" marT="38100" marB="38100" anchor="ctr">
                    <a:solidFill>
                      <a:srgbClr val="FFFFFF"/>
                    </a:solidFill>
                  </a:tcPr>
                </a:tc>
                <a:tc>
                  <a:txBody>
                    <a:bodyPr/>
                    <a:lstStyle/>
                    <a:p>
                      <a:r>
                        <a:rPr sz="1400" b="0" i="0">
                          <a:solidFill>
                            <a:srgbClr val="1A1440"/>
                          </a:solidFill>
                          <a:latin typeface="Calibri"/>
                        </a:rPr>
                        <a:t>Every rupee of gap belongs to a named order</a:t>
                      </a:r>
                    </a:p>
                  </a:txBody>
                  <a:tcPr marL="101600" marR="101600" marT="38100" marB="38100" anchor="ctr">
                    <a:solidFill>
                      <a:srgbClr val="FFFFFF"/>
                    </a:solidFill>
                  </a:tcPr>
                </a:tc>
                <a:tc>
                  <a:txBody>
                    <a:bodyPr/>
                    <a:lstStyle/>
                    <a:p>
                      <a:r>
                        <a:rPr sz="1400" b="0" i="0">
                          <a:solidFill>
                            <a:srgbClr val="1A1440"/>
                          </a:solidFill>
                          <a:latin typeface="Calibri"/>
                        </a:rPr>
                        <a:t>A retry inside collected, an unpaid order dropped</a:t>
                      </a:r>
                    </a:p>
                  </a:txBody>
                  <a:tcPr marL="101600" marR="101600" marT="38100" marB="38100" anchor="ctr">
                    <a:solidFill>
                      <a:srgbClr val="FFFFFF"/>
                    </a:solidFill>
                  </a:tcPr>
                </a:tc>
              </a:tr>
            </a:tbl>
          </a:graphicData>
        </a:graphic>
      </p:graphicFrame>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17" name="Oval 16"/>
          <p:cNvSpPr/>
          <p:nvPr/>
        </p:nvSpPr>
        <p:spPr>
          <a:xfrm>
            <a:off x="13278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437608"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What a join does to the rows</a:t>
            </a:r>
          </a:p>
        </p:txBody>
      </p:sp>
      <p:sp>
        <p:nvSpPr>
          <p:cNvPr id="19" name="Oval 18"/>
          <p:cNvSpPr/>
          <p:nvPr/>
        </p:nvSpPr>
        <p:spPr>
          <a:xfrm>
            <a:off x="309152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201257"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Prove the join before the number</a:t>
            </a:r>
          </a:p>
        </p:txBody>
      </p:sp>
      <p:sp>
        <p:nvSpPr>
          <p:cNvPr id="21" name="Oval 20"/>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S21  ·  25 / 44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the INNER report on the tiny tables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Payments at order grain this time, joined with an INNER join, as most first drafts are.</a:t>
            </a:r>
          </a:p>
        </p:txBody>
      </p:sp>
      <p:sp>
        <p:nvSpPr>
          <p:cNvPr id="9" name="Rounded Rectangle 8"/>
          <p:cNvSpPr/>
          <p:nvPr/>
        </p:nvSpPr>
        <p:spPr>
          <a:xfrm>
            <a:off x="530352" y="1956816"/>
            <a:ext cx="11130991" cy="1972055"/>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569719"/>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WITH paid_per_order AS (</a:t>
            </a:r>
          </a:p>
          <a:p>
            <a:pPr>
              <a:spcAft>
                <a:spcPts val="200"/>
              </a:spcAft>
            </a:pPr>
            <a:r>
              <a:rPr sz="1400" b="0" i="0">
                <a:solidFill>
                  <a:srgbClr val="E4E1F1"/>
                </a:solidFill>
                <a:latin typeface="Consolas"/>
              </a:rPr>
              <a:t>    SELECT order_id, sum(amount) AS paid FROM tiny_payments GROUP BY order_id</a:t>
            </a:r>
          </a:p>
          <a:p>
            <a:pPr>
              <a:spcAft>
                <a:spcPts val="200"/>
              </a:spcAft>
            </a:pPr>
            <a:r>
              <a:rPr sz="1400" b="0" i="0">
                <a:solidFill>
                  <a:srgbClr val="E4E1F1"/>
                </a:solidFill>
                <a:latin typeface="Consolas"/>
              </a:rPr>
              <a:t>)</a:t>
            </a:r>
          </a:p>
          <a:p>
            <a:pPr>
              <a:spcAft>
                <a:spcPts val="200"/>
              </a:spcAft>
            </a:pPr>
            <a:r>
              <a:rPr sz="1400" b="0" i="0">
                <a:solidFill>
                  <a:srgbClr val="E4E1F1"/>
                </a:solidFill>
                <a:latin typeface="Consolas"/>
              </a:rPr>
              <a:t>SELECT count(*) AS orders, sum(o.amount) AS booked, sum(pp.paid) AS collected</a:t>
            </a:r>
          </a:p>
          <a:p>
            <a:pPr>
              <a:spcAft>
                <a:spcPts val="200"/>
              </a:spcAft>
            </a:pPr>
            <a:r>
              <a:rPr sz="1400" b="0" i="0">
                <a:solidFill>
                  <a:srgbClr val="E4E1F1"/>
                </a:solidFill>
                <a:latin typeface="Consolas"/>
              </a:rPr>
              <a:t>FROM tiny_orders o</a:t>
            </a:r>
          </a:p>
          <a:p>
            <a:pPr>
              <a:spcAft>
                <a:spcPts val="200"/>
              </a:spcAft>
            </a:pPr>
            <a:r>
              <a:rPr sz="1400" b="0" i="0">
                <a:solidFill>
                  <a:srgbClr val="E4E1F1"/>
                </a:solidFill>
                <a:latin typeface="Consolas"/>
              </a:rPr>
              <a:t>JOIN paid_per_order pp ON pp.order_id = o.order_id;</a:t>
            </a:r>
          </a:p>
        </p:txBody>
      </p:sp>
      <p:sp>
        <p:nvSpPr>
          <p:cNvPr id="14" name="Rounded Rectangle 13"/>
          <p:cNvSpPr/>
          <p:nvPr/>
        </p:nvSpPr>
        <p:spPr>
          <a:xfrm>
            <a:off x="530352" y="4093463"/>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76656" y="4221479"/>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77824" y="4212335"/>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Booked across the five invented orders is 5,800. What gap does this report show? a) 800; b) 0; c) minus 1,500; d) 700.</a:t>
            </a:r>
          </a:p>
        </p:txBody>
      </p:sp>
      <p:sp>
        <p:nvSpPr>
          <p:cNvPr id="17" name="Oval 1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19" name="Oval 18"/>
          <p:cNvSpPr/>
          <p:nvPr/>
        </p:nvSpPr>
        <p:spPr>
          <a:xfrm>
            <a:off x="13278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437608"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What a join does to the rows</a:t>
            </a:r>
          </a:p>
        </p:txBody>
      </p:sp>
      <p:sp>
        <p:nvSpPr>
          <p:cNvPr id="21" name="Oval 20"/>
          <p:cNvSpPr/>
          <p:nvPr/>
        </p:nvSpPr>
        <p:spPr>
          <a:xfrm>
            <a:off x="309152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201257"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Prove the join before the number</a:t>
            </a:r>
          </a:p>
        </p:txBody>
      </p:sp>
      <p:sp>
        <p:nvSpPr>
          <p:cNvPr id="23" name="Oval 22"/>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S22  ·  26 / 44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a gap of minus 1,500 on four orders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report says Kalpa collected everything and a little more, which is the plausible wrong answer.</a:t>
            </a:r>
          </a:p>
        </p:txBody>
      </p:sp>
      <p:pic>
        <p:nvPicPr>
          <p:cNvPr id="9" name="mermaid diagram" descr="f2494013fb11728d.png"/>
          <p:cNvPicPr>
            <a:picLocks noChangeAspect="1"/>
          </p:cNvPicPr>
          <p:nvPr/>
        </p:nvPicPr>
        <p:blipFill>
          <a:blip r:embed="rId5"/>
          <a:stretch>
            <a:fillRect/>
          </a:stretch>
        </p:blipFill>
        <p:spPr>
          <a:xfrm>
            <a:off x="3181197" y="1832419"/>
            <a:ext cx="5829300" cy="1800225"/>
          </a:xfrm>
          <a:prstGeom prst="rect">
            <a:avLst/>
          </a:prstGeom>
        </p:spPr>
      </p:pic>
      <p:sp>
        <p:nvSpPr>
          <p:cNvPr id="10" name="TextBox 9"/>
          <p:cNvSpPr txBox="1"/>
          <p:nvPr/>
        </p:nvSpPr>
        <p:spPr>
          <a:xfrm>
            <a:off x="530352" y="3778948"/>
            <a:ext cx="2577007" cy="444500"/>
          </a:xfrm>
          <a:prstGeom prst="rect">
            <a:avLst/>
          </a:prstGeom>
          <a:noFill/>
        </p:spPr>
        <p:txBody>
          <a:bodyPr wrap="square" anchor="t" lIns="0" rIns="0" tIns="0" bIns="0">
            <a:spAutoFit/>
          </a:bodyPr>
          <a:lstStyle/>
          <a:p>
            <a:pPr algn="l"/>
            <a:r>
              <a:rPr sz="2800" b="0" i="0">
                <a:solidFill>
                  <a:srgbClr val="5B3FD6"/>
                </a:solidFill>
                <a:latin typeface="Georgia"/>
              </a:rPr>
              <a:t>4</a:t>
            </a:r>
          </a:p>
        </p:txBody>
      </p:sp>
      <p:sp>
        <p:nvSpPr>
          <p:cNvPr id="11" name="TextBox 10"/>
          <p:cNvSpPr txBox="1"/>
          <p:nvPr/>
        </p:nvSpPr>
        <p:spPr>
          <a:xfrm>
            <a:off x="530352" y="4260023"/>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ORDERS IN THE REPORT</a:t>
            </a:r>
          </a:p>
        </p:txBody>
      </p:sp>
      <p:sp>
        <p:nvSpPr>
          <p:cNvPr id="12" name="TextBox 11"/>
          <p:cNvSpPr txBox="1"/>
          <p:nvPr/>
        </p:nvSpPr>
        <p:spPr>
          <a:xfrm>
            <a:off x="530352" y="4461191"/>
            <a:ext cx="2577007" cy="193421"/>
          </a:xfrm>
          <a:prstGeom prst="rect">
            <a:avLst/>
          </a:prstGeom>
          <a:noFill/>
        </p:spPr>
        <p:txBody>
          <a:bodyPr wrap="square" anchor="t" lIns="0" rIns="0" tIns="0" bIns="0">
            <a:spAutoFit/>
          </a:bodyPr>
          <a:lstStyle/>
          <a:p>
            <a:pPr algn="l"/>
            <a:r>
              <a:rPr sz="950" b="0" i="0">
                <a:solidFill>
                  <a:srgbClr val="6B6690"/>
                </a:solidFill>
                <a:latin typeface="Calibri"/>
              </a:rPr>
              <a:t>out of 5 in the table</a:t>
            </a:r>
          </a:p>
        </p:txBody>
      </p:sp>
      <p:sp>
        <p:nvSpPr>
          <p:cNvPr id="13" name="Rectangle 12"/>
          <p:cNvSpPr/>
          <p:nvPr/>
        </p:nvSpPr>
        <p:spPr>
          <a:xfrm>
            <a:off x="530352" y="4967668"/>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381679" y="3778948"/>
            <a:ext cx="2577007" cy="444500"/>
          </a:xfrm>
          <a:prstGeom prst="rect">
            <a:avLst/>
          </a:prstGeom>
          <a:noFill/>
        </p:spPr>
        <p:txBody>
          <a:bodyPr wrap="square" anchor="t" lIns="0" rIns="0" tIns="0" bIns="0">
            <a:spAutoFit/>
          </a:bodyPr>
          <a:lstStyle/>
          <a:p>
            <a:pPr algn="l"/>
            <a:r>
              <a:rPr sz="2800" b="0" i="0">
                <a:solidFill>
                  <a:srgbClr val="5B3FD6"/>
                </a:solidFill>
                <a:latin typeface="Georgia"/>
              </a:rPr>
              <a:t>5,000</a:t>
            </a:r>
          </a:p>
        </p:txBody>
      </p:sp>
      <p:sp>
        <p:nvSpPr>
          <p:cNvPr id="15" name="TextBox 14"/>
          <p:cNvSpPr txBox="1"/>
          <p:nvPr/>
        </p:nvSpPr>
        <p:spPr>
          <a:xfrm>
            <a:off x="3381679" y="4260023"/>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BOOKED, AS REPORTED</a:t>
            </a:r>
          </a:p>
        </p:txBody>
      </p:sp>
      <p:sp>
        <p:nvSpPr>
          <p:cNvPr id="16" name="TextBox 15"/>
          <p:cNvSpPr txBox="1"/>
          <p:nvPr/>
        </p:nvSpPr>
        <p:spPr>
          <a:xfrm>
            <a:off x="3381679" y="4461191"/>
            <a:ext cx="2577007" cy="193421"/>
          </a:xfrm>
          <a:prstGeom prst="rect">
            <a:avLst/>
          </a:prstGeom>
          <a:noFill/>
        </p:spPr>
        <p:txBody>
          <a:bodyPr wrap="square" anchor="t" lIns="0" rIns="0" tIns="0" bIns="0">
            <a:spAutoFit/>
          </a:bodyPr>
          <a:lstStyle/>
          <a:p>
            <a:pPr algn="l"/>
            <a:r>
              <a:rPr sz="950" b="0" i="0">
                <a:solidFill>
                  <a:srgbClr val="6B6690"/>
                </a:solidFill>
                <a:latin typeface="Calibri"/>
              </a:rPr>
              <a:t>T-4's 800 is gone</a:t>
            </a:r>
          </a:p>
        </p:txBody>
      </p:sp>
      <p:sp>
        <p:nvSpPr>
          <p:cNvPr id="17" name="Rectangle 16"/>
          <p:cNvSpPr/>
          <p:nvPr/>
        </p:nvSpPr>
        <p:spPr>
          <a:xfrm>
            <a:off x="3381679" y="4967668"/>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233007" y="3778948"/>
            <a:ext cx="2577007" cy="444500"/>
          </a:xfrm>
          <a:prstGeom prst="rect">
            <a:avLst/>
          </a:prstGeom>
          <a:noFill/>
        </p:spPr>
        <p:txBody>
          <a:bodyPr wrap="square" anchor="t" lIns="0" rIns="0" tIns="0" bIns="0">
            <a:spAutoFit/>
          </a:bodyPr>
          <a:lstStyle/>
          <a:p>
            <a:pPr algn="l"/>
            <a:r>
              <a:rPr sz="2800" b="0" i="0">
                <a:solidFill>
                  <a:srgbClr val="5B3FD6"/>
                </a:solidFill>
                <a:latin typeface="Georgia"/>
              </a:rPr>
              <a:t>6,500</a:t>
            </a:r>
          </a:p>
        </p:txBody>
      </p:sp>
      <p:sp>
        <p:nvSpPr>
          <p:cNvPr id="19" name="TextBox 18"/>
          <p:cNvSpPr txBox="1"/>
          <p:nvPr/>
        </p:nvSpPr>
        <p:spPr>
          <a:xfrm>
            <a:off x="6233007" y="4260023"/>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COLLECTED, AS REPORTED</a:t>
            </a:r>
          </a:p>
        </p:txBody>
      </p:sp>
      <p:sp>
        <p:nvSpPr>
          <p:cNvPr id="20" name="TextBox 19"/>
          <p:cNvSpPr txBox="1"/>
          <p:nvPr/>
        </p:nvSpPr>
        <p:spPr>
          <a:xfrm>
            <a:off x="6233007" y="4461191"/>
            <a:ext cx="2577007" cy="193421"/>
          </a:xfrm>
          <a:prstGeom prst="rect">
            <a:avLst/>
          </a:prstGeom>
          <a:noFill/>
        </p:spPr>
        <p:txBody>
          <a:bodyPr wrap="square" anchor="t" lIns="0" rIns="0" tIns="0" bIns="0">
            <a:spAutoFit/>
          </a:bodyPr>
          <a:lstStyle/>
          <a:p>
            <a:pPr algn="l"/>
            <a:r>
              <a:rPr sz="950" b="0" i="0">
                <a:solidFill>
                  <a:srgbClr val="6B6690"/>
                </a:solidFill>
                <a:latin typeface="Calibri"/>
              </a:rPr>
              <a:t>T-3's retry is inside</a:t>
            </a:r>
          </a:p>
        </p:txBody>
      </p:sp>
      <p:sp>
        <p:nvSpPr>
          <p:cNvPr id="21" name="Rectangle 20"/>
          <p:cNvSpPr/>
          <p:nvPr/>
        </p:nvSpPr>
        <p:spPr>
          <a:xfrm>
            <a:off x="6233007" y="4967668"/>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084335" y="3778948"/>
            <a:ext cx="2577007" cy="444500"/>
          </a:xfrm>
          <a:prstGeom prst="rect">
            <a:avLst/>
          </a:prstGeom>
          <a:noFill/>
        </p:spPr>
        <p:txBody>
          <a:bodyPr wrap="square" anchor="t" lIns="0" rIns="0" tIns="0" bIns="0">
            <a:spAutoFit/>
          </a:bodyPr>
          <a:lstStyle/>
          <a:p>
            <a:pPr algn="l"/>
            <a:r>
              <a:rPr sz="2800" b="0" i="0">
                <a:solidFill>
                  <a:srgbClr val="5B3FD6"/>
                </a:solidFill>
                <a:latin typeface="Georgia"/>
              </a:rPr>
              <a:t>minus 1,500</a:t>
            </a:r>
          </a:p>
        </p:txBody>
      </p:sp>
      <p:sp>
        <p:nvSpPr>
          <p:cNvPr id="23" name="TextBox 22"/>
          <p:cNvSpPr txBox="1"/>
          <p:nvPr/>
        </p:nvSpPr>
        <p:spPr>
          <a:xfrm>
            <a:off x="9084335" y="4260023"/>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GAP, AS REPORTED</a:t>
            </a:r>
          </a:p>
        </p:txBody>
      </p:sp>
      <p:sp>
        <p:nvSpPr>
          <p:cNvPr id="24" name="TextBox 23"/>
          <p:cNvSpPr txBox="1"/>
          <p:nvPr/>
        </p:nvSpPr>
        <p:spPr>
          <a:xfrm>
            <a:off x="9084335" y="4461191"/>
            <a:ext cx="2577007" cy="193421"/>
          </a:xfrm>
          <a:prstGeom prst="rect">
            <a:avLst/>
          </a:prstGeom>
          <a:noFill/>
        </p:spPr>
        <p:txBody>
          <a:bodyPr wrap="square" anchor="t" lIns="0" rIns="0" tIns="0" bIns="0">
            <a:spAutoFit/>
          </a:bodyPr>
          <a:lstStyle/>
          <a:p>
            <a:pPr algn="l"/>
            <a:r>
              <a:rPr sz="950" b="0" i="0">
                <a:solidFill>
                  <a:srgbClr val="6B6690"/>
                </a:solidFill>
                <a:latin typeface="Calibri"/>
              </a:rPr>
              <a:t>"fully collected, with a surplus"</a:t>
            </a:r>
          </a:p>
        </p:txBody>
      </p:sp>
      <p:sp>
        <p:nvSpPr>
          <p:cNvPr id="25" name="Rectangle 24"/>
          <p:cNvSpPr/>
          <p:nvPr/>
        </p:nvSpPr>
        <p:spPr>
          <a:xfrm>
            <a:off x="9084335" y="4967668"/>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530352" y="524198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676656" y="5370003"/>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77824" y="5360860"/>
            <a:ext cx="10564063" cy="624840"/>
          </a:xfrm>
          <a:prstGeom prst="rect">
            <a:avLst/>
          </a:prstGeom>
          <a:noFill/>
        </p:spPr>
        <p:txBody>
          <a:bodyPr wrap="square" anchor="ctr" lIns="0" rIns="0" tIns="0" bIns="0">
            <a:spAutoFit/>
          </a:bodyPr>
          <a:lstStyle/>
          <a:p>
            <a:r>
              <a:rPr sz="1500" b="1">
                <a:solidFill>
                  <a:srgbClr val="5B3FD6"/>
                </a:solidFill>
                <a:latin typeface="Calibri"/>
              </a:rPr>
              <a:t>What it would have misled. </a:t>
            </a:r>
            <a:r>
              <a:rPr sz="1500" b="0" i="0">
                <a:solidFill>
                  <a:srgbClr val="1A1440"/>
                </a:solidFill>
                <a:latin typeface="Calibri"/>
              </a:rPr>
              <a:t>"There is no gap, Anand" means nobody chases the unpaid order, and nobody asks why the feed shows more cash than was booked.</a:t>
            </a:r>
          </a:p>
        </p:txBody>
      </p:sp>
      <p:sp>
        <p:nvSpPr>
          <p:cNvPr id="29" name="Oval 28"/>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31" name="Oval 30"/>
          <p:cNvSpPr/>
          <p:nvPr/>
        </p:nvSpPr>
        <p:spPr>
          <a:xfrm>
            <a:off x="13278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1437608"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What a join does to the rows</a:t>
            </a:r>
          </a:p>
        </p:txBody>
      </p:sp>
      <p:sp>
        <p:nvSpPr>
          <p:cNvPr id="33" name="Oval 32"/>
          <p:cNvSpPr/>
          <p:nvPr/>
        </p:nvSpPr>
        <p:spPr>
          <a:xfrm>
            <a:off x="309152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3201257"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Prove the join before the number</a:t>
            </a:r>
          </a:p>
        </p:txBody>
      </p:sp>
      <p:sp>
        <p:nvSpPr>
          <p:cNvPr id="35" name="Oval 34"/>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37" name="TextBox 3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S23  ·  27 / 44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Why it is wrong, and the check that catches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An INNER join answers "what do the paid orders look like", and Anand asked about every order.</a:t>
            </a:r>
          </a:p>
        </p:txBody>
      </p:sp>
      <p:graphicFrame>
        <p:nvGraphicFramePr>
          <p:cNvPr id="9" name="Table 8"/>
          <p:cNvGraphicFramePr>
            <a:graphicFrameLocks noGrp="1"/>
          </p:cNvGraphicFramePr>
          <p:nvPr/>
        </p:nvGraphicFramePr>
        <p:xfrm>
          <a:off x="530352" y="1956816"/>
          <a:ext cx="11130990" cy="1341120"/>
        </p:xfrm>
        <a:graphic>
          <a:graphicData uri="http://schemas.openxmlformats.org/drawingml/2006/table">
            <a:tbl>
              <a:tblPr firstRow="0" bandRow="0">
                <a:tableStyleId>{2D5ABB26-0587-4C30-8999-92F81FD0307C}</a:tableStyleId>
              </a:tblPr>
              <a:tblGrid>
                <a:gridCol w="2979667"/>
                <a:gridCol w="2423398"/>
                <a:gridCol w="2303243"/>
                <a:gridCol w="3424682"/>
              </a:tblGrid>
              <a:tr h="335280">
                <a:tc>
                  <a:txBody>
                    <a:bodyPr/>
                    <a:lstStyle/>
                    <a:p>
                      <a:r>
                        <a:rPr sz="1250" b="1" i="0">
                          <a:solidFill>
                            <a:srgbClr val="FFFFFF"/>
                          </a:solidFill>
                          <a:latin typeface="Calibri"/>
                        </a:rPr>
                        <a:t>Check</a:t>
                      </a:r>
                    </a:p>
                  </a:txBody>
                  <a:tcPr marL="101600" marR="101600" marT="38100" marB="38100" anchor="ctr">
                    <a:solidFill>
                      <a:srgbClr val="1A0F5C"/>
                    </a:solidFill>
                  </a:tcPr>
                </a:tc>
                <a:tc>
                  <a:txBody>
                    <a:bodyPr/>
                    <a:lstStyle/>
                    <a:p>
                      <a:r>
                        <a:rPr sz="1250" b="1" i="0">
                          <a:solidFill>
                            <a:srgbClr val="FFFFFF"/>
                          </a:solidFill>
                          <a:latin typeface="Calibri"/>
                        </a:rPr>
                        <a:t>Expected</a:t>
                      </a:r>
                    </a:p>
                  </a:txBody>
                  <a:tcPr marL="101600" marR="101600" marT="38100" marB="38100" anchor="ctr">
                    <a:solidFill>
                      <a:srgbClr val="1A0F5C"/>
                    </a:solidFill>
                  </a:tcPr>
                </a:tc>
                <a:tc>
                  <a:txBody>
                    <a:bodyPr/>
                    <a:lstStyle/>
                    <a:p>
                      <a:r>
                        <a:rPr sz="1250" b="1" i="0">
                          <a:solidFill>
                            <a:srgbClr val="FFFFFF"/>
                          </a:solidFill>
                          <a:latin typeface="Calibri"/>
                        </a:rPr>
                        <a:t>The INNER report</a:t>
                      </a:r>
                    </a:p>
                  </a:txBody>
                  <a:tcPr marL="101600" marR="101600" marT="38100" marB="38100" anchor="ctr">
                    <a:solidFill>
                      <a:srgbClr val="1A0F5C"/>
                    </a:solidFill>
                  </a:tcPr>
                </a:tc>
                <a:tc>
                  <a:txBody>
                    <a:bodyPr/>
                    <a:lstStyle/>
                    <a:p>
                      <a:r>
                        <a:rPr sz="1250" b="1" i="0">
                          <a:solidFill>
                            <a:srgbClr val="FFFFFF"/>
                          </a:solidFill>
                          <a:latin typeface="Calibri"/>
                        </a:rPr>
                        <a:t>Verdict</a:t>
                      </a:r>
                    </a:p>
                  </a:txBody>
                  <a:tcPr marL="101600" marR="101600" marT="38100" marB="38100" anchor="ctr">
                    <a:solidFill>
                      <a:srgbClr val="1A0F5C"/>
                    </a:solidFill>
                  </a:tcPr>
                </a:tc>
              </a:tr>
              <a:tr h="335280">
                <a:tc>
                  <a:txBody>
                    <a:bodyPr/>
                    <a:lstStyle/>
                    <a:p>
                      <a:r>
                        <a:rPr sz="1200" b="0" i="0">
                          <a:solidFill>
                            <a:srgbClr val="1A1440"/>
                          </a:solidFill>
                          <a:latin typeface="Calibri"/>
                        </a:rPr>
                        <a:t>Orders in the report</a:t>
                      </a:r>
                    </a:p>
                  </a:txBody>
                  <a:tcPr marL="101600" marR="101600" marT="38100" marB="38100" anchor="ctr">
                    <a:solidFill>
                      <a:srgbClr val="FFFFFF"/>
                    </a:solidFill>
                  </a:tcPr>
                </a:tc>
                <a:tc>
                  <a:txBody>
                    <a:bodyPr/>
                    <a:lstStyle/>
                    <a:p>
                      <a:r>
                        <a:rPr sz="1200" b="0" i="0">
                          <a:solidFill>
                            <a:srgbClr val="1A1440"/>
                          </a:solidFill>
                          <a:latin typeface="Calibri"/>
                        </a:rPr>
                        <a:t>5, from tiny_orders</a:t>
                      </a:r>
                    </a:p>
                  </a:txBody>
                  <a:tcPr marL="101600" marR="101600" marT="38100" marB="38100" anchor="ctr">
                    <a:solidFill>
                      <a:srgbClr val="FFFFFF"/>
                    </a:solidFill>
                  </a:tcPr>
                </a:tc>
                <a:tc>
                  <a:txBody>
                    <a:bodyPr/>
                    <a:lstStyle/>
                    <a:p>
                      <a:r>
                        <a:rPr sz="1200" b="0" i="0">
                          <a:solidFill>
                            <a:srgbClr val="1A1440"/>
                          </a:solidFill>
                          <a:latin typeface="Calibri"/>
                        </a:rPr>
                        <a:t>4</a:t>
                      </a:r>
                    </a:p>
                  </a:txBody>
                  <a:tcPr marL="101600" marR="101600" marT="38100" marB="38100" anchor="ctr">
                    <a:solidFill>
                      <a:srgbClr val="FFFFFF"/>
                    </a:solidFill>
                  </a:tcPr>
                </a:tc>
                <a:tc>
                  <a:txBody>
                    <a:bodyPr/>
                    <a:lstStyle/>
                    <a:p>
                      <a:r>
                        <a:rPr sz="1200" b="0" i="0">
                          <a:solidFill>
                            <a:srgbClr val="1A1440"/>
                          </a:solidFill>
                          <a:latin typeface="Calibri"/>
                        </a:rPr>
                        <a:t>One order was dropped</a:t>
                      </a:r>
                    </a:p>
                  </a:txBody>
                  <a:tcPr marL="101600" marR="101600" marT="38100" marB="38100" anchor="ctr">
                    <a:solidFill>
                      <a:srgbClr val="FFFFFF"/>
                    </a:solidFill>
                  </a:tcPr>
                </a:tc>
              </a:tr>
              <a:tr h="335280">
                <a:tc>
                  <a:txBody>
                    <a:bodyPr/>
                    <a:lstStyle/>
                    <a:p>
                      <a:r>
                        <a:rPr sz="1200" b="0" i="0">
                          <a:solidFill>
                            <a:srgbClr val="1A1440"/>
                          </a:solidFill>
                          <a:latin typeface="Calibri"/>
                        </a:rPr>
                        <a:t>Booked after the join</a:t>
                      </a:r>
                    </a:p>
                  </a:txBody>
                  <a:tcPr marL="101600" marR="101600" marT="38100" marB="38100" anchor="ctr">
                    <a:solidFill>
                      <a:srgbClr val="F4F2FA"/>
                    </a:solidFill>
                  </a:tcPr>
                </a:tc>
                <a:tc>
                  <a:txBody>
                    <a:bodyPr/>
                    <a:lstStyle/>
                    <a:p>
                      <a:r>
                        <a:rPr sz="1200" b="0" i="0">
                          <a:solidFill>
                            <a:srgbClr val="1A1440"/>
                          </a:solidFill>
                          <a:latin typeface="Calibri"/>
                        </a:rPr>
                        <a:t>5,800</a:t>
                      </a:r>
                    </a:p>
                  </a:txBody>
                  <a:tcPr marL="101600" marR="101600" marT="38100" marB="38100" anchor="ctr">
                    <a:solidFill>
                      <a:srgbClr val="F4F2FA"/>
                    </a:solidFill>
                  </a:tcPr>
                </a:tc>
                <a:tc>
                  <a:txBody>
                    <a:bodyPr/>
                    <a:lstStyle/>
                    <a:p>
                      <a:r>
                        <a:rPr sz="1200" b="0" i="0">
                          <a:solidFill>
                            <a:srgbClr val="1A1440"/>
                          </a:solidFill>
                          <a:latin typeface="Calibri"/>
                        </a:rPr>
                        <a:t>5,000</a:t>
                      </a:r>
                    </a:p>
                  </a:txBody>
                  <a:tcPr marL="101600" marR="101600" marT="38100" marB="38100" anchor="ctr">
                    <a:solidFill>
                      <a:srgbClr val="F4F2FA"/>
                    </a:solidFill>
                  </a:tcPr>
                </a:tc>
                <a:tc>
                  <a:txBody>
                    <a:bodyPr/>
                    <a:lstStyle/>
                    <a:p>
                      <a:r>
                        <a:rPr sz="1200" b="0" i="0">
                          <a:solidFill>
                            <a:srgbClr val="1A1440"/>
                          </a:solidFill>
                          <a:latin typeface="Calibri"/>
                        </a:rPr>
                        <a:t>The dropped order was booked</a:t>
                      </a:r>
                    </a:p>
                  </a:txBody>
                  <a:tcPr marL="101600" marR="101600" marT="38100" marB="38100" anchor="ctr">
                    <a:solidFill>
                      <a:srgbClr val="F4F2FA"/>
                    </a:solidFill>
                  </a:tcPr>
                </a:tc>
              </a:tr>
              <a:tr h="335280">
                <a:tc>
                  <a:txBody>
                    <a:bodyPr/>
                    <a:lstStyle/>
                    <a:p>
                      <a:r>
                        <a:rPr sz="1200" b="0" i="0">
                          <a:solidFill>
                            <a:srgbClr val="1A1440"/>
                          </a:solidFill>
                          <a:latin typeface="Calibri"/>
                        </a:rPr>
                        <a:t>Collected against booked</a:t>
                      </a:r>
                    </a:p>
                  </a:txBody>
                  <a:tcPr marL="101600" marR="101600" marT="38100" marB="38100" anchor="ctr">
                    <a:solidFill>
                      <a:srgbClr val="FFFFFF"/>
                    </a:solidFill>
                  </a:tcPr>
                </a:tc>
                <a:tc>
                  <a:txBody>
                    <a:bodyPr/>
                    <a:lstStyle/>
                    <a:p>
                      <a:r>
                        <a:rPr sz="1200" b="0" i="0">
                          <a:solidFill>
                            <a:srgbClr val="1A1440"/>
                          </a:solidFill>
                          <a:latin typeface="Calibri"/>
                        </a:rPr>
                        <a:t>At most booked</a:t>
                      </a:r>
                    </a:p>
                  </a:txBody>
                  <a:tcPr marL="101600" marR="101600" marT="38100" marB="38100" anchor="ctr">
                    <a:solidFill>
                      <a:srgbClr val="FFFFFF"/>
                    </a:solidFill>
                  </a:tcPr>
                </a:tc>
                <a:tc>
                  <a:txBody>
                    <a:bodyPr/>
                    <a:lstStyle/>
                    <a:p>
                      <a:r>
                        <a:rPr sz="1200" b="0" i="0">
                          <a:solidFill>
                            <a:srgbClr val="1A1440"/>
                          </a:solidFill>
                          <a:latin typeface="Calibri"/>
                        </a:rPr>
                        <a:t>Above booked</a:t>
                      </a:r>
                    </a:p>
                  </a:txBody>
                  <a:tcPr marL="101600" marR="101600" marT="38100" marB="38100" anchor="ctr">
                    <a:solidFill>
                      <a:srgbClr val="FFFFFF"/>
                    </a:solidFill>
                  </a:tcPr>
                </a:tc>
                <a:tc>
                  <a:txBody>
                    <a:bodyPr/>
                    <a:lstStyle/>
                    <a:p>
                      <a:r>
                        <a:rPr sz="1200" b="0" i="0">
                          <a:solidFill>
                            <a:srgbClr val="1A1440"/>
                          </a:solidFill>
                          <a:latin typeface="Calibri"/>
                        </a:rPr>
                        <a:t>Something was counted twice</a:t>
                      </a:r>
                    </a:p>
                  </a:txBody>
                  <a:tcPr marL="101600" marR="101600" marT="38100" marB="38100" anchor="ctr">
                    <a:solidFill>
                      <a:srgbClr val="FFFFFF"/>
                    </a:solidFill>
                  </a:tcPr>
                </a:tc>
              </a:tr>
            </a:tbl>
          </a:graphicData>
        </a:graphic>
      </p:graphicFrame>
      <p:sp>
        <p:nvSpPr>
          <p:cNvPr id="10" name="Rounded Rectangle 9"/>
          <p:cNvSpPr/>
          <p:nvPr/>
        </p:nvSpPr>
        <p:spPr>
          <a:xfrm>
            <a:off x="530352" y="3553968"/>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388620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4"/>
          <a:stretch>
            <a:fillRect/>
          </a:stretch>
        </p:blipFill>
        <p:spPr>
          <a:xfrm>
            <a:off x="868680" y="3995928"/>
            <a:ext cx="237744" cy="237744"/>
          </a:xfrm>
          <a:prstGeom prst="rect">
            <a:avLst/>
          </a:prstGeom>
        </p:spPr>
      </p:pic>
      <p:sp>
        <p:nvSpPr>
          <p:cNvPr id="13" name="TextBox 12"/>
          <p:cNvSpPr txBox="1"/>
          <p:nvPr/>
        </p:nvSpPr>
        <p:spPr>
          <a:xfrm>
            <a:off x="1399031" y="370027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3919728"/>
            <a:ext cx="9987991" cy="682752"/>
          </a:xfrm>
          <a:prstGeom prst="rect">
            <a:avLst/>
          </a:prstGeom>
          <a:noFill/>
        </p:spPr>
        <p:txBody>
          <a:bodyPr wrap="square" anchor="t" lIns="0" rIns="0" tIns="0" bIns="0">
            <a:spAutoFit/>
          </a:bodyPr>
          <a:lstStyle/>
          <a:p>
            <a:r>
              <a:rPr sz="1500" b="0" i="0">
                <a:solidFill>
                  <a:srgbClr val="1A1440"/>
                </a:solidFill>
                <a:latin typeface="Calibri"/>
              </a:rPr>
              <a:t>When the question is about every order, the orders table sits on the left of a LEFT JOIN, and a missing payment becomes a zero with COALESCE.</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17" name="Oval 16"/>
          <p:cNvSpPr/>
          <p:nvPr/>
        </p:nvSpPr>
        <p:spPr>
          <a:xfrm>
            <a:off x="13278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437608"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What a join does to the rows</a:t>
            </a:r>
          </a:p>
        </p:txBody>
      </p:sp>
      <p:sp>
        <p:nvSpPr>
          <p:cNvPr id="19" name="Oval 18"/>
          <p:cNvSpPr/>
          <p:nvPr/>
        </p:nvSpPr>
        <p:spPr>
          <a:xfrm>
            <a:off x="309152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201257"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Prove the join before the number</a:t>
            </a:r>
          </a:p>
        </p:txBody>
      </p:sp>
      <p:sp>
        <p:nvSpPr>
          <p:cNvPr id="21" name="Oval 20"/>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S24  ·  28 / 44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LEFT fix, and a gap that is still wrong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LEFT JOIN keeps T-4, the count closes, and the gap reads minus 700.</a:t>
            </a:r>
          </a:p>
        </p:txBody>
      </p:sp>
      <p:sp>
        <p:nvSpPr>
          <p:cNvPr id="9" name="TextBox 8"/>
          <p:cNvSpPr txBox="1"/>
          <p:nvPr/>
        </p:nvSpPr>
        <p:spPr>
          <a:xfrm>
            <a:off x="530352" y="1956816"/>
            <a:ext cx="2577007" cy="539750"/>
          </a:xfrm>
          <a:prstGeom prst="rect">
            <a:avLst/>
          </a:prstGeom>
          <a:noFill/>
        </p:spPr>
        <p:txBody>
          <a:bodyPr wrap="square" anchor="t" lIns="0" rIns="0" tIns="0" bIns="0">
            <a:spAutoFit/>
          </a:bodyPr>
          <a:lstStyle/>
          <a:p>
            <a:pPr algn="l"/>
            <a:r>
              <a:rPr sz="3400" b="0" i="0">
                <a:solidFill>
                  <a:srgbClr val="5B3FD6"/>
                </a:solidFill>
                <a:latin typeface="Georgia"/>
              </a:rPr>
              <a:t>5</a:t>
            </a:r>
          </a:p>
        </p:txBody>
      </p:sp>
      <p:sp>
        <p:nvSpPr>
          <p:cNvPr id="10" name="TextBox 9"/>
          <p:cNvSpPr txBox="1"/>
          <p:nvPr/>
        </p:nvSpPr>
        <p:spPr>
          <a:xfrm>
            <a:off x="530352" y="253314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ORDERS IN THE REPORT</a:t>
            </a:r>
          </a:p>
        </p:txBody>
      </p:sp>
      <p:sp>
        <p:nvSpPr>
          <p:cNvPr id="11" name="TextBox 10"/>
          <p:cNvSpPr txBox="1"/>
          <p:nvPr/>
        </p:nvSpPr>
        <p:spPr>
          <a:xfrm>
            <a:off x="530352" y="2734310"/>
            <a:ext cx="2577007" cy="193421"/>
          </a:xfrm>
          <a:prstGeom prst="rect">
            <a:avLst/>
          </a:prstGeom>
          <a:noFill/>
        </p:spPr>
        <p:txBody>
          <a:bodyPr wrap="square" anchor="t" lIns="0" rIns="0" tIns="0" bIns="0">
            <a:spAutoFit/>
          </a:bodyPr>
          <a:lstStyle/>
          <a:p>
            <a:pPr algn="l"/>
            <a:r>
              <a:rPr sz="950" b="0" i="0">
                <a:solidFill>
                  <a:srgbClr val="6B6690"/>
                </a:solidFill>
                <a:latin typeface="Calibri"/>
              </a:rPr>
              <a:t>rows in equals rows out</a:t>
            </a:r>
          </a:p>
        </p:txBody>
      </p:sp>
      <p:sp>
        <p:nvSpPr>
          <p:cNvPr id="12" name="Rectangle 11"/>
          <p:cNvSpPr/>
          <p:nvPr/>
        </p:nvSpPr>
        <p:spPr>
          <a:xfrm>
            <a:off x="530352"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381679" y="1956816"/>
            <a:ext cx="2577007" cy="539750"/>
          </a:xfrm>
          <a:prstGeom prst="rect">
            <a:avLst/>
          </a:prstGeom>
          <a:noFill/>
        </p:spPr>
        <p:txBody>
          <a:bodyPr wrap="square" anchor="t" lIns="0" rIns="0" tIns="0" bIns="0">
            <a:spAutoFit/>
          </a:bodyPr>
          <a:lstStyle/>
          <a:p>
            <a:pPr algn="l"/>
            <a:r>
              <a:rPr sz="3400" b="0" i="0">
                <a:solidFill>
                  <a:srgbClr val="5B3FD6"/>
                </a:solidFill>
                <a:latin typeface="Georgia"/>
              </a:rPr>
              <a:t>5,800</a:t>
            </a:r>
          </a:p>
        </p:txBody>
      </p:sp>
      <p:sp>
        <p:nvSpPr>
          <p:cNvPr id="14" name="TextBox 13"/>
          <p:cNvSpPr txBox="1"/>
          <p:nvPr/>
        </p:nvSpPr>
        <p:spPr>
          <a:xfrm>
            <a:off x="3381679" y="253314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BOOKED</a:t>
            </a:r>
          </a:p>
        </p:txBody>
      </p:sp>
      <p:sp>
        <p:nvSpPr>
          <p:cNvPr id="15" name="TextBox 14"/>
          <p:cNvSpPr txBox="1"/>
          <p:nvPr/>
        </p:nvSpPr>
        <p:spPr>
          <a:xfrm>
            <a:off x="3381679" y="2734310"/>
            <a:ext cx="2577007" cy="193421"/>
          </a:xfrm>
          <a:prstGeom prst="rect">
            <a:avLst/>
          </a:prstGeom>
          <a:noFill/>
        </p:spPr>
        <p:txBody>
          <a:bodyPr wrap="square" anchor="t" lIns="0" rIns="0" tIns="0" bIns="0">
            <a:spAutoFit/>
          </a:bodyPr>
          <a:lstStyle/>
          <a:p>
            <a:pPr algn="l"/>
            <a:r>
              <a:rPr sz="950" b="0" i="0">
                <a:solidFill>
                  <a:srgbClr val="6B6690"/>
                </a:solidFill>
                <a:latin typeface="Calibri"/>
              </a:rPr>
              <a:t>equals the table</a:t>
            </a:r>
          </a:p>
        </p:txBody>
      </p:sp>
      <p:sp>
        <p:nvSpPr>
          <p:cNvPr id="16" name="Rectangle 15"/>
          <p:cNvSpPr/>
          <p:nvPr/>
        </p:nvSpPr>
        <p:spPr>
          <a:xfrm>
            <a:off x="3381679"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33007" y="1956816"/>
            <a:ext cx="2577007" cy="539750"/>
          </a:xfrm>
          <a:prstGeom prst="rect">
            <a:avLst/>
          </a:prstGeom>
          <a:noFill/>
        </p:spPr>
        <p:txBody>
          <a:bodyPr wrap="square" anchor="t" lIns="0" rIns="0" tIns="0" bIns="0">
            <a:spAutoFit/>
          </a:bodyPr>
          <a:lstStyle/>
          <a:p>
            <a:pPr algn="l"/>
            <a:r>
              <a:rPr sz="3400" b="0" i="0">
                <a:solidFill>
                  <a:srgbClr val="5B3FD6"/>
                </a:solidFill>
                <a:latin typeface="Georgia"/>
              </a:rPr>
              <a:t>6,500</a:t>
            </a:r>
          </a:p>
        </p:txBody>
      </p:sp>
      <p:sp>
        <p:nvSpPr>
          <p:cNvPr id="18" name="TextBox 17"/>
          <p:cNvSpPr txBox="1"/>
          <p:nvPr/>
        </p:nvSpPr>
        <p:spPr>
          <a:xfrm>
            <a:off x="6233007" y="253314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COLLECTED AS POSTED</a:t>
            </a:r>
          </a:p>
        </p:txBody>
      </p:sp>
      <p:sp>
        <p:nvSpPr>
          <p:cNvPr id="19" name="TextBox 18"/>
          <p:cNvSpPr txBox="1"/>
          <p:nvPr/>
        </p:nvSpPr>
        <p:spPr>
          <a:xfrm>
            <a:off x="6233007" y="2734310"/>
            <a:ext cx="2577007" cy="193421"/>
          </a:xfrm>
          <a:prstGeom prst="rect">
            <a:avLst/>
          </a:prstGeom>
          <a:noFill/>
        </p:spPr>
        <p:txBody>
          <a:bodyPr wrap="square" anchor="t" lIns="0" rIns="0" tIns="0" bIns="0">
            <a:spAutoFit/>
          </a:bodyPr>
          <a:lstStyle/>
          <a:p>
            <a:pPr algn="l"/>
            <a:r>
              <a:rPr sz="950" b="0" i="0">
                <a:solidFill>
                  <a:srgbClr val="6B6690"/>
                </a:solidFill>
                <a:latin typeface="Calibri"/>
              </a:rPr>
              <a:t>the retry is still inside</a:t>
            </a:r>
          </a:p>
        </p:txBody>
      </p:sp>
      <p:sp>
        <p:nvSpPr>
          <p:cNvPr id="20" name="Rectangle 19"/>
          <p:cNvSpPr/>
          <p:nvPr/>
        </p:nvSpPr>
        <p:spPr>
          <a:xfrm>
            <a:off x="6233007"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084335" y="1956816"/>
            <a:ext cx="2577007" cy="539750"/>
          </a:xfrm>
          <a:prstGeom prst="rect">
            <a:avLst/>
          </a:prstGeom>
          <a:noFill/>
        </p:spPr>
        <p:txBody>
          <a:bodyPr wrap="square" anchor="t" lIns="0" rIns="0" tIns="0" bIns="0">
            <a:spAutoFit/>
          </a:bodyPr>
          <a:lstStyle/>
          <a:p>
            <a:pPr algn="l"/>
            <a:r>
              <a:rPr sz="3400" b="0" i="0">
                <a:solidFill>
                  <a:srgbClr val="5B3FD6"/>
                </a:solidFill>
                <a:latin typeface="Georgia"/>
              </a:rPr>
              <a:t>minus 700</a:t>
            </a:r>
          </a:p>
        </p:txBody>
      </p:sp>
      <p:sp>
        <p:nvSpPr>
          <p:cNvPr id="22" name="TextBox 21"/>
          <p:cNvSpPr txBox="1"/>
          <p:nvPr/>
        </p:nvSpPr>
        <p:spPr>
          <a:xfrm>
            <a:off x="9084335" y="253314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GAP</a:t>
            </a:r>
          </a:p>
        </p:txBody>
      </p:sp>
      <p:sp>
        <p:nvSpPr>
          <p:cNvPr id="23" name="TextBox 22"/>
          <p:cNvSpPr txBox="1"/>
          <p:nvPr/>
        </p:nvSpPr>
        <p:spPr>
          <a:xfrm>
            <a:off x="9084335" y="2734310"/>
            <a:ext cx="2577007" cy="193421"/>
          </a:xfrm>
          <a:prstGeom prst="rect">
            <a:avLst/>
          </a:prstGeom>
          <a:noFill/>
        </p:spPr>
        <p:txBody>
          <a:bodyPr wrap="square" anchor="t" lIns="0" rIns="0" tIns="0" bIns="0">
            <a:spAutoFit/>
          </a:bodyPr>
          <a:lstStyle/>
          <a:p>
            <a:pPr algn="l"/>
            <a:r>
              <a:rPr sz="950" b="0" i="0">
                <a:solidFill>
                  <a:srgbClr val="6B6690"/>
                </a:solidFill>
                <a:latin typeface="Calibri"/>
              </a:rPr>
              <a:t>800 unpaid, less the 1,500 retry</a:t>
            </a:r>
          </a:p>
        </p:txBody>
      </p:sp>
      <p:sp>
        <p:nvSpPr>
          <p:cNvPr id="24" name="Rectangle 23"/>
          <p:cNvSpPr/>
          <p:nvPr/>
        </p:nvSpPr>
        <p:spPr>
          <a:xfrm>
            <a:off x="9084335"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30352" y="3419856"/>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count now closes and the gap is still wrong, because the gap mixes two different things: an order nobody paid, and a payment posted twice.</a:t>
            </a:r>
          </a:p>
        </p:txBody>
      </p:sp>
      <p:sp>
        <p:nvSpPr>
          <p:cNvPr id="26" name="Oval 2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28" name="Oval 27"/>
          <p:cNvSpPr/>
          <p:nvPr/>
        </p:nvSpPr>
        <p:spPr>
          <a:xfrm>
            <a:off x="13278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1437608"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What a join does to the rows</a:t>
            </a:r>
          </a:p>
        </p:txBody>
      </p:sp>
      <p:sp>
        <p:nvSpPr>
          <p:cNvPr id="30" name="Oval 29"/>
          <p:cNvSpPr/>
          <p:nvPr/>
        </p:nvSpPr>
        <p:spPr>
          <a:xfrm>
            <a:off x="309152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201257"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Prove the join before the number</a:t>
            </a:r>
          </a:p>
        </p:txBody>
      </p:sp>
      <p:sp>
        <p:nvSpPr>
          <p:cNvPr id="32" name="Oval 31"/>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34" name="TextBox 3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S25  ·  29 / 44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bridge from booked to what the feed posted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Each move between two totals gets its own bar, its own name and its own list of orders.</a:t>
            </a:r>
          </a:p>
        </p:txBody>
      </p:sp>
      <p:pic>
        <p:nvPicPr>
          <p:cNvPr id="9" name="mermaid diagram" descr="1fa66851e4a2ddf3.png"/>
          <p:cNvPicPr>
            <a:picLocks noChangeAspect="1"/>
          </p:cNvPicPr>
          <p:nvPr/>
        </p:nvPicPr>
        <p:blipFill>
          <a:blip r:embed="rId5"/>
          <a:stretch>
            <a:fillRect/>
          </a:stretch>
        </p:blipFill>
        <p:spPr>
          <a:xfrm>
            <a:off x="530352" y="1956816"/>
            <a:ext cx="11130991" cy="870500"/>
          </a:xfrm>
          <a:prstGeom prst="rect">
            <a:avLst/>
          </a:prstGeom>
        </p:spPr>
      </p:pic>
      <p:graphicFrame>
        <p:nvGraphicFramePr>
          <p:cNvPr id="10" name="Table 9"/>
          <p:cNvGraphicFramePr>
            <a:graphicFrameLocks noGrp="1"/>
          </p:cNvGraphicFramePr>
          <p:nvPr/>
        </p:nvGraphicFramePr>
        <p:xfrm>
          <a:off x="530352" y="2973620"/>
          <a:ext cx="11130990" cy="2218944"/>
        </p:xfrm>
        <a:graphic>
          <a:graphicData uri="http://schemas.openxmlformats.org/drawingml/2006/table">
            <a:tbl>
              <a:tblPr firstRow="0" bandRow="0">
                <a:tableStyleId>{2D5ABB26-0587-4C30-8999-92F81FD0307C}</a:tableStyleId>
              </a:tblPr>
              <a:tblGrid>
                <a:gridCol w="2648445"/>
                <a:gridCol w="3365607"/>
                <a:gridCol w="5116938"/>
              </a:tblGrid>
              <a:tr h="369824">
                <a:tc>
                  <a:txBody>
                    <a:bodyPr/>
                    <a:lstStyle/>
                    <a:p>
                      <a:r>
                        <a:rPr sz="1450" b="1" i="0">
                          <a:solidFill>
                            <a:srgbClr val="FFFFFF"/>
                          </a:solidFill>
                          <a:latin typeface="Calibri"/>
                        </a:rPr>
                        <a:t>Move</a:t>
                      </a:r>
                    </a:p>
                  </a:txBody>
                  <a:tcPr marL="101600" marR="101600" marT="38100" marB="38100" anchor="ctr">
                    <a:solidFill>
                      <a:srgbClr val="1A0F5C"/>
                    </a:solidFill>
                  </a:tcPr>
                </a:tc>
                <a:tc>
                  <a:txBody>
                    <a:bodyPr/>
                    <a:lstStyle/>
                    <a:p>
                      <a:r>
                        <a:rPr sz="1450" b="1" i="0">
                          <a:solidFill>
                            <a:srgbClr val="FFFFFF"/>
                          </a:solidFill>
                          <a:latin typeface="Calibri"/>
                        </a:rPr>
                        <a:t>Tiny tables, invented</a:t>
                      </a:r>
                    </a:p>
                  </a:txBody>
                  <a:tcPr marL="101600" marR="101600" marT="38100" marB="38100" anchor="ctr">
                    <a:solidFill>
                      <a:srgbClr val="1A0F5C"/>
                    </a:solidFill>
                  </a:tcPr>
                </a:tc>
                <a:tc>
                  <a:txBody>
                    <a:bodyPr/>
                    <a:lstStyle/>
                    <a:p>
                      <a:r>
                        <a:rPr sz="1450" b="1" i="0">
                          <a:solidFill>
                            <a:srgbClr val="FFFFFF"/>
                          </a:solidFill>
                          <a:latin typeface="Calibri"/>
                        </a:rPr>
                        <a:t>The list behind it</a:t>
                      </a:r>
                    </a:p>
                  </a:txBody>
                  <a:tcPr marL="101600" marR="101600" marT="38100" marB="38100" anchor="ctr">
                    <a:solidFill>
                      <a:srgbClr val="1A0F5C"/>
                    </a:solidFill>
                  </a:tcPr>
                </a:tc>
              </a:tr>
              <a:tr h="369824">
                <a:tc>
                  <a:txBody>
                    <a:bodyPr/>
                    <a:lstStyle/>
                    <a:p>
                      <a:r>
                        <a:rPr sz="1400" b="0" i="0">
                          <a:solidFill>
                            <a:srgbClr val="1A1440"/>
                          </a:solidFill>
                          <a:latin typeface="Calibri"/>
                        </a:rPr>
                        <a:t>Booked</a:t>
                      </a:r>
                    </a:p>
                  </a:txBody>
                  <a:tcPr marL="101600" marR="101600" marT="38100" marB="38100" anchor="ctr">
                    <a:solidFill>
                      <a:srgbClr val="FFFFFF"/>
                    </a:solidFill>
                  </a:tcPr>
                </a:tc>
                <a:tc>
                  <a:txBody>
                    <a:bodyPr/>
                    <a:lstStyle/>
                    <a:p>
                      <a:r>
                        <a:rPr sz="1400" b="0" i="0">
                          <a:solidFill>
                            <a:srgbClr val="1A1440"/>
                          </a:solidFill>
                          <a:latin typeface="Calibri"/>
                        </a:rPr>
                        <a:t>5,800</a:t>
                      </a:r>
                    </a:p>
                  </a:txBody>
                  <a:tcPr marL="101600" marR="101600" marT="38100" marB="38100" anchor="ctr">
                    <a:solidFill>
                      <a:srgbClr val="FFFFFF"/>
                    </a:solidFill>
                  </a:tcPr>
                </a:tc>
                <a:tc>
                  <a:txBody>
                    <a:bodyPr/>
                    <a:lstStyle/>
                    <a:p>
                      <a:r>
                        <a:rPr sz="1400" b="0" i="0">
                          <a:solidFill>
                            <a:srgbClr val="1A1440"/>
                          </a:solidFill>
                          <a:latin typeface="Calibri"/>
                        </a:rPr>
                        <a:t>Every order</a:t>
                      </a:r>
                    </a:p>
                  </a:txBody>
                  <a:tcPr marL="101600" marR="101600" marT="38100" marB="38100" anchor="ctr">
                    <a:solidFill>
                      <a:srgbClr val="FFFFFF"/>
                    </a:solidFill>
                  </a:tcPr>
                </a:tc>
              </a:tr>
              <a:tr h="369824">
                <a:tc>
                  <a:txBody>
                    <a:bodyPr/>
                    <a:lstStyle/>
                    <a:p>
                      <a:r>
                        <a:rPr sz="1400" b="0" i="0">
                          <a:solidFill>
                            <a:srgbClr val="1A1440"/>
                          </a:solidFill>
                          <a:latin typeface="Calibri"/>
                        </a:rPr>
                        <a:t>Less never paid</a:t>
                      </a:r>
                    </a:p>
                  </a:txBody>
                  <a:tcPr marL="101600" marR="101600" marT="38100" marB="38100" anchor="ctr">
                    <a:solidFill>
                      <a:srgbClr val="F4F2FA"/>
                    </a:solidFill>
                  </a:tcPr>
                </a:tc>
                <a:tc>
                  <a:txBody>
                    <a:bodyPr/>
                    <a:lstStyle/>
                    <a:p>
                      <a:r>
                        <a:rPr sz="1400" b="0" i="0">
                          <a:solidFill>
                            <a:srgbClr val="1A1440"/>
                          </a:solidFill>
                          <a:latin typeface="Calibri"/>
                        </a:rPr>
                        <a:t>minus 800</a:t>
                      </a:r>
                    </a:p>
                  </a:txBody>
                  <a:tcPr marL="101600" marR="101600" marT="38100" marB="38100" anchor="ctr">
                    <a:solidFill>
                      <a:srgbClr val="F4F2FA"/>
                    </a:solidFill>
                  </a:tcPr>
                </a:tc>
                <a:tc>
                  <a:txBody>
                    <a:bodyPr/>
                    <a:lstStyle/>
                    <a:p>
                      <a:r>
                        <a:rPr sz="1400" b="0" i="0">
                          <a:solidFill>
                            <a:srgbClr val="1A1440"/>
                          </a:solidFill>
                          <a:latin typeface="Calibri"/>
                        </a:rPr>
                        <a:t>The unpaid list: T-4</a:t>
                      </a:r>
                    </a:p>
                  </a:txBody>
                  <a:tcPr marL="101600" marR="101600" marT="38100" marB="38100" anchor="ctr">
                    <a:solidFill>
                      <a:srgbClr val="F4F2FA"/>
                    </a:solidFill>
                  </a:tcPr>
                </a:tc>
              </a:tr>
              <a:tr h="369824">
                <a:tc>
                  <a:txBody>
                    <a:bodyPr/>
                    <a:lstStyle/>
                    <a:p>
                      <a:r>
                        <a:rPr sz="1400" b="0" i="0">
                          <a:solidFill>
                            <a:srgbClr val="1A1440"/>
                          </a:solidFill>
                          <a:latin typeface="Calibri"/>
                        </a:rPr>
                        <a:t>Collected</a:t>
                      </a:r>
                    </a:p>
                  </a:txBody>
                  <a:tcPr marL="101600" marR="101600" marT="38100" marB="38100" anchor="ctr">
                    <a:solidFill>
                      <a:srgbClr val="FFFFFF"/>
                    </a:solidFill>
                  </a:tcPr>
                </a:tc>
                <a:tc>
                  <a:txBody>
                    <a:bodyPr/>
                    <a:lstStyle/>
                    <a:p>
                      <a:r>
                        <a:rPr sz="1400" b="0" i="0">
                          <a:solidFill>
                            <a:srgbClr val="1A1440"/>
                          </a:solidFill>
                          <a:latin typeface="Calibri"/>
                        </a:rPr>
                        <a:t>5,000</a:t>
                      </a:r>
                    </a:p>
                  </a:txBody>
                  <a:tcPr marL="101600" marR="101600" marT="38100" marB="38100" anchor="ctr">
                    <a:solidFill>
                      <a:srgbClr val="FFFFFF"/>
                    </a:solidFill>
                  </a:tcPr>
                </a:tc>
                <a:tc>
                  <a:txBody>
                    <a:bodyPr/>
                    <a:lstStyle/>
                    <a:p>
                      <a:r>
                        <a:rPr sz="1400" b="0" i="0">
                          <a:solidFill>
                            <a:srgbClr val="1A1440"/>
                          </a:solidFill>
                          <a:latin typeface="Calibri"/>
                        </a:rPr>
                        <a:t>Anand's number</a:t>
                      </a:r>
                    </a:p>
                  </a:txBody>
                  <a:tcPr marL="101600" marR="101600" marT="38100" marB="38100" anchor="ctr">
                    <a:solidFill>
                      <a:srgbClr val="FFFFFF"/>
                    </a:solidFill>
                  </a:tcPr>
                </a:tc>
              </a:tr>
              <a:tr h="369824">
                <a:tc>
                  <a:txBody>
                    <a:bodyPr/>
                    <a:lstStyle/>
                    <a:p>
                      <a:r>
                        <a:rPr sz="1400" b="0" i="0">
                          <a:solidFill>
                            <a:srgbClr val="1A1440"/>
                          </a:solidFill>
                          <a:latin typeface="Calibri"/>
                        </a:rPr>
                        <a:t>Plus posted twice</a:t>
                      </a:r>
                    </a:p>
                  </a:txBody>
                  <a:tcPr marL="101600" marR="101600" marT="38100" marB="38100" anchor="ctr">
                    <a:solidFill>
                      <a:srgbClr val="F4F2FA"/>
                    </a:solidFill>
                  </a:tcPr>
                </a:tc>
                <a:tc>
                  <a:txBody>
                    <a:bodyPr/>
                    <a:lstStyle/>
                    <a:p>
                      <a:r>
                        <a:rPr sz="1400" b="0" i="0">
                          <a:solidFill>
                            <a:srgbClr val="1A1440"/>
                          </a:solidFill>
                          <a:latin typeface="Calibri"/>
                        </a:rPr>
                        <a:t>plus 1,500</a:t>
                      </a:r>
                    </a:p>
                  </a:txBody>
                  <a:tcPr marL="101600" marR="101600" marT="38100" marB="38100" anchor="ctr">
                    <a:solidFill>
                      <a:srgbClr val="F4F2FA"/>
                    </a:solidFill>
                  </a:tcPr>
                </a:tc>
                <a:tc>
                  <a:txBody>
                    <a:bodyPr/>
                    <a:lstStyle/>
                    <a:p>
                      <a:r>
                        <a:rPr sz="1400" b="0" i="0">
                          <a:solidFill>
                            <a:srgbClr val="1A1440"/>
                          </a:solidFill>
                          <a:latin typeface="Calibri"/>
                        </a:rPr>
                        <a:t>The double-paid list: T-3's retry</a:t>
                      </a:r>
                    </a:p>
                  </a:txBody>
                  <a:tcPr marL="101600" marR="101600" marT="38100" marB="38100" anchor="ctr">
                    <a:solidFill>
                      <a:srgbClr val="F4F2FA"/>
                    </a:solidFill>
                  </a:tcPr>
                </a:tc>
              </a:tr>
              <a:tr h="369824">
                <a:tc>
                  <a:txBody>
                    <a:bodyPr/>
                    <a:lstStyle/>
                    <a:p>
                      <a:r>
                        <a:rPr sz="1400" b="0" i="0">
                          <a:solidFill>
                            <a:srgbClr val="1A1440"/>
                          </a:solidFill>
                          <a:latin typeface="Calibri"/>
                        </a:rPr>
                        <a:t>Posted in the feed</a:t>
                      </a:r>
                    </a:p>
                  </a:txBody>
                  <a:tcPr marL="101600" marR="101600" marT="38100" marB="38100" anchor="ctr">
                    <a:solidFill>
                      <a:srgbClr val="FFFFFF"/>
                    </a:solidFill>
                  </a:tcPr>
                </a:tc>
                <a:tc>
                  <a:txBody>
                    <a:bodyPr/>
                    <a:lstStyle/>
                    <a:p>
                      <a:r>
                        <a:rPr sz="1400" b="0" i="0">
                          <a:solidFill>
                            <a:srgbClr val="1A1440"/>
                          </a:solidFill>
                          <a:latin typeface="Calibri"/>
                        </a:rPr>
                        <a:t>6,500</a:t>
                      </a:r>
                    </a:p>
                  </a:txBody>
                  <a:tcPr marL="101600" marR="101600" marT="38100" marB="38100" anchor="ctr">
                    <a:solidFill>
                      <a:srgbClr val="FFFFFF"/>
                    </a:solidFill>
                  </a:tcPr>
                </a:tc>
                <a:tc>
                  <a:txBody>
                    <a:bodyPr/>
                    <a:lstStyle/>
                    <a:p>
                      <a:r>
                        <a:rPr sz="1400" b="0" i="0">
                          <a:solidFill>
                            <a:srgbClr val="1A1440"/>
                          </a:solidFill>
                          <a:latin typeface="Calibri"/>
                        </a:rPr>
                        <a:t>Every payment row matched to an order</a:t>
                      </a:r>
                    </a:p>
                  </a:txBody>
                  <a:tcPr marL="101600" marR="101600" marT="38100" marB="38100" anchor="ctr">
                    <a:solidFill>
                      <a:srgbClr val="FFFFFF"/>
                    </a:solidFill>
                  </a:tcPr>
                </a:tc>
              </a:tr>
            </a:tbl>
          </a:graphicData>
        </a:graphic>
      </p:graphicFrame>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13" name="Oval 12"/>
          <p:cNvSpPr/>
          <p:nvPr/>
        </p:nvSpPr>
        <p:spPr>
          <a:xfrm>
            <a:off x="13278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437608"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What a join does to the rows</a:t>
            </a:r>
          </a:p>
        </p:txBody>
      </p:sp>
      <p:sp>
        <p:nvSpPr>
          <p:cNvPr id="15" name="Oval 14"/>
          <p:cNvSpPr/>
          <p:nvPr/>
        </p:nvSpPr>
        <p:spPr>
          <a:xfrm>
            <a:off x="309152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201257"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Prove the join before the number</a:t>
            </a:r>
          </a:p>
        </p:txBody>
      </p:sp>
      <p:sp>
        <p:nvSpPr>
          <p:cNvPr id="17" name="Oval 16"/>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S26  ·  30 / 44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Your turn: reconcile Q2 on the warehouse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room runs part B of sql 03 and writes the reconciliation before reading any rupee.</a:t>
            </a:r>
          </a:p>
        </p:txBody>
      </p:sp>
      <p:sp>
        <p:nvSpPr>
          <p:cNvPr id="9" name="Rectangle 8"/>
          <p:cNvSpPr/>
          <p:nvPr/>
        </p:nvSpPr>
        <p:spPr>
          <a:xfrm>
            <a:off x="1853145" y="2523744"/>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B1</a:t>
            </a:r>
          </a:p>
        </p:txBody>
      </p:sp>
      <p:sp>
        <p:nvSpPr>
          <p:cNvPr id="11" name="Oval 10"/>
          <p:cNvSpPr/>
          <p:nvPr/>
        </p:nvSpPr>
        <p:spPr>
          <a:xfrm>
            <a:off x="175256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Rows in</a:t>
            </a:r>
          </a:p>
        </p:txBody>
      </p:sp>
      <p:sp>
        <p:nvSpPr>
          <p:cNvPr id="14" name="TextBox 13"/>
          <p:cNvSpPr txBox="1"/>
          <p:nvPr/>
        </p:nvSpPr>
        <p:spPr>
          <a:xfrm>
            <a:off x="694944"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Q2 orders and booked from orders alone.</a:t>
            </a:r>
          </a:p>
        </p:txBody>
      </p:sp>
      <p:sp>
        <p:nvSpPr>
          <p:cNvPr id="15" name="TextBox 14"/>
          <p:cNvSpPr txBox="1"/>
          <p:nvPr/>
        </p:nvSpPr>
        <p:spPr>
          <a:xfrm>
            <a:off x="3358819"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B2</a:t>
            </a:r>
          </a:p>
        </p:txBody>
      </p:sp>
      <p:sp>
        <p:nvSpPr>
          <p:cNvPr id="16" name="Oval 15"/>
          <p:cNvSpPr/>
          <p:nvPr/>
        </p:nvSpPr>
        <p:spPr>
          <a:xfrm>
            <a:off x="458102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3358819" y="284378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23411"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Rows out</a:t>
            </a:r>
          </a:p>
        </p:txBody>
      </p:sp>
      <p:sp>
        <p:nvSpPr>
          <p:cNvPr id="19" name="TextBox 18"/>
          <p:cNvSpPr txBox="1"/>
          <p:nvPr/>
        </p:nvSpPr>
        <p:spPr>
          <a:xfrm>
            <a:off x="3523411"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The order-grain LEFT join; compare the count and the booked.</a:t>
            </a:r>
          </a:p>
        </p:txBody>
      </p:sp>
      <p:sp>
        <p:nvSpPr>
          <p:cNvPr id="20" name="TextBox 19"/>
          <p:cNvSpPr txBox="1"/>
          <p:nvPr/>
        </p:nvSpPr>
        <p:spPr>
          <a:xfrm>
            <a:off x="6187287"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B3</a:t>
            </a:r>
          </a:p>
        </p:txBody>
      </p:sp>
      <p:sp>
        <p:nvSpPr>
          <p:cNvPr id="21" name="Oval 20"/>
          <p:cNvSpPr/>
          <p:nvPr/>
        </p:nvSpPr>
        <p:spPr>
          <a:xfrm>
            <a:off x="740949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187287" y="284378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351879"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The bridge</a:t>
            </a:r>
          </a:p>
        </p:txBody>
      </p:sp>
      <p:sp>
        <p:nvSpPr>
          <p:cNvPr id="24" name="TextBox 23"/>
          <p:cNvSpPr txBox="1"/>
          <p:nvPr/>
        </p:nvSpPr>
        <p:spPr>
          <a:xfrm>
            <a:off x="6351879"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Booked, less never paid, collected, plus posted twice, posted.</a:t>
            </a:r>
          </a:p>
        </p:txBody>
      </p:sp>
      <p:sp>
        <p:nvSpPr>
          <p:cNvPr id="25" name="TextBox 24"/>
          <p:cNvSpPr txBox="1"/>
          <p:nvPr/>
        </p:nvSpPr>
        <p:spPr>
          <a:xfrm>
            <a:off x="9015755"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B4</a:t>
            </a:r>
          </a:p>
        </p:txBody>
      </p:sp>
      <p:sp>
        <p:nvSpPr>
          <p:cNvPr id="26" name="Oval 25"/>
          <p:cNvSpPr/>
          <p:nvPr/>
        </p:nvSpPr>
        <p:spPr>
          <a:xfrm>
            <a:off x="10237965"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9015755" y="2843784"/>
            <a:ext cx="2645587"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180347" y="2990088"/>
            <a:ext cx="2316403" cy="251205"/>
          </a:xfrm>
          <a:prstGeom prst="rect">
            <a:avLst/>
          </a:prstGeom>
          <a:noFill/>
        </p:spPr>
        <p:txBody>
          <a:bodyPr wrap="square" anchor="t" lIns="0" rIns="0" tIns="0" bIns="0">
            <a:spAutoFit/>
          </a:bodyPr>
          <a:lstStyle/>
          <a:p>
            <a:pPr algn="l"/>
            <a:r>
              <a:rPr sz="1300" b="1" i="0">
                <a:solidFill>
                  <a:srgbClr val="FFFFFF"/>
                </a:solidFill>
                <a:latin typeface="Calibri"/>
              </a:rPr>
              <a:t>It closes</a:t>
            </a:r>
          </a:p>
        </p:txBody>
      </p:sp>
      <p:sp>
        <p:nvSpPr>
          <p:cNvPr id="29" name="TextBox 28"/>
          <p:cNvSpPr txBox="1"/>
          <p:nvPr/>
        </p:nvSpPr>
        <p:spPr>
          <a:xfrm>
            <a:off x="9180347" y="3277870"/>
            <a:ext cx="2316403" cy="366776"/>
          </a:xfrm>
          <a:prstGeom prst="rect">
            <a:avLst/>
          </a:prstGeom>
          <a:noFill/>
        </p:spPr>
        <p:txBody>
          <a:bodyPr wrap="square" anchor="t" lIns="0" rIns="0" tIns="0" bIns="0">
            <a:spAutoFit/>
          </a:bodyPr>
          <a:lstStyle/>
          <a:p>
            <a:pPr algn="l"/>
            <a:r>
              <a:rPr sz="1000" b="0" i="0">
                <a:solidFill>
                  <a:srgbClr val="CFC9EE"/>
                </a:solidFill>
                <a:latin typeface="Calibri"/>
              </a:rPr>
              <a:t>Posted must equal the feed's own total against Q2 orders.</a:t>
            </a:r>
          </a:p>
        </p:txBody>
      </p:sp>
      <p:sp>
        <p:nvSpPr>
          <p:cNvPr id="30" name="TextBox 29"/>
          <p:cNvSpPr txBox="1"/>
          <p:nvPr/>
        </p:nvSpPr>
        <p:spPr>
          <a:xfrm>
            <a:off x="530352" y="4103624"/>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Write what you find in the four comment lines of the reconciliation, with your own numbers, before you say any of them aloud.</a:t>
            </a:r>
          </a:p>
        </p:txBody>
      </p:sp>
      <p:sp>
        <p:nvSpPr>
          <p:cNvPr id="31" name="Oval 3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33" name="Oval 32"/>
          <p:cNvSpPr/>
          <p:nvPr/>
        </p:nvSpPr>
        <p:spPr>
          <a:xfrm>
            <a:off x="13278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1437608"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What a join does to the rows</a:t>
            </a:r>
          </a:p>
        </p:txBody>
      </p:sp>
      <p:sp>
        <p:nvSpPr>
          <p:cNvPr id="35" name="Oval 34"/>
          <p:cNvSpPr/>
          <p:nvPr/>
        </p:nvSpPr>
        <p:spPr>
          <a:xfrm>
            <a:off x="309152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201257"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Prove the join before the number</a:t>
            </a:r>
          </a:p>
        </p:txBody>
      </p:sp>
      <p:sp>
        <p:nvSpPr>
          <p:cNvPr id="37" name="Oval 36"/>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39" name="TextBox 3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S27  ·  31 / 44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Kavya's review of round 2</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Rows in, rows out, and the difference explained, written above the number.</a:t>
            </a:r>
          </a:p>
        </p:txBody>
      </p:sp>
      <p:sp>
        <p:nvSpPr>
          <p:cNvPr id="9" name="Rounded Rectangle 8"/>
          <p:cNvSpPr/>
          <p:nvPr/>
        </p:nvSpPr>
        <p:spPr>
          <a:xfrm>
            <a:off x="530352" y="1905000"/>
            <a:ext cx="11130991" cy="1052576"/>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20268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search-check_6571e64a041f.png"/>
          <p:cNvPicPr>
            <a:picLocks noChangeAspect="1"/>
          </p:cNvPicPr>
          <p:nvPr/>
        </p:nvPicPr>
        <p:blipFill>
          <a:blip r:embed="rId4"/>
          <a:stretch>
            <a:fillRect/>
          </a:stretch>
        </p:blipFill>
        <p:spPr>
          <a:xfrm>
            <a:off x="868680" y="2312416"/>
            <a:ext cx="237744" cy="237744"/>
          </a:xfrm>
          <a:prstGeom prst="rect">
            <a:avLst/>
          </a:prstGeom>
        </p:spPr>
      </p:pic>
      <p:sp>
        <p:nvSpPr>
          <p:cNvPr id="12" name="TextBox 11"/>
          <p:cNvSpPr txBox="1"/>
          <p:nvPr/>
        </p:nvSpPr>
        <p:spPr>
          <a:xfrm>
            <a:off x="1399031" y="2051304"/>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3" name="TextBox 12"/>
          <p:cNvSpPr txBox="1"/>
          <p:nvPr/>
        </p:nvSpPr>
        <p:spPr>
          <a:xfrm>
            <a:off x="1399031" y="2270760"/>
            <a:ext cx="9987991" cy="613664"/>
          </a:xfrm>
          <a:prstGeom prst="rect">
            <a:avLst/>
          </a:prstGeom>
          <a:noFill/>
        </p:spPr>
        <p:txBody>
          <a:bodyPr wrap="square" anchor="t" lIns="0" rIns="0" tIns="0" bIns="0">
            <a:spAutoFit/>
          </a:bodyPr>
          <a:lstStyle/>
          <a:p>
            <a:r>
              <a:rPr sz="1300" b="0" i="0">
                <a:solidFill>
                  <a:srgbClr val="1A1440"/>
                </a:solidFill>
                <a:latin typeface="Calibri"/>
              </a:rPr>
              <a:t>Rows in, rows out, and the difference explained, written above the number. If the count does not close, the number does not leave the team.</a:t>
            </a:r>
          </a:p>
        </p:txBody>
      </p:sp>
      <p:sp>
        <p:nvSpPr>
          <p:cNvPr id="14" name="Rounded Rectangle 13"/>
          <p:cNvSpPr/>
          <p:nvPr/>
        </p:nvSpPr>
        <p:spPr>
          <a:xfrm>
            <a:off x="530352" y="3122168"/>
            <a:ext cx="11130991" cy="82804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58952" y="330758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6" name="Picture 15" descr="mic_caee7398c80d.png"/>
          <p:cNvPicPr>
            <a:picLocks noChangeAspect="1"/>
          </p:cNvPicPr>
          <p:nvPr/>
        </p:nvPicPr>
        <p:blipFill>
          <a:blip r:embed="rId5"/>
          <a:stretch>
            <a:fillRect/>
          </a:stretch>
        </p:blipFill>
        <p:spPr>
          <a:xfrm>
            <a:off x="868680" y="3417316"/>
            <a:ext cx="237744" cy="237744"/>
          </a:xfrm>
          <a:prstGeom prst="rect">
            <a:avLst/>
          </a:prstGeom>
        </p:spPr>
      </p:pic>
      <p:sp>
        <p:nvSpPr>
          <p:cNvPr id="17" name="TextBox 16"/>
          <p:cNvSpPr txBox="1"/>
          <p:nvPr/>
        </p:nvSpPr>
        <p:spPr>
          <a:xfrm>
            <a:off x="1399031" y="326847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8" name="TextBox 17"/>
          <p:cNvSpPr txBox="1"/>
          <p:nvPr/>
        </p:nvSpPr>
        <p:spPr>
          <a:xfrm>
            <a:off x="1399031" y="3487928"/>
            <a:ext cx="9987991" cy="389128"/>
          </a:xfrm>
          <a:prstGeom prst="rect">
            <a:avLst/>
          </a:prstGeom>
          <a:noFill/>
        </p:spPr>
        <p:txBody>
          <a:bodyPr wrap="square" anchor="t" lIns="0" rIns="0" tIns="0" bIns="0">
            <a:spAutoFit/>
          </a:bodyPr>
          <a:lstStyle/>
          <a:p>
            <a:r>
              <a:rPr sz="1300" b="0" i="0">
                <a:solidFill>
                  <a:srgbClr val="1A1440"/>
                </a:solidFill>
                <a:latin typeface="Calibri"/>
              </a:rPr>
              <a:t>[S] When is an INNER join the honest choice? [F] How do you reconcile a total after a join back to its source table?</a:t>
            </a:r>
          </a:p>
        </p:txBody>
      </p:sp>
      <p:sp>
        <p:nvSpPr>
          <p:cNvPr id="19" name="Rounded Rectangle 18"/>
          <p:cNvSpPr/>
          <p:nvPr/>
        </p:nvSpPr>
        <p:spPr>
          <a:xfrm>
            <a:off x="530352" y="4114800"/>
            <a:ext cx="3588410" cy="18623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31519" y="4315968"/>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check-check_1617a5259dce.png"/>
          <p:cNvPicPr>
            <a:picLocks noChangeAspect="1"/>
          </p:cNvPicPr>
          <p:nvPr/>
        </p:nvPicPr>
        <p:blipFill>
          <a:blip r:embed="rId6"/>
          <a:stretch>
            <a:fillRect/>
          </a:stretch>
        </p:blipFill>
        <p:spPr>
          <a:xfrm>
            <a:off x="841247" y="4425696"/>
            <a:ext cx="237744" cy="237744"/>
          </a:xfrm>
          <a:prstGeom prst="rect">
            <a:avLst/>
          </a:prstGeom>
        </p:spPr>
      </p:pic>
      <p:sp>
        <p:nvSpPr>
          <p:cNvPr id="22" name="TextBox 21"/>
          <p:cNvSpPr txBox="1"/>
          <p:nvPr/>
        </p:nvSpPr>
        <p:spPr>
          <a:xfrm>
            <a:off x="731519" y="4882896"/>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INNER IS HONEST</a:t>
            </a:r>
          </a:p>
        </p:txBody>
      </p:sp>
      <p:sp>
        <p:nvSpPr>
          <p:cNvPr id="23" name="TextBox 22"/>
          <p:cNvSpPr txBox="1"/>
          <p:nvPr/>
        </p:nvSpPr>
        <p:spPr>
          <a:xfrm>
            <a:off x="731519" y="5120640"/>
            <a:ext cx="3186074" cy="234696"/>
          </a:xfrm>
          <a:prstGeom prst="rect">
            <a:avLst/>
          </a:prstGeom>
          <a:noFill/>
        </p:spPr>
        <p:txBody>
          <a:bodyPr wrap="square" anchor="t" lIns="0" rIns="0" tIns="0" bIns="0">
            <a:spAutoFit/>
          </a:bodyPr>
          <a:lstStyle/>
          <a:p>
            <a:pPr algn="l"/>
            <a:r>
              <a:rPr sz="1200" b="1" i="0">
                <a:solidFill>
                  <a:srgbClr val="1A0F5C"/>
                </a:solidFill>
                <a:latin typeface="Calibri"/>
              </a:rPr>
              <a:t>When the question is about matches</a:t>
            </a:r>
          </a:p>
        </p:txBody>
      </p:sp>
      <p:sp>
        <p:nvSpPr>
          <p:cNvPr id="24" name="TextBox 23"/>
          <p:cNvSpPr txBox="1"/>
          <p:nvPr/>
        </p:nvSpPr>
        <p:spPr>
          <a:xfrm>
            <a:off x="731519" y="5428488"/>
            <a:ext cx="3186074" cy="333756"/>
          </a:xfrm>
          <a:prstGeom prst="rect">
            <a:avLst/>
          </a:prstGeom>
          <a:noFill/>
        </p:spPr>
        <p:txBody>
          <a:bodyPr wrap="square" anchor="t" lIns="0" rIns="0" tIns="0" bIns="0">
            <a:spAutoFit/>
          </a:bodyPr>
          <a:lstStyle/>
          <a:p>
            <a:pPr algn="l"/>
            <a:r>
              <a:rPr sz="900" b="0" i="0">
                <a:solidFill>
                  <a:srgbClr val="6B6690"/>
                </a:solidFill>
                <a:latin typeface="Calibri"/>
              </a:rPr>
              <a:t>"What do paid orders look like?" or "which campaigns converted" ask only about rows that matched.</a:t>
            </a:r>
          </a:p>
        </p:txBody>
      </p:sp>
      <p:sp>
        <p:nvSpPr>
          <p:cNvPr id="25" name="Rounded Rectangle 24"/>
          <p:cNvSpPr/>
          <p:nvPr/>
        </p:nvSpPr>
        <p:spPr>
          <a:xfrm>
            <a:off x="4301642" y="4114800"/>
            <a:ext cx="3588410" cy="18623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4502810" y="4315968"/>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scale_b0ee069e815e.png"/>
          <p:cNvPicPr>
            <a:picLocks noChangeAspect="1"/>
          </p:cNvPicPr>
          <p:nvPr/>
        </p:nvPicPr>
        <p:blipFill>
          <a:blip r:embed="rId7"/>
          <a:stretch>
            <a:fillRect/>
          </a:stretch>
        </p:blipFill>
        <p:spPr>
          <a:xfrm>
            <a:off x="4612538" y="4425696"/>
            <a:ext cx="237744" cy="237744"/>
          </a:xfrm>
          <a:prstGeom prst="rect">
            <a:avLst/>
          </a:prstGeom>
        </p:spPr>
      </p:pic>
      <p:sp>
        <p:nvSpPr>
          <p:cNvPr id="28" name="TextBox 27"/>
          <p:cNvSpPr txBox="1"/>
          <p:nvPr/>
        </p:nvSpPr>
        <p:spPr>
          <a:xfrm>
            <a:off x="4502810" y="4882896"/>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RECONCILE</a:t>
            </a:r>
          </a:p>
        </p:txBody>
      </p:sp>
      <p:sp>
        <p:nvSpPr>
          <p:cNvPr id="29" name="TextBox 28"/>
          <p:cNvSpPr txBox="1"/>
          <p:nvPr/>
        </p:nvSpPr>
        <p:spPr>
          <a:xfrm>
            <a:off x="4502810" y="5120640"/>
            <a:ext cx="3186074" cy="234696"/>
          </a:xfrm>
          <a:prstGeom prst="rect">
            <a:avLst/>
          </a:prstGeom>
          <a:noFill/>
        </p:spPr>
        <p:txBody>
          <a:bodyPr wrap="square" anchor="t" lIns="0" rIns="0" tIns="0" bIns="0">
            <a:spAutoFit/>
          </a:bodyPr>
          <a:lstStyle/>
          <a:p>
            <a:pPr algn="l"/>
            <a:r>
              <a:rPr sz="1200" b="1" i="0">
                <a:solidFill>
                  <a:srgbClr val="1A0F5C"/>
                </a:solidFill>
                <a:latin typeface="Calibri"/>
              </a:rPr>
              <a:t>Back to the source</a:t>
            </a:r>
          </a:p>
        </p:txBody>
      </p:sp>
      <p:sp>
        <p:nvSpPr>
          <p:cNvPr id="30" name="TextBox 29"/>
          <p:cNvSpPr txBox="1"/>
          <p:nvPr/>
        </p:nvSpPr>
        <p:spPr>
          <a:xfrm>
            <a:off x="4502810" y="5428488"/>
            <a:ext cx="3186074" cy="333756"/>
          </a:xfrm>
          <a:prstGeom prst="rect">
            <a:avLst/>
          </a:prstGeom>
          <a:noFill/>
        </p:spPr>
        <p:txBody>
          <a:bodyPr wrap="square" anchor="t" lIns="0" rIns="0" tIns="0" bIns="0">
            <a:spAutoFit/>
          </a:bodyPr>
          <a:lstStyle/>
          <a:p>
            <a:pPr algn="l"/>
            <a:r>
              <a:rPr sz="900" b="0" i="0">
                <a:solidFill>
                  <a:srgbClr val="6B6690"/>
                </a:solidFill>
                <a:latin typeface="Calibri"/>
              </a:rPr>
              <a:t>Sum the joined column at the source's grain and compare it with the source table's own total.</a:t>
            </a:r>
          </a:p>
        </p:txBody>
      </p:sp>
      <p:sp>
        <p:nvSpPr>
          <p:cNvPr id="31" name="Rounded Rectangle 30"/>
          <p:cNvSpPr/>
          <p:nvPr/>
        </p:nvSpPr>
        <p:spPr>
          <a:xfrm>
            <a:off x="8072932" y="4114800"/>
            <a:ext cx="3588410" cy="1862328"/>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8274100" y="431596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3" name="Picture 32" descr="git-branch_7da3e6b64e7d.png"/>
          <p:cNvPicPr>
            <a:picLocks noChangeAspect="1"/>
          </p:cNvPicPr>
          <p:nvPr/>
        </p:nvPicPr>
        <p:blipFill>
          <a:blip r:embed="rId8"/>
          <a:stretch>
            <a:fillRect/>
          </a:stretch>
        </p:blipFill>
        <p:spPr>
          <a:xfrm>
            <a:off x="8383828" y="4425696"/>
            <a:ext cx="237744" cy="237744"/>
          </a:xfrm>
          <a:prstGeom prst="rect">
            <a:avLst/>
          </a:prstGeom>
        </p:spPr>
      </p:pic>
      <p:sp>
        <p:nvSpPr>
          <p:cNvPr id="34" name="TextBox 33"/>
          <p:cNvSpPr txBox="1"/>
          <p:nvPr/>
        </p:nvSpPr>
        <p:spPr>
          <a:xfrm>
            <a:off x="8274100" y="4882896"/>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THEN</a:t>
            </a:r>
          </a:p>
        </p:txBody>
      </p:sp>
      <p:sp>
        <p:nvSpPr>
          <p:cNvPr id="35" name="TextBox 34"/>
          <p:cNvSpPr txBox="1"/>
          <p:nvPr/>
        </p:nvSpPr>
        <p:spPr>
          <a:xfrm>
            <a:off x="8274100" y="5120640"/>
            <a:ext cx="3186074" cy="234696"/>
          </a:xfrm>
          <a:prstGeom prst="rect">
            <a:avLst/>
          </a:prstGeom>
          <a:noFill/>
        </p:spPr>
        <p:txBody>
          <a:bodyPr wrap="square" anchor="t" lIns="0" rIns="0" tIns="0" bIns="0">
            <a:spAutoFit/>
          </a:bodyPr>
          <a:lstStyle/>
          <a:p>
            <a:pPr algn="l"/>
            <a:r>
              <a:rPr sz="1200" b="1" i="0">
                <a:solidFill>
                  <a:srgbClr val="FFFFFF"/>
                </a:solidFill>
                <a:latin typeface="Calibri"/>
              </a:rPr>
              <a:t>A bridge for the gap</a:t>
            </a:r>
          </a:p>
        </p:txBody>
      </p:sp>
      <p:sp>
        <p:nvSpPr>
          <p:cNvPr id="36" name="TextBox 35"/>
          <p:cNvSpPr txBox="1"/>
          <p:nvPr/>
        </p:nvSpPr>
        <p:spPr>
          <a:xfrm>
            <a:off x="8274100" y="5428488"/>
            <a:ext cx="3186074" cy="333756"/>
          </a:xfrm>
          <a:prstGeom prst="rect">
            <a:avLst/>
          </a:prstGeom>
          <a:noFill/>
        </p:spPr>
        <p:txBody>
          <a:bodyPr wrap="square" anchor="t" lIns="0" rIns="0" tIns="0" bIns="0">
            <a:spAutoFit/>
          </a:bodyPr>
          <a:lstStyle/>
          <a:p>
            <a:pPr algn="l"/>
            <a:r>
              <a:rPr sz="900" b="0" i="0">
                <a:solidFill>
                  <a:srgbClr val="CFC9EE"/>
                </a:solidFill>
                <a:latin typeface="Calibri"/>
              </a:rPr>
              <a:t>Name each move between the two totals and list the rows behind it.</a:t>
            </a:r>
          </a:p>
        </p:txBody>
      </p:sp>
      <p:sp>
        <p:nvSpPr>
          <p:cNvPr id="37" name="Oval 3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39" name="Oval 38"/>
          <p:cNvSpPr/>
          <p:nvPr/>
        </p:nvSpPr>
        <p:spPr>
          <a:xfrm>
            <a:off x="13278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1437608"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What a join does to the rows</a:t>
            </a:r>
          </a:p>
        </p:txBody>
      </p:sp>
      <p:sp>
        <p:nvSpPr>
          <p:cNvPr id="41" name="Oval 40"/>
          <p:cNvSpPr/>
          <p:nvPr/>
        </p:nvSpPr>
        <p:spPr>
          <a:xfrm>
            <a:off x="309152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3201257"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Prove the join before the number</a:t>
            </a:r>
          </a:p>
        </p:txBody>
      </p:sp>
      <p:sp>
        <p:nvSpPr>
          <p:cNvPr id="43" name="Oval 42"/>
          <p:cNvSpPr/>
          <p:nvPr/>
        </p:nvSpPr>
        <p:spPr>
          <a:xfrm>
            <a:off x="503920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5148929"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orders, and which payments</a:t>
            </a:r>
          </a:p>
        </p:txBody>
      </p:sp>
      <p:sp>
        <p:nvSpPr>
          <p:cNvPr id="45" name="TextBox 4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S28  ·  32 / 44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04</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Which orders, and which payments</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The unpaid list, the double-paid list, and two ways a correct-looking query loses the answer.</a:t>
            </a:r>
          </a:p>
        </p:txBody>
      </p:sp>
      <p:sp>
        <p:nvSpPr>
          <p:cNvPr id="10" name="Rounded Rectangle 9"/>
          <p:cNvSpPr/>
          <p:nvPr/>
        </p:nvSpPr>
        <p:spPr>
          <a:xfrm>
            <a:off x="731519" y="5074920"/>
            <a:ext cx="78027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ask</a:t>
            </a:r>
          </a:p>
        </p:txBody>
      </p:sp>
      <p:sp>
        <p:nvSpPr>
          <p:cNvPr id="11" name="Rounded Rectangle 10"/>
          <p:cNvSpPr/>
          <p:nvPr/>
        </p:nvSpPr>
        <p:spPr>
          <a:xfrm>
            <a:off x="1621519" y="5074920"/>
            <a:ext cx="202380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a join does to the rows</a:t>
            </a:r>
          </a:p>
        </p:txBody>
      </p:sp>
      <p:sp>
        <p:nvSpPr>
          <p:cNvPr id="12" name="Rounded Rectangle 11"/>
          <p:cNvSpPr/>
          <p:nvPr/>
        </p:nvSpPr>
        <p:spPr>
          <a:xfrm>
            <a:off x="3755055" y="5074920"/>
            <a:ext cx="214884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Prove the join before the number</a:t>
            </a:r>
          </a:p>
        </p:txBody>
      </p:sp>
      <p:sp>
        <p:nvSpPr>
          <p:cNvPr id="13" name="Rounded Rectangle 12"/>
          <p:cNvSpPr/>
          <p:nvPr/>
        </p:nvSpPr>
        <p:spPr>
          <a:xfrm>
            <a:off x="6013623" y="5074920"/>
            <a:ext cx="2148840"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Which orders, and which payments</a:t>
            </a:r>
          </a:p>
        </p:txBody>
      </p:sp>
      <p:sp>
        <p:nvSpPr>
          <p:cNvPr id="14" name="TextBox 13"/>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2. Booked against collected, without lying</a:t>
            </a:r>
          </a:p>
        </p:txBody>
      </p:sp>
      <p:sp>
        <p:nvSpPr>
          <p:cNvPr id="15" name="TextBox 1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33 / 44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Anand wants names, and a quarter's cash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Two lists, and a filter that sounds harmless: payments received inside Q2.</a:t>
            </a:r>
          </a:p>
        </p:txBody>
      </p:sp>
      <p:sp>
        <p:nvSpPr>
          <p:cNvPr id="9" name="Rounded Rectangle 8"/>
          <p:cNvSpPr/>
          <p:nvPr/>
        </p:nvSpPr>
        <p:spPr>
          <a:xfrm>
            <a:off x="530352" y="1956816"/>
            <a:ext cx="11130991"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2890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39877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682752"/>
          </a:xfrm>
          <a:prstGeom prst="rect">
            <a:avLst/>
          </a:prstGeom>
          <a:noFill/>
        </p:spPr>
        <p:txBody>
          <a:bodyPr wrap="square" anchor="t" lIns="0" rIns="0" tIns="0" bIns="0">
            <a:spAutoFit/>
          </a:bodyPr>
          <a:lstStyle/>
          <a:p>
            <a:r>
              <a:rPr sz="1500" b="0" i="0">
                <a:solidFill>
                  <a:srgbClr val="FFFFFF"/>
                </a:solidFill>
                <a:latin typeface="Calibri"/>
              </a:rPr>
              <a:t>"Which orders, and which channel." The first list is every Q2 order with no payment. The second is every payment the gateway posted twice.</a:t>
            </a:r>
          </a:p>
        </p:txBody>
      </p:sp>
      <p:pic>
        <p:nvPicPr>
          <p:cNvPr id="14" name="mermaid diagram" descr="8b3ecc4177d8ede4.png"/>
          <p:cNvPicPr>
            <a:picLocks noChangeAspect="1"/>
          </p:cNvPicPr>
          <p:nvPr/>
        </p:nvPicPr>
        <p:blipFill>
          <a:blip r:embed="rId6"/>
          <a:stretch>
            <a:fillRect/>
          </a:stretch>
        </p:blipFill>
        <p:spPr>
          <a:xfrm>
            <a:off x="3024035" y="3243072"/>
            <a:ext cx="6143625" cy="1800225"/>
          </a:xfrm>
          <a:prstGeom prst="rect">
            <a:avLst/>
          </a:prstGeom>
        </p:spPr>
      </p:pic>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17" name="Oval 16"/>
          <p:cNvSpPr/>
          <p:nvPr/>
        </p:nvSpPr>
        <p:spPr>
          <a:xfrm>
            <a:off x="13278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437608"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What a join does to the rows</a:t>
            </a:r>
          </a:p>
        </p:txBody>
      </p:sp>
      <p:sp>
        <p:nvSpPr>
          <p:cNvPr id="19" name="Oval 18"/>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21" name="Oval 20"/>
          <p:cNvSpPr/>
          <p:nvPr/>
        </p:nvSpPr>
        <p:spPr>
          <a:xfrm>
            <a:off x="503920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148929"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orders, and which payments</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S29  ·  34 / 44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LEFT JOIN, with the quarter in WHERE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analyst learnt round 2's lesson, wrote LEFT, and added "cash received in Q2".</a:t>
            </a:r>
          </a:p>
        </p:txBody>
      </p:sp>
      <p:sp>
        <p:nvSpPr>
          <p:cNvPr id="9" name="Rounded Rectangle 8"/>
          <p:cNvSpPr/>
          <p:nvPr/>
        </p:nvSpPr>
        <p:spPr>
          <a:xfrm>
            <a:off x="530352" y="1956816"/>
            <a:ext cx="11130991" cy="146710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064768"/>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SELECT o.order_id, p.payment_id, p.paid_date</a:t>
            </a:r>
          </a:p>
          <a:p>
            <a:pPr>
              <a:spcAft>
                <a:spcPts val="200"/>
              </a:spcAft>
            </a:pPr>
            <a:r>
              <a:rPr sz="1400" b="0" i="0">
                <a:solidFill>
                  <a:srgbClr val="E4E1F1"/>
                </a:solidFill>
                <a:latin typeface="Consolas"/>
              </a:rPr>
              <a:t>FROM tiny_orders o</a:t>
            </a:r>
          </a:p>
          <a:p>
            <a:pPr>
              <a:spcAft>
                <a:spcPts val="200"/>
              </a:spcAft>
            </a:pPr>
            <a:r>
              <a:rPr sz="1400" b="0" i="0">
                <a:solidFill>
                  <a:srgbClr val="E4E1F1"/>
                </a:solidFill>
                <a:latin typeface="Consolas"/>
              </a:rPr>
              <a:t>LEFT JOIN tiny_payments p ON p.order_id = o.order_id</a:t>
            </a:r>
          </a:p>
          <a:p>
            <a:pPr>
              <a:spcAft>
                <a:spcPts val="200"/>
              </a:spcAft>
            </a:pPr>
            <a:r>
              <a:rPr sz="1400" b="0" i="0">
                <a:solidFill>
                  <a:srgbClr val="E4E1F1"/>
                </a:solidFill>
                <a:latin typeface="Consolas"/>
              </a:rPr>
              <a:t>WHERE p.paid_date BETWEEN '2026-07-01' AND '2026-09-30';</a:t>
            </a:r>
          </a:p>
        </p:txBody>
      </p:sp>
      <p:sp>
        <p:nvSpPr>
          <p:cNvPr id="14" name="Rounded Rectangle 13"/>
          <p:cNvSpPr/>
          <p:nvPr/>
        </p:nvSpPr>
        <p:spPr>
          <a:xfrm>
            <a:off x="530352" y="3588512"/>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76656" y="3716528"/>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77824" y="3707384"/>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On the invented tiny tables, how many rows come back, and is T-4 among them? a) 7 rows, T-4 with NULLs; b) 6 rows, T-4 gone; c) 5 rows, one per order; d) 8 rows, P-7 included.</a:t>
            </a:r>
          </a:p>
        </p:txBody>
      </p:sp>
      <p:sp>
        <p:nvSpPr>
          <p:cNvPr id="17" name="Oval 1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19" name="Oval 18"/>
          <p:cNvSpPr/>
          <p:nvPr/>
        </p:nvSpPr>
        <p:spPr>
          <a:xfrm>
            <a:off x="13278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437608"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What a join does to the rows</a:t>
            </a:r>
          </a:p>
        </p:txBody>
      </p:sp>
      <p:sp>
        <p:nvSpPr>
          <p:cNvPr id="21" name="Oval 20"/>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23" name="Oval 22"/>
          <p:cNvSpPr/>
          <p:nvPr/>
        </p:nvSpPr>
        <p:spPr>
          <a:xfrm>
            <a:off x="503920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148929"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orders, and which payments</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S30  ·  35 / 44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6 rows, and the LEFT JOIN became INNER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WHERE on the right-hand table throws away every row the LEFT JOIN kept for you.</a:t>
            </a:r>
          </a:p>
        </p:txBody>
      </p:sp>
      <p:pic>
        <p:nvPicPr>
          <p:cNvPr id="9" name="mermaid diagram" descr="80834d54f2ea7acf.png"/>
          <p:cNvPicPr>
            <a:picLocks noChangeAspect="1"/>
          </p:cNvPicPr>
          <p:nvPr/>
        </p:nvPicPr>
        <p:blipFill>
          <a:blip r:embed="rId5"/>
          <a:stretch>
            <a:fillRect/>
          </a:stretch>
        </p:blipFill>
        <p:spPr>
          <a:xfrm>
            <a:off x="1638147" y="1956816"/>
            <a:ext cx="8915400" cy="1128712"/>
          </a:xfrm>
          <a:prstGeom prst="rect">
            <a:avLst/>
          </a:prstGeom>
        </p:spPr>
      </p:pic>
      <p:sp>
        <p:nvSpPr>
          <p:cNvPr id="10" name="TextBox 9"/>
          <p:cNvSpPr txBox="1"/>
          <p:nvPr/>
        </p:nvSpPr>
        <p:spPr>
          <a:xfrm>
            <a:off x="530352" y="3231832"/>
            <a:ext cx="3527450" cy="698500"/>
          </a:xfrm>
          <a:prstGeom prst="rect">
            <a:avLst/>
          </a:prstGeom>
          <a:noFill/>
        </p:spPr>
        <p:txBody>
          <a:bodyPr wrap="square" anchor="t" lIns="0" rIns="0" tIns="0" bIns="0">
            <a:spAutoFit/>
          </a:bodyPr>
          <a:lstStyle/>
          <a:p>
            <a:pPr algn="l"/>
            <a:r>
              <a:rPr sz="4400" b="0" i="0">
                <a:solidFill>
                  <a:srgbClr val="5B3FD6"/>
                </a:solidFill>
                <a:latin typeface="Georgia"/>
              </a:rPr>
              <a:t>6</a:t>
            </a:r>
          </a:p>
        </p:txBody>
      </p:sp>
      <p:sp>
        <p:nvSpPr>
          <p:cNvPr id="11" name="TextBox 10"/>
          <p:cNvSpPr txBox="1"/>
          <p:nvPr/>
        </p:nvSpPr>
        <p:spPr>
          <a:xfrm>
            <a:off x="530352" y="3966908"/>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ROWS OUT</a:t>
            </a:r>
          </a:p>
        </p:txBody>
      </p:sp>
      <p:sp>
        <p:nvSpPr>
          <p:cNvPr id="12" name="TextBox 11"/>
          <p:cNvSpPr txBox="1"/>
          <p:nvPr/>
        </p:nvSpPr>
        <p:spPr>
          <a:xfrm>
            <a:off x="530352" y="4168076"/>
            <a:ext cx="3527450" cy="193421"/>
          </a:xfrm>
          <a:prstGeom prst="rect">
            <a:avLst/>
          </a:prstGeom>
          <a:noFill/>
        </p:spPr>
        <p:txBody>
          <a:bodyPr wrap="square" anchor="t" lIns="0" rIns="0" tIns="0" bIns="0">
            <a:spAutoFit/>
          </a:bodyPr>
          <a:lstStyle/>
          <a:p>
            <a:pPr algn="l"/>
            <a:r>
              <a:rPr sz="950" b="0" i="0">
                <a:solidFill>
                  <a:srgbClr val="6B6690"/>
                </a:solidFill>
                <a:latin typeface="Calibri"/>
              </a:rPr>
              <a:t>exactly the INNER join's count</a:t>
            </a:r>
          </a:p>
        </p:txBody>
      </p:sp>
      <p:sp>
        <p:nvSpPr>
          <p:cNvPr id="13" name="Rectangle 12"/>
          <p:cNvSpPr/>
          <p:nvPr/>
        </p:nvSpPr>
        <p:spPr>
          <a:xfrm>
            <a:off x="530352" y="4420552"/>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332122" y="3231832"/>
            <a:ext cx="3527450" cy="698500"/>
          </a:xfrm>
          <a:prstGeom prst="rect">
            <a:avLst/>
          </a:prstGeom>
          <a:noFill/>
        </p:spPr>
        <p:txBody>
          <a:bodyPr wrap="square" anchor="t" lIns="0" rIns="0" tIns="0" bIns="0">
            <a:spAutoFit/>
          </a:bodyPr>
          <a:lstStyle/>
          <a:p>
            <a:pPr algn="l"/>
            <a:r>
              <a:rPr sz="4400" b="0" i="0">
                <a:solidFill>
                  <a:srgbClr val="5B3FD6"/>
                </a:solidFill>
                <a:latin typeface="Georgia"/>
              </a:rPr>
              <a:t>T-4</a:t>
            </a:r>
          </a:p>
        </p:txBody>
      </p:sp>
      <p:sp>
        <p:nvSpPr>
          <p:cNvPr id="15" name="TextBox 14"/>
          <p:cNvSpPr txBox="1"/>
          <p:nvPr/>
        </p:nvSpPr>
        <p:spPr>
          <a:xfrm>
            <a:off x="4332122" y="3966908"/>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GONE</a:t>
            </a:r>
          </a:p>
        </p:txBody>
      </p:sp>
      <p:sp>
        <p:nvSpPr>
          <p:cNvPr id="16" name="TextBox 15"/>
          <p:cNvSpPr txBox="1"/>
          <p:nvPr/>
        </p:nvSpPr>
        <p:spPr>
          <a:xfrm>
            <a:off x="4332122" y="4168076"/>
            <a:ext cx="3527450" cy="193421"/>
          </a:xfrm>
          <a:prstGeom prst="rect">
            <a:avLst/>
          </a:prstGeom>
          <a:noFill/>
        </p:spPr>
        <p:txBody>
          <a:bodyPr wrap="square" anchor="t" lIns="0" rIns="0" tIns="0" bIns="0">
            <a:spAutoFit/>
          </a:bodyPr>
          <a:lstStyle/>
          <a:p>
            <a:pPr algn="l"/>
            <a:r>
              <a:rPr sz="950" b="0" i="0">
                <a:solidFill>
                  <a:srgbClr val="6B6690"/>
                </a:solidFill>
                <a:latin typeface="Calibri"/>
              </a:rPr>
              <a:t>its NULL date fails the WHERE</a:t>
            </a:r>
          </a:p>
        </p:txBody>
      </p:sp>
      <p:sp>
        <p:nvSpPr>
          <p:cNvPr id="17" name="Rectangle 16"/>
          <p:cNvSpPr/>
          <p:nvPr/>
        </p:nvSpPr>
        <p:spPr>
          <a:xfrm>
            <a:off x="4332122" y="4420552"/>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133892" y="3231832"/>
            <a:ext cx="3527450" cy="698500"/>
          </a:xfrm>
          <a:prstGeom prst="rect">
            <a:avLst/>
          </a:prstGeom>
          <a:noFill/>
        </p:spPr>
        <p:txBody>
          <a:bodyPr wrap="square" anchor="t" lIns="0" rIns="0" tIns="0" bIns="0">
            <a:spAutoFit/>
          </a:bodyPr>
          <a:lstStyle/>
          <a:p>
            <a:pPr algn="l"/>
            <a:r>
              <a:rPr sz="4400" b="0" i="0">
                <a:solidFill>
                  <a:srgbClr val="5B3FD6"/>
                </a:solidFill>
                <a:latin typeface="Georgia"/>
              </a:rPr>
              <a:t>0</a:t>
            </a:r>
          </a:p>
        </p:txBody>
      </p:sp>
      <p:sp>
        <p:nvSpPr>
          <p:cNvPr id="19" name="TextBox 18"/>
          <p:cNvSpPr txBox="1"/>
          <p:nvPr/>
        </p:nvSpPr>
        <p:spPr>
          <a:xfrm>
            <a:off x="8133892" y="3966908"/>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UNPAID ORDERS LISTED</a:t>
            </a:r>
          </a:p>
        </p:txBody>
      </p:sp>
      <p:sp>
        <p:nvSpPr>
          <p:cNvPr id="20" name="TextBox 19"/>
          <p:cNvSpPr txBox="1"/>
          <p:nvPr/>
        </p:nvSpPr>
        <p:spPr>
          <a:xfrm>
            <a:off x="8133892" y="4168076"/>
            <a:ext cx="3527450" cy="193421"/>
          </a:xfrm>
          <a:prstGeom prst="rect">
            <a:avLst/>
          </a:prstGeom>
          <a:noFill/>
        </p:spPr>
        <p:txBody>
          <a:bodyPr wrap="square" anchor="t" lIns="0" rIns="0" tIns="0" bIns="0">
            <a:spAutoFit/>
          </a:bodyPr>
          <a:lstStyle/>
          <a:p>
            <a:pPr algn="l"/>
            <a:r>
              <a:rPr sz="950" b="0" i="0">
                <a:solidFill>
                  <a:srgbClr val="6B6690"/>
                </a:solidFill>
                <a:latin typeface="Calibri"/>
              </a:rPr>
              <a:t>the list Anand asked for is empty</a:t>
            </a:r>
          </a:p>
        </p:txBody>
      </p:sp>
      <p:sp>
        <p:nvSpPr>
          <p:cNvPr id="21" name="Rectangle 20"/>
          <p:cNvSpPr/>
          <p:nvPr/>
        </p:nvSpPr>
        <p:spPr>
          <a:xfrm>
            <a:off x="8133892" y="4420552"/>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530352" y="4694872"/>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676656" y="4822888"/>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77824" y="4813744"/>
            <a:ext cx="10564063" cy="891540"/>
          </a:xfrm>
          <a:prstGeom prst="rect">
            <a:avLst/>
          </a:prstGeom>
          <a:noFill/>
        </p:spPr>
        <p:txBody>
          <a:bodyPr wrap="square" anchor="ctr" lIns="0" rIns="0" tIns="0" bIns="0">
            <a:spAutoFit/>
          </a:bodyPr>
          <a:lstStyle/>
          <a:p>
            <a:r>
              <a:rPr sz="1500" b="1">
                <a:solidFill>
                  <a:srgbClr val="5B3FD6"/>
                </a:solidFill>
                <a:latin typeface="Calibri"/>
              </a:rPr>
              <a:t>What it would have misled. </a:t>
            </a:r>
            <a:r>
              <a:rPr sz="1500" b="0" i="0">
                <a:solidFill>
                  <a:srgbClr val="1A1440"/>
                </a:solidFill>
                <a:latin typeface="Calibri"/>
              </a:rPr>
              <a:t>"Every Q2 order was paid within the quarter" is the sentence this query supports, and it is false. Checked on PostgreSQL 16.13 on 29 September 2026: the same WHERE on Kalpa's payments drops every unpaid Q2 order.</a:t>
            </a:r>
          </a:p>
        </p:txBody>
      </p:sp>
      <p:sp>
        <p:nvSpPr>
          <p:cNvPr id="25" name="Oval 2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27" name="Oval 26"/>
          <p:cNvSpPr/>
          <p:nvPr/>
        </p:nvSpPr>
        <p:spPr>
          <a:xfrm>
            <a:off x="13278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437608"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What a join does to the rows</a:t>
            </a:r>
          </a:p>
        </p:txBody>
      </p:sp>
      <p:sp>
        <p:nvSpPr>
          <p:cNvPr id="29" name="Oval 28"/>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31" name="Oval 30"/>
          <p:cNvSpPr/>
          <p:nvPr/>
        </p:nvSpPr>
        <p:spPr>
          <a:xfrm>
            <a:off x="503920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148929"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orders, and which payments</a:t>
            </a:r>
          </a:p>
        </p:txBody>
      </p:sp>
      <p:sp>
        <p:nvSpPr>
          <p:cNvPr id="33" name="TextBox 3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S31  ·  36 / 44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fix: the payments condition goes in 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ON decides what matches; WHERE decides what survives, after the join.</a:t>
            </a:r>
          </a:p>
        </p:txBody>
      </p:sp>
      <p:sp>
        <p:nvSpPr>
          <p:cNvPr id="9" name="Rounded Rectangle 8"/>
          <p:cNvSpPr/>
          <p:nvPr/>
        </p:nvSpPr>
        <p:spPr>
          <a:xfrm>
            <a:off x="530352" y="1884934"/>
            <a:ext cx="11130991" cy="1719580"/>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12950"/>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12950"/>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12950"/>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14118"/>
            <a:ext cx="10673791" cy="1317244"/>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SELECT o.order_id, p.payment_id, p.paid_date</a:t>
            </a:r>
          </a:p>
          <a:p>
            <a:pPr>
              <a:spcAft>
                <a:spcPts val="200"/>
              </a:spcAft>
            </a:pPr>
            <a:r>
              <a:rPr sz="1400" b="0" i="0">
                <a:solidFill>
                  <a:srgbClr val="E4E1F1"/>
                </a:solidFill>
                <a:latin typeface="Consolas"/>
              </a:rPr>
              <a:t>FROM tiny_orders o</a:t>
            </a:r>
          </a:p>
          <a:p>
            <a:pPr>
              <a:spcAft>
                <a:spcPts val="200"/>
              </a:spcAft>
            </a:pPr>
            <a:r>
              <a:rPr sz="1400" b="0" i="0">
                <a:solidFill>
                  <a:srgbClr val="E4E1F1"/>
                </a:solidFill>
                <a:latin typeface="Consolas"/>
              </a:rPr>
              <a:t>LEFT JOIN tiny_payments p</a:t>
            </a:r>
          </a:p>
          <a:p>
            <a:pPr>
              <a:spcAft>
                <a:spcPts val="200"/>
              </a:spcAft>
            </a:pPr>
            <a:r>
              <a:rPr sz="1400" b="0" i="0">
                <a:solidFill>
                  <a:srgbClr val="E4E1F1"/>
                </a:solidFill>
                <a:latin typeface="Consolas"/>
              </a:rPr>
              <a:t>       ON p.order_id = o.order_id</a:t>
            </a:r>
          </a:p>
          <a:p>
            <a:pPr>
              <a:spcAft>
                <a:spcPts val="200"/>
              </a:spcAft>
            </a:pPr>
            <a:r>
              <a:rPr sz="1400" b="0" i="0">
                <a:solidFill>
                  <a:srgbClr val="E4E1F1"/>
                </a:solidFill>
                <a:latin typeface="Consolas"/>
              </a:rPr>
              <a:t>      AND p.paid_date BETWEEN '2026-07-01' AND '2026-09-30';</a:t>
            </a:r>
          </a:p>
        </p:txBody>
      </p:sp>
      <p:graphicFrame>
        <p:nvGraphicFramePr>
          <p:cNvPr id="14" name="Table 13"/>
          <p:cNvGraphicFramePr>
            <a:graphicFrameLocks noGrp="1"/>
          </p:cNvGraphicFramePr>
          <p:nvPr/>
        </p:nvGraphicFramePr>
        <p:xfrm>
          <a:off x="530352" y="3769106"/>
          <a:ext cx="11130989" cy="1109472"/>
        </p:xfrm>
        <a:graphic>
          <a:graphicData uri="http://schemas.openxmlformats.org/drawingml/2006/table">
            <a:tbl>
              <a:tblPr firstRow="0" bandRow="0">
                <a:tableStyleId>{2D5ABB26-0587-4C30-8999-92F81FD0307C}</a:tableStyleId>
              </a:tblPr>
              <a:tblGrid>
                <a:gridCol w="4504263"/>
                <a:gridCol w="3484199"/>
                <a:gridCol w="3142527"/>
              </a:tblGrid>
              <a:tr h="369824">
                <a:tc>
                  <a:txBody>
                    <a:bodyPr/>
                    <a:lstStyle/>
                    <a:p>
                      <a:r>
                        <a:rPr sz="1450" b="1" i="0">
                          <a:solidFill>
                            <a:srgbClr val="FFFFFF"/>
                          </a:solidFill>
                          <a:latin typeface="Calibri"/>
                        </a:rPr>
                        <a:t>Where the condition sits</a:t>
                      </a:r>
                    </a:p>
                  </a:txBody>
                  <a:tcPr marL="101600" marR="101600" marT="38100" marB="38100" anchor="ctr">
                    <a:solidFill>
                      <a:srgbClr val="1A0F5C"/>
                    </a:solidFill>
                  </a:tcPr>
                </a:tc>
                <a:tc>
                  <a:txBody>
                    <a:bodyPr/>
                    <a:lstStyle/>
                    <a:p>
                      <a:r>
                        <a:rPr sz="1450" b="1" i="0">
                          <a:solidFill>
                            <a:srgbClr val="FFFFFF"/>
                          </a:solidFill>
                          <a:latin typeface="Calibri"/>
                        </a:rPr>
                        <a:t>Rows on the tiny tables</a:t>
                      </a:r>
                    </a:p>
                  </a:txBody>
                  <a:tcPr marL="101600" marR="101600" marT="38100" marB="38100" anchor="ctr">
                    <a:solidFill>
                      <a:srgbClr val="1A0F5C"/>
                    </a:solidFill>
                  </a:tcPr>
                </a:tc>
                <a:tc>
                  <a:txBody>
                    <a:bodyPr/>
                    <a:lstStyle/>
                    <a:p>
                      <a:r>
                        <a:rPr sz="1450" b="1" i="0">
                          <a:solidFill>
                            <a:srgbClr val="FFFFFF"/>
                          </a:solidFill>
                          <a:latin typeface="Calibri"/>
                        </a:rPr>
                        <a:t>T-4</a:t>
                      </a:r>
                    </a:p>
                  </a:txBody>
                  <a:tcPr marL="101600" marR="101600" marT="38100" marB="38100" anchor="ctr">
                    <a:solidFill>
                      <a:srgbClr val="1A0F5C"/>
                    </a:solidFill>
                  </a:tcPr>
                </a:tc>
              </a:tr>
              <a:tr h="369824">
                <a:tc>
                  <a:txBody>
                    <a:bodyPr/>
                    <a:lstStyle/>
                    <a:p>
                      <a:r>
                        <a:rPr sz="1400" b="0" i="0">
                          <a:solidFill>
                            <a:srgbClr val="1A1440"/>
                          </a:solidFill>
                          <a:latin typeface="Calibri"/>
                        </a:rPr>
                        <a:t>WHERE p.paid_date BETWEEN ...</a:t>
                      </a:r>
                    </a:p>
                  </a:txBody>
                  <a:tcPr marL="101600" marR="101600" marT="38100" marB="38100" anchor="ctr">
                    <a:solidFill>
                      <a:srgbClr val="FFFFFF"/>
                    </a:solidFill>
                  </a:tcPr>
                </a:tc>
                <a:tc>
                  <a:txBody>
                    <a:bodyPr/>
                    <a:lstStyle/>
                    <a:p>
                      <a:r>
                        <a:rPr sz="1400" b="0" i="0">
                          <a:solidFill>
                            <a:srgbClr val="1A1440"/>
                          </a:solidFill>
                          <a:latin typeface="Calibri"/>
                        </a:rPr>
                        <a:t>6</a:t>
                      </a:r>
                    </a:p>
                  </a:txBody>
                  <a:tcPr marL="101600" marR="101600" marT="38100" marB="38100" anchor="ctr">
                    <a:solidFill>
                      <a:srgbClr val="FFFFFF"/>
                    </a:solidFill>
                  </a:tcPr>
                </a:tc>
                <a:tc>
                  <a:txBody>
                    <a:bodyPr/>
                    <a:lstStyle/>
                    <a:p>
                      <a:r>
                        <a:rPr sz="1400" b="0" i="0">
                          <a:solidFill>
                            <a:srgbClr val="1A1440"/>
                          </a:solidFill>
                          <a:latin typeface="Calibri"/>
                        </a:rPr>
                        <a:t>Dropped</a:t>
                      </a:r>
                    </a:p>
                  </a:txBody>
                  <a:tcPr marL="101600" marR="101600" marT="38100" marB="38100" anchor="ctr">
                    <a:solidFill>
                      <a:srgbClr val="FFFFFF"/>
                    </a:solidFill>
                  </a:tcPr>
                </a:tc>
              </a:tr>
              <a:tr h="369824">
                <a:tc>
                  <a:txBody>
                    <a:bodyPr/>
                    <a:lstStyle/>
                    <a:p>
                      <a:r>
                        <a:rPr sz="1400" b="0" i="0">
                          <a:solidFill>
                            <a:srgbClr val="1A1440"/>
                          </a:solidFill>
                          <a:latin typeface="Calibri"/>
                        </a:rPr>
                        <a:t>ON ... AND p.paid_date BETWEEN ...</a:t>
                      </a:r>
                    </a:p>
                  </a:txBody>
                  <a:tcPr marL="101600" marR="101600" marT="38100" marB="38100" anchor="ctr">
                    <a:solidFill>
                      <a:srgbClr val="F4F2FA"/>
                    </a:solidFill>
                  </a:tcPr>
                </a:tc>
                <a:tc>
                  <a:txBody>
                    <a:bodyPr/>
                    <a:lstStyle/>
                    <a:p>
                      <a:r>
                        <a:rPr sz="1400" b="0" i="0">
                          <a:solidFill>
                            <a:srgbClr val="1A1440"/>
                          </a:solidFill>
                          <a:latin typeface="Calibri"/>
                        </a:rPr>
                        <a:t>7</a:t>
                      </a:r>
                    </a:p>
                  </a:txBody>
                  <a:tcPr marL="101600" marR="101600" marT="38100" marB="38100" anchor="ctr">
                    <a:solidFill>
                      <a:srgbClr val="F4F2FA"/>
                    </a:solidFill>
                  </a:tcPr>
                </a:tc>
                <a:tc>
                  <a:txBody>
                    <a:bodyPr/>
                    <a:lstStyle/>
                    <a:p>
                      <a:r>
                        <a:rPr sz="1400" b="0" i="0">
                          <a:solidFill>
                            <a:srgbClr val="1A1440"/>
                          </a:solidFill>
                          <a:latin typeface="Calibri"/>
                        </a:rPr>
                        <a:t>Kept, with NULL payment</a:t>
                      </a:r>
                    </a:p>
                  </a:txBody>
                  <a:tcPr marL="101600" marR="101600" marT="38100" marB="38100" anchor="ctr">
                    <a:solidFill>
                      <a:srgbClr val="F4F2FA"/>
                    </a:solidFill>
                  </a:tcPr>
                </a:tc>
              </a:tr>
            </a:tbl>
          </a:graphicData>
        </a:graphic>
      </p:graphicFrame>
      <p:sp>
        <p:nvSpPr>
          <p:cNvPr id="15" name="Rounded Rectangle 14"/>
          <p:cNvSpPr/>
          <p:nvPr/>
        </p:nvSpPr>
        <p:spPr>
          <a:xfrm>
            <a:off x="530352" y="5134610"/>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337302"/>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4"/>
          <a:stretch>
            <a:fillRect/>
          </a:stretch>
        </p:blipFill>
        <p:spPr>
          <a:xfrm>
            <a:off x="868680" y="5447030"/>
            <a:ext cx="237744" cy="237744"/>
          </a:xfrm>
          <a:prstGeom prst="rect">
            <a:avLst/>
          </a:prstGeom>
        </p:spPr>
      </p:pic>
      <p:sp>
        <p:nvSpPr>
          <p:cNvPr id="18" name="TextBox 17"/>
          <p:cNvSpPr txBox="1"/>
          <p:nvPr/>
        </p:nvSpPr>
        <p:spPr>
          <a:xfrm>
            <a:off x="1399031" y="5280914"/>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500370"/>
            <a:ext cx="9987991" cy="423672"/>
          </a:xfrm>
          <a:prstGeom prst="rect">
            <a:avLst/>
          </a:prstGeom>
          <a:noFill/>
        </p:spPr>
        <p:txBody>
          <a:bodyPr wrap="square" anchor="t" lIns="0" rIns="0" tIns="0" bIns="0">
            <a:spAutoFit/>
          </a:bodyPr>
          <a:lstStyle/>
          <a:p>
            <a:r>
              <a:rPr sz="1500" b="0" i="0">
                <a:solidFill>
                  <a:srgbClr val="1A1440"/>
                </a:solidFill>
                <a:latin typeface="Calibri"/>
              </a:rPr>
              <a:t>[F] A filter on the right-hand table of a LEFT JOIN: WHERE or ON, and what changes?</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22" name="Oval 21"/>
          <p:cNvSpPr/>
          <p:nvPr/>
        </p:nvSpPr>
        <p:spPr>
          <a:xfrm>
            <a:off x="13278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437608"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What a join does to the rows</a:t>
            </a:r>
          </a:p>
        </p:txBody>
      </p:sp>
      <p:sp>
        <p:nvSpPr>
          <p:cNvPr id="24" name="Oval 23"/>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26" name="Oval 25"/>
          <p:cNvSpPr/>
          <p:nvPr/>
        </p:nvSpPr>
        <p:spPr>
          <a:xfrm>
            <a:off x="503920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148929"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orders, and which payments</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S32  ·  37 / 44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anti-join: the one WHERE that belongs there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IS NULL on the right table's key keeps exactly the orders nothing matched.</a:t>
            </a:r>
          </a:p>
        </p:txBody>
      </p:sp>
      <p:sp>
        <p:nvSpPr>
          <p:cNvPr id="9" name="Rounded Rectangle 8"/>
          <p:cNvSpPr/>
          <p:nvPr/>
        </p:nvSpPr>
        <p:spPr>
          <a:xfrm>
            <a:off x="530352" y="1956816"/>
            <a:ext cx="11130991" cy="1719580"/>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317244"/>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SELECT o.order_id, o.channel, o.amount</a:t>
            </a:r>
          </a:p>
          <a:p>
            <a:pPr>
              <a:spcAft>
                <a:spcPts val="200"/>
              </a:spcAft>
            </a:pPr>
            <a:r>
              <a:rPr sz="1400" b="0" i="0">
                <a:solidFill>
                  <a:srgbClr val="E4E1F1"/>
                </a:solidFill>
                <a:latin typeface="Consolas"/>
              </a:rPr>
              <a:t>FROM orders o</a:t>
            </a:r>
          </a:p>
          <a:p>
            <a:pPr>
              <a:spcAft>
                <a:spcPts val="200"/>
              </a:spcAft>
            </a:pPr>
            <a:r>
              <a:rPr sz="1400" b="0" i="0">
                <a:solidFill>
                  <a:srgbClr val="E4E1F1"/>
                </a:solidFill>
                <a:latin typeface="Consolas"/>
              </a:rPr>
              <a:t>LEFT JOIN payments p ON p.order_id = o.order_id</a:t>
            </a:r>
          </a:p>
          <a:p>
            <a:pPr>
              <a:spcAft>
                <a:spcPts val="200"/>
              </a:spcAft>
            </a:pPr>
            <a:r>
              <a:rPr sz="1400" b="0" i="0">
                <a:solidFill>
                  <a:srgbClr val="E4E1F1"/>
                </a:solidFill>
                <a:latin typeface="Consolas"/>
              </a:rPr>
              <a:t>WHERE o.quarter = 'Q2'</a:t>
            </a:r>
          </a:p>
          <a:p>
            <a:pPr>
              <a:spcAft>
                <a:spcPts val="200"/>
              </a:spcAft>
            </a:pPr>
            <a:r>
              <a:rPr sz="1400" b="0" i="0">
                <a:solidFill>
                  <a:srgbClr val="E4E1F1"/>
                </a:solidFill>
                <a:latin typeface="Consolas"/>
              </a:rPr>
              <a:t>  AND p.payment_id IS NULL;</a:t>
            </a:r>
          </a:p>
        </p:txBody>
      </p:sp>
      <p:pic>
        <p:nvPicPr>
          <p:cNvPr id="14" name="mermaid diagram" descr="18249efe48c0bedc.png"/>
          <p:cNvPicPr>
            <a:picLocks noChangeAspect="1"/>
          </p:cNvPicPr>
          <p:nvPr/>
        </p:nvPicPr>
        <p:blipFill>
          <a:blip r:embed="rId6"/>
          <a:stretch>
            <a:fillRect/>
          </a:stretch>
        </p:blipFill>
        <p:spPr>
          <a:xfrm>
            <a:off x="2095347" y="3840988"/>
            <a:ext cx="8001000" cy="871537"/>
          </a:xfrm>
          <a:prstGeom prst="rect">
            <a:avLst/>
          </a:prstGeom>
        </p:spPr>
      </p:pic>
      <p:sp>
        <p:nvSpPr>
          <p:cNvPr id="15" name="Rounded Rectangle 14"/>
          <p:cNvSpPr/>
          <p:nvPr/>
        </p:nvSpPr>
        <p:spPr>
          <a:xfrm>
            <a:off x="530352" y="4858829"/>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061521"/>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5"/>
          <a:stretch>
            <a:fillRect/>
          </a:stretch>
        </p:blipFill>
        <p:spPr>
          <a:xfrm>
            <a:off x="868680" y="5171249"/>
            <a:ext cx="237744" cy="237744"/>
          </a:xfrm>
          <a:prstGeom prst="rect">
            <a:avLst/>
          </a:prstGeom>
        </p:spPr>
      </p:pic>
      <p:sp>
        <p:nvSpPr>
          <p:cNvPr id="18" name="TextBox 17"/>
          <p:cNvSpPr txBox="1"/>
          <p:nvPr/>
        </p:nvSpPr>
        <p:spPr>
          <a:xfrm>
            <a:off x="1399031" y="5005133"/>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224589"/>
            <a:ext cx="9987991" cy="423672"/>
          </a:xfrm>
          <a:prstGeom prst="rect">
            <a:avLst/>
          </a:prstGeom>
          <a:noFill/>
        </p:spPr>
        <p:txBody>
          <a:bodyPr wrap="square" anchor="t" lIns="0" rIns="0" tIns="0" bIns="0">
            <a:spAutoFit/>
          </a:bodyPr>
          <a:lstStyle/>
          <a:p>
            <a:r>
              <a:rPr sz="1500" b="0" i="0">
                <a:solidFill>
                  <a:srgbClr val="1A1440"/>
                </a:solidFill>
                <a:latin typeface="Calibri"/>
              </a:rPr>
              <a:t>[F] How do you find orders with no payment?</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22" name="Oval 21"/>
          <p:cNvSpPr/>
          <p:nvPr/>
        </p:nvSpPr>
        <p:spPr>
          <a:xfrm>
            <a:off x="13278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437608"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What a join does to the rows</a:t>
            </a:r>
          </a:p>
        </p:txBody>
      </p:sp>
      <p:sp>
        <p:nvSpPr>
          <p:cNvPr id="24" name="Oval 23"/>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26" name="Oval 25"/>
          <p:cNvSpPr/>
          <p:nvPr/>
        </p:nvSpPr>
        <p:spPr>
          <a:xfrm>
            <a:off x="503920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148929"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orders, and which payments</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S33  ·  38 / 44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the double-paid list on Q2</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analyst reaches for HAVING, which Monday taught.</a:t>
            </a:r>
          </a:p>
        </p:txBody>
      </p:sp>
      <p:sp>
        <p:nvSpPr>
          <p:cNvPr id="9" name="Rounded Rectangle 8"/>
          <p:cNvSpPr/>
          <p:nvPr/>
        </p:nvSpPr>
        <p:spPr>
          <a:xfrm>
            <a:off x="530352" y="1956816"/>
            <a:ext cx="11130991" cy="1972055"/>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569719"/>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SELECT o.order_id, count(*) AS payment_rows</a:t>
            </a:r>
          </a:p>
          <a:p>
            <a:pPr>
              <a:spcAft>
                <a:spcPts val="200"/>
              </a:spcAft>
            </a:pPr>
            <a:r>
              <a:rPr sz="1400" b="0" i="0">
                <a:solidFill>
                  <a:srgbClr val="E4E1F1"/>
                </a:solidFill>
                <a:latin typeface="Consolas"/>
              </a:rPr>
              <a:t>FROM orders o</a:t>
            </a:r>
          </a:p>
          <a:p>
            <a:pPr>
              <a:spcAft>
                <a:spcPts val="200"/>
              </a:spcAft>
            </a:pPr>
            <a:r>
              <a:rPr sz="1400" b="0" i="0">
                <a:solidFill>
                  <a:srgbClr val="E4E1F1"/>
                </a:solidFill>
                <a:latin typeface="Consolas"/>
              </a:rPr>
              <a:t>JOIN payments p ON p.order_id = o.order_id</a:t>
            </a:r>
          </a:p>
          <a:p>
            <a:pPr>
              <a:spcAft>
                <a:spcPts val="200"/>
              </a:spcAft>
            </a:pPr>
            <a:r>
              <a:rPr sz="1400" b="0" i="0">
                <a:solidFill>
                  <a:srgbClr val="E4E1F1"/>
                </a:solidFill>
                <a:latin typeface="Consolas"/>
              </a:rPr>
              <a:t>WHERE o.quarter = 'Q2'</a:t>
            </a:r>
          </a:p>
          <a:p>
            <a:pPr>
              <a:spcAft>
                <a:spcPts val="200"/>
              </a:spcAft>
            </a:pPr>
            <a:r>
              <a:rPr sz="1400" b="0" i="0">
                <a:solidFill>
                  <a:srgbClr val="E4E1F1"/>
                </a:solidFill>
                <a:latin typeface="Consolas"/>
              </a:rPr>
              <a:t>GROUP BY o.order_id</a:t>
            </a:r>
          </a:p>
          <a:p>
            <a:pPr>
              <a:spcAft>
                <a:spcPts val="200"/>
              </a:spcAft>
            </a:pPr>
            <a:r>
              <a:rPr sz="1400" b="0" i="0">
                <a:solidFill>
                  <a:srgbClr val="E4E1F1"/>
                </a:solidFill>
                <a:latin typeface="Consolas"/>
              </a:rPr>
              <a:t>HAVING count(*) &gt; 1;</a:t>
            </a:r>
          </a:p>
        </p:txBody>
      </p:sp>
      <p:sp>
        <p:nvSpPr>
          <p:cNvPr id="14" name="Rounded Rectangle 13"/>
          <p:cNvSpPr/>
          <p:nvPr/>
        </p:nvSpPr>
        <p:spPr>
          <a:xfrm>
            <a:off x="530352" y="4093463"/>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76656" y="4221479"/>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77824" y="4212335"/>
            <a:ext cx="10564063" cy="8915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Anand will call every customer on this list about a refund. What does it return? a) a short list of small card payments; b) 216 orders, about Rs 9.6 crore of bookings; c) no rows, since payments have unique ids; d) every Q2 order.</a:t>
            </a:r>
          </a:p>
        </p:txBody>
      </p:sp>
      <p:sp>
        <p:nvSpPr>
          <p:cNvPr id="17" name="Oval 1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19" name="Oval 18"/>
          <p:cNvSpPr/>
          <p:nvPr/>
        </p:nvSpPr>
        <p:spPr>
          <a:xfrm>
            <a:off x="13278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437608"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What a join does to the rows</a:t>
            </a:r>
          </a:p>
        </p:txBody>
      </p:sp>
      <p:sp>
        <p:nvSpPr>
          <p:cNvPr id="21" name="Oval 20"/>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23" name="Oval 22"/>
          <p:cNvSpPr/>
          <p:nvPr/>
        </p:nvSpPr>
        <p:spPr>
          <a:xfrm>
            <a:off x="503920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148929"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orders, and which payments</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S34  ·  39 / 44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216 orders flagged, Rs 9,62,59,340 booked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Most of the list is large invoices paid in two instalments, which are not double payments at all.</a:t>
            </a:r>
          </a:p>
        </p:txBody>
      </p:sp>
      <p:pic>
        <p:nvPicPr>
          <p:cNvPr id="9" name="mermaid diagram" descr="33986fe27d311e05.png"/>
          <p:cNvPicPr>
            <a:picLocks noChangeAspect="1"/>
          </p:cNvPicPr>
          <p:nvPr/>
        </p:nvPicPr>
        <p:blipFill>
          <a:blip r:embed="rId5"/>
          <a:stretch>
            <a:fillRect/>
          </a:stretch>
        </p:blipFill>
        <p:spPr>
          <a:xfrm>
            <a:off x="3152622" y="1832419"/>
            <a:ext cx="5886450" cy="1800225"/>
          </a:xfrm>
          <a:prstGeom prst="rect">
            <a:avLst/>
          </a:prstGeom>
        </p:spPr>
      </p:pic>
      <p:sp>
        <p:nvSpPr>
          <p:cNvPr id="10" name="TextBox 9"/>
          <p:cNvSpPr txBox="1"/>
          <p:nvPr/>
        </p:nvSpPr>
        <p:spPr>
          <a:xfrm>
            <a:off x="530352" y="3778948"/>
            <a:ext cx="3527450" cy="508000"/>
          </a:xfrm>
          <a:prstGeom prst="rect">
            <a:avLst/>
          </a:prstGeom>
          <a:noFill/>
        </p:spPr>
        <p:txBody>
          <a:bodyPr wrap="square" anchor="t" lIns="0" rIns="0" tIns="0" bIns="0">
            <a:spAutoFit/>
          </a:bodyPr>
          <a:lstStyle/>
          <a:p>
            <a:pPr algn="l"/>
            <a:r>
              <a:rPr sz="3200" b="0" i="0">
                <a:solidFill>
                  <a:srgbClr val="5B3FD6"/>
                </a:solidFill>
                <a:latin typeface="Georgia"/>
              </a:rPr>
              <a:t>216</a:t>
            </a:r>
          </a:p>
        </p:txBody>
      </p:sp>
      <p:sp>
        <p:nvSpPr>
          <p:cNvPr id="11" name="TextBox 10"/>
          <p:cNvSpPr txBox="1"/>
          <p:nvPr/>
        </p:nvSpPr>
        <p:spPr>
          <a:xfrm>
            <a:off x="530352" y="4323524"/>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Q2 ORDERS FLAGGED</a:t>
            </a:r>
          </a:p>
        </p:txBody>
      </p:sp>
      <p:sp>
        <p:nvSpPr>
          <p:cNvPr id="12" name="TextBox 11"/>
          <p:cNvSpPr txBox="1"/>
          <p:nvPr/>
        </p:nvSpPr>
        <p:spPr>
          <a:xfrm>
            <a:off x="530352" y="4524692"/>
            <a:ext cx="3527450" cy="193421"/>
          </a:xfrm>
          <a:prstGeom prst="rect">
            <a:avLst/>
          </a:prstGeom>
          <a:noFill/>
        </p:spPr>
        <p:txBody>
          <a:bodyPr wrap="square" anchor="t" lIns="0" rIns="0" tIns="0" bIns="0">
            <a:spAutoFit/>
          </a:bodyPr>
          <a:lstStyle/>
          <a:p>
            <a:pPr algn="l"/>
            <a:r>
              <a:rPr sz="950" b="0" i="0">
                <a:solidFill>
                  <a:srgbClr val="6B6690"/>
                </a:solidFill>
                <a:latin typeface="Calibri"/>
              </a:rPr>
              <a:t>more than one payment row each</a:t>
            </a:r>
          </a:p>
        </p:txBody>
      </p:sp>
      <p:sp>
        <p:nvSpPr>
          <p:cNvPr id="13" name="Rectangle 12"/>
          <p:cNvSpPr/>
          <p:nvPr/>
        </p:nvSpPr>
        <p:spPr>
          <a:xfrm>
            <a:off x="530352" y="4967668"/>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332122" y="3778948"/>
            <a:ext cx="3527450" cy="508000"/>
          </a:xfrm>
          <a:prstGeom prst="rect">
            <a:avLst/>
          </a:prstGeom>
          <a:noFill/>
        </p:spPr>
        <p:txBody>
          <a:bodyPr wrap="square" anchor="t" lIns="0" rIns="0" tIns="0" bIns="0">
            <a:spAutoFit/>
          </a:bodyPr>
          <a:lstStyle/>
          <a:p>
            <a:pPr algn="l"/>
            <a:r>
              <a:rPr sz="3200" b="0" i="0">
                <a:solidFill>
                  <a:srgbClr val="5B3FD6"/>
                </a:solidFill>
                <a:latin typeface="Georgia"/>
              </a:rPr>
              <a:t>Rs 9,62,59,340</a:t>
            </a:r>
          </a:p>
        </p:txBody>
      </p:sp>
      <p:sp>
        <p:nvSpPr>
          <p:cNvPr id="15" name="TextBox 14"/>
          <p:cNvSpPr txBox="1"/>
          <p:nvPr/>
        </p:nvSpPr>
        <p:spPr>
          <a:xfrm>
            <a:off x="4332122" y="4323524"/>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BOOKED ON THE LIST</a:t>
            </a:r>
          </a:p>
        </p:txBody>
      </p:sp>
      <p:sp>
        <p:nvSpPr>
          <p:cNvPr id="16" name="TextBox 15"/>
          <p:cNvSpPr txBox="1"/>
          <p:nvPr/>
        </p:nvSpPr>
        <p:spPr>
          <a:xfrm>
            <a:off x="4332122" y="4524692"/>
            <a:ext cx="3527450" cy="193421"/>
          </a:xfrm>
          <a:prstGeom prst="rect">
            <a:avLst/>
          </a:prstGeom>
          <a:noFill/>
        </p:spPr>
        <p:txBody>
          <a:bodyPr wrap="square" anchor="t" lIns="0" rIns="0" tIns="0" bIns="0">
            <a:spAutoFit/>
          </a:bodyPr>
          <a:lstStyle/>
          <a:p>
            <a:pPr algn="l"/>
            <a:r>
              <a:rPr sz="950" b="0" i="0">
                <a:solidFill>
                  <a:srgbClr val="6B6690"/>
                </a:solidFill>
                <a:latin typeface="Calibri"/>
              </a:rPr>
              <a:t>98 percent of Q2</a:t>
            </a:r>
          </a:p>
        </p:txBody>
      </p:sp>
      <p:sp>
        <p:nvSpPr>
          <p:cNvPr id="17" name="Rectangle 16"/>
          <p:cNvSpPr/>
          <p:nvPr/>
        </p:nvSpPr>
        <p:spPr>
          <a:xfrm>
            <a:off x="4332122" y="4967668"/>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133892" y="3778948"/>
            <a:ext cx="3527450" cy="508000"/>
          </a:xfrm>
          <a:prstGeom prst="rect">
            <a:avLst/>
          </a:prstGeom>
          <a:noFill/>
        </p:spPr>
        <p:txBody>
          <a:bodyPr wrap="square" anchor="t" lIns="0" rIns="0" tIns="0" bIns="0">
            <a:spAutoFit/>
          </a:bodyPr>
          <a:lstStyle/>
          <a:p>
            <a:pPr algn="l"/>
            <a:r>
              <a:rPr sz="3200" b="0" i="0">
                <a:solidFill>
                  <a:srgbClr val="5B3FD6"/>
                </a:solidFill>
                <a:latin typeface="Georgia"/>
              </a:rPr>
              <a:t>2</a:t>
            </a:r>
          </a:p>
        </p:txBody>
      </p:sp>
      <p:sp>
        <p:nvSpPr>
          <p:cNvPr id="19" name="TextBox 18"/>
          <p:cNvSpPr txBox="1"/>
          <p:nvPr/>
        </p:nvSpPr>
        <p:spPr>
          <a:xfrm>
            <a:off x="8133892" y="4323524"/>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INSTALMENT NUMBERS</a:t>
            </a:r>
          </a:p>
        </p:txBody>
      </p:sp>
      <p:sp>
        <p:nvSpPr>
          <p:cNvPr id="20" name="TextBox 19"/>
          <p:cNvSpPr txBox="1"/>
          <p:nvPr/>
        </p:nvSpPr>
        <p:spPr>
          <a:xfrm>
            <a:off x="8133892" y="4524692"/>
            <a:ext cx="3527450" cy="193421"/>
          </a:xfrm>
          <a:prstGeom prst="rect">
            <a:avLst/>
          </a:prstGeom>
          <a:noFill/>
        </p:spPr>
        <p:txBody>
          <a:bodyPr wrap="square" anchor="t" lIns="0" rIns="0" tIns="0" bIns="0">
            <a:spAutoFit/>
          </a:bodyPr>
          <a:lstStyle/>
          <a:p>
            <a:pPr algn="l"/>
            <a:r>
              <a:rPr sz="950" b="0" i="0">
                <a:solidFill>
                  <a:srgbClr val="6B6690"/>
                </a:solidFill>
                <a:latin typeface="Calibri"/>
              </a:rPr>
              <a:t>on most flagged orders</a:t>
            </a:r>
          </a:p>
        </p:txBody>
      </p:sp>
      <p:sp>
        <p:nvSpPr>
          <p:cNvPr id="21" name="Rectangle 20"/>
          <p:cNvSpPr/>
          <p:nvPr/>
        </p:nvSpPr>
        <p:spPr>
          <a:xfrm>
            <a:off x="8133892" y="4967668"/>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530352" y="524198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676656" y="5370003"/>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77824" y="5360860"/>
            <a:ext cx="10564063" cy="624840"/>
          </a:xfrm>
          <a:prstGeom prst="rect">
            <a:avLst/>
          </a:prstGeom>
          <a:noFill/>
        </p:spPr>
        <p:txBody>
          <a:bodyPr wrap="square" anchor="ctr" lIns="0" rIns="0" tIns="0" bIns="0">
            <a:spAutoFit/>
          </a:bodyPr>
          <a:lstStyle/>
          <a:p>
            <a:r>
              <a:rPr sz="1500" b="1">
                <a:solidFill>
                  <a:srgbClr val="5B3FD6"/>
                </a:solidFill>
                <a:latin typeface="Calibri"/>
              </a:rPr>
              <a:t>What it would have misled. </a:t>
            </a:r>
            <a:r>
              <a:rPr sz="1500" b="0" i="0">
                <a:solidFill>
                  <a:srgbClr val="1A1440"/>
                </a:solidFill>
                <a:latin typeface="Calibri"/>
              </a:rPr>
              <a:t>A refund review of Rs 9.6 crore of legitimate second instalments, and a call to every corporate buyer who paid on time.</a:t>
            </a:r>
          </a:p>
        </p:txBody>
      </p:sp>
      <p:sp>
        <p:nvSpPr>
          <p:cNvPr id="25" name="Oval 2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27" name="Oval 26"/>
          <p:cNvSpPr/>
          <p:nvPr/>
        </p:nvSpPr>
        <p:spPr>
          <a:xfrm>
            <a:off x="13278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437608"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What a join does to the rows</a:t>
            </a:r>
          </a:p>
        </p:txBody>
      </p:sp>
      <p:sp>
        <p:nvSpPr>
          <p:cNvPr id="29" name="Oval 28"/>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31" name="Oval 30"/>
          <p:cNvSpPr/>
          <p:nvPr/>
        </p:nvSpPr>
        <p:spPr>
          <a:xfrm>
            <a:off x="503920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148929"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orders, and which payments</a:t>
            </a:r>
          </a:p>
        </p:txBody>
      </p:sp>
      <p:sp>
        <p:nvSpPr>
          <p:cNvPr id="33" name="TextBox 3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S35  ·  40 / 44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Why it is wrong, and the grain that fixes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retry is the same instalment posted twice, so the double-paid grain is order and instalment.</a:t>
            </a:r>
          </a:p>
        </p:txBody>
      </p:sp>
      <p:sp>
        <p:nvSpPr>
          <p:cNvPr id="9" name="Rounded Rectangle 8"/>
          <p:cNvSpPr/>
          <p:nvPr/>
        </p:nvSpPr>
        <p:spPr>
          <a:xfrm>
            <a:off x="530352" y="1682496"/>
            <a:ext cx="5291175" cy="272948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181051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181051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181051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011680"/>
            <a:ext cx="4833975" cy="2327148"/>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SELECT p.order_id, p.instalment_no, count(*) AS times_posted,</a:t>
            </a:r>
          </a:p>
          <a:p>
            <a:pPr>
              <a:spcAft>
                <a:spcPts val="200"/>
              </a:spcAft>
            </a:pPr>
            <a:r>
              <a:rPr sz="1400" b="0" i="0">
                <a:solidFill>
                  <a:srgbClr val="E4E1F1"/>
                </a:solidFill>
                <a:latin typeface="Consolas"/>
              </a:rPr>
              <a:t>       max(p.amount) * (count(*) - 1) AS posted_twice</a:t>
            </a:r>
          </a:p>
          <a:p>
            <a:pPr>
              <a:spcAft>
                <a:spcPts val="200"/>
              </a:spcAft>
            </a:pPr>
            <a:r>
              <a:rPr sz="1400" b="0" i="0">
                <a:solidFill>
                  <a:srgbClr val="E4E1F1"/>
                </a:solidFill>
                <a:latin typeface="Consolas"/>
              </a:rPr>
              <a:t>FROM payments p</a:t>
            </a:r>
          </a:p>
          <a:p>
            <a:pPr>
              <a:spcAft>
                <a:spcPts val="200"/>
              </a:spcAft>
            </a:pPr>
            <a:r>
              <a:rPr sz="1400" b="0" i="0">
                <a:solidFill>
                  <a:srgbClr val="E4E1F1"/>
                </a:solidFill>
                <a:latin typeface="Consolas"/>
              </a:rPr>
              <a:t>JOIN orders o ON o.order_id = p.order_id</a:t>
            </a:r>
          </a:p>
          <a:p>
            <a:pPr>
              <a:spcAft>
                <a:spcPts val="200"/>
              </a:spcAft>
            </a:pPr>
            <a:r>
              <a:rPr sz="1400" b="0" i="0">
                <a:solidFill>
                  <a:srgbClr val="E4E1F1"/>
                </a:solidFill>
                <a:latin typeface="Consolas"/>
              </a:rPr>
              <a:t>WHERE o.quarter = 'Q2'</a:t>
            </a:r>
          </a:p>
          <a:p>
            <a:pPr>
              <a:spcAft>
                <a:spcPts val="200"/>
              </a:spcAft>
            </a:pPr>
            <a:r>
              <a:rPr sz="1400" b="0" i="0">
                <a:solidFill>
                  <a:srgbClr val="E4E1F1"/>
                </a:solidFill>
                <a:latin typeface="Consolas"/>
              </a:rPr>
              <a:t>GROUP BY p.order_id, p.instalment_no</a:t>
            </a:r>
          </a:p>
          <a:p>
            <a:pPr>
              <a:spcAft>
                <a:spcPts val="200"/>
              </a:spcAft>
            </a:pPr>
            <a:r>
              <a:rPr sz="1400" b="0" i="0">
                <a:solidFill>
                  <a:srgbClr val="E4E1F1"/>
                </a:solidFill>
                <a:latin typeface="Consolas"/>
              </a:rPr>
              <a:t>HAVING count(*) &gt; 1;</a:t>
            </a:r>
          </a:p>
        </p:txBody>
      </p:sp>
      <p:graphicFrame>
        <p:nvGraphicFramePr>
          <p:cNvPr id="14" name="Table 13"/>
          <p:cNvGraphicFramePr>
            <a:graphicFrameLocks noGrp="1"/>
          </p:cNvGraphicFramePr>
          <p:nvPr/>
        </p:nvGraphicFramePr>
        <p:xfrm>
          <a:off x="6370167" y="1682496"/>
          <a:ext cx="5291174" cy="2446528"/>
        </p:xfrm>
        <a:graphic>
          <a:graphicData uri="http://schemas.openxmlformats.org/drawingml/2006/table">
            <a:tbl>
              <a:tblPr firstRow="0" bandRow="0">
                <a:tableStyleId>{2D5ABB26-0587-4C30-8999-92F81FD0307C}</a:tableStyleId>
              </a:tblPr>
              <a:tblGrid>
                <a:gridCol w="2099979"/>
                <a:gridCol w="1520985"/>
                <a:gridCol w="1670210"/>
              </a:tblGrid>
              <a:tr h="611632">
                <a:tc>
                  <a:txBody>
                    <a:bodyPr/>
                    <a:lstStyle/>
                    <a:p>
                      <a:r>
                        <a:rPr sz="1450" b="1" i="0">
                          <a:solidFill>
                            <a:srgbClr val="FFFFFF"/>
                          </a:solidFill>
                          <a:latin typeface="Calibri"/>
                        </a:rPr>
                        <a:t>Pattern of payment rows</a:t>
                      </a:r>
                    </a:p>
                  </a:txBody>
                  <a:tcPr marL="101600" marR="101600" marT="38100" marB="38100" anchor="ctr">
                    <a:solidFill>
                      <a:srgbClr val="1A0F5C"/>
                    </a:solidFill>
                  </a:tcPr>
                </a:tc>
                <a:tc>
                  <a:txBody>
                    <a:bodyPr/>
                    <a:lstStyle/>
                    <a:p>
                      <a:r>
                        <a:rPr sz="1450" b="1" i="0">
                          <a:solidFill>
                            <a:srgbClr val="FFFFFF"/>
                          </a:solidFill>
                          <a:latin typeface="Calibri"/>
                        </a:rPr>
                        <a:t>What it is</a:t>
                      </a:r>
                    </a:p>
                  </a:txBody>
                  <a:tcPr marL="101600" marR="101600" marT="38100" marB="38100" anchor="ctr">
                    <a:solidFill>
                      <a:srgbClr val="1A0F5C"/>
                    </a:solidFill>
                  </a:tcPr>
                </a:tc>
                <a:tc>
                  <a:txBody>
                    <a:bodyPr/>
                    <a:lstStyle/>
                    <a:p>
                      <a:r>
                        <a:rPr sz="1450" b="1" i="0">
                          <a:solidFill>
                            <a:srgbClr val="FFFFFF"/>
                          </a:solidFill>
                          <a:latin typeface="Calibri"/>
                        </a:rPr>
                        <a:t>On which list</a:t>
                      </a:r>
                    </a:p>
                  </a:txBody>
                  <a:tcPr marL="101600" marR="101600" marT="38100" marB="38100" anchor="ctr">
                    <a:solidFill>
                      <a:srgbClr val="1A0F5C"/>
                    </a:solidFill>
                  </a:tcPr>
                </a:tc>
              </a:tr>
              <a:tr h="611632">
                <a:tc>
                  <a:txBody>
                    <a:bodyPr/>
                    <a:lstStyle/>
                    <a:p>
                      <a:r>
                        <a:rPr sz="1400" b="0" i="0">
                          <a:solidFill>
                            <a:srgbClr val="1A1440"/>
                          </a:solidFill>
                          <a:latin typeface="Calibri"/>
                        </a:rPr>
                        <a:t>Instalment 1 only</a:t>
                      </a:r>
                    </a:p>
                  </a:txBody>
                  <a:tcPr marL="101600" marR="101600" marT="38100" marB="38100" anchor="ctr">
                    <a:solidFill>
                      <a:srgbClr val="FFFFFF"/>
                    </a:solidFill>
                  </a:tcPr>
                </a:tc>
                <a:tc>
                  <a:txBody>
                    <a:bodyPr/>
                    <a:lstStyle/>
                    <a:p>
                      <a:r>
                        <a:rPr sz="1400" b="0" i="0">
                          <a:solidFill>
                            <a:srgbClr val="1A1440"/>
                          </a:solidFill>
                          <a:latin typeface="Calibri"/>
                        </a:rPr>
                        <a:t>Paid once, in full</a:t>
                      </a:r>
                    </a:p>
                  </a:txBody>
                  <a:tcPr marL="101600" marR="101600" marT="38100" marB="38100" anchor="ctr">
                    <a:solidFill>
                      <a:srgbClr val="FFFFFF"/>
                    </a:solidFill>
                  </a:tcPr>
                </a:tc>
                <a:tc>
                  <a:txBody>
                    <a:bodyPr/>
                    <a:lstStyle/>
                    <a:p>
                      <a:r>
                        <a:rPr sz="1400" b="0" i="0">
                          <a:solidFill>
                            <a:srgbClr val="1A1440"/>
                          </a:solidFill>
                          <a:latin typeface="Calibri"/>
                        </a:rPr>
                        <a:t>Neither</a:t>
                      </a:r>
                    </a:p>
                  </a:txBody>
                  <a:tcPr marL="101600" marR="101600" marT="38100" marB="38100" anchor="ctr">
                    <a:solidFill>
                      <a:srgbClr val="FFFFFF"/>
                    </a:solidFill>
                  </a:tcPr>
                </a:tc>
              </a:tr>
              <a:tr h="611632">
                <a:tc>
                  <a:txBody>
                    <a:bodyPr/>
                    <a:lstStyle/>
                    <a:p>
                      <a:r>
                        <a:rPr sz="1400" b="0" i="0">
                          <a:solidFill>
                            <a:srgbClr val="1A1440"/>
                          </a:solidFill>
                          <a:latin typeface="Calibri"/>
                        </a:rPr>
                        <a:t>Instalments 1 and 2</a:t>
                      </a:r>
                    </a:p>
                  </a:txBody>
                  <a:tcPr marL="101600" marR="101600" marT="38100" marB="38100" anchor="ctr">
                    <a:solidFill>
                      <a:srgbClr val="F4F2FA"/>
                    </a:solidFill>
                  </a:tcPr>
                </a:tc>
                <a:tc>
                  <a:txBody>
                    <a:bodyPr/>
                    <a:lstStyle/>
                    <a:p>
                      <a:r>
                        <a:rPr sz="1400" b="0" i="0">
                          <a:solidFill>
                            <a:srgbClr val="1A1440"/>
                          </a:solidFill>
                          <a:latin typeface="Calibri"/>
                        </a:rPr>
                        <a:t>Paid in two parts</a:t>
                      </a:r>
                    </a:p>
                  </a:txBody>
                  <a:tcPr marL="101600" marR="101600" marT="38100" marB="38100" anchor="ctr">
                    <a:solidFill>
                      <a:srgbClr val="F4F2FA"/>
                    </a:solidFill>
                  </a:tcPr>
                </a:tc>
                <a:tc>
                  <a:txBody>
                    <a:bodyPr/>
                    <a:lstStyle/>
                    <a:p>
                      <a:r>
                        <a:rPr sz="1400" b="0" i="0">
                          <a:solidFill>
                            <a:srgbClr val="1A1440"/>
                          </a:solidFill>
                          <a:latin typeface="Calibri"/>
                        </a:rPr>
                        <a:t>Neither</a:t>
                      </a:r>
                    </a:p>
                  </a:txBody>
                  <a:tcPr marL="101600" marR="101600" marT="38100" marB="38100" anchor="ctr">
                    <a:solidFill>
                      <a:srgbClr val="F4F2FA"/>
                    </a:solidFill>
                  </a:tcPr>
                </a:tc>
              </a:tr>
              <a:tr h="611632">
                <a:tc>
                  <a:txBody>
                    <a:bodyPr/>
                    <a:lstStyle/>
                    <a:p>
                      <a:r>
                        <a:rPr sz="1400" b="0" i="0">
                          <a:solidFill>
                            <a:srgbClr val="1A1440"/>
                          </a:solidFill>
                          <a:latin typeface="Calibri"/>
                        </a:rPr>
                        <a:t>Instalment 1, twice</a:t>
                      </a:r>
                    </a:p>
                  </a:txBody>
                  <a:tcPr marL="101600" marR="101600" marT="38100" marB="38100" anchor="ctr">
                    <a:solidFill>
                      <a:srgbClr val="FFFFFF"/>
                    </a:solidFill>
                  </a:tcPr>
                </a:tc>
                <a:tc>
                  <a:txBody>
                    <a:bodyPr/>
                    <a:lstStyle/>
                    <a:p>
                      <a:r>
                        <a:rPr sz="1400" b="0" i="0">
                          <a:solidFill>
                            <a:srgbClr val="1A1440"/>
                          </a:solidFill>
                          <a:latin typeface="Calibri"/>
                        </a:rPr>
                        <a:t>A gateway retry</a:t>
                      </a:r>
                    </a:p>
                  </a:txBody>
                  <a:tcPr marL="101600" marR="101600" marT="38100" marB="38100" anchor="ctr">
                    <a:solidFill>
                      <a:srgbClr val="FFFFFF"/>
                    </a:solidFill>
                  </a:tcPr>
                </a:tc>
                <a:tc>
                  <a:txBody>
                    <a:bodyPr/>
                    <a:lstStyle/>
                    <a:p>
                      <a:r>
                        <a:rPr sz="1400" b="0" i="0">
                          <a:solidFill>
                            <a:srgbClr val="1A1440"/>
                          </a:solidFill>
                          <a:latin typeface="Calibri"/>
                        </a:rPr>
                        <a:t>The double-paid list</a:t>
                      </a:r>
                    </a:p>
                  </a:txBody>
                  <a:tcPr marL="101600" marR="101600" marT="38100" marB="38100" anchor="ctr">
                    <a:solidFill>
                      <a:srgbClr val="FFFFFF"/>
                    </a:solidFill>
                  </a:tcPr>
                </a:tc>
              </a:tr>
            </a:tbl>
          </a:graphicData>
        </a:graphic>
      </p:graphicFrame>
      <p:sp>
        <p:nvSpPr>
          <p:cNvPr id="15" name="Rounded Rectangle 14"/>
          <p:cNvSpPr/>
          <p:nvPr/>
        </p:nvSpPr>
        <p:spPr>
          <a:xfrm>
            <a:off x="6370167" y="4385056"/>
            <a:ext cx="5291175"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6598767" y="484682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4"/>
          <a:stretch>
            <a:fillRect/>
          </a:stretch>
        </p:blipFill>
        <p:spPr>
          <a:xfrm>
            <a:off x="6708495" y="4956556"/>
            <a:ext cx="237744" cy="237744"/>
          </a:xfrm>
          <a:prstGeom prst="rect">
            <a:avLst/>
          </a:prstGeom>
        </p:spPr>
      </p:pic>
      <p:sp>
        <p:nvSpPr>
          <p:cNvPr id="18" name="TextBox 17"/>
          <p:cNvSpPr txBox="1"/>
          <p:nvPr/>
        </p:nvSpPr>
        <p:spPr>
          <a:xfrm>
            <a:off x="7238847" y="4531360"/>
            <a:ext cx="4148175"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7238847" y="4750816"/>
            <a:ext cx="4148175" cy="941832"/>
          </a:xfrm>
          <a:prstGeom prst="rect">
            <a:avLst/>
          </a:prstGeom>
          <a:noFill/>
        </p:spPr>
        <p:txBody>
          <a:bodyPr wrap="square" anchor="t" lIns="0" rIns="0" tIns="0" bIns="0">
            <a:spAutoFit/>
          </a:bodyPr>
          <a:lstStyle/>
          <a:p>
            <a:r>
              <a:rPr sz="1500" b="0" i="0">
                <a:solidFill>
                  <a:srgbClr val="1A1440"/>
                </a:solidFill>
                <a:latin typeface="Calibri"/>
              </a:rPr>
              <a:t>[F] HAVING COUNT(*) &gt; 1 on payments by order: what does it find, and what does it wrongly include?</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22" name="Oval 21"/>
          <p:cNvSpPr/>
          <p:nvPr/>
        </p:nvSpPr>
        <p:spPr>
          <a:xfrm>
            <a:off x="13278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437608"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What a join does to the rows</a:t>
            </a:r>
          </a:p>
        </p:txBody>
      </p:sp>
      <p:sp>
        <p:nvSpPr>
          <p:cNvPr id="24" name="Oval 23"/>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26" name="Oval 25"/>
          <p:cNvSpPr/>
          <p:nvPr/>
        </p:nvSpPr>
        <p:spPr>
          <a:xfrm>
            <a:off x="503920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148929"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orders, and which payments</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S36  ·  41 / 44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Your turn: both lists, and every payment row</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room builds both lists on Q2 and accounts for all 1,428 payment rows.</a:t>
            </a:r>
          </a:p>
        </p:txBody>
      </p:sp>
      <p:graphicFrame>
        <p:nvGraphicFramePr>
          <p:cNvPr id="9" name="Table 8"/>
          <p:cNvGraphicFramePr>
            <a:graphicFrameLocks noGrp="1"/>
          </p:cNvGraphicFramePr>
          <p:nvPr/>
        </p:nvGraphicFramePr>
        <p:xfrm>
          <a:off x="530352" y="1956816"/>
          <a:ext cx="11130990" cy="1479296"/>
        </p:xfrm>
        <a:graphic>
          <a:graphicData uri="http://schemas.openxmlformats.org/drawingml/2006/table">
            <a:tbl>
              <a:tblPr firstRow="0" bandRow="0">
                <a:tableStyleId>{2D5ABB26-0587-4C30-8999-92F81FD0307C}</a:tableStyleId>
              </a:tblPr>
              <a:tblGrid>
                <a:gridCol w="2564639"/>
                <a:gridCol w="2220932"/>
                <a:gridCol w="6345419"/>
              </a:tblGrid>
              <a:tr h="369824">
                <a:tc>
                  <a:txBody>
                    <a:bodyPr/>
                    <a:lstStyle/>
                    <a:p>
                      <a:r>
                        <a:rPr sz="1450" b="1" i="0">
                          <a:solidFill>
                            <a:srgbClr val="FFFFFF"/>
                          </a:solidFill>
                          <a:latin typeface="Calibri"/>
                        </a:rPr>
                        <a:t>Step</a:t>
                      </a:r>
                    </a:p>
                  </a:txBody>
                  <a:tcPr marL="101600" marR="101600" marT="38100" marB="38100" anchor="ctr">
                    <a:solidFill>
                      <a:srgbClr val="1A0F5C"/>
                    </a:solidFill>
                  </a:tcPr>
                </a:tc>
                <a:tc>
                  <a:txBody>
                    <a:bodyPr/>
                    <a:lstStyle/>
                    <a:p>
                      <a:r>
                        <a:rPr sz="1450" b="1" i="0">
                          <a:solidFill>
                            <a:srgbClr val="FFFFFF"/>
                          </a:solidFill>
                          <a:latin typeface="Calibri"/>
                        </a:rPr>
                        <a:t>Query</a:t>
                      </a:r>
                    </a:p>
                  </a:txBody>
                  <a:tcPr marL="101600" marR="101600" marT="38100" marB="38100" anchor="ctr">
                    <a:solidFill>
                      <a:srgbClr val="1A0F5C"/>
                    </a:solidFill>
                  </a:tcPr>
                </a:tc>
                <a:tc>
                  <a:txBody>
                    <a:bodyPr/>
                    <a:lstStyle/>
                    <a:p>
                      <a:r>
                        <a:rPr sz="1450" b="1" i="0">
                          <a:solidFill>
                            <a:srgbClr val="FFFFFF"/>
                          </a:solidFill>
                          <a:latin typeface="Calibri"/>
                        </a:rPr>
                        <a:t>The check it must pass</a:t>
                      </a:r>
                    </a:p>
                  </a:txBody>
                  <a:tcPr marL="101600" marR="101600" marT="38100" marB="38100" anchor="ctr">
                    <a:solidFill>
                      <a:srgbClr val="1A0F5C"/>
                    </a:solidFill>
                  </a:tcPr>
                </a:tc>
              </a:tr>
              <a:tr h="369824">
                <a:tc>
                  <a:txBody>
                    <a:bodyPr/>
                    <a:lstStyle/>
                    <a:p>
                      <a:r>
                        <a:rPr sz="1400" b="0" i="0">
                          <a:solidFill>
                            <a:srgbClr val="1A1440"/>
                          </a:solidFill>
                          <a:latin typeface="Calibri"/>
                        </a:rPr>
                        <a:t>The unpaid list</a:t>
                      </a:r>
                    </a:p>
                  </a:txBody>
                  <a:tcPr marL="101600" marR="101600" marT="38100" marB="38100" anchor="ctr">
                    <a:solidFill>
                      <a:srgbClr val="FFFFFF"/>
                    </a:solidFill>
                  </a:tcPr>
                </a:tc>
                <a:tc>
                  <a:txBody>
                    <a:bodyPr/>
                    <a:lstStyle/>
                    <a:p>
                      <a:r>
                        <a:rPr sz="1400" b="0" i="0">
                          <a:solidFill>
                            <a:srgbClr val="1A1440"/>
                          </a:solidFill>
                          <a:latin typeface="Calibri"/>
                        </a:rPr>
                        <a:t>sql 04, B1 and B2</a:t>
                      </a:r>
                    </a:p>
                  </a:txBody>
                  <a:tcPr marL="101600" marR="101600" marT="38100" marB="38100" anchor="ctr">
                    <a:solidFill>
                      <a:srgbClr val="FFFFFF"/>
                    </a:solidFill>
                  </a:tcPr>
                </a:tc>
                <a:tc>
                  <a:txBody>
                    <a:bodyPr/>
                    <a:lstStyle/>
                    <a:p>
                      <a:r>
                        <a:rPr sz="1400" b="0" i="0">
                          <a:solidFill>
                            <a:srgbClr val="1A1440"/>
                          </a:solidFill>
                          <a:latin typeface="Calibri"/>
                        </a:rPr>
                        <a:t>Its booked total equals booked less collected</a:t>
                      </a:r>
                    </a:p>
                  </a:txBody>
                  <a:tcPr marL="101600" marR="101600" marT="38100" marB="38100" anchor="ctr">
                    <a:solidFill>
                      <a:srgbClr val="FFFFFF"/>
                    </a:solidFill>
                  </a:tcPr>
                </a:tc>
              </a:tr>
              <a:tr h="369824">
                <a:tc>
                  <a:txBody>
                    <a:bodyPr/>
                    <a:lstStyle/>
                    <a:p>
                      <a:r>
                        <a:rPr sz="1400" b="0" i="0">
                          <a:solidFill>
                            <a:srgbClr val="1A1440"/>
                          </a:solidFill>
                          <a:latin typeface="Calibri"/>
                        </a:rPr>
                        <a:t>The double-paid list</a:t>
                      </a:r>
                    </a:p>
                  </a:txBody>
                  <a:tcPr marL="101600" marR="101600" marT="38100" marB="38100" anchor="ctr">
                    <a:solidFill>
                      <a:srgbClr val="F4F2FA"/>
                    </a:solidFill>
                  </a:tcPr>
                </a:tc>
                <a:tc>
                  <a:txBody>
                    <a:bodyPr/>
                    <a:lstStyle/>
                    <a:p>
                      <a:r>
                        <a:rPr sz="1400" b="0" i="0">
                          <a:solidFill>
                            <a:srgbClr val="1A1440"/>
                          </a:solidFill>
                          <a:latin typeface="Calibri"/>
                        </a:rPr>
                        <a:t>sql 04, B3</a:t>
                      </a:r>
                    </a:p>
                  </a:txBody>
                  <a:tcPr marL="101600" marR="101600" marT="38100" marB="38100" anchor="ctr">
                    <a:solidFill>
                      <a:srgbClr val="F4F2FA"/>
                    </a:solidFill>
                  </a:tcPr>
                </a:tc>
                <a:tc>
                  <a:txBody>
                    <a:bodyPr/>
                    <a:lstStyle/>
                    <a:p>
                      <a:r>
                        <a:rPr sz="1400" b="0" i="0">
                          <a:solidFill>
                            <a:srgbClr val="1A1440"/>
                          </a:solidFill>
                          <a:latin typeface="Calibri"/>
                        </a:rPr>
                        <a:t>Its surplus equals posted less collected</a:t>
                      </a:r>
                    </a:p>
                  </a:txBody>
                  <a:tcPr marL="101600" marR="101600" marT="38100" marB="38100" anchor="ctr">
                    <a:solidFill>
                      <a:srgbClr val="F4F2FA"/>
                    </a:solidFill>
                  </a:tcPr>
                </a:tc>
              </a:tr>
              <a:tr h="369824">
                <a:tc>
                  <a:txBody>
                    <a:bodyPr/>
                    <a:lstStyle/>
                    <a:p>
                      <a:r>
                        <a:rPr sz="1400" b="0" i="0">
                          <a:solidFill>
                            <a:srgbClr val="1A1440"/>
                          </a:solidFill>
                          <a:latin typeface="Calibri"/>
                        </a:rPr>
                        <a:t>Every payment row</a:t>
                      </a:r>
                    </a:p>
                  </a:txBody>
                  <a:tcPr marL="101600" marR="101600" marT="38100" marB="38100" anchor="ctr">
                    <a:solidFill>
                      <a:srgbClr val="FFFFFF"/>
                    </a:solidFill>
                  </a:tcPr>
                </a:tc>
                <a:tc>
                  <a:txBody>
                    <a:bodyPr/>
                    <a:lstStyle/>
                    <a:p>
                      <a:r>
                        <a:rPr sz="1400" b="0" i="0">
                          <a:solidFill>
                            <a:srgbClr val="1A1440"/>
                          </a:solidFill>
                          <a:latin typeface="Calibri"/>
                        </a:rPr>
                        <a:t>sql 04, B5</a:t>
                      </a:r>
                    </a:p>
                  </a:txBody>
                  <a:tcPr marL="101600" marR="101600" marT="38100" marB="38100" anchor="ctr">
                    <a:solidFill>
                      <a:srgbClr val="FFFFFF"/>
                    </a:solidFill>
                  </a:tcPr>
                </a:tc>
                <a:tc>
                  <a:txBody>
                    <a:bodyPr/>
                    <a:lstStyle/>
                    <a:p>
                      <a:r>
                        <a:rPr sz="1400" b="0" i="0">
                          <a:solidFill>
                            <a:srgbClr val="1A1440"/>
                          </a:solidFill>
                          <a:latin typeface="Calibri"/>
                        </a:rPr>
                        <a:t>Q1 rows plus Q2 rows plus unmatched rows equals 1,428</a:t>
                      </a:r>
                    </a:p>
                  </a:txBody>
                  <a:tcPr marL="101600" marR="101600" marT="38100" marB="38100" anchor="ctr">
                    <a:solidFill>
                      <a:srgbClr val="FFFFFF"/>
                    </a:solidFill>
                  </a:tcPr>
                </a:tc>
              </a:tr>
            </a:tbl>
          </a:graphicData>
        </a:graphic>
      </p:graphicFrame>
      <p:sp>
        <p:nvSpPr>
          <p:cNvPr id="10" name="Rounded Rectangle 9"/>
          <p:cNvSpPr/>
          <p:nvPr/>
        </p:nvSpPr>
        <p:spPr>
          <a:xfrm>
            <a:off x="530352" y="3692144"/>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820160"/>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811016"/>
            <a:ext cx="10564063" cy="624840"/>
          </a:xfrm>
          <a:prstGeom prst="rect">
            <a:avLst/>
          </a:prstGeom>
          <a:noFill/>
        </p:spPr>
        <p:txBody>
          <a:bodyPr wrap="square" anchor="ctr" lIns="0" rIns="0" tIns="0" bIns="0">
            <a:spAutoFit/>
          </a:bodyPr>
          <a:lstStyle/>
          <a:p>
            <a:r>
              <a:rPr sz="1500" b="1">
                <a:solidFill>
                  <a:srgbClr val="5B3FD6"/>
                </a:solidFill>
                <a:latin typeface="Calibri"/>
              </a:rPr>
              <a:t>The last line. </a:t>
            </a:r>
            <a:r>
              <a:rPr sz="1500" b="0" i="0">
                <a:solidFill>
                  <a:srgbClr val="1A1440"/>
                </a:solidFill>
                <a:latin typeface="Calibri"/>
              </a:rPr>
              <a:t>A payment that matches no order is a third finding, and it goes back to the platform lead with its ids.</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15" name="Oval 14"/>
          <p:cNvSpPr/>
          <p:nvPr/>
        </p:nvSpPr>
        <p:spPr>
          <a:xfrm>
            <a:off x="13278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437608"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What a join does to the rows</a:t>
            </a:r>
          </a:p>
        </p:txBody>
      </p:sp>
      <p:sp>
        <p:nvSpPr>
          <p:cNvPr id="17" name="Oval 16"/>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19" name="Oval 18"/>
          <p:cNvSpPr/>
          <p:nvPr/>
        </p:nvSpPr>
        <p:spPr>
          <a:xfrm>
            <a:off x="503920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48929"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orders, and which payments</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S37  ·  42 / 44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Kavya's review of round 3</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Two payment rows are not a double payment.</a:t>
            </a:r>
          </a:p>
        </p:txBody>
      </p:sp>
      <p:sp>
        <p:nvSpPr>
          <p:cNvPr id="9" name="Rounded Rectangle 8"/>
          <p:cNvSpPr/>
          <p:nvPr/>
        </p:nvSpPr>
        <p:spPr>
          <a:xfrm>
            <a:off x="530352" y="1802130"/>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134362"/>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search-check_6571e64a041f.png"/>
          <p:cNvPicPr>
            <a:picLocks noChangeAspect="1"/>
          </p:cNvPicPr>
          <p:nvPr/>
        </p:nvPicPr>
        <p:blipFill>
          <a:blip r:embed="rId4"/>
          <a:stretch>
            <a:fillRect/>
          </a:stretch>
        </p:blipFill>
        <p:spPr>
          <a:xfrm>
            <a:off x="868680" y="2244090"/>
            <a:ext cx="237744" cy="237744"/>
          </a:xfrm>
          <a:prstGeom prst="rect">
            <a:avLst/>
          </a:prstGeom>
        </p:spPr>
      </p:pic>
      <p:sp>
        <p:nvSpPr>
          <p:cNvPr id="12" name="TextBox 11"/>
          <p:cNvSpPr txBox="1"/>
          <p:nvPr/>
        </p:nvSpPr>
        <p:spPr>
          <a:xfrm>
            <a:off x="1399031" y="1948434"/>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3" name="TextBox 12"/>
          <p:cNvSpPr txBox="1"/>
          <p:nvPr/>
        </p:nvSpPr>
        <p:spPr>
          <a:xfrm>
            <a:off x="1399031" y="2167890"/>
            <a:ext cx="9987991" cy="682752"/>
          </a:xfrm>
          <a:prstGeom prst="rect">
            <a:avLst/>
          </a:prstGeom>
          <a:noFill/>
        </p:spPr>
        <p:txBody>
          <a:bodyPr wrap="square" anchor="t" lIns="0" rIns="0" tIns="0" bIns="0">
            <a:spAutoFit/>
          </a:bodyPr>
          <a:lstStyle/>
          <a:p>
            <a:r>
              <a:rPr sz="1500" b="0" i="0">
                <a:solidFill>
                  <a:srgbClr val="1A1440"/>
                </a:solidFill>
                <a:latin typeface="Calibri"/>
              </a:rPr>
              <a:t>Two payment rows are not a double payment. Show me what makes a retry a retry before you call anyone about a refund.</a:t>
            </a:r>
          </a:p>
        </p:txBody>
      </p:sp>
      <p:sp>
        <p:nvSpPr>
          <p:cNvPr id="14" name="Rounded Rectangle 13"/>
          <p:cNvSpPr/>
          <p:nvPr/>
        </p:nvSpPr>
        <p:spPr>
          <a:xfrm>
            <a:off x="530352" y="3088386"/>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58952" y="329107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6" name="Picture 15" descr="mic_caee7398c80d.png"/>
          <p:cNvPicPr>
            <a:picLocks noChangeAspect="1"/>
          </p:cNvPicPr>
          <p:nvPr/>
        </p:nvPicPr>
        <p:blipFill>
          <a:blip r:embed="rId5"/>
          <a:stretch>
            <a:fillRect/>
          </a:stretch>
        </p:blipFill>
        <p:spPr>
          <a:xfrm>
            <a:off x="868680" y="3400806"/>
            <a:ext cx="237744" cy="237744"/>
          </a:xfrm>
          <a:prstGeom prst="rect">
            <a:avLst/>
          </a:prstGeom>
        </p:spPr>
      </p:pic>
      <p:sp>
        <p:nvSpPr>
          <p:cNvPr id="17" name="TextBox 16"/>
          <p:cNvSpPr txBox="1"/>
          <p:nvPr/>
        </p:nvSpPr>
        <p:spPr>
          <a:xfrm>
            <a:off x="1399031" y="323469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8" name="TextBox 17"/>
          <p:cNvSpPr txBox="1"/>
          <p:nvPr/>
        </p:nvSpPr>
        <p:spPr>
          <a:xfrm>
            <a:off x="1399031" y="3454146"/>
            <a:ext cx="9987991" cy="423672"/>
          </a:xfrm>
          <a:prstGeom prst="rect">
            <a:avLst/>
          </a:prstGeom>
          <a:noFill/>
        </p:spPr>
        <p:txBody>
          <a:bodyPr wrap="square" anchor="t" lIns="0" rIns="0" tIns="0" bIns="0">
            <a:spAutoFit/>
          </a:bodyPr>
          <a:lstStyle/>
          <a:p>
            <a:r>
              <a:rPr sz="1500" b="0" i="0">
                <a:solidFill>
                  <a:srgbClr val="1A1440"/>
                </a:solidFill>
                <a:latin typeface="Calibri"/>
              </a:rPr>
              <a:t>[D] Anand says the gap is too small to matter; how do you decide whether to chase it?</a:t>
            </a:r>
          </a:p>
        </p:txBody>
      </p:sp>
      <p:sp>
        <p:nvSpPr>
          <p:cNvPr id="19" name="Rounded Rectangle 18"/>
          <p:cNvSpPr/>
          <p:nvPr/>
        </p:nvSpPr>
        <p:spPr>
          <a:xfrm>
            <a:off x="530352" y="4115562"/>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31519" y="4316730"/>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list-x_98fe04f60025.png"/>
          <p:cNvPicPr>
            <a:picLocks noChangeAspect="1"/>
          </p:cNvPicPr>
          <p:nvPr/>
        </p:nvPicPr>
        <p:blipFill>
          <a:blip r:embed="rId6"/>
          <a:stretch>
            <a:fillRect/>
          </a:stretch>
        </p:blipFill>
        <p:spPr>
          <a:xfrm>
            <a:off x="841247" y="4426458"/>
            <a:ext cx="237744" cy="237744"/>
          </a:xfrm>
          <a:prstGeom prst="rect">
            <a:avLst/>
          </a:prstGeom>
        </p:spPr>
      </p:pic>
      <p:sp>
        <p:nvSpPr>
          <p:cNvPr id="22" name="TextBox 21"/>
          <p:cNvSpPr txBox="1"/>
          <p:nvPr/>
        </p:nvSpPr>
        <p:spPr>
          <a:xfrm>
            <a:off x="731519" y="4883658"/>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UNPAID LIST</a:t>
            </a:r>
          </a:p>
        </p:txBody>
      </p:sp>
      <p:sp>
        <p:nvSpPr>
          <p:cNvPr id="23" name="TextBox 22"/>
          <p:cNvSpPr txBox="1"/>
          <p:nvPr/>
        </p:nvSpPr>
        <p:spPr>
          <a:xfrm>
            <a:off x="731519" y="5121402"/>
            <a:ext cx="3186074" cy="267716"/>
          </a:xfrm>
          <a:prstGeom prst="rect">
            <a:avLst/>
          </a:prstGeom>
          <a:noFill/>
        </p:spPr>
        <p:txBody>
          <a:bodyPr wrap="square" anchor="t" lIns="0" rIns="0" tIns="0" bIns="0">
            <a:spAutoFit/>
          </a:bodyPr>
          <a:lstStyle/>
          <a:p>
            <a:pPr algn="l"/>
            <a:r>
              <a:rPr sz="1400" b="1" i="0">
                <a:solidFill>
                  <a:srgbClr val="1A0F5C"/>
                </a:solidFill>
                <a:latin typeface="Calibri"/>
              </a:rPr>
              <a:t>An anti-join</a:t>
            </a:r>
          </a:p>
        </p:txBody>
      </p:sp>
      <p:sp>
        <p:nvSpPr>
          <p:cNvPr id="24" name="TextBox 23"/>
          <p:cNvSpPr txBox="1"/>
          <p:nvPr/>
        </p:nvSpPr>
        <p:spPr>
          <a:xfrm>
            <a:off x="731519" y="5462269"/>
            <a:ext cx="3186074" cy="399796"/>
          </a:xfrm>
          <a:prstGeom prst="rect">
            <a:avLst/>
          </a:prstGeom>
          <a:noFill/>
        </p:spPr>
        <p:txBody>
          <a:bodyPr wrap="square" anchor="t" lIns="0" rIns="0" tIns="0" bIns="0">
            <a:spAutoFit/>
          </a:bodyPr>
          <a:lstStyle/>
          <a:p>
            <a:pPr algn="l"/>
            <a:r>
              <a:rPr sz="1100" b="0" i="0">
                <a:solidFill>
                  <a:srgbClr val="6B6690"/>
                </a:solidFill>
                <a:latin typeface="Calibri"/>
              </a:rPr>
              <a:t>LEFT JOIN with IS NULL on the right key, or NOT EXISTS; its total equals the gap.</a:t>
            </a:r>
          </a:p>
        </p:txBody>
      </p:sp>
      <p:sp>
        <p:nvSpPr>
          <p:cNvPr id="25" name="Rounded Rectangle 24"/>
          <p:cNvSpPr/>
          <p:nvPr/>
        </p:nvSpPr>
        <p:spPr>
          <a:xfrm>
            <a:off x="4301642" y="4115562"/>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4502810" y="4316730"/>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copy_327f3a000491.png"/>
          <p:cNvPicPr>
            <a:picLocks noChangeAspect="1"/>
          </p:cNvPicPr>
          <p:nvPr/>
        </p:nvPicPr>
        <p:blipFill>
          <a:blip r:embed="rId7"/>
          <a:stretch>
            <a:fillRect/>
          </a:stretch>
        </p:blipFill>
        <p:spPr>
          <a:xfrm>
            <a:off x="4612538" y="4426458"/>
            <a:ext cx="237744" cy="237744"/>
          </a:xfrm>
          <a:prstGeom prst="rect">
            <a:avLst/>
          </a:prstGeom>
        </p:spPr>
      </p:pic>
      <p:sp>
        <p:nvSpPr>
          <p:cNvPr id="28" name="TextBox 27"/>
          <p:cNvSpPr txBox="1"/>
          <p:nvPr/>
        </p:nvSpPr>
        <p:spPr>
          <a:xfrm>
            <a:off x="4502810" y="4883658"/>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DOUBLE-PAID LIST</a:t>
            </a:r>
          </a:p>
        </p:txBody>
      </p:sp>
      <p:sp>
        <p:nvSpPr>
          <p:cNvPr id="29" name="TextBox 28"/>
          <p:cNvSpPr txBox="1"/>
          <p:nvPr/>
        </p:nvSpPr>
        <p:spPr>
          <a:xfrm>
            <a:off x="4502810" y="5121402"/>
            <a:ext cx="3186074" cy="267716"/>
          </a:xfrm>
          <a:prstGeom prst="rect">
            <a:avLst/>
          </a:prstGeom>
          <a:noFill/>
        </p:spPr>
        <p:txBody>
          <a:bodyPr wrap="square" anchor="t" lIns="0" rIns="0" tIns="0" bIns="0">
            <a:spAutoFit/>
          </a:bodyPr>
          <a:lstStyle/>
          <a:p>
            <a:pPr algn="l"/>
            <a:r>
              <a:rPr sz="1400" b="1" i="0">
                <a:solidFill>
                  <a:srgbClr val="1A0F5C"/>
                </a:solidFill>
                <a:latin typeface="Calibri"/>
              </a:rPr>
              <a:t>The right grain</a:t>
            </a:r>
          </a:p>
        </p:txBody>
      </p:sp>
      <p:sp>
        <p:nvSpPr>
          <p:cNvPr id="30" name="TextBox 29"/>
          <p:cNvSpPr txBox="1"/>
          <p:nvPr/>
        </p:nvSpPr>
        <p:spPr>
          <a:xfrm>
            <a:off x="4502810" y="5462269"/>
            <a:ext cx="3186074" cy="399796"/>
          </a:xfrm>
          <a:prstGeom prst="rect">
            <a:avLst/>
          </a:prstGeom>
          <a:noFill/>
        </p:spPr>
        <p:txBody>
          <a:bodyPr wrap="square" anchor="t" lIns="0" rIns="0" tIns="0" bIns="0">
            <a:spAutoFit/>
          </a:bodyPr>
          <a:lstStyle/>
          <a:p>
            <a:pPr algn="l"/>
            <a:r>
              <a:rPr sz="1100" b="0" i="0">
                <a:solidFill>
                  <a:srgbClr val="6B6690"/>
                </a:solidFill>
                <a:latin typeface="Calibri"/>
              </a:rPr>
              <a:t>Group by order and instalment; its surplus equals posted less collected.</a:t>
            </a:r>
          </a:p>
        </p:txBody>
      </p:sp>
      <p:sp>
        <p:nvSpPr>
          <p:cNvPr id="31" name="Rounded Rectangle 30"/>
          <p:cNvSpPr/>
          <p:nvPr/>
        </p:nvSpPr>
        <p:spPr>
          <a:xfrm>
            <a:off x="8072932" y="4115562"/>
            <a:ext cx="3588410" cy="1964436"/>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8274100" y="431673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3" name="Picture 32" descr="filter_f56f023bf1e2.png"/>
          <p:cNvPicPr>
            <a:picLocks noChangeAspect="1"/>
          </p:cNvPicPr>
          <p:nvPr/>
        </p:nvPicPr>
        <p:blipFill>
          <a:blip r:embed="rId8"/>
          <a:stretch>
            <a:fillRect/>
          </a:stretch>
        </p:blipFill>
        <p:spPr>
          <a:xfrm>
            <a:off x="8383828" y="4426458"/>
            <a:ext cx="237744" cy="237744"/>
          </a:xfrm>
          <a:prstGeom prst="rect">
            <a:avLst/>
          </a:prstGeom>
        </p:spPr>
      </p:pic>
      <p:sp>
        <p:nvSpPr>
          <p:cNvPr id="34" name="TextBox 33"/>
          <p:cNvSpPr txBox="1"/>
          <p:nvPr/>
        </p:nvSpPr>
        <p:spPr>
          <a:xfrm>
            <a:off x="8274100" y="4883658"/>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THE FILTER</a:t>
            </a:r>
          </a:p>
        </p:txBody>
      </p:sp>
      <p:sp>
        <p:nvSpPr>
          <p:cNvPr id="35" name="TextBox 34"/>
          <p:cNvSpPr txBox="1"/>
          <p:nvPr/>
        </p:nvSpPr>
        <p:spPr>
          <a:xfrm>
            <a:off x="8274100" y="5121402"/>
            <a:ext cx="3186074" cy="267716"/>
          </a:xfrm>
          <a:prstGeom prst="rect">
            <a:avLst/>
          </a:prstGeom>
          <a:noFill/>
        </p:spPr>
        <p:txBody>
          <a:bodyPr wrap="square" anchor="t" lIns="0" rIns="0" tIns="0" bIns="0">
            <a:spAutoFit/>
          </a:bodyPr>
          <a:lstStyle/>
          <a:p>
            <a:pPr algn="l"/>
            <a:r>
              <a:rPr sz="1400" b="1" i="0">
                <a:solidFill>
                  <a:srgbClr val="FFFFFF"/>
                </a:solidFill>
                <a:latin typeface="Calibri"/>
              </a:rPr>
              <a:t>ON, never WHERE</a:t>
            </a:r>
          </a:p>
        </p:txBody>
      </p:sp>
      <p:sp>
        <p:nvSpPr>
          <p:cNvPr id="36" name="TextBox 35"/>
          <p:cNvSpPr txBox="1"/>
          <p:nvPr/>
        </p:nvSpPr>
        <p:spPr>
          <a:xfrm>
            <a:off x="8274100" y="5462269"/>
            <a:ext cx="3186074" cy="399796"/>
          </a:xfrm>
          <a:prstGeom prst="rect">
            <a:avLst/>
          </a:prstGeom>
          <a:noFill/>
        </p:spPr>
        <p:txBody>
          <a:bodyPr wrap="square" anchor="t" lIns="0" rIns="0" tIns="0" bIns="0">
            <a:spAutoFit/>
          </a:bodyPr>
          <a:lstStyle/>
          <a:p>
            <a:pPr algn="l"/>
            <a:r>
              <a:rPr sz="1100" b="0" i="0">
                <a:solidFill>
                  <a:srgbClr val="CFC9EE"/>
                </a:solidFill>
                <a:latin typeface="Calibri"/>
              </a:rPr>
              <a:t>A condition on the right-hand table goes in the ON clause of a LEFT JOIN.</a:t>
            </a:r>
          </a:p>
        </p:txBody>
      </p:sp>
      <p:sp>
        <p:nvSpPr>
          <p:cNvPr id="37" name="Oval 3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39" name="Oval 38"/>
          <p:cNvSpPr/>
          <p:nvPr/>
        </p:nvSpPr>
        <p:spPr>
          <a:xfrm>
            <a:off x="13278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1437608"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What a join does to the rows</a:t>
            </a:r>
          </a:p>
        </p:txBody>
      </p:sp>
      <p:sp>
        <p:nvSpPr>
          <p:cNvPr id="41" name="Oval 40"/>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43" name="Oval 42"/>
          <p:cNvSpPr/>
          <p:nvPr/>
        </p:nvSpPr>
        <p:spPr>
          <a:xfrm>
            <a:off x="503920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5148929"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orders, and which payments</a:t>
            </a:r>
          </a:p>
        </p:txBody>
      </p:sp>
      <p:sp>
        <p:nvSpPr>
          <p:cNvPr id="45" name="TextBox 4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S38  ·  43 / 44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the morning leaves on your desk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Five moves, each one used again in the afternoon's case.</a:t>
            </a:r>
          </a:p>
        </p:txBody>
      </p:sp>
      <p:graphicFrame>
        <p:nvGraphicFramePr>
          <p:cNvPr id="9" name="Table 8"/>
          <p:cNvGraphicFramePr>
            <a:graphicFrameLocks noGrp="1"/>
          </p:cNvGraphicFramePr>
          <p:nvPr/>
        </p:nvGraphicFramePr>
        <p:xfrm>
          <a:off x="530352" y="1956816"/>
          <a:ext cx="11130990" cy="2218944"/>
        </p:xfrm>
        <a:graphic>
          <a:graphicData uri="http://schemas.openxmlformats.org/drawingml/2006/table">
            <a:tbl>
              <a:tblPr firstRow="0" bandRow="0">
                <a:tableStyleId>{2D5ABB26-0587-4C30-8999-92F81FD0307C}</a:tableStyleId>
              </a:tblPr>
              <a:tblGrid>
                <a:gridCol w="4990370"/>
                <a:gridCol w="6140620"/>
              </a:tblGrid>
              <a:tr h="369824">
                <a:tc>
                  <a:txBody>
                    <a:bodyPr/>
                    <a:lstStyle/>
                    <a:p>
                      <a:r>
                        <a:rPr sz="1450" b="1" i="0">
                          <a:solidFill>
                            <a:srgbClr val="FFFFFF"/>
                          </a:solidFill>
                          <a:latin typeface="Calibri"/>
                        </a:rPr>
                        <a:t>You can now</a:t>
                      </a:r>
                    </a:p>
                  </a:txBody>
                  <a:tcPr marL="101600" marR="101600" marT="38100" marB="38100" anchor="ctr">
                    <a:solidFill>
                      <a:srgbClr val="1A0F5C"/>
                    </a:solidFill>
                  </a:tcPr>
                </a:tc>
                <a:tc>
                  <a:txBody>
                    <a:bodyPr/>
                    <a:lstStyle/>
                    <a:p>
                      <a:r>
                        <a:rPr sz="1450" b="1" i="0">
                          <a:solidFill>
                            <a:srgbClr val="FFFFFF"/>
                          </a:solidFill>
                          <a:latin typeface="Calibri"/>
                        </a:rPr>
                        <a:t>The evidence from this morning</a:t>
                      </a:r>
                    </a:p>
                  </a:txBody>
                  <a:tcPr marL="101600" marR="101600" marT="38100" marB="38100" anchor="ctr">
                    <a:solidFill>
                      <a:srgbClr val="1A0F5C"/>
                    </a:solidFill>
                  </a:tcPr>
                </a:tc>
              </a:tr>
              <a:tr h="369824">
                <a:tc>
                  <a:txBody>
                    <a:bodyPr/>
                    <a:lstStyle/>
                    <a:p>
                      <a:r>
                        <a:rPr sz="1400" b="0" i="0">
                          <a:solidFill>
                            <a:srgbClr val="1A1440"/>
                          </a:solidFill>
                          <a:latin typeface="Calibri"/>
                        </a:rPr>
                        <a:t>Trace a join by hand before running it</a:t>
                      </a:r>
                    </a:p>
                  </a:txBody>
                  <a:tcPr marL="101600" marR="101600" marT="38100" marB="38100" anchor="ctr">
                    <a:solidFill>
                      <a:srgbClr val="FFFFFF"/>
                    </a:solidFill>
                  </a:tcPr>
                </a:tc>
                <a:tc>
                  <a:txBody>
                    <a:bodyPr/>
                    <a:lstStyle/>
                    <a:p>
                      <a:r>
                        <a:rPr sz="1400" b="0" i="0">
                          <a:solidFill>
                            <a:srgbClr val="1A1440"/>
                          </a:solidFill>
                          <a:latin typeface="Calibri"/>
                        </a:rPr>
                        <a:t>Six, seven, seven and eight rows on the tiny tables</a:t>
                      </a:r>
                    </a:p>
                  </a:txBody>
                  <a:tcPr marL="101600" marR="101600" marT="38100" marB="38100" anchor="ctr">
                    <a:solidFill>
                      <a:srgbClr val="FFFFFF"/>
                    </a:solidFill>
                  </a:tcPr>
                </a:tc>
              </a:tr>
              <a:tr h="369824">
                <a:tc>
                  <a:txBody>
                    <a:bodyPr/>
                    <a:lstStyle/>
                    <a:p>
                      <a:r>
                        <a:rPr sz="1400" b="0" i="0">
                          <a:solidFill>
                            <a:srgbClr val="1A1440"/>
                          </a:solidFill>
                          <a:latin typeface="Calibri"/>
                        </a:rPr>
                        <a:t>Spot a fan-out and fix the grain</a:t>
                      </a:r>
                    </a:p>
                  </a:txBody>
                  <a:tcPr marL="101600" marR="101600" marT="38100" marB="38100" anchor="ctr">
                    <a:solidFill>
                      <a:srgbClr val="F4F2FA"/>
                    </a:solidFill>
                  </a:tcPr>
                </a:tc>
                <a:tc>
                  <a:txBody>
                    <a:bodyPr/>
                    <a:lstStyle/>
                    <a:p>
                      <a:r>
                        <a:rPr sz="1400" b="0" i="0">
                          <a:solidFill>
                            <a:srgbClr val="1A1440"/>
                          </a:solidFill>
                          <a:latin typeface="Calibri"/>
                        </a:rPr>
                        <a:t>Rs 19.29 crore back to Rs 9.84 crore at order grain</a:t>
                      </a:r>
                    </a:p>
                  </a:txBody>
                  <a:tcPr marL="101600" marR="101600" marT="38100" marB="38100" anchor="ctr">
                    <a:solidFill>
                      <a:srgbClr val="F4F2FA"/>
                    </a:solidFill>
                  </a:tcPr>
                </a:tc>
              </a:tr>
              <a:tr h="369824">
                <a:tc>
                  <a:txBody>
                    <a:bodyPr/>
                    <a:lstStyle/>
                    <a:p>
                      <a:r>
                        <a:rPr sz="1400" b="0" i="0">
                          <a:solidFill>
                            <a:srgbClr val="1A1440"/>
                          </a:solidFill>
                          <a:latin typeface="Calibri"/>
                        </a:rPr>
                        <a:t>Write the reconciliation above the number</a:t>
                      </a:r>
                    </a:p>
                  </a:txBody>
                  <a:tcPr marL="101600" marR="101600" marT="38100" marB="38100" anchor="ctr">
                    <a:solidFill>
                      <a:srgbClr val="FFFFFF"/>
                    </a:solidFill>
                  </a:tcPr>
                </a:tc>
                <a:tc>
                  <a:txBody>
                    <a:bodyPr/>
                    <a:lstStyle/>
                    <a:p>
                      <a:r>
                        <a:rPr sz="1400" b="0" i="0">
                          <a:solidFill>
                            <a:srgbClr val="1A1440"/>
                          </a:solidFill>
                          <a:latin typeface="Calibri"/>
                        </a:rPr>
                        <a:t>Rows in, rows out, booked, and the gap</a:t>
                      </a:r>
                    </a:p>
                  </a:txBody>
                  <a:tcPr marL="101600" marR="101600" marT="38100" marB="38100" anchor="ctr">
                    <a:solidFill>
                      <a:srgbClr val="FFFFFF"/>
                    </a:solidFill>
                  </a:tcPr>
                </a:tc>
              </a:tr>
              <a:tr h="369824">
                <a:tc>
                  <a:txBody>
                    <a:bodyPr/>
                    <a:lstStyle/>
                    <a:p>
                      <a:r>
                        <a:rPr sz="1400" b="0" i="0">
                          <a:solidFill>
                            <a:srgbClr val="1A1440"/>
                          </a:solidFill>
                          <a:latin typeface="Calibri"/>
                        </a:rPr>
                        <a:t>Keep a LEFT JOIN a LEFT JOIN</a:t>
                      </a:r>
                    </a:p>
                  </a:txBody>
                  <a:tcPr marL="101600" marR="101600" marT="38100" marB="38100" anchor="ctr">
                    <a:solidFill>
                      <a:srgbClr val="F4F2FA"/>
                    </a:solidFill>
                  </a:tcPr>
                </a:tc>
                <a:tc>
                  <a:txBody>
                    <a:bodyPr/>
                    <a:lstStyle/>
                    <a:p>
                      <a:r>
                        <a:rPr sz="1400" b="0" i="0">
                          <a:solidFill>
                            <a:srgbClr val="1A1440"/>
                          </a:solidFill>
                          <a:latin typeface="Calibri"/>
                        </a:rPr>
                        <a:t>The paid_date condition moved into ON</a:t>
                      </a:r>
                    </a:p>
                  </a:txBody>
                  <a:tcPr marL="101600" marR="101600" marT="38100" marB="38100" anchor="ctr">
                    <a:solidFill>
                      <a:srgbClr val="F4F2FA"/>
                    </a:solidFill>
                  </a:tcPr>
                </a:tc>
              </a:tr>
              <a:tr h="369824">
                <a:tc>
                  <a:txBody>
                    <a:bodyPr/>
                    <a:lstStyle/>
                    <a:p>
                      <a:r>
                        <a:rPr sz="1400" b="0" i="0">
                          <a:solidFill>
                            <a:srgbClr val="1A1440"/>
                          </a:solidFill>
                          <a:latin typeface="Calibri"/>
                        </a:rPr>
                        <a:t>Tell a retry from an instalment</a:t>
                      </a:r>
                    </a:p>
                  </a:txBody>
                  <a:tcPr marL="101600" marR="101600" marT="38100" marB="38100" anchor="ctr">
                    <a:solidFill>
                      <a:srgbClr val="FFFFFF"/>
                    </a:solidFill>
                  </a:tcPr>
                </a:tc>
                <a:tc>
                  <a:txBody>
                    <a:bodyPr/>
                    <a:lstStyle/>
                    <a:p>
                      <a:r>
                        <a:rPr sz="1400" b="0" i="0">
                          <a:solidFill>
                            <a:srgbClr val="1A1440"/>
                          </a:solidFill>
                          <a:latin typeface="Calibri"/>
                        </a:rPr>
                        <a:t>The double-paid grain is order and instalment</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596360" cy="152146"/>
          </a:xfrm>
          <a:prstGeom prst="rect">
            <a:avLst/>
          </a:prstGeom>
          <a:noFill/>
        </p:spPr>
        <p:txBody>
          <a:bodyPr wrap="square" anchor="t" lIns="0" rIns="0" tIns="0" bIns="0">
            <a:spAutoFit/>
          </a:bodyPr>
          <a:lstStyle/>
          <a:p>
            <a:pPr algn="l"/>
            <a:r>
              <a:rPr sz="700" b="0" i="0">
                <a:solidFill>
                  <a:srgbClr val="6B6690"/>
                </a:solidFill>
                <a:latin typeface="Calibri"/>
              </a:rPr>
              <a:t>The ask</a:t>
            </a:r>
          </a:p>
        </p:txBody>
      </p:sp>
      <p:sp>
        <p:nvSpPr>
          <p:cNvPr id="12" name="Oval 11"/>
          <p:cNvSpPr/>
          <p:nvPr/>
        </p:nvSpPr>
        <p:spPr>
          <a:xfrm>
            <a:off x="13278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437608" y="6437376"/>
            <a:ext cx="1562480" cy="152146"/>
          </a:xfrm>
          <a:prstGeom prst="rect">
            <a:avLst/>
          </a:prstGeom>
          <a:noFill/>
        </p:spPr>
        <p:txBody>
          <a:bodyPr wrap="square" anchor="t" lIns="0" rIns="0" tIns="0" bIns="0">
            <a:spAutoFit/>
          </a:bodyPr>
          <a:lstStyle/>
          <a:p>
            <a:pPr algn="l"/>
            <a:r>
              <a:rPr sz="700" b="0" i="0">
                <a:solidFill>
                  <a:srgbClr val="6B6690"/>
                </a:solidFill>
                <a:latin typeface="Calibri"/>
              </a:rPr>
              <a:t>What a join does to the rows</a:t>
            </a:r>
          </a:p>
        </p:txBody>
      </p:sp>
      <p:sp>
        <p:nvSpPr>
          <p:cNvPr id="14" name="Oval 13"/>
          <p:cNvSpPr/>
          <p:nvPr/>
        </p:nvSpPr>
        <p:spPr>
          <a:xfrm>
            <a:off x="30915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201257"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Prove the join before the number</a:t>
            </a:r>
          </a:p>
        </p:txBody>
      </p:sp>
      <p:sp>
        <p:nvSpPr>
          <p:cNvPr id="16" name="Oval 15"/>
          <p:cNvSpPr/>
          <p:nvPr/>
        </p:nvSpPr>
        <p:spPr>
          <a:xfrm>
            <a:off x="503920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148929"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orders, and which payments</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S39  ·  44 / 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