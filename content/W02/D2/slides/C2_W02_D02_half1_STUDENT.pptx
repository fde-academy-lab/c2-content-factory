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Anand's words aloud and leave them on screen while the room settles.</a:t>
            </a:r>
          </a:p>
          <a:p>
            <a:r>
              <a:t>Yesterday the room rebuilt Week 1's revenue tree as queries on one table, orders. Today a second</a:t>
            </a:r>
          </a:p>
          <a:p>
            <a:r>
              <a:t>table arrives, payments, and with it the first number in the programme that can be wrong while</a:t>
            </a:r>
          </a:p>
          <a:p>
            <a:r>
              <a:t>every row behind it is right. The morning runs the ask and the thinking (20), then chapters 1 to 5</a:t>
            </a:r>
          </a:p>
          <a:p>
            <a:r>
              <a:t>of about 30 minutes each, with a break before chapter 4. Chapter 6 opens the afternoon.</a:t>
            </a:r>
          </a:p>
          <a:p>
            <a:r>
              <a:t>Transition: the next slide is the whole day on one screen.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day's question, then the six chapter questions in order, and say that</a:t>
            </a:r>
          </a:p>
          <a:p>
            <a:r>
              <a:t>each one is the question the previous answer raises. The first five run this morning and chapter 6</a:t>
            </a:r>
          </a:p>
          <a:p>
            <a:r>
              <a:t>opens the afternoon. Ask the room to write the day's question at the top of a page; every chapter</a:t>
            </a:r>
          </a:p>
          <a:p>
            <a:r>
              <a:t>ends on one line under it.</a:t>
            </a:r>
          </a:p>
          <a:p>
            <a:r>
              <a:t>Transition: the question came from Anand, so start with his message.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Anand Iyer is Kalpa Retail's finance controller: he owns the books, the monthly</a:t>
            </a:r>
          </a:p>
          <a:p>
            <a:r>
              <a:t>close and the audit, and his question to any data team is whether its numbers match his books and</a:t>
            </a:r>
          </a:p>
          <a:p>
            <a:r>
              <a:t>whether his analyst can audit how they were made (retail dossier, section 4). Booked is Monday's own</a:t>
            </a:r>
          </a:p>
          <a:p>
            <a:r>
              <a:t>figure, so the room can check it without running anything. Ask what would make collected smaller</a:t>
            </a:r>
          </a:p>
          <a:p>
            <a:r>
              <a:t>than booked: unpaid orders, refunds, part payments. Then ask what could make it larger, and let the</a:t>
            </a:r>
          </a:p>
          <a:p>
            <a:r>
              <a:t>platform lead's remark answer. A retry is a second payment row for the same payment.</a:t>
            </a:r>
          </a:p>
          <a:p>
            <a:r>
              <a:t>Transition: before any number, agree what "collected" means.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minute in pairs, then letters. Expect a split between a and c, since both are</a:t>
            </a:r>
          </a:p>
          <a:p>
            <a:r>
              <a:t>one line of SQL. Hold the answer for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Three words recur all day and mean one thing each: booked is every</a:t>
            </a:r>
          </a:p>
          <a:p>
            <a:r>
              <a:t>Q2 order at its amount, whatever its status; collected is the cash that arrived, each payment</a:t>
            </a:r>
          </a:p>
          <a:p>
            <a:r>
              <a:t>counted once; posted is every payment row the feed holds, repeats included. Refunds belong to the</a:t>
            </a:r>
          </a:p>
          <a:p>
            <a:r>
              <a:t>take-home: all twelve refund rows in the warehouse sit on Q1 orders, so the Q2 report says so in one</a:t>
            </a:r>
          </a:p>
          <a:p>
            <a:r>
              <a:t>line. Option c returns in chapter 2 as the day's first wrong number.</a:t>
            </a:r>
          </a:p>
          <a:p>
            <a:r>
              <a:t>Transition: now draw what any join has to decide.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Draw this on the board with the room, left to right, before any laptop opens, and</a:t>
            </a:r>
          </a:p>
          <a:p>
            <a:r>
              <a:t>leave it up all day. Ask which of the four arrows Anand cares about most: the "never paid" one,</a:t>
            </a:r>
          </a:p>
          <a:p>
            <a:r>
              <a:t>since it is money Kalpa is owed. Ask what the two-matches arrow does to a SUM. Do not name fan-out;</a:t>
            </a:r>
          </a:p>
          <a:p>
            <a:r>
              <a:t>the room meets it in chapter 2. Every chapter today adds one mark to this drawing.</a:t>
            </a:r>
          </a:p>
          <a:p>
            <a:r>
              <a:t>Transition: one habit keeps every arrow honest.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is Week 1 Wednesday's reconciliation one tool later: counts first, then the</a:t>
            </a:r>
          </a:p>
          <a:p>
            <a:r>
              <a:t>rupees. Write the four lines on the board under the drawing. Every chapter fills them in for its</a:t>
            </a:r>
          </a:p>
          <a:p>
            <a:r>
              <a:t>own query, and chapter 6 turns them into the checks that run every Monday.</a:t>
            </a:r>
          </a:p>
          <a:p>
            <a:r>
              <a:t>Transition: chapter 1 traces the four joins on tables small enough to check by hand.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1 runs 30 minutes: the map and the need (3), Razorpay (1), the invented tables, the</a:t>
            </a:r>
          </a:p>
          <a:p>
            <a:r>
              <a:t>four options and the call (5), the grain (3), INNER by hand (5), LEFT, RIGHT and FULL (4), the trap and its</a:t>
            </a:r>
          </a:p>
          <a:p>
            <a:r>
              <a:t>fix (6), the second route (2), the close (1). Notebook 1, C2_W02_D02_01_what_a_join_keeps_STUDENT.ipynb,</a:t>
            </a:r>
          </a:p>
          <a:p>
            <a:r>
              <a:t>runs beside it, and the guided trace sheet is on every desk.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aloud; each is a heading in notebook 1 and a line in the</a:t>
            </a:r>
          </a:p>
          <a:p>
            <a:r>
              <a:t>chapter's close. The metric at stake all day is collected revenue against booked, and this chapter</a:t>
            </a:r>
          </a:p>
          <a:p>
            <a:r>
              <a:t>settles which rows the join keeps before any rupee is added.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orders holds what was booked, one row per order with its channel, quarter, status</a:t>
            </a:r>
          </a:p>
          <a:p>
            <a:r>
              <a:t>and amount; payments holds what arrived, one row per payment event with its order, date, amount,</a:t>
            </a:r>
          </a:p>
          <a:p>
            <a:r>
              <a:t>method and instalment number. A join has to decide what to do with an order that found no payment</a:t>
            </a:r>
          </a:p>
          <a:p>
            <a:r>
              <a:t>and with an order that found two, before it adds anything. At Kalpa's size a single order can be</a:t>
            </a:r>
          </a:p>
          <a:p>
            <a:r>
              <a:t>worth lakhs of rupees, so a dropped order is real money.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Razorpay documentation, About Orders and Fetch Payments for an Order, checked</a:t>
            </a:r>
          </a:p>
          <a:p>
            <a:r>
              <a:t>1 Oct 2026 (URLs in the provenance). The phrases in quotes are Razorpay's own. Say it plainly: an</a:t>
            </a:r>
          </a:p>
          <a:p>
            <a:r>
              <a:t>Indian gateway builds its API around the fact that one order can own many payment rows, so every</a:t>
            </a:r>
          </a:p>
          <a:p>
            <a:r>
              <a:t>merchant's data team has to choose a join.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invented for the chapter and labelled so everywhere. Each row is one case</a:t>
            </a:r>
          </a:p>
          <a:p>
            <a:r>
              <a:t>from Anand's message or the platform lead's remark: paid once, paid in two instalments, a retry,</a:t>
            </a:r>
          </a:p>
          <a:p>
            <a:r>
              <a:t>never paid, and a payment with no order. Put the same two tables on the board; the guided trace</a:t>
            </a:r>
          </a:p>
          <a:p>
            <a:r>
              <a:t>sheet carries them with blank rows to fill.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sizing cell in notebook 1 runs each option on the invented tables and reports</a:t>
            </a:r>
          </a:p>
          <a:p>
            <a:r>
              <a:t>what happens to T-4 and to P-7, and the time; the row counts wait for the hand trace. Ask which column</a:t>
            </a:r>
          </a:p>
          <a:p>
            <a:r>
              <a:t>decides the call. The answer is the T-4 column, because Anand's question is about every order Kalpa</a:t>
            </a:r>
          </a:p>
          <a:p>
            <a:r>
              <a:t>booked. What an order with two payment rows does to a total is chapter 2's problem.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 is the only option that keeps T-4 and nothing that is not an order.</a:t>
            </a:r>
          </a:p>
          <a:p>
            <a:r>
              <a:t>Name the switch facts aloud: the platform lead's question tonight, in the second case, keeps every</a:t>
            </a:r>
          </a:p>
          <a:p>
            <a:r>
              <a:t>payment and so starts from payments. FULL OUTER is named here and parked.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grain of a table is what one row stands for. Take letters, then run level 2 of</a:t>
            </a:r>
          </a:p>
          <a:p>
            <a:r>
              <a:t>notebook 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three checks in the notebook pass: one row per order id in orders, more rows</a:t>
            </a:r>
          </a:p>
          <a:p>
            <a:r>
              <a:t>than ids in payments, at most two rows per id. Say "grain" once and write it on the board beside</a:t>
            </a:r>
          </a:p>
          <a:p>
            <a:r>
              <a:t>each table.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room writes the rows by hand on the guided sheet first, Part 2, then takes a</a:t>
            </a:r>
          </a:p>
          <a:p>
            <a:r>
              <a:t>letter. Watch for 5: the belief that a join returns one row per order is the belief chapter 2 breaks.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T-4 is gone because no payment matched it, and P-7 because no order matched it.</a:t>
            </a:r>
          </a:p>
          <a:p>
            <a:r>
              <a:t>Nothing in the join asked whether T-4 belonged on Anand's statement; it simply did not match. Tick</a:t>
            </a:r>
          </a:p>
          <a:p>
            <a:r>
              <a:t>the room's hand-written rows against this table.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three outer joins keep the same six pairs and differ only in the unmatched rows</a:t>
            </a:r>
          </a:p>
          <a:p>
            <a:r>
              <a:t>they add back.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NULL is SQL's mark for "no value here", and it is how an outer join shows the side</a:t>
            </a:r>
          </a:p>
          <a:p>
            <a:r>
              <a:t>that found nothing. The four checks in notebook 1 pass. Guided sheet Part 3 is the LEFT join by hand.</a:t>
            </a:r>
          </a:p>
          <a:p>
            <a:r>
              <a:t>Transition: a hurried analyst picks the wrong table to start from.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returns the same rows as option C. Take letters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wrong number exactly: 122 percent collected. This is the chapter's trap, a</a:t>
            </a:r>
          </a:p>
          <a:p>
            <a:r>
              <a:t>plausible statement with every row real.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Anand asked about the orders Kalpa booked; this statement answers which payment</a:t>
            </a:r>
          </a:p>
          <a:p>
            <a:r>
              <a:t>belongs to which order. T-4, the one order nobody paid, never reaches it, so the collections team</a:t>
            </a:r>
          </a:p>
          <a:p>
            <a:r>
              <a:t>has nothing to chase, and the cash total carries 600 from P-7 and 1,500 from the retry.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P-7 left the statement; it belongs to the platform lead's question. The seven</a:t>
            </a:r>
          </a:p>
          <a:p>
            <a:r>
              <a:t>lines are why chapter 2 exists: before any total is read from this join, the room has to say what</a:t>
            </a:r>
          </a:p>
          <a:p>
            <a:r>
              <a:t>a total does to an order that appears twice.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For a key seen a times in orders and b times in payments, INNER writes a x b rows;</a:t>
            </a:r>
          </a:p>
          <a:p>
            <a:r>
              <a:t>LEFT adds one row per order key that matched nothing, RIGHT one per payment key that matched</a:t>
            </a:r>
          </a:p>
          <a:p>
            <a:r>
              <a:t>nothing, FULL both. This route fails only when the join condition is more than key equality, such</a:t>
            </a:r>
          </a:p>
          <a:p>
            <a:r>
              <a:t>as the date condition chapter 4 meets. Count the keys first on real data, every time.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lines, then Kavya's review. The interview tags: [S] a staple asked</a:t>
            </a:r>
          </a:p>
          <a:p>
            <a:r>
              <a:t>everywhere, [F] frequent in GCC and product screens, [D] a differentiator. Mark the "never paid"</a:t>
            </a:r>
          </a:p>
          <a:p>
            <a:r>
              <a:t>arrow on the board drawing with LEFT. The question this leaves: the chosen LEFT JOIN still lists T-2</a:t>
            </a:r>
          </a:p>
          <a:p>
            <a:r>
              <a:t>and T-3 twice, so what does a total over those rows report on Kalpa's Q2? That is chapter 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2 runs 30 minutes: the map, the need and the companies (4), the ten largest orders (3),</a:t>
            </a:r>
          </a:p>
          <a:p>
            <a:r>
              <a:t>the first draft and its number (5), why it is wrong (4), the four options and the call (6), the fix</a:t>
            </a:r>
          </a:p>
          <a:p>
            <a:r>
              <a:t>(4), the second route (3), the close (1). Notebook 2, C2_W02_D02_02_why_twice_booked_STUDENT.ipynb.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aloud. The metric at stake is still collected against booked, and</a:t>
            </a:r>
          </a:p>
          <a:p>
            <a:r>
              <a:t>collected can never honestly exceed booked; hold on to that sentence, it is the chapter's first check.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Meera Raghavan is Kalpa Retail's CEO; the Monday page is the numbers she reads each</a:t>
            </a:r>
          </a:p>
          <a:p>
            <a:r>
              <a:t>week. Say what the controller would say on reading "collected above booked": we are collecting</a:t>
            </a:r>
          </a:p>
          <a:p>
            <a:r>
              <a:t>ahead of bookings. That sentence is the cost.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Shopify developer documentation, the REST Admin API's Transaction resource</a:t>
            </a:r>
          </a:p>
          <a:p>
            <a:r>
              <a:t>(a legacy API since 1 October 2024, whose transaction kinds the GraphQL Admin API keeps), checked</a:t>
            </a:r>
          </a:p>
          <a:p>
            <a:r>
              <a:t>1 Oct 2026; URL in the provenance. Leave the question on the dark card open: the room meets the</a:t>
            </a:r>
          </a:p>
          <a:p>
            <a:r>
              <a:t>answer on Kalpa's data in four slides.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1 found that an order id holds up to two payment rows; now ask which orders</a:t>
            </a:r>
          </a:p>
          <a:p>
            <a:r>
              <a:t>they are. Take letters, then run level 1 of notebook 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KR-00595 is a typical business order from the store channel, booked at Rs 4,01,000</a:t>
            </a:r>
          </a:p>
          <a:p>
            <a:r>
              <a:t>and paid in two instalments that add back to it: two real payments in two rows for one order. Do not</a:t>
            </a:r>
          </a:p>
          <a:p>
            <a:r>
              <a:t>say yet what a join does with the two rows; the next slide asks.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FILTER (WHERE ...), which Monday used, restricts one aggregate to the rows that meet</a:t>
            </a:r>
          </a:p>
          <a:p>
            <a:r>
              <a:t>a condition. Most rooms pick a, which is the answer the query was written to give.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the wrong number exactly: Rs 19,29,04,410. Every channel in the notebook's chart</a:t>
            </a:r>
          </a:p>
          <a:p>
            <a:r>
              <a:t>sits near twice its bookings, so the error is not one channel's. Let the room find the doubling</a:t>
            </a:r>
          </a:p>
          <a:p>
            <a:r>
              <a:t>before anyone names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with the next slide. Now name it: fan-out. Either check is enough, and neither needs</a:t>
            </a:r>
          </a:p>
          <a:p>
            <a:r>
              <a:t>a second table. Mark the "two matches" arrow on the board drawing with the word fan-out.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inside S32's four minutes. Source: dbt's MetricFlow documentation, Joins, last updated 8 Sep</a:t>
            </a:r>
          </a:p>
          <a:p>
            <a:r>
              <a:t>2026, checked 1 Oct 2026; URL in the provenance.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 keeps the first posting of each order and instalment with a window function, a</a:t>
            </a:r>
          </a:p>
          <a:p>
            <a:r>
              <a:t>tool Wednesday teaches; it removes a repeat of the same instalment and leaves every genuine second</a:t>
            </a:r>
          </a:p>
          <a:p>
            <a:r>
              <a:t>instalment, so the draft stays inflated. D is the right request to the platform lead and changes</a:t>
            </a:r>
          </a:p>
          <a:p>
            <a:r>
              <a:t>nothing about the quarter Anand asked for. DISTINCT removes repeated values, and a repeated value is</a:t>
            </a:r>
          </a:p>
          <a:p>
            <a:r>
              <a:t>not a repeated order.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keeps every order, paid or not, and keeps a count of payment rows, so a repeated</a:t>
            </a:r>
          </a:p>
          <a:p>
            <a:r>
              <a:t>posting stays visible for chapter 4 instead of vanishing. Say the call and its reason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CTE, WITH ... AS, is a named subquery the main query reads, which Monday met.</a:t>
            </a:r>
          </a:p>
          <a:p>
            <a:r>
              <a:t>posted is everything the feed holds against an order, instalments and any repeat alike, and an</a:t>
            </a:r>
          </a:p>
          <a:p>
            <a:r>
              <a:t>order with no payment row gets NULL there.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four checks in the notebook pass: KR-00595 once with both instalments in posted,</a:t>
            </a:r>
          </a:p>
          <a:p>
            <a:r>
              <a:t>rows out equal orders in, booked equals Monday's, no order twice. The posted total is each learner's own to read in the empty your-turn cell;</a:t>
            </a:r>
          </a:p>
          <a:p>
            <a:r>
              <a:t>they write it down as "posted against Q2 orders", and chapter 3 asks what it is made of.</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route would catch a fan-out the first missed, because it sums each table at</a:t>
            </a:r>
          </a:p>
          <a:p>
            <a:r>
              <a:t>its own grain and never multiplies anything. The interview tags mark how often a question comes up:</a:t>
            </a:r>
          </a:p>
          <a:p>
            <a:r>
              <a:t>[S] a staple asked everywhere, [F] frequent in GCC and product screens, [D] a differentiator.</a:t>
            </a:r>
          </a:p>
          <a:p>
            <a:r>
              <a:t>Interview [F]: revenue doubled after a join and every row looks fine; where do you look? At the</a:t>
            </a:r>
          </a:p>
          <a:p>
            <a:r>
              <a:t>grain: which key repeats on the many side.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question this leaves: the fixed join keeps every order and its posted column is</a:t>
            </a:r>
          </a:p>
          <a:p>
            <a:r>
              <a:t>what the feed recorded. Is every booked order still there when the report is written, and what,</a:t>
            </a:r>
          </a:p>
          <a:p>
            <a:r>
              <a:t>rupee by rupee, separates booked from posted? That is chapter 3.</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3 runs 30 minutes: the map, the need, Stripe and PHE (5), the four proofs and the call (5),</a:t>
            </a:r>
          </a:p>
          <a:p>
            <a:r>
              <a:t>the grain check on Q2 (3), the plain JOIN trap, its check and fix (8), the bridge (6), the second</a:t>
            </a:r>
          </a:p>
          <a:p>
            <a:r>
              <a:t>route (2), the close (1). Notebook 3, C2_W02_D02_03_every_order_there_STUDENT.ipynb.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metric now is the gap between booked and collected, and what can sit inside it:</a:t>
            </a:r>
          </a:p>
          <a:p>
            <a:r>
              <a:t>orders never paid, orders paid short and payments posted twice. Posted is every payment row the</a:t>
            </a:r>
          </a:p>
          <a:p>
            <a:r>
              <a:t>feed holds; collected counts each payment once.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Anand asked "which orders", and the one order a report drops is exactly the order</a:t>
            </a:r>
          </a:p>
          <a:p>
            <a:r>
              <a:t>his collections team never rings. Ask the room for a report in their own work that looked complete</a:t>
            </a:r>
          </a:p>
          <a:p>
            <a:r>
              <a:t>and was not.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Stripe documentation, Payout reconciliation report, which "helps you match</a:t>
            </a:r>
          </a:p>
          <a:p>
            <a:r>
              <a:t>the payouts you receive in your bank account with the batches of payments and other transactions</a:t>
            </a:r>
          </a:p>
          <a:p>
            <a:r>
              <a:t>that they relate to" and itemizes "every payment, refund, dispute, fee, and other balance</a:t>
            </a:r>
          </a:p>
          <a:p>
            <a:r>
              <a:t>transaction included in the payout"; PHE's statement on GOV.UK, 4 October 2020, and BBC News,</a:t>
            </a:r>
          </a:p>
          <a:p>
            <a:r>
              <a:t>5 October 2020; all checked 1 Oct 2026. The testing firms' results arrived as CSV files and were</a:t>
            </a:r>
          </a:p>
          <a:p>
            <a:r>
              <a:t>pulled into Excel templates in the old XLS format, which holds about 65,000 rows; each result took</a:t>
            </a:r>
          </a:p>
          <a:p>
            <a:r>
              <a:t>several rows, so a template held about 1,400 cases, and once it was full further cases were left off.</a:t>
            </a:r>
          </a:p>
          <a:p>
            <a:r>
              <a:t>They reached the dashboards and the contact tracers only after the fault was found. Stripe is the</a:t>
            </a:r>
          </a:p>
          <a:p>
            <a:r>
              <a:t>bridge built into a product; PHE is the dropped-order failure at national scale, and the count check</a:t>
            </a:r>
          </a:p>
          <a:p>
            <a:r>
              <a:t>is its fix.</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invented draft carries two errors at once: it joined with a plain JOIN, and it</a:t>
            </a:r>
          </a:p>
          <a:p>
            <a:r>
              <a:t>counts T-3's repeated payment inside collected. Notebook 3 sizes each proof against it; what the</a:t>
            </a:r>
          </a:p>
          <a:p>
            <a:r>
              <a:t>draft itself reports is the third question's.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 catches a dropped or repeated order in one line and needs no rupee; the bridge is</a:t>
            </a:r>
          </a:p>
          <a:p>
            <a:r>
              <a:t>the only proof that separates an unpaid order from a payment posted twice and puts a list behind each</a:t>
            </a:r>
          </a:p>
          <a:p>
            <a:r>
              <a:t>move. Chapter 4's two lists are D's short form.</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Watch for c, the belief that a join cannot change the row count, which</a:t>
            </a:r>
          </a:p>
          <a:p>
            <a:r>
              <a:t>chapter 2 has already broken.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the four lines from the opening, filled in. The gap line stays blank on</a:t>
            </a:r>
          </a:p>
          <a:p>
            <a:r>
              <a:t>the slide: each learner fills it from their own bridge at level 5.</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Payments are one row per order, so nothing is counted twice by this join. Take</a:t>
            </a:r>
          </a:p>
          <a:p>
            <a:r>
              <a:t>letters.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wrong number exactly: a gap of minus 1,500. This is the chapter's trap.</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Anand, reading "no gap, and a surplus", stops chasing T-4 and never asks why the</a:t>
            </a:r>
          </a:p>
          <a:p>
            <a:r>
              <a:t>feed shows more cash than was booked. A LEFT JOIN at order grain must return exactly the orders it</a:t>
            </a:r>
          </a:p>
          <a:p>
            <a:r>
              <a:t>was given, so the count fails the moment one goes missing.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In the notebook's empty your-turn cell, each learner runs the plain JOIN on Kalpa's</a:t>
            </a:r>
          </a:p>
          <a:p>
            <a:r>
              <a:t>Q2 and counts its orders against the 462 in the quarter, writing what they see in their</a:t>
            </a:r>
          </a:p>
          <a:p>
            <a:r>
              <a:t>reconciliation lines before reading any rupee. The count is theirs to find.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bridge walks from one total to another in named moves, each with the list of</a:t>
            </a:r>
          </a:p>
          <a:p>
            <a:r>
              <a:t>orders behind it, which is Week 1 Wednesday's revenue bridge one tool later. Collected counts each</a:t>
            </a:r>
          </a:p>
          <a:p>
            <a:r>
              <a:t>order and instalment once; posted adds every row the feed holds.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Each move has one order behind it, and each is a question for a different person:</a:t>
            </a:r>
          </a:p>
          <a:p>
            <a:r>
              <a:t>T-4 for the collections team, T-3 for the platform lead. Each learner runs the Kalpa bridge in the</a:t>
            </a:r>
          </a:p>
          <a:p>
            <a:r>
              <a:t>notebook's your-turn cell and copies the six figures into their reconciliation lines; the check</a:t>
            </a:r>
          </a:p>
          <a:p>
            <a:r>
              <a:t>cell after it confirms the bridge closes without printing a figure. The moves go in a fixed order,</a:t>
            </a:r>
          </a:p>
          <a:p>
            <a:r>
              <a:t>written above the chart, so two analysts draw the same bridge.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Here the INNER JOIN is the honest choice, because the question is about paid orders</a:t>
            </a:r>
          </a:p>
          <a:p>
            <a:r>
              <a:t>only; an unpaid order adds nothing to collected either way. Interview [D]: two errors cancel and the</a:t>
            </a:r>
          </a:p>
          <a:p>
            <a:r>
              <a:t>total looks right; how would you find them? Count first, then split the difference into moves.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question this leaves: each bar of the bridge is a total, and Anand asked which</a:t>
            </a:r>
          </a:p>
          <a:p>
            <a:r>
              <a:t>orders. Which Q2 orders were never paid, and which payments were posted twice? That is chapter 4,</a:t>
            </a:r>
          </a:p>
          <a:p>
            <a:r>
              <a:t>after the break.</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4 runs 30 minutes after the break: the map, the need and the companies (4), the four</a:t>
            </a:r>
          </a:p>
          <a:p>
            <a:r>
              <a:t>anti-joins and the call (4), the anti-join (3), the WHERE trap, its check and the fix in ON (8), the</a:t>
            </a:r>
          </a:p>
          <a:p>
            <a:r>
              <a:t>HAVING trap and the fix by instalment (8), the second route (2), the close (1). Notebook 4,</a:t>
            </a:r>
          </a:p>
          <a:p>
            <a:r>
              <a:t>C2_W02_D02_04_which_orders_STUDENT.ipynb.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metric now is the two moves of the bridge that carry names: the booked value of</a:t>
            </a:r>
          </a:p>
          <a:p>
            <a:r>
              <a:t>orders never paid, and the cash posted twice. Each list is right only when its total equals its bar.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two costs as the collections head would hear them: a wasted call on a good</a:t>
            </a:r>
          </a:p>
          <a:p>
            <a:r>
              <a:t>customer, or an overdue invoice nobody chased.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Stripe API reference, Idempotent requests; RBI circular RBI/2019-20/67 of</a:t>
            </a:r>
          </a:p>
          <a:p>
            <a:r>
              <a:t>20 September 2019, in force from 15 October 2019; both checked 1 Oct 2026, URLs in the provenance.</a:t>
            </a:r>
          </a:p>
          <a:p>
            <a:r>
              <a:t>Stripe builds its API so the gateway retry the platform lead mentioned cannot double-charge; where a</a:t>
            </a:r>
          </a:p>
          <a:p>
            <a:r>
              <a:t>feed lacks that, the data team finds the repeats.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 anti-join keeps the rows of one table that have no partner in the other. The</a:t>
            </a:r>
          </a:p>
          <a:p>
            <a:r>
              <a:t>notebook checks that all four agree on Kalpa's Q2 without printing the list, then adds one payment</a:t>
            </a:r>
          </a:p>
          <a:p>
            <a:r>
              <a:t>with a NULL order reference to the invented tables, which a feed can send, and C returns nothing.</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unpaid list is the report's own rows with nothing on the payments side,</a:t>
            </a:r>
          </a:p>
          <a:p>
            <a:r>
              <a:t>and it carries the channel, the date and the amount beside each order.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Watch for b: T-9 is a payment's order id, and it is not an order.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learner now runs the same anti-join on Kalpa's Q2 in the notebook's empty</a:t>
            </a:r>
          </a:p>
          <a:p>
            <a:r>
              <a:t>your-turn cell and reads the list for themselves. The cell after it checks, without printing</a:t>
            </a:r>
          </a:p>
          <a:p>
            <a:r>
              <a:t>anything, that their list's total equals the never-paid bar they computed in chapter 3.</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Kalpa's Q2 runs from July to September. Take letters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wrong output exactly: an empty list. This is the chapter's first trap.</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condition on the right-hand table in the WHERE clause turns the LEFT JOIN into an</a:t>
            </a:r>
          </a:p>
          <a:p>
            <a:r>
              <a:t>INNER one without a word, and the anti-join condition after it can never be met. This is SQL's</a:t>
            </a:r>
          </a:p>
          <a:p>
            <a:r>
              <a:t>three-valued logic: true, false and unknown.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PostgreSQL manual says a restriction in ON is processed before the join and a</a:t>
            </a:r>
          </a:p>
          <a:p>
            <a:r>
              <a:t>restriction in WHERE after it, and that the difference matters a lot with outer joins (PostgreSQL 16</a:t>
            </a:r>
          </a:p>
          <a:p>
            <a:r>
              <a:t>documentation, section 7.2.1.1, Joined Tables, checked 1 Oct 2026). The rule to keep: in a LEFT JOIN, a</a:t>
            </a:r>
          </a:p>
          <a:p>
            <a:r>
              <a:t>condition on the right-hand table goes in ON, and the one right-table condition that belongs in</a:t>
            </a:r>
          </a:p>
          <a:p>
            <a:r>
              <a:t>WHERE is the anti-join's IS NULL, unless the question wants matched rows only. Say what the ON list</a:t>
            </a:r>
          </a:p>
          <a:p>
            <a:r>
              <a:t>answers: orders not paid within Q2, so an order paid on 3 October would sit on it. For "never paid"</a:t>
            </a:r>
          </a:p>
          <a:p>
            <a:r>
              <a:t>no date condition belongs on payments at all; the two lists match on Kalpa's Q2 only because no</a:t>
            </a:r>
          </a:p>
          <a:p>
            <a:r>
              <a:t>payment in the warehouse lands after 30 September.</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HAVING filters groups after GROUP BY, as Monday taught.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is the chapter's second trap: the curriculum's own method, used on this data,</a:t>
            </a:r>
          </a:p>
          <a:p>
            <a:r>
              <a:t>is a plausible wrong list. A note to reverse the second payment on all 216 would reverse real</a:t>
            </a:r>
          </a:p>
          <a:p>
            <a:r>
              <a:t>second instalments on Kalpa's largest business invoices and put a call to every corporate buyer who</a:t>
            </a:r>
          </a:p>
          <a:p>
            <a:r>
              <a:t>paid on time. On the invented tables T-2's second row is its second instalment, real cash; T-3's is</a:t>
            </a:r>
          </a:p>
          <a:p>
            <a:r>
              <a:t>the retry.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grain of a double payment is the order and the instalment. Each learner builds</a:t>
            </a:r>
          </a:p>
          <a:p>
            <a:r>
              <a:t>Kalpa's double-paid list, and the list of payments that match no order, in the notebook's your-turn</a:t>
            </a:r>
          </a:p>
          <a:p>
            <a:r>
              <a:t>cell; the check after it confirms the double-paid list matches its bar and that every one of the</a:t>
            </a:r>
          </a:p>
          <a:p>
            <a:r>
              <a:t>1,428 payment rows is accounted for, without printing a figure.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WHERE that empties the anti-join, or a NULL that silences NOT IN, cannot reach the</a:t>
            </a:r>
          </a:p>
          <a:p>
            <a:r>
              <a:t>subtraction. The instalment method would miss a retry the feed wrote under a new instalment number,</a:t>
            </a:r>
          </a:p>
          <a:p>
            <a:r>
              <a:t>and the booked method would miss a retry on an order paid short; when both find the same orders,</a:t>
            </a:r>
          </a:p>
          <a:p>
            <a:r>
              <a:t>only a retry with both blind spots at once could still hide. Interview [F]: how do you find orders</a:t>
            </a:r>
          </a:p>
          <a:p>
            <a:r>
              <a:t>with no payment?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question this leaves: Anand has the bridge and its two lists. What goes on the</a:t>
            </a:r>
          </a:p>
          <a:p>
            <a:r>
              <a:t>one page he signs, by channel, and does its gap column tell the truth? That is chapter 5.</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5 runs 30 minutes: the map, the need and Infosys (4), the four forms and the call (5),</a:t>
            </a:r>
          </a:p>
          <a:p>
            <a:r>
              <a:t>the lines by channel (3), the gap-column trap, its check and fix (10), the page against the bridge</a:t>
            </a:r>
          </a:p>
          <a:p>
            <a:r>
              <a:t>(4), the second route and refunds (3), the close and the sentence (1). Notebook 5,</a:t>
            </a:r>
          </a:p>
          <a:p>
            <a:r>
              <a:t>C2_W02_D02_05_what_anand_signs_STUDENT.ipynb.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metric is booked, collected and the gap between them by channel: app, store and</a:t>
            </a:r>
          </a:p>
          <a:p>
            <a:r>
              <a:t>web. The gap is booked less collected, order by order, and it must add up to the bridge's</a:t>
            </a:r>
          </a:p>
          <a:p>
            <a:r>
              <a:t>never-paid and paid-short bars.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Anand signs the report and it goes to Meera Raghavan's Monday page, so every figure on</a:t>
            </a:r>
          </a:p>
          <a:p>
            <a:r>
              <a:t>it becomes his figure. In the retail dossier's terms, the finance controller's cost of a wrong number</a:t>
            </a:r>
          </a:p>
          <a:p>
            <a:r>
              <a:t>is a figure restated in front of the board (section 4).</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the Infosys fact sheet, Exhibit 99.4 to the Form 6-K furnished to the US SEC</a:t>
            </a:r>
          </a:p>
          <a:p>
            <a:r>
              <a:t>on 28 July 2026, checked 1 Oct 2026; URL in the provenance. The retail dossier carries the same idea for Kalpa as days</a:t>
            </a:r>
          </a:p>
          <a:p>
            <a:r>
              <a:t>of receivables: money owed by customers and payment partners over net revenue per day (section 3).</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notebook's sizing cell counts the lines each form puts in front of Anand on</a:t>
            </a:r>
          </a:p>
          <a:p>
            <a:r>
              <a:t>Kalpa's Q2: three channels and a total, four reconciliation lines, and 462 orders.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 is the smallest page on which Anand can both act, by channel and by order, and</a:t>
            </a:r>
          </a:p>
          <a:p>
            <a:r>
              <a:t>audit, since every figure ties back to the bridge. A alone hides where the gap sits; B tells the store</a:t>
            </a:r>
          </a:p>
          <a:p>
            <a:r>
              <a:t>team to chase without telling them whom; D answers everything and asks Anand to find it in 462 lines.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report is built from chapter 3's table of one row per order, grouped by channel,</a:t>
            </a:r>
          </a:p>
          <a:p>
            <a:r>
              <a:t>under a definition line: collected is cash received against Q2 orders, each payment counted once;</a:t>
            </a:r>
          </a:p>
          <a:p>
            <a:r>
              <a:t>posted twice and refunds are shown separately.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Booked by channel comes from orders alone, so it can be printed and checked by</a:t>
            </a:r>
          </a:p>
          <a:p>
            <a:r>
              <a:t>anyone. Collected by channel is each learner's own figure from the page they build at level 5.</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per_order is chapter 3's table: one row per Q2 order with booked, collected and</a:t>
            </a:r>
          </a:p>
          <a:p>
            <a:r>
              <a:t>posted.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wrong output exactly: Rs 0 on every channel. The notebook runs the same query</a:t>
            </a:r>
          </a:p>
          <a:p>
            <a:r>
              <a:t>on Kalpa's Q2 and prints the three zeros. This is the chapter's trap.</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unpaid orders, the very orders the gap exists to show, drop out of the gap, and</a:t>
            </a:r>
          </a:p>
          <a:p>
            <a:r>
              <a:t>since every paid order at Kalpa was paid in full, what remains adds to zero. Each column summed on</a:t>
            </a:r>
          </a:p>
          <a:p>
            <a:r>
              <a:t>its own is handled correctly, which is why the two-sums check works.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coalesce returns its first argument that is not NULL, and Monday met it in its NULL</a:t>
            </a:r>
          </a:p>
          <a:p>
            <a:r>
              <a:t>trap. The decision it writes into the query is a business one: what does a missing collected figure</a:t>
            </a:r>
          </a:p>
          <a:p>
            <a:r>
              <a:t>mean? Here, nothing paid.</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four checks print PASS without the figures, since the gap and the lists are the</a:t>
            </a:r>
          </a:p>
          <a:p>
            <a:r>
              <a:t>room's to find. Walk the room while they build the page in the empty your-turn cell of notebook 5,</a:t>
            </a:r>
          </a:p>
          <a:p>
            <a:r>
              <a:t>and ask two learners to read their own gap by channel aloud.</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Nothing on Kalpa's Q2 was paid short, so the gap by channel must equal the unpaid</a:t>
            </a:r>
          </a:p>
          <a:p>
            <a:r>
              <a:t>list by channel. The refunds line answers the one part of Anand's message the page has not touched.</a:t>
            </a:r>
          </a:p>
          <a:p>
            <a:r>
              <a:t>This is part of the interview's [D] answer on a small gap: keep booked and collected beside the gap,</a:t>
            </a:r>
          </a:p>
          <a:p>
            <a:r>
              <a:t>since a gap on its own cannot be checked.</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page ends on one sentence each learner writes from their own figures: "Q2 booked</a:t>
            </a:r>
          </a:p>
          <a:p>
            <a:r>
              <a:t>Rs 9,84,00,000 and collected Rs ___, each payment counted once. The gap of Rs ___ is ___ orders</a:t>
            </a:r>
          </a:p>
          <a:p>
            <a:r>
              <a:t>nobody has paid, listed by channel, largest first. Separately, Rs ___ was posted twice by gateway</a:t>
            </a:r>
          </a:p>
          <a:p>
            <a:r>
              <a:t>retries and ___ payments match no order; both lists go to the platform lead. Every figure ties back</a:t>
            </a:r>
          </a:p>
          <a:p>
            <a:r>
              <a:t>to the orders and payments tables through checks that have each been seen to fail." Its last clause</a:t>
            </a:r>
          </a:p>
          <a:p>
            <a:r>
              <a:t>is earned in chapter 6. The question this leaves: the page is right today,</a:t>
            </a:r>
          </a:p>
          <a:p>
            <a:r>
              <a:t>so what must pass every Monday before the number leaves? That opens the afternoon.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2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24.png"/><Relationship Id="rId6" Type="http://schemas.openxmlformats.org/officeDocument/2006/relationships/image" Target="../media/image17.png"/><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2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2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2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image" Target="../media/image29.png"/><Relationship Id="rId6" Type="http://schemas.openxmlformats.org/officeDocument/2006/relationships/image" Target="../media/image11.png"/><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 Id="rId5" Type="http://schemas.openxmlformats.org/officeDocument/2006/relationships/image" Target="../media/image3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3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 Id="rId5" Type="http://schemas.openxmlformats.org/officeDocument/2006/relationships/image" Target="../media/image3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 Id="rId5" Type="http://schemas.openxmlformats.org/officeDocument/2006/relationships/image" Target="../media/image3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0.png"/><Relationship Id="rId5" Type="http://schemas.openxmlformats.org/officeDocument/2006/relationships/image" Target="../media/image35.png"/><Relationship Id="rId6" Type="http://schemas.openxmlformats.org/officeDocument/2006/relationships/image" Target="../media/image11.png"/><Relationship Id="rId7"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 Id="rId5" Type="http://schemas.openxmlformats.org/officeDocument/2006/relationships/image" Target="../media/image3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6.xml"/><Relationship Id="rId5" Type="http://schemas.openxmlformats.org/officeDocument/2006/relationships/image" Target="../media/image40.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9.xml"/><Relationship Id="rId5" Type="http://schemas.openxmlformats.org/officeDocument/2006/relationships/image" Target="../media/image4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4.xml"/><Relationship Id="rId5" Type="http://schemas.openxmlformats.org/officeDocument/2006/relationships/image" Target="../media/image4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8.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1.xml"/><Relationship Id="rId5" Type="http://schemas.openxmlformats.org/officeDocument/2006/relationships/image" Target="../media/image46.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2.xml"/><Relationship Id="rId5" Type="http://schemas.openxmlformats.org/officeDocument/2006/relationships/image" Target="../media/image47.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6.xml"/><Relationship Id="rId5" Type="http://schemas.openxmlformats.org/officeDocument/2006/relationships/image" Target="../media/image4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7.xml"/><Relationship Id="rId5" Type="http://schemas.openxmlformats.org/officeDocument/2006/relationships/image" Target="../media/image49.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9.xml"/><Relationship Id="rId5" Type="http://schemas.openxmlformats.org/officeDocument/2006/relationships/image" Target="../media/image50.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9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29067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TUESDAY  ·  MORNING</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What did Q2 actually collect, order by order?</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“Booked revenue is not collected revenue. Show me, order by order, what we actually collected against what we booked in Q2. If there is a gap, I want to know which orders and which channel.”</a:t>
            </a:r>
          </a:p>
        </p:txBody>
      </p:sp>
      <p:sp>
        <p:nvSpPr>
          <p:cNvPr id="10" name="TextBox 9"/>
          <p:cNvSpPr txBox="1"/>
          <p:nvPr/>
        </p:nvSpPr>
        <p:spPr>
          <a:xfrm>
            <a:off x="621792" y="529564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replying to the team's Monday numbers</a:t>
            </a:r>
          </a:p>
        </p:txBody>
      </p:sp>
      <p:sp>
        <p:nvSpPr>
          <p:cNvPr id="11" name="TextBox 10"/>
          <p:cNvSpPr txBox="1"/>
          <p:nvPr/>
        </p:nvSpPr>
        <p:spPr>
          <a:xfrm>
            <a:off x="62179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What does a join keep?</a:t>
            </a:r>
          </a:p>
        </p:txBody>
      </p:sp>
      <p:sp>
        <p:nvSpPr>
          <p:cNvPr id="13" name="TextBox 12"/>
          <p:cNvSpPr txBox="1"/>
          <p:nvPr/>
        </p:nvSpPr>
        <p:spPr>
          <a:xfrm>
            <a:off x="2672905"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056953" y="5870448"/>
            <a:ext cx="1543335" cy="185166"/>
          </a:xfrm>
          <a:prstGeom prst="rect">
            <a:avLst/>
          </a:prstGeom>
          <a:noFill/>
        </p:spPr>
        <p:txBody>
          <a:bodyPr wrap="square" anchor="t" lIns="0" rIns="0" tIns="0" bIns="0">
            <a:spAutoFit/>
          </a:bodyPr>
          <a:lstStyle/>
          <a:p>
            <a:pPr algn="l"/>
            <a:r>
              <a:rPr sz="900" b="0" i="0">
                <a:solidFill>
                  <a:srgbClr val="FFFFFF"/>
                </a:solidFill>
                <a:latin typeface="Calibri"/>
              </a:rPr>
              <a:t>Why twice the bookings?</a:t>
            </a:r>
          </a:p>
        </p:txBody>
      </p:sp>
      <p:sp>
        <p:nvSpPr>
          <p:cNvPr id="15" name="TextBox 14"/>
          <p:cNvSpPr txBox="1"/>
          <p:nvPr/>
        </p:nvSpPr>
        <p:spPr>
          <a:xfrm>
            <a:off x="4783169"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167217" y="5870448"/>
            <a:ext cx="1425035" cy="185166"/>
          </a:xfrm>
          <a:prstGeom prst="rect">
            <a:avLst/>
          </a:prstGeom>
          <a:noFill/>
        </p:spPr>
        <p:txBody>
          <a:bodyPr wrap="square" anchor="t" lIns="0" rIns="0" tIns="0" bIns="0">
            <a:spAutoFit/>
          </a:bodyPr>
          <a:lstStyle/>
          <a:p>
            <a:pPr algn="l"/>
            <a:r>
              <a:rPr sz="900" b="0" i="0">
                <a:solidFill>
                  <a:srgbClr val="FFFFFF"/>
                </a:solidFill>
                <a:latin typeface="Calibri"/>
              </a:rPr>
              <a:t>Is every order there?</a:t>
            </a:r>
          </a:p>
        </p:txBody>
      </p:sp>
      <p:sp>
        <p:nvSpPr>
          <p:cNvPr id="17" name="TextBox 16"/>
          <p:cNvSpPr txBox="1"/>
          <p:nvPr/>
        </p:nvSpPr>
        <p:spPr>
          <a:xfrm>
            <a:off x="677513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159180"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Which orders, exactly?</a:t>
            </a:r>
          </a:p>
        </p:txBody>
      </p:sp>
      <p:sp>
        <p:nvSpPr>
          <p:cNvPr id="19" name="TextBox 18"/>
          <p:cNvSpPr txBox="1"/>
          <p:nvPr/>
        </p:nvSpPr>
        <p:spPr>
          <a:xfrm>
            <a:off x="8826246"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210294" y="5870448"/>
            <a:ext cx="1425035" cy="185166"/>
          </a:xfrm>
          <a:prstGeom prst="rect">
            <a:avLst/>
          </a:prstGeom>
          <a:noFill/>
        </p:spPr>
        <p:txBody>
          <a:bodyPr wrap="square" anchor="t" lIns="0" rIns="0" tIns="0" bIns="0">
            <a:spAutoFit/>
          </a:bodyPr>
          <a:lstStyle/>
          <a:p>
            <a:pPr algn="l"/>
            <a:r>
              <a:rPr sz="900" b="0" i="0">
                <a:solidFill>
                  <a:srgbClr val="FFFFFF"/>
                </a:solidFill>
                <a:latin typeface="Calibri"/>
              </a:rPr>
              <a:t>What does Anand sign?</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What did Q2 actually collect, order by order?</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90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questions stand between booked and collected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Kalpa actually collect against what it booked in Q2, order by order and by channel, and how do we know nothing is counted twice?</a:t>
            </a:r>
          </a:p>
        </p:txBody>
      </p:sp>
      <p:graphicFrame>
        <p:nvGraphicFramePr>
          <p:cNvPr id="9" name="Table 8"/>
          <p:cNvGraphicFramePr>
            <a:graphicFrameLocks noGrp="1"/>
          </p:cNvGraphicFramePr>
          <p:nvPr/>
        </p:nvGraphicFramePr>
        <p:xfrm>
          <a:off x="530352" y="1956816"/>
          <a:ext cx="11130990" cy="3797808"/>
        </p:xfrm>
        <a:graphic>
          <a:graphicData uri="http://schemas.openxmlformats.org/drawingml/2006/table">
            <a:tbl>
              <a:tblPr firstRow="0" bandRow="0">
                <a:tableStyleId>{2D5ABB26-0587-4C30-8999-92F81FD0307C}</a:tableStyleId>
              </a:tblPr>
              <a:tblGrid>
                <a:gridCol w="3555158"/>
                <a:gridCol w="7575832"/>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The question it answers</a:t>
                      </a:r>
                    </a:p>
                  </a:txBody>
                  <a:tcPr marL="101600" marR="101600" marT="38100" marB="38100" anchor="ctr">
                    <a:solidFill>
                      <a:srgbClr val="1A0F5C"/>
                    </a:solidFill>
                  </a:tcPr>
                </a:tc>
              </a:tr>
              <a:tr h="611632">
                <a:tc>
                  <a:txBody>
                    <a:bodyPr/>
                    <a:lstStyle/>
                    <a:p>
                      <a:r>
                        <a:rPr sz="1400" b="0" i="0">
                          <a:solidFill>
                            <a:srgbClr val="1A1440"/>
                          </a:solidFill>
                          <a:latin typeface="Calibri"/>
                        </a:rPr>
                        <a:t>1. What does a join keep?</a:t>
                      </a:r>
                    </a:p>
                  </a:txBody>
                  <a:tcPr marL="101600" marR="101600" marT="38100" marB="38100" anchor="ctr">
                    <a:solidFill>
                      <a:srgbClr val="FFFFFF"/>
                    </a:solidFill>
                  </a:tcPr>
                </a:tc>
                <a:tc>
                  <a:txBody>
                    <a:bodyPr/>
                    <a:lstStyle/>
                    <a:p>
                      <a:r>
                        <a:rPr sz="1400" b="0" i="0">
                          <a:solidFill>
                            <a:srgbClr val="1A1440"/>
                          </a:solidFill>
                          <a:latin typeface="Calibri"/>
                        </a:rPr>
                        <a:t>When payments are attached to orders, which rows does each join keep, drop or repeat?</a:t>
                      </a:r>
                    </a:p>
                  </a:txBody>
                  <a:tcPr marL="101600" marR="101600" marT="38100" marB="38100" anchor="ctr">
                    <a:solidFill>
                      <a:srgbClr val="FFFFFF"/>
                    </a:solidFill>
                  </a:tcPr>
                </a:tc>
              </a:tr>
              <a:tr h="611632">
                <a:tc>
                  <a:txBody>
                    <a:bodyPr/>
                    <a:lstStyle/>
                    <a:p>
                      <a:r>
                        <a:rPr sz="1400" b="0" i="0">
                          <a:solidFill>
                            <a:srgbClr val="1A1440"/>
                          </a:solidFill>
                          <a:latin typeface="Calibri"/>
                        </a:rPr>
                        <a:t>2. Why twice the bookings?</a:t>
                      </a:r>
                    </a:p>
                  </a:txBody>
                  <a:tcPr marL="101600" marR="101600" marT="38100" marB="38100" anchor="ctr">
                    <a:solidFill>
                      <a:srgbClr val="F4F2FA"/>
                    </a:solidFill>
                  </a:tcPr>
                </a:tc>
                <a:tc>
                  <a:txBody>
                    <a:bodyPr/>
                    <a:lstStyle/>
                    <a:p>
                      <a:r>
                        <a:rPr sz="1400" b="0" i="0">
                          <a:solidFill>
                            <a:srgbClr val="1A1440"/>
                          </a:solidFill>
                          <a:latin typeface="Calibri"/>
                        </a:rPr>
                        <a:t>Why does the first join on Kalpa's Q2 report nearly twice the bookings as collected, and how do we attach payments so that nothing counts twice?</a:t>
                      </a:r>
                    </a:p>
                  </a:txBody>
                  <a:tcPr marL="101600" marR="101600" marT="38100" marB="38100" anchor="ctr">
                    <a:solidFill>
                      <a:srgbClr val="F4F2FA"/>
                    </a:solidFill>
                  </a:tcPr>
                </a:tc>
              </a:tr>
              <a:tr h="611632">
                <a:tc>
                  <a:txBody>
                    <a:bodyPr/>
                    <a:lstStyle/>
                    <a:p>
                      <a:r>
                        <a:rPr sz="1400" b="0" i="0">
                          <a:solidFill>
                            <a:srgbClr val="1A1440"/>
                          </a:solidFill>
                          <a:latin typeface="Calibri"/>
                        </a:rPr>
                        <a:t>3. Is every order there?</a:t>
                      </a:r>
                    </a:p>
                  </a:txBody>
                  <a:tcPr marL="101600" marR="101600" marT="38100" marB="38100" anchor="ctr">
                    <a:solidFill>
                      <a:srgbClr val="FFFFFF"/>
                    </a:solidFill>
                  </a:tcPr>
                </a:tc>
                <a:tc>
                  <a:txBody>
                    <a:bodyPr/>
                    <a:lstStyle/>
                    <a:p>
                      <a:r>
                        <a:rPr sz="1400" b="0" i="0">
                          <a:solidFill>
                            <a:srgbClr val="1A1440"/>
                          </a:solidFill>
                          <a:latin typeface="Calibri"/>
                        </a:rPr>
                        <a:t>Once nothing counts twice, is every booked order still in the report, and can every rupee between booked and posted be named?</a:t>
                      </a:r>
                    </a:p>
                  </a:txBody>
                  <a:tcPr marL="101600" marR="101600" marT="38100" marB="38100" anchor="ctr">
                    <a:solidFill>
                      <a:srgbClr val="FFFFFF"/>
                    </a:solidFill>
                  </a:tcPr>
                </a:tc>
              </a:tr>
              <a:tr h="369824">
                <a:tc>
                  <a:txBody>
                    <a:bodyPr/>
                    <a:lstStyle/>
                    <a:p>
                      <a:r>
                        <a:rPr sz="1400" b="0" i="0">
                          <a:solidFill>
                            <a:srgbClr val="1A1440"/>
                          </a:solidFill>
                          <a:latin typeface="Calibri"/>
                        </a:rPr>
                        <a:t>4. Which orders, exactly?</a:t>
                      </a:r>
                    </a:p>
                  </a:txBody>
                  <a:tcPr marL="101600" marR="101600" marT="38100" marB="38100" anchor="ctr">
                    <a:solidFill>
                      <a:srgbClr val="F4F2FA"/>
                    </a:solidFill>
                  </a:tcPr>
                </a:tc>
                <a:tc>
                  <a:txBody>
                    <a:bodyPr/>
                    <a:lstStyle/>
                    <a:p>
                      <a:r>
                        <a:rPr sz="1400" b="0" i="0">
                          <a:solidFill>
                            <a:srgbClr val="1A1440"/>
                          </a:solidFill>
                          <a:latin typeface="Calibri"/>
                        </a:rPr>
                        <a:t>Which Q2 orders were never paid, and which payments did the gateway post twice?</a:t>
                      </a:r>
                    </a:p>
                  </a:txBody>
                  <a:tcPr marL="101600" marR="101600" marT="38100" marB="38100" anchor="ctr">
                    <a:solidFill>
                      <a:srgbClr val="F4F2FA"/>
                    </a:solidFill>
                  </a:tcPr>
                </a:tc>
              </a:tr>
              <a:tr h="611632">
                <a:tc>
                  <a:txBody>
                    <a:bodyPr/>
                    <a:lstStyle/>
                    <a:p>
                      <a:r>
                        <a:rPr sz="1400" b="0" i="0">
                          <a:solidFill>
                            <a:srgbClr val="1A1440"/>
                          </a:solidFill>
                          <a:latin typeface="Calibri"/>
                        </a:rPr>
                        <a:t>5. What does Anand sign?</a:t>
                      </a:r>
                    </a:p>
                  </a:txBody>
                  <a:tcPr marL="101600" marR="101600" marT="38100" marB="38100" anchor="ctr">
                    <a:solidFill>
                      <a:srgbClr val="FFFFFF"/>
                    </a:solidFill>
                  </a:tcPr>
                </a:tc>
                <a:tc>
                  <a:txBody>
                    <a:bodyPr/>
                    <a:lstStyle/>
                    <a:p>
                      <a:r>
                        <a:rPr sz="1400" b="0" i="0">
                          <a:solidFill>
                            <a:srgbClr val="1A1440"/>
                          </a:solidFill>
                          <a:latin typeface="Calibri"/>
                        </a:rPr>
                        <a:t>What goes on the report by channel that Anand signs, and does its gap column tell the truth?</a:t>
                      </a:r>
                    </a:p>
                  </a:txBody>
                  <a:tcPr marL="101600" marR="101600" marT="38100" marB="38100" anchor="ctr">
                    <a:solidFill>
                      <a:srgbClr val="FFFFFF"/>
                    </a:solidFill>
                  </a:tcPr>
                </a:tc>
              </a:tr>
              <a:tr h="611632">
                <a:tc>
                  <a:txBody>
                    <a:bodyPr/>
                    <a:lstStyle/>
                    <a:p>
                      <a:r>
                        <a:rPr sz="1400" b="0" i="0">
                          <a:solidFill>
                            <a:srgbClr val="1A1440"/>
                          </a:solidFill>
                          <a:latin typeface="Calibri"/>
                        </a:rPr>
                        <a:t>6. Can the number leave?</a:t>
                      </a:r>
                    </a:p>
                  </a:txBody>
                  <a:tcPr marL="101600" marR="101600" marT="38100" marB="38100" anchor="ctr">
                    <a:solidFill>
                      <a:srgbClr val="F4F2FA"/>
                    </a:solidFill>
                  </a:tcPr>
                </a:tc>
                <a:tc>
                  <a:txBody>
                    <a:bodyPr/>
                    <a:lstStyle/>
                    <a:p>
                      <a:r>
                        <a:rPr sz="1400" b="0" i="0">
                          <a:solidFill>
                            <a:srgbClr val="1A1440"/>
                          </a:solidFill>
                          <a:latin typeface="Calibri"/>
                        </a:rPr>
                        <a:t>Which checks must pass before the collected number leaves the team, and what does Anand get when one fails at the end of reporting day?</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8" name="Oval 1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90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wants cash against bookings, by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is the finance controller asking for, and what did the platform lead add?</a:t>
            </a:r>
          </a:p>
        </p:txBody>
      </p:sp>
      <p:sp>
        <p:nvSpPr>
          <p:cNvPr id="9" name="Rounded Rectangle 8"/>
          <p:cNvSpPr/>
          <p:nvPr/>
        </p:nvSpPr>
        <p:spPr>
          <a:xfrm>
            <a:off x="530352" y="1682496"/>
            <a:ext cx="5291175" cy="24170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6624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772156"/>
            <a:ext cx="237744" cy="237744"/>
          </a:xfrm>
          <a:prstGeom prst="rect">
            <a:avLst/>
          </a:prstGeom>
        </p:spPr>
      </p:pic>
      <p:sp>
        <p:nvSpPr>
          <p:cNvPr id="12" name="TextBox 11"/>
          <p:cNvSpPr txBox="1"/>
          <p:nvPr/>
        </p:nvSpPr>
        <p:spPr>
          <a:xfrm>
            <a:off x="1399031" y="1828800"/>
            <a:ext cx="4148175"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048256"/>
            <a:ext cx="4148175" cy="1978152"/>
          </a:xfrm>
          <a:prstGeom prst="rect">
            <a:avLst/>
          </a:prstGeom>
          <a:noFill/>
        </p:spPr>
        <p:txBody>
          <a:bodyPr wrap="square" anchor="t" lIns="0" rIns="0" tIns="0" bIns="0">
            <a:spAutoFit/>
          </a:bodyPr>
          <a:lstStyle/>
          <a:p>
            <a:r>
              <a:rPr sz="1500" b="0" i="0">
                <a:solidFill>
                  <a:srgbClr val="FFFFFF"/>
                </a:solidFill>
                <a:latin typeface="Calibri"/>
              </a:rPr>
              <a:t>"Booked revenue is not collected revenue. Some orders are paid in two instalments, some are refunded, some were never paid at all. Show me, order by order, what we actually collected against what we booked in Q2. If there is a gap, I want to know which orders and which channel."</a:t>
            </a:r>
          </a:p>
        </p:txBody>
      </p:sp>
      <p:sp>
        <p:nvSpPr>
          <p:cNvPr id="14" name="Rounded Rectangle 13"/>
          <p:cNvSpPr/>
          <p:nvPr/>
        </p:nvSpPr>
        <p:spPr>
          <a:xfrm>
            <a:off x="530352" y="4264152"/>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4264152"/>
            <a:ext cx="4980279" cy="1026160"/>
          </a:xfrm>
          <a:prstGeom prst="rect">
            <a:avLst/>
          </a:prstGeom>
          <a:noFill/>
        </p:spPr>
        <p:txBody>
          <a:bodyPr wrap="square" anchor="t" lIns="0" rIns="0" tIns="0" bIns="0">
            <a:spAutoFit/>
          </a:bodyPr>
          <a:lstStyle/>
          <a:p>
            <a:r>
              <a:rPr sz="1600" b="0" i="1">
                <a:solidFill>
                  <a:srgbClr val="1A0F5C"/>
                </a:solidFill>
                <a:latin typeface="Georgia"/>
              </a:rPr>
              <a:t>"The payments feed sometimes double-posts when the gateway retries."</a:t>
            </a:r>
          </a:p>
          <a:p>
            <a:pPr>
              <a:spcBef>
                <a:spcPts val="400"/>
              </a:spcBef>
            </a:pPr>
            <a:r>
              <a:rPr sz="1000" b="0" i="0">
                <a:solidFill>
                  <a:srgbClr val="6B6690"/>
                </a:solidFill>
                <a:latin typeface="Calibri"/>
              </a:rPr>
              <a:t>The data platform lead, Kalpa Retail</a:t>
            </a:r>
          </a:p>
        </p:txBody>
      </p:sp>
      <p:sp>
        <p:nvSpPr>
          <p:cNvPr id="16" name="TextBox 15"/>
          <p:cNvSpPr txBox="1"/>
          <p:nvPr/>
        </p:nvSpPr>
        <p:spPr>
          <a:xfrm>
            <a:off x="6370167" y="1682496"/>
            <a:ext cx="1580845" cy="317500"/>
          </a:xfrm>
          <a:prstGeom prst="rect">
            <a:avLst/>
          </a:prstGeom>
          <a:noFill/>
        </p:spPr>
        <p:txBody>
          <a:bodyPr wrap="square" anchor="t" lIns="0" rIns="0" tIns="0" bIns="0">
            <a:spAutoFit/>
          </a:bodyPr>
          <a:lstStyle/>
          <a:p>
            <a:pPr algn="l"/>
            <a:r>
              <a:rPr sz="2000" b="0" i="0">
                <a:solidFill>
                  <a:srgbClr val="5B3FD6"/>
                </a:solidFill>
                <a:latin typeface="Georgia"/>
              </a:rPr>
              <a:t>Rs 9.84 cr</a:t>
            </a:r>
          </a:p>
        </p:txBody>
      </p:sp>
      <p:sp>
        <p:nvSpPr>
          <p:cNvPr id="17" name="TextBox 16"/>
          <p:cNvSpPr txBox="1"/>
          <p:nvPr/>
        </p:nvSpPr>
        <p:spPr>
          <a:xfrm>
            <a:off x="6370167" y="2036572"/>
            <a:ext cx="1580845" cy="168656"/>
          </a:xfrm>
          <a:prstGeom prst="rect">
            <a:avLst/>
          </a:prstGeom>
          <a:noFill/>
        </p:spPr>
        <p:txBody>
          <a:bodyPr wrap="square" anchor="t" lIns="0" rIns="0" tIns="0" bIns="0">
            <a:spAutoFit/>
          </a:bodyPr>
          <a:lstStyle/>
          <a:p>
            <a:pPr algn="l"/>
            <a:r>
              <a:rPr sz="800" b="1" i="0" spc="250">
                <a:solidFill>
                  <a:srgbClr val="1A0F5C"/>
                </a:solidFill>
                <a:latin typeface="Calibri"/>
              </a:rPr>
              <a:t>BOOKED IN Q2</a:t>
            </a:r>
          </a:p>
        </p:txBody>
      </p:sp>
      <p:sp>
        <p:nvSpPr>
          <p:cNvPr id="18" name="TextBox 17"/>
          <p:cNvSpPr txBox="1"/>
          <p:nvPr/>
        </p:nvSpPr>
        <p:spPr>
          <a:xfrm>
            <a:off x="6370167" y="2237740"/>
            <a:ext cx="1580845" cy="350266"/>
          </a:xfrm>
          <a:prstGeom prst="rect">
            <a:avLst/>
          </a:prstGeom>
          <a:noFill/>
        </p:spPr>
        <p:txBody>
          <a:bodyPr wrap="square" anchor="t" lIns="0" rIns="0" tIns="0" bIns="0">
            <a:spAutoFit/>
          </a:bodyPr>
          <a:lstStyle/>
          <a:p>
            <a:pPr algn="l"/>
            <a:r>
              <a:rPr sz="950" b="0" i="0">
                <a:solidFill>
                  <a:srgbClr val="6B6690"/>
                </a:solidFill>
                <a:latin typeface="Calibri"/>
              </a:rPr>
              <a:t>Rs 9,84,00,000, Monday's number from orders alone</a:t>
            </a:r>
          </a:p>
        </p:txBody>
      </p:sp>
      <p:sp>
        <p:nvSpPr>
          <p:cNvPr id="19" name="Rectangle 18"/>
          <p:cNvSpPr/>
          <p:nvPr/>
        </p:nvSpPr>
        <p:spPr>
          <a:xfrm>
            <a:off x="6370167" y="2871216"/>
            <a:ext cx="158084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5332" y="1682496"/>
            <a:ext cx="1580845" cy="317500"/>
          </a:xfrm>
          <a:prstGeom prst="rect">
            <a:avLst/>
          </a:prstGeom>
          <a:noFill/>
        </p:spPr>
        <p:txBody>
          <a:bodyPr wrap="square" anchor="t" lIns="0" rIns="0" tIns="0" bIns="0">
            <a:spAutoFit/>
          </a:bodyPr>
          <a:lstStyle/>
          <a:p>
            <a:pPr algn="l"/>
            <a:r>
              <a:rPr sz="2000" b="0" i="0">
                <a:solidFill>
                  <a:srgbClr val="5B3FD6"/>
                </a:solidFill>
                <a:latin typeface="Georgia"/>
              </a:rPr>
              <a:t>462</a:t>
            </a:r>
          </a:p>
        </p:txBody>
      </p:sp>
      <p:sp>
        <p:nvSpPr>
          <p:cNvPr id="21" name="TextBox 20"/>
          <p:cNvSpPr txBox="1"/>
          <p:nvPr/>
        </p:nvSpPr>
        <p:spPr>
          <a:xfrm>
            <a:off x="8225332" y="2036572"/>
            <a:ext cx="1580845" cy="168656"/>
          </a:xfrm>
          <a:prstGeom prst="rect">
            <a:avLst/>
          </a:prstGeom>
          <a:noFill/>
        </p:spPr>
        <p:txBody>
          <a:bodyPr wrap="square" anchor="t" lIns="0" rIns="0" tIns="0" bIns="0">
            <a:spAutoFit/>
          </a:bodyPr>
          <a:lstStyle/>
          <a:p>
            <a:pPr algn="l"/>
            <a:r>
              <a:rPr sz="800" b="1" i="0" spc="250">
                <a:solidFill>
                  <a:srgbClr val="1A0F5C"/>
                </a:solidFill>
                <a:latin typeface="Calibri"/>
              </a:rPr>
              <a:t>Q2 ORDERS</a:t>
            </a:r>
          </a:p>
        </p:txBody>
      </p:sp>
      <p:sp>
        <p:nvSpPr>
          <p:cNvPr id="22" name="TextBox 21"/>
          <p:cNvSpPr txBox="1"/>
          <p:nvPr/>
        </p:nvSpPr>
        <p:spPr>
          <a:xfrm>
            <a:off x="8225332" y="2237740"/>
            <a:ext cx="1580845" cy="350266"/>
          </a:xfrm>
          <a:prstGeom prst="rect">
            <a:avLst/>
          </a:prstGeom>
          <a:noFill/>
        </p:spPr>
        <p:txBody>
          <a:bodyPr wrap="square" anchor="t" lIns="0" rIns="0" tIns="0" bIns="0">
            <a:spAutoFit/>
          </a:bodyPr>
          <a:lstStyle/>
          <a:p>
            <a:pPr algn="l"/>
            <a:r>
              <a:rPr sz="950" b="0" i="0">
                <a:solidFill>
                  <a:srgbClr val="6B6690"/>
                </a:solidFill>
                <a:latin typeface="Calibri"/>
              </a:rPr>
              <a:t>one row each in the orders table</a:t>
            </a:r>
          </a:p>
        </p:txBody>
      </p:sp>
      <p:sp>
        <p:nvSpPr>
          <p:cNvPr id="23" name="Rectangle 22"/>
          <p:cNvSpPr/>
          <p:nvPr/>
        </p:nvSpPr>
        <p:spPr>
          <a:xfrm>
            <a:off x="8225332" y="2871216"/>
            <a:ext cx="158084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080498" y="1682496"/>
            <a:ext cx="1580845" cy="317500"/>
          </a:xfrm>
          <a:prstGeom prst="rect">
            <a:avLst/>
          </a:prstGeom>
          <a:noFill/>
        </p:spPr>
        <p:txBody>
          <a:bodyPr wrap="square" anchor="t" lIns="0" rIns="0" tIns="0" bIns="0">
            <a:spAutoFit/>
          </a:bodyPr>
          <a:lstStyle/>
          <a:p>
            <a:pPr algn="l"/>
            <a:r>
              <a:rPr sz="2000" b="0" i="0">
                <a:solidFill>
                  <a:srgbClr val="5B3FD6"/>
                </a:solidFill>
                <a:latin typeface="Georgia"/>
              </a:rPr>
              <a:t>?</a:t>
            </a:r>
          </a:p>
        </p:txBody>
      </p:sp>
      <p:sp>
        <p:nvSpPr>
          <p:cNvPr id="25" name="TextBox 24"/>
          <p:cNvSpPr txBox="1"/>
          <p:nvPr/>
        </p:nvSpPr>
        <p:spPr>
          <a:xfrm>
            <a:off x="10080498" y="2036572"/>
            <a:ext cx="1580845" cy="168656"/>
          </a:xfrm>
          <a:prstGeom prst="rect">
            <a:avLst/>
          </a:prstGeom>
          <a:noFill/>
        </p:spPr>
        <p:txBody>
          <a:bodyPr wrap="square" anchor="t" lIns="0" rIns="0" tIns="0" bIns="0">
            <a:spAutoFit/>
          </a:bodyPr>
          <a:lstStyle/>
          <a:p>
            <a:pPr algn="l"/>
            <a:r>
              <a:rPr sz="800" b="1" i="0" spc="250">
                <a:solidFill>
                  <a:srgbClr val="1A0F5C"/>
                </a:solidFill>
                <a:latin typeface="Calibri"/>
              </a:rPr>
              <a:t>COLLECTED IN Q2</a:t>
            </a:r>
          </a:p>
        </p:txBody>
      </p:sp>
      <p:sp>
        <p:nvSpPr>
          <p:cNvPr id="26" name="TextBox 25"/>
          <p:cNvSpPr txBox="1"/>
          <p:nvPr/>
        </p:nvSpPr>
        <p:spPr>
          <a:xfrm>
            <a:off x="10080498" y="2237740"/>
            <a:ext cx="1580845" cy="193421"/>
          </a:xfrm>
          <a:prstGeom prst="rect">
            <a:avLst/>
          </a:prstGeom>
          <a:noFill/>
        </p:spPr>
        <p:txBody>
          <a:bodyPr wrap="square" anchor="t" lIns="0" rIns="0" tIns="0" bIns="0">
            <a:spAutoFit/>
          </a:bodyPr>
          <a:lstStyle/>
          <a:p>
            <a:pPr algn="l"/>
            <a:r>
              <a:rPr sz="950" b="0" i="0">
                <a:solidFill>
                  <a:srgbClr val="6B6690"/>
                </a:solidFill>
                <a:latin typeface="Calibri"/>
              </a:rPr>
              <a:t>today's question</a:t>
            </a:r>
          </a:p>
        </p:txBody>
      </p:sp>
      <p:sp>
        <p:nvSpPr>
          <p:cNvPr id="27" name="Rectangle 26"/>
          <p:cNvSpPr/>
          <p:nvPr/>
        </p:nvSpPr>
        <p:spPr>
          <a:xfrm>
            <a:off x="10080498" y="2871216"/>
            <a:ext cx="158084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370167" y="3145536"/>
            <a:ext cx="529117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516471" y="327355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717639" y="3264408"/>
            <a:ext cx="4724247" cy="1424940"/>
          </a:xfrm>
          <a:prstGeom prst="rect">
            <a:avLst/>
          </a:prstGeom>
          <a:noFill/>
        </p:spPr>
        <p:txBody>
          <a:bodyPr wrap="square" anchor="ctr" lIns="0" rIns="0" tIns="0" bIns="0">
            <a:spAutoFit/>
          </a:bodyPr>
          <a:lstStyle/>
          <a:p>
            <a:r>
              <a:rPr sz="1500" b="1">
                <a:solidFill>
                  <a:srgbClr val="5B3FD6"/>
                </a:solidFill>
                <a:latin typeface="Calibri"/>
              </a:rPr>
              <a:t>Your role. </a:t>
            </a:r>
            <a:r>
              <a:rPr sz="1500" b="0" i="0">
                <a:solidFill>
                  <a:srgbClr val="1A1440"/>
                </a:solidFill>
                <a:latin typeface="Calibri"/>
              </a:rPr>
              <a:t>You sign off the collected number, and Anand will ask how you know it is not double-counted before he uses it. Kavya Nair, the team's senior analyst, reviews every number before it leaves the team.</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33" name="Oval 3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5" name="Oval 3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7" name="Oval 3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9" name="Oval 3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90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total is "collected"?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honest-looking totals is the one Anand asked for?</a:t>
            </a:r>
          </a:p>
        </p:txBody>
      </p:sp>
      <p:pic>
        <p:nvPicPr>
          <p:cNvPr id="9" name="mermaid diagram" descr="0bcb5086dcdc6886.png"/>
          <p:cNvPicPr>
            <a:picLocks noChangeAspect="1"/>
          </p:cNvPicPr>
          <p:nvPr/>
        </p:nvPicPr>
        <p:blipFill>
          <a:blip r:embed="rId5"/>
          <a:stretch>
            <a:fillRect/>
          </a:stretch>
        </p:blipFill>
        <p:spPr>
          <a:xfrm>
            <a:off x="2816866" y="1956816"/>
            <a:ext cx="6557962" cy="1128712"/>
          </a:xfrm>
          <a:prstGeom prst="rect">
            <a:avLst/>
          </a:prstGeom>
        </p:spPr>
      </p:pic>
      <p:sp>
        <p:nvSpPr>
          <p:cNvPr id="10" name="Rounded Rectangle 9"/>
          <p:cNvSpPr/>
          <p:nvPr/>
        </p:nvSpPr>
        <p:spPr>
          <a:xfrm>
            <a:off x="530352" y="323183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5984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070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Anand asks for collected revenue. Which total does he mean? a) the sum of every payment row the feed posted; b) the cash that arrived, with each payment counted once; c) the booked amount of every order that has at least one payment; d) booked less refunds.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90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cash that arrived, each payment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 the other three totals fail Anand, even though each is easy to compute?</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214099"/>
                <a:gridCol w="4504300"/>
                <a:gridCol w="3412591"/>
              </a:tblGrid>
              <a:tr h="369824">
                <a:tc>
                  <a:txBody>
                    <a:bodyPr/>
                    <a:lstStyle/>
                    <a:p>
                      <a:r>
                        <a:rPr sz="1450" b="1" i="0">
                          <a:solidFill>
                            <a:srgbClr val="FFFFFF"/>
                          </a:solidFill>
                          <a:latin typeface="Calibri"/>
                        </a:rPr>
                        <a:t>Reading</a:t>
                      </a:r>
                    </a:p>
                  </a:txBody>
                  <a:tcPr marL="101600" marR="101600" marT="38100" marB="38100" anchor="ctr">
                    <a:solidFill>
                      <a:srgbClr val="1A0F5C"/>
                    </a:solidFill>
                  </a:tcPr>
                </a:tc>
                <a:tc>
                  <a:txBody>
                    <a:bodyPr/>
                    <a:lstStyle/>
                    <a:p>
                      <a:r>
                        <a:rPr sz="1450" b="1" i="0">
                          <a:solidFill>
                            <a:srgbClr val="FFFFFF"/>
                          </a:solidFill>
                          <a:latin typeface="Calibri"/>
                        </a:rPr>
                        <a:t>Why it tempts</a:t>
                      </a:r>
                    </a:p>
                  </a:txBody>
                  <a:tcPr marL="101600" marR="101600" marT="38100" marB="38100" anchor="ctr">
                    <a:solidFill>
                      <a:srgbClr val="1A0F5C"/>
                    </a:solidFill>
                  </a:tcPr>
                </a:tc>
                <a:tc>
                  <a:txBody>
                    <a:bodyPr/>
                    <a:lstStyle/>
                    <a:p>
                      <a:r>
                        <a:rPr sz="1450" b="1" i="0">
                          <a:solidFill>
                            <a:srgbClr val="FFFFFF"/>
                          </a:solidFill>
                          <a:latin typeface="Calibri"/>
                        </a:rPr>
                        <a:t>What it gets wrong</a:t>
                      </a:r>
                    </a:p>
                  </a:txBody>
                  <a:tcPr marL="101600" marR="101600" marT="38100" marB="38100" anchor="ctr">
                    <a:solidFill>
                      <a:srgbClr val="1A0F5C"/>
                    </a:solidFill>
                  </a:tcPr>
                </a:tc>
              </a:tr>
              <a:tr h="369824">
                <a:tc>
                  <a:txBody>
                    <a:bodyPr/>
                    <a:lstStyle/>
                    <a:p>
                      <a:r>
                        <a:rPr sz="1400" b="0" i="0">
                          <a:solidFill>
                            <a:srgbClr val="1A1440"/>
                          </a:solidFill>
                          <a:latin typeface="Calibri"/>
                        </a:rPr>
                        <a:t>a) Every posted row</a:t>
                      </a:r>
                    </a:p>
                  </a:txBody>
                  <a:tcPr marL="101600" marR="101600" marT="38100" marB="38100" anchor="ctr">
                    <a:solidFill>
                      <a:srgbClr val="FFFFFF"/>
                    </a:solidFill>
                  </a:tcPr>
                </a:tc>
                <a:tc>
                  <a:txBody>
                    <a:bodyPr/>
                    <a:lstStyle/>
                    <a:p>
                      <a:r>
                        <a:rPr sz="1400" b="0" i="0">
                          <a:solidFill>
                            <a:srgbClr val="1A1440"/>
                          </a:solidFill>
                          <a:latin typeface="Calibri"/>
                        </a:rPr>
                        <a:t>One SUM over one table</a:t>
                      </a:r>
                    </a:p>
                  </a:txBody>
                  <a:tcPr marL="101600" marR="101600" marT="38100" marB="38100" anchor="ctr">
                    <a:solidFill>
                      <a:srgbClr val="FFFFFF"/>
                    </a:solidFill>
                  </a:tcPr>
                </a:tc>
                <a:tc>
                  <a:txBody>
                    <a:bodyPr/>
                    <a:lstStyle/>
                    <a:p>
                      <a:r>
                        <a:rPr sz="1400" b="0" i="0">
                          <a:solidFill>
                            <a:srgbClr val="1A1440"/>
                          </a:solidFill>
                          <a:latin typeface="Calibri"/>
                        </a:rPr>
                        <a:t>A retried payment counts twice</a:t>
                      </a:r>
                    </a:p>
                  </a:txBody>
                  <a:tcPr marL="101600" marR="101600" marT="38100" marB="38100" anchor="ctr">
                    <a:solidFill>
                      <a:srgbClr val="FFFFFF"/>
                    </a:solidFill>
                  </a:tcPr>
                </a:tc>
              </a:tr>
              <a:tr h="369824">
                <a:tc>
                  <a:txBody>
                    <a:bodyPr/>
                    <a:lstStyle/>
                    <a:p>
                      <a:r>
                        <a:rPr sz="1400" b="0" i="0">
                          <a:solidFill>
                            <a:srgbClr val="1A1440"/>
                          </a:solidFill>
                          <a:latin typeface="Calibri"/>
                        </a:rPr>
                        <a:t>b) Cash, each payment once</a:t>
                      </a:r>
                    </a:p>
                  </a:txBody>
                  <a:tcPr marL="101600" marR="101600" marT="38100" marB="38100" anchor="ctr">
                    <a:solidFill>
                      <a:srgbClr val="F4F2FA"/>
                    </a:solidFill>
                  </a:tcPr>
                </a:tc>
                <a:tc>
                  <a:txBody>
                    <a:bodyPr/>
                    <a:lstStyle/>
                    <a:p>
                      <a:r>
                        <a:rPr sz="1400" b="0" i="0">
                          <a:solidFill>
                            <a:srgbClr val="1A1440"/>
                          </a:solidFill>
                          <a:latin typeface="Calibri"/>
                        </a:rPr>
                        <a:t>It is what reached Kalpa's bank</a:t>
                      </a:r>
                    </a:p>
                  </a:txBody>
                  <a:tcPr marL="101600" marR="101600" marT="38100" marB="38100" anchor="ctr">
                    <a:solidFill>
                      <a:srgbClr val="F4F2FA"/>
                    </a:solidFill>
                  </a:tcPr>
                </a:tc>
                <a:tc>
                  <a:txBody>
                    <a:bodyPr/>
                    <a:lstStyle/>
                    <a:p>
                      <a:r>
                        <a:rPr sz="1400" b="0" i="0">
                          <a:solidFill>
                            <a:srgbClr val="1A1440"/>
                          </a:solidFill>
                          <a:latin typeface="Calibri"/>
                        </a:rPr>
                        <a:t>Nothing: this is Anand's number</a:t>
                      </a:r>
                    </a:p>
                  </a:txBody>
                  <a:tcPr marL="101600" marR="101600" marT="38100" marB="38100" anchor="ctr">
                    <a:solidFill>
                      <a:srgbClr val="F4F2FA"/>
                    </a:solidFill>
                  </a:tcPr>
                </a:tc>
              </a:tr>
              <a:tr h="369824">
                <a:tc>
                  <a:txBody>
                    <a:bodyPr/>
                    <a:lstStyle/>
                    <a:p>
                      <a:r>
                        <a:rPr sz="1400" b="0" i="0">
                          <a:solidFill>
                            <a:srgbClr val="1A1440"/>
                          </a:solidFill>
                          <a:latin typeface="Calibri"/>
                        </a:rPr>
                        <a:t>c) Booked value of paid orders</a:t>
                      </a:r>
                    </a:p>
                  </a:txBody>
                  <a:tcPr marL="101600" marR="101600" marT="38100" marB="38100" anchor="ctr">
                    <a:solidFill>
                      <a:srgbClr val="FFFFFF"/>
                    </a:solidFill>
                  </a:tcPr>
                </a:tc>
                <a:tc>
                  <a:txBody>
                    <a:bodyPr/>
                    <a:lstStyle/>
                    <a:p>
                      <a:r>
                        <a:rPr sz="1400" b="0" i="0">
                          <a:solidFill>
                            <a:srgbClr val="1A1440"/>
                          </a:solidFill>
                          <a:latin typeface="Calibri"/>
                        </a:rPr>
                        <a:t>It feels like "the orders we were paid for"</a:t>
                      </a:r>
                    </a:p>
                  </a:txBody>
                  <a:tcPr marL="101600" marR="101600" marT="38100" marB="38100" anchor="ctr">
                    <a:solidFill>
                      <a:srgbClr val="FFFFFF"/>
                    </a:solidFill>
                  </a:tcPr>
                </a:tc>
                <a:tc>
                  <a:txBody>
                    <a:bodyPr/>
                    <a:lstStyle/>
                    <a:p>
                      <a:r>
                        <a:rPr sz="1400" b="0" i="0">
                          <a:solidFill>
                            <a:srgbClr val="1A1440"/>
                          </a:solidFill>
                          <a:latin typeface="Calibri"/>
                        </a:rPr>
                        <a:t>A part-paid order counts in full</a:t>
                      </a:r>
                    </a:p>
                  </a:txBody>
                  <a:tcPr marL="101600" marR="101600" marT="38100" marB="38100" anchor="ctr">
                    <a:solidFill>
                      <a:srgbClr val="FFFFFF"/>
                    </a:solidFill>
                  </a:tcPr>
                </a:tc>
              </a:tr>
              <a:tr h="369824">
                <a:tc>
                  <a:txBody>
                    <a:bodyPr/>
                    <a:lstStyle/>
                    <a:p>
                      <a:r>
                        <a:rPr sz="1400" b="0" i="0">
                          <a:solidFill>
                            <a:srgbClr val="1A1440"/>
                          </a:solidFill>
                          <a:latin typeface="Calibri"/>
                        </a:rPr>
                        <a:t>d) Booked less refunds</a:t>
                      </a:r>
                    </a:p>
                  </a:txBody>
                  <a:tcPr marL="101600" marR="101600" marT="38100" marB="38100" anchor="ctr">
                    <a:solidFill>
                      <a:srgbClr val="F4F2FA"/>
                    </a:solidFill>
                  </a:tcPr>
                </a:tc>
                <a:tc>
                  <a:txBody>
                    <a:bodyPr/>
                    <a:lstStyle/>
                    <a:p>
                      <a:r>
                        <a:rPr sz="1400" b="0" i="0">
                          <a:solidFill>
                            <a:srgbClr val="1A1440"/>
                          </a:solidFill>
                          <a:latin typeface="Calibri"/>
                        </a:rPr>
                        <a:t>Refunds are in his message</a:t>
                      </a:r>
                    </a:p>
                  </a:txBody>
                  <a:tcPr marL="101600" marR="101600" marT="38100" marB="38100" anchor="ctr">
                    <a:solidFill>
                      <a:srgbClr val="F4F2FA"/>
                    </a:solidFill>
                  </a:tcPr>
                </a:tc>
                <a:tc>
                  <a:txBody>
                    <a:bodyPr/>
                    <a:lstStyle/>
                    <a:p>
                      <a:r>
                        <a:rPr sz="1400" b="0" i="0">
                          <a:solidFill>
                            <a:srgbClr val="1A1440"/>
                          </a:solidFill>
                          <a:latin typeface="Calibri"/>
                        </a:rPr>
                        <a:t>It never reads a payment at all</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94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0392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27728"/>
            <a:ext cx="9987991" cy="682752"/>
          </a:xfrm>
          <a:prstGeom prst="rect">
            <a:avLst/>
          </a:prstGeom>
          <a:noFill/>
        </p:spPr>
        <p:txBody>
          <a:bodyPr wrap="square" anchor="t" lIns="0" rIns="0" tIns="0" bIns="0">
            <a:spAutoFit/>
          </a:bodyPr>
          <a:lstStyle/>
          <a:p>
            <a:r>
              <a:rPr sz="1500" b="0" i="0">
                <a:solidFill>
                  <a:srgbClr val="1A1440"/>
                </a:solidFill>
                <a:latin typeface="Calibri"/>
              </a:rPr>
              <a:t>"Write the definition above the number: collected, Q2 orders, each payment counted once. Then every query you write has to earn that sentence."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9" name="Oval 1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90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join must decide two things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join do with an order nobody paid, and with an order that has two payment rows?</a:t>
            </a:r>
          </a:p>
        </p:txBody>
      </p:sp>
      <p:pic>
        <p:nvPicPr>
          <p:cNvPr id="9" name="mermaid diagram" descr="10d57350b96f1f72.png"/>
          <p:cNvPicPr>
            <a:picLocks noChangeAspect="1"/>
          </p:cNvPicPr>
          <p:nvPr/>
        </p:nvPicPr>
        <p:blipFill>
          <a:blip r:embed="rId5"/>
          <a:stretch>
            <a:fillRect/>
          </a:stretch>
        </p:blipFill>
        <p:spPr>
          <a:xfrm>
            <a:off x="2209647" y="1747043"/>
            <a:ext cx="7772400" cy="3643312"/>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join type answers the two open questions, and how often a key repeats on the payments side decides whether an order comes out once or twice.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90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Rows in, rows out, the difference named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will anyone know a joined number is honest before reading the number itself?</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Rows in</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How many orders the question starts from, counted from one table alone.</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Rows out</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How many rows the join returns, counted at the grain of the answer.</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difference</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Every extra or missing row named, with the list behind it.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Then the number</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Only now is the total read, and it reconciles to its source.</a:t>
            </a:r>
          </a:p>
        </p:txBody>
      </p:sp>
      <p:sp>
        <p:nvSpPr>
          <p:cNvPr id="30" name="Rounded Rectangle 29"/>
          <p:cNvSpPr/>
          <p:nvPr/>
        </p:nvSpPr>
        <p:spPr>
          <a:xfrm>
            <a:off x="530352" y="427634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6085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list-checks_bd88901d2a37.png"/>
          <p:cNvPicPr>
            <a:picLocks noChangeAspect="1"/>
          </p:cNvPicPr>
          <p:nvPr/>
        </p:nvPicPr>
        <p:blipFill>
          <a:blip r:embed="rId4"/>
          <a:stretch>
            <a:fillRect/>
          </a:stretch>
        </p:blipFill>
        <p:spPr>
          <a:xfrm>
            <a:off x="868680" y="4718304"/>
            <a:ext cx="237744" cy="237744"/>
          </a:xfrm>
          <a:prstGeom prst="rect">
            <a:avLst/>
          </a:prstGeom>
        </p:spPr>
      </p:pic>
      <p:sp>
        <p:nvSpPr>
          <p:cNvPr id="33" name="TextBox 32"/>
          <p:cNvSpPr txBox="1"/>
          <p:nvPr/>
        </p:nvSpPr>
        <p:spPr>
          <a:xfrm>
            <a:off x="1399031" y="44226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4" name="TextBox 33"/>
          <p:cNvSpPr txBox="1"/>
          <p:nvPr/>
        </p:nvSpPr>
        <p:spPr>
          <a:xfrm>
            <a:off x="1399031" y="4642104"/>
            <a:ext cx="9987991" cy="682752"/>
          </a:xfrm>
          <a:prstGeom prst="rect">
            <a:avLst/>
          </a:prstGeom>
          <a:noFill/>
        </p:spPr>
        <p:txBody>
          <a:bodyPr wrap="square" anchor="t" lIns="0" rIns="0" tIns="0" bIns="0">
            <a:spAutoFit/>
          </a:bodyPr>
          <a:lstStyle/>
          <a:p>
            <a:r>
              <a:rPr sz="1500" b="0" i="0">
                <a:solidFill>
                  <a:srgbClr val="1A1440"/>
                </a:solidFill>
                <a:latin typeface="Calibri"/>
              </a:rPr>
              <a:t>A join is done when its row count is explained. These four lines sit above every number that leaves the team today.</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37" name="Oval 3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9" name="Oval 3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41" name="Oval 4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43" name="Oval 4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90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 join keep?</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When payments are attached to orders, which rows does each join keep, drop or repeat, before Anand reads any total?</a:t>
            </a:r>
          </a:p>
        </p:txBody>
      </p:sp>
      <p:sp>
        <p:nvSpPr>
          <p:cNvPr id="10" name="Rounded Rectangle 9"/>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 join keep?</a:t>
            </a:r>
          </a:p>
        </p:txBody>
      </p:sp>
      <p:sp>
        <p:nvSpPr>
          <p:cNvPr id="11" name="Rounded Rectangle 10"/>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twice the bookings?</a:t>
            </a:r>
          </a:p>
        </p:txBody>
      </p:sp>
      <p:sp>
        <p:nvSpPr>
          <p:cNvPr id="12" name="Rounded Rectangle 11"/>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every order there?</a:t>
            </a:r>
          </a:p>
        </p:txBody>
      </p:sp>
      <p:sp>
        <p:nvSpPr>
          <p:cNvPr id="13" name="Rounded Rectangle 12"/>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exactly?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Anand sign?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What did Q2 actually collect, order by order?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90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five steps, each a row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chapter 1's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analyst, who audits the statement order by order, and you, since you sign the collected number. A join that drops an unpaid order hides it from the collections team, and a join that repeats a paid order sends them after a customer who paid in full.</a:t>
            </a:r>
          </a:p>
        </p:txBody>
      </p:sp>
      <p:sp>
        <p:nvSpPr>
          <p:cNvPr id="12" name="Rectangle 11"/>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join keeps every order?</a:t>
            </a:r>
          </a:p>
        </p:txBody>
      </p:sp>
      <p:sp>
        <p:nvSpPr>
          <p:cNvPr id="17" name="TextBox 16"/>
          <p:cNvSpPr txBox="1"/>
          <p:nvPr/>
        </p:nvSpPr>
        <p:spPr>
          <a:xfrm>
            <a:off x="694944" y="4731512"/>
            <a:ext cx="1750710" cy="366776"/>
          </a:xfrm>
          <a:prstGeom prst="rect">
            <a:avLst/>
          </a:prstGeom>
          <a:noFill/>
        </p:spPr>
        <p:txBody>
          <a:bodyPr wrap="square" anchor="t" lIns="0" rIns="0" tIns="0" bIns="0">
            <a:spAutoFit/>
          </a:bodyPr>
          <a:lstStyle/>
          <a:p>
            <a:pPr algn="l"/>
            <a:r>
              <a:rPr sz="1000" b="0" i="0">
                <a:solidFill>
                  <a:srgbClr val="6B6690"/>
                </a:solidFill>
                <a:latin typeface="Calibri"/>
              </a:rPr>
              <a:t>Four joins, sized on five invented orders.</a:t>
            </a:r>
          </a:p>
        </p:txBody>
      </p:sp>
      <p:sp>
        <p:nvSpPr>
          <p:cNvPr id="18" name="TextBox 17"/>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is one row of each table?</a:t>
            </a:r>
          </a:p>
        </p:txBody>
      </p:sp>
      <p:sp>
        <p:nvSpPr>
          <p:cNvPr id="22" name="TextBox 21"/>
          <p:cNvSpPr txBox="1"/>
          <p:nvPr/>
        </p:nvSpPr>
        <p:spPr>
          <a:xfrm>
            <a:off x="2957718" y="4731512"/>
            <a:ext cx="1750710" cy="366776"/>
          </a:xfrm>
          <a:prstGeom prst="rect">
            <a:avLst/>
          </a:prstGeom>
          <a:noFill/>
        </p:spPr>
        <p:txBody>
          <a:bodyPr wrap="square" anchor="t" lIns="0" rIns="0" tIns="0" bIns="0">
            <a:spAutoFit/>
          </a:bodyPr>
          <a:lstStyle/>
          <a:p>
            <a:pPr algn="l"/>
            <a:r>
              <a:rPr sz="1000" b="0" i="0">
                <a:solidFill>
                  <a:srgbClr val="6B6690"/>
                </a:solidFill>
                <a:latin typeface="Calibri"/>
              </a:rPr>
              <a:t>Of orders, and of payments, in the warehouse.</a:t>
            </a:r>
          </a:p>
        </p:txBody>
      </p:sp>
      <p:sp>
        <p:nvSpPr>
          <p:cNvPr id="23" name="TextBox 22"/>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How many rows does each return?</a:t>
            </a:r>
          </a:p>
        </p:txBody>
      </p:sp>
      <p:sp>
        <p:nvSpPr>
          <p:cNvPr id="27" name="TextBox 26"/>
          <p:cNvSpPr txBox="1"/>
          <p:nvPr/>
        </p:nvSpPr>
        <p:spPr>
          <a:xfrm>
            <a:off x="5220492" y="4731512"/>
            <a:ext cx="1750710" cy="366776"/>
          </a:xfrm>
          <a:prstGeom prst="rect">
            <a:avLst/>
          </a:prstGeom>
          <a:noFill/>
        </p:spPr>
        <p:txBody>
          <a:bodyPr wrap="square" anchor="t" lIns="0" rIns="0" tIns="0" bIns="0">
            <a:spAutoFit/>
          </a:bodyPr>
          <a:lstStyle/>
          <a:p>
            <a:pPr algn="l"/>
            <a:r>
              <a:rPr sz="1000" b="0" i="0">
                <a:solidFill>
                  <a:srgbClr val="6B6690"/>
                </a:solidFill>
                <a:latin typeface="Calibri"/>
              </a:rPr>
              <a:t>INNER, LEFT, RIGHT and FULL, traced by hand.</a:t>
            </a:r>
          </a:p>
        </p:txBody>
      </p:sp>
      <p:sp>
        <p:nvSpPr>
          <p:cNvPr id="28" name="TextBox 27"/>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does payments-first show?</a:t>
            </a:r>
          </a:p>
        </p:txBody>
      </p:sp>
      <p:sp>
        <p:nvSpPr>
          <p:cNvPr id="32" name="TextBox 31"/>
          <p:cNvSpPr txBox="1"/>
          <p:nvPr/>
        </p:nvSpPr>
        <p:spPr>
          <a:xfrm>
            <a:off x="7483266" y="4731512"/>
            <a:ext cx="1750710" cy="366776"/>
          </a:xfrm>
          <a:prstGeom prst="rect">
            <a:avLst/>
          </a:prstGeom>
          <a:noFill/>
        </p:spPr>
        <p:txBody>
          <a:bodyPr wrap="square" anchor="t" lIns="0" rIns="0" tIns="0" bIns="0">
            <a:spAutoFit/>
          </a:bodyPr>
          <a:lstStyle/>
          <a:p>
            <a:pPr algn="l"/>
            <a:r>
              <a:rPr sz="1000" b="0" i="0">
                <a:solidFill>
                  <a:srgbClr val="6B6690"/>
                </a:solidFill>
                <a:latin typeface="Calibri"/>
              </a:rPr>
              <a:t>A statement started from the payments table.</a:t>
            </a:r>
          </a:p>
        </p:txBody>
      </p:sp>
      <p:sp>
        <p:nvSpPr>
          <p:cNvPr id="33" name="TextBox 32"/>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0827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229100"/>
            <a:ext cx="1750710" cy="465836"/>
          </a:xfrm>
          <a:prstGeom prst="rect">
            <a:avLst/>
          </a:prstGeom>
          <a:noFill/>
        </p:spPr>
        <p:txBody>
          <a:bodyPr wrap="square" anchor="t" lIns="0" rIns="0" tIns="0" bIns="0">
            <a:spAutoFit/>
          </a:bodyPr>
          <a:lstStyle/>
          <a:p>
            <a:pPr algn="l"/>
            <a:r>
              <a:rPr sz="1300" b="1" i="0">
                <a:solidFill>
                  <a:srgbClr val="FFFFFF"/>
                </a:solidFill>
                <a:latin typeface="Calibri"/>
              </a:rPr>
              <a:t>Can the keys predict the counts?</a:t>
            </a:r>
          </a:p>
        </p:txBody>
      </p:sp>
      <p:sp>
        <p:nvSpPr>
          <p:cNvPr id="37" name="TextBox 36"/>
          <p:cNvSpPr txBox="1"/>
          <p:nvPr/>
        </p:nvSpPr>
        <p:spPr>
          <a:xfrm>
            <a:off x="9746040" y="4731512"/>
            <a:ext cx="1750710" cy="366776"/>
          </a:xfrm>
          <a:prstGeom prst="rect">
            <a:avLst/>
          </a:prstGeom>
          <a:noFill/>
        </p:spPr>
        <p:txBody>
          <a:bodyPr wrap="square" anchor="t" lIns="0" rIns="0" tIns="0" bIns="0">
            <a:spAutoFit/>
          </a:bodyPr>
          <a:lstStyle/>
          <a:p>
            <a:pPr algn="l"/>
            <a:r>
              <a:rPr sz="1000" b="0" i="0">
                <a:solidFill>
                  <a:srgbClr val="CFC9EE"/>
                </a:solidFill>
                <a:latin typeface="Calibri"/>
              </a:rPr>
              <a:t>Every row count, before any join runs.</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40" name="Oval 3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42" name="Oval 4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44" name="Oval 4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46" name="Oval 45"/>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90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numbers per order live in two tables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must the join be chosen before any total is read?</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Anand's analyst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Audits the statement line by line against the books before Anand signs it.</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receipt_e40a408ddf4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Collected against booked</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Cash that arrived, each payment once, against Rs 9,84,00,000 booked over 462 Q2 orders.</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JOIN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missed or a false call</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dropped unpaid order is never chased; a repeated paid order looks short-paid and its customer gets a call.</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5" name="Oval 3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90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Razorpay lists one order's payments many times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company's merchants meet this question every day?</a:t>
            </a:r>
          </a:p>
        </p:txBody>
      </p:sp>
      <p:sp>
        <p:nvSpPr>
          <p:cNvPr id="9" name="TextBox 8"/>
          <p:cNvSpPr txBox="1"/>
          <p:nvPr/>
        </p:nvSpPr>
        <p:spPr>
          <a:xfrm>
            <a:off x="530352" y="1956816"/>
            <a:ext cx="3527450" cy="412750"/>
          </a:xfrm>
          <a:prstGeom prst="rect">
            <a:avLst/>
          </a:prstGeom>
          <a:noFill/>
        </p:spPr>
        <p:txBody>
          <a:bodyPr wrap="square" anchor="t" lIns="0" rIns="0" tIns="0" bIns="0">
            <a:spAutoFit/>
          </a:bodyPr>
          <a:lstStyle/>
          <a:p>
            <a:pPr algn="l"/>
            <a:r>
              <a:rPr sz="2600" b="0" i="0">
                <a:solidFill>
                  <a:srgbClr val="5B3FD6"/>
                </a:solidFill>
                <a:latin typeface="Georgia"/>
              </a:rPr>
              <a:t>1 order</a:t>
            </a:r>
          </a:p>
        </p:txBody>
      </p:sp>
      <p:sp>
        <p:nvSpPr>
          <p:cNvPr id="10" name="TextBox 9"/>
          <p:cNvSpPr txBox="1"/>
          <p:nvPr/>
        </p:nvSpPr>
        <p:spPr>
          <a:xfrm>
            <a:off x="530352" y="2406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 THE MERCHANT'S ORDERS</a:t>
            </a:r>
          </a:p>
        </p:txBody>
      </p:sp>
      <p:sp>
        <p:nvSpPr>
          <p:cNvPr id="11" name="TextBox 10"/>
          <p:cNvSpPr txBox="1"/>
          <p:nvPr/>
        </p:nvSpPr>
        <p:spPr>
          <a:xfrm>
            <a:off x="530352" y="260731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one order id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412750"/>
          </a:xfrm>
          <a:prstGeom prst="rect">
            <a:avLst/>
          </a:prstGeom>
          <a:noFill/>
        </p:spPr>
        <p:txBody>
          <a:bodyPr wrap="square" anchor="t" lIns="0" rIns="0" tIns="0" bIns="0">
            <a:spAutoFit/>
          </a:bodyPr>
          <a:lstStyle/>
          <a:p>
            <a:pPr algn="l"/>
            <a:r>
              <a:rPr sz="2600" b="0" i="0">
                <a:solidFill>
                  <a:srgbClr val="5B3FD6"/>
                </a:solidFill>
                <a:latin typeface="Georgia"/>
              </a:rPr>
              <a:t>many attempts</a:t>
            </a:r>
          </a:p>
        </p:txBody>
      </p:sp>
      <p:sp>
        <p:nvSpPr>
          <p:cNvPr id="14" name="TextBox 13"/>
          <p:cNvSpPr txBox="1"/>
          <p:nvPr/>
        </p:nvSpPr>
        <p:spPr>
          <a:xfrm>
            <a:off x="4332122" y="2406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 ITS PAYMENTS</a:t>
            </a:r>
          </a:p>
        </p:txBody>
      </p:sp>
      <p:sp>
        <p:nvSpPr>
          <p:cNvPr id="15" name="TextBox 14"/>
          <p:cNvSpPr txBox="1"/>
          <p:nvPr/>
        </p:nvSpPr>
        <p:spPr>
          <a:xfrm>
            <a:off x="4332122" y="2607310"/>
            <a:ext cx="3527450" cy="193421"/>
          </a:xfrm>
          <a:prstGeom prst="rect">
            <a:avLst/>
          </a:prstGeom>
          <a:noFill/>
        </p:spPr>
        <p:txBody>
          <a:bodyPr wrap="square" anchor="t" lIns="0" rIns="0" tIns="0" bIns="0">
            <a:spAutoFit/>
          </a:bodyPr>
          <a:lstStyle/>
          <a:p>
            <a:pPr algn="l"/>
            <a:r>
              <a:rPr sz="950" b="0" i="0">
                <a:solidFill>
                  <a:srgbClr val="6B6690"/>
                </a:solidFill>
                <a:latin typeface="Calibri"/>
              </a:rPr>
              <a:t>"combines multiple payment attempts for a single order"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412750"/>
          </a:xfrm>
          <a:prstGeom prst="rect">
            <a:avLst/>
          </a:prstGeom>
          <a:noFill/>
        </p:spPr>
        <p:txBody>
          <a:bodyPr wrap="square" anchor="t" lIns="0" rIns="0" tIns="0" bIns="0">
            <a:spAutoFit/>
          </a:bodyPr>
          <a:lstStyle/>
          <a:p>
            <a:pPr algn="l"/>
            <a:r>
              <a:rPr sz="2600" b="0" i="0">
                <a:solidFill>
                  <a:srgbClr val="5B3FD6"/>
                </a:solidFill>
                <a:latin typeface="Georgia"/>
              </a:rPr>
              <a:t>attempted to paid</a:t>
            </a:r>
          </a:p>
        </p:txBody>
      </p:sp>
      <p:sp>
        <p:nvSpPr>
          <p:cNvPr id="18" name="TextBox 17"/>
          <p:cNvSpPr txBox="1"/>
          <p:nvPr/>
        </p:nvSpPr>
        <p:spPr>
          <a:xfrm>
            <a:off x="8133892" y="2406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ORDER'S STATE</a:t>
            </a:r>
          </a:p>
        </p:txBody>
      </p:sp>
      <p:sp>
        <p:nvSpPr>
          <p:cNvPr id="19" name="TextBox 18"/>
          <p:cNvSpPr txBox="1"/>
          <p:nvPr/>
        </p:nvSpPr>
        <p:spPr>
          <a:xfrm>
            <a:off x="8133892" y="2607310"/>
            <a:ext cx="3527450" cy="193421"/>
          </a:xfrm>
          <a:prstGeom prst="rect">
            <a:avLst/>
          </a:prstGeom>
          <a:noFill/>
        </p:spPr>
        <p:txBody>
          <a:bodyPr wrap="square" anchor="t" lIns="0" rIns="0" tIns="0" bIns="0">
            <a:spAutoFit/>
          </a:bodyPr>
          <a:lstStyle/>
          <a:p>
            <a:pPr algn="l"/>
            <a:r>
              <a:rPr sz="950" b="0" i="0">
                <a:solidFill>
                  <a:srgbClr val="6B6690"/>
                </a:solidFill>
                <a:latin typeface="Calibri"/>
              </a:rPr>
              <a:t>it moves to paid once a payment is captured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merchant who puts Razorpay's two lists side by side meets chapter 1's question: one order id appears once in orders and several times in payments.</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6" name="Oval 2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0" name="Oval 2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90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invented orders carry every case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cases does Anand's statement have to survive?</a:t>
            </a:r>
          </a:p>
        </p:txBody>
      </p:sp>
      <p:graphicFrame>
        <p:nvGraphicFramePr>
          <p:cNvPr id="9" name="Table 8"/>
          <p:cNvGraphicFramePr>
            <a:graphicFrameLocks noGrp="1"/>
          </p:cNvGraphicFramePr>
          <p:nvPr/>
        </p:nvGraphicFramePr>
        <p:xfrm>
          <a:off x="530352" y="1956816"/>
          <a:ext cx="11130990" cy="2011680"/>
        </p:xfrm>
        <a:graphic>
          <a:graphicData uri="http://schemas.openxmlformats.org/drawingml/2006/table">
            <a:tbl>
              <a:tblPr firstRow="0" bandRow="0">
                <a:tableStyleId>{2D5ABB26-0587-4C30-8999-92F81FD0307C}</a:tableStyleId>
              </a:tblPr>
              <a:tblGrid>
                <a:gridCol w="1617647"/>
                <a:gridCol w="914400"/>
                <a:gridCol w="914400"/>
                <a:gridCol w="7684543"/>
              </a:tblGrid>
              <a:tr h="335280">
                <a:tc>
                  <a:txBody>
                    <a:bodyPr/>
                    <a:lstStyle/>
                    <a:p>
                      <a:r>
                        <a:rPr sz="1250" b="1" i="0">
                          <a:solidFill>
                            <a:srgbClr val="FFFFFF"/>
                          </a:solidFill>
                          <a:latin typeface="Calibri"/>
                        </a:rPr>
                        <a:t>order_id</a:t>
                      </a:r>
                    </a:p>
                  </a:txBody>
                  <a:tcPr marL="101600" marR="101600" marT="38100" marB="38100" anchor="ctr">
                    <a:solidFill>
                      <a:srgbClr val="1A0F5C"/>
                    </a:solidFill>
                  </a:tcPr>
                </a:tc>
                <a:tc>
                  <a:txBody>
                    <a:bodyPr/>
                    <a:lstStyle/>
                    <a:p>
                      <a:r>
                        <a:rPr sz="1250" b="1" i="0">
                          <a:solidFill>
                            <a:srgbClr val="FFFFFF"/>
                          </a:solidFill>
                          <a:latin typeface="Calibri"/>
                        </a:rPr>
                        <a:t>channel</a:t>
                      </a:r>
                    </a:p>
                  </a:txBody>
                  <a:tcPr marL="101600" marR="101600" marT="38100" marB="38100" anchor="ctr">
                    <a:solidFill>
                      <a:srgbClr val="1A0F5C"/>
                    </a:solidFill>
                  </a:tcPr>
                </a:tc>
                <a:tc>
                  <a:txBody>
                    <a:bodyPr/>
                    <a:lstStyle/>
                    <a:p>
                      <a:r>
                        <a:rPr sz="1250" b="1" i="0">
                          <a:solidFill>
                            <a:srgbClr val="FFFFFF"/>
                          </a:solidFill>
                          <a:latin typeface="Calibri"/>
                        </a:rPr>
                        <a:t>amount</a:t>
                      </a:r>
                    </a:p>
                  </a:txBody>
                  <a:tcPr marL="101600" marR="101600" marT="38100" marB="38100" anchor="ctr">
                    <a:solidFill>
                      <a:srgbClr val="1A0F5C"/>
                    </a:solidFill>
                  </a:tcPr>
                </a:tc>
                <a:tc>
                  <a:txBody>
                    <a:bodyPr/>
                    <a:lstStyle/>
                    <a:p>
                      <a:r>
                        <a:rPr sz="1250" b="1" i="0">
                          <a:solidFill>
                            <a:srgbClr val="FFFFFF"/>
                          </a:solidFill>
                          <a:latin typeface="Calibri"/>
                        </a:rPr>
                        <a:t>What happened to it</a:t>
                      </a:r>
                    </a:p>
                  </a:txBody>
                  <a:tcPr marL="101600" marR="101600" marT="38100" marB="38100" anchor="ctr">
                    <a:solidFill>
                      <a:srgbClr val="1A0F5C"/>
                    </a:solidFill>
                  </a:tcPr>
                </a:tc>
              </a:tr>
              <a:tr h="335280">
                <a:tc>
                  <a:txBody>
                    <a:bodyPr/>
                    <a:lstStyle/>
                    <a:p>
                      <a:r>
                        <a:rPr sz="1200" b="0" i="0">
                          <a:solidFill>
                            <a:srgbClr val="1A1440"/>
                          </a:solidFill>
                          <a:latin typeface="Calibri"/>
                        </a:rPr>
                        <a:t>T-1</a:t>
                      </a:r>
                    </a:p>
                  </a:txBody>
                  <a:tcPr marL="101600" marR="101600" marT="38100" marB="38100" anchor="ctr">
                    <a:solidFill>
                      <a:srgbClr val="FFFFFF"/>
                    </a:solidFill>
                  </a:tcPr>
                </a:tc>
                <a:tc>
                  <a:txBody>
                    <a:bodyPr/>
                    <a:lstStyle/>
                    <a:p>
                      <a:r>
                        <a:rPr sz="1200" b="0" i="0">
                          <a:solidFill>
                            <a:srgbClr val="1A1440"/>
                          </a:solidFill>
                          <a:latin typeface="Calibri"/>
                        </a:rPr>
                        <a:t>app</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Paid once, in full (P-1)</a:t>
                      </a:r>
                    </a:p>
                  </a:txBody>
                  <a:tcPr marL="101600" marR="101600" marT="38100" marB="38100" anchor="ctr">
                    <a:solidFill>
                      <a:srgbClr val="FFFFFF"/>
                    </a:solidFill>
                  </a:tcPr>
                </a:tc>
              </a:tr>
              <a:tr h="335280">
                <a:tc>
                  <a:txBody>
                    <a:bodyPr/>
                    <a:lstStyle/>
                    <a:p>
                      <a:r>
                        <a:rPr sz="1200" b="0" i="0">
                          <a:solidFill>
                            <a:srgbClr val="1A1440"/>
                          </a:solidFill>
                          <a:latin typeface="Calibri"/>
                        </a:rPr>
                        <a:t>T-2</a:t>
                      </a:r>
                    </a:p>
                  </a:txBody>
                  <a:tcPr marL="101600" marR="101600" marT="38100" marB="38100" anchor="ctr">
                    <a:solidFill>
                      <a:srgbClr val="F4F2FA"/>
                    </a:solidFill>
                  </a:tcPr>
                </a:tc>
                <a:tc>
                  <a:txBody>
                    <a:bodyPr/>
                    <a:lstStyle/>
                    <a:p>
                      <a:r>
                        <a:rPr sz="1200" b="0" i="0">
                          <a:solidFill>
                            <a:srgbClr val="1A1440"/>
                          </a:solidFill>
                          <a:latin typeface="Calibri"/>
                        </a:rPr>
                        <a:t>web</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c>
                  <a:txBody>
                    <a:bodyPr/>
                    <a:lstStyle/>
                    <a:p>
                      <a:r>
                        <a:rPr sz="1200" b="0" i="0">
                          <a:solidFill>
                            <a:srgbClr val="1A1440"/>
                          </a:solidFill>
                          <a:latin typeface="Calibri"/>
                        </a:rPr>
                        <a:t>Paid in two instalments, 1,200 and 800 (P-2, P-3)</a:t>
                      </a:r>
                    </a:p>
                  </a:txBody>
                  <a:tcPr marL="101600" marR="101600" marT="38100" marB="38100" anchor="ctr">
                    <a:solidFill>
                      <a:srgbClr val="F4F2FA"/>
                    </a:solidFill>
                  </a:tcPr>
                </a:tc>
              </a:tr>
              <a:tr h="335280">
                <a:tc>
                  <a:txBody>
                    <a:bodyPr/>
                    <a:lstStyle/>
                    <a:p>
                      <a:r>
                        <a:rPr sz="1200" b="0" i="0">
                          <a:solidFill>
                            <a:srgbClr val="1A1440"/>
                          </a:solidFill>
                          <a:latin typeface="Calibri"/>
                        </a:rPr>
                        <a:t>T-3</a:t>
                      </a:r>
                    </a:p>
                  </a:txBody>
                  <a:tcPr marL="101600" marR="101600" marT="38100" marB="38100" anchor="ctr">
                    <a:solidFill>
                      <a:srgbClr val="FFFFFF"/>
                    </a:solidFill>
                  </a:tcPr>
                </a:tc>
                <a:tc>
                  <a:txBody>
                    <a:bodyPr/>
                    <a:lstStyle/>
                    <a:p>
                      <a:r>
                        <a:rPr sz="1200" b="0" i="0">
                          <a:solidFill>
                            <a:srgbClr val="1A1440"/>
                          </a:solidFill>
                          <a:latin typeface="Calibri"/>
                        </a:rPr>
                        <a:t>store</a:t>
                      </a:r>
                    </a:p>
                  </a:txBody>
                  <a:tcPr marL="101600" marR="101600" marT="38100" marB="38100" anchor="ctr">
                    <a:solidFill>
                      <a:srgbClr val="FFFFFF"/>
                    </a:solidFill>
                  </a:tcPr>
                </a:tc>
                <a:tc>
                  <a:txBody>
                    <a:bodyPr/>
                    <a:lstStyle/>
                    <a:p>
                      <a:r>
                        <a:rPr sz="1200" b="0" i="0">
                          <a:solidFill>
                            <a:srgbClr val="1A1440"/>
                          </a:solidFill>
                          <a:latin typeface="Calibri"/>
                        </a:rPr>
                        <a:t>1,500</a:t>
                      </a:r>
                    </a:p>
                  </a:txBody>
                  <a:tcPr marL="101600" marR="101600" marT="38100" marB="38100" anchor="ctr">
                    <a:solidFill>
                      <a:srgbClr val="FFFFFF"/>
                    </a:solidFill>
                  </a:tcPr>
                </a:tc>
                <a:tc>
                  <a:txBody>
                    <a:bodyPr/>
                    <a:lstStyle/>
                    <a:p>
                      <a:r>
                        <a:rPr sz="1200" b="0" i="0">
                          <a:solidFill>
                            <a:srgbClr val="1A1440"/>
                          </a:solidFill>
                          <a:latin typeface="Calibri"/>
                        </a:rPr>
                        <a:t>Paid once, and the gateway posted it twice (P-4, P-5)</a:t>
                      </a:r>
                    </a:p>
                  </a:txBody>
                  <a:tcPr marL="101600" marR="101600" marT="38100" marB="38100" anchor="ctr">
                    <a:solidFill>
                      <a:srgbClr val="FFFFFF"/>
                    </a:solidFill>
                  </a:tcPr>
                </a:tc>
              </a:tr>
              <a:tr h="335280">
                <a:tc>
                  <a:txBody>
                    <a:bodyPr/>
                    <a:lstStyle/>
                    <a:p>
                      <a:r>
                        <a:rPr sz="1200" b="0" i="0">
                          <a:solidFill>
                            <a:srgbClr val="1A1440"/>
                          </a:solidFill>
                          <a:latin typeface="Calibri"/>
                        </a:rPr>
                        <a:t>T-4</a:t>
                      </a:r>
                    </a:p>
                  </a:txBody>
                  <a:tcPr marL="101600" marR="101600" marT="38100" marB="38100" anchor="ctr">
                    <a:solidFill>
                      <a:srgbClr val="F4F2FA"/>
                    </a:solidFill>
                  </a:tcPr>
                </a:tc>
                <a:tc>
                  <a:txBody>
                    <a:bodyPr/>
                    <a:lstStyle/>
                    <a:p>
                      <a:r>
                        <a:rPr sz="1200" b="0" i="0">
                          <a:solidFill>
                            <a:srgbClr val="1A1440"/>
                          </a:solidFill>
                          <a:latin typeface="Calibri"/>
                        </a:rPr>
                        <a:t>app</a:t>
                      </a:r>
                    </a:p>
                  </a:txBody>
                  <a:tcPr marL="101600" marR="101600" marT="38100" marB="38100" anchor="ctr">
                    <a:solidFill>
                      <a:srgbClr val="F4F2FA"/>
                    </a:solidFill>
                  </a:tcPr>
                </a:tc>
                <a:tc>
                  <a:txBody>
                    <a:bodyPr/>
                    <a:lstStyle/>
                    <a:p>
                      <a:r>
                        <a:rPr sz="1200" b="0" i="0">
                          <a:solidFill>
                            <a:srgbClr val="1A1440"/>
                          </a:solidFill>
                          <a:latin typeface="Calibri"/>
                        </a:rPr>
                        <a:t>800</a:t>
                      </a:r>
                    </a:p>
                  </a:txBody>
                  <a:tcPr marL="101600" marR="101600" marT="38100" marB="38100" anchor="ctr">
                    <a:solidFill>
                      <a:srgbClr val="F4F2FA"/>
                    </a:solidFill>
                  </a:tcPr>
                </a:tc>
                <a:tc>
                  <a:txBody>
                    <a:bodyPr/>
                    <a:lstStyle/>
                    <a:p>
                      <a:r>
                        <a:rPr sz="1200" b="0" i="0">
                          <a:solidFill>
                            <a:srgbClr val="1A1440"/>
                          </a:solidFill>
                          <a:latin typeface="Calibri"/>
                        </a:rPr>
                        <a:t>Never paid</a:t>
                      </a:r>
                    </a:p>
                  </a:txBody>
                  <a:tcPr marL="101600" marR="101600" marT="38100" marB="38100" anchor="ctr">
                    <a:solidFill>
                      <a:srgbClr val="F4F2FA"/>
                    </a:solidFill>
                  </a:tcPr>
                </a:tc>
              </a:tr>
              <a:tr h="335280">
                <a:tc>
                  <a:txBody>
                    <a:bodyPr/>
                    <a:lstStyle/>
                    <a:p>
                      <a:r>
                        <a:rPr sz="1200" b="0" i="0">
                          <a:solidFill>
                            <a:srgbClr val="1A1440"/>
                          </a:solidFill>
                          <a:latin typeface="Calibri"/>
                        </a:rPr>
                        <a:t>T-5</a:t>
                      </a:r>
                    </a:p>
                  </a:txBody>
                  <a:tcPr marL="101600" marR="101600" marT="38100" marB="38100" anchor="ctr">
                    <a:solidFill>
                      <a:srgbClr val="FFFFFF"/>
                    </a:solidFill>
                  </a:tcPr>
                </a:tc>
                <a:tc>
                  <a:txBody>
                    <a:bodyPr/>
                    <a:lstStyle/>
                    <a:p>
                      <a:r>
                        <a:rPr sz="1200" b="0" i="0">
                          <a:solidFill>
                            <a:srgbClr val="1A1440"/>
                          </a:solidFill>
                          <a:latin typeface="Calibri"/>
                        </a:rPr>
                        <a:t>store</a:t>
                      </a:r>
                    </a:p>
                  </a:txBody>
                  <a:tcPr marL="101600" marR="101600" marT="38100" marB="38100" anchor="ctr">
                    <a:solidFill>
                      <a:srgbClr val="FFFFFF"/>
                    </a:solidFill>
                  </a:tcPr>
                </a:tc>
                <a:tc>
                  <a:txBody>
                    <a:bodyPr/>
                    <a:lstStyle/>
                    <a:p>
                      <a:r>
                        <a:rPr sz="1200" b="0" i="0">
                          <a:solidFill>
                            <a:srgbClr val="1A1440"/>
                          </a:solidFill>
                          <a:latin typeface="Calibri"/>
                        </a:rPr>
                        <a:t>500</a:t>
                      </a:r>
                    </a:p>
                  </a:txBody>
                  <a:tcPr marL="101600" marR="101600" marT="38100" marB="38100" anchor="ctr">
                    <a:solidFill>
                      <a:srgbClr val="FFFFFF"/>
                    </a:solidFill>
                  </a:tcPr>
                </a:tc>
                <a:tc>
                  <a:txBody>
                    <a:bodyPr/>
                    <a:lstStyle/>
                    <a:p>
                      <a:r>
                        <a:rPr sz="1200" b="0" i="0">
                          <a:solidFill>
                            <a:srgbClr val="1A1440"/>
                          </a:solidFill>
                          <a:latin typeface="Calibri"/>
                        </a:rPr>
                        <a:t>Paid once, in full (P-6)</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624840"/>
          </a:xfrm>
          <a:prstGeom prst="rect">
            <a:avLst/>
          </a:prstGeom>
          <a:noFill/>
        </p:spPr>
        <p:txBody>
          <a:bodyPr wrap="square" anchor="ctr" lIns="0" rIns="0" tIns="0" bIns="0">
            <a:spAutoFit/>
          </a:bodyPr>
          <a:lstStyle/>
          <a:p>
            <a:r>
              <a:rPr sz="1500" b="1">
                <a:solidFill>
                  <a:srgbClr val="5B3FD6"/>
                </a:solidFill>
                <a:latin typeface="Calibri"/>
              </a:rPr>
              <a:t>Invented. </a:t>
            </a:r>
            <a:r>
              <a:rPr sz="1500" b="0" i="0">
                <a:solidFill>
                  <a:srgbClr val="1A1440"/>
                </a:solidFill>
                <a:latin typeface="Calibri"/>
              </a:rPr>
              <a:t>P-7 is a payment of 600 against T-9, an order that is not in the orders table. Five orders and seven payments are small enough to check every row by hand.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90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joins, sized on five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four joins answers Anand, and what does each cost on these tables?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443958"/>
                <a:gridCol w="3555838"/>
                <a:gridCol w="2190902"/>
                <a:gridCol w="194029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keeps</a:t>
                      </a:r>
                    </a:p>
                  </a:txBody>
                  <a:tcPr marL="101600" marR="101600" marT="38100" marB="38100" anchor="ctr">
                    <a:solidFill>
                      <a:srgbClr val="1A0F5C"/>
                    </a:solidFill>
                  </a:tcPr>
                </a:tc>
                <a:tc>
                  <a:txBody>
                    <a:bodyPr/>
                    <a:lstStyle/>
                    <a:p>
                      <a:r>
                        <a:rPr sz="1250" b="1" i="0">
                          <a:solidFill>
                            <a:srgbClr val="FFFFFF"/>
                          </a:solidFill>
                          <a:latin typeface="Calibri"/>
                        </a:rPr>
                        <a:t>T-4, never paid</a:t>
                      </a:r>
                    </a:p>
                  </a:txBody>
                  <a:tcPr marL="101600" marR="101600" marT="38100" marB="38100" anchor="ctr">
                    <a:solidFill>
                      <a:srgbClr val="1A0F5C"/>
                    </a:solidFill>
                  </a:tcPr>
                </a:tc>
                <a:tc>
                  <a:txBody>
                    <a:bodyPr/>
                    <a:lstStyle/>
                    <a:p>
                      <a:r>
                        <a:rPr sz="1250" b="1" i="0">
                          <a:solidFill>
                            <a:srgbClr val="FFFFFF"/>
                          </a:solidFill>
                          <a:latin typeface="Calibri"/>
                        </a:rPr>
                        <a:t>P-7, no order</a:t>
                      </a:r>
                    </a:p>
                  </a:txBody>
                  <a:tcPr marL="101600" marR="101600" marT="38100" marB="38100" anchor="ctr">
                    <a:solidFill>
                      <a:srgbClr val="1A0F5C"/>
                    </a:solidFill>
                  </a:tcPr>
                </a:tc>
              </a:tr>
              <a:tr h="335280">
                <a:tc>
                  <a:txBody>
                    <a:bodyPr/>
                    <a:lstStyle/>
                    <a:p>
                      <a:r>
                        <a:rPr sz="1200" b="0" i="0">
                          <a:solidFill>
                            <a:srgbClr val="1A1440"/>
                          </a:solidFill>
                          <a:latin typeface="Calibri"/>
                        </a:rPr>
                        <a:t>A. INNER JOIN</a:t>
                      </a:r>
                    </a:p>
                  </a:txBody>
                  <a:tcPr marL="101600" marR="101600" marT="38100" marB="38100" anchor="ctr">
                    <a:solidFill>
                      <a:srgbClr val="FFFFFF"/>
                    </a:solidFill>
                  </a:tcPr>
                </a:tc>
                <a:tc>
                  <a:txBody>
                    <a:bodyPr/>
                    <a:lstStyle/>
                    <a:p>
                      <a:r>
                        <a:rPr sz="1200" b="0" i="0">
                          <a:solidFill>
                            <a:srgbClr val="1A1440"/>
                          </a:solidFill>
                          <a:latin typeface="Calibri"/>
                        </a:rPr>
                        <a:t>only the pairs that match</a:t>
                      </a:r>
                    </a:p>
                  </a:txBody>
                  <a:tcPr marL="101600" marR="101600" marT="38100" marB="38100" anchor="ctr">
                    <a:solidFill>
                      <a:srgbClr val="FFFFFF"/>
                    </a:solidFill>
                  </a:tcPr>
                </a:tc>
                <a:tc>
                  <a:txBody>
                    <a:bodyPr/>
                    <a:lstStyle/>
                    <a:p>
                      <a:r>
                        <a:rPr sz="1200" b="0" i="0">
                          <a:solidFill>
                            <a:srgbClr val="1A1440"/>
                          </a:solidFill>
                          <a:latin typeface="Calibri"/>
                        </a:rPr>
                        <a:t>dropped</a:t>
                      </a:r>
                    </a:p>
                  </a:txBody>
                  <a:tcPr marL="101600" marR="101600" marT="38100" marB="38100" anchor="ctr">
                    <a:solidFill>
                      <a:srgbClr val="FFFFFF"/>
                    </a:solidFill>
                  </a:tcPr>
                </a:tc>
                <a:tc>
                  <a:txBody>
                    <a:bodyPr/>
                    <a:lstStyle/>
                    <a:p>
                      <a:r>
                        <a:rPr sz="1200" b="0" i="0">
                          <a:solidFill>
                            <a:srgbClr val="1A1440"/>
                          </a:solidFill>
                          <a:latin typeface="Calibri"/>
                        </a:rPr>
                        <a:t>dropped</a:t>
                      </a:r>
                    </a:p>
                  </a:txBody>
                  <a:tcPr marL="101600" marR="101600" marT="38100" marB="38100" anchor="ctr">
                    <a:solidFill>
                      <a:srgbClr val="FFFFFF"/>
                    </a:solidFill>
                  </a:tcPr>
                </a:tc>
              </a:tr>
              <a:tr h="335280">
                <a:tc>
                  <a:txBody>
                    <a:bodyPr/>
                    <a:lstStyle/>
                    <a:p>
                      <a:r>
                        <a:rPr sz="1200" b="0" i="0">
                          <a:solidFill>
                            <a:srgbClr val="1A1440"/>
                          </a:solidFill>
                          <a:latin typeface="Calibri"/>
                        </a:rPr>
                        <a:t>B. LEFT JOIN, orders first</a:t>
                      </a:r>
                    </a:p>
                  </a:txBody>
                  <a:tcPr marL="101600" marR="101600" marT="38100" marB="38100" anchor="ctr">
                    <a:solidFill>
                      <a:srgbClr val="F4F2FA"/>
                    </a:solidFill>
                  </a:tcPr>
                </a:tc>
                <a:tc>
                  <a:txBody>
                    <a:bodyPr/>
                    <a:lstStyle/>
                    <a:p>
                      <a:r>
                        <a:rPr sz="1200" b="0" i="0">
                          <a:solidFill>
                            <a:srgbClr val="1A1440"/>
                          </a:solidFill>
                          <a:latin typeface="Calibri"/>
                        </a:rPr>
                        <a:t>every order, matched or not</a:t>
                      </a:r>
                    </a:p>
                  </a:txBody>
                  <a:tcPr marL="101600" marR="101600" marT="38100" marB="38100" anchor="ctr">
                    <a:solidFill>
                      <a:srgbClr val="F4F2FA"/>
                    </a:solidFill>
                  </a:tcPr>
                </a:tc>
                <a:tc>
                  <a:txBody>
                    <a:bodyPr/>
                    <a:lstStyle/>
                    <a:p>
                      <a:r>
                        <a:rPr sz="1200" b="0" i="0">
                          <a:solidFill>
                            <a:srgbClr val="1A1440"/>
                          </a:solidFill>
                          <a:latin typeface="Calibri"/>
                        </a:rPr>
                        <a:t>kept</a:t>
                      </a:r>
                    </a:p>
                  </a:txBody>
                  <a:tcPr marL="101600" marR="101600" marT="38100" marB="38100" anchor="ctr">
                    <a:solidFill>
                      <a:srgbClr val="F4F2FA"/>
                    </a:solidFill>
                  </a:tcPr>
                </a:tc>
                <a:tc>
                  <a:txBody>
                    <a:bodyPr/>
                    <a:lstStyle/>
                    <a:p>
                      <a:r>
                        <a:rPr sz="1200" b="0" i="0">
                          <a:solidFill>
                            <a:srgbClr val="1A1440"/>
                          </a:solidFill>
                          <a:latin typeface="Calibri"/>
                        </a:rPr>
                        <a:t>dropped</a:t>
                      </a:r>
                    </a:p>
                  </a:txBody>
                  <a:tcPr marL="101600" marR="101600" marT="38100" marB="38100" anchor="ctr">
                    <a:solidFill>
                      <a:srgbClr val="F4F2FA"/>
                    </a:solidFill>
                  </a:tcPr>
                </a:tc>
              </a:tr>
              <a:tr h="335280">
                <a:tc>
                  <a:txBody>
                    <a:bodyPr/>
                    <a:lstStyle/>
                    <a:p>
                      <a:r>
                        <a:rPr sz="1200" b="0" i="0">
                          <a:solidFill>
                            <a:srgbClr val="1A1440"/>
                          </a:solidFill>
                          <a:latin typeface="Calibri"/>
                        </a:rPr>
                        <a:t>C. RIGHT JOIN, payments kept</a:t>
                      </a:r>
                    </a:p>
                  </a:txBody>
                  <a:tcPr marL="101600" marR="101600" marT="38100" marB="38100" anchor="ctr">
                    <a:solidFill>
                      <a:srgbClr val="FFFFFF"/>
                    </a:solidFill>
                  </a:tcPr>
                </a:tc>
                <a:tc>
                  <a:txBody>
                    <a:bodyPr/>
                    <a:lstStyle/>
                    <a:p>
                      <a:r>
                        <a:rPr sz="1200" b="0" i="0">
                          <a:solidFill>
                            <a:srgbClr val="1A1440"/>
                          </a:solidFill>
                          <a:latin typeface="Calibri"/>
                        </a:rPr>
                        <a:t>every payment, matched or not</a:t>
                      </a:r>
                    </a:p>
                  </a:txBody>
                  <a:tcPr marL="101600" marR="101600" marT="38100" marB="38100" anchor="ctr">
                    <a:solidFill>
                      <a:srgbClr val="FFFFFF"/>
                    </a:solidFill>
                  </a:tcPr>
                </a:tc>
                <a:tc>
                  <a:txBody>
                    <a:bodyPr/>
                    <a:lstStyle/>
                    <a:p>
                      <a:r>
                        <a:rPr sz="1200" b="0" i="0">
                          <a:solidFill>
                            <a:srgbClr val="1A1440"/>
                          </a:solidFill>
                          <a:latin typeface="Calibri"/>
                        </a:rPr>
                        <a:t>dropped</a:t>
                      </a:r>
                    </a:p>
                  </a:txBody>
                  <a:tcPr marL="101600" marR="101600" marT="38100" marB="38100" anchor="ctr">
                    <a:solidFill>
                      <a:srgbClr val="FFFFFF"/>
                    </a:solidFill>
                  </a:tcPr>
                </a:tc>
                <a:tc>
                  <a:txBody>
                    <a:bodyPr/>
                    <a:lstStyle/>
                    <a:p>
                      <a:r>
                        <a:rPr sz="1200" b="0" i="0">
                          <a:solidFill>
                            <a:srgbClr val="1A1440"/>
                          </a:solidFill>
                          <a:latin typeface="Calibri"/>
                        </a:rPr>
                        <a:t>kept</a:t>
                      </a:r>
                    </a:p>
                  </a:txBody>
                  <a:tcPr marL="101600" marR="101600" marT="38100" marB="38100" anchor="ctr">
                    <a:solidFill>
                      <a:srgbClr val="FFFFFF"/>
                    </a:solidFill>
                  </a:tcPr>
                </a:tc>
              </a:tr>
              <a:tr h="335280">
                <a:tc>
                  <a:txBody>
                    <a:bodyPr/>
                    <a:lstStyle/>
                    <a:p>
                      <a:r>
                        <a:rPr sz="1200" b="0" i="0">
                          <a:solidFill>
                            <a:srgbClr val="1A1440"/>
                          </a:solidFill>
                          <a:latin typeface="Calibri"/>
                        </a:rPr>
                        <a:t>D. FULL OUTER JOIN</a:t>
                      </a:r>
                    </a:p>
                  </a:txBody>
                  <a:tcPr marL="101600" marR="101600" marT="38100" marB="38100" anchor="ctr">
                    <a:solidFill>
                      <a:srgbClr val="F4F2FA"/>
                    </a:solidFill>
                  </a:tcPr>
                </a:tc>
                <a:tc>
                  <a:txBody>
                    <a:bodyPr/>
                    <a:lstStyle/>
                    <a:p>
                      <a:r>
                        <a:rPr sz="1200" b="0" i="0">
                          <a:solidFill>
                            <a:srgbClr val="1A1440"/>
                          </a:solidFill>
                          <a:latin typeface="Calibri"/>
                        </a:rPr>
                        <a:t>both sides, matched or not</a:t>
                      </a:r>
                    </a:p>
                  </a:txBody>
                  <a:tcPr marL="101600" marR="101600" marT="38100" marB="38100" anchor="ctr">
                    <a:solidFill>
                      <a:srgbClr val="F4F2FA"/>
                    </a:solidFill>
                  </a:tcPr>
                </a:tc>
                <a:tc>
                  <a:txBody>
                    <a:bodyPr/>
                    <a:lstStyle/>
                    <a:p>
                      <a:r>
                        <a:rPr sz="1200" b="0" i="0">
                          <a:solidFill>
                            <a:srgbClr val="1A1440"/>
                          </a:solidFill>
                          <a:latin typeface="Calibri"/>
                        </a:rPr>
                        <a:t>kept</a:t>
                      </a:r>
                    </a:p>
                  </a:txBody>
                  <a:tcPr marL="101600" marR="101600" marT="38100" marB="38100" anchor="ctr">
                    <a:solidFill>
                      <a:srgbClr val="F4F2FA"/>
                    </a:solidFill>
                  </a:tcPr>
                </a:tc>
                <a:tc>
                  <a:txBody>
                    <a:bodyPr/>
                    <a:lstStyle/>
                    <a:p>
                      <a:r>
                        <a:rPr sz="1200" b="0" i="0">
                          <a:solidFill>
                            <a:srgbClr val="1A1440"/>
                          </a:solidFill>
                          <a:latin typeface="Calibri"/>
                        </a:rPr>
                        <a:t>kept</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Sized. </a:t>
            </a:r>
            <a:r>
              <a:rPr sz="1500" b="0" i="0">
                <a:solidFill>
                  <a:srgbClr val="1A1440"/>
                </a:solidFill>
                <a:latin typeface="Calibri"/>
              </a:rPr>
              <a:t>Every option runs in under 3 milliseconds on these tables, so what each one keeps decides the call; how many rows each returns comes later, traced by hand.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90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LEFT JOIN with orders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join fits Anand's question, and what fact would change the call?</a:t>
            </a:r>
          </a:p>
        </p:txBody>
      </p:sp>
      <p:pic>
        <p:nvPicPr>
          <p:cNvPr id="9" name="mermaid diagram" descr="80cd21d6c1da3533.png"/>
          <p:cNvPicPr>
            <a:picLocks noChangeAspect="1"/>
          </p:cNvPicPr>
          <p:nvPr/>
        </p:nvPicPr>
        <p:blipFill>
          <a:blip r:embed="rId5"/>
          <a:stretch>
            <a:fillRect/>
          </a:stretch>
        </p:blipFill>
        <p:spPr>
          <a:xfrm>
            <a:off x="3616153" y="1664208"/>
            <a:ext cx="4959387"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A question about every payment the feed holds starts from payments; a question about both sides at once is a FULL OUTER JOIN.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90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can an order own two payment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one row of orders, and one row of payments, in Kalpa's warehouse?</a:t>
            </a:r>
          </a:p>
        </p:txBody>
      </p:sp>
      <p:pic>
        <p:nvPicPr>
          <p:cNvPr id="9" name="mermaid diagram" descr="99ad7cb89337e212.png"/>
          <p:cNvPicPr>
            <a:picLocks noChangeAspect="1"/>
          </p:cNvPicPr>
          <p:nvPr/>
        </p:nvPicPr>
        <p:blipFill>
          <a:blip r:embed="rId5"/>
          <a:stretch>
            <a:fillRect/>
          </a:stretch>
        </p:blipFill>
        <p:spPr>
          <a:xfrm>
            <a:off x="3974153" y="1956816"/>
            <a:ext cx="4243387" cy="1800225"/>
          </a:xfrm>
          <a:prstGeom prst="rect">
            <a:avLst/>
          </a:prstGeom>
        </p:spPr>
      </p:pic>
      <p:sp>
        <p:nvSpPr>
          <p:cNvPr id="10" name="Rounded Rectangle 9"/>
          <p:cNvSpPr/>
          <p:nvPr/>
        </p:nvSpPr>
        <p:spPr>
          <a:xfrm>
            <a:off x="530352" y="390334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1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221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Does an order_id ever appear on more than one row of payments? a) never, each order is paid once; b) yes, up to twice; c) yes, up to five times; d) only for cancelled orders.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90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one order, up to two payment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grain of each table mean for a join between them?</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'orders' AS source, count(*) AS row_count, count(DISTINCT order_id) AS order_ids FROM orders</a:t>
            </a:r>
          </a:p>
          <a:p>
            <a:pPr>
              <a:spcAft>
                <a:spcPts val="200"/>
              </a:spcAft>
            </a:pPr>
            <a:r>
              <a:rPr sz="1400" b="0" i="0">
                <a:solidFill>
                  <a:srgbClr val="E4E1F1"/>
                </a:solidFill>
                <a:latin typeface="Consolas"/>
              </a:rPr>
              <a:t>UNION ALL</a:t>
            </a:r>
          </a:p>
          <a:p>
            <a:pPr>
              <a:spcAft>
                <a:spcPts val="200"/>
              </a:spcAft>
            </a:pPr>
            <a:r>
              <a:rPr sz="1400" b="0" i="0">
                <a:solidFill>
                  <a:srgbClr val="E4E1F1"/>
                </a:solidFill>
                <a:latin typeface="Consolas"/>
              </a:rPr>
              <a:t>SELECT 'payments', count(*), count(DISTINCT order_id) FROM payments;</a:t>
            </a:r>
          </a:p>
        </p:txBody>
      </p:sp>
      <p:sp>
        <p:nvSpPr>
          <p:cNvPr id="14" name="TextBox 13"/>
          <p:cNvSpPr txBox="1"/>
          <p:nvPr/>
        </p:nvSpPr>
        <p:spPr>
          <a:xfrm>
            <a:off x="53035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5" name="TextBox 14"/>
          <p:cNvSpPr txBox="1"/>
          <p:nvPr/>
        </p:nvSpPr>
        <p:spPr>
          <a:xfrm>
            <a:off x="53035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ROWS</a:t>
            </a:r>
          </a:p>
        </p:txBody>
      </p:sp>
      <p:sp>
        <p:nvSpPr>
          <p:cNvPr id="16" name="TextBox 15"/>
          <p:cNvSpPr txBox="1"/>
          <p:nvPr/>
        </p:nvSpPr>
        <p:spPr>
          <a:xfrm>
            <a:off x="53035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1,000 order ids, one row per order</a:t>
            </a:r>
          </a:p>
        </p:txBody>
      </p:sp>
      <p:sp>
        <p:nvSpPr>
          <p:cNvPr id="17" name="Rectangle 16"/>
          <p:cNvSpPr/>
          <p:nvPr/>
        </p:nvSpPr>
        <p:spPr>
          <a:xfrm>
            <a:off x="53035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1,428</a:t>
            </a:r>
          </a:p>
        </p:txBody>
      </p:sp>
      <p:sp>
        <p:nvSpPr>
          <p:cNvPr id="19" name="TextBox 18"/>
          <p:cNvSpPr txBox="1"/>
          <p:nvPr/>
        </p:nvSpPr>
        <p:spPr>
          <a:xfrm>
            <a:off x="433212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PAYMENTS ROWS</a:t>
            </a:r>
          </a:p>
        </p:txBody>
      </p:sp>
      <p:sp>
        <p:nvSpPr>
          <p:cNvPr id="20" name="TextBox 19"/>
          <p:cNvSpPr txBox="1"/>
          <p:nvPr/>
        </p:nvSpPr>
        <p:spPr>
          <a:xfrm>
            <a:off x="433212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fewer distinct order ids than rows</a:t>
            </a:r>
          </a:p>
        </p:txBody>
      </p:sp>
      <p:sp>
        <p:nvSpPr>
          <p:cNvPr id="21" name="Rectangle 20"/>
          <p:cNvSpPr/>
          <p:nvPr/>
        </p:nvSpPr>
        <p:spPr>
          <a:xfrm>
            <a:off x="433212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2</a:t>
            </a:r>
          </a:p>
        </p:txBody>
      </p:sp>
      <p:sp>
        <p:nvSpPr>
          <p:cNvPr id="23" name="TextBox 22"/>
          <p:cNvSpPr txBox="1"/>
          <p:nvPr/>
        </p:nvSpPr>
        <p:spPr>
          <a:xfrm>
            <a:off x="813389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MOST ROWS FOR ONE ORDER</a:t>
            </a:r>
          </a:p>
        </p:txBody>
      </p:sp>
      <p:sp>
        <p:nvSpPr>
          <p:cNvPr id="24" name="TextBox 23"/>
          <p:cNvSpPr txBox="1"/>
          <p:nvPr/>
        </p:nvSpPr>
        <p:spPr>
          <a:xfrm>
            <a:off x="813389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the check passes: never more than two</a:t>
            </a:r>
          </a:p>
        </p:txBody>
      </p:sp>
      <p:sp>
        <p:nvSpPr>
          <p:cNvPr id="25" name="Rectangle 24"/>
          <p:cNvSpPr/>
          <p:nvPr/>
        </p:nvSpPr>
        <p:spPr>
          <a:xfrm>
            <a:off x="813389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30352" y="479907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Anand named one reason an order owns two rows, instalments; the platform lead named another, a gateway retry. Either way a join to payments can repeat an order.</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5" name="Oval 3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90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rows does INNER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five orders and seven payments, how many rows does the INNER join write?</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o.order_id, o.amount AS booked, p.payment_id, p.amount AS paid</a:t>
            </a:r>
          </a:p>
          <a:p>
            <a:pPr>
              <a:spcAft>
                <a:spcPts val="200"/>
              </a:spcAft>
            </a:pPr>
            <a:r>
              <a:rPr sz="1400" b="0" i="0">
                <a:solidFill>
                  <a:srgbClr val="E4E1F1"/>
                </a:solidFill>
                <a:latin typeface="Consolas"/>
              </a:rPr>
              <a:t>FROM tiny_orders o</a:t>
            </a:r>
          </a:p>
          <a:p>
            <a:pPr>
              <a:spcAft>
                <a:spcPts val="200"/>
              </a:spcAft>
            </a:pPr>
            <a:r>
              <a:rPr sz="1400" b="0" i="0">
                <a:solidFill>
                  <a:srgbClr val="E4E1F1"/>
                </a:solidFill>
                <a:latin typeface="Consolas"/>
              </a:rPr>
              <a:t>JOIN tiny_payments p ON p.order_id = o.order_id;</a:t>
            </a:r>
          </a:p>
        </p:txBody>
      </p:sp>
      <p:sp>
        <p:nvSpPr>
          <p:cNvPr id="14" name="Rounded Rectangle 13"/>
          <p:cNvSpPr/>
          <p:nvPr/>
        </p:nvSpPr>
        <p:spPr>
          <a:xfrm>
            <a:off x="530352" y="333603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rows come back? a) 5, one per order; b) 6; c) 7, one per payment; d) 8.</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1" name="Oval 2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5" name="Oval 2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90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six rows, and T-4 and P-7 are gone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pairs does an INNER join write, and what does it silently leave out?</a:t>
            </a:r>
          </a:p>
        </p:txBody>
      </p:sp>
      <p:graphicFrame>
        <p:nvGraphicFramePr>
          <p:cNvPr id="9" name="Table 8"/>
          <p:cNvGraphicFramePr>
            <a:graphicFrameLocks noGrp="1"/>
          </p:cNvGraphicFramePr>
          <p:nvPr/>
        </p:nvGraphicFramePr>
        <p:xfrm>
          <a:off x="530352" y="1956816"/>
          <a:ext cx="11130990" cy="2346960"/>
        </p:xfrm>
        <a:graphic>
          <a:graphicData uri="http://schemas.openxmlformats.org/drawingml/2006/table">
            <a:tbl>
              <a:tblPr firstRow="0" bandRow="0">
                <a:tableStyleId>{2D5ABB26-0587-4C30-8999-92F81FD0307C}</a:tableStyleId>
              </a:tblPr>
              <a:tblGrid>
                <a:gridCol w="4246105"/>
                <a:gridCol w="914400"/>
                <a:gridCol w="5056085"/>
                <a:gridCol w="914400"/>
              </a:tblGrid>
              <a:tr h="335280">
                <a:tc>
                  <a:txBody>
                    <a:bodyPr/>
                    <a:lstStyle/>
                    <a:p>
                      <a:r>
                        <a:rPr sz="1250" b="1" i="0">
                          <a:solidFill>
                            <a:srgbClr val="FFFFFF"/>
                          </a:solidFill>
                          <a:latin typeface="Calibri"/>
                        </a:rPr>
                        <a:t>order_id</a:t>
                      </a:r>
                    </a:p>
                  </a:txBody>
                  <a:tcPr marL="101600" marR="101600" marT="38100" marB="38100" anchor="ctr">
                    <a:solidFill>
                      <a:srgbClr val="1A0F5C"/>
                    </a:solidFill>
                  </a:tcPr>
                </a:tc>
                <a:tc>
                  <a:txBody>
                    <a:bodyPr/>
                    <a:lstStyle/>
                    <a:p>
                      <a:r>
                        <a:rPr sz="1250" b="1" i="0">
                          <a:solidFill>
                            <a:srgbClr val="FFFFFF"/>
                          </a:solidFill>
                          <a:latin typeface="Calibri"/>
                        </a:rPr>
                        <a:t>booked</a:t>
                      </a:r>
                    </a:p>
                  </a:txBody>
                  <a:tcPr marL="101600" marR="101600" marT="38100" marB="38100" anchor="ctr">
                    <a:solidFill>
                      <a:srgbClr val="1A0F5C"/>
                    </a:solidFill>
                  </a:tcPr>
                </a:tc>
                <a:tc>
                  <a:txBody>
                    <a:bodyPr/>
                    <a:lstStyle/>
                    <a:p>
                      <a:r>
                        <a:rPr sz="1250" b="1" i="0">
                          <a:solidFill>
                            <a:srgbClr val="FFFFFF"/>
                          </a:solidFill>
                          <a:latin typeface="Calibri"/>
                        </a:rPr>
                        <a:t>payment_id</a:t>
                      </a:r>
                    </a:p>
                  </a:txBody>
                  <a:tcPr marL="101600" marR="101600" marT="38100" marB="38100" anchor="ctr">
                    <a:solidFill>
                      <a:srgbClr val="1A0F5C"/>
                    </a:solidFill>
                  </a:tcPr>
                </a:tc>
                <a:tc>
                  <a:txBody>
                    <a:bodyPr/>
                    <a:lstStyle/>
                    <a:p>
                      <a:r>
                        <a:rPr sz="1250" b="1" i="0">
                          <a:solidFill>
                            <a:srgbClr val="FFFFFF"/>
                          </a:solidFill>
                          <a:latin typeface="Calibri"/>
                        </a:rPr>
                        <a:t>paid</a:t>
                      </a:r>
                    </a:p>
                  </a:txBody>
                  <a:tcPr marL="101600" marR="101600" marT="38100" marB="38100" anchor="ctr">
                    <a:solidFill>
                      <a:srgbClr val="1A0F5C"/>
                    </a:solidFill>
                  </a:tcPr>
                </a:tc>
              </a:tr>
              <a:tr h="335280">
                <a:tc>
                  <a:txBody>
                    <a:bodyPr/>
                    <a:lstStyle/>
                    <a:p>
                      <a:r>
                        <a:rPr sz="1200" b="0" i="0">
                          <a:solidFill>
                            <a:srgbClr val="1A1440"/>
                          </a:solidFill>
                          <a:latin typeface="Calibri"/>
                        </a:rPr>
                        <a:t>T-1</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P-1</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T-2</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c>
                  <a:txBody>
                    <a:bodyPr/>
                    <a:lstStyle/>
                    <a:p>
                      <a:r>
                        <a:rPr sz="1200" b="0" i="0">
                          <a:solidFill>
                            <a:srgbClr val="1A1440"/>
                          </a:solidFill>
                          <a:latin typeface="Calibri"/>
                        </a:rPr>
                        <a:t>P-2</a:t>
                      </a:r>
                    </a:p>
                  </a:txBody>
                  <a:tcPr marL="101600" marR="101600" marT="38100" marB="38100" anchor="ctr">
                    <a:solidFill>
                      <a:srgbClr val="F4F2FA"/>
                    </a:solidFill>
                  </a:tcPr>
                </a:tc>
                <a:tc>
                  <a:txBody>
                    <a:bodyPr/>
                    <a:lstStyle/>
                    <a:p>
                      <a:r>
                        <a:rPr sz="1200" b="0" i="0">
                          <a:solidFill>
                            <a:srgbClr val="1A1440"/>
                          </a:solidFill>
                          <a:latin typeface="Calibri"/>
                        </a:rPr>
                        <a:t>1,200</a:t>
                      </a:r>
                    </a:p>
                  </a:txBody>
                  <a:tcPr marL="101600" marR="101600" marT="38100" marB="38100" anchor="ctr">
                    <a:solidFill>
                      <a:srgbClr val="F4F2FA"/>
                    </a:solidFill>
                  </a:tcPr>
                </a:tc>
              </a:tr>
              <a:tr h="335280">
                <a:tc>
                  <a:txBody>
                    <a:bodyPr/>
                    <a:lstStyle/>
                    <a:p>
                      <a:r>
                        <a:rPr sz="1200" b="0" i="0">
                          <a:solidFill>
                            <a:srgbClr val="1A1440"/>
                          </a:solidFill>
                          <a:latin typeface="Calibri"/>
                        </a:rPr>
                        <a:t>T-2</a:t>
                      </a:r>
                    </a:p>
                  </a:txBody>
                  <a:tcPr marL="101600" marR="101600" marT="38100" marB="38100" anchor="ctr">
                    <a:solidFill>
                      <a:srgbClr val="FFFFFF"/>
                    </a:solidFill>
                  </a:tcPr>
                </a:tc>
                <a:tc>
                  <a:txBody>
                    <a:bodyPr/>
                    <a:lstStyle/>
                    <a:p>
                      <a:r>
                        <a:rPr sz="1200" b="0" i="0">
                          <a:solidFill>
                            <a:srgbClr val="1A1440"/>
                          </a:solidFill>
                          <a:latin typeface="Calibri"/>
                        </a:rPr>
                        <a:t>2,000</a:t>
                      </a:r>
                    </a:p>
                  </a:txBody>
                  <a:tcPr marL="101600" marR="101600" marT="38100" marB="38100" anchor="ctr">
                    <a:solidFill>
                      <a:srgbClr val="FFFFFF"/>
                    </a:solidFill>
                  </a:tcPr>
                </a:tc>
                <a:tc>
                  <a:txBody>
                    <a:bodyPr/>
                    <a:lstStyle/>
                    <a:p>
                      <a:r>
                        <a:rPr sz="1200" b="0" i="0">
                          <a:solidFill>
                            <a:srgbClr val="1A1440"/>
                          </a:solidFill>
                          <a:latin typeface="Calibri"/>
                        </a:rPr>
                        <a:t>P-3</a:t>
                      </a:r>
                    </a:p>
                  </a:txBody>
                  <a:tcPr marL="101600" marR="101600" marT="38100" marB="38100" anchor="ctr">
                    <a:solidFill>
                      <a:srgbClr val="FFFFFF"/>
                    </a:solidFill>
                  </a:tcPr>
                </a:tc>
                <a:tc>
                  <a:txBody>
                    <a:bodyPr/>
                    <a:lstStyle/>
                    <a:p>
                      <a:r>
                        <a:rPr sz="1200" b="0" i="0">
                          <a:solidFill>
                            <a:srgbClr val="1A1440"/>
                          </a:solidFill>
                          <a:latin typeface="Calibri"/>
                        </a:rPr>
                        <a:t>800</a:t>
                      </a:r>
                    </a:p>
                  </a:txBody>
                  <a:tcPr marL="101600" marR="101600" marT="38100" marB="38100" anchor="ctr">
                    <a:solidFill>
                      <a:srgbClr val="FFFFFF"/>
                    </a:solidFill>
                  </a:tcPr>
                </a:tc>
              </a:tr>
              <a:tr h="335280">
                <a:tc>
                  <a:txBody>
                    <a:bodyPr/>
                    <a:lstStyle/>
                    <a:p>
                      <a:r>
                        <a:rPr sz="1200" b="0" i="0">
                          <a:solidFill>
                            <a:srgbClr val="1A1440"/>
                          </a:solidFill>
                          <a:latin typeface="Calibri"/>
                        </a:rPr>
                        <a:t>T-3</a:t>
                      </a:r>
                    </a:p>
                  </a:txBody>
                  <a:tcPr marL="101600" marR="101600" marT="38100" marB="38100" anchor="ctr">
                    <a:solidFill>
                      <a:srgbClr val="F4F2FA"/>
                    </a:solidFill>
                  </a:tcPr>
                </a:tc>
                <a:tc>
                  <a:txBody>
                    <a:bodyPr/>
                    <a:lstStyle/>
                    <a:p>
                      <a:r>
                        <a:rPr sz="1200" b="0" i="0">
                          <a:solidFill>
                            <a:srgbClr val="1A1440"/>
                          </a:solidFill>
                          <a:latin typeface="Calibri"/>
                        </a:rPr>
                        <a:t>1,500</a:t>
                      </a:r>
                    </a:p>
                  </a:txBody>
                  <a:tcPr marL="101600" marR="101600" marT="38100" marB="38100" anchor="ctr">
                    <a:solidFill>
                      <a:srgbClr val="F4F2FA"/>
                    </a:solidFill>
                  </a:tcPr>
                </a:tc>
                <a:tc>
                  <a:txBody>
                    <a:bodyPr/>
                    <a:lstStyle/>
                    <a:p>
                      <a:r>
                        <a:rPr sz="1200" b="0" i="0">
                          <a:solidFill>
                            <a:srgbClr val="1A1440"/>
                          </a:solidFill>
                          <a:latin typeface="Calibri"/>
                        </a:rPr>
                        <a:t>P-4</a:t>
                      </a:r>
                    </a:p>
                  </a:txBody>
                  <a:tcPr marL="101600" marR="101600" marT="38100" marB="38100" anchor="ctr">
                    <a:solidFill>
                      <a:srgbClr val="F4F2FA"/>
                    </a:solidFill>
                  </a:tcPr>
                </a:tc>
                <a:tc>
                  <a:txBody>
                    <a:bodyPr/>
                    <a:lstStyle/>
                    <a:p>
                      <a:r>
                        <a:rPr sz="1200" b="0" i="0">
                          <a:solidFill>
                            <a:srgbClr val="1A1440"/>
                          </a:solidFill>
                          <a:latin typeface="Calibri"/>
                        </a:rPr>
                        <a:t>1,500</a:t>
                      </a:r>
                    </a:p>
                  </a:txBody>
                  <a:tcPr marL="101600" marR="101600" marT="38100" marB="38100" anchor="ctr">
                    <a:solidFill>
                      <a:srgbClr val="F4F2FA"/>
                    </a:solidFill>
                  </a:tcPr>
                </a:tc>
              </a:tr>
              <a:tr h="335280">
                <a:tc>
                  <a:txBody>
                    <a:bodyPr/>
                    <a:lstStyle/>
                    <a:p>
                      <a:r>
                        <a:rPr sz="1200" b="0" i="0">
                          <a:solidFill>
                            <a:srgbClr val="1A1440"/>
                          </a:solidFill>
                          <a:latin typeface="Calibri"/>
                        </a:rPr>
                        <a:t>T-3</a:t>
                      </a:r>
                    </a:p>
                  </a:txBody>
                  <a:tcPr marL="101600" marR="101600" marT="38100" marB="38100" anchor="ctr">
                    <a:solidFill>
                      <a:srgbClr val="FFFFFF"/>
                    </a:solidFill>
                  </a:tcPr>
                </a:tc>
                <a:tc>
                  <a:txBody>
                    <a:bodyPr/>
                    <a:lstStyle/>
                    <a:p>
                      <a:r>
                        <a:rPr sz="1200" b="0" i="0">
                          <a:solidFill>
                            <a:srgbClr val="1A1440"/>
                          </a:solidFill>
                          <a:latin typeface="Calibri"/>
                        </a:rPr>
                        <a:t>1,500</a:t>
                      </a:r>
                    </a:p>
                  </a:txBody>
                  <a:tcPr marL="101600" marR="101600" marT="38100" marB="38100" anchor="ctr">
                    <a:solidFill>
                      <a:srgbClr val="FFFFFF"/>
                    </a:solidFill>
                  </a:tcPr>
                </a:tc>
                <a:tc>
                  <a:txBody>
                    <a:bodyPr/>
                    <a:lstStyle/>
                    <a:p>
                      <a:r>
                        <a:rPr sz="1200" b="0" i="0">
                          <a:solidFill>
                            <a:srgbClr val="1A1440"/>
                          </a:solidFill>
                          <a:latin typeface="Calibri"/>
                        </a:rPr>
                        <a:t>P-5</a:t>
                      </a:r>
                    </a:p>
                  </a:txBody>
                  <a:tcPr marL="101600" marR="101600" marT="38100" marB="38100" anchor="ctr">
                    <a:solidFill>
                      <a:srgbClr val="FFFFFF"/>
                    </a:solidFill>
                  </a:tcPr>
                </a:tc>
                <a:tc>
                  <a:txBody>
                    <a:bodyPr/>
                    <a:lstStyle/>
                    <a:p>
                      <a:r>
                        <a:rPr sz="1200" b="0" i="0">
                          <a:solidFill>
                            <a:srgbClr val="1A1440"/>
                          </a:solidFill>
                          <a:latin typeface="Calibri"/>
                        </a:rPr>
                        <a:t>1,500</a:t>
                      </a:r>
                    </a:p>
                  </a:txBody>
                  <a:tcPr marL="101600" marR="101600" marT="38100" marB="38100" anchor="ctr">
                    <a:solidFill>
                      <a:srgbClr val="FFFFFF"/>
                    </a:solidFill>
                  </a:tcPr>
                </a:tc>
              </a:tr>
              <a:tr h="335280">
                <a:tc>
                  <a:txBody>
                    <a:bodyPr/>
                    <a:lstStyle/>
                    <a:p>
                      <a:r>
                        <a:rPr sz="1200" b="0" i="0">
                          <a:solidFill>
                            <a:srgbClr val="1A1440"/>
                          </a:solidFill>
                          <a:latin typeface="Calibri"/>
                        </a:rPr>
                        <a:t>T-5</a:t>
                      </a:r>
                    </a:p>
                  </a:txBody>
                  <a:tcPr marL="101600" marR="101600" marT="38100" marB="38100" anchor="ctr">
                    <a:solidFill>
                      <a:srgbClr val="F4F2FA"/>
                    </a:solidFill>
                  </a:tcPr>
                </a:tc>
                <a:tc>
                  <a:txBody>
                    <a:bodyPr/>
                    <a:lstStyle/>
                    <a:p>
                      <a:r>
                        <a:rPr sz="1200" b="0" i="0">
                          <a:solidFill>
                            <a:srgbClr val="1A1440"/>
                          </a:solidFill>
                          <a:latin typeface="Calibri"/>
                        </a:rPr>
                        <a:t>500</a:t>
                      </a:r>
                    </a:p>
                  </a:txBody>
                  <a:tcPr marL="101600" marR="101600" marT="38100" marB="38100" anchor="ctr">
                    <a:solidFill>
                      <a:srgbClr val="F4F2FA"/>
                    </a:solidFill>
                  </a:tcPr>
                </a:tc>
                <a:tc>
                  <a:txBody>
                    <a:bodyPr/>
                    <a:lstStyle/>
                    <a:p>
                      <a:r>
                        <a:rPr sz="1200" b="0" i="0">
                          <a:solidFill>
                            <a:srgbClr val="1A1440"/>
                          </a:solidFill>
                          <a:latin typeface="Calibri"/>
                        </a:rPr>
                        <a:t>P-6</a:t>
                      </a:r>
                    </a:p>
                  </a:txBody>
                  <a:tcPr marL="101600" marR="101600" marT="38100" marB="38100" anchor="ctr">
                    <a:solidFill>
                      <a:srgbClr val="F4F2FA"/>
                    </a:solidFill>
                  </a:tcPr>
                </a:tc>
                <a:tc>
                  <a:txBody>
                    <a:bodyPr/>
                    <a:lstStyle/>
                    <a:p>
                      <a:r>
                        <a:rPr sz="1200" b="0" i="0">
                          <a:solidFill>
                            <a:srgbClr val="1A1440"/>
                          </a:solidFill>
                          <a:latin typeface="Calibri"/>
                        </a:rPr>
                        <a:t>500</a:t>
                      </a:r>
                    </a:p>
                  </a:txBody>
                  <a:tcPr marL="101600" marR="101600" marT="38100" marB="38100" anchor="ctr">
                    <a:solidFill>
                      <a:srgbClr val="F4F2FA"/>
                    </a:solidFill>
                  </a:tcPr>
                </a:tc>
              </a:tr>
            </a:tbl>
          </a:graphicData>
        </a:graphic>
      </p:graphicFrame>
      <p:sp>
        <p:nvSpPr>
          <p:cNvPr id="10" name="TextBox 9"/>
          <p:cNvSpPr txBox="1"/>
          <p:nvPr/>
        </p:nvSpPr>
        <p:spPr>
          <a:xfrm>
            <a:off x="530352" y="455980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One row for every order and payment that share an order_id: T-2 twice for its instalments, T-3 twice for its retry. </a:t>
            </a:r>
            <a:r>
              <a:rPr sz="1600" b="1" i="0">
                <a:solidFill>
                  <a:srgbClr val="1A1440"/>
                </a:solidFill>
                <a:latin typeface="Calibri"/>
              </a:rPr>
              <a:t>The check.</a:t>
            </a:r>
            <a:r>
              <a:rPr sz="1600" b="0" i="0">
                <a:solidFill>
                  <a:srgbClr val="1A1440"/>
                </a:solidFill>
                <a:latin typeface="Calibri"/>
              </a:rPr>
              <a:t> 6 rows from 5 orders and 7 payments.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90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the outer joins add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LEFT, RIGHT and FULL do with the rows that find no partner?</a:t>
            </a:r>
          </a:p>
        </p:txBody>
      </p:sp>
      <p:pic>
        <p:nvPicPr>
          <p:cNvPr id="9" name="mermaid diagram" descr="5277bb1b3381bccf.png"/>
          <p:cNvPicPr>
            <a:picLocks noChangeAspect="1"/>
          </p:cNvPicPr>
          <p:nvPr/>
        </p:nvPicPr>
        <p:blipFill>
          <a:blip r:embed="rId5"/>
          <a:stretch>
            <a:fillRect/>
          </a:stretch>
        </p:blipFill>
        <p:spPr>
          <a:xfrm>
            <a:off x="3359791" y="1856708"/>
            <a:ext cx="5472112" cy="3214687"/>
          </a:xfrm>
          <a:prstGeom prst="rect">
            <a:avLst/>
          </a:prstGeom>
        </p:spPr>
      </p:pic>
      <p:sp>
        <p:nvSpPr>
          <p:cNvPr id="10" name="Rounded Rectangle 9"/>
          <p:cNvSpPr/>
          <p:nvPr/>
        </p:nvSpPr>
        <p:spPr>
          <a:xfrm>
            <a:off x="530352" y="521769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4571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36571"/>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rows do LEFT, RIGHT and FULL return, in that order? a) 5, 7 and 8; b) 7, 7 and 8; c) 5, 5 and 7; d) 7, 6 and 8.</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90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7, 7 and 8, and the repeats stay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unmatched rows does each join keep, and where do the repeats come from?</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914400"/>
                <a:gridCol w="4726150"/>
                <a:gridCol w="4576040"/>
                <a:gridCol w="914400"/>
              </a:tblGrid>
              <a:tr h="335280">
                <a:tc>
                  <a:txBody>
                    <a:bodyPr/>
                    <a:lstStyle/>
                    <a:p>
                      <a:r>
                        <a:rPr sz="1250" b="1" i="0">
                          <a:solidFill>
                            <a:srgbClr val="FFFFFF"/>
                          </a:solidFill>
                          <a:latin typeface="Calibri"/>
                        </a:rPr>
                        <a:t>Join</a:t>
                      </a:r>
                    </a:p>
                  </a:txBody>
                  <a:tcPr marL="101600" marR="101600" marT="38100" marB="38100" anchor="ctr">
                    <a:solidFill>
                      <a:srgbClr val="1A0F5C"/>
                    </a:solidFill>
                  </a:tcPr>
                </a:tc>
                <a:tc>
                  <a:txBody>
                    <a:bodyPr/>
                    <a:lstStyle/>
                    <a:p>
                      <a:r>
                        <a:rPr sz="1250" b="1" i="0">
                          <a:solidFill>
                            <a:srgbClr val="FFFFFF"/>
                          </a:solidFill>
                          <a:latin typeface="Calibri"/>
                        </a:rPr>
                        <a:t>T-4, an order with no payment</a:t>
                      </a:r>
                    </a:p>
                  </a:txBody>
                  <a:tcPr marL="101600" marR="101600" marT="38100" marB="38100" anchor="ctr">
                    <a:solidFill>
                      <a:srgbClr val="1A0F5C"/>
                    </a:solidFill>
                  </a:tcPr>
                </a:tc>
                <a:tc>
                  <a:txBody>
                    <a:bodyPr/>
                    <a:lstStyle/>
                    <a:p>
                      <a:r>
                        <a:rPr sz="1250" b="1" i="0">
                          <a:solidFill>
                            <a:srgbClr val="FFFFFF"/>
                          </a:solidFill>
                          <a:latin typeface="Calibri"/>
                        </a:rPr>
                        <a:t>P-7, a payment with no order</a:t>
                      </a:r>
                    </a:p>
                  </a:txBody>
                  <a:tcPr marL="101600" marR="101600" marT="38100" marB="38100" anchor="ctr">
                    <a:solidFill>
                      <a:srgbClr val="1A0F5C"/>
                    </a:solidFill>
                  </a:tcPr>
                </a:tc>
                <a:tc>
                  <a:txBody>
                    <a:bodyPr/>
                    <a:lstStyle/>
                    <a:p>
                      <a:r>
                        <a:rPr sz="1250" b="1" i="0">
                          <a:solidFill>
                            <a:srgbClr val="FFFFFF"/>
                          </a:solidFill>
                          <a:latin typeface="Calibri"/>
                        </a:rPr>
                        <a:t>Rows</a:t>
                      </a:r>
                    </a:p>
                  </a:txBody>
                  <a:tcPr marL="101600" marR="101600" marT="38100" marB="38100" anchor="ctr">
                    <a:solidFill>
                      <a:srgbClr val="1A0F5C"/>
                    </a:solidFill>
                  </a:tcPr>
                </a:tc>
              </a:tr>
              <a:tr h="335280">
                <a:tc>
                  <a:txBody>
                    <a:bodyPr/>
                    <a:lstStyle/>
                    <a:p>
                      <a:r>
                        <a:rPr sz="1200" b="0" i="0">
                          <a:solidFill>
                            <a:srgbClr val="1A1440"/>
                          </a:solidFill>
                          <a:latin typeface="Calibri"/>
                        </a:rPr>
                        <a:t>INNER</a:t>
                      </a:r>
                    </a:p>
                  </a:txBody>
                  <a:tcPr marL="101600" marR="101600" marT="38100" marB="38100" anchor="ctr">
                    <a:solidFill>
                      <a:srgbClr val="FFFFFF"/>
                    </a:solidFill>
                  </a:tcPr>
                </a:tc>
                <a:tc>
                  <a:txBody>
                    <a:bodyPr/>
                    <a:lstStyle/>
                    <a:p>
                      <a:r>
                        <a:rPr sz="1200" b="0" i="0">
                          <a:solidFill>
                            <a:srgbClr val="1A1440"/>
                          </a:solidFill>
                          <a:latin typeface="Calibri"/>
                        </a:rPr>
                        <a:t>dropped</a:t>
                      </a:r>
                    </a:p>
                  </a:txBody>
                  <a:tcPr marL="101600" marR="101600" marT="38100" marB="38100" anchor="ctr">
                    <a:solidFill>
                      <a:srgbClr val="FFFFFF"/>
                    </a:solidFill>
                  </a:tcPr>
                </a:tc>
                <a:tc>
                  <a:txBody>
                    <a:bodyPr/>
                    <a:lstStyle/>
                    <a:p>
                      <a:r>
                        <a:rPr sz="1200" b="0" i="0">
                          <a:solidFill>
                            <a:srgbClr val="1A1440"/>
                          </a:solidFill>
                          <a:latin typeface="Calibri"/>
                        </a:rPr>
                        <a:t>dropped</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r>
              <a:tr h="335280">
                <a:tc>
                  <a:txBody>
                    <a:bodyPr/>
                    <a:lstStyle/>
                    <a:p>
                      <a:r>
                        <a:rPr sz="1200" b="0" i="0">
                          <a:solidFill>
                            <a:srgbClr val="1A1440"/>
                          </a:solidFill>
                          <a:latin typeface="Calibri"/>
                        </a:rPr>
                        <a:t>LEFT</a:t>
                      </a:r>
                    </a:p>
                  </a:txBody>
                  <a:tcPr marL="101600" marR="101600" marT="38100" marB="38100" anchor="ctr">
                    <a:solidFill>
                      <a:srgbClr val="F4F2FA"/>
                    </a:solidFill>
                  </a:tcPr>
                </a:tc>
                <a:tc>
                  <a:txBody>
                    <a:bodyPr/>
                    <a:lstStyle/>
                    <a:p>
                      <a:r>
                        <a:rPr sz="1200" b="0" i="0">
                          <a:solidFill>
                            <a:srgbClr val="1A1440"/>
                          </a:solidFill>
                          <a:latin typeface="Calibri"/>
                        </a:rPr>
                        <a:t>kept, payment side NULL</a:t>
                      </a:r>
                    </a:p>
                  </a:txBody>
                  <a:tcPr marL="101600" marR="101600" marT="38100" marB="38100" anchor="ctr">
                    <a:solidFill>
                      <a:srgbClr val="F4F2FA"/>
                    </a:solidFill>
                  </a:tcPr>
                </a:tc>
                <a:tc>
                  <a:txBody>
                    <a:bodyPr/>
                    <a:lstStyle/>
                    <a:p>
                      <a:r>
                        <a:rPr sz="1200" b="0" i="0">
                          <a:solidFill>
                            <a:srgbClr val="1A1440"/>
                          </a:solidFill>
                          <a:latin typeface="Calibri"/>
                        </a:rPr>
                        <a:t>dropped</a:t>
                      </a:r>
                    </a:p>
                  </a:txBody>
                  <a:tcPr marL="101600" marR="101600" marT="38100" marB="38100" anchor="ctr">
                    <a:solidFill>
                      <a:srgbClr val="F4F2FA"/>
                    </a:solidFill>
                  </a:tcPr>
                </a:tc>
                <a:tc>
                  <a:txBody>
                    <a:bodyPr/>
                    <a:lstStyle/>
                    <a:p>
                      <a:r>
                        <a:rPr sz="1200" b="0" i="0">
                          <a:solidFill>
                            <a:srgbClr val="1A1440"/>
                          </a:solidFill>
                          <a:latin typeface="Calibri"/>
                        </a:rPr>
                        <a:t>7</a:t>
                      </a:r>
                    </a:p>
                  </a:txBody>
                  <a:tcPr marL="101600" marR="101600" marT="38100" marB="38100" anchor="ctr">
                    <a:solidFill>
                      <a:srgbClr val="F4F2FA"/>
                    </a:solidFill>
                  </a:tcPr>
                </a:tc>
              </a:tr>
              <a:tr h="335280">
                <a:tc>
                  <a:txBody>
                    <a:bodyPr/>
                    <a:lstStyle/>
                    <a:p>
                      <a:r>
                        <a:rPr sz="1200" b="0" i="0">
                          <a:solidFill>
                            <a:srgbClr val="1A1440"/>
                          </a:solidFill>
                          <a:latin typeface="Calibri"/>
                        </a:rPr>
                        <a:t>RIGHT</a:t>
                      </a:r>
                    </a:p>
                  </a:txBody>
                  <a:tcPr marL="101600" marR="101600" marT="38100" marB="38100" anchor="ctr">
                    <a:solidFill>
                      <a:srgbClr val="FFFFFF"/>
                    </a:solidFill>
                  </a:tcPr>
                </a:tc>
                <a:tc>
                  <a:txBody>
                    <a:bodyPr/>
                    <a:lstStyle/>
                    <a:p>
                      <a:r>
                        <a:rPr sz="1200" b="0" i="0">
                          <a:solidFill>
                            <a:srgbClr val="1A1440"/>
                          </a:solidFill>
                          <a:latin typeface="Calibri"/>
                        </a:rPr>
                        <a:t>dropped</a:t>
                      </a:r>
                    </a:p>
                  </a:txBody>
                  <a:tcPr marL="101600" marR="101600" marT="38100" marB="38100" anchor="ctr">
                    <a:solidFill>
                      <a:srgbClr val="FFFFFF"/>
                    </a:solidFill>
                  </a:tcPr>
                </a:tc>
                <a:tc>
                  <a:txBody>
                    <a:bodyPr/>
                    <a:lstStyle/>
                    <a:p>
                      <a:r>
                        <a:rPr sz="1200" b="0" i="0">
                          <a:solidFill>
                            <a:srgbClr val="1A1440"/>
                          </a:solidFill>
                          <a:latin typeface="Calibri"/>
                        </a:rPr>
                        <a:t>kept, order side NULL</a:t>
                      </a:r>
                    </a:p>
                  </a:txBody>
                  <a:tcPr marL="101600" marR="101600" marT="38100" marB="38100" anchor="ctr">
                    <a:solidFill>
                      <a:srgbClr val="FFFFFF"/>
                    </a:solidFill>
                  </a:tcPr>
                </a:tc>
                <a:tc>
                  <a:txBody>
                    <a:bodyPr/>
                    <a:lstStyle/>
                    <a:p>
                      <a:r>
                        <a:rPr sz="1200" b="0" i="0">
                          <a:solidFill>
                            <a:srgbClr val="1A1440"/>
                          </a:solidFill>
                          <a:latin typeface="Calibri"/>
                        </a:rPr>
                        <a:t>7</a:t>
                      </a:r>
                    </a:p>
                  </a:txBody>
                  <a:tcPr marL="101600" marR="101600" marT="38100" marB="38100" anchor="ctr">
                    <a:solidFill>
                      <a:srgbClr val="FFFFFF"/>
                    </a:solidFill>
                  </a:tcPr>
                </a:tc>
              </a:tr>
              <a:tr h="335280">
                <a:tc>
                  <a:txBody>
                    <a:bodyPr/>
                    <a:lstStyle/>
                    <a:p>
                      <a:r>
                        <a:rPr sz="1200" b="0" i="0">
                          <a:solidFill>
                            <a:srgbClr val="1A1440"/>
                          </a:solidFill>
                          <a:latin typeface="Calibri"/>
                        </a:rPr>
                        <a:t>FULL</a:t>
                      </a:r>
                    </a:p>
                  </a:txBody>
                  <a:tcPr marL="101600" marR="101600" marT="38100" marB="38100" anchor="ctr">
                    <a:solidFill>
                      <a:srgbClr val="F4F2FA"/>
                    </a:solidFill>
                  </a:tcPr>
                </a:tc>
                <a:tc>
                  <a:txBody>
                    <a:bodyPr/>
                    <a:lstStyle/>
                    <a:p>
                      <a:r>
                        <a:rPr sz="1200" b="0" i="0">
                          <a:solidFill>
                            <a:srgbClr val="1A1440"/>
                          </a:solidFill>
                          <a:latin typeface="Calibri"/>
                        </a:rPr>
                        <a:t>kept</a:t>
                      </a:r>
                    </a:p>
                  </a:txBody>
                  <a:tcPr marL="101600" marR="101600" marT="38100" marB="38100" anchor="ctr">
                    <a:solidFill>
                      <a:srgbClr val="F4F2FA"/>
                    </a:solidFill>
                  </a:tcPr>
                </a:tc>
                <a:tc>
                  <a:txBody>
                    <a:bodyPr/>
                    <a:lstStyle/>
                    <a:p>
                      <a:r>
                        <a:rPr sz="1200" b="0" i="0">
                          <a:solidFill>
                            <a:srgbClr val="1A1440"/>
                          </a:solidFill>
                          <a:latin typeface="Calibri"/>
                        </a:rPr>
                        <a:t>kept</a:t>
                      </a:r>
                    </a:p>
                  </a:txBody>
                  <a:tcPr marL="101600" marR="101600" marT="38100" marB="38100" anchor="ctr">
                    <a:solidFill>
                      <a:srgbClr val="F4F2FA"/>
                    </a:solidFill>
                  </a:tcPr>
                </a:tc>
                <a:tc>
                  <a:txBody>
                    <a:bodyPr/>
                    <a:lstStyle/>
                    <a:p>
                      <a:r>
                        <a:rPr sz="1200" b="0" i="0">
                          <a:solidFill>
                            <a:srgbClr val="1A1440"/>
                          </a:solidFill>
                          <a:latin typeface="Calibri"/>
                        </a:rPr>
                        <a:t>8</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t>
            </a:r>
            <a:r>
              <a:rPr sz="1600" b="1" i="0">
                <a:solidFill>
                  <a:srgbClr val="1A1440"/>
                </a:solidFill>
                <a:latin typeface="Calibri"/>
              </a:rPr>
              <a:t>The check.</a:t>
            </a:r>
            <a:r>
              <a:rPr sz="1600" b="0" i="0">
                <a:solidFill>
                  <a:srgbClr val="1A1440"/>
                </a:solidFill>
                <a:latin typeface="Calibri"/>
              </a:rPr>
              <a:t> LEFT adds exactly one row to INNER, RIGHT exactly one, FULL both. Every join repeats T-2 and T-3, because the repeat comes from the key, whatever the join type.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90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if the statement starts at payments?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statement that starts from the payments table tell Anand?</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Collected money lives in payments, so a teammate starts the statement there: every payment, with its order attached.</a:t>
            </a:r>
          </a:p>
        </p:txBody>
      </p:sp>
      <p:sp>
        <p:nvSpPr>
          <p:cNvPr id="12" name="Rounded Rectangle 11"/>
          <p:cNvSpPr/>
          <p:nvPr/>
        </p:nvSpPr>
        <p:spPr>
          <a:xfrm>
            <a:off x="530352" y="2929128"/>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30571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30571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30571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258312"/>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p.payment_id, p.amount AS paid, o.order_id, o.amount AS booked</a:t>
            </a:r>
          </a:p>
          <a:p>
            <a:pPr>
              <a:spcAft>
                <a:spcPts val="200"/>
              </a:spcAft>
            </a:pPr>
            <a:r>
              <a:rPr sz="1400" b="0" i="0">
                <a:solidFill>
                  <a:srgbClr val="E4E1F1"/>
                </a:solidFill>
                <a:latin typeface="Consolas"/>
              </a:rPr>
              <a:t>FROM tiny_payments p</a:t>
            </a:r>
          </a:p>
          <a:p>
            <a:pPr>
              <a:spcAft>
                <a:spcPts val="200"/>
              </a:spcAft>
            </a:pPr>
            <a:r>
              <a:rPr sz="1400" b="0" i="0">
                <a:solidFill>
                  <a:srgbClr val="E4E1F1"/>
                </a:solidFill>
                <a:latin typeface="Consolas"/>
              </a:rPr>
              <a:t>LEFT JOIN tiny_orders o ON o.order_id = p.order_id;</a:t>
            </a:r>
          </a:p>
        </p:txBody>
      </p:sp>
      <p:sp>
        <p:nvSpPr>
          <p:cNvPr id="17" name="Rounded Rectangle 16"/>
          <p:cNvSpPr/>
          <p:nvPr/>
        </p:nvSpPr>
        <p:spPr>
          <a:xfrm>
            <a:off x="530352" y="43083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443636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4427220"/>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of the five booked orders are on it, and how much cash does it total? a) 5 orders, 5,800; b) 4 orders, 7,100; c) 5 orders, 6,500; d) 4 orders, 5,000.</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90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4 of 5 orders, and 122 percent collected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does the payments-first statement report?</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4 of 5</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BOOKED ORDERS ON IT</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T-4 is missing</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7,100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CASH ON THE STATEMENT</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payment row</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5,800</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BOOKED</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the five orders</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122%</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COLLECTED, AS IT READS</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more cash than was booked</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four of the five booked orders, and 7,100 of cash against 5,800 booked. A finance controller who reads "we collected more than we booked" stands his collections team down.</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0" name="Oval 2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4" name="Oval 3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90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it answers another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the payments-first statement wrong, and which check catches it without a rupee?</a:t>
            </a:r>
          </a:p>
        </p:txBody>
      </p:sp>
      <p:pic>
        <p:nvPicPr>
          <p:cNvPr id="9" name="mermaid diagram" descr="fc2ee1fbae8e05d7.png"/>
          <p:cNvPicPr>
            <a:picLocks noChangeAspect="1"/>
          </p:cNvPicPr>
          <p:nvPr/>
        </p:nvPicPr>
        <p:blipFill>
          <a:blip r:embed="rId5"/>
          <a:stretch>
            <a:fillRect/>
          </a:stretch>
        </p:blipFill>
        <p:spPr>
          <a:xfrm>
            <a:off x="3545528" y="1686972"/>
            <a:ext cx="5100637" cy="347186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that catches it. </a:t>
            </a:r>
            <a:r>
              <a:rPr sz="1500" b="0" i="0">
                <a:solidFill>
                  <a:srgbClr val="1A1440"/>
                </a:solidFill>
                <a:latin typeface="Calibri"/>
              </a:rPr>
              <a:t>Count the booked orders on the statement against the orders table, 4 against 5, and count the lines with no booked order behind them, 1. Neither check reads a rupee.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90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orders first, and T-4 appears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statement look like when the table whose every row must survive comes first?</a:t>
            </a:r>
          </a:p>
        </p:txBody>
      </p:sp>
      <p:graphicFrame>
        <p:nvGraphicFramePr>
          <p:cNvPr id="9" name="Table 8"/>
          <p:cNvGraphicFramePr>
            <a:graphicFrameLocks noGrp="1"/>
          </p:cNvGraphicFramePr>
          <p:nvPr/>
        </p:nvGraphicFramePr>
        <p:xfrm>
          <a:off x="530352" y="1934718"/>
          <a:ext cx="11130990" cy="2682240"/>
        </p:xfrm>
        <a:graphic>
          <a:graphicData uri="http://schemas.openxmlformats.org/drawingml/2006/table">
            <a:tbl>
              <a:tblPr firstRow="0" bandRow="0">
                <a:tableStyleId>{2D5ABB26-0587-4C30-8999-92F81FD0307C}</a:tableStyleId>
              </a:tblPr>
              <a:tblGrid>
                <a:gridCol w="4246105"/>
                <a:gridCol w="914400"/>
                <a:gridCol w="5056085"/>
                <a:gridCol w="914400"/>
              </a:tblGrid>
              <a:tr h="335280">
                <a:tc>
                  <a:txBody>
                    <a:bodyPr/>
                    <a:lstStyle/>
                    <a:p>
                      <a:r>
                        <a:rPr sz="1250" b="1" i="0">
                          <a:solidFill>
                            <a:srgbClr val="FFFFFF"/>
                          </a:solidFill>
                          <a:latin typeface="Calibri"/>
                        </a:rPr>
                        <a:t>order_id</a:t>
                      </a:r>
                    </a:p>
                  </a:txBody>
                  <a:tcPr marL="101600" marR="101600" marT="38100" marB="38100" anchor="ctr">
                    <a:solidFill>
                      <a:srgbClr val="1A0F5C"/>
                    </a:solidFill>
                  </a:tcPr>
                </a:tc>
                <a:tc>
                  <a:txBody>
                    <a:bodyPr/>
                    <a:lstStyle/>
                    <a:p>
                      <a:r>
                        <a:rPr sz="1250" b="1" i="0">
                          <a:solidFill>
                            <a:srgbClr val="FFFFFF"/>
                          </a:solidFill>
                          <a:latin typeface="Calibri"/>
                        </a:rPr>
                        <a:t>booked</a:t>
                      </a:r>
                    </a:p>
                  </a:txBody>
                  <a:tcPr marL="101600" marR="101600" marT="38100" marB="38100" anchor="ctr">
                    <a:solidFill>
                      <a:srgbClr val="1A0F5C"/>
                    </a:solidFill>
                  </a:tcPr>
                </a:tc>
                <a:tc>
                  <a:txBody>
                    <a:bodyPr/>
                    <a:lstStyle/>
                    <a:p>
                      <a:r>
                        <a:rPr sz="1250" b="1" i="0">
                          <a:solidFill>
                            <a:srgbClr val="FFFFFF"/>
                          </a:solidFill>
                          <a:latin typeface="Calibri"/>
                        </a:rPr>
                        <a:t>payment_id</a:t>
                      </a:r>
                    </a:p>
                  </a:txBody>
                  <a:tcPr marL="101600" marR="101600" marT="38100" marB="38100" anchor="ctr">
                    <a:solidFill>
                      <a:srgbClr val="1A0F5C"/>
                    </a:solidFill>
                  </a:tcPr>
                </a:tc>
                <a:tc>
                  <a:txBody>
                    <a:bodyPr/>
                    <a:lstStyle/>
                    <a:p>
                      <a:r>
                        <a:rPr sz="1250" b="1" i="0">
                          <a:solidFill>
                            <a:srgbClr val="FFFFFF"/>
                          </a:solidFill>
                          <a:latin typeface="Calibri"/>
                        </a:rPr>
                        <a:t>paid</a:t>
                      </a:r>
                    </a:p>
                  </a:txBody>
                  <a:tcPr marL="101600" marR="101600" marT="38100" marB="38100" anchor="ctr">
                    <a:solidFill>
                      <a:srgbClr val="1A0F5C"/>
                    </a:solidFill>
                  </a:tcPr>
                </a:tc>
              </a:tr>
              <a:tr h="335280">
                <a:tc>
                  <a:txBody>
                    <a:bodyPr/>
                    <a:lstStyle/>
                    <a:p>
                      <a:r>
                        <a:rPr sz="1200" b="0" i="0">
                          <a:solidFill>
                            <a:srgbClr val="1A1440"/>
                          </a:solidFill>
                          <a:latin typeface="Calibri"/>
                        </a:rPr>
                        <a:t>T-1</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P-1</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T-2</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c>
                  <a:txBody>
                    <a:bodyPr/>
                    <a:lstStyle/>
                    <a:p>
                      <a:r>
                        <a:rPr sz="1200" b="0" i="0">
                          <a:solidFill>
                            <a:srgbClr val="1A1440"/>
                          </a:solidFill>
                          <a:latin typeface="Calibri"/>
                        </a:rPr>
                        <a:t>P-2</a:t>
                      </a:r>
                    </a:p>
                  </a:txBody>
                  <a:tcPr marL="101600" marR="101600" marT="38100" marB="38100" anchor="ctr">
                    <a:solidFill>
                      <a:srgbClr val="F4F2FA"/>
                    </a:solidFill>
                  </a:tcPr>
                </a:tc>
                <a:tc>
                  <a:txBody>
                    <a:bodyPr/>
                    <a:lstStyle/>
                    <a:p>
                      <a:r>
                        <a:rPr sz="1200" b="0" i="0">
                          <a:solidFill>
                            <a:srgbClr val="1A1440"/>
                          </a:solidFill>
                          <a:latin typeface="Calibri"/>
                        </a:rPr>
                        <a:t>1,200</a:t>
                      </a:r>
                    </a:p>
                  </a:txBody>
                  <a:tcPr marL="101600" marR="101600" marT="38100" marB="38100" anchor="ctr">
                    <a:solidFill>
                      <a:srgbClr val="F4F2FA"/>
                    </a:solidFill>
                  </a:tcPr>
                </a:tc>
              </a:tr>
              <a:tr h="335280">
                <a:tc>
                  <a:txBody>
                    <a:bodyPr/>
                    <a:lstStyle/>
                    <a:p>
                      <a:r>
                        <a:rPr sz="1200" b="0" i="0">
                          <a:solidFill>
                            <a:srgbClr val="1A1440"/>
                          </a:solidFill>
                          <a:latin typeface="Calibri"/>
                        </a:rPr>
                        <a:t>T-2</a:t>
                      </a:r>
                    </a:p>
                  </a:txBody>
                  <a:tcPr marL="101600" marR="101600" marT="38100" marB="38100" anchor="ctr">
                    <a:solidFill>
                      <a:srgbClr val="FFFFFF"/>
                    </a:solidFill>
                  </a:tcPr>
                </a:tc>
                <a:tc>
                  <a:txBody>
                    <a:bodyPr/>
                    <a:lstStyle/>
                    <a:p>
                      <a:r>
                        <a:rPr sz="1200" b="0" i="0">
                          <a:solidFill>
                            <a:srgbClr val="1A1440"/>
                          </a:solidFill>
                          <a:latin typeface="Calibri"/>
                        </a:rPr>
                        <a:t>2,000</a:t>
                      </a:r>
                    </a:p>
                  </a:txBody>
                  <a:tcPr marL="101600" marR="101600" marT="38100" marB="38100" anchor="ctr">
                    <a:solidFill>
                      <a:srgbClr val="FFFFFF"/>
                    </a:solidFill>
                  </a:tcPr>
                </a:tc>
                <a:tc>
                  <a:txBody>
                    <a:bodyPr/>
                    <a:lstStyle/>
                    <a:p>
                      <a:r>
                        <a:rPr sz="1200" b="0" i="0">
                          <a:solidFill>
                            <a:srgbClr val="1A1440"/>
                          </a:solidFill>
                          <a:latin typeface="Calibri"/>
                        </a:rPr>
                        <a:t>P-3</a:t>
                      </a:r>
                    </a:p>
                  </a:txBody>
                  <a:tcPr marL="101600" marR="101600" marT="38100" marB="38100" anchor="ctr">
                    <a:solidFill>
                      <a:srgbClr val="FFFFFF"/>
                    </a:solidFill>
                  </a:tcPr>
                </a:tc>
                <a:tc>
                  <a:txBody>
                    <a:bodyPr/>
                    <a:lstStyle/>
                    <a:p>
                      <a:r>
                        <a:rPr sz="1200" b="0" i="0">
                          <a:solidFill>
                            <a:srgbClr val="1A1440"/>
                          </a:solidFill>
                          <a:latin typeface="Calibri"/>
                        </a:rPr>
                        <a:t>800</a:t>
                      </a:r>
                    </a:p>
                  </a:txBody>
                  <a:tcPr marL="101600" marR="101600" marT="38100" marB="38100" anchor="ctr">
                    <a:solidFill>
                      <a:srgbClr val="FFFFFF"/>
                    </a:solidFill>
                  </a:tcPr>
                </a:tc>
              </a:tr>
              <a:tr h="335280">
                <a:tc>
                  <a:txBody>
                    <a:bodyPr/>
                    <a:lstStyle/>
                    <a:p>
                      <a:r>
                        <a:rPr sz="1200" b="0" i="0">
                          <a:solidFill>
                            <a:srgbClr val="1A1440"/>
                          </a:solidFill>
                          <a:latin typeface="Calibri"/>
                        </a:rPr>
                        <a:t>T-3</a:t>
                      </a:r>
                    </a:p>
                  </a:txBody>
                  <a:tcPr marL="101600" marR="101600" marT="38100" marB="38100" anchor="ctr">
                    <a:solidFill>
                      <a:srgbClr val="F4F2FA"/>
                    </a:solidFill>
                  </a:tcPr>
                </a:tc>
                <a:tc>
                  <a:txBody>
                    <a:bodyPr/>
                    <a:lstStyle/>
                    <a:p>
                      <a:r>
                        <a:rPr sz="1200" b="0" i="0">
                          <a:solidFill>
                            <a:srgbClr val="1A1440"/>
                          </a:solidFill>
                          <a:latin typeface="Calibri"/>
                        </a:rPr>
                        <a:t>1,500</a:t>
                      </a:r>
                    </a:p>
                  </a:txBody>
                  <a:tcPr marL="101600" marR="101600" marT="38100" marB="38100" anchor="ctr">
                    <a:solidFill>
                      <a:srgbClr val="F4F2FA"/>
                    </a:solidFill>
                  </a:tcPr>
                </a:tc>
                <a:tc>
                  <a:txBody>
                    <a:bodyPr/>
                    <a:lstStyle/>
                    <a:p>
                      <a:r>
                        <a:rPr sz="1200" b="0" i="0">
                          <a:solidFill>
                            <a:srgbClr val="1A1440"/>
                          </a:solidFill>
                          <a:latin typeface="Calibri"/>
                        </a:rPr>
                        <a:t>P-4</a:t>
                      </a:r>
                    </a:p>
                  </a:txBody>
                  <a:tcPr marL="101600" marR="101600" marT="38100" marB="38100" anchor="ctr">
                    <a:solidFill>
                      <a:srgbClr val="F4F2FA"/>
                    </a:solidFill>
                  </a:tcPr>
                </a:tc>
                <a:tc>
                  <a:txBody>
                    <a:bodyPr/>
                    <a:lstStyle/>
                    <a:p>
                      <a:r>
                        <a:rPr sz="1200" b="0" i="0">
                          <a:solidFill>
                            <a:srgbClr val="1A1440"/>
                          </a:solidFill>
                          <a:latin typeface="Calibri"/>
                        </a:rPr>
                        <a:t>1,500</a:t>
                      </a:r>
                    </a:p>
                  </a:txBody>
                  <a:tcPr marL="101600" marR="101600" marT="38100" marB="38100" anchor="ctr">
                    <a:solidFill>
                      <a:srgbClr val="F4F2FA"/>
                    </a:solidFill>
                  </a:tcPr>
                </a:tc>
              </a:tr>
              <a:tr h="335280">
                <a:tc>
                  <a:txBody>
                    <a:bodyPr/>
                    <a:lstStyle/>
                    <a:p>
                      <a:r>
                        <a:rPr sz="1200" b="0" i="0">
                          <a:solidFill>
                            <a:srgbClr val="1A1440"/>
                          </a:solidFill>
                          <a:latin typeface="Calibri"/>
                        </a:rPr>
                        <a:t>T-3</a:t>
                      </a:r>
                    </a:p>
                  </a:txBody>
                  <a:tcPr marL="101600" marR="101600" marT="38100" marB="38100" anchor="ctr">
                    <a:solidFill>
                      <a:srgbClr val="FFFFFF"/>
                    </a:solidFill>
                  </a:tcPr>
                </a:tc>
                <a:tc>
                  <a:txBody>
                    <a:bodyPr/>
                    <a:lstStyle/>
                    <a:p>
                      <a:r>
                        <a:rPr sz="1200" b="0" i="0">
                          <a:solidFill>
                            <a:srgbClr val="1A1440"/>
                          </a:solidFill>
                          <a:latin typeface="Calibri"/>
                        </a:rPr>
                        <a:t>1,500</a:t>
                      </a:r>
                    </a:p>
                  </a:txBody>
                  <a:tcPr marL="101600" marR="101600" marT="38100" marB="38100" anchor="ctr">
                    <a:solidFill>
                      <a:srgbClr val="FFFFFF"/>
                    </a:solidFill>
                  </a:tcPr>
                </a:tc>
                <a:tc>
                  <a:txBody>
                    <a:bodyPr/>
                    <a:lstStyle/>
                    <a:p>
                      <a:r>
                        <a:rPr sz="1200" b="0" i="0">
                          <a:solidFill>
                            <a:srgbClr val="1A1440"/>
                          </a:solidFill>
                          <a:latin typeface="Calibri"/>
                        </a:rPr>
                        <a:t>P-5</a:t>
                      </a:r>
                    </a:p>
                  </a:txBody>
                  <a:tcPr marL="101600" marR="101600" marT="38100" marB="38100" anchor="ctr">
                    <a:solidFill>
                      <a:srgbClr val="FFFFFF"/>
                    </a:solidFill>
                  </a:tcPr>
                </a:tc>
                <a:tc>
                  <a:txBody>
                    <a:bodyPr/>
                    <a:lstStyle/>
                    <a:p>
                      <a:r>
                        <a:rPr sz="1200" b="0" i="0">
                          <a:solidFill>
                            <a:srgbClr val="1A1440"/>
                          </a:solidFill>
                          <a:latin typeface="Calibri"/>
                        </a:rPr>
                        <a:t>1,500</a:t>
                      </a:r>
                    </a:p>
                  </a:txBody>
                  <a:tcPr marL="101600" marR="101600" marT="38100" marB="38100" anchor="ctr">
                    <a:solidFill>
                      <a:srgbClr val="FFFFFF"/>
                    </a:solidFill>
                  </a:tcPr>
                </a:tc>
              </a:tr>
              <a:tr h="335280">
                <a:tc>
                  <a:txBody>
                    <a:bodyPr/>
                    <a:lstStyle/>
                    <a:p>
                      <a:r>
                        <a:rPr sz="1200" b="0" i="0">
                          <a:solidFill>
                            <a:srgbClr val="1A1440"/>
                          </a:solidFill>
                          <a:latin typeface="Calibri"/>
                        </a:rPr>
                        <a:t>T-4</a:t>
                      </a:r>
                    </a:p>
                  </a:txBody>
                  <a:tcPr marL="101600" marR="101600" marT="38100" marB="38100" anchor="ctr">
                    <a:solidFill>
                      <a:srgbClr val="F4F2FA"/>
                    </a:solidFill>
                  </a:tcPr>
                </a:tc>
                <a:tc>
                  <a:txBody>
                    <a:bodyPr/>
                    <a:lstStyle/>
                    <a:p>
                      <a:r>
                        <a:rPr sz="1200" b="0" i="0">
                          <a:solidFill>
                            <a:srgbClr val="1A1440"/>
                          </a:solidFill>
                          <a:latin typeface="Calibri"/>
                        </a:rPr>
                        <a:t>800</a:t>
                      </a:r>
                    </a:p>
                  </a:txBody>
                  <a:tcPr marL="101600" marR="101600" marT="38100" marB="38100" anchor="ctr">
                    <a:solidFill>
                      <a:srgbClr val="F4F2FA"/>
                    </a:solidFill>
                  </a:tcPr>
                </a:tc>
                <a:tc>
                  <a:txBody>
                    <a:bodyPr/>
                    <a:lstStyle/>
                    <a:p>
                      <a:r>
                        <a:rPr sz="1200" b="0" i="0">
                          <a:solidFill>
                            <a:srgbClr val="1A1440"/>
                          </a:solidFill>
                          <a:latin typeface="Calibri"/>
                        </a:rPr>
                        <a:t>NULL</a:t>
                      </a:r>
                    </a:p>
                  </a:txBody>
                  <a:tcPr marL="101600" marR="101600" marT="38100" marB="38100" anchor="ctr">
                    <a:solidFill>
                      <a:srgbClr val="F4F2FA"/>
                    </a:solidFill>
                  </a:tcPr>
                </a:tc>
                <a:tc>
                  <a:txBody>
                    <a:bodyPr/>
                    <a:lstStyle/>
                    <a:p>
                      <a:r>
                        <a:rPr sz="1200" b="0" i="0">
                          <a:solidFill>
                            <a:srgbClr val="1A1440"/>
                          </a:solidFill>
                          <a:latin typeface="Calibri"/>
                        </a:rPr>
                        <a:t>NULL</a:t>
                      </a:r>
                    </a:p>
                  </a:txBody>
                  <a:tcPr marL="101600" marR="101600" marT="38100" marB="38100" anchor="ctr">
                    <a:solidFill>
                      <a:srgbClr val="F4F2FA"/>
                    </a:solidFill>
                  </a:tcPr>
                </a:tc>
              </a:tr>
              <a:tr h="335280">
                <a:tc>
                  <a:txBody>
                    <a:bodyPr/>
                    <a:lstStyle/>
                    <a:p>
                      <a:r>
                        <a:rPr sz="1200" b="0" i="0">
                          <a:solidFill>
                            <a:srgbClr val="1A1440"/>
                          </a:solidFill>
                          <a:latin typeface="Calibri"/>
                        </a:rPr>
                        <a:t>T-5</a:t>
                      </a:r>
                    </a:p>
                  </a:txBody>
                  <a:tcPr marL="101600" marR="101600" marT="38100" marB="38100" anchor="ctr">
                    <a:solidFill>
                      <a:srgbClr val="FFFFFF"/>
                    </a:solidFill>
                  </a:tcPr>
                </a:tc>
                <a:tc>
                  <a:txBody>
                    <a:bodyPr/>
                    <a:lstStyle/>
                    <a:p>
                      <a:r>
                        <a:rPr sz="1200" b="0" i="0">
                          <a:solidFill>
                            <a:srgbClr val="1A1440"/>
                          </a:solidFill>
                          <a:latin typeface="Calibri"/>
                        </a:rPr>
                        <a:t>500</a:t>
                      </a:r>
                    </a:p>
                  </a:txBody>
                  <a:tcPr marL="101600" marR="101600" marT="38100" marB="38100" anchor="ctr">
                    <a:solidFill>
                      <a:srgbClr val="FFFFFF"/>
                    </a:solidFill>
                  </a:tcPr>
                </a:tc>
                <a:tc>
                  <a:txBody>
                    <a:bodyPr/>
                    <a:lstStyle/>
                    <a:p>
                      <a:r>
                        <a:rPr sz="1200" b="0" i="0">
                          <a:solidFill>
                            <a:srgbClr val="1A1440"/>
                          </a:solidFill>
                          <a:latin typeface="Calibri"/>
                        </a:rPr>
                        <a:t>P-6</a:t>
                      </a:r>
                    </a:p>
                  </a:txBody>
                  <a:tcPr marL="101600" marR="101600" marT="38100" marB="38100" anchor="ctr">
                    <a:solidFill>
                      <a:srgbClr val="FFFFFF"/>
                    </a:solidFill>
                  </a:tcPr>
                </a:tc>
                <a:tc>
                  <a:txBody>
                    <a:bodyPr/>
                    <a:lstStyle/>
                    <a:p>
                      <a:r>
                        <a:rPr sz="1200" b="0" i="0">
                          <a:solidFill>
                            <a:srgbClr val="1A1440"/>
                          </a:solidFill>
                          <a:latin typeface="Calibri"/>
                        </a:rPr>
                        <a:t>500</a:t>
                      </a:r>
                    </a:p>
                  </a:txBody>
                  <a:tcPr marL="101600" marR="101600" marT="38100" marB="38100" anchor="ctr">
                    <a:solidFill>
                      <a:srgbClr val="FFFFFF"/>
                    </a:solidFill>
                  </a:tcPr>
                </a:tc>
              </a:tr>
            </a:tbl>
          </a:graphicData>
        </a:graphic>
      </p:graphicFrame>
      <p:sp>
        <p:nvSpPr>
          <p:cNvPr id="10" name="Rounded Rectangle 9"/>
          <p:cNvSpPr/>
          <p:nvPr/>
        </p:nvSpPr>
        <p:spPr>
          <a:xfrm>
            <a:off x="530352" y="487299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0100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91862"/>
            <a:ext cx="10564063" cy="8915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All five booked orders are on it and T-4 shows NULL where its payment would be. What did not change: seven lines for five orders, so T-2 reads as short-paid on both its lines, 1,200 of 2,000 and 800 of 2,000, when it was paid in full.</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90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keys predict every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row counts be predicted from the keys alone, before any join runs?</a:t>
            </a:r>
          </a:p>
        </p:txBody>
      </p:sp>
      <p:graphicFrame>
        <p:nvGraphicFramePr>
          <p:cNvPr id="9" name="Table 8"/>
          <p:cNvGraphicFramePr>
            <a:graphicFrameLocks noGrp="1"/>
          </p:cNvGraphicFramePr>
          <p:nvPr/>
        </p:nvGraphicFramePr>
        <p:xfrm>
          <a:off x="530352" y="1956816"/>
          <a:ext cx="11130990" cy="2346960"/>
        </p:xfrm>
        <a:graphic>
          <a:graphicData uri="http://schemas.openxmlformats.org/drawingml/2006/table">
            <a:tbl>
              <a:tblPr firstRow="0" bandRow="0">
                <a:tableStyleId>{2D5ABB26-0587-4C30-8999-92F81FD0307C}</a:tableStyleId>
              </a:tblPr>
              <a:tblGrid>
                <a:gridCol w="1578386"/>
                <a:gridCol w="3083838"/>
                <a:gridCol w="3384928"/>
                <a:gridCol w="3083838"/>
              </a:tblGrid>
              <a:tr h="335280">
                <a:tc>
                  <a:txBody>
                    <a:bodyPr/>
                    <a:lstStyle/>
                    <a:p>
                      <a:r>
                        <a:rPr sz="1250" b="1" i="0">
                          <a:solidFill>
                            <a:srgbClr val="FFFFFF"/>
                          </a:solidFill>
                          <a:latin typeface="Calibri"/>
                        </a:rPr>
                        <a:t>order_id</a:t>
                      </a:r>
                    </a:p>
                  </a:txBody>
                  <a:tcPr marL="101600" marR="101600" marT="38100" marB="38100" anchor="ctr">
                    <a:solidFill>
                      <a:srgbClr val="1A0F5C"/>
                    </a:solidFill>
                  </a:tcPr>
                </a:tc>
                <a:tc>
                  <a:txBody>
                    <a:bodyPr/>
                    <a:lstStyle/>
                    <a:p>
                      <a:r>
                        <a:rPr sz="1250" b="1" i="0">
                          <a:solidFill>
                            <a:srgbClr val="FFFFFF"/>
                          </a:solidFill>
                          <a:latin typeface="Calibri"/>
                        </a:rPr>
                        <a:t>rows in orders (a)</a:t>
                      </a:r>
                    </a:p>
                  </a:txBody>
                  <a:tcPr marL="101600" marR="101600" marT="38100" marB="38100" anchor="ctr">
                    <a:solidFill>
                      <a:srgbClr val="1A0F5C"/>
                    </a:solidFill>
                  </a:tcPr>
                </a:tc>
                <a:tc>
                  <a:txBody>
                    <a:bodyPr/>
                    <a:lstStyle/>
                    <a:p>
                      <a:r>
                        <a:rPr sz="1250" b="1" i="0">
                          <a:solidFill>
                            <a:srgbClr val="FFFFFF"/>
                          </a:solidFill>
                          <a:latin typeface="Calibri"/>
                        </a:rPr>
                        <a:t>rows in payments (b)</a:t>
                      </a:r>
                    </a:p>
                  </a:txBody>
                  <a:tcPr marL="101600" marR="101600" marT="38100" marB="38100" anchor="ctr">
                    <a:solidFill>
                      <a:srgbClr val="1A0F5C"/>
                    </a:solidFill>
                  </a:tcPr>
                </a:tc>
                <a:tc>
                  <a:txBody>
                    <a:bodyPr/>
                    <a:lstStyle/>
                    <a:p>
                      <a:r>
                        <a:rPr sz="1250" b="1" i="0">
                          <a:solidFill>
                            <a:srgbClr val="FFFFFF"/>
                          </a:solidFill>
                          <a:latin typeface="Calibri"/>
                        </a:rPr>
                        <a:t>INNER writes a x b</a:t>
                      </a:r>
                    </a:p>
                  </a:txBody>
                  <a:tcPr marL="101600" marR="101600" marT="38100" marB="38100" anchor="ctr">
                    <a:solidFill>
                      <a:srgbClr val="1A0F5C"/>
                    </a:solidFill>
                  </a:tcPr>
                </a:tc>
              </a:tr>
              <a:tr h="335280">
                <a:tc>
                  <a:txBody>
                    <a:bodyPr/>
                    <a:lstStyle/>
                    <a:p>
                      <a:r>
                        <a:rPr sz="1200" b="0" i="0">
                          <a:solidFill>
                            <a:srgbClr val="1A1440"/>
                          </a:solidFill>
                          <a:latin typeface="Calibri"/>
                        </a:rPr>
                        <a:t>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T-2</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r>
              <a:tr h="335280">
                <a:tc>
                  <a:txBody>
                    <a:bodyPr/>
                    <a:lstStyle/>
                    <a:p>
                      <a:r>
                        <a:rPr sz="1200" b="0" i="0">
                          <a:solidFill>
                            <a:srgbClr val="1A1440"/>
                          </a:solidFill>
                          <a:latin typeface="Calibri"/>
                        </a:rPr>
                        <a:t>T-3</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r>
              <a:tr h="335280">
                <a:tc>
                  <a:txBody>
                    <a:bodyPr/>
                    <a:lstStyle/>
                    <a:p>
                      <a:r>
                        <a:rPr sz="1200" b="0" i="0">
                          <a:solidFill>
                            <a:srgbClr val="1A1440"/>
                          </a:solidFill>
                          <a:latin typeface="Calibri"/>
                        </a:rPr>
                        <a:t>T-4</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 and LEFT adds 1</a:t>
                      </a:r>
                    </a:p>
                  </a:txBody>
                  <a:tcPr marL="101600" marR="101600" marT="38100" marB="38100" anchor="ctr">
                    <a:solidFill>
                      <a:srgbClr val="F4F2FA"/>
                    </a:solidFill>
                  </a:tcPr>
                </a:tc>
              </a:tr>
              <a:tr h="335280">
                <a:tc>
                  <a:txBody>
                    <a:bodyPr/>
                    <a:lstStyle/>
                    <a:p>
                      <a:r>
                        <a:rPr sz="1200" b="0" i="0">
                          <a:solidFill>
                            <a:srgbClr val="1A1440"/>
                          </a:solidFill>
                          <a:latin typeface="Calibri"/>
                        </a:rPr>
                        <a:t>T-5</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T-9</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 and RIGHT adds 1</a:t>
                      </a:r>
                    </a:p>
                  </a:txBody>
                  <a:tcPr marL="101600" marR="101600" marT="38100" marB="38100" anchor="ctr">
                    <a:solidFill>
                      <a:srgbClr val="F4F2FA"/>
                    </a:solidFill>
                  </a:tcPr>
                </a:tc>
              </a:tr>
            </a:tbl>
          </a:graphicData>
        </a:graphic>
      </p:graphicFrame>
      <p:sp>
        <p:nvSpPr>
          <p:cNvPr id="10" name="Rounded Rectangle 9"/>
          <p:cNvSpPr/>
          <p:nvPr/>
        </p:nvSpPr>
        <p:spPr>
          <a:xfrm>
            <a:off x="530352" y="455980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8782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78680"/>
            <a:ext cx="10564063" cy="3581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keys predict 6, 7, 7 and 8, the four counts the joins returned, without running a join.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90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answered in five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1 answer, and what question does it leave?</a:t>
            </a:r>
          </a:p>
        </p:txBody>
      </p:sp>
      <p:graphicFrame>
        <p:nvGraphicFramePr>
          <p:cNvPr id="9" name="Table 8"/>
          <p:cNvGraphicFramePr>
            <a:graphicFrameLocks noGrp="1"/>
          </p:cNvGraphicFramePr>
          <p:nvPr/>
        </p:nvGraphicFramePr>
        <p:xfrm>
          <a:off x="530352" y="1682496"/>
          <a:ext cx="11130990" cy="2011680"/>
        </p:xfrm>
        <a:graphic>
          <a:graphicData uri="http://schemas.openxmlformats.org/drawingml/2006/table">
            <a:tbl>
              <a:tblPr firstRow="0" bandRow="0">
                <a:tableStyleId>{2D5ABB26-0587-4C30-8999-92F81FD0307C}</a:tableStyleId>
              </a:tblPr>
              <a:tblGrid>
                <a:gridCol w="3675009"/>
                <a:gridCol w="7455981"/>
              </a:tblGrid>
              <a:tr h="335280">
                <a:tc>
                  <a:txBody>
                    <a:bodyPr/>
                    <a:lstStyle/>
                    <a:p>
                      <a:r>
                        <a:rPr sz="1250" b="1" i="0">
                          <a:solidFill>
                            <a:srgbClr val="FFFFFF"/>
                          </a:solidFill>
                          <a:latin typeface="Calibri"/>
                        </a:rPr>
                        <a:t>Question</a:t>
                      </a:r>
                    </a:p>
                  </a:txBody>
                  <a:tcPr marL="101600" marR="101600" marT="38100" marB="38100" anchor="ctr">
                    <a:solidFill>
                      <a:srgbClr val="1A0F5C"/>
                    </a:solidFill>
                  </a:tcPr>
                </a:tc>
                <a:tc>
                  <a:txBody>
                    <a:bodyPr/>
                    <a:lstStyle/>
                    <a:p>
                      <a:r>
                        <a:rPr sz="1250" b="1" i="0">
                          <a:solidFill>
                            <a:srgbClr val="FFFFFF"/>
                          </a:solidFill>
                          <a:latin typeface="Calibri"/>
                        </a:rPr>
                        <a:t>The answer, with its number</a:t>
                      </a:r>
                    </a:p>
                  </a:txBody>
                  <a:tcPr marL="101600" marR="101600" marT="38100" marB="38100" anchor="ctr">
                    <a:solidFill>
                      <a:srgbClr val="1A0F5C"/>
                    </a:solidFill>
                  </a:tcPr>
                </a:tc>
              </a:tr>
              <a:tr h="335280">
                <a:tc>
                  <a:txBody>
                    <a:bodyPr/>
                    <a:lstStyle/>
                    <a:p>
                      <a:r>
                        <a:rPr sz="1200" b="0" i="0">
                          <a:solidFill>
                            <a:srgbClr val="1A1440"/>
                          </a:solidFill>
                          <a:latin typeface="Calibri"/>
                        </a:rPr>
                        <a:t>Which join keeps every order?</a:t>
                      </a:r>
                    </a:p>
                  </a:txBody>
                  <a:tcPr marL="101600" marR="101600" marT="38100" marB="38100" anchor="ctr">
                    <a:solidFill>
                      <a:srgbClr val="FFFFFF"/>
                    </a:solidFill>
                  </a:tcPr>
                </a:tc>
                <a:tc>
                  <a:txBody>
                    <a:bodyPr/>
                    <a:lstStyle/>
                    <a:p>
                      <a:r>
                        <a:rPr sz="1200" b="0" i="0">
                          <a:solidFill>
                            <a:srgbClr val="1A1440"/>
                          </a:solidFill>
                          <a:latin typeface="Calibri"/>
                        </a:rPr>
                        <a:t>LEFT JOIN with orders first: all five orders, nothing that is not an order</a:t>
                      </a:r>
                    </a:p>
                  </a:txBody>
                  <a:tcPr marL="101600" marR="101600" marT="38100" marB="38100" anchor="ctr">
                    <a:solidFill>
                      <a:srgbClr val="FFFFFF"/>
                    </a:solidFill>
                  </a:tcPr>
                </a:tc>
              </a:tr>
              <a:tr h="335280">
                <a:tc>
                  <a:txBody>
                    <a:bodyPr/>
                    <a:lstStyle/>
                    <a:p>
                      <a:r>
                        <a:rPr sz="1200" b="0" i="0">
                          <a:solidFill>
                            <a:srgbClr val="1A1440"/>
                          </a:solidFill>
                          <a:latin typeface="Calibri"/>
                        </a:rPr>
                        <a:t>What is one row of each table?</a:t>
                      </a:r>
                    </a:p>
                  </a:txBody>
                  <a:tcPr marL="101600" marR="101600" marT="38100" marB="38100" anchor="ctr">
                    <a:solidFill>
                      <a:srgbClr val="F4F2FA"/>
                    </a:solidFill>
                  </a:tcPr>
                </a:tc>
                <a:tc>
                  <a:txBody>
                    <a:bodyPr/>
                    <a:lstStyle/>
                    <a:p>
                      <a:r>
                        <a:rPr sz="1200" b="0" i="0">
                          <a:solidFill>
                            <a:srgbClr val="1A1440"/>
                          </a:solidFill>
                          <a:latin typeface="Calibri"/>
                        </a:rPr>
                        <a:t>One order in orders, 1,000 of them; one payment event in payments, up to two per order id</a:t>
                      </a:r>
                    </a:p>
                  </a:txBody>
                  <a:tcPr marL="101600" marR="101600" marT="38100" marB="38100" anchor="ctr">
                    <a:solidFill>
                      <a:srgbClr val="F4F2FA"/>
                    </a:solidFill>
                  </a:tcPr>
                </a:tc>
              </a:tr>
              <a:tr h="335280">
                <a:tc>
                  <a:txBody>
                    <a:bodyPr/>
                    <a:lstStyle/>
                    <a:p>
                      <a:r>
                        <a:rPr sz="1200" b="0" i="0">
                          <a:solidFill>
                            <a:srgbClr val="1A1440"/>
                          </a:solidFill>
                          <a:latin typeface="Calibri"/>
                        </a:rPr>
                        <a:t>How many rows does each return?</a:t>
                      </a:r>
                    </a:p>
                  </a:txBody>
                  <a:tcPr marL="101600" marR="101600" marT="38100" marB="38100" anchor="ctr">
                    <a:solidFill>
                      <a:srgbClr val="FFFFFF"/>
                    </a:solidFill>
                  </a:tcPr>
                </a:tc>
                <a:tc>
                  <a:txBody>
                    <a:bodyPr/>
                    <a:lstStyle/>
                    <a:p>
                      <a:r>
                        <a:rPr sz="1200" b="0" i="0">
                          <a:solidFill>
                            <a:srgbClr val="1A1440"/>
                          </a:solidFill>
                          <a:latin typeface="Calibri"/>
                        </a:rPr>
                        <a:t>INNER 6, LEFT 7, RIGHT 7, FULL 8 on five orders and seven payments</a:t>
                      </a:r>
                    </a:p>
                  </a:txBody>
                  <a:tcPr marL="101600" marR="101600" marT="38100" marB="38100" anchor="ctr">
                    <a:solidFill>
                      <a:srgbClr val="FFFFFF"/>
                    </a:solidFill>
                  </a:tcPr>
                </a:tc>
              </a:tr>
              <a:tr h="335280">
                <a:tc>
                  <a:txBody>
                    <a:bodyPr/>
                    <a:lstStyle/>
                    <a:p>
                      <a:r>
                        <a:rPr sz="1200" b="0" i="0">
                          <a:solidFill>
                            <a:srgbClr val="1A1440"/>
                          </a:solidFill>
                          <a:latin typeface="Calibri"/>
                        </a:rPr>
                        <a:t>What does payments-first show?</a:t>
                      </a:r>
                    </a:p>
                  </a:txBody>
                  <a:tcPr marL="101600" marR="101600" marT="38100" marB="38100" anchor="ctr">
                    <a:solidFill>
                      <a:srgbClr val="F4F2FA"/>
                    </a:solidFill>
                  </a:tcPr>
                </a:tc>
                <a:tc>
                  <a:txBody>
                    <a:bodyPr/>
                    <a:lstStyle/>
                    <a:p>
                      <a:r>
                        <a:rPr sz="1200" b="0" i="0">
                          <a:solidFill>
                            <a:srgbClr val="1A1440"/>
                          </a:solidFill>
                          <a:latin typeface="Calibri"/>
                        </a:rPr>
                        <a:t>4 of 5 orders and 7,100 against 5,800: the unpaid order vanishes</a:t>
                      </a:r>
                    </a:p>
                  </a:txBody>
                  <a:tcPr marL="101600" marR="101600" marT="38100" marB="38100" anchor="ctr">
                    <a:solidFill>
                      <a:srgbClr val="F4F2FA"/>
                    </a:solidFill>
                  </a:tcPr>
                </a:tc>
              </a:tr>
              <a:tr h="335280">
                <a:tc>
                  <a:txBody>
                    <a:bodyPr/>
                    <a:lstStyle/>
                    <a:p>
                      <a:r>
                        <a:rPr sz="1200" b="0" i="0">
                          <a:solidFill>
                            <a:srgbClr val="1A1440"/>
                          </a:solidFill>
                          <a:latin typeface="Calibri"/>
                        </a:rPr>
                        <a:t>Can the keys predict the counts?</a:t>
                      </a:r>
                    </a:p>
                  </a:txBody>
                  <a:tcPr marL="101600" marR="101600" marT="38100" marB="38100" anchor="ctr">
                    <a:solidFill>
                      <a:srgbClr val="FFFFFF"/>
                    </a:solidFill>
                  </a:tcPr>
                </a:tc>
                <a:tc>
                  <a:txBody>
                    <a:bodyPr/>
                    <a:lstStyle/>
                    <a:p>
                      <a:r>
                        <a:rPr sz="1200" b="0" i="0">
                          <a:solidFill>
                            <a:srgbClr val="1A1440"/>
                          </a:solidFill>
                          <a:latin typeface="Calibri"/>
                        </a:rPr>
                        <a:t>Yes: a x b per key, plus the orphans, predicts 6, 7, 7 and 8</a:t>
                      </a:r>
                    </a:p>
                  </a:txBody>
                  <a:tcPr marL="101600" marR="101600" marT="38100" marB="38100" anchor="ctr">
                    <a:solidFill>
                      <a:srgbClr val="FFFFFF"/>
                    </a:solidFill>
                  </a:tcPr>
                </a:tc>
              </a:tr>
            </a:tbl>
          </a:graphicData>
        </a:graphic>
      </p:graphicFrame>
      <p:sp>
        <p:nvSpPr>
          <p:cNvPr id="10" name="Rounded Rectangle 9"/>
          <p:cNvSpPr/>
          <p:nvPr/>
        </p:nvSpPr>
        <p:spPr>
          <a:xfrm>
            <a:off x="530352" y="3950208"/>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478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357624"/>
            <a:ext cx="237744" cy="237744"/>
          </a:xfrm>
          <a:prstGeom prst="rect">
            <a:avLst/>
          </a:prstGeom>
        </p:spPr>
      </p:pic>
      <p:sp>
        <p:nvSpPr>
          <p:cNvPr id="13" name="TextBox 12"/>
          <p:cNvSpPr txBox="1"/>
          <p:nvPr/>
        </p:nvSpPr>
        <p:spPr>
          <a:xfrm>
            <a:off x="1399031" y="40965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315968"/>
            <a:ext cx="9987991" cy="613664"/>
          </a:xfrm>
          <a:prstGeom prst="rect">
            <a:avLst/>
          </a:prstGeom>
          <a:noFill/>
        </p:spPr>
        <p:txBody>
          <a:bodyPr wrap="square" anchor="t" lIns="0" rIns="0" tIns="0" bIns="0">
            <a:spAutoFit/>
          </a:bodyPr>
          <a:lstStyle/>
          <a:p>
            <a:r>
              <a:rPr sz="1300" b="0" i="0">
                <a:solidFill>
                  <a:srgbClr val="1A1440"/>
                </a:solidFill>
                <a:latin typeface="Calibri"/>
              </a:rPr>
              <a:t>"Tell me the grain of each table, and which rows your join drops, before you tell me any total. Start from the table whose every row must survive."</a:t>
            </a:r>
          </a:p>
        </p:txBody>
      </p:sp>
      <p:sp>
        <p:nvSpPr>
          <p:cNvPr id="15" name="Rounded Rectangle 14"/>
          <p:cNvSpPr/>
          <p:nvPr/>
        </p:nvSpPr>
        <p:spPr>
          <a:xfrm>
            <a:off x="530352" y="5167376"/>
            <a:ext cx="11130991" cy="82804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527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62524"/>
            <a:ext cx="237744" cy="237744"/>
          </a:xfrm>
          <a:prstGeom prst="rect">
            <a:avLst/>
          </a:prstGeom>
        </p:spPr>
      </p:pic>
      <p:sp>
        <p:nvSpPr>
          <p:cNvPr id="18" name="TextBox 17"/>
          <p:cNvSpPr txBox="1"/>
          <p:nvPr/>
        </p:nvSpPr>
        <p:spPr>
          <a:xfrm>
            <a:off x="1399031" y="5313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33136"/>
            <a:ext cx="9987991" cy="389128"/>
          </a:xfrm>
          <a:prstGeom prst="rect">
            <a:avLst/>
          </a:prstGeom>
          <a:noFill/>
        </p:spPr>
        <p:txBody>
          <a:bodyPr wrap="square" anchor="t" lIns="0" rIns="0" tIns="0" bIns="0">
            <a:spAutoFit/>
          </a:bodyPr>
          <a:lstStyle/>
          <a:p>
            <a:r>
              <a:rPr sz="1300" b="0" i="0">
                <a:solidFill>
                  <a:srgbClr val="1A1440"/>
                </a:solidFill>
                <a:latin typeface="Calibri"/>
              </a:rPr>
              <a:t>[S] INNER against LEFT join: what does each drop or keep? And [S] when is an INNER join the honest choice?</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90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Why twice the bookings?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Why does the first join on Kalpa's Q2 report nearly twice the bookings as collected, and how do we attach payments so that nothing counts twice?</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join keep?</a:t>
            </a:r>
          </a:p>
        </p:txBody>
      </p:sp>
      <p:sp>
        <p:nvSpPr>
          <p:cNvPr id="11" name="Rounded Rectangle 10"/>
          <p:cNvSpPr/>
          <p:nvPr/>
        </p:nvSpPr>
        <p:spPr>
          <a:xfrm>
            <a:off x="250975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Why twice the bookings?</a:t>
            </a:r>
          </a:p>
        </p:txBody>
      </p:sp>
      <p:sp>
        <p:nvSpPr>
          <p:cNvPr id="12" name="Rounded Rectangle 11"/>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every order there?</a:t>
            </a:r>
          </a:p>
        </p:txBody>
      </p:sp>
      <p:sp>
        <p:nvSpPr>
          <p:cNvPr id="13" name="Rounded Rectangle 12"/>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exactly?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Anand sign?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What did Q2 actually collect, order by order?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27 / 90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six steps, from doubled to fixed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chapter 2's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who would read a collected figure twice his books as collections running ahead and stand his collections team down; the data platform lead, who hears about a wrong warehouse number first; and you, because the way chosen here carries every later chapter of the day.</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orders own two rows?</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Q2's ten largest, and why each owns two.</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draft collect?</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first draft's collected for Q2.</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Why is the draft's sum wrong?</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When every row on it is right.</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of four fixes fits?</a:t>
            </a:r>
          </a:p>
        </p:txBody>
      </p:sp>
      <p:sp>
        <p:nvSpPr>
          <p:cNvPr id="32" name="TextBox 31"/>
          <p:cNvSpPr txBox="1"/>
          <p:nvPr/>
        </p:nvSpPr>
        <p:spPr>
          <a:xfrm>
            <a:off x="6351879" y="4731512"/>
            <a:ext cx="1373581" cy="531876"/>
          </a:xfrm>
          <a:prstGeom prst="rect">
            <a:avLst/>
          </a:prstGeom>
          <a:noFill/>
        </p:spPr>
        <p:txBody>
          <a:bodyPr wrap="square" anchor="t" lIns="0" rIns="0" tIns="0" bIns="0">
            <a:spAutoFit/>
          </a:bodyPr>
          <a:lstStyle/>
          <a:p>
            <a:pPr algn="l"/>
            <a:r>
              <a:rPr sz="1000" b="0" i="0">
                <a:solidFill>
                  <a:srgbClr val="6B6690"/>
                </a:solidFill>
                <a:latin typeface="Calibri"/>
              </a:rPr>
              <a:t>Each way to stop the double count, sized.</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680466"/>
          </a:xfrm>
          <a:prstGeom prst="rect">
            <a:avLst/>
          </a:prstGeom>
          <a:noFill/>
        </p:spPr>
        <p:txBody>
          <a:bodyPr wrap="square" anchor="t" lIns="0" rIns="0" tIns="0" bIns="0">
            <a:spAutoFit/>
          </a:bodyPr>
          <a:lstStyle/>
          <a:p>
            <a:pPr algn="l"/>
            <a:r>
              <a:rPr sz="1300" b="1" i="0">
                <a:solidFill>
                  <a:srgbClr val="1A0F5C"/>
                </a:solidFill>
                <a:latin typeface="Calibri"/>
              </a:rPr>
              <a:t>Does the fix keep each order once?</a:t>
            </a:r>
          </a:p>
        </p:txBody>
      </p:sp>
      <p:sp>
        <p:nvSpPr>
          <p:cNvPr id="37" name="TextBox 36"/>
          <p:cNvSpPr txBox="1"/>
          <p:nvPr/>
        </p:nvSpPr>
        <p:spPr>
          <a:xfrm>
            <a:off x="8237524" y="4946142"/>
            <a:ext cx="1373581" cy="531876"/>
          </a:xfrm>
          <a:prstGeom prst="rect">
            <a:avLst/>
          </a:prstGeom>
          <a:noFill/>
        </p:spPr>
        <p:txBody>
          <a:bodyPr wrap="square" anchor="t" lIns="0" rIns="0" tIns="0" bIns="0">
            <a:spAutoFit/>
          </a:bodyPr>
          <a:lstStyle/>
          <a:p>
            <a:pPr algn="l"/>
            <a:r>
              <a:rPr sz="1000" b="0" i="0">
                <a:solidFill>
                  <a:srgbClr val="6B6690"/>
                </a:solidFill>
                <a:latin typeface="Calibri"/>
              </a:rPr>
              <a:t>KR-00595 first, then Q2 against Monday's booked.</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the two tables agree alone?</a:t>
            </a:r>
          </a:p>
        </p:txBody>
      </p:sp>
      <p:sp>
        <p:nvSpPr>
          <p:cNvPr id="42" name="TextBox 41"/>
          <p:cNvSpPr txBox="1"/>
          <p:nvPr/>
        </p:nvSpPr>
        <p:spPr>
          <a:xfrm>
            <a:off x="10123170" y="4731512"/>
            <a:ext cx="1373581" cy="531876"/>
          </a:xfrm>
          <a:prstGeom prst="rect">
            <a:avLst/>
          </a:prstGeom>
          <a:noFill/>
        </p:spPr>
        <p:txBody>
          <a:bodyPr wrap="square" anchor="t" lIns="0" rIns="0" tIns="0" bIns="0">
            <a:spAutoFit/>
          </a:bodyPr>
          <a:lstStyle/>
          <a:p>
            <a:pPr algn="l"/>
            <a:r>
              <a:rPr sz="1000" b="0" i="0">
                <a:solidFill>
                  <a:srgbClr val="CFC9EE"/>
                </a:solidFill>
                <a:latin typeface="Calibri"/>
              </a:rPr>
              <a:t>Each table summed alone, against the join.</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45" name="Oval 4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47" name="Oval 4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49" name="Oval 4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51" name="Oval 5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90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doubled figure stands the team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 lose if collected is counted twice?</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 finance controller</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Reads collected against booked to decide where the collections team spends next week.</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receipt_e40a408ddf4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Collected against booked</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Booked is Rs 9,84,00,000 over 462 Q2 orders, and cash against bookings cannot honestly exceed it.</a:t>
            </a:r>
          </a:p>
        </p:txBody>
      </p:sp>
      <p:sp>
        <p:nvSpPr>
          <p:cNvPr id="21" name="Rounded Rectangle 20"/>
          <p:cNvSpPr/>
          <p:nvPr/>
        </p:nvSpPr>
        <p:spPr>
          <a:xfrm>
            <a:off x="807293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NUMBER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week, then trust</a:t>
            </a:r>
          </a:p>
        </p:txBody>
      </p:sp>
      <p:sp>
        <p:nvSpPr>
          <p:cNvPr id="26" name="TextBox 25"/>
          <p:cNvSpPr txBox="1"/>
          <p:nvPr/>
        </p:nvSpPr>
        <p:spPr>
          <a:xfrm>
            <a:off x="8274100" y="3303524"/>
            <a:ext cx="3186074" cy="763016"/>
          </a:xfrm>
          <a:prstGeom prst="rect">
            <a:avLst/>
          </a:prstGeom>
          <a:noFill/>
        </p:spPr>
        <p:txBody>
          <a:bodyPr wrap="square" anchor="t" lIns="0" rIns="0" tIns="0" bIns="0">
            <a:spAutoFit/>
          </a:bodyPr>
          <a:lstStyle/>
          <a:p>
            <a:pPr algn="l"/>
            <a:r>
              <a:rPr sz="1100" b="0" i="0">
                <a:solidFill>
                  <a:srgbClr val="CFC9EE"/>
                </a:solidFill>
                <a:latin typeface="Calibri"/>
              </a:rPr>
              <a:t>The team is stood down in the quarter Anand asked about, and a figure withdrawn from Meera Raghavan's Monday page makes every later warehouse number suspect.</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9" name="Oval 2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5" name="Oval 3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90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Shopify keeps several money rows on one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builds its data around one order owning several money rows?</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hopping-cart_3d6cc98c6b4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SHOPIFY</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Several transactions per order</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A transaction for "every order that results in an exchange of money": an authorization, its capture, a sale, a void or a refund can all sit on one order.</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ile-text_5c86fecc2881.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TWO OF THEM</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Agreed, then taken</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An authorization is money the customer has agreed to pay; a capture takes that same money.</a:t>
            </a:r>
          </a:p>
        </p:txBody>
      </p:sp>
      <p:sp>
        <p:nvSpPr>
          <p:cNvPr id="21" name="Rounded Rectangle 20"/>
          <p:cNvSpPr/>
          <p:nvPr/>
        </p:nvSpPr>
        <p:spPr>
          <a:xfrm>
            <a:off x="807293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help_e970ab2886c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QUESTION FOR ANY REPORT</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Which rows are cash?</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report that sums an order's money rows has to decide which of them count as cash, and how often.</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9" name="Oval 2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5" name="Oval 3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90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 Q2's largest orders own two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Kalpa orders own two payment rows, and why?</a:t>
            </a:r>
          </a:p>
        </p:txBody>
      </p:sp>
      <p:pic>
        <p:nvPicPr>
          <p:cNvPr id="9" name="mermaid diagram" descr="0197a74a387e88f5.png"/>
          <p:cNvPicPr>
            <a:picLocks noChangeAspect="1"/>
          </p:cNvPicPr>
          <p:nvPr/>
        </p:nvPicPr>
        <p:blipFill>
          <a:blip r:embed="rId5"/>
          <a:stretch>
            <a:fillRect/>
          </a:stretch>
        </p:blipFill>
        <p:spPr>
          <a:xfrm>
            <a:off x="2673991" y="1956816"/>
            <a:ext cx="6843712" cy="2743200"/>
          </a:xfrm>
          <a:prstGeom prst="rect">
            <a:avLst/>
          </a:prstGeom>
        </p:spPr>
      </p:pic>
      <p:sp>
        <p:nvSpPr>
          <p:cNvPr id="10" name="Rounded Rectangle 9"/>
          <p:cNvSpPr/>
          <p:nvPr/>
        </p:nvSpPr>
        <p:spPr>
          <a:xfrm>
            <a:off x="530352" y="4846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74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6519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Among Q2's ten largest orders, how many carry two payment rows? a) none, large orders are paid once; b) all ten, with instalments 1 and 2; c) the cancelled ones only; d) about half, at random.</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90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all ten, in instalments 1 and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two payment rows of a large business invoice stand for?</a:t>
            </a:r>
          </a:p>
        </p:txBody>
      </p:sp>
      <p:pic>
        <p:nvPicPr>
          <p:cNvPr id="9" name="mermaid diagram" descr="447dad8433df066d.png"/>
          <p:cNvPicPr>
            <a:picLocks noChangeAspect="1"/>
          </p:cNvPicPr>
          <p:nvPr/>
        </p:nvPicPr>
        <p:blipFill>
          <a:blip r:embed="rId5"/>
          <a:stretch>
            <a:fillRect/>
          </a:stretch>
        </p:blipFill>
        <p:spPr>
          <a:xfrm>
            <a:off x="2716853" y="1956816"/>
            <a:ext cx="6757987" cy="1800225"/>
          </a:xfrm>
          <a:prstGeom prst="rect">
            <a:avLst/>
          </a:prstGeom>
        </p:spPr>
      </p:pic>
      <p:sp>
        <p:nvSpPr>
          <p:cNvPr id="10" name="TextBox 9"/>
          <p:cNvSpPr txBox="1"/>
          <p:nvPr/>
        </p:nvSpPr>
        <p:spPr>
          <a:xfrm>
            <a:off x="530352" y="390334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Kalpa settles its large business invoices in two parts, as Anand said, so every one of Q2's ten largest orders owns two payment rows. </a:t>
            </a:r>
            <a:r>
              <a:rPr sz="1600" b="1" i="0">
                <a:solidFill>
                  <a:srgbClr val="1A1440"/>
                </a:solidFill>
                <a:latin typeface="Calibri"/>
              </a:rPr>
              <a:t>The check.</a:t>
            </a:r>
            <a:r>
              <a:rPr sz="1600" b="0" i="0">
                <a:solidFill>
                  <a:srgbClr val="1A1440"/>
                </a:solidFill>
                <a:latin typeface="Calibri"/>
              </a:rPr>
              <a:t> 10 of 10 carry instalments 1 and 2.</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90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the first draft collect?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first draft of collected report for Q2?</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teammate keeps every Q2 order with a LEFT JOIN, as chapter 1 taught, and counts an order as collected, at its booked amount, whenever a payment row sits beside it.</a:t>
            </a:r>
          </a:p>
        </p:txBody>
      </p:sp>
      <p:sp>
        <p:nvSpPr>
          <p:cNvPr id="12" name="Rounded Rectangle 11"/>
          <p:cNvSpPr/>
          <p:nvPr/>
        </p:nvSpPr>
        <p:spPr>
          <a:xfrm>
            <a:off x="530352" y="2929128"/>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30571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30571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30571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258312"/>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count(*) AS rows_out,</a:t>
            </a:r>
          </a:p>
          <a:p>
            <a:pPr>
              <a:spcAft>
                <a:spcPts val="200"/>
              </a:spcAft>
            </a:pPr>
            <a:r>
              <a:rPr sz="1400" b="0" i="0">
                <a:solidFill>
                  <a:srgbClr val="E4E1F1"/>
                </a:solidFill>
                <a:latin typeface="Consolas"/>
              </a:rPr>
              <a:t>       sum(o.amount) FILTER (WHERE p.payment_id IS NOT NULL) AS collected</a:t>
            </a:r>
          </a:p>
          <a:p>
            <a:pPr>
              <a:spcAft>
                <a:spcPts val="200"/>
              </a:spcAft>
            </a:pPr>
            <a:r>
              <a:rPr sz="1400" b="0" i="0">
                <a:solidFill>
                  <a:srgbClr val="E4E1F1"/>
                </a:solidFill>
                <a:latin typeface="Consolas"/>
              </a:rPr>
              <a:t>FROM orders o</a:t>
            </a:r>
          </a:p>
          <a:p>
            <a:pPr>
              <a:spcAft>
                <a:spcPts val="200"/>
              </a:spcAft>
            </a:pPr>
            <a:r>
              <a:rPr sz="1400" b="0" i="0">
                <a:solidFill>
                  <a:srgbClr val="E4E1F1"/>
                </a:solidFill>
                <a:latin typeface="Consolas"/>
              </a:rPr>
              <a:t>LEFT JOIN payments p ON p.order_id = o.order_id</a:t>
            </a:r>
          </a:p>
          <a:p>
            <a:pPr>
              <a:spcAft>
                <a:spcPts val="200"/>
              </a:spcAft>
            </a:pPr>
            <a:r>
              <a:rPr sz="1400" b="0" i="0">
                <a:solidFill>
                  <a:srgbClr val="E4E1F1"/>
                </a:solidFill>
                <a:latin typeface="Consolas"/>
              </a:rPr>
              <a:t>WHERE o.quarter = 'Q2';</a:t>
            </a:r>
          </a:p>
        </p:txBody>
      </p:sp>
      <p:sp>
        <p:nvSpPr>
          <p:cNvPr id="17" name="Rounded Rectangle 16"/>
          <p:cNvSpPr/>
          <p:nvPr/>
        </p:nvSpPr>
        <p:spPr>
          <a:xfrm>
            <a:off x="530352" y="48133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494131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493217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Against Rs 9,84,00,000 booked, what does the draft report? a) a little under Rs 9.84 crore, since some orders may be unpaid; b) exactly Rs 9.84 crore; c) about Rs 19.3 crore; d) about Rs 4.9 crore.</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2" name="Oval 2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90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19,29,04,410, 1.96 times booked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does the first draft report, and what would Anand do with it?</a:t>
            </a:r>
          </a:p>
        </p:txBody>
      </p:sp>
      <p:sp>
        <p:nvSpPr>
          <p:cNvPr id="9" name="TextBox 8"/>
          <p:cNvSpPr txBox="1"/>
          <p:nvPr/>
        </p:nvSpPr>
        <p:spPr>
          <a:xfrm>
            <a:off x="530352"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Rs 19,29,04,410</a:t>
            </a:r>
          </a:p>
        </p:txBody>
      </p:sp>
      <p:sp>
        <p:nvSpPr>
          <p:cNvPr id="10" name="TextBox 9"/>
          <p:cNvSpPr txBox="1"/>
          <p:nvPr/>
        </p:nvSpPr>
        <p:spPr>
          <a:xfrm>
            <a:off x="530352"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COLLECTED, FIRST DRAFT</a:t>
            </a:r>
          </a:p>
        </p:txBody>
      </p:sp>
      <p:sp>
        <p:nvSpPr>
          <p:cNvPr id="11" name="TextBox 10"/>
          <p:cNvSpPr txBox="1"/>
          <p:nvPr/>
        </p:nvSpPr>
        <p:spPr>
          <a:xfrm>
            <a:off x="530352" y="2512060"/>
            <a:ext cx="2577007" cy="193421"/>
          </a:xfrm>
          <a:prstGeom prst="rect">
            <a:avLst/>
          </a:prstGeom>
          <a:noFill/>
        </p:spPr>
        <p:txBody>
          <a:bodyPr wrap="square" anchor="t" lIns="0" rIns="0" tIns="0" bIns="0">
            <a:spAutoFit/>
          </a:bodyPr>
          <a:lstStyle/>
          <a:p>
            <a:pPr algn="l"/>
            <a:r>
              <a:rPr sz="950" b="0" i="0">
                <a:solidFill>
                  <a:srgbClr val="6B6690"/>
                </a:solidFill>
                <a:latin typeface="Calibri"/>
              </a:rPr>
              <a:t>the order amount beside each payment row</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Rs 9,84,00,000</a:t>
            </a:r>
          </a:p>
        </p:txBody>
      </p:sp>
      <p:sp>
        <p:nvSpPr>
          <p:cNvPr id="14" name="TextBox 13"/>
          <p:cNvSpPr txBox="1"/>
          <p:nvPr/>
        </p:nvSpPr>
        <p:spPr>
          <a:xfrm>
            <a:off x="3381679"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BOOKED</a:t>
            </a:r>
          </a:p>
        </p:txBody>
      </p:sp>
      <p:sp>
        <p:nvSpPr>
          <p:cNvPr id="15" name="TextBox 14"/>
          <p:cNvSpPr txBox="1"/>
          <p:nvPr/>
        </p:nvSpPr>
        <p:spPr>
          <a:xfrm>
            <a:off x="3381679" y="2512060"/>
            <a:ext cx="2577007" cy="193421"/>
          </a:xfrm>
          <a:prstGeom prst="rect">
            <a:avLst/>
          </a:prstGeom>
          <a:noFill/>
        </p:spPr>
        <p:txBody>
          <a:bodyPr wrap="square" anchor="t" lIns="0" rIns="0" tIns="0" bIns="0">
            <a:spAutoFit/>
          </a:bodyPr>
          <a:lstStyle/>
          <a:p>
            <a:pPr algn="l"/>
            <a:r>
              <a:rPr sz="950" b="0" i="0">
                <a:solidFill>
                  <a:srgbClr val="6B6690"/>
                </a:solidFill>
                <a:latin typeface="Calibri"/>
              </a:rPr>
              <a:t>Monday's number, orders alone</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1.96 x</a:t>
            </a:r>
          </a:p>
        </p:txBody>
      </p:sp>
      <p:sp>
        <p:nvSpPr>
          <p:cNvPr id="18" name="TextBox 17"/>
          <p:cNvSpPr txBox="1"/>
          <p:nvPr/>
        </p:nvSpPr>
        <p:spPr>
          <a:xfrm>
            <a:off x="6233007"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COLLECTED OVER BOOKED</a:t>
            </a:r>
          </a:p>
        </p:txBody>
      </p:sp>
      <p:sp>
        <p:nvSpPr>
          <p:cNvPr id="19" name="TextBox 18"/>
          <p:cNvSpPr txBox="1"/>
          <p:nvPr/>
        </p:nvSpPr>
        <p:spPr>
          <a:xfrm>
            <a:off x="6233007" y="2512060"/>
            <a:ext cx="2577007" cy="193421"/>
          </a:xfrm>
          <a:prstGeom prst="rect">
            <a:avLst/>
          </a:prstGeom>
          <a:noFill/>
        </p:spPr>
        <p:txBody>
          <a:bodyPr wrap="square" anchor="t" lIns="0" rIns="0" tIns="0" bIns="0">
            <a:spAutoFit/>
          </a:bodyPr>
          <a:lstStyle/>
          <a:p>
            <a:pPr algn="l"/>
            <a:r>
              <a:rPr sz="950" b="0" i="0">
                <a:solidFill>
                  <a:srgbClr val="6B6690"/>
                </a:solidFill>
                <a:latin typeface="Calibri"/>
              </a:rPr>
              <a:t>more than cash can be</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678</a:t>
            </a:r>
          </a:p>
        </p:txBody>
      </p:sp>
      <p:sp>
        <p:nvSpPr>
          <p:cNvPr id="22" name="TextBox 21"/>
          <p:cNvSpPr txBox="1"/>
          <p:nvPr/>
        </p:nvSpPr>
        <p:spPr>
          <a:xfrm>
            <a:off x="9084335"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ROWS OUT</a:t>
            </a:r>
          </a:p>
        </p:txBody>
      </p:sp>
      <p:sp>
        <p:nvSpPr>
          <p:cNvPr id="23" name="TextBox 22"/>
          <p:cNvSpPr txBox="1"/>
          <p:nvPr/>
        </p:nvSpPr>
        <p:spPr>
          <a:xfrm>
            <a:off x="9084335" y="2512060"/>
            <a:ext cx="2577007" cy="193421"/>
          </a:xfrm>
          <a:prstGeom prst="rect">
            <a:avLst/>
          </a:prstGeom>
          <a:noFill/>
        </p:spPr>
        <p:txBody>
          <a:bodyPr wrap="square" anchor="t" lIns="0" rIns="0" tIns="0" bIns="0">
            <a:spAutoFit/>
          </a:bodyPr>
          <a:lstStyle/>
          <a:p>
            <a:pPr algn="l"/>
            <a:r>
              <a:rPr sz="950" b="0" i="0">
                <a:solidFill>
                  <a:srgbClr val="6B6690"/>
                </a:solidFill>
                <a:latin typeface="Calibri"/>
              </a:rPr>
              <a:t>from 462 Q2 orders in</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Read as it stands, the draft says Kalpa collected Rs 9.45 crore more than it sold, and a finance controller who believes it stops chasing anything this quarter.</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8" name="Oval 27"/>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30" name="Oval 2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4" name="Oval 3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90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the amount rides every row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the first draft wrong when every row on it is right?</a:t>
            </a:r>
          </a:p>
        </p:txBody>
      </p:sp>
      <p:pic>
        <p:nvPicPr>
          <p:cNvPr id="9" name="mermaid diagram" descr="0f76e1999c25624f.png"/>
          <p:cNvPicPr>
            <a:picLocks noChangeAspect="1"/>
          </p:cNvPicPr>
          <p:nvPr/>
        </p:nvPicPr>
        <p:blipFill>
          <a:blip r:embed="rId5"/>
          <a:stretch>
            <a:fillRect/>
          </a:stretch>
        </p:blipFill>
        <p:spPr>
          <a:xfrm>
            <a:off x="3238347" y="1956816"/>
            <a:ext cx="5715000" cy="1800225"/>
          </a:xfrm>
          <a:prstGeom prst="rect">
            <a:avLst/>
          </a:prstGeom>
        </p:spPr>
      </p:pic>
      <p:sp>
        <p:nvSpPr>
          <p:cNvPr id="10" name="TextBox 9"/>
          <p:cNvSpPr txBox="1"/>
          <p:nvPr/>
        </p:nvSpPr>
        <p:spPr>
          <a:xfrm>
            <a:off x="530352" y="390334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sum over a join runs at the join's grain, here the payment, whatever column it names. This is a </a:t>
            </a:r>
            <a:r>
              <a:rPr sz="1600" b="1" i="0">
                <a:solidFill>
                  <a:srgbClr val="1A1440"/>
                </a:solidFill>
                <a:latin typeface="Calibri"/>
              </a:rPr>
              <a:t>fan-out</a:t>
            </a:r>
            <a:r>
              <a:rPr sz="1600" b="0" i="0">
                <a:solidFill>
                  <a:srgbClr val="1A1440"/>
                </a:solidFill>
                <a:latin typeface="Calibri"/>
              </a:rPr>
              <a:t>: a key that repeats on one side multiplies the rows of the other. </a:t>
            </a:r>
            <a:r>
              <a:rPr sz="1600" b="1" i="0">
                <a:solidFill>
                  <a:srgbClr val="1A1440"/>
                </a:solidFill>
                <a:latin typeface="Calibri"/>
              </a:rPr>
              <a:t>The check that catches it.</a:t>
            </a:r>
            <a:r>
              <a:rPr sz="1600" b="0" i="0">
                <a:solidFill>
                  <a:srgbClr val="1A1440"/>
                </a:solidFill>
                <a:latin typeface="Calibri"/>
              </a:rPr>
              <a:t> Rows out against orders in, 678 against 462, or collected against booked, since cash cannot exceed bookings.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90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dbt names the fan-out, and restricts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else names the doubling the room just found, and what do they do about it?</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database_0f9c2895db5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DBT LABS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Fan-out, named</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"Fan-out joins are when one row in a table is joined to multiple rows in another table, resulting in more output rows than input rows."</a:t>
            </a:r>
          </a:p>
        </p:txBody>
      </p:sp>
      <p:sp>
        <p:nvSpPr>
          <p:cNvPr id="15" name="Rounded Rectangle 14"/>
          <p:cNvSpPr/>
          <p:nvPr/>
        </p:nvSpPr>
        <p:spPr>
          <a:xfrm>
            <a:off x="430164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ield-check_73bb972b95e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WHAT DBT DOES</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Restrict it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MetricFlow, dbt's metrics layer, "restricts the use of fan-out and chasm joins".</a:t>
            </a:r>
          </a:p>
        </p:txBody>
      </p:sp>
      <p:sp>
        <p:nvSpPr>
          <p:cNvPr id="21" name="Rounded Rectangle 20"/>
          <p:cNvSpPr/>
          <p:nvPr/>
        </p:nvSpPr>
        <p:spPr>
          <a:xfrm>
            <a:off x="807293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hopping-cart_3d6cc98c6b44.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BACK TO SHOPIFY</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same trap</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 report that adds every Shopify transaction of an order counts an authorised and captured payment twice.</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9" name="Oval 2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5" name="Oval 3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S32b  ·  36 / 90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stop the double count, sized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stops the double count, and what does each cost on this data?</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701098"/>
                <a:gridCol w="2307404"/>
                <a:gridCol w="1583071"/>
                <a:gridCol w="3539416"/>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Rows out for 462 orders</a:t>
                      </a:r>
                    </a:p>
                  </a:txBody>
                  <a:tcPr marL="101600" marR="101600" marT="38100" marB="38100" anchor="ctr">
                    <a:solidFill>
                      <a:srgbClr val="1A0F5C"/>
                    </a:solidFill>
                  </a:tcPr>
                </a:tc>
                <a:tc>
                  <a:txBody>
                    <a:bodyPr/>
                    <a:lstStyle/>
                    <a:p>
                      <a:r>
                        <a:rPr sz="1250" b="1" i="0">
                          <a:solidFill>
                            <a:srgbClr val="FFFFFF"/>
                          </a:solidFill>
                          <a:latin typeface="Calibri"/>
                        </a:rPr>
                        <a:t>Booked after it</a:t>
                      </a:r>
                    </a:p>
                  </a:txBody>
                  <a:tcPr marL="101600" marR="101600" marT="38100" marB="38100" anchor="ctr">
                    <a:solidFill>
                      <a:srgbClr val="1A0F5C"/>
                    </a:solidFill>
                  </a:tcPr>
                </a:tc>
                <a:tc>
                  <a:txBody>
                    <a:bodyPr/>
                    <a:lstStyle/>
                    <a:p>
                      <a:r>
                        <a:rPr sz="1250" b="1" i="0">
                          <a:solidFill>
                            <a:srgbClr val="FFFFFF"/>
                          </a:solidFill>
                          <a:latin typeface="Calibri"/>
                        </a:rPr>
                        <a:t>Error against booked</a:t>
                      </a:r>
                    </a:p>
                  </a:txBody>
                  <a:tcPr marL="101600" marR="101600" marT="38100" marB="38100" anchor="ctr">
                    <a:solidFill>
                      <a:srgbClr val="1A0F5C"/>
                    </a:solidFill>
                  </a:tcPr>
                </a:tc>
              </a:tr>
              <a:tr h="335280">
                <a:tc>
                  <a:txBody>
                    <a:bodyPr/>
                    <a:lstStyle/>
                    <a:p>
                      <a:r>
                        <a:rPr sz="1200" b="0" i="0">
                          <a:solidFill>
                            <a:srgbClr val="1A1440"/>
                          </a:solidFill>
                          <a:latin typeface="Calibri"/>
                        </a:rPr>
                        <a:t>A. Payments to one row per order, then join</a:t>
                      </a:r>
                    </a:p>
                  </a:txBody>
                  <a:tcPr marL="101600" marR="101600" marT="38100" marB="38100" anchor="ctr">
                    <a:solidFill>
                      <a:srgbClr val="FFFFFF"/>
                    </a:solidFill>
                  </a:tcPr>
                </a:tc>
                <a:tc>
                  <a:txBody>
                    <a:bodyPr/>
                    <a:lstStyle/>
                    <a:p>
                      <a:r>
                        <a:rPr sz="1200" b="0" i="0">
                          <a:solidFill>
                            <a:srgbClr val="1A1440"/>
                          </a:solidFill>
                          <a:latin typeface="Calibri"/>
                        </a:rPr>
                        <a:t>462</a:t>
                      </a:r>
                    </a:p>
                  </a:txBody>
                  <a:tcPr marL="101600" marR="101600" marT="38100" marB="38100" anchor="ctr">
                    <a:solidFill>
                      <a:srgbClr val="FFFFFF"/>
                    </a:solidFill>
                  </a:tcPr>
                </a:tc>
                <a:tc>
                  <a:txBody>
                    <a:bodyPr/>
                    <a:lstStyle/>
                    <a:p>
                      <a:r>
                        <a:rPr sz="1200" b="0" i="0">
                          <a:solidFill>
                            <a:srgbClr val="1A1440"/>
                          </a:solidFill>
                          <a:latin typeface="Calibri"/>
                        </a:rPr>
                        <a:t>Rs 9,84,00,000</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r>
              <a:tr h="335280">
                <a:tc>
                  <a:txBody>
                    <a:bodyPr/>
                    <a:lstStyle/>
                    <a:p>
                      <a:r>
                        <a:rPr sz="1200" b="0" i="0">
                          <a:solidFill>
                            <a:srgbClr val="1A1440"/>
                          </a:solidFill>
                          <a:latin typeface="Calibri"/>
                        </a:rPr>
                        <a:t>B. sum(DISTINCT o.amount) after the join</a:t>
                      </a:r>
                    </a:p>
                  </a:txBody>
                  <a:tcPr marL="101600" marR="101600" marT="38100" marB="38100" anchor="ctr">
                    <a:solidFill>
                      <a:srgbClr val="F4F2FA"/>
                    </a:solidFill>
                  </a:tcPr>
                </a:tc>
                <a:tc>
                  <a:txBody>
                    <a:bodyPr/>
                    <a:lstStyle/>
                    <a:p>
                      <a:r>
                        <a:rPr sz="1200" b="0" i="0">
                          <a:solidFill>
                            <a:srgbClr val="1A1440"/>
                          </a:solidFill>
                          <a:latin typeface="Calibri"/>
                        </a:rPr>
                        <a:t>678, one sum</a:t>
                      </a:r>
                    </a:p>
                  </a:txBody>
                  <a:tcPr marL="101600" marR="101600" marT="38100" marB="38100" anchor="ctr">
                    <a:solidFill>
                      <a:srgbClr val="F4F2FA"/>
                    </a:solidFill>
                  </a:tcPr>
                </a:tc>
                <a:tc>
                  <a:txBody>
                    <a:bodyPr/>
                    <a:lstStyle/>
                    <a:p>
                      <a:r>
                        <a:rPr sz="1200" b="0" i="0">
                          <a:solidFill>
                            <a:srgbClr val="1A1440"/>
                          </a:solidFill>
                          <a:latin typeface="Calibri"/>
                        </a:rPr>
                        <a:t>Rs 9,63,67,220</a:t>
                      </a:r>
                    </a:p>
                  </a:txBody>
                  <a:tcPr marL="101600" marR="101600" marT="38100" marB="38100" anchor="ctr">
                    <a:solidFill>
                      <a:srgbClr val="F4F2FA"/>
                    </a:solidFill>
                  </a:tcPr>
                </a:tc>
                <a:tc>
                  <a:txBody>
                    <a:bodyPr/>
                    <a:lstStyle/>
                    <a:p>
                      <a:r>
                        <a:rPr sz="1200" b="0" i="0">
                          <a:solidFill>
                            <a:srgbClr val="1A1440"/>
                          </a:solidFill>
                          <a:latin typeface="Calibri"/>
                        </a:rPr>
                        <a:t>minus Rs 20,32,780</a:t>
                      </a:r>
                    </a:p>
                  </a:txBody>
                  <a:tcPr marL="101600" marR="101600" marT="38100" marB="38100" anchor="ctr">
                    <a:solidFill>
                      <a:srgbClr val="F4F2FA"/>
                    </a:solidFill>
                  </a:tcPr>
                </a:tc>
              </a:tr>
              <a:tr h="335280">
                <a:tc>
                  <a:txBody>
                    <a:bodyPr/>
                    <a:lstStyle/>
                    <a:p>
                      <a:r>
                        <a:rPr sz="1200" b="0" i="0">
                          <a:solidFill>
                            <a:srgbClr val="1A1440"/>
                          </a:solidFill>
                          <a:latin typeface="Calibri"/>
                        </a:rPr>
                        <a:t>C. A window dedupe of repeated postings</a:t>
                      </a:r>
                    </a:p>
                  </a:txBody>
                  <a:tcPr marL="101600" marR="101600" marT="38100" marB="38100" anchor="ctr">
                    <a:solidFill>
                      <a:srgbClr val="FFFFFF"/>
                    </a:solidFill>
                  </a:tcPr>
                </a:tc>
                <a:tc>
                  <a:txBody>
                    <a:bodyPr/>
                    <a:lstStyle/>
                    <a:p>
                      <a:r>
                        <a:rPr sz="1200" b="0" i="0">
                          <a:solidFill>
                            <a:srgbClr val="1A1440"/>
                          </a:solidFill>
                          <a:latin typeface="Calibri"/>
                        </a:rPr>
                        <a:t>more than 462</a:t>
                      </a:r>
                    </a:p>
                  </a:txBody>
                  <a:tcPr marL="101600" marR="101600" marT="38100" marB="38100" anchor="ctr">
                    <a:solidFill>
                      <a:srgbClr val="FFFFFF"/>
                    </a:solidFill>
                  </a:tcPr>
                </a:tc>
                <a:tc>
                  <a:txBody>
                    <a:bodyPr/>
                    <a:lstStyle/>
                    <a:p>
                      <a:r>
                        <a:rPr sz="1200" b="0" i="0">
                          <a:solidFill>
                            <a:srgbClr val="1A1440"/>
                          </a:solidFill>
                          <a:latin typeface="Calibri"/>
                        </a:rPr>
                        <a:t>still inflated</a:t>
                      </a:r>
                    </a:p>
                  </a:txBody>
                  <a:tcPr marL="101600" marR="101600" marT="38100" marB="38100" anchor="ctr">
                    <a:solidFill>
                      <a:srgbClr val="FFFFFF"/>
                    </a:solidFill>
                  </a:tcPr>
                </a:tc>
                <a:tc>
                  <a:txBody>
                    <a:bodyPr/>
                    <a:lstStyle/>
                    <a:p>
                      <a:r>
                        <a:rPr sz="1200" b="0" i="0">
                          <a:solidFill>
                            <a:srgbClr val="1A1440"/>
                          </a:solidFill>
                          <a:latin typeface="Calibri"/>
                        </a:rPr>
                        <a:t>every two-instalment order keeps two rows</a:t>
                      </a:r>
                    </a:p>
                  </a:txBody>
                  <a:tcPr marL="101600" marR="101600" marT="38100" marB="38100" anchor="ctr">
                    <a:solidFill>
                      <a:srgbClr val="FFFFFF"/>
                    </a:solidFill>
                  </a:tcPr>
                </a:tc>
              </a:tr>
              <a:tr h="335280">
                <a:tc>
                  <a:txBody>
                    <a:bodyPr/>
                    <a:lstStyle/>
                    <a:p>
                      <a:r>
                        <a:rPr sz="1200" b="0" i="0">
                          <a:solidFill>
                            <a:srgbClr val="1A1440"/>
                          </a:solidFill>
                          <a:latin typeface="Calibri"/>
                        </a:rPr>
                        <a:t>D. Fix the feed</a:t>
                      </a:r>
                    </a:p>
                  </a:txBody>
                  <a:tcPr marL="101600" marR="101600" marT="38100" marB="38100" anchor="ctr">
                    <a:solidFill>
                      <a:srgbClr val="F4F2FA"/>
                    </a:solidFill>
                  </a:tcPr>
                </a:tc>
                <a:tc>
                  <a:txBody>
                    <a:bodyPr/>
                    <a:lstStyle/>
                    <a:p>
                      <a:r>
                        <a:rPr sz="1200" b="0" i="0">
                          <a:solidFill>
                            <a:srgbClr val="1A1440"/>
                          </a:solidFill>
                          <a:latin typeface="Calibri"/>
                        </a:rPr>
                        <a:t>no change to Q2</a:t>
                      </a:r>
                    </a:p>
                  </a:txBody>
                  <a:tcPr marL="101600" marR="101600" marT="38100" marB="38100" anchor="ctr">
                    <a:solidFill>
                      <a:srgbClr val="F4F2FA"/>
                    </a:solidFill>
                  </a:tcPr>
                </a:tc>
                <a:tc>
                  <a:txBody>
                    <a:bodyPr/>
                    <a:lstStyle/>
                    <a:p>
                      <a:r>
                        <a:rPr sz="1200" b="0" i="0">
                          <a:solidFill>
                            <a:srgbClr val="1A1440"/>
                          </a:solidFill>
                          <a:latin typeface="Calibri"/>
                        </a:rPr>
                        <a:t>Q2 as posted</a:t>
                      </a:r>
                    </a:p>
                  </a:txBody>
                  <a:tcPr marL="101600" marR="101600" marT="38100" marB="38100" anchor="ctr">
                    <a:solidFill>
                      <a:srgbClr val="F4F2FA"/>
                    </a:solidFill>
                  </a:tcPr>
                </a:tc>
                <a:tc>
                  <a:txBody>
                    <a:bodyPr/>
                    <a:lstStyle/>
                    <a:p>
                      <a:r>
                        <a:rPr sz="1200" b="0" i="0">
                          <a:solidFill>
                            <a:srgbClr val="1A1440"/>
                          </a:solidFill>
                          <a:latin typeface="Calibri"/>
                        </a:rPr>
                        <a:t>weeks of platform work</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Sized. </a:t>
            </a:r>
            <a:r>
              <a:rPr sz="1500" b="0" i="0">
                <a:solidFill>
                  <a:srgbClr val="1A1440"/>
                </a:solidFill>
                <a:latin typeface="Calibri"/>
              </a:rPr>
              <a:t>A and B each take a few milliseconds, so the choice is about what each gets wrong. B loses real bookings because 243 of Q2's 462 orders share their amount with another order, across 97 amounts that repeat.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90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one row per order, then join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 fits, and what fact would change the call?</a:t>
            </a:r>
          </a:p>
        </p:txBody>
      </p:sp>
      <p:pic>
        <p:nvPicPr>
          <p:cNvPr id="9" name="mermaid diagram" descr="9d28ab45d6aceb2b.png"/>
          <p:cNvPicPr>
            <a:picLocks noChangeAspect="1"/>
          </p:cNvPicPr>
          <p:nvPr/>
        </p:nvPicPr>
        <p:blipFill>
          <a:blip r:embed="rId5"/>
          <a:stretch>
            <a:fillRect/>
          </a:stretch>
        </p:blipFill>
        <p:spPr>
          <a:xfrm>
            <a:off x="3159522" y="1664208"/>
            <a:ext cx="5872649"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A feed that carried the gateway's own reference on every row would let a DISTINCT on that reference remove retries exactly, and a question per payment would make the payment the right grain.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90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the fix show for KR-00595?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chosen way keep every Q2 order once, with Monday's booked?</a:t>
            </a:r>
          </a:p>
        </p:txBody>
      </p:sp>
      <p:sp>
        <p:nvSpPr>
          <p:cNvPr id="9" name="Rounded Rectangle 8"/>
          <p:cNvSpPr/>
          <p:nvPr/>
        </p:nvSpPr>
        <p:spPr>
          <a:xfrm>
            <a:off x="530352" y="1956816"/>
            <a:ext cx="11130991" cy="272948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32714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WITH posted_per_order AS (</a:t>
            </a:r>
          </a:p>
          <a:p>
            <a:pPr>
              <a:spcAft>
                <a:spcPts val="200"/>
              </a:spcAft>
            </a:pPr>
            <a:r>
              <a:rPr sz="1400" b="0" i="0">
                <a:solidFill>
                  <a:srgbClr val="E4E1F1"/>
                </a:solidFill>
                <a:latin typeface="Consolas"/>
              </a:rPr>
              <a:t>    SELECT order_id, sum(amount) AS posted, count(*) AS payment_rows</a:t>
            </a:r>
          </a:p>
          <a:p>
            <a:pPr>
              <a:spcAft>
                <a:spcPts val="200"/>
              </a:spcAft>
            </a:pPr>
            <a:r>
              <a:rPr sz="1400" b="0" i="0">
                <a:solidFill>
                  <a:srgbClr val="E4E1F1"/>
                </a:solidFill>
                <a:latin typeface="Consolas"/>
              </a:rPr>
              <a:t>    FROM payments</a:t>
            </a:r>
          </a:p>
          <a:p>
            <a:pPr>
              <a:spcAft>
                <a:spcPts val="200"/>
              </a:spcAft>
            </a:pPr>
            <a:r>
              <a:rPr sz="1400" b="0" i="0">
                <a:solidFill>
                  <a:srgbClr val="E4E1F1"/>
                </a:solidFill>
                <a:latin typeface="Consolas"/>
              </a:rPr>
              <a:t>    GROUP BY order_id</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SELECT o.order_id, o.channel, o.amount AS booked, pp.posted, pp.payment_rows</a:t>
            </a:r>
          </a:p>
          <a:p>
            <a:pPr>
              <a:spcAft>
                <a:spcPts val="200"/>
              </a:spcAft>
            </a:pPr>
            <a:r>
              <a:rPr sz="1400" b="0" i="0">
                <a:solidFill>
                  <a:srgbClr val="E4E1F1"/>
                </a:solidFill>
                <a:latin typeface="Consolas"/>
              </a:rPr>
              <a:t>FROM orders o</a:t>
            </a:r>
          </a:p>
          <a:p>
            <a:pPr>
              <a:spcAft>
                <a:spcPts val="200"/>
              </a:spcAft>
            </a:pPr>
            <a:r>
              <a:rPr sz="1400" b="0" i="0">
                <a:solidFill>
                  <a:srgbClr val="E4E1F1"/>
                </a:solidFill>
                <a:latin typeface="Consolas"/>
              </a:rPr>
              <a:t>LEFT JOIN posted_per_order pp ON pp.order_id = o.order_id</a:t>
            </a:r>
          </a:p>
          <a:p>
            <a:pPr>
              <a:spcAft>
                <a:spcPts val="200"/>
              </a:spcAft>
            </a:pPr>
            <a:r>
              <a:rPr sz="1400" b="0" i="0">
                <a:solidFill>
                  <a:srgbClr val="E4E1F1"/>
                </a:solidFill>
                <a:latin typeface="Consolas"/>
              </a:rPr>
              <a:t>WHERE o.quarter = 'Q2';</a:t>
            </a:r>
          </a:p>
        </p:txBody>
      </p:sp>
      <p:sp>
        <p:nvSpPr>
          <p:cNvPr id="14" name="Rounded Rectangle 13"/>
          <p:cNvSpPr/>
          <p:nvPr/>
        </p:nvSpPr>
        <p:spPr>
          <a:xfrm>
            <a:off x="530352" y="485089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97890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96976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does the fixed join show for KR-00595, the order S32 traced? a) one row, posted Rs 4,01,000, payment_rows 2; b) two rows, posted Rs 2,40,600 and Rs 1,60,400; c) one row, posted Rs 8,02,000, payment_rows 2; d) one row, posted Rs 2,40,600, payment_rows 1.</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9" name="Oval 1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21" name="Oval 2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5" name="Oval 2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90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KR-00595 once, and every Q2 order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changed, and what does the posted column now hold?</a:t>
            </a:r>
          </a:p>
        </p:txBody>
      </p:sp>
      <p:pic>
        <p:nvPicPr>
          <p:cNvPr id="9" name="mermaid diagram" descr="0f6ff28773449ddd.png"/>
          <p:cNvPicPr>
            <a:picLocks noChangeAspect="1"/>
          </p:cNvPicPr>
          <p:nvPr/>
        </p:nvPicPr>
        <p:blipFill>
          <a:blip r:embed="rId5"/>
          <a:stretch>
            <a:fillRect/>
          </a:stretch>
        </p:blipFill>
        <p:spPr>
          <a:xfrm>
            <a:off x="1809597" y="1956816"/>
            <a:ext cx="8572500" cy="1128712"/>
          </a:xfrm>
          <a:prstGeom prst="rect">
            <a:avLst/>
          </a:prstGeom>
        </p:spPr>
      </p:pic>
      <p:sp>
        <p:nvSpPr>
          <p:cNvPr id="10" name="TextBox 9"/>
          <p:cNvSpPr txBox="1"/>
          <p:nvPr/>
        </p:nvSpPr>
        <p:spPr>
          <a:xfrm>
            <a:off x="530352" y="323183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KR-00595 comes out once, its posted Rs 4,01,000 from its two instalments. The whole join returns 462 rows for 462 orders, and booked after the join is Rs 9,84,00,000, Monday's figure to the rupee. </a:t>
            </a:r>
            <a:r>
              <a:rPr sz="1600" b="1" i="0">
                <a:solidFill>
                  <a:srgbClr val="1A1440"/>
                </a:solidFill>
                <a:latin typeface="Calibri"/>
              </a:rPr>
              <a:t>What changed.</a:t>
            </a:r>
            <a:r>
              <a:rPr sz="1600" b="0" i="0">
                <a:solidFill>
                  <a:srgbClr val="1A1440"/>
                </a:solidFill>
                <a:latin typeface="Calibri"/>
              </a:rPr>
              <a:t> The 216 extra rows are gone, and each order's amount is summed once.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90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each table summed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two tables, each summed alone, agree with the fixed join?</a:t>
            </a:r>
          </a:p>
        </p:txBody>
      </p:sp>
      <p:pic>
        <p:nvPicPr>
          <p:cNvPr id="9" name="mermaid diagram" descr="87fbe2fd7a614b22.png"/>
          <p:cNvPicPr>
            <a:picLocks noChangeAspect="1"/>
          </p:cNvPicPr>
          <p:nvPr/>
        </p:nvPicPr>
        <p:blipFill>
          <a:blip r:embed="rId5"/>
          <a:stretch>
            <a:fillRect/>
          </a:stretch>
        </p:blipFill>
        <p:spPr>
          <a:xfrm>
            <a:off x="2781147" y="1844802"/>
            <a:ext cx="6629400" cy="2971800"/>
          </a:xfrm>
          <a:prstGeom prst="rect">
            <a:avLst/>
          </a:prstGeom>
        </p:spPr>
      </p:pic>
      <p:sp>
        <p:nvSpPr>
          <p:cNvPr id="10" name="Rounded Rectangle 9"/>
          <p:cNvSpPr/>
          <p:nvPr/>
        </p:nvSpPr>
        <p:spPr>
          <a:xfrm>
            <a:off x="530352" y="496290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9092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81778"/>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Booked from orders alone equals booked after the fix, Rs 9,84,00,000, and posted from payments alone, restricted with IN to Q2's order ids, equals the fixed join's posted to the rupee. The route never joins, so it cannot fan out.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90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2, answered in six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2 answer, and what question does it leave?</a:t>
            </a:r>
          </a:p>
        </p:txBody>
      </p:sp>
      <p:graphicFrame>
        <p:nvGraphicFramePr>
          <p:cNvPr id="9" name="Table 8"/>
          <p:cNvGraphicFramePr>
            <a:graphicFrameLocks noGrp="1"/>
          </p:cNvGraphicFramePr>
          <p:nvPr/>
        </p:nvGraphicFramePr>
        <p:xfrm>
          <a:off x="530352" y="1682496"/>
          <a:ext cx="11130991" cy="2176272"/>
        </p:xfrm>
        <a:graphic>
          <a:graphicData uri="http://schemas.openxmlformats.org/drawingml/2006/table">
            <a:tbl>
              <a:tblPr firstRow="0" bandRow="0">
                <a:tableStyleId>{2D5ABB26-0587-4C30-8999-92F81FD0307C}</a:tableStyleId>
              </a:tblPr>
              <a:tblGrid>
                <a:gridCol w="3184736"/>
                <a:gridCol w="7946255"/>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The answer, with its number</a:t>
                      </a:r>
                    </a:p>
                  </a:txBody>
                  <a:tcPr marL="101600" marR="101600" marT="38100" marB="38100" anchor="ctr">
                    <a:solidFill>
                      <a:srgbClr val="1A0F5C"/>
                    </a:solidFill>
                  </a:tcPr>
                </a:tc>
              </a:tr>
              <a:tr h="310896">
                <a:tc>
                  <a:txBody>
                    <a:bodyPr/>
                    <a:lstStyle/>
                    <a:p>
                      <a:r>
                        <a:rPr sz="900" b="0" i="0">
                          <a:solidFill>
                            <a:srgbClr val="1A1440"/>
                          </a:solidFill>
                          <a:latin typeface="Calibri"/>
                        </a:rPr>
                        <a:t>Which orders own two rows?</a:t>
                      </a:r>
                    </a:p>
                  </a:txBody>
                  <a:tcPr marL="101600" marR="101600" marT="38100" marB="38100" anchor="ctr">
                    <a:solidFill>
                      <a:srgbClr val="FFFFFF"/>
                    </a:solidFill>
                  </a:tcPr>
                </a:tc>
                <a:tc>
                  <a:txBody>
                    <a:bodyPr/>
                    <a:lstStyle/>
                    <a:p>
                      <a:r>
                        <a:rPr sz="900" b="0" i="0">
                          <a:solidFill>
                            <a:srgbClr val="1A1440"/>
                          </a:solidFill>
                          <a:latin typeface="Calibri"/>
                        </a:rPr>
                        <a:t>Large business invoices are paid in two instalments: 10 of Q2's 10 largest orders</a:t>
                      </a:r>
                    </a:p>
                  </a:txBody>
                  <a:tcPr marL="101600" marR="101600" marT="38100" marB="38100" anchor="ctr">
                    <a:solidFill>
                      <a:srgbClr val="FFFFFF"/>
                    </a:solidFill>
                  </a:tcPr>
                </a:tc>
              </a:tr>
              <a:tr h="310896">
                <a:tc>
                  <a:txBody>
                    <a:bodyPr/>
                    <a:lstStyle/>
                    <a:p>
                      <a:r>
                        <a:rPr sz="900" b="0" i="0">
                          <a:solidFill>
                            <a:srgbClr val="1A1440"/>
                          </a:solidFill>
                          <a:latin typeface="Calibri"/>
                        </a:rPr>
                        <a:t>What does the draft collect?</a:t>
                      </a:r>
                    </a:p>
                  </a:txBody>
                  <a:tcPr marL="101600" marR="101600" marT="38100" marB="38100" anchor="ctr">
                    <a:solidFill>
                      <a:srgbClr val="F4F2FA"/>
                    </a:solidFill>
                  </a:tcPr>
                </a:tc>
                <a:tc>
                  <a:txBody>
                    <a:bodyPr/>
                    <a:lstStyle/>
                    <a:p>
                      <a:r>
                        <a:rPr sz="900" b="0" i="0">
                          <a:solidFill>
                            <a:srgbClr val="1A1440"/>
                          </a:solidFill>
                          <a:latin typeface="Calibri"/>
                        </a:rPr>
                        <a:t>Rs 19,29,04,410 against Rs 9,84,00,000 booked, 1.96 times</a:t>
                      </a:r>
                    </a:p>
                  </a:txBody>
                  <a:tcPr marL="101600" marR="101600" marT="38100" marB="38100" anchor="ctr">
                    <a:solidFill>
                      <a:srgbClr val="F4F2FA"/>
                    </a:solidFill>
                  </a:tcPr>
                </a:tc>
              </a:tr>
              <a:tr h="310896">
                <a:tc>
                  <a:txBody>
                    <a:bodyPr/>
                    <a:lstStyle/>
                    <a:p>
                      <a:r>
                        <a:rPr sz="900" b="0" i="0">
                          <a:solidFill>
                            <a:srgbClr val="1A1440"/>
                          </a:solidFill>
                          <a:latin typeface="Calibri"/>
                        </a:rPr>
                        <a:t>Why is the draft's sum wrong?</a:t>
                      </a:r>
                    </a:p>
                  </a:txBody>
                  <a:tcPr marL="101600" marR="101600" marT="38100" marB="38100" anchor="ctr">
                    <a:solidFill>
                      <a:srgbClr val="FFFFFF"/>
                    </a:solidFill>
                  </a:tcPr>
                </a:tc>
                <a:tc>
                  <a:txBody>
                    <a:bodyPr/>
                    <a:lstStyle/>
                    <a:p>
                      <a:r>
                        <a:rPr sz="900" b="0" i="0">
                          <a:solidFill>
                            <a:srgbClr val="1A1440"/>
                          </a:solidFill>
                          <a:latin typeface="Calibri"/>
                        </a:rPr>
                        <a:t>The order amount rides on every payment row: 462 orders become 678 rows</a:t>
                      </a:r>
                    </a:p>
                  </a:txBody>
                  <a:tcPr marL="101600" marR="101600" marT="38100" marB="38100" anchor="ctr">
                    <a:solidFill>
                      <a:srgbClr val="FFFFFF"/>
                    </a:solidFill>
                  </a:tcPr>
                </a:tc>
              </a:tr>
              <a:tr h="310896">
                <a:tc>
                  <a:txBody>
                    <a:bodyPr/>
                    <a:lstStyle/>
                    <a:p>
                      <a:r>
                        <a:rPr sz="900" b="0" i="0">
                          <a:solidFill>
                            <a:srgbClr val="1A1440"/>
                          </a:solidFill>
                          <a:latin typeface="Calibri"/>
                        </a:rPr>
                        <a:t>Which of four fixes fits?</a:t>
                      </a:r>
                    </a:p>
                  </a:txBody>
                  <a:tcPr marL="101600" marR="101600" marT="38100" marB="38100" anchor="ctr">
                    <a:solidFill>
                      <a:srgbClr val="F4F2FA"/>
                    </a:solidFill>
                  </a:tcPr>
                </a:tc>
                <a:tc>
                  <a:txBody>
                    <a:bodyPr/>
                    <a:lstStyle/>
                    <a:p>
                      <a:r>
                        <a:rPr sz="900" b="0" i="0">
                          <a:solidFill>
                            <a:srgbClr val="1A1440"/>
                          </a:solidFill>
                          <a:latin typeface="Calibri"/>
                        </a:rPr>
                        <a:t>One row per order first; DISTINCT loses Rs 20,32,780 of bookings</a:t>
                      </a:r>
                    </a:p>
                  </a:txBody>
                  <a:tcPr marL="101600" marR="101600" marT="38100" marB="38100" anchor="ctr">
                    <a:solidFill>
                      <a:srgbClr val="F4F2FA"/>
                    </a:solidFill>
                  </a:tcPr>
                </a:tc>
              </a:tr>
              <a:tr h="310896">
                <a:tc>
                  <a:txBody>
                    <a:bodyPr/>
                    <a:lstStyle/>
                    <a:p>
                      <a:r>
                        <a:rPr sz="900" b="0" i="0">
                          <a:solidFill>
                            <a:srgbClr val="1A1440"/>
                          </a:solidFill>
                          <a:latin typeface="Calibri"/>
                        </a:rPr>
                        <a:t>Does the fix keep each order once?</a:t>
                      </a:r>
                    </a:p>
                  </a:txBody>
                  <a:tcPr marL="101600" marR="101600" marT="38100" marB="38100" anchor="ctr">
                    <a:solidFill>
                      <a:srgbClr val="FFFFFF"/>
                    </a:solidFill>
                  </a:tcPr>
                </a:tc>
                <a:tc>
                  <a:txBody>
                    <a:bodyPr/>
                    <a:lstStyle/>
                    <a:p>
                      <a:r>
                        <a:rPr sz="900" b="0" i="0">
                          <a:solidFill>
                            <a:srgbClr val="1A1440"/>
                          </a:solidFill>
                          <a:latin typeface="Calibri"/>
                        </a:rPr>
                        <a:t>Yes: KR-00595 once with both instalments, and 462 rows and Rs 9,84,00,000, Monday's figures exactly</a:t>
                      </a:r>
                    </a:p>
                  </a:txBody>
                  <a:tcPr marL="101600" marR="101600" marT="38100" marB="38100" anchor="ctr">
                    <a:solidFill>
                      <a:srgbClr val="FFFFFF"/>
                    </a:solidFill>
                  </a:tcPr>
                </a:tc>
              </a:tr>
              <a:tr h="310896">
                <a:tc>
                  <a:txBody>
                    <a:bodyPr/>
                    <a:lstStyle/>
                    <a:p>
                      <a:r>
                        <a:rPr sz="900" b="0" i="0">
                          <a:solidFill>
                            <a:srgbClr val="1A1440"/>
                          </a:solidFill>
                          <a:latin typeface="Calibri"/>
                        </a:rPr>
                        <a:t>Do the two tables agree alone?</a:t>
                      </a:r>
                    </a:p>
                  </a:txBody>
                  <a:tcPr marL="101600" marR="101600" marT="38100" marB="38100" anchor="ctr">
                    <a:solidFill>
                      <a:srgbClr val="F4F2FA"/>
                    </a:solidFill>
                  </a:tcPr>
                </a:tc>
                <a:tc>
                  <a:txBody>
                    <a:bodyPr/>
                    <a:lstStyle/>
                    <a:p>
                      <a:r>
                        <a:rPr sz="900" b="0" i="0">
                          <a:solidFill>
                            <a:srgbClr val="1A1440"/>
                          </a:solidFill>
                          <a:latin typeface="Calibri"/>
                        </a:rPr>
                        <a:t>Yes: booked and posted, each summed alone, match the join</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"A join is a multiplication until you prove it is not. Bring the many side to the grain of the question before you join, and show me rows in and rows out beside the total."</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Revenue doubled after a join and every row looks fine; where do you look? And [S] your join grew the row count; name the cause and the check.</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2" name="Oval 2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90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Is every order there?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Once nothing counts twice, is every booked order still in the report, and can every rupee between booked and posted be named?</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join keep?</a:t>
            </a:r>
          </a:p>
        </p:txBody>
      </p:sp>
      <p:sp>
        <p:nvSpPr>
          <p:cNvPr id="11" name="Rounded Rectangle 10"/>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twice the bookings?</a:t>
            </a:r>
          </a:p>
        </p:txBody>
      </p:sp>
      <p:sp>
        <p:nvSpPr>
          <p:cNvPr id="12" name="Rounded Rectangle 11"/>
          <p:cNvSpPr/>
          <p:nvPr/>
        </p:nvSpPr>
        <p:spPr>
          <a:xfrm>
            <a:off x="4347214"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Is every order there?</a:t>
            </a:r>
          </a:p>
        </p:txBody>
      </p:sp>
      <p:sp>
        <p:nvSpPr>
          <p:cNvPr id="13" name="Rounded Rectangle 12"/>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exactly?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Anand sign?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What did Q2 actually collect, order by order?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43 / 90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six steps, from rows to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chapter 3's answer, and which smaller questions lead to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who asked which orders make the gap, so an order missing from the report is an order nobody chases, and his analyst, who reads the reconciliation above the number before the number. A wrong gap sends the collections team after customers who paid, or leaves an unpaid order unchased, and nobody can tell which from the number alone.</a:t>
            </a:r>
          </a:p>
        </p:txBody>
      </p:sp>
      <p:sp>
        <p:nvSpPr>
          <p:cNvPr id="12" name="Rectangle 11"/>
          <p:cNvSpPr/>
          <p:nvPr/>
        </p:nvSpPr>
        <p:spPr>
          <a:xfrm>
            <a:off x="1381734" y="40294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proof runs first?</a:t>
            </a:r>
          </a:p>
        </p:txBody>
      </p:sp>
      <p:sp>
        <p:nvSpPr>
          <p:cNvPr id="17" name="TextBox 16"/>
          <p:cNvSpPr txBox="1"/>
          <p:nvPr/>
        </p:nvSpPr>
        <p:spPr>
          <a:xfrm>
            <a:off x="694944" y="4998212"/>
            <a:ext cx="1373581" cy="531876"/>
          </a:xfrm>
          <a:prstGeom prst="rect">
            <a:avLst/>
          </a:prstGeom>
          <a:noFill/>
        </p:spPr>
        <p:txBody>
          <a:bodyPr wrap="square" anchor="t" lIns="0" rIns="0" tIns="0" bIns="0">
            <a:spAutoFit/>
          </a:bodyPr>
          <a:lstStyle/>
          <a:p>
            <a:pPr algn="l"/>
            <a:r>
              <a:rPr sz="1000" b="0" i="0">
                <a:solidFill>
                  <a:srgbClr val="6B6690"/>
                </a:solidFill>
                <a:latin typeface="Calibri"/>
              </a:rPr>
              <a:t>Four proofs, run on a draft with two errors.</a:t>
            </a:r>
          </a:p>
        </p:txBody>
      </p:sp>
      <p:sp>
        <p:nvSpPr>
          <p:cNvPr id="18" name="TextBox 17"/>
          <p:cNvSpPr txBox="1"/>
          <p:nvPr/>
        </p:nvSpPr>
        <p:spPr>
          <a:xfrm>
            <a:off x="241599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Can the fixed report gain rows?</a:t>
            </a:r>
          </a:p>
        </p:txBody>
      </p:sp>
      <p:sp>
        <p:nvSpPr>
          <p:cNvPr id="22" name="TextBox 21"/>
          <p:cNvSpPr txBox="1"/>
          <p:nvPr/>
        </p:nvSpPr>
        <p:spPr>
          <a:xfrm>
            <a:off x="2580589" y="499821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the join can now do to the row count.</a:t>
            </a:r>
          </a:p>
        </p:txBody>
      </p:sp>
      <p:sp>
        <p:nvSpPr>
          <p:cNvPr id="23" name="TextBox 22"/>
          <p:cNvSpPr txBox="1"/>
          <p:nvPr/>
        </p:nvSpPr>
        <p:spPr>
          <a:xfrm>
            <a:off x="430164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a plain JOIN report?</a:t>
            </a:r>
          </a:p>
        </p:txBody>
      </p:sp>
      <p:sp>
        <p:nvSpPr>
          <p:cNvPr id="27" name="TextBox 26"/>
          <p:cNvSpPr txBox="1"/>
          <p:nvPr/>
        </p:nvSpPr>
        <p:spPr>
          <a:xfrm>
            <a:off x="446623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A first draft on the invented tables.</a:t>
            </a:r>
          </a:p>
        </p:txBody>
      </p:sp>
      <p:sp>
        <p:nvSpPr>
          <p:cNvPr id="28" name="TextBox 27"/>
          <p:cNvSpPr txBox="1"/>
          <p:nvPr/>
        </p:nvSpPr>
        <p:spPr>
          <a:xfrm>
            <a:off x="618728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check needs no rupee?</a:t>
            </a:r>
          </a:p>
        </p:txBody>
      </p:sp>
      <p:sp>
        <p:nvSpPr>
          <p:cNvPr id="32" name="TextBox 31"/>
          <p:cNvSpPr txBox="1"/>
          <p:nvPr/>
        </p:nvSpPr>
        <p:spPr>
          <a:xfrm>
            <a:off x="6351879" y="4998212"/>
            <a:ext cx="1373581" cy="531876"/>
          </a:xfrm>
          <a:prstGeom prst="rect">
            <a:avLst/>
          </a:prstGeom>
          <a:noFill/>
        </p:spPr>
        <p:txBody>
          <a:bodyPr wrap="square" anchor="t" lIns="0" rIns="0" tIns="0" bIns="0">
            <a:spAutoFit/>
          </a:bodyPr>
          <a:lstStyle/>
          <a:p>
            <a:pPr algn="l"/>
            <a:r>
              <a:rPr sz="1000" b="0" i="0">
                <a:solidFill>
                  <a:srgbClr val="6B6690"/>
                </a:solidFill>
                <a:latin typeface="Calibri"/>
              </a:rPr>
              <a:t>The count that catches the dropped order.</a:t>
            </a:r>
          </a:p>
        </p:txBody>
      </p:sp>
      <p:sp>
        <p:nvSpPr>
          <p:cNvPr id="33" name="TextBox 32"/>
          <p:cNvSpPr txBox="1"/>
          <p:nvPr/>
        </p:nvSpPr>
        <p:spPr>
          <a:xfrm>
            <a:off x="807293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the bridge close on Q2?</a:t>
            </a:r>
          </a:p>
        </p:txBody>
      </p:sp>
      <p:sp>
        <p:nvSpPr>
          <p:cNvPr id="37" name="TextBox 36"/>
          <p:cNvSpPr txBox="1"/>
          <p:nvPr/>
        </p:nvSpPr>
        <p:spPr>
          <a:xfrm>
            <a:off x="823752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Booked to posted in named moves.</a:t>
            </a:r>
          </a:p>
        </p:txBody>
      </p:sp>
      <p:sp>
        <p:nvSpPr>
          <p:cNvPr id="38" name="TextBox 37"/>
          <p:cNvSpPr txBox="1"/>
          <p:nvPr/>
        </p:nvSpPr>
        <p:spPr>
          <a:xfrm>
            <a:off x="9958578"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3494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4958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capping each order agree?</a:t>
            </a:r>
          </a:p>
        </p:txBody>
      </p:sp>
      <p:sp>
        <p:nvSpPr>
          <p:cNvPr id="42" name="TextBox 41"/>
          <p:cNvSpPr txBox="1"/>
          <p:nvPr/>
        </p:nvSpPr>
        <p:spPr>
          <a:xfrm>
            <a:off x="10123170" y="4998212"/>
            <a:ext cx="1373581" cy="531876"/>
          </a:xfrm>
          <a:prstGeom prst="rect">
            <a:avLst/>
          </a:prstGeom>
          <a:noFill/>
        </p:spPr>
        <p:txBody>
          <a:bodyPr wrap="square" anchor="t" lIns="0" rIns="0" tIns="0" bIns="0">
            <a:spAutoFit/>
          </a:bodyPr>
          <a:lstStyle/>
          <a:p>
            <a:pPr algn="l"/>
            <a:r>
              <a:rPr sz="1000" b="0" i="0">
                <a:solidFill>
                  <a:srgbClr val="CFC9EE"/>
                </a:solidFill>
                <a:latin typeface="Calibri"/>
              </a:rPr>
              <a:t>Collected a second way, each order at its booked.</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47" name="Oval 4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49" name="Oval 4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51" name="Oval 5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90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missing order is worse than a wrong total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an order that drops out of the report more dangerous than a total that is off?</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eye_6af225eae81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WRONG TOTAL</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Visible</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It disagrees with Monday's booked figure or breaks a rule such as cash above bookings, and someone asks.</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ye-off_659cbed618bb.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MISSING ORDER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Invisible</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Every number left in the report is correct for the orders that remain, so nothing looks wrong.</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COST TO ANAND</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order nobody rings</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The one order a report drops is the one the collections team never rings, and nothing on the page says it is gone.</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1" name="Oval 30"/>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5" name="Oval 3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90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Stripe itemizes payouts; PHE lost 15,841 cases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builds this proof in, and which public case shows what its absence costs?</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every row</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INSIDE A STRIPE PAYOUT</a:t>
            </a:r>
          </a:p>
        </p:txBody>
      </p:sp>
      <p:sp>
        <p:nvSpPr>
          <p:cNvPr id="11" name="TextBox 10"/>
          <p:cNvSpPr txBox="1"/>
          <p:nvPr/>
        </p:nvSpPr>
        <p:spPr>
          <a:xfrm>
            <a:off x="530352" y="2829560"/>
            <a:ext cx="3527450" cy="350266"/>
          </a:xfrm>
          <a:prstGeom prst="rect">
            <a:avLst/>
          </a:prstGeom>
          <a:noFill/>
        </p:spPr>
        <p:txBody>
          <a:bodyPr wrap="square" anchor="t" lIns="0" rIns="0" tIns="0" bIns="0">
            <a:spAutoFit/>
          </a:bodyPr>
          <a:lstStyle/>
          <a:p>
            <a:pPr algn="l"/>
            <a:r>
              <a:rPr sz="950" b="0" i="0">
                <a:solidFill>
                  <a:srgbClr val="6B6690"/>
                </a:solidFill>
                <a:latin typeface="Calibri"/>
              </a:rPr>
              <a:t>each payment, refund, dispute and fee, itemized against the deposit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15,841</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POSITIVE CASES PHE LEFT OUT</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of the daily figures, 25 Sep to 2 Oct 2020</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about 1,400</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CASES PER XLS TEMPLATE</a:t>
            </a:r>
          </a:p>
        </p:txBody>
      </p:sp>
      <p:sp>
        <p:nvSpPr>
          <p:cNvPr id="19" name="TextBox 18"/>
          <p:cNvSpPr txBox="1"/>
          <p:nvPr/>
        </p:nvSpPr>
        <p:spPr>
          <a:xfrm>
            <a:off x="8133892" y="2829560"/>
            <a:ext cx="3527450" cy="350266"/>
          </a:xfrm>
          <a:prstGeom prst="rect">
            <a:avLst/>
          </a:prstGeom>
          <a:noFill/>
        </p:spPr>
        <p:txBody>
          <a:bodyPr wrap="square" anchor="t" lIns="0" rIns="0" tIns="0" bIns="0">
            <a:spAutoFit/>
          </a:bodyPr>
          <a:lstStyle/>
          <a:p>
            <a:pPr algn="l"/>
            <a:r>
              <a:rPr sz="950" b="0" i="0">
                <a:solidFill>
                  <a:srgbClr val="6B6690"/>
                </a:solidFill>
                <a:latin typeface="Calibri"/>
              </a:rPr>
              <a:t>each result took several of its 65,000 rows; later cases were left off</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Stripe's payout reconciliation report lets a merchant match each deposit in the bank to the payments behind it. At Public Health England no row that arrived was wrong; the loss sat in the rows that never loaded, which is what a count of rows sent against rows loaded measures.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6" name="Oval 25"/>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0" name="Oval 2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46 / 90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proofs, sized on a draft with two errors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proofs shows Anand the gap is honest, and what does each catch?</a:t>
            </a:r>
          </a:p>
        </p:txBody>
      </p:sp>
      <p:graphicFrame>
        <p:nvGraphicFramePr>
          <p:cNvPr id="9" name="Table 8"/>
          <p:cNvGraphicFramePr>
            <a:graphicFrameLocks noGrp="1"/>
          </p:cNvGraphicFramePr>
          <p:nvPr/>
        </p:nvGraphicFramePr>
        <p:xfrm>
          <a:off x="530352" y="1956816"/>
          <a:ext cx="11130989" cy="2090928"/>
        </p:xfrm>
        <a:graphic>
          <a:graphicData uri="http://schemas.openxmlformats.org/drawingml/2006/table">
            <a:tbl>
              <a:tblPr firstRow="0" bandRow="0">
                <a:tableStyleId>{2D5ABB26-0587-4C30-8999-92F81FD0307C}</a:tableStyleId>
              </a:tblPr>
              <a:tblGrid>
                <a:gridCol w="4163574"/>
                <a:gridCol w="2372231"/>
                <a:gridCol w="2297592"/>
                <a:gridCol w="2297592"/>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Anand reads</a:t>
                      </a:r>
                    </a:p>
                  </a:txBody>
                  <a:tcPr marL="101600" marR="101600" marT="38100" marB="38100" anchor="ctr">
                    <a:solidFill>
                      <a:srgbClr val="1A0F5C"/>
                    </a:solidFill>
                  </a:tcPr>
                </a:tc>
                <a:tc>
                  <a:txBody>
                    <a:bodyPr/>
                    <a:lstStyle/>
                    <a:p>
                      <a:r>
                        <a:rPr sz="1250" b="1" i="0">
                          <a:solidFill>
                            <a:srgbClr val="FFFFFF"/>
                          </a:solidFill>
                          <a:latin typeface="Calibri"/>
                        </a:rPr>
                        <a:t>Catches the dropped order</a:t>
                      </a:r>
                    </a:p>
                  </a:txBody>
                  <a:tcPr marL="101600" marR="101600" marT="38100" marB="38100" anchor="ctr">
                    <a:solidFill>
                      <a:srgbClr val="1A0F5C"/>
                    </a:solidFill>
                  </a:tcPr>
                </a:tc>
                <a:tc>
                  <a:txBody>
                    <a:bodyPr/>
                    <a:lstStyle/>
                    <a:p>
                      <a:r>
                        <a:rPr sz="1250" b="1" i="0">
                          <a:solidFill>
                            <a:srgbClr val="FFFFFF"/>
                          </a:solidFill>
                          <a:latin typeface="Calibri"/>
                        </a:rPr>
                        <a:t>Catches the repeat inside</a:t>
                      </a:r>
                    </a:p>
                  </a:txBody>
                  <a:tcPr marL="101600" marR="101600" marT="38100" marB="38100" anchor="ctr">
                    <a:solidFill>
                      <a:srgbClr val="1A0F5C"/>
                    </a:solidFill>
                  </a:tcPr>
                </a:tc>
              </a:tr>
              <a:tr h="335280">
                <a:tc>
                  <a:txBody>
                    <a:bodyPr/>
                    <a:lstStyle/>
                    <a:p>
                      <a:r>
                        <a:rPr sz="1200" b="0" i="0">
                          <a:solidFill>
                            <a:srgbClr val="1A1440"/>
                          </a:solidFill>
                          <a:latin typeface="Calibri"/>
                        </a:rPr>
                        <a:t>A. One number, booked less posted</a:t>
                      </a:r>
                    </a:p>
                  </a:txBody>
                  <a:tcPr marL="101600" marR="101600" marT="38100" marB="38100" anchor="ctr">
                    <a:solidFill>
                      <a:srgbClr val="FFFFFF"/>
                    </a:solidFill>
                  </a:tcPr>
                </a:tc>
                <a:tc>
                  <a:txBody>
                    <a:bodyPr/>
                    <a:lstStyle/>
                    <a:p>
                      <a:r>
                        <a:rPr sz="1200" b="0" i="0">
                          <a:solidFill>
                            <a:srgbClr val="1A1440"/>
                          </a:solidFill>
                          <a:latin typeface="Calibri"/>
                        </a:rPr>
                        <a:t>1 line</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r>
              <a:tr h="542544">
                <a:tc>
                  <a:txBody>
                    <a:bodyPr/>
                    <a:lstStyle/>
                    <a:p>
                      <a:r>
                        <a:rPr sz="1200" b="0" i="0">
                          <a:solidFill>
                            <a:srgbClr val="1A1440"/>
                          </a:solidFill>
                          <a:latin typeface="Calibri"/>
                        </a:rPr>
                        <a:t>B. The count: rows in, rows out, the difference named</a:t>
                      </a:r>
                    </a:p>
                  </a:txBody>
                  <a:tcPr marL="101600" marR="101600" marT="38100" marB="38100" anchor="ctr">
                    <a:solidFill>
                      <a:srgbClr val="F4F2FA"/>
                    </a:solidFill>
                  </a:tcPr>
                </a:tc>
                <a:tc>
                  <a:txBody>
                    <a:bodyPr/>
                    <a:lstStyle/>
                    <a:p>
                      <a:r>
                        <a:rPr sz="1200" b="0" i="0">
                          <a:solidFill>
                            <a:srgbClr val="1A1440"/>
                          </a:solidFill>
                          <a:latin typeface="Calibri"/>
                        </a:rPr>
                        <a:t>4 lines</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r h="335280">
                <a:tc>
                  <a:txBody>
                    <a:bodyPr/>
                    <a:lstStyle/>
                    <a:p>
                      <a:r>
                        <a:rPr sz="1200" b="0" i="0">
                          <a:solidFill>
                            <a:srgbClr val="1A1440"/>
                          </a:solidFill>
                          <a:latin typeface="Calibri"/>
                        </a:rPr>
                        <a:t>C. The bridge, a list behind each move</a:t>
                      </a:r>
                    </a:p>
                  </a:txBody>
                  <a:tcPr marL="101600" marR="101600" marT="38100" marB="38100" anchor="ctr">
                    <a:solidFill>
                      <a:srgbClr val="FFFFFF"/>
                    </a:solidFill>
                  </a:tcPr>
                </a:tc>
                <a:tc>
                  <a:txBody>
                    <a:bodyPr/>
                    <a:lstStyle/>
                    <a:p>
                      <a:r>
                        <a:rPr sz="1200" b="0" i="0">
                          <a:solidFill>
                            <a:srgbClr val="1A1440"/>
                          </a:solidFill>
                          <a:latin typeface="Calibri"/>
                        </a:rPr>
                        <a:t>5 bars and 2 lists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542544">
                <a:tc>
                  <a:txBody>
                    <a:bodyPr/>
                    <a:lstStyle/>
                    <a:p>
                      <a:r>
                        <a:rPr sz="1200" b="0" i="0">
                          <a:solidFill>
                            <a:srgbClr val="1A1440"/>
                          </a:solidFill>
                          <a:latin typeface="Calibri"/>
                        </a:rPr>
                        <a:t>D. The whole statement, one line per order</a:t>
                      </a:r>
                    </a:p>
                  </a:txBody>
                  <a:tcPr marL="101600" marR="101600" marT="38100" marB="38100" anchor="ctr">
                    <a:solidFill>
                      <a:srgbClr val="F4F2FA"/>
                    </a:solidFill>
                  </a:tcPr>
                </a:tc>
                <a:tc>
                  <a:txBody>
                    <a:bodyPr/>
                    <a:lstStyle/>
                    <a:p>
                      <a:r>
                        <a:rPr sz="1200" b="0" i="0">
                          <a:solidFill>
                            <a:srgbClr val="1A1440"/>
                          </a:solidFill>
                          <a:latin typeface="Calibri"/>
                        </a:rPr>
                        <a:t>every line, 462 on Kalpa's Q2</a:t>
                      </a:r>
                    </a:p>
                  </a:txBody>
                  <a:tcPr marL="101600" marR="101600" marT="38100" marB="38100" anchor="ctr">
                    <a:solidFill>
                      <a:srgbClr val="F4F2FA"/>
                    </a:solidFill>
                  </a:tcPr>
                </a:tc>
                <a:tc>
                  <a:txBody>
                    <a:bodyPr/>
                    <a:lstStyle/>
                    <a:p>
                      <a:r>
                        <a:rPr sz="1200" b="0" i="0">
                          <a:solidFill>
                            <a:srgbClr val="1A1440"/>
                          </a:solidFill>
                          <a:latin typeface="Calibri"/>
                        </a:rPr>
                        <a:t>if read</a:t>
                      </a:r>
                    </a:p>
                  </a:txBody>
                  <a:tcPr marL="101600" marR="101600" marT="38100" marB="38100" anchor="ctr">
                    <a:solidFill>
                      <a:srgbClr val="F4F2FA"/>
                    </a:solidFill>
                  </a:tcPr>
                </a:tc>
                <a:tc>
                  <a:txBody>
                    <a:bodyPr/>
                    <a:lstStyle/>
                    <a:p>
                      <a:r>
                        <a:rPr sz="1200" b="0" i="0">
                          <a:solidFill>
                            <a:srgbClr val="1A1440"/>
                          </a:solidFill>
                          <a:latin typeface="Calibri"/>
                        </a:rPr>
                        <a:t>if read</a:t>
                      </a:r>
                    </a:p>
                  </a:txBody>
                  <a:tcPr marL="101600" marR="101600" marT="38100" marB="38100" anchor="ctr">
                    <a:solidFill>
                      <a:srgbClr val="F4F2FA"/>
                    </a:solidFill>
                  </a:tcPr>
                </a:tc>
              </a:tr>
            </a:tbl>
          </a:graphicData>
        </a:graphic>
      </p:graphicFrame>
      <p:sp>
        <p:nvSpPr>
          <p:cNvPr id="10" name="Rounded Rectangle 9"/>
          <p:cNvSpPr/>
          <p:nvPr/>
        </p:nvSpPr>
        <p:spPr>
          <a:xfrm>
            <a:off x="530352" y="430377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43179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422648"/>
            <a:ext cx="10564063" cy="624840"/>
          </a:xfrm>
          <a:prstGeom prst="rect">
            <a:avLst/>
          </a:prstGeom>
          <a:noFill/>
        </p:spPr>
        <p:txBody>
          <a:bodyPr wrap="square" anchor="ctr" lIns="0" rIns="0" tIns="0" bIns="0">
            <a:spAutoFit/>
          </a:bodyPr>
          <a:lstStyle/>
          <a:p>
            <a:r>
              <a:rPr sz="1500" b="1">
                <a:solidFill>
                  <a:srgbClr val="5B3FD6"/>
                </a:solidFill>
                <a:latin typeface="Calibri"/>
              </a:rPr>
              <a:t>Sized. </a:t>
            </a:r>
            <a:r>
              <a:rPr sz="1500" b="0" i="0">
                <a:solidFill>
                  <a:srgbClr val="1A1440"/>
                </a:solidFill>
                <a:latin typeface="Calibri"/>
              </a:rPr>
              <a:t>All four compute in seconds, so what separates them is what the reader can check. D catches everything only if someone reads 462 lines on Kalpa's Q2.</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90</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the count first, then the bridge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proof leaves the team first, and what fact would change the call?</a:t>
            </a:r>
          </a:p>
        </p:txBody>
      </p:sp>
      <p:pic>
        <p:nvPicPr>
          <p:cNvPr id="9" name="mermaid diagram" descr="b3fc65475b9c2a76.png"/>
          <p:cNvPicPr>
            <a:picLocks noChangeAspect="1"/>
          </p:cNvPicPr>
          <p:nvPr/>
        </p:nvPicPr>
        <p:blipFill>
          <a:blip r:embed="rId5"/>
          <a:stretch>
            <a:fillRect/>
          </a:stretch>
        </p:blipFill>
        <p:spPr>
          <a:xfrm>
            <a:off x="2302516" y="1956816"/>
            <a:ext cx="7586662" cy="2043112"/>
          </a:xfrm>
          <a:prstGeom prst="rect">
            <a:avLst/>
          </a:prstGeom>
        </p:spPr>
      </p:pic>
      <p:sp>
        <p:nvSpPr>
          <p:cNvPr id="10" name="Rounded Rectangle 9"/>
          <p:cNvSpPr/>
          <p:nvPr/>
        </p:nvSpPr>
        <p:spPr>
          <a:xfrm>
            <a:off x="530352" y="41462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2742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65104"/>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If the analyst had to tick every order for the audit file at the quarter's close, the whole statement would travel with the report as an appendix.</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90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can the fixed report gain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Once payments are one row per order, can the report gain rows, or only lose them?</a:t>
            </a:r>
          </a:p>
        </p:txBody>
      </p:sp>
      <p:pic>
        <p:nvPicPr>
          <p:cNvPr id="9" name="mermaid diagram" descr="3a1bfaca2459e2e7.png"/>
          <p:cNvPicPr>
            <a:picLocks noChangeAspect="1"/>
          </p:cNvPicPr>
          <p:nvPr/>
        </p:nvPicPr>
        <p:blipFill>
          <a:blip r:embed="rId5"/>
          <a:stretch>
            <a:fillRect/>
          </a:stretch>
        </p:blipFill>
        <p:spPr>
          <a:xfrm>
            <a:off x="2874016" y="1956816"/>
            <a:ext cx="6443662" cy="1128712"/>
          </a:xfrm>
          <a:prstGeom prst="rect">
            <a:avLst/>
          </a:prstGeom>
        </p:spPr>
      </p:pic>
      <p:sp>
        <p:nvSpPr>
          <p:cNvPr id="10" name="Rounded Rectangle 9"/>
          <p:cNvSpPr/>
          <p:nvPr/>
        </p:nvSpPr>
        <p:spPr>
          <a:xfrm>
            <a:off x="530352" y="323183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5984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070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can the join now do to the row count? a) gain rows, whenever an order has two instalments; b) only lose rows, and only if the join drops an order; c) nothing, a join always returns the left table's rows; d) gain rows, whenever a payment has no order.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90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can only lose rows, and keeps 462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reconciliation lines say on Kalpa's Q2?</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171768"/>
                <a:gridCol w="7959222"/>
              </a:tblGrid>
              <a:tr h="369824">
                <a:tc>
                  <a:txBody>
                    <a:bodyPr/>
                    <a:lstStyle/>
                    <a:p>
                      <a:r>
                        <a:rPr sz="1450" b="1" i="0">
                          <a:solidFill>
                            <a:srgbClr val="FFFFFF"/>
                          </a:solidFill>
                          <a:latin typeface="Calibri"/>
                        </a:rPr>
                        <a:t>Reconciliation line</a:t>
                      </a:r>
                    </a:p>
                  </a:txBody>
                  <a:tcPr marL="101600" marR="101600" marT="38100" marB="38100" anchor="ctr">
                    <a:solidFill>
                      <a:srgbClr val="1A0F5C"/>
                    </a:solidFill>
                  </a:tcPr>
                </a:tc>
                <a:tc>
                  <a:txBody>
                    <a:bodyPr/>
                    <a:lstStyle/>
                    <a:p>
                      <a:r>
                        <a:rPr sz="1450" b="1" i="0">
                          <a:solidFill>
                            <a:srgbClr val="FFFFFF"/>
                          </a:solidFill>
                          <a:latin typeface="Calibri"/>
                        </a:rPr>
                        <a:t>What it says on Kalpa's Q2</a:t>
                      </a:r>
                    </a:p>
                  </a:txBody>
                  <a:tcPr marL="101600" marR="101600" marT="38100" marB="38100" anchor="ctr">
                    <a:solidFill>
                      <a:srgbClr val="1A0F5C"/>
                    </a:solidFill>
                  </a:tcPr>
                </a:tc>
              </a:tr>
              <a:tr h="369824">
                <a:tc>
                  <a:txBody>
                    <a:bodyPr/>
                    <a:lstStyle/>
                    <a:p>
                      <a:r>
                        <a:rPr sz="1400" b="0" i="0">
                          <a:solidFill>
                            <a:srgbClr val="1A1440"/>
                          </a:solidFill>
                          <a:latin typeface="Calibri"/>
                        </a:rPr>
                        <a:t>Rows in</a:t>
                      </a:r>
                    </a:p>
                  </a:txBody>
                  <a:tcPr marL="101600" marR="101600" marT="38100" marB="38100" anchor="ctr">
                    <a:solidFill>
                      <a:srgbClr val="FFFFFF"/>
                    </a:solidFill>
                  </a:tcPr>
                </a:tc>
                <a:tc>
                  <a:txBody>
                    <a:bodyPr/>
                    <a:lstStyle/>
                    <a:p>
                      <a:r>
                        <a:rPr sz="1400" b="0" i="0">
                          <a:solidFill>
                            <a:srgbClr val="1A1440"/>
                          </a:solidFill>
                          <a:latin typeface="Calibri"/>
                        </a:rPr>
                        <a:t>462 Q2 orders, Rs 9,84,00,000 booked, from orders alone</a:t>
                      </a:r>
                    </a:p>
                  </a:txBody>
                  <a:tcPr marL="101600" marR="101600" marT="38100" marB="38100" anchor="ctr">
                    <a:solidFill>
                      <a:srgbClr val="FFFFFF"/>
                    </a:solidFill>
                  </a:tcPr>
                </a:tc>
              </a:tr>
              <a:tr h="369824">
                <a:tc>
                  <a:txBody>
                    <a:bodyPr/>
                    <a:lstStyle/>
                    <a:p>
                      <a:r>
                        <a:rPr sz="1400" b="0" i="0">
                          <a:solidFill>
                            <a:srgbClr val="1A1440"/>
                          </a:solidFill>
                          <a:latin typeface="Calibri"/>
                        </a:rPr>
                        <a:t>Rows out</a:t>
                      </a:r>
                    </a:p>
                  </a:txBody>
                  <a:tcPr marL="101600" marR="101600" marT="38100" marB="38100" anchor="ctr">
                    <a:solidFill>
                      <a:srgbClr val="F4F2FA"/>
                    </a:solidFill>
                  </a:tcPr>
                </a:tc>
                <a:tc>
                  <a:txBody>
                    <a:bodyPr/>
                    <a:lstStyle/>
                    <a:p>
                      <a:r>
                        <a:rPr sz="1400" b="0" i="0">
                          <a:solidFill>
                            <a:srgbClr val="1A1440"/>
                          </a:solidFill>
                          <a:latin typeface="Calibri"/>
                        </a:rPr>
                        <a:t>462 rows, 462 distinct orders, at order grain</a:t>
                      </a:r>
                    </a:p>
                  </a:txBody>
                  <a:tcPr marL="101600" marR="101600" marT="38100" marB="38100" anchor="ctr">
                    <a:solidFill>
                      <a:srgbClr val="F4F2FA"/>
                    </a:solidFill>
                  </a:tcPr>
                </a:tc>
              </a:tr>
              <a:tr h="369824">
                <a:tc>
                  <a:txBody>
                    <a:bodyPr/>
                    <a:lstStyle/>
                    <a:p>
                      <a:r>
                        <a:rPr sz="1400" b="0" i="0">
                          <a:solidFill>
                            <a:srgbClr val="1A1440"/>
                          </a:solidFill>
                          <a:latin typeface="Calibri"/>
                        </a:rPr>
                        <a:t>Booked after the join</a:t>
                      </a:r>
                    </a:p>
                  </a:txBody>
                  <a:tcPr marL="101600" marR="101600" marT="38100" marB="38100" anchor="ctr">
                    <a:solidFill>
                      <a:srgbClr val="FFFFFF"/>
                    </a:solidFill>
                  </a:tcPr>
                </a:tc>
                <a:tc>
                  <a:txBody>
                    <a:bodyPr/>
                    <a:lstStyle/>
                    <a:p>
                      <a:r>
                        <a:rPr sz="1400" b="0" i="0">
                          <a:solidFill>
                            <a:srgbClr val="1A1440"/>
                          </a:solidFill>
                          <a:latin typeface="Calibri"/>
                        </a:rPr>
                        <a:t>Rs 9,84,00,000, equal to booked before it</a:t>
                      </a:r>
                    </a:p>
                  </a:txBody>
                  <a:tcPr marL="101600" marR="101600" marT="38100" marB="38100" anchor="ctr">
                    <a:solidFill>
                      <a:srgbClr val="FFFFFF"/>
                    </a:solidFill>
                  </a:tcPr>
                </a:tc>
              </a:tr>
              <a:tr h="369824">
                <a:tc>
                  <a:txBody>
                    <a:bodyPr/>
                    <a:lstStyle/>
                    <a:p>
                      <a:r>
                        <a:rPr sz="1400" b="0" i="0">
                          <a:solidFill>
                            <a:srgbClr val="1A1440"/>
                          </a:solidFill>
                          <a:latin typeface="Calibri"/>
                        </a:rPr>
                        <a:t>The gap</a:t>
                      </a:r>
                    </a:p>
                  </a:txBody>
                  <a:tcPr marL="101600" marR="101600" marT="38100" marB="38100" anchor="ctr">
                    <a:solidFill>
                      <a:srgbClr val="F4F2FA"/>
                    </a:solidFill>
                  </a:tcPr>
                </a:tc>
                <a:tc>
                  <a:txBody>
                    <a:bodyPr/>
                    <a:lstStyle/>
                    <a:p>
                      <a:r>
                        <a:rPr sz="1400" b="0" i="0">
                          <a:solidFill>
                            <a:srgbClr val="1A1440"/>
                          </a:solidFill>
                          <a:latin typeface="Calibri"/>
                        </a:rPr>
                        <a:t>booked less collected, each rupee named: your own figures</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An order now meets at most one payment row, so no order comes out twice, and the count can move only down, when the join drops an order. </a:t>
            </a:r>
            <a:r>
              <a:rPr sz="1600" b="1" i="0">
                <a:solidFill>
                  <a:srgbClr val="1A1440"/>
                </a:solidFill>
                <a:latin typeface="Calibri"/>
              </a:rPr>
              <a:t>The check.</a:t>
            </a:r>
            <a:r>
              <a:rPr sz="1600" b="0" i="0">
                <a:solidFill>
                  <a:srgbClr val="1A1440"/>
                </a:solidFill>
                <a:latin typeface="Calibri"/>
              </a:rPr>
              <a:t> 462 out, 462 in.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gap does a plain JOIN report?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first draft with a plain JOIN report on the invented tables?</a:t>
            </a:r>
          </a:p>
        </p:txBody>
      </p:sp>
      <p:sp>
        <p:nvSpPr>
          <p:cNvPr id="9" name="Rounded Rectangle 8"/>
          <p:cNvSpPr/>
          <p:nvPr/>
        </p:nvSpPr>
        <p:spPr>
          <a:xfrm>
            <a:off x="530352" y="185648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450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535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teammate takes chapter 2's fix and types JOIN, which in SQL means INNER JOIN, in place of LEFT JOIN, the shortest thing to type.</a:t>
            </a:r>
          </a:p>
        </p:txBody>
      </p:sp>
      <p:sp>
        <p:nvSpPr>
          <p:cNvPr id="12" name="Rounded Rectangle 11"/>
          <p:cNvSpPr/>
          <p:nvPr/>
        </p:nvSpPr>
        <p:spPr>
          <a:xfrm>
            <a:off x="530352" y="2828798"/>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295681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295681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295681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157982"/>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WITH posted_per_order AS (</a:t>
            </a:r>
          </a:p>
          <a:p>
            <a:pPr>
              <a:spcAft>
                <a:spcPts val="200"/>
              </a:spcAft>
            </a:pPr>
            <a:r>
              <a:rPr sz="1400" b="0" i="0">
                <a:solidFill>
                  <a:srgbClr val="E4E1F1"/>
                </a:solidFill>
                <a:latin typeface="Consolas"/>
              </a:rPr>
              <a:t>    SELECT order_id, sum(amount) AS posted FROM tiny_payments GROUP BY order_id</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SELECT count(*) AS orders, sum(o.amount) AS booked, sum(pp.posted) AS posted,</a:t>
            </a:r>
          </a:p>
          <a:p>
            <a:pPr>
              <a:spcAft>
                <a:spcPts val="200"/>
              </a:spcAft>
            </a:pPr>
            <a:r>
              <a:rPr sz="1400" b="0" i="0">
                <a:solidFill>
                  <a:srgbClr val="E4E1F1"/>
                </a:solidFill>
                <a:latin typeface="Consolas"/>
              </a:rPr>
              <a:t>       sum(o.amount) - sum(pp.posted) AS gap</a:t>
            </a:r>
          </a:p>
          <a:p>
            <a:pPr>
              <a:spcAft>
                <a:spcPts val="200"/>
              </a:spcAft>
            </a:pPr>
            <a:r>
              <a:rPr sz="1400" b="0" i="0">
                <a:solidFill>
                  <a:srgbClr val="E4E1F1"/>
                </a:solidFill>
                <a:latin typeface="Consolas"/>
              </a:rPr>
              <a:t>FROM tiny_orders o</a:t>
            </a:r>
          </a:p>
          <a:p>
            <a:pPr>
              <a:spcAft>
                <a:spcPts val="200"/>
              </a:spcAft>
            </a:pPr>
            <a:r>
              <a:rPr sz="1400" b="0" i="0">
                <a:solidFill>
                  <a:srgbClr val="E4E1F1"/>
                </a:solidFill>
                <a:latin typeface="Consolas"/>
              </a:rPr>
              <a:t>JOIN posted_per_order pp ON pp.order_id = o.order_id;</a:t>
            </a:r>
          </a:p>
        </p:txBody>
      </p:sp>
      <p:sp>
        <p:nvSpPr>
          <p:cNvPr id="17" name="Rounded Rectangle 16"/>
          <p:cNvSpPr/>
          <p:nvPr/>
        </p:nvSpPr>
        <p:spPr>
          <a:xfrm>
            <a:off x="530352" y="521792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534593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533679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Booked across the five invented orders is 5,800. What gap does the draft report? a) 800; b) 0; c) minus 1,500; d) minus 700.</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4" name="Oval 23"/>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90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minus 1,500, collected with a surplus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does the plain JOIN draft report?</a:t>
            </a:r>
          </a:p>
        </p:txBody>
      </p:sp>
      <p:sp>
        <p:nvSpPr>
          <p:cNvPr id="9" name="TextBox 8"/>
          <p:cNvSpPr txBox="1"/>
          <p:nvPr/>
        </p:nvSpPr>
        <p:spPr>
          <a:xfrm>
            <a:off x="530352"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4</a:t>
            </a:r>
          </a:p>
        </p:txBody>
      </p:sp>
      <p:sp>
        <p:nvSpPr>
          <p:cNvPr id="10" name="TextBox 9"/>
          <p:cNvSpPr txBox="1"/>
          <p:nvPr/>
        </p:nvSpPr>
        <p:spPr>
          <a:xfrm>
            <a:off x="530352"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ORDERS IN THE REPORT</a:t>
            </a:r>
          </a:p>
        </p:txBody>
      </p:sp>
      <p:sp>
        <p:nvSpPr>
          <p:cNvPr id="11" name="TextBox 10"/>
          <p:cNvSpPr txBox="1"/>
          <p:nvPr/>
        </p:nvSpPr>
        <p:spPr>
          <a:xfrm>
            <a:off x="530352"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5 in the table</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5,000</a:t>
            </a:r>
          </a:p>
        </p:txBody>
      </p:sp>
      <p:sp>
        <p:nvSpPr>
          <p:cNvPr id="14" name="TextBox 13"/>
          <p:cNvSpPr txBox="1"/>
          <p:nvPr/>
        </p:nvSpPr>
        <p:spPr>
          <a:xfrm>
            <a:off x="3381679"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BOOKED, AS REPORTED</a:t>
            </a:r>
          </a:p>
        </p:txBody>
      </p:sp>
      <p:sp>
        <p:nvSpPr>
          <p:cNvPr id="15" name="TextBox 14"/>
          <p:cNvSpPr txBox="1"/>
          <p:nvPr/>
        </p:nvSpPr>
        <p:spPr>
          <a:xfrm>
            <a:off x="3381679"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5,800</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6,500</a:t>
            </a:r>
          </a:p>
        </p:txBody>
      </p:sp>
      <p:sp>
        <p:nvSpPr>
          <p:cNvPr id="18" name="TextBox 17"/>
          <p:cNvSpPr txBox="1"/>
          <p:nvPr/>
        </p:nvSpPr>
        <p:spPr>
          <a:xfrm>
            <a:off x="6233007"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POSTED, AS REPORTED</a:t>
            </a:r>
          </a:p>
        </p:txBody>
      </p:sp>
      <p:sp>
        <p:nvSpPr>
          <p:cNvPr id="19" name="TextBox 18"/>
          <p:cNvSpPr txBox="1"/>
          <p:nvPr/>
        </p:nvSpPr>
        <p:spPr>
          <a:xfrm>
            <a:off x="6233007"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payment row matched</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minus 1,500</a:t>
            </a:r>
          </a:p>
        </p:txBody>
      </p:sp>
      <p:sp>
        <p:nvSpPr>
          <p:cNvPr id="22" name="TextBox 21"/>
          <p:cNvSpPr txBox="1"/>
          <p:nvPr/>
        </p:nvSpPr>
        <p:spPr>
          <a:xfrm>
            <a:off x="9084335"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GAP, AS REPORTED</a:t>
            </a:r>
          </a:p>
        </p:txBody>
      </p:sp>
      <p:sp>
        <p:nvSpPr>
          <p:cNvPr id="23" name="TextBox 22"/>
          <p:cNvSpPr txBox="1"/>
          <p:nvPr/>
        </p:nvSpPr>
        <p:spPr>
          <a:xfrm>
            <a:off x="9084335"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fully collected, with a surplus</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The report says Kalpa collected everything it booked and 1,500 more.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0" name="Oval 29"/>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4" name="Oval 3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90</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two errors cancel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the plain JOIN draft wrong, and which check catches it without reading a rupee?</a:t>
            </a:r>
          </a:p>
        </p:txBody>
      </p:sp>
      <p:pic>
        <p:nvPicPr>
          <p:cNvPr id="9" name="mermaid diagram" descr="11bb0788f71d15ae.png"/>
          <p:cNvPicPr>
            <a:picLocks noChangeAspect="1"/>
          </p:cNvPicPr>
          <p:nvPr/>
        </p:nvPicPr>
        <p:blipFill>
          <a:blip r:embed="rId5"/>
          <a:stretch>
            <a:fillRect/>
          </a:stretch>
        </p:blipFill>
        <p:spPr>
          <a:xfrm>
            <a:off x="2095347" y="1956816"/>
            <a:ext cx="8001000" cy="2300287"/>
          </a:xfrm>
          <a:prstGeom prst="rect">
            <a:avLst/>
          </a:prstGeom>
        </p:spPr>
      </p:pic>
      <p:sp>
        <p:nvSpPr>
          <p:cNvPr id="10" name="Rounded Rectangle 9"/>
          <p:cNvSpPr/>
          <p:nvPr/>
        </p:nvSpPr>
        <p:spPr>
          <a:xfrm>
            <a:off x="530352" y="440340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3142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22279"/>
            <a:ext cx="10564063" cy="624840"/>
          </a:xfrm>
          <a:prstGeom prst="rect">
            <a:avLst/>
          </a:prstGeom>
          <a:noFill/>
        </p:spPr>
        <p:txBody>
          <a:bodyPr wrap="square" anchor="ctr" lIns="0" rIns="0" tIns="0" bIns="0">
            <a:spAutoFit/>
          </a:bodyPr>
          <a:lstStyle/>
          <a:p>
            <a:r>
              <a:rPr sz="1500" b="1">
                <a:solidFill>
                  <a:srgbClr val="5B3FD6"/>
                </a:solidFill>
                <a:latin typeface="Calibri"/>
              </a:rPr>
              <a:t>The check that catches it. </a:t>
            </a:r>
            <a:r>
              <a:rPr sz="1500" b="0" i="0">
                <a:solidFill>
                  <a:srgbClr val="1A1440"/>
                </a:solidFill>
                <a:latin typeface="Calibri"/>
              </a:rPr>
              <a:t>Count the orders in the report against the orders in the table: 4 against 5. The count needs no rupee, which is why it runs first and every time.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90</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LEFT JOIN, and two causes remain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LEFT JOIN restore, and what is still wrong with the gap?</a:t>
            </a:r>
          </a:p>
        </p:txBody>
      </p:sp>
      <p:graphicFrame>
        <p:nvGraphicFramePr>
          <p:cNvPr id="9" name="Table 8"/>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4036023"/>
                <a:gridCol w="914400"/>
                <a:gridCol w="914400"/>
                <a:gridCol w="914400"/>
                <a:gridCol w="4351767"/>
              </a:tblGrid>
              <a:tr h="335280">
                <a:tc>
                  <a:txBody>
                    <a:bodyPr/>
                    <a:lstStyle/>
                    <a:p>
                      <a:r>
                        <a:rPr sz="1250" b="1" i="0">
                          <a:solidFill>
                            <a:srgbClr val="FFFFFF"/>
                          </a:solidFill>
                          <a:latin typeface="Calibri"/>
                        </a:rPr>
                        <a:t>Draft</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Booked</a:t>
                      </a:r>
                    </a:p>
                  </a:txBody>
                  <a:tcPr marL="101600" marR="101600" marT="38100" marB="38100" anchor="ctr">
                    <a:solidFill>
                      <a:srgbClr val="1A0F5C"/>
                    </a:solidFill>
                  </a:tcPr>
                </a:tc>
                <a:tc>
                  <a:txBody>
                    <a:bodyPr/>
                    <a:lstStyle/>
                    <a:p>
                      <a:r>
                        <a:rPr sz="1250" b="1" i="0">
                          <a:solidFill>
                            <a:srgbClr val="FFFFFF"/>
                          </a:solidFill>
                          <a:latin typeface="Calibri"/>
                        </a:rPr>
                        <a:t>Posted</a:t>
                      </a:r>
                    </a:p>
                  </a:txBody>
                  <a:tcPr marL="101600" marR="101600" marT="38100" marB="38100" anchor="ctr">
                    <a:solidFill>
                      <a:srgbClr val="1A0F5C"/>
                    </a:solidFill>
                  </a:tcPr>
                </a:tc>
                <a:tc>
                  <a:txBody>
                    <a:bodyPr/>
                    <a:lstStyle/>
                    <a:p>
                      <a:r>
                        <a:rPr sz="1250" b="1" i="0">
                          <a:solidFill>
                            <a:srgbClr val="FFFFFF"/>
                          </a:solidFill>
                          <a:latin typeface="Calibri"/>
                        </a:rPr>
                        <a:t>Gap</a:t>
                      </a:r>
                    </a:p>
                  </a:txBody>
                  <a:tcPr marL="101600" marR="101600" marT="38100" marB="38100" anchor="ctr">
                    <a:solidFill>
                      <a:srgbClr val="1A0F5C"/>
                    </a:solidFill>
                  </a:tcPr>
                </a:tc>
              </a:tr>
              <a:tr h="335280">
                <a:tc>
                  <a:txBody>
                    <a:bodyPr/>
                    <a:lstStyle/>
                    <a:p>
                      <a:r>
                        <a:rPr sz="1200" b="0" i="0">
                          <a:solidFill>
                            <a:srgbClr val="1A1440"/>
                          </a:solidFill>
                          <a:latin typeface="Calibri"/>
                        </a:rPr>
                        <a:t>plain JOIN</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5,000</a:t>
                      </a:r>
                    </a:p>
                  </a:txBody>
                  <a:tcPr marL="101600" marR="101600" marT="38100" marB="38100" anchor="ctr">
                    <a:solidFill>
                      <a:srgbClr val="FFFFFF"/>
                    </a:solidFill>
                  </a:tcPr>
                </a:tc>
                <a:tc>
                  <a:txBody>
                    <a:bodyPr/>
                    <a:lstStyle/>
                    <a:p>
                      <a:r>
                        <a:rPr sz="1200" b="0" i="0">
                          <a:solidFill>
                            <a:srgbClr val="1A1440"/>
                          </a:solidFill>
                          <a:latin typeface="Calibri"/>
                        </a:rPr>
                        <a:t>6,500</a:t>
                      </a:r>
                    </a:p>
                  </a:txBody>
                  <a:tcPr marL="101600" marR="101600" marT="38100" marB="38100" anchor="ctr">
                    <a:solidFill>
                      <a:srgbClr val="FFFFFF"/>
                    </a:solidFill>
                  </a:tcPr>
                </a:tc>
                <a:tc>
                  <a:txBody>
                    <a:bodyPr/>
                    <a:lstStyle/>
                    <a:p>
                      <a:r>
                        <a:rPr sz="1200" b="0" i="0">
                          <a:solidFill>
                            <a:srgbClr val="1A1440"/>
                          </a:solidFill>
                          <a:latin typeface="Calibri"/>
                        </a:rPr>
                        <a:t>minus 1,500</a:t>
                      </a:r>
                    </a:p>
                  </a:txBody>
                  <a:tcPr marL="101600" marR="101600" marT="38100" marB="38100" anchor="ctr">
                    <a:solidFill>
                      <a:srgbClr val="FFFFFF"/>
                    </a:solidFill>
                  </a:tcPr>
                </a:tc>
              </a:tr>
              <a:tr h="335280">
                <a:tc>
                  <a:txBody>
                    <a:bodyPr/>
                    <a:lstStyle/>
                    <a:p>
                      <a:r>
                        <a:rPr sz="1200" b="0" i="0">
                          <a:solidFill>
                            <a:srgbClr val="1A1440"/>
                          </a:solidFill>
                          <a:latin typeface="Calibri"/>
                        </a:rPr>
                        <a:t>LEFT JOIN</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5,800</a:t>
                      </a:r>
                    </a:p>
                  </a:txBody>
                  <a:tcPr marL="101600" marR="101600" marT="38100" marB="38100" anchor="ctr">
                    <a:solidFill>
                      <a:srgbClr val="F4F2FA"/>
                    </a:solidFill>
                  </a:tcPr>
                </a:tc>
                <a:tc>
                  <a:txBody>
                    <a:bodyPr/>
                    <a:lstStyle/>
                    <a:p>
                      <a:r>
                        <a:rPr sz="1200" b="0" i="0">
                          <a:solidFill>
                            <a:srgbClr val="1A1440"/>
                          </a:solidFill>
                          <a:latin typeface="Calibri"/>
                        </a:rPr>
                        <a:t>6,500</a:t>
                      </a:r>
                    </a:p>
                  </a:txBody>
                  <a:tcPr marL="101600" marR="101600" marT="38100" marB="38100" anchor="ctr">
                    <a:solidFill>
                      <a:srgbClr val="F4F2FA"/>
                    </a:solidFill>
                  </a:tcPr>
                </a:tc>
                <a:tc>
                  <a:txBody>
                    <a:bodyPr/>
                    <a:lstStyle/>
                    <a:p>
                      <a:r>
                        <a:rPr sz="1200" b="0" i="0">
                          <a:solidFill>
                            <a:srgbClr val="1A1440"/>
                          </a:solidFill>
                          <a:latin typeface="Calibri"/>
                        </a:rPr>
                        <a:t>minus 700</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8915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T-4 is back with NULL where its posted cash would be, and the count closes at 5 of 5. The gap still reads minus 700, which is 800 never paid less 1,500 posted twice: two different things netted into one figure that describes neither.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90</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is collected, each payment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moves carry booked to what the feed posted?</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1702373"/>
                <a:gridCol w="7158199"/>
                <a:gridCol w="2270418"/>
              </a:tblGrid>
              <a:tr h="369824">
                <a:tc>
                  <a:txBody>
                    <a:bodyPr/>
                    <a:lstStyle/>
                    <a:p>
                      <a:r>
                        <a:rPr sz="1450" b="1" i="0">
                          <a:solidFill>
                            <a:srgbClr val="FFFFFF"/>
                          </a:solidFill>
                          <a:latin typeface="Calibri"/>
                        </a:rPr>
                        <a:t>Move</a:t>
                      </a:r>
                    </a:p>
                  </a:txBody>
                  <a:tcPr marL="101600" marR="101600" marT="38100" marB="38100" anchor="ctr">
                    <a:solidFill>
                      <a:srgbClr val="1A0F5C"/>
                    </a:solidFill>
                  </a:tcPr>
                </a:tc>
                <a:tc>
                  <a:txBody>
                    <a:bodyPr/>
                    <a:lstStyle/>
                    <a:p>
                      <a:r>
                        <a:rPr sz="1450" b="1" i="0">
                          <a:solidFill>
                            <a:srgbClr val="FFFFFF"/>
                          </a:solidFill>
                          <a:latin typeface="Calibri"/>
                        </a:rPr>
                        <a:t>Definition, per order</a:t>
                      </a:r>
                    </a:p>
                  </a:txBody>
                  <a:tcPr marL="101600" marR="101600" marT="38100" marB="38100" anchor="ctr">
                    <a:solidFill>
                      <a:srgbClr val="1A0F5C"/>
                    </a:solidFill>
                  </a:tcPr>
                </a:tc>
                <a:tc>
                  <a:txBody>
                    <a:bodyPr/>
                    <a:lstStyle/>
                    <a:p>
                      <a:r>
                        <a:rPr sz="1450" b="1" i="0">
                          <a:solidFill>
                            <a:srgbClr val="FFFFFF"/>
                          </a:solidFill>
                          <a:latin typeface="Calibri"/>
                        </a:rPr>
                        <a:t>Invented tables</a:t>
                      </a:r>
                    </a:p>
                  </a:txBody>
                  <a:tcPr marL="101600" marR="101600" marT="38100" marB="38100" anchor="ctr">
                    <a:solidFill>
                      <a:srgbClr val="1A0F5C"/>
                    </a:solidFill>
                  </a:tcPr>
                </a:tc>
              </a:tr>
              <a:tr h="369824">
                <a:tc>
                  <a:txBody>
                    <a:bodyPr/>
                    <a:lstStyle/>
                    <a:p>
                      <a:r>
                        <a:rPr sz="1400" b="0" i="0">
                          <a:solidFill>
                            <a:srgbClr val="1A1440"/>
                          </a:solidFill>
                          <a:latin typeface="Calibri"/>
                        </a:rPr>
                        <a:t>Never paid</a:t>
                      </a:r>
                    </a:p>
                  </a:txBody>
                  <a:tcPr marL="101600" marR="101600" marT="38100" marB="38100" anchor="ctr">
                    <a:solidFill>
                      <a:srgbClr val="FFFFFF"/>
                    </a:solidFill>
                  </a:tcPr>
                </a:tc>
                <a:tc>
                  <a:txBody>
                    <a:bodyPr/>
                    <a:lstStyle/>
                    <a:p>
                      <a:r>
                        <a:rPr sz="1400" b="0" i="0">
                          <a:solidFill>
                            <a:srgbClr val="1A1440"/>
                          </a:solidFill>
                          <a:latin typeface="Calibri"/>
                        </a:rPr>
                        <a:t>Booked, where the order has no payment row at all</a:t>
                      </a:r>
                    </a:p>
                  </a:txBody>
                  <a:tcPr marL="101600" marR="101600" marT="38100" marB="38100" anchor="ctr">
                    <a:solidFill>
                      <a:srgbClr val="FFFFFF"/>
                    </a:solidFill>
                  </a:tcPr>
                </a:tc>
                <a:tc>
                  <a:txBody>
                    <a:bodyPr/>
                    <a:lstStyle/>
                    <a:p>
                      <a:r>
                        <a:rPr sz="1400" b="0" i="0">
                          <a:solidFill>
                            <a:srgbClr val="1A1440"/>
                          </a:solidFill>
                          <a:latin typeface="Calibri"/>
                        </a:rPr>
                        <a:t>T-4, 800</a:t>
                      </a:r>
                    </a:p>
                  </a:txBody>
                  <a:tcPr marL="101600" marR="101600" marT="38100" marB="38100" anchor="ctr">
                    <a:solidFill>
                      <a:srgbClr val="FFFFFF"/>
                    </a:solidFill>
                  </a:tcPr>
                </a:tc>
              </a:tr>
              <a:tr h="369824">
                <a:tc>
                  <a:txBody>
                    <a:bodyPr/>
                    <a:lstStyle/>
                    <a:p>
                      <a:r>
                        <a:rPr sz="1400" b="0" i="0">
                          <a:solidFill>
                            <a:srgbClr val="1A1440"/>
                          </a:solidFill>
                          <a:latin typeface="Calibri"/>
                        </a:rPr>
                        <a:t>Paid short</a:t>
                      </a:r>
                    </a:p>
                  </a:txBody>
                  <a:tcPr marL="101600" marR="101600" marT="38100" marB="38100" anchor="ctr">
                    <a:solidFill>
                      <a:srgbClr val="F4F2FA"/>
                    </a:solidFill>
                  </a:tcPr>
                </a:tc>
                <a:tc>
                  <a:txBody>
                    <a:bodyPr/>
                    <a:lstStyle/>
                    <a:p>
                      <a:r>
                        <a:rPr sz="1400" b="0" i="0">
                          <a:solidFill>
                            <a:srgbClr val="1A1440"/>
                          </a:solidFill>
                          <a:latin typeface="Calibri"/>
                        </a:rPr>
                        <a:t>Booked less collected, where collected is below booked</a:t>
                      </a:r>
                    </a:p>
                  </a:txBody>
                  <a:tcPr marL="101600" marR="101600" marT="38100" marB="38100" anchor="ctr">
                    <a:solidFill>
                      <a:srgbClr val="F4F2FA"/>
                    </a:solidFill>
                  </a:tcPr>
                </a:tc>
                <a:tc>
                  <a:txBody>
                    <a:bodyPr/>
                    <a:lstStyle/>
                    <a:p>
                      <a:r>
                        <a:rPr sz="1400" b="0" i="0">
                          <a:solidFill>
                            <a:srgbClr val="1A1440"/>
                          </a:solidFill>
                          <a:latin typeface="Calibri"/>
                        </a:rPr>
                        <a:t>none</a:t>
                      </a:r>
                    </a:p>
                  </a:txBody>
                  <a:tcPr marL="101600" marR="101600" marT="38100" marB="38100" anchor="ctr">
                    <a:solidFill>
                      <a:srgbClr val="F4F2FA"/>
                    </a:solidFill>
                  </a:tcPr>
                </a:tc>
              </a:tr>
              <a:tr h="369824">
                <a:tc>
                  <a:txBody>
                    <a:bodyPr/>
                    <a:lstStyle/>
                    <a:p>
                      <a:r>
                        <a:rPr sz="1400" b="0" i="0">
                          <a:solidFill>
                            <a:srgbClr val="1A1440"/>
                          </a:solidFill>
                          <a:latin typeface="Calibri"/>
                        </a:rPr>
                        <a:t>Posted twice</a:t>
                      </a:r>
                    </a:p>
                  </a:txBody>
                  <a:tcPr marL="101600" marR="101600" marT="38100" marB="38100" anchor="ctr">
                    <a:solidFill>
                      <a:srgbClr val="FFFFFF"/>
                    </a:solidFill>
                  </a:tcPr>
                </a:tc>
                <a:tc>
                  <a:txBody>
                    <a:bodyPr/>
                    <a:lstStyle/>
                    <a:p>
                      <a:r>
                        <a:rPr sz="1400" b="0" i="0">
                          <a:solidFill>
                            <a:srgbClr val="1A1440"/>
                          </a:solidFill>
                          <a:latin typeface="Calibri"/>
                        </a:rPr>
                        <a:t>Posted less collected: the same instalment written more than once</a:t>
                      </a:r>
                    </a:p>
                  </a:txBody>
                  <a:tcPr marL="101600" marR="101600" marT="38100" marB="38100" anchor="ctr">
                    <a:solidFill>
                      <a:srgbClr val="FFFFFF"/>
                    </a:solidFill>
                  </a:tcPr>
                </a:tc>
                <a:tc>
                  <a:txBody>
                    <a:bodyPr/>
                    <a:lstStyle/>
                    <a:p>
                      <a:r>
                        <a:rPr sz="1400" b="0" i="0">
                          <a:solidFill>
                            <a:srgbClr val="1A1440"/>
                          </a:solidFill>
                          <a:latin typeface="Calibri"/>
                        </a:rPr>
                        <a:t>T-3, 1,500</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the invented tables, what is collected, each payment counted once? a) 6,500; b) 5,800; c) 5,000; d) 4,200.</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90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5,000, and the bridge closes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booked, less each named move, land exactly on what the feed posted?</a:t>
            </a:r>
          </a:p>
        </p:txBody>
      </p:sp>
      <p:pic>
        <p:nvPicPr>
          <p:cNvPr id="9" name="mermaid diagram" descr="caad271974475c83.png"/>
          <p:cNvPicPr>
            <a:picLocks noChangeAspect="1"/>
          </p:cNvPicPr>
          <p:nvPr/>
        </p:nvPicPr>
        <p:blipFill>
          <a:blip r:embed="rId5"/>
          <a:stretch>
            <a:fillRect/>
          </a:stretch>
        </p:blipFill>
        <p:spPr>
          <a:xfrm>
            <a:off x="795185" y="1956816"/>
            <a:ext cx="10601325" cy="871537"/>
          </a:xfrm>
          <a:prstGeom prst="rect">
            <a:avLst/>
          </a:prstGeom>
        </p:spPr>
      </p:pic>
      <p:sp>
        <p:nvSpPr>
          <p:cNvPr id="10" name="TextBox 9"/>
          <p:cNvSpPr txBox="1"/>
          <p:nvPr/>
        </p:nvSpPr>
        <p:spPr>
          <a:xfrm>
            <a:off x="530352" y="2974657"/>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Each move is one bar of the bridge chart, with a list of orders behind it. </a:t>
            </a:r>
            <a:r>
              <a:rPr sz="1600" b="1" i="0">
                <a:solidFill>
                  <a:srgbClr val="1A1440"/>
                </a:solidFill>
                <a:latin typeface="Calibri"/>
              </a:rPr>
              <a:t>The check.</a:t>
            </a:r>
            <a:r>
              <a:rPr sz="1600" b="0" i="0">
                <a:solidFill>
                  <a:srgbClr val="1A1440"/>
                </a:solidFill>
                <a:latin typeface="Calibri"/>
              </a:rPr>
              <a:t> Booked less never paid less paid short equals collected, and collected plus posted twice equals posted. On Kalpa's Q2 the same bridge closes at every step and lands on the payments table's own total for Q2 orders.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90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cap each order at booked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collected come out the same when each order's posted cash is capped at its booked amount?</a:t>
            </a:r>
          </a:p>
        </p:txBody>
      </p:sp>
      <p:graphicFrame>
        <p:nvGraphicFramePr>
          <p:cNvPr id="9" name="Table 8"/>
          <p:cNvGraphicFramePr>
            <a:graphicFrameLocks noGrp="1"/>
          </p:cNvGraphicFramePr>
          <p:nvPr/>
        </p:nvGraphicFramePr>
        <p:xfrm>
          <a:off x="530352" y="1956816"/>
          <a:ext cx="11130990" cy="2011680"/>
        </p:xfrm>
        <a:graphic>
          <a:graphicData uri="http://schemas.openxmlformats.org/drawingml/2006/table">
            <a:tbl>
              <a:tblPr firstRow="0" bandRow="0">
                <a:tableStyleId>{2D5ABB26-0587-4C30-8999-92F81FD0307C}</a:tableStyleId>
              </a:tblPr>
              <a:tblGrid>
                <a:gridCol w="2795650"/>
                <a:gridCol w="914400"/>
                <a:gridCol w="914400"/>
                <a:gridCol w="6506540"/>
              </a:tblGrid>
              <a:tr h="335280">
                <a:tc>
                  <a:txBody>
                    <a:bodyPr/>
                    <a:lstStyle/>
                    <a:p>
                      <a:r>
                        <a:rPr sz="1250" b="1" i="0">
                          <a:solidFill>
                            <a:srgbClr val="FFFFFF"/>
                          </a:solidFill>
                          <a:latin typeface="Calibri"/>
                        </a:rPr>
                        <a:t>order_id</a:t>
                      </a:r>
                    </a:p>
                  </a:txBody>
                  <a:tcPr marL="101600" marR="101600" marT="38100" marB="38100" anchor="ctr">
                    <a:solidFill>
                      <a:srgbClr val="1A0F5C"/>
                    </a:solidFill>
                  </a:tcPr>
                </a:tc>
                <a:tc>
                  <a:txBody>
                    <a:bodyPr/>
                    <a:lstStyle/>
                    <a:p>
                      <a:r>
                        <a:rPr sz="1250" b="1" i="0">
                          <a:solidFill>
                            <a:srgbClr val="FFFFFF"/>
                          </a:solidFill>
                          <a:latin typeface="Calibri"/>
                        </a:rPr>
                        <a:t>booked</a:t>
                      </a:r>
                    </a:p>
                  </a:txBody>
                  <a:tcPr marL="101600" marR="101600" marT="38100" marB="38100" anchor="ctr">
                    <a:solidFill>
                      <a:srgbClr val="1A0F5C"/>
                    </a:solidFill>
                  </a:tcPr>
                </a:tc>
                <a:tc>
                  <a:txBody>
                    <a:bodyPr/>
                    <a:lstStyle/>
                    <a:p>
                      <a:r>
                        <a:rPr sz="1250" b="1" i="0">
                          <a:solidFill>
                            <a:srgbClr val="FFFFFF"/>
                          </a:solidFill>
                          <a:latin typeface="Calibri"/>
                        </a:rPr>
                        <a:t>posted</a:t>
                      </a:r>
                    </a:p>
                  </a:txBody>
                  <a:tcPr marL="101600" marR="101600" marT="38100" marB="38100" anchor="ctr">
                    <a:solidFill>
                      <a:srgbClr val="1A0F5C"/>
                    </a:solidFill>
                  </a:tcPr>
                </a:tc>
                <a:tc>
                  <a:txBody>
                    <a:bodyPr/>
                    <a:lstStyle/>
                    <a:p>
                      <a:r>
                        <a:rPr sz="1250" b="1" i="0">
                          <a:solidFill>
                            <a:srgbClr val="FFFFFF"/>
                          </a:solidFill>
                          <a:latin typeface="Calibri"/>
                        </a:rPr>
                        <a:t>the smaller of the two</a:t>
                      </a:r>
                    </a:p>
                  </a:txBody>
                  <a:tcPr marL="101600" marR="101600" marT="38100" marB="38100" anchor="ctr">
                    <a:solidFill>
                      <a:srgbClr val="1A0F5C"/>
                    </a:solidFill>
                  </a:tcPr>
                </a:tc>
              </a:tr>
              <a:tr h="335280">
                <a:tc>
                  <a:txBody>
                    <a:bodyPr/>
                    <a:lstStyle/>
                    <a:p>
                      <a:r>
                        <a:rPr sz="1200" b="0" i="0">
                          <a:solidFill>
                            <a:srgbClr val="1A1440"/>
                          </a:solidFill>
                          <a:latin typeface="Calibri"/>
                        </a:rPr>
                        <a:t>T-1</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T-2</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r>
              <a:tr h="335280">
                <a:tc>
                  <a:txBody>
                    <a:bodyPr/>
                    <a:lstStyle/>
                    <a:p>
                      <a:r>
                        <a:rPr sz="1200" b="0" i="0">
                          <a:solidFill>
                            <a:srgbClr val="1A1440"/>
                          </a:solidFill>
                          <a:latin typeface="Calibri"/>
                        </a:rPr>
                        <a:t>T-3</a:t>
                      </a:r>
                    </a:p>
                  </a:txBody>
                  <a:tcPr marL="101600" marR="101600" marT="38100" marB="38100" anchor="ctr">
                    <a:solidFill>
                      <a:srgbClr val="FFFFFF"/>
                    </a:solidFill>
                  </a:tcPr>
                </a:tc>
                <a:tc>
                  <a:txBody>
                    <a:bodyPr/>
                    <a:lstStyle/>
                    <a:p>
                      <a:r>
                        <a:rPr sz="1200" b="0" i="0">
                          <a:solidFill>
                            <a:srgbClr val="1A1440"/>
                          </a:solidFill>
                          <a:latin typeface="Calibri"/>
                        </a:rPr>
                        <a:t>1,500</a:t>
                      </a:r>
                    </a:p>
                  </a:txBody>
                  <a:tcPr marL="101600" marR="101600" marT="38100" marB="38100" anchor="ctr">
                    <a:solidFill>
                      <a:srgbClr val="FFFFFF"/>
                    </a:solidFill>
                  </a:tcPr>
                </a:tc>
                <a:tc>
                  <a:txBody>
                    <a:bodyPr/>
                    <a:lstStyle/>
                    <a:p>
                      <a:r>
                        <a:rPr sz="1200" b="0" i="0">
                          <a:solidFill>
                            <a:srgbClr val="1A1440"/>
                          </a:solidFill>
                          <a:latin typeface="Calibri"/>
                        </a:rPr>
                        <a:t>3,000</a:t>
                      </a:r>
                    </a:p>
                  </a:txBody>
                  <a:tcPr marL="101600" marR="101600" marT="38100" marB="38100" anchor="ctr">
                    <a:solidFill>
                      <a:srgbClr val="FFFFFF"/>
                    </a:solidFill>
                  </a:tcPr>
                </a:tc>
                <a:tc>
                  <a:txBody>
                    <a:bodyPr/>
                    <a:lstStyle/>
                    <a:p>
                      <a:r>
                        <a:rPr sz="1200" b="0" i="0">
                          <a:solidFill>
                            <a:srgbClr val="1A1440"/>
                          </a:solidFill>
                          <a:latin typeface="Calibri"/>
                        </a:rPr>
                        <a:t>1,500</a:t>
                      </a:r>
                    </a:p>
                  </a:txBody>
                  <a:tcPr marL="101600" marR="101600" marT="38100" marB="38100" anchor="ctr">
                    <a:solidFill>
                      <a:srgbClr val="FFFFFF"/>
                    </a:solidFill>
                  </a:tcPr>
                </a:tc>
              </a:tr>
              <a:tr h="335280">
                <a:tc>
                  <a:txBody>
                    <a:bodyPr/>
                    <a:lstStyle/>
                    <a:p>
                      <a:r>
                        <a:rPr sz="1200" b="0" i="0">
                          <a:solidFill>
                            <a:srgbClr val="1A1440"/>
                          </a:solidFill>
                          <a:latin typeface="Calibri"/>
                        </a:rPr>
                        <a:t>T-5</a:t>
                      </a:r>
                    </a:p>
                  </a:txBody>
                  <a:tcPr marL="101600" marR="101600" marT="38100" marB="38100" anchor="ctr">
                    <a:solidFill>
                      <a:srgbClr val="F4F2FA"/>
                    </a:solidFill>
                  </a:tcPr>
                </a:tc>
                <a:tc>
                  <a:txBody>
                    <a:bodyPr/>
                    <a:lstStyle/>
                    <a:p>
                      <a:r>
                        <a:rPr sz="1200" b="0" i="0">
                          <a:solidFill>
                            <a:srgbClr val="1A1440"/>
                          </a:solidFill>
                          <a:latin typeface="Calibri"/>
                        </a:rPr>
                        <a:t>500</a:t>
                      </a:r>
                    </a:p>
                  </a:txBody>
                  <a:tcPr marL="101600" marR="101600" marT="38100" marB="38100" anchor="ctr">
                    <a:solidFill>
                      <a:srgbClr val="F4F2FA"/>
                    </a:solidFill>
                  </a:tcPr>
                </a:tc>
                <a:tc>
                  <a:txBody>
                    <a:bodyPr/>
                    <a:lstStyle/>
                    <a:p>
                      <a:r>
                        <a:rPr sz="1200" b="0" i="0">
                          <a:solidFill>
                            <a:srgbClr val="1A1440"/>
                          </a:solidFill>
                          <a:latin typeface="Calibri"/>
                        </a:rPr>
                        <a:t>500</a:t>
                      </a:r>
                    </a:p>
                  </a:txBody>
                  <a:tcPr marL="101600" marR="101600" marT="38100" marB="38100" anchor="ctr">
                    <a:solidFill>
                      <a:srgbClr val="F4F2FA"/>
                    </a:solidFill>
                  </a:tcPr>
                </a:tc>
                <a:tc>
                  <a:txBody>
                    <a:bodyPr/>
                    <a:lstStyle/>
                    <a:p>
                      <a:r>
                        <a:rPr sz="1200" b="0" i="0">
                          <a:solidFill>
                            <a:srgbClr val="1A1440"/>
                          </a:solidFill>
                          <a:latin typeface="Calibri"/>
                        </a:rPr>
                        <a:t>500</a:t>
                      </a:r>
                    </a:p>
                  </a:txBody>
                  <a:tcPr marL="101600" marR="101600" marT="38100" marB="38100" anchor="ctr">
                    <a:solidFill>
                      <a:srgbClr val="F4F2FA"/>
                    </a:solidFill>
                  </a:tcPr>
                </a:tc>
              </a:tr>
              <a:tr h="335280">
                <a:tc>
                  <a:txBody>
                    <a:bodyPr/>
                    <a:lstStyle/>
                    <a:p>
                      <a:r>
                        <a:rPr sz="1200" b="1" i="0">
                          <a:solidFill>
                            <a:srgbClr val="1A1440"/>
                          </a:solidFill>
                          <a:latin typeface="Calibri"/>
                        </a:rPr>
                        <a:t>Collected</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1" i="0">
                          <a:solidFill>
                            <a:srgbClr val="1A1440"/>
                          </a:solidFill>
                          <a:latin typeface="Calibri"/>
                        </a:rPr>
                        <a:t>5,000</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14249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cap gives 5,000 on the invented tables and agrees with the bridge to the rupee on Kalpa's Q2. The two methods fail in different places: the instalment method would count a retry written under a new instalment number, and the cap would throw away a genuine overpayment. Agreement rules out either one alone; only a retry under a new instalment number on an order still paid short, or two errors of the same size, could pass both.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90</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3, answered in six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3 answer, and what question does it leave?</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2999653"/>
                <a:gridCol w="8131337"/>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The answer, with its number</a:t>
                      </a:r>
                    </a:p>
                  </a:txBody>
                  <a:tcPr marL="101600" marR="101600" marT="38100" marB="38100" anchor="ctr">
                    <a:solidFill>
                      <a:srgbClr val="1A0F5C"/>
                    </a:solidFill>
                  </a:tcPr>
                </a:tc>
              </a:tr>
              <a:tr h="310896">
                <a:tc>
                  <a:txBody>
                    <a:bodyPr/>
                    <a:lstStyle/>
                    <a:p>
                      <a:r>
                        <a:rPr sz="900" b="0" i="0">
                          <a:solidFill>
                            <a:srgbClr val="1A1440"/>
                          </a:solidFill>
                          <a:latin typeface="Calibri"/>
                        </a:rPr>
                        <a:t>Which proof runs first?</a:t>
                      </a:r>
                    </a:p>
                  </a:txBody>
                  <a:tcPr marL="101600" marR="101600" marT="38100" marB="38100" anchor="ctr">
                    <a:solidFill>
                      <a:srgbClr val="FFFFFF"/>
                    </a:solidFill>
                  </a:tcPr>
                </a:tc>
                <a:tc>
                  <a:txBody>
                    <a:bodyPr/>
                    <a:lstStyle/>
                    <a:p>
                      <a:r>
                        <a:rPr sz="900" b="0" i="0">
                          <a:solidFill>
                            <a:srgbClr val="1A1440"/>
                          </a:solidFill>
                          <a:latin typeface="Calibri"/>
                        </a:rPr>
                        <a:t>The count, then the bridge with a list behind each move</a:t>
                      </a:r>
                    </a:p>
                  </a:txBody>
                  <a:tcPr marL="101600" marR="101600" marT="38100" marB="38100" anchor="ctr">
                    <a:solidFill>
                      <a:srgbClr val="FFFFFF"/>
                    </a:solidFill>
                  </a:tcPr>
                </a:tc>
              </a:tr>
              <a:tr h="310896">
                <a:tc>
                  <a:txBody>
                    <a:bodyPr/>
                    <a:lstStyle/>
                    <a:p>
                      <a:r>
                        <a:rPr sz="900" b="0" i="0">
                          <a:solidFill>
                            <a:srgbClr val="1A1440"/>
                          </a:solidFill>
                          <a:latin typeface="Calibri"/>
                        </a:rPr>
                        <a:t>Can the fixed report gain rows?</a:t>
                      </a:r>
                    </a:p>
                  </a:txBody>
                  <a:tcPr marL="101600" marR="101600" marT="38100" marB="38100" anchor="ctr">
                    <a:solidFill>
                      <a:srgbClr val="F4F2FA"/>
                    </a:solidFill>
                  </a:tcPr>
                </a:tc>
                <a:tc>
                  <a:txBody>
                    <a:bodyPr/>
                    <a:lstStyle/>
                    <a:p>
                      <a:r>
                        <a:rPr sz="900" b="0" i="0">
                          <a:solidFill>
                            <a:srgbClr val="1A1440"/>
                          </a:solidFill>
                          <a:latin typeface="Calibri"/>
                        </a:rPr>
                        <a:t>No: it can only lose rows now, and Kalpa's Q2 keeps 462 of 462</a:t>
                      </a:r>
                    </a:p>
                  </a:txBody>
                  <a:tcPr marL="101600" marR="101600" marT="38100" marB="38100" anchor="ctr">
                    <a:solidFill>
                      <a:srgbClr val="F4F2FA"/>
                    </a:solidFill>
                  </a:tcPr>
                </a:tc>
              </a:tr>
              <a:tr h="310896">
                <a:tc>
                  <a:txBody>
                    <a:bodyPr/>
                    <a:lstStyle/>
                    <a:p>
                      <a:r>
                        <a:rPr sz="900" b="0" i="0">
                          <a:solidFill>
                            <a:srgbClr val="1A1440"/>
                          </a:solidFill>
                          <a:latin typeface="Calibri"/>
                        </a:rPr>
                        <a:t>What does a plain JOIN report?</a:t>
                      </a:r>
                    </a:p>
                  </a:txBody>
                  <a:tcPr marL="101600" marR="101600" marT="38100" marB="38100" anchor="ctr">
                    <a:solidFill>
                      <a:srgbClr val="FFFFFF"/>
                    </a:solidFill>
                  </a:tcPr>
                </a:tc>
                <a:tc>
                  <a:txBody>
                    <a:bodyPr/>
                    <a:lstStyle/>
                    <a:p>
                      <a:r>
                        <a:rPr sz="900" b="0" i="0">
                          <a:solidFill>
                            <a:srgbClr val="1A1440"/>
                          </a:solidFill>
                          <a:latin typeface="Calibri"/>
                        </a:rPr>
                        <a:t>4 orders, booked 5,000, posted 6,500: a gap of minus 1,500</a:t>
                      </a:r>
                    </a:p>
                  </a:txBody>
                  <a:tcPr marL="101600" marR="101600" marT="38100" marB="38100" anchor="ctr">
                    <a:solidFill>
                      <a:srgbClr val="FFFFFF"/>
                    </a:solidFill>
                  </a:tcPr>
                </a:tc>
              </a:tr>
              <a:tr h="310896">
                <a:tc>
                  <a:txBody>
                    <a:bodyPr/>
                    <a:lstStyle/>
                    <a:p>
                      <a:r>
                        <a:rPr sz="900" b="0" i="0">
                          <a:solidFill>
                            <a:srgbClr val="1A1440"/>
                          </a:solidFill>
                          <a:latin typeface="Calibri"/>
                        </a:rPr>
                        <a:t>Which check needs no rupee?</a:t>
                      </a:r>
                    </a:p>
                  </a:txBody>
                  <a:tcPr marL="101600" marR="101600" marT="38100" marB="38100" anchor="ctr">
                    <a:solidFill>
                      <a:srgbClr val="F4F2FA"/>
                    </a:solidFill>
                  </a:tcPr>
                </a:tc>
                <a:tc>
                  <a:txBody>
                    <a:bodyPr/>
                    <a:lstStyle/>
                    <a:p>
                      <a:r>
                        <a:rPr sz="900" b="0" i="0">
                          <a:solidFill>
                            <a:srgbClr val="1A1440"/>
                          </a:solidFill>
                          <a:latin typeface="Calibri"/>
                        </a:rPr>
                        <a:t>Orders in the report against the table, 4 against 5</a:t>
                      </a:r>
                    </a:p>
                  </a:txBody>
                  <a:tcPr marL="101600" marR="101600" marT="38100" marB="38100" anchor="ctr">
                    <a:solidFill>
                      <a:srgbClr val="F4F2FA"/>
                    </a:solidFill>
                  </a:tcPr>
                </a:tc>
              </a:tr>
              <a:tr h="310896">
                <a:tc>
                  <a:txBody>
                    <a:bodyPr/>
                    <a:lstStyle/>
                    <a:p>
                      <a:r>
                        <a:rPr sz="900" b="0" i="0">
                          <a:solidFill>
                            <a:srgbClr val="1A1440"/>
                          </a:solidFill>
                          <a:latin typeface="Calibri"/>
                        </a:rPr>
                        <a:t>Does the bridge close on Q2?</a:t>
                      </a:r>
                    </a:p>
                  </a:txBody>
                  <a:tcPr marL="101600" marR="101600" marT="38100" marB="38100" anchor="ctr">
                    <a:solidFill>
                      <a:srgbClr val="FFFFFF"/>
                    </a:solidFill>
                  </a:tcPr>
                </a:tc>
                <a:tc>
                  <a:txBody>
                    <a:bodyPr/>
                    <a:lstStyle/>
                    <a:p>
                      <a:r>
                        <a:rPr sz="900" b="0" i="0">
                          <a:solidFill>
                            <a:srgbClr val="1A1440"/>
                          </a:solidFill>
                          <a:latin typeface="Calibri"/>
                        </a:rPr>
                        <a:t>Yes: 5,800 less 800 never paid and 0 paid short is 5,000, plus 1,500 posted twice is 6,500, and every step closes on Kalpa's Q2</a:t>
                      </a:r>
                    </a:p>
                  </a:txBody>
                  <a:tcPr marL="101600" marR="101600" marT="38100" marB="38100" anchor="ctr">
                    <a:solidFill>
                      <a:srgbClr val="FFFFFF"/>
                    </a:solidFill>
                  </a:tcPr>
                </a:tc>
              </a:tr>
              <a:tr h="310896">
                <a:tc>
                  <a:txBody>
                    <a:bodyPr/>
                    <a:lstStyle/>
                    <a:p>
                      <a:r>
                        <a:rPr sz="900" b="0" i="0">
                          <a:solidFill>
                            <a:srgbClr val="1A1440"/>
                          </a:solidFill>
                          <a:latin typeface="Calibri"/>
                        </a:rPr>
                        <a:t>Does capping each order agree?</a:t>
                      </a:r>
                    </a:p>
                  </a:txBody>
                  <a:tcPr marL="101600" marR="101600" marT="38100" marB="38100" anchor="ctr">
                    <a:solidFill>
                      <a:srgbClr val="F4F2FA"/>
                    </a:solidFill>
                  </a:tcPr>
                </a:tc>
                <a:tc>
                  <a:txBody>
                    <a:bodyPr/>
                    <a:lstStyle/>
                    <a:p>
                      <a:r>
                        <a:rPr sz="900" b="0" i="0">
                          <a:solidFill>
                            <a:srgbClr val="1A1440"/>
                          </a:solidFill>
                          <a:latin typeface="Calibri"/>
                        </a:rPr>
                        <a:t>Yes: 5,000 again, and the same collected on Kalpa's Q2</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"Rows in, rows out and the difference explained, written above the number. If the count does not close, the number does not leave the team, and if the gap has two causes, it gets two bars."</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How do you reconcile a total after a join back to its source table? And [D] two errors cancel and the total looks right: how would you find them?</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4" name="Oval 23"/>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90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orders, exactly?</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Q2 orders were never paid, and which payments did the gateway post twice, so each list reaches the right desk?</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join keep?</a:t>
            </a:r>
          </a:p>
        </p:txBody>
      </p:sp>
      <p:sp>
        <p:nvSpPr>
          <p:cNvPr id="11" name="Rounded Rectangle 10"/>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twice the bookings?</a:t>
            </a:r>
          </a:p>
        </p:txBody>
      </p:sp>
      <p:sp>
        <p:nvSpPr>
          <p:cNvPr id="12" name="Rounded Rectangle 11"/>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every order there?</a:t>
            </a:r>
          </a:p>
        </p:txBody>
      </p:sp>
      <p:sp>
        <p:nvSpPr>
          <p:cNvPr id="13" name="Rounded Rectangle 12"/>
          <p:cNvSpPr/>
          <p:nvPr/>
        </p:nvSpPr>
        <p:spPr>
          <a:xfrm>
            <a:off x="606623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orders, exactly?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Anand sign?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What did Q2 actually collect, order by order?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59 / 90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six steps, from a bar to names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chapter 4's answer, and which smaller questions lead to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collections team, who ring every customer on the unpaid list, and the platform lead and Finance, who reverse or refund what is on the double-paid list. A wrong unpaid list chases a customer who paid or misses one who did not; a wrong double-paid list reverses a real second instalment and rings a business buyer who paid on time.</a:t>
            </a:r>
          </a:p>
        </p:txBody>
      </p:sp>
      <p:sp>
        <p:nvSpPr>
          <p:cNvPr id="12" name="Rectangle 11"/>
          <p:cNvSpPr/>
          <p:nvPr/>
        </p:nvSpPr>
        <p:spPr>
          <a:xfrm>
            <a:off x="1381734" y="40294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orders have no payment?</a:t>
            </a:r>
          </a:p>
        </p:txBody>
      </p:sp>
      <p:sp>
        <p:nvSpPr>
          <p:cNvPr id="17" name="TextBox 16"/>
          <p:cNvSpPr txBox="1"/>
          <p:nvPr/>
        </p:nvSpPr>
        <p:spPr>
          <a:xfrm>
            <a:off x="69494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orders nothing matched.</a:t>
            </a:r>
          </a:p>
        </p:txBody>
      </p:sp>
      <p:sp>
        <p:nvSpPr>
          <p:cNvPr id="18" name="TextBox 17"/>
          <p:cNvSpPr txBox="1"/>
          <p:nvPr/>
        </p:nvSpPr>
        <p:spPr>
          <a:xfrm>
            <a:off x="241599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a date in WHERE do?</a:t>
            </a:r>
          </a:p>
        </p:txBody>
      </p:sp>
      <p:sp>
        <p:nvSpPr>
          <p:cNvPr id="22" name="TextBox 21"/>
          <p:cNvSpPr txBox="1"/>
          <p:nvPr/>
        </p:nvSpPr>
        <p:spPr>
          <a:xfrm>
            <a:off x="2580589" y="4998212"/>
            <a:ext cx="1373581" cy="531876"/>
          </a:xfrm>
          <a:prstGeom prst="rect">
            <a:avLst/>
          </a:prstGeom>
          <a:noFill/>
        </p:spPr>
        <p:txBody>
          <a:bodyPr wrap="square" anchor="t" lIns="0" rIns="0" tIns="0" bIns="0">
            <a:spAutoFit/>
          </a:bodyPr>
          <a:lstStyle/>
          <a:p>
            <a:pPr algn="l"/>
            <a:r>
              <a:rPr sz="1000" b="0" i="0">
                <a:solidFill>
                  <a:srgbClr val="6B6690"/>
                </a:solidFill>
                <a:latin typeface="Calibri"/>
              </a:rPr>
              <a:t>The unpaid list with the quarter in WHERE.</a:t>
            </a:r>
          </a:p>
        </p:txBody>
      </p:sp>
      <p:sp>
        <p:nvSpPr>
          <p:cNvPr id="23" name="TextBox 22"/>
          <p:cNvSpPr txBox="1"/>
          <p:nvPr/>
        </p:nvSpPr>
        <p:spPr>
          <a:xfrm>
            <a:off x="430164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Where does the date belong?</a:t>
            </a:r>
          </a:p>
        </p:txBody>
      </p:sp>
      <p:sp>
        <p:nvSpPr>
          <p:cNvPr id="27" name="TextBox 26"/>
          <p:cNvSpPr txBox="1"/>
          <p:nvPr/>
        </p:nvSpPr>
        <p:spPr>
          <a:xfrm>
            <a:off x="446623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A condition on the payments table.</a:t>
            </a:r>
          </a:p>
        </p:txBody>
      </p:sp>
      <p:sp>
        <p:nvSpPr>
          <p:cNvPr id="28" name="TextBox 27"/>
          <p:cNvSpPr txBox="1"/>
          <p:nvPr/>
        </p:nvSpPr>
        <p:spPr>
          <a:xfrm>
            <a:off x="618728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orders does HAVING flag?</a:t>
            </a:r>
          </a:p>
        </p:txBody>
      </p:sp>
      <p:sp>
        <p:nvSpPr>
          <p:cNvPr id="32" name="TextBox 31"/>
          <p:cNvSpPr txBox="1"/>
          <p:nvPr/>
        </p:nvSpPr>
        <p:spPr>
          <a:xfrm>
            <a:off x="6351879" y="499821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HAVING COUNT(*) &gt; 1 returns by order.</a:t>
            </a:r>
          </a:p>
        </p:txBody>
      </p:sp>
      <p:sp>
        <p:nvSpPr>
          <p:cNvPr id="33" name="TextBox 32"/>
          <p:cNvSpPr txBox="1"/>
          <p:nvPr/>
        </p:nvSpPr>
        <p:spPr>
          <a:xfrm>
            <a:off x="807293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makes a retry a retry?</a:t>
            </a:r>
          </a:p>
        </p:txBody>
      </p:sp>
      <p:sp>
        <p:nvSpPr>
          <p:cNvPr id="37" name="TextBox 36"/>
          <p:cNvSpPr txBox="1"/>
          <p:nvPr/>
        </p:nvSpPr>
        <p:spPr>
          <a:xfrm>
            <a:off x="8237524" y="4998212"/>
            <a:ext cx="1373581" cy="531876"/>
          </a:xfrm>
          <a:prstGeom prst="rect">
            <a:avLst/>
          </a:prstGeom>
          <a:noFill/>
        </p:spPr>
        <p:txBody>
          <a:bodyPr wrap="square" anchor="t" lIns="0" rIns="0" tIns="0" bIns="0">
            <a:spAutoFit/>
          </a:bodyPr>
          <a:lstStyle/>
          <a:p>
            <a:pPr algn="l"/>
            <a:r>
              <a:rPr sz="1000" b="0" i="0">
                <a:solidFill>
                  <a:srgbClr val="6B6690"/>
                </a:solidFill>
                <a:latin typeface="Calibri"/>
              </a:rPr>
              <a:t>Its grain, and each list against its bar.</a:t>
            </a:r>
          </a:p>
        </p:txBody>
      </p:sp>
      <p:sp>
        <p:nvSpPr>
          <p:cNvPr id="38" name="TextBox 37"/>
          <p:cNvSpPr txBox="1"/>
          <p:nvPr/>
        </p:nvSpPr>
        <p:spPr>
          <a:xfrm>
            <a:off x="9958578"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3494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4958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second routes agree?</a:t>
            </a:r>
          </a:p>
        </p:txBody>
      </p:sp>
      <p:sp>
        <p:nvSpPr>
          <p:cNvPr id="42" name="TextBox 41"/>
          <p:cNvSpPr txBox="1"/>
          <p:nvPr/>
        </p:nvSpPr>
        <p:spPr>
          <a:xfrm>
            <a:off x="10123170" y="4998212"/>
            <a:ext cx="1373581" cy="366776"/>
          </a:xfrm>
          <a:prstGeom prst="rect">
            <a:avLst/>
          </a:prstGeom>
          <a:noFill/>
        </p:spPr>
        <p:txBody>
          <a:bodyPr wrap="square" anchor="t" lIns="0" rIns="0" tIns="0" bIns="0">
            <a:spAutoFit/>
          </a:bodyPr>
          <a:lstStyle/>
          <a:p>
            <a:pPr algn="l"/>
            <a:r>
              <a:rPr sz="1000" b="0" i="0">
                <a:solidFill>
                  <a:srgbClr val="CFC9EE"/>
                </a:solidFill>
                <a:latin typeface="Calibri"/>
              </a:rPr>
              <a:t>Other methods, the same orders.</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47" name="Oval 4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49" name="Oval 4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51" name="Oval 5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60 / 90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lists, two desks, two costs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Whom does Anand chase, and whom does he refund?</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hone_7ed97f81441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UNPAID LIST</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collections team</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Rings every customer on it; every order on it is cash Kalpa is owed.</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repeat_e3d62ee72e9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DOUBLE-PAID LIST</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platform lead and Finance</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lead fixes the feed; Finance checks with the bank whether a customer was charged twice and refunds them.</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LIST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call, or cash left</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name on the wrong list is a phone call to a customer who did nothing wrong, and a name missing is money left where it is.</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3" name="Oval 32"/>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35" name="Oval 3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61 / 90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Stripe blocks double charges; the RBI times reversals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and which regulator deal with a payment posted twice?</a:t>
            </a:r>
          </a:p>
        </p:txBody>
      </p:sp>
      <p:sp>
        <p:nvSpPr>
          <p:cNvPr id="9" name="Rounded Rectangle 8"/>
          <p:cNvSpPr/>
          <p:nvPr/>
        </p:nvSpPr>
        <p:spPr>
          <a:xfrm>
            <a:off x="530352"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key-round_3cd984e7f4d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STRIPE</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Idempotency keys</a:t>
            </a:r>
          </a:p>
        </p:txBody>
      </p:sp>
      <p:sp>
        <p:nvSpPr>
          <p:cNvPr id="14" name="TextBox 13"/>
          <p:cNvSpPr txBox="1"/>
          <p:nvPr/>
        </p:nvSpPr>
        <p:spPr>
          <a:xfrm>
            <a:off x="731519"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The client sends a key with a request; Stripe saves the first result, and "subsequent requests with the same key return the same result", so a retry cannot charge twice.</a:t>
            </a:r>
          </a:p>
        </p:txBody>
      </p:sp>
      <p:sp>
        <p:nvSpPr>
          <p:cNvPr id="15" name="Rounded Rectangle 14"/>
          <p:cNvSpPr/>
          <p:nvPr/>
        </p:nvSpPr>
        <p:spPr>
          <a:xfrm>
            <a:off x="6187287" y="1956816"/>
            <a:ext cx="5474055"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andmark_74597fd10b4b.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RESERVE BANK OF INDIA</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Five days to reverse</a:t>
            </a:r>
          </a:p>
        </p:txBody>
      </p:sp>
      <p:sp>
        <p:nvSpPr>
          <p:cNvPr id="20" name="TextBox 19"/>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CFC9EE"/>
                </a:solidFill>
                <a:latin typeface="Calibri"/>
              </a:rPr>
              <a:t>A card payment debited online and never confirmed to the merchant's system must be reversed automatically within five days, or the bank pays Rs 100 a day of delay (RBI/2019-20/67).</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3" name="Oval 2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5" name="Oval 2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7" name="Oval 26"/>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9" name="Oval 2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62 / 90</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anti-joins, sized on this data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finds the unpaid orders, and what does each cost here?</a:t>
            </a:r>
          </a:p>
        </p:txBody>
      </p:sp>
      <p:graphicFrame>
        <p:nvGraphicFramePr>
          <p:cNvPr id="9" name="Table 8"/>
          <p:cNvGraphicFramePr>
            <a:graphicFrameLocks noGrp="1"/>
          </p:cNvGraphicFramePr>
          <p:nvPr/>
        </p:nvGraphicFramePr>
        <p:xfrm>
          <a:off x="530352" y="1956816"/>
          <a:ext cx="11130989" cy="2505456"/>
        </p:xfrm>
        <a:graphic>
          <a:graphicData uri="http://schemas.openxmlformats.org/drawingml/2006/table">
            <a:tbl>
              <a:tblPr firstRow="0" bandRow="0">
                <a:tableStyleId>{2D5ABB26-0587-4C30-8999-92F81FD0307C}</a:tableStyleId>
              </a:tblPr>
              <a:tblGrid>
                <a:gridCol w="2092700"/>
                <a:gridCol w="3804649"/>
                <a:gridCol w="2174347"/>
                <a:gridCol w="3059293"/>
              </a:tblGrid>
              <a:tr h="542544">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Written as</a:t>
                      </a:r>
                    </a:p>
                  </a:txBody>
                  <a:tcPr marL="101600" marR="101600" marT="38100" marB="38100" anchor="ctr">
                    <a:solidFill>
                      <a:srgbClr val="1A0F5C"/>
                    </a:solidFill>
                  </a:tcPr>
                </a:tc>
                <a:tc>
                  <a:txBody>
                    <a:bodyPr/>
                    <a:lstStyle/>
                    <a:p>
                      <a:r>
                        <a:rPr sz="1250" b="1" i="0">
                          <a:solidFill>
                            <a:srgbClr val="FFFFFF"/>
                          </a:solidFill>
                          <a:latin typeface="Calibri"/>
                        </a:rPr>
                        <a:t>Carries the order's columns</a:t>
                      </a:r>
                    </a:p>
                  </a:txBody>
                  <a:tcPr marL="101600" marR="101600" marT="38100" marB="38100" anchor="ctr">
                    <a:solidFill>
                      <a:srgbClr val="1A0F5C"/>
                    </a:solidFill>
                  </a:tcPr>
                </a:tc>
                <a:tc>
                  <a:txBody>
                    <a:bodyPr/>
                    <a:lstStyle/>
                    <a:p>
                      <a:r>
                        <a:rPr sz="1250" b="1" i="0">
                          <a:solidFill>
                            <a:srgbClr val="FFFFFF"/>
                          </a:solidFill>
                          <a:latin typeface="Calibri"/>
                        </a:rPr>
                        <a:t>With one payment whose order_id is NULL</a:t>
                      </a:r>
                    </a:p>
                  </a:txBody>
                  <a:tcPr marL="101600" marR="101600" marT="38100" marB="38100" anchor="ctr">
                    <a:solidFill>
                      <a:srgbClr val="1A0F5C"/>
                    </a:solidFill>
                  </a:tcPr>
                </a:tc>
              </a:tr>
              <a:tr h="542544">
                <a:tc>
                  <a:txBody>
                    <a:bodyPr/>
                    <a:lstStyle/>
                    <a:p>
                      <a:r>
                        <a:rPr sz="1200" b="0" i="0">
                          <a:solidFill>
                            <a:srgbClr val="1A1440"/>
                          </a:solidFill>
                          <a:latin typeface="Calibri"/>
                        </a:rPr>
                        <a:t>A. LEFT JOIN, keep the misses</a:t>
                      </a:r>
                    </a:p>
                  </a:txBody>
                  <a:tcPr marL="101600" marR="101600" marT="38100" marB="38100" anchor="ctr">
                    <a:solidFill>
                      <a:srgbClr val="FFFFFF"/>
                    </a:solidFill>
                  </a:tcPr>
                </a:tc>
                <a:tc>
                  <a:txBody>
                    <a:bodyPr/>
                    <a:lstStyle/>
                    <a:p>
                      <a:r>
                        <a:rPr sz="1200" b="0" i="0">
                          <a:solidFill>
                            <a:srgbClr val="1A1440"/>
                          </a:solidFill>
                          <a:latin typeface="Calibri"/>
                        </a:rPr>
                        <a:t>LEFT JOIN payments p ... WHERE p.order_id IS NULL</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unchanged</a:t>
                      </a:r>
                    </a:p>
                  </a:txBody>
                  <a:tcPr marL="101600" marR="101600" marT="38100" marB="38100" anchor="ctr">
                    <a:solidFill>
                      <a:srgbClr val="FFFFFF"/>
                    </a:solidFill>
                  </a:tcPr>
                </a:tc>
              </a:tr>
              <a:tr h="542544">
                <a:tc>
                  <a:txBody>
                    <a:bodyPr/>
                    <a:lstStyle/>
                    <a:p>
                      <a:r>
                        <a:rPr sz="1200" b="0" i="0">
                          <a:solidFill>
                            <a:srgbClr val="1A1440"/>
                          </a:solidFill>
                          <a:latin typeface="Calibri"/>
                        </a:rPr>
                        <a:t>B. NOT EXISTS</a:t>
                      </a:r>
                    </a:p>
                  </a:txBody>
                  <a:tcPr marL="101600" marR="101600" marT="38100" marB="38100" anchor="ctr">
                    <a:solidFill>
                      <a:srgbClr val="F4F2FA"/>
                    </a:solidFill>
                  </a:tcPr>
                </a:tc>
                <a:tc>
                  <a:txBody>
                    <a:bodyPr/>
                    <a:lstStyle/>
                    <a:p>
                      <a:r>
                        <a:rPr sz="1200" b="0" i="0">
                          <a:solidFill>
                            <a:srgbClr val="1A1440"/>
                          </a:solidFill>
                          <a:latin typeface="Calibri"/>
                        </a:rPr>
                        <a:t>WHERE NOT EXISTS (SELECT 1 FROM payments p WHERE ...)</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unchanged</a:t>
                      </a:r>
                    </a:p>
                  </a:txBody>
                  <a:tcPr marL="101600" marR="101600" marT="38100" marB="38100" anchor="ctr">
                    <a:solidFill>
                      <a:srgbClr val="F4F2FA"/>
                    </a:solidFill>
                  </a:tcPr>
                </a:tc>
              </a:tr>
              <a:tr h="542544">
                <a:tc>
                  <a:txBody>
                    <a:bodyPr/>
                    <a:lstStyle/>
                    <a:p>
                      <a:r>
                        <a:rPr sz="1200" b="0" i="0">
                          <a:solidFill>
                            <a:srgbClr val="1A1440"/>
                          </a:solidFill>
                          <a:latin typeface="Calibri"/>
                        </a:rPr>
                        <a:t>C. NOT IN</a:t>
                      </a:r>
                    </a:p>
                  </a:txBody>
                  <a:tcPr marL="101600" marR="101600" marT="38100" marB="38100" anchor="ctr">
                    <a:solidFill>
                      <a:srgbClr val="FFFFFF"/>
                    </a:solidFill>
                  </a:tcPr>
                </a:tc>
                <a:tc>
                  <a:txBody>
                    <a:bodyPr/>
                    <a:lstStyle/>
                    <a:p>
                      <a:r>
                        <a:rPr sz="1200" b="0" i="0">
                          <a:solidFill>
                            <a:srgbClr val="1A1440"/>
                          </a:solidFill>
                          <a:latin typeface="Calibri"/>
                        </a:rPr>
                        <a:t>WHERE o.order_id NOT IN (SELECT order_id FROM payments)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returns no rows at all</a:t>
                      </a:r>
                    </a:p>
                  </a:txBody>
                  <a:tcPr marL="101600" marR="101600" marT="38100" marB="38100" anchor="ctr">
                    <a:solidFill>
                      <a:srgbClr val="FFFFFF"/>
                    </a:solidFill>
                  </a:tcPr>
                </a:tc>
              </a:tr>
              <a:tr h="335280">
                <a:tc>
                  <a:txBody>
                    <a:bodyPr/>
                    <a:lstStyle/>
                    <a:p>
                      <a:r>
                        <a:rPr sz="1200" b="0" i="0">
                          <a:solidFill>
                            <a:srgbClr val="1A1440"/>
                          </a:solidFill>
                          <a:latin typeface="Calibri"/>
                        </a:rPr>
                        <a:t>D. EXCEPT</a:t>
                      </a:r>
                    </a:p>
                  </a:txBody>
                  <a:tcPr marL="101600" marR="101600" marT="38100" marB="38100" anchor="ctr">
                    <a:solidFill>
                      <a:srgbClr val="F4F2FA"/>
                    </a:solidFill>
                  </a:tcPr>
                </a:tc>
                <a:tc>
                  <a:txBody>
                    <a:bodyPr/>
                    <a:lstStyle/>
                    <a:p>
                      <a:r>
                        <a:rPr sz="1200" b="0" i="0">
                          <a:solidFill>
                            <a:srgbClr val="1A1440"/>
                          </a:solidFill>
                          <a:latin typeface="Calibri"/>
                        </a:rPr>
                        <a:t>SELECT order_id FROM orders EXCEPT SELECT ...</a:t>
                      </a:r>
                    </a:p>
                  </a:txBody>
                  <a:tcPr marL="101600" marR="101600" marT="38100" marB="38100" anchor="ctr">
                    <a:solidFill>
                      <a:srgbClr val="F4F2FA"/>
                    </a:solidFill>
                  </a:tcPr>
                </a:tc>
                <a:tc>
                  <a:txBody>
                    <a:bodyPr/>
                    <a:lstStyle/>
                    <a:p>
                      <a:r>
                        <a:rPr sz="1200" b="0" i="0">
                          <a:solidFill>
                            <a:srgbClr val="1A1440"/>
                          </a:solidFill>
                          <a:latin typeface="Calibri"/>
                        </a:rPr>
                        <a:t>ids only</a:t>
                      </a:r>
                    </a:p>
                  </a:txBody>
                  <a:tcPr marL="101600" marR="101600" marT="38100" marB="38100" anchor="ctr">
                    <a:solidFill>
                      <a:srgbClr val="F4F2FA"/>
                    </a:solidFill>
                  </a:tcPr>
                </a:tc>
                <a:tc>
                  <a:txBody>
                    <a:bodyPr/>
                    <a:lstStyle/>
                    <a:p>
                      <a:r>
                        <a:rPr sz="1200" b="0" i="0">
                          <a:solidFill>
                            <a:srgbClr val="1A1440"/>
                          </a:solidFill>
                          <a:latin typeface="Calibri"/>
                        </a:rPr>
                        <a:t>unchanged</a:t>
                      </a:r>
                    </a:p>
                  </a:txBody>
                  <a:tcPr marL="101600" marR="101600" marT="38100" marB="38100" anchor="ctr">
                    <a:solidFill>
                      <a:srgbClr val="F4F2FA"/>
                    </a:solidFill>
                  </a:tcPr>
                </a:tc>
              </a:tr>
            </a:tbl>
          </a:graphicData>
        </a:graphic>
      </p:graphicFrame>
      <p:sp>
        <p:nvSpPr>
          <p:cNvPr id="10" name="Rounded Rectangle 9"/>
          <p:cNvSpPr/>
          <p:nvPr/>
        </p:nvSpPr>
        <p:spPr>
          <a:xfrm>
            <a:off x="530352" y="471830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4632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37176"/>
            <a:ext cx="10564063" cy="624840"/>
          </a:xfrm>
          <a:prstGeom prst="rect">
            <a:avLst/>
          </a:prstGeom>
          <a:noFill/>
        </p:spPr>
        <p:txBody>
          <a:bodyPr wrap="square" anchor="ctr" lIns="0" rIns="0" tIns="0" bIns="0">
            <a:spAutoFit/>
          </a:bodyPr>
          <a:lstStyle/>
          <a:p>
            <a:r>
              <a:rPr sz="1500" b="1">
                <a:solidFill>
                  <a:srgbClr val="5B3FD6"/>
                </a:solidFill>
                <a:latin typeface="Calibri"/>
              </a:rPr>
              <a:t>Sized. </a:t>
            </a:r>
            <a:r>
              <a:rPr sz="1500" b="0" i="0">
                <a:solidFill>
                  <a:srgbClr val="1A1440"/>
                </a:solidFill>
                <a:latin typeface="Calibri"/>
              </a:rPr>
              <a:t>All four take a few milliseconds and return the same Q2 list on today's warehouse, so what separates them is what each assumes.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63 / 90</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the report's own LEFT JOIN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anti-join fits, which one to avoid, and what fact would change the call?</a:t>
            </a:r>
          </a:p>
        </p:txBody>
      </p:sp>
      <p:pic>
        <p:nvPicPr>
          <p:cNvPr id="9" name="mermaid diagram" descr="344c59d994333fd2.png"/>
          <p:cNvPicPr>
            <a:picLocks noChangeAspect="1"/>
          </p:cNvPicPr>
          <p:nvPr/>
        </p:nvPicPr>
        <p:blipFill>
          <a:blip r:embed="rId5"/>
          <a:stretch>
            <a:fillRect/>
          </a:stretch>
        </p:blipFill>
        <p:spPr>
          <a:xfrm>
            <a:off x="2531116" y="1956816"/>
            <a:ext cx="7129462" cy="2600325"/>
          </a:xfrm>
          <a:prstGeom prst="rect">
            <a:avLst/>
          </a:prstGeom>
        </p:spPr>
      </p:pic>
      <p:sp>
        <p:nvSpPr>
          <p:cNvPr id="10" name="Rounded Rectangle 9"/>
          <p:cNvSpPr/>
          <p:nvPr/>
        </p:nvSpPr>
        <p:spPr>
          <a:xfrm>
            <a:off x="530352" y="470344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3146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22317"/>
            <a:ext cx="10564063" cy="8915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An analyst who reads the list as SQL would find B closest to "the orders for which no payment exists", and a feed change that allowed a NULL order id would make C unsafe even where it works today.</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64 / 90</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orders did nothing match?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orders have no payment at all?</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o.order_id, o.channel, o.amount AS booked</a:t>
            </a:r>
          </a:p>
          <a:p>
            <a:pPr>
              <a:spcAft>
                <a:spcPts val="200"/>
              </a:spcAft>
            </a:pPr>
            <a:r>
              <a:rPr sz="1400" b="0" i="0">
                <a:solidFill>
                  <a:srgbClr val="E4E1F1"/>
                </a:solidFill>
                <a:latin typeface="Consolas"/>
              </a:rPr>
              <a:t>FROM tiny_orders o</a:t>
            </a:r>
          </a:p>
          <a:p>
            <a:pPr>
              <a:spcAft>
                <a:spcPts val="200"/>
              </a:spcAft>
            </a:pPr>
            <a:r>
              <a:rPr sz="1400" b="0" i="0">
                <a:solidFill>
                  <a:srgbClr val="E4E1F1"/>
                </a:solidFill>
                <a:latin typeface="Consolas"/>
              </a:rPr>
              <a:t>LEFT JOIN tiny_payments p ON p.order_id = o.order_id</a:t>
            </a:r>
          </a:p>
          <a:p>
            <a:pPr>
              <a:spcAft>
                <a:spcPts val="200"/>
              </a:spcAft>
            </a:pPr>
            <a:r>
              <a:rPr sz="1400" b="0" i="0">
                <a:solidFill>
                  <a:srgbClr val="E4E1F1"/>
                </a:solidFill>
                <a:latin typeface="Consolas"/>
              </a:rPr>
              <a:t>WHERE p.order_id IS NULL;</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the invented tables, which orders does it return? a) T-4; b) T-4 and T-9; c) T-2 and T-3; d) none, since every order has an id.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1" name="Oval 2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3" name="Oval 22"/>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5" name="Oval 2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65 / 90</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T-4 alone, the never-paid bar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unpaid list add up to the bar it explains?</a:t>
            </a:r>
          </a:p>
        </p:txBody>
      </p:sp>
      <p:pic>
        <p:nvPicPr>
          <p:cNvPr id="9" name="mermaid diagram" descr="233dd84c284b4def.png"/>
          <p:cNvPicPr>
            <a:picLocks noChangeAspect="1"/>
          </p:cNvPicPr>
          <p:nvPr/>
        </p:nvPicPr>
        <p:blipFill>
          <a:blip r:embed="rId5"/>
          <a:stretch>
            <a:fillRect/>
          </a:stretch>
        </p:blipFill>
        <p:spPr>
          <a:xfrm>
            <a:off x="1180947" y="1956816"/>
            <a:ext cx="9829800" cy="1128712"/>
          </a:xfrm>
          <a:prstGeom prst="rect">
            <a:avLst/>
          </a:prstGeom>
        </p:spPr>
      </p:pic>
      <p:sp>
        <p:nvSpPr>
          <p:cNvPr id="10" name="TextBox 9"/>
          <p:cNvSpPr txBox="1"/>
          <p:nvPr/>
        </p:nvSpPr>
        <p:spPr>
          <a:xfrm>
            <a:off x="530352" y="32318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T-9 is not an order, so it cannot be on a list of orders; it belongs to the platform lead's list. </a:t>
            </a:r>
            <a:r>
              <a:rPr sz="1600" b="1" i="0">
                <a:solidFill>
                  <a:srgbClr val="1A1440"/>
                </a:solidFill>
                <a:latin typeface="Calibri"/>
              </a:rPr>
              <a:t>The check.</a:t>
            </a:r>
            <a:r>
              <a:rPr sz="1600" b="0" i="0">
                <a:solidFill>
                  <a:srgbClr val="1A1440"/>
                </a:solidFill>
                <a:latin typeface="Calibri"/>
              </a:rPr>
              <a:t> The list's total equals chapter 3's never-paid bar, 800.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66 / 90</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if "paid in Q2" goes in WHERE?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the unpaid list when the quarter's dates go into the WHERE clause?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Anand talks about the cash that came in during Q2, so a teammate adds the quarter's dates to the unpaid list, in the WHERE clause.</a:t>
            </a:r>
          </a:p>
        </p:txBody>
      </p:sp>
      <p:sp>
        <p:nvSpPr>
          <p:cNvPr id="12" name="Rounded Rectangle 11"/>
          <p:cNvSpPr/>
          <p:nvPr/>
        </p:nvSpPr>
        <p:spPr>
          <a:xfrm>
            <a:off x="530352" y="2929128"/>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30571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30571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30571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258312"/>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o.order_id, o.amount AS booked</a:t>
            </a:r>
          </a:p>
          <a:p>
            <a:pPr>
              <a:spcAft>
                <a:spcPts val="200"/>
              </a:spcAft>
            </a:pPr>
            <a:r>
              <a:rPr sz="1400" b="0" i="0">
                <a:solidFill>
                  <a:srgbClr val="E4E1F1"/>
                </a:solidFill>
                <a:latin typeface="Consolas"/>
              </a:rPr>
              <a:t>FROM tiny_orders o</a:t>
            </a:r>
          </a:p>
          <a:p>
            <a:pPr>
              <a:spcAft>
                <a:spcPts val="200"/>
              </a:spcAft>
            </a:pPr>
            <a:r>
              <a:rPr sz="1400" b="0" i="0">
                <a:solidFill>
                  <a:srgbClr val="E4E1F1"/>
                </a:solidFill>
                <a:latin typeface="Consolas"/>
              </a:rPr>
              <a:t>LEFT JOIN tiny_payments p ON p.order_id = o.order_id</a:t>
            </a:r>
          </a:p>
          <a:p>
            <a:pPr>
              <a:spcAft>
                <a:spcPts val="200"/>
              </a:spcAft>
            </a:pPr>
            <a:r>
              <a:rPr sz="1400" b="0" i="0">
                <a:solidFill>
                  <a:srgbClr val="E4E1F1"/>
                </a:solidFill>
                <a:latin typeface="Consolas"/>
              </a:rPr>
              <a:t>WHERE p.paid_date BETWEEN '2026-07-01' AND '2026-09-30'</a:t>
            </a:r>
          </a:p>
          <a:p>
            <a:pPr>
              <a:spcAft>
                <a:spcPts val="200"/>
              </a:spcAft>
            </a:pPr>
            <a:r>
              <a:rPr sz="1400" b="0" i="0">
                <a:solidFill>
                  <a:srgbClr val="E4E1F1"/>
                </a:solidFill>
                <a:latin typeface="Consolas"/>
              </a:rPr>
              <a:t>  AND p.order_id IS NULL;</a:t>
            </a:r>
          </a:p>
        </p:txBody>
      </p:sp>
      <p:sp>
        <p:nvSpPr>
          <p:cNvPr id="17" name="Rounded Rectangle 16"/>
          <p:cNvSpPr/>
          <p:nvPr/>
        </p:nvSpPr>
        <p:spPr>
          <a:xfrm>
            <a:off x="530352" y="481330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4941315"/>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493217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orders does it list? a) 1, T-4; b) 0; c) 5; d) 2, T-2 and T-3.</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6" name="Oval 25"/>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67 / 90</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 orders, from six joined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does the list with the quarter in WHERE report?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AFTER THE WHERE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INNER join's count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ON THE UNPAID LIST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bar says 800 is unpaid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T-4</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MISSING</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its paid_date is NULL</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list supports the sentence "every Q2 order was paid within the quarter", which is false, and the collections team gets an empty list.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6" name="Oval 2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8" name="Oval 27"/>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30" name="Oval 2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68 / 90</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NULL fails the date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WHERE on the payments table empty the list, and which check catches it?</a:t>
            </a:r>
          </a:p>
        </p:txBody>
      </p:sp>
      <p:pic>
        <p:nvPicPr>
          <p:cNvPr id="9" name="mermaid diagram" descr="04c8454801314828.png"/>
          <p:cNvPicPr>
            <a:picLocks noChangeAspect="1"/>
          </p:cNvPicPr>
          <p:nvPr/>
        </p:nvPicPr>
        <p:blipFill>
          <a:blip r:embed="rId5"/>
          <a:stretch>
            <a:fillRect/>
          </a:stretch>
        </p:blipFill>
        <p:spPr>
          <a:xfrm>
            <a:off x="1273816" y="1956816"/>
            <a:ext cx="9644062" cy="1143000"/>
          </a:xfrm>
          <a:prstGeom prst="rect">
            <a:avLst/>
          </a:prstGeom>
        </p:spPr>
      </p:pic>
      <p:sp>
        <p:nvSpPr>
          <p:cNvPr id="10" name="TextBox 9"/>
          <p:cNvSpPr txBox="1"/>
          <p:nvPr/>
        </p:nvSpPr>
        <p:spPr>
          <a:xfrm>
            <a:off x="530352" y="32461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NULL BETWEEN two dates is unknown, and WHERE keeps only rows that are true, so T-4 is thrown away after the join kept it. </a:t>
            </a:r>
            <a:r>
              <a:rPr sz="1600" b="1" i="0">
                <a:solidFill>
                  <a:srgbClr val="1A1440"/>
                </a:solidFill>
                <a:latin typeface="Calibri"/>
              </a:rPr>
              <a:t>The check that catches it.</a:t>
            </a:r>
            <a:r>
              <a:rPr sz="1600" b="0" i="0">
                <a:solidFill>
                  <a:srgbClr val="1A1440"/>
                </a:solidFill>
                <a:latin typeface="Calibri"/>
              </a:rPr>
              <a:t> The list's total must equal its bar, 0 against 800; the join's rows, 6 where the LEFT JOIN returns 7, point at the same fault.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69 / 90</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condition goes in 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a condition on the payments table belong, and what does moving it change?</a:t>
            </a:r>
          </a:p>
        </p:txBody>
      </p:sp>
      <p:sp>
        <p:nvSpPr>
          <p:cNvPr id="9" name="Rounded Rectangle 8"/>
          <p:cNvSpPr/>
          <p:nvPr/>
        </p:nvSpPr>
        <p:spPr>
          <a:xfrm>
            <a:off x="530352" y="1682496"/>
            <a:ext cx="5291175"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8105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8105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8105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011680"/>
            <a:ext cx="4833975"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o.order_id, o.amount AS booked</a:t>
            </a:r>
          </a:p>
          <a:p>
            <a:pPr>
              <a:spcAft>
                <a:spcPts val="200"/>
              </a:spcAft>
            </a:pPr>
            <a:r>
              <a:rPr sz="1400" b="0" i="0">
                <a:solidFill>
                  <a:srgbClr val="E4E1F1"/>
                </a:solidFill>
                <a:latin typeface="Consolas"/>
              </a:rPr>
              <a:t>FROM tiny_orders o</a:t>
            </a:r>
          </a:p>
          <a:p>
            <a:pPr>
              <a:spcAft>
                <a:spcPts val="200"/>
              </a:spcAft>
            </a:pPr>
            <a:r>
              <a:rPr sz="1400" b="0" i="0">
                <a:solidFill>
                  <a:srgbClr val="E4E1F1"/>
                </a:solidFill>
                <a:latin typeface="Consolas"/>
              </a:rPr>
              <a:t>LEFT JOIN tiny_payments p</a:t>
            </a:r>
          </a:p>
          <a:p>
            <a:pPr>
              <a:spcAft>
                <a:spcPts val="200"/>
              </a:spcAft>
            </a:pPr>
            <a:r>
              <a:rPr sz="1400" b="0" i="0">
                <a:solidFill>
                  <a:srgbClr val="E4E1F1"/>
                </a:solidFill>
                <a:latin typeface="Consolas"/>
              </a:rPr>
              <a:t>       ON p.order_id = o.order_id</a:t>
            </a:r>
          </a:p>
          <a:p>
            <a:pPr>
              <a:spcAft>
                <a:spcPts val="200"/>
              </a:spcAft>
            </a:pPr>
            <a:r>
              <a:rPr sz="1400" b="0" i="0">
                <a:solidFill>
                  <a:srgbClr val="E4E1F1"/>
                </a:solidFill>
                <a:latin typeface="Consolas"/>
              </a:rPr>
              <a:t>      AND p.paid_date BETWEEN '2026-07-01' AND '2026-09-30'</a:t>
            </a:r>
          </a:p>
          <a:p>
            <a:pPr>
              <a:spcAft>
                <a:spcPts val="200"/>
              </a:spcAft>
            </a:pPr>
            <a:r>
              <a:rPr sz="1400" b="0" i="0">
                <a:solidFill>
                  <a:srgbClr val="E4E1F1"/>
                </a:solidFill>
                <a:latin typeface="Consolas"/>
              </a:rPr>
              <a:t>WHERE p.order_id IS NULL;</a:t>
            </a:r>
          </a:p>
        </p:txBody>
      </p:sp>
      <p:graphicFrame>
        <p:nvGraphicFramePr>
          <p:cNvPr id="14" name="Table 13"/>
          <p:cNvGraphicFramePr>
            <a:graphicFrameLocks noGrp="1"/>
          </p:cNvGraphicFramePr>
          <p:nvPr/>
        </p:nvGraphicFramePr>
        <p:xfrm>
          <a:off x="6370167" y="1682496"/>
          <a:ext cx="5291174" cy="1351280"/>
        </p:xfrm>
        <a:graphic>
          <a:graphicData uri="http://schemas.openxmlformats.org/drawingml/2006/table">
            <a:tbl>
              <a:tblPr firstRow="0" bandRow="0">
                <a:tableStyleId>{2D5ABB26-0587-4C30-8999-92F81FD0307C}</a:tableStyleId>
              </a:tblPr>
              <a:tblGrid>
                <a:gridCol w="1591319"/>
                <a:gridCol w="1670373"/>
                <a:gridCol w="2029482"/>
              </a:tblGrid>
              <a:tr h="611632">
                <a:tc>
                  <a:txBody>
                    <a:bodyPr/>
                    <a:lstStyle/>
                    <a:p>
                      <a:r>
                        <a:rPr sz="1450" b="1" i="0">
                          <a:solidFill>
                            <a:srgbClr val="FFFFFF"/>
                          </a:solidFill>
                          <a:latin typeface="Calibri"/>
                        </a:rPr>
                        <a:t>The date condition</a:t>
                      </a:r>
                    </a:p>
                  </a:txBody>
                  <a:tcPr marL="101600" marR="101600" marT="38100" marB="38100" anchor="ctr">
                    <a:solidFill>
                      <a:srgbClr val="1A0F5C"/>
                    </a:solidFill>
                  </a:tcPr>
                </a:tc>
                <a:tc>
                  <a:txBody>
                    <a:bodyPr/>
                    <a:lstStyle/>
                    <a:p>
                      <a:r>
                        <a:rPr sz="1450" b="1" i="0">
                          <a:solidFill>
                            <a:srgbClr val="FFFFFF"/>
                          </a:solidFill>
                          <a:latin typeface="Calibri"/>
                        </a:rPr>
                        <a:t>Rows after the join</a:t>
                      </a:r>
                    </a:p>
                  </a:txBody>
                  <a:tcPr marL="101600" marR="101600" marT="38100" marB="38100" anchor="ctr">
                    <a:solidFill>
                      <a:srgbClr val="1A0F5C"/>
                    </a:solidFill>
                  </a:tcPr>
                </a:tc>
                <a:tc>
                  <a:txBody>
                    <a:bodyPr/>
                    <a:lstStyle/>
                    <a:p>
                      <a:r>
                        <a:rPr sz="1450" b="1" i="0">
                          <a:solidFill>
                            <a:srgbClr val="FFFFFF"/>
                          </a:solidFill>
                          <a:latin typeface="Calibri"/>
                        </a:rPr>
                        <a:t>Orders on the unpaid list</a:t>
                      </a:r>
                    </a:p>
                  </a:txBody>
                  <a:tcPr marL="101600" marR="101600" marT="38100" marB="38100" anchor="ctr">
                    <a:solidFill>
                      <a:srgbClr val="1A0F5C"/>
                    </a:solidFill>
                  </a:tcPr>
                </a:tc>
              </a:tr>
              <a:tr h="369824">
                <a:tc>
                  <a:txBody>
                    <a:bodyPr/>
                    <a:lstStyle/>
                    <a:p>
                      <a:r>
                        <a:rPr sz="1400" b="0" i="0">
                          <a:solidFill>
                            <a:srgbClr val="1A1440"/>
                          </a:solidFill>
                          <a:latin typeface="Calibri"/>
                        </a:rPr>
                        <a:t>in WHERE</a:t>
                      </a:r>
                    </a:p>
                  </a:txBody>
                  <a:tcPr marL="101600" marR="101600" marT="38100" marB="38100" anchor="ctr">
                    <a:solidFill>
                      <a:srgbClr val="FFFFFF"/>
                    </a:solidFill>
                  </a:tcPr>
                </a:tc>
                <a:tc>
                  <a:txBody>
                    <a:bodyPr/>
                    <a:lstStyle/>
                    <a:p>
                      <a:r>
                        <a:rPr sz="1400" b="0" i="0">
                          <a:solidFill>
                            <a:srgbClr val="1A1440"/>
                          </a:solidFill>
                          <a:latin typeface="Calibri"/>
                        </a:rPr>
                        <a:t>6</a:t>
                      </a:r>
                    </a:p>
                  </a:txBody>
                  <a:tcPr marL="101600" marR="101600" marT="38100" marB="38100" anchor="ctr">
                    <a:solidFill>
                      <a:srgbClr val="FFFFFF"/>
                    </a:solidFill>
                  </a:tcPr>
                </a:tc>
                <a:tc>
                  <a:txBody>
                    <a:bodyPr/>
                    <a:lstStyle/>
                    <a:p>
                      <a:r>
                        <a:rPr sz="1400" b="0" i="0">
                          <a:solidFill>
                            <a:srgbClr val="1A1440"/>
                          </a:solidFill>
                          <a:latin typeface="Calibri"/>
                        </a:rPr>
                        <a:t>none</a:t>
                      </a:r>
                    </a:p>
                  </a:txBody>
                  <a:tcPr marL="101600" marR="101600" marT="38100" marB="38100" anchor="ctr">
                    <a:solidFill>
                      <a:srgbClr val="FFFFFF"/>
                    </a:solidFill>
                  </a:tcPr>
                </a:tc>
              </a:tr>
              <a:tr h="369824">
                <a:tc>
                  <a:txBody>
                    <a:bodyPr/>
                    <a:lstStyle/>
                    <a:p>
                      <a:r>
                        <a:rPr sz="1400" b="0" i="0">
                          <a:solidFill>
                            <a:srgbClr val="1A1440"/>
                          </a:solidFill>
                          <a:latin typeface="Calibri"/>
                        </a:rPr>
                        <a:t>in ON</a:t>
                      </a:r>
                    </a:p>
                  </a:txBody>
                  <a:tcPr marL="101600" marR="101600" marT="38100" marB="38100" anchor="ctr">
                    <a:solidFill>
                      <a:srgbClr val="F4F2FA"/>
                    </a:solidFill>
                  </a:tcPr>
                </a:tc>
                <a:tc>
                  <a:txBody>
                    <a:bodyPr/>
                    <a:lstStyle/>
                    <a:p>
                      <a:r>
                        <a:rPr sz="1400" b="0" i="0">
                          <a:solidFill>
                            <a:srgbClr val="1A1440"/>
                          </a:solidFill>
                          <a:latin typeface="Calibri"/>
                        </a:rPr>
                        <a:t>7</a:t>
                      </a:r>
                    </a:p>
                  </a:txBody>
                  <a:tcPr marL="101600" marR="101600" marT="38100" marB="38100" anchor="ctr">
                    <a:solidFill>
                      <a:srgbClr val="F4F2FA"/>
                    </a:solidFill>
                  </a:tcPr>
                </a:tc>
                <a:tc>
                  <a:txBody>
                    <a:bodyPr/>
                    <a:lstStyle/>
                    <a:p>
                      <a:r>
                        <a:rPr sz="1400" b="0" i="0">
                          <a:solidFill>
                            <a:srgbClr val="1A1440"/>
                          </a:solidFill>
                          <a:latin typeface="Calibri"/>
                        </a:rPr>
                        <a:t>T-4, 800</a:t>
                      </a:r>
                    </a:p>
                  </a:txBody>
                  <a:tcPr marL="101600" marR="101600" marT="38100" marB="38100" anchor="ctr">
                    <a:solidFill>
                      <a:srgbClr val="F4F2FA"/>
                    </a:solidFill>
                  </a:tcPr>
                </a:tc>
              </a:tr>
            </a:tbl>
          </a:graphicData>
        </a:graphic>
      </p:graphicFrame>
      <p:sp>
        <p:nvSpPr>
          <p:cNvPr id="15" name="Rounded Rectangle 14"/>
          <p:cNvSpPr/>
          <p:nvPr/>
        </p:nvSpPr>
        <p:spPr>
          <a:xfrm>
            <a:off x="6370167" y="3289808"/>
            <a:ext cx="5291175" cy="21412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516471" y="3417824"/>
            <a:ext cx="45720" cy="18851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717639" y="3408680"/>
            <a:ext cx="4724247" cy="19583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Moving one line changed the whole list. ON decides which payment rows count as a match, before the join; WHERE decides which joined rows survive, after it. With the dates in ON, the list answers "not paid within Q2"; for "never paid", no date condition belongs on payments at all.</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0" name="Oval 1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2" name="Oval 2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4" name="Oval 23"/>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6" name="Oval 25"/>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70 / 90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are two payment rows a double payment?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orders does HAVING COUNT(*) &gt; 1 flag, and are they double-paid?</a:t>
            </a:r>
          </a:p>
        </p:txBody>
      </p:sp>
      <p:sp>
        <p:nvSpPr>
          <p:cNvPr id="9" name="Rounded Rectangle 8"/>
          <p:cNvSpPr/>
          <p:nvPr/>
        </p:nvSpPr>
        <p:spPr>
          <a:xfrm>
            <a:off x="530352" y="184937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7739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68246"/>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For the double-paid list, a teammate reaches for Monday's tool: group Q2's payments by order and keep the orders with more than one row.</a:t>
            </a:r>
          </a:p>
        </p:txBody>
      </p:sp>
      <p:sp>
        <p:nvSpPr>
          <p:cNvPr id="12" name="Rounded Rectangle 11"/>
          <p:cNvSpPr/>
          <p:nvPr/>
        </p:nvSpPr>
        <p:spPr>
          <a:xfrm>
            <a:off x="530352" y="282168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294970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294970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294970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15087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o.order_id, count(*) AS payment_rows</a:t>
            </a:r>
          </a:p>
          <a:p>
            <a:pPr>
              <a:spcAft>
                <a:spcPts val="200"/>
              </a:spcAft>
            </a:pPr>
            <a:r>
              <a:rPr sz="1400" b="0" i="0">
                <a:solidFill>
                  <a:srgbClr val="E4E1F1"/>
                </a:solidFill>
                <a:latin typeface="Consolas"/>
              </a:rPr>
              <a:t>FROM orders o</a:t>
            </a:r>
          </a:p>
          <a:p>
            <a:pPr>
              <a:spcAft>
                <a:spcPts val="200"/>
              </a:spcAft>
            </a:pPr>
            <a:r>
              <a:rPr sz="1400" b="0" i="0">
                <a:solidFill>
                  <a:srgbClr val="E4E1F1"/>
                </a:solidFill>
                <a:latin typeface="Consolas"/>
              </a:rPr>
              <a:t>JOIN payments p ON p.order_id = o.order_id</a:t>
            </a:r>
          </a:p>
          <a:p>
            <a:pPr>
              <a:spcAft>
                <a:spcPts val="200"/>
              </a:spcAft>
            </a:pPr>
            <a:r>
              <a:rPr sz="1400" b="0" i="0">
                <a:solidFill>
                  <a:srgbClr val="E4E1F1"/>
                </a:solidFill>
                <a:latin typeface="Consolas"/>
              </a:rPr>
              <a:t>WHERE o.quarter = 'Q2'</a:t>
            </a:r>
          </a:p>
          <a:p>
            <a:pPr>
              <a:spcAft>
                <a:spcPts val="200"/>
              </a:spcAft>
            </a:pPr>
            <a:r>
              <a:rPr sz="1400" b="0" i="0">
                <a:solidFill>
                  <a:srgbClr val="E4E1F1"/>
                </a:solidFill>
                <a:latin typeface="Consolas"/>
              </a:rPr>
              <a:t>GROUP BY o.order_id</a:t>
            </a:r>
          </a:p>
          <a:p>
            <a:pPr>
              <a:spcAft>
                <a:spcPts val="200"/>
              </a:spcAft>
            </a:pPr>
            <a:r>
              <a:rPr sz="1400" b="0" i="0">
                <a:solidFill>
                  <a:srgbClr val="E4E1F1"/>
                </a:solidFill>
                <a:latin typeface="Consolas"/>
              </a:rPr>
              <a:t>HAVING count(*) &gt; 1;</a:t>
            </a:r>
          </a:p>
        </p:txBody>
      </p:sp>
      <p:sp>
        <p:nvSpPr>
          <p:cNvPr id="17" name="Rounded Rectangle 16"/>
          <p:cNvSpPr/>
          <p:nvPr/>
        </p:nvSpPr>
        <p:spPr>
          <a:xfrm>
            <a:off x="530352" y="495833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508635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507720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Anand will ask the payments team to reverse the second payment on every order it returns. How long is the list? a) a handful of orders, each paid twice; b) 216 orders, including every one of Q2's ten largest invoices; c) no rows, since payment ids are unique; d) all 462 Q2 orders.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6" name="Oval 25"/>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71 / 90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216 orders, the ten largest among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does the order-level list flag, and why is it wrong?</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216</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ORDERS FLAGGED</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more than one payment row each</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 of 10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LARGEST Q2 ORDERS ON IT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all paid in instalments 1 and 2</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2,300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SURPLUS IT CLAIMS, INVENTED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T-2's 800 plus T-3's 1,500, against a bar of 1,500</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t>
            </a:r>
            <a:r>
              <a:rPr sz="1600" b="1" i="0">
                <a:solidFill>
                  <a:srgbClr val="1A1440"/>
                </a:solidFill>
                <a:latin typeface="Calibri"/>
              </a:rPr>
              <a:t>Why it is wrong.</a:t>
            </a:r>
            <a:r>
              <a:rPr sz="1600" b="0" i="0">
                <a:solidFill>
                  <a:srgbClr val="1A1440"/>
                </a:solidFill>
                <a:latin typeface="Calibri"/>
              </a:rPr>
              <a:t> Two payment rows can be two instalments or one payment posted twice, and a count of rows cannot tell them apart. </a:t>
            </a:r>
            <a:r>
              <a:rPr sz="1600" b="1" i="0">
                <a:solidFill>
                  <a:srgbClr val="1A1440"/>
                </a:solidFill>
                <a:latin typeface="Calibri"/>
              </a:rPr>
              <a:t>The check.</a:t>
            </a:r>
            <a:r>
              <a:rPr sz="1600" b="0" i="0">
                <a:solidFill>
                  <a:srgbClr val="1A1440"/>
                </a:solidFill>
                <a:latin typeface="Calibri"/>
              </a:rPr>
              <a:t> The list's surplus must equal the posted-twice bar, and on the invented tables it claims 2,300 against 1,500.</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6" name="Oval 2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8" name="Oval 27"/>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30" name="Oval 2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72 / 90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 retry is one instalment,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makes a retry a retry, and does the fixed list match its bar?</a:t>
            </a:r>
          </a:p>
        </p:txBody>
      </p:sp>
      <p:sp>
        <p:nvSpPr>
          <p:cNvPr id="9" name="Rounded Rectangle 8"/>
          <p:cNvSpPr/>
          <p:nvPr/>
        </p:nvSpPr>
        <p:spPr>
          <a:xfrm>
            <a:off x="530352" y="1682496"/>
            <a:ext cx="5291175" cy="272948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8105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8105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8105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011680"/>
            <a:ext cx="4833975" cy="232714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p.order_id, p.instalment_no,</a:t>
            </a:r>
          </a:p>
          <a:p>
            <a:pPr>
              <a:spcAft>
                <a:spcPts val="200"/>
              </a:spcAft>
            </a:pPr>
            <a:r>
              <a:rPr sz="1400" b="0" i="0">
                <a:solidFill>
                  <a:srgbClr val="E4E1F1"/>
                </a:solidFill>
                <a:latin typeface="Consolas"/>
              </a:rPr>
              <a:t>       count(*) AS times_posted,</a:t>
            </a:r>
          </a:p>
          <a:p>
            <a:pPr>
              <a:spcAft>
                <a:spcPts val="200"/>
              </a:spcAft>
            </a:pPr>
            <a:r>
              <a:rPr sz="1400" b="0" i="0">
                <a:solidFill>
                  <a:srgbClr val="E4E1F1"/>
                </a:solidFill>
                <a:latin typeface="Consolas"/>
              </a:rPr>
              <a:t>       sum(p.amount) - max(p.amount)</a:t>
            </a:r>
          </a:p>
          <a:p>
            <a:pPr>
              <a:spcAft>
                <a:spcPts val="200"/>
              </a:spcAft>
            </a:pPr>
            <a:r>
              <a:rPr sz="1400" b="0" i="0">
                <a:solidFill>
                  <a:srgbClr val="E4E1F1"/>
                </a:solidFill>
                <a:latin typeface="Consolas"/>
              </a:rPr>
              <a:t>         AS posted_twice</a:t>
            </a:r>
          </a:p>
          <a:p>
            <a:pPr>
              <a:spcAft>
                <a:spcPts val="200"/>
              </a:spcAft>
            </a:pPr>
            <a:r>
              <a:rPr sz="1400" b="0" i="0">
                <a:solidFill>
                  <a:srgbClr val="E4E1F1"/>
                </a:solidFill>
                <a:latin typeface="Consolas"/>
              </a:rPr>
              <a:t>FROM tiny_payments p</a:t>
            </a:r>
          </a:p>
          <a:p>
            <a:pPr>
              <a:spcAft>
                <a:spcPts val="200"/>
              </a:spcAft>
            </a:pPr>
            <a:r>
              <a:rPr sz="1400" b="0" i="0">
                <a:solidFill>
                  <a:srgbClr val="E4E1F1"/>
                </a:solidFill>
                <a:latin typeface="Consolas"/>
              </a:rPr>
              <a:t>JOIN tiny_orders o</a:t>
            </a:r>
          </a:p>
          <a:p>
            <a:pPr>
              <a:spcAft>
                <a:spcPts val="200"/>
              </a:spcAft>
            </a:pPr>
            <a:r>
              <a:rPr sz="1400" b="0" i="0">
                <a:solidFill>
                  <a:srgbClr val="E4E1F1"/>
                </a:solidFill>
                <a:latin typeface="Consolas"/>
              </a:rPr>
              <a:t>  ON o.order_id = p.order_id</a:t>
            </a:r>
          </a:p>
          <a:p>
            <a:pPr>
              <a:spcAft>
                <a:spcPts val="200"/>
              </a:spcAft>
            </a:pPr>
            <a:r>
              <a:rPr sz="1400" b="0" i="0">
                <a:solidFill>
                  <a:srgbClr val="E4E1F1"/>
                </a:solidFill>
                <a:latin typeface="Consolas"/>
              </a:rPr>
              <a:t>GROUP BY p.order_id, p.instalment_no</a:t>
            </a:r>
          </a:p>
          <a:p>
            <a:pPr>
              <a:spcAft>
                <a:spcPts val="200"/>
              </a:spcAft>
            </a:pPr>
            <a:r>
              <a:rPr sz="1400" b="0" i="0">
                <a:solidFill>
                  <a:srgbClr val="E4E1F1"/>
                </a:solidFill>
                <a:latin typeface="Consolas"/>
              </a:rPr>
              <a:t>HAVING count(*) &gt; 1;</a:t>
            </a:r>
          </a:p>
        </p:txBody>
      </p:sp>
      <p:graphicFrame>
        <p:nvGraphicFramePr>
          <p:cNvPr id="14" name="Table 13"/>
          <p:cNvGraphicFramePr>
            <a:graphicFrameLocks noGrp="1"/>
          </p:cNvGraphicFramePr>
          <p:nvPr/>
        </p:nvGraphicFramePr>
        <p:xfrm>
          <a:off x="6370167" y="1682496"/>
          <a:ext cx="5291174" cy="2204720"/>
        </p:xfrm>
        <a:graphic>
          <a:graphicData uri="http://schemas.openxmlformats.org/drawingml/2006/table">
            <a:tbl>
              <a:tblPr firstRow="0" bandRow="0">
                <a:tableStyleId>{2D5ABB26-0587-4C30-8999-92F81FD0307C}</a:tableStyleId>
              </a:tblPr>
              <a:tblGrid>
                <a:gridCol w="2397487"/>
                <a:gridCol w="1736466"/>
                <a:gridCol w="1157221"/>
              </a:tblGrid>
              <a:tr h="369824">
                <a:tc>
                  <a:txBody>
                    <a:bodyPr/>
                    <a:lstStyle/>
                    <a:p>
                      <a:r>
                        <a:rPr sz="1450" b="1" i="0">
                          <a:solidFill>
                            <a:srgbClr val="FFFFFF"/>
                          </a:solidFill>
                          <a:latin typeface="Calibri"/>
                        </a:rPr>
                        <a:t>Pattern of payment rows</a:t>
                      </a:r>
                    </a:p>
                  </a:txBody>
                  <a:tcPr marL="101600" marR="101600" marT="38100" marB="38100" anchor="ctr">
                    <a:solidFill>
                      <a:srgbClr val="1A0F5C"/>
                    </a:solidFill>
                  </a:tcPr>
                </a:tc>
                <a:tc>
                  <a:txBody>
                    <a:bodyPr/>
                    <a:lstStyle/>
                    <a:p>
                      <a:r>
                        <a:rPr sz="1450" b="1" i="0">
                          <a:solidFill>
                            <a:srgbClr val="FFFFFF"/>
                          </a:solidFill>
                          <a:latin typeface="Calibri"/>
                        </a:rPr>
                        <a:t>What it is</a:t>
                      </a:r>
                    </a:p>
                  </a:txBody>
                  <a:tcPr marL="101600" marR="101600" marT="38100" marB="38100" anchor="ctr">
                    <a:solidFill>
                      <a:srgbClr val="1A0F5C"/>
                    </a:solidFill>
                  </a:tcPr>
                </a:tc>
                <a:tc>
                  <a:txBody>
                    <a:bodyPr/>
                    <a:lstStyle/>
                    <a:p>
                      <a:r>
                        <a:rPr sz="1450" b="1" i="0">
                          <a:solidFill>
                            <a:srgbClr val="FFFFFF"/>
                          </a:solidFill>
                          <a:latin typeface="Calibri"/>
                        </a:rPr>
                        <a:t>Which list</a:t>
                      </a:r>
                    </a:p>
                  </a:txBody>
                  <a:tcPr marL="101600" marR="101600" marT="38100" marB="38100" anchor="ctr">
                    <a:solidFill>
                      <a:srgbClr val="1A0F5C"/>
                    </a:solidFill>
                  </a:tcPr>
                </a:tc>
              </a:tr>
              <a:tr h="611632">
                <a:tc>
                  <a:txBody>
                    <a:bodyPr/>
                    <a:lstStyle/>
                    <a:p>
                      <a:r>
                        <a:rPr sz="1400" b="0" i="0">
                          <a:solidFill>
                            <a:srgbClr val="1A1440"/>
                          </a:solidFill>
                          <a:latin typeface="Calibri"/>
                        </a:rPr>
                        <a:t>instalment 1 only</a:t>
                      </a:r>
                    </a:p>
                  </a:txBody>
                  <a:tcPr marL="101600" marR="101600" marT="38100" marB="38100" anchor="ctr">
                    <a:solidFill>
                      <a:srgbClr val="FFFFFF"/>
                    </a:solidFill>
                  </a:tcPr>
                </a:tc>
                <a:tc>
                  <a:txBody>
                    <a:bodyPr/>
                    <a:lstStyle/>
                    <a:p>
                      <a:r>
                        <a:rPr sz="1400" b="0" i="0">
                          <a:solidFill>
                            <a:srgbClr val="1A1440"/>
                          </a:solidFill>
                          <a:latin typeface="Calibri"/>
                        </a:rPr>
                        <a:t>paid once, in full</a:t>
                      </a:r>
                    </a:p>
                  </a:txBody>
                  <a:tcPr marL="101600" marR="101600" marT="38100" marB="38100" anchor="ctr">
                    <a:solidFill>
                      <a:srgbClr val="FFFFFF"/>
                    </a:solidFill>
                  </a:tcPr>
                </a:tc>
                <a:tc>
                  <a:txBody>
                    <a:bodyPr/>
                    <a:lstStyle/>
                    <a:p>
                      <a:r>
                        <a:rPr sz="1400" b="0" i="0">
                          <a:solidFill>
                            <a:srgbClr val="1A1440"/>
                          </a:solidFill>
                          <a:latin typeface="Calibri"/>
                        </a:rPr>
                        <a:t>neither</a:t>
                      </a:r>
                    </a:p>
                  </a:txBody>
                  <a:tcPr marL="101600" marR="101600" marT="38100" marB="38100" anchor="ctr">
                    <a:solidFill>
                      <a:srgbClr val="FFFFFF"/>
                    </a:solidFill>
                  </a:tcPr>
                </a:tc>
              </a:tr>
              <a:tr h="611632">
                <a:tc>
                  <a:txBody>
                    <a:bodyPr/>
                    <a:lstStyle/>
                    <a:p>
                      <a:r>
                        <a:rPr sz="1400" b="0" i="0">
                          <a:solidFill>
                            <a:srgbClr val="1A1440"/>
                          </a:solidFill>
                          <a:latin typeface="Calibri"/>
                        </a:rPr>
                        <a:t>instalments 1 and 2</a:t>
                      </a:r>
                    </a:p>
                  </a:txBody>
                  <a:tcPr marL="101600" marR="101600" marT="38100" marB="38100" anchor="ctr">
                    <a:solidFill>
                      <a:srgbClr val="F4F2FA"/>
                    </a:solidFill>
                  </a:tcPr>
                </a:tc>
                <a:tc>
                  <a:txBody>
                    <a:bodyPr/>
                    <a:lstStyle/>
                    <a:p>
                      <a:r>
                        <a:rPr sz="1400" b="0" i="0">
                          <a:solidFill>
                            <a:srgbClr val="1A1440"/>
                          </a:solidFill>
                          <a:latin typeface="Calibri"/>
                        </a:rPr>
                        <a:t>paid in two parts</a:t>
                      </a:r>
                    </a:p>
                  </a:txBody>
                  <a:tcPr marL="101600" marR="101600" marT="38100" marB="38100" anchor="ctr">
                    <a:solidFill>
                      <a:srgbClr val="F4F2FA"/>
                    </a:solidFill>
                  </a:tcPr>
                </a:tc>
                <a:tc>
                  <a:txBody>
                    <a:bodyPr/>
                    <a:lstStyle/>
                    <a:p>
                      <a:r>
                        <a:rPr sz="1400" b="0" i="0">
                          <a:solidFill>
                            <a:srgbClr val="1A1440"/>
                          </a:solidFill>
                          <a:latin typeface="Calibri"/>
                        </a:rPr>
                        <a:t>neither</a:t>
                      </a:r>
                    </a:p>
                  </a:txBody>
                  <a:tcPr marL="101600" marR="101600" marT="38100" marB="38100" anchor="ctr">
                    <a:solidFill>
                      <a:srgbClr val="F4F2FA"/>
                    </a:solidFill>
                  </a:tcPr>
                </a:tc>
              </a:tr>
              <a:tr h="611632">
                <a:tc>
                  <a:txBody>
                    <a:bodyPr/>
                    <a:lstStyle/>
                    <a:p>
                      <a:r>
                        <a:rPr sz="1400" b="0" i="0">
                          <a:solidFill>
                            <a:srgbClr val="1A1440"/>
                          </a:solidFill>
                          <a:latin typeface="Calibri"/>
                        </a:rPr>
                        <a:t>instalment 1, twice</a:t>
                      </a:r>
                    </a:p>
                  </a:txBody>
                  <a:tcPr marL="101600" marR="101600" marT="38100" marB="38100" anchor="ctr">
                    <a:solidFill>
                      <a:srgbClr val="FFFFFF"/>
                    </a:solidFill>
                  </a:tcPr>
                </a:tc>
                <a:tc>
                  <a:txBody>
                    <a:bodyPr/>
                    <a:lstStyle/>
                    <a:p>
                      <a:r>
                        <a:rPr sz="1400" b="0" i="0">
                          <a:solidFill>
                            <a:srgbClr val="1A1440"/>
                          </a:solidFill>
                          <a:latin typeface="Calibri"/>
                        </a:rPr>
                        <a:t>a gateway retry</a:t>
                      </a:r>
                    </a:p>
                  </a:txBody>
                  <a:tcPr marL="101600" marR="101600" marT="38100" marB="38100" anchor="ctr">
                    <a:solidFill>
                      <a:srgbClr val="FFFFFF"/>
                    </a:solidFill>
                  </a:tcPr>
                </a:tc>
                <a:tc>
                  <a:txBody>
                    <a:bodyPr/>
                    <a:lstStyle/>
                    <a:p>
                      <a:r>
                        <a:rPr sz="1400" b="0" i="0">
                          <a:solidFill>
                            <a:srgbClr val="1A1440"/>
                          </a:solidFill>
                          <a:latin typeface="Calibri"/>
                        </a:rPr>
                        <a:t>double-paid</a:t>
                      </a:r>
                    </a:p>
                  </a:txBody>
                  <a:tcPr marL="101600" marR="101600" marT="38100" marB="38100" anchor="ctr">
                    <a:solidFill>
                      <a:srgbClr val="FFFFFF"/>
                    </a:solidFill>
                  </a:tcPr>
                </a:tc>
              </a:tr>
            </a:tbl>
          </a:graphicData>
        </a:graphic>
      </p:graphicFrame>
      <p:sp>
        <p:nvSpPr>
          <p:cNvPr id="15" name="Rounded Rectangle 14"/>
          <p:cNvSpPr/>
          <p:nvPr/>
        </p:nvSpPr>
        <p:spPr>
          <a:xfrm>
            <a:off x="6370167" y="4143248"/>
            <a:ext cx="5291175"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516471" y="427126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717639" y="4262120"/>
            <a:ext cx="4724247"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fixed list is T-3's instalment 1, 1,500 posted beyond one payment, which is the bar exactly; T-2 left the list.</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0" name="Oval 1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2" name="Oval 2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4" name="Oval 23"/>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6" name="Oval 25"/>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73 / 90</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two other ways to the lists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a second method and a second list reach the same orders?</a:t>
            </a:r>
          </a:p>
        </p:txBody>
      </p:sp>
      <p:pic>
        <p:nvPicPr>
          <p:cNvPr id="9" name="mermaid diagram" descr="d86587a7e74f7068.png"/>
          <p:cNvPicPr>
            <a:picLocks noChangeAspect="1"/>
          </p:cNvPicPr>
          <p:nvPr/>
        </p:nvPicPr>
        <p:blipFill>
          <a:blip r:embed="rId5"/>
          <a:stretch>
            <a:fillRect/>
          </a:stretch>
        </p:blipFill>
        <p:spPr>
          <a:xfrm>
            <a:off x="530352" y="1956816"/>
            <a:ext cx="11130991" cy="1991712"/>
          </a:xfrm>
          <a:prstGeom prst="rect">
            <a:avLst/>
          </a:prstGeom>
        </p:spPr>
      </p:pic>
      <p:sp>
        <p:nvSpPr>
          <p:cNvPr id="10" name="TextBox 9"/>
          <p:cNvSpPr txBox="1"/>
          <p:nvPr/>
        </p:nvSpPr>
        <p:spPr>
          <a:xfrm>
            <a:off x="530352" y="4094832"/>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second unpaid route builds no anti-join: count the orders, take away those that appear in payments, and do the same with booked. The second double-paid route never reads an instalment number: an order whose posted cash exceeds its booking was paid more than once. </a:t>
            </a:r>
            <a:r>
              <a:rPr sz="1600" b="1" i="0">
                <a:solidFill>
                  <a:srgbClr val="1A1440"/>
                </a:solidFill>
                <a:latin typeface="Calibri"/>
              </a:rPr>
              <a:t>The check.</a:t>
            </a:r>
            <a:r>
              <a:rPr sz="1600" b="0" i="0">
                <a:solidFill>
                  <a:srgbClr val="1A1440"/>
                </a:solidFill>
                <a:latin typeface="Calibri"/>
              </a:rPr>
              <a:t> Both routes agree with the first, on the invented tables and on Kalpa's Q2.</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74 / 90</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4, answered in six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4 answer, and what question does it leave?</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3065074"/>
                <a:gridCol w="8065916"/>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The answer, with its number</a:t>
                      </a:r>
                    </a:p>
                  </a:txBody>
                  <a:tcPr marL="101600" marR="101600" marT="38100" marB="38100" anchor="ctr">
                    <a:solidFill>
                      <a:srgbClr val="1A0F5C"/>
                    </a:solidFill>
                  </a:tcPr>
                </a:tc>
              </a:tr>
              <a:tr h="310896">
                <a:tc>
                  <a:txBody>
                    <a:bodyPr/>
                    <a:lstStyle/>
                    <a:p>
                      <a:r>
                        <a:rPr sz="900" b="0" i="0">
                          <a:solidFill>
                            <a:srgbClr val="1A1440"/>
                          </a:solidFill>
                          <a:latin typeface="Calibri"/>
                        </a:rPr>
                        <a:t>Which orders have no payment?</a:t>
                      </a:r>
                    </a:p>
                  </a:txBody>
                  <a:tcPr marL="101600" marR="101600" marT="38100" marB="38100" anchor="ctr">
                    <a:solidFill>
                      <a:srgbClr val="FFFFFF"/>
                    </a:solidFill>
                  </a:tcPr>
                </a:tc>
                <a:tc>
                  <a:txBody>
                    <a:bodyPr/>
                    <a:lstStyle/>
                    <a:p>
                      <a:r>
                        <a:rPr sz="900" b="0" i="0">
                          <a:solidFill>
                            <a:srgbClr val="1A1440"/>
                          </a:solidFill>
                          <a:latin typeface="Calibri"/>
                        </a:rPr>
                        <a:t>An anti-join: T-4 at 800 on the invented tables, the bar exactly</a:t>
                      </a:r>
                    </a:p>
                  </a:txBody>
                  <a:tcPr marL="101600" marR="101600" marT="38100" marB="38100" anchor="ctr">
                    <a:solidFill>
                      <a:srgbClr val="FFFFFF"/>
                    </a:solidFill>
                  </a:tcPr>
                </a:tc>
              </a:tr>
              <a:tr h="310896">
                <a:tc>
                  <a:txBody>
                    <a:bodyPr/>
                    <a:lstStyle/>
                    <a:p>
                      <a:r>
                        <a:rPr sz="900" b="0" i="0">
                          <a:solidFill>
                            <a:srgbClr val="1A1440"/>
                          </a:solidFill>
                          <a:latin typeface="Calibri"/>
                        </a:rPr>
                        <a:t>What does a date in WHERE do?</a:t>
                      </a:r>
                    </a:p>
                  </a:txBody>
                  <a:tcPr marL="101600" marR="101600" marT="38100" marB="38100" anchor="ctr">
                    <a:solidFill>
                      <a:srgbClr val="F4F2FA"/>
                    </a:solidFill>
                  </a:tcPr>
                </a:tc>
                <a:tc>
                  <a:txBody>
                    <a:bodyPr/>
                    <a:lstStyle/>
                    <a:p>
                      <a:r>
                        <a:rPr sz="900" b="0" i="0">
                          <a:solidFill>
                            <a:srgbClr val="1A1440"/>
                          </a:solidFill>
                          <a:latin typeface="Calibri"/>
                        </a:rPr>
                        <a:t>The join shrinks to 6 rows and the list comes back empty</a:t>
                      </a:r>
                    </a:p>
                  </a:txBody>
                  <a:tcPr marL="101600" marR="101600" marT="38100" marB="38100" anchor="ctr">
                    <a:solidFill>
                      <a:srgbClr val="F4F2FA"/>
                    </a:solidFill>
                  </a:tcPr>
                </a:tc>
              </a:tr>
              <a:tr h="310896">
                <a:tc>
                  <a:txBody>
                    <a:bodyPr/>
                    <a:lstStyle/>
                    <a:p>
                      <a:r>
                        <a:rPr sz="900" b="0" i="0">
                          <a:solidFill>
                            <a:srgbClr val="1A1440"/>
                          </a:solidFill>
                          <a:latin typeface="Calibri"/>
                        </a:rPr>
                        <a:t>Where does the date belong?</a:t>
                      </a:r>
                    </a:p>
                  </a:txBody>
                  <a:tcPr marL="101600" marR="101600" marT="38100" marB="38100" anchor="ctr">
                    <a:solidFill>
                      <a:srgbClr val="FFFFFF"/>
                    </a:solidFill>
                  </a:tcPr>
                </a:tc>
                <a:tc>
                  <a:txBody>
                    <a:bodyPr/>
                    <a:lstStyle/>
                    <a:p>
                      <a:r>
                        <a:rPr sz="900" b="0" i="0">
                          <a:solidFill>
                            <a:srgbClr val="1A1440"/>
                          </a:solidFill>
                          <a:latin typeface="Calibri"/>
                        </a:rPr>
                        <a:t>In ON: 7 rows, and T-4 is back</a:t>
                      </a:r>
                    </a:p>
                  </a:txBody>
                  <a:tcPr marL="101600" marR="101600" marT="38100" marB="38100" anchor="ctr">
                    <a:solidFill>
                      <a:srgbClr val="FFFFFF"/>
                    </a:solidFill>
                  </a:tcPr>
                </a:tc>
              </a:tr>
              <a:tr h="310896">
                <a:tc>
                  <a:txBody>
                    <a:bodyPr/>
                    <a:lstStyle/>
                    <a:p>
                      <a:r>
                        <a:rPr sz="900" b="0" i="0">
                          <a:solidFill>
                            <a:srgbClr val="1A1440"/>
                          </a:solidFill>
                          <a:latin typeface="Calibri"/>
                        </a:rPr>
                        <a:t>Which orders does HAVING flag?</a:t>
                      </a:r>
                    </a:p>
                  </a:txBody>
                  <a:tcPr marL="101600" marR="101600" marT="38100" marB="38100" anchor="ctr">
                    <a:solidFill>
                      <a:srgbClr val="F4F2FA"/>
                    </a:solidFill>
                  </a:tcPr>
                </a:tc>
                <a:tc>
                  <a:txBody>
                    <a:bodyPr/>
                    <a:lstStyle/>
                    <a:p>
                      <a:r>
                        <a:rPr sz="900" b="0" i="0">
                          <a:solidFill>
                            <a:srgbClr val="1A1440"/>
                          </a:solidFill>
                          <a:latin typeface="Calibri"/>
                        </a:rPr>
                        <a:t>216 Q2 orders, the ten largest invoices among them: instalments too</a:t>
                      </a:r>
                    </a:p>
                  </a:txBody>
                  <a:tcPr marL="101600" marR="101600" marT="38100" marB="38100" anchor="ctr">
                    <a:solidFill>
                      <a:srgbClr val="F4F2FA"/>
                    </a:solidFill>
                  </a:tcPr>
                </a:tc>
              </a:tr>
              <a:tr h="310896">
                <a:tc>
                  <a:txBody>
                    <a:bodyPr/>
                    <a:lstStyle/>
                    <a:p>
                      <a:r>
                        <a:rPr sz="900" b="0" i="0">
                          <a:solidFill>
                            <a:srgbClr val="1A1440"/>
                          </a:solidFill>
                          <a:latin typeface="Calibri"/>
                        </a:rPr>
                        <a:t>What makes a retry a retry?</a:t>
                      </a:r>
                    </a:p>
                  </a:txBody>
                  <a:tcPr marL="101600" marR="101600" marT="38100" marB="38100" anchor="ctr">
                    <a:solidFill>
                      <a:srgbClr val="FFFFFF"/>
                    </a:solidFill>
                  </a:tcPr>
                </a:tc>
                <a:tc>
                  <a:txBody>
                    <a:bodyPr/>
                    <a:lstStyle/>
                    <a:p>
                      <a:r>
                        <a:rPr sz="900" b="0" i="0">
                          <a:solidFill>
                            <a:srgbClr val="1A1440"/>
                          </a:solidFill>
                          <a:latin typeface="Calibri"/>
                        </a:rPr>
                        <a:t>One order and instalment posted twice: T-3's 1,500, the bar</a:t>
                      </a:r>
                    </a:p>
                  </a:txBody>
                  <a:tcPr marL="101600" marR="101600" marT="38100" marB="38100" anchor="ctr">
                    <a:solidFill>
                      <a:srgbClr val="FFFFFF"/>
                    </a:solidFill>
                  </a:tcPr>
                </a:tc>
              </a:tr>
              <a:tr h="310896">
                <a:tc>
                  <a:txBody>
                    <a:bodyPr/>
                    <a:lstStyle/>
                    <a:p>
                      <a:r>
                        <a:rPr sz="900" b="0" i="0">
                          <a:solidFill>
                            <a:srgbClr val="1A1440"/>
                          </a:solidFill>
                          <a:latin typeface="Calibri"/>
                        </a:rPr>
                        <a:t>Do second routes agree?</a:t>
                      </a:r>
                    </a:p>
                  </a:txBody>
                  <a:tcPr marL="101600" marR="101600" marT="38100" marB="38100" anchor="ctr">
                    <a:solidFill>
                      <a:srgbClr val="F4F2FA"/>
                    </a:solidFill>
                  </a:tcPr>
                </a:tc>
                <a:tc>
                  <a:txBody>
                    <a:bodyPr/>
                    <a:lstStyle/>
                    <a:p>
                      <a:r>
                        <a:rPr sz="900" b="0" i="0">
                          <a:solidFill>
                            <a:srgbClr val="1A1440"/>
                          </a:solidFill>
                          <a:latin typeface="Calibri"/>
                        </a:rPr>
                        <a:t>Yes: subtraction gives the same count and total; posted above booked, the same orders</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"Two payment rows are not a double payment. Show me what makes a retry a retry before anyone rings a customer, and show me that each list adds up to its bar."</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How do you find orders with no payment? And [F] what does HAVING COUNT(*) &gt; 1 by order find, and wrongly include?</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6" name="Oval 25"/>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75 / 90</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Anand sign?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goes on the report by channel that Anand signs, and does its gap column tell the truth?</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join keep?</a:t>
            </a:r>
          </a:p>
        </p:txBody>
      </p:sp>
      <p:sp>
        <p:nvSpPr>
          <p:cNvPr id="11" name="Rounded Rectangle 10"/>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twice the bookings?</a:t>
            </a:r>
          </a:p>
        </p:txBody>
      </p:sp>
      <p:sp>
        <p:nvSpPr>
          <p:cNvPr id="12" name="Rounded Rectangle 11"/>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every order there?</a:t>
            </a:r>
          </a:p>
        </p:txBody>
      </p:sp>
      <p:sp>
        <p:nvSpPr>
          <p:cNvPr id="13" name="Rounded Rectangle 12"/>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exactly?</a:t>
            </a:r>
          </a:p>
        </p:txBody>
      </p:sp>
      <p:sp>
        <p:nvSpPr>
          <p:cNvPr id="14" name="Rounded Rectangle 13"/>
          <p:cNvSpPr/>
          <p:nvPr/>
        </p:nvSpPr>
        <p:spPr>
          <a:xfrm>
            <a:off x="7844477"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Anand sign?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What did Q2 actually collect, order by order?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76 / 90</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six steps, from lists to a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chapter 5's answer, and which smaller questions lead to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who signs the report and sends it on to the CEO's Monday page, and the channel heads, who chase their own unpaid orders from it. A wrong gap column sends a channel after customers who paid, or stands it down while its orders sit unpaid, and a report that does not add back to the bridge cannot be defended when his analyst audits it.</a:t>
            </a:r>
          </a:p>
        </p:txBody>
      </p:sp>
      <p:sp>
        <p:nvSpPr>
          <p:cNvPr id="12" name="Rectangle 11"/>
          <p:cNvSpPr/>
          <p:nvPr/>
        </p:nvSpPr>
        <p:spPr>
          <a:xfrm>
            <a:off x="1381734" y="40294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of four page forms fits?</a:t>
            </a:r>
          </a:p>
        </p:txBody>
      </p:sp>
      <p:sp>
        <p:nvSpPr>
          <p:cNvPr id="17" name="TextBox 16"/>
          <p:cNvSpPr txBox="1"/>
          <p:nvPr/>
        </p:nvSpPr>
        <p:spPr>
          <a:xfrm>
            <a:off x="694944" y="4998212"/>
            <a:ext cx="1373581" cy="531876"/>
          </a:xfrm>
          <a:prstGeom prst="rect">
            <a:avLst/>
          </a:prstGeom>
          <a:noFill/>
        </p:spPr>
        <p:txBody>
          <a:bodyPr wrap="square" anchor="t" lIns="0" rIns="0" tIns="0" bIns="0">
            <a:spAutoFit/>
          </a:bodyPr>
          <a:lstStyle/>
          <a:p>
            <a:pPr algn="l"/>
            <a:r>
              <a:rPr sz="1000" b="0" i="0">
                <a:solidFill>
                  <a:srgbClr val="6B6690"/>
                </a:solidFill>
                <a:latin typeface="Calibri"/>
              </a:rPr>
              <a:t>Sized on what Anand reads, acts on and audits.</a:t>
            </a:r>
          </a:p>
        </p:txBody>
      </p:sp>
      <p:sp>
        <p:nvSpPr>
          <p:cNvPr id="18" name="TextBox 17"/>
          <p:cNvSpPr txBox="1"/>
          <p:nvPr/>
        </p:nvSpPr>
        <p:spPr>
          <a:xfrm>
            <a:off x="241599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each channel book?</a:t>
            </a:r>
          </a:p>
        </p:txBody>
      </p:sp>
      <p:sp>
        <p:nvSpPr>
          <p:cNvPr id="22" name="TextBox 21"/>
          <p:cNvSpPr txBox="1"/>
          <p:nvPr/>
        </p:nvSpPr>
        <p:spPr>
          <a:xfrm>
            <a:off x="2580589" y="4998212"/>
            <a:ext cx="1373581" cy="531876"/>
          </a:xfrm>
          <a:prstGeom prst="rect">
            <a:avLst/>
          </a:prstGeom>
          <a:noFill/>
        </p:spPr>
        <p:txBody>
          <a:bodyPr wrap="square" anchor="t" lIns="0" rIns="0" tIns="0" bIns="0">
            <a:spAutoFit/>
          </a:bodyPr>
          <a:lstStyle/>
          <a:p>
            <a:pPr algn="l"/>
            <a:r>
              <a:rPr sz="1000" b="0" i="0">
                <a:solidFill>
                  <a:srgbClr val="6B6690"/>
                </a:solidFill>
                <a:latin typeface="Calibri"/>
              </a:rPr>
              <a:t>And what its line must carry before Anand signs.</a:t>
            </a:r>
          </a:p>
        </p:txBody>
      </p:sp>
      <p:sp>
        <p:nvSpPr>
          <p:cNvPr id="23" name="TextBox 22"/>
          <p:cNvSpPr txBox="1"/>
          <p:nvPr/>
        </p:nvSpPr>
        <p:spPr>
          <a:xfrm>
            <a:off x="430164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gap column say?</a:t>
            </a:r>
          </a:p>
        </p:txBody>
      </p:sp>
      <p:sp>
        <p:nvSpPr>
          <p:cNvPr id="27" name="TextBox 26"/>
          <p:cNvSpPr txBox="1"/>
          <p:nvPr/>
        </p:nvSpPr>
        <p:spPr>
          <a:xfrm>
            <a:off x="446623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When each order's gap is added up.</a:t>
            </a:r>
          </a:p>
        </p:txBody>
      </p:sp>
      <p:sp>
        <p:nvSpPr>
          <p:cNvPr id="28" name="TextBox 27"/>
          <p:cNvSpPr txBox="1"/>
          <p:nvPr/>
        </p:nvSpPr>
        <p:spPr>
          <a:xfrm>
            <a:off x="618728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Is the gap column right?</a:t>
            </a:r>
          </a:p>
        </p:txBody>
      </p:sp>
      <p:sp>
        <p:nvSpPr>
          <p:cNvPr id="32" name="TextBox 31"/>
          <p:cNvSpPr txBox="1"/>
          <p:nvPr/>
        </p:nvSpPr>
        <p:spPr>
          <a:xfrm>
            <a:off x="6351879"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And the check that proves it.</a:t>
            </a:r>
          </a:p>
        </p:txBody>
      </p:sp>
      <p:sp>
        <p:nvSpPr>
          <p:cNvPr id="33" name="TextBox 32"/>
          <p:cNvSpPr txBox="1"/>
          <p:nvPr/>
        </p:nvSpPr>
        <p:spPr>
          <a:xfrm>
            <a:off x="807293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the page match the bridge?</a:t>
            </a:r>
          </a:p>
        </p:txBody>
      </p:sp>
      <p:sp>
        <p:nvSpPr>
          <p:cNvPr id="37" name="TextBox 36"/>
          <p:cNvSpPr txBox="1"/>
          <p:nvPr/>
        </p:nvSpPr>
        <p:spPr>
          <a:xfrm>
            <a:off x="823752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fixed page against the bridge on Q2.</a:t>
            </a:r>
          </a:p>
        </p:txBody>
      </p:sp>
      <p:sp>
        <p:nvSpPr>
          <p:cNvPr id="38" name="TextBox 37"/>
          <p:cNvSpPr txBox="1"/>
          <p:nvPr/>
        </p:nvSpPr>
        <p:spPr>
          <a:xfrm>
            <a:off x="9958578"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3494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4958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the unpaid list agree?</a:t>
            </a:r>
          </a:p>
        </p:txBody>
      </p:sp>
      <p:sp>
        <p:nvSpPr>
          <p:cNvPr id="42" name="TextBox 41"/>
          <p:cNvSpPr txBox="1"/>
          <p:nvPr/>
        </p:nvSpPr>
        <p:spPr>
          <a:xfrm>
            <a:off x="10123170" y="49982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unpaid list, grouped by channel.</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47" name="Oval 4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49" name="Oval 4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51" name="Oval 50"/>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77 / 90</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page becomes Anand's figure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 need on the page before he signs it?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ayout-grid_bb7508f12af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BY CHANNEL</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Who chases</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store, app and web teams each chase their own customers, so the gap is split three ways.</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BY ORDER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Whom to chase</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channel total cannot be chased; the orders behind the gap can.</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file-check_4c4b96b7c9ab.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PROOF</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Above the number</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His analyst audits the page, so the reconciliation sits above the table.</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5" name="Oval 34"/>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78 / 90</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Infosys publishes its gap every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reports the gap between billed and collected, and how is it measured?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63 days</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DAYS SALES OUTSTANDING</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quarter ended 30 June 2026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67 days</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AT 31 MARCH 2026</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quarter before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70 days</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YEAR EARLIER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 the last twelve months' revenue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Days sales outstanding is money owed by customers divided by revenue per day. A finance team that publishes a collections figure every quarter answers for it, which is Anand's position when he signs.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6" name="Oval 2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0" name="Oval 29"/>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79 / 90</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report forms, sized on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report forms fits a finance controller, and what does each cost him to read?</a:t>
            </a:r>
          </a:p>
        </p:txBody>
      </p:sp>
      <p:graphicFrame>
        <p:nvGraphicFramePr>
          <p:cNvPr id="9" name="Table 8"/>
          <p:cNvGraphicFramePr>
            <a:graphicFrameLocks noGrp="1"/>
          </p:cNvGraphicFramePr>
          <p:nvPr/>
        </p:nvGraphicFramePr>
        <p:xfrm>
          <a:off x="530352" y="1956816"/>
          <a:ext cx="11130988" cy="2298192"/>
        </p:xfrm>
        <a:graphic>
          <a:graphicData uri="http://schemas.openxmlformats.org/drawingml/2006/table">
            <a:tbl>
              <a:tblPr firstRow="0" bandRow="0">
                <a:tableStyleId>{2D5ABB26-0587-4C30-8999-92F81FD0307C}</a:tableStyleId>
              </a:tblPr>
              <a:tblGrid>
                <a:gridCol w="3889822"/>
                <a:gridCol w="2704001"/>
                <a:gridCol w="2235496"/>
                <a:gridCol w="2301669"/>
              </a:tblGrid>
              <a:tr h="542544">
                <a:tc>
                  <a:txBody>
                    <a:bodyPr/>
                    <a:lstStyle/>
                    <a:p>
                      <a:r>
                        <a:rPr sz="1250" b="1" i="0">
                          <a:solidFill>
                            <a:srgbClr val="FFFFFF"/>
                          </a:solidFill>
                          <a:latin typeface="Calibri"/>
                        </a:rPr>
                        <a:t>Form</a:t>
                      </a:r>
                    </a:p>
                  </a:txBody>
                  <a:tcPr marL="101600" marR="101600" marT="38100" marB="38100" anchor="ctr">
                    <a:solidFill>
                      <a:srgbClr val="1A0F5C"/>
                    </a:solidFill>
                  </a:tcPr>
                </a:tc>
                <a:tc>
                  <a:txBody>
                    <a:bodyPr/>
                    <a:lstStyle/>
                    <a:p>
                      <a:r>
                        <a:rPr sz="1250" b="1" i="0">
                          <a:solidFill>
                            <a:srgbClr val="FFFFFF"/>
                          </a:solidFill>
                          <a:latin typeface="Calibri"/>
                        </a:rPr>
                        <a:t>Lines Anand reads, before any list</a:t>
                      </a:r>
                    </a:p>
                  </a:txBody>
                  <a:tcPr marL="101600" marR="101600" marT="38100" marB="38100" anchor="ctr">
                    <a:solidFill>
                      <a:srgbClr val="1A0F5C"/>
                    </a:solidFill>
                  </a:tcPr>
                </a:tc>
                <a:tc>
                  <a:txBody>
                    <a:bodyPr/>
                    <a:lstStyle/>
                    <a:p>
                      <a:r>
                        <a:rPr sz="1250" b="1" i="0">
                          <a:solidFill>
                            <a:srgbClr val="FFFFFF"/>
                          </a:solidFill>
                          <a:latin typeface="Calibri"/>
                        </a:rPr>
                        <a:t>He can act on</a:t>
                      </a:r>
                    </a:p>
                  </a:txBody>
                  <a:tcPr marL="101600" marR="101600" marT="38100" marB="38100" anchor="ctr">
                    <a:solidFill>
                      <a:srgbClr val="1A0F5C"/>
                    </a:solidFill>
                  </a:tcPr>
                </a:tc>
                <a:tc>
                  <a:txBody>
                    <a:bodyPr/>
                    <a:lstStyle/>
                    <a:p>
                      <a:r>
                        <a:rPr sz="1250" b="1" i="0">
                          <a:solidFill>
                            <a:srgbClr val="FFFFFF"/>
                          </a:solidFill>
                          <a:latin typeface="Calibri"/>
                        </a:rPr>
                        <a:t>He can audit</a:t>
                      </a:r>
                    </a:p>
                  </a:txBody>
                  <a:tcPr marL="101600" marR="101600" marT="38100" marB="38100" anchor="ctr">
                    <a:solidFill>
                      <a:srgbClr val="1A0F5C"/>
                    </a:solidFill>
                  </a:tcPr>
                </a:tc>
              </a:tr>
              <a:tr h="542544">
                <a:tc>
                  <a:txBody>
                    <a:bodyPr/>
                    <a:lstStyle/>
                    <a:p>
                      <a:r>
                        <a:rPr sz="1200" b="0" i="0">
                          <a:solidFill>
                            <a:srgbClr val="1A1440"/>
                          </a:solidFill>
                          <a:latin typeface="Calibri"/>
                        </a:rPr>
                        <a:t>A. One number: the total gap</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nothing: no channel, no order</a:t>
                      </a:r>
                    </a:p>
                  </a:txBody>
                  <a:tcPr marL="101600" marR="101600" marT="38100" marB="38100" anchor="ctr">
                    <a:solidFill>
                      <a:srgbClr val="FFFFFF"/>
                    </a:solidFill>
                  </a:tcPr>
                </a:tc>
                <a:tc>
                  <a:txBody>
                    <a:bodyPr/>
                    <a:lstStyle/>
                    <a:p>
                      <a:r>
                        <a:rPr sz="1200" b="0" i="0">
                          <a:solidFill>
                            <a:srgbClr val="1A1440"/>
                          </a:solidFill>
                          <a:latin typeface="Calibri"/>
                        </a:rPr>
                        <a:t>nothing</a:t>
                      </a:r>
                    </a:p>
                  </a:txBody>
                  <a:tcPr marL="101600" marR="101600" marT="38100" marB="38100" anchor="ctr">
                    <a:solidFill>
                      <a:srgbClr val="FFFFFF"/>
                    </a:solidFill>
                  </a:tcPr>
                </a:tc>
              </a:tr>
              <a:tr h="335280">
                <a:tc>
                  <a:txBody>
                    <a:bodyPr/>
                    <a:lstStyle/>
                    <a:p>
                      <a:r>
                        <a:rPr sz="1200" b="0" i="0">
                          <a:solidFill>
                            <a:srgbClr val="1A1440"/>
                          </a:solidFill>
                          <a:latin typeface="Calibri"/>
                        </a:rPr>
                        <a:t>B. A table by channel</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which channel to chase</a:t>
                      </a:r>
                    </a:p>
                  </a:txBody>
                  <a:tcPr marL="101600" marR="101600" marT="38100" marB="38100" anchor="ctr">
                    <a:solidFill>
                      <a:srgbClr val="F4F2FA"/>
                    </a:solidFill>
                  </a:tcPr>
                </a:tc>
                <a:tc>
                  <a:txBody>
                    <a:bodyPr/>
                    <a:lstStyle/>
                    <a:p>
                      <a:r>
                        <a:rPr sz="1200" b="0" i="0">
                          <a:solidFill>
                            <a:srgbClr val="1A1440"/>
                          </a:solidFill>
                          <a:latin typeface="Calibri"/>
                        </a:rPr>
                        <a:t>the totals, against booked</a:t>
                      </a:r>
                    </a:p>
                  </a:txBody>
                  <a:tcPr marL="101600" marR="101600" marT="38100" marB="38100" anchor="ctr">
                    <a:solidFill>
                      <a:srgbClr val="F4F2FA"/>
                    </a:solidFill>
                  </a:tcPr>
                </a:tc>
              </a:tr>
              <a:tr h="542544">
                <a:tc>
                  <a:txBody>
                    <a:bodyPr/>
                    <a:lstStyle/>
                    <a:p>
                      <a:r>
                        <a:rPr sz="1200" b="0" i="0">
                          <a:solidFill>
                            <a:srgbClr val="1A1440"/>
                          </a:solidFill>
                          <a:latin typeface="Calibri"/>
                        </a:rPr>
                        <a:t>C. B, the reconciliation above it, the two lists beneath</a:t>
                      </a:r>
                    </a:p>
                  </a:txBody>
                  <a:tcPr marL="101600" marR="101600" marT="38100" marB="38100" anchor="ctr">
                    <a:solidFill>
                      <a:srgbClr val="FFFFFF"/>
                    </a:solidFill>
                  </a:tcPr>
                </a:tc>
                <a:tc>
                  <a:txBody>
                    <a:bodyPr/>
                    <a:lstStyle/>
                    <a:p>
                      <a:r>
                        <a:rPr sz="1200" b="0" i="0">
                          <a:solidFill>
                            <a:srgbClr val="1A1440"/>
                          </a:solidFill>
                          <a:latin typeface="Calibri"/>
                        </a:rPr>
                        <a:t>8, then the lists</a:t>
                      </a:r>
                    </a:p>
                  </a:txBody>
                  <a:tcPr marL="101600" marR="101600" marT="38100" marB="38100" anchor="ctr">
                    <a:solidFill>
                      <a:srgbClr val="FFFFFF"/>
                    </a:solidFill>
                  </a:tcPr>
                </a:tc>
                <a:tc>
                  <a:txBody>
                    <a:bodyPr/>
                    <a:lstStyle/>
                    <a:p>
                      <a:r>
                        <a:rPr sz="1200" b="0" i="0">
                          <a:solidFill>
                            <a:srgbClr val="1A1440"/>
                          </a:solidFill>
                          <a:latin typeface="Calibri"/>
                        </a:rPr>
                        <a:t>which channel, and which orders</a:t>
                      </a:r>
                    </a:p>
                  </a:txBody>
                  <a:tcPr marL="101600" marR="101600" marT="38100" marB="38100" anchor="ctr">
                    <a:solidFill>
                      <a:srgbClr val="FFFFFF"/>
                    </a:solidFill>
                  </a:tcPr>
                </a:tc>
                <a:tc>
                  <a:txBody>
                    <a:bodyPr/>
                    <a:lstStyle/>
                    <a:p>
                      <a:r>
                        <a:rPr sz="1200" b="0" i="0">
                          <a:solidFill>
                            <a:srgbClr val="1A1440"/>
                          </a:solidFill>
                          <a:latin typeface="Calibri"/>
                        </a:rPr>
                        <a:t>every figure, back to the bridge</a:t>
                      </a:r>
                    </a:p>
                  </a:txBody>
                  <a:tcPr marL="101600" marR="101600" marT="38100" marB="38100" anchor="ctr">
                    <a:solidFill>
                      <a:srgbClr val="FFFFFF"/>
                    </a:solidFill>
                  </a:tcPr>
                </a:tc>
              </a:tr>
              <a:tr h="335280">
                <a:tc>
                  <a:txBody>
                    <a:bodyPr/>
                    <a:lstStyle/>
                    <a:p>
                      <a:r>
                        <a:rPr sz="1200" b="0" i="0">
                          <a:solidFill>
                            <a:srgbClr val="1A1440"/>
                          </a:solidFill>
                          <a:latin typeface="Calibri"/>
                        </a:rPr>
                        <a:t>D. The whole statement, one line per order</a:t>
                      </a:r>
                    </a:p>
                  </a:txBody>
                  <a:tcPr marL="101600" marR="101600" marT="38100" marB="38100" anchor="ctr">
                    <a:solidFill>
                      <a:srgbClr val="F4F2FA"/>
                    </a:solidFill>
                  </a:tcPr>
                </a:tc>
                <a:tc>
                  <a:txBody>
                    <a:bodyPr/>
                    <a:lstStyle/>
                    <a:p>
                      <a:r>
                        <a:rPr sz="1200" b="0" i="0">
                          <a:solidFill>
                            <a:srgbClr val="1A1440"/>
                          </a:solidFill>
                          <a:latin typeface="Calibri"/>
                        </a:rPr>
                        <a:t>462</a:t>
                      </a:r>
                    </a:p>
                  </a:txBody>
                  <a:tcPr marL="101600" marR="101600" marT="38100" marB="38100" anchor="ctr">
                    <a:solidFill>
                      <a:srgbClr val="F4F2FA"/>
                    </a:solidFill>
                  </a:tcPr>
                </a:tc>
                <a:tc>
                  <a:txBody>
                    <a:bodyPr/>
                    <a:lstStyle/>
                    <a:p>
                      <a:r>
                        <a:rPr sz="1200" b="0" i="0">
                          <a:solidFill>
                            <a:srgbClr val="1A1440"/>
                          </a:solidFill>
                          <a:latin typeface="Calibri"/>
                        </a:rPr>
                        <a:t>anything, once found</a:t>
                      </a:r>
                    </a:p>
                  </a:txBody>
                  <a:tcPr marL="101600" marR="101600" marT="38100" marB="38100" anchor="ctr">
                    <a:solidFill>
                      <a:srgbClr val="F4F2FA"/>
                    </a:solidFill>
                  </a:tcPr>
                </a:tc>
                <a:tc>
                  <a:txBody>
                    <a:bodyPr/>
                    <a:lstStyle/>
                    <a:p>
                      <a:r>
                        <a:rPr sz="1200" b="0" i="0">
                          <a:solidFill>
                            <a:srgbClr val="1A1440"/>
                          </a:solidFill>
                          <a:latin typeface="Calibri"/>
                        </a:rPr>
                        <a:t>everything, if read</a:t>
                      </a:r>
                    </a:p>
                  </a:txBody>
                  <a:tcPr marL="101600" marR="101600" marT="38100" marB="38100" anchor="ctr">
                    <a:solidFill>
                      <a:srgbClr val="F4F2FA"/>
                    </a:solidFill>
                  </a:tcPr>
                </a:tc>
              </a:tr>
            </a:tbl>
          </a:graphicData>
        </a:graphic>
      </p:graphicFrame>
      <p:sp>
        <p:nvSpPr>
          <p:cNvPr id="10" name="Rounded Rectangle 9"/>
          <p:cNvSpPr/>
          <p:nvPr/>
        </p:nvSpPr>
        <p:spPr>
          <a:xfrm>
            <a:off x="530352" y="451104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3905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29912"/>
            <a:ext cx="10564063" cy="358140"/>
          </a:xfrm>
          <a:prstGeom prst="rect">
            <a:avLst/>
          </a:prstGeom>
          <a:noFill/>
        </p:spPr>
        <p:txBody>
          <a:bodyPr wrap="square" anchor="ctr" lIns="0" rIns="0" tIns="0" bIns="0">
            <a:spAutoFit/>
          </a:bodyPr>
          <a:lstStyle/>
          <a:p>
            <a:r>
              <a:rPr sz="1500" b="1">
                <a:solidFill>
                  <a:srgbClr val="5B3FD6"/>
                </a:solidFill>
                <a:latin typeface="Calibri"/>
              </a:rPr>
              <a:t>Sized. </a:t>
            </a:r>
            <a:r>
              <a:rPr sz="1500" b="0" i="0">
                <a:solidFill>
                  <a:srgbClr val="1A1440"/>
                </a:solidFill>
                <a:latin typeface="Calibri"/>
              </a:rPr>
              <a:t>The forms differ in what they ask of the reader, from one line to 462.</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80 / 90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by channel, reconciled, with the lists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form fits, and what fact would change the call?</a:t>
            </a:r>
          </a:p>
        </p:txBody>
      </p:sp>
      <p:pic>
        <p:nvPicPr>
          <p:cNvPr id="9" name="mermaid diagram" descr="b788dddc4b0a2d51.png"/>
          <p:cNvPicPr>
            <a:picLocks noChangeAspect="1"/>
          </p:cNvPicPr>
          <p:nvPr/>
        </p:nvPicPr>
        <p:blipFill>
          <a:blip r:embed="rId5"/>
          <a:stretch>
            <a:fillRect/>
          </a:stretch>
        </p:blipFill>
        <p:spPr>
          <a:xfrm>
            <a:off x="952347" y="1956816"/>
            <a:ext cx="10287000" cy="1128712"/>
          </a:xfrm>
          <a:prstGeom prst="rect">
            <a:avLst/>
          </a:prstGeom>
        </p:spPr>
      </p:pic>
      <p:sp>
        <p:nvSpPr>
          <p:cNvPr id="10" name="Rounded Rectangle 9"/>
          <p:cNvSpPr/>
          <p:nvPr/>
        </p:nvSpPr>
        <p:spPr>
          <a:xfrm>
            <a:off x="530352" y="32318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598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0704"/>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At the quarter's close, when auditors ask for evidence order by order, the whole statement travels with the signed page as an appendix file; the page itself stays C.</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81 / 90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channel books 1,800?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channel book, and what must its line carry?</a:t>
            </a:r>
          </a:p>
        </p:txBody>
      </p:sp>
      <p:pic>
        <p:nvPicPr>
          <p:cNvPr id="9" name="mermaid diagram" descr="091c4cf7f37c1b53.png"/>
          <p:cNvPicPr>
            <a:picLocks noChangeAspect="1"/>
          </p:cNvPicPr>
          <p:nvPr/>
        </p:nvPicPr>
        <p:blipFill>
          <a:blip r:embed="rId5"/>
          <a:stretch>
            <a:fillRect/>
          </a:stretch>
        </p:blipFill>
        <p:spPr>
          <a:xfrm>
            <a:off x="1695297" y="1956816"/>
            <a:ext cx="8801100" cy="1128712"/>
          </a:xfrm>
          <a:prstGeom prst="rect">
            <a:avLst/>
          </a:prstGeom>
        </p:spPr>
      </p:pic>
      <p:sp>
        <p:nvSpPr>
          <p:cNvPr id="10" name="TextBox 9"/>
          <p:cNvSpPr txBox="1"/>
          <p:nvPr/>
        </p:nvSpPr>
        <p:spPr>
          <a:xfrm>
            <a:off x="530352" y="32318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line carries the orders, booked, collected and the gap, under a definition line: collected is cash received against Q2 orders, each payment counted once.</a:t>
            </a:r>
          </a:p>
        </p:txBody>
      </p:sp>
      <p:sp>
        <p:nvSpPr>
          <p:cNvPr id="11" name="Rounded Rectangle 10"/>
          <p:cNvSpPr/>
          <p:nvPr/>
        </p:nvSpPr>
        <p:spPr>
          <a:xfrm>
            <a:off x="530352" y="413200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26002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250880"/>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the invented tables, which channel's line carries booked of 1,800? a) web; b) store; c) app; d) none, every channel books 2,000.</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8" name="Oval 1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0" name="Oval 19"/>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2" name="Oval 21"/>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82 / 90</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app books 1,800, and Kalpa's channels add up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channel book, and do the channels add back to Monday's figure?</a:t>
            </a:r>
          </a:p>
        </p:txBody>
      </p:sp>
      <p:sp>
        <p:nvSpPr>
          <p:cNvPr id="9" name="TextBox 8"/>
          <p:cNvSpPr txBox="1"/>
          <p:nvPr/>
        </p:nvSpPr>
        <p:spPr>
          <a:xfrm>
            <a:off x="530352"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4,25,90,270</a:t>
            </a:r>
          </a:p>
        </p:txBody>
      </p:sp>
      <p:sp>
        <p:nvSpPr>
          <p:cNvPr id="10" name="TextBox 9"/>
          <p:cNvSpPr txBox="1"/>
          <p:nvPr/>
        </p:nvSpPr>
        <p:spPr>
          <a:xfrm>
            <a:off x="530352"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APP BOOKED</a:t>
            </a:r>
          </a:p>
        </p:txBody>
      </p:sp>
      <p:sp>
        <p:nvSpPr>
          <p:cNvPr id="11" name="TextBox 10"/>
          <p:cNvSpPr txBox="1"/>
          <p:nvPr/>
        </p:nvSpPr>
        <p:spPr>
          <a:xfrm>
            <a:off x="530352"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153 Q2 orders</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3,21,48,730</a:t>
            </a:r>
          </a:p>
        </p:txBody>
      </p:sp>
      <p:sp>
        <p:nvSpPr>
          <p:cNvPr id="14" name="TextBox 13"/>
          <p:cNvSpPr txBox="1"/>
          <p:nvPr/>
        </p:nvSpPr>
        <p:spPr>
          <a:xfrm>
            <a:off x="3381679"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STORE BOOKED</a:t>
            </a:r>
          </a:p>
        </p:txBody>
      </p:sp>
      <p:sp>
        <p:nvSpPr>
          <p:cNvPr id="15" name="TextBox 14"/>
          <p:cNvSpPr txBox="1"/>
          <p:nvPr/>
        </p:nvSpPr>
        <p:spPr>
          <a:xfrm>
            <a:off x="3381679"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159 Q2 orders</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2,36,61,000</a:t>
            </a:r>
          </a:p>
        </p:txBody>
      </p:sp>
      <p:sp>
        <p:nvSpPr>
          <p:cNvPr id="18" name="TextBox 17"/>
          <p:cNvSpPr txBox="1"/>
          <p:nvPr/>
        </p:nvSpPr>
        <p:spPr>
          <a:xfrm>
            <a:off x="6233007"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WEB BOOKED</a:t>
            </a:r>
          </a:p>
        </p:txBody>
      </p:sp>
      <p:sp>
        <p:nvSpPr>
          <p:cNvPr id="19" name="TextBox 18"/>
          <p:cNvSpPr txBox="1"/>
          <p:nvPr/>
        </p:nvSpPr>
        <p:spPr>
          <a:xfrm>
            <a:off x="6233007"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150 Q2 orders</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9,84,00,000</a:t>
            </a:r>
          </a:p>
        </p:txBody>
      </p:sp>
      <p:sp>
        <p:nvSpPr>
          <p:cNvPr id="22" name="TextBox 21"/>
          <p:cNvSpPr txBox="1"/>
          <p:nvPr/>
        </p:nvSpPr>
        <p:spPr>
          <a:xfrm>
            <a:off x="9084335"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TOGETHER</a:t>
            </a:r>
          </a:p>
        </p:txBody>
      </p:sp>
      <p:sp>
        <p:nvSpPr>
          <p:cNvPr id="23" name="TextBox 22"/>
          <p:cNvSpPr txBox="1"/>
          <p:nvPr/>
        </p:nvSpPr>
        <p:spPr>
          <a:xfrm>
            <a:off x="9084335"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Monday's figure, 462 orders</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app books T-1's 1,000 and T-4's 800 and collects 1,000, while web and store each book 2,000 and collect it. </a:t>
            </a:r>
            <a:r>
              <a:rPr sz="1600" b="1" i="0">
                <a:solidFill>
                  <a:srgbClr val="1A1440"/>
                </a:solidFill>
                <a:latin typeface="Calibri"/>
              </a:rPr>
              <a:t>The check.</a:t>
            </a:r>
            <a:r>
              <a:rPr sz="1600" b="0" i="0">
                <a:solidFill>
                  <a:srgbClr val="1A1440"/>
                </a:solidFill>
                <a:latin typeface="Calibri"/>
              </a:rPr>
              <a:t> Kalpa's three channels add to Rs 9,84,00,000.</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0" name="Oval 2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4" name="Oval 33"/>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83 / 90</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the gap column say?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gap column say when each order's gap is added up?</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Anand asked "order by order", so a teammate computes each order's gap, booked less collected, and adds the gaps up by channel.</a:t>
            </a:r>
          </a:p>
        </p:txBody>
      </p:sp>
      <p:sp>
        <p:nvSpPr>
          <p:cNvPr id="12" name="Rounded Rectangle 11"/>
          <p:cNvSpPr/>
          <p:nvPr/>
        </p:nvSpPr>
        <p:spPr>
          <a:xfrm>
            <a:off x="530352" y="2929128"/>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30571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30571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30571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258312"/>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channel, count(*) AS orders, sum(booked) AS booked,</a:t>
            </a:r>
          </a:p>
          <a:p>
            <a:pPr>
              <a:spcAft>
                <a:spcPts val="200"/>
              </a:spcAft>
            </a:pPr>
            <a:r>
              <a:rPr sz="1400" b="0" i="0">
                <a:solidFill>
                  <a:srgbClr val="E4E1F1"/>
                </a:solidFill>
                <a:latin typeface="Consolas"/>
              </a:rPr>
              <a:t>       sum(collected) AS collected, sum(booked - collected) AS gap</a:t>
            </a:r>
          </a:p>
          <a:p>
            <a:pPr>
              <a:spcAft>
                <a:spcPts val="200"/>
              </a:spcAft>
            </a:pPr>
            <a:r>
              <a:rPr sz="1400" b="0" i="0">
                <a:solidFill>
                  <a:srgbClr val="E4E1F1"/>
                </a:solidFill>
                <a:latin typeface="Consolas"/>
              </a:rPr>
              <a:t>FROM per_order</a:t>
            </a:r>
          </a:p>
          <a:p>
            <a:pPr>
              <a:spcAft>
                <a:spcPts val="200"/>
              </a:spcAft>
            </a:pPr>
            <a:r>
              <a:rPr sz="1400" b="0" i="0">
                <a:solidFill>
                  <a:srgbClr val="E4E1F1"/>
                </a:solidFill>
                <a:latin typeface="Consolas"/>
              </a:rPr>
              <a:t>GROUP BY channel;</a:t>
            </a:r>
          </a:p>
        </p:txBody>
      </p:sp>
      <p:sp>
        <p:nvSpPr>
          <p:cNvPr id="17" name="Rounded Rectangle 16"/>
          <p:cNvSpPr/>
          <p:nvPr/>
        </p:nvSpPr>
        <p:spPr>
          <a:xfrm>
            <a:off x="530352" y="4560824"/>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468884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4679696"/>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the invented tables, what does the gap column say for app? a) 800; b) 0; c) NULL; d) 1,800.</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8" name="Oval 27"/>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S77  ·  84 / 90</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gap of 0 on every channel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does the hurried gap column report?</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914400"/>
                <a:gridCol w="914400"/>
                <a:gridCol w="914400"/>
                <a:gridCol w="3214305"/>
                <a:gridCol w="5173485"/>
              </a:tblGrid>
              <a:tr h="335280">
                <a:tc>
                  <a:txBody>
                    <a:bodyPr/>
                    <a:lstStyle/>
                    <a:p>
                      <a:r>
                        <a:rPr sz="1250" b="1" i="0">
                          <a:solidFill>
                            <a:srgbClr val="FFFFFF"/>
                          </a:solidFill>
                          <a:latin typeface="Calibri"/>
                        </a:rPr>
                        <a:t>channel</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booked</a:t>
                      </a:r>
                    </a:p>
                  </a:txBody>
                  <a:tcPr marL="101600" marR="101600" marT="38100" marB="38100" anchor="ctr">
                    <a:solidFill>
                      <a:srgbClr val="1A0F5C"/>
                    </a:solidFill>
                  </a:tcPr>
                </a:tc>
                <a:tc>
                  <a:txBody>
                    <a:bodyPr/>
                    <a:lstStyle/>
                    <a:p>
                      <a:r>
                        <a:rPr sz="1250" b="1" i="0">
                          <a:solidFill>
                            <a:srgbClr val="FFFFFF"/>
                          </a:solidFill>
                          <a:latin typeface="Calibri"/>
                        </a:rPr>
                        <a:t>collected</a:t>
                      </a:r>
                    </a:p>
                  </a:txBody>
                  <a:tcPr marL="101600" marR="101600" marT="38100" marB="38100" anchor="ctr">
                    <a:solidFill>
                      <a:srgbClr val="1A0F5C"/>
                    </a:solidFill>
                  </a:tcPr>
                </a:tc>
                <a:tc>
                  <a:txBody>
                    <a:bodyPr/>
                    <a:lstStyle/>
                    <a:p>
                      <a:r>
                        <a:rPr sz="1250" b="1" i="0">
                          <a:solidFill>
                            <a:srgbClr val="FFFFFF"/>
                          </a:solidFill>
                          <a:latin typeface="Calibri"/>
                        </a:rPr>
                        <a:t>gap, as reported</a:t>
                      </a:r>
                    </a:p>
                  </a:txBody>
                  <a:tcPr marL="101600" marR="101600" marT="38100" marB="38100" anchor="ctr">
                    <a:solidFill>
                      <a:srgbClr val="1A0F5C"/>
                    </a:solidFill>
                  </a:tcPr>
                </a:tc>
              </a:tr>
              <a:tr h="335280">
                <a:tc>
                  <a:txBody>
                    <a:bodyPr/>
                    <a:lstStyle/>
                    <a:p>
                      <a:r>
                        <a:rPr sz="1200" b="0" i="0">
                          <a:solidFill>
                            <a:srgbClr val="1A1440"/>
                          </a:solidFill>
                          <a:latin typeface="Calibri"/>
                        </a:rPr>
                        <a:t>app</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1,800</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store</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web</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2,000</a:t>
                      </a:r>
                    </a:p>
                  </a:txBody>
                  <a:tcPr marL="101600" marR="101600" marT="38100" marB="38100" anchor="ctr">
                    <a:solidFill>
                      <a:srgbClr val="FFFFFF"/>
                    </a:solidFill>
                  </a:tcPr>
                </a:tc>
                <a:tc>
                  <a:txBody>
                    <a:bodyPr/>
                    <a:lstStyle/>
                    <a:p>
                      <a:r>
                        <a:rPr sz="1200" b="0" i="0">
                          <a:solidFill>
                            <a:srgbClr val="1A1440"/>
                          </a:solidFill>
                          <a:latin typeface="Calibri"/>
                        </a:rPr>
                        <a:t>2,000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0 for app, and 0 for every channel, on the invented tables and on Kalpa's Q2 alike. Read as it stands, Kalpa collected every rupee it booked, and Anand signs a page that stands his collections team down.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S78  ·  85 / 90</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NULL leaves the sum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gap column right, and which check proves it?</a:t>
            </a:r>
          </a:p>
        </p:txBody>
      </p:sp>
      <p:pic>
        <p:nvPicPr>
          <p:cNvPr id="9" name="mermaid diagram" descr="b1657de443843909.png"/>
          <p:cNvPicPr>
            <a:picLocks noChangeAspect="1"/>
          </p:cNvPicPr>
          <p:nvPr/>
        </p:nvPicPr>
        <p:blipFill>
          <a:blip r:embed="rId5"/>
          <a:stretch>
            <a:fillRect/>
          </a:stretch>
        </p:blipFill>
        <p:spPr>
          <a:xfrm>
            <a:off x="2266797" y="1956816"/>
            <a:ext cx="7658100" cy="1128712"/>
          </a:xfrm>
          <a:prstGeom prst="rect">
            <a:avLst/>
          </a:prstGeom>
        </p:spPr>
      </p:pic>
      <p:sp>
        <p:nvSpPr>
          <p:cNvPr id="10" name="TextBox 9"/>
          <p:cNvSpPr txBox="1"/>
          <p:nvPr/>
        </p:nvSpPr>
        <p:spPr>
          <a:xfrm>
            <a:off x="530352" y="323183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booked - NULL is NULL, and sum() skips NULLs without saying so, the way Monday's AVG skipped them. </a:t>
            </a:r>
            <a:r>
              <a:rPr sz="1600" b="1" i="0">
                <a:solidFill>
                  <a:srgbClr val="1A1440"/>
                </a:solidFill>
                <a:latin typeface="Calibri"/>
              </a:rPr>
              <a:t>The check that catches it.</a:t>
            </a:r>
            <a:r>
              <a:rPr sz="1600" b="0" i="0">
                <a:solidFill>
                  <a:srgbClr val="1A1440"/>
                </a:solidFill>
                <a:latin typeface="Calibri"/>
              </a:rPr>
              <a:t> The gap column must equal booked less collected as two separate sums, 1,800 less 1,000 is 800 against a column saying 0, and no order may reach the report with a NULL gap.</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S79  ·  86 / 90</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say on purpose that unpaid means zero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coalesce change, and does the fixed gap agree with the bridge?</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sum(booked - coalesce(collected, 0)) AS gap</a:t>
            </a:r>
          </a:p>
        </p:txBody>
      </p:sp>
      <p:pic>
        <p:nvPicPr>
          <p:cNvPr id="14" name="mermaid diagram" descr="d18338b9dae38020.png"/>
          <p:cNvPicPr>
            <a:picLocks noChangeAspect="1"/>
          </p:cNvPicPr>
          <p:nvPr/>
        </p:nvPicPr>
        <p:blipFill>
          <a:blip r:embed="rId5"/>
          <a:stretch>
            <a:fillRect/>
          </a:stretch>
        </p:blipFill>
        <p:spPr>
          <a:xfrm>
            <a:off x="2881160" y="2831084"/>
            <a:ext cx="6429375" cy="871537"/>
          </a:xfrm>
          <a:prstGeom prst="rect">
            <a:avLst/>
          </a:prstGeom>
        </p:spPr>
      </p:pic>
      <p:sp>
        <p:nvSpPr>
          <p:cNvPr id="15" name="Rounded Rectangle 14"/>
          <p:cNvSpPr/>
          <p:nvPr/>
        </p:nvSpPr>
        <p:spPr>
          <a:xfrm>
            <a:off x="530352" y="384892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3976941"/>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3967797"/>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coalesce(collected, 0) says that an order with no payment collected nothing, so its gap is its whole booked amount: app's gap becomes 800, T-4, and the page agrees with the bridge's never-paid bar.</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0" name="Oval 1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2" name="Oval 2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4" name="Oval 2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6" name="Oval 25"/>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S80  ·  87 / 90</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page Anand signs adds back to the bridge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fixed report add back to the bridge on Kalpa's Q2?</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7354579"/>
                <a:gridCol w="3776411"/>
              </a:tblGrid>
              <a:tr h="369824">
                <a:tc>
                  <a:txBody>
                    <a:bodyPr/>
                    <a:lstStyle/>
                    <a:p>
                      <a:r>
                        <a:rPr sz="1450" b="1" i="0">
                          <a:solidFill>
                            <a:srgbClr val="FFFFFF"/>
                          </a:solidFill>
                          <a:latin typeface="Calibri"/>
                        </a:rPr>
                        <a:t>The check on Kalpa's Q2 page</a:t>
                      </a:r>
                    </a:p>
                  </a:txBody>
                  <a:tcPr marL="101600" marR="101600" marT="38100" marB="38100" anchor="ctr">
                    <a:solidFill>
                      <a:srgbClr val="1A0F5C"/>
                    </a:solidFill>
                  </a:tcPr>
                </a:tc>
                <a:tc>
                  <a:txBody>
                    <a:bodyPr/>
                    <a:lstStyle/>
                    <a:p>
                      <a:r>
                        <a:rPr sz="1450" b="1" i="0">
                          <a:solidFill>
                            <a:srgbClr val="FFFFFF"/>
                          </a:solidFill>
                          <a:latin typeface="Calibri"/>
                        </a:rPr>
                        <a:t>Result</a:t>
                      </a:r>
                    </a:p>
                  </a:txBody>
                  <a:tcPr marL="101600" marR="101600" marT="38100" marB="38100" anchor="ctr">
                    <a:solidFill>
                      <a:srgbClr val="1A0F5C"/>
                    </a:solidFill>
                  </a:tcPr>
                </a:tc>
              </a:tr>
              <a:tr h="369824">
                <a:tc>
                  <a:txBody>
                    <a:bodyPr/>
                    <a:lstStyle/>
                    <a:p>
                      <a:r>
                        <a:rPr sz="1400" b="0" i="0">
                          <a:solidFill>
                            <a:srgbClr val="1A1440"/>
                          </a:solidFill>
                          <a:latin typeface="Calibri"/>
                        </a:rPr>
                        <a:t>The page's orders add to Q2's 462</a:t>
                      </a:r>
                    </a:p>
                  </a:txBody>
                  <a:tcPr marL="101600" marR="101600" marT="38100" marB="38100" anchor="ctr">
                    <a:solidFill>
                      <a:srgbClr val="FFFFFF"/>
                    </a:solidFill>
                  </a:tcPr>
                </a:tc>
                <a:tc>
                  <a:txBody>
                    <a:bodyPr/>
                    <a:lstStyle/>
                    <a:p>
                      <a:r>
                        <a:rPr sz="1400" b="0" i="0">
                          <a:solidFill>
                            <a:srgbClr val="1A1440"/>
                          </a:solidFill>
                          <a:latin typeface="Calibri"/>
                        </a:rPr>
                        <a:t>PASS, 462</a:t>
                      </a:r>
                    </a:p>
                  </a:txBody>
                  <a:tcPr marL="101600" marR="101600" marT="38100" marB="38100" anchor="ctr">
                    <a:solidFill>
                      <a:srgbClr val="FFFFFF"/>
                    </a:solidFill>
                  </a:tcPr>
                </a:tc>
              </a:tr>
              <a:tr h="369824">
                <a:tc>
                  <a:txBody>
                    <a:bodyPr/>
                    <a:lstStyle/>
                    <a:p>
                      <a:r>
                        <a:rPr sz="1400" b="0" i="0">
                          <a:solidFill>
                            <a:srgbClr val="1A1440"/>
                          </a:solidFill>
                          <a:latin typeface="Calibri"/>
                        </a:rPr>
                        <a:t>The page's booked adds to Monday's figure</a:t>
                      </a:r>
                    </a:p>
                  </a:txBody>
                  <a:tcPr marL="101600" marR="101600" marT="38100" marB="38100" anchor="ctr">
                    <a:solidFill>
                      <a:srgbClr val="F4F2FA"/>
                    </a:solidFill>
                  </a:tcPr>
                </a:tc>
                <a:tc>
                  <a:txBody>
                    <a:bodyPr/>
                    <a:lstStyle/>
                    <a:p>
                      <a:r>
                        <a:rPr sz="1400" b="0" i="0">
                          <a:solidFill>
                            <a:srgbClr val="1A1440"/>
                          </a:solidFill>
                          <a:latin typeface="Calibri"/>
                        </a:rPr>
                        <a:t>PASS, Rs 9,84,00,000</a:t>
                      </a:r>
                    </a:p>
                  </a:txBody>
                  <a:tcPr marL="101600" marR="101600" marT="38100" marB="38100" anchor="ctr">
                    <a:solidFill>
                      <a:srgbClr val="F4F2FA"/>
                    </a:solidFill>
                  </a:tcPr>
                </a:tc>
              </a:tr>
              <a:tr h="369824">
                <a:tc>
                  <a:txBody>
                    <a:bodyPr/>
                    <a:lstStyle/>
                    <a:p>
                      <a:r>
                        <a:rPr sz="1400" b="0" i="0">
                          <a:solidFill>
                            <a:srgbClr val="1A1440"/>
                          </a:solidFill>
                          <a:latin typeface="Calibri"/>
                        </a:rPr>
                        <a:t>The page's gaps add to never paid plus paid short</a:t>
                      </a:r>
                    </a:p>
                  </a:txBody>
                  <a:tcPr marL="101600" marR="101600" marT="38100" marB="38100" anchor="ctr">
                    <a:solidFill>
                      <a:srgbClr val="FFFFFF"/>
                    </a:solidFill>
                  </a:tcPr>
                </a:tc>
                <a:tc>
                  <a:txBody>
                    <a:bodyPr/>
                    <a:lstStyle/>
                    <a:p>
                      <a:r>
                        <a:rPr sz="1400" b="0" i="0">
                          <a:solidFill>
                            <a:srgbClr val="1A1440"/>
                          </a:solidFill>
                          <a:latin typeface="Calibri"/>
                        </a:rPr>
                        <a:t>PASS, equal to the rupee</a:t>
                      </a:r>
                    </a:p>
                  </a:txBody>
                  <a:tcPr marL="101600" marR="101600" marT="38100" marB="38100" anchor="ctr">
                    <a:solidFill>
                      <a:srgbClr val="FFFFFF"/>
                    </a:solidFill>
                  </a:tcPr>
                </a:tc>
              </a:tr>
              <a:tr h="369824">
                <a:tc>
                  <a:txBody>
                    <a:bodyPr/>
                    <a:lstStyle/>
                    <a:p>
                      <a:r>
                        <a:rPr sz="1400" b="0" i="0">
                          <a:solidFill>
                            <a:srgbClr val="1A1440"/>
                          </a:solidFill>
                          <a:latin typeface="Calibri"/>
                        </a:rPr>
                        <a:t>The page's posted twice adds to its bar</a:t>
                      </a:r>
                    </a:p>
                  </a:txBody>
                  <a:tcPr marL="101600" marR="101600" marT="38100" marB="38100" anchor="ctr">
                    <a:solidFill>
                      <a:srgbClr val="F4F2FA"/>
                    </a:solidFill>
                  </a:tcPr>
                </a:tc>
                <a:tc>
                  <a:txBody>
                    <a:bodyPr/>
                    <a:lstStyle/>
                    <a:p>
                      <a:r>
                        <a:rPr sz="1400" b="0" i="0">
                          <a:solidFill>
                            <a:srgbClr val="1A1440"/>
                          </a:solidFill>
                          <a:latin typeface="Calibri"/>
                        </a:rPr>
                        <a:t>PASS, equal to the rupee</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learner builds the page in the notebook, with the share collected, the orders never paid and the amount posted twice beside each channel's gap, and reads its figures there.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S81  ·  88 / 90</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unpaid list by channel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unpaid list, grouped by channel, give the same gap?</a:t>
            </a:r>
          </a:p>
        </p:txBody>
      </p:sp>
      <p:pic>
        <p:nvPicPr>
          <p:cNvPr id="9" name="mermaid diagram" descr="1a640b7f104d436d.png"/>
          <p:cNvPicPr>
            <a:picLocks noChangeAspect="1"/>
          </p:cNvPicPr>
          <p:nvPr/>
        </p:nvPicPr>
        <p:blipFill>
          <a:blip r:embed="rId5"/>
          <a:stretch>
            <a:fillRect/>
          </a:stretch>
        </p:blipFill>
        <p:spPr>
          <a:xfrm>
            <a:off x="2924022" y="1956816"/>
            <a:ext cx="6343650" cy="2300287"/>
          </a:xfrm>
          <a:prstGeom prst="rect">
            <a:avLst/>
          </a:prstGeom>
        </p:spPr>
      </p:pic>
      <p:sp>
        <p:nvSpPr>
          <p:cNvPr id="10" name="TextBox 9"/>
          <p:cNvSpPr txBox="1"/>
          <p:nvPr/>
        </p:nvSpPr>
        <p:spPr>
          <a:xfrm>
            <a:off x="530352" y="4403407"/>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second route never computes a per-order gap, so a NULL cannot fall out of it. </a:t>
            </a:r>
            <a:r>
              <a:rPr sz="1600" b="1" i="0">
                <a:solidFill>
                  <a:srgbClr val="1A1440"/>
                </a:solidFill>
                <a:latin typeface="Calibri"/>
              </a:rPr>
              <a:t>The check.</a:t>
            </a:r>
            <a:r>
              <a:rPr sz="1600" b="0" i="0">
                <a:solidFill>
                  <a:srgbClr val="1A1440"/>
                </a:solidFill>
                <a:latin typeface="Calibri"/>
              </a:rPr>
              <a:t> The two routes agree on every channel, on the invented tables (app 800, web 0, store 0) and on Kalpa's Q2. Every refund row in the warehouse sits on a Q1 order, so the Q2 page says so in one line.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S82  ·  89 / 90</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5, answered in six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5 answer, and what question does it leave?</a:t>
            </a:r>
          </a:p>
        </p:txBody>
      </p:sp>
      <p:graphicFrame>
        <p:nvGraphicFramePr>
          <p:cNvPr id="9" name="Table 8"/>
          <p:cNvGraphicFramePr>
            <a:graphicFrameLocks noGrp="1"/>
          </p:cNvGraphicFramePr>
          <p:nvPr/>
        </p:nvGraphicFramePr>
        <p:xfrm>
          <a:off x="530352" y="1819656"/>
          <a:ext cx="11130990" cy="2176272"/>
        </p:xfrm>
        <a:graphic>
          <a:graphicData uri="http://schemas.openxmlformats.org/drawingml/2006/table">
            <a:tbl>
              <a:tblPr firstRow="0" bandRow="0">
                <a:tableStyleId>{2D5ABB26-0587-4C30-8999-92F81FD0307C}</a:tableStyleId>
              </a:tblPr>
              <a:tblGrid>
                <a:gridCol w="2999653"/>
                <a:gridCol w="8131337"/>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The answer, with its number</a:t>
                      </a:r>
                    </a:p>
                  </a:txBody>
                  <a:tcPr marL="101600" marR="101600" marT="38100" marB="38100" anchor="ctr">
                    <a:solidFill>
                      <a:srgbClr val="1A0F5C"/>
                    </a:solidFill>
                  </a:tcPr>
                </a:tc>
              </a:tr>
              <a:tr h="310896">
                <a:tc>
                  <a:txBody>
                    <a:bodyPr/>
                    <a:lstStyle/>
                    <a:p>
                      <a:r>
                        <a:rPr sz="900" b="0" i="0">
                          <a:solidFill>
                            <a:srgbClr val="1A1440"/>
                          </a:solidFill>
                          <a:latin typeface="Calibri"/>
                        </a:rPr>
                        <a:t>Which of four page forms fits?</a:t>
                      </a:r>
                    </a:p>
                  </a:txBody>
                  <a:tcPr marL="101600" marR="101600" marT="38100" marB="38100" anchor="ctr">
                    <a:solidFill>
                      <a:srgbClr val="FFFFFF"/>
                    </a:solidFill>
                  </a:tcPr>
                </a:tc>
                <a:tc>
                  <a:txBody>
                    <a:bodyPr/>
                    <a:lstStyle/>
                    <a:p>
                      <a:r>
                        <a:rPr sz="900" b="0" i="0">
                          <a:solidFill>
                            <a:srgbClr val="1A1440"/>
                          </a:solidFill>
                          <a:latin typeface="Calibri"/>
                        </a:rPr>
                        <a:t>By channel, reconciled above, with both lists beneath</a:t>
                      </a:r>
                    </a:p>
                  </a:txBody>
                  <a:tcPr marL="101600" marR="101600" marT="38100" marB="38100" anchor="ctr">
                    <a:solidFill>
                      <a:srgbClr val="FFFFFF"/>
                    </a:solidFill>
                  </a:tcPr>
                </a:tc>
              </a:tr>
              <a:tr h="310896">
                <a:tc>
                  <a:txBody>
                    <a:bodyPr/>
                    <a:lstStyle/>
                    <a:p>
                      <a:r>
                        <a:rPr sz="900" b="0" i="0">
                          <a:solidFill>
                            <a:srgbClr val="1A1440"/>
                          </a:solidFill>
                          <a:latin typeface="Calibri"/>
                        </a:rPr>
                        <a:t>What does each channel book?</a:t>
                      </a:r>
                    </a:p>
                  </a:txBody>
                  <a:tcPr marL="101600" marR="101600" marT="38100" marB="38100" anchor="ctr">
                    <a:solidFill>
                      <a:srgbClr val="F4F2FA"/>
                    </a:solidFill>
                  </a:tcPr>
                </a:tc>
                <a:tc>
                  <a:txBody>
                    <a:bodyPr/>
                    <a:lstStyle/>
                    <a:p>
                      <a:r>
                        <a:rPr sz="900" b="0" i="0">
                          <a:solidFill>
                            <a:srgbClr val="1A1440"/>
                          </a:solidFill>
                          <a:latin typeface="Calibri"/>
                        </a:rPr>
                        <a:t>Kalpa's three channels add to Rs 9,84,00,000, and each line carries orders, booked, collected and the gap</a:t>
                      </a:r>
                    </a:p>
                  </a:txBody>
                  <a:tcPr marL="101600" marR="101600" marT="38100" marB="38100" anchor="ctr">
                    <a:solidFill>
                      <a:srgbClr val="F4F2FA"/>
                    </a:solidFill>
                  </a:tcPr>
                </a:tc>
              </a:tr>
              <a:tr h="310896">
                <a:tc>
                  <a:txBody>
                    <a:bodyPr/>
                    <a:lstStyle/>
                    <a:p>
                      <a:r>
                        <a:rPr sz="900" b="0" i="0">
                          <a:solidFill>
                            <a:srgbClr val="1A1440"/>
                          </a:solidFill>
                          <a:latin typeface="Calibri"/>
                        </a:rPr>
                        <a:t>What does the gap column say?</a:t>
                      </a:r>
                    </a:p>
                  </a:txBody>
                  <a:tcPr marL="101600" marR="101600" marT="38100" marB="38100" anchor="ctr">
                    <a:solidFill>
                      <a:srgbClr val="FFFFFF"/>
                    </a:solidFill>
                  </a:tcPr>
                </a:tc>
                <a:tc>
                  <a:txBody>
                    <a:bodyPr/>
                    <a:lstStyle/>
                    <a:p>
                      <a:r>
                        <a:rPr sz="900" b="0" i="0">
                          <a:solidFill>
                            <a:srgbClr val="1A1440"/>
                          </a:solidFill>
                          <a:latin typeface="Calibri"/>
                        </a:rPr>
                        <a:t>0 on every channel, invented and Kalpa alike</a:t>
                      </a:r>
                    </a:p>
                  </a:txBody>
                  <a:tcPr marL="101600" marR="101600" marT="38100" marB="38100" anchor="ctr">
                    <a:solidFill>
                      <a:srgbClr val="FFFFFF"/>
                    </a:solidFill>
                  </a:tcPr>
                </a:tc>
              </a:tr>
              <a:tr h="310896">
                <a:tc>
                  <a:txBody>
                    <a:bodyPr/>
                    <a:lstStyle/>
                    <a:p>
                      <a:r>
                        <a:rPr sz="900" b="0" i="0">
                          <a:solidFill>
                            <a:srgbClr val="1A1440"/>
                          </a:solidFill>
                          <a:latin typeface="Calibri"/>
                        </a:rPr>
                        <a:t>Is the gap column right?</a:t>
                      </a:r>
                    </a:p>
                  </a:txBody>
                  <a:tcPr marL="101600" marR="101600" marT="38100" marB="38100" anchor="ctr">
                    <a:solidFill>
                      <a:srgbClr val="F4F2FA"/>
                    </a:solidFill>
                  </a:tcPr>
                </a:tc>
                <a:tc>
                  <a:txBody>
                    <a:bodyPr/>
                    <a:lstStyle/>
                    <a:p>
                      <a:r>
                        <a:rPr sz="900" b="0" i="0">
                          <a:solidFill>
                            <a:srgbClr val="1A1440"/>
                          </a:solidFill>
                          <a:latin typeface="Calibri"/>
                        </a:rPr>
                        <a:t>No: an unpaid order's gap is NULL and sum() skips it; two sums catch it and coalesce fixes it</a:t>
                      </a:r>
                    </a:p>
                  </a:txBody>
                  <a:tcPr marL="101600" marR="101600" marT="38100" marB="38100" anchor="ctr">
                    <a:solidFill>
                      <a:srgbClr val="F4F2FA"/>
                    </a:solidFill>
                  </a:tcPr>
                </a:tc>
              </a:tr>
              <a:tr h="310896">
                <a:tc>
                  <a:txBody>
                    <a:bodyPr/>
                    <a:lstStyle/>
                    <a:p>
                      <a:r>
                        <a:rPr sz="900" b="0" i="0">
                          <a:solidFill>
                            <a:srgbClr val="1A1440"/>
                          </a:solidFill>
                          <a:latin typeface="Calibri"/>
                        </a:rPr>
                        <a:t>Does the page match the bridge?</a:t>
                      </a:r>
                    </a:p>
                  </a:txBody>
                  <a:tcPr marL="101600" marR="101600" marT="38100" marB="38100" anchor="ctr">
                    <a:solidFill>
                      <a:srgbClr val="FFFFFF"/>
                    </a:solidFill>
                  </a:tcPr>
                </a:tc>
                <a:tc>
                  <a:txBody>
                    <a:bodyPr/>
                    <a:lstStyle/>
                    <a:p>
                      <a:r>
                        <a:rPr sz="900" b="0" i="0">
                          <a:solidFill>
                            <a:srgbClr val="1A1440"/>
                          </a:solidFill>
                          <a:latin typeface="Calibri"/>
                        </a:rPr>
                        <a:t>Yes: 462 orders, Rs 9,84,00,000, and each gap and list equal to its bar</a:t>
                      </a:r>
                    </a:p>
                  </a:txBody>
                  <a:tcPr marL="101600" marR="101600" marT="38100" marB="38100" anchor="ctr">
                    <a:solidFill>
                      <a:srgbClr val="FFFFFF"/>
                    </a:solidFill>
                  </a:tcPr>
                </a:tc>
              </a:tr>
              <a:tr h="310896">
                <a:tc>
                  <a:txBody>
                    <a:bodyPr/>
                    <a:lstStyle/>
                    <a:p>
                      <a:r>
                        <a:rPr sz="900" b="0" i="0">
                          <a:solidFill>
                            <a:srgbClr val="1A1440"/>
                          </a:solidFill>
                          <a:latin typeface="Calibri"/>
                        </a:rPr>
                        <a:t>Does the unpaid list agree?</a:t>
                      </a:r>
                    </a:p>
                  </a:txBody>
                  <a:tcPr marL="101600" marR="101600" marT="38100" marB="38100" anchor="ctr">
                    <a:solidFill>
                      <a:srgbClr val="F4F2FA"/>
                    </a:solidFill>
                  </a:tcPr>
                </a:tc>
                <a:tc>
                  <a:txBody>
                    <a:bodyPr/>
                    <a:lstStyle/>
                    <a:p>
                      <a:r>
                        <a:rPr sz="900" b="0" i="0">
                          <a:solidFill>
                            <a:srgbClr val="1A1440"/>
                          </a:solidFill>
                          <a:latin typeface="Calibri"/>
                        </a:rPr>
                        <a:t>Yes: the unpaid list by channel matches every channel</a:t>
                      </a:r>
                    </a:p>
                  </a:txBody>
                  <a:tcPr marL="101600" marR="101600" marT="38100" marB="38100" anchor="ctr">
                    <a:solidFill>
                      <a:srgbClr val="F4F2FA"/>
                    </a:solidFill>
                  </a:tcPr>
                </a:tc>
              </a:tr>
            </a:tbl>
          </a:graphicData>
        </a:graphic>
      </p:graphicFrame>
      <p:sp>
        <p:nvSpPr>
          <p:cNvPr id="10" name="Rounded Rectangle 9"/>
          <p:cNvSpPr/>
          <p:nvPr/>
        </p:nvSpPr>
        <p:spPr>
          <a:xfrm>
            <a:off x="530352" y="4251960"/>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348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44568"/>
            <a:ext cx="237744" cy="237744"/>
          </a:xfrm>
          <a:prstGeom prst="rect">
            <a:avLst/>
          </a:prstGeom>
        </p:spPr>
      </p:pic>
      <p:sp>
        <p:nvSpPr>
          <p:cNvPr id="13" name="TextBox 12"/>
          <p:cNvSpPr txBox="1"/>
          <p:nvPr/>
        </p:nvSpPr>
        <p:spPr>
          <a:xfrm>
            <a:off x="1399031" y="439826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17720"/>
            <a:ext cx="9987991" cy="384048"/>
          </a:xfrm>
          <a:prstGeom prst="rect">
            <a:avLst/>
          </a:prstGeom>
          <a:noFill/>
        </p:spPr>
        <p:txBody>
          <a:bodyPr wrap="square" anchor="t" lIns="0" rIns="0" tIns="0" bIns="0">
            <a:spAutoFit/>
          </a:bodyPr>
          <a:lstStyle/>
          <a:p>
            <a:r>
              <a:rPr sz="1000" b="0" i="0">
                <a:solidFill>
                  <a:srgbClr val="1A1440"/>
                </a:solidFill>
                <a:latin typeface="Calibri"/>
              </a:rPr>
              <a:t>"Every rupee on the page ties back to a bar, and every bar to a list. Write the definition of collected above the table, so nobody reads it as posted."</a:t>
            </a:r>
          </a:p>
        </p:txBody>
      </p:sp>
      <p:sp>
        <p:nvSpPr>
          <p:cNvPr id="15" name="Rounded Rectangle 14"/>
          <p:cNvSpPr/>
          <p:nvPr/>
        </p:nvSpPr>
        <p:spPr>
          <a:xfrm>
            <a:off x="530352" y="523951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223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32120"/>
            <a:ext cx="237744" cy="237744"/>
          </a:xfrm>
          <a:prstGeom prst="rect">
            <a:avLst/>
          </a:prstGeom>
        </p:spPr>
      </p:pic>
      <p:sp>
        <p:nvSpPr>
          <p:cNvPr id="18" name="TextBox 17"/>
          <p:cNvSpPr txBox="1"/>
          <p:nvPr/>
        </p:nvSpPr>
        <p:spPr>
          <a:xfrm>
            <a:off x="1399031" y="538581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05272"/>
            <a:ext cx="9987991" cy="384048"/>
          </a:xfrm>
          <a:prstGeom prst="rect">
            <a:avLst/>
          </a:prstGeom>
          <a:noFill/>
        </p:spPr>
        <p:txBody>
          <a:bodyPr wrap="square" anchor="t" lIns="0" rIns="0" tIns="0" bIns="0">
            <a:spAutoFit/>
          </a:bodyPr>
          <a:lstStyle/>
          <a:p>
            <a:r>
              <a:rPr sz="1000" b="0" i="0">
                <a:solidFill>
                  <a:srgbClr val="1A1440"/>
                </a:solidFill>
                <a:latin typeface="Calibri"/>
              </a:rPr>
              <a:t>[D] Anand says the gap is too small to matter: how do you decide whether to chase it?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8" name="Oval 27"/>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S83  ·  90 / 90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