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A. The harder question</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2, Day 2. Half one: booked is not collected, and the join that lied</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 /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Your Monday suite got a reply</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079752"/>
            <a:ext cx="41148" cy="839216"/>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23544" y="2079752"/>
            <a:ext cx="10545775" cy="839216"/>
          </a:xfrm>
          <a:prstGeom prst="rect">
            <a:avLst/>
          </a:prstGeom>
          <a:noFill/>
        </p:spPr>
        <p:txBody>
          <a:bodyPr wrap="square" anchor="t" lIns="0" rIns="0" tIns="0" bIns="0">
            <a:spAutoFit/>
          </a:bodyPr>
          <a:lstStyle/>
          <a:p>
            <a:r>
              <a:rPr sz="1900" b="0" i="1">
                <a:solidFill>
                  <a:srgbClr val="5F6360"/>
                </a:solidFill>
                <a:latin typeface="Calibri"/>
              </a:rPr>
              <a:t>"Booked revenue is not collected revenue. Some orders are paid in two instalments, some are</a:t>
            </a:r>
          </a:p>
        </p:txBody>
      </p:sp>
      <p:sp>
        <p:nvSpPr>
          <p:cNvPr id="8" name="Rectangle 7"/>
          <p:cNvSpPr/>
          <p:nvPr/>
        </p:nvSpPr>
        <p:spPr>
          <a:xfrm>
            <a:off x="685800" y="3065272"/>
            <a:ext cx="41148" cy="839216"/>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065272"/>
            <a:ext cx="10545775" cy="839216"/>
          </a:xfrm>
          <a:prstGeom prst="rect">
            <a:avLst/>
          </a:prstGeom>
          <a:noFill/>
        </p:spPr>
        <p:txBody>
          <a:bodyPr wrap="square" anchor="t" lIns="0" rIns="0" tIns="0" bIns="0">
            <a:spAutoFit/>
          </a:bodyPr>
          <a:lstStyle/>
          <a:p>
            <a:r>
              <a:rPr sz="1900" b="0" i="1">
                <a:solidFill>
                  <a:srgbClr val="5F6360"/>
                </a:solidFill>
                <a:latin typeface="Calibri"/>
              </a:rPr>
              <a:t>refunded, some were never paid at all. Show me, order by order, what we actually collected</a:t>
            </a:r>
          </a:p>
        </p:txBody>
      </p:sp>
      <p:sp>
        <p:nvSpPr>
          <p:cNvPr id="10" name="Rectangle 9"/>
          <p:cNvSpPr/>
          <p:nvPr/>
        </p:nvSpPr>
        <p:spPr>
          <a:xfrm>
            <a:off x="685800" y="4050792"/>
            <a:ext cx="41148" cy="839216"/>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23544" y="4050792"/>
            <a:ext cx="10545775" cy="839216"/>
          </a:xfrm>
          <a:prstGeom prst="rect">
            <a:avLst/>
          </a:prstGeom>
          <a:noFill/>
        </p:spPr>
        <p:txBody>
          <a:bodyPr wrap="square" anchor="t" lIns="0" rIns="0" tIns="0" bIns="0">
            <a:spAutoFit/>
          </a:bodyPr>
          <a:lstStyle/>
          <a:p>
            <a:r>
              <a:rPr sz="1900" b="0" i="1">
                <a:solidFill>
                  <a:srgbClr val="5F6360"/>
                </a:solidFill>
                <a:latin typeface="Calibri"/>
              </a:rPr>
              <a:t>against what we booked in Q2. If there is a gap, I want to know which orders and which channel."</a:t>
            </a:r>
          </a:p>
        </p:txBody>
      </p:sp>
      <p:sp>
        <p:nvSpPr>
          <p:cNvPr id="12" name="TextBox 11"/>
          <p:cNvSpPr txBox="1"/>
          <p:nvPr/>
        </p:nvSpPr>
        <p:spPr>
          <a:xfrm>
            <a:off x="685800" y="503631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Anand Iyer. He has read the suite and found the thing it cannot answer.</a:t>
            </a:r>
          </a:p>
        </p:txBody>
      </p:sp>
      <p:sp>
        <p:nvSpPr>
          <p:cNvPr id="13" name="Rectangle 12"/>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5" name="TextBox 14"/>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 /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And one line from the platform lead, said in passing</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736596"/>
            <a:ext cx="41148" cy="839216"/>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23544" y="2736596"/>
            <a:ext cx="10545775" cy="839216"/>
          </a:xfrm>
          <a:prstGeom prst="rect">
            <a:avLst/>
          </a:prstGeom>
          <a:noFill/>
        </p:spPr>
        <p:txBody>
          <a:bodyPr wrap="square" anchor="t" lIns="0" rIns="0" tIns="0" bIns="0">
            <a:spAutoFit/>
          </a:bodyPr>
          <a:lstStyle/>
          <a:p>
            <a:r>
              <a:rPr sz="1900" b="0" i="1">
                <a:solidFill>
                  <a:srgbClr val="5F6360"/>
                </a:solidFill>
                <a:latin typeface="Calibri"/>
              </a:rPr>
              <a:t>"You have the payments table now. Oh, and the payments feed sometimes double-posts when the</a:t>
            </a:r>
          </a:p>
        </p:txBody>
      </p:sp>
      <p:sp>
        <p:nvSpPr>
          <p:cNvPr id="8" name="Rectangle 7"/>
          <p:cNvSpPr/>
          <p:nvPr/>
        </p:nvSpPr>
        <p:spPr>
          <a:xfrm>
            <a:off x="685800" y="3722116"/>
            <a:ext cx="41148" cy="511048"/>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23544" y="3722116"/>
            <a:ext cx="10545775" cy="511048"/>
          </a:xfrm>
          <a:prstGeom prst="rect">
            <a:avLst/>
          </a:prstGeom>
          <a:noFill/>
        </p:spPr>
        <p:txBody>
          <a:bodyPr wrap="square" anchor="t" lIns="0" rIns="0" tIns="0" bIns="0">
            <a:spAutoFit/>
          </a:bodyPr>
          <a:lstStyle/>
          <a:p>
            <a:r>
              <a:rPr sz="1900" b="0" i="1">
                <a:solidFill>
                  <a:srgbClr val="5F6360"/>
                </a:solidFill>
                <a:latin typeface="Calibri"/>
              </a:rPr>
              <a:t>gateway retries."</a:t>
            </a:r>
          </a:p>
        </p:txBody>
      </p:sp>
      <p:sp>
        <p:nvSpPr>
          <p:cNvPr id="10" name="TextBox 9"/>
          <p:cNvSpPr txBox="1"/>
          <p:nvPr/>
        </p:nvSpPr>
        <p:spPr>
          <a:xfrm>
            <a:off x="685800" y="4379468"/>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Remember that sentence. It is the only warning you get.</a:t>
            </a:r>
          </a:p>
        </p:txBody>
      </p:sp>
      <p:sp>
        <p:nvSpPr>
          <p:cNvPr id="11" name="Rectangle 10"/>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3" name="TextBox 12"/>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3 /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Booked and collected are different questions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2849372"/>
          <a:ext cx="10820094" cy="1161288"/>
        </p:xfrm>
        <a:graphic>
          <a:graphicData uri="http://schemas.openxmlformats.org/drawingml/2006/table">
            <a:tbl>
              <a:tblPr firstRow="0" bandRow="0">
                <a:tableStyleId>{2D5ABB26-0587-4C30-8999-92F81FD0307C}</a:tableStyleId>
              </a:tblPr>
              <a:tblGrid>
                <a:gridCol w="2350453"/>
                <a:gridCol w="5072317"/>
                <a:gridCol w="3397324"/>
              </a:tblGrid>
              <a:tr h="387096">
                <a:tc>
                  <a:txBody>
                    <a:bodyPr/>
                    <a:lstStyle/>
                    <a:p>
                      <a:r>
                        <a:rPr sz="1600" b="1">
                          <a:solidFill>
                            <a:srgbClr val="FFFFFF"/>
                          </a:solidFill>
                          <a:latin typeface="Calibri"/>
                        </a:rPr>
                        <a:t>Word</a:t>
                      </a:r>
                    </a:p>
                  </a:txBody>
                  <a:tcPr marL="101600" marR="101600" marT="38100" marB="38100" anchor="ctr">
                    <a:solidFill>
                      <a:srgbClr val="2B4A7D"/>
                    </a:solidFill>
                  </a:tcPr>
                </a:tc>
                <a:tc>
                  <a:txBody>
                    <a:bodyPr/>
                    <a:lstStyle/>
                    <a:p>
                      <a:r>
                        <a:rPr sz="1600" b="1">
                          <a:solidFill>
                            <a:srgbClr val="FFFFFF"/>
                          </a:solidFill>
                          <a:latin typeface="Calibri"/>
                        </a:rPr>
                        <a:t>The row that proves it</a:t>
                      </a:r>
                    </a:p>
                  </a:txBody>
                  <a:tcPr marL="101600" marR="101600" marT="38100" marB="38100" anchor="ctr">
                    <a:solidFill>
                      <a:srgbClr val="2B4A7D"/>
                    </a:solidFill>
                  </a:tcPr>
                </a:tc>
                <a:tc>
                  <a:txBody>
                    <a:bodyPr/>
                    <a:lstStyle/>
                    <a:p>
                      <a:r>
                        <a:rPr sz="1600" b="1">
                          <a:solidFill>
                            <a:srgbClr val="FFFFFF"/>
                          </a:solidFill>
                          <a:latin typeface="Calibri"/>
                        </a:rPr>
                        <a:t>Where it lives</a:t>
                      </a:r>
                    </a:p>
                  </a:txBody>
                  <a:tcPr marL="101600" marR="101600" marT="38100" marB="38100" anchor="ctr">
                    <a:solidFill>
                      <a:srgbClr val="2B4A7D"/>
                    </a:solidFill>
                  </a:tcPr>
                </a:tc>
              </a:tr>
              <a:tr h="387096">
                <a:tc>
                  <a:txBody>
                    <a:bodyPr/>
                    <a:lstStyle/>
                    <a:p>
                      <a:r>
                        <a:rPr sz="1500" b="0">
                          <a:solidFill>
                            <a:srgbClr val="1C1C1A"/>
                          </a:solidFill>
                          <a:latin typeface="Calibri"/>
                        </a:rPr>
                        <a:t>Booked</a:t>
                      </a:r>
                    </a:p>
                  </a:txBody>
                  <a:tcPr marL="101600" marR="101600" marT="38100" marB="38100" anchor="ctr">
                    <a:solidFill>
                      <a:srgbClr val="FFFFFF"/>
                    </a:solidFill>
                  </a:tcPr>
                </a:tc>
                <a:tc>
                  <a:txBody>
                    <a:bodyPr/>
                    <a:lstStyle/>
                    <a:p>
                      <a:r>
                        <a:rPr sz="1500" b="0">
                          <a:solidFill>
                            <a:srgbClr val="1C1C1A"/>
                          </a:solidFill>
                          <a:latin typeface="Calibri"/>
                        </a:rPr>
                        <a:t>An order was placed</a:t>
                      </a:r>
                    </a:p>
                  </a:txBody>
                  <a:tcPr marL="101600" marR="101600" marT="38100" marB="38100" anchor="ctr">
                    <a:solidFill>
                      <a:srgbClr val="FFFFFF"/>
                    </a:solidFill>
                  </a:tcPr>
                </a:tc>
                <a:tc>
                  <a:txBody>
                    <a:bodyPr/>
                    <a:lstStyle/>
                    <a:p>
                      <a:r>
                        <a:rPr sz="1500" b="0">
                          <a:solidFill>
                            <a:srgbClr val="1C1C1A"/>
                          </a:solidFill>
                          <a:latin typeface="Calibri"/>
                        </a:rPr>
                        <a:t>orders</a:t>
                      </a:r>
                    </a:p>
                  </a:txBody>
                  <a:tcPr marL="101600" marR="101600" marT="38100" marB="38100" anchor="ctr">
                    <a:solidFill>
                      <a:srgbClr val="FFFFFF"/>
                    </a:solidFill>
                  </a:tcPr>
                </a:tc>
              </a:tr>
              <a:tr h="387096">
                <a:tc>
                  <a:txBody>
                    <a:bodyPr/>
                    <a:lstStyle/>
                    <a:p>
                      <a:r>
                        <a:rPr sz="1500" b="0">
                          <a:solidFill>
                            <a:srgbClr val="1C1C1A"/>
                          </a:solidFill>
                          <a:latin typeface="Calibri"/>
                        </a:rPr>
                        <a:t>Collected</a:t>
                      </a:r>
                    </a:p>
                  </a:txBody>
                  <a:tcPr marL="101600" marR="101600" marT="38100" marB="38100" anchor="ctr">
                    <a:solidFill>
                      <a:srgbClr val="F7F7F5"/>
                    </a:solidFill>
                  </a:tcPr>
                </a:tc>
                <a:tc>
                  <a:txBody>
                    <a:bodyPr/>
                    <a:lstStyle/>
                    <a:p>
                      <a:r>
                        <a:rPr sz="1500" b="0">
                          <a:solidFill>
                            <a:srgbClr val="1C1C1A"/>
                          </a:solidFill>
                          <a:latin typeface="Calibri"/>
                        </a:rPr>
                        <a:t>Money arrived</a:t>
                      </a:r>
                    </a:p>
                  </a:txBody>
                  <a:tcPr marL="101600" marR="101600" marT="38100" marB="38100" anchor="ctr">
                    <a:solidFill>
                      <a:srgbClr val="F7F7F5"/>
                    </a:solidFill>
                  </a:tcPr>
                </a:tc>
                <a:tc>
                  <a:txBody>
                    <a:bodyPr/>
                    <a:lstStyle/>
                    <a:p>
                      <a:r>
                        <a:rPr sz="1500" b="0">
                          <a:solidFill>
                            <a:srgbClr val="1C1C1A"/>
                          </a:solidFill>
                          <a:latin typeface="Calibri"/>
                        </a:rPr>
                        <a:t>payments</a:t>
                      </a:r>
                    </a:p>
                  </a:txBody>
                  <a:tcPr marL="101600" marR="101600" marT="38100" marB="38100" anchor="ctr">
                    <a:solidFill>
                      <a:srgbClr val="F7F7F5"/>
                    </a:solidFill>
                  </a:tcPr>
                </a:tc>
              </a:tr>
            </a:tbl>
          </a:graphicData>
        </a:graphic>
      </p:graphicFrame>
      <p:sp>
        <p:nvSpPr>
          <p:cNvPr id="7" name="TextBox 6"/>
          <p:cNvSpPr txBox="1"/>
          <p:nvPr/>
        </p:nvSpPr>
        <p:spPr>
          <a:xfrm>
            <a:off x="685800" y="4266692"/>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Nothing so far connects the two. That connection is today.</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4 /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B. The join that looks right</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2, Day 2. Half one: booked is not collected, and the join that lied</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5 /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Attaching one table to another</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914904"/>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914904"/>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3015488"/>
            <a:ext cx="10417759" cy="938784"/>
          </a:xfrm>
          <a:prstGeom prst="rect">
            <a:avLst/>
          </a:prstGeom>
          <a:noFill/>
        </p:spPr>
        <p:txBody>
          <a:bodyPr wrap="square" anchor="t" lIns="0" rIns="0" tIns="0" bIns="0">
            <a:spAutoFit/>
          </a:bodyPr>
          <a:lstStyle/>
          <a:p>
            <a:pPr>
              <a:spcAft>
                <a:spcPts val="200"/>
              </a:spcAft>
            </a:pPr>
            <a:r>
              <a:rPr sz="1600" b="0">
                <a:solidFill>
                  <a:srgbClr val="E4ECF7"/>
                </a:solidFill>
                <a:latin typeface="Consolas"/>
              </a:rPr>
              <a:t>SELECT o.order_id, o.amount, p.amount AS paid</a:t>
            </a:r>
          </a:p>
          <a:p>
            <a:pPr>
              <a:spcAft>
                <a:spcPts val="200"/>
              </a:spcAft>
            </a:pPr>
            <a:r>
              <a:rPr sz="1600" b="0">
                <a:solidFill>
                  <a:srgbClr val="E4ECF7"/>
                </a:solidFill>
                <a:latin typeface="Consolas"/>
              </a:rPr>
              <a:t>FROM   orders o</a:t>
            </a:r>
          </a:p>
          <a:p>
            <a:pPr>
              <a:spcAft>
                <a:spcPts val="200"/>
              </a:spcAft>
            </a:pPr>
            <a:r>
              <a:rPr sz="1600" b="0">
                <a:solidFill>
                  <a:srgbClr val="E4ECF7"/>
                </a:solidFill>
                <a:latin typeface="Consolas"/>
              </a:rPr>
              <a:t>LEFT JOIN payments p ON p.order_id = o.order_id;</a:t>
            </a:r>
          </a:p>
        </p:txBody>
      </p:sp>
      <p:sp>
        <p:nvSpPr>
          <p:cNvPr id="9" name="TextBox 8"/>
          <p:cNvSpPr txBox="1"/>
          <p:nvPr/>
        </p:nvSpPr>
        <p:spPr>
          <a:xfrm>
            <a:off x="685800" y="4201160"/>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For each order, find the matching payment rows. That is the whole idea.</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6 /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S5</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Now total it, the way anybody would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687320"/>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687320"/>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787904"/>
            <a:ext cx="10417759" cy="938784"/>
          </a:xfrm>
          <a:prstGeom prst="rect">
            <a:avLst/>
          </a:prstGeom>
          <a:noFill/>
        </p:spPr>
        <p:txBody>
          <a:bodyPr wrap="square" anchor="t" lIns="0" rIns="0" tIns="0" bIns="0">
            <a:spAutoFit/>
          </a:bodyPr>
          <a:lstStyle/>
          <a:p>
            <a:pPr>
              <a:spcAft>
                <a:spcPts val="200"/>
              </a:spcAft>
            </a:pPr>
            <a:r>
              <a:rPr sz="1600" b="0">
                <a:solidFill>
                  <a:srgbClr val="E4ECF7"/>
                </a:solidFill>
                <a:latin typeface="Consolas"/>
              </a:rPr>
              <a:t>SELECT sum(o.amount) AS booked, sum(p.amount) AS collected</a:t>
            </a:r>
          </a:p>
          <a:p>
            <a:pPr>
              <a:spcAft>
                <a:spcPts val="200"/>
              </a:spcAft>
            </a:pPr>
            <a:r>
              <a:rPr sz="1600" b="0">
                <a:solidFill>
                  <a:srgbClr val="E4ECF7"/>
                </a:solidFill>
                <a:latin typeface="Consolas"/>
              </a:rPr>
              <a:t>FROM   orders o</a:t>
            </a:r>
          </a:p>
          <a:p>
            <a:pPr>
              <a:spcAft>
                <a:spcPts val="200"/>
              </a:spcAft>
            </a:pPr>
            <a:r>
              <a:rPr sz="1600" b="0">
                <a:solidFill>
                  <a:srgbClr val="E4ECF7"/>
                </a:solidFill>
                <a:latin typeface="Consolas"/>
              </a:rPr>
              <a:t>LEFT JOIN payments p ON p.order_id = o.order_id;</a:t>
            </a:r>
          </a:p>
        </p:txBody>
      </p:sp>
      <p:sp>
        <p:nvSpPr>
          <p:cNvPr id="9" name="TextBox 8"/>
          <p:cNvSpPr txBox="1"/>
          <p:nvPr/>
        </p:nvSpPr>
        <p:spPr>
          <a:xfrm>
            <a:off x="685800" y="3973576"/>
            <a:ext cx="10820095" cy="1020064"/>
          </a:xfrm>
          <a:prstGeom prst="rect">
            <a:avLst/>
          </a:prstGeom>
          <a:noFill/>
        </p:spPr>
        <p:txBody>
          <a:bodyPr wrap="square" anchor="t" lIns="0" rIns="0" tIns="0" bIns="0">
            <a:spAutoFit/>
          </a:bodyPr>
          <a:lstStyle/>
          <a:p>
            <a:pPr>
              <a:spcAft>
                <a:spcPts val="900"/>
              </a:spcAft>
            </a:pPr>
            <a:r>
              <a:rPr sz="2000" b="0">
                <a:solidFill>
                  <a:srgbClr val="1C1C1A"/>
                </a:solidFill>
                <a:latin typeface="Calibri"/>
              </a:rPr>
              <a:t>Booked comes back at roughly Rs 39.6 crore.</a:t>
            </a:r>
          </a:p>
          <a:p>
            <a:pPr>
              <a:spcAft>
                <a:spcPts val="900"/>
              </a:spcAft>
            </a:pPr>
            <a:r>
              <a:rPr sz="2000" b="0">
                <a:solidFill>
                  <a:srgbClr val="1C1C1A"/>
                </a:solidFill>
                <a:latin typeface="Calibri"/>
              </a:rPr>
              <a:t>The two quarters together booked Rs 19.84 crore.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7 /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D1</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Every single row in that result looks correct</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1aa8b783bd7df83f.png"/>
          <p:cNvPicPr>
            <a:picLocks noChangeAspect="1"/>
          </p:cNvPicPr>
          <p:nvPr/>
        </p:nvPicPr>
        <p:blipFill>
          <a:blip r:embed="rId3"/>
          <a:stretch>
            <a:fillRect/>
          </a:stretch>
        </p:blipFill>
        <p:spPr>
          <a:xfrm>
            <a:off x="685800" y="3106134"/>
            <a:ext cx="4652640" cy="1468690"/>
          </a:xfrm>
          <a:prstGeom prst="rect">
            <a:avLst/>
          </a:prstGeom>
        </p:spPr>
      </p:pic>
      <p:sp>
        <p:nvSpPr>
          <p:cNvPr id="8" name="TextBox 7"/>
          <p:cNvSpPr txBox="1"/>
          <p:nvPr/>
        </p:nvSpPr>
        <p:spPr>
          <a:xfrm>
            <a:off x="5771244" y="2011680"/>
            <a:ext cx="5734650" cy="3657600"/>
          </a:xfrm>
          <a:prstGeom prst="rect">
            <a:avLst/>
          </a:prstGeom>
          <a:noFill/>
        </p:spPr>
        <p:txBody>
          <a:bodyPr wrap="square" anchor="t" lIns="0" rIns="0" tIns="0" bIns="0">
            <a:spAutoFit/>
          </a:bodyPr>
          <a:lstStyle/>
          <a:p>
            <a:pPr>
              <a:spcAft>
                <a:spcPts val="900"/>
              </a:spcAft>
            </a:pPr>
            <a:r>
              <a:rPr sz="2000" b="0">
                <a:solidFill>
                  <a:srgbClr val="1C1C1A"/>
                </a:solidFill>
                <a:latin typeface="Calibri"/>
              </a:rPr>
              <a:t>Pick any row. The order id is real. The amount is the order's real amount. The payment is a real</a:t>
            </a:r>
          </a:p>
          <a:p>
            <a:pPr>
              <a:spcAft>
                <a:spcPts val="900"/>
              </a:spcAft>
            </a:pPr>
            <a:r>
              <a:rPr sz="2000" b="0">
                <a:solidFill>
                  <a:srgbClr val="1C1C1A"/>
                </a:solidFill>
                <a:latin typeface="Calibri"/>
              </a:rPr>
              <a:t>payment for that order.</a:t>
            </a:r>
          </a:p>
          <a:p>
            <a:pPr>
              <a:spcAft>
                <a:spcPts val="900"/>
              </a:spcAft>
            </a:pPr>
            <a:r>
              <a:rPr sz="2000" b="0">
                <a:solidFill>
                  <a:srgbClr val="1C1C1A"/>
                </a:solidFill>
                <a:latin typeface="Calibri"/>
              </a:rPr>
              <a:t>Nothing is corrupted, nothing is missing, and the total is twice the truth. That combination is</a:t>
            </a:r>
          </a:p>
          <a:p>
            <a:pPr>
              <a:spcAft>
                <a:spcPts val="900"/>
              </a:spcAft>
            </a:pPr>
            <a:r>
              <a:rPr sz="2000" b="0">
                <a:solidFill>
                  <a:srgbClr val="1C1C1A"/>
                </a:solidFill>
                <a:latin typeface="Calibri"/>
              </a:rPr>
              <a:t>what makes this the most expensive mistake in analytics.</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8 /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S6</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3000" b="1">
                <a:solidFill>
                  <a:srgbClr val="1C1C1A"/>
                </a:solidFill>
                <a:latin typeface="Calibri"/>
              </a:rPr>
              <a:t>Count before you sum</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ef83a1bf0003a75a.png"/>
          <p:cNvPicPr>
            <a:picLocks noChangeAspect="1"/>
          </p:cNvPicPr>
          <p:nvPr/>
        </p:nvPicPr>
        <p:blipFill>
          <a:blip r:embed="rId3"/>
          <a:stretch>
            <a:fillRect/>
          </a:stretch>
        </p:blipFill>
        <p:spPr>
          <a:xfrm>
            <a:off x="685800" y="2937595"/>
            <a:ext cx="10820095" cy="1094570"/>
          </a:xfrm>
          <a:prstGeom prst="rect">
            <a:avLst/>
          </a:prstGeom>
        </p:spPr>
      </p:pic>
      <p:sp>
        <p:nvSpPr>
          <p:cNvPr id="7" name="TextBox 6"/>
          <p:cNvSpPr txBox="1"/>
          <p:nvPr/>
        </p:nvSpPr>
        <p:spPr>
          <a:xfrm>
            <a:off x="685800" y="4178469"/>
            <a:ext cx="10820095" cy="56489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row count was free to check and it was never checked.</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9 /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C. What each join actually does</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2, Day 2. Half one: booked is not collected, and the join that lied</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10 /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S7</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Four joins, four questions about unmatched rows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graphicFrame>
        <p:nvGraphicFramePr>
          <p:cNvPr id="6" name="Table 5"/>
          <p:cNvGraphicFramePr>
            <a:graphicFrameLocks noGrp="1"/>
          </p:cNvGraphicFramePr>
          <p:nvPr/>
        </p:nvGraphicFramePr>
        <p:xfrm>
          <a:off x="685800" y="2289556"/>
          <a:ext cx="10820094" cy="1935480"/>
        </p:xfrm>
        <a:graphic>
          <a:graphicData uri="http://schemas.openxmlformats.org/drawingml/2006/table">
            <a:tbl>
              <a:tblPr firstRow="0" bandRow="0">
                <a:tableStyleId>{2D5ABB26-0587-4C30-8999-92F81FD0307C}</a:tableStyleId>
              </a:tblPr>
              <a:tblGrid>
                <a:gridCol w="2188298"/>
                <a:gridCol w="8631796"/>
              </a:tblGrid>
              <a:tr h="387096">
                <a:tc>
                  <a:txBody>
                    <a:bodyPr/>
                    <a:lstStyle/>
                    <a:p>
                      <a:r>
                        <a:rPr sz="1600" b="1">
                          <a:solidFill>
                            <a:srgbClr val="FFFFFF"/>
                          </a:solidFill>
                          <a:latin typeface="Calibri"/>
                        </a:rPr>
                        <a:t>Join</a:t>
                      </a:r>
                    </a:p>
                  </a:txBody>
                  <a:tcPr marL="101600" marR="101600" marT="38100" marB="38100" anchor="ctr">
                    <a:solidFill>
                      <a:srgbClr val="2B4A7D"/>
                    </a:solidFill>
                  </a:tcPr>
                </a:tc>
                <a:tc>
                  <a:txBody>
                    <a:bodyPr/>
                    <a:lstStyle/>
                    <a:p>
                      <a:r>
                        <a:rPr sz="1600" b="1">
                          <a:solidFill>
                            <a:srgbClr val="FFFFFF"/>
                          </a:solidFill>
                          <a:latin typeface="Calibri"/>
                        </a:rPr>
                        <a:t>Keeps</a:t>
                      </a:r>
                    </a:p>
                  </a:txBody>
                  <a:tcPr marL="101600" marR="101600" marT="38100" marB="38100" anchor="ctr">
                    <a:solidFill>
                      <a:srgbClr val="2B4A7D"/>
                    </a:solidFill>
                  </a:tcPr>
                </a:tc>
              </a:tr>
              <a:tr h="387096">
                <a:tc>
                  <a:txBody>
                    <a:bodyPr/>
                    <a:lstStyle/>
                    <a:p>
                      <a:r>
                        <a:rPr sz="1500" b="0">
                          <a:solidFill>
                            <a:srgbClr val="1C1C1A"/>
                          </a:solidFill>
                          <a:latin typeface="Calibri"/>
                        </a:rPr>
                        <a:t>INNER</a:t>
                      </a:r>
                    </a:p>
                  </a:txBody>
                  <a:tcPr marL="101600" marR="101600" marT="38100" marB="38100" anchor="ctr">
                    <a:solidFill>
                      <a:srgbClr val="FFFFFF"/>
                    </a:solidFill>
                  </a:tcPr>
                </a:tc>
                <a:tc>
                  <a:txBody>
                    <a:bodyPr/>
                    <a:lstStyle/>
                    <a:p>
                      <a:r>
                        <a:rPr sz="1500" b="0">
                          <a:solidFill>
                            <a:srgbClr val="1C1C1A"/>
                          </a:solidFill>
                          <a:latin typeface="Calibri"/>
                        </a:rPr>
                        <a:t>Only orders that have a payment</a:t>
                      </a:r>
                    </a:p>
                  </a:txBody>
                  <a:tcPr marL="101600" marR="101600" marT="38100" marB="38100" anchor="ctr">
                    <a:solidFill>
                      <a:srgbClr val="FFFFFF"/>
                    </a:solidFill>
                  </a:tcPr>
                </a:tc>
              </a:tr>
              <a:tr h="387096">
                <a:tc>
                  <a:txBody>
                    <a:bodyPr/>
                    <a:lstStyle/>
                    <a:p>
                      <a:r>
                        <a:rPr sz="1500" b="0">
                          <a:solidFill>
                            <a:srgbClr val="1C1C1A"/>
                          </a:solidFill>
                          <a:latin typeface="Calibri"/>
                        </a:rPr>
                        <a:t>LEFT</a:t>
                      </a:r>
                    </a:p>
                  </a:txBody>
                  <a:tcPr marL="101600" marR="101600" marT="38100" marB="38100" anchor="ctr">
                    <a:solidFill>
                      <a:srgbClr val="F7F7F5"/>
                    </a:solidFill>
                  </a:tcPr>
                </a:tc>
                <a:tc>
                  <a:txBody>
                    <a:bodyPr/>
                    <a:lstStyle/>
                    <a:p>
                      <a:r>
                        <a:rPr sz="1500" b="0">
                          <a:solidFill>
                            <a:srgbClr val="1C1C1A"/>
                          </a:solidFill>
                          <a:latin typeface="Calibri"/>
                        </a:rPr>
                        <a:t>Every order, paid or not</a:t>
                      </a:r>
                    </a:p>
                  </a:txBody>
                  <a:tcPr marL="101600" marR="101600" marT="38100" marB="38100" anchor="ctr">
                    <a:solidFill>
                      <a:srgbClr val="F7F7F5"/>
                    </a:solidFill>
                  </a:tcPr>
                </a:tc>
              </a:tr>
              <a:tr h="387096">
                <a:tc>
                  <a:txBody>
                    <a:bodyPr/>
                    <a:lstStyle/>
                    <a:p>
                      <a:r>
                        <a:rPr sz="1500" b="0">
                          <a:solidFill>
                            <a:srgbClr val="1C1C1A"/>
                          </a:solidFill>
                          <a:latin typeface="Calibri"/>
                        </a:rPr>
                        <a:t>RIGHT</a:t>
                      </a:r>
                    </a:p>
                  </a:txBody>
                  <a:tcPr marL="101600" marR="101600" marT="38100" marB="38100" anchor="ctr">
                    <a:solidFill>
                      <a:srgbClr val="FFFFFF"/>
                    </a:solidFill>
                  </a:tcPr>
                </a:tc>
                <a:tc>
                  <a:txBody>
                    <a:bodyPr/>
                    <a:lstStyle/>
                    <a:p>
                      <a:r>
                        <a:rPr sz="1500" b="0">
                          <a:solidFill>
                            <a:srgbClr val="1C1C1A"/>
                          </a:solidFill>
                          <a:latin typeface="Calibri"/>
                        </a:rPr>
                        <a:t>Every payment, even one whose order is missing</a:t>
                      </a:r>
                    </a:p>
                  </a:txBody>
                  <a:tcPr marL="101600" marR="101600" marT="38100" marB="38100" anchor="ctr">
                    <a:solidFill>
                      <a:srgbClr val="FFFFFF"/>
                    </a:solidFill>
                  </a:tcPr>
                </a:tc>
              </a:tr>
              <a:tr h="387096">
                <a:tc>
                  <a:txBody>
                    <a:bodyPr/>
                    <a:lstStyle/>
                    <a:p>
                      <a:r>
                        <a:rPr sz="1500" b="0">
                          <a:solidFill>
                            <a:srgbClr val="1C1C1A"/>
                          </a:solidFill>
                          <a:latin typeface="Calibri"/>
                        </a:rPr>
                        <a:t>FULL OUTER</a:t>
                      </a:r>
                    </a:p>
                  </a:txBody>
                  <a:tcPr marL="101600" marR="101600" marT="38100" marB="38100" anchor="ctr">
                    <a:solidFill>
                      <a:srgbClr val="F7F7F5"/>
                    </a:solidFill>
                  </a:tcPr>
                </a:tc>
                <a:tc>
                  <a:txBody>
                    <a:bodyPr/>
                    <a:lstStyle/>
                    <a:p>
                      <a:r>
                        <a:rPr sz="1500" b="0">
                          <a:solidFill>
                            <a:srgbClr val="1C1C1A"/>
                          </a:solidFill>
                          <a:latin typeface="Calibri"/>
                        </a:rPr>
                        <a:t>Both sides' orphans</a:t>
                      </a:r>
                    </a:p>
                  </a:txBody>
                  <a:tcPr marL="101600" marR="101600" marT="38100" marB="38100" anchor="ctr">
                    <a:solidFill>
                      <a:srgbClr val="F7F7F5"/>
                    </a:solidFill>
                  </a:tcPr>
                </a:tc>
              </a:tr>
            </a:tbl>
          </a:graphicData>
        </a:graphic>
      </p:graphicFrame>
      <p:sp>
        <p:nvSpPr>
          <p:cNvPr id="7" name="TextBox 6"/>
          <p:cNvSpPr txBox="1"/>
          <p:nvPr/>
        </p:nvSpPr>
        <p:spPr>
          <a:xfrm>
            <a:off x="685800" y="4481068"/>
            <a:ext cx="10820095" cy="910336"/>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choice is not a style preference. Each one answers a different business question.</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11 /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S8</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The same query, two joins, two answers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658872"/>
            <a:ext cx="10820095" cy="833120"/>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658872"/>
            <a:ext cx="50292" cy="83312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759456"/>
            <a:ext cx="10417759" cy="650239"/>
          </a:xfrm>
          <a:prstGeom prst="rect">
            <a:avLst/>
          </a:prstGeom>
          <a:noFill/>
        </p:spPr>
        <p:txBody>
          <a:bodyPr wrap="square" anchor="t" lIns="0" rIns="0" tIns="0" bIns="0">
            <a:spAutoFit/>
          </a:bodyPr>
          <a:lstStyle/>
          <a:p>
            <a:pPr>
              <a:spcAft>
                <a:spcPts val="200"/>
              </a:spcAft>
            </a:pPr>
            <a:r>
              <a:rPr sz="1600" b="0">
                <a:solidFill>
                  <a:srgbClr val="E4ECF7"/>
                </a:solidFill>
                <a:latin typeface="Consolas"/>
              </a:rPr>
              <a:t>SELECT count(*) FROM orders o INNER JOIN payments p USING (order_id);  -- 1,420</a:t>
            </a:r>
          </a:p>
          <a:p>
            <a:pPr>
              <a:spcAft>
                <a:spcPts val="200"/>
              </a:spcAft>
            </a:pPr>
            <a:r>
              <a:rPr sz="1600" b="0">
                <a:solidFill>
                  <a:srgbClr val="E4ECF7"/>
                </a:solidFill>
                <a:latin typeface="Consolas"/>
              </a:rPr>
              <a:t>SELECT count(*) FROM orders o LEFT  JOIN payments p USING (order_id);  -- 1,450</a:t>
            </a:r>
          </a:p>
        </p:txBody>
      </p:sp>
      <p:sp>
        <p:nvSpPr>
          <p:cNvPr id="9" name="TextBox 8"/>
          <p:cNvSpPr txBox="1"/>
          <p:nvPr/>
        </p:nvSpPr>
        <p:spPr>
          <a:xfrm>
            <a:off x="685800" y="3656584"/>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Thirty rows are the difference. Those thirty are delivered orders that were never paid, which is</a:t>
            </a:r>
          </a:p>
          <a:p>
            <a:pPr>
              <a:spcAft>
                <a:spcPts val="900"/>
              </a:spcAft>
            </a:pPr>
            <a:r>
              <a:rPr sz="2000" b="0">
                <a:solidFill>
                  <a:srgbClr val="1C1C1A"/>
                </a:solidFill>
                <a:latin typeface="Calibri"/>
              </a:rPr>
              <a:t>precisely what Anand asked about.</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12 /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D2</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An INNER join drops your finding silently</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 name="Picture 6" descr="3d3cbc07fd0e2f75.png"/>
          <p:cNvPicPr>
            <a:picLocks noChangeAspect="1"/>
          </p:cNvPicPr>
          <p:nvPr/>
        </p:nvPicPr>
        <p:blipFill>
          <a:blip r:embed="rId3"/>
          <a:stretch>
            <a:fillRect/>
          </a:stretch>
        </p:blipFill>
        <p:spPr>
          <a:xfrm>
            <a:off x="685800" y="1627632"/>
            <a:ext cx="10820095" cy="2365526"/>
          </a:xfrm>
          <a:prstGeom prst="rect">
            <a:avLst/>
          </a:prstGeom>
        </p:spPr>
      </p:pic>
      <p:sp>
        <p:nvSpPr>
          <p:cNvPr id="8" name="TextBox 7"/>
          <p:cNvSpPr txBox="1"/>
          <p:nvPr/>
        </p:nvSpPr>
        <p:spPr>
          <a:xfrm>
            <a:off x="685800" y="4139462"/>
            <a:ext cx="10820095" cy="1723136"/>
          </a:xfrm>
          <a:prstGeom prst="rect">
            <a:avLst/>
          </a:prstGeom>
          <a:noFill/>
        </p:spPr>
        <p:txBody>
          <a:bodyPr wrap="square" anchor="t" lIns="0" rIns="0" tIns="0" bIns="0">
            <a:spAutoFit/>
          </a:bodyPr>
          <a:lstStyle/>
          <a:p>
            <a:pPr>
              <a:spcAft>
                <a:spcPts val="800"/>
              </a:spcAft>
            </a:pPr>
            <a:r>
              <a:rPr sz="1700" b="0">
                <a:solidFill>
                  <a:srgbClr val="1C1C1A"/>
                </a:solidFill>
                <a:latin typeface="Calibri"/>
              </a:rPr>
              <a:t>It does not warn you. It does not log anything. The thirty orders Anand wants to see are the</a:t>
            </a:r>
          </a:p>
          <a:p>
            <a:pPr>
              <a:spcAft>
                <a:spcPts val="800"/>
              </a:spcAft>
            </a:pPr>
            <a:r>
              <a:rPr sz="1700" b="0">
                <a:solidFill>
                  <a:srgbClr val="1C1C1A"/>
                </a:solidFill>
                <a:latin typeface="Calibri"/>
              </a:rPr>
              <a:t>thirty rows an INNER join removes, and the result still looks like a complete report.</a:t>
            </a:r>
          </a:p>
          <a:p>
            <a:pPr>
              <a:spcAft>
                <a:spcPts val="800"/>
              </a:spcAft>
            </a:pPr>
            <a:r>
              <a:rPr sz="1700" b="0">
                <a:solidFill>
                  <a:srgbClr val="1C1C1A"/>
                </a:solidFill>
                <a:latin typeface="Calibri"/>
              </a:rPr>
              <a:t>Choosing INNER here is not a small mistake. It is answering a different question than the one</a:t>
            </a:r>
          </a:p>
          <a:p>
            <a:pPr>
              <a:spcAft>
                <a:spcPts val="800"/>
              </a:spcAft>
            </a:pPr>
            <a:r>
              <a:rPr sz="1700" b="0">
                <a:solidFill>
                  <a:srgbClr val="1C1C1A"/>
                </a:solidFill>
                <a:latin typeface="Calibri"/>
              </a:rPr>
              <a:t>asked, in a way nobody can see from the output.</a:t>
            </a:r>
          </a:p>
        </p:txBody>
      </p:sp>
      <p:sp>
        <p:nvSpPr>
          <p:cNvPr id="9" name="Rectangle 8"/>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1" name="TextBox 10"/>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13 /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S9</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Which orders were never paid</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370328"/>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370328"/>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470912"/>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SELECT o.order_id, o.channel, o.amount</a:t>
            </a:r>
          </a:p>
          <a:p>
            <a:pPr>
              <a:spcAft>
                <a:spcPts val="200"/>
              </a:spcAft>
            </a:pPr>
            <a:r>
              <a:rPr sz="1600" b="0">
                <a:solidFill>
                  <a:srgbClr val="E4ECF7"/>
                </a:solidFill>
                <a:latin typeface="Consolas"/>
              </a:rPr>
              <a:t>FROM   orders o</a:t>
            </a:r>
          </a:p>
          <a:p>
            <a:pPr>
              <a:spcAft>
                <a:spcPts val="200"/>
              </a:spcAft>
            </a:pPr>
            <a:r>
              <a:rPr sz="1600" b="0">
                <a:solidFill>
                  <a:srgbClr val="E4ECF7"/>
                </a:solidFill>
                <a:latin typeface="Consolas"/>
              </a:rPr>
              <a:t>LEFT JOIN payments p ON p.order_id = o.order_id</a:t>
            </a:r>
          </a:p>
          <a:p>
            <a:pPr>
              <a:spcAft>
                <a:spcPts val="200"/>
              </a:spcAft>
            </a:pPr>
            <a:r>
              <a:rPr sz="1600" b="0">
                <a:solidFill>
                  <a:srgbClr val="E4ECF7"/>
                </a:solidFill>
                <a:latin typeface="Consolas"/>
              </a:rPr>
              <a:t>WHERE  p.payment_id IS NULL;</a:t>
            </a:r>
          </a:p>
        </p:txBody>
      </p:sp>
      <p:sp>
        <p:nvSpPr>
          <p:cNvPr id="9" name="TextBox 8"/>
          <p:cNvSpPr txBox="1"/>
          <p:nvPr/>
        </p:nvSpPr>
        <p:spPr>
          <a:xfrm>
            <a:off x="685800" y="39451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Keep everything, then keep only what failed to match. That pattern is called an anti-join and it</a:t>
            </a:r>
          </a:p>
          <a:p>
            <a:pPr>
              <a:spcAft>
                <a:spcPts val="900"/>
              </a:spcAft>
            </a:pPr>
            <a:r>
              <a:rPr sz="2000" b="0">
                <a:solidFill>
                  <a:srgbClr val="1C1C1A"/>
                </a:solidFill>
                <a:latin typeface="Calibri"/>
              </a:rPr>
              <a:t>is how you find absence.</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14 /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S10</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And the orphans on the other side</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370328"/>
            <a:ext cx="10820095" cy="1410208"/>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370328"/>
            <a:ext cx="50292" cy="1410208"/>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470912"/>
            <a:ext cx="10417759" cy="1227328"/>
          </a:xfrm>
          <a:prstGeom prst="rect">
            <a:avLst/>
          </a:prstGeom>
          <a:noFill/>
        </p:spPr>
        <p:txBody>
          <a:bodyPr wrap="square" anchor="t" lIns="0" rIns="0" tIns="0" bIns="0">
            <a:spAutoFit/>
          </a:bodyPr>
          <a:lstStyle/>
          <a:p>
            <a:pPr>
              <a:spcAft>
                <a:spcPts val="200"/>
              </a:spcAft>
            </a:pPr>
            <a:r>
              <a:rPr sz="1600" b="0">
                <a:solidFill>
                  <a:srgbClr val="E4ECF7"/>
                </a:solidFill>
                <a:latin typeface="Consolas"/>
              </a:rPr>
              <a:t>SELECT p.payment_id, p.amount</a:t>
            </a:r>
          </a:p>
          <a:p>
            <a:pPr>
              <a:spcAft>
                <a:spcPts val="200"/>
              </a:spcAft>
            </a:pPr>
            <a:r>
              <a:rPr sz="1600" b="0">
                <a:solidFill>
                  <a:srgbClr val="E4ECF7"/>
                </a:solidFill>
                <a:latin typeface="Consolas"/>
              </a:rPr>
              <a:t>FROM   payments p</a:t>
            </a:r>
          </a:p>
          <a:p>
            <a:pPr>
              <a:spcAft>
                <a:spcPts val="200"/>
              </a:spcAft>
            </a:pPr>
            <a:r>
              <a:rPr sz="1600" b="0">
                <a:solidFill>
                  <a:srgbClr val="E4ECF7"/>
                </a:solidFill>
                <a:latin typeface="Consolas"/>
              </a:rPr>
              <a:t>LEFT JOIN orders o ON o.order_id = p.order_id</a:t>
            </a:r>
          </a:p>
          <a:p>
            <a:pPr>
              <a:spcAft>
                <a:spcPts val="200"/>
              </a:spcAft>
            </a:pPr>
            <a:r>
              <a:rPr sz="1600" b="0">
                <a:solidFill>
                  <a:srgbClr val="E4ECF7"/>
                </a:solidFill>
                <a:latin typeface="Consolas"/>
              </a:rPr>
              <a:t>WHERE  o.order_id IS NULL;</a:t>
            </a:r>
          </a:p>
        </p:txBody>
      </p:sp>
      <p:sp>
        <p:nvSpPr>
          <p:cNvPr id="9" name="TextBox 8"/>
          <p:cNvSpPr txBox="1"/>
          <p:nvPr/>
        </p:nvSpPr>
        <p:spPr>
          <a:xfrm>
            <a:off x="685800" y="3945128"/>
            <a:ext cx="10820095" cy="1365504"/>
          </a:xfrm>
          <a:prstGeom prst="rect">
            <a:avLst/>
          </a:prstGeom>
          <a:noFill/>
        </p:spPr>
        <p:txBody>
          <a:bodyPr wrap="square" anchor="t" lIns="0" rIns="0" tIns="0" bIns="0">
            <a:spAutoFit/>
          </a:bodyPr>
          <a:lstStyle/>
          <a:p>
            <a:pPr>
              <a:spcAft>
                <a:spcPts val="900"/>
              </a:spcAft>
            </a:pPr>
            <a:r>
              <a:rPr sz="2000" b="0">
                <a:solidFill>
                  <a:srgbClr val="1C1C1A"/>
                </a:solidFill>
                <a:latin typeface="Calibri"/>
              </a:rPr>
              <a:t>Eight payments whose order is not in the table. Money arrived for something the book does not</a:t>
            </a:r>
          </a:p>
          <a:p>
            <a:pPr>
              <a:spcAft>
                <a:spcPts val="900"/>
              </a:spcAft>
            </a:pPr>
            <a:r>
              <a:rPr sz="2000" b="0">
                <a:solidFill>
                  <a:srgbClr val="1C1C1A"/>
                </a:solidFill>
                <a:latin typeface="Calibri"/>
              </a:rPr>
              <a:t>know about, which is a question for the platform team rather than for you.</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15 /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463040"/>
          </a:xfrm>
          <a:prstGeom prst="rect">
            <a:avLst/>
          </a:prstGeom>
          <a:noFill/>
        </p:spPr>
        <p:txBody>
          <a:bodyPr wrap="square" anchor="ctr" lIns="0" rIns="0" tIns="0" bIns="0">
            <a:spAutoFit/>
          </a:bodyPr>
          <a:lstStyle/>
          <a:p>
            <a:pPr algn="ctr"/>
            <a:r>
              <a:rPr sz="4000" b="1">
                <a:solidFill>
                  <a:srgbClr val="FFFFFF"/>
                </a:solidFill>
                <a:latin typeface="Calibri"/>
              </a:rPr>
              <a:t>SECTION D. Why it doubled</a:t>
            </a:r>
          </a:p>
        </p:txBody>
      </p:sp>
      <p:sp>
        <p:nvSpPr>
          <p:cNvPr id="4" name="Rectangle 3"/>
          <p:cNvSpPr/>
          <p:nvPr/>
        </p:nvSpPr>
        <p:spPr>
          <a:xfrm>
            <a:off x="685800" y="6327648"/>
            <a:ext cx="10820095" cy="128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85800" y="6391656"/>
            <a:ext cx="9722815" cy="292608"/>
          </a:xfrm>
          <a:prstGeom prst="rect">
            <a:avLst/>
          </a:prstGeom>
          <a:noFill/>
        </p:spPr>
        <p:txBody>
          <a:bodyPr wrap="square" anchor="t" lIns="0" rIns="0" tIns="0" bIns="0">
            <a:spAutoFit/>
          </a:bodyPr>
          <a:lstStyle/>
          <a:p>
            <a:r>
              <a:rPr sz="1000">
                <a:solidFill>
                  <a:srgbClr val="FFFFFF"/>
                </a:solidFill>
                <a:latin typeface="Calibri"/>
              </a:rPr>
              <a:t>Week 2, Day 2. Half one: booked is not collected, and the join that lied</a:t>
            </a:r>
          </a:p>
        </p:txBody>
      </p:sp>
      <p:sp>
        <p:nvSpPr>
          <p:cNvPr id="6" name="TextBox 5"/>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FFFFFF"/>
                </a:solidFill>
                <a:latin typeface="Calibri"/>
              </a:rPr>
              <a:t>16 /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S11</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An imperfect key multiplies before it loses</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d8faeebd20a3c048.png"/>
          <p:cNvPicPr>
            <a:picLocks noChangeAspect="1"/>
          </p:cNvPicPr>
          <p:nvPr/>
        </p:nvPicPr>
        <p:blipFill>
          <a:blip r:embed="rId3"/>
          <a:stretch>
            <a:fillRect/>
          </a:stretch>
        </p:blipFill>
        <p:spPr>
          <a:xfrm>
            <a:off x="4241406" y="1517904"/>
            <a:ext cx="3708882" cy="4016248"/>
          </a:xfrm>
          <a:prstGeom prst="rect">
            <a:avLst/>
          </a:prstGeom>
        </p:spPr>
      </p:pic>
      <p:sp>
        <p:nvSpPr>
          <p:cNvPr id="7" name="TextBox 6"/>
          <p:cNvSpPr txBox="1"/>
          <p:nvPr/>
        </p:nvSpPr>
        <p:spPr>
          <a:xfrm>
            <a:off x="685800" y="5579872"/>
            <a:ext cx="10820095" cy="473456"/>
          </a:xfrm>
          <a:prstGeom prst="rect">
            <a:avLst/>
          </a:prstGeom>
          <a:noFill/>
        </p:spPr>
        <p:txBody>
          <a:bodyPr wrap="square" anchor="t" lIns="0" rIns="0" tIns="0" bIns="0">
            <a:spAutoFit/>
          </a:bodyPr>
          <a:lstStyle/>
          <a:p>
            <a:r>
              <a:rPr sz="2000" b="0">
                <a:solidFill>
                  <a:srgbClr val="1C1C1A"/>
                </a:solidFill>
                <a:latin typeface="Calibri"/>
              </a:rPr>
              <a:t>Nothing was duplicated in either table. The duplication happened in the join.</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17 /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S12</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300" b="1">
                <a:solidFill>
                  <a:srgbClr val="1C1C1A"/>
                </a:solidFill>
                <a:latin typeface="Calibri"/>
              </a:rPr>
              <a:t>Counting the orders with more than one payment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685800" y="2287016"/>
            <a:ext cx="10820095" cy="1121664"/>
          </a:xfrm>
          <a:prstGeom prst="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85800" y="2287016"/>
            <a:ext cx="50292" cy="112166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23544" y="2387600"/>
            <a:ext cx="10417759" cy="938784"/>
          </a:xfrm>
          <a:prstGeom prst="rect">
            <a:avLst/>
          </a:prstGeom>
          <a:noFill/>
        </p:spPr>
        <p:txBody>
          <a:bodyPr wrap="square" anchor="t" lIns="0" rIns="0" tIns="0" bIns="0">
            <a:spAutoFit/>
          </a:bodyPr>
          <a:lstStyle/>
          <a:p>
            <a:pPr>
              <a:spcAft>
                <a:spcPts val="200"/>
              </a:spcAft>
            </a:pPr>
            <a:r>
              <a:rPr sz="1600" b="0">
                <a:solidFill>
                  <a:srgbClr val="E4ECF7"/>
                </a:solidFill>
                <a:latin typeface="Consolas"/>
              </a:rPr>
              <a:t>SELECT count(*) FROM (</a:t>
            </a:r>
          </a:p>
          <a:p>
            <a:pPr>
              <a:spcAft>
                <a:spcPts val="200"/>
              </a:spcAft>
            </a:pPr>
            <a:r>
              <a:rPr sz="1600" b="0">
                <a:solidFill>
                  <a:srgbClr val="E4ECF7"/>
                </a:solidFill>
                <a:latin typeface="Consolas"/>
              </a:rPr>
              <a:t>  SELECT order_id FROM payments GROUP BY order_id HAVING count(*) &gt; 1</a:t>
            </a:r>
          </a:p>
          <a:p>
            <a:pPr>
              <a:spcAft>
                <a:spcPts val="200"/>
              </a:spcAft>
            </a:pPr>
            <a:r>
              <a:rPr sz="1600" b="0">
                <a:solidFill>
                  <a:srgbClr val="E4ECF7"/>
                </a:solidFill>
                <a:latin typeface="Consolas"/>
              </a:rPr>
              <a:t>) t;</a:t>
            </a:r>
          </a:p>
        </p:txBody>
      </p:sp>
      <p:sp>
        <p:nvSpPr>
          <p:cNvPr id="9" name="TextBox 8"/>
          <p:cNvSpPr txBox="1"/>
          <p:nvPr/>
        </p:nvSpPr>
        <p:spPr>
          <a:xfrm>
            <a:off x="685800" y="3573272"/>
            <a:ext cx="10820095" cy="1820672"/>
          </a:xfrm>
          <a:prstGeom prst="rect">
            <a:avLst/>
          </a:prstGeom>
          <a:noFill/>
        </p:spPr>
        <p:txBody>
          <a:bodyPr wrap="square" anchor="t" lIns="0" rIns="0" tIns="0" bIns="0">
            <a:spAutoFit/>
          </a:bodyPr>
          <a:lstStyle/>
          <a:p>
            <a:pPr>
              <a:spcAft>
                <a:spcPts val="900"/>
              </a:spcAft>
            </a:pPr>
            <a:r>
              <a:rPr sz="2000" b="0">
                <a:solidFill>
                  <a:srgbClr val="1C1C1A"/>
                </a:solidFill>
                <a:latin typeface="Calibri"/>
              </a:rPr>
              <a:t>450.</a:t>
            </a:r>
          </a:p>
          <a:p>
            <a:pPr>
              <a:spcAft>
                <a:spcPts val="900"/>
              </a:spcAft>
            </a:pPr>
            <a:r>
              <a:rPr sz="2000" b="0">
                <a:solidFill>
                  <a:srgbClr val="1C1C1A"/>
                </a:solidFill>
                <a:latin typeface="Calibri"/>
              </a:rPr>
              <a:t>Four hundred are large invoices settled in two instalments, which is normal. Fifty are the gateway</a:t>
            </a:r>
          </a:p>
          <a:p>
            <a:pPr>
              <a:spcAft>
                <a:spcPts val="900"/>
              </a:spcAft>
            </a:pPr>
            <a:r>
              <a:rPr sz="2000" b="0">
                <a:solidFill>
                  <a:srgbClr val="1C1C1A"/>
                </a:solidFill>
                <a:latin typeface="Calibri"/>
              </a:rPr>
              <a:t>retries the platform lead mentioned.</a:t>
            </a:r>
          </a:p>
        </p:txBody>
      </p:sp>
      <p:sp>
        <p:nvSpPr>
          <p:cNvPr id="10" name="Rectangle 9"/>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2" name="TextBox 11"/>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18 /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D3</a:t>
            </a:r>
          </a:p>
        </p:txBody>
      </p:sp>
      <p:sp>
        <p:nvSpPr>
          <p:cNvPr id="4" name="Rounded Rectangle 3"/>
          <p:cNvSpPr/>
          <p:nvPr/>
        </p:nvSpPr>
        <p:spPr>
          <a:xfrm>
            <a:off x="10573207" y="603504"/>
            <a:ext cx="932688" cy="274320"/>
          </a:xfrm>
          <a:prstGeom prst="roundRect">
            <a:avLst/>
          </a:prstGeom>
          <a:solidFill>
            <a:srgbClr val="1C1C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DEPTH</a:t>
            </a:r>
          </a:p>
        </p:txBody>
      </p:sp>
      <p:sp>
        <p:nvSpPr>
          <p:cNvPr id="5" name="TextBox 4"/>
          <p:cNvSpPr txBox="1"/>
          <p:nvPr/>
        </p:nvSpPr>
        <p:spPr>
          <a:xfrm>
            <a:off x="1618488" y="493776"/>
            <a:ext cx="8790127" cy="786384"/>
          </a:xfrm>
          <a:prstGeom prst="rect">
            <a:avLst/>
          </a:prstGeom>
          <a:noFill/>
        </p:spPr>
        <p:txBody>
          <a:bodyPr wrap="square" anchor="ctr" lIns="0" rIns="0" tIns="0" bIns="0">
            <a:spAutoFit/>
          </a:bodyPr>
          <a:lstStyle/>
          <a:p>
            <a:r>
              <a:rPr sz="2300" b="1">
                <a:solidFill>
                  <a:srgbClr val="1C1C1A"/>
                </a:solidFill>
                <a:latin typeface="Calibri"/>
              </a:rPr>
              <a:t>Why 450 duplicates doubled a book of a thousand</a:t>
            </a:r>
          </a:p>
        </p:txBody>
      </p:sp>
      <p:sp>
        <p:nvSpPr>
          <p:cNvPr id="6" name="Rectangle 5"/>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85800" y="2357120"/>
            <a:ext cx="10820095" cy="2966720"/>
          </a:xfrm>
          <a:prstGeom prst="rect">
            <a:avLst/>
          </a:prstGeom>
          <a:noFill/>
        </p:spPr>
        <p:txBody>
          <a:bodyPr wrap="square" anchor="t" lIns="0" rIns="0" tIns="0" bIns="0">
            <a:spAutoFit/>
          </a:bodyPr>
          <a:lstStyle/>
          <a:p>
            <a:pPr>
              <a:spcAft>
                <a:spcPts val="900"/>
              </a:spcAft>
            </a:pPr>
            <a:r>
              <a:rPr sz="2000" b="0">
                <a:solidFill>
                  <a:srgbClr val="1C1C1A"/>
                </a:solidFill>
                <a:latin typeface="Calibri"/>
              </a:rPr>
              <a:t>The 450 are not a random slice. Large invoices get instalment terms, so the orders that were</a:t>
            </a:r>
          </a:p>
          <a:p>
            <a:pPr>
              <a:spcAft>
                <a:spcPts val="900"/>
              </a:spcAft>
            </a:pPr>
            <a:r>
              <a:rPr sz="2000" b="0">
                <a:solidFill>
                  <a:srgbClr val="1C1C1A"/>
                </a:solidFill>
                <a:latin typeface="Calibri"/>
              </a:rPr>
              <a:t>duplicated are the orders that carry the revenue.</a:t>
            </a:r>
          </a:p>
          <a:p>
            <a:pPr>
              <a:spcAft>
                <a:spcPts val="900"/>
              </a:spcAft>
            </a:pPr>
            <a:r>
              <a:rPr sz="2000" b="0">
                <a:solidFill>
                  <a:srgbClr val="1C1C1A"/>
                </a:solidFill>
                <a:latin typeface="Calibri"/>
              </a:rPr>
              <a:t>Duplicate the biggest half of the book and you do not inflate a total by five percent. You</a:t>
            </a:r>
          </a:p>
          <a:p>
            <a:pPr>
              <a:spcAft>
                <a:spcPts val="900"/>
              </a:spcAft>
            </a:pPr>
            <a:r>
              <a:rPr sz="2000" b="0">
                <a:solidFill>
                  <a:srgbClr val="1C1C1A"/>
                </a:solidFill>
                <a:latin typeface="Calibri"/>
              </a:rPr>
              <a:t>roughly double it, which is what makes this both the worst case and the ordinary one.</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19 /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S13</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The word for this is fan-out</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4f4792706667204.png"/>
          <p:cNvPicPr>
            <a:picLocks noChangeAspect="1"/>
          </p:cNvPicPr>
          <p:nvPr/>
        </p:nvPicPr>
        <p:blipFill>
          <a:blip r:embed="rId3"/>
          <a:stretch>
            <a:fillRect/>
          </a:stretch>
        </p:blipFill>
        <p:spPr>
          <a:xfrm>
            <a:off x="3158843" y="1517904"/>
            <a:ext cx="5874007" cy="3325368"/>
          </a:xfrm>
          <a:prstGeom prst="rect">
            <a:avLst/>
          </a:prstGeom>
        </p:spPr>
      </p:pic>
      <p:sp>
        <p:nvSpPr>
          <p:cNvPr id="7" name="TextBox 6"/>
          <p:cNvSpPr txBox="1"/>
          <p:nvPr/>
        </p:nvSpPr>
        <p:spPr>
          <a:xfrm>
            <a:off x="685800" y="4888992"/>
            <a:ext cx="10820095" cy="1164336"/>
          </a:xfrm>
          <a:prstGeom prst="rect">
            <a:avLst/>
          </a:prstGeom>
          <a:noFill/>
        </p:spPr>
        <p:txBody>
          <a:bodyPr wrap="square" anchor="t" lIns="0" rIns="0" tIns="0" bIns="0">
            <a:spAutoFit/>
          </a:bodyPr>
          <a:lstStyle/>
          <a:p>
            <a:r>
              <a:rPr sz="2000" b="0">
                <a:solidFill>
                  <a:srgbClr val="1C1C1A"/>
                </a:solidFill>
                <a:latin typeface="Calibri"/>
              </a:rPr>
              <a:t>One row on the left, many rows on the right, and every aggregate over the joined table inherits the multiplication. count, sum and avg are all wrong afterwards, and only count is obviously wrong.</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20 /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603504"/>
            <a:ext cx="786384" cy="274320"/>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a:solidFill>
                  <a:srgbClr val="FFFFFF"/>
                </a:solidFill>
                <a:latin typeface="Calibri"/>
              </a:rPr>
              <a:t>S14</a:t>
            </a:r>
          </a:p>
        </p:txBody>
      </p:sp>
      <p:sp>
        <p:nvSpPr>
          <p:cNvPr id="4" name="TextBox 3"/>
          <p:cNvSpPr txBox="1"/>
          <p:nvPr/>
        </p:nvSpPr>
        <p:spPr>
          <a:xfrm>
            <a:off x="1618488" y="493776"/>
            <a:ext cx="9704527" cy="786384"/>
          </a:xfrm>
          <a:prstGeom prst="rect">
            <a:avLst/>
          </a:prstGeom>
          <a:noFill/>
        </p:spPr>
        <p:txBody>
          <a:bodyPr wrap="square" anchor="ctr" lIns="0" rIns="0" tIns="0" bIns="0">
            <a:spAutoFit/>
          </a:bodyPr>
          <a:lstStyle/>
          <a:p>
            <a:r>
              <a:rPr sz="2600" b="1">
                <a:solidFill>
                  <a:srgbClr val="1C1C1A"/>
                </a:solidFill>
                <a:latin typeface="Calibri"/>
              </a:rPr>
              <a:t>Where half one leaves you</a:t>
            </a:r>
          </a:p>
        </p:txBody>
      </p:sp>
      <p:sp>
        <p:nvSpPr>
          <p:cNvPr id="5" name="Rectangle 4"/>
          <p:cNvSpPr/>
          <p:nvPr/>
        </p:nvSpPr>
        <p:spPr>
          <a:xfrm>
            <a:off x="685800" y="1335024"/>
            <a:ext cx="10820095" cy="32004"/>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7b900e14ff44868b.png"/>
          <p:cNvPicPr>
            <a:picLocks noChangeAspect="1"/>
          </p:cNvPicPr>
          <p:nvPr/>
        </p:nvPicPr>
        <p:blipFill>
          <a:blip r:embed="rId3"/>
          <a:stretch>
            <a:fillRect/>
          </a:stretch>
        </p:blipFill>
        <p:spPr>
          <a:xfrm>
            <a:off x="685799" y="2208542"/>
            <a:ext cx="10820095" cy="951460"/>
          </a:xfrm>
          <a:prstGeom prst="rect">
            <a:avLst/>
          </a:prstGeom>
        </p:spPr>
      </p:pic>
      <p:sp>
        <p:nvSpPr>
          <p:cNvPr id="7" name="TextBox 6"/>
          <p:cNvSpPr txBox="1"/>
          <p:nvPr/>
        </p:nvSpPr>
        <p:spPr>
          <a:xfrm>
            <a:off x="685800" y="3306306"/>
            <a:ext cx="10820095" cy="2166112"/>
          </a:xfrm>
          <a:prstGeom prst="rect">
            <a:avLst/>
          </a:prstGeom>
          <a:noFill/>
        </p:spPr>
        <p:txBody>
          <a:bodyPr wrap="square" anchor="t" lIns="0" rIns="0" tIns="0" bIns="0">
            <a:spAutoFit/>
          </a:bodyPr>
          <a:lstStyle/>
          <a:p>
            <a:pPr>
              <a:spcAft>
                <a:spcPts val="900"/>
              </a:spcAft>
            </a:pPr>
            <a:r>
              <a:rPr sz="2000" b="0">
                <a:solidFill>
                  <a:srgbClr val="1C1C1A"/>
                </a:solidFill>
                <a:latin typeface="Calibri"/>
              </a:rPr>
              <a:t>You can attach payments to orders, name what each join keeps, find orders with no payment and</a:t>
            </a:r>
          </a:p>
          <a:p>
            <a:pPr>
              <a:spcAft>
                <a:spcPts val="900"/>
              </a:spcAft>
            </a:pPr>
            <a:r>
              <a:rPr sz="2000" b="0">
                <a:solidFill>
                  <a:srgbClr val="1C1C1A"/>
                </a:solidFill>
                <a:latin typeface="Calibri"/>
              </a:rPr>
              <a:t>payments with no order, and say why a plausible total came back at twice the truth.</a:t>
            </a:r>
          </a:p>
          <a:p>
            <a:pPr>
              <a:spcAft>
                <a:spcPts val="900"/>
              </a:spcAft>
            </a:pPr>
            <a:r>
              <a:rPr sz="2000" b="0">
                <a:solidFill>
                  <a:srgbClr val="1C1C1A"/>
                </a:solidFill>
                <a:latin typeface="Calibri"/>
              </a:rPr>
              <a:t>Half two turns that into something you would sign.</a:t>
            </a:r>
          </a:p>
        </p:txBody>
      </p:sp>
      <p:sp>
        <p:nvSpPr>
          <p:cNvPr id="8" name="Rectangle 7"/>
          <p:cNvSpPr/>
          <p:nvPr/>
        </p:nvSpPr>
        <p:spPr>
          <a:xfrm>
            <a:off x="685800" y="6327648"/>
            <a:ext cx="10820095" cy="12801"/>
          </a:xfrm>
          <a:prstGeom prst="rect">
            <a:avLst/>
          </a:prstGeom>
          <a:solidFill>
            <a:srgbClr val="C9C9C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85800" y="6391656"/>
            <a:ext cx="9722815" cy="292608"/>
          </a:xfrm>
          <a:prstGeom prst="rect">
            <a:avLst/>
          </a:prstGeom>
          <a:noFill/>
        </p:spPr>
        <p:txBody>
          <a:bodyPr wrap="square" anchor="t" lIns="0" rIns="0" tIns="0" bIns="0">
            <a:spAutoFit/>
          </a:bodyPr>
          <a:lstStyle/>
          <a:p>
            <a:r>
              <a:rPr sz="1000">
                <a:solidFill>
                  <a:srgbClr val="5F6360"/>
                </a:solidFill>
                <a:latin typeface="Calibri"/>
              </a:rPr>
              <a:t>Week 2, Day 2. Half one: booked is not collected, and the join that lied</a:t>
            </a:r>
          </a:p>
        </p:txBody>
      </p:sp>
      <p:sp>
        <p:nvSpPr>
          <p:cNvPr id="10" name="TextBox 9"/>
          <p:cNvSpPr txBox="1"/>
          <p:nvPr/>
        </p:nvSpPr>
        <p:spPr>
          <a:xfrm>
            <a:off x="10408615" y="6391656"/>
            <a:ext cx="1097280" cy="292608"/>
          </a:xfrm>
          <a:prstGeom prst="rect">
            <a:avLst/>
          </a:prstGeom>
          <a:noFill/>
        </p:spPr>
        <p:txBody>
          <a:bodyPr wrap="square" anchor="t" lIns="0" rIns="0" tIns="0" bIns="0">
            <a:spAutoFit/>
          </a:bodyPr>
          <a:lstStyle/>
          <a:p>
            <a:pPr algn="r"/>
            <a:r>
              <a:rPr sz="1000">
                <a:solidFill>
                  <a:srgbClr val="5F6360"/>
                </a:solidFill>
                <a:latin typeface="Calibri"/>
              </a:rPr>
              <a:t>21 /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