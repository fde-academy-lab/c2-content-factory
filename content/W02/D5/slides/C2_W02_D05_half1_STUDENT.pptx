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chief of staff's message aloud and leave it on screen. The day is one</a:t>
            </a:r>
          </a:p>
          <a:p>
            <a:r>
              <a:t>question climbed in six chapters: what can a director open on Monday without a login, change in the</a:t>
            </a:r>
          </a:p>
          <a:p>
            <a:r>
              <a:t>room, and still trust. Five chapters this morning, the sixth after lunch, then the escalated case</a:t>
            </a:r>
          </a:p>
          <a:p>
            <a:r>
              <a:t>alone and the director's edit in pairs. Excel is the tool the room holds today; the notebooks are the</a:t>
            </a:r>
          </a:p>
          <a:p>
            <a:r>
              <a:t>second route to every number.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day's question, then the six chapter questions in order. Each chapter's</a:t>
            </a:r>
          </a:p>
          <a:p>
            <a:r>
              <a:t>answer raises the next question: the customer table cannot split the quarters, so chapter 2 opens</a:t>
            </a:r>
          </a:p>
          <a:p>
            <a:r>
              <a:t>the raw export; the fall sits partly in a paid tier, so chapter 3 protects its best members; and so</a:t>
            </a:r>
          </a:p>
          <a:p>
            <a:r>
              <a:t>on. Tell the room every chapter ends on a number and a sentence they could send.</a:t>
            </a:r>
          </a:p>
          <a:p>
            <a:r>
              <a:t>Transition: first, what exactly was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message aloud, then the last row: it is the hardest line in the brief and it</a:t>
            </a:r>
          </a:p>
          <a:p>
            <a:r>
              <a:t>applies to everything. Kavya's challenge sits under it: which parts belong in Excel, which must never</a:t>
            </a:r>
          </a:p>
          <a:p>
            <a:r>
              <a:t>be there, and how do the two stay in step. That is chapter 5.</a:t>
            </a:r>
          </a:p>
          <a:p>
            <a:r>
              <a:t>Transition: before any tool opens, where could a sheet like this go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Draw this on the board with the room and leave it up all day: it is the day's</a:t>
            </a:r>
          </a:p>
          <a:p>
            <a:r>
              <a:t>picture. Pairs, two minutes: one way each box could produce a wrong number that raises no error.</a:t>
            </a:r>
          </a:p>
          <a:p>
            <a:r>
              <a:t>Expect: rows that are payments, a lookup that answers wrong, a total under a filter, a card with no</a:t>
            </a:r>
          </a:p>
          <a:p>
            <a:r>
              <a:t>period.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finished picture; the cheat sheet's first panel and the board carry the</a:t>
            </a:r>
          </a:p>
          <a:p>
            <a:r>
              <a:t>same drawing. The warehouse owns the number, the export carries one grain, the workbook presents it,</a:t>
            </a:r>
          </a:p>
          <a:p>
            <a:r>
              <a:t>the director slices and asks what-ifs, and the Checks tab ties the workbook back.</a:t>
            </a:r>
          </a:p>
          <a:p>
            <a:r>
              <a:t>Transition: chapter 1, the first deliverable, from the table Marketing already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C2_W02_D05_01_segment_tree beside it as the second route.</a:t>
            </a:r>
          </a:p>
          <a:p>
            <a:r>
              <a:t>Excel live on data/C2_W02_D05_customer_table_STUDENT.csv.</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smaller questions; they are the notebook's headings and the chapter's</a:t>
            </a:r>
          </a:p>
          <a:p>
            <a:r>
              <a:t>objectives. Ask the room to hold one number in mind for question 4: how much more a Retail-Plus</a:t>
            </a:r>
          </a:p>
          <a:p>
            <a:r>
              <a:t>member spends than a Retail-Core shopper.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Revenue here is booked order value: every order at its price, whatever became of it.</a:t>
            </a:r>
          </a:p>
          <a:p>
            <a:r>
              <a:t>The tree is Week 1 Monday's: customers times orders per customer times revenue per order. The</a:t>
            </a:r>
          </a:p>
          <a:p>
            <a:r>
              <a:t>segments: Retail-Core, everyday shoppers; Retail-Plus, the paid membership tier; Business, corporate</a:t>
            </a:r>
          </a:p>
          <a:p>
            <a:r>
              <a:t>buyers invoiced in large amounts; Student. The first director who multiplies a leaf back and gets a</a:t>
            </a:r>
          </a:p>
          <a:p>
            <a:r>
              <a:t>different revenue stops trusting page three.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Costco's 10-K for the year to 31 August 2025, on sec.gov, checked 30 September</a:t>
            </a:r>
          </a:p>
          <a:p>
            <a:r>
              <a:t>2026. Say "approximately" as the filing does. The question is the one Kalpa asks of Retail-Plus: how</a:t>
            </a:r>
          </a:p>
          <a:p>
            <a:r>
              <a:t>much revenue does the paid tier carry, and through which leaf.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is on this table: 300 rows, 6 columns; 4 segments times 3 measures is 12</a:t>
            </a:r>
          </a:p>
          <a:p>
            <a:r>
              <a:t>formulas, each reading 300 rows. Option d fails the brief on the login. Ask which option a director</a:t>
            </a:r>
          </a:p>
          <a:p>
            <a:r>
              <a:t>would break first; hold the answer for chapter 6.</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in the chat. Open the CSV in Excel and scroll it while they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=COUNTA(A2:A301) and a distinct count beside it. The habit is what</a:t>
            </a:r>
          </a:p>
          <a:p>
            <a:r>
              <a:t>matters: the grain is said aloud before any pivot, because chapter 2's export will not be so kind.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select the table, Insert, PivotTable, segment to Rows, customer_id to</a:t>
            </a:r>
          </a:p>
          <a:p>
            <a:r>
              <a:t>Values (Excel counts text), orders and revenue to Values (Excel sums numbers by default, Microsoft</a:t>
            </a:r>
          </a:p>
          <a:p>
            <a:r>
              <a:t>Support, checked 30 September 2026). Take letters before you drag revenue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share column: Student rounds to 0.0 percent. Ask what a company-wide</a:t>
            </a:r>
          </a:p>
          <a:p>
            <a:r>
              <a:t>revenue number can say about members. Almost nothing, and chapter 4 has to live with that.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In Excel, two formulas beside the pivot: orders divided by customers, revenue divided</a:t>
            </a:r>
          </a:p>
          <a:p>
            <a:r>
              <a:t>by orders, each reading the pivot's own sums.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Multiply back aloud. The paid tier's members fill bigger baskets; hold that thought</a:t>
            </a:r>
          </a:p>
          <a:p>
            <a:r>
              <a:t>for chapter 2, where the question is which leaf moved between the quarters.</a:t>
            </a:r>
          </a:p>
          <a:p>
            <a:r>
              <a:t>Transition: now the way a hurried analyst builds the same leaf.</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add =E2/D2 as a column, drag it in, watch Excel sum it, switch to</a:t>
            </a:r>
          </a:p>
          <a:p>
            <a:r>
              <a:t>Average. Take letters before the value shows.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that catches it is the multiply-back from S14. The consumer segments barely</a:t>
            </a:r>
          </a:p>
          <a:p>
            <a:r>
              <a:t>move (Core Rs 1,884 against Rs 1,886) because their baskets are alike; the averaged leaf is wrong</a:t>
            </a:r>
          </a:p>
          <a:p>
            <a:r>
              <a:t>everywhere and badly wrong where customers differ most in size.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Show both ways in Excel. A JPMorgan Chase task force found a risk spreadsheet that</a:t>
            </a:r>
          </a:p>
          <a:p>
            <a:r>
              <a:t>"divided by their sum instead of their average, as the modeler had intended" (report of 16 January</a:t>
            </a:r>
          </a:p>
          <a:p>
            <a:r>
              <a:t>2013, page 128, checked 30 September 2026): a ratio on the wrong total at a bank's scale.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Option a is the tempting one. Ask what happens to a customer who bought every month</a:t>
            </a:r>
          </a:p>
          <a:p>
            <a:r>
              <a:t>and once more in September.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is the question chapter 1's answer raises: the chief of staff asked for both</a:t>
            </a:r>
          </a:p>
          <a:p>
            <a:r>
              <a:t>quarters, and the only export with order dates is the raw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second route has to be able to fail when the first is wrong, so it cannot reuse the</a:t>
            </a:r>
          </a:p>
          <a:p>
            <a:r>
              <a:t>pivot. This one would have caught the averaged leaf and a filter left on the pivot. It cannot tell you</a:t>
            </a:r>
          </a:p>
          <a:p>
            <a:r>
              <a:t>whether the table itself is complete; that is a different check, in chapter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interview question aloud in under a minute: averaged over</a:t>
            </a:r>
          </a:p>
          <a:p>
            <a:r>
              <a:t>rows instead of divided over totals; Rs 11,66,786 against Rs 10,45,740; recompute as a ratio of sums</a:t>
            </a:r>
          </a:p>
          <a:p>
            <a:r>
              <a:t>and keep the multiply-back as the check.</a:t>
            </a:r>
          </a:p>
          <a:p>
            <a:r>
              <a:t>Transition: the chief of staff asked for both quarters, so the raw export.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C2_W02_D05_02_both_quarters beside it; Excel live on</a:t>
            </a:r>
          </a:p>
          <a:p>
            <a:r>
              <a:t>data/C2_W02_D05_raw_export_STUDENT.csv.</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Say the chapter 1 finding in one line: Business carries 99.1</a:t>
            </a:r>
          </a:p>
          <a:p>
            <a:r>
              <a:t>percent, and the basket separates the tiers; the customer table cannot split the quarters.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warehouse queries gave Rs 10,00,00,000 for Q1 and Rs 9,84,00,000 for Q2.</a:t>
            </a:r>
          </a:p>
          <a:p>
            <a:r>
              <a:t>Kalpa's financial year starts in April, so Q1 is April to June. Every number on the deck ties to</a:t>
            </a:r>
          </a:p>
          <a:p>
            <a:r>
              <a:t>these, or it does not go on the deck.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pages checked 30 September 2026. Every merchant's finance team meets this: an</a:t>
            </a:r>
          </a:p>
          <a:p>
            <a:r>
              <a:t>export of payments repeats its orders. Do not say what Kalpa's export holds yet; the room finds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 each option on this export. Option a's cost comes from chapter 1: a last order</a:t>
            </a:r>
          </a:p>
          <a:p>
            <a:r>
              <a:t>date is a recency. Option d is exact and too slow for a meeting; chapter 5 comes back to who owns</a:t>
            </a:r>
          </a:p>
          <a:p>
            <a:r>
              <a:t>which number.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formula live in a new column beside order_date and fill it down.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Keep it moving; the next slide is where the chapter's trap waits.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learner builds it on their own screen before you show yours. Do not warn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Let it stand. Somebody usually says the totals look big but the</a:t>
            </a:r>
          </a:p>
          <a:p>
            <a:r>
              <a:t>percentages look reasonable: the percentages are wrong too. Ask whether anyone would send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 on order_id, a distinct count beside it. Then the grand total against</a:t>
            </a:r>
          </a:p>
          <a:p>
            <a:r>
              <a:t>Rs 19,84,00,000. Name the grain now: one row is one payment.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then run it live. Most rooms say a.</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Remove Duplicates is a cleaning step with no record, and here it did not even clean.</a:t>
            </a:r>
          </a:p>
          <a:p>
            <a:r>
              <a:t>The fix has to name the grain.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Type the flag in column A's neighbour and fill it down; pivot with the flag as a</a:t>
            </a:r>
          </a:p>
          <a:p>
            <a:r>
              <a:t>filter, or SUMIFS on flag equals 1. Student moves from Rs 26,720 to Rs 35,770, up 33.9 percent, on few</a:t>
            </a:r>
          </a:p>
          <a:p>
            <a:r>
              <a:t>orders. The running COUNTIF compares each row with every row above it: 1,051,975 comparisons here,</a:t>
            </a:r>
          </a:p>
          <a:p>
            <a:r>
              <a:t>about 10.5 billion at 145,000 rows, which is the interview's design question.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readings, both true. In rupees Business carries Rs 14,29,840 of the Rs 16,00,000</a:t>
            </a:r>
          </a:p>
          <a:p>
            <a:r>
              <a:t>fall, the size of a few invoices landing in one quarter or the next. The steepest fall is Retail-Plus:</a:t>
            </a:r>
          </a:p>
          <a:p>
            <a:r>
              <a:t>members kept buying big baskets and bought less often, the frequency branch Week 1 found. Multiply Q2</a:t>
            </a:r>
          </a:p>
          <a:p>
            <a:r>
              <a:t>back: 76 times 1.84 times Rs 2,953 is Rs 4.13 lakh. Chapter 4 decides how each goes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runs Monday's query against the warehouse. The export was written from</a:t>
            </a:r>
          </a:p>
          <a:p>
            <a:r>
              <a:t>the warehouse; the second route asks the warehouse itself, which never saw the export, so it can</a:t>
            </a:r>
          </a:p>
          <a:p>
            <a:r>
              <a:t>disagree. Here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grain first, rows against keys; here 1,450 rows held 1,000</a:t>
            </a:r>
          </a:p>
          <a:p>
            <a:r>
              <a:t>orders and Rs 39.41 crore against Rs 19.84 crore; then the period and filters; then keys missing on</a:t>
            </a:r>
          </a:p>
          <a:p>
            <a:r>
              <a:t>either side.</a:t>
            </a:r>
          </a:p>
          <a:p>
            <a:r>
              <a:t>Transition: Retail-Plus members are ordering less often, so which of them does the head of</a:t>
            </a:r>
          </a:p>
          <a:p>
            <a:r>
              <a:t>Retail-Plus protect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C2_W02_D05_03_member_lookup beside it; Excel live on the customer</a:t>
            </a:r>
          </a:p>
          <a:p>
            <a:r>
              <a:t>table.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finding in one line: Retail-Plus fell 29.4 percent because members</a:t>
            </a:r>
          </a:p>
          <a:p>
            <a:r>
              <a:t>ordered less often, 2.36 orders each in Q1 and 1.84 in Q2. The head of Retail-Plus wants to protect</a:t>
            </a:r>
          </a:p>
          <a:p>
            <a:r>
              <a:t>the best members before more of them drift.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 comes from the customer table, one row per customer, because that is</a:t>
            </a:r>
          </a:p>
          <a:p>
            <a:r>
              <a:t>the table the chief of staff refreshes every Monday. Wednesday built a per-segment list in SQL on Q2;</a:t>
            </a:r>
          </a:p>
          <a:p>
            <a:r>
              <a:t>this one ranks the two quarters together from the export.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Globe and Mail, 4 June 2003, checked 30 September 2026: bids for New York</a:t>
            </a:r>
          </a:p>
          <a:p>
            <a:r>
              <a:t>transmission congestion contracts, "misaligned the rows of information in the spreadsheet". A row</a:t>
            </a:r>
          </a:p>
          <a:p>
            <a:r>
              <a:t>answering for the wrong item is expensive at any scale.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Microsoft's page says XLOOKUP "is not available in Excel 2016 and Excel 2019", and</a:t>
            </a:r>
          </a:p>
          <a:p>
            <a:r>
              <a:t>LibreOffice 24.2 shows #NAME? for it (both checked 30 September 2026). Option b is honest and ugly:</a:t>
            </a:r>
          </a:p>
          <a:p>
            <a:r>
              <a:t>a director reads #N/A as a broken sheet. C-0195 is a Retail-Plus member with no orders in the two</a:t>
            </a:r>
          </a:p>
          <a:p>
            <a:r>
              <a:t>quarters, so the table has no row for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copy the Retail-Plus rows to their own sheet, sort Largest to</a:t>
            </a:r>
          </a:p>
          <a:p>
            <a:r>
              <a:t>Smallest, add =RANK.EQ(E2, E$2:E$107).</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Mention Wednesday once: with a tie at fifty, the rule decides whether a list ships 49</a:t>
            </a:r>
          </a:p>
          <a:p>
            <a:r>
              <a:t>or 51 rows. Not today.</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empty cell holds the same lines for self-study. TRAINER: the day sheet has what they</a:t>
            </a:r>
          </a:p>
          <a:p>
            <a:r>
              <a:t>should find. Let them find it; take two sentences aloud and do not confirm or name anything. Whoever</a:t>
            </a:r>
          </a:p>
          <a:p>
            <a:r>
              <a:t>finds it has just made the lookup trap catchable.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Most rooms say a.</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it live. Nothing on screen turns red, which is why the trap works. The check that catches</a:t>
            </a:r>
          </a:p>
          <a:p>
            <a:r>
              <a:t>it: test every lookup with an id you know is missing, and print the id returned beside the id asked</a:t>
            </a:r>
          </a:p>
          <a:p>
            <a:r>
              <a:t>for.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Type both forms: =XLOOKUP(id, A:A, E:E, "not in the table") and</a:t>
            </a:r>
          </a:p>
          <a:p>
            <a:r>
              <a:t>=IFERROR(INDEX(E:E, MATCH(id, A:A, 0)), "not in the table"). Now the room reads out an id; see the day</a:t>
            </a:r>
          </a:p>
          <a:p>
            <a:r>
              <a:t>sheet for the moment.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sees the list sorted by revenue, never by id. Walking down it, 24 of 49</a:t>
            </a:r>
          </a:p>
          <a:p>
            <a:r>
              <a:t>steps go to a smaller id, so an approximate match has nothing sorted to search.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count is the check a director can see: put it beside the lookup on the sheet.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match type; VLOOKUP's fourth argument left out is</a:t>
            </a:r>
          </a:p>
          <a:p>
            <a:r>
              <a:t>approximate; exact with a not-found path, tested with a missing id. BREAK, 10 minutes, after this</a:t>
            </a:r>
          </a:p>
          <a:p>
            <a:r>
              <a:t>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C2_W02_D05_04_front_page beside it.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itself is given: revenue, Q2 against Q1. Which metric belongs on a growth</a:t>
            </a:r>
          </a:p>
          <a:p>
            <a:r>
              <a:t>review's front page at all is a later week's question; today is about reading this one right.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numbers: Q1 Rs 10.00 crore, Q2 Rs 9.84 crore; in rupees Business carries</a:t>
            </a:r>
          </a:p>
          <a:p>
            <a:r>
              <a:t>Rs 14.30 lakh of the Rs 16.00 lakh fall, and the steepest fall is Retail-Plus, 29.4 percent.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Press release of 11 July 2025, checked 30 September 2026: revenue "stood at</a:t>
            </a:r>
          </a:p>
          <a:p>
            <a:r>
              <a:t>Rs.15,932 crore, as compared to Rs.13,712 crore in the same period last year." The number, the</a:t>
            </a:r>
          </a:p>
          <a:p>
            <a:r>
              <a:t>period, the comparison and the base are all in the first two lines.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Fifty-odd words and one small line, read in the two minutes a director gives the</a:t>
            </a:r>
          </a:p>
          <a:p>
            <a:r>
              <a:t>front page, with nothing left to memory.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ask who has seen b happen in a real meeting.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card is April to September added together. Read against one remembered quarter</a:t>
            </a:r>
          </a:p>
          <a:p>
            <a:r>
              <a:t>it reads up 98.4 percent.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card aloud: "All segments, Q2, July to September 2026: Rs 9.84 crore, down</a:t>
            </a:r>
          </a:p>
          <a:p>
            <a:r>
              <a:t>1.6 percent on Q1, April to June 2026 (Rs 10.00 crore); 100.0 percent of company revenue in Q2." The</a:t>
            </a:r>
          </a:p>
          <a:p>
            <a:r>
              <a:t>change is Q2 minus Q1, divided by Q1.</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percentage is right. Letters first.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slip: the same change divided by Q2 instead of Q1 reads 41.7 percent. A change is</a:t>
            </a:r>
          </a:p>
          <a:p>
            <a:r>
              <a:t>measured on the earlier period.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 draws both lines; describe them here. Two directors asking for two scopes</a:t>
            </a:r>
          </a:p>
          <a:p>
            <a:r>
              <a:t>get two honest cards, and down 1.6 and down 17.3 percent are never compared as one number.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query joins orders to customers on customer_id and groups by quarter.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with the card as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C2_W02_D05_05_operating_rule beside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Kavya's challenge aloud: "Which parts belong in Excel, which parts must never be in</a:t>
            </a:r>
          </a:p>
          <a:p>
            <a:r>
              <a:t>Excel, and how do you keep the two from drifting apart?" Chapters 1 to 4 built the three deliverables;</a:t>
            </a:r>
          </a:p>
          <a:p>
            <a:r>
              <a:t>this is the rule behind them.</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asks whether the deck pack could carry Tuesday's collected figure too, computed</a:t>
            </a:r>
          </a:p>
          <a:p>
            <a:r>
              <a:t>in the workbook so nobody needs a login.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GOV.UK statement of 4 October 2020 and BBC News of 5 October 2020, both checked 30</a:t>
            </a:r>
          </a:p>
          <a:p>
            <a:r>
              <a:t>September 2026. Rows past the old format's limit were dropped without an error.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warehouse owns every join, dedupe and rank because a query can be rerun and</a:t>
            </a:r>
          </a:p>
          <a:p>
            <a:r>
              <a:t>audited. Option d fails the brief on the login.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quickly.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Transition: so try it the hurried way.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match is exact. Letters first; most rooms say a or 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channel reads about 60 percent collected. The check: count the rows each order</a:t>
            </a:r>
          </a:p>
          <a:p>
            <a:r>
              <a:t>has; any order with two rows needs its payments added, never looked up.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real gaps are Tuesday's: orders nobody has paid for and payments posted twice that</a:t>
            </a:r>
          </a:p>
          <a:p>
            <a:r>
              <a:t>are owed back. Point back at Tuesday by name; do not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first-row flag was right for Friday's deadline and is a cleaning step</a:t>
            </a:r>
          </a:p>
          <a:p>
            <a:r>
              <a:t>with no record; next week the export should arrive at the order grain, and the flag becomes a check.</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row in the early export is real, and Q2 still falls short, so the check holds</a:t>
            </a:r>
          </a:p>
          <a:p>
            <a:r>
              <a:t>the deck until someone pulls a fresh export. It catches a typed-over number too, which is chapter 6.</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by who has to trust the number and who has to rerun it.</a:t>
            </a:r>
          </a:p>
          <a:p>
            <a:r>
              <a:t>Transition to lunch: after it, a director gets their hands on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back at the morning's first picture, S4.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 Id="rId5" Type="http://schemas.openxmlformats.org/officeDocument/2006/relationships/image" Target="../media/image2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 Id="rId5" Type="http://schemas.openxmlformats.org/officeDocument/2006/relationships/image" Target="../media/image3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 Id="rId5" Type="http://schemas.openxmlformats.org/officeDocument/2006/relationships/image" Target="../media/image3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 Id="rId5" Type="http://schemas.openxmlformats.org/officeDocument/2006/relationships/image" Target="../media/image33.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3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3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can a director open, change and still trust?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“Monday's growth review deck needs three things I can open on my laptop without a login. If a director changes an assumption in the room, the sheet must recalculate in front of them.”</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Meera's chief of staff,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segment carries it?</a:t>
            </a:r>
          </a:p>
        </p:txBody>
      </p:sp>
      <p:sp>
        <p:nvSpPr>
          <p:cNvPr id="13" name="TextBox 12"/>
          <p:cNvSpPr txBox="1"/>
          <p:nvPr/>
        </p:nvSpPr>
        <p:spPr>
          <a:xfrm>
            <a:off x="285035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870448"/>
            <a:ext cx="1247584" cy="185166"/>
          </a:xfrm>
          <a:prstGeom prst="rect">
            <a:avLst/>
          </a:prstGeom>
          <a:noFill/>
        </p:spPr>
        <p:txBody>
          <a:bodyPr wrap="square" anchor="t" lIns="0" rIns="0" tIns="0" bIns="0">
            <a:spAutoFit/>
          </a:bodyPr>
          <a:lstStyle/>
          <a:p>
            <a:pPr algn="l"/>
            <a:r>
              <a:rPr sz="900" b="0" i="0">
                <a:solidFill>
                  <a:srgbClr val="FFFFFF"/>
                </a:solidFill>
                <a:latin typeface="Calibri"/>
              </a:rPr>
              <a:t>Where did Q2 fall?</a:t>
            </a:r>
          </a:p>
        </p:txBody>
      </p:sp>
      <p:sp>
        <p:nvSpPr>
          <p:cNvPr id="15" name="TextBox 14"/>
          <p:cNvSpPr txBox="1"/>
          <p:nvPr/>
        </p:nvSpPr>
        <p:spPr>
          <a:xfrm>
            <a:off x="466486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04891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Find any member by id?</a:t>
            </a:r>
          </a:p>
        </p:txBody>
      </p:sp>
      <p:sp>
        <p:nvSpPr>
          <p:cNvPr id="17" name="TextBox 16"/>
          <p:cNvSpPr txBox="1"/>
          <p:nvPr/>
        </p:nvSpPr>
        <p:spPr>
          <a:xfrm>
            <a:off x="671598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870448"/>
            <a:ext cx="1720786" cy="185166"/>
          </a:xfrm>
          <a:prstGeom prst="rect">
            <a:avLst/>
          </a:prstGeom>
          <a:noFill/>
        </p:spPr>
        <p:txBody>
          <a:bodyPr wrap="square" anchor="t" lIns="0" rIns="0" tIns="0" bIns="0">
            <a:spAutoFit/>
          </a:bodyPr>
          <a:lstStyle/>
          <a:p>
            <a:pPr algn="l"/>
            <a:r>
              <a:rPr sz="900" b="0" i="0">
                <a:solidFill>
                  <a:srgbClr val="FFFFFF"/>
                </a:solidFill>
                <a:latin typeface="Calibri"/>
              </a:rPr>
              <a:t>Read right in two minutes?</a:t>
            </a:r>
          </a:p>
        </p:txBody>
      </p:sp>
      <p:sp>
        <p:nvSpPr>
          <p:cNvPr id="19" name="TextBox 18"/>
          <p:cNvSpPr txBox="1"/>
          <p:nvPr/>
        </p:nvSpPr>
        <p:spPr>
          <a:xfrm>
            <a:off x="900369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387744"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What must Excel never do?</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answer the chief of staff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open on Monday without a login, change in the room, and still trust?</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carries it?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by segment, from the customer table.</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did Q2 fall?</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Both quarters, from the raw export.</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Find any member by id?</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protect list and a lookup.</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Read right in two minutes?</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front-page number.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Excel never do?</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rule behind all three.</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Can a director break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checks that stop them.</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2" name="Oval 4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4" name="Oval 4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48" name="Oval 4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deliverables and one hard condition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did the chief of staff ask for?</a:t>
            </a:r>
          </a:p>
        </p:txBody>
      </p:sp>
      <p:sp>
        <p:nvSpPr>
          <p:cNvPr id="9" name="Rounded Rectangle 8"/>
          <p:cNvSpPr/>
          <p:nvPr/>
        </p:nvSpPr>
        <p:spPr>
          <a:xfrm>
            <a:off x="530352" y="1872488"/>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638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73528"/>
            <a:ext cx="237744" cy="237744"/>
          </a:xfrm>
          <a:prstGeom prst="rect">
            <a:avLst/>
          </a:prstGeom>
        </p:spPr>
      </p:pic>
      <p:sp>
        <p:nvSpPr>
          <p:cNvPr id="12" name="TextBox 11"/>
          <p:cNvSpPr txBox="1"/>
          <p:nvPr/>
        </p:nvSpPr>
        <p:spPr>
          <a:xfrm>
            <a:off x="1399031" y="201879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38248"/>
            <a:ext cx="9987991" cy="1200912"/>
          </a:xfrm>
          <a:prstGeom prst="rect">
            <a:avLst/>
          </a:prstGeom>
          <a:noFill/>
        </p:spPr>
        <p:txBody>
          <a:bodyPr wrap="square" anchor="t" lIns="0" rIns="0" tIns="0" bIns="0">
            <a:spAutoFit/>
          </a:bodyPr>
          <a:lstStyle/>
          <a:p>
            <a:r>
              <a:rPr sz="1500" b="0" i="0">
                <a:solidFill>
                  <a:srgbClr val="FFFFFF"/>
                </a:solidFill>
                <a:latin typeface="Calibri"/>
              </a:rPr>
              <a:t>"Monday's growth review deck needs three things I can open on my laptop without a login: the revenue tree by segment for both quarters, the top-fifty protect list with a lookup so I can find any member by id, and one number on the front page with its trend. Nothing that needs Python. If a director changes an assumption in the room, the sheet must recalculate in front of them."</a:t>
            </a:r>
          </a:p>
        </p:txBody>
      </p:sp>
      <p:graphicFrame>
        <p:nvGraphicFramePr>
          <p:cNvPr id="14" name="Table 13"/>
          <p:cNvGraphicFramePr>
            <a:graphicFrameLocks noGrp="1"/>
          </p:cNvGraphicFramePr>
          <p:nvPr/>
        </p:nvGraphicFramePr>
        <p:xfrm>
          <a:off x="530352" y="3676904"/>
          <a:ext cx="11130990" cy="2332736"/>
        </p:xfrm>
        <a:graphic>
          <a:graphicData uri="http://schemas.openxmlformats.org/drawingml/2006/table">
            <a:tbl>
              <a:tblPr firstRow="0" bandRow="0">
                <a:tableStyleId>{2D5ABB26-0587-4C30-8999-92F81FD0307C}</a:tableStyleId>
              </a:tblPr>
              <a:tblGrid>
                <a:gridCol w="4698035"/>
                <a:gridCol w="5415497"/>
                <a:gridCol w="1017458"/>
              </a:tblGrid>
              <a:tr h="369824">
                <a:tc>
                  <a:txBody>
                    <a:bodyPr/>
                    <a:lstStyle/>
                    <a:p>
                      <a:r>
                        <a:rPr sz="1450" b="1" i="0">
                          <a:solidFill>
                            <a:srgbClr val="FFFFFF"/>
                          </a:solidFill>
                          <a:latin typeface="Calibri"/>
                        </a:rPr>
                        <a:t>What was asked</a:t>
                      </a:r>
                    </a:p>
                  </a:txBody>
                  <a:tcPr marL="101600" marR="101600" marT="38100" marB="38100" anchor="ctr">
                    <a:solidFill>
                      <a:srgbClr val="1A0F5C"/>
                    </a:solidFill>
                  </a:tcPr>
                </a:tc>
                <a:tc>
                  <a:txBody>
                    <a:bodyPr/>
                    <a:lstStyle/>
                    <a:p>
                      <a:r>
                        <a:rPr sz="1450" b="1" i="0">
                          <a:solidFill>
                            <a:srgbClr val="FFFFFF"/>
                          </a:solidFill>
                          <a:latin typeface="Calibri"/>
                        </a:rPr>
                        <a:t>What it becomes</a:t>
                      </a:r>
                    </a:p>
                  </a:txBody>
                  <a:tcPr marL="101600" marR="101600" marT="38100" marB="38100" anchor="ctr">
                    <a:solidFill>
                      <a:srgbClr val="1A0F5C"/>
                    </a:solidFill>
                  </a:tcPr>
                </a:tc>
                <a:tc>
                  <a:txBody>
                    <a:bodyPr/>
                    <a:lstStyle/>
                    <a:p>
                      <a:r>
                        <a:rPr sz="1450" b="1" i="0">
                          <a:solidFill>
                            <a:srgbClr val="FFFFFF"/>
                          </a:solidFill>
                          <a:latin typeface="Calibri"/>
                        </a:rPr>
                        <a:t>Chapters</a:t>
                      </a:r>
                    </a:p>
                  </a:txBody>
                  <a:tcPr marL="101600" marR="101600" marT="38100" marB="38100" anchor="ctr">
                    <a:solidFill>
                      <a:srgbClr val="1A0F5C"/>
                    </a:solidFill>
                  </a:tcPr>
                </a:tc>
              </a:tr>
              <a:tr h="369824">
                <a:tc>
                  <a:txBody>
                    <a:bodyPr/>
                    <a:lstStyle/>
                    <a:p>
                      <a:r>
                        <a:rPr sz="1400" b="0" i="0">
                          <a:solidFill>
                            <a:srgbClr val="1A1440"/>
                          </a:solidFill>
                          <a:latin typeface="Calibri"/>
                        </a:rPr>
                        <a:t>The revenue tree by segment, both quarters</a:t>
                      </a:r>
                    </a:p>
                  </a:txBody>
                  <a:tcPr marL="101600" marR="101600" marT="38100" marB="38100" anchor="ctr">
                    <a:solidFill>
                      <a:srgbClr val="FFFFFF"/>
                    </a:solidFill>
                  </a:tcPr>
                </a:tc>
                <a:tc>
                  <a:txBody>
                    <a:bodyPr/>
                    <a:lstStyle/>
                    <a:p>
                      <a:r>
                        <a:rPr sz="1400" b="0" i="0">
                          <a:solidFill>
                            <a:srgbClr val="1A1440"/>
                          </a:solidFill>
                          <a:latin typeface="Calibri"/>
                        </a:rPr>
                        <a:t>A pivot that ties to the warehouse</a:t>
                      </a:r>
                    </a:p>
                  </a:txBody>
                  <a:tcPr marL="101600" marR="101600" marT="38100" marB="38100" anchor="ctr">
                    <a:solidFill>
                      <a:srgbClr val="FFFFFF"/>
                    </a:solidFill>
                  </a:tcPr>
                </a:tc>
                <a:tc>
                  <a:txBody>
                    <a:bodyPr/>
                    <a:lstStyle/>
                    <a:p>
                      <a:r>
                        <a:rPr sz="1400" b="0" i="0">
                          <a:solidFill>
                            <a:srgbClr val="1A1440"/>
                          </a:solidFill>
                          <a:latin typeface="Calibri"/>
                        </a:rPr>
                        <a:t>1 and 2</a:t>
                      </a:r>
                    </a:p>
                  </a:txBody>
                  <a:tcPr marL="101600" marR="101600" marT="38100" marB="38100" anchor="ctr">
                    <a:solidFill>
                      <a:srgbClr val="FFFFFF"/>
                    </a:solidFill>
                  </a:tcPr>
                </a:tc>
              </a:tr>
              <a:tr h="611632">
                <a:tc>
                  <a:txBody>
                    <a:bodyPr/>
                    <a:lstStyle/>
                    <a:p>
                      <a:r>
                        <a:rPr sz="1400" b="0" i="0">
                          <a:solidFill>
                            <a:srgbClr val="1A1440"/>
                          </a:solidFill>
                          <a:latin typeface="Calibri"/>
                        </a:rPr>
                        <a:t>The protect list and a lookup by id</a:t>
                      </a:r>
                    </a:p>
                  </a:txBody>
                  <a:tcPr marL="101600" marR="101600" marT="38100" marB="38100" anchor="ctr">
                    <a:solidFill>
                      <a:srgbClr val="F4F2FA"/>
                    </a:solidFill>
                  </a:tcPr>
                </a:tc>
                <a:tc>
                  <a:txBody>
                    <a:bodyPr/>
                    <a:lstStyle/>
                    <a:p>
                      <a:r>
                        <a:rPr sz="1400" b="0" i="0">
                          <a:solidFill>
                            <a:srgbClr val="1A1440"/>
                          </a:solidFill>
                          <a:latin typeface="Calibri"/>
                        </a:rPr>
                        <a:t>A ranked list and a lookup that says when an id is missing</a:t>
                      </a:r>
                    </a:p>
                  </a:txBody>
                  <a:tcPr marL="101600" marR="101600" marT="38100" marB="38100" anchor="ctr">
                    <a:solidFill>
                      <a:srgbClr val="F4F2FA"/>
                    </a:solidFill>
                  </a:tcPr>
                </a:tc>
                <a:tc>
                  <a:txBody>
                    <a:bodyPr/>
                    <a:lstStyle/>
                    <a:p>
                      <a:r>
                        <a:rPr sz="1400" b="0" i="0">
                          <a:solidFill>
                            <a:srgbClr val="1A1440"/>
                          </a:solidFill>
                          <a:latin typeface="Calibri"/>
                        </a:rPr>
                        <a:t>3</a:t>
                      </a:r>
                    </a:p>
                  </a:txBody>
                  <a:tcPr marL="101600" marR="101600" marT="38100" marB="38100" anchor="ctr">
                    <a:solidFill>
                      <a:srgbClr val="F4F2FA"/>
                    </a:solidFill>
                  </a:tcPr>
                </a:tc>
              </a:tr>
              <a:tr h="369824">
                <a:tc>
                  <a:txBody>
                    <a:bodyPr/>
                    <a:lstStyle/>
                    <a:p>
                      <a:r>
                        <a:rPr sz="1400" b="0" i="0">
                          <a:solidFill>
                            <a:srgbClr val="1A1440"/>
                          </a:solidFill>
                          <a:latin typeface="Calibri"/>
                        </a:rPr>
                        <a:t>One number with its trend</a:t>
                      </a:r>
                    </a:p>
                  </a:txBody>
                  <a:tcPr marL="101600" marR="101600" marT="38100" marB="38100" anchor="ctr">
                    <a:solidFill>
                      <a:srgbClr val="FFFFFF"/>
                    </a:solidFill>
                  </a:tcPr>
                </a:tc>
                <a:tc>
                  <a:txBody>
                    <a:bodyPr/>
                    <a:lstStyle/>
                    <a:p>
                      <a:r>
                        <a:rPr sz="1400" b="0" i="0">
                          <a:solidFill>
                            <a:srgbClr val="1A1440"/>
                          </a:solidFill>
                          <a:latin typeface="Calibri"/>
                        </a:rPr>
                        <a:t>A card with its period, comparison and base</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611632">
                <a:tc>
                  <a:txBody>
                    <a:bodyPr/>
                    <a:lstStyle/>
                    <a:p>
                      <a:r>
                        <a:rPr sz="1400" b="0" i="0">
                          <a:solidFill>
                            <a:srgbClr val="1A1440"/>
                          </a:solidFill>
                          <a:latin typeface="Calibri"/>
                        </a:rPr>
                        <a:t>Recalculates when a director changes an assumption</a:t>
                      </a:r>
                    </a:p>
                  </a:txBody>
                  <a:tcPr marL="101600" marR="101600" marT="38100" marB="38100" anchor="ctr">
                    <a:solidFill>
                      <a:srgbClr val="F4F2FA"/>
                    </a:solidFill>
                  </a:tcPr>
                </a:tc>
                <a:tc>
                  <a:txBody>
                    <a:bodyPr/>
                    <a:lstStyle/>
                    <a:p>
                      <a:r>
                        <a:rPr sz="1400" b="0" i="0">
                          <a:solidFill>
                            <a:srgbClr val="1A1440"/>
                          </a:solidFill>
                          <a:latin typeface="Calibri"/>
                        </a:rPr>
                        <a:t>Yellow inputs, formulas everywhere else, and checks</a:t>
                      </a:r>
                    </a:p>
                  </a:txBody>
                  <a:tcPr marL="101600" marR="101600" marT="38100" marB="38100" anchor="ctr">
                    <a:solidFill>
                      <a:srgbClr val="F4F2FA"/>
                    </a:solidFill>
                  </a:tcPr>
                </a:tc>
                <a:tc>
                  <a:txBody>
                    <a:bodyPr/>
                    <a:lstStyle/>
                    <a:p>
                      <a:r>
                        <a:rPr sz="1400" b="0" i="0">
                          <a:solidFill>
                            <a:srgbClr val="1A1440"/>
                          </a:solidFill>
                          <a:latin typeface="Calibri"/>
                        </a:rPr>
                        <a:t>5 and 6</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could make a sheet lie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Excel opens: where can each number go wrong on its way to a director?</a:t>
            </a:r>
          </a:p>
        </p:txBody>
      </p:sp>
      <p:pic>
        <p:nvPicPr>
          <p:cNvPr id="9" name="mermaid diagram" descr="89ffc0871deaad14.png"/>
          <p:cNvPicPr>
            <a:picLocks noChangeAspect="1"/>
          </p:cNvPicPr>
          <p:nvPr/>
        </p:nvPicPr>
        <p:blipFill>
          <a:blip r:embed="rId5"/>
          <a:stretch>
            <a:fillRect/>
          </a:stretch>
        </p:blipFill>
        <p:spPr>
          <a:xfrm>
            <a:off x="530352" y="1956816"/>
            <a:ext cx="11130991" cy="1484132"/>
          </a:xfrm>
          <a:prstGeom prst="rect">
            <a:avLst/>
          </a:prstGeom>
        </p:spPr>
      </p:pic>
      <p:sp>
        <p:nvSpPr>
          <p:cNvPr id="10" name="Rounded Rectangle 9"/>
          <p:cNvSpPr/>
          <p:nvPr/>
        </p:nvSpPr>
        <p:spPr>
          <a:xfrm>
            <a:off x="530352" y="358725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1526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0612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would you check first, as a letter? a) the export: what one row stands for; b) the workbook: which rows a total adds; c) the director: what a number is read against; d) the warehouse itself.</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export first; every number sits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day start, and what does the finished picture look like?</a:t>
            </a:r>
          </a:p>
        </p:txBody>
      </p:sp>
      <p:pic>
        <p:nvPicPr>
          <p:cNvPr id="9" name="mermaid diagram" descr="85c7e6730e434cb4.png"/>
          <p:cNvPicPr>
            <a:picLocks noChangeAspect="1"/>
          </p:cNvPicPr>
          <p:nvPr/>
        </p:nvPicPr>
        <p:blipFill>
          <a:blip r:embed="rId5"/>
          <a:stretch>
            <a:fillRect/>
          </a:stretch>
        </p:blipFill>
        <p:spPr>
          <a:xfrm>
            <a:off x="780897" y="1956816"/>
            <a:ext cx="10629900" cy="1485900"/>
          </a:xfrm>
          <a:prstGeom prst="rect">
            <a:avLst/>
          </a:prstGeom>
        </p:spPr>
      </p:pic>
      <p:sp>
        <p:nvSpPr>
          <p:cNvPr id="10" name="TextBox 9"/>
          <p:cNvSpPr txBox="1"/>
          <p:nvPr/>
        </p:nvSpPr>
        <p:spPr>
          <a:xfrm>
            <a:off x="530352" y="35890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for cost more than likelihood: saying what one row stands for takes a minute and rules a whole family of wrong numbers in or out. The dashed arrow is the day's discipline: every number in the workbook ties back to the warehouse before a director reads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carries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segment carries Kalpa's revenue, and which leaf of the tree separates the segments? Page two of Monday's deck rides on it.</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one row to the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whose tree by segment is page two of Monday's deck; a leaf computed the wrong way puts a tree on the page that does not multiply back to its own revenue.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row?</a:t>
            </a:r>
          </a:p>
        </p:txBody>
      </p:sp>
      <p:sp>
        <p:nvSpPr>
          <p:cNvPr id="17" name="TextBox 16"/>
          <p:cNvSpPr txBox="1"/>
          <p:nvPr/>
        </p:nvSpPr>
        <p:spPr>
          <a:xfrm>
            <a:off x="69494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one row of the table stands for.</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a:t>
            </a:r>
          </a:p>
        </p:txBody>
      </p:sp>
      <p:sp>
        <p:nvSpPr>
          <p:cNvPr id="22" name="TextBox 21"/>
          <p:cNvSpPr txBox="1"/>
          <p:nvPr/>
        </p:nvSpPr>
        <p:spPr>
          <a:xfrm>
            <a:off x="258058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Pivot, formula grid, pasted values or a dashboard.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segment?</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carries the revenue.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separates Retail-Plus from Retail-Core.</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Averaged leaf?</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averaging per customer does.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Quarters?</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Whether the table can split Q1 from Q2.</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by segment is page two of Monday's deck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leaf cost?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Revenue</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order value, April to September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Chief of staff</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page two of Monday's deck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Trust</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LEAF COSTS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tree that does not multiply back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mermaid diagram" descr="9198364d66bd054a.png"/>
          <p:cNvPicPr>
            <a:picLocks noChangeAspect="1"/>
          </p:cNvPicPr>
          <p:nvPr/>
        </p:nvPicPr>
        <p:blipFill>
          <a:blip r:embed="rId5"/>
          <a:stretch>
            <a:fillRect/>
          </a:stretch>
        </p:blipFill>
        <p:spPr>
          <a:xfrm>
            <a:off x="3774128" y="3419856"/>
            <a:ext cx="4643437" cy="1957387"/>
          </a:xfrm>
          <a:prstGeom prst="rect">
            <a:avLst/>
          </a:prstGeom>
        </p:spPr>
      </p:pic>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80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Costco reports its sales by member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answers the same question?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81.0 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PAID MEMBERS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Costco, year to 31 August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38.7 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EXECUTIVE MEMBERS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paid upgrade tier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~73.6%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NET SALES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Executive tier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"The sales penetration of Executive members represented approximately 73.6% of worldwide net sales in 2025."</a:t>
            </a:r>
          </a:p>
          <a:p>
            <a:pPr>
              <a:spcBef>
                <a:spcPts val="400"/>
              </a:spcBef>
            </a:pPr>
            <a:r>
              <a:rPr sz="1000" b="0" i="0">
                <a:solidFill>
                  <a:srgbClr val="6B6690"/>
                </a:solidFill>
                <a:latin typeface="Calibri"/>
              </a:rPr>
              <a:t>Costco Form 10-K, fiscal 2025</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5" name="Oval 2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1" name="Oval 3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PivotTable, with each leaf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director get the tree, and what does each way cost on this table?</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1938885"/>
                <a:gridCol w="3311019"/>
                <a:gridCol w="4291115"/>
                <a:gridCol w="158997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takes here</a:t>
                      </a:r>
                    </a:p>
                  </a:txBody>
                  <a:tcPr marL="101600" marR="101600" marT="38100" marB="38100" anchor="ctr">
                    <a:solidFill>
                      <a:srgbClr val="1A0F5C"/>
                    </a:solidFill>
                  </a:tcPr>
                </a:tc>
                <a:tc>
                  <a:txBody>
                    <a:bodyPr/>
                    <a:lstStyle/>
                    <a:p>
                      <a:r>
                        <a:rPr sz="1250" b="1" i="0">
                          <a:solidFill>
                            <a:srgbClr val="FFFFFF"/>
                          </a:solidFill>
                          <a:latin typeface="Calibri"/>
                        </a:rPr>
                        <a:t>What a director can slice</a:t>
                      </a:r>
                    </a:p>
                  </a:txBody>
                  <a:tcPr marL="101600" marR="101600" marT="38100" marB="38100" anchor="ctr">
                    <a:solidFill>
                      <a:srgbClr val="1A0F5C"/>
                    </a:solidFill>
                  </a:tcPr>
                </a:tc>
                <a:tc>
                  <a:txBody>
                    <a:bodyPr/>
                    <a:lstStyle/>
                    <a:p>
                      <a:r>
                        <a:rPr sz="1250" b="1" i="0">
                          <a:solidFill>
                            <a:srgbClr val="FFFFFF"/>
                          </a:solidFill>
                          <a:latin typeface="Calibri"/>
                        </a:rPr>
                        <a:t>Recalculates</a:t>
                      </a:r>
                    </a:p>
                  </a:txBody>
                  <a:tcPr marL="101600" marR="101600" marT="38100" marB="38100" anchor="ctr">
                    <a:solidFill>
                      <a:srgbClr val="1A0F5C"/>
                    </a:solidFill>
                  </a:tcPr>
                </a:tc>
              </a:tr>
              <a:tr h="335280">
                <a:tc>
                  <a:txBody>
                    <a:bodyPr/>
                    <a:lstStyle/>
                    <a:p>
                      <a:r>
                        <a:rPr sz="1200" b="0" i="0">
                          <a:solidFill>
                            <a:srgbClr val="1A1440"/>
                          </a:solidFill>
                          <a:latin typeface="Calibri"/>
                        </a:rPr>
                        <a:t>a) PivotTable</a:t>
                      </a:r>
                    </a:p>
                  </a:txBody>
                  <a:tcPr marL="101600" marR="101600" marT="38100" marB="38100" anchor="ctr">
                    <a:solidFill>
                      <a:srgbClr val="FFFFFF"/>
                    </a:solidFill>
                  </a:tcPr>
                </a:tc>
                <a:tc>
                  <a:txBody>
                    <a:bodyPr/>
                    <a:lstStyle/>
                    <a:p>
                      <a:r>
                        <a:rPr sz="1200" b="0" i="0">
                          <a:solidFill>
                            <a:srgbClr val="1A1440"/>
                          </a:solidFill>
                          <a:latin typeface="Calibri"/>
                        </a:rPr>
                        <a:t>1 pivot and 8 leaf formulas</a:t>
                      </a:r>
                    </a:p>
                  </a:txBody>
                  <a:tcPr marL="101600" marR="101600" marT="38100" marB="38100" anchor="ctr">
                    <a:solidFill>
                      <a:srgbClr val="FFFFFF"/>
                    </a:solidFill>
                  </a:tcPr>
                </a:tc>
                <a:tc>
                  <a:txBody>
                    <a:bodyPr/>
                    <a:lstStyle/>
                    <a:p>
                      <a:r>
                        <a:rPr sz="1200" b="0" i="0">
                          <a:solidFill>
                            <a:srgbClr val="1A1440"/>
                          </a:solidFill>
                          <a:latin typeface="Calibri"/>
                        </a:rPr>
                        <a:t>any of 6 columns, in seconds</a:t>
                      </a:r>
                    </a:p>
                  </a:txBody>
                  <a:tcPr marL="101600" marR="101600" marT="38100" marB="38100" anchor="ctr">
                    <a:solidFill>
                      <a:srgbClr val="FFFFFF"/>
                    </a:solidFill>
                  </a:tcPr>
                </a:tc>
                <a:tc>
                  <a:txBody>
                    <a:bodyPr/>
                    <a:lstStyle/>
                    <a:p>
                      <a:r>
                        <a:rPr sz="1200" b="0" i="0">
                          <a:solidFill>
                            <a:srgbClr val="1A1440"/>
                          </a:solidFill>
                          <a:latin typeface="Calibri"/>
                        </a:rPr>
                        <a:t>on Refresh</a:t>
                      </a:r>
                    </a:p>
                  </a:txBody>
                  <a:tcPr marL="101600" marR="101600" marT="38100" marB="38100" anchor="ctr">
                    <a:solidFill>
                      <a:srgbClr val="FFFFFF"/>
                    </a:solidFill>
                  </a:tcPr>
                </a:tc>
              </a:tr>
              <a:tr h="335280">
                <a:tc>
                  <a:txBody>
                    <a:bodyPr/>
                    <a:lstStyle/>
                    <a:p>
                      <a:r>
                        <a:rPr sz="1200" b="0" i="0">
                          <a:solidFill>
                            <a:srgbClr val="1A1440"/>
                          </a:solidFill>
                          <a:latin typeface="Calibri"/>
                        </a:rPr>
                        <a:t>b) SUMIFS grid</a:t>
                      </a:r>
                    </a:p>
                  </a:txBody>
                  <a:tcPr marL="101600" marR="101600" marT="38100" marB="38100" anchor="ctr">
                    <a:solidFill>
                      <a:srgbClr val="F4F2FA"/>
                    </a:solidFill>
                  </a:tcPr>
                </a:tc>
                <a:tc>
                  <a:txBody>
                    <a:bodyPr/>
                    <a:lstStyle/>
                    <a:p>
                      <a:r>
                        <a:rPr sz="1200" b="0" i="0">
                          <a:solidFill>
                            <a:srgbClr val="1A1440"/>
                          </a:solidFill>
                          <a:latin typeface="Calibri"/>
                        </a:rPr>
                        <a:t>12 formulas reading 3,600 cells</a:t>
                      </a:r>
                    </a:p>
                  </a:txBody>
                  <a:tcPr marL="101600" marR="101600" marT="38100" marB="38100" anchor="ctr">
                    <a:solidFill>
                      <a:srgbClr val="F4F2FA"/>
                    </a:solidFill>
                  </a:tcPr>
                </a:tc>
                <a:tc>
                  <a:txBody>
                    <a:bodyPr/>
                    <a:lstStyle/>
                    <a:p>
                      <a:r>
                        <a:rPr sz="1200" b="0" i="0">
                          <a:solidFill>
                            <a:srgbClr val="1A1440"/>
                          </a:solidFill>
                          <a:latin typeface="Calibri"/>
                        </a:rPr>
                        <a:t>only what was built; a city split adds 72</a:t>
                      </a:r>
                    </a:p>
                  </a:txBody>
                  <a:tcPr marL="101600" marR="101600" marT="38100" marB="38100" anchor="ctr">
                    <a:solidFill>
                      <a:srgbClr val="F4F2FA"/>
                    </a:solidFill>
                  </a:tcPr>
                </a:tc>
                <a:tc>
                  <a:txBody>
                    <a:bodyPr/>
                    <a:lstStyle/>
                    <a:p>
                      <a:r>
                        <a:rPr sz="1200" b="0" i="0">
                          <a:solidFill>
                            <a:srgbClr val="1A1440"/>
                          </a:solidFill>
                          <a:latin typeface="Calibri"/>
                        </a:rPr>
                        <a:t>at once</a:t>
                      </a:r>
                    </a:p>
                  </a:txBody>
                  <a:tcPr marL="101600" marR="101600" marT="38100" marB="38100" anchor="ctr">
                    <a:solidFill>
                      <a:srgbClr val="F4F2FA"/>
                    </a:solidFill>
                  </a:tcPr>
                </a:tc>
              </a:tr>
              <a:tr h="335280">
                <a:tc>
                  <a:txBody>
                    <a:bodyPr/>
                    <a:lstStyle/>
                    <a:p>
                      <a:r>
                        <a:rPr sz="1200" b="0" i="0">
                          <a:solidFill>
                            <a:srgbClr val="1A1440"/>
                          </a:solidFill>
                          <a:latin typeface="Calibri"/>
                        </a:rPr>
                        <a:t>c) Pasted values</a:t>
                      </a:r>
                    </a:p>
                  </a:txBody>
                  <a:tcPr marL="101600" marR="101600" marT="38100" marB="38100" anchor="ctr">
                    <a:solidFill>
                      <a:srgbClr val="FFFFFF"/>
                    </a:solidFill>
                  </a:tcPr>
                </a:tc>
                <a:tc>
                  <a:txBody>
                    <a:bodyPr/>
                    <a:lstStyle/>
                    <a:p>
                      <a:r>
                        <a:rPr sz="1200" b="0" i="0">
                          <a:solidFill>
                            <a:srgbClr val="1A1440"/>
                          </a:solidFill>
                          <a:latin typeface="Calibri"/>
                        </a:rPr>
                        <a:t>0 formulas</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never</a:t>
                      </a:r>
                    </a:p>
                  </a:txBody>
                  <a:tcPr marL="101600" marR="101600" marT="38100" marB="38100" anchor="ctr">
                    <a:solidFill>
                      <a:srgbClr val="FFFFFF"/>
                    </a:solidFill>
                  </a:tcPr>
                </a:tc>
              </a:tr>
              <a:tr h="335280">
                <a:tc>
                  <a:txBody>
                    <a:bodyPr/>
                    <a:lstStyle/>
                    <a:p>
                      <a:r>
                        <a:rPr sz="1200" b="0" i="0">
                          <a:solidFill>
                            <a:srgbClr val="1A1440"/>
                          </a:solidFill>
                          <a:latin typeface="Calibri"/>
                        </a:rPr>
                        <a:t>d) Live dashboard</a:t>
                      </a:r>
                    </a:p>
                  </a:txBody>
                  <a:tcPr marL="101600" marR="101600" marT="38100" marB="38100" anchor="ctr">
                    <a:solidFill>
                      <a:srgbClr val="F4F2FA"/>
                    </a:solidFill>
                  </a:tcPr>
                </a:tc>
                <a:tc>
                  <a:txBody>
                    <a:bodyPr/>
                    <a:lstStyle/>
                    <a:p>
                      <a:r>
                        <a:rPr sz="1200" b="0" i="0">
                          <a:solidFill>
                            <a:srgbClr val="1A1440"/>
                          </a:solidFill>
                          <a:latin typeface="Calibri"/>
                        </a:rPr>
                        <a:t>a query per view</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needs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because a director re-slices in the room and only the pivot answers a question nobody built. What would switch it: a director who changes an assumption, since a pivot waits for Refresh and a formula does not; chapter 6.</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one row of the customer table stand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pivot, what is the grain of this table?</a:t>
            </a:r>
          </a:p>
        </p:txBody>
      </p:sp>
      <p:pic>
        <p:nvPicPr>
          <p:cNvPr id="9" name="mermaid diagram" descr="f84e98e43b0fa968.png"/>
          <p:cNvPicPr>
            <a:picLocks noChangeAspect="1"/>
          </p:cNvPicPr>
          <p:nvPr/>
        </p:nvPicPr>
        <p:blipFill>
          <a:blip r:embed="rId5"/>
          <a:stretch>
            <a:fillRect/>
          </a:stretch>
        </p:blipFill>
        <p:spPr>
          <a:xfrm>
            <a:off x="2331091" y="1956816"/>
            <a:ext cx="75295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One row of this table is which,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customer, so a Sum adds each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count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CSV</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row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COLUMNS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id, segment, city, orders, revenue, last order date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Each row is one customer who ordered between April and September 2026, with that customer's orders and revenue summed. </a:t>
            </a:r>
            <a:r>
              <a:rPr sz="1600" b="1" i="0">
                <a:solidFill>
                  <a:srgbClr val="1A1440"/>
                </a:solidFill>
                <a:latin typeface="Calibri"/>
              </a:rPr>
              <a:t>The check:</a:t>
            </a:r>
            <a:r>
              <a:rPr sz="1600" b="0" i="0">
                <a:solidFill>
                  <a:srgbClr val="1A1440"/>
                </a:solidFill>
                <a:latin typeface="Calibri"/>
              </a:rPr>
              <a:t> rows equal distinct ids, 300 and 300.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segment carries the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and revenue in Values, whose bar is longest?</a:t>
            </a:r>
          </a:p>
        </p:txBody>
      </p:sp>
      <p:pic>
        <p:nvPicPr>
          <p:cNvPr id="9" name="mermaid diagram" descr="a17305ff49394bea.png"/>
          <p:cNvPicPr>
            <a:picLocks noChangeAspect="1"/>
          </p:cNvPicPr>
          <p:nvPr/>
        </p:nvPicPr>
        <p:blipFill>
          <a:blip r:embed="rId5"/>
          <a:stretch>
            <a:fillRect/>
          </a:stretch>
        </p:blipFill>
        <p:spPr>
          <a:xfrm>
            <a:off x="3116903" y="1904333"/>
            <a:ext cx="5957887" cy="3386137"/>
          </a:xfrm>
          <a:prstGeom prst="rect">
            <a:avLst/>
          </a:prstGeom>
        </p:spPr>
      </p:pic>
      <p:sp>
        <p:nvSpPr>
          <p:cNvPr id="10" name="Rounded Rectangle 9"/>
          <p:cNvSpPr/>
          <p:nvPr/>
        </p:nvSpPr>
        <p:spPr>
          <a:xfrm>
            <a:off x="530352" y="543677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56479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5564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segment carries most of the revenue,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Business carries 99.1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pivot show, segment by segment?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885769"/>
                <a:gridCol w="2693142"/>
                <a:gridCol w="914400"/>
                <a:gridCol w="3723279"/>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c>
                  <a:txBody>
                    <a:bodyPr/>
                    <a:lstStyle/>
                    <a:p>
                      <a:r>
                        <a:rPr sz="1250" b="1" i="0">
                          <a:solidFill>
                            <a:srgbClr val="FFFFFF"/>
                          </a:solidFill>
                          <a:latin typeface="Calibri"/>
                        </a:rPr>
                        <a:t>Share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188</a:t>
                      </a:r>
                    </a:p>
                  </a:txBody>
                  <a:tcPr marL="101600" marR="101600" marT="38100" marB="38100" anchor="ctr">
                    <a:solidFill>
                      <a:srgbClr val="FFFFFF"/>
                    </a:solidFill>
                  </a:tcPr>
                </a:tc>
                <a:tc>
                  <a:txBody>
                    <a:bodyPr/>
                    <a:lstStyle/>
                    <a:p>
                      <a:r>
                        <a:rPr sz="1200" b="0" i="0">
                          <a:solidFill>
                            <a:srgbClr val="1A1440"/>
                          </a:solidFill>
                          <a:latin typeface="Calibri"/>
                        </a:rPr>
                        <a:t>Rs 19,65,99,040</a:t>
                      </a:r>
                    </a:p>
                  </a:txBody>
                  <a:tcPr marL="101600" marR="101600" marT="38100" marB="38100" anchor="ctr">
                    <a:solidFill>
                      <a:srgbClr val="FFFFFF"/>
                    </a:solidFill>
                  </a:tcPr>
                </a:tc>
                <a:tc>
                  <a:txBody>
                    <a:bodyPr/>
                    <a:lstStyle/>
                    <a:p>
                      <a:r>
                        <a:rPr sz="1200" b="0" i="0">
                          <a:solidFill>
                            <a:srgbClr val="1A1440"/>
                          </a:solidFill>
                          <a:latin typeface="Calibri"/>
                        </a:rPr>
                        <a:t>99.1%</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392</a:t>
                      </a:r>
                    </a:p>
                  </a:txBody>
                  <a:tcPr marL="101600" marR="101600" marT="38100" marB="38100" anchor="ctr">
                    <a:solidFill>
                      <a:srgbClr val="F4F2FA"/>
                    </a:solidFill>
                  </a:tcPr>
                </a:tc>
                <a:tc>
                  <a:txBody>
                    <a:bodyPr/>
                    <a:lstStyle/>
                    <a:p>
                      <a:r>
                        <a:rPr sz="1200" b="0" i="0">
                          <a:solidFill>
                            <a:srgbClr val="1A1440"/>
                          </a:solidFill>
                          <a:latin typeface="Calibri"/>
                        </a:rPr>
                        <a:t>Rs 7,39,320</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349</a:t>
                      </a:r>
                    </a:p>
                  </a:txBody>
                  <a:tcPr marL="101600" marR="101600" marT="38100" marB="38100" anchor="ctr">
                    <a:solidFill>
                      <a:srgbClr val="FFFFFF"/>
                    </a:solidFill>
                  </a:tcPr>
                </a:tc>
                <a:tc>
                  <a:txBody>
                    <a:bodyPr/>
                    <a:lstStyle/>
                    <a:p>
                      <a:r>
                        <a:rPr sz="1200" b="0" i="0">
                          <a:solidFill>
                            <a:srgbClr val="1A1440"/>
                          </a:solidFill>
                          <a:latin typeface="Calibri"/>
                        </a:rPr>
                        <a:t>Rs 9,77,410</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65</a:t>
                      </a:r>
                    </a:p>
                  </a:txBody>
                  <a:tcPr marL="101600" marR="101600" marT="38100" marB="38100" anchor="ctr">
                    <a:solidFill>
                      <a:srgbClr val="F4F2FA"/>
                    </a:solidFill>
                  </a:tcPr>
                </a:tc>
                <a:tc>
                  <a:txBody>
                    <a:bodyPr/>
                    <a:lstStyle/>
                    <a:p>
                      <a:r>
                        <a:rPr sz="1200" b="0" i="0">
                          <a:solidFill>
                            <a:srgbClr val="1A1440"/>
                          </a:solidFill>
                          <a:latin typeface="Calibri"/>
                        </a:rPr>
                        <a:t>Rs 62,490</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Thirty-nine corporate buyers carry the half-year, so any company-wide number on the page is a Business number, and a consumer segment can fall by a third without moving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leaf separates Retail-Plus from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Retail-Plus member spends more across the half-year; which leaf of the tree says why?</a:t>
            </a:r>
          </a:p>
        </p:txBody>
      </p:sp>
      <p:pic>
        <p:nvPicPr>
          <p:cNvPr id="9" name="mermaid diagram" descr="bdad9074b09b49f4.png"/>
          <p:cNvPicPr>
            <a:picLocks noChangeAspect="1"/>
          </p:cNvPicPr>
          <p:nvPr/>
        </p:nvPicPr>
        <p:blipFill>
          <a:blip r:embed="rId5"/>
          <a:stretch>
            <a:fillRect/>
          </a:stretch>
        </p:blipFill>
        <p:spPr>
          <a:xfrm>
            <a:off x="2859728" y="1956816"/>
            <a:ext cx="647223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leaf explains most of the gap in revenue per member,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basket, 48.5 percent bigger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leaves say, with Retail-Core at 100?</a:t>
            </a:r>
          </a:p>
        </p:txBody>
      </p:sp>
      <p:pic>
        <p:nvPicPr>
          <p:cNvPr id="9" name="mermaid diagram" descr="4816f919ba199de7.png"/>
          <p:cNvPicPr>
            <a:picLocks noChangeAspect="1"/>
          </p:cNvPicPr>
          <p:nvPr/>
        </p:nvPicPr>
        <p:blipFill>
          <a:blip r:embed="rId5"/>
          <a:stretch>
            <a:fillRect/>
          </a:stretch>
        </p:blipFill>
        <p:spPr>
          <a:xfrm>
            <a:off x="2981172" y="1956816"/>
            <a:ext cx="6229350" cy="2714625"/>
          </a:xfrm>
          <a:prstGeom prst="rect">
            <a:avLst/>
          </a:prstGeom>
        </p:spPr>
      </p:pic>
      <p:sp>
        <p:nvSpPr>
          <p:cNvPr id="10" name="TextBox 9"/>
          <p:cNvSpPr txBox="1"/>
          <p:nvPr/>
        </p:nvSpPr>
        <p:spPr>
          <a:xfrm>
            <a:off x="530352" y="48177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Retail-Plus member spends Rs 9,221 across the half-year against Retail-Core's Rs 5,644, 63 percent more: orders per customer are 10 percent higher, revenue per order 48.5 percent higher. </a:t>
            </a:r>
            <a:r>
              <a:rPr sz="1600" b="1" i="0">
                <a:solidFill>
                  <a:srgbClr val="1A1440"/>
                </a:solidFill>
                <a:latin typeface="Calibri"/>
              </a:rPr>
              <a:t>The check:</a:t>
            </a:r>
            <a:r>
              <a:rPr sz="1600" b="0" i="0">
                <a:solidFill>
                  <a:srgbClr val="1A1440"/>
                </a:solidFill>
                <a:latin typeface="Calibri"/>
              </a:rPr>
              <a:t> each tree multiplies back to its revenue, 106 times 3.29 times Rs 2,801 is Rs 9.77 lakh.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leaf averaged per customer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per-customer ratio column is dragged into the pivot?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503498"/>
                <a:gridCol w="5627492"/>
              </a:tblGrid>
              <a:tr h="369824">
                <a:tc>
                  <a:txBody>
                    <a:bodyPr/>
                    <a:lstStyle/>
                    <a:p>
                      <a:r>
                        <a:rPr sz="1450" b="1" i="0">
                          <a:solidFill>
                            <a:srgbClr val="FFFFFF"/>
                          </a:solidFill>
                          <a:latin typeface="Calibri"/>
                        </a:rPr>
                        <a:t>The move</a:t>
                      </a:r>
                    </a:p>
                  </a:txBody>
                  <a:tcPr marL="101600" marR="101600" marT="38100" marB="38100" anchor="ctr">
                    <a:solidFill>
                      <a:srgbClr val="1A0F5C"/>
                    </a:solidFill>
                  </a:tcPr>
                </a:tc>
                <a:tc>
                  <a:txBody>
                    <a:bodyPr/>
                    <a:lstStyle/>
                    <a:p>
                      <a:r>
                        <a:rPr sz="1450" b="1" i="0">
                          <a:solidFill>
                            <a:srgbClr val="FFFFFF"/>
                          </a:solidFill>
                          <a:latin typeface="Calibri"/>
                        </a:rPr>
                        <a:t>What the pivot shows for Business</a:t>
                      </a:r>
                    </a:p>
                  </a:txBody>
                  <a:tcPr marL="101600" marR="101600" marT="38100" marB="38100" anchor="ctr">
                    <a:solidFill>
                      <a:srgbClr val="1A0F5C"/>
                    </a:solidFill>
                  </a:tcPr>
                </a:tc>
              </a:tr>
              <a:tr h="369824">
                <a:tc>
                  <a:txBody>
                    <a:bodyPr/>
                    <a:lstStyle/>
                    <a:p>
                      <a:r>
                        <a:rPr sz="1400" b="0" i="0">
                          <a:solidFill>
                            <a:srgbClr val="1A1440"/>
                          </a:solidFill>
                          <a:latin typeface="Calibri"/>
                        </a:rPr>
                        <a:t>Drag the per-customer column into Values</a:t>
                      </a:r>
                    </a:p>
                  </a:txBody>
                  <a:tcPr marL="101600" marR="101600" marT="38100" marB="38100" anchor="ctr">
                    <a:solidFill>
                      <a:srgbClr val="FFFFFF"/>
                    </a:solidFill>
                  </a:tcPr>
                </a:tc>
                <a:tc>
                  <a:txBody>
                    <a:bodyPr/>
                    <a:lstStyle/>
                    <a:p>
                      <a:r>
                        <a:rPr sz="1400" b="0" i="0">
                          <a:solidFill>
                            <a:srgbClr val="1A1440"/>
                          </a:solidFill>
                          <a:latin typeface="Calibri"/>
                        </a:rPr>
                        <a:t>Sum of it: Rs 4,55,04,669, plainly nonsense</a:t>
                      </a:r>
                    </a:p>
                  </a:txBody>
                  <a:tcPr marL="101600" marR="101600" marT="38100" marB="38100" anchor="ctr">
                    <a:solidFill>
                      <a:srgbClr val="FFFFFF"/>
                    </a:solidFill>
                  </a:tcPr>
                </a:tc>
              </a:tr>
              <a:tr h="369824">
                <a:tc>
                  <a:txBody>
                    <a:bodyPr/>
                    <a:lstStyle/>
                    <a:p>
                      <a:r>
                        <a:rPr sz="1400" b="0" i="0">
                          <a:solidFill>
                            <a:srgbClr val="1A1440"/>
                          </a:solidFill>
                          <a:latin typeface="Calibri"/>
                        </a:rPr>
                        <a:t>Switch the field to Average</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r h="369824">
                <a:tc>
                  <a:txBody>
                    <a:bodyPr/>
                    <a:lstStyle/>
                    <a:p>
                      <a:r>
                        <a:rPr sz="1400" b="0" i="0">
                          <a:solidFill>
                            <a:srgbClr val="1A1440"/>
                          </a:solidFill>
                          <a:latin typeface="Calibri"/>
                        </a:rPr>
                        <a:t>Revenue divided by orders, the tree's leaf</a:t>
                      </a:r>
                    </a:p>
                  </a:txBody>
                  <a:tcPr marL="101600" marR="101600" marT="38100" marB="38100" anchor="ctr">
                    <a:solidFill>
                      <a:srgbClr val="FFFFFF"/>
                    </a:solidFill>
                  </a:tcPr>
                </a:tc>
                <a:tc>
                  <a:txBody>
                    <a:bodyPr/>
                    <a:lstStyle/>
                    <a:p>
                      <a:r>
                        <a:rPr sz="1400" b="0" i="0">
                          <a:solidFill>
                            <a:srgbClr val="1A1440"/>
                          </a:solidFill>
                          <a:latin typeface="Calibri"/>
                        </a:rPr>
                        <a:t>Rs 10,45,740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reads about: a) exactly Rs 10,45,740; b) a little below it; c) about 12 percent above it; d) about twice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11,66,786, and the tree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averaged leaf the plausible wrong answer, and what catches it?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11,66,786</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AVERAGED PER CUSTOMER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pivot shows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10,45,740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OVER 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tree's leaf</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2.28 cr</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MULTIPLY-BACK ERROR</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188 orders times the averaged leaf</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11.6 percent high. </a:t>
            </a:r>
            <a:r>
              <a:rPr sz="1600" b="1" i="0">
                <a:solidFill>
                  <a:srgbClr val="1A1440"/>
                </a:solidFill>
                <a:latin typeface="Calibri"/>
              </a:rPr>
              <a:t>What breaks:</a:t>
            </a:r>
            <a:r>
              <a:rPr sz="1600" b="0" i="0">
                <a:solidFill>
                  <a:srgbClr val="1A1440"/>
                </a:solidFill>
                <a:latin typeface="Calibri"/>
              </a:rPr>
              <a:t> 39 times 4.82 times Rs 11.67 lakh rebuilds Business at Rs 21.94 crore against the Rs 19.66 crore it sold, and the director who checks stops trusting the page. </a:t>
            </a:r>
            <a:r>
              <a:rPr sz="1600" b="1" i="0">
                <a:solidFill>
                  <a:srgbClr val="1A1440"/>
                </a:solidFill>
                <a:latin typeface="Calibri"/>
              </a:rPr>
              <a:t>Why:</a:t>
            </a:r>
            <a:r>
              <a:rPr sz="1600" b="0" i="0">
                <a:solidFill>
                  <a:srgbClr val="1A1440"/>
                </a:solidFill>
                <a:latin typeface="Calibri"/>
              </a:rPr>
              <a:t> the average gives each customer one vote, and Business baskets range twentyfold, Rs 3.34 lakh to Rs 66.98 lakh.</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the pivot's own sums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leaf is revenue divided by orders?</a:t>
            </a:r>
          </a:p>
        </p:txBody>
      </p:sp>
      <p:pic>
        <p:nvPicPr>
          <p:cNvPr id="9" name="mermaid diagram" descr="1bed03f22167b87e.png"/>
          <p:cNvPicPr>
            <a:picLocks noChangeAspect="1"/>
          </p:cNvPicPr>
          <p:nvPr/>
        </p:nvPicPr>
        <p:blipFill>
          <a:blip r:embed="rId5"/>
          <a:stretch>
            <a:fillRect/>
          </a:stretch>
        </p:blipFill>
        <p:spPr>
          <a:xfrm>
            <a:off x="2202503" y="1956816"/>
            <a:ext cx="7786687"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formula beside the pivot, or a calculated field =revenue/orders: "Formulas for calculated fields operate on the sum of the underlying data" (Microsoft Support, checked 30 September 2026). </a:t>
            </a:r>
            <a:r>
              <a:rPr sz="1600" b="1" i="0">
                <a:solidFill>
                  <a:srgbClr val="1A1440"/>
                </a:solidFill>
                <a:latin typeface="Calibri"/>
              </a:rPr>
              <a:t>What changed:</a:t>
            </a:r>
            <a:r>
              <a:rPr sz="1600" b="0" i="0">
                <a:solidFill>
                  <a:srgbClr val="1A1440"/>
                </a:solidFill>
                <a:latin typeface="Calibri"/>
              </a:rPr>
              <a:t> Business falls from Rs 11,66,786 to Rs 10,45,740 an order and the tree multiplies back exactly.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Can this table split Q1 from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only a last order date, can the half-year be split into quarters?</a:t>
            </a:r>
          </a:p>
        </p:txBody>
      </p:sp>
      <p:pic>
        <p:nvPicPr>
          <p:cNvPr id="9" name="mermaid diagram" descr="f4c2f22a02505ce9.png"/>
          <p:cNvPicPr>
            <a:picLocks noChangeAspect="1"/>
          </p:cNvPicPr>
          <p:nvPr/>
        </p:nvPicPr>
        <p:blipFill>
          <a:blip r:embed="rId5"/>
          <a:stretch>
            <a:fillRect/>
          </a:stretch>
        </p:blipFill>
        <p:spPr>
          <a:xfrm>
            <a:off x="3424085" y="1904333"/>
            <a:ext cx="5343525" cy="3386137"/>
          </a:xfrm>
          <a:prstGeom prst="rect">
            <a:avLst/>
          </a:prstGeom>
        </p:spPr>
      </p:pic>
      <p:sp>
        <p:nvSpPr>
          <p:cNvPr id="10" name="Rounded Rectangle 9"/>
          <p:cNvSpPr/>
          <p:nvPr/>
        </p:nvSpPr>
        <p:spPr>
          <a:xfrm>
            <a:off x="530352" y="543677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56479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5564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does this table give Q1 against Q2, as a letter?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cannot; the last order date is a recency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the split on the last order date put in Q2?</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17.88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SPLIT ON LAST ORDER</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9.84 crore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1.96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SPLIT ON LAST ORDER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QUARTER COLUMNS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table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customer who bought in both quarters moves the whole half-year into Q2 by buying once in September. The quarter split needs one row per order, which only the raw export carries: chapter 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plain count of the CSV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method that never touches the pivot reach the same twelve cells?</a:t>
            </a:r>
          </a:p>
        </p:txBody>
      </p:sp>
      <p:pic>
        <p:nvPicPr>
          <p:cNvPr id="9" name="mermaid diagram" descr="e5997866e31ec256.png"/>
          <p:cNvPicPr>
            <a:picLocks noChangeAspect="1"/>
          </p:cNvPicPr>
          <p:nvPr/>
        </p:nvPicPr>
        <p:blipFill>
          <a:blip r:embed="rId5"/>
          <a:stretch>
            <a:fillRect/>
          </a:stretch>
        </p:blipFill>
        <p:spPr>
          <a:xfrm>
            <a:off x="1159516" y="1893475"/>
            <a:ext cx="9872662" cy="2900362"/>
          </a:xfrm>
          <a:prstGeom prst="rect">
            <a:avLst/>
          </a:prstGeom>
        </p:spPr>
      </p:pic>
      <p:sp>
        <p:nvSpPr>
          <p:cNvPr id="10" name="TextBox 9"/>
          <p:cNvSpPr txBox="1"/>
          <p:nvPr/>
        </p:nvSpPr>
        <p:spPr>
          <a:xfrm>
            <a:off x="530352" y="494014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Excel the same second route is a COUNTIF and two SUMIFS per segment beside the pivot; in the notebook, Week 1 Monday's accumulator over the CSV's text. Customers, orders and revenue agree in all four segments.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carries it; the basket separates the tiers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1 answer, question by question?</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2745326"/>
                <a:gridCol w="8385665"/>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One row?</a:t>
                      </a:r>
                    </a:p>
                  </a:txBody>
                  <a:tcPr marL="101600" marR="101600" marT="38100" marB="38100" anchor="ctr">
                    <a:solidFill>
                      <a:srgbClr val="FFFFFF"/>
                    </a:solidFill>
                  </a:tcPr>
                </a:tc>
                <a:tc>
                  <a:txBody>
                    <a:bodyPr/>
                    <a:lstStyle/>
                    <a:p>
                      <a:r>
                        <a:rPr sz="1100" b="0" i="0">
                          <a:solidFill>
                            <a:srgbClr val="1A1440"/>
                          </a:solidFill>
                          <a:latin typeface="Calibri"/>
                        </a:rPr>
                        <a:t>One customer: 300 rows, 300 ids</a:t>
                      </a:r>
                    </a:p>
                  </a:txBody>
                  <a:tcPr marL="101600" marR="101600" marT="38100" marB="38100" anchor="ctr">
                    <a:solidFill>
                      <a:srgbClr val="FFFFFF"/>
                    </a:solidFill>
                  </a:tcPr>
                </a:tc>
              </a:tr>
              <a:tr h="318008">
                <a:tc>
                  <a:txBody>
                    <a:bodyPr/>
                    <a:lstStyle/>
                    <a:p>
                      <a:r>
                        <a:rPr sz="1100" b="0" i="0">
                          <a:solidFill>
                            <a:srgbClr val="1A1440"/>
                          </a:solidFill>
                          <a:latin typeface="Calibri"/>
                        </a:rPr>
                        <a:t>Which way?</a:t>
                      </a:r>
                    </a:p>
                  </a:txBody>
                  <a:tcPr marL="101600" marR="101600" marT="38100" marB="38100" anchor="ctr">
                    <a:solidFill>
                      <a:srgbClr val="F4F2FA"/>
                    </a:solidFill>
                  </a:tcPr>
                </a:tc>
                <a:tc>
                  <a:txBody>
                    <a:bodyPr/>
                    <a:lstStyle/>
                    <a:p>
                      <a:r>
                        <a:rPr sz="1100" b="0" i="0">
                          <a:solidFill>
                            <a:srgbClr val="1A1440"/>
                          </a:solidFill>
                          <a:latin typeface="Calibri"/>
                        </a:rPr>
                        <a:t>The PivotTable, each leaf beside it from its sums</a:t>
                      </a:r>
                    </a:p>
                  </a:txBody>
                  <a:tcPr marL="101600" marR="101600" marT="38100" marB="38100" anchor="ctr">
                    <a:solidFill>
                      <a:srgbClr val="F4F2FA"/>
                    </a:solidFill>
                  </a:tcPr>
                </a:tc>
              </a:tr>
              <a:tr h="318008">
                <a:tc>
                  <a:txBody>
                    <a:bodyPr/>
                    <a:lstStyle/>
                    <a:p>
                      <a:r>
                        <a:rPr sz="1100" b="0" i="0">
                          <a:solidFill>
                            <a:srgbClr val="1A1440"/>
                          </a:solidFill>
                          <a:latin typeface="Calibri"/>
                        </a:rPr>
                        <a:t>Which segment?</a:t>
                      </a:r>
                    </a:p>
                  </a:txBody>
                  <a:tcPr marL="101600" marR="101600" marT="38100" marB="38100" anchor="ctr">
                    <a:solidFill>
                      <a:srgbClr val="FFFFFF"/>
                    </a:solidFill>
                  </a:tcPr>
                </a:tc>
                <a:tc>
                  <a:txBody>
                    <a:bodyPr/>
                    <a:lstStyle/>
                    <a:p>
                      <a:r>
                        <a:rPr sz="1100" b="0" i="0">
                          <a:solidFill>
                            <a:srgbClr val="1A1440"/>
                          </a:solidFill>
                          <a:latin typeface="Calibri"/>
                        </a:rPr>
                        <a:t>Business, 99.1 percent of the half-year</a:t>
                      </a:r>
                    </a:p>
                  </a:txBody>
                  <a:tcPr marL="101600" marR="101600" marT="38100" marB="38100" anchor="ctr">
                    <a:solidFill>
                      <a:srgbClr val="FFFFFF"/>
                    </a:solidFill>
                  </a:tcPr>
                </a:tc>
              </a:tr>
              <a:tr h="318008">
                <a:tc>
                  <a:txBody>
                    <a:bodyPr/>
                    <a:lstStyle/>
                    <a:p>
                      <a:r>
                        <a:rPr sz="1100" b="0" i="0">
                          <a:solidFill>
                            <a:srgbClr val="1A1440"/>
                          </a:solidFill>
                          <a:latin typeface="Calibri"/>
                        </a:rPr>
                        <a:t>Which leaf?</a:t>
                      </a:r>
                    </a:p>
                  </a:txBody>
                  <a:tcPr marL="101600" marR="101600" marT="38100" marB="38100" anchor="ctr">
                    <a:solidFill>
                      <a:srgbClr val="F4F2FA"/>
                    </a:solidFill>
                  </a:tcPr>
                </a:tc>
                <a:tc>
                  <a:txBody>
                    <a:bodyPr/>
                    <a:lstStyle/>
                    <a:p>
                      <a:r>
                        <a:rPr sz="1100" b="0" i="0">
                          <a:solidFill>
                            <a:srgbClr val="1A1440"/>
                          </a:solidFill>
                          <a:latin typeface="Calibri"/>
                        </a:rPr>
                        <a:t>Revenue per order: Rs 2,801 against Rs 1,886</a:t>
                      </a:r>
                    </a:p>
                  </a:txBody>
                  <a:tcPr marL="101600" marR="101600" marT="38100" marB="38100" anchor="ctr">
                    <a:solidFill>
                      <a:srgbClr val="F4F2FA"/>
                    </a:solidFill>
                  </a:tcPr>
                </a:tc>
              </a:tr>
              <a:tr h="318008">
                <a:tc>
                  <a:txBody>
                    <a:bodyPr/>
                    <a:lstStyle/>
                    <a:p>
                      <a:r>
                        <a:rPr sz="1100" b="0" i="0">
                          <a:solidFill>
                            <a:srgbClr val="1A1440"/>
                          </a:solidFill>
                          <a:latin typeface="Calibri"/>
                        </a:rPr>
                        <a:t>Averaged leaf?</a:t>
                      </a:r>
                    </a:p>
                  </a:txBody>
                  <a:tcPr marL="101600" marR="101600" marT="38100" marB="38100" anchor="ctr">
                    <a:solidFill>
                      <a:srgbClr val="FFFFFF"/>
                    </a:solidFill>
                  </a:tcPr>
                </a:tc>
                <a:tc>
                  <a:txBody>
                    <a:bodyPr/>
                    <a:lstStyle/>
                    <a:p>
                      <a:r>
                        <a:rPr sz="1100" b="0" i="0">
                          <a:solidFill>
                            <a:srgbClr val="1A1440"/>
                          </a:solidFill>
                          <a:latin typeface="Calibri"/>
                        </a:rPr>
                        <a:t>Rs 11,66,786, 11.6 percent high; the tree fails</a:t>
                      </a:r>
                    </a:p>
                  </a:txBody>
                  <a:tcPr marL="101600" marR="101600" marT="38100" marB="38100" anchor="ctr">
                    <a:solidFill>
                      <a:srgbClr val="FFFFFF"/>
                    </a:solidFill>
                  </a:tcPr>
                </a:tc>
              </a:tr>
              <a:tr h="318008">
                <a:tc>
                  <a:txBody>
                    <a:bodyPr/>
                    <a:lstStyle/>
                    <a:p>
                      <a:r>
                        <a:rPr sz="1100" b="0" i="0">
                          <a:solidFill>
                            <a:srgbClr val="1A1440"/>
                          </a:solidFill>
                          <a:latin typeface="Calibri"/>
                        </a:rPr>
                        <a:t>Quarters?</a:t>
                      </a:r>
                    </a:p>
                  </a:txBody>
                  <a:tcPr marL="101600" marR="101600" marT="38100" marB="38100" anchor="ctr">
                    <a:solidFill>
                      <a:srgbClr val="F4F2FA"/>
                    </a:solidFill>
                  </a:tcPr>
                </a:tc>
                <a:tc>
                  <a:txBody>
                    <a:bodyPr/>
                    <a:lstStyle/>
                    <a:p>
                      <a:r>
                        <a:rPr sz="1100" b="0" i="0">
                          <a:solidFill>
                            <a:srgbClr val="1A1440"/>
                          </a:solidFill>
                          <a:latin typeface="Calibri"/>
                        </a:rPr>
                        <a:t>No; the split needs one row per order</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"Say what one row is before you pivot, make every leaf a ratio of the pivot's sums, and multiply the tree back before it goes on a page."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A leaf of your tree does not multiply back to the revenue; what happened, and what do you fix?</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Q2 fall?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much did revenue fall from Q1 to Q2, and in which segment and which leaf? The growth plan funds the branch this answer names.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80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quarter to the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for the tree for both quarters, and Meera, who decides which branch the growth plan funds; a pivot that counts orders twice puts nearly twice Finance's revenue in front of the directors.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quarter?</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Kalpa's quarter on every row.</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pivot says?</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Q1 and Q2 as a pivot adds them.</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double?</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whether Remove Duplicates helps.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Counted once?</a:t>
            </a:r>
          </a:p>
        </p:txBody>
      </p:sp>
      <p:sp>
        <p:nvSpPr>
          <p:cNvPr id="32" name="TextBox 31"/>
          <p:cNvSpPr txBox="1"/>
          <p:nvPr/>
        </p:nvSpPr>
        <p:spPr>
          <a:xfrm>
            <a:off x="6351879"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Each order once.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 fell?</a:t>
            </a:r>
          </a:p>
        </p:txBody>
      </p:sp>
      <p:sp>
        <p:nvSpPr>
          <p:cNvPr id="37" name="TextBox 36"/>
          <p:cNvSpPr txBox="1"/>
          <p:nvPr/>
        </p:nvSpPr>
        <p:spPr>
          <a:xfrm>
            <a:off x="823752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Segment and leaf.</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quarters have to tie to Monday's warehouse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number cost?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THE WAREHOUSE</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WAREHOUSE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plan</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growth plan aimed at the wrong segment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revenue tree by segment for both quarters."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orders carry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holds orders and payments at different grains?</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"Combines multiple payment attempts for a single order."</a:t>
            </a:r>
          </a:p>
          <a:p>
            <a:pPr>
              <a:spcBef>
                <a:spcPts val="400"/>
              </a:spcBef>
            </a:pPr>
            <a:r>
              <a:rPr sz="1000" b="0" i="0">
                <a:solidFill>
                  <a:srgbClr val="6B6690"/>
                </a:solidFill>
                <a:latin typeface="Calibri"/>
              </a:rPr>
              <a:t>Razorpay documentation, Orders</a:t>
            </a:r>
          </a:p>
        </p:txBody>
      </p:sp>
      <p:sp>
        <p:nvSpPr>
          <p:cNvPr id="11" name="Rounded Rectangle 10"/>
          <p:cNvSpPr/>
          <p:nvPr/>
        </p:nvSpPr>
        <p:spPr>
          <a:xfrm>
            <a:off x="530352" y="2844800"/>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44800"/>
            <a:ext cx="10820095" cy="741680"/>
          </a:xfrm>
          <a:prstGeom prst="rect">
            <a:avLst/>
          </a:prstGeom>
          <a:noFill/>
        </p:spPr>
        <p:txBody>
          <a:bodyPr wrap="square" anchor="t" lIns="0" rIns="0" tIns="0" bIns="0">
            <a:spAutoFit/>
          </a:bodyPr>
          <a:lstStyle/>
          <a:p>
            <a:r>
              <a:rPr sz="1600" b="0" i="1">
                <a:solidFill>
                  <a:srgbClr val="1A0F5C"/>
                </a:solidFill>
                <a:latin typeface="Georgia"/>
              </a:rPr>
              <a:t>"Each partial payment would have a unique payment_id, but will be tied to the same order_id."</a:t>
            </a:r>
          </a:p>
          <a:p>
            <a:pPr>
              <a:spcBef>
                <a:spcPts val="400"/>
              </a:spcBef>
            </a:pPr>
            <a:r>
              <a:rPr sz="1000" b="0" i="0">
                <a:solidFill>
                  <a:srgbClr val="6B6690"/>
                </a:solidFill>
                <a:latin typeface="Calibri"/>
              </a:rPr>
              <a:t>Razorpay documentation, Payment Links partial payments</a:t>
            </a:r>
          </a:p>
        </p:txBody>
      </p:sp>
      <p:pic>
        <p:nvPicPr>
          <p:cNvPr id="13" name="mermaid diagram" descr="5e883f8c48ccfcb1.png"/>
          <p:cNvPicPr>
            <a:picLocks noChangeAspect="1"/>
          </p:cNvPicPr>
          <p:nvPr/>
        </p:nvPicPr>
        <p:blipFill>
          <a:blip r:embed="rId5"/>
          <a:stretch>
            <a:fillRect/>
          </a:stretch>
        </p:blipFill>
        <p:spPr>
          <a:xfrm>
            <a:off x="4309910" y="3732784"/>
            <a:ext cx="3571875" cy="1285875"/>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quarter column, then the pivot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team split revenue by quarter, and what does each way cost?</a:t>
            </a:r>
          </a:p>
        </p:txBody>
      </p:sp>
      <p:graphicFrame>
        <p:nvGraphicFramePr>
          <p:cNvPr id="9" name="Table 8"/>
          <p:cNvGraphicFramePr>
            <a:graphicFrameLocks noGrp="1"/>
          </p:cNvGraphicFramePr>
          <p:nvPr/>
        </p:nvGraphicFramePr>
        <p:xfrm>
          <a:off x="530352" y="1956816"/>
          <a:ext cx="11130990" cy="2574544"/>
        </p:xfrm>
        <a:graphic>
          <a:graphicData uri="http://schemas.openxmlformats.org/drawingml/2006/table">
            <a:tbl>
              <a:tblPr firstRow="0" bandRow="0">
                <a:tableStyleId>{2D5ABB26-0587-4C30-8999-92F81FD0307C}</a:tableStyleId>
              </a:tblPr>
              <a:tblGrid>
                <a:gridCol w="3874554"/>
                <a:gridCol w="2203951"/>
                <a:gridCol w="505248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reads</a:t>
                      </a:r>
                    </a:p>
                  </a:txBody>
                  <a:tcPr marL="101600" marR="101600" marT="38100" marB="38100" anchor="ctr">
                    <a:solidFill>
                      <a:srgbClr val="1A0F5C"/>
                    </a:solidFill>
                  </a:tcPr>
                </a:tc>
                <a:tc>
                  <a:txBody>
                    <a:bodyPr/>
                    <a:lstStyle/>
                    <a:p>
                      <a:r>
                        <a:rPr sz="1450" b="1" i="0">
                          <a:solidFill>
                            <a:srgbClr val="FFFFFF"/>
                          </a:solidFill>
                          <a:latin typeface="Calibri"/>
                        </a:rPr>
                        <a:t>What it risks here</a:t>
                      </a:r>
                    </a:p>
                  </a:txBody>
                  <a:tcPr marL="101600" marR="101600" marT="38100" marB="38100" anchor="ctr">
                    <a:solidFill>
                      <a:srgbClr val="1A0F5C"/>
                    </a:solidFill>
                  </a:tcPr>
                </a:tc>
              </a:tr>
              <a:tr h="611632">
                <a:tc>
                  <a:txBody>
                    <a:bodyPr/>
                    <a:lstStyle/>
                    <a:p>
                      <a:r>
                        <a:rPr sz="1400" b="0" i="0">
                          <a:solidFill>
                            <a:srgbClr val="1A1440"/>
                          </a:solidFill>
                          <a:latin typeface="Calibri"/>
                        </a:rPr>
                        <a:t>a) Customer table, last order date</a:t>
                      </a:r>
                    </a:p>
                  </a:txBody>
                  <a:tcPr marL="101600" marR="101600" marT="38100" marB="38100" anchor="ctr">
                    <a:solidFill>
                      <a:srgbClr val="FFFFFF"/>
                    </a:solidFill>
                  </a:tcPr>
                </a:tc>
                <a:tc>
                  <a:txBody>
                    <a:bodyPr/>
                    <a:lstStyle/>
                    <a:p>
                      <a:r>
                        <a:rPr sz="1400" b="0" i="0">
                          <a:solidFill>
                            <a:srgbClr val="1A1440"/>
                          </a:solidFill>
                          <a:latin typeface="Calibri"/>
                        </a:rPr>
                        <a:t>300 rows</a:t>
                      </a:r>
                    </a:p>
                  </a:txBody>
                  <a:tcPr marL="101600" marR="101600" marT="38100" marB="38100" anchor="ctr">
                    <a:solidFill>
                      <a:srgbClr val="FFFFFF"/>
                    </a:solidFill>
                  </a:tcPr>
                </a:tc>
                <a:tc>
                  <a:txBody>
                    <a:bodyPr/>
                    <a:lstStyle/>
                    <a:p>
                      <a:r>
                        <a:rPr sz="1400" b="0" i="0">
                          <a:solidFill>
                            <a:srgbClr val="1A1440"/>
                          </a:solidFill>
                          <a:latin typeface="Calibri"/>
                        </a:rPr>
                        <a:t>170 customers bought in both quarters; Rs 8.04 crore of Q1 lands in Q2</a:t>
                      </a:r>
                    </a:p>
                  </a:txBody>
                  <a:tcPr marL="101600" marR="101600" marT="38100" marB="38100" anchor="ctr">
                    <a:solidFill>
                      <a:srgbClr val="FFFFFF"/>
                    </a:solidFill>
                  </a:tcPr>
                </a:tc>
              </a:tr>
              <a:tr h="611632">
                <a:tc>
                  <a:txBody>
                    <a:bodyPr/>
                    <a:lstStyle/>
                    <a:p>
                      <a:r>
                        <a:rPr sz="1400" b="0" i="0">
                          <a:solidFill>
                            <a:srgbClr val="1A1440"/>
                          </a:solidFill>
                          <a:latin typeface="Calibri"/>
                        </a:rPr>
                        <a:t>b) SUMIFS grid on the raw export</a:t>
                      </a:r>
                    </a:p>
                  </a:txBody>
                  <a:tcPr marL="101600" marR="101600" marT="38100" marB="38100" anchor="ctr">
                    <a:solidFill>
                      <a:srgbClr val="F4F2FA"/>
                    </a:solidFill>
                  </a:tcPr>
                </a:tc>
                <a:tc>
                  <a:txBody>
                    <a:bodyPr/>
                    <a:lstStyle/>
                    <a:p>
                      <a:r>
                        <a:rPr sz="1400" b="0" i="0">
                          <a:solidFill>
                            <a:srgbClr val="1A1440"/>
                          </a:solidFill>
                          <a:latin typeface="Calibri"/>
                        </a:rPr>
                        <a:t>8 formulas, 34,800 tests</a:t>
                      </a:r>
                    </a:p>
                  </a:txBody>
                  <a:tcPr marL="101600" marR="101600" marT="38100" marB="38100" anchor="ctr">
                    <a:solidFill>
                      <a:srgbClr val="F4F2FA"/>
                    </a:solidFill>
                  </a:tcPr>
                </a:tc>
                <a:tc>
                  <a:txBody>
                    <a:bodyPr/>
                    <a:lstStyle/>
                    <a:p>
                      <a:r>
                        <a:rPr sz="1400" b="0" i="0">
                          <a:solidFill>
                            <a:srgbClr val="1A1440"/>
                          </a:solidFill>
                          <a:latin typeface="Calibri"/>
                        </a:rPr>
                        <a:t>recalculates at once; slices only 8 cells</a:t>
                      </a:r>
                    </a:p>
                  </a:txBody>
                  <a:tcPr marL="101600" marR="101600" marT="38100" marB="38100" anchor="ctr">
                    <a:solidFill>
                      <a:srgbClr val="F4F2FA"/>
                    </a:solidFill>
                  </a:tcPr>
                </a:tc>
              </a:tr>
              <a:tr h="611632">
                <a:tc>
                  <a:txBody>
                    <a:bodyPr/>
                    <a:lstStyle/>
                    <a:p>
                      <a:r>
                        <a:rPr sz="1400" b="0" i="0">
                          <a:solidFill>
                            <a:srgbClr val="1A1440"/>
                          </a:solidFill>
                          <a:latin typeface="Calibri"/>
                        </a:rPr>
                        <a:t>c) Kalpa's quarter as a column, then a pivot</a:t>
                      </a:r>
                    </a:p>
                  </a:txBody>
                  <a:tcPr marL="101600" marR="101600" marT="38100" marB="38100" anchor="ctr">
                    <a:solidFill>
                      <a:srgbClr val="FFFFFF"/>
                    </a:solidFill>
                  </a:tcPr>
                </a:tc>
                <a:tc>
                  <a:txBody>
                    <a:bodyPr/>
                    <a:lstStyle/>
                    <a:p>
                      <a:r>
                        <a:rPr sz="1400" b="0" i="0">
                          <a:solidFill>
                            <a:srgbClr val="1A1440"/>
                          </a:solidFill>
                          <a:latin typeface="Calibri"/>
                        </a:rPr>
                        <a:t>1,450 rows</a:t>
                      </a:r>
                    </a:p>
                  </a:txBody>
                  <a:tcPr marL="101600" marR="101600" marT="38100" marB="38100" anchor="ctr">
                    <a:solidFill>
                      <a:srgbClr val="FFFFFF"/>
                    </a:solidFill>
                  </a:tcPr>
                </a:tc>
                <a:tc>
                  <a:txBody>
                    <a:bodyPr/>
                    <a:lstStyle/>
                    <a:p>
                      <a:r>
                        <a:rPr sz="1400" b="0" i="0">
                          <a:solidFill>
                            <a:srgbClr val="1A1440"/>
                          </a:solidFill>
                          <a:latin typeface="Calibri"/>
                        </a:rPr>
                        <a:t>slices anything; recalculates on Refresh</a:t>
                      </a:r>
                    </a:p>
                  </a:txBody>
                  <a:tcPr marL="101600" marR="101600" marT="38100" marB="38100" anchor="ctr">
                    <a:solidFill>
                      <a:srgbClr val="FFFFFF"/>
                    </a:solidFill>
                  </a:tcPr>
                </a:tc>
              </a:tr>
              <a:tr h="369824">
                <a:tc>
                  <a:txBody>
                    <a:bodyPr/>
                    <a:lstStyle/>
                    <a:p>
                      <a:r>
                        <a:rPr sz="1400" b="0" i="0">
                          <a:solidFill>
                            <a:srgbClr val="1A1440"/>
                          </a:solidFill>
                          <a:latin typeface="Calibri"/>
                        </a:rPr>
                        <a:t>d) Ask the data platform lead</a:t>
                      </a:r>
                    </a:p>
                  </a:txBody>
                  <a:tcPr marL="101600" marR="101600" marT="38100" marB="38100" anchor="ctr">
                    <a:solidFill>
                      <a:srgbClr val="F4F2FA"/>
                    </a:solidFill>
                  </a:tcPr>
                </a:tc>
                <a:tc>
                  <a:txBody>
                    <a:bodyPr/>
                    <a:lstStyle/>
                    <a:p>
                      <a:r>
                        <a:rPr sz="1400" b="0" i="0">
                          <a:solidFill>
                            <a:srgbClr val="1A1440"/>
                          </a:solidFill>
                          <a:latin typeface="Calibri"/>
                        </a:rPr>
                        <a:t>the warehouse</a:t>
                      </a:r>
                    </a:p>
                  </a:txBody>
                  <a:tcPr marL="101600" marR="101600" marT="38100" marB="38100" anchor="ctr">
                    <a:solidFill>
                      <a:srgbClr val="F4F2FA"/>
                    </a:solidFill>
                  </a:tcPr>
                </a:tc>
                <a:tc>
                  <a:txBody>
                    <a:bodyPr/>
                    <a:lstStyle/>
                    <a:p>
                      <a:r>
                        <a:rPr sz="1400" b="0" i="0">
                          <a:solidFill>
                            <a:srgbClr val="1A1440"/>
                          </a:solidFill>
                          <a:latin typeface="Calibri"/>
                        </a:rPr>
                        <a:t>exact, and a day's wait per question</a:t>
                      </a:r>
                    </a:p>
                  </a:txBody>
                  <a:tcPr marL="101600" marR="101600" marT="38100" marB="38100" anchor="ctr">
                    <a:solidFill>
                      <a:srgbClr val="F4F2FA"/>
                    </a:solidFill>
                  </a:tcPr>
                </a:tc>
              </a:tr>
            </a:tbl>
          </a:graphicData>
        </a:graphic>
      </p:graphicFrame>
      <p:sp>
        <p:nvSpPr>
          <p:cNvPr id="10" name="Rounded Rectangle 9"/>
          <p:cNvSpPr/>
          <p:nvPr/>
        </p:nvSpPr>
        <p:spPr>
          <a:xfrm>
            <a:off x="530352" y="47873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154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06264"/>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it labels quarters the way Finance does and lets a director re-slice. What would switch it: a deadline far enough away for the warehouse team to answer.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quarter does each row belong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Filled down beside order_date, how many rows land in Q1?</a:t>
            </a:r>
          </a:p>
        </p:txBody>
      </p:sp>
      <p:sp>
        <p:nvSpPr>
          <p:cNvPr id="9" name="Rounded Rectangle 8"/>
          <p:cNvSpPr/>
          <p:nvPr/>
        </p:nvSpPr>
        <p:spPr>
          <a:xfrm>
            <a:off x="530352" y="184581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7383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7383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7383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7500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=IF(MONTH(E2)&lt;=6,"Q1","Q2")</a:t>
            </a:r>
          </a:p>
        </p:txBody>
      </p:sp>
      <p:pic>
        <p:nvPicPr>
          <p:cNvPr id="14" name="mermaid diagram" descr="59b63c18bc570e90.png"/>
          <p:cNvPicPr>
            <a:picLocks noChangeAspect="1"/>
          </p:cNvPicPr>
          <p:nvPr/>
        </p:nvPicPr>
        <p:blipFill>
          <a:blip r:embed="rId5"/>
          <a:stretch>
            <a:fillRect/>
          </a:stretch>
        </p:blipFill>
        <p:spPr>
          <a:xfrm>
            <a:off x="2373953" y="2720086"/>
            <a:ext cx="7443787" cy="2628900"/>
          </a:xfrm>
          <a:prstGeom prst="rect">
            <a:avLst/>
          </a:prstGeom>
        </p:spPr>
      </p:pic>
      <p:sp>
        <p:nvSpPr>
          <p:cNvPr id="15" name="Rounded Rectangle 14"/>
          <p:cNvSpPr/>
          <p:nvPr/>
        </p:nvSpPr>
        <p:spPr>
          <a:xfrm>
            <a:off x="530352" y="549529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62330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61416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1,450 rows, how many fall in Q1, as a letter?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772 rows in Q1, 678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new column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772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Q1</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Q2</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ALL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has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dates read cleanly and the labels now match Finance's. The pivot is one drag away.</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pivot say for Q1 and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quarter in Columns and order_amount summed, what is Q2?</a:t>
            </a:r>
          </a:p>
        </p:txBody>
      </p:sp>
      <p:pic>
        <p:nvPicPr>
          <p:cNvPr id="9" name="mermaid diagram" descr="83d94155d1805747.png"/>
          <p:cNvPicPr>
            <a:picLocks noChangeAspect="1"/>
          </p:cNvPicPr>
          <p:nvPr/>
        </p:nvPicPr>
        <p:blipFill>
          <a:blip r:embed="rId5"/>
          <a:stretch>
            <a:fillRect/>
          </a:stretch>
        </p:blipFill>
        <p:spPr>
          <a:xfrm>
            <a:off x="3074041" y="1956816"/>
            <a:ext cx="60436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pivot's Q2 total reads about which,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19.47 crore, and Core looks healthy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exactly?</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169073"/>
                <a:gridCol w="4023758"/>
                <a:gridCol w="402375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as the pivot shows</a:t>
                      </a:r>
                    </a:p>
                  </a:txBody>
                  <a:tcPr marL="101600" marR="101600" marT="38100" marB="38100" anchor="ctr">
                    <a:solidFill>
                      <a:srgbClr val="1A0F5C"/>
                    </a:solidFill>
                  </a:tcPr>
                </a:tc>
                <a:tc>
                  <a:txBody>
                    <a:bodyPr/>
                    <a:lstStyle/>
                    <a:p>
                      <a:r>
                        <a:rPr sz="1250" b="1" i="0">
                          <a:solidFill>
                            <a:srgbClr val="FFFFFF"/>
                          </a:solidFill>
                          <a:latin typeface="Calibri"/>
                        </a:rPr>
                        <a:t>Q2, as the pivot shows</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19,80,28,880</a:t>
                      </a:r>
                    </a:p>
                  </a:txBody>
                  <a:tcPr marL="101600" marR="101600" marT="38100" marB="38100" anchor="ctr">
                    <a:solidFill>
                      <a:srgbClr val="FFFFFF"/>
                    </a:solidFill>
                  </a:tcPr>
                </a:tc>
                <a:tc>
                  <a:txBody>
                    <a:bodyPr/>
                    <a:lstStyle/>
                    <a:p>
                      <a:r>
                        <a:rPr sz="1200" b="0" i="0">
                          <a:solidFill>
                            <a:srgbClr val="1A1440"/>
                          </a:solidFill>
                          <a:latin typeface="Calibri"/>
                        </a:rPr>
                        <a:t>Rs 19,34,72,200</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Rs 4,33,760</a:t>
                      </a:r>
                    </a:p>
                  </a:txBody>
                  <a:tcPr marL="101600" marR="101600" marT="38100" marB="38100" anchor="ctr">
                    <a:solidFill>
                      <a:srgbClr val="F4F2FA"/>
                    </a:solidFill>
                  </a:tcPr>
                </a:tc>
                <a:tc>
                  <a:txBody>
                    <a:bodyPr/>
                    <a:lstStyle/>
                    <a:p>
                      <a:r>
                        <a:rPr sz="1200" b="0" i="0">
                          <a:solidFill>
                            <a:srgbClr val="1A1440"/>
                          </a:solidFill>
                          <a:latin typeface="Calibri"/>
                        </a:rPr>
                        <a:t>Rs 4,38,160</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Rs 9,38,160</a:t>
                      </a:r>
                    </a:p>
                  </a:txBody>
                  <a:tcPr marL="101600" marR="101600" marT="38100" marB="38100" anchor="ctr">
                    <a:solidFill>
                      <a:srgbClr val="FFFFFF"/>
                    </a:solidFill>
                  </a:tcPr>
                </a:tc>
                <a:tc>
                  <a:txBody>
                    <a:bodyPr/>
                    <a:lstStyle/>
                    <a:p>
                      <a:r>
                        <a:rPr sz="1200" b="0" i="0">
                          <a:solidFill>
                            <a:srgbClr val="1A1440"/>
                          </a:solidFill>
                          <a:latin typeface="Calibri"/>
                        </a:rPr>
                        <a:t>Rs 7,00,910</a:t>
                      </a:r>
                    </a:p>
                  </a:txBody>
                  <a:tcPr marL="101600" marR="101600" marT="38100" marB="38100" anchor="ctr">
                    <a:solidFill>
                      <a:srgbClr val="FFFFFF"/>
                    </a:solidFill>
                  </a:tcPr>
                </a:tc>
                <a:tc>
                  <a:txBody>
                    <a:bodyPr/>
                    <a:lstStyle/>
                    <a:p>
                      <a:r>
                        <a:rPr sz="1200" b="0" i="0">
                          <a:solidFill>
                            <a:srgbClr val="1A1440"/>
                          </a:solidFill>
                          <a:latin typeface="Calibri"/>
                        </a:rPr>
                        <a:t>-25.3%</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35,350</a:t>
                      </a:r>
                    </a:p>
                  </a:txBody>
                  <a:tcPr marL="101600" marR="101600" marT="38100" marB="38100" anchor="ctr">
                    <a:solidFill>
                      <a:srgbClr val="F4F2FA"/>
                    </a:solidFill>
                  </a:tcPr>
                </a:tc>
                <a:tc>
                  <a:txBody>
                    <a:bodyPr/>
                    <a:lstStyle/>
                    <a:p>
                      <a:r>
                        <a:rPr sz="1200" b="0" i="0">
                          <a:solidFill>
                            <a:srgbClr val="1A1440"/>
                          </a:solidFill>
                          <a:latin typeface="Calibri"/>
                        </a:rPr>
                        <a:t>Rs 48,070</a:t>
                      </a:r>
                    </a:p>
                  </a:txBody>
                  <a:tcPr marL="101600" marR="101600" marT="38100" marB="38100" anchor="ctr">
                    <a:solidFill>
                      <a:srgbClr val="F4F2FA"/>
                    </a:solidFill>
                  </a:tcPr>
                </a:tc>
                <a:tc>
                  <a:txBody>
                    <a:bodyPr/>
                    <a:lstStyle/>
                    <a:p>
                      <a:r>
                        <a:rPr sz="1200" b="0" i="0">
                          <a:solidFill>
                            <a:srgbClr val="1A1440"/>
                          </a:solidFill>
                          <a:latin typeface="Calibri"/>
                        </a:rPr>
                        <a:t>+36.0%</a:t>
                      </a:r>
                    </a:p>
                  </a:txBody>
                  <a:tcPr marL="101600" marR="101600" marT="38100" marB="38100" anchor="ctr">
                    <a:solidFill>
                      <a:srgbClr val="F4F2FA"/>
                    </a:solidFill>
                  </a:tcPr>
                </a:tc>
              </a:tr>
              <a:tr h="335280">
                <a:tc>
                  <a:txBody>
                    <a:bodyPr/>
                    <a:lstStyle/>
                    <a:p>
                      <a:r>
                        <a:rPr sz="1200" b="0" i="0">
                          <a:solidFill>
                            <a:srgbClr val="1A1440"/>
                          </a:solidFill>
                          <a:latin typeface="Calibri"/>
                        </a:rPr>
                        <a:t>All segments</a:t>
                      </a:r>
                    </a:p>
                  </a:txBody>
                  <a:tcPr marL="101600" marR="101600" marT="38100" marB="38100" anchor="ctr">
                    <a:solidFill>
                      <a:srgbClr val="FFFFFF"/>
                    </a:solidFill>
                  </a:tcPr>
                </a:tc>
                <a:tc>
                  <a:txBody>
                    <a:bodyPr/>
                    <a:lstStyle/>
                    <a:p>
                      <a:r>
                        <a:rPr sz="1200" b="0" i="0">
                          <a:solidFill>
                            <a:srgbClr val="1A1440"/>
                          </a:solidFill>
                          <a:latin typeface="Calibri"/>
                        </a:rPr>
                        <a:t>Rs 19,94,36,150</a:t>
                      </a:r>
                    </a:p>
                  </a:txBody>
                  <a:tcPr marL="101600" marR="101600" marT="38100" marB="38100" anchor="ctr">
                    <a:solidFill>
                      <a:srgbClr val="FFFFFF"/>
                    </a:solidFill>
                  </a:tcPr>
                </a:tc>
                <a:tc>
                  <a:txBody>
                    <a:bodyPr/>
                    <a:lstStyle/>
                    <a:p>
                      <a:r>
                        <a:rPr sz="1200" b="0" i="0">
                          <a:solidFill>
                            <a:srgbClr val="1A1440"/>
                          </a:solidFill>
                          <a:latin typeface="Calibri"/>
                        </a:rPr>
                        <a:t>Rs 19,46,59,340</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5567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666488"/>
            <a:ext cx="237744" cy="237744"/>
          </a:xfrm>
          <a:prstGeom prst="rect">
            <a:avLst/>
          </a:prstGeom>
        </p:spPr>
      </p:pic>
      <p:sp>
        <p:nvSpPr>
          <p:cNvPr id="13" name="TextBox 12"/>
          <p:cNvSpPr txBox="1"/>
          <p:nvPr/>
        </p:nvSpPr>
        <p:spPr>
          <a:xfrm>
            <a:off x="1399031" y="437083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590288"/>
            <a:ext cx="9987991" cy="682752"/>
          </a:xfrm>
          <a:prstGeom prst="rect">
            <a:avLst/>
          </a:prstGeom>
          <a:noFill/>
        </p:spPr>
        <p:txBody>
          <a:bodyPr wrap="square" anchor="t" lIns="0" rIns="0" tIns="0" bIns="0">
            <a:spAutoFit/>
          </a:bodyPr>
          <a:lstStyle/>
          <a:p>
            <a:r>
              <a:rPr sz="1500" b="0" i="0">
                <a:solidFill>
                  <a:srgbClr val="1A1440"/>
                </a:solidFill>
                <a:latin typeface="Calibri"/>
              </a:rPr>
              <a:t>The deck carries Rs 19.47 crore for Q2, nearly twice the warehouse's Rs 9.84 crore, and calls Retail-Core the healthy segment the plan can leave alone.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1,450 rows, 1,000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row of the raw export stand for, and which check catches it?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payment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warehouse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550 on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rows against distinct order ids, then tie the grand total to the warehouse; either catches it in a minute. The export repeats each order's amount on every payment row, and a Sum adds every repeat.</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6" name="Oval 2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2" name="Oval 3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Remove Duplicates fix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column ticked, what does Remove Duplicates leave?</a:t>
            </a:r>
          </a:p>
        </p:txBody>
      </p:sp>
      <p:pic>
        <p:nvPicPr>
          <p:cNvPr id="9" name="mermaid diagram" descr="f89204dd7d040b1d.png"/>
          <p:cNvPicPr>
            <a:picLocks noChangeAspect="1"/>
          </p:cNvPicPr>
          <p:nvPr/>
        </p:nvPicPr>
        <p:blipFill>
          <a:blip r:embed="rId5"/>
          <a:stretch>
            <a:fillRect/>
          </a:stretch>
        </p:blipFill>
        <p:spPr>
          <a:xfrm>
            <a:off x="1238097" y="1956816"/>
            <a:ext cx="9715500"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After Remove Duplicates, the grand total reads which,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 rows go, and the total barely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removing identical rows leave the double count?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4999531"/>
                <a:gridCol w="2776238"/>
                <a:gridCol w="3355221"/>
              </a:tblGrid>
              <a:tr h="369824">
                <a:tc>
                  <a:txBody>
                    <a:bodyPr/>
                    <a:lstStyle/>
                    <a:p>
                      <a:r>
                        <a:rPr sz="1450" b="1" i="0">
                          <a:solidFill>
                            <a:srgbClr val="FFFFFF"/>
                          </a:solidFill>
                          <a:latin typeface="Calibri"/>
                        </a:rPr>
                        <a:t>Version of the export</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Grand total</a:t>
                      </a:r>
                    </a:p>
                  </a:txBody>
                  <a:tcPr marL="101600" marR="101600" marT="38100" marB="38100" anchor="ctr">
                    <a:solidFill>
                      <a:srgbClr val="1A0F5C"/>
                    </a:solidFill>
                  </a:tcPr>
                </a:tc>
              </a:tr>
              <a:tr h="369824">
                <a:tc>
                  <a:txBody>
                    <a:bodyPr/>
                    <a:lstStyle/>
                    <a:p>
                      <a:r>
                        <a:rPr sz="1400" b="0" i="0">
                          <a:solidFill>
                            <a:srgbClr val="1A1440"/>
                          </a:solidFill>
                          <a:latin typeface="Calibri"/>
                        </a:rPr>
                        <a:t>As exported</a:t>
                      </a:r>
                    </a:p>
                  </a:txBody>
                  <a:tcPr marL="101600" marR="101600" marT="38100" marB="38100" anchor="ctr">
                    <a:solidFill>
                      <a:srgbClr val="FFFFFF"/>
                    </a:solidFill>
                  </a:tcPr>
                </a:tc>
                <a:tc>
                  <a:txBody>
                    <a:bodyPr/>
                    <a:lstStyle/>
                    <a:p>
                      <a:r>
                        <a:rPr sz="1400" b="0" i="0">
                          <a:solidFill>
                            <a:srgbClr val="1A1440"/>
                          </a:solidFill>
                          <a:latin typeface="Calibri"/>
                        </a:rPr>
                        <a:t>1,450</a:t>
                      </a:r>
                    </a:p>
                  </a:txBody>
                  <a:tcPr marL="101600" marR="101600" marT="38100" marB="38100" anchor="ctr">
                    <a:solidFill>
                      <a:srgbClr val="FFFFFF"/>
                    </a:solidFill>
                  </a:tcPr>
                </a:tc>
                <a:tc>
                  <a:txBody>
                    <a:bodyPr/>
                    <a:lstStyle/>
                    <a:p>
                      <a:r>
                        <a:rPr sz="1400" b="0" i="0">
                          <a:solidFill>
                            <a:srgbClr val="1A1440"/>
                          </a:solidFill>
                          <a:latin typeface="Calibri"/>
                        </a:rPr>
                        <a:t>Rs 39,40,95,490</a:t>
                      </a:r>
                    </a:p>
                  </a:txBody>
                  <a:tcPr marL="101600" marR="101600" marT="38100" marB="38100" anchor="ctr">
                    <a:solidFill>
                      <a:srgbClr val="FFFFFF"/>
                    </a:solidFill>
                  </a:tcPr>
                </a:tc>
              </a:tr>
              <a:tr h="369824">
                <a:tc>
                  <a:txBody>
                    <a:bodyPr/>
                    <a:lstStyle/>
                    <a:p>
                      <a:r>
                        <a:rPr sz="1400" b="0" i="0">
                          <a:solidFill>
                            <a:srgbClr val="1A1440"/>
                          </a:solidFill>
                          <a:latin typeface="Calibri"/>
                        </a:rPr>
                        <a:t>After Remove Duplicates</a:t>
                      </a:r>
                    </a:p>
                  </a:txBody>
                  <a:tcPr marL="101600" marR="101600" marT="38100" marB="38100" anchor="ctr">
                    <a:solidFill>
                      <a:srgbClr val="F4F2FA"/>
                    </a:solidFill>
                  </a:tcPr>
                </a:tc>
                <a:tc>
                  <a:txBody>
                    <a:bodyPr/>
                    <a:lstStyle/>
                    <a:p>
                      <a:r>
                        <a:rPr sz="1400" b="0" i="0">
                          <a:solidFill>
                            <a:srgbClr val="1A1440"/>
                          </a:solidFill>
                          <a:latin typeface="Calibri"/>
                        </a:rPr>
                        <a:t>1,400</a:t>
                      </a:r>
                    </a:p>
                  </a:txBody>
                  <a:tcPr marL="101600" marR="101600" marT="38100" marB="38100" anchor="ctr">
                    <a:solidFill>
                      <a:srgbClr val="F4F2FA"/>
                    </a:solidFill>
                  </a:tcPr>
                </a:tc>
                <a:tc>
                  <a:txBody>
                    <a:bodyPr/>
                    <a:lstStyle/>
                    <a:p>
                      <a:r>
                        <a:rPr sz="1400" b="0" i="0">
                          <a:solidFill>
                            <a:srgbClr val="1A1440"/>
                          </a:solidFill>
                          <a:latin typeface="Calibri"/>
                        </a:rPr>
                        <a:t>Rs 39,40,57,740</a:t>
                      </a:r>
                    </a:p>
                  </a:txBody>
                  <a:tcPr marL="101600" marR="101600" marT="38100" marB="38100" anchor="ctr">
                    <a:solidFill>
                      <a:srgbClr val="F4F2FA"/>
                    </a:solidFill>
                  </a:tcPr>
                </a:tc>
              </a:tr>
              <a:tr h="369824">
                <a:tc>
                  <a:txBody>
                    <a:bodyPr/>
                    <a:lstStyle/>
                    <a:p>
                      <a:r>
                        <a:rPr sz="1400" b="0" i="0">
                          <a:solidFill>
                            <a:srgbClr val="1A1440"/>
                          </a:solidFill>
                          <a:latin typeface="Calibri"/>
                        </a:rPr>
                        <a:t>The warehouse</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c>
                  <a:txBody>
                    <a:bodyPr/>
                    <a:lstStyle/>
                    <a:p>
                      <a:r>
                        <a:rPr sz="1400" b="0" i="0">
                          <a:solidFill>
                            <a:srgbClr val="1A1440"/>
                          </a:solidFill>
                          <a:latin typeface="Calibri"/>
                        </a:rPr>
                        <a:t>Rs 19,84,00,000</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Only the 50 orders the gateway posted twice have identical rows; the 400 orders paid in two instalments differ in paid_amount, so both rows stay. Now the analyst believes the file is clean.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flag each order's first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tree say when each order counts once?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=IF(COUNTIF($A$2:A2,A2)=1,1,0)</a:t>
            </a:r>
          </a:p>
        </p:txBody>
      </p:sp>
      <p:graphicFrame>
        <p:nvGraphicFramePr>
          <p:cNvPr id="14" name="Table 13"/>
          <p:cNvGraphicFramePr>
            <a:graphicFrameLocks noGrp="1"/>
          </p:cNvGraphicFramePr>
          <p:nvPr/>
        </p:nvGraphicFramePr>
        <p:xfrm>
          <a:off x="530352" y="2831084"/>
          <a:ext cx="11130990" cy="1676400"/>
        </p:xfrm>
        <a:graphic>
          <a:graphicData uri="http://schemas.openxmlformats.org/drawingml/2006/table">
            <a:tbl>
              <a:tblPr firstRow="0" bandRow="0">
                <a:tableStyleId>{2D5ABB26-0587-4C30-8999-92F81FD0307C}</a:tableStyleId>
              </a:tblPr>
              <a:tblGrid>
                <a:gridCol w="3060476"/>
                <a:gridCol w="3681573"/>
                <a:gridCol w="3474541"/>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9,90,14,440</a:t>
                      </a:r>
                    </a:p>
                  </a:txBody>
                  <a:tcPr marL="101600" marR="101600" marT="38100" marB="38100" anchor="ctr">
                    <a:solidFill>
                      <a:srgbClr val="FFFFFF"/>
                    </a:solidFill>
                  </a:tcPr>
                </a:tc>
                <a:tc>
                  <a:txBody>
                    <a:bodyPr/>
                    <a:lstStyle/>
                    <a:p>
                      <a:r>
                        <a:rPr sz="1200" b="0" i="0">
                          <a:solidFill>
                            <a:srgbClr val="1A1440"/>
                          </a:solidFill>
                          <a:latin typeface="Calibri"/>
                        </a:rPr>
                        <a:t>Rs 9,75,84,600</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Rs 3,73,070</a:t>
                      </a:r>
                    </a:p>
                  </a:txBody>
                  <a:tcPr marL="101600" marR="101600" marT="38100" marB="38100" anchor="ctr">
                    <a:solidFill>
                      <a:srgbClr val="F4F2FA"/>
                    </a:solidFill>
                  </a:tcPr>
                </a:tc>
                <a:tc>
                  <a:txBody>
                    <a:bodyPr/>
                    <a:lstStyle/>
                    <a:p>
                      <a:r>
                        <a:rPr sz="1200" b="0" i="0">
                          <a:solidFill>
                            <a:srgbClr val="1A1440"/>
                          </a:solidFill>
                          <a:latin typeface="Calibri"/>
                        </a:rPr>
                        <a:t>Rs 3,66,250</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Rs 5,85,770</a:t>
                      </a:r>
                    </a:p>
                  </a:txBody>
                  <a:tcPr marL="101600" marR="101600" marT="38100" marB="38100" anchor="ctr">
                    <a:solidFill>
                      <a:srgbClr val="FFFFFF"/>
                    </a:solidFill>
                  </a:tcPr>
                </a:tc>
                <a:tc>
                  <a:txBody>
                    <a:bodyPr/>
                    <a:lstStyle/>
                    <a:p>
                      <a:r>
                        <a:rPr sz="1200" b="0" i="0">
                          <a:solidFill>
                            <a:srgbClr val="1A1440"/>
                          </a:solidFill>
                          <a:latin typeface="Calibri"/>
                        </a:rPr>
                        <a:t>Rs 4,13,380</a:t>
                      </a:r>
                    </a:p>
                  </a:txBody>
                  <a:tcPr marL="101600" marR="101600" marT="38100" marB="38100" anchor="ctr">
                    <a:solidFill>
                      <a:srgbClr val="FFFFFF"/>
                    </a:solidFill>
                  </a:tcPr>
                </a:tc>
                <a:tc>
                  <a:txBody>
                    <a:bodyPr/>
                    <a:lstStyle/>
                    <a:p>
                      <a:r>
                        <a:rPr sz="1200" b="0" i="0">
                          <a:solidFill>
                            <a:srgbClr val="1A1440"/>
                          </a:solidFill>
                          <a:latin typeface="Calibri"/>
                        </a:rPr>
                        <a:t>-29.4%</a:t>
                      </a:r>
                    </a:p>
                  </a:txBody>
                  <a:tcPr marL="101600" marR="101600" marT="38100" marB="38100" anchor="ctr">
                    <a:solidFill>
                      <a:srgbClr val="FFFFFF"/>
                    </a:solidFill>
                  </a:tcPr>
                </a:tc>
              </a:tr>
              <a:tr h="335280">
                <a:tc>
                  <a:txBody>
                    <a:bodyPr/>
                    <a:lstStyle/>
                    <a:p>
                      <a:r>
                        <a:rPr sz="1200" b="0" i="0">
                          <a:solidFill>
                            <a:srgbClr val="1A1440"/>
                          </a:solidFill>
                          <a:latin typeface="Calibri"/>
                        </a:rPr>
                        <a:t>All segments</a:t>
                      </a:r>
                    </a:p>
                  </a:txBody>
                  <a:tcPr marL="101600" marR="101600" marT="38100" marB="38100" anchor="ctr">
                    <a:solidFill>
                      <a:srgbClr val="F4F2FA"/>
                    </a:solidFill>
                  </a:tcPr>
                </a:tc>
                <a:tc>
                  <a:txBody>
                    <a:bodyPr/>
                    <a:lstStyle/>
                    <a:p>
                      <a:r>
                        <a:rPr sz="1200" b="0" i="0">
                          <a:solidFill>
                            <a:srgbClr val="1A1440"/>
                          </a:solidFill>
                          <a:latin typeface="Calibri"/>
                        </a:rPr>
                        <a:t>Rs 10,00,00,000</a:t>
                      </a:r>
                    </a:p>
                  </a:txBody>
                  <a:tcPr marL="101600" marR="101600" marT="38100" marB="38100" anchor="ctr">
                    <a:solidFill>
                      <a:srgbClr val="F4F2FA"/>
                    </a:solidFill>
                  </a:tcPr>
                </a:tc>
                <a:tc>
                  <a:txBody>
                    <a:bodyPr/>
                    <a:lstStyle/>
                    <a:p>
                      <a:r>
                        <a:rPr sz="1200" b="0" i="0">
                          <a:solidFill>
                            <a:srgbClr val="1A1440"/>
                          </a:solidFill>
                          <a:latin typeface="Calibri"/>
                        </a:rPr>
                        <a:t>Rs 9,84,00,000</a:t>
                      </a:r>
                    </a:p>
                  </a:txBody>
                  <a:tcPr marL="101600" marR="101600" marT="38100" marB="38100" anchor="ctr">
                    <a:solidFill>
                      <a:srgbClr val="F4F2FA"/>
                    </a:solidFill>
                  </a:tcPr>
                </a:tc>
                <a:tc>
                  <a:txBody>
                    <a:bodyPr/>
                    <a:lstStyle/>
                    <a:p>
                      <a:r>
                        <a:rPr sz="1200" b="0" i="0">
                          <a:solidFill>
                            <a:srgbClr val="1A1440"/>
                          </a:solidFill>
                          <a:latin typeface="Calibri"/>
                        </a:rPr>
                        <a:t>-1.6%</a:t>
                      </a:r>
                    </a:p>
                  </a:txBody>
                  <a:tcPr marL="101600" marR="101600" marT="38100" marB="38100" anchor="ctr">
                    <a:solidFill>
                      <a:srgbClr val="F4F2FA"/>
                    </a:solidFill>
                  </a:tcPr>
                </a:tc>
              </a:tr>
            </a:tbl>
          </a:graphicData>
        </a:graphic>
      </p:graphicFrame>
      <p:sp>
        <p:nvSpPr>
          <p:cNvPr id="15" name="Rounded Rectangle 14"/>
          <p:cNvSpPr/>
          <p:nvPr/>
        </p:nvSpPr>
        <p:spPr>
          <a:xfrm>
            <a:off x="530352" y="47635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8915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88238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total falls by Rs 19,56,95,490 to the warehouse's, and Retail-Core turns from a 1.0 percent rise into a 1.8 percent fall.</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rupees Business fell most; Plus fell steepest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and which leaf fell?</a:t>
            </a:r>
          </a:p>
        </p:txBody>
      </p:sp>
      <p:pic>
        <p:nvPicPr>
          <p:cNvPr id="9" name="mermaid diagram" descr="3f65db50375104f2.png"/>
          <p:cNvPicPr>
            <a:picLocks noChangeAspect="1"/>
          </p:cNvPicPr>
          <p:nvPr/>
        </p:nvPicPr>
        <p:blipFill>
          <a:blip r:embed="rId5"/>
          <a:stretch>
            <a:fillRect/>
          </a:stretch>
        </p:blipFill>
        <p:spPr>
          <a:xfrm>
            <a:off x="2566835" y="1840039"/>
            <a:ext cx="7058025" cy="2714625"/>
          </a:xfrm>
          <a:prstGeom prst="rect">
            <a:avLst/>
          </a:prstGeom>
        </p:spPr>
      </p:pic>
      <p:graphicFrame>
        <p:nvGraphicFramePr>
          <p:cNvPr id="10" name="Table 9"/>
          <p:cNvGraphicFramePr>
            <a:graphicFrameLocks noGrp="1"/>
          </p:cNvGraphicFramePr>
          <p:nvPr/>
        </p:nvGraphicFramePr>
        <p:xfrm>
          <a:off x="530352" y="4700968"/>
          <a:ext cx="11130991" cy="1341120"/>
        </p:xfrm>
        <a:graphic>
          <a:graphicData uri="http://schemas.openxmlformats.org/drawingml/2006/table">
            <a:tbl>
              <a:tblPr firstRow="0" bandRow="0">
                <a:tableStyleId>{2D5ABB26-0587-4C30-8999-92F81FD0307C}</a:tableStyleId>
              </a:tblPr>
              <a:tblGrid>
                <a:gridCol w="8387791"/>
                <a:gridCol w="914400"/>
                <a:gridCol w="914400"/>
                <a:gridCol w="914400"/>
              </a:tblGrid>
              <a:tr h="335280">
                <a:tc>
                  <a:txBody>
                    <a:bodyPr/>
                    <a:lstStyle/>
                    <a:p>
                      <a:r>
                        <a:rPr sz="1250" b="1" i="0">
                          <a:solidFill>
                            <a:srgbClr val="FFFFFF"/>
                          </a:solidFill>
                          <a:latin typeface="Calibri"/>
                        </a:rPr>
                        <a:t>Retail-Plus</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-16.5%</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2.36</a:t>
                      </a:r>
                    </a:p>
                  </a:txBody>
                  <a:tcPr marL="101600" marR="101600" marT="38100" marB="38100" anchor="ctr">
                    <a:solidFill>
                      <a:srgbClr val="F4F2FA"/>
                    </a:solidFill>
                  </a:tcPr>
                </a:tc>
                <a:tc>
                  <a:txBody>
                    <a:bodyPr/>
                    <a:lstStyle/>
                    <a:p>
                      <a:r>
                        <a:rPr sz="1200" b="0" i="0">
                          <a:solidFill>
                            <a:srgbClr val="1A1440"/>
                          </a:solidFill>
                          <a:latin typeface="Calibri"/>
                        </a:rPr>
                        <a:t>1.84</a:t>
                      </a:r>
                    </a:p>
                  </a:txBody>
                  <a:tcPr marL="101600" marR="101600" marT="38100" marB="38100" anchor="ctr">
                    <a:solidFill>
                      <a:srgbClr val="F4F2FA"/>
                    </a:solidFill>
                  </a:tcPr>
                </a:tc>
                <a:tc>
                  <a:txBody>
                    <a:bodyPr/>
                    <a:lstStyle/>
                    <a:p>
                      <a:r>
                        <a:rPr sz="1200" b="0" i="0">
                          <a:solidFill>
                            <a:srgbClr val="1A1440"/>
                          </a:solidFill>
                          <a:latin typeface="Calibri"/>
                        </a:rPr>
                        <a:t>-22.0%</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2,725</a:t>
                      </a:r>
                    </a:p>
                  </a:txBody>
                  <a:tcPr marL="101600" marR="101600" marT="38100" marB="38100" anchor="ctr">
                    <a:solidFill>
                      <a:srgbClr val="FFFFFF"/>
                    </a:solidFill>
                  </a:tcPr>
                </a:tc>
                <a:tc>
                  <a:txBody>
                    <a:bodyPr/>
                    <a:lstStyle/>
                    <a:p>
                      <a:r>
                        <a:rPr sz="1200" b="0" i="0">
                          <a:solidFill>
                            <a:srgbClr val="1A1440"/>
                          </a:solidFill>
                          <a:latin typeface="Calibri"/>
                        </a:rPr>
                        <a:t>Rs 2,953</a:t>
                      </a:r>
                    </a:p>
                  </a:txBody>
                  <a:tcPr marL="101600" marR="101600" marT="38100" marB="38100" anchor="ctr">
                    <a:solidFill>
                      <a:srgbClr val="FFFFFF"/>
                    </a:solidFill>
                  </a:tcPr>
                </a:tc>
                <a:tc>
                  <a:txBody>
                    <a:bodyPr/>
                    <a:lstStyle/>
                    <a:p>
                      <a:r>
                        <a:rPr sz="1200" b="0" i="0">
                          <a:solidFill>
                            <a:srgbClr val="1A1440"/>
                          </a:solidFill>
                          <a:latin typeface="Calibri"/>
                        </a:rPr>
                        <a:t>+8.4%</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numbers by a query that never saw the export?</a:t>
            </a:r>
          </a:p>
        </p:txBody>
      </p:sp>
      <p:pic>
        <p:nvPicPr>
          <p:cNvPr id="9" name="mermaid diagram" descr="d90497c0f4024966.png"/>
          <p:cNvPicPr>
            <a:picLocks noChangeAspect="1"/>
          </p:cNvPicPr>
          <p:nvPr/>
        </p:nvPicPr>
        <p:blipFill>
          <a:blip r:embed="rId5"/>
          <a:stretch>
            <a:fillRect/>
          </a:stretch>
        </p:blipFill>
        <p:spPr>
          <a:xfrm>
            <a:off x="2252510" y="1956816"/>
            <a:ext cx="768667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SELECT quarter, count(*), sum(amount) FROM orders GROUP BY quarter returns 538 orders and Rs 10,00,00,000 for Q1, 462 and Rs 9,84,00,000 for Q2: equal to the export counted once, to the rupee and to the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80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Down 1.6 percent; Plus fell on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2 answer, question by question?</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2698708"/>
                <a:gridCol w="8432282"/>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Which quarter?</a:t>
                      </a:r>
                    </a:p>
                  </a:txBody>
                  <a:tcPr marL="101600" marR="101600" marT="38100" marB="38100" anchor="ctr">
                    <a:solidFill>
                      <a:srgbClr val="FFFFFF"/>
                    </a:solidFill>
                  </a:tcPr>
                </a:tc>
                <a:tc>
                  <a:txBody>
                    <a:bodyPr/>
                    <a:lstStyle/>
                    <a:p>
                      <a:r>
                        <a:rPr sz="900" b="0" i="0">
                          <a:solidFill>
                            <a:srgbClr val="1A1440"/>
                          </a:solidFill>
                          <a:latin typeface="Calibri"/>
                        </a:rPr>
                        <a:t>772 rows in Q1, 678 in Q2</a:t>
                      </a:r>
                    </a:p>
                  </a:txBody>
                  <a:tcPr marL="101600" marR="101600" marT="38100" marB="38100" anchor="ctr">
                    <a:solidFill>
                      <a:srgbClr val="FFFFFF"/>
                    </a:solidFill>
                  </a:tcPr>
                </a:tc>
              </a:tr>
              <a:tr h="310896">
                <a:tc>
                  <a:txBody>
                    <a:bodyPr/>
                    <a:lstStyle/>
                    <a:p>
                      <a:r>
                        <a:rPr sz="900" b="0" i="0">
                          <a:solidFill>
                            <a:srgbClr val="1A1440"/>
                          </a:solidFill>
                          <a:latin typeface="Calibri"/>
                        </a:rPr>
                        <a:t>The pivot says?</a:t>
                      </a:r>
                    </a:p>
                  </a:txBody>
                  <a:tcPr marL="101600" marR="101600" marT="38100" marB="38100" anchor="ctr">
                    <a:solidFill>
                      <a:srgbClr val="F4F2FA"/>
                    </a:solidFill>
                  </a:tcPr>
                </a:tc>
                <a:tc>
                  <a:txBody>
                    <a:bodyPr/>
                    <a:lstStyle/>
                    <a:p>
                      <a:r>
                        <a:rPr sz="900" b="0" i="0">
                          <a:solidFill>
                            <a:srgbClr val="1A1440"/>
                          </a:solidFill>
                          <a:latin typeface="Calibri"/>
                        </a:rPr>
                        <a:t>Rs 19,94,36,150 and Rs 19,46,59,340; Core up 1.0%</a:t>
                      </a:r>
                    </a:p>
                  </a:txBody>
                  <a:tcPr marL="101600" marR="101600" marT="38100" marB="38100" anchor="ctr">
                    <a:solidFill>
                      <a:srgbClr val="F4F2FA"/>
                    </a:solidFill>
                  </a:tcPr>
                </a:tc>
              </a:tr>
              <a:tr h="310896">
                <a:tc>
                  <a:txBody>
                    <a:bodyPr/>
                    <a:lstStyle/>
                    <a:p>
                      <a:r>
                        <a:rPr sz="900" b="0" i="0">
                          <a:solidFill>
                            <a:srgbClr val="1A1440"/>
                          </a:solidFill>
                          <a:latin typeface="Calibri"/>
                        </a:rPr>
                        <a:t>Why double?</a:t>
                      </a:r>
                    </a:p>
                  </a:txBody>
                  <a:tcPr marL="101600" marR="101600" marT="38100" marB="38100" anchor="ctr">
                    <a:solidFill>
                      <a:srgbClr val="FFFFFF"/>
                    </a:solidFill>
                  </a:tcPr>
                </a:tc>
                <a:tc>
                  <a:txBody>
                    <a:bodyPr/>
                    <a:lstStyle/>
                    <a:p>
                      <a:r>
                        <a:rPr sz="900" b="0" i="0">
                          <a:solidFill>
                            <a:srgbClr val="1A1440"/>
                          </a:solidFill>
                          <a:latin typeface="Calibri"/>
                        </a:rPr>
                        <a:t>One row per payment; Remove Duplicates leaves Rs 39,40,57,740</a:t>
                      </a:r>
                    </a:p>
                  </a:txBody>
                  <a:tcPr marL="101600" marR="101600" marT="38100" marB="38100" anchor="ctr">
                    <a:solidFill>
                      <a:srgbClr val="FFFFFF"/>
                    </a:solidFill>
                  </a:tcPr>
                </a:tc>
              </a:tr>
              <a:tr h="310896">
                <a:tc>
                  <a:txBody>
                    <a:bodyPr/>
                    <a:lstStyle/>
                    <a:p>
                      <a:r>
                        <a:rPr sz="900" b="0" i="0">
                          <a:solidFill>
                            <a:srgbClr val="1A1440"/>
                          </a:solidFill>
                          <a:latin typeface="Calibri"/>
                        </a:rPr>
                        <a:t>Counted once?</a:t>
                      </a:r>
                    </a:p>
                  </a:txBody>
                  <a:tcPr marL="101600" marR="101600" marT="38100" marB="38100" anchor="ctr">
                    <a:solidFill>
                      <a:srgbClr val="F4F2FA"/>
                    </a:solidFill>
                  </a:tcPr>
                </a:tc>
                <a:tc>
                  <a:txBody>
                    <a:bodyPr/>
                    <a:lstStyle/>
                    <a:p>
                      <a:r>
                        <a:rPr sz="900" b="0" i="0">
                          <a:solidFill>
                            <a:srgbClr val="1A1440"/>
                          </a:solidFill>
                          <a:latin typeface="Calibri"/>
                        </a:rPr>
                        <a:t>Rs 10.00 crore to Rs 9.84 crore, down 1.6%</a:t>
                      </a:r>
                    </a:p>
                  </a:txBody>
                  <a:tcPr marL="101600" marR="101600" marT="38100" marB="38100" anchor="ctr">
                    <a:solidFill>
                      <a:srgbClr val="F4F2FA"/>
                    </a:solidFill>
                  </a:tcPr>
                </a:tc>
              </a:tr>
              <a:tr h="310896">
                <a:tc>
                  <a:txBody>
                    <a:bodyPr/>
                    <a:lstStyle/>
                    <a:p>
                      <a:r>
                        <a:rPr sz="900" b="0" i="0">
                          <a:solidFill>
                            <a:srgbClr val="1A1440"/>
                          </a:solidFill>
                          <a:latin typeface="Calibri"/>
                        </a:rPr>
                        <a:t>Which leaf fell?</a:t>
                      </a:r>
                    </a:p>
                  </a:txBody>
                  <a:tcPr marL="101600" marR="101600" marT="38100" marB="38100" anchor="ctr">
                    <a:solidFill>
                      <a:srgbClr val="FFFFFF"/>
                    </a:solidFill>
                  </a:tcPr>
                </a:tc>
                <a:tc>
                  <a:txBody>
                    <a:bodyPr/>
                    <a:lstStyle/>
                    <a:p>
                      <a:r>
                        <a:rPr sz="900" b="0" i="0">
                          <a:solidFill>
                            <a:srgbClr val="1A1440"/>
                          </a:solidFill>
                          <a:latin typeface="Calibri"/>
                        </a:rPr>
                        <a:t>Business most in rupees; Retail-Plus 29.4% on frequency</a:t>
                      </a:r>
                    </a:p>
                  </a:txBody>
                  <a:tcPr marL="101600" marR="101600" marT="38100" marB="38100" anchor="ctr">
                    <a:solidFill>
                      <a:srgbClr val="FFFFFF"/>
                    </a:solidFill>
                  </a:tcPr>
                </a:tc>
              </a:tr>
              <a:tr h="310896">
                <a:tc>
                  <a:txBody>
                    <a:bodyPr/>
                    <a:lstStyle/>
                    <a:p>
                      <a:r>
                        <a:rPr sz="900" b="0" i="0">
                          <a:solidFill>
                            <a:srgbClr val="1A1440"/>
                          </a:solidFill>
                          <a:latin typeface="Calibri"/>
                        </a:rPr>
                        <a:t>Warehouse agrees?</a:t>
                      </a:r>
                    </a:p>
                  </a:txBody>
                  <a:tcPr marL="101600" marR="101600" marT="38100" marB="38100" anchor="ctr">
                    <a:solidFill>
                      <a:srgbClr val="F4F2FA"/>
                    </a:solidFill>
                  </a:tcPr>
                </a:tc>
                <a:tc>
                  <a:txBody>
                    <a:bodyPr/>
                    <a:lstStyle/>
                    <a:p>
                      <a:r>
                        <a:rPr sz="900" b="0" i="0">
                          <a:solidFill>
                            <a:srgbClr val="1A1440"/>
                          </a:solidFill>
                          <a:latin typeface="Calibri"/>
                        </a:rPr>
                        <a:t>To the rupee, both quarters</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"The two exports came at two grains. Say the grain, count rows against ids, and tie the total to the warehouse before the pivot goes anywhere."</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Your pivot shows a different total from the warehouse; where do you look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80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Find any member by id?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Retail-Plus members go on the protect list, and when the chief of staff types an id, does the sheet answer for that member? Retention offers ride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40 / 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list to the lookup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who sends the fifty a retention offer, and the chief of staff, who reads a member's line aloud when a director names one; a wrong row tells a director that a lapsed member is one of the best.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is on it?</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fifty, and where the list stops.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Does it tie?</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list's source against the warehouse.</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lookup?</a:t>
            </a:r>
          </a:p>
        </p:txBody>
      </p:sp>
      <p:sp>
        <p:nvSpPr>
          <p:cNvPr id="27" name="TextBox 26"/>
          <p:cNvSpPr txBox="1"/>
          <p:nvPr/>
        </p:nvSpPr>
        <p:spPr>
          <a:xfrm>
            <a:off x="446623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missing id?</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the fourth argument does.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Found or not?</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exact match, and a re-sorted list.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A count agrees?</a:t>
            </a:r>
          </a:p>
        </p:txBody>
      </p:sp>
      <p:sp>
        <p:nvSpPr>
          <p:cNvPr id="42" name="TextBox 41"/>
          <p:cNvSpPr txBox="1"/>
          <p:nvPr/>
        </p:nvSpPr>
        <p:spPr>
          <a:xfrm>
            <a:off x="10123170" y="451688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sizes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row cost?</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50</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PROTECTED</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by two-quarter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Head of Retail-Plus</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sends the retention offer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One offer</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ROW COSTS</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spent on someone who stopped buying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top-fifty protect list with a lookup so I can find any member by id."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TransAlta's ranked sheet returned the wrong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lost money to a sorted list whose rows answered for the wrong item?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US$24 m</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COST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TransAlta, 2003</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 YEAR'S PROFIT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Globe and Mail</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"It was literally a cut-and-paste error in an Excel spreadsheet that we did not detect when we did our final sorting and ranking of bids prior to submission."</a:t>
            </a:r>
          </a:p>
          <a:p>
            <a:pPr>
              <a:spcBef>
                <a:spcPts val="400"/>
              </a:spcBef>
            </a:pPr>
            <a:r>
              <a:rPr sz="1000" b="0" i="0">
                <a:solidFill>
                  <a:srgbClr val="6B6690"/>
                </a:solidFill>
                <a:latin typeface="Calibri"/>
              </a:rPr>
              <a:t>Steve Snyder, TransAlta's president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1" name="Oval 20"/>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3" name="Oval 22"/>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5" name="Oval 2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7" name="Oval 2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exact match that says when an id is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lookup should answer "find this member", and what does each one return?</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4018246"/>
                <a:gridCol w="2162981"/>
                <a:gridCol w="2162981"/>
                <a:gridCol w="1585788"/>
                <a:gridCol w="120099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 present id, C-0152</a:t>
                      </a:r>
                    </a:p>
                  </a:txBody>
                  <a:tcPr marL="101600" marR="101600" marT="38100" marB="38100" anchor="ctr">
                    <a:solidFill>
                      <a:srgbClr val="1A0F5C"/>
                    </a:solidFill>
                  </a:tcPr>
                </a:tc>
                <a:tc>
                  <a:txBody>
                    <a:bodyPr/>
                    <a:lstStyle/>
                    <a:p>
                      <a:r>
                        <a:rPr sz="1250" b="1" i="0">
                          <a:solidFill>
                            <a:srgbClr val="FFFFFF"/>
                          </a:solidFill>
                          <a:latin typeface="Calibri"/>
                        </a:rPr>
                        <a:t>An absent id, C-0195</a:t>
                      </a:r>
                    </a:p>
                  </a:txBody>
                  <a:tcPr marL="101600" marR="101600" marT="38100" marB="38100" anchor="ctr">
                    <a:solidFill>
                      <a:srgbClr val="1A0F5C"/>
                    </a:solidFill>
                  </a:tcPr>
                </a:tc>
                <a:tc>
                  <a:txBody>
                    <a:bodyPr/>
                    <a:lstStyle/>
                    <a:p>
                      <a:r>
                        <a:rPr sz="1250" b="1" i="0">
                          <a:solidFill>
                            <a:srgbClr val="FFFFFF"/>
                          </a:solidFill>
                          <a:latin typeface="Calibri"/>
                        </a:rPr>
                        <a:t>Re-sorted list</a:t>
                      </a:r>
                    </a:p>
                  </a:txBody>
                  <a:tcPr marL="101600" marR="101600" marT="38100" marB="38100" anchor="ctr">
                    <a:solidFill>
                      <a:srgbClr val="1A0F5C"/>
                    </a:solidFill>
                  </a:tcPr>
                </a:tc>
                <a:tc>
                  <a:txBody>
                    <a:bodyPr/>
                    <a:lstStyle/>
                    <a:p>
                      <a:r>
                        <a:rPr sz="1250" b="1" i="0">
                          <a:solidFill>
                            <a:srgbClr val="FFFFFF"/>
                          </a:solidFill>
                          <a:latin typeface="Calibri"/>
                        </a:rPr>
                        <a:t>Excel 2016</a:t>
                      </a:r>
                    </a:p>
                  </a:txBody>
                  <a:tcPr marL="101600" marR="101600" marT="38100" marB="38100" anchor="ctr">
                    <a:solidFill>
                      <a:srgbClr val="1A0F5C"/>
                    </a:solidFill>
                  </a:tcPr>
                </a:tc>
              </a:tr>
              <a:tr h="335280">
                <a:tc>
                  <a:txBody>
                    <a:bodyPr/>
                    <a:lstStyle/>
                    <a:p>
                      <a:r>
                        <a:rPr sz="1200" b="0" i="0">
                          <a:solidFill>
                            <a:srgbClr val="1A1440"/>
                          </a:solidFill>
                          <a:latin typeface="Calibri"/>
                        </a:rPr>
                        <a:t>a) VLOOKUP(id, A:F, 5)</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another member's row</a:t>
                      </a:r>
                    </a:p>
                  </a:txBody>
                  <a:tcPr marL="101600" marR="101600" marT="38100" marB="38100" anchor="ctr">
                    <a:solidFill>
                      <a:srgbClr val="FFFFFF"/>
                    </a:solidFill>
                  </a:tcPr>
                </a:tc>
                <a:tc>
                  <a:txBody>
                    <a:bodyPr/>
                    <a:lstStyle/>
                    <a:p>
                      <a:r>
                        <a:rPr sz="1200" b="0" i="0">
                          <a:solidFill>
                            <a:srgbClr val="1A1440"/>
                          </a:solidFill>
                          <a:latin typeface="Calibri"/>
                        </a:rPr>
                        <a:t>unreliable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b) VLOOKUP(id, A:F, 5, FALSE)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#N/A</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r>
              <a:tr h="335280">
                <a:tc>
                  <a:txBody>
                    <a:bodyPr/>
                    <a:lstStyle/>
                    <a:p>
                      <a:r>
                        <a:rPr sz="1200" b="0" i="0">
                          <a:solidFill>
                            <a:srgbClr val="1A1440"/>
                          </a:solidFill>
                          <a:latin typeface="Calibri"/>
                        </a:rPr>
                        <a:t>c) IFERROR(INDEX(MATCH)), exact</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not in the table</a:t>
                      </a:r>
                    </a:p>
                  </a:txBody>
                  <a:tcPr marL="101600" marR="101600" marT="38100" marB="38100" anchor="ctr">
                    <a:solidFill>
                      <a:srgbClr val="FFFFFF"/>
                    </a:solidFill>
                  </a:tcPr>
                </a:tc>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XLOOKUP(id, A:A, E:E, "not in the table")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not in the table</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on the room's Microsoft 365, c wherever the file must open. What would switch it: the Excel version on the chief of staff's laptop.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makes the list, and where does it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Filter to Retail-Plus, sort by revenue, keep fifty: what is the cut-off?</a:t>
            </a:r>
          </a:p>
        </p:txBody>
      </p:sp>
      <p:pic>
        <p:nvPicPr>
          <p:cNvPr id="9" name="mermaid diagram" descr="8d18a39097370279.png"/>
          <p:cNvPicPr>
            <a:picLocks noChangeAspect="1"/>
          </p:cNvPicPr>
          <p:nvPr/>
        </p:nvPicPr>
        <p:blipFill>
          <a:blip r:embed="rId5"/>
          <a:stretch>
            <a:fillRect/>
          </a:stretch>
        </p:blipFill>
        <p:spPr>
          <a:xfrm>
            <a:off x="2159641" y="1956816"/>
            <a:ext cx="78724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fiftieth member's revenue, the list's cut-off, is about which, as a letter?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8,580, and no tie at the boundary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list hold?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25,840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1</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C-0152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8,580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50, THE CUT-OFF</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51st spent Rs 8,520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FIFTY TOGETHER</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September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Fifty of the 106 Retail-Plus members make the list, and since the fifty-first spent less than the fiftieth, the list ships exactly fifty rows; Wednesday's tie rule has nothing to decide.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tie the list's source yourself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tied to the warehouse in chapter 2; does the customer table tie on its own?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Sum it</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customer table's orders and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Tie it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Against the raw export counted once, 1,000 orders and Rs 19,84,00,000.</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Find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Any id in the export and not in the table.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Say it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your answer means for the list and the lookup.</a:t>
            </a:r>
          </a:p>
        </p:txBody>
      </p:sp>
      <p:sp>
        <p:nvSpPr>
          <p:cNvPr id="30" name="Rounded Rectangle 29"/>
          <p:cNvSpPr/>
          <p:nvPr/>
        </p:nvSpPr>
        <p:spPr>
          <a:xfrm>
            <a:off x="530352" y="410362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4358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545584"/>
            <a:ext cx="237744" cy="237744"/>
          </a:xfrm>
          <a:prstGeom prst="rect">
            <a:avLst/>
          </a:prstGeom>
        </p:spPr>
      </p:pic>
      <p:sp>
        <p:nvSpPr>
          <p:cNvPr id="33" name="TextBox 32"/>
          <p:cNvSpPr txBox="1"/>
          <p:nvPr/>
        </p:nvSpPr>
        <p:spPr>
          <a:xfrm>
            <a:off x="1399031" y="424992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469384"/>
            <a:ext cx="9987991" cy="682752"/>
          </a:xfrm>
          <a:prstGeom prst="rect">
            <a:avLst/>
          </a:prstGeom>
          <a:noFill/>
        </p:spPr>
        <p:txBody>
          <a:bodyPr wrap="square" anchor="t" lIns="0" rIns="0" tIns="0" bIns="0">
            <a:spAutoFit/>
          </a:bodyPr>
          <a:lstStyle/>
          <a:p>
            <a:r>
              <a:rPr sz="1500" b="0" i="0">
                <a:solidFill>
                  <a:srgbClr val="1A1440"/>
                </a:solidFill>
                <a:latin typeface="Calibri"/>
              </a:rPr>
              <a:t>The list's source ties to the warehouse before the list ships. In Excel: SUM the table's orders and revenue, set them beside the raw export counted once, and COUNTIF each export id in the table.</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37" name="Oval 3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9" name="Oval 3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41" name="Oval 4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43" name="Oval 4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VLOOKUP return for C-0195?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table has no row for C-0195; what comes back when the fourth argument is left out?</a:t>
            </a:r>
          </a:p>
        </p:txBody>
      </p:sp>
      <p:pic>
        <p:nvPicPr>
          <p:cNvPr id="9" name="mermaid diagram" descr="201367854f6d6bf5.png"/>
          <p:cNvPicPr>
            <a:picLocks noChangeAspect="1"/>
          </p:cNvPicPr>
          <p:nvPr/>
        </p:nvPicPr>
        <p:blipFill>
          <a:blip r:embed="rId5"/>
          <a:stretch>
            <a:fillRect/>
          </a:stretch>
        </p:blipFill>
        <p:spPr>
          <a:xfrm>
            <a:off x="530352" y="2638047"/>
            <a:ext cx="4786326" cy="2606032"/>
          </a:xfrm>
          <a:prstGeom prst="rect">
            <a:avLst/>
          </a:prstGeom>
        </p:spPr>
      </p:pic>
      <p:sp>
        <p:nvSpPr>
          <p:cNvPr id="10" name="Rounded Rectangle 9"/>
          <p:cNvSpPr/>
          <p:nvPr/>
        </p:nvSpPr>
        <p:spPr>
          <a:xfrm>
            <a:off x="5761917" y="1956816"/>
            <a:ext cx="5899425"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=VLOOKUP("C-0195", A2:F301, 5)</a:t>
            </a:r>
          </a:p>
        </p:txBody>
      </p:sp>
      <p:sp>
        <p:nvSpPr>
          <p:cNvPr id="15" name="Rounded Rectangle 14"/>
          <p:cNvSpPr/>
          <p:nvPr/>
        </p:nvSpPr>
        <p:spPr>
          <a:xfrm>
            <a:off x="5761917" y="2831084"/>
            <a:ext cx="5899425"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908221" y="295910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09389" y="2949956"/>
            <a:ext cx="5332497"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comes back, as a letter?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C-0194's row, rank 15, and nothing is 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why does the sheet give it?</a:t>
            </a:r>
          </a:p>
        </p:txBody>
      </p:sp>
      <p:pic>
        <p:nvPicPr>
          <p:cNvPr id="9" name="mermaid diagram" descr="bfb2f99d8c7a58d4.png"/>
          <p:cNvPicPr>
            <a:picLocks noChangeAspect="1"/>
          </p:cNvPicPr>
          <p:nvPr/>
        </p:nvPicPr>
        <p:blipFill>
          <a:blip r:embed="rId5"/>
          <a:stretch>
            <a:fillRect/>
          </a:stretch>
        </p:blipFill>
        <p:spPr>
          <a:xfrm>
            <a:off x="2538260" y="1956816"/>
            <a:ext cx="7115175" cy="871537"/>
          </a:xfrm>
          <a:prstGeom prst="rect">
            <a:avLst/>
          </a:prstGeom>
        </p:spPr>
      </p:pic>
      <p:sp>
        <p:nvSpPr>
          <p:cNvPr id="10" name="TextBox 9"/>
          <p:cNvSpPr txBox="1"/>
          <p:nvPr/>
        </p:nvSpPr>
        <p:spPr>
          <a:xfrm>
            <a:off x="530352" y="297465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Left out, the fourth argument "will always be TRUE or approximate match" (Microsoft Support, VLOOKUP, checked 30 September 2026), which returns the largest id not above the one asked for. </a:t>
            </a:r>
            <a:r>
              <a:rPr sz="1600" b="1" i="0">
                <a:solidFill>
                  <a:srgbClr val="1A1440"/>
                </a:solidFill>
                <a:latin typeface="Calibri"/>
              </a:rPr>
              <a:t>What breaks:</a:t>
            </a:r>
            <a:r>
              <a:rPr sz="1600" b="0" i="0">
                <a:solidFill>
                  <a:srgbClr val="1A1440"/>
                </a:solidFill>
                <a:latin typeface="Calibri"/>
              </a:rPr>
              <a:t> a director hears that C-0195 spent Rs 16,740 and sits at rank 15, and a retention offer goes to someone who placed no order between April and September.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 exact match with a not-found path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C-0195, C-0152 and C-0194 return once the match is exact?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115226"/>
                <a:gridCol w="5726270"/>
                <a:gridCol w="3289494"/>
              </a:tblGrid>
              <a:tr h="369824">
                <a:tc>
                  <a:txBody>
                    <a:bodyPr/>
                    <a:lstStyle/>
                    <a:p>
                      <a:r>
                        <a:rPr sz="1450" b="1" i="0">
                          <a:solidFill>
                            <a:srgbClr val="FFFFFF"/>
                          </a:solidFill>
                          <a:latin typeface="Calibri"/>
                        </a:rPr>
                        <a:t>Asked for</a:t>
                      </a:r>
                    </a:p>
                  </a:txBody>
                  <a:tcPr marL="101600" marR="101600" marT="38100" marB="38100" anchor="ctr">
                    <a:solidFill>
                      <a:srgbClr val="1A0F5C"/>
                    </a:solidFill>
                  </a:tcPr>
                </a:tc>
                <a:tc>
                  <a:txBody>
                    <a:bodyPr/>
                    <a:lstStyle/>
                    <a:p>
                      <a:r>
                        <a:rPr sz="1450" b="1" i="0">
                          <a:solidFill>
                            <a:srgbClr val="FFFFFF"/>
                          </a:solidFill>
                          <a:latin typeface="Calibri"/>
                        </a:rPr>
                        <a:t>Exact, with a not-found path</a:t>
                      </a:r>
                    </a:p>
                  </a:txBody>
                  <a:tcPr marL="101600" marR="101600" marT="38100" marB="38100" anchor="ctr">
                    <a:solidFill>
                      <a:srgbClr val="1A0F5C"/>
                    </a:solidFill>
                  </a:tcPr>
                </a:tc>
                <a:tc>
                  <a:txBody>
                    <a:bodyPr/>
                    <a:lstStyle/>
                    <a:p>
                      <a:r>
                        <a:rPr sz="1450" b="1" i="0">
                          <a:solidFill>
                            <a:srgbClr val="FFFFFF"/>
                          </a:solidFill>
                          <a:latin typeface="Calibri"/>
                        </a:rPr>
                        <a:t>Approximate</a:t>
                      </a:r>
                    </a:p>
                  </a:txBody>
                  <a:tcPr marL="101600" marR="101600" marT="38100" marB="38100" anchor="ctr">
                    <a:solidFill>
                      <a:srgbClr val="1A0F5C"/>
                    </a:solidFill>
                  </a:tcPr>
                </a:tc>
              </a:tr>
              <a:tr h="369824">
                <a:tc>
                  <a:txBody>
                    <a:bodyPr/>
                    <a:lstStyle/>
                    <a:p>
                      <a:r>
                        <a:rPr sz="1400" b="0" i="0">
                          <a:solidFill>
                            <a:srgbClr val="1A1440"/>
                          </a:solidFill>
                          <a:latin typeface="Calibri"/>
                        </a:rPr>
                        <a:t>C-0195</a:t>
                      </a:r>
                    </a:p>
                  </a:txBody>
                  <a:tcPr marL="101600" marR="101600" marT="38100" marB="38100" anchor="ctr">
                    <a:solidFill>
                      <a:srgbClr val="FFFFFF"/>
                    </a:solidFill>
                  </a:tcPr>
                </a:tc>
                <a:tc>
                  <a:txBody>
                    <a:bodyPr/>
                    <a:lstStyle/>
                    <a:p>
                      <a:r>
                        <a:rPr sz="1400" b="0" i="0">
                          <a:solidFill>
                            <a:srgbClr val="1A1440"/>
                          </a:solidFill>
                          <a:latin typeface="Calibri"/>
                        </a:rPr>
                        <a:t>not in the table</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r h="369824">
                <a:tc>
                  <a:txBody>
                    <a:bodyPr/>
                    <a:lstStyle/>
                    <a:p>
                      <a:r>
                        <a:rPr sz="1400" b="0" i="0">
                          <a:solidFill>
                            <a:srgbClr val="1A1440"/>
                          </a:solidFill>
                          <a:latin typeface="Calibri"/>
                        </a:rPr>
                        <a:t>C-0152</a:t>
                      </a:r>
                    </a:p>
                  </a:txBody>
                  <a:tcPr marL="101600" marR="101600" marT="38100" marB="38100" anchor="ctr">
                    <a:solidFill>
                      <a:srgbClr val="F4F2FA"/>
                    </a:solidFill>
                  </a:tcPr>
                </a:tc>
                <a:tc>
                  <a:txBody>
                    <a:bodyPr/>
                    <a:lstStyle/>
                    <a:p>
                      <a:r>
                        <a:rPr sz="1400" b="0" i="0">
                          <a:solidFill>
                            <a:srgbClr val="1A1440"/>
                          </a:solidFill>
                          <a:latin typeface="Calibri"/>
                        </a:rPr>
                        <a:t>Rs 25,840</a:t>
                      </a:r>
                    </a:p>
                  </a:txBody>
                  <a:tcPr marL="101600" marR="101600" marT="38100" marB="38100" anchor="ctr">
                    <a:solidFill>
                      <a:srgbClr val="F4F2FA"/>
                    </a:solidFill>
                  </a:tcPr>
                </a:tc>
                <a:tc>
                  <a:txBody>
                    <a:bodyPr/>
                    <a:lstStyle/>
                    <a:p>
                      <a:r>
                        <a:rPr sz="1400" b="0" i="0">
                          <a:solidFill>
                            <a:srgbClr val="1A1440"/>
                          </a:solidFill>
                          <a:latin typeface="Calibri"/>
                        </a:rPr>
                        <a:t>C-0152: Rs 25,840</a:t>
                      </a:r>
                    </a:p>
                  </a:txBody>
                  <a:tcPr marL="101600" marR="101600" marT="38100" marB="38100" anchor="ctr">
                    <a:solidFill>
                      <a:srgbClr val="F4F2FA"/>
                    </a:solidFill>
                  </a:tcPr>
                </a:tc>
              </a:tr>
              <a:tr h="369824">
                <a:tc>
                  <a:txBody>
                    <a:bodyPr/>
                    <a:lstStyle/>
                    <a:p>
                      <a:r>
                        <a:rPr sz="1400" b="0" i="0">
                          <a:solidFill>
                            <a:srgbClr val="1A1440"/>
                          </a:solidFill>
                          <a:latin typeface="Calibri"/>
                        </a:rPr>
                        <a:t>C-0194</a:t>
                      </a:r>
                    </a:p>
                  </a:txBody>
                  <a:tcPr marL="101600" marR="101600" marT="38100" marB="38100" anchor="ctr">
                    <a:solidFill>
                      <a:srgbClr val="FFFFFF"/>
                    </a:solidFill>
                  </a:tcPr>
                </a:tc>
                <a:tc>
                  <a:txBody>
                    <a:bodyPr/>
                    <a:lstStyle/>
                    <a:p>
                      <a:r>
                        <a:rPr sz="1400" b="0" i="0">
                          <a:solidFill>
                            <a:srgbClr val="1A1440"/>
                          </a:solidFill>
                          <a:latin typeface="Calibri"/>
                        </a:rPr>
                        <a:t>Rs 16,740</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C-0195's line moves from "rank 15, Rs 16,740" to "not in the table", the answer that makes somebody check the export. For members in the table the two agree, which is why a lookup tested only on present ids looks fine.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room sorts the list by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each lookup once the ids are no longer in order?</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 of 49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STEPS DOWN THE LIST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to a smaller id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 of 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EXACT LOOKUPS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still right, shuffled</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approximate match assumes the first column is sorted: "If the first column isn't sorted, the return value might be something you don't expect" (Microsoft Support, VLOOKUP, checked 30 September 2026). An exact match does not care about order, so it survives the view a director actually looks at.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count instead of a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an independent count agree with the lookup?</a:t>
            </a:r>
          </a:p>
        </p:txBody>
      </p:sp>
      <p:pic>
        <p:nvPicPr>
          <p:cNvPr id="9" name="mermaid diagram" descr="2581a6ba82fe3763.png"/>
          <p:cNvPicPr>
            <a:picLocks noChangeAspect="1"/>
          </p:cNvPicPr>
          <p:nvPr/>
        </p:nvPicPr>
        <p:blipFill>
          <a:blip r:embed="rId5"/>
          <a:stretch>
            <a:fillRect/>
          </a:stretch>
        </p:blipFill>
        <p:spPr>
          <a:xfrm>
            <a:off x="3316928" y="1956816"/>
            <a:ext cx="5557837"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=COUNTIF(A:A, "C-0195") counts zero rows, which has to meet a not-found answer; =SUMIFS(E:E, A:A, "C-0152") adds Rs 25,840, which has to meet the lookup. Counting and matching are different methods, so each can catch the other.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a lookup that says so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answer, question by question?</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2761358"/>
                <a:gridCol w="8369632"/>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Who is on it?</a:t>
                      </a:r>
                    </a:p>
                  </a:txBody>
                  <a:tcPr marL="101600" marR="101600" marT="38100" marB="38100" anchor="ctr">
                    <a:solidFill>
                      <a:srgbClr val="FFFFFF"/>
                    </a:solidFill>
                  </a:tcPr>
                </a:tc>
                <a:tc>
                  <a:txBody>
                    <a:bodyPr/>
                    <a:lstStyle/>
                    <a:p>
                      <a:r>
                        <a:rPr sz="900" b="0" i="0">
                          <a:solidFill>
                            <a:srgbClr val="1A1440"/>
                          </a:solidFill>
                          <a:latin typeface="Calibri"/>
                        </a:rPr>
                        <a:t>Fifty, Rs 25,840 down to Rs 8,580</a:t>
                      </a:r>
                    </a:p>
                  </a:txBody>
                  <a:tcPr marL="101600" marR="101600" marT="38100" marB="38100" anchor="ctr">
                    <a:solidFill>
                      <a:srgbClr val="FFFFFF"/>
                    </a:solidFill>
                  </a:tcPr>
                </a:tc>
              </a:tr>
              <a:tr h="310896">
                <a:tc>
                  <a:txBody>
                    <a:bodyPr/>
                    <a:lstStyle/>
                    <a:p>
                      <a:r>
                        <a:rPr sz="900" b="0" i="0">
                          <a:solidFill>
                            <a:srgbClr val="1A1440"/>
                          </a:solidFill>
                          <a:latin typeface="Calibri"/>
                        </a:rPr>
                        <a:t>Does it tie?</a:t>
                      </a:r>
                    </a:p>
                  </a:txBody>
                  <a:tcPr marL="101600" marR="101600" marT="38100" marB="38100" anchor="ctr">
                    <a:solidFill>
                      <a:srgbClr val="F4F2FA"/>
                    </a:solidFill>
                  </a:tcPr>
                </a:tc>
                <a:tc>
                  <a:txBody>
                    <a:bodyPr/>
                    <a:lstStyle/>
                    <a:p>
                      <a:r>
                        <a:rPr sz="900" b="0" i="0">
                          <a:solidFill>
                            <a:srgbClr val="1A1440"/>
                          </a:solidFill>
                          <a:latin typeface="Calibri"/>
                        </a:rPr>
                        <a:t>The room's own answer, from the your-turn step</a:t>
                      </a:r>
                    </a:p>
                  </a:txBody>
                  <a:tcPr marL="101600" marR="101600" marT="38100" marB="38100" anchor="ctr">
                    <a:solidFill>
                      <a:srgbClr val="F4F2FA"/>
                    </a:solidFill>
                  </a:tcPr>
                </a:tc>
              </a:tr>
              <a:tr h="310896">
                <a:tc>
                  <a:txBody>
                    <a:bodyPr/>
                    <a:lstStyle/>
                    <a:p>
                      <a:r>
                        <a:rPr sz="900" b="0" i="0">
                          <a:solidFill>
                            <a:srgbClr val="1A1440"/>
                          </a:solidFill>
                          <a:latin typeface="Calibri"/>
                        </a:rPr>
                        <a:t>Which lookup?</a:t>
                      </a:r>
                    </a:p>
                  </a:txBody>
                  <a:tcPr marL="101600" marR="101600" marT="38100" marB="38100" anchor="ctr">
                    <a:solidFill>
                      <a:srgbClr val="FFFFFF"/>
                    </a:solidFill>
                  </a:tcPr>
                </a:tc>
                <a:tc>
                  <a:txBody>
                    <a:bodyPr/>
                    <a:lstStyle/>
                    <a:p>
                      <a:r>
                        <a:rPr sz="900" b="0" i="0">
                          <a:solidFill>
                            <a:srgbClr val="1A1440"/>
                          </a:solidFill>
                          <a:latin typeface="Calibri"/>
                        </a:rPr>
                        <a:t>XLOOKUP on 365; IFERROR with INDEX and MATCH anywhere</a:t>
                      </a:r>
                    </a:p>
                  </a:txBody>
                  <a:tcPr marL="101600" marR="101600" marT="38100" marB="38100" anchor="ctr">
                    <a:solidFill>
                      <a:srgbClr val="FFFFFF"/>
                    </a:solidFill>
                  </a:tcPr>
                </a:tc>
              </a:tr>
              <a:tr h="310896">
                <a:tc>
                  <a:txBody>
                    <a:bodyPr/>
                    <a:lstStyle/>
                    <a:p>
                      <a:r>
                        <a:rPr sz="900" b="0" i="0">
                          <a:solidFill>
                            <a:srgbClr val="1A1440"/>
                          </a:solidFill>
                          <a:latin typeface="Calibri"/>
                        </a:rPr>
                        <a:t>A missing id?</a:t>
                      </a:r>
                    </a:p>
                  </a:txBody>
                  <a:tcPr marL="101600" marR="101600" marT="38100" marB="38100" anchor="ctr">
                    <a:solidFill>
                      <a:srgbClr val="F4F2FA"/>
                    </a:solidFill>
                  </a:tcPr>
                </a:tc>
                <a:tc>
                  <a:txBody>
                    <a:bodyPr/>
                    <a:lstStyle/>
                    <a:p>
                      <a:r>
                        <a:rPr sz="900" b="0" i="0">
                          <a:solidFill>
                            <a:srgbClr val="1A1440"/>
                          </a:solidFill>
                          <a:latin typeface="Calibri"/>
                        </a:rPr>
                        <a:t>Approximate returns C-0194, Rs 16,740, rank 15</a:t>
                      </a:r>
                    </a:p>
                  </a:txBody>
                  <a:tcPr marL="101600" marR="101600" marT="38100" marB="38100" anchor="ctr">
                    <a:solidFill>
                      <a:srgbClr val="F4F2FA"/>
                    </a:solidFill>
                  </a:tcPr>
                </a:tc>
              </a:tr>
              <a:tr h="310896">
                <a:tc>
                  <a:txBody>
                    <a:bodyPr/>
                    <a:lstStyle/>
                    <a:p>
                      <a:r>
                        <a:rPr sz="900" b="0" i="0">
                          <a:solidFill>
                            <a:srgbClr val="1A1440"/>
                          </a:solidFill>
                          <a:latin typeface="Calibri"/>
                        </a:rPr>
                        <a:t>Found or not?</a:t>
                      </a:r>
                    </a:p>
                  </a:txBody>
                  <a:tcPr marL="101600" marR="101600" marT="38100" marB="38100" anchor="ctr">
                    <a:solidFill>
                      <a:srgbClr val="FFFFFF"/>
                    </a:solidFill>
                  </a:tcPr>
                </a:tc>
                <a:tc>
                  <a:txBody>
                    <a:bodyPr/>
                    <a:lstStyle/>
                    <a:p>
                      <a:r>
                        <a:rPr sz="900" b="0" i="0">
                          <a:solidFill>
                            <a:srgbClr val="1A1440"/>
                          </a:solidFill>
                          <a:latin typeface="Calibri"/>
                        </a:rPr>
                        <a:t>"Not in the table"; the same on a re-sorted list</a:t>
                      </a:r>
                    </a:p>
                  </a:txBody>
                  <a:tcPr marL="101600" marR="101600" marT="38100" marB="38100" anchor="ctr">
                    <a:solidFill>
                      <a:srgbClr val="FFFFFF"/>
                    </a:solidFill>
                  </a:tcPr>
                </a:tc>
              </a:tr>
              <a:tr h="310896">
                <a:tc>
                  <a:txBody>
                    <a:bodyPr/>
                    <a:lstStyle/>
                    <a:p>
                      <a:r>
                        <a:rPr sz="900" b="0" i="0">
                          <a:solidFill>
                            <a:srgbClr val="1A1440"/>
                          </a:solidFill>
                          <a:latin typeface="Calibri"/>
                        </a:rPr>
                        <a:t>A count agrees?</a:t>
                      </a:r>
                    </a:p>
                  </a:txBody>
                  <a:tcPr marL="101600" marR="101600" marT="38100" marB="38100" anchor="ctr">
                    <a:solidFill>
                      <a:srgbClr val="F4F2FA"/>
                    </a:solidFill>
                  </a:tcPr>
                </a:tc>
                <a:tc>
                  <a:txBody>
                    <a:bodyPr/>
                    <a:lstStyle/>
                    <a:p>
                      <a:r>
                        <a:rPr sz="900" b="0" i="0">
                          <a:solidFill>
                            <a:srgbClr val="1A1440"/>
                          </a:solidFill>
                          <a:latin typeface="Calibri"/>
                        </a:rPr>
                        <a:t>COUNTIF 0 and 1, both matching the lookup</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lookup that answers with somebody else's row is worse than no lookup, because nobody in the room can tell. Test with an id you know is missing."</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Your lookup returned a member for an id that does not exist; which argument was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53 / 80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Read right in two minutes?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must sit beside the front-page number so a director reads it right in two minutes? The meeting's first decision is made from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54 / 80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total to scope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and her directors, who read the front page first and may read nothing else, and the chief of staff, who answers for it; a card without its period reads two quarters as one.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bare total?</a:t>
            </a:r>
          </a:p>
        </p:txBody>
      </p:sp>
      <p:sp>
        <p:nvSpPr>
          <p:cNvPr id="17" name="TextBox 16"/>
          <p:cNvSpPr txBox="1"/>
          <p:nvPr/>
        </p:nvSpPr>
        <p:spPr>
          <a:xfrm>
            <a:off x="69494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 director reads in it.</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form?</a:t>
            </a:r>
          </a:p>
        </p:txBody>
      </p:sp>
      <p:sp>
        <p:nvSpPr>
          <p:cNvPr id="22" name="TextBox 21"/>
          <p:cNvSpPr txBox="1"/>
          <p:nvPr/>
        </p:nvSpPr>
        <p:spPr>
          <a:xfrm>
            <a:off x="2580589" y="42501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cards, sized.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card?</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Period, comparison, base.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A bare percentage?</a:t>
            </a:r>
          </a:p>
        </p:txBody>
      </p:sp>
      <p:sp>
        <p:nvSpPr>
          <p:cNvPr id="32" name="TextBox 31"/>
          <p:cNvSpPr txBox="1"/>
          <p:nvPr/>
        </p:nvSpPr>
        <p:spPr>
          <a:xfrm>
            <a:off x="635187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it leaves out.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Trend and scope?</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Six months, and a director's input.</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4648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front page is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reads it, and what does a misread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9.84 cr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minutes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READING TIME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director's, for the front page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"One number on the front page with its trend."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DMart's headline carries all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writes this card every quarter?</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"Standalone Total Revenue up by 16.2% at Rs.15,932 Crore."</a:t>
            </a:r>
          </a:p>
          <a:p>
            <a:pPr>
              <a:spcBef>
                <a:spcPts val="400"/>
              </a:spcBef>
            </a:pPr>
            <a:r>
              <a:rPr sz="1000" b="0" i="0">
                <a:solidFill>
                  <a:srgbClr val="6B6690"/>
                </a:solidFill>
                <a:latin typeface="Calibri"/>
              </a:rPr>
              <a:t>Avenue Supermarts (DMart), press release, quarter ended 30 June 2025</a:t>
            </a:r>
          </a:p>
        </p:txBody>
      </p:sp>
      <p:pic>
        <p:nvPicPr>
          <p:cNvPr id="11" name="mermaid diagram" descr="6110cada9d0b61d8.png"/>
          <p:cNvPicPr>
            <a:picLocks noChangeAspect="1"/>
          </p:cNvPicPr>
          <p:nvPr/>
        </p:nvPicPr>
        <p:blipFill>
          <a:blip r:embed="rId5"/>
          <a:stretch>
            <a:fillRect/>
          </a:stretch>
        </p:blipFill>
        <p:spPr>
          <a:xfrm>
            <a:off x="1030928" y="2844800"/>
            <a:ext cx="10129837"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8" name="Oval 1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 against the last, with its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should the card take, and what does each ask the director to remember?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431376"/>
                <a:gridCol w="5195866"/>
                <a:gridCol w="914400"/>
                <a:gridCol w="258934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The card</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The director must bring</a:t>
                      </a:r>
                    </a:p>
                  </a:txBody>
                  <a:tcPr marL="101600" marR="101600" marT="38100" marB="38100" anchor="ctr">
                    <a:solidFill>
                      <a:srgbClr val="1A0F5C"/>
                    </a:solidFill>
                  </a:tcPr>
                </a:tc>
              </a:tr>
              <a:tr h="335280">
                <a:tc>
                  <a:txBody>
                    <a:bodyPr/>
                    <a:lstStyle/>
                    <a:p>
                      <a:r>
                        <a:rPr sz="1200" b="0" i="0">
                          <a:solidFill>
                            <a:srgbClr val="1A1440"/>
                          </a:solidFill>
                          <a:latin typeface="Calibri"/>
                        </a:rPr>
                        <a:t>a) The total</a:t>
                      </a:r>
                    </a:p>
                  </a:txBody>
                  <a:tcPr marL="101600" marR="101600" marT="38100" marB="38100" anchor="ctr">
                    <a:solidFill>
                      <a:srgbClr val="FFFFFF"/>
                    </a:solidFill>
                  </a:tcPr>
                </a:tc>
                <a:tc>
                  <a:txBody>
                    <a:bodyPr/>
                    <a:lstStyle/>
                    <a:p>
                      <a:r>
                        <a:rPr sz="1200" b="0" i="0">
                          <a:solidFill>
                            <a:srgbClr val="1A1440"/>
                          </a:solidFill>
                          <a:latin typeface="Calibri"/>
                        </a:rPr>
                        <a:t>"Revenue Rs 19.84 crore"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period and the last figure</a:t>
                      </a:r>
                    </a:p>
                  </a:txBody>
                  <a:tcPr marL="101600" marR="101600" marT="38100" marB="38100" anchor="ctr">
                    <a:solidFill>
                      <a:srgbClr val="FFFFFF"/>
                    </a:solidFill>
                  </a:tcPr>
                </a:tc>
              </a:tr>
              <a:tr h="335280">
                <a:tc>
                  <a:txBody>
                    <a:bodyPr/>
                    <a:lstStyle/>
                    <a:p>
                      <a:r>
                        <a:rPr sz="1200" b="0" i="0">
                          <a:solidFill>
                            <a:srgbClr val="1A1440"/>
                          </a:solidFill>
                          <a:latin typeface="Calibri"/>
                        </a:rPr>
                        <a:t>b) The quarter</a:t>
                      </a:r>
                    </a:p>
                  </a:txBody>
                  <a:tcPr marL="101600" marR="101600" marT="38100" marB="38100" anchor="ctr">
                    <a:solidFill>
                      <a:srgbClr val="F4F2FA"/>
                    </a:solidFill>
                  </a:tcPr>
                </a:tc>
                <a:tc>
                  <a:txBody>
                    <a:bodyPr/>
                    <a:lstStyle/>
                    <a:p>
                      <a:r>
                        <a:rPr sz="1200" b="0" i="0">
                          <a:solidFill>
                            <a:srgbClr val="1A1440"/>
                          </a:solidFill>
                          <a:latin typeface="Calibri"/>
                        </a:rPr>
                        <a:t>"Q2 revenue Rs 9.84 crore"</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Q1's figure, from memory</a:t>
                      </a:r>
                    </a:p>
                  </a:txBody>
                  <a:tcPr marL="101600" marR="101600" marT="38100" marB="38100" anchor="ctr">
                    <a:solidFill>
                      <a:srgbClr val="F4F2FA"/>
                    </a:solidFill>
                  </a:tcPr>
                </a:tc>
              </a:tr>
              <a:tr h="335280">
                <a:tc>
                  <a:txBody>
                    <a:bodyPr/>
                    <a:lstStyle/>
                    <a:p>
                      <a:r>
                        <a:rPr sz="1200" b="0" i="0">
                          <a:solidFill>
                            <a:srgbClr val="1A1440"/>
                          </a:solidFill>
                          <a:latin typeface="Calibri"/>
                        </a:rPr>
                        <a:t>c) Against the last</a:t>
                      </a:r>
                    </a:p>
                  </a:txBody>
                  <a:tcPr marL="101600" marR="101600" marT="38100" marB="38100" anchor="ctr">
                    <a:solidFill>
                      <a:srgbClr val="FFFFFF"/>
                    </a:solidFill>
                  </a:tcPr>
                </a:tc>
                <a:tc>
                  <a:txBody>
                    <a:bodyPr/>
                    <a:lstStyle/>
                    <a:p>
                      <a:r>
                        <a:rPr sz="1200" b="0" i="0">
                          <a:solidFill>
                            <a:srgbClr val="1A1440"/>
                          </a:solidFill>
                          <a:latin typeface="Calibri"/>
                        </a:rPr>
                        <a:t>"Q2 ... Rs 9.84 crore, down 1.6 percent on Q1 (Rs 10.00 crore)"</a:t>
                      </a:r>
                    </a:p>
                  </a:txBody>
                  <a:tcPr marL="101600" marR="101600" marT="38100" marB="38100" anchor="ctr">
                    <a:solidFill>
                      <a:srgbClr val="FFFFFF"/>
                    </a:solidFill>
                  </a:tcPr>
                </a:tc>
                <a:tc>
                  <a:txBody>
                    <a:bodyPr/>
                    <a:lstStyle/>
                    <a:p>
                      <a:r>
                        <a:rPr sz="1200" b="0" i="0">
                          <a:solidFill>
                            <a:srgbClr val="1A1440"/>
                          </a:solidFill>
                          <a:latin typeface="Calibri"/>
                        </a:rPr>
                        <a:t>29</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d) c with sentence and trend</a:t>
                      </a:r>
                    </a:p>
                  </a:txBody>
                  <a:tcPr marL="101600" marR="101600" marT="38100" marB="38100" anchor="ctr">
                    <a:solidFill>
                      <a:srgbClr val="F4F2FA"/>
                    </a:solidFill>
                  </a:tcPr>
                </a:tc>
                <a:tc>
                  <a:txBody>
                    <a:bodyPr/>
                    <a:lstStyle/>
                    <a:p>
                      <a:r>
                        <a:rPr sz="1200" b="0" i="0">
                          <a:solidFill>
                            <a:srgbClr val="1A1440"/>
                          </a:solidFill>
                          <a:latin typeface="Calibri"/>
                        </a:rPr>
                        <a:t>c, where the change sits, and six months drawn</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nothing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What would switch it: a board that reviews every month against the plan line, where the comparison becomes the plan.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director read in "Revenue Rs 19.84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fastest card is the export's grand total; what does a director who remembers Q1 read into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REVENUE</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the card as drafted</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director who remembers Q1 at Rs 10.00 crore reads this card as: a) two quarters of revenue; b) revenue nearly doubled this quarter; c) a number to check later; d) nothing wrong, since the number is right.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up 98.4 percent, a quarter that never happened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bare total the plausible wrong answer, and what catches it?</a:t>
            </a:r>
          </a:p>
        </p:txBody>
      </p:sp>
      <p:pic>
        <p:nvPicPr>
          <p:cNvPr id="9" name="mermaid diagram" descr="1da7ccc1dd4b33bd.png"/>
          <p:cNvPicPr>
            <a:picLocks noChangeAspect="1"/>
          </p:cNvPicPr>
          <p:nvPr/>
        </p:nvPicPr>
        <p:blipFill>
          <a:blip r:embed="rId5"/>
          <a:stretch>
            <a:fillRect/>
          </a:stretch>
        </p:blipFill>
        <p:spPr>
          <a:xfrm>
            <a:off x="2516828" y="1956816"/>
            <a:ext cx="7158037" cy="2300287"/>
          </a:xfrm>
          <a:prstGeom prst="rect">
            <a:avLst/>
          </a:prstGeom>
        </p:spPr>
      </p:pic>
      <p:sp>
        <p:nvSpPr>
          <p:cNvPr id="10" name="TextBox 9"/>
          <p:cNvSpPr txBox="1"/>
          <p:nvPr/>
        </p:nvSpPr>
        <p:spPr>
          <a:xfrm>
            <a:off x="530352" y="440340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number is right and its period is missing, so the reader supplies one, and the minutes record a boom. </a:t>
            </a:r>
            <a:r>
              <a:rPr sz="1600" b="1" i="0">
                <a:solidFill>
                  <a:srgbClr val="1A1440"/>
                </a:solidFill>
                <a:latin typeface="Calibri"/>
              </a:rPr>
              <a:t>The check:</a:t>
            </a:r>
            <a:r>
              <a:rPr sz="1600" b="0" i="0">
                <a:solidFill>
                  <a:srgbClr val="1A1440"/>
                </a:solidFill>
                <a:latin typeface="Calibri"/>
              </a:rPr>
              <a:t> read the card aloud and ask which months, against what. </a:t>
            </a:r>
            <a:r>
              <a:rPr sz="1600" b="1" i="0">
                <a:solidFill>
                  <a:srgbClr val="1A1440"/>
                </a:solidFill>
                <a:latin typeface="Calibri"/>
              </a:rPr>
              <a:t>The fix:</a:t>
            </a:r>
            <a:r>
              <a:rPr sz="1600" b="0" i="0">
                <a:solidFill>
                  <a:srgbClr val="1A1440"/>
                </a:solidFill>
                <a:latin typeface="Calibri"/>
              </a:rPr>
              <a:t> the period and the comparison on the card itself.</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period, comparison, base,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and what sits beside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 2026</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number and its period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comparison, measured on Q1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 2026</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sentence beside it. </a:t>
            </a:r>
            <a:r>
              <a:rPr sz="1500" b="0" i="0">
                <a:solidFill>
                  <a:srgbClr val="1A1440"/>
                </a:solidFill>
                <a:latin typeface="Calibri"/>
              </a:rPr>
              <a:t>"Business invoices carry Rs 14.30 lakh of the Rs 16.00 lakh fall; Retail-Plus, the paid tier, fell 29.4 percent because members ordered less often."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2" name="Oval 3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"Retail-Plus down 29.4 percent"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slot is drafted as a bare percentage; what must sit beside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-29.4%</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RETAIL-PLUS, AS DRAFTED</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no base, no share</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must sit beside it? a) nothing, since it is correct; b) its rupee base and its share of revenue; c) the Business figure; d) the protect list.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1.72 lakh, 0.4 percent of the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base the draft left out, and what slip makes it worse?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 lakh</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IN RUPEES</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5.86 lakh to Rs 4.13 lakh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0.4%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Q2 REVENUE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Retail-Plus's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-41.7%</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DIVIDED BY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slip that makes it worse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Read without its base, "down 29.4 percent" sounds like the business collapsing, and the meeting argues about a panic instead of about members ordering less often. </a:t>
            </a:r>
            <a:r>
              <a:rPr sz="1600" b="1" i="0">
                <a:solidFill>
                  <a:srgbClr val="1A1440"/>
                </a:solidFill>
                <a:latin typeface="Calibri"/>
              </a:rPr>
              <a:t>The fix:</a:t>
            </a:r>
            <a:r>
              <a:rPr sz="1600" b="0" i="0">
                <a:solidFill>
                  <a:srgbClr val="1A1440"/>
                </a:solidFill>
                <a:latin typeface="Calibri"/>
              </a:rPr>
              <a:t> "Retail-Plus, Q2: Rs 4.13 lakh, down 29.4 percent on Q1 (Rs 5.86 lakh); 0.4 percent of company revenue."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trend beside it, and the scope a director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months show, and what happens when a director changes the scope?</a:t>
            </a:r>
          </a:p>
        </p:txBody>
      </p:sp>
      <p:graphicFrame>
        <p:nvGraphicFramePr>
          <p:cNvPr id="9" name="Table 8"/>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3730737"/>
                <a:gridCol w="7400254"/>
              </a:tblGrid>
              <a:tr h="369824">
                <a:tc>
                  <a:txBody>
                    <a:bodyPr/>
                    <a:lstStyle/>
                    <a:p>
                      <a:r>
                        <a:rPr sz="1450" b="1" i="0">
                          <a:solidFill>
                            <a:srgbClr val="FFFFFF"/>
                          </a:solidFill>
                          <a:latin typeface="Calibri"/>
                        </a:rPr>
                        <a:t>The director asks for</a:t>
                      </a:r>
                    </a:p>
                  </a:txBody>
                  <a:tcPr marL="101600" marR="101600" marT="38100" marB="38100" anchor="ctr">
                    <a:solidFill>
                      <a:srgbClr val="1A0F5C"/>
                    </a:solidFill>
                  </a:tcPr>
                </a:tc>
                <a:tc>
                  <a:txBody>
                    <a:bodyPr/>
                    <a:lstStyle/>
                    <a:p>
                      <a:r>
                        <a:rPr sz="1450" b="1" i="0">
                          <a:solidFill>
                            <a:srgbClr val="FFFFFF"/>
                          </a:solidFill>
                          <a:latin typeface="Calibri"/>
                        </a:rPr>
                        <a:t>The card says</a:t>
                      </a:r>
                    </a:p>
                  </a:txBody>
                  <a:tcPr marL="101600" marR="101600" marT="38100" marB="38100" anchor="ctr">
                    <a:solidFill>
                      <a:srgbClr val="1A0F5C"/>
                    </a:solidFill>
                  </a:tcPr>
                </a:tc>
              </a:tr>
              <a:tr h="369824">
                <a:tc>
                  <a:txBody>
                    <a:bodyPr/>
                    <a:lstStyle/>
                    <a:p>
                      <a:r>
                        <a:rPr sz="1400" b="0" i="0">
                          <a:solidFill>
                            <a:srgbClr val="1A1440"/>
                          </a:solidFill>
                          <a:latin typeface="Calibri"/>
                        </a:rPr>
                        <a:t>All segments</a:t>
                      </a:r>
                    </a:p>
                  </a:txBody>
                  <a:tcPr marL="101600" marR="101600" marT="38100" marB="38100" anchor="ctr">
                    <a:solidFill>
                      <a:srgbClr val="FFFFFF"/>
                    </a:solidFill>
                  </a:tcPr>
                </a:tc>
                <a:tc>
                  <a:txBody>
                    <a:bodyPr/>
                    <a:lstStyle/>
                    <a:p>
                      <a:r>
                        <a:rPr sz="1400" b="0" i="0">
                          <a:solidFill>
                            <a:srgbClr val="1A1440"/>
                          </a:solidFill>
                          <a:latin typeface="Calibri"/>
                        </a:rPr>
                        <a:t>Rs 9.84 crore, down 1.6% on Q1; 100.0% of revenue</a:t>
                      </a:r>
                    </a:p>
                  </a:txBody>
                  <a:tcPr marL="101600" marR="101600" marT="38100" marB="38100" anchor="ctr">
                    <a:solidFill>
                      <a:srgbClr val="FFFFFF"/>
                    </a:solidFill>
                  </a:tcPr>
                </a:tc>
              </a:tr>
              <a:tr h="369824">
                <a:tc>
                  <a:txBody>
                    <a:bodyPr/>
                    <a:lstStyle/>
                    <a:p>
                      <a:r>
                        <a:rPr sz="1400" b="0" i="0">
                          <a:solidFill>
                            <a:srgbClr val="1A1440"/>
                          </a:solidFill>
                          <a:latin typeface="Calibri"/>
                        </a:rPr>
                        <a:t>All except Business</a:t>
                      </a:r>
                    </a:p>
                  </a:txBody>
                  <a:tcPr marL="101600" marR="101600" marT="38100" marB="38100" anchor="ctr">
                    <a:solidFill>
                      <a:srgbClr val="F4F2FA"/>
                    </a:solidFill>
                  </a:tcPr>
                </a:tc>
                <a:tc>
                  <a:txBody>
                    <a:bodyPr/>
                    <a:lstStyle/>
                    <a:p>
                      <a:r>
                        <a:rPr sz="1400" b="0" i="0">
                          <a:solidFill>
                            <a:srgbClr val="1A1440"/>
                          </a:solidFill>
                          <a:latin typeface="Calibri"/>
                        </a:rPr>
                        <a:t>Rs 8.15 lakh, down 17.3% on Q1; 0.8% of revenue</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Rs 4.13 lakh, down 29.4% on Q1; 0.4% of revenue</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company line jumps in July to Rs 4.51 crore, 45 percent above June, on corporate invoices; without Business, revenue slides from Rs 3.32 lakh in June to Rs 2.48 lakh in September. The scope is a yellow input, and each card prints its own scope.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changes by its own query?</a:t>
            </a:r>
          </a:p>
        </p:txBody>
      </p:sp>
      <p:pic>
        <p:nvPicPr>
          <p:cNvPr id="9" name="mermaid diagram" descr="f34020063aed2200.png"/>
          <p:cNvPicPr>
            <a:picLocks noChangeAspect="1"/>
          </p:cNvPicPr>
          <p:nvPr/>
        </p:nvPicPr>
        <p:blipFill>
          <a:blip r:embed="rId5"/>
          <a:stretch>
            <a:fillRect/>
          </a:stretch>
        </p:blipFill>
        <p:spPr>
          <a:xfrm>
            <a:off x="1873891" y="1956816"/>
            <a:ext cx="8443912"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warehouse's orders, joined to its customers for the segment, give the same changes to the hundredth of a percent: minus 1.60 for the company and minus 29.43 for Retail-Plus.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Q2 against Q1, and every percentage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4 answer, question by question?</a:t>
            </a:r>
          </a:p>
        </p:txBody>
      </p:sp>
      <p:graphicFrame>
        <p:nvGraphicFramePr>
          <p:cNvPr id="9" name="Table 8"/>
          <p:cNvGraphicFramePr>
            <a:graphicFrameLocks noGrp="1"/>
          </p:cNvGraphicFramePr>
          <p:nvPr/>
        </p:nvGraphicFramePr>
        <p:xfrm>
          <a:off x="530352" y="1819656"/>
          <a:ext cx="11130991" cy="2176272"/>
        </p:xfrm>
        <a:graphic>
          <a:graphicData uri="http://schemas.openxmlformats.org/drawingml/2006/table">
            <a:tbl>
              <a:tblPr firstRow="0" bandRow="0">
                <a:tableStyleId>{2D5ABB26-0587-4C30-8999-92F81FD0307C}</a:tableStyleId>
              </a:tblPr>
              <a:tblGrid>
                <a:gridCol w="2968000"/>
                <a:gridCol w="8162991"/>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A bare total?</a:t>
                      </a:r>
                    </a:p>
                  </a:txBody>
                  <a:tcPr marL="101600" marR="101600" marT="38100" marB="38100" anchor="ctr">
                    <a:solidFill>
                      <a:srgbClr val="FFFFFF"/>
                    </a:solidFill>
                  </a:tcPr>
                </a:tc>
                <a:tc>
                  <a:txBody>
                    <a:bodyPr/>
                    <a:lstStyle/>
                    <a:p>
                      <a:r>
                        <a:rPr sz="900" b="0" i="0">
                          <a:solidFill>
                            <a:srgbClr val="1A1440"/>
                          </a:solidFill>
                          <a:latin typeface="Calibri"/>
                        </a:rPr>
                        <a:t>Rs 19.84 crore, read as up 98.4%</a:t>
                      </a:r>
                    </a:p>
                  </a:txBody>
                  <a:tcPr marL="101600" marR="101600" marT="38100" marB="38100" anchor="ctr">
                    <a:solidFill>
                      <a:srgbClr val="FFFFFF"/>
                    </a:solidFill>
                  </a:tcPr>
                </a:tc>
              </a:tr>
              <a:tr h="310896">
                <a:tc>
                  <a:txBody>
                    <a:bodyPr/>
                    <a:lstStyle/>
                    <a:p>
                      <a:r>
                        <a:rPr sz="900" b="0" i="0">
                          <a:solidFill>
                            <a:srgbClr val="1A1440"/>
                          </a:solidFill>
                          <a:latin typeface="Calibri"/>
                        </a:rPr>
                        <a:t>Which form?</a:t>
                      </a:r>
                    </a:p>
                  </a:txBody>
                  <a:tcPr marL="101600" marR="101600" marT="38100" marB="38100" anchor="ctr">
                    <a:solidFill>
                      <a:srgbClr val="F4F2FA"/>
                    </a:solidFill>
                  </a:tcPr>
                </a:tc>
                <a:tc>
                  <a:txBody>
                    <a:bodyPr/>
                    <a:lstStyle/>
                    <a:p>
                      <a:r>
                        <a:rPr sz="900" b="0" i="0">
                          <a:solidFill>
                            <a:srgbClr val="1A1440"/>
                          </a:solidFill>
                          <a:latin typeface="Calibri"/>
                        </a:rPr>
                        <a:t>d: the quarter against the last, with sentence and trend</a:t>
                      </a:r>
                    </a:p>
                  </a:txBody>
                  <a:tcPr marL="101600" marR="101600" marT="38100" marB="38100" anchor="ctr">
                    <a:solidFill>
                      <a:srgbClr val="F4F2FA"/>
                    </a:solidFill>
                  </a:tcPr>
                </a:tc>
              </a:tr>
              <a:tr h="310896">
                <a:tc>
                  <a:txBody>
                    <a:bodyPr/>
                    <a:lstStyle/>
                    <a:p>
                      <a:r>
                        <a:rPr sz="900" b="0" i="0">
                          <a:solidFill>
                            <a:srgbClr val="1A1440"/>
                          </a:solidFill>
                          <a:latin typeface="Calibri"/>
                        </a:rPr>
                        <a:t>The card?</a:t>
                      </a:r>
                    </a:p>
                  </a:txBody>
                  <a:tcPr marL="101600" marR="101600" marT="38100" marB="38100" anchor="ctr">
                    <a:solidFill>
                      <a:srgbClr val="FFFFFF"/>
                    </a:solidFill>
                  </a:tcPr>
                </a:tc>
                <a:tc>
                  <a:txBody>
                    <a:bodyPr/>
                    <a:lstStyle/>
                    <a:p>
                      <a:r>
                        <a:rPr sz="900" b="0" i="0">
                          <a:solidFill>
                            <a:srgbClr val="1A1440"/>
                          </a:solidFill>
                          <a:latin typeface="Calibri"/>
                        </a:rPr>
                        <a:t>Q2 Rs 9.84 crore, down 1.6% on Q1 (Rs 10.00 crore)</a:t>
                      </a:r>
                    </a:p>
                  </a:txBody>
                  <a:tcPr marL="101600" marR="101600" marT="38100" marB="38100" anchor="ctr">
                    <a:solidFill>
                      <a:srgbClr val="FFFFFF"/>
                    </a:solidFill>
                  </a:tcPr>
                </a:tc>
              </a:tr>
              <a:tr h="310896">
                <a:tc>
                  <a:txBody>
                    <a:bodyPr/>
                    <a:lstStyle/>
                    <a:p>
                      <a:r>
                        <a:rPr sz="900" b="0" i="0">
                          <a:solidFill>
                            <a:srgbClr val="1A1440"/>
                          </a:solidFill>
                          <a:latin typeface="Calibri"/>
                        </a:rPr>
                        <a:t>A bare percentage?</a:t>
                      </a:r>
                    </a:p>
                  </a:txBody>
                  <a:tcPr marL="101600" marR="101600" marT="38100" marB="38100" anchor="ctr">
                    <a:solidFill>
                      <a:srgbClr val="F4F2FA"/>
                    </a:solidFill>
                  </a:tcPr>
                </a:tc>
                <a:tc>
                  <a:txBody>
                    <a:bodyPr/>
                    <a:lstStyle/>
                    <a:p>
                      <a:r>
                        <a:rPr sz="900" b="0" i="0">
                          <a:solidFill>
                            <a:srgbClr val="1A1440"/>
                          </a:solidFill>
                          <a:latin typeface="Calibri"/>
                        </a:rPr>
                        <a:t>Rs 1.72 lakh on Rs 5.86 lakh, 0.4% of revenue</a:t>
                      </a:r>
                    </a:p>
                  </a:txBody>
                  <a:tcPr marL="101600" marR="101600" marT="38100" marB="38100" anchor="ctr">
                    <a:solidFill>
                      <a:srgbClr val="F4F2FA"/>
                    </a:solidFill>
                  </a:tcPr>
                </a:tc>
              </a:tr>
              <a:tr h="310896">
                <a:tc>
                  <a:txBody>
                    <a:bodyPr/>
                    <a:lstStyle/>
                    <a:p>
                      <a:r>
                        <a:rPr sz="900" b="0" i="0">
                          <a:solidFill>
                            <a:srgbClr val="1A1440"/>
                          </a:solidFill>
                          <a:latin typeface="Calibri"/>
                        </a:rPr>
                        <a:t>Trend and scope?</a:t>
                      </a:r>
                    </a:p>
                  </a:txBody>
                  <a:tcPr marL="101600" marR="101600" marT="38100" marB="38100" anchor="ctr">
                    <a:solidFill>
                      <a:srgbClr val="FFFFFF"/>
                    </a:solidFill>
                  </a:tcPr>
                </a:tc>
                <a:tc>
                  <a:txBody>
                    <a:bodyPr/>
                    <a:lstStyle/>
                    <a:p>
                      <a:r>
                        <a:rPr sz="900" b="0" i="0">
                          <a:solidFill>
                            <a:srgbClr val="1A1440"/>
                          </a:solidFill>
                          <a:latin typeface="Calibri"/>
                        </a:rPr>
                        <a:t>July's jump is invoices; without Business, down 17.3%</a:t>
                      </a:r>
                    </a:p>
                  </a:txBody>
                  <a:tcPr marL="101600" marR="101600" marT="38100" marB="38100" anchor="ctr">
                    <a:solidFill>
                      <a:srgbClr val="FFFFFF"/>
                    </a:solidFill>
                  </a:tcPr>
                </a:tc>
              </a:tr>
              <a:tr h="310896">
                <a:tc>
                  <a:txBody>
                    <a:bodyPr/>
                    <a:lstStyle/>
                    <a:p>
                      <a:r>
                        <a:rPr sz="900" b="0" i="0">
                          <a:solidFill>
                            <a:srgbClr val="1A1440"/>
                          </a:solidFill>
                          <a:latin typeface="Calibri"/>
                        </a:rPr>
                        <a:t>Warehouse agrees?</a:t>
                      </a:r>
                    </a:p>
                  </a:txBody>
                  <a:tcPr marL="101600" marR="101600" marT="38100" marB="38100" anchor="ctr">
                    <a:solidFill>
                      <a:srgbClr val="F4F2FA"/>
                    </a:solidFill>
                  </a:tcPr>
                </a:tc>
                <a:tc>
                  <a:txBody>
                    <a:bodyPr/>
                    <a:lstStyle/>
                    <a:p>
                      <a:r>
                        <a:rPr sz="900" b="0" i="0">
                          <a:solidFill>
                            <a:srgbClr val="1A1440"/>
                          </a:solidFill>
                          <a:latin typeface="Calibri"/>
                        </a:rPr>
                        <a:t>-1.60% and -29.43%</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"A number without its period is read against whatever the director remembers; a percentage without its base is read as whatever the director fears."</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[F] How do you present one number so it is not misread?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Excel never do?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week's steps belong in the workbook, which must never be done there, and how do the two stay in step? Every number Finance relies on depends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67 / 80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six steps, from the week to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what must we find out on the way?</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who signs the team's rule, and Anand's analyst, who audits every number Finance relies on; a join done in a sheet can report as unpaid money that customers have paid.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each touches?</a:t>
            </a:r>
          </a:p>
        </p:txBody>
      </p:sp>
      <p:sp>
        <p:nvSpPr>
          <p:cNvPr id="17" name="TextBox 16"/>
          <p:cNvSpPr txBox="1"/>
          <p:nvPr/>
        </p:nvSpPr>
        <p:spPr>
          <a:xfrm>
            <a:off x="69494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week's steps.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could it live?</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arrangements, sized.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lookup joins?</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Booked against collected.</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Every payment?</a:t>
            </a:r>
          </a:p>
        </p:txBody>
      </p:sp>
      <p:sp>
        <p:nvSpPr>
          <p:cNvPr id="32" name="TextBox 31"/>
          <p:cNvSpPr txBox="1"/>
          <p:nvPr/>
        </p:nvSpPr>
        <p:spPr>
          <a:xfrm>
            <a:off x="635187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adding them says.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each belongs?</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rule.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How in step?</a:t>
            </a:r>
          </a:p>
        </p:txBody>
      </p:sp>
      <p:sp>
        <p:nvSpPr>
          <p:cNvPr id="42" name="TextBox 41"/>
          <p:cNvSpPr txBox="1"/>
          <p:nvPr/>
        </p:nvSpPr>
        <p:spPr>
          <a:xfrm>
            <a:off x="10123170" y="425018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drift check.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80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Collected against booked is the test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at stake, who asks, and what does a wrong number cost?</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19.84 cr</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orders' value, both quarters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Anand</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 false alarm</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IT COSTS</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collections team chasing paid accounts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is the value of the orders; collected is the money received against them. Tuesday built the report in the warehouse; it needs a join, one order to several payments.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80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Public Health England left 15,841 cases unreported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organisation ran a pipeline step in a spreadsheet?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15,841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NOT REPORTED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September to 2 October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~65,000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PER XLS TEMPLATE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TEMPLATE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several rows per test result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"15,841 cases between 25 September and 2 October were not included in the reported daily COVID-19 cases."</a:t>
            </a:r>
          </a:p>
          <a:p>
            <a:pPr>
              <a:spcBef>
                <a:spcPts val="400"/>
              </a:spcBef>
            </a:pPr>
            <a:r>
              <a:rPr sz="1000" b="0" i="0">
                <a:solidFill>
                  <a:srgbClr val="6B6690"/>
                </a:solidFill>
                <a:latin typeface="Calibri"/>
              </a:rPr>
              <a:t>Public Health England, 4 October 2020</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5" name="Oval 2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1" name="Oval 3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warehouse, pandas, workbook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week's work live, and what does each arrangement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033480"/>
                <a:gridCol w="4872809"/>
                <a:gridCol w="1875740"/>
                <a:gridCol w="234896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Collected per order costs</a:t>
                      </a:r>
                    </a:p>
                  </a:txBody>
                  <a:tcPr marL="101600" marR="101600" marT="38100" marB="38100" anchor="ctr">
                    <a:solidFill>
                      <a:srgbClr val="1A0F5C"/>
                    </a:solidFill>
                  </a:tcPr>
                </a:tc>
                <a:tc>
                  <a:txBody>
                    <a:bodyPr/>
                    <a:lstStyle/>
                    <a:p>
                      <a:r>
                        <a:rPr sz="1250" b="1" i="0">
                          <a:solidFill>
                            <a:srgbClr val="FFFFFF"/>
                          </a:solidFill>
                          <a:latin typeface="Calibri"/>
                        </a:rPr>
                        <a:t>Who can rerun it</a:t>
                      </a:r>
                    </a:p>
                  </a:txBody>
                  <a:tcPr marL="101600" marR="101600" marT="38100" marB="38100" anchor="ctr">
                    <a:solidFill>
                      <a:srgbClr val="1A0F5C"/>
                    </a:solidFill>
                  </a:tcPr>
                </a:tc>
                <a:tc>
                  <a:txBody>
                    <a:bodyPr/>
                    <a:lstStyle/>
                    <a:p>
                      <a:r>
                        <a:rPr sz="1250" b="1" i="0">
                          <a:solidFill>
                            <a:srgbClr val="FFFFFF"/>
                          </a:solidFill>
                          <a:latin typeface="Calibri"/>
                        </a:rPr>
                        <a:t>What an auditor traces</a:t>
                      </a:r>
                    </a:p>
                  </a:txBody>
                  <a:tcPr marL="101600" marR="101600" marT="38100" marB="38100" anchor="ctr">
                    <a:solidFill>
                      <a:srgbClr val="1A0F5C"/>
                    </a:solidFill>
                  </a:tcPr>
                </a:tc>
              </a:tr>
              <a:tr h="335280">
                <a:tc>
                  <a:txBody>
                    <a:bodyPr/>
                    <a:lstStyle/>
                    <a:p>
                      <a:r>
                        <a:rPr sz="1200" b="0" i="0">
                          <a:solidFill>
                            <a:srgbClr val="1A1440"/>
                          </a:solidFill>
                          <a:latin typeface="Calibri"/>
                        </a:rPr>
                        <a:t>a) All in the workbook</a:t>
                      </a:r>
                    </a:p>
                  </a:txBody>
                  <a:tcPr marL="101600" marR="101600" marT="38100" marB="38100" anchor="ctr">
                    <a:solidFill>
                      <a:srgbClr val="FFFFFF"/>
                    </a:solidFill>
                  </a:tcPr>
                </a:tc>
                <a:tc>
                  <a:txBody>
                    <a:bodyPr/>
                    <a:lstStyle/>
                    <a:p>
                      <a:r>
                        <a:rPr sz="1200" b="0" i="0">
                          <a:solidFill>
                            <a:srgbClr val="1A1440"/>
                          </a:solidFill>
                          <a:latin typeface="Calibri"/>
                        </a:rPr>
                        <a:t>1,000 SUMIFS x 1,450 rows = 1,450,000 tests a recalculation</a:t>
                      </a:r>
                    </a:p>
                  </a:txBody>
                  <a:tcPr marL="101600" marR="101600" marT="38100" marB="38100" anchor="ctr">
                    <a:solidFill>
                      <a:srgbClr val="FFFFFF"/>
                    </a:solidFill>
                  </a:tcPr>
                </a:tc>
                <a:tc>
                  <a:txBody>
                    <a:bodyPr/>
                    <a:lstStyle/>
                    <a:p>
                      <a:r>
                        <a:rPr sz="1200" b="0" i="0">
                          <a:solidFill>
                            <a:srgbClr val="1A1440"/>
                          </a:solidFill>
                          <a:latin typeface="Calibri"/>
                        </a:rPr>
                        <a:t>its author, by hand</a:t>
                      </a:r>
                    </a:p>
                  </a:txBody>
                  <a:tcPr marL="101600" marR="101600" marT="38100" marB="38100" anchor="ctr">
                    <a:solidFill>
                      <a:srgbClr val="FFFFFF"/>
                    </a:solidFill>
                  </a:tcPr>
                </a:tc>
                <a:tc>
                  <a:txBody>
                    <a:bodyPr/>
                    <a:lstStyle/>
                    <a:p>
                      <a:r>
                        <a:rPr sz="1200" b="0" i="0">
                          <a:solidFill>
                            <a:srgbClr val="1A1440"/>
                          </a:solidFill>
                          <a:latin typeface="Calibri"/>
                        </a:rPr>
                        <a:t>the cells</a:t>
                      </a:r>
                    </a:p>
                  </a:txBody>
                  <a:tcPr marL="101600" marR="101600" marT="38100" marB="38100" anchor="ctr">
                    <a:solidFill>
                      <a:srgbClr val="FFFFFF"/>
                    </a:solidFill>
                  </a:tcPr>
                </a:tc>
              </a:tr>
              <a:tr h="335280">
                <a:tc>
                  <a:txBody>
                    <a:bodyPr/>
                    <a:lstStyle/>
                    <a:p>
                      <a:r>
                        <a:rPr sz="1200" b="0" i="0">
                          <a:solidFill>
                            <a:srgbClr val="1A1440"/>
                          </a:solidFill>
                          <a:latin typeface="Calibri"/>
                        </a:rPr>
                        <a:t>b) The split</a:t>
                      </a:r>
                    </a:p>
                  </a:txBody>
                  <a:tcPr marL="101600" marR="101600" marT="38100" marB="38100" anchor="ctr">
                    <a:solidFill>
                      <a:srgbClr val="F4F2FA"/>
                    </a:solidFill>
                  </a:tcPr>
                </a:tc>
                <a:tc>
                  <a:txBody>
                    <a:bodyPr/>
                    <a:lstStyle/>
                    <a:p>
                      <a:r>
                        <a:rPr sz="1200" b="0" i="0">
                          <a:solidFill>
                            <a:srgbClr val="1A1440"/>
                          </a:solidFill>
                          <a:latin typeface="Calibri"/>
                        </a:rPr>
                        <a:t>one GROUP BY over 1,428 payments</a:t>
                      </a:r>
                    </a:p>
                  </a:txBody>
                  <a:tcPr marL="101600" marR="101600" marT="38100" marB="38100" anchor="ctr">
                    <a:solidFill>
                      <a:srgbClr val="F4F2FA"/>
                    </a:solidFill>
                  </a:tcPr>
                </a:tc>
                <a:tc>
                  <a:txBody>
                    <a:bodyPr/>
                    <a:lstStyle/>
                    <a:p>
                      <a:r>
                        <a:rPr sz="1200" b="0" i="0">
                          <a:solidFill>
                            <a:srgbClr val="1A1440"/>
                          </a:solidFill>
                          <a:latin typeface="Calibri"/>
                        </a:rPr>
                        <a:t>anyone with the query</a:t>
                      </a:r>
                    </a:p>
                  </a:txBody>
                  <a:tcPr marL="101600" marR="101600" marT="38100" marB="38100" anchor="ctr">
                    <a:solidFill>
                      <a:srgbClr val="F4F2FA"/>
                    </a:solidFill>
                  </a:tcPr>
                </a:tc>
                <a:tc>
                  <a:txBody>
                    <a:bodyPr/>
                    <a:lstStyle/>
                    <a:p>
                      <a:r>
                        <a:rPr sz="1200" b="0" i="0">
                          <a:solidFill>
                            <a:srgbClr val="1A1440"/>
                          </a:solidFill>
                          <a:latin typeface="Calibri"/>
                        </a:rPr>
                        <a:t>the query</a:t>
                      </a:r>
                    </a:p>
                  </a:txBody>
                  <a:tcPr marL="101600" marR="101600" marT="38100" marB="38100" anchor="ctr">
                    <a:solidFill>
                      <a:srgbClr val="F4F2FA"/>
                    </a:solidFill>
                  </a:tcPr>
                </a:tc>
              </a:tr>
              <a:tr h="335280">
                <a:tc>
                  <a:txBody>
                    <a:bodyPr/>
                    <a:lstStyle/>
                    <a:p>
                      <a:r>
                        <a:rPr sz="1200" b="0" i="0">
                          <a:solidFill>
                            <a:srgbClr val="1A1440"/>
                          </a:solidFill>
                          <a:latin typeface="Calibri"/>
                        </a:rPr>
                        <a:t>c) pandas pastes values</a:t>
                      </a:r>
                    </a:p>
                  </a:txBody>
                  <a:tcPr marL="101600" marR="101600" marT="38100" marB="38100" anchor="ctr">
                    <a:solidFill>
                      <a:srgbClr val="FFFFFF"/>
                    </a:solidFill>
                  </a:tcPr>
                </a:tc>
                <a:tc>
                  <a:txBody>
                    <a:bodyPr/>
                    <a:lstStyle/>
                    <a:p>
                      <a:r>
                        <a:rPr sz="1200" b="0" i="0">
                          <a:solidFill>
                            <a:srgbClr val="1A1440"/>
                          </a:solidFill>
                          <a:latin typeface="Calibri"/>
                        </a:rPr>
                        <a:t>one groupby over 1,450 rows</a:t>
                      </a:r>
                    </a:p>
                  </a:txBody>
                  <a:tcPr marL="101600" marR="101600" marT="38100" marB="38100" anchor="ctr">
                    <a:solidFill>
                      <a:srgbClr val="FFFFFF"/>
                    </a:solidFill>
                  </a:tcPr>
                </a:tc>
                <a:tc>
                  <a:txBody>
                    <a:bodyPr/>
                    <a:lstStyle/>
                    <a:p>
                      <a:r>
                        <a:rPr sz="1200" b="0" i="0">
                          <a:solidFill>
                            <a:srgbClr val="1A1440"/>
                          </a:solidFill>
                          <a:latin typeface="Calibri"/>
                        </a:rPr>
                        <a:t>the analyst</a:t>
                      </a:r>
                    </a:p>
                  </a:txBody>
                  <a:tcPr marL="101600" marR="101600" marT="38100" marB="38100" anchor="ctr">
                    <a:solidFill>
                      <a:srgbClr val="FFFFFF"/>
                    </a:solidFill>
                  </a:tcPr>
                </a:tc>
                <a:tc>
                  <a:txBody>
                    <a:bodyPr/>
                    <a:lstStyle/>
                    <a:p>
                      <a:r>
                        <a:rPr sz="1200" b="0" i="0">
                          <a:solidFill>
                            <a:srgbClr val="1A1440"/>
                          </a:solidFill>
                          <a:latin typeface="Calibri"/>
                        </a:rPr>
                        <a:t>the notebook</a:t>
                      </a:r>
                    </a:p>
                  </a:txBody>
                  <a:tcPr marL="101600" marR="101600" marT="38100" marB="38100" anchor="ctr">
                    <a:solidFill>
                      <a:srgbClr val="FFFFFF"/>
                    </a:solidFill>
                  </a:tcPr>
                </a:tc>
              </a:tr>
              <a:tr h="335280">
                <a:tc>
                  <a:txBody>
                    <a:bodyPr/>
                    <a:lstStyle/>
                    <a:p>
                      <a:r>
                        <a:rPr sz="1200" b="0" i="0">
                          <a:solidFill>
                            <a:srgbClr val="1A1440"/>
                          </a:solidFill>
                          <a:latin typeface="Calibri"/>
                        </a:rPr>
                        <a:t>d) Dashboard</a:t>
                      </a:r>
                    </a:p>
                  </a:txBody>
                  <a:tcPr marL="101600" marR="101600" marT="38100" marB="38100" anchor="ctr">
                    <a:solidFill>
                      <a:srgbClr val="F4F2FA"/>
                    </a:solidFill>
                  </a:tcPr>
                </a:tc>
                <a:tc>
                  <a:txBody>
                    <a:bodyPr/>
                    <a:lstStyle/>
                    <a:p>
                      <a:r>
                        <a:rPr sz="1200" b="0" i="0">
                          <a:solidFill>
                            <a:srgbClr val="1A1440"/>
                          </a:solidFill>
                          <a:latin typeface="Calibri"/>
                        </a:rPr>
                        <a:t>a query a view</a:t>
                      </a:r>
                    </a:p>
                  </a:txBody>
                  <a:tcPr marL="101600" marR="101600" marT="38100" marB="38100" anchor="ctr">
                    <a:solidFill>
                      <a:srgbClr val="F4F2FA"/>
                    </a:solidFill>
                  </a:tcPr>
                </a:tc>
                <a:tc>
                  <a:txBody>
                    <a:bodyPr/>
                    <a:lstStyle/>
                    <a:p>
                      <a:r>
                        <a:rPr sz="1200" b="0" i="0">
                          <a:solidFill>
                            <a:srgbClr val="1A1440"/>
                          </a:solidFill>
                          <a:latin typeface="Calibri"/>
                        </a:rPr>
                        <a:t>its owner</a:t>
                      </a:r>
                    </a:p>
                  </a:txBody>
                  <a:tcPr marL="101600" marR="101600" marT="38100" marB="38100" anchor="ctr">
                    <a:solidFill>
                      <a:srgbClr val="F4F2FA"/>
                    </a:solidFill>
                  </a:tcPr>
                </a:tc>
                <a:tc>
                  <a:txBody>
                    <a:bodyPr/>
                    <a:lstStyle/>
                    <a:p>
                      <a:r>
                        <a:rPr sz="1200" b="0" i="0">
                          <a:solidFill>
                            <a:srgbClr val="1A1440"/>
                          </a:solidFill>
                          <a:latin typeface="Calibri"/>
                        </a:rPr>
                        <a:t>the queries, behind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3581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b. What would switch it: a one-off question nobody audits and nobody reruns can live in a sheet.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did each day build, and what does it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week's steps touches the most rows?</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1621481"/>
                <a:gridCol w="4754754"/>
                <a:gridCol w="4754754"/>
              </a:tblGrid>
              <a:tr h="369824">
                <a:tc>
                  <a:txBody>
                    <a:bodyPr/>
                    <a:lstStyle/>
                    <a:p>
                      <a:r>
                        <a:rPr sz="1450" b="1" i="0">
                          <a:solidFill>
                            <a:srgbClr val="FFFFFF"/>
                          </a:solidFill>
                          <a:latin typeface="Calibri"/>
                        </a:rPr>
                        <a:t>Day</a:t>
                      </a:r>
                    </a:p>
                  </a:txBody>
                  <a:tcPr marL="101600" marR="101600" marT="38100" marB="38100" anchor="ctr">
                    <a:solidFill>
                      <a:srgbClr val="1A0F5C"/>
                    </a:solidFill>
                  </a:tcPr>
                </a:tc>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r>
              <a:tr h="369824">
                <a:tc>
                  <a:txBody>
                    <a:bodyPr/>
                    <a:lstStyle/>
                    <a:p>
                      <a:r>
                        <a:rPr sz="1400" b="0" i="0">
                          <a:solidFill>
                            <a:srgbClr val="1A1440"/>
                          </a:solidFill>
                          <a:latin typeface="Calibri"/>
                        </a:rPr>
                        <a:t>Monday</a:t>
                      </a:r>
                    </a:p>
                  </a:txBody>
                  <a:tcPr marL="101600" marR="101600" marT="38100" marB="38100" anchor="ctr">
                    <a:solidFill>
                      <a:srgbClr val="FFFFFF"/>
                    </a:solidFill>
                  </a:tcPr>
                </a:tc>
                <a:tc>
                  <a:txBody>
                    <a:bodyPr/>
                    <a:lstStyle/>
                    <a:p>
                      <a:r>
                        <a:rPr sz="14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r>
              <a:tr h="369824">
                <a:tc>
                  <a:txBody>
                    <a:bodyPr/>
                    <a:lstStyle/>
                    <a:p>
                      <a:r>
                        <a:rPr sz="1400" b="0" i="0">
                          <a:solidFill>
                            <a:srgbClr val="1A1440"/>
                          </a:solidFill>
                          <a:latin typeface="Calibri"/>
                        </a:rPr>
                        <a:t>Tuesday</a:t>
                      </a:r>
                    </a:p>
                  </a:txBody>
                  <a:tcPr marL="101600" marR="101600" marT="38100" marB="38100" anchor="ctr">
                    <a:solidFill>
                      <a:srgbClr val="F4F2FA"/>
                    </a:solidFill>
                  </a:tcPr>
                </a:tc>
                <a:tc>
                  <a:txBody>
                    <a:bodyPr/>
                    <a:lstStyle/>
                    <a:p>
                      <a:r>
                        <a:rPr sz="1400" b="0" i="0">
                          <a:solidFill>
                            <a:srgbClr val="1A1440"/>
                          </a:solidFill>
                          <a:latin typeface="Calibri"/>
                        </a:rPr>
                        <a:t>Booked against collected</a:t>
                      </a:r>
                    </a:p>
                  </a:txBody>
                  <a:tcPr marL="101600" marR="101600" marT="38100" marB="38100" anchor="ctr">
                    <a:solidFill>
                      <a:srgbClr val="F4F2FA"/>
                    </a:solidFill>
                  </a:tcPr>
                </a:tc>
                <a:tc>
                  <a:txBody>
                    <a:bodyPr/>
                    <a:lstStyle/>
                    <a:p>
                      <a:r>
                        <a:rPr sz="1400" b="0" i="0">
                          <a:solidFill>
                            <a:srgbClr val="1A1440"/>
                          </a:solidFill>
                          <a:latin typeface="Calibri"/>
                        </a:rPr>
                        <a:t>1,000 orders and 1,428 payments</a:t>
                      </a:r>
                    </a:p>
                  </a:txBody>
                  <a:tcPr marL="101600" marR="101600" marT="38100" marB="38100" anchor="ctr">
                    <a:solidFill>
                      <a:srgbClr val="F4F2FA"/>
                    </a:solidFill>
                  </a:tcPr>
                </a:tc>
              </a:tr>
              <a:tr h="369824">
                <a:tc>
                  <a:txBody>
                    <a:bodyPr/>
                    <a:lstStyle/>
                    <a:p>
                      <a:r>
                        <a:rPr sz="1400" b="0" i="0">
                          <a:solidFill>
                            <a:srgbClr val="1A1440"/>
                          </a:solidFill>
                          <a:latin typeface="Calibri"/>
                        </a:rPr>
                        <a:t>Wednesday</a:t>
                      </a:r>
                    </a:p>
                  </a:txBody>
                  <a:tcPr marL="101600" marR="101600" marT="38100" marB="38100" anchor="ctr">
                    <a:solidFill>
                      <a:srgbClr val="FFFFFF"/>
                    </a:solidFill>
                  </a:tcPr>
                </a:tc>
                <a:tc>
                  <a:txBody>
                    <a:bodyPr/>
                    <a:lstStyle/>
                    <a:p>
                      <a:r>
                        <a:rPr sz="1400" b="0" i="0">
                          <a:solidFill>
                            <a:srgbClr val="1A1440"/>
                          </a:solidFill>
                          <a:latin typeface="Calibri"/>
                        </a:rPr>
                        <a:t>Top fifty, falling spend</a:t>
                      </a:r>
                    </a:p>
                  </a:txBody>
                  <a:tcPr marL="101600" marR="101600" marT="38100" marB="38100" anchor="ctr">
                    <a:solidFill>
                      <a:srgbClr val="FFFFFF"/>
                    </a:solidFill>
                  </a:tcPr>
                </a:tc>
                <a:tc>
                  <a:txBody>
                    <a:bodyPr/>
                    <a:lstStyle/>
                    <a:p>
                      <a:r>
                        <a:rPr sz="1400" b="0" i="0">
                          <a:solidFill>
                            <a:srgbClr val="1A1440"/>
                          </a:solidFill>
                          <a:latin typeface="Calibri"/>
                        </a:rPr>
                        <a:t>orders, by window</a:t>
                      </a:r>
                    </a:p>
                  </a:txBody>
                  <a:tcPr marL="101600" marR="101600" marT="38100" marB="38100" anchor="ctr">
                    <a:solidFill>
                      <a:srgbClr val="FFFFFF"/>
                    </a:solidFill>
                  </a:tcPr>
                </a:tc>
              </a:tr>
              <a:tr h="369824">
                <a:tc>
                  <a:txBody>
                    <a:bodyPr/>
                    <a:lstStyle/>
                    <a:p>
                      <a:r>
                        <a:rPr sz="1400" b="0" i="0">
                          <a:solidFill>
                            <a:srgbClr val="1A1440"/>
                          </a:solidFill>
                          <a:latin typeface="Calibri"/>
                        </a:rPr>
                        <a:t>Thursday</a:t>
                      </a:r>
                    </a:p>
                  </a:txBody>
                  <a:tcPr marL="101600" marR="101600" marT="38100" marB="38100" anchor="ctr">
                    <a:solidFill>
                      <a:srgbClr val="F4F2FA"/>
                    </a:solidFill>
                  </a:tcPr>
                </a:tc>
                <a:tc>
                  <a:txBody>
                    <a:bodyPr/>
                    <a:lstStyle/>
                    <a:p>
                      <a:r>
                        <a:rPr sz="1400" b="0" i="0">
                          <a:solidFill>
                            <a:srgbClr val="1A1440"/>
                          </a:solidFill>
                          <a:latin typeface="Calibri"/>
                        </a:rPr>
                        <a:t>The customer table</a:t>
                      </a:r>
                    </a:p>
                  </a:txBody>
                  <a:tcPr marL="101600" marR="101600" marT="38100" marB="38100" anchor="ctr">
                    <a:solidFill>
                      <a:srgbClr val="F4F2FA"/>
                    </a:solidFill>
                  </a:tcPr>
                </a:tc>
                <a:tc>
                  <a:txBody>
                    <a:bodyPr/>
                    <a:lstStyle/>
                    <a:p>
                      <a:r>
                        <a:rPr sz="1400" b="0" i="0">
                          <a:solidFill>
                            <a:srgbClr val="1A1440"/>
                          </a:solidFill>
                          <a:latin typeface="Calibri"/>
                        </a:rPr>
                        <a:t>orders, customers, exposure</a:t>
                      </a:r>
                    </a:p>
                  </a:txBody>
                  <a:tcPr marL="101600" marR="101600" marT="38100" marB="38100" anchor="ctr">
                    <a:solidFill>
                      <a:srgbClr val="F4F2FA"/>
                    </a:solidFill>
                  </a:tcPr>
                </a:tc>
              </a:tr>
              <a:tr h="369824">
                <a:tc>
                  <a:txBody>
                    <a:bodyPr/>
                    <a:lstStyle/>
                    <a:p>
                      <a:r>
                        <a:rPr sz="1400" b="0" i="0">
                          <a:solidFill>
                            <a:srgbClr val="1A1440"/>
                          </a:solidFill>
                          <a:latin typeface="Calibri"/>
                        </a:rPr>
                        <a:t>Friday</a:t>
                      </a:r>
                    </a:p>
                  </a:txBody>
                  <a:tcPr marL="101600" marR="101600" marT="38100" marB="38100" anchor="ctr">
                    <a:solidFill>
                      <a:srgbClr val="FFFFFF"/>
                    </a:solidFill>
                  </a:tcPr>
                </a:tc>
                <a:tc>
                  <a:txBody>
                    <a:bodyPr/>
                    <a:lstStyle/>
                    <a:p>
                      <a:r>
                        <a:rPr sz="1400" b="0" i="0">
                          <a:solidFill>
                            <a:srgbClr val="1A1440"/>
                          </a:solidFill>
                          <a:latin typeface="Calibri"/>
                        </a:rPr>
                        <a:t>Pivot, lookup, card</a:t>
                      </a:r>
                    </a:p>
                  </a:txBody>
                  <a:tcPr marL="101600" marR="101600" marT="38100" marB="38100" anchor="ctr">
                    <a:solidFill>
                      <a:srgbClr val="FFFFFF"/>
                    </a:solidFill>
                  </a:tcPr>
                </a:tc>
                <a:tc>
                  <a:txBody>
                    <a:bodyPr/>
                    <a:lstStyle/>
                    <a:p>
                      <a:r>
                        <a:rPr sz="1400" b="0" i="0">
                          <a:solidFill>
                            <a:srgbClr val="1A1440"/>
                          </a:solidFill>
                          <a:latin typeface="Calibri"/>
                        </a:rPr>
                        <a:t>the two exports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step touches the most rows? a) the tree; b) booked against collected; c) the top fifty; d) Friday's pivot.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Tuesday's join, one order to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that the step to watch?</a:t>
            </a:r>
          </a:p>
        </p:txBody>
      </p:sp>
      <p:pic>
        <p:nvPicPr>
          <p:cNvPr id="9" name="mermaid diagram" descr="9ac21ff6f915e588.png"/>
          <p:cNvPicPr>
            <a:picLocks noChangeAspect="1"/>
          </p:cNvPicPr>
          <p:nvPr/>
        </p:nvPicPr>
        <p:blipFill>
          <a:blip r:embed="rId5"/>
          <a:stretch>
            <a:fillRect/>
          </a:stretch>
        </p:blipFill>
        <p:spPr>
          <a:xfrm>
            <a:off x="530352" y="1956816"/>
            <a:ext cx="11130991" cy="2742024"/>
          </a:xfrm>
          <a:prstGeom prst="rect">
            <a:avLst/>
          </a:prstGeom>
        </p:spPr>
      </p:pic>
      <p:sp>
        <p:nvSpPr>
          <p:cNvPr id="10" name="TextBox 9"/>
          <p:cNvSpPr txBox="1"/>
          <p:nvPr/>
        </p:nvSpPr>
        <p:spPr>
          <a:xfrm>
            <a:off x="530352" y="4845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is the one step where one row on one side meets several on the other, which is exactly what a lookup in a sheet handles worst.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collected say when a lookup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=VLOOKUP(A2, RawExport!A:H, 7, FALSE) fetches paid_amount beside each order; what does it add up to?</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1,000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exact match per order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Collected reads about: a) Rs 19.7 crore; b) Rs 11.8 crore; c) Rs 39 crore; d) exactly booked.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8.00 crore "outstanding", 40.3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decision would it mislead?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11.84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11,83,81,974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8.00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OUTSTANDING, IT SAYS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40.3 percent of booked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450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lookup reads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What breaks:</a:t>
            </a:r>
            <a:r>
              <a:rPr sz="1600" b="0" i="0">
                <a:solidFill>
                  <a:srgbClr val="1A1440"/>
                </a:solidFill>
                <a:latin typeface="Calibri"/>
              </a:rPr>
              <a:t> Anand's team chases Rs 8 crore from accounts that paid, most of them corporate buyers, and the board pack reports a cash problem Kalpa does not have. </a:t>
            </a:r>
            <a:r>
              <a:rPr sz="1600" b="1" i="0">
                <a:solidFill>
                  <a:srgbClr val="1A1440"/>
                </a:solidFill>
                <a:latin typeface="Calibri"/>
              </a:rPr>
              <a:t>Why:</a:t>
            </a:r>
            <a:r>
              <a:rPr sz="1600" b="0" i="0">
                <a:solidFill>
                  <a:srgbClr val="1A1440"/>
                </a:solidFill>
                <a:latin typeface="Calibri"/>
              </a:rPr>
              <a:t> a lookup returns the first matching row and stops.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add every payment, and join upstream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adding every payment say?</a:t>
            </a:r>
          </a:p>
        </p:txBody>
      </p:sp>
      <p:pic>
        <p:nvPicPr>
          <p:cNvPr id="9" name="mermaid diagram" descr="727176e22c382d65.png"/>
          <p:cNvPicPr>
            <a:picLocks noChangeAspect="1"/>
          </p:cNvPicPr>
          <p:nvPr/>
        </p:nvPicPr>
        <p:blipFill>
          <a:blip r:embed="rId5"/>
          <a:stretch>
            <a:fillRect/>
          </a:stretch>
        </p:blipFill>
        <p:spPr>
          <a:xfrm>
            <a:off x="652310" y="1956816"/>
            <a:ext cx="10887075" cy="1071562"/>
          </a:xfrm>
          <a:prstGeom prst="rect">
            <a:avLst/>
          </a:prstGeom>
        </p:spPr>
      </p:pic>
      <p:sp>
        <p:nvSpPr>
          <p:cNvPr id="10" name="TextBox 9"/>
          <p:cNvSpPr txBox="1"/>
          <p:nvPr/>
        </p:nvSpPr>
        <p:spPr>
          <a:xfrm>
            <a:off x="530352" y="317468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=SUMIFS(G:G, A:A, A2) adds every payment for the order: collected Rs 19,66,82,820, Rs 17,17,180 short of booked, 0.9 percent. </a:t>
            </a:r>
            <a:r>
              <a:rPr sz="1600" b="1" i="0">
                <a:solidFill>
                  <a:srgbClr val="1A1440"/>
                </a:solidFill>
                <a:latin typeface="Calibri"/>
              </a:rPr>
              <a:t>What changed:</a:t>
            </a:r>
            <a:r>
              <a:rPr sz="1600" b="0" i="0">
                <a:solidFill>
                  <a:srgbClr val="1A1440"/>
                </a:solidFill>
                <a:latin typeface="Calibri"/>
              </a:rPr>
              <a:t> Rs 7,83,00,846 of "outstanding" money disappears. The join belongs in the warehouse, where Tuesday did it; SUMIFS is only a check.</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step in one place: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of the week's steps belong?</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4091022"/>
                <a:gridCol w="2213703"/>
                <a:gridCol w="4826264"/>
              </a:tblGrid>
              <a:tr h="369824">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Where it lives</a:t>
                      </a:r>
                    </a:p>
                  </a:txBody>
                  <a:tcPr marL="101600" marR="101600" marT="38100" marB="38100" anchor="ctr">
                    <a:solidFill>
                      <a:srgbClr val="1A0F5C"/>
                    </a:solidFill>
                  </a:tcPr>
                </a:tc>
                <a:tc>
                  <a:txBody>
                    <a:bodyPr/>
                    <a:lstStyle/>
                    <a:p>
                      <a:r>
                        <a:rPr sz="1450" b="1" i="0">
                          <a:solidFill>
                            <a:srgbClr val="FFFFFF"/>
                          </a:solidFill>
                          <a:latin typeface="Calibri"/>
                        </a:rPr>
                        <a:t>Why</a:t>
                      </a:r>
                    </a:p>
                  </a:txBody>
                  <a:tcPr marL="101600" marR="101600" marT="38100" marB="38100" anchor="ctr">
                    <a:solidFill>
                      <a:srgbClr val="1A0F5C"/>
                    </a:solidFill>
                  </a:tcPr>
                </a:tc>
              </a:tr>
              <a:tr h="369824">
                <a:tc>
                  <a:txBody>
                    <a:bodyPr/>
                    <a:lstStyle/>
                    <a:p>
                      <a:r>
                        <a:rPr sz="14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400" b="0" i="0">
                          <a:solidFill>
                            <a:srgbClr val="1A1440"/>
                          </a:solidFill>
                          <a:latin typeface="Calibri"/>
                        </a:rPr>
                        <a:t>warehouse</a:t>
                      </a:r>
                    </a:p>
                  </a:txBody>
                  <a:tcPr marL="101600" marR="101600" marT="38100" marB="38100" anchor="ctr">
                    <a:solidFill>
                      <a:srgbClr val="FFFFFF"/>
                    </a:solidFill>
                  </a:tcPr>
                </a:tc>
                <a:tc>
                  <a:txBody>
                    <a:bodyPr/>
                    <a:lstStyle/>
                    <a:p>
                      <a:r>
                        <a:rPr sz="1400" b="0" i="0">
                          <a:solidFill>
                            <a:srgbClr val="1A1440"/>
                          </a:solidFill>
                          <a:latin typeface="Calibri"/>
                        </a:rPr>
                        <a:t>Finance audits it</a:t>
                      </a:r>
                    </a:p>
                  </a:txBody>
                  <a:tcPr marL="101600" marR="101600" marT="38100" marB="38100" anchor="ctr">
                    <a:solidFill>
                      <a:srgbClr val="FFFFFF"/>
                    </a:solidFill>
                  </a:tcPr>
                </a:tc>
              </a:tr>
              <a:tr h="369824">
                <a:tc>
                  <a:txBody>
                    <a:bodyPr/>
                    <a:lstStyle/>
                    <a:p>
                      <a:r>
                        <a:rPr sz="1400" b="0" i="0">
                          <a:solidFill>
                            <a:srgbClr val="1A1440"/>
                          </a:solidFill>
                          <a:latin typeface="Calibri"/>
                        </a:rPr>
                        <a:t>Counting each order once</a:t>
                      </a:r>
                    </a:p>
                  </a:txBody>
                  <a:tcPr marL="101600" marR="101600" marT="38100" marB="38100" anchor="ctr">
                    <a:solidFill>
                      <a:srgbClr val="F4F2FA"/>
                    </a:solidFill>
                  </a:tcPr>
                </a:tc>
                <a:tc>
                  <a:txBody>
                    <a:bodyPr/>
                    <a:lstStyle/>
                    <a:p>
                      <a:r>
                        <a:rPr sz="1400" b="0" i="0">
                          <a:solidFill>
                            <a:srgbClr val="1A1440"/>
                          </a:solidFill>
                          <a:latin typeface="Calibri"/>
                        </a:rPr>
                        <a:t>warehouse</a:t>
                      </a:r>
                    </a:p>
                  </a:txBody>
                  <a:tcPr marL="101600" marR="101600" marT="38100" marB="38100" anchor="ctr">
                    <a:solidFill>
                      <a:srgbClr val="F4F2FA"/>
                    </a:solidFill>
                  </a:tcPr>
                </a:tc>
                <a:tc>
                  <a:txBody>
                    <a:bodyPr/>
                    <a:lstStyle/>
                    <a:p>
                      <a:r>
                        <a:rPr sz="1400" b="0" i="0">
                          <a:solidFill>
                            <a:srgbClr val="1A1440"/>
                          </a:solidFill>
                          <a:latin typeface="Calibri"/>
                        </a:rPr>
                        <a:t>a grain fix is cleaning</a:t>
                      </a:r>
                    </a:p>
                  </a:txBody>
                  <a:tcPr marL="101600" marR="101600" marT="38100" marB="38100" anchor="ctr">
                    <a:solidFill>
                      <a:srgbClr val="F4F2FA"/>
                    </a:solidFill>
                  </a:tcPr>
                </a:tc>
              </a:tr>
              <a:tr h="369824">
                <a:tc>
                  <a:txBody>
                    <a:bodyPr/>
                    <a:lstStyle/>
                    <a:p>
                      <a:r>
                        <a:rPr sz="1400" b="0" i="0">
                          <a:solidFill>
                            <a:srgbClr val="1A1440"/>
                          </a:solidFill>
                          <a:latin typeface="Calibri"/>
                        </a:rPr>
                        <a:t>Booked against collected</a:t>
                      </a:r>
                    </a:p>
                  </a:txBody>
                  <a:tcPr marL="101600" marR="101600" marT="38100" marB="38100" anchor="ctr">
                    <a:solidFill>
                      <a:srgbClr val="FFFFFF"/>
                    </a:solidFill>
                  </a:tcPr>
                </a:tc>
                <a:tc>
                  <a:txBody>
                    <a:bodyPr/>
                    <a:lstStyle/>
                    <a:p>
                      <a:r>
                        <a:rPr sz="1400" b="0" i="0">
                          <a:solidFill>
                            <a:srgbClr val="1A1440"/>
                          </a:solidFill>
                          <a:latin typeface="Calibri"/>
                        </a:rPr>
                        <a:t>warehouse</a:t>
                      </a:r>
                    </a:p>
                  </a:txBody>
                  <a:tcPr marL="101600" marR="101600" marT="38100" marB="38100" anchor="ctr">
                    <a:solidFill>
                      <a:srgbClr val="FFFFFF"/>
                    </a:solidFill>
                  </a:tcPr>
                </a:tc>
                <a:tc>
                  <a:txBody>
                    <a:bodyPr/>
                    <a:lstStyle/>
                    <a:p>
                      <a:r>
                        <a:rPr sz="1400" b="0" i="0">
                          <a:solidFill>
                            <a:srgbClr val="1A1440"/>
                          </a:solidFill>
                          <a:latin typeface="Calibri"/>
                        </a:rPr>
                        <a:t>a join, one to several</a:t>
                      </a:r>
                    </a:p>
                  </a:txBody>
                  <a:tcPr marL="101600" marR="101600" marT="38100" marB="38100" anchor="ctr">
                    <a:solidFill>
                      <a:srgbClr val="FFFFFF"/>
                    </a:solidFill>
                  </a:tcPr>
                </a:tc>
              </a:tr>
              <a:tr h="369824">
                <a:tc>
                  <a:txBody>
                    <a:bodyPr/>
                    <a:lstStyle/>
                    <a:p>
                      <a:r>
                        <a:rPr sz="1400" b="0" i="0">
                          <a:solidFill>
                            <a:srgbClr val="1A1440"/>
                          </a:solidFill>
                          <a:latin typeface="Calibri"/>
                        </a:rPr>
                        <a:t>Top fifty with a tie rule</a:t>
                      </a:r>
                    </a:p>
                  </a:txBody>
                  <a:tcPr marL="101600" marR="101600" marT="38100" marB="38100" anchor="ctr">
                    <a:solidFill>
                      <a:srgbClr val="F4F2FA"/>
                    </a:solidFill>
                  </a:tcPr>
                </a:tc>
                <a:tc>
                  <a:txBody>
                    <a:bodyPr/>
                    <a:lstStyle/>
                    <a:p>
                      <a:r>
                        <a:rPr sz="1400" b="0" i="0">
                          <a:solidFill>
                            <a:srgbClr val="1A1440"/>
                          </a:solidFill>
                          <a:latin typeface="Calibri"/>
                        </a:rPr>
                        <a:t>warehouse</a:t>
                      </a:r>
                    </a:p>
                  </a:txBody>
                  <a:tcPr marL="101600" marR="101600" marT="38100" marB="38100" anchor="ctr">
                    <a:solidFill>
                      <a:srgbClr val="F4F2FA"/>
                    </a:solidFill>
                  </a:tcPr>
                </a:tc>
                <a:tc>
                  <a:txBody>
                    <a:bodyPr/>
                    <a:lstStyle/>
                    <a:p>
                      <a:r>
                        <a:rPr sz="1400" b="0" i="0">
                          <a:solidFill>
                            <a:srgbClr val="1A1440"/>
                          </a:solidFill>
                          <a:latin typeface="Calibri"/>
                        </a:rPr>
                        <a:t>a rank others rely on</a:t>
                      </a:r>
                    </a:p>
                  </a:txBody>
                  <a:tcPr marL="101600" marR="101600" marT="38100" marB="38100" anchor="ctr">
                    <a:solidFill>
                      <a:srgbClr val="F4F2FA"/>
                    </a:solidFill>
                  </a:tcPr>
                </a:tc>
              </a:tr>
              <a:tr h="369824">
                <a:tc>
                  <a:txBody>
                    <a:bodyPr/>
                    <a:lstStyle/>
                    <a:p>
                      <a:r>
                        <a:rPr sz="1400" b="0" i="0">
                          <a:solidFill>
                            <a:srgbClr val="1A1440"/>
                          </a:solidFill>
                          <a:latin typeface="Calibri"/>
                        </a:rPr>
                        <a:t>The customer table</a:t>
                      </a:r>
                    </a:p>
                  </a:txBody>
                  <a:tcPr marL="101600" marR="101600" marT="38100" marB="38100" anchor="ctr">
                    <a:solidFill>
                      <a:srgbClr val="FFFFFF"/>
                    </a:solidFill>
                  </a:tcPr>
                </a:tc>
                <a:tc>
                  <a:txBody>
                    <a:bodyPr/>
                    <a:lstStyle/>
                    <a:p>
                      <a:r>
                        <a:rPr sz="1400" b="0" i="0">
                          <a:solidFill>
                            <a:srgbClr val="1A1440"/>
                          </a:solidFill>
                          <a:latin typeface="Calibri"/>
                        </a:rPr>
                        <a:t>pandas</a:t>
                      </a:r>
                    </a:p>
                  </a:txBody>
                  <a:tcPr marL="101600" marR="101600" marT="38100" marB="38100" anchor="ctr">
                    <a:solidFill>
                      <a:srgbClr val="FFFFFF"/>
                    </a:solidFill>
                  </a:tcPr>
                </a:tc>
                <a:tc>
                  <a:txBody>
                    <a:bodyPr/>
                    <a:lstStyle/>
                    <a:p>
                      <a:r>
                        <a:rPr sz="1400" b="0" i="0">
                          <a:solidFill>
                            <a:srgbClr val="1A1440"/>
                          </a:solidFill>
                          <a:latin typeface="Calibri"/>
                        </a:rPr>
                        <a:t>the weekly iteration</a:t>
                      </a:r>
                    </a:p>
                  </a:txBody>
                  <a:tcPr marL="101600" marR="101600" marT="38100" marB="38100" anchor="ctr">
                    <a:solidFill>
                      <a:srgbClr val="FFFFFF"/>
                    </a:solidFill>
                  </a:tcPr>
                </a:tc>
              </a:tr>
              <a:tr h="369824">
                <a:tc>
                  <a:txBody>
                    <a:bodyPr/>
                    <a:lstStyle/>
                    <a:p>
                      <a:r>
                        <a:rPr sz="1400" b="0" i="0">
                          <a:solidFill>
                            <a:srgbClr val="1A1440"/>
                          </a:solidFill>
                          <a:latin typeface="Calibri"/>
                        </a:rPr>
                        <a:t>Pivot, lookup, card, what-ifs</a:t>
                      </a:r>
                    </a:p>
                  </a:txBody>
                  <a:tcPr marL="101600" marR="101600" marT="38100" marB="38100" anchor="ctr">
                    <a:solidFill>
                      <a:srgbClr val="F4F2FA"/>
                    </a:solidFill>
                  </a:tcPr>
                </a:tc>
                <a:tc>
                  <a:txBody>
                    <a:bodyPr/>
                    <a:lstStyle/>
                    <a:p>
                      <a:r>
                        <a:rPr sz="1400" b="0" i="0">
                          <a:solidFill>
                            <a:srgbClr val="1A1440"/>
                          </a:solidFill>
                          <a:latin typeface="Calibri"/>
                        </a:rPr>
                        <a:t>workbook</a:t>
                      </a:r>
                    </a:p>
                  </a:txBody>
                  <a:tcPr marL="101600" marR="101600" marT="38100" marB="38100" anchor="ctr">
                    <a:solidFill>
                      <a:srgbClr val="F4F2FA"/>
                    </a:solidFill>
                  </a:tcPr>
                </a:tc>
                <a:tc>
                  <a:txBody>
                    <a:bodyPr/>
                    <a:lstStyle/>
                    <a:p>
                      <a:r>
                        <a:rPr sz="1400" b="0" i="0">
                          <a:solidFill>
                            <a:srgbClr val="1A1440"/>
                          </a:solidFill>
                          <a:latin typeface="Calibri"/>
                        </a:rPr>
                        <a:t>the last mile, on an export that ties</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The warehouse owns the number and every join, dedupe and rank; pandas owns the iteration; the workbook owns the last mile, and nobody types over the source.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the drift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agree on collected, and how do the sheet and the warehouse stay in step?</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5123860"/>
                <a:gridCol w="2546365"/>
                <a:gridCol w="2546365"/>
                <a:gridCol w="914400"/>
              </a:tblGrid>
              <a:tr h="335280">
                <a:tc>
                  <a:txBody>
                    <a:bodyPr/>
                    <a:lstStyle/>
                    <a:p>
                      <a:r>
                        <a:rPr sz="1250" b="1" i="0">
                          <a:solidFill>
                            <a:srgbClr val="FFFFFF"/>
                          </a:solidFill>
                          <a:latin typeface="Calibri"/>
                        </a:rPr>
                        <a:t>Check</a:t>
                      </a:r>
                    </a:p>
                  </a:txBody>
                  <a:tcPr marL="101600" marR="101600" marT="38100" marB="38100" anchor="ctr">
                    <a:solidFill>
                      <a:srgbClr val="1A0F5C"/>
                    </a:solidFill>
                  </a:tcPr>
                </a:tc>
                <a:tc>
                  <a:txBody>
                    <a:bodyPr/>
                    <a:lstStyle/>
                    <a:p>
                      <a:r>
                        <a:rPr sz="1250" b="1" i="0">
                          <a:solidFill>
                            <a:srgbClr val="FFFFFF"/>
                          </a:solidFill>
                          <a:latin typeface="Calibri"/>
                        </a:rPr>
                        <a:t>The workbook</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Verdict</a:t>
                      </a:r>
                    </a:p>
                  </a:txBody>
                  <a:tcPr marL="101600" marR="101600" marT="38100" marB="38100" anchor="ctr">
                    <a:solidFill>
                      <a:srgbClr val="1A0F5C"/>
                    </a:solidFill>
                  </a:tcPr>
                </a:tc>
              </a:tr>
              <a:tr h="335280">
                <a:tc>
                  <a:txBody>
                    <a:bodyPr/>
                    <a:lstStyle/>
                    <a:p>
                      <a:r>
                        <a:rPr sz="1200" b="0" i="0">
                          <a:solidFill>
                            <a:srgbClr val="1A1440"/>
                          </a:solidFill>
                          <a:latin typeface="Calibri"/>
                        </a:rPr>
                        <a:t>Collected, every payment</a:t>
                      </a:r>
                    </a:p>
                  </a:txBody>
                  <a:tcPr marL="101600" marR="101600" marT="38100" marB="38100" anchor="ctr">
                    <a:solidFill>
                      <a:srgbClr val="FFFFFF"/>
                    </a:solidFill>
                  </a:tcPr>
                </a:tc>
                <a:tc>
                  <a:txBody>
                    <a:bodyPr/>
                    <a:lstStyle/>
                    <a:p>
                      <a:r>
                        <a:rPr sz="1200" b="0" i="0">
                          <a:solidFill>
                            <a:srgbClr val="1A1440"/>
                          </a:solidFill>
                          <a:latin typeface="Calibri"/>
                        </a:rPr>
                        <a:t>Rs 19,66,82,820</a:t>
                      </a:r>
                    </a:p>
                  </a:txBody>
                  <a:tcPr marL="101600" marR="101600" marT="38100" marB="38100" anchor="ctr">
                    <a:solidFill>
                      <a:srgbClr val="FFFFFF"/>
                    </a:solidFill>
                  </a:tcPr>
                </a:tc>
                <a:tc>
                  <a:txBody>
                    <a:bodyPr/>
                    <a:lstStyle/>
                    <a:p>
                      <a:r>
                        <a:rPr sz="1200" b="0" i="0">
                          <a:solidFill>
                            <a:srgbClr val="1A1440"/>
                          </a:solidFill>
                          <a:latin typeface="Calibri"/>
                        </a:rPr>
                        <a:t>Rs 19,66,82,820</a:t>
                      </a:r>
                    </a:p>
                  </a:txBody>
                  <a:tcPr marL="101600" marR="101600" marT="38100" marB="38100" anchor="ctr">
                    <a:solidFill>
                      <a:srgbClr val="FFFFFF"/>
                    </a:solidFill>
                  </a:tcPr>
                </a:tc>
                <a:tc>
                  <a:txBody>
                    <a:bodyPr/>
                    <a:lstStyle/>
                    <a:p>
                      <a:r>
                        <a:rPr sz="1200" b="0" i="0">
                          <a:solidFill>
                            <a:srgbClr val="1A1440"/>
                          </a:solidFill>
                          <a:latin typeface="Calibri"/>
                        </a:rPr>
                        <a:t>ties</a:t>
                      </a:r>
                    </a:p>
                  </a:txBody>
                  <a:tcPr marL="101600" marR="101600" marT="38100" marB="38100" anchor="ctr">
                    <a:solidFill>
                      <a:srgbClr val="FFFFFF"/>
                    </a:solidFill>
                  </a:tcPr>
                </a:tc>
              </a:tr>
              <a:tr h="335280">
                <a:tc>
                  <a:txBody>
                    <a:bodyPr/>
                    <a:lstStyle/>
                    <a:p>
                      <a:r>
                        <a:rPr sz="1200" b="0" i="0">
                          <a:solidFill>
                            <a:srgbClr val="1A1440"/>
                          </a:solidFill>
                          <a:latin typeface="Calibri"/>
                        </a:rPr>
                        <a:t>Q2 orders, today's export</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ship</a:t>
                      </a:r>
                    </a:p>
                  </a:txBody>
                  <a:tcPr marL="101600" marR="101600" marT="38100" marB="38100" anchor="ctr">
                    <a:solidFill>
                      <a:srgbClr val="F4F2FA"/>
                    </a:solidFill>
                  </a:tcPr>
                </a:tc>
              </a:tr>
              <a:tr h="335280">
                <a:tc>
                  <a:txBody>
                    <a:bodyPr/>
                    <a:lstStyle/>
                    <a:p>
                      <a:r>
                        <a:rPr sz="1200" b="0" i="0">
                          <a:solidFill>
                            <a:srgbClr val="1A1440"/>
                          </a:solidFill>
                          <a:latin typeface="Calibri"/>
                        </a:rPr>
                        <a:t>Q2 orders, an export a week early</a:t>
                      </a:r>
                    </a:p>
                  </a:txBody>
                  <a:tcPr marL="101600" marR="101600" marT="38100" marB="38100" anchor="ctr">
                    <a:solidFill>
                      <a:srgbClr val="FFFFFF"/>
                    </a:solidFill>
                  </a:tcPr>
                </a:tc>
                <a:tc>
                  <a:txBody>
                    <a:bodyPr/>
                    <a:lstStyle/>
                    <a:p>
                      <a:r>
                        <a:rPr sz="1200" b="0" i="0">
                          <a:solidFill>
                            <a:srgbClr val="1A1440"/>
                          </a:solidFill>
                          <a:latin typeface="Calibri"/>
                        </a:rPr>
                        <a:t>430</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hold</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warehouse's payments joined to its orders give the same collected figure to the rupee. The drift check ties the workbook's quarters to the warehouse on every refresh; the same export pulled a week early, Rs 9,20,15,460 for Q2, is held.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warehouse owns it; the workbook presents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5 answer, question by question?</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2944818"/>
                <a:gridCol w="8186172"/>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What each touches?</a:t>
                      </a:r>
                    </a:p>
                  </a:txBody>
                  <a:tcPr marL="101600" marR="101600" marT="38100" marB="38100" anchor="ctr">
                    <a:solidFill>
                      <a:srgbClr val="FFFFFF"/>
                    </a:solidFill>
                  </a:tcPr>
                </a:tc>
                <a:tc>
                  <a:txBody>
                    <a:bodyPr/>
                    <a:lstStyle/>
                    <a:p>
                      <a:r>
                        <a:rPr sz="1100" b="0" i="0">
                          <a:solidFill>
                            <a:srgbClr val="1A1440"/>
                          </a:solidFill>
                          <a:latin typeface="Calibri"/>
                        </a:rPr>
                        <a:t>Tuesday's join: 1,000 orders to 1,428 payments</a:t>
                      </a:r>
                    </a:p>
                  </a:txBody>
                  <a:tcPr marL="101600" marR="101600" marT="38100" marB="38100" anchor="ctr">
                    <a:solidFill>
                      <a:srgbClr val="FFFFFF"/>
                    </a:solidFill>
                  </a:tcPr>
                </a:tc>
              </a:tr>
              <a:tr h="318008">
                <a:tc>
                  <a:txBody>
                    <a:bodyPr/>
                    <a:lstStyle/>
                    <a:p>
                      <a:r>
                        <a:rPr sz="1100" b="0" i="0">
                          <a:solidFill>
                            <a:srgbClr val="1A1440"/>
                          </a:solidFill>
                          <a:latin typeface="Calibri"/>
                        </a:rPr>
                        <a:t>Where could it live?</a:t>
                      </a:r>
                    </a:p>
                  </a:txBody>
                  <a:tcPr marL="101600" marR="101600" marT="38100" marB="38100" anchor="ctr">
                    <a:solidFill>
                      <a:srgbClr val="F4F2FA"/>
                    </a:solidFill>
                  </a:tcPr>
                </a:tc>
                <a:tc>
                  <a:txBody>
                    <a:bodyPr/>
                    <a:lstStyle/>
                    <a:p>
                      <a:r>
                        <a:rPr sz="1100" b="0" i="0">
                          <a:solidFill>
                            <a:srgbClr val="1A1440"/>
                          </a:solidFill>
                          <a:latin typeface="Calibri"/>
                        </a:rPr>
                        <a:t>b, the split</a:t>
                      </a:r>
                    </a:p>
                  </a:txBody>
                  <a:tcPr marL="101600" marR="101600" marT="38100" marB="38100" anchor="ctr">
                    <a:solidFill>
                      <a:srgbClr val="F4F2FA"/>
                    </a:solidFill>
                  </a:tcPr>
                </a:tc>
              </a:tr>
              <a:tr h="318008">
                <a:tc>
                  <a:txBody>
                    <a:bodyPr/>
                    <a:lstStyle/>
                    <a:p>
                      <a:r>
                        <a:rPr sz="1100" b="0" i="0">
                          <a:solidFill>
                            <a:srgbClr val="1A1440"/>
                          </a:solidFill>
                          <a:latin typeface="Calibri"/>
                        </a:rPr>
                        <a:t>A lookup joins?</a:t>
                      </a:r>
                    </a:p>
                  </a:txBody>
                  <a:tcPr marL="101600" marR="101600" marT="38100" marB="38100" anchor="ctr">
                    <a:solidFill>
                      <a:srgbClr val="FFFFFF"/>
                    </a:solidFill>
                  </a:tcPr>
                </a:tc>
                <a:tc>
                  <a:txBody>
                    <a:bodyPr/>
                    <a:lstStyle/>
                    <a:p>
                      <a:r>
                        <a:rPr sz="1100" b="0" i="0">
                          <a:solidFill>
                            <a:srgbClr val="1A1440"/>
                          </a:solidFill>
                          <a:latin typeface="Calibri"/>
                        </a:rPr>
                        <a:t>Rs 11.84 crore collected, "Rs 8.00 crore outstanding"</a:t>
                      </a:r>
                    </a:p>
                  </a:txBody>
                  <a:tcPr marL="101600" marR="101600" marT="38100" marB="38100" anchor="ctr">
                    <a:solidFill>
                      <a:srgbClr val="FFFFFF"/>
                    </a:solidFill>
                  </a:tcPr>
                </a:tc>
              </a:tr>
              <a:tr h="318008">
                <a:tc>
                  <a:txBody>
                    <a:bodyPr/>
                    <a:lstStyle/>
                    <a:p>
                      <a:r>
                        <a:rPr sz="1100" b="0" i="0">
                          <a:solidFill>
                            <a:srgbClr val="1A1440"/>
                          </a:solidFill>
                          <a:latin typeface="Calibri"/>
                        </a:rPr>
                        <a:t>Every payment?</a:t>
                      </a:r>
                    </a:p>
                  </a:txBody>
                  <a:tcPr marL="101600" marR="101600" marT="38100" marB="38100" anchor="ctr">
                    <a:solidFill>
                      <a:srgbClr val="F4F2FA"/>
                    </a:solidFill>
                  </a:tcPr>
                </a:tc>
                <a:tc>
                  <a:txBody>
                    <a:bodyPr/>
                    <a:lstStyle/>
                    <a:p>
                      <a:r>
                        <a:rPr sz="1100" b="0" i="0">
                          <a:solidFill>
                            <a:srgbClr val="1A1440"/>
                          </a:solidFill>
                          <a:latin typeface="Calibri"/>
                        </a:rPr>
                        <a:t>Rs 19.67 crore, 0.9 percent short</a:t>
                      </a:r>
                    </a:p>
                  </a:txBody>
                  <a:tcPr marL="101600" marR="101600" marT="38100" marB="38100" anchor="ctr">
                    <a:solidFill>
                      <a:srgbClr val="F4F2FA"/>
                    </a:solidFill>
                  </a:tcPr>
                </a:tc>
              </a:tr>
              <a:tr h="318008">
                <a:tc>
                  <a:txBody>
                    <a:bodyPr/>
                    <a:lstStyle/>
                    <a:p>
                      <a:r>
                        <a:rPr sz="1100" b="0" i="0">
                          <a:solidFill>
                            <a:srgbClr val="1A1440"/>
                          </a:solidFill>
                          <a:latin typeface="Calibri"/>
                        </a:rPr>
                        <a:t>Where each belongs?</a:t>
                      </a:r>
                    </a:p>
                  </a:txBody>
                  <a:tcPr marL="101600" marR="101600" marT="38100" marB="38100" anchor="ctr">
                    <a:solidFill>
                      <a:srgbClr val="FFFFFF"/>
                    </a:solidFill>
                  </a:tcPr>
                </a:tc>
                <a:tc>
                  <a:txBody>
                    <a:bodyPr/>
                    <a:lstStyle/>
                    <a:p>
                      <a:r>
                        <a:rPr sz="1100" b="0" i="0">
                          <a:solidFill>
                            <a:srgbClr val="1A1440"/>
                          </a:solidFill>
                          <a:latin typeface="Calibri"/>
                        </a:rPr>
                        <a:t>Joins, dedupes, ranks upstream; the last mile in the workbook</a:t>
                      </a:r>
                    </a:p>
                  </a:txBody>
                  <a:tcPr marL="101600" marR="101600" marT="38100" marB="38100" anchor="ctr">
                    <a:solidFill>
                      <a:srgbClr val="FFFFFF"/>
                    </a:solidFill>
                  </a:tcPr>
                </a:tc>
              </a:tr>
              <a:tr h="318008">
                <a:tc>
                  <a:txBody>
                    <a:bodyPr/>
                    <a:lstStyle/>
                    <a:p>
                      <a:r>
                        <a:rPr sz="1100" b="0" i="0">
                          <a:solidFill>
                            <a:srgbClr val="1A1440"/>
                          </a:solidFill>
                          <a:latin typeface="Calibri"/>
                        </a:rPr>
                        <a:t>How in step?</a:t>
                      </a:r>
                    </a:p>
                  </a:txBody>
                  <a:tcPr marL="101600" marR="101600" marT="38100" marB="38100" anchor="ctr">
                    <a:solidFill>
                      <a:srgbClr val="F4F2FA"/>
                    </a:solidFill>
                  </a:tcPr>
                </a:tc>
                <a:tc>
                  <a:txBody>
                    <a:bodyPr/>
                    <a:lstStyle/>
                    <a:p>
                      <a:r>
                        <a:rPr sz="1100" b="0" i="0">
                          <a:solidFill>
                            <a:srgbClr val="1A1440"/>
                          </a:solidFill>
                          <a:latin typeface="Calibri"/>
                        </a:rPr>
                        <a:t>A drift check on every refresh</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"Excel presents; it does not clean, join or compute the source of truth, because a sheet with a typed-over cell has no audit trail."</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SQL, pandas or Excel: how do you choose?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answers, in one picture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trust so far, and what is still open?</a:t>
            </a:r>
          </a:p>
        </p:txBody>
      </p:sp>
      <p:pic>
        <p:nvPicPr>
          <p:cNvPr id="9" name="mermaid diagram" descr="c0e3f4de27eea272.png"/>
          <p:cNvPicPr>
            <a:picLocks noChangeAspect="1"/>
          </p:cNvPicPr>
          <p:nvPr/>
        </p:nvPicPr>
        <p:blipFill>
          <a:blip r:embed="rId5"/>
          <a:stretch>
            <a:fillRect/>
          </a:stretch>
        </p:blipFill>
        <p:spPr>
          <a:xfrm>
            <a:off x="530352" y="1956816"/>
            <a:ext cx="11130991" cy="963141"/>
          </a:xfrm>
          <a:prstGeom prst="rect">
            <a:avLst/>
          </a:prstGeom>
        </p:spPr>
      </p:pic>
      <p:sp>
        <p:nvSpPr>
          <p:cNvPr id="10" name="TextBox 9"/>
          <p:cNvSpPr txBox="1"/>
          <p:nvPr/>
        </p:nvSpPr>
        <p:spPr>
          <a:xfrm>
            <a:off x="530352" y="306626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tree ties to the warehouse, the list and its lookup say what they hold, the card carries its period, comparison and base, and the rule says who owns each number. After lunch a director takes the laptop.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