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Read the chief of staff's message aloud and leave it on screen. Say the arc of the</a:t>
            </a:r>
          </a:p>
          <a:p>
            <a:r>
              <a:t>day once: three rounds this morning, one deliverable each, then the three together on the escalated</a:t>
            </a:r>
          </a:p>
          <a:p>
            <a:r>
              <a:t>case after lunch, and the operating rule defended against a director. Excel is the tool the room</a:t>
            </a:r>
          </a:p>
          <a:p>
            <a:r>
              <a:t>holds today; pandas appears only as the second way to reach a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Chapter one runs 20 minutes. No Excel yet. Its job is to split the ask into three deliverables</a:t>
            </a:r>
          </a:p>
          <a:p>
            <a:r>
              <a:t>and draw, on the board, the four places a sheet can lie before any cell is typed.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Everything this week built is about to be read by someone who has never seen a</a:t>
            </a:r>
          </a:p>
          <a:p>
            <a:r>
              <a:t>query. Ask which of the four numbers worries the chief of staff most. The zero: nothing may need</a:t>
            </a:r>
          </a:p>
          <a:p>
            <a:r>
              <a:t>Python, a login or the team in the room to be read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message aloud, then point at the last row: it is the hardest line in the</a:t>
            </a:r>
          </a:p>
          <a:p>
            <a:r>
              <a:t>brief, and it applies to all three rounds. Kavya's challenge comes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One minute in pairs, then letters. Most rooms split between a and b. Do not</a:t>
            </a:r>
          </a:p>
          <a:p>
            <a:r>
              <a:t>resolve it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Draw this on the board and leave it up all day; it becomes the operating rule in</a:t>
            </a:r>
          </a:p>
          <a:p>
            <a:r>
              <a:t>the afternoon. The dashed arrow is the one the second case is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This is the day's picture; it reappears at each chapter with its part lit, on the</a:t>
            </a:r>
          </a:p>
          <a:p>
            <a:r>
              <a:t>cheat sheet's first panel and in notebook maps. Draw it with the room and ask what each could</a:t>
            </a:r>
          </a:p>
          <a:p>
            <a:r>
              <a:t>cost Meera on Monday.</a:t>
            </a:r>
          </a:p>
          <a:p>
            <a:r>
              <a:t>Transition: the grain first, because the other three sit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Round one runs 50 minutes: question and picture (5), demonstration (15), trap (15), the room's</a:t>
            </a:r>
          </a:p>
          <a:p>
            <a:r>
              <a:t>harder variant (10), Kavya's review (5). Notebook 1 sits beside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tree is Monday of Week 1 at warehouse scale. Ask: which leaf moved for</a:t>
            </a:r>
          </a:p>
          <a:p>
            <a:r>
              <a:t>Retail-Plus last week in SQL? Orders per customer. The pivot has to show the same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Write the three grains on the board beside the picture. Every trap this morning</a:t>
            </a:r>
          </a:p>
          <a:p>
            <a:r>
              <a:t>is one of these grains read as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Build it live in Excel from the CSV: select the table, Insert, PivotTable, then drag</a:t>
            </a:r>
          </a:p>
          <a:p>
            <a:r>
              <a:t>the fields. Ask the room to predict which segment carries most revenue before you drag revenue in.</a:t>
            </a:r>
          </a:p>
          <a:p>
            <a:r>
              <a:t>Thirty-nine corporate buyers carry the grand total, which is why round 3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Multiply back aloud: 106 times 3.29 times 2,801 is about 9.77 lakh. That check is</a:t>
            </a:r>
          </a:p>
          <a:p>
            <a:r>
              <a:t>the habit for every tree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in the chat. Option a is the tempting one; ask what happens to a customer</a:t>
            </a:r>
          </a:p>
          <a:p>
            <a:r>
              <a:t>who bought all year and once in September.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This is the departure from the easy path: the tree for both quarters has to come</a:t>
            </a:r>
          </a:p>
          <a:p>
            <a:r>
              <a:t>from the raw export, which is where the trap waits.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Build it live and let it stand for a moment. Ask whether anyone would send it.</a:t>
            </a:r>
          </a:p>
          <a:p>
            <a:r>
              <a:t>Somebody usually says the totals look big but the percentages look reasonable, which is the trap:</a:t>
            </a:r>
          </a:p>
          <a:p>
            <a:r>
              <a:t>the percentages are wrong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In Excel: COUNTA on the order_id column, then a distinct count with a helper</a:t>
            </a:r>
          </a:p>
          <a:p>
            <a:r>
              <a:t>column. Instalments and gateway retries were Tuesday's fan-out; here they reach a pivot.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first, then run it live. Most rooms say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fifty exact copies are the double-paid orders; the four hundred instalment</a:t>
            </a:r>
          </a:p>
          <a:p>
            <a:r>
              <a:t>orders still appear twice. A rule that removes duplicates is a cleaning step, which belongs upstream.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Type the helper live. The deck pack's Tree tab does this with SUMIFS, which also</a:t>
            </a:r>
          </a:p>
          <a:p>
            <a:r>
              <a:t>recalculates without a refresh; a PivotTable needs Refresh after its source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Multiply the Q2 column back: 76 times 1.84 times 2,953 is 4.13 lakh. This is</a:t>
            </a:r>
          </a:p>
          <a:p>
            <a:r>
              <a:t>the tree the chief of staff 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TRAINER: the day sheet has what they should find. Let them find it; take three</a:t>
            </a:r>
          </a:p>
          <a:p>
            <a:r>
              <a:t>sentences aloud. Whoever finds the gap has just made round 2's lookup trap catchable.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One learner answers the interview question aloud in under a minute: the grain, the</a:t>
            </a:r>
          </a:p>
          <a:p>
            <a:r>
              <a:t>filter and period, then what is missing. The full answer is in notebook 1 and the day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Round two runs 50 minutes: question and picture (5), demonstration (12), two traps (20), the</a:t>
            </a:r>
          </a:p>
          <a:p>
            <a:r>
              <a:t>room's variant (8), Kavya's review (5). Notebook 2 sits beside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This is Wednesday's list for the head of Retail-Plus, read now from the customer</a:t>
            </a:r>
          </a:p>
          <a:p>
            <a:r>
              <a:t>table across both quarters instead of Q2 in 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Build it live. Mention Wednesday's tie once: with a tie at fifty the rule decides</a:t>
            </a:r>
          </a:p>
          <a:p>
            <a:r>
              <a:t>whether the list ships fifty or fifty-one, and here it does not arise.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XLOOKUP's match mode is exact by default and it takes an if_not_found argument</a:t>
            </a:r>
          </a:p>
          <a:p>
            <a:r>
              <a:t>(Microsoft Support, verified 29 September 2026). LibreOffice 24.2 returns #NAME? for it, which is</a:t>
            </a:r>
          </a:p>
          <a:p>
            <a:r>
              <a:t>why the deck pack computes with INDEX and 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first. Most rooms say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Run it live. Nothing on the screen is red. That is the whole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Now bring back what round 1's harder variant found. The head of Retail-Plus is about</a:t>
            </a:r>
          </a:p>
          <a:p>
            <a:r>
              <a:t>to read an id aloud; the room knows something is missing only because it reconciled.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Filter live, then read the foot aloud. Excel's SUM keeps adding rows a filter hid.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table's Excel columns are from Microsoft's SUBTOTAL page, verified 29 September</a:t>
            </a:r>
          </a:p>
          <a:p>
            <a:r>
              <a:t>2026. The deck pack's foot uses 109, and its list verdict says when a filter is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TRAINER: read the id from the day sheet. Take the approximate answer aloud first,</a:t>
            </a:r>
          </a:p>
          <a:p>
            <a:r>
              <a:t>then the exact one. The room catches it because it reconciled in round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One learner answers aloud: give a finished table with marked inputs, a lookup</a:t>
            </a:r>
          </a:p>
          <a:p>
            <a:r>
              <a:t>that says not found, a total that follows the filter; never the source, a lookup that can answer</a:t>
            </a:r>
          </a:p>
          <a:p>
            <a:r>
              <a:t>wrong, or a number without its definition.</a:t>
            </a:r>
          </a:p>
          <a:p>
            <a:r>
              <a:t>BREAK, 10 minutes, after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Round three runs 50 minutes: question and picture (5), demonstration (12), two traps (18), the</a:t>
            </a:r>
          </a:p>
          <a:p>
            <a:r>
              <a:t>room's variant (10), Kavya's review (5). Notebook 3 sits beside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Draw the card's five parts on the board. Everything in this round is one of them</a:t>
            </a:r>
          </a:p>
          <a:p>
            <a:r>
              <a:t>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Ask why not Retail-Plus orders per member as the headline. It is the finding, and</a:t>
            </a:r>
          </a:p>
          <a:p>
            <a:r>
              <a:t>it goes in the sentence; the front page answers the question the review is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Letters. Then ask who in the room has ever seen b happen in a real meeting.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check is to read the card aloud and ask which months and against what. A card</a:t>
            </a:r>
          </a:p>
          <a:p>
            <a:r>
              <a:t>that cannot answer is not 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29.4 percent is correct. It is 29.4 percent of Rs 5.86 lakh. The fix is the base</a:t>
            </a:r>
          </a:p>
          <a:p>
            <a:r>
              <a:t>and the share beside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decision tool's Front page tab ships with the wrong base planted; the room</a:t>
            </a:r>
          </a:p>
          <a:p>
            <a:r>
              <a:t>finds it there in the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Notebook 3 draws both lines. The trend beside the card is the consumer line,</a:t>
            </a:r>
          </a:p>
          <a:p>
            <a:r>
              <a:t>labelled as such, since the question is about 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Change the FrontPage tab's scope cell live in the deck pack and let the chart move.</a:t>
            </a:r>
          </a:p>
          <a:p>
            <a:r>
              <a:t>This is the chief of staff's condition 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Ask 3 reproduces round 1's trap inside the deck pack: the Tree says do not send and</a:t>
            </a:r>
          </a:p>
          <a:p>
            <a:r>
              <a:t>the release blocks everything. Take answers on why the card is held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One learner answers aloud, with the card from S33 as the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Point back at the morning's first picture: every red box is now green. Transition</a:t>
            </a:r>
          </a:p>
          <a:p>
            <a:r>
              <a:t>to lunch.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9.xml"/><Relationship Id="rId6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8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Relationship Id="rId5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4.xml"/><Relationship Id="rId6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Relationship Id="rId5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35.xml"/><Relationship Id="rId6" Type="http://schemas.openxmlformats.org/officeDocument/2006/relationships/image" Target="../media/image2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4.xml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5.xml"/><Relationship Id="rId5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29067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2  ·  FRIDAY  ·  HALF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number reaches the leadership deck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9776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“Monday's growth review deck needs three things I can open on my laptop without a login. If a director changes an assumption in the room, the sheet must recalculate in front of them.”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66826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Meera's chief of staff, Kalpa Retail,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596931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5651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9699" y="5248656"/>
            <a:ext cx="12475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Round 1, the pivot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0164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84212" y="5248656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Round 2, the lookup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73827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7875" y="5248656"/>
            <a:ext cx="15433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Round 3, the front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5. The number reaches the leadership deck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45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 chief of staff wants three things a director can open without a login, and all of it must survive the room.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1, the pivot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62895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2, the lookup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63486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3, the front 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5. The number reaches the leadership deck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45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Friday at Kalpa's GCC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week's numbers leave the warehouse and meet their audience.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database_0f9c2895db5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MONDAY TO WEDNESDAY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warehouse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Anand's numbers in SQL: the tree by segment and quarter, booked against collected, the protect list.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table_e38a0cea5ee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THURSDAY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customer table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row per customer, built in pandas and exported as a CSV for Marketing.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presentation_9bfd1bd439f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TODAY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leadership deck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Three things a director opens in Excel, on a laptop, in a room, on Monday.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4294124"/>
            <a:ext cx="2577007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5B3FD6"/>
                </a:solidFill>
                <a:latin typeface="Georgia"/>
              </a:rPr>
              <a:t>Rs 9.84 cr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" y="4806950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 REVENUE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5008118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Monday's warehouse number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0352" y="5482844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1679" y="4294124"/>
            <a:ext cx="2577007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5B3FD6"/>
                </a:solidFill>
                <a:latin typeface="Georgia"/>
              </a:rPr>
              <a:t>1.6%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1679" y="4806950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 ON Q1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1679" y="5008118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Rs 10.00 crore in Q1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1679" y="5482844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33007" y="4294124"/>
            <a:ext cx="2577007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5B3FD6"/>
                </a:solidFill>
                <a:latin typeface="Georgia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4806950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EXPORTS SENT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3007" y="5008118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clean table and a raw one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33007" y="5482844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84335" y="4294124"/>
            <a:ext cx="2577007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84335" y="4806950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LOGINS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84335" y="5008118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what the chief of staff will accept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84335" y="5482844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45" name="Oval 4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47" name="Oval 46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49" name="Oval 48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45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the chief of staff wrote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Three deliverables, one condition, and a senior analyst's challenge.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63982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54812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65785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1200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"Monday's growth review deck needs three things I can open on my laptop without a login: the revenue tree by segment for both quarters, the top-fifty protect list with a lookup so I can find any member by id, and one number on the front page with its trend. Nothing that needs Python. If a director changes an assumption in the room, the sheet must recalculate in front of them."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3761232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199024"/>
                <a:gridCol w="4802039"/>
                <a:gridCol w="112992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was asked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becomes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Round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revenue tree by segment, both quarters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pivot that reconciles to the warehouse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protect list and a lookup by id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ranked list and a lookup that fails out loud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number with its trend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card with its period, comparison and base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Recalculates when a director changes an assumption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Yellow inputs, every other cell a formula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All three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9" name="Oval 18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1" name="Oval 20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45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belongs in Excel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Kavya: "Which parts belong in Excel, which must never be in Excel, and how do the two stay in step?"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45720" cy="74168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56816"/>
            <a:ext cx="10820095" cy="74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"Everything you built this week has to survive a room that only has Excel."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6B6690"/>
                </a:solidFill>
                <a:latin typeface="Calibri"/>
              </a:rPr>
              <a:t>Kavya Nair, senior analyst, Kalpa Retail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844800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6656" y="2972816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2963672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of these must never happen in Excel? a) slicing the tree by segment in the room; b) removing the double-paid rows from the export; c) looking up a member by id; d) showing the front-page number's trend.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6" name="Oval 15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8" name="Oval 17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0" name="Oval 19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Excel presents, and never cleans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Cleaning in a sheet leaves no audit trail, so the source of truth stays upstream.</a:t>
            </a:r>
          </a:p>
        </p:txBody>
      </p:sp>
      <p:pic>
        <p:nvPicPr>
          <p:cNvPr id="9" name="mermaid diagram" descr="d2cf9c2537db4cc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35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461720"/>
            <a:ext cx="11130991" cy="1048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answer is b. Removing rows in a sheet is a cleaning step with no record, and the next export brings them back. Excel owns the last mile: it presents, slices and looks up a table somebody upstream already made honest.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5" name="Oval 14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places a sheet lies before anyone types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thinking for the day, drawn before Excel opens.</a:t>
            </a:r>
          </a:p>
        </p:txBody>
      </p:sp>
      <p:pic>
        <p:nvPicPr>
          <p:cNvPr id="9" name="mermaid diagram" descr="90ce0203dae087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9566" y="1956816"/>
            <a:ext cx="9072562" cy="17716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874770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Each is silent: the sheet shows a plausible number and no error. Round 1 takes the grain, round 2 the lookup and the total, round 3 the card.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5" name="Oval 14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45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Round 1, the pivot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tree by segment, built on the clean table, then on the raw export, where it nearly doubles.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143164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Round 1, the pivot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62895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2, the lookup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63486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3, the front 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5. The number reaches the leadership deck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8 / 45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question for round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Can a director slice revenue by segment and quarter, and trust what they see?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"The revenue tree by segment for both quarters."</a:t>
            </a:r>
          </a:p>
        </p:txBody>
      </p:sp>
      <p:pic>
        <p:nvPicPr>
          <p:cNvPr id="14" name="mermaid diagram" descr="d2d8a22828b58e3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4128" y="2983992"/>
            <a:ext cx="4643437" cy="195738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30352" y="5087683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Week 1's tree, three leaves that multiply, now per segment and per quarter, in a pivot a director can slice.</a:t>
            </a:r>
          </a:p>
        </p:txBody>
      </p:sp>
      <p:sp>
        <p:nvSpPr>
          <p:cNvPr id="16" name="Oval 1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8" name="Oval 17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20" name="Oval 19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2" name="Oval 21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9 / 45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exports, two grains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customer table has a row per customer; the raw export has a row per payment.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table_e38a0cea5e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CLEAN EXPORT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One row per customer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300 customers, their segment, city, orders and revenue across both quarters.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receipt_e40a408ddf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RAW EXPORT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One row per payment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1,450 rows, each carrying its order's amount and one payment against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cale_e4d6117bdfb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WAREHOUSE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One row per order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1,000 orders, Rs 19.84 crore across the two quarters.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0352" y="410413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8952" y="443636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list-checks_bd88901d2a3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454609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399031" y="425043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99031" y="446989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Say the grain aloud before you pivot. A Sum adds one value per row, so the grain decides what it counts.</a:t>
            </a:r>
          </a:p>
        </p:txBody>
      </p:sp>
      <p:sp>
        <p:nvSpPr>
          <p:cNvPr id="32" name="Oval 3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34" name="Oval 33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36" name="Oval 35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38" name="Oval 37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10 / 45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clean table, pivoted by 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Insert, PivotTable: segment in Rows, revenue as Sum, customers as Count.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69438"/>
                <a:gridCol w="2957876"/>
                <a:gridCol w="914400"/>
                <a:gridCol w="4089276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Business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188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19,65,99,040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392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7,39,320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349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9,77,410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62,490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889248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99.1%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4624324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BUSINESS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4825492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39 corporate buyers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5077968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7" y="3889248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4624324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EVERYONE ELSE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3007" y="4825492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261 consumer customers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5077968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0" name="Oval 19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22" name="Oval 21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4" name="Oval 23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45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tree for Retail-Plus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Three leaves, two calculated columns, and they multiply back to the revenue.</a:t>
            </a:r>
          </a:p>
        </p:txBody>
      </p:sp>
      <p:pic>
        <p:nvPicPr>
          <p:cNvPr id="9" name="mermaid diagram" descr="21b4904be508fc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8322" y="1956816"/>
            <a:ext cx="6115050" cy="27146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817745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Beside the pivot, =orders/customers and =revenue/orders. Retail-Core reads 2.99 and Rs 1,886, so the basket is where Retail-Plus pays more.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15" name="Oval 14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45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can the clean table split the quarters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It carries a last order date, and no quarter.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chief of staff asked for both quarters. How does the clean table give Q1 against Q2? a) split each customer's revenue on the last order date; b) halve each customer's revenue; c) it cannot; the split lives only at the order grain; d) use the orders column, which counts per quarter.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4" name="Oval 13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16" name="Oval 15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18" name="Oval 17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45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quarter lives at the order grain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last order date is a recency, and splitting on it would invent a Q2 boom.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row each, both quarters summed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QUARTER COLUMNS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 the clean table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1,450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 IN THE RAW EXPORT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each with an order date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answer is c. Most customers last bought in Q2, so splitting on it moves their whole half-year into Q2. The quarter split needs the raw export.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4" name="Oval 23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26" name="Oval 25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8" name="Oval 27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45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plausible wrong answer: Rs 39.41 crore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pivot on the raw export: quarter in Columns, Sum of order_amount.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69073"/>
                <a:gridCol w="4023758"/>
                <a:gridCol w="4023758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Q1, as the pivot shows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Q2, as the pivot shows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Business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19,80,28,880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19,34,72,200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4,33,760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4,38,160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+1.0%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9,38,160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7,00,910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-25.3%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35,350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48,070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+36.0%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All segments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19,94,36,150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19,46,59,340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22452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5567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66648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37083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59028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deck would carry Rs 19.47 crore for Q2, nearly twice Finance's Rs 9.84 crore, and say Retail-Core grew, so the growth plan leaves Core alone.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19" name="Oval 18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1" name="Oval 20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15 / 45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1,450 rows, 1,000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export repeats an order's amount on every payment row, and a Sum adds each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1,450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per payment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DISTINCT 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what the warehouse holds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 PER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anything over 1.00 inflates a Sum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6656" y="354787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3872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Count rows against distinct order ids, then tie the grand total to Monday's Rs 19.84 crore. Either one catches it in a minute.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6" name="Oval 25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28" name="Oval 27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30" name="Oval 29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16 / 45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does Remove Duplicates fix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Data, Remove Duplicates, every column ticked.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After Remove Duplicates on every column, what does the pivot's grand total read? a) Rs 19.84 crore, the warehouse; b) still about Rs 39.4 crore; c) about half the warehouse; d) nothing, the tool refuses repeated ids.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4" name="Oval 13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16" name="Oval 15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18" name="Oval 17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17 / 45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50 rows go, and the total barely moves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Instalment rows differ in the amount paid, so they are not duplicates.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087744"/>
                <a:gridCol w="2825223"/>
                <a:gridCol w="321802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Version of the export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As exported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1,450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39.41 crore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After Remove Duplicates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1,400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39.41 crore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warehouse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1,000 orders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19.84 crore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69214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answer is b. Remove Duplicates removes rows identical in every column; the problem is the grain, and it needs a fix that names the grain.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15" name="Oval 14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18 / 45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count each order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helper column flags the first row of each order, and the tree sums only those.</a:t>
            </a:r>
          </a:p>
        </p:txBody>
      </p:sp>
      <p:pic>
        <p:nvPicPr>
          <p:cNvPr id="9" name="mermaid diagram" descr="32cc8e49dc46c7e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9585" y="1956816"/>
            <a:ext cx="8772525" cy="11287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231832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flag is =IF(COUNTIF($A$2:A2,A2)=1,1,0), filled down the export.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385565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6656" y="398367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97452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What changed.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grand total falls from Rs 39.41 crore to Rs 19.84 crore, the warehouse to the rupee, and Retail-Core turns from a 1.0 percent rise into a 1.8 percent fall.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6" name="Oval 15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18" name="Oval 17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0" name="Oval 19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19 / 45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tree by segment and quarter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Retail-Plus lost customers and orders per customer, and baskets grew.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09702"/>
                <a:gridCol w="2853444"/>
                <a:gridCol w="2853444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Q1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Q2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-16.5%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Orders per customer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2.36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-22.0%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Revenue per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2,725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2,953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+8.4%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5,85,770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4,13,380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-29.4%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88924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company total: Rs 10.00 crore in Q1, Rs 9.84 crore in Q2, down 1.6 percent, matching Monday's warehouse numbers.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15" name="Oval 14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20 / 45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Your turn: reconcile the clean table too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protect list comes from the clean table, so it must reconcile as well.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1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Sum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clean table's revenue and orders.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2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Tie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Against the warehouse's 1,000 orders and Rs 19,84,00,000.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3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Find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Any id in the raw export and not in the clean table.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4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Say 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What it means for the protect list, in one sentence.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4103624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76656" y="4231640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4222496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harder variant.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Ten minutes, in Excel or in notebook 1's empty cell. Your sentence goes in the chat.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35" name="Oval 3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37" name="Oval 36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39" name="Oval 38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21 / 45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Kavya's review of round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exports, two grains, and a pivot that has not been reconciled has not been built.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Say the grain before you pivot, count rows against ids, and tie the grand total to Monday's number. A pivot that has not been reconciled has not been built.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243072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44576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3555492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38937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608832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Your pivot shows a different total from the warehouse; where do you look first?</a:t>
            </a:r>
          </a:p>
        </p:txBody>
      </p:sp>
      <p:pic>
        <p:nvPicPr>
          <p:cNvPr id="19" name="mermaid diagram" descr="d2aed33b9c79b25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81022" y="4270248"/>
            <a:ext cx="8629650" cy="871537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2" name="Oval 2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the pivot</a:t>
            </a:r>
          </a:p>
        </p:txBody>
      </p:sp>
      <p:sp>
        <p:nvSpPr>
          <p:cNvPr id="24" name="Oval 23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6" name="Oval 25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22 / 45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Round 2, the lookup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protect list, a lookup that must fail out loud, and a total that must follow the filter.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1, the pivot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62895" y="5074920"/>
            <a:ext cx="149086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Round 2, the lookup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63486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3, the front 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5. The number reaches the leadership deck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23 / 45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question for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Find any member by id, and protect the fifty who matter most.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"The top-fifty protect list with a lookup so I can find any member by id."</a:t>
            </a:r>
          </a:p>
        </p:txBody>
      </p:sp>
      <p:pic>
        <p:nvPicPr>
          <p:cNvPr id="14" name="mermaid diagram" descr="8e571f645af60a3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2428" y="2983992"/>
            <a:ext cx="8986837" cy="87153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9" name="Oval 18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the lookup</a:t>
            </a:r>
          </a:p>
        </p:txBody>
      </p:sp>
      <p:sp>
        <p:nvSpPr>
          <p:cNvPr id="21" name="Oval 20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24 / 45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protect 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Filter to Retail-Plus, sort by revenue, keep fifty.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2577007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106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437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RETAIL-PLUS MEMBERS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639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 the clean table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1679" y="1956816"/>
            <a:ext cx="2577007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25,840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1679" y="2437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RANK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1679" y="2639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C-0152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1679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956816"/>
            <a:ext cx="2577007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8,580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2437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RANK 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639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cut-off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4335" y="1956816"/>
            <a:ext cx="2577007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7,14,890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4335" y="2437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FIFTY TOGETHER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4335" y="2639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both quarters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84335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fifty-first member spent Rs 8,520, so no tie sits across the boundary and the list ships exactly fifty rows.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8" name="Oval 27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30" name="Oval 29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the lookup</a:t>
            </a:r>
          </a:p>
        </p:txBody>
      </p:sp>
      <p:sp>
        <p:nvSpPr>
          <p:cNvPr id="32" name="Oval 31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25 / 45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lookup has two exits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Found returns the member's row; not found says so.</a:t>
            </a:r>
          </a:p>
        </p:txBody>
      </p:sp>
      <p:pic>
        <p:nvPicPr>
          <p:cNvPr id="9" name="mermaid diagram" descr="9c45b0d58c6734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1072" y="1956816"/>
            <a:ext cx="7829550" cy="22002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303395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In the room's Excel: =XLOOKUP(id, ids, revenue, "not in the table"). In a sheet that must also open elsewhere: =IFERROR(INDEX(revenue, MATCH(id, ids, 0)), "not in the table").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5" name="Oval 14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the lookup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26 / 45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does VLOOKUP say for C-0195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C-0195 is a Retail-Plus member with no orders in these two quarters.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hurried sheet uses =VLOOKUP("C-0195", table, 5) with the fourth argument left out. What does it return? a) #N/A; b) C-0195's revenue, zero; c) the revenue of the member just below C-0195; d) the top member's revenue.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4" name="Oval 13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6" name="Oval 15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the lookup</a:t>
            </a:r>
          </a:p>
        </p:txBody>
      </p:sp>
      <p:sp>
        <p:nvSpPr>
          <p:cNvPr id="18" name="Oval 17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27 / 45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 neighbour, on the list at rank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Left out, the fourth argument means an approximate match.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6705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43961"/>
                <a:gridCol w="2451767"/>
                <a:gridCol w="1780737"/>
                <a:gridCol w="4954525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Asked for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 returned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the sheet says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C-0195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C-0194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16,740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 the protect list at rank 15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288340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answer is c. Microsoft's page says range_lookup defaults to an approximate match (VLOOKUP, verified 29 September 2026), and on a table sorted by id that returns the largest id not above the one asked for.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5" name="Oval 14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the lookup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28 / 45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wrong, and the check that catches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retention offer goes to someone who has not bought in six months.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chief of staff tells a director C-0195 is one of Kalpa's best members, and nobody asks why the id was missing from the 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24307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37108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36194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Test every lookup with an id you know is missing, and put the id returned beside the id asked for.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" y="4215384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6656" y="4343400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4334256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fix.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An exact match with a visible not-found path. The answer moves from "rank 15, Rs 16,740" to "not in the table", which is the answer that makes somebody check the export.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2" name="Oval 2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24" name="Oval 23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the lookup</a:t>
            </a:r>
          </a:p>
        </p:txBody>
      </p:sp>
      <p:sp>
        <p:nvSpPr>
          <p:cNvPr id="26" name="Oval 25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29 / 45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plausible wrong total: Rs 7,14,890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list, filtered to Mumbai, with SUM at the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7,14,890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SUM AT THE FOOT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all fifty rows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1,56,790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WHAT MUMBAI'S 11 SPENT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rows on screen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4.6 times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OVERSTATEMENT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read as Mumbai's list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Mumbai store head is told the members on their list spent Rs 7.15 lakh, and a retention budget sized on that is four and a half times too big.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8" name="Oval 27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30" name="Oval 29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the lookup</a:t>
            </a:r>
          </a:p>
        </p:txBody>
      </p:sp>
      <p:sp>
        <p:nvSpPr>
          <p:cNvPr id="32" name="Oval 31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30 / 45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SUBTOTAL(109) at the foot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It adds only the rows a director can see.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098246"/>
                <a:gridCol w="3904288"/>
                <a:gridCol w="312845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Formula at the foot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Hidden by a filter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Hidden by hand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SUM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Added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Added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SUBTOTAL(9, ...)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Left out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Added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SUBTOTAL(109, ...)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Left out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Left out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692144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820160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811016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=SUBTOTAL(102, range) counts the visible numbers; if it is smaller than the rows the total adds, the total is adding hidden rows. On LibreOffice 24.2.7.2, SUM over three rows with one hidden gave 60 and SUBTOTAL(109) gave 40.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7" name="Oval 16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the lookup</a:t>
            </a:r>
          </a:p>
        </p:txBody>
      </p:sp>
      <p:sp>
        <p:nvSpPr>
          <p:cNvPr id="19" name="Oval 18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31 / 45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Your turn: the id read out in the room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head of Retail-Plus names one member she knows well.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1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Exact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Look the id up with an exact match.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2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Approximate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Look it up again with the fourth argument left out.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3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Compare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id returned against the id asked for.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4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Say 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What you would let the chief of staff read aloud.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" y="4103624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76656" y="4231640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4222496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harder variant.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Eight minutes, in the deck pack's Protect tab or notebook 2's empty cell.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35" name="Oval 3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37" name="Oval 36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the lookup</a:t>
            </a:r>
          </a:p>
        </p:txBody>
      </p:sp>
      <p:sp>
        <p:nvSpPr>
          <p:cNvPr id="39" name="Oval 38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32 / 45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Kavya's review of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Ask the lookup for an id you know is missing, and count what the foot adds.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lookup that cannot find an id says so. A lookup that answers with somebody else's row is worse than no lookup, because nobody in the room can tell.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24307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57530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3685032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38937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60883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A stakeholder wants to poke the numbers themselves; what do you give them and what do you never give them?</a:t>
            </a:r>
          </a:p>
        </p:txBody>
      </p:sp>
      <p:pic>
        <p:nvPicPr>
          <p:cNvPr id="19" name="mermaid diagram" descr="c3f00df63e925b0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31141" y="4529328"/>
            <a:ext cx="6729412" cy="871537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2" name="Oval 2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24" name="Oval 23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the lookup</a:t>
            </a:r>
          </a:p>
        </p:txBody>
      </p:sp>
      <p:sp>
        <p:nvSpPr>
          <p:cNvPr id="26" name="Oval 25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the front page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33 / 45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Round 3, the front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One number, read correctly in two minutes by a director who has not seen the sheet.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1, the pivot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62895" y="5074920"/>
            <a:ext cx="149086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2, the lookup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63486" y="5074920"/>
            <a:ext cx="172772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Round 3, the front 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5. The number reaches the leadership deck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34 / 45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question for round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number on the front page, with its trend, that a director cannot misread.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"One number on the front page with its trend. If a director changes an assumption in the room, the sheet must recalculate in front of them."</a:t>
            </a:r>
          </a:p>
        </p:txBody>
      </p:sp>
      <p:pic>
        <p:nvPicPr>
          <p:cNvPr id="14" name="mermaid diagram" descr="3219a5fe0fecf6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0960" y="3243072"/>
            <a:ext cx="9629775" cy="614362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9" name="Oval 18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1" name="Oval 20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front page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35 / 45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number: Q2 revenue against 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growth review asks what moved, so the number is the latest quarter against the one before.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9.84 cr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July to September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10.00 cr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REVENUE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April to June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-1.6%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 ON Q1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measured on Q1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sentence beside it carries the finding: the fall sits in Retail-Plus, where orders per member fell from 2.36 to 1.84.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4" name="Oval 23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26" name="Oval 25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8" name="Oval 27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front page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36 / 45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does a director read 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fastest card is the clean table's grand total, in big type.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11130991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19.84 cr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11130991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11130991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card as drafted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11130991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30352" y="341985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354787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" y="353872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director remembers Rs 10.00 crore for Q1. What do they read in this card? a) two quarters of revenue; b) revenue nearly doubled this quarter; c) a number to check later; d) nothing, the number is correct.</a:t>
            </a:r>
          </a:p>
        </p:txBody>
      </p:sp>
      <p:sp>
        <p:nvSpPr>
          <p:cNvPr id="16" name="Oval 1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8" name="Oval 17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20" name="Oval 19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2" name="Oval 21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front page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37 / 45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 doubled quarter that never happened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card is two quarters added together, and nothing on it says so.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19.84 cr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WHAT THE DIRECTOR READS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two quarters, read as 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9.84 cr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Q2, LIKE WITH LIKE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July to September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10.00 cr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Q1, WHAT THEY REMEMBER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April to June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1048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answer is b. </a:t>
            </a:r>
            <a:r>
              <a:rPr sz="1600" b="1" i="0">
                <a:solidFill>
                  <a:srgbClr val="1A1440"/>
                </a:solidFill>
                <a:latin typeface="Calibri"/>
              </a:rPr>
              <a:t>The check:</a:t>
            </a:r>
            <a:r>
              <a:rPr sz="1600" b="0" i="0">
                <a:solidFill>
                  <a:srgbClr val="1A1440"/>
                </a:solidFill>
                <a:latin typeface="Calibri"/>
              </a:rPr>
              <a:t> read the card aloud and ask which months, and against what; a card that cannot answer is not ready. </a:t>
            </a:r>
            <a:r>
              <a:rPr sz="1600" b="1" i="0">
                <a:solidFill>
                  <a:srgbClr val="1A1440"/>
                </a:solidFill>
                <a:latin typeface="Calibri"/>
              </a:rPr>
              <a:t>The fix:</a:t>
            </a:r>
            <a:r>
              <a:rPr sz="1600" b="0" i="0">
                <a:solidFill>
                  <a:srgbClr val="1A1440"/>
                </a:solidFill>
                <a:latin typeface="Calibri"/>
              </a:rPr>
              <a:t> "Q2, July to September 2026: Rs 9.84 crore, down 1.6 percent on Q1, April to June 2026 (Rs 10.00 crore)."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4" name="Oval 23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26" name="Oval 25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8" name="Oval 27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front page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38 / 45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plausible wrong card: down 29.4 percent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second slot, drafted: "Retail-Plus revenue down 29.4 percent."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-29.4%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RETAIL-PLUS, AS DRAFTED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no base, no share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1.72 lakh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 IN RUPEES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 a Rs 10.00 crore quarter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0.4%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RETAIL-PLUS'S SHARE OF Q2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base the card left out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Read without its base, 29.4 percent sounds like the business collapsing, and the room argues about a panic instead of about members who order less often.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8" name="Oval 27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30" name="Oval 29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32" name="Oval 31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front page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39 / 45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base, and a slip that makes it worse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change is measured on the earlier period.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781186"/>
                <a:gridCol w="434980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How the change is computed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Retail-Plus, Q1 to Q2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 the earlier quarter, (Q2 - Q1) / Q1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-29.4%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 the current quarter, (Q2 - Q1) / Q2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-41.7%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32232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45033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4119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fix.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"Retail-Plus, Q2: Rs 4.13 lakh, down 29.4 percent on Q1 (Rs 5.86 lakh); 0.4 percent of company revenue."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7" name="Oval 16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19" name="Oval 18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front page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40 / 45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trend, and what makes it lie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company line is Business's invoices; the consumer line is the story.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90942"/>
                <a:gridCol w="3462368"/>
                <a:gridCol w="517768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All segments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All except Business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June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3.12 crore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3.32 lakh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July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4.51 crore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2.91 lakh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August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2.69 crore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2.76 lakh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September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2.64 crore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2.48 lakh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0619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July's company revenue is 45 percent above June's because corporate invoices landed in it. Take Business out and consumer revenue falls in each of the last three months.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5" name="Oval 14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front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41 / 45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card, recomputed when a director 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scope is a yellow input, and the number, comparison and base move together.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75400"/>
                <a:gridCol w="785559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director asks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card says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All segments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9.84 crore, down 1.6% on Q1; 100.0% of revenue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Take Business out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8.15 lakh, down 17.3% on Q1; 0.8% of revenue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Show me Retail-Plus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4.13 lakh, down 29.4% on Q1; 0.4% of revenue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69214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Every line comes from the same orders, so two directors get two honest answers, each labelled with its scope.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5" name="Oval 14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front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42 / 45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Your turn: the director's three 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deck pack's FrontPage and Protect tabs, changed as a director would change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2324557" y="2523744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ASK 1</a:t>
            </a:r>
          </a:p>
        </p:txBody>
      </p:sp>
      <p:sp>
        <p:nvSpPr>
          <p:cNvPr id="11" name="Oval 10"/>
          <p:cNvSpPr/>
          <p:nvPr/>
        </p:nvSpPr>
        <p:spPr>
          <a:xfrm>
            <a:off x="222397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Top forty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3259226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Change the list size and read the new total.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164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ASK 2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0164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623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No Business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6234" y="3277870"/>
            <a:ext cx="3259226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Change the card's scope and read the new change.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293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ASK 3</a:t>
            </a:r>
          </a:p>
        </p:txBody>
      </p:sp>
      <p:sp>
        <p:nvSpPr>
          <p:cNvPr id="21" name="Oval 20"/>
          <p:cNvSpPr/>
          <p:nvPr/>
        </p:nvSpPr>
        <p:spPr>
          <a:xfrm>
            <a:off x="9766554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72932" y="2843784"/>
            <a:ext cx="3588410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752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Per row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752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Count each order once per row and read the release.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0352" y="4103624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76656" y="4231640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4222496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harder variant.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Ten minutes. Post the three sentences the sheet wrote.</a:t>
            </a:r>
          </a:p>
        </p:txBody>
      </p:sp>
      <p:sp>
        <p:nvSpPr>
          <p:cNvPr id="28" name="Oval 2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30" name="Oval 29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32" name="Oval 31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34" name="Oval 33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front page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43 / 45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Kavya's review of round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If the card cannot say which months, against what and out of how much, it goes 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890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239877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number without its period is read against whatever the director remembers. A percentage without its base is read as whatever the director fears.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243072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44576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3555492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38937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608832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How do you present one number so it is not misread?</a:t>
            </a:r>
          </a:p>
        </p:txBody>
      </p:sp>
      <p:pic>
        <p:nvPicPr>
          <p:cNvPr id="19" name="mermaid diagram" descr="d0b0da7921c2e22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59641" y="4270248"/>
            <a:ext cx="7872412" cy="614362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2" name="Oval 2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24" name="Oval 23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26" name="Oval 25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front page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44 / 45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morning in one picture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silent lies, each with its check and its fix.</a:t>
            </a:r>
          </a:p>
        </p:txBody>
      </p:sp>
      <p:pic>
        <p:nvPicPr>
          <p:cNvPr id="9" name="mermaid diagram" descr="10f72c8cea0f69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4228" y="1668462"/>
            <a:ext cx="3043237" cy="38004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After lunch the three deliverables run end to end on the escalated case, and a director asks to edit the source.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the pivot</a:t>
            </a:r>
          </a:p>
        </p:txBody>
      </p:sp>
      <p:sp>
        <p:nvSpPr>
          <p:cNvPr id="15" name="Oval 14"/>
          <p:cNvSpPr/>
          <p:nvPr/>
        </p:nvSpPr>
        <p:spPr>
          <a:xfrm>
            <a:off x="263147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119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the lookup</a:t>
            </a:r>
          </a:p>
        </p:txBody>
      </p:sp>
      <p:sp>
        <p:nvSpPr>
          <p:cNvPr id="17" name="Oval 16"/>
          <p:cNvSpPr/>
          <p:nvPr/>
        </p:nvSpPr>
        <p:spPr>
          <a:xfrm>
            <a:off x="39810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90797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the front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45 / 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