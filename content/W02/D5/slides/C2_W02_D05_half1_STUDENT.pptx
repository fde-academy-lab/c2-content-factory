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the chief of staff's message aloud and leave it on screen. The day is one</a:t>
            </a:r>
          </a:p>
          <a:p>
            <a:r>
              <a:t>question climbed in six chapters: what can a director open on Monday without a login, change in the</a:t>
            </a:r>
          </a:p>
          <a:p>
            <a:r>
              <a:t>room, and still trust. Five chapters this morning, the sixth after lunch, then the escalated case</a:t>
            </a:r>
          </a:p>
          <a:p>
            <a:r>
              <a:t>alone and the director's edit in pairs. Excel is the tool the room holds today; the notebooks are the</a:t>
            </a:r>
          </a:p>
          <a:p>
            <a:r>
              <a:t>second route to every number.</a:t>
            </a:r>
          </a:p>
          <a:p>
            <a:r>
              <a:t>Transition: which six curriculum topics does the day teach, and in which chapter?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topics as the curriculum names them, then the map from left to right:</a:t>
            </a:r>
          </a:p>
          <a:p>
            <a:r>
              <a:t>each topic builds on a day the room has already done, and each chapter opener names its topic before</a:t>
            </a:r>
          </a:p>
          <a:p>
            <a:r>
              <a:t>its question. Three topics get one slide of their own inside their chapter: freeze panes (S9a), the</a:t>
            </a:r>
          </a:p>
          <a:p>
            <a:r>
              <a:t>nearest-match trap (S43a) and the denominator (S57a).</a:t>
            </a:r>
          </a:p>
          <a:p>
            <a:r>
              <a:t>Transition: what can a director open on Monday without a login, change in the room, and still trust?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day's question, then the six chapter questions in order. Each chapter's</a:t>
            </a:r>
          </a:p>
          <a:p>
            <a:r>
              <a:t>answer raises the next question: the customer table cannot split the quarters, so chapter 2 opens</a:t>
            </a:r>
          </a:p>
          <a:p>
            <a:r>
              <a:t>the raw export; the fall sits partly in a paid tier, so chapter 3 protects its best members; and so</a:t>
            </a:r>
          </a:p>
          <a:p>
            <a:r>
              <a:t>on. Tell the room every chapter ends on a number and a sentence they could send.</a:t>
            </a:r>
          </a:p>
          <a:p>
            <a:r>
              <a:t>Transition: first, what exactly was asked.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the message aloud, then the last row: it is the hardest line in the brief and it</a:t>
            </a:r>
          </a:p>
          <a:p>
            <a:r>
              <a:t>applies to everything. Kavya's challenge sits under it: which parts belong in Excel, which must never</a:t>
            </a:r>
          </a:p>
          <a:p>
            <a:r>
              <a:t>be there, and how do the two stay in step. That is chapter 5.</a:t>
            </a:r>
          </a:p>
          <a:p>
            <a:r>
              <a:t>Transition: before any tool opens, where could a sheet like this go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Draw this on the board with the room and leave it up all day: it is the day's</a:t>
            </a:r>
          </a:p>
          <a:p>
            <a:r>
              <a:t>picture. Pairs, two minutes: one way each box could produce a wrong number that raises no error.</a:t>
            </a:r>
          </a:p>
          <a:p>
            <a:r>
              <a:t>Expect: rows that are payments, a lookup that answers wrong, a total under a filter, a card with no</a:t>
            </a:r>
          </a:p>
          <a:p>
            <a:r>
              <a:t>period. The point is the list; the letter comes next.</a:t>
            </a:r>
          </a:p>
          <a:p>
            <a:r>
              <a:t>Transition: where does the day start, and what does the finished picture look 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This is the finished picture; the cheat sheet's first panel and the board carry the</a:t>
            </a:r>
          </a:p>
          <a:p>
            <a:r>
              <a:t>same drawing. The warehouse owns the number, the export carries one grain, the workbook presents it,</a:t>
            </a:r>
          </a:p>
          <a:p>
            <a:r>
              <a:t>the director slices and asks what-ifs, and the Checks tab ties the workbook back.</a:t>
            </a:r>
          </a:p>
          <a:p>
            <a:r>
              <a:t>Transition: chapter 1, the first deliverable, from the table Marketing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notebook C2_W02_D05_01_segment_tree beside it as the second route.</a:t>
            </a:r>
          </a:p>
          <a:p>
            <a:r>
              <a:t>Excel live on data/C2_W02_D05_customer_table_STUDENT.csv.</a:t>
            </a:r>
          </a:p>
          <a:p>
            <a:r>
              <a:t>Transition: who needs the tree by segment, and which six questions build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smaller questions; they are the notebook's headings and the chapter's</a:t>
            </a:r>
          </a:p>
          <a:p>
            <a:r>
              <a:t>objectives. Ask the room to hold one number in mind for question 4: how much more a Retail-Plus</a:t>
            </a:r>
          </a:p>
          <a:p>
            <a:r>
              <a:t>member spends than a Retail-Core shopper.</a:t>
            </a:r>
          </a:p>
          <a:p>
            <a:r>
              <a:t>Transition: what does a wrong leaf cost on page two, and which real retailer splits revenue by member tier?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Revenue here is booked order value: every order at its price, whatever became of it.</a:t>
            </a:r>
          </a:p>
          <a:p>
            <a:r>
              <a:t>The segments: Retail-Core, everyday shoppers; Retail-Plus, the paid membership tier; Business,</a:t>
            </a:r>
          </a:p>
          <a:p>
            <a:r>
              <a:t>corporate buyers invoiced in large amounts; Student. The first director who multiplies a leaf back and</a:t>
            </a:r>
          </a:p>
          <a:p>
            <a:r>
              <a:t>gets a different revenue stops trusting page three.</a:t>
            </a:r>
          </a:p>
          <a:p>
            <a:r>
              <a:t>Costco's 10-K for the year to 31 August 2025, on sec.gov, checked 30 September 2026: 81.0 million paid</a:t>
            </a:r>
          </a:p>
          <a:p>
            <a:r>
              <a:t>members, 38.7 million of them Executive, the paid upgrade tier. Say "approximately" as the filing</a:t>
            </a:r>
          </a:p>
          <a:p>
            <a:r>
              <a:t>does. The question is the one Kalpa asks of Retail-Plus: how much revenue does the paid tier carry,</a:t>
            </a:r>
          </a:p>
          <a:p>
            <a:r>
              <a:t>and through which leaf.</a:t>
            </a:r>
          </a:p>
          <a:p>
            <a:r>
              <a:t>Transition: which way should the director get the tree, and what does each way cost on this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sizing is on this table: 300 rows, 6 columns; 4 segments times 3 measures is 12</a:t>
            </a:r>
          </a:p>
          <a:p>
            <a:r>
              <a:t>formulas, each reading 300 rows. Option d fails the brief on the login. Ask which option a director</a:t>
            </a:r>
          </a:p>
          <a:p>
            <a:r>
              <a:t>would break first; hold the answer for chapter 6.</a:t>
            </a:r>
          </a:p>
          <a:p>
            <a:r>
              <a:t>Transition: before any pivot, what is the grain of this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in the chat. Open the CSV in Excel and scroll it while they answer.</a:t>
            </a:r>
          </a:p>
          <a:p>
            <a:r>
              <a:t>Transition: what does the count say?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In Excel: =COUNTA(A2:A301) and a distinct count beside it. The habit is what</a:t>
            </a:r>
          </a:p>
          <a:p>
            <a:r>
              <a:t>matters: the grain is said aloud before any pivot, because chapter 2's export will not be so kind.</a:t>
            </a:r>
          </a:p>
          <a:p>
            <a:r>
              <a:t>Transition: scrolled to row 250, which number on the screen is orders and which is revenue?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In Excel on the customer table, scroll to row 250 and read the row aloud: nobody can</a:t>
            </a:r>
          </a:p>
          <a:p>
            <a:r>
              <a:t>say which number is orders and which is revenue. Select B2, choose View, Freeze Panes, Freeze Panes,</a:t>
            </a:r>
          </a:p>
          <a:p>
            <a:r>
              <a:t>and scroll again. The check's answer is c, A3: rows 1 and 2 sit above it and no column sits left of</a:t>
            </a:r>
          </a:p>
          <a:p>
            <a:r>
              <a:t>it. B2 freezes row 1 and column A, C1 freezes columns A and B and no row, and B3 freezes two rows and</a:t>
            </a:r>
          </a:p>
          <a:p>
            <a:r>
              <a:t>column A.</a:t>
            </a:r>
          </a:p>
          <a:p>
            <a:r>
              <a:t>Transition: with segment in Rows and revenue in Values, whose bar is longest?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Build it live: select the table, Insert, PivotTable, segment to Rows, customer_id to</a:t>
            </a:r>
          </a:p>
          <a:p>
            <a:r>
              <a:t>Values (Excel counts text), orders and revenue to Values (Excel sums numbers by default, Microsoft</a:t>
            </a:r>
          </a:p>
          <a:p>
            <a:r>
              <a:t>Support, checked 30 September 2026). Take letters before you drag revenue in.</a:t>
            </a:r>
          </a:p>
          <a:p>
            <a:r>
              <a:t>Transition: what does the pivot show, segment by segment?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Point at the share column: Student rounds to 0.0 percent. Ask what a company-wide</a:t>
            </a:r>
          </a:p>
          <a:p>
            <a:r>
              <a:t>revenue number can say about members. Almost nothing, and chapter 4 has to live with that.</a:t>
            </a:r>
          </a:p>
          <a:p>
            <a:r>
              <a:t>Transition: a Retail-Plus member spends more across the half-year; which leaf of the tree says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In Excel, two formulas beside the pivot: orders divided by customers, revenue divided</a:t>
            </a:r>
          </a:p>
          <a:p>
            <a:r>
              <a:t>by orders, each reading the pivot's own sums. Letters first.</a:t>
            </a:r>
          </a:p>
          <a:p>
            <a:r>
              <a:t>Transition: what do the leaves say, with Retail-Core at 100?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Multiply back aloud. The paid tier's members fill bigger baskets; hold that thought</a:t>
            </a:r>
          </a:p>
          <a:p>
            <a:r>
              <a:t>for chapter 2, where the question is which leaf moved between the quarters.</a:t>
            </a:r>
          </a:p>
          <a:p>
            <a:r>
              <a:t>Transition: now the way a hurried analyst builds the same leaf.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Build it live: add =E2/D2 as a column, drag it in, watch Excel sum it, switch to</a:t>
            </a:r>
          </a:p>
          <a:p>
            <a:r>
              <a:t>Average. Take letters before the value shows.</a:t>
            </a:r>
          </a:p>
          <a:p>
            <a:r>
              <a:t>Transition: why is the averaged leaf the plausible wrong answer, and what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check is the multiply-back from the leaf slide. The consumer segments barely</a:t>
            </a:r>
          </a:p>
          <a:p>
            <a:r>
              <a:t>move (Core Rs 1,884 against Rs 1,886) because their baskets are alike; the averaged leaf is wrong</a:t>
            </a:r>
          </a:p>
          <a:p>
            <a:r>
              <a:t>everywhere and badly wrong where customers differ most in size.</a:t>
            </a:r>
          </a:p>
          <a:p>
            <a:r>
              <a:t>Transition: what changes when the leaf is revenue divided by orders?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Show both ways in Excel. A JPMorgan Chase task force found a risk spreadsheet that</a:t>
            </a:r>
          </a:p>
          <a:p>
            <a:r>
              <a:t>"divided by their sum instead of their average, as the modeler had intended" (report of 16 January</a:t>
            </a:r>
          </a:p>
          <a:p>
            <a:r>
              <a:t>2013, page 128, checked 30 September 2026): a related failure, a ratio on the wrong total at a bank's</a:t>
            </a:r>
          </a:p>
          <a:p>
            <a:r>
              <a:t>scale. Then the predict: the chief of staff asked for both quarters. Option a is the tempting one; ask</a:t>
            </a:r>
          </a:p>
          <a:p>
            <a:r>
              <a:t>what happens to a customer who bought every month and once more in September.</a:t>
            </a:r>
          </a:p>
          <a:p>
            <a:r>
              <a:t>Transition: what would the split on the last order date put in Q2?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This is the question chapter 1's answer raises: the chief of staff asked for both</a:t>
            </a:r>
          </a:p>
          <a:p>
            <a:r>
              <a:t>quarters, and the only export with order dates is the raw one.</a:t>
            </a:r>
          </a:p>
          <a:p>
            <a:r>
              <a:t>Transition: does a method that never touches the pivot reach the same twelve cells?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second route has to be able to fail when the first is wrong, so it cannot reuse the</a:t>
            </a:r>
          </a:p>
          <a:p>
            <a:r>
              <a:t>pivot. This one would have caught the averaged leaf and a filter left on the pivot. It cannot tell you</a:t>
            </a:r>
          </a:p>
          <a:p>
            <a:r>
              <a:t>whether the table itself is complete; that is a different check, in chapter 3.</a:t>
            </a:r>
          </a:p>
          <a:p>
            <a:r>
              <a:t>Transition: which segment carries the revenue, and which leaf separates the tiers?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learner answers the interview question aloud in under a minute: averaged over</a:t>
            </a:r>
          </a:p>
          <a:p>
            <a:r>
              <a:t>rows instead of divided over totals; Rs 11,66,786 against Rs 10,45,740; recompute as a ratio of sums</a:t>
            </a:r>
          </a:p>
          <a:p>
            <a:r>
              <a:t>and keep the multiply-back as the check.</a:t>
            </a:r>
          </a:p>
          <a:p>
            <a:r>
              <a:t>Transition: the chief of staff asked for both quarters, so the raw export.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notebook C2_W02_D05_02_both_quarters beside it; Excel live on</a:t>
            </a:r>
          </a:p>
          <a:p>
            <a:r>
              <a:t>data/C2_W02_D05_raw_export_STUDENT.csv.</a:t>
            </a:r>
          </a:p>
          <a:p>
            <a:r>
              <a:t>Transition: who needs the tree for both quarters, and which six questions build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Say the chapter 1 finding in one line: Business carries 99.1</a:t>
            </a:r>
          </a:p>
          <a:p>
            <a:r>
              <a:t>percent, and the basket separates the tiers; the customer table cannot split the quarters.</a:t>
            </a:r>
          </a:p>
          <a:p>
            <a:r>
              <a:t>Transition: what does a quarter that fails to tie cost Meera's growth plan?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Monday's warehouse queries gave Rs 10,00,00,000 for Q1 and Rs 9,84,00,000 for Q2.</a:t>
            </a:r>
          </a:p>
          <a:p>
            <a:r>
              <a:t>Kalpa's financial year starts in April, so Q1 is April to June. Every number on the deck ties to</a:t>
            </a:r>
          </a:p>
          <a:p>
            <a:r>
              <a:t>these, or it does not go on the deck.</a:t>
            </a:r>
          </a:p>
          <a:p>
            <a:r>
              <a:t>Transition: which real company holds orders and payments at different grains?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Both pages checked 30 September 2026. Every merchant's finance team meets this: an</a:t>
            </a:r>
          </a:p>
          <a:p>
            <a:r>
              <a:t>export of payments repeats its orders. Do not say what Kalpa's export holds yet; the room finds it.</a:t>
            </a:r>
          </a:p>
          <a:p>
            <a:r>
              <a:t>Transition: which way should the team split revenue by quarter, and what does each way cost?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Size each option on this export. Option a's cost comes from chapter 1: a last order</a:t>
            </a:r>
          </a:p>
          <a:p>
            <a:r>
              <a:t>date is a recency. Option d is exact and too slow for a meeting; chapter 5 comes back to who owns</a:t>
            </a:r>
          </a:p>
          <a:p>
            <a:r>
              <a:t>which number.</a:t>
            </a:r>
          </a:p>
          <a:p>
            <a:r>
              <a:t>Transition: filled down beside order_date, how many rows land in Q1?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Type the formula live in a new column beside order_date and fill it down.</a:t>
            </a:r>
          </a:p>
          <a:p>
            <a:r>
              <a:t>Transition: what does the new column say?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Keep it moving; the next slide is where the chapter's trap waits.</a:t>
            </a:r>
          </a:p>
          <a:p>
            <a:r>
              <a:t>Transition: with segment in Rows, quarter in Columns and order_amount summed, what is Q2?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Every learner builds it on their own screen before you show yours. Do not warn them.</a:t>
            </a:r>
          </a:p>
          <a:p>
            <a:r>
              <a:t>Transition: what is the plausible wrong answer, exactly?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c. Let it stand. Somebody usually says the totals look big but the</a:t>
            </a:r>
          </a:p>
          <a:p>
            <a:r>
              <a:t>percentages look reasonable: the percentages are wrong too. Ask whether anyone would send it.</a:t>
            </a:r>
          </a:p>
          <a:p>
            <a:r>
              <a:t>Transition: what does one row of the raw export stand for, and which check catches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In Excel: COUNTA on order_id, a distinct count beside it. Then the grand total against</a:t>
            </a:r>
          </a:p>
          <a:p>
            <a:r>
              <a:t>Rs 19,84,00,000. Name the grain now: one row is one payment.</a:t>
            </a:r>
          </a:p>
          <a:p>
            <a:r>
              <a:t>Transition: with every column ticked, what does Remove Duplicates leave?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first, then run it live. Most rooms say a.</a:t>
            </a:r>
          </a:p>
          <a:p>
            <a:r>
              <a:t>Transition: why does removing identical rows leave the double count?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Remove Duplicates is a cleaning step with no record, and here it did not even clean.</a:t>
            </a:r>
          </a:p>
          <a:p>
            <a:r>
              <a:t>The fix has to name the grain.</a:t>
            </a:r>
          </a:p>
          <a:p>
            <a:r>
              <a:t>Transition: what does the tree say when each order counts once?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Type the flag in column A's neighbour and fill it down; pivot with the flag as a</a:t>
            </a:r>
          </a:p>
          <a:p>
            <a:r>
              <a:t>filter, or SUMIFS on flag equals 1. Student moves from Rs 26,720 to Rs 35,770, up 33.9 percent, on few</a:t>
            </a:r>
          </a:p>
          <a:p>
            <a:r>
              <a:t>orders. The running COUNTIF compares each row with every row from the first down to its own:</a:t>
            </a:r>
          </a:p>
          <a:p>
            <a:r>
              <a:t>1,051,975 comparisons here, about 10.5 billion at 145,000 rows, which is the interview's design</a:t>
            </a:r>
          </a:p>
          <a:p>
            <a:r>
              <a:t>question.</a:t>
            </a:r>
          </a:p>
          <a:p>
            <a:r>
              <a:t>Transition: which segment and which leaf fell?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Two readings, both true. In rupees Business carries Rs 14,29,840 of the Rs 16,00,000</a:t>
            </a:r>
          </a:p>
          <a:p>
            <a:r>
              <a:t>fall, the size of a few invoices landing in one quarter or the next. The steepest fall is Retail-Plus:</a:t>
            </a:r>
          </a:p>
          <a:p>
            <a:r>
              <a:t>members kept buying big baskets and bought less often, the frequency branch Week 1 found. Multiply Q2</a:t>
            </a:r>
          </a:p>
          <a:p>
            <a:r>
              <a:t>back: 76 times 1.84 times Rs 2,953 is Rs 4.13 lakh. Chapter 4 decides how each goes on the page.</a:t>
            </a:r>
          </a:p>
          <a:p>
            <a:r>
              <a:t>Transition: does the warehouse reach the same two numbers by a query that never saw the export?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notebook runs Monday's query against the warehouse. The export was written from</a:t>
            </a:r>
          </a:p>
          <a:p>
            <a:r>
              <a:t>the warehouse; the second route asks the warehouse itself, which never saw the export, so it can</a:t>
            </a:r>
          </a:p>
          <a:p>
            <a:r>
              <a:t>disagree. Here it does not.</a:t>
            </a:r>
          </a:p>
          <a:p>
            <a:r>
              <a:t>Transition: how far did revenue fall, where, and does the warehouse agree?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the grain first, rows against keys; here 1,450 rows held 1,000</a:t>
            </a:r>
          </a:p>
          <a:p>
            <a:r>
              <a:t>orders and Rs 39.41 crore against Rs 19.84 crore; then the period and filters; then keys missing on</a:t>
            </a:r>
          </a:p>
          <a:p>
            <a:r>
              <a:t>either side.</a:t>
            </a:r>
          </a:p>
          <a:p>
            <a:r>
              <a:t>Transition: Retail-Plus members are ordering less often, so which of them does the head of</a:t>
            </a:r>
          </a:p>
          <a:p>
            <a:r>
              <a:t>Retail-Plus protect first?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notebook C2_W02_D05_03_member_lookup beside it; Excel live on the customer</a:t>
            </a:r>
          </a:p>
          <a:p>
            <a:r>
              <a:t>table.</a:t>
            </a:r>
          </a:p>
          <a:p>
            <a:r>
              <a:t>Transition: who acts on the protect list, and which six questions build it and its lookup?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2's finding in one line: Retail-Plus fell 29.4 percent because members</a:t>
            </a:r>
          </a:p>
          <a:p>
            <a:r>
              <a:t>ordered less often, 2.36 orders each in Q1 and 1.84 in Q2. The head of Retail-Plus wants to protect</a:t>
            </a:r>
          </a:p>
          <a:p>
            <a:r>
              <a:t>the best members before more of them drift.</a:t>
            </a:r>
          </a:p>
          <a:p>
            <a:r>
              <a:t>Transition: what does a wrong row on the protect list cost the head of Retail-Plus?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protect list comes from the customer table, one row per customer, because that is</a:t>
            </a:r>
          </a:p>
          <a:p>
            <a:r>
              <a:t>the table the chief of staff refreshes every Monday. Wednesday built a per-segment list in SQL on Q2;</a:t>
            </a:r>
          </a:p>
          <a:p>
            <a:r>
              <a:t>this one ranks the two quarters together from the export.</a:t>
            </a:r>
          </a:p>
          <a:p>
            <a:r>
              <a:t>Transition: which real company lost money to a sorted list whose rows answered for the wrong item?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Globe and Mail, 4 June 2003, checked 30 September 2026: bids for New York</a:t>
            </a:r>
          </a:p>
          <a:p>
            <a:r>
              <a:t>transmission congestion contracts, "misaligned the rows of information in the spreadsheet". A row</a:t>
            </a:r>
          </a:p>
          <a:p>
            <a:r>
              <a:t>answering for the wrong item is expensive at any scale.</a:t>
            </a:r>
          </a:p>
          <a:p>
            <a:r>
              <a:t>Transition: which lookup should answer "find this member", and what does each one return?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Microsoft's page says XLOOKUP "is not available in Excel 2016 and Excel 2019", and</a:t>
            </a:r>
          </a:p>
          <a:p>
            <a:r>
              <a:t>LibreOffice 24.2 shows #NAME? for it (both checked 30 September 2026). Option b is honest and ugly:</a:t>
            </a:r>
          </a:p>
          <a:p>
            <a:r>
              <a:t>a director reads #N/A as a broken sheet. C-0195 is a Retail-Plus member with no orders in the two</a:t>
            </a:r>
          </a:p>
          <a:p>
            <a:r>
              <a:t>quarters, so the table has no row for it.</a:t>
            </a:r>
          </a:p>
          <a:p>
            <a:r>
              <a:t>Transition: filter to Retail-Plus, sort by revenue, keep fifty: what is the cut-off?</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Build it live: copy the Retail-Plus rows to their own sheet, sort Largest to</a:t>
            </a:r>
          </a:p>
          <a:p>
            <a:r>
              <a:t>Smallest, add =RANK.EQ(E2, E$2:E$107).</a:t>
            </a:r>
          </a:p>
          <a:p>
            <a:r>
              <a:t>Transition: what does the list hold?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Mention Wednesday once: with a tie at fifty, the rule decides whether a list ships 49</a:t>
            </a:r>
          </a:p>
          <a:p>
            <a:r>
              <a:t>or 51 rows. Not today.</a:t>
            </a:r>
          </a:p>
          <a:p>
            <a:r>
              <a:t>Transition: the raw export tied to the warehouse in chapter 2; does the customer table tie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notebook's empty cell holds the same lines for self-study. TRAINER: the day sheet has what they</a:t>
            </a:r>
          </a:p>
          <a:p>
            <a:r>
              <a:t>should find. Let them find it; take two sentences aloud and do not confirm or name anything. Whoever</a:t>
            </a:r>
          </a:p>
          <a:p>
            <a:r>
              <a:t>finds it has just made the lookup trap catchable.</a:t>
            </a:r>
          </a:p>
          <a:p>
            <a:r>
              <a:t>Transition: the table has no row for C-0195; what comes back when the fourth argument is left out?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first. Most rooms say a.</a:t>
            </a:r>
          </a:p>
          <a:p>
            <a:r>
              <a:t>Transition: what is the plausible wrong answer, and why does the sheet give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Run it live. Nothing on screen turns red, which is why the trap works. Print the id</a:t>
            </a:r>
          </a:p>
          <a:p>
            <a:r>
              <a:t>returned beside the id asked for, so the neighbour shows.</a:t>
            </a:r>
          </a:p>
          <a:p>
            <a:r>
              <a:t>Transition: what is this trap called, and where does a lookup of this kind belong?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Name the trap now that the room has watched it fire on C-0195. VLOOKUP with its</a:t>
            </a:r>
          </a:p>
          <a:p>
            <a:r>
              <a:t>fourth argument left out is a nearest match, and so is XLOOKUP with -1 as its fifth argument: "Exact</a:t>
            </a:r>
          </a:p>
          <a:p>
            <a:r>
              <a:t>match. If none found, return the next smaller item" (Microsoft Support, XLOOKUP function, checked 13</a:t>
            </a:r>
          </a:p>
          <a:p>
            <a:r>
              <a:t>October 2026). XLOOKUP with no fifth argument matches exactly. The check's answer is d, since M-30 is</a:t>
            </a:r>
          </a:p>
          <a:p>
            <a:r>
              <a:t>the largest id not above M-35. #N/A comes back only when nothing sorts at or below the id typed, such</a:t>
            </a:r>
          </a:p>
          <a:p>
            <a:r>
              <a:t>as M-05; M-40 is the nearest id above, and M-10 is the first in the column.</a:t>
            </a:r>
          </a:p>
          <a:p>
            <a:r>
              <a:t>Transition: what do C-0195, C-0152 and C-0194 return once the match is exact?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Type both forms: =XLOOKUP(id, A:A, E:E, "not in the table") and</a:t>
            </a:r>
          </a:p>
          <a:p>
            <a:r>
              <a:t>=IFERROR(INDEX(E:E, MATCH(id, A:A, 0)), "not in the table"). Now the room reads out an id; see the day</a:t>
            </a:r>
          </a:p>
          <a:p>
            <a:r>
              <a:t>sheet for the moment.</a:t>
            </a:r>
          </a:p>
          <a:p>
            <a:r>
              <a:t>Transition: what happens to each lookup once the ids are no longer in order?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room sees the list sorted by revenue, never by id. Walking down it, 24 of 49</a:t>
            </a:r>
          </a:p>
          <a:p>
            <a:r>
              <a:t>steps go to a smaller id, so an approximate match has nothing sorted to search.</a:t>
            </a:r>
          </a:p>
          <a:p>
            <a:r>
              <a:t>Transition: does the warehouse, which never saw the customer table, agree with the lookup?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notebook runs the query for both ids. On the sheet a director can see, the same</a:t>
            </a:r>
          </a:p>
          <a:p>
            <a:r>
              <a:t>check is a COUNTIF beside the lookup.</a:t>
            </a:r>
          </a:p>
          <a:p>
            <a:r>
              <a:t>Transition: who is on the protect list, and does the lookup answer for the member typed?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learner answers: the match type; VLOOKUP's fourth argument left out is</a:t>
            </a:r>
          </a:p>
          <a:p>
            <a:r>
              <a:t>approximate; exact with a not-found path, tested with a missing id. BREAK, 10 minutes, after this</a:t>
            </a:r>
          </a:p>
          <a:p>
            <a:r>
              <a:t>slide.</a:t>
            </a:r>
          </a:p>
          <a:p>
            <a:r>
              <a:t>Transition: what must sit beside the front-page number so a director reads it right in two minutes? The meeting's first decision is made from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notebook C2_W02_D05_04_front_page beside it.</a:t>
            </a:r>
          </a:p>
          <a:p>
            <a:r>
              <a:t>Transition: who reads the front-page number, and which six questions build its card?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number itself is given: revenue, Q2 against Q1. Which metric belongs on a growth</a:t>
            </a:r>
          </a:p>
          <a:p>
            <a:r>
              <a:t>review's front page at all is a later week's question; today is about reading this one right.</a:t>
            </a:r>
          </a:p>
          <a:p>
            <a:r>
              <a:t>Transition: what does a misread front-page number cost the meeting's first decision?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2's numbers: Q1 Rs 10.00 crore, Q2 Rs 9.84 crore; in rupees Business carries</a:t>
            </a:r>
          </a:p>
          <a:p>
            <a:r>
              <a:t>Rs 14.30 lakh of the Rs 16.00 lakh fall, and the steepest fall is Retail-Plus, 29.4 percent.</a:t>
            </a:r>
          </a:p>
          <a:p>
            <a:r>
              <a:t>Transition: which real company writes this card every quarter?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Press release of 11 July 2025, checked 30 September 2026: revenue "stood at</a:t>
            </a:r>
          </a:p>
          <a:p>
            <a:r>
              <a:t>Rs.15,932 crore, as compared to Rs.13,712 crore in the same period last year." The number, the</a:t>
            </a:r>
          </a:p>
          <a:p>
            <a:r>
              <a:t>period, the comparison and the base are all in the first two lines.</a:t>
            </a:r>
          </a:p>
          <a:p>
            <a:r>
              <a:t>Transition: which form should the card take, and what does each ask the director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Fifty-odd words and one small line, read in the two minutes a director gives the</a:t>
            </a:r>
          </a:p>
          <a:p>
            <a:r>
              <a:t>front page, with nothing left to memory.</a:t>
            </a:r>
          </a:p>
          <a:p>
            <a:r>
              <a:t>Transition: the fastest card is the export's grand total; what does a director who remembers Q1 read into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Then ask who has seen b happen in a real meeting.</a:t>
            </a:r>
          </a:p>
          <a:p>
            <a:r>
              <a:t>Transition: why is the bare total the plausible wrong answer, and what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card is April to September added together. Read against one remembered quarter</a:t>
            </a:r>
          </a:p>
          <a:p>
            <a:r>
              <a:t>it reads up 98.4 percent.</a:t>
            </a:r>
          </a:p>
          <a:p>
            <a:r>
              <a:t>Transition: what does the card say, and what sits beside 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card aloud: "All segments, Q2, July to September 2026: Rs 9.84 crore, down</a:t>
            </a:r>
          </a:p>
          <a:p>
            <a:r>
              <a:t>1.6 percent on Q1, April to June 2026 (Rs 10.00 crore); 100.0 percent of company revenue in Q2." The</a:t>
            </a:r>
          </a:p>
          <a:p>
            <a:r>
              <a:t>change is Q2 minus Q1, divided by Q1.</a:t>
            </a:r>
          </a:p>
          <a:p>
            <a:r>
              <a:t>Transition: the second slot is drafted as a bare percentage; what must sit beside 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percentage is right. Letters first.</a:t>
            </a:r>
          </a:p>
          <a:p>
            <a:r>
              <a:t>Transition: what is the base the draft left out, and what slip makes it worse?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slip: the same change divided by Q2 instead of Q1 reads 41.7 percent. A change is</a:t>
            </a:r>
          </a:p>
          <a:p>
            <a:r>
              <a:t>measured on the earlier period.</a:t>
            </a:r>
          </a:p>
          <a:p>
            <a:r>
              <a:t>Transition: what do six months show, and what happens when a director changes the scope?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notebook draws both lines; describe them here. Two directors asking for two scopes</a:t>
            </a:r>
          </a:p>
          <a:p>
            <a:r>
              <a:t>get two honest cards, and down 1.6 and down 17.3 percent are never compared as one number.</a:t>
            </a:r>
          </a:p>
          <a:p>
            <a:r>
              <a:t>Transition: what does each percentage on the card divide by?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curriculum's word for the base is the denominator; say it once and read the</a:t>
            </a:r>
          </a:p>
          <a:p>
            <a:r>
              <a:t>table row by row. The same Rs 1.72 lakh prints 29.4 or 41.7 percent depending on what sits under it,</a:t>
            </a:r>
          </a:p>
          <a:p>
            <a:r>
              <a:t>which is the slip from the bare-percentage answer, and the share's denominator is the company's</a:t>
            </a:r>
          </a:p>
          <a:p>
            <a:r>
              <a:t>quarter. The check's answer is b: the change, Rs 20, over the earlier period's Rs 80. Up 20 percent</a:t>
            </a:r>
          </a:p>
          <a:p>
            <a:r>
              <a:t>divides by the later period, 22.2 percent divides by Rs 90, a base no card names, and Rs 20 alone</a:t>
            </a:r>
          </a:p>
          <a:p>
            <a:r>
              <a:t>says nothing about size.</a:t>
            </a:r>
          </a:p>
          <a:p>
            <a:r>
              <a:t>Transition: does the warehouse reach the same two changes by its own query?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query joins orders to customers on customer_id and groups by quarter.</a:t>
            </a:r>
          </a:p>
          <a:p>
            <a:r>
              <a:t>Transition: what does the card carry so a director reads it right?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learner answers aloud with the card as the example.</a:t>
            </a:r>
          </a:p>
          <a:p>
            <a:r>
              <a:t>Transition: which of the week's steps belong in the workbook, which must never be done there, and how do the two stay in step? Every number Finance relies on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notebook C2_W02_D05_05_operating_rule beside it.</a:t>
            </a:r>
          </a:p>
          <a:p>
            <a:r>
              <a:t>Transition: who needs the rule, and which six questions write it?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Kavya's challenge aloud: "Which parts belong in Excel, which parts must never be in</a:t>
            </a:r>
          </a:p>
          <a:p>
            <a:r>
              <a:t>Excel, and how do you keep the two from drifting apart?" Chapters 1 to 4 built the three deliverables;</a:t>
            </a:r>
          </a:p>
          <a:p>
            <a:r>
              <a:t>this is the rule behind them.</a:t>
            </a:r>
          </a:p>
          <a:p>
            <a:r>
              <a:t>Transition: what does a wrong collected figure cost Anand's collections team?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Anand asks whether the deck pack could carry Tuesday's collected figure too, computed</a:t>
            </a:r>
          </a:p>
          <a:p>
            <a:r>
              <a:t>in the workbook so nobody needs a login.</a:t>
            </a:r>
          </a:p>
          <a:p>
            <a:r>
              <a:t>Transition: which real organisation ran a pipeline step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GOV.UK statement of 4 October 2020 and BBC News of 5 October 2020, both checked 30</a:t>
            </a:r>
          </a:p>
          <a:p>
            <a:r>
              <a:t>September 2026. Rows past the old format's limit were dropped without an error.</a:t>
            </a:r>
          </a:p>
          <a:p>
            <a:r>
              <a:t>Transition: where could the week's work live, and what does each arrangement cost?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warehouse owns every join, dedupe and rank because a query can be rerun and</a:t>
            </a:r>
          </a:p>
          <a:p>
            <a:r>
              <a:t>audited. Option d fails the brief on the login.</a:t>
            </a:r>
          </a:p>
          <a:p>
            <a:r>
              <a:t>Transition: which of the week's steps touches the most rows?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quickly.</a:t>
            </a:r>
          </a:p>
          <a:p>
            <a:r>
              <a:t>Transition: why is that the step to watch?</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Transition: so try it the hurried way.</a:t>
            </a:r>
          </a:p>
          <a:p>
            <a:r>
              <a:t>Transition: when a lookup fetches one payment per order, what does collected add up to?</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match is exact. Letters first; most rooms say a or d.</a:t>
            </a:r>
          </a:p>
          <a:p>
            <a:r>
              <a:t>Transition: what is the plausible wrong answer, and what decision would it mislead?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Every channel reads about 60 percent collected. The check: count the rows each order</a:t>
            </a:r>
          </a:p>
          <a:p>
            <a:r>
              <a:t>has; any order with two rows needs its payments added, never looked up.</a:t>
            </a:r>
          </a:p>
          <a:p>
            <a:r>
              <a:t>Transition: what does adding every payment once say?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real gap is Tuesday's: the 30 orders nobody has paid for, Rs 17,54,930 to the</a:t>
            </a:r>
          </a:p>
          <a:p>
            <a:r>
              <a:t>rupee. The gateway's copies are one payment each, posted twice, so each counts once. Point back at</a:t>
            </a:r>
          </a:p>
          <a:p>
            <a:r>
              <a:t>Tuesday by name; do not re-teach it. Letters for the predict before the next slide.</a:t>
            </a:r>
          </a:p>
          <a:p>
            <a:r>
              <a:t>Transition: where does each of the week's steps belong?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Chapter 2's first-row flag was right for Friday's deadline and is a cleaning step</a:t>
            </a:r>
          </a:p>
          <a:p>
            <a:r>
              <a:t>with no record; next week the export should arrive at the order grain, and the flag becomes a check.</a:t>
            </a:r>
          </a:p>
          <a:p>
            <a:r>
              <a:t>Transition: does booked less the unpaid orders give the same collected figure, and how do the sheet and the warehouse stay in step?</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predict's answer is b. Every row in the early export is real, and Q2 still</a:t>
            </a:r>
          </a:p>
          <a:p>
            <a:r>
              <a:t>falls short, so the check holds the deck until someone pulls a fresh export. A workbook with no login cannot query the</a:t>
            </a:r>
          </a:p>
          <a:p>
            <a:r>
              <a:t>warehouse, which is why the control totals travel with the export. The same check catches a</a:t>
            </a:r>
          </a:p>
          <a:p>
            <a:r>
              <a:t>typed-over number, which is chapter 6.</a:t>
            </a:r>
          </a:p>
          <a:p>
            <a:r>
              <a:t>Transition: where does each of the week's steps live, and how do the sheet and the warehouse stay in step?</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learner answers: by who has to trust the number and who has to rerun it.</a:t>
            </a:r>
          </a:p>
          <a:p>
            <a:r>
              <a:t>Transition to lunch: after it, a director gets their hands on the workbook.</a:t>
            </a:r>
          </a:p>
          <a:p>
            <a:r>
              <a:t>Transition: what can a director trust so far, and what is still open?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Point back at the morning's first picture, the one on the board since the opening.</a:t>
            </a:r>
          </a:p>
          <a:p>
            <a:r>
              <a:t>Transition: lunch; after it, a director takes the laptop.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 Id="rId5"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7.xml"/><Relationship Id="rId5"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 Id="rId5"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 Id="rId5"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 Id="rId5"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3.xml"/><Relationship Id="rId5"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8.xml"/><Relationship Id="rId5" Type="http://schemas.openxmlformats.org/officeDocument/2006/relationships/image" Target="../media/image2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1.xml"/><Relationship Id="rId5" Type="http://schemas.openxmlformats.org/officeDocument/2006/relationships/image" Target="../media/image2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7.xml"/><Relationship Id="rId5"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5.xml"/><Relationship Id="rId5" Type="http://schemas.openxmlformats.org/officeDocument/2006/relationships/image" Target="../media/image3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8.xml"/><Relationship Id="rId5" Type="http://schemas.openxmlformats.org/officeDocument/2006/relationships/image" Target="../media/image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2.xml"/><Relationship Id="rId5" Type="http://schemas.openxmlformats.org/officeDocument/2006/relationships/image" Target="../media/image3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29067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FRIDAY  ·  HALF ONE</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What can a director open, change and still trust?</a:t>
            </a:r>
          </a:p>
        </p:txBody>
      </p:sp>
      <p:sp>
        <p:nvSpPr>
          <p:cNvPr id="9" name="TextBox 8"/>
          <p:cNvSpPr txBox="1"/>
          <p:nvPr/>
        </p:nvSpPr>
        <p:spPr>
          <a:xfrm>
            <a:off x="621792" y="4263136"/>
            <a:ext cx="10033711" cy="977645"/>
          </a:xfrm>
          <a:prstGeom prst="rect">
            <a:avLst/>
          </a:prstGeom>
          <a:noFill/>
        </p:spPr>
        <p:txBody>
          <a:bodyPr wrap="square" anchor="t" lIns="0" rIns="0" tIns="0" bIns="0">
            <a:spAutoFit/>
          </a:bodyPr>
          <a:lstStyle/>
          <a:p>
            <a:pPr algn="l"/>
            <a:r>
              <a:rPr sz="1900" b="0" i="1">
                <a:solidFill>
                  <a:srgbClr val="D9A7FF"/>
                </a:solidFill>
                <a:latin typeface="Georgia"/>
              </a:rPr>
              <a:t>“Monday's growth review deck needs three things I can open on my laptop without a login. If a director changes an assumption in the room, the sheet must recalculate in front of them.”</a:t>
            </a:r>
          </a:p>
        </p:txBody>
      </p:sp>
      <p:sp>
        <p:nvSpPr>
          <p:cNvPr id="10" name="TextBox 9"/>
          <p:cNvSpPr txBox="1"/>
          <p:nvPr/>
        </p:nvSpPr>
        <p:spPr>
          <a:xfrm>
            <a:off x="621792" y="5295646"/>
            <a:ext cx="10033711" cy="218186"/>
          </a:xfrm>
          <a:prstGeom prst="rect">
            <a:avLst/>
          </a:prstGeom>
          <a:noFill/>
        </p:spPr>
        <p:txBody>
          <a:bodyPr wrap="square" anchor="t" lIns="0" rIns="0" tIns="0" bIns="0">
            <a:spAutoFit/>
          </a:bodyPr>
          <a:lstStyle/>
          <a:p>
            <a:pPr algn="l"/>
            <a:r>
              <a:rPr sz="1100" b="0" i="0">
                <a:solidFill>
                  <a:srgbClr val="CFC9EE"/>
                </a:solidFill>
                <a:latin typeface="Calibri"/>
              </a:rPr>
              <a:t>Meera's chief of staff, Kalpa Retail, to the data and AI team at Kalpa's Global Capability Centre</a:t>
            </a:r>
          </a:p>
        </p:txBody>
      </p:sp>
      <p:sp>
        <p:nvSpPr>
          <p:cNvPr id="11" name="TextBox 10"/>
          <p:cNvSpPr txBox="1"/>
          <p:nvPr/>
        </p:nvSpPr>
        <p:spPr>
          <a:xfrm>
            <a:off x="621792"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870448"/>
            <a:ext cx="1661636" cy="185166"/>
          </a:xfrm>
          <a:prstGeom prst="rect">
            <a:avLst/>
          </a:prstGeom>
          <a:noFill/>
        </p:spPr>
        <p:txBody>
          <a:bodyPr wrap="square" anchor="t" lIns="0" rIns="0" tIns="0" bIns="0">
            <a:spAutoFit/>
          </a:bodyPr>
          <a:lstStyle/>
          <a:p>
            <a:pPr algn="l"/>
            <a:r>
              <a:rPr sz="900" b="0" i="0">
                <a:solidFill>
                  <a:srgbClr val="FFFFFF"/>
                </a:solidFill>
                <a:latin typeface="Calibri"/>
              </a:rPr>
              <a:t>Which segment carries it?</a:t>
            </a:r>
          </a:p>
        </p:txBody>
      </p:sp>
      <p:sp>
        <p:nvSpPr>
          <p:cNvPr id="13" name="TextBox 12"/>
          <p:cNvSpPr txBox="1"/>
          <p:nvPr/>
        </p:nvSpPr>
        <p:spPr>
          <a:xfrm>
            <a:off x="2850356"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234404" y="5870448"/>
            <a:ext cx="1247584" cy="185166"/>
          </a:xfrm>
          <a:prstGeom prst="rect">
            <a:avLst/>
          </a:prstGeom>
          <a:noFill/>
        </p:spPr>
        <p:txBody>
          <a:bodyPr wrap="square" anchor="t" lIns="0" rIns="0" tIns="0" bIns="0">
            <a:spAutoFit/>
          </a:bodyPr>
          <a:lstStyle/>
          <a:p>
            <a:pPr algn="l"/>
            <a:r>
              <a:rPr sz="900" b="0" i="0">
                <a:solidFill>
                  <a:srgbClr val="FFFFFF"/>
                </a:solidFill>
                <a:latin typeface="Calibri"/>
              </a:rPr>
              <a:t>Where did Q2 fall?</a:t>
            </a:r>
          </a:p>
        </p:txBody>
      </p:sp>
      <p:sp>
        <p:nvSpPr>
          <p:cNvPr id="15" name="TextBox 14"/>
          <p:cNvSpPr txBox="1"/>
          <p:nvPr/>
        </p:nvSpPr>
        <p:spPr>
          <a:xfrm>
            <a:off x="4664868"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048916" y="5870448"/>
            <a:ext cx="1484185" cy="185166"/>
          </a:xfrm>
          <a:prstGeom prst="rect">
            <a:avLst/>
          </a:prstGeom>
          <a:noFill/>
        </p:spPr>
        <p:txBody>
          <a:bodyPr wrap="square" anchor="t" lIns="0" rIns="0" tIns="0" bIns="0">
            <a:spAutoFit/>
          </a:bodyPr>
          <a:lstStyle/>
          <a:p>
            <a:pPr algn="l"/>
            <a:r>
              <a:rPr sz="900" b="0" i="0">
                <a:solidFill>
                  <a:srgbClr val="FFFFFF"/>
                </a:solidFill>
                <a:latin typeface="Calibri"/>
              </a:rPr>
              <a:t>Find any member by id?</a:t>
            </a:r>
          </a:p>
        </p:txBody>
      </p:sp>
      <p:sp>
        <p:nvSpPr>
          <p:cNvPr id="17" name="TextBox 16"/>
          <p:cNvSpPr txBox="1"/>
          <p:nvPr/>
        </p:nvSpPr>
        <p:spPr>
          <a:xfrm>
            <a:off x="6715982"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100030" y="5870448"/>
            <a:ext cx="1720786" cy="185166"/>
          </a:xfrm>
          <a:prstGeom prst="rect">
            <a:avLst/>
          </a:prstGeom>
          <a:noFill/>
        </p:spPr>
        <p:txBody>
          <a:bodyPr wrap="square" anchor="t" lIns="0" rIns="0" tIns="0" bIns="0">
            <a:spAutoFit/>
          </a:bodyPr>
          <a:lstStyle/>
          <a:p>
            <a:pPr algn="l"/>
            <a:r>
              <a:rPr sz="900" b="0" i="0">
                <a:solidFill>
                  <a:srgbClr val="FFFFFF"/>
                </a:solidFill>
                <a:latin typeface="Calibri"/>
              </a:rPr>
              <a:t>Read right in two minutes?</a:t>
            </a:r>
          </a:p>
        </p:txBody>
      </p:sp>
      <p:sp>
        <p:nvSpPr>
          <p:cNvPr id="19" name="TextBox 18"/>
          <p:cNvSpPr txBox="1"/>
          <p:nvPr/>
        </p:nvSpPr>
        <p:spPr>
          <a:xfrm>
            <a:off x="9003696"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9387744" y="5870448"/>
            <a:ext cx="1661636" cy="185166"/>
          </a:xfrm>
          <a:prstGeom prst="rect">
            <a:avLst/>
          </a:prstGeom>
          <a:noFill/>
        </p:spPr>
        <p:txBody>
          <a:bodyPr wrap="square" anchor="t" lIns="0" rIns="0" tIns="0" bIns="0">
            <a:spAutoFit/>
          </a:bodyPr>
          <a:lstStyle/>
          <a:p>
            <a:pPr algn="l"/>
            <a:r>
              <a:rPr sz="900" b="0" i="0">
                <a:solidFill>
                  <a:srgbClr val="FFFFFF"/>
                </a:solidFill>
                <a:latin typeface="Calibri"/>
              </a:rPr>
              <a:t>What must Excel never do?</a:t>
            </a:r>
          </a:p>
        </p:txBody>
      </p:sp>
      <p:sp>
        <p:nvSpPr>
          <p:cNvPr id="21" name="TextBox 2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What can a director open, change and still trust?</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82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will today teach? Six topics across six chapters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curriculum topic does each chapter teach, in how many minutes, and how do the six build on Monday to Thursday?</a:t>
            </a:r>
          </a:p>
        </p:txBody>
      </p:sp>
      <p:graphicFrame>
        <p:nvGraphicFramePr>
          <p:cNvPr id="9" name="Table 8"/>
          <p:cNvGraphicFramePr>
            <a:graphicFrameLocks noGrp="1"/>
          </p:cNvGraphicFramePr>
          <p:nvPr/>
        </p:nvGraphicFramePr>
        <p:xfrm>
          <a:off x="530352" y="1829106"/>
          <a:ext cx="11130990" cy="2226056"/>
        </p:xfrm>
        <a:graphic>
          <a:graphicData uri="http://schemas.openxmlformats.org/drawingml/2006/table">
            <a:tbl>
              <a:tblPr firstRow="0" bandRow="0">
                <a:tableStyleId>{2D5ABB26-0587-4C30-8999-92F81FD0307C}</a:tableStyleId>
              </a:tblPr>
              <a:tblGrid>
                <a:gridCol w="5970002"/>
                <a:gridCol w="2604182"/>
                <a:gridCol w="2556806"/>
              </a:tblGrid>
              <a:tr h="318008">
                <a:tc>
                  <a:txBody>
                    <a:bodyPr/>
                    <a:lstStyle/>
                    <a:p>
                      <a:r>
                        <a:rPr sz="1150" b="1" i="0">
                          <a:solidFill>
                            <a:srgbClr val="FFFFFF"/>
                          </a:solidFill>
                          <a:latin typeface="Calibri"/>
                        </a:rPr>
                        <a:t>The curriculum's topic</a:t>
                      </a:r>
                    </a:p>
                  </a:txBody>
                  <a:tcPr marL="101600" marR="101600" marT="38100" marB="38100" anchor="ctr">
                    <a:solidFill>
                      <a:srgbClr val="1A0F5C"/>
                    </a:solidFill>
                  </a:tcPr>
                </a:tc>
                <a:tc>
                  <a:txBody>
                    <a:bodyPr/>
                    <a:lstStyle/>
                    <a:p>
                      <a:r>
                        <a:rPr sz="1150" b="1" i="0">
                          <a:solidFill>
                            <a:srgbClr val="FFFFFF"/>
                          </a:solidFill>
                          <a:latin typeface="Calibri"/>
                        </a:rPr>
                        <a:t>Chapter</a:t>
                      </a:r>
                    </a:p>
                  </a:txBody>
                  <a:tcPr marL="101600" marR="101600" marT="38100" marB="38100" anchor="ctr">
                    <a:solidFill>
                      <a:srgbClr val="1A0F5C"/>
                    </a:solidFill>
                  </a:tcPr>
                </a:tc>
                <a:tc>
                  <a:txBody>
                    <a:bodyPr/>
                    <a:lstStyle/>
                    <a:p>
                      <a:r>
                        <a:rPr sz="1150" b="1" i="0">
                          <a:solidFill>
                            <a:srgbClr val="FFFFFF"/>
                          </a:solidFill>
                          <a:latin typeface="Calibri"/>
                        </a:rPr>
                        <a:t>The chapters' minutes</a:t>
                      </a:r>
                    </a:p>
                  </a:txBody>
                  <a:tcPr marL="101600" marR="101600" marT="38100" marB="38100" anchor="ctr">
                    <a:solidFill>
                      <a:srgbClr val="1A0F5C"/>
                    </a:solidFill>
                  </a:tcPr>
                </a:tc>
              </a:tr>
              <a:tr h="318008">
                <a:tc>
                  <a:txBody>
                    <a:bodyPr/>
                    <a:lstStyle/>
                    <a:p>
                      <a:r>
                        <a:rPr sz="1100" b="0" i="0">
                          <a:solidFill>
                            <a:srgbClr val="1A1440"/>
                          </a:solidFill>
                          <a:latin typeface="Calibri"/>
                        </a:rPr>
                        <a:t>The customer table in Excel: structure, filters, freeze panes</a:t>
                      </a:r>
                    </a:p>
                  </a:txBody>
                  <a:tcPr marL="101600" marR="101600" marT="38100" marB="38100" anchor="ctr">
                    <a:solidFill>
                      <a:srgbClr val="FFFFFF"/>
                    </a:solidFill>
                  </a:tcPr>
                </a:tc>
                <a:tc>
                  <a:txBody>
                    <a:bodyPr/>
                    <a:lstStyle/>
                    <a:p>
                      <a:r>
                        <a:rPr sz="1100" b="0" i="0">
                          <a:solidFill>
                            <a:srgbClr val="1A1440"/>
                          </a:solidFill>
                          <a:latin typeface="Calibri"/>
                        </a:rPr>
                        <a:t>1, and 6 for filters</a:t>
                      </a:r>
                    </a:p>
                  </a:txBody>
                  <a:tcPr marL="101600" marR="101600" marT="38100" marB="38100" anchor="ctr">
                    <a:solidFill>
                      <a:srgbClr val="FFFFFF"/>
                    </a:solidFill>
                  </a:tcPr>
                </a:tc>
                <a:tc>
                  <a:txBody>
                    <a:bodyPr/>
                    <a:lstStyle/>
                    <a:p>
                      <a:r>
                        <a:rPr sz="1100" b="0" i="0">
                          <a:solidFill>
                            <a:srgbClr val="1A1440"/>
                          </a:solidFill>
                          <a:latin typeface="Calibri"/>
                        </a:rPr>
                        <a:t>30 and 30</a:t>
                      </a:r>
                    </a:p>
                  </a:txBody>
                  <a:tcPr marL="101600" marR="101600" marT="38100" marB="38100" anchor="ctr">
                    <a:solidFill>
                      <a:srgbClr val="FFFFFF"/>
                    </a:solidFill>
                  </a:tcPr>
                </a:tc>
              </a:tr>
              <a:tr h="318008">
                <a:tc>
                  <a:txBody>
                    <a:bodyPr/>
                    <a:lstStyle/>
                    <a:p>
                      <a:r>
                        <a:rPr sz="1100" b="0" i="0">
                          <a:solidFill>
                            <a:srgbClr val="1A1440"/>
                          </a:solidFill>
                          <a:latin typeface="Calibri"/>
                        </a:rPr>
                        <a:t>Pivot tables: build, slice, refresh; what they cannot do</a:t>
                      </a:r>
                    </a:p>
                  </a:txBody>
                  <a:tcPr marL="101600" marR="101600" marT="38100" marB="38100" anchor="ctr">
                    <a:solidFill>
                      <a:srgbClr val="F4F2FA"/>
                    </a:solidFill>
                  </a:tcPr>
                </a:tc>
                <a:tc>
                  <a:txBody>
                    <a:bodyPr/>
                    <a:lstStyle/>
                    <a:p>
                      <a:r>
                        <a:rPr sz="1100" b="0" i="0">
                          <a:solidFill>
                            <a:srgbClr val="1A1440"/>
                          </a:solidFill>
                          <a:latin typeface="Calibri"/>
                        </a:rPr>
                        <a:t>1 and 2</a:t>
                      </a:r>
                    </a:p>
                  </a:txBody>
                  <a:tcPr marL="101600" marR="101600" marT="38100" marB="38100" anchor="ctr">
                    <a:solidFill>
                      <a:srgbClr val="F4F2FA"/>
                    </a:solidFill>
                  </a:tcPr>
                </a:tc>
                <a:tc>
                  <a:txBody>
                    <a:bodyPr/>
                    <a:lstStyle/>
                    <a:p>
                      <a:r>
                        <a:rPr sz="1100" b="0" i="0">
                          <a:solidFill>
                            <a:srgbClr val="1A1440"/>
                          </a:solidFill>
                          <a:latin typeface="Calibri"/>
                        </a:rPr>
                        <a:t>30 each</a:t>
                      </a:r>
                    </a:p>
                  </a:txBody>
                  <a:tcPr marL="101600" marR="101600" marT="38100" marB="38100" anchor="ctr">
                    <a:solidFill>
                      <a:srgbClr val="F4F2FA"/>
                    </a:solidFill>
                  </a:tcPr>
                </a:tc>
              </a:tr>
              <a:tr h="318008">
                <a:tc>
                  <a:txBody>
                    <a:bodyPr/>
                    <a:lstStyle/>
                    <a:p>
                      <a:r>
                        <a:rPr sz="1100" b="0" i="0">
                          <a:solidFill>
                            <a:srgbClr val="1A1440"/>
                          </a:solidFill>
                          <a:latin typeface="Calibri"/>
                        </a:rPr>
                        <a:t>XLOOKUP: exact match, the not-found path, and the nearest-match trap</a:t>
                      </a:r>
                    </a:p>
                  </a:txBody>
                  <a:tcPr marL="101600" marR="101600" marT="38100" marB="38100" anchor="ctr">
                    <a:solidFill>
                      <a:srgbClr val="FFFFFF"/>
                    </a:solidFill>
                  </a:tcPr>
                </a:tc>
                <a:tc>
                  <a:txBody>
                    <a:bodyPr/>
                    <a:lstStyle/>
                    <a:p>
                      <a:r>
                        <a:rPr sz="1100" b="0" i="0">
                          <a:solidFill>
                            <a:srgbClr val="1A1440"/>
                          </a:solidFill>
                          <a:latin typeface="Calibri"/>
                        </a:rPr>
                        <a:t>3</a:t>
                      </a:r>
                    </a:p>
                  </a:txBody>
                  <a:tcPr marL="101600" marR="101600" marT="38100" marB="38100" anchor="ctr">
                    <a:solidFill>
                      <a:srgbClr val="FFFFFF"/>
                    </a:solidFill>
                  </a:tcPr>
                </a:tc>
                <a:tc>
                  <a:txBody>
                    <a:bodyPr/>
                    <a:lstStyle/>
                    <a:p>
                      <a:r>
                        <a:rPr sz="1100" b="0" i="0">
                          <a:solidFill>
                            <a:srgbClr val="1A1440"/>
                          </a:solidFill>
                          <a:latin typeface="Calibri"/>
                        </a:rPr>
                        <a:t>30</a:t>
                      </a:r>
                    </a:p>
                  </a:txBody>
                  <a:tcPr marL="101600" marR="101600" marT="38100" marB="38100" anchor="ctr">
                    <a:solidFill>
                      <a:srgbClr val="FFFFFF"/>
                    </a:solidFill>
                  </a:tcPr>
                </a:tc>
              </a:tr>
              <a:tr h="318008">
                <a:tc>
                  <a:txBody>
                    <a:bodyPr/>
                    <a:lstStyle/>
                    <a:p>
                      <a:r>
                        <a:rPr sz="1100" b="0" i="0">
                          <a:solidFill>
                            <a:srgbClr val="1A1440"/>
                          </a:solidFill>
                          <a:latin typeface="Calibri"/>
                        </a:rPr>
                        <a:t>Presenting one number: denominator, period, comparison, the sentence beside it</a:t>
                      </a:r>
                    </a:p>
                  </a:txBody>
                  <a:tcPr marL="101600" marR="101600" marT="38100" marB="38100" anchor="ctr">
                    <a:solidFill>
                      <a:srgbClr val="F4F2FA"/>
                    </a:solidFill>
                  </a:tcPr>
                </a:tc>
                <a:tc>
                  <a:txBody>
                    <a:bodyPr/>
                    <a:lstStyle/>
                    <a:p>
                      <a:r>
                        <a:rPr sz="1100" b="0" i="0">
                          <a:solidFill>
                            <a:srgbClr val="1A1440"/>
                          </a:solidFill>
                          <a:latin typeface="Calibri"/>
                        </a:rPr>
                        <a:t>4</a:t>
                      </a:r>
                    </a:p>
                  </a:txBody>
                  <a:tcPr marL="101600" marR="101600" marT="38100" marB="38100" anchor="ctr">
                    <a:solidFill>
                      <a:srgbClr val="F4F2FA"/>
                    </a:solidFill>
                  </a:tcPr>
                </a:tc>
                <a:tc>
                  <a:txBody>
                    <a:bodyPr/>
                    <a:lstStyle/>
                    <a:p>
                      <a:r>
                        <a:rPr sz="1100" b="0" i="0">
                          <a:solidFill>
                            <a:srgbClr val="1A1440"/>
                          </a:solidFill>
                          <a:latin typeface="Calibri"/>
                        </a:rPr>
                        <a:t>30</a:t>
                      </a:r>
                    </a:p>
                  </a:txBody>
                  <a:tcPr marL="101600" marR="101600" marT="38100" marB="38100" anchor="ctr">
                    <a:solidFill>
                      <a:srgbClr val="F4F2FA"/>
                    </a:solidFill>
                  </a:tcPr>
                </a:tc>
              </a:tr>
              <a:tr h="318008">
                <a:tc>
                  <a:txBody>
                    <a:bodyPr/>
                    <a:lstStyle/>
                    <a:p>
                      <a:r>
                        <a:rPr sz="1100" b="0" i="0">
                          <a:solidFill>
                            <a:srgbClr val="1A1440"/>
                          </a:solidFill>
                          <a:latin typeface="Calibri"/>
                        </a:rPr>
                        <a:t>The tool operating rule: warehouse, pandas, Excel</a:t>
                      </a:r>
                    </a:p>
                  </a:txBody>
                  <a:tcPr marL="101600" marR="101600" marT="38100" marB="38100" anchor="ctr">
                    <a:solidFill>
                      <a:srgbClr val="FFFFFF"/>
                    </a:solidFill>
                  </a:tcPr>
                </a:tc>
                <a:tc>
                  <a:txBody>
                    <a:bodyPr/>
                    <a:lstStyle/>
                    <a:p>
                      <a:r>
                        <a:rPr sz="1100" b="0" i="0">
                          <a:solidFill>
                            <a:srgbClr val="1A1440"/>
                          </a:solidFill>
                          <a:latin typeface="Calibri"/>
                        </a:rPr>
                        <a:t>5</a:t>
                      </a:r>
                    </a:p>
                  </a:txBody>
                  <a:tcPr marL="101600" marR="101600" marT="38100" marB="38100" anchor="ctr">
                    <a:solidFill>
                      <a:srgbClr val="FFFFFF"/>
                    </a:solidFill>
                  </a:tcPr>
                </a:tc>
                <a:tc>
                  <a:txBody>
                    <a:bodyPr/>
                    <a:lstStyle/>
                    <a:p>
                      <a:r>
                        <a:rPr sz="1100" b="0" i="0">
                          <a:solidFill>
                            <a:srgbClr val="1A1440"/>
                          </a:solidFill>
                          <a:latin typeface="Calibri"/>
                        </a:rPr>
                        <a:t>30</a:t>
                      </a:r>
                    </a:p>
                  </a:txBody>
                  <a:tcPr marL="101600" marR="101600" marT="38100" marB="38100" anchor="ctr">
                    <a:solidFill>
                      <a:srgbClr val="FFFFFF"/>
                    </a:solidFill>
                  </a:tcPr>
                </a:tc>
              </a:tr>
              <a:tr h="318008">
                <a:tc>
                  <a:txBody>
                    <a:bodyPr/>
                    <a:lstStyle/>
                    <a:p>
                      <a:r>
                        <a:rPr sz="1100" b="0" i="0">
                          <a:solidFill>
                            <a:srgbClr val="1A1440"/>
                          </a:solidFill>
                          <a:latin typeface="Calibri"/>
                        </a:rPr>
                        <a:t>Keeping the sheet and the source from drifting</a:t>
                      </a:r>
                    </a:p>
                  </a:txBody>
                  <a:tcPr marL="101600" marR="101600" marT="38100" marB="38100" anchor="ctr">
                    <a:solidFill>
                      <a:srgbClr val="F4F2FA"/>
                    </a:solidFill>
                  </a:tcPr>
                </a:tc>
                <a:tc>
                  <a:txBody>
                    <a:bodyPr/>
                    <a:lstStyle/>
                    <a:p>
                      <a:r>
                        <a:rPr sz="1100" b="0" i="0">
                          <a:solidFill>
                            <a:srgbClr val="1A1440"/>
                          </a:solidFill>
                          <a:latin typeface="Calibri"/>
                        </a:rPr>
                        <a:t>5, 6 and the second case</a:t>
                      </a:r>
                    </a:p>
                  </a:txBody>
                  <a:tcPr marL="101600" marR="101600" marT="38100" marB="38100" anchor="ctr">
                    <a:solidFill>
                      <a:srgbClr val="F4F2FA"/>
                    </a:solidFill>
                  </a:tcPr>
                </a:tc>
                <a:tc>
                  <a:txBody>
                    <a:bodyPr/>
                    <a:lstStyle/>
                    <a:p>
                      <a:r>
                        <a:rPr sz="1100" b="0" i="0">
                          <a:solidFill>
                            <a:srgbClr val="1A1440"/>
                          </a:solidFill>
                          <a:latin typeface="Calibri"/>
                        </a:rPr>
                        <a:t>30, 30 and 40</a:t>
                      </a:r>
                    </a:p>
                  </a:txBody>
                  <a:tcPr marL="101600" marR="101600" marT="38100" marB="38100" anchor="ctr">
                    <a:solidFill>
                      <a:srgbClr val="F4F2FA"/>
                    </a:solidFill>
                  </a:tcPr>
                </a:tc>
              </a:tr>
            </a:tbl>
          </a:graphicData>
        </a:graphic>
      </p:graphicFrame>
      <p:pic>
        <p:nvPicPr>
          <p:cNvPr id="10" name="mermaid diagram" descr="e02b586c67014c0f.png"/>
          <p:cNvPicPr>
            <a:picLocks noChangeAspect="1"/>
          </p:cNvPicPr>
          <p:nvPr/>
        </p:nvPicPr>
        <p:blipFill>
          <a:blip r:embed="rId5"/>
          <a:stretch>
            <a:fillRect/>
          </a:stretch>
        </p:blipFill>
        <p:spPr>
          <a:xfrm>
            <a:off x="530351" y="4311194"/>
            <a:ext cx="11130991" cy="1741827"/>
          </a:xfrm>
          <a:prstGeom prst="rect">
            <a:avLst/>
          </a:prstGeom>
        </p:spPr>
      </p:pic>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S0  ·  2 / 82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questions answer the chief of staff</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can a director open on Monday without a login, change in the room, and still trust?</a:t>
            </a:r>
          </a:p>
        </p:txBody>
      </p:sp>
      <p:sp>
        <p:nvSpPr>
          <p:cNvPr id="9" name="Rectangle 8"/>
          <p:cNvSpPr/>
          <p:nvPr/>
        </p:nvSpPr>
        <p:spPr>
          <a:xfrm>
            <a:off x="1381734" y="2523744"/>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1</a:t>
            </a:r>
          </a:p>
        </p:txBody>
      </p:sp>
      <p:sp>
        <p:nvSpPr>
          <p:cNvPr id="11" name="Oval 10"/>
          <p:cNvSpPr/>
          <p:nvPr/>
        </p:nvSpPr>
        <p:spPr>
          <a:xfrm>
            <a:off x="1281150"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segment carries it?</a:t>
            </a:r>
          </a:p>
        </p:txBody>
      </p:sp>
      <p:sp>
        <p:nvSpPr>
          <p:cNvPr id="14" name="TextBox 13"/>
          <p:cNvSpPr txBox="1"/>
          <p:nvPr/>
        </p:nvSpPr>
        <p:spPr>
          <a:xfrm>
            <a:off x="694944" y="3492500"/>
            <a:ext cx="1373581" cy="531876"/>
          </a:xfrm>
          <a:prstGeom prst="rect">
            <a:avLst/>
          </a:prstGeom>
          <a:noFill/>
        </p:spPr>
        <p:txBody>
          <a:bodyPr wrap="square" anchor="t" lIns="0" rIns="0" tIns="0" bIns="0">
            <a:spAutoFit/>
          </a:bodyPr>
          <a:lstStyle/>
          <a:p>
            <a:pPr algn="l"/>
            <a:r>
              <a:rPr sz="1000" b="0" i="0">
                <a:solidFill>
                  <a:srgbClr val="6B6690"/>
                </a:solidFill>
                <a:latin typeface="Calibri"/>
              </a:rPr>
              <a:t>The tree by segment, from the customer table.</a:t>
            </a:r>
          </a:p>
        </p:txBody>
      </p:sp>
      <p:sp>
        <p:nvSpPr>
          <p:cNvPr id="15" name="TextBox 14"/>
          <p:cNvSpPr txBox="1"/>
          <p:nvPr/>
        </p:nvSpPr>
        <p:spPr>
          <a:xfrm>
            <a:off x="241599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2</a:t>
            </a:r>
          </a:p>
        </p:txBody>
      </p:sp>
      <p:sp>
        <p:nvSpPr>
          <p:cNvPr id="16" name="Oval 15"/>
          <p:cNvSpPr/>
          <p:nvPr/>
        </p:nvSpPr>
        <p:spPr>
          <a:xfrm>
            <a:off x="316679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415997" y="2843784"/>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80589"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Where did Q2 fall?</a:t>
            </a:r>
          </a:p>
        </p:txBody>
      </p:sp>
      <p:sp>
        <p:nvSpPr>
          <p:cNvPr id="19" name="TextBox 18"/>
          <p:cNvSpPr txBox="1"/>
          <p:nvPr/>
        </p:nvSpPr>
        <p:spPr>
          <a:xfrm>
            <a:off x="2580589"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Both quarters, from the raw export.</a:t>
            </a:r>
          </a:p>
        </p:txBody>
      </p:sp>
      <p:sp>
        <p:nvSpPr>
          <p:cNvPr id="20" name="TextBox 19"/>
          <p:cNvSpPr txBox="1"/>
          <p:nvPr/>
        </p:nvSpPr>
        <p:spPr>
          <a:xfrm>
            <a:off x="430164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3</a:t>
            </a:r>
          </a:p>
        </p:txBody>
      </p:sp>
      <p:sp>
        <p:nvSpPr>
          <p:cNvPr id="21" name="Oval 20"/>
          <p:cNvSpPr/>
          <p:nvPr/>
        </p:nvSpPr>
        <p:spPr>
          <a:xfrm>
            <a:off x="505244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301642" y="2843784"/>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66234"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Find any member by id?</a:t>
            </a:r>
          </a:p>
        </p:txBody>
      </p:sp>
      <p:sp>
        <p:nvSpPr>
          <p:cNvPr id="24" name="TextBox 23"/>
          <p:cNvSpPr txBox="1"/>
          <p:nvPr/>
        </p:nvSpPr>
        <p:spPr>
          <a:xfrm>
            <a:off x="4466234"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The protect list and a lookup.</a:t>
            </a:r>
          </a:p>
        </p:txBody>
      </p:sp>
      <p:sp>
        <p:nvSpPr>
          <p:cNvPr id="25" name="TextBox 24"/>
          <p:cNvSpPr txBox="1"/>
          <p:nvPr/>
        </p:nvSpPr>
        <p:spPr>
          <a:xfrm>
            <a:off x="618728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4</a:t>
            </a:r>
          </a:p>
        </p:txBody>
      </p:sp>
      <p:sp>
        <p:nvSpPr>
          <p:cNvPr id="26" name="Oval 25"/>
          <p:cNvSpPr/>
          <p:nvPr/>
        </p:nvSpPr>
        <p:spPr>
          <a:xfrm>
            <a:off x="693808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187287" y="2843784"/>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51879"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Read right in two minutes?</a:t>
            </a:r>
          </a:p>
        </p:txBody>
      </p:sp>
      <p:sp>
        <p:nvSpPr>
          <p:cNvPr id="29" name="TextBox 28"/>
          <p:cNvSpPr txBox="1"/>
          <p:nvPr/>
        </p:nvSpPr>
        <p:spPr>
          <a:xfrm>
            <a:off x="6351879"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The front-page number.</a:t>
            </a:r>
          </a:p>
        </p:txBody>
      </p:sp>
      <p:sp>
        <p:nvSpPr>
          <p:cNvPr id="30" name="TextBox 29"/>
          <p:cNvSpPr txBox="1"/>
          <p:nvPr/>
        </p:nvSpPr>
        <p:spPr>
          <a:xfrm>
            <a:off x="807293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5</a:t>
            </a:r>
          </a:p>
        </p:txBody>
      </p:sp>
      <p:sp>
        <p:nvSpPr>
          <p:cNvPr id="31" name="Oval 30"/>
          <p:cNvSpPr/>
          <p:nvPr/>
        </p:nvSpPr>
        <p:spPr>
          <a:xfrm>
            <a:off x="882373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072932" y="2843784"/>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37524"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must Excel never do?</a:t>
            </a:r>
          </a:p>
        </p:txBody>
      </p:sp>
      <p:sp>
        <p:nvSpPr>
          <p:cNvPr id="34" name="TextBox 33"/>
          <p:cNvSpPr txBox="1"/>
          <p:nvPr/>
        </p:nvSpPr>
        <p:spPr>
          <a:xfrm>
            <a:off x="8237524"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The rule behind all three.</a:t>
            </a:r>
          </a:p>
        </p:txBody>
      </p:sp>
      <p:sp>
        <p:nvSpPr>
          <p:cNvPr id="35" name="TextBox 34"/>
          <p:cNvSpPr txBox="1"/>
          <p:nvPr/>
        </p:nvSpPr>
        <p:spPr>
          <a:xfrm>
            <a:off x="9958578"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6</a:t>
            </a:r>
          </a:p>
        </p:txBody>
      </p:sp>
      <p:sp>
        <p:nvSpPr>
          <p:cNvPr id="36" name="Oval 35"/>
          <p:cNvSpPr/>
          <p:nvPr/>
        </p:nvSpPr>
        <p:spPr>
          <a:xfrm>
            <a:off x="10709376"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958578" y="2843784"/>
            <a:ext cx="1702765"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123170" y="2990088"/>
            <a:ext cx="1373581" cy="465836"/>
          </a:xfrm>
          <a:prstGeom prst="rect">
            <a:avLst/>
          </a:prstGeom>
          <a:noFill/>
        </p:spPr>
        <p:txBody>
          <a:bodyPr wrap="square" anchor="t" lIns="0" rIns="0" tIns="0" bIns="0">
            <a:spAutoFit/>
          </a:bodyPr>
          <a:lstStyle/>
          <a:p>
            <a:pPr algn="l"/>
            <a:r>
              <a:rPr sz="1300" b="1" i="0">
                <a:solidFill>
                  <a:srgbClr val="FFFFFF"/>
                </a:solidFill>
                <a:latin typeface="Calibri"/>
              </a:rPr>
              <a:t>Can a director break it?</a:t>
            </a:r>
          </a:p>
        </p:txBody>
      </p:sp>
      <p:sp>
        <p:nvSpPr>
          <p:cNvPr id="39" name="TextBox 38"/>
          <p:cNvSpPr txBox="1"/>
          <p:nvPr/>
        </p:nvSpPr>
        <p:spPr>
          <a:xfrm>
            <a:off x="10123170" y="3492500"/>
            <a:ext cx="1373581" cy="366776"/>
          </a:xfrm>
          <a:prstGeom prst="rect">
            <a:avLst/>
          </a:prstGeom>
          <a:noFill/>
        </p:spPr>
        <p:txBody>
          <a:bodyPr wrap="square" anchor="t" lIns="0" rIns="0" tIns="0" bIns="0">
            <a:spAutoFit/>
          </a:bodyPr>
          <a:lstStyle/>
          <a:p>
            <a:pPr algn="l"/>
            <a:r>
              <a:rPr sz="1000" b="0" i="0">
                <a:solidFill>
                  <a:srgbClr val="CFC9EE"/>
                </a:solidFill>
                <a:latin typeface="Calibri"/>
              </a:rPr>
              <a:t>The checks that stop them.</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42" name="Oval 4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44" name="Oval 4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46" name="Oval 45"/>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48" name="Oval 4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50" name="TextBox 4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82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deliverables and one hard condition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exactly did the chief of staff ask for?</a:t>
            </a:r>
          </a:p>
        </p:txBody>
      </p:sp>
      <p:sp>
        <p:nvSpPr>
          <p:cNvPr id="9" name="Rounded Rectangle 8"/>
          <p:cNvSpPr/>
          <p:nvPr/>
        </p:nvSpPr>
        <p:spPr>
          <a:xfrm>
            <a:off x="530352" y="1872488"/>
            <a:ext cx="11130991" cy="163982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638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73528"/>
            <a:ext cx="237744" cy="237744"/>
          </a:xfrm>
          <a:prstGeom prst="rect">
            <a:avLst/>
          </a:prstGeom>
        </p:spPr>
      </p:pic>
      <p:sp>
        <p:nvSpPr>
          <p:cNvPr id="12" name="TextBox 11"/>
          <p:cNvSpPr txBox="1"/>
          <p:nvPr/>
        </p:nvSpPr>
        <p:spPr>
          <a:xfrm>
            <a:off x="1399031" y="2018792"/>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238248"/>
            <a:ext cx="9987991" cy="1200912"/>
          </a:xfrm>
          <a:prstGeom prst="rect">
            <a:avLst/>
          </a:prstGeom>
          <a:noFill/>
        </p:spPr>
        <p:txBody>
          <a:bodyPr wrap="square" anchor="t" lIns="0" rIns="0" tIns="0" bIns="0">
            <a:spAutoFit/>
          </a:bodyPr>
          <a:lstStyle/>
          <a:p>
            <a:r>
              <a:rPr sz="1500" b="0" i="0">
                <a:solidFill>
                  <a:srgbClr val="FFFFFF"/>
                </a:solidFill>
                <a:latin typeface="Calibri"/>
              </a:rPr>
              <a:t>"Monday's growth review deck needs three things I can open on my laptop without a login: the revenue tree by segment for both quarters, the top-fifty protect list with a lookup so I can find any member by id, and one number on the front page with its trend. Nothing that needs Python. If a director changes an assumption in the room, the sheet must recalculate in front of them."</a:t>
            </a:r>
          </a:p>
        </p:txBody>
      </p:sp>
      <p:graphicFrame>
        <p:nvGraphicFramePr>
          <p:cNvPr id="14" name="Table 13"/>
          <p:cNvGraphicFramePr>
            <a:graphicFrameLocks noGrp="1"/>
          </p:cNvGraphicFramePr>
          <p:nvPr/>
        </p:nvGraphicFramePr>
        <p:xfrm>
          <a:off x="530352" y="3676904"/>
          <a:ext cx="11130990" cy="2332736"/>
        </p:xfrm>
        <a:graphic>
          <a:graphicData uri="http://schemas.openxmlformats.org/drawingml/2006/table">
            <a:tbl>
              <a:tblPr firstRow="0" bandRow="0">
                <a:tableStyleId>{2D5ABB26-0587-4C30-8999-92F81FD0307C}</a:tableStyleId>
              </a:tblPr>
              <a:tblGrid>
                <a:gridCol w="4698035"/>
                <a:gridCol w="5415497"/>
                <a:gridCol w="1017458"/>
              </a:tblGrid>
              <a:tr h="369824">
                <a:tc>
                  <a:txBody>
                    <a:bodyPr/>
                    <a:lstStyle/>
                    <a:p>
                      <a:r>
                        <a:rPr sz="1450" b="1" i="0">
                          <a:solidFill>
                            <a:srgbClr val="FFFFFF"/>
                          </a:solidFill>
                          <a:latin typeface="Calibri"/>
                        </a:rPr>
                        <a:t>What was asked</a:t>
                      </a:r>
                    </a:p>
                  </a:txBody>
                  <a:tcPr marL="101600" marR="101600" marT="38100" marB="38100" anchor="ctr">
                    <a:solidFill>
                      <a:srgbClr val="1A0F5C"/>
                    </a:solidFill>
                  </a:tcPr>
                </a:tc>
                <a:tc>
                  <a:txBody>
                    <a:bodyPr/>
                    <a:lstStyle/>
                    <a:p>
                      <a:r>
                        <a:rPr sz="1450" b="1" i="0">
                          <a:solidFill>
                            <a:srgbClr val="FFFFFF"/>
                          </a:solidFill>
                          <a:latin typeface="Calibri"/>
                        </a:rPr>
                        <a:t>What it becomes</a:t>
                      </a:r>
                    </a:p>
                  </a:txBody>
                  <a:tcPr marL="101600" marR="101600" marT="38100" marB="38100" anchor="ctr">
                    <a:solidFill>
                      <a:srgbClr val="1A0F5C"/>
                    </a:solidFill>
                  </a:tcPr>
                </a:tc>
                <a:tc>
                  <a:txBody>
                    <a:bodyPr/>
                    <a:lstStyle/>
                    <a:p>
                      <a:r>
                        <a:rPr sz="1450" b="1" i="0">
                          <a:solidFill>
                            <a:srgbClr val="FFFFFF"/>
                          </a:solidFill>
                          <a:latin typeface="Calibri"/>
                        </a:rPr>
                        <a:t>Chapters</a:t>
                      </a:r>
                    </a:p>
                  </a:txBody>
                  <a:tcPr marL="101600" marR="101600" marT="38100" marB="38100" anchor="ctr">
                    <a:solidFill>
                      <a:srgbClr val="1A0F5C"/>
                    </a:solidFill>
                  </a:tcPr>
                </a:tc>
              </a:tr>
              <a:tr h="369824">
                <a:tc>
                  <a:txBody>
                    <a:bodyPr/>
                    <a:lstStyle/>
                    <a:p>
                      <a:r>
                        <a:rPr sz="1400" b="0" i="0">
                          <a:solidFill>
                            <a:srgbClr val="1A1440"/>
                          </a:solidFill>
                          <a:latin typeface="Calibri"/>
                        </a:rPr>
                        <a:t>The revenue tree by segment, both quarters</a:t>
                      </a:r>
                    </a:p>
                  </a:txBody>
                  <a:tcPr marL="101600" marR="101600" marT="38100" marB="38100" anchor="ctr">
                    <a:solidFill>
                      <a:srgbClr val="FFFFFF"/>
                    </a:solidFill>
                  </a:tcPr>
                </a:tc>
                <a:tc>
                  <a:txBody>
                    <a:bodyPr/>
                    <a:lstStyle/>
                    <a:p>
                      <a:r>
                        <a:rPr sz="1400" b="0" i="0">
                          <a:solidFill>
                            <a:srgbClr val="1A1440"/>
                          </a:solidFill>
                          <a:latin typeface="Calibri"/>
                        </a:rPr>
                        <a:t>A pivot that ties to the warehouse</a:t>
                      </a:r>
                    </a:p>
                  </a:txBody>
                  <a:tcPr marL="101600" marR="101600" marT="38100" marB="38100" anchor="ctr">
                    <a:solidFill>
                      <a:srgbClr val="FFFFFF"/>
                    </a:solidFill>
                  </a:tcPr>
                </a:tc>
                <a:tc>
                  <a:txBody>
                    <a:bodyPr/>
                    <a:lstStyle/>
                    <a:p>
                      <a:r>
                        <a:rPr sz="1400" b="0" i="0">
                          <a:solidFill>
                            <a:srgbClr val="1A1440"/>
                          </a:solidFill>
                          <a:latin typeface="Calibri"/>
                        </a:rPr>
                        <a:t>1 and 2</a:t>
                      </a:r>
                    </a:p>
                  </a:txBody>
                  <a:tcPr marL="101600" marR="101600" marT="38100" marB="38100" anchor="ctr">
                    <a:solidFill>
                      <a:srgbClr val="FFFFFF"/>
                    </a:solidFill>
                  </a:tcPr>
                </a:tc>
              </a:tr>
              <a:tr h="611632">
                <a:tc>
                  <a:txBody>
                    <a:bodyPr/>
                    <a:lstStyle/>
                    <a:p>
                      <a:r>
                        <a:rPr sz="1400" b="0" i="0">
                          <a:solidFill>
                            <a:srgbClr val="1A1440"/>
                          </a:solidFill>
                          <a:latin typeface="Calibri"/>
                        </a:rPr>
                        <a:t>The protect list and a lookup by id</a:t>
                      </a:r>
                    </a:p>
                  </a:txBody>
                  <a:tcPr marL="101600" marR="101600" marT="38100" marB="38100" anchor="ctr">
                    <a:solidFill>
                      <a:srgbClr val="F4F2FA"/>
                    </a:solidFill>
                  </a:tcPr>
                </a:tc>
                <a:tc>
                  <a:txBody>
                    <a:bodyPr/>
                    <a:lstStyle/>
                    <a:p>
                      <a:r>
                        <a:rPr sz="1400" b="0" i="0">
                          <a:solidFill>
                            <a:srgbClr val="1A1440"/>
                          </a:solidFill>
                          <a:latin typeface="Calibri"/>
                        </a:rPr>
                        <a:t>A ranked list and a lookup that says when an id is missing</a:t>
                      </a:r>
                    </a:p>
                  </a:txBody>
                  <a:tcPr marL="101600" marR="101600" marT="38100" marB="38100" anchor="ctr">
                    <a:solidFill>
                      <a:srgbClr val="F4F2FA"/>
                    </a:solidFill>
                  </a:tcPr>
                </a:tc>
                <a:tc>
                  <a:txBody>
                    <a:bodyPr/>
                    <a:lstStyle/>
                    <a:p>
                      <a:r>
                        <a:rPr sz="1400" b="0" i="0">
                          <a:solidFill>
                            <a:srgbClr val="1A1440"/>
                          </a:solidFill>
                          <a:latin typeface="Calibri"/>
                        </a:rPr>
                        <a:t>3</a:t>
                      </a:r>
                    </a:p>
                  </a:txBody>
                  <a:tcPr marL="101600" marR="101600" marT="38100" marB="38100" anchor="ctr">
                    <a:solidFill>
                      <a:srgbClr val="F4F2FA"/>
                    </a:solidFill>
                  </a:tcPr>
                </a:tc>
              </a:tr>
              <a:tr h="369824">
                <a:tc>
                  <a:txBody>
                    <a:bodyPr/>
                    <a:lstStyle/>
                    <a:p>
                      <a:r>
                        <a:rPr sz="1400" b="0" i="0">
                          <a:solidFill>
                            <a:srgbClr val="1A1440"/>
                          </a:solidFill>
                          <a:latin typeface="Calibri"/>
                        </a:rPr>
                        <a:t>One number with its trend</a:t>
                      </a:r>
                    </a:p>
                  </a:txBody>
                  <a:tcPr marL="101600" marR="101600" marT="38100" marB="38100" anchor="ctr">
                    <a:solidFill>
                      <a:srgbClr val="FFFFFF"/>
                    </a:solidFill>
                  </a:tcPr>
                </a:tc>
                <a:tc>
                  <a:txBody>
                    <a:bodyPr/>
                    <a:lstStyle/>
                    <a:p>
                      <a:r>
                        <a:rPr sz="1400" b="0" i="0">
                          <a:solidFill>
                            <a:srgbClr val="1A1440"/>
                          </a:solidFill>
                          <a:latin typeface="Calibri"/>
                        </a:rPr>
                        <a:t>A card with its period, comparison and base</a:t>
                      </a:r>
                    </a:p>
                  </a:txBody>
                  <a:tcPr marL="101600" marR="101600" marT="38100" marB="38100" anchor="ctr">
                    <a:solidFill>
                      <a:srgbClr val="FFFFFF"/>
                    </a:solidFill>
                  </a:tcPr>
                </a:tc>
                <a:tc>
                  <a:txBody>
                    <a:bodyPr/>
                    <a:lstStyle/>
                    <a:p>
                      <a:r>
                        <a:rPr sz="1400" b="0" i="0">
                          <a:solidFill>
                            <a:srgbClr val="1A1440"/>
                          </a:solidFill>
                          <a:latin typeface="Calibri"/>
                        </a:rPr>
                        <a:t>4</a:t>
                      </a:r>
                    </a:p>
                  </a:txBody>
                  <a:tcPr marL="101600" marR="101600" marT="38100" marB="38100" anchor="ctr">
                    <a:solidFill>
                      <a:srgbClr val="FFFFFF"/>
                    </a:solidFill>
                  </a:tcPr>
                </a:tc>
              </a:tr>
              <a:tr h="611632">
                <a:tc>
                  <a:txBody>
                    <a:bodyPr/>
                    <a:lstStyle/>
                    <a:p>
                      <a:r>
                        <a:rPr sz="1400" b="0" i="0">
                          <a:solidFill>
                            <a:srgbClr val="1A1440"/>
                          </a:solidFill>
                          <a:latin typeface="Calibri"/>
                        </a:rPr>
                        <a:t>Recalculates when a director changes an assumption</a:t>
                      </a:r>
                    </a:p>
                  </a:txBody>
                  <a:tcPr marL="101600" marR="101600" marT="38100" marB="38100" anchor="ctr">
                    <a:solidFill>
                      <a:srgbClr val="F4F2FA"/>
                    </a:solidFill>
                  </a:tcPr>
                </a:tc>
                <a:tc>
                  <a:txBody>
                    <a:bodyPr/>
                    <a:lstStyle/>
                    <a:p>
                      <a:r>
                        <a:rPr sz="1400" b="0" i="0">
                          <a:solidFill>
                            <a:srgbClr val="1A1440"/>
                          </a:solidFill>
                          <a:latin typeface="Calibri"/>
                        </a:rPr>
                        <a:t>Yellow inputs, formulas everywhere else, and checks</a:t>
                      </a:r>
                    </a:p>
                  </a:txBody>
                  <a:tcPr marL="101600" marR="101600" marT="38100" marB="38100" anchor="ctr">
                    <a:solidFill>
                      <a:srgbClr val="F4F2FA"/>
                    </a:solidFill>
                  </a:tcPr>
                </a:tc>
                <a:tc>
                  <a:txBody>
                    <a:bodyPr/>
                    <a:lstStyle/>
                    <a:p>
                      <a:r>
                        <a:rPr sz="1400" b="0" i="0">
                          <a:solidFill>
                            <a:srgbClr val="1A1440"/>
                          </a:solidFill>
                          <a:latin typeface="Calibri"/>
                        </a:rPr>
                        <a:t>5 and 6</a:t>
                      </a:r>
                    </a:p>
                  </a:txBody>
                  <a:tcPr marL="101600" marR="101600" marT="38100" marB="38100" anchor="ctr">
                    <a:solidFill>
                      <a:srgbClr val="F4F2FA"/>
                    </a:solidFill>
                  </a:tcPr>
                </a:tc>
              </a:tr>
            </a:tbl>
          </a:graphicData>
        </a:graphic>
      </p:graphicFrame>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7" name="Oval 1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9" name="Oval 1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1" name="Oval 20"/>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3" name="Oval 2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82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could make a sheet lie without an error?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Excel opens: where can each number go wrong on its way to a director?</a:t>
            </a:r>
          </a:p>
        </p:txBody>
      </p:sp>
      <p:pic>
        <p:nvPicPr>
          <p:cNvPr id="9" name="mermaid diagram" descr="89ffc0871deaad14.png"/>
          <p:cNvPicPr>
            <a:picLocks noChangeAspect="1"/>
          </p:cNvPicPr>
          <p:nvPr/>
        </p:nvPicPr>
        <p:blipFill>
          <a:blip r:embed="rId5"/>
          <a:stretch>
            <a:fillRect/>
          </a:stretch>
        </p:blipFill>
        <p:spPr>
          <a:xfrm>
            <a:off x="530352" y="1956816"/>
            <a:ext cx="11130991" cy="1484132"/>
          </a:xfrm>
          <a:prstGeom prst="rect">
            <a:avLst/>
          </a:prstGeom>
        </p:spPr>
      </p:pic>
      <p:sp>
        <p:nvSpPr>
          <p:cNvPr id="10" name="Rounded Rectangle 9"/>
          <p:cNvSpPr/>
          <p:nvPr/>
        </p:nvSpPr>
        <p:spPr>
          <a:xfrm>
            <a:off x="530352" y="358725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71526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706124"/>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Where would you check first? a) the export: what one row stands for; b) the workbook: which rows a total adds; c) the director: what a number is read against; d) the warehouse itself.</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82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export first; every number sits on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the day start, and what does the finished picture look like?</a:t>
            </a:r>
          </a:p>
        </p:txBody>
      </p:sp>
      <p:pic>
        <p:nvPicPr>
          <p:cNvPr id="9" name="mermaid diagram" descr="85c7e6730e434cb4.png"/>
          <p:cNvPicPr>
            <a:picLocks noChangeAspect="1"/>
          </p:cNvPicPr>
          <p:nvPr/>
        </p:nvPicPr>
        <p:blipFill>
          <a:blip r:embed="rId5"/>
          <a:stretch>
            <a:fillRect/>
          </a:stretch>
        </p:blipFill>
        <p:spPr>
          <a:xfrm>
            <a:off x="780897" y="1956816"/>
            <a:ext cx="10629900" cy="1485900"/>
          </a:xfrm>
          <a:prstGeom prst="rect">
            <a:avLst/>
          </a:prstGeom>
        </p:spPr>
      </p:pic>
      <p:sp>
        <p:nvSpPr>
          <p:cNvPr id="10" name="TextBox 9"/>
          <p:cNvSpPr txBox="1"/>
          <p:nvPr/>
        </p:nvSpPr>
        <p:spPr>
          <a:xfrm>
            <a:off x="530352" y="358902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a: saying what one row stands for takes a minute and rules a family of wrong numbers in or out. The dashed arrow is the check the day keeps: every number in the workbook ties back to the warehouse before a director reads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customer table in Excel</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segment carries it?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segment carries Kalpa's revenue, and which leaf of the tree separates the segments? Page two of Monday's deck rides on it.</a:t>
            </a:r>
          </a:p>
        </p:txBody>
      </p:sp>
      <p:sp>
        <p:nvSpPr>
          <p:cNvPr id="11" name="Rounded Rectangle 10"/>
          <p:cNvSpPr/>
          <p:nvPr/>
        </p:nvSpPr>
        <p:spPr>
          <a:xfrm>
            <a:off x="731519"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segment carries it?</a:t>
            </a:r>
          </a:p>
        </p:txBody>
      </p:sp>
      <p:sp>
        <p:nvSpPr>
          <p:cNvPr id="12" name="Rounded Rectangle 11"/>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Q2 fall?</a:t>
            </a:r>
          </a:p>
        </p:txBody>
      </p:sp>
      <p:sp>
        <p:nvSpPr>
          <p:cNvPr id="13" name="Rounded Rectangle 12"/>
          <p:cNvSpPr/>
          <p:nvPr/>
        </p:nvSpPr>
        <p:spPr>
          <a:xfrm>
            <a:off x="4228782"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Find any member by id?</a:t>
            </a:r>
          </a:p>
        </p:txBody>
      </p:sp>
      <p:sp>
        <p:nvSpPr>
          <p:cNvPr id="14" name="Rounded Rectangle 13"/>
          <p:cNvSpPr/>
          <p:nvPr/>
        </p:nvSpPr>
        <p:spPr>
          <a:xfrm>
            <a:off x="600702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Read right in two minutes?</a:t>
            </a:r>
          </a:p>
        </p:txBody>
      </p:sp>
      <p:sp>
        <p:nvSpPr>
          <p:cNvPr id="15" name="Rounded Rectangle 14"/>
          <p:cNvSpPr/>
          <p:nvPr/>
        </p:nvSpPr>
        <p:spPr>
          <a:xfrm>
            <a:off x="8022125"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Excel never do?</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What can a director open, change and still trust?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7 /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chief of staff needs a tree that multiplies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tree by segment, and which six questions build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chief of staff, whose tree by segment is page two of Monday's deck; a leaf computed the wrong way puts a tree on the page that does not multiply back to its own revenue.</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way?</a:t>
            </a:r>
          </a:p>
        </p:txBody>
      </p:sp>
      <p:sp>
        <p:nvSpPr>
          <p:cNvPr id="17" name="TextBox 16"/>
          <p:cNvSpPr txBox="1"/>
          <p:nvPr/>
        </p:nvSpPr>
        <p:spPr>
          <a:xfrm>
            <a:off x="69494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Pivot, formula grid, pasted values or a dashboard.</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One row?</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one row of the table stands for.</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segment?</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Who carries the revenue.</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leaf?</a:t>
            </a:r>
          </a:p>
        </p:txBody>
      </p:sp>
      <p:sp>
        <p:nvSpPr>
          <p:cNvPr id="32" name="TextBox 31"/>
          <p:cNvSpPr txBox="1"/>
          <p:nvPr/>
        </p:nvSpPr>
        <p:spPr>
          <a:xfrm>
            <a:off x="6351879"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What separates Retail-Plus from Retail-Core.</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Averaged leaf?</a:t>
            </a:r>
          </a:p>
        </p:txBody>
      </p:sp>
      <p:sp>
        <p:nvSpPr>
          <p:cNvPr id="37" name="TextBox 36"/>
          <p:cNvSpPr txBox="1"/>
          <p:nvPr/>
        </p:nvSpPr>
        <p:spPr>
          <a:xfrm>
            <a:off x="823752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averaging per customer does.</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FFFFFF"/>
                </a:solidFill>
                <a:latin typeface="Calibri"/>
              </a:rPr>
              <a:t>Quarters?</a:t>
            </a:r>
          </a:p>
        </p:txBody>
      </p:sp>
      <p:sp>
        <p:nvSpPr>
          <p:cNvPr id="42" name="TextBox 41"/>
          <p:cNvSpPr txBox="1"/>
          <p:nvPr/>
        </p:nvSpPr>
        <p:spPr>
          <a:xfrm>
            <a:off x="10123170" y="4250182"/>
            <a:ext cx="1373581" cy="366776"/>
          </a:xfrm>
          <a:prstGeom prst="rect">
            <a:avLst/>
          </a:prstGeom>
          <a:noFill/>
        </p:spPr>
        <p:txBody>
          <a:bodyPr wrap="square" anchor="t" lIns="0" rIns="0" tIns="0" bIns="0">
            <a:spAutoFit/>
          </a:bodyPr>
          <a:lstStyle/>
          <a:p>
            <a:pPr algn="l"/>
            <a:r>
              <a:rPr sz="1000" b="0" i="0">
                <a:solidFill>
                  <a:srgbClr val="CFC9EE"/>
                </a:solidFill>
                <a:latin typeface="Calibri"/>
              </a:rPr>
              <a:t>Whether the table can split Q1 from Q2.</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45" name="Oval 4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47" name="Oval 4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49" name="Oval 4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51" name="Oval 5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8 /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Page two is the tree; Costco splits sales by tier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wrong leaf cost on page two, and which real retailer splits revenue by member tier?</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Revenue</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METRIC</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booked order value, April to September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Chief of staff</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WHO ASKS</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page two of Monday's deck</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Trust</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A WRONG LEAF COSTS</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a tree that does not multiply back</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Revenue is customers times orders per customer times revenue per order, the tree from Week 1.</a:t>
            </a:r>
          </a:p>
        </p:txBody>
      </p:sp>
      <p:sp>
        <p:nvSpPr>
          <p:cNvPr id="22" name="Rounded Rectangle 21"/>
          <p:cNvSpPr/>
          <p:nvPr/>
        </p:nvSpPr>
        <p:spPr>
          <a:xfrm>
            <a:off x="530352" y="4043680"/>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86384" y="4043680"/>
            <a:ext cx="10820095" cy="1026160"/>
          </a:xfrm>
          <a:prstGeom prst="rect">
            <a:avLst/>
          </a:prstGeom>
          <a:noFill/>
        </p:spPr>
        <p:txBody>
          <a:bodyPr wrap="square" anchor="t" lIns="0" rIns="0" tIns="0" bIns="0">
            <a:spAutoFit/>
          </a:bodyPr>
          <a:lstStyle/>
          <a:p>
            <a:r>
              <a:rPr sz="1600" b="0" i="1">
                <a:solidFill>
                  <a:srgbClr val="1A0F5C"/>
                </a:solidFill>
                <a:latin typeface="Georgia"/>
              </a:rPr>
              <a:t>"The sales penetration of Executive members represented approximately 73.6% of worldwide net sales in 2025."</a:t>
            </a:r>
          </a:p>
          <a:p>
            <a:pPr>
              <a:spcBef>
                <a:spcPts val="400"/>
              </a:spcBef>
            </a:pPr>
            <a:r>
              <a:rPr sz="1000" b="0" i="0">
                <a:solidFill>
                  <a:srgbClr val="6B6690"/>
                </a:solidFill>
                <a:latin typeface="Calibri"/>
              </a:rPr>
              <a:t>Costco Form 10-K, fiscal 2025</a:t>
            </a:r>
          </a:p>
        </p:txBody>
      </p:sp>
      <p:sp>
        <p:nvSpPr>
          <p:cNvPr id="24" name="Oval 2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26" name="Oval 2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8" name="Oval 2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0" name="Oval 2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2" name="Oval 3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9 / 82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PivotTable, with each leaf beside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way should the director get the tree, and what does each way cost on this table?</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1938885"/>
                <a:gridCol w="3311019"/>
                <a:gridCol w="4291115"/>
                <a:gridCol w="1589971"/>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What it takes here</a:t>
                      </a:r>
                    </a:p>
                  </a:txBody>
                  <a:tcPr marL="101600" marR="101600" marT="38100" marB="38100" anchor="ctr">
                    <a:solidFill>
                      <a:srgbClr val="1A0F5C"/>
                    </a:solidFill>
                  </a:tcPr>
                </a:tc>
                <a:tc>
                  <a:txBody>
                    <a:bodyPr/>
                    <a:lstStyle/>
                    <a:p>
                      <a:r>
                        <a:rPr sz="1250" b="1" i="0">
                          <a:solidFill>
                            <a:srgbClr val="FFFFFF"/>
                          </a:solidFill>
                          <a:latin typeface="Calibri"/>
                        </a:rPr>
                        <a:t>What a director can slice</a:t>
                      </a:r>
                    </a:p>
                  </a:txBody>
                  <a:tcPr marL="101600" marR="101600" marT="38100" marB="38100" anchor="ctr">
                    <a:solidFill>
                      <a:srgbClr val="1A0F5C"/>
                    </a:solidFill>
                  </a:tcPr>
                </a:tc>
                <a:tc>
                  <a:txBody>
                    <a:bodyPr/>
                    <a:lstStyle/>
                    <a:p>
                      <a:r>
                        <a:rPr sz="1250" b="1" i="0">
                          <a:solidFill>
                            <a:srgbClr val="FFFFFF"/>
                          </a:solidFill>
                          <a:latin typeface="Calibri"/>
                        </a:rPr>
                        <a:t>Recalculates</a:t>
                      </a:r>
                    </a:p>
                  </a:txBody>
                  <a:tcPr marL="101600" marR="101600" marT="38100" marB="38100" anchor="ctr">
                    <a:solidFill>
                      <a:srgbClr val="1A0F5C"/>
                    </a:solidFill>
                  </a:tcPr>
                </a:tc>
              </a:tr>
              <a:tr h="335280">
                <a:tc>
                  <a:txBody>
                    <a:bodyPr/>
                    <a:lstStyle/>
                    <a:p>
                      <a:r>
                        <a:rPr sz="1200" b="0" i="0">
                          <a:solidFill>
                            <a:srgbClr val="1A1440"/>
                          </a:solidFill>
                          <a:latin typeface="Calibri"/>
                        </a:rPr>
                        <a:t>a) PivotTable</a:t>
                      </a:r>
                    </a:p>
                  </a:txBody>
                  <a:tcPr marL="101600" marR="101600" marT="38100" marB="38100" anchor="ctr">
                    <a:solidFill>
                      <a:srgbClr val="FFFFFF"/>
                    </a:solidFill>
                  </a:tcPr>
                </a:tc>
                <a:tc>
                  <a:txBody>
                    <a:bodyPr/>
                    <a:lstStyle/>
                    <a:p>
                      <a:r>
                        <a:rPr sz="1200" b="0" i="0">
                          <a:solidFill>
                            <a:srgbClr val="1A1440"/>
                          </a:solidFill>
                          <a:latin typeface="Calibri"/>
                        </a:rPr>
                        <a:t>1 pivot and 8 leaf formulas</a:t>
                      </a:r>
                    </a:p>
                  </a:txBody>
                  <a:tcPr marL="101600" marR="101600" marT="38100" marB="38100" anchor="ctr">
                    <a:solidFill>
                      <a:srgbClr val="FFFFFF"/>
                    </a:solidFill>
                  </a:tcPr>
                </a:tc>
                <a:tc>
                  <a:txBody>
                    <a:bodyPr/>
                    <a:lstStyle/>
                    <a:p>
                      <a:r>
                        <a:rPr sz="1200" b="0" i="0">
                          <a:solidFill>
                            <a:srgbClr val="1A1440"/>
                          </a:solidFill>
                          <a:latin typeface="Calibri"/>
                        </a:rPr>
                        <a:t>any of 6 columns, in seconds</a:t>
                      </a:r>
                    </a:p>
                  </a:txBody>
                  <a:tcPr marL="101600" marR="101600" marT="38100" marB="38100" anchor="ctr">
                    <a:solidFill>
                      <a:srgbClr val="FFFFFF"/>
                    </a:solidFill>
                  </a:tcPr>
                </a:tc>
                <a:tc>
                  <a:txBody>
                    <a:bodyPr/>
                    <a:lstStyle/>
                    <a:p>
                      <a:r>
                        <a:rPr sz="1200" b="0" i="0">
                          <a:solidFill>
                            <a:srgbClr val="1A1440"/>
                          </a:solidFill>
                          <a:latin typeface="Calibri"/>
                        </a:rPr>
                        <a:t>on Refresh</a:t>
                      </a:r>
                    </a:p>
                  </a:txBody>
                  <a:tcPr marL="101600" marR="101600" marT="38100" marB="38100" anchor="ctr">
                    <a:solidFill>
                      <a:srgbClr val="FFFFFF"/>
                    </a:solidFill>
                  </a:tcPr>
                </a:tc>
              </a:tr>
              <a:tr h="335280">
                <a:tc>
                  <a:txBody>
                    <a:bodyPr/>
                    <a:lstStyle/>
                    <a:p>
                      <a:r>
                        <a:rPr sz="1200" b="0" i="0">
                          <a:solidFill>
                            <a:srgbClr val="1A1440"/>
                          </a:solidFill>
                          <a:latin typeface="Calibri"/>
                        </a:rPr>
                        <a:t>b) SUMIFS grid</a:t>
                      </a:r>
                    </a:p>
                  </a:txBody>
                  <a:tcPr marL="101600" marR="101600" marT="38100" marB="38100" anchor="ctr">
                    <a:solidFill>
                      <a:srgbClr val="F4F2FA"/>
                    </a:solidFill>
                  </a:tcPr>
                </a:tc>
                <a:tc>
                  <a:txBody>
                    <a:bodyPr/>
                    <a:lstStyle/>
                    <a:p>
                      <a:r>
                        <a:rPr sz="1200" b="0" i="0">
                          <a:solidFill>
                            <a:srgbClr val="1A1440"/>
                          </a:solidFill>
                          <a:latin typeface="Calibri"/>
                        </a:rPr>
                        <a:t>12 formulas reading 3,600 cells</a:t>
                      </a:r>
                    </a:p>
                  </a:txBody>
                  <a:tcPr marL="101600" marR="101600" marT="38100" marB="38100" anchor="ctr">
                    <a:solidFill>
                      <a:srgbClr val="F4F2FA"/>
                    </a:solidFill>
                  </a:tcPr>
                </a:tc>
                <a:tc>
                  <a:txBody>
                    <a:bodyPr/>
                    <a:lstStyle/>
                    <a:p>
                      <a:r>
                        <a:rPr sz="1200" b="0" i="0">
                          <a:solidFill>
                            <a:srgbClr val="1A1440"/>
                          </a:solidFill>
                          <a:latin typeface="Calibri"/>
                        </a:rPr>
                        <a:t>only what was built; a city split adds 72</a:t>
                      </a:r>
                    </a:p>
                  </a:txBody>
                  <a:tcPr marL="101600" marR="101600" marT="38100" marB="38100" anchor="ctr">
                    <a:solidFill>
                      <a:srgbClr val="F4F2FA"/>
                    </a:solidFill>
                  </a:tcPr>
                </a:tc>
                <a:tc>
                  <a:txBody>
                    <a:bodyPr/>
                    <a:lstStyle/>
                    <a:p>
                      <a:r>
                        <a:rPr sz="1200" b="0" i="0">
                          <a:solidFill>
                            <a:srgbClr val="1A1440"/>
                          </a:solidFill>
                          <a:latin typeface="Calibri"/>
                        </a:rPr>
                        <a:t>at once</a:t>
                      </a:r>
                    </a:p>
                  </a:txBody>
                  <a:tcPr marL="101600" marR="101600" marT="38100" marB="38100" anchor="ctr">
                    <a:solidFill>
                      <a:srgbClr val="F4F2FA"/>
                    </a:solidFill>
                  </a:tcPr>
                </a:tc>
              </a:tr>
              <a:tr h="335280">
                <a:tc>
                  <a:txBody>
                    <a:bodyPr/>
                    <a:lstStyle/>
                    <a:p>
                      <a:r>
                        <a:rPr sz="1200" b="0" i="0">
                          <a:solidFill>
                            <a:srgbClr val="1A1440"/>
                          </a:solidFill>
                          <a:latin typeface="Calibri"/>
                        </a:rPr>
                        <a:t>c) Pasted values</a:t>
                      </a:r>
                    </a:p>
                  </a:txBody>
                  <a:tcPr marL="101600" marR="101600" marT="38100" marB="38100" anchor="ctr">
                    <a:solidFill>
                      <a:srgbClr val="FFFFFF"/>
                    </a:solidFill>
                  </a:tcPr>
                </a:tc>
                <a:tc>
                  <a:txBody>
                    <a:bodyPr/>
                    <a:lstStyle/>
                    <a:p>
                      <a:r>
                        <a:rPr sz="1200" b="0" i="0">
                          <a:solidFill>
                            <a:srgbClr val="1A1440"/>
                          </a:solidFill>
                          <a:latin typeface="Calibri"/>
                        </a:rPr>
                        <a:t>0 formulas</a:t>
                      </a:r>
                    </a:p>
                  </a:txBody>
                  <a:tcPr marL="101600" marR="101600" marT="38100" marB="38100" anchor="ctr">
                    <a:solidFill>
                      <a:srgbClr val="FFFFFF"/>
                    </a:solidFill>
                  </a:tcPr>
                </a:tc>
                <a:tc>
                  <a:txBody>
                    <a:bodyPr/>
                    <a:lstStyle/>
                    <a:p>
                      <a:r>
                        <a:rPr sz="1200" b="0" i="0">
                          <a:solidFill>
                            <a:srgbClr val="1A1440"/>
                          </a:solidFill>
                          <a:latin typeface="Calibri"/>
                        </a:rPr>
                        <a:t>nothing</a:t>
                      </a:r>
                    </a:p>
                  </a:txBody>
                  <a:tcPr marL="101600" marR="101600" marT="38100" marB="38100" anchor="ctr">
                    <a:solidFill>
                      <a:srgbClr val="FFFFFF"/>
                    </a:solidFill>
                  </a:tcPr>
                </a:tc>
                <a:tc>
                  <a:txBody>
                    <a:bodyPr/>
                    <a:lstStyle/>
                    <a:p>
                      <a:r>
                        <a:rPr sz="1200" b="0" i="0">
                          <a:solidFill>
                            <a:srgbClr val="1A1440"/>
                          </a:solidFill>
                          <a:latin typeface="Calibri"/>
                        </a:rPr>
                        <a:t>never</a:t>
                      </a:r>
                    </a:p>
                  </a:txBody>
                  <a:tcPr marL="101600" marR="101600" marT="38100" marB="38100" anchor="ctr">
                    <a:solidFill>
                      <a:srgbClr val="FFFFFF"/>
                    </a:solidFill>
                  </a:tcPr>
                </a:tc>
              </a:tr>
              <a:tr h="335280">
                <a:tc>
                  <a:txBody>
                    <a:bodyPr/>
                    <a:lstStyle/>
                    <a:p>
                      <a:r>
                        <a:rPr sz="1200" b="0" i="0">
                          <a:solidFill>
                            <a:srgbClr val="1A1440"/>
                          </a:solidFill>
                          <a:latin typeface="Calibri"/>
                        </a:rPr>
                        <a:t>d) Live dashboard</a:t>
                      </a:r>
                    </a:p>
                  </a:txBody>
                  <a:tcPr marL="101600" marR="101600" marT="38100" marB="38100" anchor="ctr">
                    <a:solidFill>
                      <a:srgbClr val="F4F2FA"/>
                    </a:solidFill>
                  </a:tcPr>
                </a:tc>
                <a:tc>
                  <a:txBody>
                    <a:bodyPr/>
                    <a:lstStyle/>
                    <a:p>
                      <a:r>
                        <a:rPr sz="1200" b="0" i="0">
                          <a:solidFill>
                            <a:srgbClr val="1A1440"/>
                          </a:solidFill>
                          <a:latin typeface="Calibri"/>
                        </a:rPr>
                        <a:t>a query per view</a:t>
                      </a:r>
                    </a:p>
                  </a:txBody>
                  <a:tcPr marL="101600" marR="101600" marT="38100" marB="38100" anchor="ctr">
                    <a:solidFill>
                      <a:srgbClr val="F4F2FA"/>
                    </a:solidFill>
                  </a:tcPr>
                </a:tc>
                <a:tc>
                  <a:txBody>
                    <a:bodyPr/>
                    <a:lstStyle/>
                    <a:p>
                      <a:r>
                        <a:rPr sz="1200" b="0" i="0">
                          <a:solidFill>
                            <a:srgbClr val="1A1440"/>
                          </a:solidFill>
                          <a:latin typeface="Calibri"/>
                        </a:rPr>
                        <a:t>anything</a:t>
                      </a:r>
                    </a:p>
                  </a:txBody>
                  <a:tcPr marL="101600" marR="101600" marT="38100" marB="38100" anchor="ctr">
                    <a:solidFill>
                      <a:srgbClr val="F4F2FA"/>
                    </a:solidFill>
                  </a:tcPr>
                </a:tc>
                <a:tc>
                  <a:txBody>
                    <a:bodyPr/>
                    <a:lstStyle/>
                    <a:p>
                      <a:r>
                        <a:rPr sz="1200" b="0" i="0">
                          <a:solidFill>
                            <a:srgbClr val="1A1440"/>
                          </a:solidFill>
                          <a:latin typeface="Calibri"/>
                        </a:rPr>
                        <a:t>needs a login</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best-fit call. </a:t>
            </a:r>
            <a:r>
              <a:rPr sz="1500" b="0" i="0">
                <a:solidFill>
                  <a:srgbClr val="1A1440"/>
                </a:solidFill>
                <a:latin typeface="Calibri"/>
              </a:rPr>
              <a:t>a, because a director re-slices in the room and only the pivot answers a question nobody built.</a:t>
            </a:r>
          </a:p>
        </p:txBody>
      </p:sp>
      <p:sp>
        <p:nvSpPr>
          <p:cNvPr id="13" name="Rounded Rectangle 12"/>
          <p:cNvSpPr/>
          <p:nvPr/>
        </p:nvSpPr>
        <p:spPr>
          <a:xfrm>
            <a:off x="530352" y="4861559"/>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4989575"/>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980431"/>
            <a:ext cx="10564063" cy="624840"/>
          </a:xfrm>
          <a:prstGeom prst="rect">
            <a:avLst/>
          </a:prstGeom>
          <a:noFill/>
        </p:spPr>
        <p:txBody>
          <a:bodyPr wrap="square" anchor="ctr" lIns="0" rIns="0" tIns="0" bIns="0">
            <a:spAutoFit/>
          </a:bodyPr>
          <a:lstStyle/>
          <a:p>
            <a:r>
              <a:rPr sz="1500" b="1">
                <a:solidFill>
                  <a:srgbClr val="5B3FD6"/>
                </a:solidFill>
                <a:latin typeface="Calibri"/>
              </a:rPr>
              <a:t>The fact that would change it. </a:t>
            </a:r>
            <a:r>
              <a:rPr sz="1500" b="0" i="0">
                <a:solidFill>
                  <a:srgbClr val="1A1440"/>
                </a:solidFill>
                <a:latin typeface="Calibri"/>
              </a:rPr>
              <a:t>A director who changes an assumption, since a pivot waits for Refresh and a formula does not; chapter 6.</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8" name="Oval 1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0" name="Oval 1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2" name="Oval 21"/>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4" name="Oval 2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one row of the customer table stand for?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any pivot, what is the grain of this table?</a:t>
            </a:r>
          </a:p>
        </p:txBody>
      </p:sp>
      <p:pic>
        <p:nvPicPr>
          <p:cNvPr id="9" name="mermaid diagram" descr="f84e98e43b0fa968.png"/>
          <p:cNvPicPr>
            <a:picLocks noChangeAspect="1"/>
          </p:cNvPicPr>
          <p:nvPr/>
        </p:nvPicPr>
        <p:blipFill>
          <a:blip r:embed="rId5"/>
          <a:stretch>
            <a:fillRect/>
          </a:stretch>
        </p:blipFill>
        <p:spPr>
          <a:xfrm>
            <a:off x="2331091" y="1956816"/>
            <a:ext cx="7529512" cy="2886075"/>
          </a:xfrm>
          <a:prstGeom prst="rect">
            <a:avLst/>
          </a:prstGeom>
        </p:spPr>
      </p:pic>
      <p:sp>
        <p:nvSpPr>
          <p:cNvPr id="10" name="Rounded Rectangle 9"/>
          <p:cNvSpPr/>
          <p:nvPr/>
        </p:nvSpPr>
        <p:spPr>
          <a:xfrm>
            <a:off x="530352" y="4989195"/>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117211"/>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108067"/>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One row of this table is which?</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one customer, so a Sum adds each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count say?</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300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in the CSV</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300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DISTINCT IDS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one per row</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COLUMNS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id, segment, city, orders, revenue, last order date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Each row is one customer who ordered between April and September 2026, with that customer's orders and revenue summed, and rows equal distinct ids, 300 and 300.</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8" name="Oval 27"/>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0" name="Oval 2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82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Freeze Panes at B2 keeps the names and ids in view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Scrolled to row 250, how do the column names and the ids stay on screen?</a:t>
            </a:r>
          </a:p>
        </p:txBody>
      </p:sp>
      <p:sp>
        <p:nvSpPr>
          <p:cNvPr id="9" name="TextBox 8"/>
          <p:cNvSpPr txBox="1"/>
          <p:nvPr/>
        </p:nvSpPr>
        <p:spPr>
          <a:xfrm>
            <a:off x="530352" y="1943100"/>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At row 250 the sheet shows C-0282, Business, Hyderabad, 11 and 6084000 under no column names, because a sheet scrolls as one piece. Freeze Panes "freezes the rows above and the columns left of the selected cell" (Microsoft Support, Freeze panes to lock rows and columns, checked 13 October 2026), so those stay put while the rest scrolls.</a:t>
            </a:r>
          </a:p>
        </p:txBody>
      </p:sp>
      <p:graphicFrame>
        <p:nvGraphicFramePr>
          <p:cNvPr id="10" name="Table 9"/>
          <p:cNvGraphicFramePr>
            <a:graphicFrameLocks noGrp="1"/>
          </p:cNvGraphicFramePr>
          <p:nvPr/>
        </p:nvGraphicFramePr>
        <p:xfrm>
          <a:off x="530352" y="3395980"/>
          <a:ext cx="11130990" cy="1479296"/>
        </p:xfrm>
        <a:graphic>
          <a:graphicData uri="http://schemas.openxmlformats.org/drawingml/2006/table">
            <a:tbl>
              <a:tblPr firstRow="0" bandRow="0">
                <a:tableStyleId>{2D5ABB26-0587-4C30-8999-92F81FD0307C}</a:tableStyleId>
              </a:tblPr>
              <a:tblGrid>
                <a:gridCol w="6063832"/>
                <a:gridCol w="5067158"/>
              </a:tblGrid>
              <a:tr h="369824">
                <a:tc>
                  <a:txBody>
                    <a:bodyPr/>
                    <a:lstStyle/>
                    <a:p>
                      <a:r>
                        <a:rPr sz="1450" b="1" i="0">
                          <a:solidFill>
                            <a:srgbClr val="FFFFFF"/>
                          </a:solidFill>
                          <a:latin typeface="Calibri"/>
                        </a:rPr>
                        <a:t>Select this cell, then View, Freeze Panes, Freeze Panes</a:t>
                      </a:r>
                    </a:p>
                  </a:txBody>
                  <a:tcPr marL="101600" marR="101600" marT="38100" marB="38100" anchor="ctr">
                    <a:solidFill>
                      <a:srgbClr val="1A0F5C"/>
                    </a:solidFill>
                  </a:tcPr>
                </a:tc>
                <a:tc>
                  <a:txBody>
                    <a:bodyPr/>
                    <a:lstStyle/>
                    <a:p>
                      <a:r>
                        <a:rPr sz="1450" b="1" i="0">
                          <a:solidFill>
                            <a:srgbClr val="FFFFFF"/>
                          </a:solidFill>
                          <a:latin typeface="Calibri"/>
                        </a:rPr>
                        <a:t>What stays on screen while the rest scrolls</a:t>
                      </a:r>
                    </a:p>
                  </a:txBody>
                  <a:tcPr marL="101600" marR="101600" marT="38100" marB="38100" anchor="ctr">
                    <a:solidFill>
                      <a:srgbClr val="1A0F5C"/>
                    </a:solidFill>
                  </a:tcPr>
                </a:tc>
              </a:tr>
              <a:tr h="369824">
                <a:tc>
                  <a:txBody>
                    <a:bodyPr/>
                    <a:lstStyle/>
                    <a:p>
                      <a:r>
                        <a:rPr sz="1400" b="0" i="0">
                          <a:solidFill>
                            <a:srgbClr val="1A1440"/>
                          </a:solidFill>
                          <a:latin typeface="Calibri"/>
                        </a:rPr>
                        <a:t>A2</a:t>
                      </a:r>
                    </a:p>
                  </a:txBody>
                  <a:tcPr marL="101600" marR="101600" marT="38100" marB="38100" anchor="ctr">
                    <a:solidFill>
                      <a:srgbClr val="FFFFFF"/>
                    </a:solidFill>
                  </a:tcPr>
                </a:tc>
                <a:tc>
                  <a:txBody>
                    <a:bodyPr/>
                    <a:lstStyle/>
                    <a:p>
                      <a:r>
                        <a:rPr sz="1400" b="0" i="0">
                          <a:solidFill>
                            <a:srgbClr val="1A1440"/>
                          </a:solidFill>
                          <a:latin typeface="Calibri"/>
                        </a:rPr>
                        <a:t>Row 1, the six column names</a:t>
                      </a:r>
                    </a:p>
                  </a:txBody>
                  <a:tcPr marL="101600" marR="101600" marT="38100" marB="38100" anchor="ctr">
                    <a:solidFill>
                      <a:srgbClr val="FFFFFF"/>
                    </a:solidFill>
                  </a:tcPr>
                </a:tc>
              </a:tr>
              <a:tr h="369824">
                <a:tc>
                  <a:txBody>
                    <a:bodyPr/>
                    <a:lstStyle/>
                    <a:p>
                      <a:r>
                        <a:rPr sz="1400" b="0" i="0">
                          <a:solidFill>
                            <a:srgbClr val="1A1440"/>
                          </a:solidFill>
                          <a:latin typeface="Calibri"/>
                        </a:rPr>
                        <a:t>B1</a:t>
                      </a:r>
                    </a:p>
                  </a:txBody>
                  <a:tcPr marL="101600" marR="101600" marT="38100" marB="38100" anchor="ctr">
                    <a:solidFill>
                      <a:srgbClr val="F4F2FA"/>
                    </a:solidFill>
                  </a:tcPr>
                </a:tc>
                <a:tc>
                  <a:txBody>
                    <a:bodyPr/>
                    <a:lstStyle/>
                    <a:p>
                      <a:r>
                        <a:rPr sz="1400" b="0" i="0">
                          <a:solidFill>
                            <a:srgbClr val="1A1440"/>
                          </a:solidFill>
                          <a:latin typeface="Calibri"/>
                        </a:rPr>
                        <a:t>Column A, the 300 customer ids</a:t>
                      </a:r>
                    </a:p>
                  </a:txBody>
                  <a:tcPr marL="101600" marR="101600" marT="38100" marB="38100" anchor="ctr">
                    <a:solidFill>
                      <a:srgbClr val="F4F2FA"/>
                    </a:solidFill>
                  </a:tcPr>
                </a:tc>
              </a:tr>
              <a:tr h="369824">
                <a:tc>
                  <a:txBody>
                    <a:bodyPr/>
                    <a:lstStyle/>
                    <a:p>
                      <a:r>
                        <a:rPr sz="1400" b="0" i="0">
                          <a:solidFill>
                            <a:srgbClr val="1A1440"/>
                          </a:solidFill>
                          <a:latin typeface="Calibri"/>
                        </a:rPr>
                        <a:t>B2</a:t>
                      </a:r>
                    </a:p>
                  </a:txBody>
                  <a:tcPr marL="101600" marR="101600" marT="38100" marB="38100" anchor="ctr">
                    <a:solidFill>
                      <a:srgbClr val="FFFFFF"/>
                    </a:solidFill>
                  </a:tcPr>
                </a:tc>
                <a:tc>
                  <a:txBody>
                    <a:bodyPr/>
                    <a:lstStyle/>
                    <a:p>
                      <a:r>
                        <a:rPr sz="1400" b="0" i="0">
                          <a:solidFill>
                            <a:srgbClr val="1A1440"/>
                          </a:solidFill>
                          <a:latin typeface="Calibri"/>
                        </a:rPr>
                        <a:t>Row 1 and column A together</a:t>
                      </a:r>
                    </a:p>
                  </a:txBody>
                  <a:tcPr marL="101600" marR="101600" marT="38100" marB="38100" anchor="ctr">
                    <a:solidFill>
                      <a:srgbClr val="FFFFFF"/>
                    </a:solidFill>
                  </a:tcPr>
                </a:tc>
              </a:tr>
            </a:tbl>
          </a:graphicData>
        </a:graphic>
      </p:graphicFrame>
      <p:sp>
        <p:nvSpPr>
          <p:cNvPr id="11" name="Rounded Rectangle 10"/>
          <p:cNvSpPr/>
          <p:nvPr/>
        </p:nvSpPr>
        <p:spPr>
          <a:xfrm>
            <a:off x="530352" y="51313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2593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250180"/>
            <a:ext cx="10564063" cy="624840"/>
          </a:xfrm>
          <a:prstGeom prst="rect">
            <a:avLst/>
          </a:prstGeom>
          <a:noFill/>
        </p:spPr>
        <p:txBody>
          <a:bodyPr wrap="square" anchor="ctr" lIns="0" rIns="0" tIns="0" bIns="0">
            <a:spAutoFit/>
          </a:bodyPr>
          <a:lstStyle/>
          <a:p>
            <a:r>
              <a:rPr sz="1500" b="1">
                <a:solidFill>
                  <a:srgbClr val="5B3FD6"/>
                </a:solidFill>
                <a:latin typeface="Calibri"/>
              </a:rPr>
              <a:t>Check yourself. </a:t>
            </a:r>
            <a:r>
              <a:rPr sz="1500" b="0" i="0">
                <a:solidFill>
                  <a:srgbClr val="1A1440"/>
                </a:solidFill>
                <a:latin typeface="Calibri"/>
              </a:rPr>
              <a:t>On an invented sheet with a title in row 1 and column names in row 2, which cell freezes both rows and no column? a) B2; b) C1; c) A3; d) B3.</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S9a  ·  13 / 82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segment carries the revenue?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With segment in Rows and revenue in Values, whose bar is longest?</a:t>
            </a:r>
          </a:p>
        </p:txBody>
      </p:sp>
      <p:pic>
        <p:nvPicPr>
          <p:cNvPr id="9" name="mermaid diagram" descr="a17305ff49394bea.png"/>
          <p:cNvPicPr>
            <a:picLocks noChangeAspect="1"/>
          </p:cNvPicPr>
          <p:nvPr/>
        </p:nvPicPr>
        <p:blipFill>
          <a:blip r:embed="rId5"/>
          <a:stretch>
            <a:fillRect/>
          </a:stretch>
        </p:blipFill>
        <p:spPr>
          <a:xfrm>
            <a:off x="3116903" y="1904333"/>
            <a:ext cx="5957887" cy="3386137"/>
          </a:xfrm>
          <a:prstGeom prst="rect">
            <a:avLst/>
          </a:prstGeom>
        </p:spPr>
      </p:pic>
      <p:sp>
        <p:nvSpPr>
          <p:cNvPr id="10" name="Rounded Rectangle 9"/>
          <p:cNvSpPr/>
          <p:nvPr/>
        </p:nvSpPr>
        <p:spPr>
          <a:xfrm>
            <a:off x="530352" y="5436774"/>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564790"/>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555646"/>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Which segment carries most of the revenue?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14 / 82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Business carries 99.1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pivot show, segment by segment?</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2885769"/>
                <a:gridCol w="2693142"/>
                <a:gridCol w="914400"/>
                <a:gridCol w="3723279"/>
                <a:gridCol w="914400"/>
              </a:tblGrid>
              <a:tr h="335280">
                <a:tc>
                  <a:txBody>
                    <a:bodyPr/>
                    <a:lstStyle/>
                    <a:p>
                      <a:r>
                        <a:rPr sz="1250" b="1" i="0">
                          <a:solidFill>
                            <a:srgbClr val="FFFFFF"/>
                          </a:solidFill>
                          <a:latin typeface="Calibri"/>
                        </a:rPr>
                        <a:t>Segment</a:t>
                      </a:r>
                    </a:p>
                  </a:txBody>
                  <a:tcPr marL="101600" marR="101600" marT="38100" marB="38100" anchor="ctr">
                    <a:solidFill>
                      <a:srgbClr val="1A0F5C"/>
                    </a:solidFill>
                  </a:tcPr>
                </a:tc>
                <a:tc>
                  <a:txBody>
                    <a:bodyPr/>
                    <a:lstStyle/>
                    <a:p>
                      <a:r>
                        <a:rPr sz="1250" b="1" i="0">
                          <a:solidFill>
                            <a:srgbClr val="FFFFFF"/>
                          </a:solidFill>
                          <a:latin typeface="Calibri"/>
                        </a:rPr>
                        <a:t>Customers</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Revenue</a:t>
                      </a:r>
                    </a:p>
                  </a:txBody>
                  <a:tcPr marL="101600" marR="101600" marT="38100" marB="38100" anchor="ctr">
                    <a:solidFill>
                      <a:srgbClr val="1A0F5C"/>
                    </a:solidFill>
                  </a:tcPr>
                </a:tc>
                <a:tc>
                  <a:txBody>
                    <a:bodyPr/>
                    <a:lstStyle/>
                    <a:p>
                      <a:r>
                        <a:rPr sz="1250" b="1" i="0">
                          <a:solidFill>
                            <a:srgbClr val="FFFFFF"/>
                          </a:solidFill>
                          <a:latin typeface="Calibri"/>
                        </a:rPr>
                        <a:t>Share</a:t>
                      </a:r>
                    </a:p>
                  </a:txBody>
                  <a:tcPr marL="101600" marR="101600" marT="38100" marB="38100" anchor="ctr">
                    <a:solidFill>
                      <a:srgbClr val="1A0F5C"/>
                    </a:solidFill>
                  </a:tcPr>
                </a:tc>
              </a:tr>
              <a:tr h="335280">
                <a:tc>
                  <a:txBody>
                    <a:bodyPr/>
                    <a:lstStyle/>
                    <a:p>
                      <a:r>
                        <a:rPr sz="1200" b="0" i="0">
                          <a:solidFill>
                            <a:srgbClr val="1A1440"/>
                          </a:solidFill>
                          <a:latin typeface="Calibri"/>
                        </a:rPr>
                        <a:t>Business</a:t>
                      </a:r>
                    </a:p>
                  </a:txBody>
                  <a:tcPr marL="101600" marR="101600" marT="38100" marB="38100" anchor="ctr">
                    <a:solidFill>
                      <a:srgbClr val="FFFFFF"/>
                    </a:solidFill>
                  </a:tcPr>
                </a:tc>
                <a:tc>
                  <a:txBody>
                    <a:bodyPr/>
                    <a:lstStyle/>
                    <a:p>
                      <a:r>
                        <a:rPr sz="1200" b="0" i="0">
                          <a:solidFill>
                            <a:srgbClr val="1A1440"/>
                          </a:solidFill>
                          <a:latin typeface="Calibri"/>
                        </a:rPr>
                        <a:t>39</a:t>
                      </a:r>
                    </a:p>
                  </a:txBody>
                  <a:tcPr marL="101600" marR="101600" marT="38100" marB="38100" anchor="ctr">
                    <a:solidFill>
                      <a:srgbClr val="FFFFFF"/>
                    </a:solidFill>
                  </a:tcPr>
                </a:tc>
                <a:tc>
                  <a:txBody>
                    <a:bodyPr/>
                    <a:lstStyle/>
                    <a:p>
                      <a:r>
                        <a:rPr sz="1200" b="0" i="0">
                          <a:solidFill>
                            <a:srgbClr val="1A1440"/>
                          </a:solidFill>
                          <a:latin typeface="Calibri"/>
                        </a:rPr>
                        <a:t>188</a:t>
                      </a:r>
                    </a:p>
                  </a:txBody>
                  <a:tcPr marL="101600" marR="101600" marT="38100" marB="38100" anchor="ctr">
                    <a:solidFill>
                      <a:srgbClr val="FFFFFF"/>
                    </a:solidFill>
                  </a:tcPr>
                </a:tc>
                <a:tc>
                  <a:txBody>
                    <a:bodyPr/>
                    <a:lstStyle/>
                    <a:p>
                      <a:r>
                        <a:rPr sz="1200" b="0" i="0">
                          <a:solidFill>
                            <a:srgbClr val="1A1440"/>
                          </a:solidFill>
                          <a:latin typeface="Calibri"/>
                        </a:rPr>
                        <a:t>Rs 19,65,99,040</a:t>
                      </a:r>
                    </a:p>
                  </a:txBody>
                  <a:tcPr marL="101600" marR="101600" marT="38100" marB="38100" anchor="ctr">
                    <a:solidFill>
                      <a:srgbClr val="FFFFFF"/>
                    </a:solidFill>
                  </a:tcPr>
                </a:tc>
                <a:tc>
                  <a:txBody>
                    <a:bodyPr/>
                    <a:lstStyle/>
                    <a:p>
                      <a:r>
                        <a:rPr sz="1200" b="0" i="0">
                          <a:solidFill>
                            <a:srgbClr val="1A1440"/>
                          </a:solidFill>
                          <a:latin typeface="Calibri"/>
                        </a:rPr>
                        <a:t>99.1%</a:t>
                      </a:r>
                    </a:p>
                  </a:txBody>
                  <a:tcPr marL="101600" marR="101600" marT="38100" marB="38100" anchor="ctr">
                    <a:solidFill>
                      <a:srgbClr val="FFFFFF"/>
                    </a:solidFill>
                  </a:tcPr>
                </a:tc>
              </a:tr>
              <a:tr h="335280">
                <a:tc>
                  <a:txBody>
                    <a:bodyPr/>
                    <a:lstStyle/>
                    <a:p>
                      <a:r>
                        <a:rPr sz="1200" b="0" i="0">
                          <a:solidFill>
                            <a:srgbClr val="1A1440"/>
                          </a:solidFill>
                          <a:latin typeface="Calibri"/>
                        </a:rPr>
                        <a:t>Retail-Core</a:t>
                      </a:r>
                    </a:p>
                  </a:txBody>
                  <a:tcPr marL="101600" marR="101600" marT="38100" marB="38100" anchor="ctr">
                    <a:solidFill>
                      <a:srgbClr val="F4F2FA"/>
                    </a:solidFill>
                  </a:tcPr>
                </a:tc>
                <a:tc>
                  <a:txBody>
                    <a:bodyPr/>
                    <a:lstStyle/>
                    <a:p>
                      <a:r>
                        <a:rPr sz="1200" b="0" i="0">
                          <a:solidFill>
                            <a:srgbClr val="1A1440"/>
                          </a:solidFill>
                          <a:latin typeface="Calibri"/>
                        </a:rPr>
                        <a:t>131</a:t>
                      </a:r>
                    </a:p>
                  </a:txBody>
                  <a:tcPr marL="101600" marR="101600" marT="38100" marB="38100" anchor="ctr">
                    <a:solidFill>
                      <a:srgbClr val="F4F2FA"/>
                    </a:solidFill>
                  </a:tcPr>
                </a:tc>
                <a:tc>
                  <a:txBody>
                    <a:bodyPr/>
                    <a:lstStyle/>
                    <a:p>
                      <a:r>
                        <a:rPr sz="1200" b="0" i="0">
                          <a:solidFill>
                            <a:srgbClr val="1A1440"/>
                          </a:solidFill>
                          <a:latin typeface="Calibri"/>
                        </a:rPr>
                        <a:t>392</a:t>
                      </a:r>
                    </a:p>
                  </a:txBody>
                  <a:tcPr marL="101600" marR="101600" marT="38100" marB="38100" anchor="ctr">
                    <a:solidFill>
                      <a:srgbClr val="F4F2FA"/>
                    </a:solidFill>
                  </a:tcPr>
                </a:tc>
                <a:tc>
                  <a:txBody>
                    <a:bodyPr/>
                    <a:lstStyle/>
                    <a:p>
                      <a:r>
                        <a:rPr sz="1200" b="0" i="0">
                          <a:solidFill>
                            <a:srgbClr val="1A1440"/>
                          </a:solidFill>
                          <a:latin typeface="Calibri"/>
                        </a:rPr>
                        <a:t>Rs 7,39,320</a:t>
                      </a:r>
                    </a:p>
                  </a:txBody>
                  <a:tcPr marL="101600" marR="101600" marT="38100" marB="38100" anchor="ctr">
                    <a:solidFill>
                      <a:srgbClr val="F4F2FA"/>
                    </a:solidFill>
                  </a:tcPr>
                </a:tc>
                <a:tc>
                  <a:txBody>
                    <a:bodyPr/>
                    <a:lstStyle/>
                    <a:p>
                      <a:r>
                        <a:rPr sz="1200" b="0" i="0">
                          <a:solidFill>
                            <a:srgbClr val="1A1440"/>
                          </a:solidFill>
                          <a:latin typeface="Calibri"/>
                        </a:rPr>
                        <a:t>0.4%</a:t>
                      </a:r>
                    </a:p>
                  </a:txBody>
                  <a:tcPr marL="101600" marR="101600" marT="38100" marB="38100" anchor="ctr">
                    <a:solidFill>
                      <a:srgbClr val="F4F2FA"/>
                    </a:solidFill>
                  </a:tcPr>
                </a:tc>
              </a:tr>
              <a:tr h="335280">
                <a:tc>
                  <a:txBody>
                    <a:bodyPr/>
                    <a:lstStyle/>
                    <a:p>
                      <a:r>
                        <a:rPr sz="1200" b="0" i="0">
                          <a:solidFill>
                            <a:srgbClr val="1A1440"/>
                          </a:solidFill>
                          <a:latin typeface="Calibri"/>
                        </a:rPr>
                        <a:t>Retail-Plus</a:t>
                      </a:r>
                    </a:p>
                  </a:txBody>
                  <a:tcPr marL="101600" marR="101600" marT="38100" marB="38100" anchor="ctr">
                    <a:solidFill>
                      <a:srgbClr val="FFFFFF"/>
                    </a:solidFill>
                  </a:tcPr>
                </a:tc>
                <a:tc>
                  <a:txBody>
                    <a:bodyPr/>
                    <a:lstStyle/>
                    <a:p>
                      <a:r>
                        <a:rPr sz="1200" b="0" i="0">
                          <a:solidFill>
                            <a:srgbClr val="1A1440"/>
                          </a:solidFill>
                          <a:latin typeface="Calibri"/>
                        </a:rPr>
                        <a:t>106</a:t>
                      </a:r>
                    </a:p>
                  </a:txBody>
                  <a:tcPr marL="101600" marR="101600" marT="38100" marB="38100" anchor="ctr">
                    <a:solidFill>
                      <a:srgbClr val="FFFFFF"/>
                    </a:solidFill>
                  </a:tcPr>
                </a:tc>
                <a:tc>
                  <a:txBody>
                    <a:bodyPr/>
                    <a:lstStyle/>
                    <a:p>
                      <a:r>
                        <a:rPr sz="1200" b="0" i="0">
                          <a:solidFill>
                            <a:srgbClr val="1A1440"/>
                          </a:solidFill>
                          <a:latin typeface="Calibri"/>
                        </a:rPr>
                        <a:t>349</a:t>
                      </a:r>
                    </a:p>
                  </a:txBody>
                  <a:tcPr marL="101600" marR="101600" marT="38100" marB="38100" anchor="ctr">
                    <a:solidFill>
                      <a:srgbClr val="FFFFFF"/>
                    </a:solidFill>
                  </a:tcPr>
                </a:tc>
                <a:tc>
                  <a:txBody>
                    <a:bodyPr/>
                    <a:lstStyle/>
                    <a:p>
                      <a:r>
                        <a:rPr sz="1200" b="0" i="0">
                          <a:solidFill>
                            <a:srgbClr val="1A1440"/>
                          </a:solidFill>
                          <a:latin typeface="Calibri"/>
                        </a:rPr>
                        <a:t>Rs 9,77,410</a:t>
                      </a:r>
                    </a:p>
                  </a:txBody>
                  <a:tcPr marL="101600" marR="101600" marT="38100" marB="38100" anchor="ctr">
                    <a:solidFill>
                      <a:srgbClr val="FFFFFF"/>
                    </a:solidFill>
                  </a:tcPr>
                </a:tc>
                <a:tc>
                  <a:txBody>
                    <a:bodyPr/>
                    <a:lstStyle/>
                    <a:p>
                      <a:r>
                        <a:rPr sz="1200" b="0" i="0">
                          <a:solidFill>
                            <a:srgbClr val="1A1440"/>
                          </a:solidFill>
                          <a:latin typeface="Calibri"/>
                        </a:rPr>
                        <a:t>0.5%</a:t>
                      </a:r>
                    </a:p>
                  </a:txBody>
                  <a:tcPr marL="101600" marR="101600" marT="38100" marB="38100" anchor="ctr">
                    <a:solidFill>
                      <a:srgbClr val="FFFFFF"/>
                    </a:solidFill>
                  </a:tcPr>
                </a:tc>
              </a:tr>
              <a:tr h="335280">
                <a:tc>
                  <a:txBody>
                    <a:bodyPr/>
                    <a:lstStyle/>
                    <a:p>
                      <a:r>
                        <a:rPr sz="1200" b="0" i="0">
                          <a:solidFill>
                            <a:srgbClr val="1A1440"/>
                          </a:solidFill>
                          <a:latin typeface="Calibri"/>
                        </a:rPr>
                        <a:t>Student</a:t>
                      </a:r>
                    </a:p>
                  </a:txBody>
                  <a:tcPr marL="101600" marR="101600" marT="38100" marB="38100" anchor="ctr">
                    <a:solidFill>
                      <a:srgbClr val="F4F2FA"/>
                    </a:solidFill>
                  </a:tcPr>
                </a:tc>
                <a:tc>
                  <a:txBody>
                    <a:bodyPr/>
                    <a:lstStyle/>
                    <a:p>
                      <a:r>
                        <a:rPr sz="1200" b="0" i="0">
                          <a:solidFill>
                            <a:srgbClr val="1A1440"/>
                          </a:solidFill>
                          <a:latin typeface="Calibri"/>
                        </a:rPr>
                        <a:t>24</a:t>
                      </a:r>
                    </a:p>
                  </a:txBody>
                  <a:tcPr marL="101600" marR="101600" marT="38100" marB="38100" anchor="ctr">
                    <a:solidFill>
                      <a:srgbClr val="F4F2FA"/>
                    </a:solidFill>
                  </a:tcPr>
                </a:tc>
                <a:tc>
                  <a:txBody>
                    <a:bodyPr/>
                    <a:lstStyle/>
                    <a:p>
                      <a:r>
                        <a:rPr sz="1200" b="0" i="0">
                          <a:solidFill>
                            <a:srgbClr val="1A1440"/>
                          </a:solidFill>
                          <a:latin typeface="Calibri"/>
                        </a:rPr>
                        <a:t>65</a:t>
                      </a:r>
                    </a:p>
                  </a:txBody>
                  <a:tcPr marL="101600" marR="101600" marT="38100" marB="38100" anchor="ctr">
                    <a:solidFill>
                      <a:srgbClr val="F4F2FA"/>
                    </a:solidFill>
                  </a:tcPr>
                </a:tc>
                <a:tc>
                  <a:txBody>
                    <a:bodyPr/>
                    <a:lstStyle/>
                    <a:p>
                      <a:r>
                        <a:rPr sz="1200" b="0" i="0">
                          <a:solidFill>
                            <a:srgbClr val="1A1440"/>
                          </a:solidFill>
                          <a:latin typeface="Calibri"/>
                        </a:rPr>
                        <a:t>Rs 62,490</a:t>
                      </a:r>
                    </a:p>
                  </a:txBody>
                  <a:tcPr marL="101600" marR="101600" marT="38100" marB="38100" anchor="ctr">
                    <a:solidFill>
                      <a:srgbClr val="F4F2FA"/>
                    </a:solidFill>
                  </a:tcPr>
                </a:tc>
                <a:tc>
                  <a:txBody>
                    <a:bodyPr/>
                    <a:lstStyle/>
                    <a:p>
                      <a:r>
                        <a:rPr sz="1200" b="0" i="0">
                          <a:solidFill>
                            <a:srgbClr val="1A1440"/>
                          </a:solidFill>
                          <a:latin typeface="Calibri"/>
                        </a:rPr>
                        <a:t>0.0%</a:t>
                      </a:r>
                    </a:p>
                  </a:txBody>
                  <a:tcPr marL="101600" marR="101600" marT="38100" marB="38100" anchor="ctr">
                    <a:solidFill>
                      <a:srgbClr val="F4F2FA"/>
                    </a:solidFill>
                  </a:tcPr>
                </a:tc>
              </a:tr>
            </a:tbl>
          </a:graphicData>
        </a:graphic>
      </p:graphicFrame>
      <p:sp>
        <p:nvSpPr>
          <p:cNvPr id="10" name="TextBox 9"/>
          <p:cNvSpPr txBox="1"/>
          <p:nvPr/>
        </p:nvSpPr>
        <p:spPr>
          <a:xfrm>
            <a:off x="530352" y="388924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Thirty-nine corporate buyers carry the half-year, so any company-wide number on the page is a Business number, and a consumer segment can fall by a third without moving it.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15 / 82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leaf separates Retail-Plus from Retail-Core?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Retail-Plus member spends more across the half-year; which leaf of the tree says why?</a:t>
            </a:r>
          </a:p>
        </p:txBody>
      </p:sp>
      <p:pic>
        <p:nvPicPr>
          <p:cNvPr id="9" name="mermaid diagram" descr="bdad9074b09b49f4.png"/>
          <p:cNvPicPr>
            <a:picLocks noChangeAspect="1"/>
          </p:cNvPicPr>
          <p:nvPr/>
        </p:nvPicPr>
        <p:blipFill>
          <a:blip r:embed="rId5"/>
          <a:stretch>
            <a:fillRect/>
          </a:stretch>
        </p:blipFill>
        <p:spPr>
          <a:xfrm>
            <a:off x="2859728" y="1956816"/>
            <a:ext cx="6472237" cy="2628900"/>
          </a:xfrm>
          <a:prstGeom prst="rect">
            <a:avLst/>
          </a:prstGeom>
        </p:spPr>
      </p:pic>
      <p:sp>
        <p:nvSpPr>
          <p:cNvPr id="10" name="Rounded Rectangle 9"/>
          <p:cNvSpPr/>
          <p:nvPr/>
        </p:nvSpPr>
        <p:spPr>
          <a:xfrm>
            <a:off x="530352" y="473202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6003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50892"/>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Which leaf explains most of the gap in revenue per member?</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16 / 82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basket, 48.5 percent bigger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leaves say, with Retail-Core at 100?</a:t>
            </a:r>
          </a:p>
        </p:txBody>
      </p:sp>
      <p:pic>
        <p:nvPicPr>
          <p:cNvPr id="9" name="mermaid diagram" descr="4816f919ba199de7.png"/>
          <p:cNvPicPr>
            <a:picLocks noChangeAspect="1"/>
          </p:cNvPicPr>
          <p:nvPr/>
        </p:nvPicPr>
        <p:blipFill>
          <a:blip r:embed="rId5"/>
          <a:stretch>
            <a:fillRect/>
          </a:stretch>
        </p:blipFill>
        <p:spPr>
          <a:xfrm>
            <a:off x="2981172" y="1956816"/>
            <a:ext cx="6229350" cy="2714625"/>
          </a:xfrm>
          <a:prstGeom prst="rect">
            <a:avLst/>
          </a:prstGeom>
        </p:spPr>
      </p:pic>
      <p:sp>
        <p:nvSpPr>
          <p:cNvPr id="10" name="TextBox 9"/>
          <p:cNvSpPr txBox="1"/>
          <p:nvPr/>
        </p:nvSpPr>
        <p:spPr>
          <a:xfrm>
            <a:off x="530352" y="481774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A Retail-Plus member spends Rs 9,221 across the half-year against Retail-Core's Rs 5,644, 63 percent more: orders per customer are 10 percent higher, revenue per order 48.5 percent higher. Each tree multiplies back to its revenue: 106 times 3.29 times Rs 2,801 is Rs 9.77 lakh.</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17 / 82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a leaf averaged per customer say?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when a per-customer ratio column is dragged into the pivot?</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5503498"/>
                <a:gridCol w="5627492"/>
              </a:tblGrid>
              <a:tr h="369824">
                <a:tc>
                  <a:txBody>
                    <a:bodyPr/>
                    <a:lstStyle/>
                    <a:p>
                      <a:r>
                        <a:rPr sz="1450" b="1" i="0">
                          <a:solidFill>
                            <a:srgbClr val="FFFFFF"/>
                          </a:solidFill>
                          <a:latin typeface="Calibri"/>
                        </a:rPr>
                        <a:t>The move</a:t>
                      </a:r>
                    </a:p>
                  </a:txBody>
                  <a:tcPr marL="101600" marR="101600" marT="38100" marB="38100" anchor="ctr">
                    <a:solidFill>
                      <a:srgbClr val="1A0F5C"/>
                    </a:solidFill>
                  </a:tcPr>
                </a:tc>
                <a:tc>
                  <a:txBody>
                    <a:bodyPr/>
                    <a:lstStyle/>
                    <a:p>
                      <a:r>
                        <a:rPr sz="1450" b="1" i="0">
                          <a:solidFill>
                            <a:srgbClr val="FFFFFF"/>
                          </a:solidFill>
                          <a:latin typeface="Calibri"/>
                        </a:rPr>
                        <a:t>What the pivot shows for Business</a:t>
                      </a:r>
                    </a:p>
                  </a:txBody>
                  <a:tcPr marL="101600" marR="101600" marT="38100" marB="38100" anchor="ctr">
                    <a:solidFill>
                      <a:srgbClr val="1A0F5C"/>
                    </a:solidFill>
                  </a:tcPr>
                </a:tc>
              </a:tr>
              <a:tr h="369824">
                <a:tc>
                  <a:txBody>
                    <a:bodyPr/>
                    <a:lstStyle/>
                    <a:p>
                      <a:r>
                        <a:rPr sz="1400" b="0" i="0">
                          <a:solidFill>
                            <a:srgbClr val="1A1440"/>
                          </a:solidFill>
                          <a:latin typeface="Calibri"/>
                        </a:rPr>
                        <a:t>Drag the per-customer column into Values</a:t>
                      </a:r>
                    </a:p>
                  </a:txBody>
                  <a:tcPr marL="101600" marR="101600" marT="38100" marB="38100" anchor="ctr">
                    <a:solidFill>
                      <a:srgbClr val="FFFFFF"/>
                    </a:solidFill>
                  </a:tcPr>
                </a:tc>
                <a:tc>
                  <a:txBody>
                    <a:bodyPr/>
                    <a:lstStyle/>
                    <a:p>
                      <a:r>
                        <a:rPr sz="1400" b="0" i="0">
                          <a:solidFill>
                            <a:srgbClr val="1A1440"/>
                          </a:solidFill>
                          <a:latin typeface="Calibri"/>
                        </a:rPr>
                        <a:t>Sum of it: Rs 4,55,04,669, plainly nonsense</a:t>
                      </a:r>
                    </a:p>
                  </a:txBody>
                  <a:tcPr marL="101600" marR="101600" marT="38100" marB="38100" anchor="ctr">
                    <a:solidFill>
                      <a:srgbClr val="FFFFFF"/>
                    </a:solidFill>
                  </a:tcPr>
                </a:tc>
              </a:tr>
              <a:tr h="369824">
                <a:tc>
                  <a:txBody>
                    <a:bodyPr/>
                    <a:lstStyle/>
                    <a:p>
                      <a:r>
                        <a:rPr sz="1400" b="0" i="0">
                          <a:solidFill>
                            <a:srgbClr val="1A1440"/>
                          </a:solidFill>
                          <a:latin typeface="Calibri"/>
                        </a:rPr>
                        <a:t>Switch the field to Average</a:t>
                      </a:r>
                    </a:p>
                  </a:txBody>
                  <a:tcPr marL="101600" marR="101600" marT="38100" marB="38100" anchor="ctr">
                    <a:solidFill>
                      <a:srgbClr val="F4F2FA"/>
                    </a:solidFill>
                  </a:tcPr>
                </a:tc>
                <a:tc>
                  <a:txBody>
                    <a:bodyPr/>
                    <a:lstStyle/>
                    <a:p>
                      <a:r>
                        <a:rPr sz="1400" b="0" i="0">
                          <a:solidFill>
                            <a:srgbClr val="1A1440"/>
                          </a:solidFill>
                          <a:latin typeface="Calibri"/>
                        </a:rPr>
                        <a:t>?</a:t>
                      </a:r>
                    </a:p>
                  </a:txBody>
                  <a:tcPr marL="101600" marR="101600" marT="38100" marB="38100" anchor="ctr">
                    <a:solidFill>
                      <a:srgbClr val="F4F2FA"/>
                    </a:solidFill>
                  </a:tcPr>
                </a:tc>
              </a:tr>
              <a:tr h="369824">
                <a:tc>
                  <a:txBody>
                    <a:bodyPr/>
                    <a:lstStyle/>
                    <a:p>
                      <a:r>
                        <a:rPr sz="1400" b="0" i="0">
                          <a:solidFill>
                            <a:srgbClr val="1A1440"/>
                          </a:solidFill>
                          <a:latin typeface="Calibri"/>
                        </a:rPr>
                        <a:t>Revenue divided by orders, the tree's leaf</a:t>
                      </a:r>
                    </a:p>
                  </a:txBody>
                  <a:tcPr marL="101600" marR="101600" marT="38100" marB="38100" anchor="ctr">
                    <a:solidFill>
                      <a:srgbClr val="FFFFFF"/>
                    </a:solidFill>
                  </a:tcPr>
                </a:tc>
                <a:tc>
                  <a:txBody>
                    <a:bodyPr/>
                    <a:lstStyle/>
                    <a:p>
                      <a:r>
                        <a:rPr sz="1400" b="0" i="0">
                          <a:solidFill>
                            <a:srgbClr val="1A1440"/>
                          </a:solidFill>
                          <a:latin typeface="Calibri"/>
                        </a:rPr>
                        <a:t>Rs 10,45,740</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The Average reads about: a) exactly Rs 10,45,740; b) a little below it; c) about 12 percent above it; d) about twice it.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18 / 82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11,66,786, and the tree fails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the averaged leaf the plausible wrong answer, and what catches it?</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11,66,786</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AVERAGED PER CUSTOMER</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what the pivot shows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10,45,740</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 OVER ORDERS</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tree's leaf</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2.28 cr</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MULTIPLY-BACK ERROR</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188 orders times the averaged leaf</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11.6 percent high. </a:t>
            </a:r>
            <a:r>
              <a:rPr sz="1600" b="1" i="0">
                <a:solidFill>
                  <a:srgbClr val="1A1440"/>
                </a:solidFill>
                <a:latin typeface="Calibri"/>
              </a:rPr>
              <a:t>Why it is wrong.</a:t>
            </a:r>
            <a:r>
              <a:rPr sz="1600" b="0" i="0">
                <a:solidFill>
                  <a:srgbClr val="1A1440"/>
                </a:solidFill>
                <a:latin typeface="Calibri"/>
              </a:rPr>
              <a:t> The average gives each customer one vote, and Business baskets range twentyfold, Rs 3.34 lakh to Rs 66.98 lakh, so 39 times 4.82 times Rs 11.67 lakh rebuilds Business at Rs 21.94 crore against the Rs 19.66 crore it sold, and the director who checks stops trusting the page.</a:t>
            </a:r>
          </a:p>
        </p:txBody>
      </p:sp>
      <p:sp>
        <p:nvSpPr>
          <p:cNvPr id="22" name="Rounded Rectangle 21"/>
          <p:cNvSpPr/>
          <p:nvPr/>
        </p:nvSpPr>
        <p:spPr>
          <a:xfrm>
            <a:off x="530352" y="487273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500075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991608"/>
            <a:ext cx="10564063" cy="358140"/>
          </a:xfrm>
          <a:prstGeom prst="rect">
            <a:avLst/>
          </a:prstGeom>
          <a:noFill/>
        </p:spPr>
        <p:txBody>
          <a:bodyPr wrap="square" anchor="ctr" lIns="0" rIns="0" tIns="0" bIns="0">
            <a:spAutoFit/>
          </a:bodyPr>
          <a:lstStyle/>
          <a:p>
            <a:r>
              <a:rPr sz="1500" b="1">
                <a:solidFill>
                  <a:srgbClr val="5B3FD6"/>
                </a:solidFill>
                <a:latin typeface="Calibri"/>
              </a:rPr>
              <a:t>The check that catches it. </a:t>
            </a:r>
            <a:r>
              <a:rPr sz="1500" b="0" i="0">
                <a:solidFill>
                  <a:srgbClr val="1A1440"/>
                </a:solidFill>
                <a:latin typeface="Calibri"/>
              </a:rPr>
              <a:t>Multiply the tree back to its revenue before it goes on a page.</a:t>
            </a:r>
          </a:p>
        </p:txBody>
      </p:sp>
      <p:sp>
        <p:nvSpPr>
          <p:cNvPr id="25" name="Oval 2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27" name="Oval 2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9" name="Oval 2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1" name="Oval 30"/>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3" name="Oval 3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19 / 82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a ratio of the pivot's own sums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the leaf is revenue divided by orders?</a:t>
            </a:r>
          </a:p>
        </p:txBody>
      </p:sp>
      <p:pic>
        <p:nvPicPr>
          <p:cNvPr id="9" name="mermaid diagram" descr="1bed03f22167b87e.png"/>
          <p:cNvPicPr>
            <a:picLocks noChangeAspect="1"/>
          </p:cNvPicPr>
          <p:nvPr/>
        </p:nvPicPr>
        <p:blipFill>
          <a:blip r:embed="rId5"/>
          <a:stretch>
            <a:fillRect/>
          </a:stretch>
        </p:blipFill>
        <p:spPr>
          <a:xfrm>
            <a:off x="2202503" y="1956816"/>
            <a:ext cx="7786687" cy="1800225"/>
          </a:xfrm>
          <a:prstGeom prst="rect">
            <a:avLst/>
          </a:prstGeom>
        </p:spPr>
      </p:pic>
      <p:sp>
        <p:nvSpPr>
          <p:cNvPr id="10" name="TextBox 9"/>
          <p:cNvSpPr txBox="1"/>
          <p:nvPr/>
        </p:nvSpPr>
        <p:spPr>
          <a:xfrm>
            <a:off x="530352" y="390334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formula beside the pivot, or a calculated field =revenue/orders: "Formulas for calculated fields operate on the sum of the underlying data" (Microsoft Support, checked 30 September 2026). </a:t>
            </a:r>
            <a:r>
              <a:rPr sz="1600" b="1" i="0">
                <a:solidFill>
                  <a:srgbClr val="1A1440"/>
                </a:solidFill>
                <a:latin typeface="Calibri"/>
              </a:rPr>
              <a:t>What changed.</a:t>
            </a:r>
            <a:r>
              <a:rPr sz="1600" b="0" i="0">
                <a:solidFill>
                  <a:srgbClr val="1A1440"/>
                </a:solidFill>
                <a:latin typeface="Calibri"/>
              </a:rPr>
              <a:t> Business falls from Rs 11,66,786 to Rs 10,45,740 an order and the tree multiplies back exactly.</a:t>
            </a:r>
          </a:p>
        </p:txBody>
      </p:sp>
      <p:sp>
        <p:nvSpPr>
          <p:cNvPr id="11" name="Rounded Rectangle 10"/>
          <p:cNvSpPr/>
          <p:nvPr/>
        </p:nvSpPr>
        <p:spPr>
          <a:xfrm>
            <a:off x="530352" y="5079873"/>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20788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198744"/>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Can this table split Q1 from Q2? a) split on the last order date; b) halve each customer's revenue; c) it cannot; d) the orders column counts per quarter.</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20 / 82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it cannot; the last order date is a recency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would the split on the last order date put in Q2?</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17.88 cr</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SPLIT ON LAST ORDER</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against Monday's Rs 9.84 crore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1.96 cr</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SPLIT ON LAST ORDER</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against Monday's Rs 10.00 crore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0</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QUARTER COLUMNS</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in the table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A customer who bought in both quarters moves the whole half-year into Q2 by buying once in September. The quarter split needs one row per order, which only the raw export carries: chapter 2.</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8" name="Oval 27"/>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0" name="Oval 2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21 / 82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a plain count of the CSV</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method that never touches the pivot reach the same twelve cells?</a:t>
            </a:r>
          </a:p>
        </p:txBody>
      </p:sp>
      <p:pic>
        <p:nvPicPr>
          <p:cNvPr id="9" name="mermaid diagram" descr="370d12ad3b428249.png"/>
          <p:cNvPicPr>
            <a:picLocks noChangeAspect="1"/>
          </p:cNvPicPr>
          <p:nvPr/>
        </p:nvPicPr>
        <p:blipFill>
          <a:blip r:embed="rId5"/>
          <a:stretch>
            <a:fillRect/>
          </a:stretch>
        </p:blipFill>
        <p:spPr>
          <a:xfrm>
            <a:off x="1366685" y="1956816"/>
            <a:ext cx="9458325" cy="871537"/>
          </a:xfrm>
          <a:prstGeom prst="rect">
            <a:avLst/>
          </a:prstGeom>
        </p:spPr>
      </p:pic>
      <p:sp>
        <p:nvSpPr>
          <p:cNvPr id="10" name="TextBox 9"/>
          <p:cNvSpPr txBox="1"/>
          <p:nvPr/>
        </p:nvSpPr>
        <p:spPr>
          <a:xfrm>
            <a:off x="530352" y="2974657"/>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Excel the same second route is a COUNTIF and two SUMIFS per segment beside the pivot; in the notebook, Week 1 Monday's accumulator over the CSV's text. Customers, orders and revenue agree in all four segments.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22 / 82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Business carries it; the basket separates the tiers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segment carries the revenue, and which leaf separates the tiers?</a:t>
            </a:r>
          </a:p>
        </p:txBody>
      </p:sp>
      <p:graphicFrame>
        <p:nvGraphicFramePr>
          <p:cNvPr id="9" name="Table 8"/>
          <p:cNvGraphicFramePr>
            <a:graphicFrameLocks noGrp="1"/>
          </p:cNvGraphicFramePr>
          <p:nvPr/>
        </p:nvGraphicFramePr>
        <p:xfrm>
          <a:off x="530352" y="1794764"/>
          <a:ext cx="11130991" cy="2226056"/>
        </p:xfrm>
        <a:graphic>
          <a:graphicData uri="http://schemas.openxmlformats.org/drawingml/2006/table">
            <a:tbl>
              <a:tblPr firstRow="0" bandRow="0">
                <a:tableStyleId>{2D5ABB26-0587-4C30-8999-92F81FD0307C}</a:tableStyleId>
              </a:tblPr>
              <a:tblGrid>
                <a:gridCol w="2745326"/>
                <a:gridCol w="8385665"/>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Which way?</a:t>
                      </a:r>
                    </a:p>
                  </a:txBody>
                  <a:tcPr marL="101600" marR="101600" marT="38100" marB="38100" anchor="ctr">
                    <a:solidFill>
                      <a:srgbClr val="FFFFFF"/>
                    </a:solidFill>
                  </a:tcPr>
                </a:tc>
                <a:tc>
                  <a:txBody>
                    <a:bodyPr/>
                    <a:lstStyle/>
                    <a:p>
                      <a:r>
                        <a:rPr sz="1100" b="0" i="0">
                          <a:solidFill>
                            <a:srgbClr val="1A1440"/>
                          </a:solidFill>
                          <a:latin typeface="Calibri"/>
                        </a:rPr>
                        <a:t>The PivotTable, each leaf beside it from its sums</a:t>
                      </a:r>
                    </a:p>
                  </a:txBody>
                  <a:tcPr marL="101600" marR="101600" marT="38100" marB="38100" anchor="ctr">
                    <a:solidFill>
                      <a:srgbClr val="FFFFFF"/>
                    </a:solidFill>
                  </a:tcPr>
                </a:tc>
              </a:tr>
              <a:tr h="318008">
                <a:tc>
                  <a:txBody>
                    <a:bodyPr/>
                    <a:lstStyle/>
                    <a:p>
                      <a:r>
                        <a:rPr sz="1100" b="0" i="0">
                          <a:solidFill>
                            <a:srgbClr val="1A1440"/>
                          </a:solidFill>
                          <a:latin typeface="Calibri"/>
                        </a:rPr>
                        <a:t>One row?</a:t>
                      </a:r>
                    </a:p>
                  </a:txBody>
                  <a:tcPr marL="101600" marR="101600" marT="38100" marB="38100" anchor="ctr">
                    <a:solidFill>
                      <a:srgbClr val="F4F2FA"/>
                    </a:solidFill>
                  </a:tcPr>
                </a:tc>
                <a:tc>
                  <a:txBody>
                    <a:bodyPr/>
                    <a:lstStyle/>
                    <a:p>
                      <a:r>
                        <a:rPr sz="1100" b="0" i="0">
                          <a:solidFill>
                            <a:srgbClr val="1A1440"/>
                          </a:solidFill>
                          <a:latin typeface="Calibri"/>
                        </a:rPr>
                        <a:t>One customer: 300 rows, 300 ids</a:t>
                      </a:r>
                    </a:p>
                  </a:txBody>
                  <a:tcPr marL="101600" marR="101600" marT="38100" marB="38100" anchor="ctr">
                    <a:solidFill>
                      <a:srgbClr val="F4F2FA"/>
                    </a:solidFill>
                  </a:tcPr>
                </a:tc>
              </a:tr>
              <a:tr h="318008">
                <a:tc>
                  <a:txBody>
                    <a:bodyPr/>
                    <a:lstStyle/>
                    <a:p>
                      <a:r>
                        <a:rPr sz="1100" b="0" i="0">
                          <a:solidFill>
                            <a:srgbClr val="1A1440"/>
                          </a:solidFill>
                          <a:latin typeface="Calibri"/>
                        </a:rPr>
                        <a:t>Which segment?</a:t>
                      </a:r>
                    </a:p>
                  </a:txBody>
                  <a:tcPr marL="101600" marR="101600" marT="38100" marB="38100" anchor="ctr">
                    <a:solidFill>
                      <a:srgbClr val="FFFFFF"/>
                    </a:solidFill>
                  </a:tcPr>
                </a:tc>
                <a:tc>
                  <a:txBody>
                    <a:bodyPr/>
                    <a:lstStyle/>
                    <a:p>
                      <a:r>
                        <a:rPr sz="1100" b="0" i="0">
                          <a:solidFill>
                            <a:srgbClr val="1A1440"/>
                          </a:solidFill>
                          <a:latin typeface="Calibri"/>
                        </a:rPr>
                        <a:t>Business, 99.1 percent of the half-year</a:t>
                      </a:r>
                    </a:p>
                  </a:txBody>
                  <a:tcPr marL="101600" marR="101600" marT="38100" marB="38100" anchor="ctr">
                    <a:solidFill>
                      <a:srgbClr val="FFFFFF"/>
                    </a:solidFill>
                  </a:tcPr>
                </a:tc>
              </a:tr>
              <a:tr h="318008">
                <a:tc>
                  <a:txBody>
                    <a:bodyPr/>
                    <a:lstStyle/>
                    <a:p>
                      <a:r>
                        <a:rPr sz="1100" b="0" i="0">
                          <a:solidFill>
                            <a:srgbClr val="1A1440"/>
                          </a:solidFill>
                          <a:latin typeface="Calibri"/>
                        </a:rPr>
                        <a:t>Which leaf?</a:t>
                      </a:r>
                    </a:p>
                  </a:txBody>
                  <a:tcPr marL="101600" marR="101600" marT="38100" marB="38100" anchor="ctr">
                    <a:solidFill>
                      <a:srgbClr val="F4F2FA"/>
                    </a:solidFill>
                  </a:tcPr>
                </a:tc>
                <a:tc>
                  <a:txBody>
                    <a:bodyPr/>
                    <a:lstStyle/>
                    <a:p>
                      <a:r>
                        <a:rPr sz="1100" b="0" i="0">
                          <a:solidFill>
                            <a:srgbClr val="1A1440"/>
                          </a:solidFill>
                          <a:latin typeface="Calibri"/>
                        </a:rPr>
                        <a:t>Revenue per order: Rs 2,801 against Rs 1,886</a:t>
                      </a:r>
                    </a:p>
                  </a:txBody>
                  <a:tcPr marL="101600" marR="101600" marT="38100" marB="38100" anchor="ctr">
                    <a:solidFill>
                      <a:srgbClr val="F4F2FA"/>
                    </a:solidFill>
                  </a:tcPr>
                </a:tc>
              </a:tr>
              <a:tr h="318008">
                <a:tc>
                  <a:txBody>
                    <a:bodyPr/>
                    <a:lstStyle/>
                    <a:p>
                      <a:r>
                        <a:rPr sz="1100" b="0" i="0">
                          <a:solidFill>
                            <a:srgbClr val="1A1440"/>
                          </a:solidFill>
                          <a:latin typeface="Calibri"/>
                        </a:rPr>
                        <a:t>Averaged leaf?</a:t>
                      </a:r>
                    </a:p>
                  </a:txBody>
                  <a:tcPr marL="101600" marR="101600" marT="38100" marB="38100" anchor="ctr">
                    <a:solidFill>
                      <a:srgbClr val="FFFFFF"/>
                    </a:solidFill>
                  </a:tcPr>
                </a:tc>
                <a:tc>
                  <a:txBody>
                    <a:bodyPr/>
                    <a:lstStyle/>
                    <a:p>
                      <a:r>
                        <a:rPr sz="1100" b="0" i="0">
                          <a:solidFill>
                            <a:srgbClr val="1A1440"/>
                          </a:solidFill>
                          <a:latin typeface="Calibri"/>
                        </a:rPr>
                        <a:t>Rs 11,66,786, 11.6 percent high; the tree fails</a:t>
                      </a:r>
                    </a:p>
                  </a:txBody>
                  <a:tcPr marL="101600" marR="101600" marT="38100" marB="38100" anchor="ctr">
                    <a:solidFill>
                      <a:srgbClr val="FFFFFF"/>
                    </a:solidFill>
                  </a:tcPr>
                </a:tc>
              </a:tr>
              <a:tr h="318008">
                <a:tc>
                  <a:txBody>
                    <a:bodyPr/>
                    <a:lstStyle/>
                    <a:p>
                      <a:r>
                        <a:rPr sz="1100" b="0" i="0">
                          <a:solidFill>
                            <a:srgbClr val="1A1440"/>
                          </a:solidFill>
                          <a:latin typeface="Calibri"/>
                        </a:rPr>
                        <a:t>Quarters?</a:t>
                      </a:r>
                    </a:p>
                  </a:txBody>
                  <a:tcPr marL="101600" marR="101600" marT="38100" marB="38100" anchor="ctr">
                    <a:solidFill>
                      <a:srgbClr val="F4F2FA"/>
                    </a:solidFill>
                  </a:tcPr>
                </a:tc>
                <a:tc>
                  <a:txBody>
                    <a:bodyPr/>
                    <a:lstStyle/>
                    <a:p>
                      <a:r>
                        <a:rPr sz="1100" b="0" i="0">
                          <a:solidFill>
                            <a:srgbClr val="1A1440"/>
                          </a:solidFill>
                          <a:latin typeface="Calibri"/>
                        </a:rPr>
                        <a:t>No; the split needs one row per order</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"Say what one row is before you pivot, make every leaf a ratio of the pivot's sums, and multiply the tree back before it goes on a page."</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[D] A leaf of your tree does not multiply back to the revenue; what happened, and what do you fix?</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segment carries it?</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4" name="Oval 2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6" name="Oval 25"/>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8" name="Oval 2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23 / 82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Pivot tables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did Q2 fall?</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much did revenue fall from Q1 to Q2, and in which segment and which leaf? The growth plan funds the branch this answer names.</a:t>
            </a:r>
          </a:p>
        </p:txBody>
      </p:sp>
      <p:sp>
        <p:nvSpPr>
          <p:cNvPr id="11" name="Rounded Rectangle 10"/>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segment carries it?</a:t>
            </a:r>
          </a:p>
        </p:txBody>
      </p:sp>
      <p:sp>
        <p:nvSpPr>
          <p:cNvPr id="12" name="Rounded Rectangle 11"/>
          <p:cNvSpPr/>
          <p:nvPr/>
        </p:nvSpPr>
        <p:spPr>
          <a:xfrm>
            <a:off x="2687407"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did Q2 fall?</a:t>
            </a:r>
          </a:p>
        </p:txBody>
      </p:sp>
      <p:sp>
        <p:nvSpPr>
          <p:cNvPr id="13" name="Rounded Rectangle 12"/>
          <p:cNvSpPr/>
          <p:nvPr/>
        </p:nvSpPr>
        <p:spPr>
          <a:xfrm>
            <a:off x="4228782"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Find any member by id?</a:t>
            </a:r>
          </a:p>
        </p:txBody>
      </p:sp>
      <p:sp>
        <p:nvSpPr>
          <p:cNvPr id="14" name="Rounded Rectangle 13"/>
          <p:cNvSpPr/>
          <p:nvPr/>
        </p:nvSpPr>
        <p:spPr>
          <a:xfrm>
            <a:off x="600702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Read right in two minutes?</a:t>
            </a:r>
          </a:p>
        </p:txBody>
      </p:sp>
      <p:sp>
        <p:nvSpPr>
          <p:cNvPr id="15" name="Rounded Rectangle 14"/>
          <p:cNvSpPr/>
          <p:nvPr/>
        </p:nvSpPr>
        <p:spPr>
          <a:xfrm>
            <a:off x="8022125"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Excel never do?</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What can a director open, change and still trust?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24 / 82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Meera's growth plan needs both quarters to tie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tree for both quarters, and which six questions build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chief of staff, for the tree for both quarters, and Meera, who decides which branch the growth plan funds; a pivot that counts orders twice puts nearly twice Finance's revenue in front of the directors.</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way?</a:t>
            </a:r>
          </a:p>
        </p:txBody>
      </p:sp>
      <p:sp>
        <p:nvSpPr>
          <p:cNvPr id="17" name="TextBox 16"/>
          <p:cNvSpPr txBox="1"/>
          <p:nvPr/>
        </p:nvSpPr>
        <p:spPr>
          <a:xfrm>
            <a:off x="69494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ways to split by quarter, sized.</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pivot says?</a:t>
            </a:r>
          </a:p>
        </p:txBody>
      </p:sp>
      <p:sp>
        <p:nvSpPr>
          <p:cNvPr id="22" name="TextBox 21"/>
          <p:cNvSpPr txBox="1"/>
          <p:nvPr/>
        </p:nvSpPr>
        <p:spPr>
          <a:xfrm>
            <a:off x="2580589"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Q1 and Q2 as a pivot adds them.</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Why double?</a:t>
            </a:r>
          </a:p>
        </p:txBody>
      </p:sp>
      <p:sp>
        <p:nvSpPr>
          <p:cNvPr id="27" name="TextBox 26"/>
          <p:cNvSpPr txBox="1"/>
          <p:nvPr/>
        </p:nvSpPr>
        <p:spPr>
          <a:xfrm>
            <a:off x="446623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And whether Remove Duplicates helps.</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Counted once?</a:t>
            </a:r>
          </a:p>
        </p:txBody>
      </p:sp>
      <p:sp>
        <p:nvSpPr>
          <p:cNvPr id="32" name="TextBox 31"/>
          <p:cNvSpPr txBox="1"/>
          <p:nvPr/>
        </p:nvSpPr>
        <p:spPr>
          <a:xfrm>
            <a:off x="6351879" y="4516882"/>
            <a:ext cx="1373581" cy="201676"/>
          </a:xfrm>
          <a:prstGeom prst="rect">
            <a:avLst/>
          </a:prstGeom>
          <a:noFill/>
        </p:spPr>
        <p:txBody>
          <a:bodyPr wrap="square" anchor="t" lIns="0" rIns="0" tIns="0" bIns="0">
            <a:spAutoFit/>
          </a:bodyPr>
          <a:lstStyle/>
          <a:p>
            <a:pPr algn="l"/>
            <a:r>
              <a:rPr sz="1000" b="0" i="0">
                <a:solidFill>
                  <a:srgbClr val="6B6690"/>
                </a:solidFill>
                <a:latin typeface="Calibri"/>
              </a:rPr>
              <a:t>Each order once.</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leaf fell?</a:t>
            </a:r>
          </a:p>
        </p:txBody>
      </p:sp>
      <p:sp>
        <p:nvSpPr>
          <p:cNvPr id="37" name="TextBox 36"/>
          <p:cNvSpPr txBox="1"/>
          <p:nvPr/>
        </p:nvSpPr>
        <p:spPr>
          <a:xfrm>
            <a:off x="8237524" y="4516882"/>
            <a:ext cx="1373581" cy="201676"/>
          </a:xfrm>
          <a:prstGeom prst="rect">
            <a:avLst/>
          </a:prstGeom>
          <a:noFill/>
        </p:spPr>
        <p:txBody>
          <a:bodyPr wrap="square" anchor="t" lIns="0" rIns="0" tIns="0" bIns="0">
            <a:spAutoFit/>
          </a:bodyPr>
          <a:lstStyle/>
          <a:p>
            <a:pPr algn="l"/>
            <a:r>
              <a:rPr sz="1000" b="0" i="0">
                <a:solidFill>
                  <a:srgbClr val="6B6690"/>
                </a:solidFill>
                <a:latin typeface="Calibri"/>
              </a:rPr>
              <a:t>Segment and leaf.</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465836"/>
          </a:xfrm>
          <a:prstGeom prst="rect">
            <a:avLst/>
          </a:prstGeom>
          <a:noFill/>
        </p:spPr>
        <p:txBody>
          <a:bodyPr wrap="square" anchor="t" lIns="0" rIns="0" tIns="0" bIns="0">
            <a:spAutoFit/>
          </a:bodyPr>
          <a:lstStyle/>
          <a:p>
            <a:pPr algn="l"/>
            <a:r>
              <a:rPr sz="1300" b="1" i="0">
                <a:solidFill>
                  <a:srgbClr val="FFFFFF"/>
                </a:solidFill>
                <a:latin typeface="Calibri"/>
              </a:rPr>
              <a:t>Warehouse agrees?</a:t>
            </a:r>
          </a:p>
        </p:txBody>
      </p:sp>
      <p:sp>
        <p:nvSpPr>
          <p:cNvPr id="42" name="TextBox 41"/>
          <p:cNvSpPr txBox="1"/>
          <p:nvPr/>
        </p:nvSpPr>
        <p:spPr>
          <a:xfrm>
            <a:off x="10123170" y="4731512"/>
            <a:ext cx="1373581" cy="201676"/>
          </a:xfrm>
          <a:prstGeom prst="rect">
            <a:avLst/>
          </a:prstGeom>
          <a:noFill/>
        </p:spPr>
        <p:txBody>
          <a:bodyPr wrap="square" anchor="t" lIns="0" rIns="0" tIns="0" bIns="0">
            <a:spAutoFit/>
          </a:bodyPr>
          <a:lstStyle/>
          <a:p>
            <a:pPr algn="l"/>
            <a:r>
              <a:rPr sz="1000" b="0" i="0">
                <a:solidFill>
                  <a:srgbClr val="CFC9EE"/>
                </a:solidFill>
                <a:latin typeface="Calibri"/>
              </a:rPr>
              <a:t>The second route.</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45" name="Oval 44"/>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47" name="Oval 4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49" name="Oval 4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51" name="Oval 5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25 / 82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quarters have to tie to Monday's warehouse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quarter that fails to tie cost Meera's growth plan?</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10.00 cr</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THE WAREHOUSE</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April to June 2026</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9.84 cr</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THE WAREHOUSE</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July to September 2026</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The plan</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A WRONG NUMBER COSTS</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 growth plan aimed at the wrong segment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"The revenue tree by segment for both quarters."</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8" name="Oval 27"/>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30" name="Oval 2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2" name="Oval 31"/>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4" name="Oval 3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26 / 82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Razorpay orders carry several payments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company holds orders and payments at different grains?</a:t>
            </a:r>
          </a:p>
        </p:txBody>
      </p:sp>
      <p:sp>
        <p:nvSpPr>
          <p:cNvPr id="9" name="Rounded Rectangle 8"/>
          <p:cNvSpPr/>
          <p:nvPr/>
        </p:nvSpPr>
        <p:spPr>
          <a:xfrm>
            <a:off x="530352" y="1956816"/>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741680"/>
          </a:xfrm>
          <a:prstGeom prst="rect">
            <a:avLst/>
          </a:prstGeom>
          <a:noFill/>
        </p:spPr>
        <p:txBody>
          <a:bodyPr wrap="square" anchor="t" lIns="0" rIns="0" tIns="0" bIns="0">
            <a:spAutoFit/>
          </a:bodyPr>
          <a:lstStyle/>
          <a:p>
            <a:r>
              <a:rPr sz="1600" b="0" i="1">
                <a:solidFill>
                  <a:srgbClr val="1A0F5C"/>
                </a:solidFill>
                <a:latin typeface="Georgia"/>
              </a:rPr>
              <a:t>"Combines multiple payment attempts for a single order."</a:t>
            </a:r>
          </a:p>
          <a:p>
            <a:pPr>
              <a:spcBef>
                <a:spcPts val="400"/>
              </a:spcBef>
            </a:pPr>
            <a:r>
              <a:rPr sz="1000" b="0" i="0">
                <a:solidFill>
                  <a:srgbClr val="6B6690"/>
                </a:solidFill>
                <a:latin typeface="Calibri"/>
              </a:rPr>
              <a:t>Razorpay documentation, Orders</a:t>
            </a:r>
          </a:p>
        </p:txBody>
      </p:sp>
      <p:sp>
        <p:nvSpPr>
          <p:cNvPr id="11" name="Rounded Rectangle 10"/>
          <p:cNvSpPr/>
          <p:nvPr/>
        </p:nvSpPr>
        <p:spPr>
          <a:xfrm>
            <a:off x="530352" y="2844800"/>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2844800"/>
            <a:ext cx="10820095" cy="741680"/>
          </a:xfrm>
          <a:prstGeom prst="rect">
            <a:avLst/>
          </a:prstGeom>
          <a:noFill/>
        </p:spPr>
        <p:txBody>
          <a:bodyPr wrap="square" anchor="t" lIns="0" rIns="0" tIns="0" bIns="0">
            <a:spAutoFit/>
          </a:bodyPr>
          <a:lstStyle/>
          <a:p>
            <a:r>
              <a:rPr sz="1600" b="0" i="1">
                <a:solidFill>
                  <a:srgbClr val="1A0F5C"/>
                </a:solidFill>
                <a:latin typeface="Georgia"/>
              </a:rPr>
              <a:t>"Each partial payment would have a unique payment_id, but will be tied to the same order_id."</a:t>
            </a:r>
          </a:p>
          <a:p>
            <a:pPr>
              <a:spcBef>
                <a:spcPts val="400"/>
              </a:spcBef>
            </a:pPr>
            <a:r>
              <a:rPr sz="1000" b="0" i="0">
                <a:solidFill>
                  <a:srgbClr val="6B6690"/>
                </a:solidFill>
                <a:latin typeface="Calibri"/>
              </a:rPr>
              <a:t>Razorpay documentation, Payment Links partial payments</a:t>
            </a:r>
          </a:p>
        </p:txBody>
      </p:sp>
      <p:pic>
        <p:nvPicPr>
          <p:cNvPr id="13" name="mermaid diagram" descr="5e883f8c48ccfcb1.png"/>
          <p:cNvPicPr>
            <a:picLocks noChangeAspect="1"/>
          </p:cNvPicPr>
          <p:nvPr/>
        </p:nvPicPr>
        <p:blipFill>
          <a:blip r:embed="rId5"/>
          <a:stretch>
            <a:fillRect/>
          </a:stretch>
        </p:blipFill>
        <p:spPr>
          <a:xfrm>
            <a:off x="4309910" y="3732784"/>
            <a:ext cx="3571875" cy="1285875"/>
          </a:xfrm>
          <a:prstGeom prst="rect">
            <a:avLst/>
          </a:prstGeom>
        </p:spPr>
      </p:pic>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27 / 82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quarter column, then the pivot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way should the team split revenue by quarter, and what does each way cost?</a:t>
            </a:r>
          </a:p>
        </p:txBody>
      </p:sp>
      <p:graphicFrame>
        <p:nvGraphicFramePr>
          <p:cNvPr id="9" name="Table 8"/>
          <p:cNvGraphicFramePr>
            <a:graphicFrameLocks noGrp="1"/>
          </p:cNvGraphicFramePr>
          <p:nvPr/>
        </p:nvGraphicFramePr>
        <p:xfrm>
          <a:off x="530352" y="1902460"/>
          <a:ext cx="11130990" cy="2574544"/>
        </p:xfrm>
        <a:graphic>
          <a:graphicData uri="http://schemas.openxmlformats.org/drawingml/2006/table">
            <a:tbl>
              <a:tblPr firstRow="0" bandRow="0">
                <a:tableStyleId>{2D5ABB26-0587-4C30-8999-92F81FD0307C}</a:tableStyleId>
              </a:tblPr>
              <a:tblGrid>
                <a:gridCol w="3874554"/>
                <a:gridCol w="2203951"/>
                <a:gridCol w="5052485"/>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What it reads</a:t>
                      </a:r>
                    </a:p>
                  </a:txBody>
                  <a:tcPr marL="101600" marR="101600" marT="38100" marB="38100" anchor="ctr">
                    <a:solidFill>
                      <a:srgbClr val="1A0F5C"/>
                    </a:solidFill>
                  </a:tcPr>
                </a:tc>
                <a:tc>
                  <a:txBody>
                    <a:bodyPr/>
                    <a:lstStyle/>
                    <a:p>
                      <a:r>
                        <a:rPr sz="1450" b="1" i="0">
                          <a:solidFill>
                            <a:srgbClr val="FFFFFF"/>
                          </a:solidFill>
                          <a:latin typeface="Calibri"/>
                        </a:rPr>
                        <a:t>What it risks here</a:t>
                      </a:r>
                    </a:p>
                  </a:txBody>
                  <a:tcPr marL="101600" marR="101600" marT="38100" marB="38100" anchor="ctr">
                    <a:solidFill>
                      <a:srgbClr val="1A0F5C"/>
                    </a:solidFill>
                  </a:tcPr>
                </a:tc>
              </a:tr>
              <a:tr h="611632">
                <a:tc>
                  <a:txBody>
                    <a:bodyPr/>
                    <a:lstStyle/>
                    <a:p>
                      <a:r>
                        <a:rPr sz="1400" b="0" i="0">
                          <a:solidFill>
                            <a:srgbClr val="1A1440"/>
                          </a:solidFill>
                          <a:latin typeface="Calibri"/>
                        </a:rPr>
                        <a:t>a) Customer table, last order date</a:t>
                      </a:r>
                    </a:p>
                  </a:txBody>
                  <a:tcPr marL="101600" marR="101600" marT="38100" marB="38100" anchor="ctr">
                    <a:solidFill>
                      <a:srgbClr val="FFFFFF"/>
                    </a:solidFill>
                  </a:tcPr>
                </a:tc>
                <a:tc>
                  <a:txBody>
                    <a:bodyPr/>
                    <a:lstStyle/>
                    <a:p>
                      <a:r>
                        <a:rPr sz="1400" b="0" i="0">
                          <a:solidFill>
                            <a:srgbClr val="1A1440"/>
                          </a:solidFill>
                          <a:latin typeface="Calibri"/>
                        </a:rPr>
                        <a:t>300 rows</a:t>
                      </a:r>
                    </a:p>
                  </a:txBody>
                  <a:tcPr marL="101600" marR="101600" marT="38100" marB="38100" anchor="ctr">
                    <a:solidFill>
                      <a:srgbClr val="FFFFFF"/>
                    </a:solidFill>
                  </a:tcPr>
                </a:tc>
                <a:tc>
                  <a:txBody>
                    <a:bodyPr/>
                    <a:lstStyle/>
                    <a:p>
                      <a:r>
                        <a:rPr sz="1400" b="0" i="0">
                          <a:solidFill>
                            <a:srgbClr val="1A1440"/>
                          </a:solidFill>
                          <a:latin typeface="Calibri"/>
                        </a:rPr>
                        <a:t>170 customers bought in both quarters; Rs 8.04 crore of Q1 lands in Q2</a:t>
                      </a:r>
                    </a:p>
                  </a:txBody>
                  <a:tcPr marL="101600" marR="101600" marT="38100" marB="38100" anchor="ctr">
                    <a:solidFill>
                      <a:srgbClr val="FFFFFF"/>
                    </a:solidFill>
                  </a:tcPr>
                </a:tc>
              </a:tr>
              <a:tr h="611632">
                <a:tc>
                  <a:txBody>
                    <a:bodyPr/>
                    <a:lstStyle/>
                    <a:p>
                      <a:r>
                        <a:rPr sz="1400" b="0" i="0">
                          <a:solidFill>
                            <a:srgbClr val="1A1440"/>
                          </a:solidFill>
                          <a:latin typeface="Calibri"/>
                        </a:rPr>
                        <a:t>b) SUMIFS grid on the raw export</a:t>
                      </a:r>
                    </a:p>
                  </a:txBody>
                  <a:tcPr marL="101600" marR="101600" marT="38100" marB="38100" anchor="ctr">
                    <a:solidFill>
                      <a:srgbClr val="F4F2FA"/>
                    </a:solidFill>
                  </a:tcPr>
                </a:tc>
                <a:tc>
                  <a:txBody>
                    <a:bodyPr/>
                    <a:lstStyle/>
                    <a:p>
                      <a:r>
                        <a:rPr sz="1400" b="0" i="0">
                          <a:solidFill>
                            <a:srgbClr val="1A1440"/>
                          </a:solidFill>
                          <a:latin typeface="Calibri"/>
                        </a:rPr>
                        <a:t>8 formulas, 34,800 tests</a:t>
                      </a:r>
                    </a:p>
                  </a:txBody>
                  <a:tcPr marL="101600" marR="101600" marT="38100" marB="38100" anchor="ctr">
                    <a:solidFill>
                      <a:srgbClr val="F4F2FA"/>
                    </a:solidFill>
                  </a:tcPr>
                </a:tc>
                <a:tc>
                  <a:txBody>
                    <a:bodyPr/>
                    <a:lstStyle/>
                    <a:p>
                      <a:r>
                        <a:rPr sz="1400" b="0" i="0">
                          <a:solidFill>
                            <a:srgbClr val="1A1440"/>
                          </a:solidFill>
                          <a:latin typeface="Calibri"/>
                        </a:rPr>
                        <a:t>recalculates at once; slices only 8 cells</a:t>
                      </a:r>
                    </a:p>
                  </a:txBody>
                  <a:tcPr marL="101600" marR="101600" marT="38100" marB="38100" anchor="ctr">
                    <a:solidFill>
                      <a:srgbClr val="F4F2FA"/>
                    </a:solidFill>
                  </a:tcPr>
                </a:tc>
              </a:tr>
              <a:tr h="611632">
                <a:tc>
                  <a:txBody>
                    <a:bodyPr/>
                    <a:lstStyle/>
                    <a:p>
                      <a:r>
                        <a:rPr sz="1400" b="0" i="0">
                          <a:solidFill>
                            <a:srgbClr val="1A1440"/>
                          </a:solidFill>
                          <a:latin typeface="Calibri"/>
                        </a:rPr>
                        <a:t>c) Kalpa's quarter as a column, then a pivot</a:t>
                      </a:r>
                    </a:p>
                  </a:txBody>
                  <a:tcPr marL="101600" marR="101600" marT="38100" marB="38100" anchor="ctr">
                    <a:solidFill>
                      <a:srgbClr val="FFFFFF"/>
                    </a:solidFill>
                  </a:tcPr>
                </a:tc>
                <a:tc>
                  <a:txBody>
                    <a:bodyPr/>
                    <a:lstStyle/>
                    <a:p>
                      <a:r>
                        <a:rPr sz="1400" b="0" i="0">
                          <a:solidFill>
                            <a:srgbClr val="1A1440"/>
                          </a:solidFill>
                          <a:latin typeface="Calibri"/>
                        </a:rPr>
                        <a:t>1,450 rows</a:t>
                      </a:r>
                    </a:p>
                  </a:txBody>
                  <a:tcPr marL="101600" marR="101600" marT="38100" marB="38100" anchor="ctr">
                    <a:solidFill>
                      <a:srgbClr val="FFFFFF"/>
                    </a:solidFill>
                  </a:tcPr>
                </a:tc>
                <a:tc>
                  <a:txBody>
                    <a:bodyPr/>
                    <a:lstStyle/>
                    <a:p>
                      <a:r>
                        <a:rPr sz="1400" b="0" i="0">
                          <a:solidFill>
                            <a:srgbClr val="1A1440"/>
                          </a:solidFill>
                          <a:latin typeface="Calibri"/>
                        </a:rPr>
                        <a:t>slices anything; recalculates on Refresh</a:t>
                      </a:r>
                    </a:p>
                  </a:txBody>
                  <a:tcPr marL="101600" marR="101600" marT="38100" marB="38100" anchor="ctr">
                    <a:solidFill>
                      <a:srgbClr val="FFFFFF"/>
                    </a:solidFill>
                  </a:tcPr>
                </a:tc>
              </a:tr>
              <a:tr h="369824">
                <a:tc>
                  <a:txBody>
                    <a:bodyPr/>
                    <a:lstStyle/>
                    <a:p>
                      <a:r>
                        <a:rPr sz="1400" b="0" i="0">
                          <a:solidFill>
                            <a:srgbClr val="1A1440"/>
                          </a:solidFill>
                          <a:latin typeface="Calibri"/>
                        </a:rPr>
                        <a:t>d) Ask the data platform lead</a:t>
                      </a:r>
                    </a:p>
                  </a:txBody>
                  <a:tcPr marL="101600" marR="101600" marT="38100" marB="38100" anchor="ctr">
                    <a:solidFill>
                      <a:srgbClr val="F4F2FA"/>
                    </a:solidFill>
                  </a:tcPr>
                </a:tc>
                <a:tc>
                  <a:txBody>
                    <a:bodyPr/>
                    <a:lstStyle/>
                    <a:p>
                      <a:r>
                        <a:rPr sz="1400" b="0" i="0">
                          <a:solidFill>
                            <a:srgbClr val="1A1440"/>
                          </a:solidFill>
                          <a:latin typeface="Calibri"/>
                        </a:rPr>
                        <a:t>the warehouse</a:t>
                      </a:r>
                    </a:p>
                  </a:txBody>
                  <a:tcPr marL="101600" marR="101600" marT="38100" marB="38100" anchor="ctr">
                    <a:solidFill>
                      <a:srgbClr val="F4F2FA"/>
                    </a:solidFill>
                  </a:tcPr>
                </a:tc>
                <a:tc>
                  <a:txBody>
                    <a:bodyPr/>
                    <a:lstStyle/>
                    <a:p>
                      <a:r>
                        <a:rPr sz="1400" b="0" i="0">
                          <a:solidFill>
                            <a:srgbClr val="1A1440"/>
                          </a:solidFill>
                          <a:latin typeface="Calibri"/>
                        </a:rPr>
                        <a:t>exact, and a day's wait per question</a:t>
                      </a:r>
                    </a:p>
                  </a:txBody>
                  <a:tcPr marL="101600" marR="101600" marT="38100" marB="38100" anchor="ctr">
                    <a:solidFill>
                      <a:srgbClr val="F4F2FA"/>
                    </a:solidFill>
                  </a:tcPr>
                </a:tc>
              </a:tr>
            </a:tbl>
          </a:graphicData>
        </a:graphic>
      </p:graphicFrame>
      <p:sp>
        <p:nvSpPr>
          <p:cNvPr id="10" name="Rounded Rectangle 9"/>
          <p:cNvSpPr/>
          <p:nvPr/>
        </p:nvSpPr>
        <p:spPr>
          <a:xfrm>
            <a:off x="530352" y="473303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6105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51908"/>
            <a:ext cx="10564063" cy="358140"/>
          </a:xfrm>
          <a:prstGeom prst="rect">
            <a:avLst/>
          </a:prstGeom>
          <a:noFill/>
        </p:spPr>
        <p:txBody>
          <a:bodyPr wrap="square" anchor="ctr" lIns="0" rIns="0" tIns="0" bIns="0">
            <a:spAutoFit/>
          </a:bodyPr>
          <a:lstStyle/>
          <a:p>
            <a:r>
              <a:rPr sz="1500" b="1">
                <a:solidFill>
                  <a:srgbClr val="5B3FD6"/>
                </a:solidFill>
                <a:latin typeface="Calibri"/>
              </a:rPr>
              <a:t>The best-fit call. </a:t>
            </a:r>
            <a:r>
              <a:rPr sz="1500" b="0" i="0">
                <a:solidFill>
                  <a:srgbClr val="1A1440"/>
                </a:solidFill>
                <a:latin typeface="Calibri"/>
              </a:rPr>
              <a:t>c, because it labels quarters the way Finance does and lets a director re-slice.</a:t>
            </a:r>
          </a:p>
        </p:txBody>
      </p:sp>
      <p:sp>
        <p:nvSpPr>
          <p:cNvPr id="13" name="Rounded Rectangle 12"/>
          <p:cNvSpPr/>
          <p:nvPr/>
        </p:nvSpPr>
        <p:spPr>
          <a:xfrm>
            <a:off x="530352" y="543864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556666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5557520"/>
            <a:ext cx="10564063" cy="358140"/>
          </a:xfrm>
          <a:prstGeom prst="rect">
            <a:avLst/>
          </a:prstGeom>
          <a:noFill/>
        </p:spPr>
        <p:txBody>
          <a:bodyPr wrap="square" anchor="ctr" lIns="0" rIns="0" tIns="0" bIns="0">
            <a:spAutoFit/>
          </a:bodyPr>
          <a:lstStyle/>
          <a:p>
            <a:r>
              <a:rPr sz="1500" b="1">
                <a:solidFill>
                  <a:srgbClr val="5B3FD6"/>
                </a:solidFill>
                <a:latin typeface="Calibri"/>
              </a:rPr>
              <a:t>The fact that would change it. </a:t>
            </a:r>
            <a:r>
              <a:rPr sz="1500" b="0" i="0">
                <a:solidFill>
                  <a:srgbClr val="1A1440"/>
                </a:solidFill>
                <a:latin typeface="Calibri"/>
              </a:rPr>
              <a:t>A deadline far enough away for the warehouse team to answer.</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8" name="Oval 17"/>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20" name="Oval 1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2" name="Oval 21"/>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4" name="Oval 2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28 / 82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quarter does each row belong to?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Filled down beside order_date, how many rows land in Q1?</a:t>
            </a:r>
          </a:p>
        </p:txBody>
      </p:sp>
      <p:sp>
        <p:nvSpPr>
          <p:cNvPr id="9" name="Rounded Rectangle 8"/>
          <p:cNvSpPr/>
          <p:nvPr/>
        </p:nvSpPr>
        <p:spPr>
          <a:xfrm>
            <a:off x="530352" y="1845818"/>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1973834"/>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1973834"/>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1973834"/>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175002"/>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=IF(MONTH(E2)&lt;=6,"Q1","Q2")</a:t>
            </a:r>
          </a:p>
        </p:txBody>
      </p:sp>
      <p:pic>
        <p:nvPicPr>
          <p:cNvPr id="14" name="mermaid diagram" descr="59b63c18bc570e90.png"/>
          <p:cNvPicPr>
            <a:picLocks noChangeAspect="1"/>
          </p:cNvPicPr>
          <p:nvPr/>
        </p:nvPicPr>
        <p:blipFill>
          <a:blip r:embed="rId5"/>
          <a:stretch>
            <a:fillRect/>
          </a:stretch>
        </p:blipFill>
        <p:spPr>
          <a:xfrm>
            <a:off x="2373953" y="2720086"/>
            <a:ext cx="7443787" cy="2628900"/>
          </a:xfrm>
          <a:prstGeom prst="rect">
            <a:avLst/>
          </a:prstGeom>
        </p:spPr>
      </p:pic>
      <p:sp>
        <p:nvSpPr>
          <p:cNvPr id="15" name="Rounded Rectangle 14"/>
          <p:cNvSpPr/>
          <p:nvPr/>
        </p:nvSpPr>
        <p:spPr>
          <a:xfrm>
            <a:off x="530352" y="549529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562330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5614162"/>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Of the 1,450 rows, how many fall in Q1?</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0" name="Oval 19"/>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22" name="Oval 21"/>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4" name="Oval 23"/>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6" name="Oval 2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29 / 82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772 rows in Q1, 678 in Q2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new column say?</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772</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IN Q1</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April to June 2026</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678</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IN Q2</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July to September 2026</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1,450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IN ALL</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every row has a quarter</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a. The dates read cleanly and the labels now match Finance's. The pivot is one drag away.</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4" name="Oval 23"/>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8" name="Oval 27"/>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0" name="Oval 2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30 / 82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the pivot say for Q1 and Q2?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With segment in Rows, quarter in Columns and order_amount summed, what is Q2?</a:t>
            </a:r>
          </a:p>
        </p:txBody>
      </p:sp>
      <p:pic>
        <p:nvPicPr>
          <p:cNvPr id="9" name="mermaid diagram" descr="83d94155d1805747.png"/>
          <p:cNvPicPr>
            <a:picLocks noChangeAspect="1"/>
          </p:cNvPicPr>
          <p:nvPr/>
        </p:nvPicPr>
        <p:blipFill>
          <a:blip r:embed="rId5"/>
          <a:stretch>
            <a:fillRect/>
          </a:stretch>
        </p:blipFill>
        <p:spPr>
          <a:xfrm>
            <a:off x="3074041" y="1956816"/>
            <a:ext cx="6043612" cy="2628900"/>
          </a:xfrm>
          <a:prstGeom prst="rect">
            <a:avLst/>
          </a:prstGeom>
        </p:spPr>
      </p:pic>
      <p:sp>
        <p:nvSpPr>
          <p:cNvPr id="10" name="Rounded Rectangle 9"/>
          <p:cNvSpPr/>
          <p:nvPr/>
        </p:nvSpPr>
        <p:spPr>
          <a:xfrm>
            <a:off x="530352" y="473202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6003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50892"/>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The pivot's Q2 total reads about which?</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31 / 82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19.47 crore, and Core looks healthy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plausible wrong answer, exactly?</a:t>
            </a:r>
          </a:p>
        </p:txBody>
      </p:sp>
      <p:graphicFrame>
        <p:nvGraphicFramePr>
          <p:cNvPr id="9" name="Table 8"/>
          <p:cNvGraphicFramePr>
            <a:graphicFrameLocks noGrp="1"/>
          </p:cNvGraphicFramePr>
          <p:nvPr/>
        </p:nvGraphicFramePr>
        <p:xfrm>
          <a:off x="530352" y="1956816"/>
          <a:ext cx="11130989" cy="2011680"/>
        </p:xfrm>
        <a:graphic>
          <a:graphicData uri="http://schemas.openxmlformats.org/drawingml/2006/table">
            <a:tbl>
              <a:tblPr firstRow="0" bandRow="0">
                <a:tableStyleId>{2D5ABB26-0587-4C30-8999-92F81FD0307C}</a:tableStyleId>
              </a:tblPr>
              <a:tblGrid>
                <a:gridCol w="2169073"/>
                <a:gridCol w="4023758"/>
                <a:gridCol w="4023758"/>
                <a:gridCol w="914400"/>
              </a:tblGrid>
              <a:tr h="335280">
                <a:tc>
                  <a:txBody>
                    <a:bodyPr/>
                    <a:lstStyle/>
                    <a:p>
                      <a:r>
                        <a:rPr sz="1250" b="1" i="0">
                          <a:solidFill>
                            <a:srgbClr val="FFFFFF"/>
                          </a:solidFill>
                          <a:latin typeface="Calibri"/>
                        </a:rPr>
                        <a:t>Segment</a:t>
                      </a:r>
                    </a:p>
                  </a:txBody>
                  <a:tcPr marL="101600" marR="101600" marT="38100" marB="38100" anchor="ctr">
                    <a:solidFill>
                      <a:srgbClr val="1A0F5C"/>
                    </a:solidFill>
                  </a:tcPr>
                </a:tc>
                <a:tc>
                  <a:txBody>
                    <a:bodyPr/>
                    <a:lstStyle/>
                    <a:p>
                      <a:r>
                        <a:rPr sz="1250" b="1" i="0">
                          <a:solidFill>
                            <a:srgbClr val="FFFFFF"/>
                          </a:solidFill>
                          <a:latin typeface="Calibri"/>
                        </a:rPr>
                        <a:t>Q1, as the pivot shows</a:t>
                      </a:r>
                    </a:p>
                  </a:txBody>
                  <a:tcPr marL="101600" marR="101600" marT="38100" marB="38100" anchor="ctr">
                    <a:solidFill>
                      <a:srgbClr val="1A0F5C"/>
                    </a:solidFill>
                  </a:tcPr>
                </a:tc>
                <a:tc>
                  <a:txBody>
                    <a:bodyPr/>
                    <a:lstStyle/>
                    <a:p>
                      <a:r>
                        <a:rPr sz="1250" b="1" i="0">
                          <a:solidFill>
                            <a:srgbClr val="FFFFFF"/>
                          </a:solidFill>
                          <a:latin typeface="Calibri"/>
                        </a:rPr>
                        <a:t>Q2, as the pivot shows</a:t>
                      </a:r>
                    </a:p>
                  </a:txBody>
                  <a:tcPr marL="101600" marR="101600" marT="38100" marB="38100" anchor="ctr">
                    <a:solidFill>
                      <a:srgbClr val="1A0F5C"/>
                    </a:solidFill>
                  </a:tcPr>
                </a:tc>
                <a:tc>
                  <a:txBody>
                    <a:bodyPr/>
                    <a:lstStyle/>
                    <a:p>
                      <a:r>
                        <a:rPr sz="1250" b="1" i="0">
                          <a:solidFill>
                            <a:srgbClr val="FFFFFF"/>
                          </a:solidFill>
                          <a:latin typeface="Calibri"/>
                        </a:rPr>
                        <a:t>Change</a:t>
                      </a:r>
                    </a:p>
                  </a:txBody>
                  <a:tcPr marL="101600" marR="101600" marT="38100" marB="38100" anchor="ctr">
                    <a:solidFill>
                      <a:srgbClr val="1A0F5C"/>
                    </a:solidFill>
                  </a:tcPr>
                </a:tc>
              </a:tr>
              <a:tr h="335280">
                <a:tc>
                  <a:txBody>
                    <a:bodyPr/>
                    <a:lstStyle/>
                    <a:p>
                      <a:r>
                        <a:rPr sz="1200" b="0" i="0">
                          <a:solidFill>
                            <a:srgbClr val="1A1440"/>
                          </a:solidFill>
                          <a:latin typeface="Calibri"/>
                        </a:rPr>
                        <a:t>Business</a:t>
                      </a:r>
                    </a:p>
                  </a:txBody>
                  <a:tcPr marL="101600" marR="101600" marT="38100" marB="38100" anchor="ctr">
                    <a:solidFill>
                      <a:srgbClr val="FFFFFF"/>
                    </a:solidFill>
                  </a:tcPr>
                </a:tc>
                <a:tc>
                  <a:txBody>
                    <a:bodyPr/>
                    <a:lstStyle/>
                    <a:p>
                      <a:r>
                        <a:rPr sz="1200" b="0" i="0">
                          <a:solidFill>
                            <a:srgbClr val="1A1440"/>
                          </a:solidFill>
                          <a:latin typeface="Calibri"/>
                        </a:rPr>
                        <a:t>Rs 19,80,28,880</a:t>
                      </a:r>
                    </a:p>
                  </a:txBody>
                  <a:tcPr marL="101600" marR="101600" marT="38100" marB="38100" anchor="ctr">
                    <a:solidFill>
                      <a:srgbClr val="FFFFFF"/>
                    </a:solidFill>
                  </a:tcPr>
                </a:tc>
                <a:tc>
                  <a:txBody>
                    <a:bodyPr/>
                    <a:lstStyle/>
                    <a:p>
                      <a:r>
                        <a:rPr sz="1200" b="0" i="0">
                          <a:solidFill>
                            <a:srgbClr val="1A1440"/>
                          </a:solidFill>
                          <a:latin typeface="Calibri"/>
                        </a:rPr>
                        <a:t>Rs 19,34,72,200</a:t>
                      </a:r>
                    </a:p>
                  </a:txBody>
                  <a:tcPr marL="101600" marR="101600" marT="38100" marB="38100" anchor="ctr">
                    <a:solidFill>
                      <a:srgbClr val="FFFFFF"/>
                    </a:solidFill>
                  </a:tcPr>
                </a:tc>
                <a:tc>
                  <a:txBody>
                    <a:bodyPr/>
                    <a:lstStyle/>
                    <a:p>
                      <a:r>
                        <a:rPr sz="1200" b="0" i="0">
                          <a:solidFill>
                            <a:srgbClr val="1A1440"/>
                          </a:solidFill>
                          <a:latin typeface="Calibri"/>
                        </a:rPr>
                        <a:t>-2.3%</a:t>
                      </a:r>
                    </a:p>
                  </a:txBody>
                  <a:tcPr marL="101600" marR="101600" marT="38100" marB="38100" anchor="ctr">
                    <a:solidFill>
                      <a:srgbClr val="FFFFFF"/>
                    </a:solidFill>
                  </a:tcPr>
                </a:tc>
              </a:tr>
              <a:tr h="335280">
                <a:tc>
                  <a:txBody>
                    <a:bodyPr/>
                    <a:lstStyle/>
                    <a:p>
                      <a:r>
                        <a:rPr sz="1200" b="0" i="0">
                          <a:solidFill>
                            <a:srgbClr val="1A1440"/>
                          </a:solidFill>
                          <a:latin typeface="Calibri"/>
                        </a:rPr>
                        <a:t>Retail-Core</a:t>
                      </a:r>
                    </a:p>
                  </a:txBody>
                  <a:tcPr marL="101600" marR="101600" marT="38100" marB="38100" anchor="ctr">
                    <a:solidFill>
                      <a:srgbClr val="F4F2FA"/>
                    </a:solidFill>
                  </a:tcPr>
                </a:tc>
                <a:tc>
                  <a:txBody>
                    <a:bodyPr/>
                    <a:lstStyle/>
                    <a:p>
                      <a:r>
                        <a:rPr sz="1200" b="0" i="0">
                          <a:solidFill>
                            <a:srgbClr val="1A1440"/>
                          </a:solidFill>
                          <a:latin typeface="Calibri"/>
                        </a:rPr>
                        <a:t>Rs 4,33,760</a:t>
                      </a:r>
                    </a:p>
                  </a:txBody>
                  <a:tcPr marL="101600" marR="101600" marT="38100" marB="38100" anchor="ctr">
                    <a:solidFill>
                      <a:srgbClr val="F4F2FA"/>
                    </a:solidFill>
                  </a:tcPr>
                </a:tc>
                <a:tc>
                  <a:txBody>
                    <a:bodyPr/>
                    <a:lstStyle/>
                    <a:p>
                      <a:r>
                        <a:rPr sz="1200" b="0" i="0">
                          <a:solidFill>
                            <a:srgbClr val="1A1440"/>
                          </a:solidFill>
                          <a:latin typeface="Calibri"/>
                        </a:rPr>
                        <a:t>Rs 4,38,160</a:t>
                      </a:r>
                    </a:p>
                  </a:txBody>
                  <a:tcPr marL="101600" marR="101600" marT="38100" marB="38100" anchor="ctr">
                    <a:solidFill>
                      <a:srgbClr val="F4F2FA"/>
                    </a:solidFill>
                  </a:tcPr>
                </a:tc>
                <a:tc>
                  <a:txBody>
                    <a:bodyPr/>
                    <a:lstStyle/>
                    <a:p>
                      <a:r>
                        <a:rPr sz="1200" b="0" i="0">
                          <a:solidFill>
                            <a:srgbClr val="1A1440"/>
                          </a:solidFill>
                          <a:latin typeface="Calibri"/>
                        </a:rPr>
                        <a:t>+1.0%</a:t>
                      </a:r>
                    </a:p>
                  </a:txBody>
                  <a:tcPr marL="101600" marR="101600" marT="38100" marB="38100" anchor="ctr">
                    <a:solidFill>
                      <a:srgbClr val="F4F2FA"/>
                    </a:solidFill>
                  </a:tcPr>
                </a:tc>
              </a:tr>
              <a:tr h="335280">
                <a:tc>
                  <a:txBody>
                    <a:bodyPr/>
                    <a:lstStyle/>
                    <a:p>
                      <a:r>
                        <a:rPr sz="1200" b="0" i="0">
                          <a:solidFill>
                            <a:srgbClr val="1A1440"/>
                          </a:solidFill>
                          <a:latin typeface="Calibri"/>
                        </a:rPr>
                        <a:t>Retail-Plus</a:t>
                      </a:r>
                    </a:p>
                  </a:txBody>
                  <a:tcPr marL="101600" marR="101600" marT="38100" marB="38100" anchor="ctr">
                    <a:solidFill>
                      <a:srgbClr val="FFFFFF"/>
                    </a:solidFill>
                  </a:tcPr>
                </a:tc>
                <a:tc>
                  <a:txBody>
                    <a:bodyPr/>
                    <a:lstStyle/>
                    <a:p>
                      <a:r>
                        <a:rPr sz="1200" b="0" i="0">
                          <a:solidFill>
                            <a:srgbClr val="1A1440"/>
                          </a:solidFill>
                          <a:latin typeface="Calibri"/>
                        </a:rPr>
                        <a:t>Rs 9,38,160</a:t>
                      </a:r>
                    </a:p>
                  </a:txBody>
                  <a:tcPr marL="101600" marR="101600" marT="38100" marB="38100" anchor="ctr">
                    <a:solidFill>
                      <a:srgbClr val="FFFFFF"/>
                    </a:solidFill>
                  </a:tcPr>
                </a:tc>
                <a:tc>
                  <a:txBody>
                    <a:bodyPr/>
                    <a:lstStyle/>
                    <a:p>
                      <a:r>
                        <a:rPr sz="1200" b="0" i="0">
                          <a:solidFill>
                            <a:srgbClr val="1A1440"/>
                          </a:solidFill>
                          <a:latin typeface="Calibri"/>
                        </a:rPr>
                        <a:t>Rs 7,00,910</a:t>
                      </a:r>
                    </a:p>
                  </a:txBody>
                  <a:tcPr marL="101600" marR="101600" marT="38100" marB="38100" anchor="ctr">
                    <a:solidFill>
                      <a:srgbClr val="FFFFFF"/>
                    </a:solidFill>
                  </a:tcPr>
                </a:tc>
                <a:tc>
                  <a:txBody>
                    <a:bodyPr/>
                    <a:lstStyle/>
                    <a:p>
                      <a:r>
                        <a:rPr sz="1200" b="0" i="0">
                          <a:solidFill>
                            <a:srgbClr val="1A1440"/>
                          </a:solidFill>
                          <a:latin typeface="Calibri"/>
                        </a:rPr>
                        <a:t>-25.3%</a:t>
                      </a:r>
                    </a:p>
                  </a:txBody>
                  <a:tcPr marL="101600" marR="101600" marT="38100" marB="38100" anchor="ctr">
                    <a:solidFill>
                      <a:srgbClr val="FFFFFF"/>
                    </a:solidFill>
                  </a:tcPr>
                </a:tc>
              </a:tr>
              <a:tr h="335280">
                <a:tc>
                  <a:txBody>
                    <a:bodyPr/>
                    <a:lstStyle/>
                    <a:p>
                      <a:r>
                        <a:rPr sz="1200" b="0" i="0">
                          <a:solidFill>
                            <a:srgbClr val="1A1440"/>
                          </a:solidFill>
                          <a:latin typeface="Calibri"/>
                        </a:rPr>
                        <a:t>Student</a:t>
                      </a:r>
                    </a:p>
                  </a:txBody>
                  <a:tcPr marL="101600" marR="101600" marT="38100" marB="38100" anchor="ctr">
                    <a:solidFill>
                      <a:srgbClr val="F4F2FA"/>
                    </a:solidFill>
                  </a:tcPr>
                </a:tc>
                <a:tc>
                  <a:txBody>
                    <a:bodyPr/>
                    <a:lstStyle/>
                    <a:p>
                      <a:r>
                        <a:rPr sz="1200" b="0" i="0">
                          <a:solidFill>
                            <a:srgbClr val="1A1440"/>
                          </a:solidFill>
                          <a:latin typeface="Calibri"/>
                        </a:rPr>
                        <a:t>Rs 35,350</a:t>
                      </a:r>
                    </a:p>
                  </a:txBody>
                  <a:tcPr marL="101600" marR="101600" marT="38100" marB="38100" anchor="ctr">
                    <a:solidFill>
                      <a:srgbClr val="F4F2FA"/>
                    </a:solidFill>
                  </a:tcPr>
                </a:tc>
                <a:tc>
                  <a:txBody>
                    <a:bodyPr/>
                    <a:lstStyle/>
                    <a:p>
                      <a:r>
                        <a:rPr sz="1200" b="0" i="0">
                          <a:solidFill>
                            <a:srgbClr val="1A1440"/>
                          </a:solidFill>
                          <a:latin typeface="Calibri"/>
                        </a:rPr>
                        <a:t>Rs 48,070</a:t>
                      </a:r>
                    </a:p>
                  </a:txBody>
                  <a:tcPr marL="101600" marR="101600" marT="38100" marB="38100" anchor="ctr">
                    <a:solidFill>
                      <a:srgbClr val="F4F2FA"/>
                    </a:solidFill>
                  </a:tcPr>
                </a:tc>
                <a:tc>
                  <a:txBody>
                    <a:bodyPr/>
                    <a:lstStyle/>
                    <a:p>
                      <a:r>
                        <a:rPr sz="1200" b="0" i="0">
                          <a:solidFill>
                            <a:srgbClr val="1A1440"/>
                          </a:solidFill>
                          <a:latin typeface="Calibri"/>
                        </a:rPr>
                        <a:t>+36.0%</a:t>
                      </a:r>
                    </a:p>
                  </a:txBody>
                  <a:tcPr marL="101600" marR="101600" marT="38100" marB="38100" anchor="ctr">
                    <a:solidFill>
                      <a:srgbClr val="F4F2FA"/>
                    </a:solidFill>
                  </a:tcPr>
                </a:tc>
              </a:tr>
              <a:tr h="335280">
                <a:tc>
                  <a:txBody>
                    <a:bodyPr/>
                    <a:lstStyle/>
                    <a:p>
                      <a:r>
                        <a:rPr sz="1200" b="0" i="0">
                          <a:solidFill>
                            <a:srgbClr val="1A1440"/>
                          </a:solidFill>
                          <a:latin typeface="Calibri"/>
                        </a:rPr>
                        <a:t>All segments</a:t>
                      </a:r>
                    </a:p>
                  </a:txBody>
                  <a:tcPr marL="101600" marR="101600" marT="38100" marB="38100" anchor="ctr">
                    <a:solidFill>
                      <a:srgbClr val="FFFFFF"/>
                    </a:solidFill>
                  </a:tcPr>
                </a:tc>
                <a:tc>
                  <a:txBody>
                    <a:bodyPr/>
                    <a:lstStyle/>
                    <a:p>
                      <a:r>
                        <a:rPr sz="1200" b="0" i="0">
                          <a:solidFill>
                            <a:srgbClr val="1A1440"/>
                          </a:solidFill>
                          <a:latin typeface="Calibri"/>
                        </a:rPr>
                        <a:t>Rs 19,94,36,150</a:t>
                      </a:r>
                    </a:p>
                  </a:txBody>
                  <a:tcPr marL="101600" marR="101600" marT="38100" marB="38100" anchor="ctr">
                    <a:solidFill>
                      <a:srgbClr val="FFFFFF"/>
                    </a:solidFill>
                  </a:tcPr>
                </a:tc>
                <a:tc>
                  <a:txBody>
                    <a:bodyPr/>
                    <a:lstStyle/>
                    <a:p>
                      <a:r>
                        <a:rPr sz="1200" b="0" i="0">
                          <a:solidFill>
                            <a:srgbClr val="1A1440"/>
                          </a:solidFill>
                          <a:latin typeface="Calibri"/>
                        </a:rPr>
                        <a:t>Rs 19,46,59,340</a:t>
                      </a:r>
                    </a:p>
                  </a:txBody>
                  <a:tcPr marL="101600" marR="101600" marT="38100" marB="38100" anchor="ctr">
                    <a:solidFill>
                      <a:srgbClr val="FFFFFF"/>
                    </a:solidFill>
                  </a:tcPr>
                </a:tc>
                <a:tc>
                  <a:txBody>
                    <a:bodyPr/>
                    <a:lstStyle/>
                    <a:p>
                      <a:r>
                        <a:rPr sz="1200" b="0" i="0">
                          <a:solidFill>
                            <a:srgbClr val="1A1440"/>
                          </a:solidFill>
                          <a:latin typeface="Calibri"/>
                        </a:rPr>
                        <a:t>-2.4%</a:t>
                      </a:r>
                    </a:p>
                  </a:txBody>
                  <a:tcPr marL="101600" marR="101600" marT="38100" marB="38100" anchor="ctr">
                    <a:solidFill>
                      <a:srgbClr val="FFFFFF"/>
                    </a:solidFill>
                  </a:tcPr>
                </a:tc>
              </a:tr>
            </a:tbl>
          </a:graphicData>
        </a:graphic>
      </p:graphicFrame>
      <p:sp>
        <p:nvSpPr>
          <p:cNvPr id="10" name="Rounded Rectangle 9"/>
          <p:cNvSpPr/>
          <p:nvPr/>
        </p:nvSpPr>
        <p:spPr>
          <a:xfrm>
            <a:off x="530352" y="42245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525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43400"/>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The deck carries Rs 19.47 crore for Q2, nearly twice the warehouse's Rs 9.84 crore, and calls Retail-Core the healthy segment the plan can leave alone.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32 / 82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1,450 rows, 1,000 orders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one row of the raw export stand for, and which check catches it?</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1,450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one per payment</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1,000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 IDS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what the warehouse holds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450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ORDERS ON TWO ROWS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550 on one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3581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The export repeats each order's amount on every payment row, and a Sum adds every repeat.</a:t>
            </a:r>
          </a:p>
        </p:txBody>
      </p:sp>
      <p:sp>
        <p:nvSpPr>
          <p:cNvPr id="24" name="Rounded Rectangle 23"/>
          <p:cNvSpPr/>
          <p:nvPr/>
        </p:nvSpPr>
        <p:spPr>
          <a:xfrm>
            <a:off x="530352" y="41254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76656" y="425348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77824" y="4244340"/>
            <a:ext cx="10564063" cy="624840"/>
          </a:xfrm>
          <a:prstGeom prst="rect">
            <a:avLst/>
          </a:prstGeom>
          <a:noFill/>
        </p:spPr>
        <p:txBody>
          <a:bodyPr wrap="square" anchor="ctr" lIns="0" rIns="0" tIns="0" bIns="0">
            <a:spAutoFit/>
          </a:bodyPr>
          <a:lstStyle/>
          <a:p>
            <a:r>
              <a:rPr sz="1500" b="1">
                <a:solidFill>
                  <a:srgbClr val="5B3FD6"/>
                </a:solidFill>
                <a:latin typeface="Calibri"/>
              </a:rPr>
              <a:t>The check that catches it. </a:t>
            </a:r>
            <a:r>
              <a:rPr sz="1500" b="0" i="0">
                <a:solidFill>
                  <a:srgbClr val="1A1440"/>
                </a:solidFill>
                <a:latin typeface="Calibri"/>
              </a:rPr>
              <a:t>Count rows against distinct order ids, then tie the grand total to the warehouse; either catches it in a minute.</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9" name="Oval 28"/>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31" name="Oval 30"/>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3" name="Oval 32"/>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5" name="Oval 34"/>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33 / 82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Does Remove Duplicates fix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With every column ticked, what does Remove Duplicates leave?</a:t>
            </a:r>
          </a:p>
        </p:txBody>
      </p:sp>
      <p:pic>
        <p:nvPicPr>
          <p:cNvPr id="9" name="mermaid diagram" descr="f89204dd7d040b1d.png"/>
          <p:cNvPicPr>
            <a:picLocks noChangeAspect="1"/>
          </p:cNvPicPr>
          <p:nvPr/>
        </p:nvPicPr>
        <p:blipFill>
          <a:blip r:embed="rId5"/>
          <a:stretch>
            <a:fillRect/>
          </a:stretch>
        </p:blipFill>
        <p:spPr>
          <a:xfrm>
            <a:off x="1238097" y="1956816"/>
            <a:ext cx="9715500" cy="2886075"/>
          </a:xfrm>
          <a:prstGeom prst="rect">
            <a:avLst/>
          </a:prstGeom>
        </p:spPr>
      </p:pic>
      <p:sp>
        <p:nvSpPr>
          <p:cNvPr id="10" name="Rounded Rectangle 9"/>
          <p:cNvSpPr/>
          <p:nvPr/>
        </p:nvSpPr>
        <p:spPr>
          <a:xfrm>
            <a:off x="530352" y="4989195"/>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117211"/>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108067"/>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After Remove Duplicates, the grand total reads which?</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34 / 82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50 rows go, and the total barely moves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removing identical rows leave the double count?</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4999531"/>
                <a:gridCol w="2776238"/>
                <a:gridCol w="3355221"/>
              </a:tblGrid>
              <a:tr h="369824">
                <a:tc>
                  <a:txBody>
                    <a:bodyPr/>
                    <a:lstStyle/>
                    <a:p>
                      <a:r>
                        <a:rPr sz="1450" b="1" i="0">
                          <a:solidFill>
                            <a:srgbClr val="FFFFFF"/>
                          </a:solidFill>
                          <a:latin typeface="Calibri"/>
                        </a:rPr>
                        <a:t>Version of the export</a:t>
                      </a:r>
                    </a:p>
                  </a:txBody>
                  <a:tcPr marL="101600" marR="101600" marT="38100" marB="38100" anchor="ctr">
                    <a:solidFill>
                      <a:srgbClr val="1A0F5C"/>
                    </a:solidFill>
                  </a:tcPr>
                </a:tc>
                <a:tc>
                  <a:txBody>
                    <a:bodyPr/>
                    <a:lstStyle/>
                    <a:p>
                      <a:r>
                        <a:rPr sz="1450" b="1" i="0">
                          <a:solidFill>
                            <a:srgbClr val="FFFFFF"/>
                          </a:solidFill>
                          <a:latin typeface="Calibri"/>
                        </a:rPr>
                        <a:t>Rows</a:t>
                      </a:r>
                    </a:p>
                  </a:txBody>
                  <a:tcPr marL="101600" marR="101600" marT="38100" marB="38100" anchor="ctr">
                    <a:solidFill>
                      <a:srgbClr val="1A0F5C"/>
                    </a:solidFill>
                  </a:tcPr>
                </a:tc>
                <a:tc>
                  <a:txBody>
                    <a:bodyPr/>
                    <a:lstStyle/>
                    <a:p>
                      <a:r>
                        <a:rPr sz="1450" b="1" i="0">
                          <a:solidFill>
                            <a:srgbClr val="FFFFFF"/>
                          </a:solidFill>
                          <a:latin typeface="Calibri"/>
                        </a:rPr>
                        <a:t>Grand total</a:t>
                      </a:r>
                    </a:p>
                  </a:txBody>
                  <a:tcPr marL="101600" marR="101600" marT="38100" marB="38100" anchor="ctr">
                    <a:solidFill>
                      <a:srgbClr val="1A0F5C"/>
                    </a:solidFill>
                  </a:tcPr>
                </a:tc>
              </a:tr>
              <a:tr h="369824">
                <a:tc>
                  <a:txBody>
                    <a:bodyPr/>
                    <a:lstStyle/>
                    <a:p>
                      <a:r>
                        <a:rPr sz="1400" b="0" i="0">
                          <a:solidFill>
                            <a:srgbClr val="1A1440"/>
                          </a:solidFill>
                          <a:latin typeface="Calibri"/>
                        </a:rPr>
                        <a:t>As exported</a:t>
                      </a:r>
                    </a:p>
                  </a:txBody>
                  <a:tcPr marL="101600" marR="101600" marT="38100" marB="38100" anchor="ctr">
                    <a:solidFill>
                      <a:srgbClr val="FFFFFF"/>
                    </a:solidFill>
                  </a:tcPr>
                </a:tc>
                <a:tc>
                  <a:txBody>
                    <a:bodyPr/>
                    <a:lstStyle/>
                    <a:p>
                      <a:r>
                        <a:rPr sz="1400" b="0" i="0">
                          <a:solidFill>
                            <a:srgbClr val="1A1440"/>
                          </a:solidFill>
                          <a:latin typeface="Calibri"/>
                        </a:rPr>
                        <a:t>1,450</a:t>
                      </a:r>
                    </a:p>
                  </a:txBody>
                  <a:tcPr marL="101600" marR="101600" marT="38100" marB="38100" anchor="ctr">
                    <a:solidFill>
                      <a:srgbClr val="FFFFFF"/>
                    </a:solidFill>
                  </a:tcPr>
                </a:tc>
                <a:tc>
                  <a:txBody>
                    <a:bodyPr/>
                    <a:lstStyle/>
                    <a:p>
                      <a:r>
                        <a:rPr sz="1400" b="0" i="0">
                          <a:solidFill>
                            <a:srgbClr val="1A1440"/>
                          </a:solidFill>
                          <a:latin typeface="Calibri"/>
                        </a:rPr>
                        <a:t>Rs 39,40,95,490</a:t>
                      </a:r>
                    </a:p>
                  </a:txBody>
                  <a:tcPr marL="101600" marR="101600" marT="38100" marB="38100" anchor="ctr">
                    <a:solidFill>
                      <a:srgbClr val="FFFFFF"/>
                    </a:solidFill>
                  </a:tcPr>
                </a:tc>
              </a:tr>
              <a:tr h="369824">
                <a:tc>
                  <a:txBody>
                    <a:bodyPr/>
                    <a:lstStyle/>
                    <a:p>
                      <a:r>
                        <a:rPr sz="1400" b="0" i="0">
                          <a:solidFill>
                            <a:srgbClr val="1A1440"/>
                          </a:solidFill>
                          <a:latin typeface="Calibri"/>
                        </a:rPr>
                        <a:t>After Remove Duplicates</a:t>
                      </a:r>
                    </a:p>
                  </a:txBody>
                  <a:tcPr marL="101600" marR="101600" marT="38100" marB="38100" anchor="ctr">
                    <a:solidFill>
                      <a:srgbClr val="F4F2FA"/>
                    </a:solidFill>
                  </a:tcPr>
                </a:tc>
                <a:tc>
                  <a:txBody>
                    <a:bodyPr/>
                    <a:lstStyle/>
                    <a:p>
                      <a:r>
                        <a:rPr sz="1400" b="0" i="0">
                          <a:solidFill>
                            <a:srgbClr val="1A1440"/>
                          </a:solidFill>
                          <a:latin typeface="Calibri"/>
                        </a:rPr>
                        <a:t>1,400</a:t>
                      </a:r>
                    </a:p>
                  </a:txBody>
                  <a:tcPr marL="101600" marR="101600" marT="38100" marB="38100" anchor="ctr">
                    <a:solidFill>
                      <a:srgbClr val="F4F2FA"/>
                    </a:solidFill>
                  </a:tcPr>
                </a:tc>
                <a:tc>
                  <a:txBody>
                    <a:bodyPr/>
                    <a:lstStyle/>
                    <a:p>
                      <a:r>
                        <a:rPr sz="1400" b="0" i="0">
                          <a:solidFill>
                            <a:srgbClr val="1A1440"/>
                          </a:solidFill>
                          <a:latin typeface="Calibri"/>
                        </a:rPr>
                        <a:t>Rs 39,40,57,740</a:t>
                      </a:r>
                    </a:p>
                  </a:txBody>
                  <a:tcPr marL="101600" marR="101600" marT="38100" marB="38100" anchor="ctr">
                    <a:solidFill>
                      <a:srgbClr val="F4F2FA"/>
                    </a:solidFill>
                  </a:tcPr>
                </a:tc>
              </a:tr>
              <a:tr h="369824">
                <a:tc>
                  <a:txBody>
                    <a:bodyPr/>
                    <a:lstStyle/>
                    <a:p>
                      <a:r>
                        <a:rPr sz="1400" b="0" i="0">
                          <a:solidFill>
                            <a:srgbClr val="1A1440"/>
                          </a:solidFill>
                          <a:latin typeface="Calibri"/>
                        </a:rPr>
                        <a:t>The warehouse</a:t>
                      </a:r>
                    </a:p>
                  </a:txBody>
                  <a:tcPr marL="101600" marR="101600" marT="38100" marB="38100" anchor="ctr">
                    <a:solidFill>
                      <a:srgbClr val="FFFFFF"/>
                    </a:solidFill>
                  </a:tcPr>
                </a:tc>
                <a:tc>
                  <a:txBody>
                    <a:bodyPr/>
                    <a:lstStyle/>
                    <a:p>
                      <a:r>
                        <a:rPr sz="1400" b="0" i="0">
                          <a:solidFill>
                            <a:srgbClr val="1A1440"/>
                          </a:solidFill>
                          <a:latin typeface="Calibri"/>
                        </a:rPr>
                        <a:t>1,000 orders</a:t>
                      </a:r>
                    </a:p>
                  </a:txBody>
                  <a:tcPr marL="101600" marR="101600" marT="38100" marB="38100" anchor="ctr">
                    <a:solidFill>
                      <a:srgbClr val="FFFFFF"/>
                    </a:solidFill>
                  </a:tcPr>
                </a:tc>
                <a:tc>
                  <a:txBody>
                    <a:bodyPr/>
                    <a:lstStyle/>
                    <a:p>
                      <a:r>
                        <a:rPr sz="1400" b="0" i="0">
                          <a:solidFill>
                            <a:srgbClr val="1A1440"/>
                          </a:solidFill>
                          <a:latin typeface="Calibri"/>
                        </a:rPr>
                        <a:t>Rs 19,84,00,000</a:t>
                      </a:r>
                    </a:p>
                  </a:txBody>
                  <a:tcPr marL="101600" marR="101600" marT="38100" marB="38100" anchor="ctr">
                    <a:solidFill>
                      <a:srgbClr val="FFFFFF"/>
                    </a:solidFill>
                  </a:tcPr>
                </a:tc>
              </a:tr>
            </a:tbl>
          </a:graphicData>
        </a:graphic>
      </p:graphicFrame>
      <p:sp>
        <p:nvSpPr>
          <p:cNvPr id="10" name="TextBox 9"/>
          <p:cNvSpPr txBox="1"/>
          <p:nvPr/>
        </p:nvSpPr>
        <p:spPr>
          <a:xfrm>
            <a:off x="530352" y="369214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Only the 50 orders the gateway posted twice have identical rows; the 400 orders paid in two instalments differ in paid_amount, so both rows stay, and the analyst believes the file is clean.</a:t>
            </a:r>
          </a:p>
        </p:txBody>
      </p:sp>
      <p:sp>
        <p:nvSpPr>
          <p:cNvPr id="11" name="Rounded Rectangle 10"/>
          <p:cNvSpPr/>
          <p:nvPr/>
        </p:nvSpPr>
        <p:spPr>
          <a:xfrm>
            <a:off x="530352" y="4592319"/>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720335"/>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711191"/>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Counted once per order, what is the Q2 total? a) Rs 9.84 crore; b) Rs 9.74 crore; c) Rs 19.47 crore; d) Rs 4.92 crore.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35 / 82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flag each order's first row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tree say when each order counts once?</a:t>
            </a:r>
          </a:p>
        </p:txBody>
      </p:sp>
      <p:sp>
        <p:nvSpPr>
          <p:cNvPr id="9" name="Rounded Rectangle 8"/>
          <p:cNvSpPr/>
          <p:nvPr/>
        </p:nvSpPr>
        <p:spPr>
          <a:xfrm>
            <a:off x="530352" y="1682496"/>
            <a:ext cx="5291175"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181051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181051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181051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011680"/>
            <a:ext cx="4833975"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=IF(COUNTIF($A$2:A2,A2)=1,1,0)</a:t>
            </a:r>
          </a:p>
        </p:txBody>
      </p:sp>
      <p:graphicFrame>
        <p:nvGraphicFramePr>
          <p:cNvPr id="14" name="Table 13"/>
          <p:cNvGraphicFramePr>
            <a:graphicFrameLocks noGrp="1"/>
          </p:cNvGraphicFramePr>
          <p:nvPr/>
        </p:nvGraphicFramePr>
        <p:xfrm>
          <a:off x="530352" y="2556764"/>
          <a:ext cx="5291174" cy="1554480"/>
        </p:xfrm>
        <a:graphic>
          <a:graphicData uri="http://schemas.openxmlformats.org/drawingml/2006/table">
            <a:tbl>
              <a:tblPr firstRow="0" bandRow="0">
                <a:tableStyleId>{2D5ABB26-0587-4C30-8999-92F81FD0307C}</a:tableStyleId>
              </a:tblPr>
              <a:tblGrid>
                <a:gridCol w="1311104"/>
                <a:gridCol w="1577181"/>
                <a:gridCol w="1488489"/>
                <a:gridCol w="914400"/>
              </a:tblGrid>
              <a:tr h="310896">
                <a:tc>
                  <a:txBody>
                    <a:bodyPr/>
                    <a:lstStyle/>
                    <a:p>
                      <a:r>
                        <a:rPr sz="950" b="1" i="0">
                          <a:solidFill>
                            <a:srgbClr val="FFFFFF"/>
                          </a:solidFill>
                          <a:latin typeface="Calibri"/>
                        </a:rPr>
                        <a:t>Segment</a:t>
                      </a:r>
                    </a:p>
                  </a:txBody>
                  <a:tcPr marL="101600" marR="101600" marT="38100" marB="38100" anchor="ctr">
                    <a:solidFill>
                      <a:srgbClr val="1A0F5C"/>
                    </a:solidFill>
                  </a:tcPr>
                </a:tc>
                <a:tc>
                  <a:txBody>
                    <a:bodyPr/>
                    <a:lstStyle/>
                    <a:p>
                      <a:r>
                        <a:rPr sz="950" b="1" i="0">
                          <a:solidFill>
                            <a:srgbClr val="FFFFFF"/>
                          </a:solidFill>
                          <a:latin typeface="Calibri"/>
                        </a:rPr>
                        <a:t>Q1</a:t>
                      </a:r>
                    </a:p>
                  </a:txBody>
                  <a:tcPr marL="101600" marR="101600" marT="38100" marB="38100" anchor="ctr">
                    <a:solidFill>
                      <a:srgbClr val="1A0F5C"/>
                    </a:solidFill>
                  </a:tcPr>
                </a:tc>
                <a:tc>
                  <a:txBody>
                    <a:bodyPr/>
                    <a:lstStyle/>
                    <a:p>
                      <a:r>
                        <a:rPr sz="950" b="1" i="0">
                          <a:solidFill>
                            <a:srgbClr val="FFFFFF"/>
                          </a:solidFill>
                          <a:latin typeface="Calibri"/>
                        </a:rPr>
                        <a:t>Q2</a:t>
                      </a:r>
                    </a:p>
                  </a:txBody>
                  <a:tcPr marL="101600" marR="101600" marT="38100" marB="38100" anchor="ctr">
                    <a:solidFill>
                      <a:srgbClr val="1A0F5C"/>
                    </a:solidFill>
                  </a:tcPr>
                </a:tc>
                <a:tc>
                  <a:txBody>
                    <a:bodyPr/>
                    <a:lstStyle/>
                    <a:p>
                      <a:r>
                        <a:rPr sz="950" b="1" i="0">
                          <a:solidFill>
                            <a:srgbClr val="FFFFFF"/>
                          </a:solidFill>
                          <a:latin typeface="Calibri"/>
                        </a:rPr>
                        <a:t>Change</a:t>
                      </a:r>
                    </a:p>
                  </a:txBody>
                  <a:tcPr marL="101600" marR="101600" marT="38100" marB="38100" anchor="ctr">
                    <a:solidFill>
                      <a:srgbClr val="1A0F5C"/>
                    </a:solidFill>
                  </a:tcPr>
                </a:tc>
              </a:tr>
              <a:tr h="310896">
                <a:tc>
                  <a:txBody>
                    <a:bodyPr/>
                    <a:lstStyle/>
                    <a:p>
                      <a:r>
                        <a:rPr sz="900" b="0" i="0">
                          <a:solidFill>
                            <a:srgbClr val="1A1440"/>
                          </a:solidFill>
                          <a:latin typeface="Calibri"/>
                        </a:rPr>
                        <a:t>Business</a:t>
                      </a:r>
                    </a:p>
                  </a:txBody>
                  <a:tcPr marL="101600" marR="101600" marT="38100" marB="38100" anchor="ctr">
                    <a:solidFill>
                      <a:srgbClr val="FFFFFF"/>
                    </a:solidFill>
                  </a:tcPr>
                </a:tc>
                <a:tc>
                  <a:txBody>
                    <a:bodyPr/>
                    <a:lstStyle/>
                    <a:p>
                      <a:r>
                        <a:rPr sz="900" b="0" i="0">
                          <a:solidFill>
                            <a:srgbClr val="1A1440"/>
                          </a:solidFill>
                          <a:latin typeface="Calibri"/>
                        </a:rPr>
                        <a:t>Rs 9,90,14,440</a:t>
                      </a:r>
                    </a:p>
                  </a:txBody>
                  <a:tcPr marL="101600" marR="101600" marT="38100" marB="38100" anchor="ctr">
                    <a:solidFill>
                      <a:srgbClr val="FFFFFF"/>
                    </a:solidFill>
                  </a:tcPr>
                </a:tc>
                <a:tc>
                  <a:txBody>
                    <a:bodyPr/>
                    <a:lstStyle/>
                    <a:p>
                      <a:r>
                        <a:rPr sz="900" b="0" i="0">
                          <a:solidFill>
                            <a:srgbClr val="1A1440"/>
                          </a:solidFill>
                          <a:latin typeface="Calibri"/>
                        </a:rPr>
                        <a:t>Rs 9,75,84,600</a:t>
                      </a:r>
                    </a:p>
                  </a:txBody>
                  <a:tcPr marL="101600" marR="101600" marT="38100" marB="38100" anchor="ctr">
                    <a:solidFill>
                      <a:srgbClr val="FFFFFF"/>
                    </a:solidFill>
                  </a:tcPr>
                </a:tc>
                <a:tc>
                  <a:txBody>
                    <a:bodyPr/>
                    <a:lstStyle/>
                    <a:p>
                      <a:r>
                        <a:rPr sz="900" b="0" i="0">
                          <a:solidFill>
                            <a:srgbClr val="1A1440"/>
                          </a:solidFill>
                          <a:latin typeface="Calibri"/>
                        </a:rPr>
                        <a:t>-1.4%</a:t>
                      </a:r>
                    </a:p>
                  </a:txBody>
                  <a:tcPr marL="101600" marR="101600" marT="38100" marB="38100" anchor="ctr">
                    <a:solidFill>
                      <a:srgbClr val="FFFFFF"/>
                    </a:solidFill>
                  </a:tcPr>
                </a:tc>
              </a:tr>
              <a:tr h="310896">
                <a:tc>
                  <a:txBody>
                    <a:bodyPr/>
                    <a:lstStyle/>
                    <a:p>
                      <a:r>
                        <a:rPr sz="900" b="0" i="0">
                          <a:solidFill>
                            <a:srgbClr val="1A1440"/>
                          </a:solidFill>
                          <a:latin typeface="Calibri"/>
                        </a:rPr>
                        <a:t>Retail-Core</a:t>
                      </a:r>
                    </a:p>
                  </a:txBody>
                  <a:tcPr marL="101600" marR="101600" marT="38100" marB="38100" anchor="ctr">
                    <a:solidFill>
                      <a:srgbClr val="F4F2FA"/>
                    </a:solidFill>
                  </a:tcPr>
                </a:tc>
                <a:tc>
                  <a:txBody>
                    <a:bodyPr/>
                    <a:lstStyle/>
                    <a:p>
                      <a:r>
                        <a:rPr sz="900" b="0" i="0">
                          <a:solidFill>
                            <a:srgbClr val="1A1440"/>
                          </a:solidFill>
                          <a:latin typeface="Calibri"/>
                        </a:rPr>
                        <a:t>Rs 3,73,070</a:t>
                      </a:r>
                    </a:p>
                  </a:txBody>
                  <a:tcPr marL="101600" marR="101600" marT="38100" marB="38100" anchor="ctr">
                    <a:solidFill>
                      <a:srgbClr val="F4F2FA"/>
                    </a:solidFill>
                  </a:tcPr>
                </a:tc>
                <a:tc>
                  <a:txBody>
                    <a:bodyPr/>
                    <a:lstStyle/>
                    <a:p>
                      <a:r>
                        <a:rPr sz="900" b="0" i="0">
                          <a:solidFill>
                            <a:srgbClr val="1A1440"/>
                          </a:solidFill>
                          <a:latin typeface="Calibri"/>
                        </a:rPr>
                        <a:t>Rs 3,66,250</a:t>
                      </a:r>
                    </a:p>
                  </a:txBody>
                  <a:tcPr marL="101600" marR="101600" marT="38100" marB="38100" anchor="ctr">
                    <a:solidFill>
                      <a:srgbClr val="F4F2FA"/>
                    </a:solidFill>
                  </a:tcPr>
                </a:tc>
                <a:tc>
                  <a:txBody>
                    <a:bodyPr/>
                    <a:lstStyle/>
                    <a:p>
                      <a:r>
                        <a:rPr sz="900" b="0" i="0">
                          <a:solidFill>
                            <a:srgbClr val="1A1440"/>
                          </a:solidFill>
                          <a:latin typeface="Calibri"/>
                        </a:rPr>
                        <a:t>-1.8%</a:t>
                      </a:r>
                    </a:p>
                  </a:txBody>
                  <a:tcPr marL="101600" marR="101600" marT="38100" marB="38100" anchor="ctr">
                    <a:solidFill>
                      <a:srgbClr val="F4F2FA"/>
                    </a:solidFill>
                  </a:tcPr>
                </a:tc>
              </a:tr>
              <a:tr h="310896">
                <a:tc>
                  <a:txBody>
                    <a:bodyPr/>
                    <a:lstStyle/>
                    <a:p>
                      <a:r>
                        <a:rPr sz="900" b="0" i="0">
                          <a:solidFill>
                            <a:srgbClr val="1A1440"/>
                          </a:solidFill>
                          <a:latin typeface="Calibri"/>
                        </a:rPr>
                        <a:t>Retail-Plus</a:t>
                      </a:r>
                    </a:p>
                  </a:txBody>
                  <a:tcPr marL="101600" marR="101600" marT="38100" marB="38100" anchor="ctr">
                    <a:solidFill>
                      <a:srgbClr val="FFFFFF"/>
                    </a:solidFill>
                  </a:tcPr>
                </a:tc>
                <a:tc>
                  <a:txBody>
                    <a:bodyPr/>
                    <a:lstStyle/>
                    <a:p>
                      <a:r>
                        <a:rPr sz="900" b="0" i="0">
                          <a:solidFill>
                            <a:srgbClr val="1A1440"/>
                          </a:solidFill>
                          <a:latin typeface="Calibri"/>
                        </a:rPr>
                        <a:t>Rs 5,85,770</a:t>
                      </a:r>
                    </a:p>
                  </a:txBody>
                  <a:tcPr marL="101600" marR="101600" marT="38100" marB="38100" anchor="ctr">
                    <a:solidFill>
                      <a:srgbClr val="FFFFFF"/>
                    </a:solidFill>
                  </a:tcPr>
                </a:tc>
                <a:tc>
                  <a:txBody>
                    <a:bodyPr/>
                    <a:lstStyle/>
                    <a:p>
                      <a:r>
                        <a:rPr sz="900" b="0" i="0">
                          <a:solidFill>
                            <a:srgbClr val="1A1440"/>
                          </a:solidFill>
                          <a:latin typeface="Calibri"/>
                        </a:rPr>
                        <a:t>Rs 4,13,380</a:t>
                      </a:r>
                    </a:p>
                  </a:txBody>
                  <a:tcPr marL="101600" marR="101600" marT="38100" marB="38100" anchor="ctr">
                    <a:solidFill>
                      <a:srgbClr val="FFFFFF"/>
                    </a:solidFill>
                  </a:tcPr>
                </a:tc>
                <a:tc>
                  <a:txBody>
                    <a:bodyPr/>
                    <a:lstStyle/>
                    <a:p>
                      <a:r>
                        <a:rPr sz="900" b="0" i="0">
                          <a:solidFill>
                            <a:srgbClr val="1A1440"/>
                          </a:solidFill>
                          <a:latin typeface="Calibri"/>
                        </a:rPr>
                        <a:t>-29.4%</a:t>
                      </a:r>
                    </a:p>
                  </a:txBody>
                  <a:tcPr marL="101600" marR="101600" marT="38100" marB="38100" anchor="ctr">
                    <a:solidFill>
                      <a:srgbClr val="FFFFFF"/>
                    </a:solidFill>
                  </a:tcPr>
                </a:tc>
              </a:tr>
              <a:tr h="310896">
                <a:tc>
                  <a:txBody>
                    <a:bodyPr/>
                    <a:lstStyle/>
                    <a:p>
                      <a:r>
                        <a:rPr sz="900" b="0" i="0">
                          <a:solidFill>
                            <a:srgbClr val="1A1440"/>
                          </a:solidFill>
                          <a:latin typeface="Calibri"/>
                        </a:rPr>
                        <a:t>All segments</a:t>
                      </a:r>
                    </a:p>
                  </a:txBody>
                  <a:tcPr marL="101600" marR="101600" marT="38100" marB="38100" anchor="ctr">
                    <a:solidFill>
                      <a:srgbClr val="F4F2FA"/>
                    </a:solidFill>
                  </a:tcPr>
                </a:tc>
                <a:tc>
                  <a:txBody>
                    <a:bodyPr/>
                    <a:lstStyle/>
                    <a:p>
                      <a:r>
                        <a:rPr sz="900" b="0" i="0">
                          <a:solidFill>
                            <a:srgbClr val="1A1440"/>
                          </a:solidFill>
                          <a:latin typeface="Calibri"/>
                        </a:rPr>
                        <a:t>Rs 10,00,00,000</a:t>
                      </a:r>
                    </a:p>
                  </a:txBody>
                  <a:tcPr marL="101600" marR="101600" marT="38100" marB="38100" anchor="ctr">
                    <a:solidFill>
                      <a:srgbClr val="F4F2FA"/>
                    </a:solidFill>
                  </a:tcPr>
                </a:tc>
                <a:tc>
                  <a:txBody>
                    <a:bodyPr/>
                    <a:lstStyle/>
                    <a:p>
                      <a:r>
                        <a:rPr sz="900" b="0" i="0">
                          <a:solidFill>
                            <a:srgbClr val="1A1440"/>
                          </a:solidFill>
                          <a:latin typeface="Calibri"/>
                        </a:rPr>
                        <a:t>Rs 9,84,00,000</a:t>
                      </a:r>
                    </a:p>
                  </a:txBody>
                  <a:tcPr marL="101600" marR="101600" marT="38100" marB="38100" anchor="ctr">
                    <a:solidFill>
                      <a:srgbClr val="F4F2FA"/>
                    </a:solidFill>
                  </a:tcPr>
                </a:tc>
                <a:tc>
                  <a:txBody>
                    <a:bodyPr/>
                    <a:lstStyle/>
                    <a:p>
                      <a:r>
                        <a:rPr sz="900" b="0" i="0">
                          <a:solidFill>
                            <a:srgbClr val="1A1440"/>
                          </a:solidFill>
                          <a:latin typeface="Calibri"/>
                        </a:rPr>
                        <a:t>-1.6%</a:t>
                      </a:r>
                    </a:p>
                  </a:txBody>
                  <a:tcPr marL="101600" marR="101600" marT="38100" marB="38100" anchor="ctr">
                    <a:solidFill>
                      <a:srgbClr val="F4F2FA"/>
                    </a:solidFill>
                  </a:tcPr>
                </a:tc>
              </a:tr>
            </a:tbl>
          </a:graphicData>
        </a:graphic>
      </p:graphicFrame>
      <p:sp>
        <p:nvSpPr>
          <p:cNvPr id="15" name="TextBox 14"/>
          <p:cNvSpPr txBox="1"/>
          <p:nvPr/>
        </p:nvSpPr>
        <p:spPr>
          <a:xfrm>
            <a:off x="6370167" y="1682496"/>
            <a:ext cx="5291175"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a. </a:t>
            </a:r>
            <a:r>
              <a:rPr sz="1600" b="1" i="0">
                <a:solidFill>
                  <a:srgbClr val="1A1440"/>
                </a:solidFill>
                <a:latin typeface="Calibri"/>
              </a:rPr>
              <a:t>What changed.</a:t>
            </a:r>
            <a:r>
              <a:rPr sz="1600" b="0" i="0">
                <a:solidFill>
                  <a:srgbClr val="1A1440"/>
                </a:solidFill>
                <a:latin typeface="Calibri"/>
              </a:rPr>
              <a:t> The total falls by Rs 19,56,95,490 to the warehouse's, and Retail-Core turns from a 1.0 percent rise into a 1.8 percent fall.</a:t>
            </a:r>
          </a:p>
        </p:txBody>
      </p:sp>
      <p:sp>
        <p:nvSpPr>
          <p:cNvPr id="16" name="Rounded Rectangle 15"/>
          <p:cNvSpPr/>
          <p:nvPr/>
        </p:nvSpPr>
        <p:spPr>
          <a:xfrm>
            <a:off x="6370167" y="3135376"/>
            <a:ext cx="5291175"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516471" y="326339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17639" y="3254248"/>
            <a:ext cx="4724247" cy="11582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Which Retail-Plus leaf moved most from Q1 to Q2? a) customers; b) orders per customer; c) revenue per order; d) all three by about the same.</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1" name="Oval 20"/>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23" name="Oval 22"/>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5" name="Oval 24"/>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7" name="Oval 2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36 / 82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In rupees Business fell most; Plus fell steepest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segment and which leaf fell?</a:t>
            </a:r>
          </a:p>
        </p:txBody>
      </p:sp>
      <p:pic>
        <p:nvPicPr>
          <p:cNvPr id="9" name="mermaid diagram" descr="3f65db50375104f2.png"/>
          <p:cNvPicPr>
            <a:picLocks noChangeAspect="1"/>
          </p:cNvPicPr>
          <p:nvPr/>
        </p:nvPicPr>
        <p:blipFill>
          <a:blip r:embed="rId5"/>
          <a:stretch>
            <a:fillRect/>
          </a:stretch>
        </p:blipFill>
        <p:spPr>
          <a:xfrm>
            <a:off x="530352" y="1682496"/>
            <a:ext cx="5291175" cy="2035067"/>
          </a:xfrm>
          <a:prstGeom prst="rect">
            <a:avLst/>
          </a:prstGeom>
        </p:spPr>
      </p:pic>
      <p:graphicFrame>
        <p:nvGraphicFramePr>
          <p:cNvPr id="10" name="Table 9"/>
          <p:cNvGraphicFramePr>
            <a:graphicFrameLocks noGrp="1"/>
          </p:cNvGraphicFramePr>
          <p:nvPr/>
        </p:nvGraphicFramePr>
        <p:xfrm>
          <a:off x="6370167" y="1682496"/>
          <a:ext cx="5291175" cy="1341120"/>
        </p:xfrm>
        <a:graphic>
          <a:graphicData uri="http://schemas.openxmlformats.org/drawingml/2006/table">
            <a:tbl>
              <a:tblPr firstRow="0" bandRow="0">
                <a:tableStyleId>{2D5ABB26-0587-4C30-8999-92F81FD0307C}</a:tableStyleId>
              </a:tblPr>
              <a:tblGrid>
                <a:gridCol w="2547975"/>
                <a:gridCol w="914400"/>
                <a:gridCol w="914400"/>
                <a:gridCol w="914400"/>
              </a:tblGrid>
              <a:tr h="335280">
                <a:tc>
                  <a:txBody>
                    <a:bodyPr/>
                    <a:lstStyle/>
                    <a:p>
                      <a:r>
                        <a:rPr sz="1250" b="1" i="0">
                          <a:solidFill>
                            <a:srgbClr val="FFFFFF"/>
                          </a:solidFill>
                          <a:latin typeface="Calibri"/>
                        </a:rPr>
                        <a:t>Retail-Plus</a:t>
                      </a:r>
                    </a:p>
                  </a:txBody>
                  <a:tcPr marL="101600" marR="101600" marT="38100" marB="38100" anchor="ctr">
                    <a:solidFill>
                      <a:srgbClr val="1A0F5C"/>
                    </a:solidFill>
                  </a:tcPr>
                </a:tc>
                <a:tc>
                  <a:txBody>
                    <a:bodyPr/>
                    <a:lstStyle/>
                    <a:p>
                      <a:r>
                        <a:rPr sz="1250" b="1" i="0">
                          <a:solidFill>
                            <a:srgbClr val="FFFFFF"/>
                          </a:solidFill>
                          <a:latin typeface="Calibri"/>
                        </a:rPr>
                        <a:t>Q1</a:t>
                      </a:r>
                    </a:p>
                  </a:txBody>
                  <a:tcPr marL="101600" marR="101600" marT="38100" marB="38100" anchor="ctr">
                    <a:solidFill>
                      <a:srgbClr val="1A0F5C"/>
                    </a:solidFill>
                  </a:tcPr>
                </a:tc>
                <a:tc>
                  <a:txBody>
                    <a:bodyPr/>
                    <a:lstStyle/>
                    <a:p>
                      <a:r>
                        <a:rPr sz="1250" b="1" i="0">
                          <a:solidFill>
                            <a:srgbClr val="FFFFFF"/>
                          </a:solidFill>
                          <a:latin typeface="Calibri"/>
                        </a:rPr>
                        <a:t>Q2</a:t>
                      </a:r>
                    </a:p>
                  </a:txBody>
                  <a:tcPr marL="101600" marR="101600" marT="38100" marB="38100" anchor="ctr">
                    <a:solidFill>
                      <a:srgbClr val="1A0F5C"/>
                    </a:solidFill>
                  </a:tcPr>
                </a:tc>
                <a:tc>
                  <a:txBody>
                    <a:bodyPr/>
                    <a:lstStyle/>
                    <a:p>
                      <a:r>
                        <a:rPr sz="1250" b="1" i="0">
                          <a:solidFill>
                            <a:srgbClr val="FFFFFF"/>
                          </a:solidFill>
                          <a:latin typeface="Calibri"/>
                        </a:rPr>
                        <a:t>Change</a:t>
                      </a:r>
                    </a:p>
                  </a:txBody>
                  <a:tcPr marL="101600" marR="101600" marT="38100" marB="38100" anchor="ctr">
                    <a:solidFill>
                      <a:srgbClr val="1A0F5C"/>
                    </a:solidFill>
                  </a:tcPr>
                </a:tc>
              </a:tr>
              <a:tr h="335280">
                <a:tc>
                  <a:txBody>
                    <a:bodyPr/>
                    <a:lstStyle/>
                    <a:p>
                      <a:r>
                        <a:rPr sz="1200" b="0" i="0">
                          <a:solidFill>
                            <a:srgbClr val="1A1440"/>
                          </a:solidFill>
                          <a:latin typeface="Calibri"/>
                        </a:rPr>
                        <a:t>Customers</a:t>
                      </a:r>
                    </a:p>
                  </a:txBody>
                  <a:tcPr marL="101600" marR="101600" marT="38100" marB="38100" anchor="ctr">
                    <a:solidFill>
                      <a:srgbClr val="FFFFFF"/>
                    </a:solidFill>
                  </a:tcPr>
                </a:tc>
                <a:tc>
                  <a:txBody>
                    <a:bodyPr/>
                    <a:lstStyle/>
                    <a:p>
                      <a:r>
                        <a:rPr sz="1200" b="0" i="0">
                          <a:solidFill>
                            <a:srgbClr val="1A1440"/>
                          </a:solidFill>
                          <a:latin typeface="Calibri"/>
                        </a:rPr>
                        <a:t>91</a:t>
                      </a:r>
                    </a:p>
                  </a:txBody>
                  <a:tcPr marL="101600" marR="101600" marT="38100" marB="38100" anchor="ctr">
                    <a:solidFill>
                      <a:srgbClr val="FFFFFF"/>
                    </a:solidFill>
                  </a:tcPr>
                </a:tc>
                <a:tc>
                  <a:txBody>
                    <a:bodyPr/>
                    <a:lstStyle/>
                    <a:p>
                      <a:r>
                        <a:rPr sz="1200" b="0" i="0">
                          <a:solidFill>
                            <a:srgbClr val="1A1440"/>
                          </a:solidFill>
                          <a:latin typeface="Calibri"/>
                        </a:rPr>
                        <a:t>76</a:t>
                      </a:r>
                    </a:p>
                  </a:txBody>
                  <a:tcPr marL="101600" marR="101600" marT="38100" marB="38100" anchor="ctr">
                    <a:solidFill>
                      <a:srgbClr val="FFFFFF"/>
                    </a:solidFill>
                  </a:tcPr>
                </a:tc>
                <a:tc>
                  <a:txBody>
                    <a:bodyPr/>
                    <a:lstStyle/>
                    <a:p>
                      <a:r>
                        <a:rPr sz="1200" b="0" i="0">
                          <a:solidFill>
                            <a:srgbClr val="1A1440"/>
                          </a:solidFill>
                          <a:latin typeface="Calibri"/>
                        </a:rPr>
                        <a:t>-16.5%</a:t>
                      </a:r>
                    </a:p>
                  </a:txBody>
                  <a:tcPr marL="101600" marR="101600" marT="38100" marB="38100" anchor="ctr">
                    <a:solidFill>
                      <a:srgbClr val="FFFFFF"/>
                    </a:solidFill>
                  </a:tcPr>
                </a:tc>
              </a:tr>
              <a:tr h="335280">
                <a:tc>
                  <a:txBody>
                    <a:bodyPr/>
                    <a:lstStyle/>
                    <a:p>
                      <a:r>
                        <a:rPr sz="1200" b="0" i="0">
                          <a:solidFill>
                            <a:srgbClr val="1A1440"/>
                          </a:solidFill>
                          <a:latin typeface="Calibri"/>
                        </a:rPr>
                        <a:t>Orders per customer</a:t>
                      </a:r>
                    </a:p>
                  </a:txBody>
                  <a:tcPr marL="101600" marR="101600" marT="38100" marB="38100" anchor="ctr">
                    <a:solidFill>
                      <a:srgbClr val="F4F2FA"/>
                    </a:solidFill>
                  </a:tcPr>
                </a:tc>
                <a:tc>
                  <a:txBody>
                    <a:bodyPr/>
                    <a:lstStyle/>
                    <a:p>
                      <a:r>
                        <a:rPr sz="1200" b="0" i="0">
                          <a:solidFill>
                            <a:srgbClr val="1A1440"/>
                          </a:solidFill>
                          <a:latin typeface="Calibri"/>
                        </a:rPr>
                        <a:t>2.36</a:t>
                      </a:r>
                    </a:p>
                  </a:txBody>
                  <a:tcPr marL="101600" marR="101600" marT="38100" marB="38100" anchor="ctr">
                    <a:solidFill>
                      <a:srgbClr val="F4F2FA"/>
                    </a:solidFill>
                  </a:tcPr>
                </a:tc>
                <a:tc>
                  <a:txBody>
                    <a:bodyPr/>
                    <a:lstStyle/>
                    <a:p>
                      <a:r>
                        <a:rPr sz="1200" b="0" i="0">
                          <a:solidFill>
                            <a:srgbClr val="1A1440"/>
                          </a:solidFill>
                          <a:latin typeface="Calibri"/>
                        </a:rPr>
                        <a:t>1.84</a:t>
                      </a:r>
                    </a:p>
                  </a:txBody>
                  <a:tcPr marL="101600" marR="101600" marT="38100" marB="38100" anchor="ctr">
                    <a:solidFill>
                      <a:srgbClr val="F4F2FA"/>
                    </a:solidFill>
                  </a:tcPr>
                </a:tc>
                <a:tc>
                  <a:txBody>
                    <a:bodyPr/>
                    <a:lstStyle/>
                    <a:p>
                      <a:r>
                        <a:rPr sz="1200" b="0" i="0">
                          <a:solidFill>
                            <a:srgbClr val="1A1440"/>
                          </a:solidFill>
                          <a:latin typeface="Calibri"/>
                        </a:rPr>
                        <a:t>-22.0%</a:t>
                      </a:r>
                    </a:p>
                  </a:txBody>
                  <a:tcPr marL="101600" marR="101600" marT="38100" marB="38100" anchor="ctr">
                    <a:solidFill>
                      <a:srgbClr val="F4F2FA"/>
                    </a:solidFill>
                  </a:tcPr>
                </a:tc>
              </a:tr>
              <a:tr h="335280">
                <a:tc>
                  <a:txBody>
                    <a:bodyPr/>
                    <a:lstStyle/>
                    <a:p>
                      <a:r>
                        <a:rPr sz="1200" b="0" i="0">
                          <a:solidFill>
                            <a:srgbClr val="1A1440"/>
                          </a:solidFill>
                          <a:latin typeface="Calibri"/>
                        </a:rPr>
                        <a:t>Revenue per order</a:t>
                      </a:r>
                    </a:p>
                  </a:txBody>
                  <a:tcPr marL="101600" marR="101600" marT="38100" marB="38100" anchor="ctr">
                    <a:solidFill>
                      <a:srgbClr val="FFFFFF"/>
                    </a:solidFill>
                  </a:tcPr>
                </a:tc>
                <a:tc>
                  <a:txBody>
                    <a:bodyPr/>
                    <a:lstStyle/>
                    <a:p>
                      <a:r>
                        <a:rPr sz="1200" b="0" i="0">
                          <a:solidFill>
                            <a:srgbClr val="1A1440"/>
                          </a:solidFill>
                          <a:latin typeface="Calibri"/>
                        </a:rPr>
                        <a:t>Rs 2,725</a:t>
                      </a:r>
                    </a:p>
                  </a:txBody>
                  <a:tcPr marL="101600" marR="101600" marT="38100" marB="38100" anchor="ctr">
                    <a:solidFill>
                      <a:srgbClr val="FFFFFF"/>
                    </a:solidFill>
                  </a:tcPr>
                </a:tc>
                <a:tc>
                  <a:txBody>
                    <a:bodyPr/>
                    <a:lstStyle/>
                    <a:p>
                      <a:r>
                        <a:rPr sz="1200" b="0" i="0">
                          <a:solidFill>
                            <a:srgbClr val="1A1440"/>
                          </a:solidFill>
                          <a:latin typeface="Calibri"/>
                        </a:rPr>
                        <a:t>Rs 2,953</a:t>
                      </a:r>
                    </a:p>
                  </a:txBody>
                  <a:tcPr marL="101600" marR="101600" marT="38100" marB="38100" anchor="ctr">
                    <a:solidFill>
                      <a:srgbClr val="FFFFFF"/>
                    </a:solidFill>
                  </a:tcPr>
                </a:tc>
                <a:tc>
                  <a:txBody>
                    <a:bodyPr/>
                    <a:lstStyle/>
                    <a:p>
                      <a:r>
                        <a:rPr sz="1200" b="0" i="0">
                          <a:solidFill>
                            <a:srgbClr val="1A1440"/>
                          </a:solidFill>
                          <a:latin typeface="Calibri"/>
                        </a:rPr>
                        <a:t>+8.4%</a:t>
                      </a:r>
                    </a:p>
                  </a:txBody>
                  <a:tcPr marL="101600" marR="101600" marT="38100" marB="38100" anchor="ctr">
                    <a:solidFill>
                      <a:srgbClr val="FFFFFF"/>
                    </a:solidFill>
                  </a:tcPr>
                </a:tc>
              </a:tr>
            </a:tbl>
          </a:graphicData>
        </a:graphic>
      </p:graphicFrame>
      <p:sp>
        <p:nvSpPr>
          <p:cNvPr id="11" name="TextBox 10"/>
          <p:cNvSpPr txBox="1"/>
          <p:nvPr/>
        </p:nvSpPr>
        <p:spPr>
          <a:xfrm>
            <a:off x="6370167" y="3279648"/>
            <a:ext cx="5291175"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orders per customer fell 22.0 percent while the basket grew 8.4 percent.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4" name="Oval 13"/>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8" name="Oval 17"/>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37 / 82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the warehouse's own quarters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warehouse reach the same two numbers by a query that never saw the export?</a:t>
            </a:r>
          </a:p>
        </p:txBody>
      </p:sp>
      <p:pic>
        <p:nvPicPr>
          <p:cNvPr id="9" name="mermaid diagram" descr="d90497c0f4024966.png"/>
          <p:cNvPicPr>
            <a:picLocks noChangeAspect="1"/>
          </p:cNvPicPr>
          <p:nvPr/>
        </p:nvPicPr>
        <p:blipFill>
          <a:blip r:embed="rId5"/>
          <a:stretch>
            <a:fillRect/>
          </a:stretch>
        </p:blipFill>
        <p:spPr>
          <a:xfrm>
            <a:off x="2252510" y="1956816"/>
            <a:ext cx="7686675" cy="1800225"/>
          </a:xfrm>
          <a:prstGeom prst="rect">
            <a:avLst/>
          </a:prstGeom>
        </p:spPr>
      </p:pic>
      <p:sp>
        <p:nvSpPr>
          <p:cNvPr id="10" name="TextBox 9"/>
          <p:cNvSpPr txBox="1"/>
          <p:nvPr/>
        </p:nvSpPr>
        <p:spPr>
          <a:xfrm>
            <a:off x="530352" y="3903345"/>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SELECT quarter, count(*), sum(amount) FROM orders GROUP BY quarter returns 538 orders and Rs 10,00,00,000 for Q1, 462 and Rs 9,84,00,000 for Q2: equal to the export counted once, to the rupee and to the order.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38 / 82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Down 1.6 percent; Plus fell on frequency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far did revenue fall, where, and does the warehouse agree?</a:t>
            </a:r>
          </a:p>
        </p:txBody>
      </p:sp>
      <p:graphicFrame>
        <p:nvGraphicFramePr>
          <p:cNvPr id="9" name="Table 8"/>
          <p:cNvGraphicFramePr>
            <a:graphicFrameLocks noGrp="1"/>
          </p:cNvGraphicFramePr>
          <p:nvPr/>
        </p:nvGraphicFramePr>
        <p:xfrm>
          <a:off x="530352" y="1794764"/>
          <a:ext cx="11130990" cy="2226056"/>
        </p:xfrm>
        <a:graphic>
          <a:graphicData uri="http://schemas.openxmlformats.org/drawingml/2006/table">
            <a:tbl>
              <a:tblPr firstRow="0" bandRow="0">
                <a:tableStyleId>{2D5ABB26-0587-4C30-8999-92F81FD0307C}</a:tableStyleId>
              </a:tblPr>
              <a:tblGrid>
                <a:gridCol w="3094383"/>
                <a:gridCol w="8036607"/>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Which way?</a:t>
                      </a:r>
                    </a:p>
                  </a:txBody>
                  <a:tcPr marL="101600" marR="101600" marT="38100" marB="38100" anchor="ctr">
                    <a:solidFill>
                      <a:srgbClr val="FFFFFF"/>
                    </a:solidFill>
                  </a:tcPr>
                </a:tc>
                <a:tc>
                  <a:txBody>
                    <a:bodyPr/>
                    <a:lstStyle/>
                    <a:p>
                      <a:r>
                        <a:rPr sz="1100" b="0" i="0">
                          <a:solidFill>
                            <a:srgbClr val="1A1440"/>
                          </a:solidFill>
                          <a:latin typeface="Calibri"/>
                        </a:rPr>
                        <a:t>A quarter column, then the pivot</a:t>
                      </a:r>
                    </a:p>
                  </a:txBody>
                  <a:tcPr marL="101600" marR="101600" marT="38100" marB="38100" anchor="ctr">
                    <a:solidFill>
                      <a:srgbClr val="FFFFFF"/>
                    </a:solidFill>
                  </a:tcPr>
                </a:tc>
              </a:tr>
              <a:tr h="318008">
                <a:tc>
                  <a:txBody>
                    <a:bodyPr/>
                    <a:lstStyle/>
                    <a:p>
                      <a:r>
                        <a:rPr sz="1100" b="0" i="0">
                          <a:solidFill>
                            <a:srgbClr val="1A1440"/>
                          </a:solidFill>
                          <a:latin typeface="Calibri"/>
                        </a:rPr>
                        <a:t>The pivot says?</a:t>
                      </a:r>
                    </a:p>
                  </a:txBody>
                  <a:tcPr marL="101600" marR="101600" marT="38100" marB="38100" anchor="ctr">
                    <a:solidFill>
                      <a:srgbClr val="F4F2FA"/>
                    </a:solidFill>
                  </a:tcPr>
                </a:tc>
                <a:tc>
                  <a:txBody>
                    <a:bodyPr/>
                    <a:lstStyle/>
                    <a:p>
                      <a:r>
                        <a:rPr sz="1100" b="0" i="0">
                          <a:solidFill>
                            <a:srgbClr val="1A1440"/>
                          </a:solidFill>
                          <a:latin typeface="Calibri"/>
                        </a:rPr>
                        <a:t>Rs 19.94 and Rs 19.47 crore; Core up 1.0%</a:t>
                      </a:r>
                    </a:p>
                  </a:txBody>
                  <a:tcPr marL="101600" marR="101600" marT="38100" marB="38100" anchor="ctr">
                    <a:solidFill>
                      <a:srgbClr val="F4F2FA"/>
                    </a:solidFill>
                  </a:tcPr>
                </a:tc>
              </a:tr>
              <a:tr h="318008">
                <a:tc>
                  <a:txBody>
                    <a:bodyPr/>
                    <a:lstStyle/>
                    <a:p>
                      <a:r>
                        <a:rPr sz="1100" b="0" i="0">
                          <a:solidFill>
                            <a:srgbClr val="1A1440"/>
                          </a:solidFill>
                          <a:latin typeface="Calibri"/>
                        </a:rPr>
                        <a:t>Why double?</a:t>
                      </a:r>
                    </a:p>
                  </a:txBody>
                  <a:tcPr marL="101600" marR="101600" marT="38100" marB="38100" anchor="ctr">
                    <a:solidFill>
                      <a:srgbClr val="FFFFFF"/>
                    </a:solidFill>
                  </a:tcPr>
                </a:tc>
                <a:tc>
                  <a:txBody>
                    <a:bodyPr/>
                    <a:lstStyle/>
                    <a:p>
                      <a:r>
                        <a:rPr sz="1100" b="0" i="0">
                          <a:solidFill>
                            <a:srgbClr val="1A1440"/>
                          </a:solidFill>
                          <a:latin typeface="Calibri"/>
                        </a:rPr>
                        <a:t>One row per payment; dedupe leaves Rs 39.41 crore</a:t>
                      </a:r>
                    </a:p>
                  </a:txBody>
                  <a:tcPr marL="101600" marR="101600" marT="38100" marB="38100" anchor="ctr">
                    <a:solidFill>
                      <a:srgbClr val="FFFFFF"/>
                    </a:solidFill>
                  </a:tcPr>
                </a:tc>
              </a:tr>
              <a:tr h="318008">
                <a:tc>
                  <a:txBody>
                    <a:bodyPr/>
                    <a:lstStyle/>
                    <a:p>
                      <a:r>
                        <a:rPr sz="1100" b="0" i="0">
                          <a:solidFill>
                            <a:srgbClr val="1A1440"/>
                          </a:solidFill>
                          <a:latin typeface="Calibri"/>
                        </a:rPr>
                        <a:t>Counted once?</a:t>
                      </a:r>
                    </a:p>
                  </a:txBody>
                  <a:tcPr marL="101600" marR="101600" marT="38100" marB="38100" anchor="ctr">
                    <a:solidFill>
                      <a:srgbClr val="F4F2FA"/>
                    </a:solidFill>
                  </a:tcPr>
                </a:tc>
                <a:tc>
                  <a:txBody>
                    <a:bodyPr/>
                    <a:lstStyle/>
                    <a:p>
                      <a:r>
                        <a:rPr sz="1100" b="0" i="0">
                          <a:solidFill>
                            <a:srgbClr val="1A1440"/>
                          </a:solidFill>
                          <a:latin typeface="Calibri"/>
                        </a:rPr>
                        <a:t>Rs 10.00 crore to Rs 9.84 crore, down 1.6%</a:t>
                      </a:r>
                    </a:p>
                  </a:txBody>
                  <a:tcPr marL="101600" marR="101600" marT="38100" marB="38100" anchor="ctr">
                    <a:solidFill>
                      <a:srgbClr val="F4F2FA"/>
                    </a:solidFill>
                  </a:tcPr>
                </a:tc>
              </a:tr>
              <a:tr h="318008">
                <a:tc>
                  <a:txBody>
                    <a:bodyPr/>
                    <a:lstStyle/>
                    <a:p>
                      <a:r>
                        <a:rPr sz="1100" b="0" i="0">
                          <a:solidFill>
                            <a:srgbClr val="1A1440"/>
                          </a:solidFill>
                          <a:latin typeface="Calibri"/>
                        </a:rPr>
                        <a:t>Which leaf fell?</a:t>
                      </a:r>
                    </a:p>
                  </a:txBody>
                  <a:tcPr marL="101600" marR="101600" marT="38100" marB="38100" anchor="ctr">
                    <a:solidFill>
                      <a:srgbClr val="FFFFFF"/>
                    </a:solidFill>
                  </a:tcPr>
                </a:tc>
                <a:tc>
                  <a:txBody>
                    <a:bodyPr/>
                    <a:lstStyle/>
                    <a:p>
                      <a:r>
                        <a:rPr sz="1100" b="0" i="0">
                          <a:solidFill>
                            <a:srgbClr val="1A1440"/>
                          </a:solidFill>
                          <a:latin typeface="Calibri"/>
                        </a:rPr>
                        <a:t>Business in rupees; Plus 29.4% on frequency</a:t>
                      </a:r>
                    </a:p>
                  </a:txBody>
                  <a:tcPr marL="101600" marR="101600" marT="38100" marB="38100" anchor="ctr">
                    <a:solidFill>
                      <a:srgbClr val="FFFFFF"/>
                    </a:solidFill>
                  </a:tcPr>
                </a:tc>
              </a:tr>
              <a:tr h="318008">
                <a:tc>
                  <a:txBody>
                    <a:bodyPr/>
                    <a:lstStyle/>
                    <a:p>
                      <a:r>
                        <a:rPr sz="1100" b="0" i="0">
                          <a:solidFill>
                            <a:srgbClr val="1A1440"/>
                          </a:solidFill>
                          <a:latin typeface="Calibri"/>
                        </a:rPr>
                        <a:t>Warehouse agrees?</a:t>
                      </a:r>
                    </a:p>
                  </a:txBody>
                  <a:tcPr marL="101600" marR="101600" marT="38100" marB="38100" anchor="ctr">
                    <a:solidFill>
                      <a:srgbClr val="F4F2FA"/>
                    </a:solidFill>
                  </a:tcPr>
                </a:tc>
                <a:tc>
                  <a:txBody>
                    <a:bodyPr/>
                    <a:lstStyle/>
                    <a:p>
                      <a:r>
                        <a:rPr sz="1100" b="0" i="0">
                          <a:solidFill>
                            <a:srgbClr val="1A1440"/>
                          </a:solidFill>
                          <a:latin typeface="Calibri"/>
                        </a:rPr>
                        <a:t>To the rupee, both quarters</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"Say the grain, count rows against ids, and tie the total to the warehouse before the pivot goes anywhere."</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[F] Your pivot shows a different total from the warehouse; where do you look first?</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2" name="Oval 21"/>
          <p:cNvSpPr/>
          <p:nvPr/>
        </p:nvSpPr>
        <p:spPr>
          <a:xfrm>
            <a:off x="215598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Where did Q2 fall?</a:t>
            </a:r>
          </a:p>
        </p:txBody>
      </p:sp>
      <p:sp>
        <p:nvSpPr>
          <p:cNvPr id="24" name="Oval 2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6" name="Oval 25"/>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8" name="Oval 2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39 / 82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XLOOKUP</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Find any member by id?</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fifty Retail-Plus members go on the protect list, and when the chief of staff types an id, does the sheet answer for that member? Retention offers ride on it.</a:t>
            </a:r>
          </a:p>
        </p:txBody>
      </p:sp>
      <p:sp>
        <p:nvSpPr>
          <p:cNvPr id="11" name="Rounded Rectangle 10"/>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segment carries it?</a:t>
            </a:r>
          </a:p>
        </p:txBody>
      </p:sp>
      <p:sp>
        <p:nvSpPr>
          <p:cNvPr id="12" name="Rounded Rectangle 11"/>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Q2 fall?</a:t>
            </a:r>
          </a:p>
        </p:txBody>
      </p:sp>
      <p:sp>
        <p:nvSpPr>
          <p:cNvPr id="13" name="Rounded Rectangle 12"/>
          <p:cNvSpPr/>
          <p:nvPr/>
        </p:nvSpPr>
        <p:spPr>
          <a:xfrm>
            <a:off x="4228782"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Find any member by id?</a:t>
            </a:r>
          </a:p>
        </p:txBody>
      </p:sp>
      <p:sp>
        <p:nvSpPr>
          <p:cNvPr id="14" name="Rounded Rectangle 13"/>
          <p:cNvSpPr/>
          <p:nvPr/>
        </p:nvSpPr>
        <p:spPr>
          <a:xfrm>
            <a:off x="600702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Read right in two minutes?</a:t>
            </a:r>
          </a:p>
        </p:txBody>
      </p:sp>
      <p:sp>
        <p:nvSpPr>
          <p:cNvPr id="15" name="Rounded Rectangle 14"/>
          <p:cNvSpPr/>
          <p:nvPr/>
        </p:nvSpPr>
        <p:spPr>
          <a:xfrm>
            <a:off x="8022125"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Excel never do?</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What can a director open, change and still trust?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40 / 82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head of Retail-Plus acts on a list of fifty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acts on the protect list, and which six questions build it and its lookup?</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head of Retail-Plus, who sends the fifty a retention offer, and the chief of staff, who reads a member's line aloud when a director names one; a wrong row tells a director that a lapsed member is one of the best.</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lookup?</a:t>
            </a:r>
          </a:p>
        </p:txBody>
      </p:sp>
      <p:sp>
        <p:nvSpPr>
          <p:cNvPr id="17" name="TextBox 16"/>
          <p:cNvSpPr txBox="1"/>
          <p:nvPr/>
        </p:nvSpPr>
        <p:spPr>
          <a:xfrm>
            <a:off x="694944" y="4516882"/>
            <a:ext cx="1373581" cy="201676"/>
          </a:xfrm>
          <a:prstGeom prst="rect">
            <a:avLst/>
          </a:prstGeom>
          <a:noFill/>
        </p:spPr>
        <p:txBody>
          <a:bodyPr wrap="square" anchor="t" lIns="0" rIns="0" tIns="0" bIns="0">
            <a:spAutoFit/>
          </a:bodyPr>
          <a:lstStyle/>
          <a:p>
            <a:pPr algn="l"/>
            <a:r>
              <a:rPr sz="1000" b="0" i="0">
                <a:solidFill>
                  <a:srgbClr val="6B6690"/>
                </a:solidFill>
                <a:latin typeface="Calibri"/>
              </a:rPr>
              <a:t>Four ways, sized.</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Who is on it?</a:t>
            </a:r>
          </a:p>
        </p:txBody>
      </p:sp>
      <p:sp>
        <p:nvSpPr>
          <p:cNvPr id="22" name="TextBox 21"/>
          <p:cNvSpPr txBox="1"/>
          <p:nvPr/>
        </p:nvSpPr>
        <p:spPr>
          <a:xfrm>
            <a:off x="2580589"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fifty, and where the list stops.</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Does it tie?</a:t>
            </a:r>
          </a:p>
        </p:txBody>
      </p:sp>
      <p:sp>
        <p:nvSpPr>
          <p:cNvPr id="27" name="TextBox 26"/>
          <p:cNvSpPr txBox="1"/>
          <p:nvPr/>
        </p:nvSpPr>
        <p:spPr>
          <a:xfrm>
            <a:off x="446623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list's source against the warehouse.</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A missing id?</a:t>
            </a:r>
          </a:p>
        </p:txBody>
      </p:sp>
      <p:sp>
        <p:nvSpPr>
          <p:cNvPr id="32" name="TextBox 31"/>
          <p:cNvSpPr txBox="1"/>
          <p:nvPr/>
        </p:nvSpPr>
        <p:spPr>
          <a:xfrm>
            <a:off x="6351879"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the fourth argument does.</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Found or not?</a:t>
            </a:r>
          </a:p>
        </p:txBody>
      </p:sp>
      <p:sp>
        <p:nvSpPr>
          <p:cNvPr id="37" name="TextBox 36"/>
          <p:cNvSpPr txBox="1"/>
          <p:nvPr/>
        </p:nvSpPr>
        <p:spPr>
          <a:xfrm>
            <a:off x="823752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exact match, and a re-sorted list.</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465836"/>
          </a:xfrm>
          <a:prstGeom prst="rect">
            <a:avLst/>
          </a:prstGeom>
          <a:noFill/>
        </p:spPr>
        <p:txBody>
          <a:bodyPr wrap="square" anchor="t" lIns="0" rIns="0" tIns="0" bIns="0">
            <a:spAutoFit/>
          </a:bodyPr>
          <a:lstStyle/>
          <a:p>
            <a:pPr algn="l"/>
            <a:r>
              <a:rPr sz="1300" b="1" i="0">
                <a:solidFill>
                  <a:srgbClr val="FFFFFF"/>
                </a:solidFill>
                <a:latin typeface="Calibri"/>
              </a:rPr>
              <a:t>Warehouse agrees?</a:t>
            </a:r>
          </a:p>
        </p:txBody>
      </p:sp>
      <p:sp>
        <p:nvSpPr>
          <p:cNvPr id="42" name="TextBox 41"/>
          <p:cNvSpPr txBox="1"/>
          <p:nvPr/>
        </p:nvSpPr>
        <p:spPr>
          <a:xfrm>
            <a:off x="10123170" y="4731512"/>
            <a:ext cx="1373581" cy="201676"/>
          </a:xfrm>
          <a:prstGeom prst="rect">
            <a:avLst/>
          </a:prstGeom>
          <a:noFill/>
        </p:spPr>
        <p:txBody>
          <a:bodyPr wrap="square" anchor="t" lIns="0" rIns="0" tIns="0" bIns="0">
            <a:spAutoFit/>
          </a:bodyPr>
          <a:lstStyle/>
          <a:p>
            <a:pPr algn="l"/>
            <a:r>
              <a:rPr sz="1000" b="0" i="0">
                <a:solidFill>
                  <a:srgbClr val="CFC9EE"/>
                </a:solidFill>
                <a:latin typeface="Calibri"/>
              </a:rPr>
              <a:t>The second route.</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45" name="Oval 4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47" name="Oval 4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49" name="Oval 4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51" name="Oval 5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41 / 82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list sizes a retention budget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wrong row on the protect list cost the head of Retail-Plus?</a:t>
            </a:r>
          </a:p>
        </p:txBody>
      </p:sp>
      <p:sp>
        <p:nvSpPr>
          <p:cNvPr id="9" name="TextBox 8"/>
          <p:cNvSpPr txBox="1"/>
          <p:nvPr/>
        </p:nvSpPr>
        <p:spPr>
          <a:xfrm>
            <a:off x="530352" y="1956816"/>
            <a:ext cx="3527450" cy="349250"/>
          </a:xfrm>
          <a:prstGeom prst="rect">
            <a:avLst/>
          </a:prstGeom>
          <a:noFill/>
        </p:spPr>
        <p:txBody>
          <a:bodyPr wrap="square" anchor="t" lIns="0" rIns="0" tIns="0" bIns="0">
            <a:spAutoFit/>
          </a:bodyPr>
          <a:lstStyle/>
          <a:p>
            <a:pPr algn="l"/>
            <a:r>
              <a:rPr sz="2200" b="0" i="0">
                <a:solidFill>
                  <a:srgbClr val="5B3FD6"/>
                </a:solidFill>
                <a:latin typeface="Georgia"/>
              </a:rPr>
              <a:t>50</a:t>
            </a:r>
          </a:p>
        </p:txBody>
      </p:sp>
      <p:sp>
        <p:nvSpPr>
          <p:cNvPr id="10" name="TextBox 9"/>
          <p:cNvSpPr txBox="1"/>
          <p:nvPr/>
        </p:nvSpPr>
        <p:spPr>
          <a:xfrm>
            <a:off x="530352" y="234264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MEMBERS PROTECTED</a:t>
            </a:r>
          </a:p>
        </p:txBody>
      </p:sp>
      <p:sp>
        <p:nvSpPr>
          <p:cNvPr id="11" name="TextBox 10"/>
          <p:cNvSpPr txBox="1"/>
          <p:nvPr/>
        </p:nvSpPr>
        <p:spPr>
          <a:xfrm>
            <a:off x="530352" y="2543810"/>
            <a:ext cx="3527450" cy="193421"/>
          </a:xfrm>
          <a:prstGeom prst="rect">
            <a:avLst/>
          </a:prstGeom>
          <a:noFill/>
        </p:spPr>
        <p:txBody>
          <a:bodyPr wrap="square" anchor="t" lIns="0" rIns="0" tIns="0" bIns="0">
            <a:spAutoFit/>
          </a:bodyPr>
          <a:lstStyle/>
          <a:p>
            <a:pPr algn="l"/>
            <a:r>
              <a:rPr sz="950" b="0" i="0">
                <a:solidFill>
                  <a:srgbClr val="6B6690"/>
                </a:solidFill>
                <a:latin typeface="Calibri"/>
              </a:rPr>
              <a:t>Retail-Plus, by two-quarter revenue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349250"/>
          </a:xfrm>
          <a:prstGeom prst="rect">
            <a:avLst/>
          </a:prstGeom>
          <a:noFill/>
        </p:spPr>
        <p:txBody>
          <a:bodyPr wrap="square" anchor="t" lIns="0" rIns="0" tIns="0" bIns="0">
            <a:spAutoFit/>
          </a:bodyPr>
          <a:lstStyle/>
          <a:p>
            <a:pPr algn="l"/>
            <a:r>
              <a:rPr sz="2200" b="0" i="0">
                <a:solidFill>
                  <a:srgbClr val="5B3FD6"/>
                </a:solidFill>
                <a:latin typeface="Georgia"/>
              </a:rPr>
              <a:t>Head of Retail-Plus</a:t>
            </a:r>
          </a:p>
        </p:txBody>
      </p:sp>
      <p:sp>
        <p:nvSpPr>
          <p:cNvPr id="14" name="TextBox 13"/>
          <p:cNvSpPr txBox="1"/>
          <p:nvPr/>
        </p:nvSpPr>
        <p:spPr>
          <a:xfrm>
            <a:off x="4332122" y="234264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WHO ACTS ON IT</a:t>
            </a:r>
          </a:p>
        </p:txBody>
      </p:sp>
      <p:sp>
        <p:nvSpPr>
          <p:cNvPr id="15" name="TextBox 14"/>
          <p:cNvSpPr txBox="1"/>
          <p:nvPr/>
        </p:nvSpPr>
        <p:spPr>
          <a:xfrm>
            <a:off x="4332122" y="2543810"/>
            <a:ext cx="3527450" cy="193421"/>
          </a:xfrm>
          <a:prstGeom prst="rect">
            <a:avLst/>
          </a:prstGeom>
          <a:noFill/>
        </p:spPr>
        <p:txBody>
          <a:bodyPr wrap="square" anchor="t" lIns="0" rIns="0" tIns="0" bIns="0">
            <a:spAutoFit/>
          </a:bodyPr>
          <a:lstStyle/>
          <a:p>
            <a:pPr algn="l"/>
            <a:r>
              <a:rPr sz="950" b="0" i="0">
                <a:solidFill>
                  <a:srgbClr val="6B6690"/>
                </a:solidFill>
                <a:latin typeface="Calibri"/>
              </a:rPr>
              <a:t>sends the retention offer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349250"/>
          </a:xfrm>
          <a:prstGeom prst="rect">
            <a:avLst/>
          </a:prstGeom>
          <a:noFill/>
        </p:spPr>
        <p:txBody>
          <a:bodyPr wrap="square" anchor="t" lIns="0" rIns="0" tIns="0" bIns="0">
            <a:spAutoFit/>
          </a:bodyPr>
          <a:lstStyle/>
          <a:p>
            <a:pPr algn="l"/>
            <a:r>
              <a:rPr sz="2200" b="0" i="0">
                <a:solidFill>
                  <a:srgbClr val="5B3FD6"/>
                </a:solidFill>
                <a:latin typeface="Georgia"/>
              </a:rPr>
              <a:t>One offer</a:t>
            </a:r>
          </a:p>
        </p:txBody>
      </p:sp>
      <p:sp>
        <p:nvSpPr>
          <p:cNvPr id="18" name="TextBox 17"/>
          <p:cNvSpPr txBox="1"/>
          <p:nvPr/>
        </p:nvSpPr>
        <p:spPr>
          <a:xfrm>
            <a:off x="8133892" y="234264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A WRONG ROW COSTS</a:t>
            </a:r>
          </a:p>
        </p:txBody>
      </p:sp>
      <p:sp>
        <p:nvSpPr>
          <p:cNvPr id="19" name="TextBox 18"/>
          <p:cNvSpPr txBox="1"/>
          <p:nvPr/>
        </p:nvSpPr>
        <p:spPr>
          <a:xfrm>
            <a:off x="8133892" y="2543810"/>
            <a:ext cx="3527450" cy="193421"/>
          </a:xfrm>
          <a:prstGeom prst="rect">
            <a:avLst/>
          </a:prstGeom>
          <a:noFill/>
        </p:spPr>
        <p:txBody>
          <a:bodyPr wrap="square" anchor="t" lIns="0" rIns="0" tIns="0" bIns="0">
            <a:spAutoFit/>
          </a:bodyPr>
          <a:lstStyle/>
          <a:p>
            <a:pPr algn="l"/>
            <a:r>
              <a:rPr sz="950" b="0" i="0">
                <a:solidFill>
                  <a:srgbClr val="6B6690"/>
                </a:solidFill>
                <a:latin typeface="Calibri"/>
              </a:rPr>
              <a:t>spent on someone who stopped buying</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"The top-fifty protect list with a lookup so I can find any member by id."</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8" name="Oval 2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30" name="Oval 29"/>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32" name="Oval 31"/>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4" name="Oval 3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42 / 82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TransAlta's ranked sheet returned the wrong rows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company lost money to a sorted list whose rows answered for the wrong item?</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US$24 m</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THE COST</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TransAlta, 2003</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 THE YEAR'S PROFIT</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The Globe and Mail</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3419856"/>
            <a:ext cx="10820095" cy="1026160"/>
          </a:xfrm>
          <a:prstGeom prst="rect">
            <a:avLst/>
          </a:prstGeom>
          <a:noFill/>
        </p:spPr>
        <p:txBody>
          <a:bodyPr wrap="square" anchor="t" lIns="0" rIns="0" tIns="0" bIns="0">
            <a:spAutoFit/>
          </a:bodyPr>
          <a:lstStyle/>
          <a:p>
            <a:r>
              <a:rPr sz="1600" b="0" i="1">
                <a:solidFill>
                  <a:srgbClr val="1A0F5C"/>
                </a:solidFill>
                <a:latin typeface="Georgia"/>
              </a:rPr>
              <a:t>"It was literally a cut-and-paste error in an Excel spreadsheet that we did not detect when we did our final sorting and ranking of bids prior to submission."</a:t>
            </a:r>
          </a:p>
          <a:p>
            <a:pPr>
              <a:spcBef>
                <a:spcPts val="400"/>
              </a:spcBef>
            </a:pPr>
            <a:r>
              <a:rPr sz="1000" b="0" i="0">
                <a:solidFill>
                  <a:srgbClr val="6B6690"/>
                </a:solidFill>
                <a:latin typeface="Calibri"/>
              </a:rPr>
              <a:t>Steve Snyder, TransAlta's president</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1" name="Oval 20"/>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3" name="Oval 22"/>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5" name="Oval 24"/>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7" name="Oval 26"/>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43 / 82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 exact match that says when an id is missing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lookup should answer "find this member", and what does each one return?</a:t>
            </a:r>
          </a:p>
        </p:txBody>
      </p:sp>
      <p:graphicFrame>
        <p:nvGraphicFramePr>
          <p:cNvPr id="9" name="Table 8"/>
          <p:cNvGraphicFramePr>
            <a:graphicFrameLocks noGrp="1"/>
          </p:cNvGraphicFramePr>
          <p:nvPr/>
        </p:nvGraphicFramePr>
        <p:xfrm>
          <a:off x="530352" y="1956816"/>
          <a:ext cx="11130988" cy="1676400"/>
        </p:xfrm>
        <a:graphic>
          <a:graphicData uri="http://schemas.openxmlformats.org/drawingml/2006/table">
            <a:tbl>
              <a:tblPr firstRow="0" bandRow="0">
                <a:tableStyleId>{2D5ABB26-0587-4C30-8999-92F81FD0307C}</a:tableStyleId>
              </a:tblPr>
              <a:tblGrid>
                <a:gridCol w="4018246"/>
                <a:gridCol w="2162981"/>
                <a:gridCol w="2162981"/>
                <a:gridCol w="1585788"/>
                <a:gridCol w="1200992"/>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A present id, C-0152</a:t>
                      </a:r>
                    </a:p>
                  </a:txBody>
                  <a:tcPr marL="101600" marR="101600" marT="38100" marB="38100" anchor="ctr">
                    <a:solidFill>
                      <a:srgbClr val="1A0F5C"/>
                    </a:solidFill>
                  </a:tcPr>
                </a:tc>
                <a:tc>
                  <a:txBody>
                    <a:bodyPr/>
                    <a:lstStyle/>
                    <a:p>
                      <a:r>
                        <a:rPr sz="1250" b="1" i="0">
                          <a:solidFill>
                            <a:srgbClr val="FFFFFF"/>
                          </a:solidFill>
                          <a:latin typeface="Calibri"/>
                        </a:rPr>
                        <a:t>An absent id, C-0195</a:t>
                      </a:r>
                    </a:p>
                  </a:txBody>
                  <a:tcPr marL="101600" marR="101600" marT="38100" marB="38100" anchor="ctr">
                    <a:solidFill>
                      <a:srgbClr val="1A0F5C"/>
                    </a:solidFill>
                  </a:tcPr>
                </a:tc>
                <a:tc>
                  <a:txBody>
                    <a:bodyPr/>
                    <a:lstStyle/>
                    <a:p>
                      <a:r>
                        <a:rPr sz="1250" b="1" i="0">
                          <a:solidFill>
                            <a:srgbClr val="FFFFFF"/>
                          </a:solidFill>
                          <a:latin typeface="Calibri"/>
                        </a:rPr>
                        <a:t>Re-sorted list</a:t>
                      </a:r>
                    </a:p>
                  </a:txBody>
                  <a:tcPr marL="101600" marR="101600" marT="38100" marB="38100" anchor="ctr">
                    <a:solidFill>
                      <a:srgbClr val="1A0F5C"/>
                    </a:solidFill>
                  </a:tcPr>
                </a:tc>
                <a:tc>
                  <a:txBody>
                    <a:bodyPr/>
                    <a:lstStyle/>
                    <a:p>
                      <a:r>
                        <a:rPr sz="1250" b="1" i="0">
                          <a:solidFill>
                            <a:srgbClr val="FFFFFF"/>
                          </a:solidFill>
                          <a:latin typeface="Calibri"/>
                        </a:rPr>
                        <a:t>Excel 2016</a:t>
                      </a:r>
                    </a:p>
                  </a:txBody>
                  <a:tcPr marL="101600" marR="101600" marT="38100" marB="38100" anchor="ctr">
                    <a:solidFill>
                      <a:srgbClr val="1A0F5C"/>
                    </a:solidFill>
                  </a:tcPr>
                </a:tc>
              </a:tr>
              <a:tr h="335280">
                <a:tc>
                  <a:txBody>
                    <a:bodyPr/>
                    <a:lstStyle/>
                    <a:p>
                      <a:r>
                        <a:rPr sz="1200" b="0" i="0">
                          <a:solidFill>
                            <a:srgbClr val="1A1440"/>
                          </a:solidFill>
                          <a:latin typeface="Calibri"/>
                        </a:rPr>
                        <a:t>a) VLOOKUP(id, A:F, 5)</a:t>
                      </a:r>
                    </a:p>
                  </a:txBody>
                  <a:tcPr marL="101600" marR="101600" marT="38100" marB="38100" anchor="ctr">
                    <a:solidFill>
                      <a:srgbClr val="FFFFFF"/>
                    </a:solidFill>
                  </a:tcPr>
                </a:tc>
                <a:tc>
                  <a:txBody>
                    <a:bodyPr/>
                    <a:lstStyle/>
                    <a:p>
                      <a:r>
                        <a:rPr sz="1200" b="0" i="0">
                          <a:solidFill>
                            <a:srgbClr val="1A1440"/>
                          </a:solidFill>
                          <a:latin typeface="Calibri"/>
                        </a:rPr>
                        <a:t>Rs 25,840</a:t>
                      </a:r>
                    </a:p>
                  </a:txBody>
                  <a:tcPr marL="101600" marR="101600" marT="38100" marB="38100" anchor="ctr">
                    <a:solidFill>
                      <a:srgbClr val="FFFFFF"/>
                    </a:solidFill>
                  </a:tcPr>
                </a:tc>
                <a:tc>
                  <a:txBody>
                    <a:bodyPr/>
                    <a:lstStyle/>
                    <a:p>
                      <a:r>
                        <a:rPr sz="1200" b="0" i="0">
                          <a:solidFill>
                            <a:srgbClr val="1A1440"/>
                          </a:solidFill>
                          <a:latin typeface="Calibri"/>
                        </a:rPr>
                        <a:t>another member's row</a:t>
                      </a:r>
                    </a:p>
                  </a:txBody>
                  <a:tcPr marL="101600" marR="101600" marT="38100" marB="38100" anchor="ctr">
                    <a:solidFill>
                      <a:srgbClr val="FFFFFF"/>
                    </a:solidFill>
                  </a:tcPr>
                </a:tc>
                <a:tc>
                  <a:txBody>
                    <a:bodyPr/>
                    <a:lstStyle/>
                    <a:p>
                      <a:r>
                        <a:rPr sz="1200" b="0" i="0">
                          <a:solidFill>
                            <a:srgbClr val="1A1440"/>
                          </a:solidFill>
                          <a:latin typeface="Calibri"/>
                        </a:rPr>
                        <a:t>unreliable</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r>
              <a:tr h="335280">
                <a:tc>
                  <a:txBody>
                    <a:bodyPr/>
                    <a:lstStyle/>
                    <a:p>
                      <a:r>
                        <a:rPr sz="1200" b="0" i="0">
                          <a:solidFill>
                            <a:srgbClr val="1A1440"/>
                          </a:solidFill>
                          <a:latin typeface="Calibri"/>
                        </a:rPr>
                        <a:t>b) VLOOKUP(id, A:F, 5, FALSE)</a:t>
                      </a:r>
                    </a:p>
                  </a:txBody>
                  <a:tcPr marL="101600" marR="101600" marT="38100" marB="38100" anchor="ctr">
                    <a:solidFill>
                      <a:srgbClr val="F4F2FA"/>
                    </a:solidFill>
                  </a:tcPr>
                </a:tc>
                <a:tc>
                  <a:txBody>
                    <a:bodyPr/>
                    <a:lstStyle/>
                    <a:p>
                      <a:r>
                        <a:rPr sz="1200" b="0" i="0">
                          <a:solidFill>
                            <a:srgbClr val="1A1440"/>
                          </a:solidFill>
                          <a:latin typeface="Calibri"/>
                        </a:rPr>
                        <a:t>Rs 25,840</a:t>
                      </a:r>
                    </a:p>
                  </a:txBody>
                  <a:tcPr marL="101600" marR="101600" marT="38100" marB="38100" anchor="ctr">
                    <a:solidFill>
                      <a:srgbClr val="F4F2FA"/>
                    </a:solidFill>
                  </a:tcPr>
                </a:tc>
                <a:tc>
                  <a:txBody>
                    <a:bodyPr/>
                    <a:lstStyle/>
                    <a:p>
                      <a:r>
                        <a:rPr sz="1200" b="0" i="0">
                          <a:solidFill>
                            <a:srgbClr val="1A1440"/>
                          </a:solidFill>
                          <a:latin typeface="Calibri"/>
                        </a:rPr>
                        <a:t>#N/A</a:t>
                      </a:r>
                    </a:p>
                  </a:txBody>
                  <a:tcPr marL="101600" marR="101600" marT="38100" marB="38100" anchor="ctr">
                    <a:solidFill>
                      <a:srgbClr val="F4F2FA"/>
                    </a:solidFill>
                  </a:tcPr>
                </a:tc>
                <a:tc>
                  <a:txBody>
                    <a:bodyPr/>
                    <a:lstStyle/>
                    <a:p>
                      <a:r>
                        <a:rPr sz="1200" b="0" i="0">
                          <a:solidFill>
                            <a:srgbClr val="1A1440"/>
                          </a:solidFill>
                          <a:latin typeface="Calibri"/>
                        </a:rPr>
                        <a:t>right</a:t>
                      </a:r>
                    </a:p>
                  </a:txBody>
                  <a:tcPr marL="101600" marR="101600" marT="38100" marB="38100" anchor="ctr">
                    <a:solidFill>
                      <a:srgbClr val="F4F2FA"/>
                    </a:solidFill>
                  </a:tcPr>
                </a:tc>
                <a:tc>
                  <a:txBody>
                    <a:bodyPr/>
                    <a:lstStyle/>
                    <a:p>
                      <a:r>
                        <a:rPr sz="1200" b="0" i="0">
                          <a:solidFill>
                            <a:srgbClr val="1A1440"/>
                          </a:solidFill>
                          <a:latin typeface="Calibri"/>
                        </a:rPr>
                        <a:t>yes</a:t>
                      </a:r>
                    </a:p>
                  </a:txBody>
                  <a:tcPr marL="101600" marR="101600" marT="38100" marB="38100" anchor="ctr">
                    <a:solidFill>
                      <a:srgbClr val="F4F2FA"/>
                    </a:solidFill>
                  </a:tcPr>
                </a:tc>
              </a:tr>
              <a:tr h="335280">
                <a:tc>
                  <a:txBody>
                    <a:bodyPr/>
                    <a:lstStyle/>
                    <a:p>
                      <a:r>
                        <a:rPr sz="1200" b="0" i="0">
                          <a:solidFill>
                            <a:srgbClr val="1A1440"/>
                          </a:solidFill>
                          <a:latin typeface="Calibri"/>
                        </a:rPr>
                        <a:t>c) IFERROR(INDEX(MATCH)), exact</a:t>
                      </a:r>
                    </a:p>
                  </a:txBody>
                  <a:tcPr marL="101600" marR="101600" marT="38100" marB="38100" anchor="ctr">
                    <a:solidFill>
                      <a:srgbClr val="FFFFFF"/>
                    </a:solidFill>
                  </a:tcPr>
                </a:tc>
                <a:tc>
                  <a:txBody>
                    <a:bodyPr/>
                    <a:lstStyle/>
                    <a:p>
                      <a:r>
                        <a:rPr sz="1200" b="0" i="0">
                          <a:solidFill>
                            <a:srgbClr val="1A1440"/>
                          </a:solidFill>
                          <a:latin typeface="Calibri"/>
                        </a:rPr>
                        <a:t>Rs 25,840</a:t>
                      </a:r>
                    </a:p>
                  </a:txBody>
                  <a:tcPr marL="101600" marR="101600" marT="38100" marB="38100" anchor="ctr">
                    <a:solidFill>
                      <a:srgbClr val="FFFFFF"/>
                    </a:solidFill>
                  </a:tcPr>
                </a:tc>
                <a:tc>
                  <a:txBody>
                    <a:bodyPr/>
                    <a:lstStyle/>
                    <a:p>
                      <a:r>
                        <a:rPr sz="1200" b="0" i="0">
                          <a:solidFill>
                            <a:srgbClr val="1A1440"/>
                          </a:solidFill>
                          <a:latin typeface="Calibri"/>
                        </a:rPr>
                        <a:t>not in the table</a:t>
                      </a:r>
                    </a:p>
                  </a:txBody>
                  <a:tcPr marL="101600" marR="101600" marT="38100" marB="38100" anchor="ctr">
                    <a:solidFill>
                      <a:srgbClr val="FFFFFF"/>
                    </a:solidFill>
                  </a:tcPr>
                </a:tc>
                <a:tc>
                  <a:txBody>
                    <a:bodyPr/>
                    <a:lstStyle/>
                    <a:p>
                      <a:r>
                        <a:rPr sz="1200" b="0" i="0">
                          <a:solidFill>
                            <a:srgbClr val="1A1440"/>
                          </a:solidFill>
                          <a:latin typeface="Calibri"/>
                        </a:rPr>
                        <a:t>right</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r>
              <a:tr h="335280">
                <a:tc>
                  <a:txBody>
                    <a:bodyPr/>
                    <a:lstStyle/>
                    <a:p>
                      <a:r>
                        <a:rPr sz="1200" b="0" i="0">
                          <a:solidFill>
                            <a:srgbClr val="1A1440"/>
                          </a:solidFill>
                          <a:latin typeface="Calibri"/>
                        </a:rPr>
                        <a:t>d) XLOOKUP(id, A:A, E:E, "not in the table")</a:t>
                      </a:r>
                    </a:p>
                  </a:txBody>
                  <a:tcPr marL="101600" marR="101600" marT="38100" marB="38100" anchor="ctr">
                    <a:solidFill>
                      <a:srgbClr val="F4F2FA"/>
                    </a:solidFill>
                  </a:tcPr>
                </a:tc>
                <a:tc>
                  <a:txBody>
                    <a:bodyPr/>
                    <a:lstStyle/>
                    <a:p>
                      <a:r>
                        <a:rPr sz="1200" b="0" i="0">
                          <a:solidFill>
                            <a:srgbClr val="1A1440"/>
                          </a:solidFill>
                          <a:latin typeface="Calibri"/>
                        </a:rPr>
                        <a:t>Rs 25,840</a:t>
                      </a:r>
                    </a:p>
                  </a:txBody>
                  <a:tcPr marL="101600" marR="101600" marT="38100" marB="38100" anchor="ctr">
                    <a:solidFill>
                      <a:srgbClr val="F4F2FA"/>
                    </a:solidFill>
                  </a:tcPr>
                </a:tc>
                <a:tc>
                  <a:txBody>
                    <a:bodyPr/>
                    <a:lstStyle/>
                    <a:p>
                      <a:r>
                        <a:rPr sz="1200" b="0" i="0">
                          <a:solidFill>
                            <a:srgbClr val="1A1440"/>
                          </a:solidFill>
                          <a:latin typeface="Calibri"/>
                        </a:rPr>
                        <a:t>not in the table</a:t>
                      </a:r>
                    </a:p>
                  </a:txBody>
                  <a:tcPr marL="101600" marR="101600" marT="38100" marB="38100" anchor="ctr">
                    <a:solidFill>
                      <a:srgbClr val="F4F2FA"/>
                    </a:solidFill>
                  </a:tcPr>
                </a:tc>
                <a:tc>
                  <a:txBody>
                    <a:bodyPr/>
                    <a:lstStyle/>
                    <a:p>
                      <a:r>
                        <a:rPr sz="1200" b="0" i="0">
                          <a:solidFill>
                            <a:srgbClr val="1A1440"/>
                          </a:solidFill>
                          <a:latin typeface="Calibri"/>
                        </a:rPr>
                        <a:t>right</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358140"/>
          </a:xfrm>
          <a:prstGeom prst="rect">
            <a:avLst/>
          </a:prstGeom>
          <a:noFill/>
        </p:spPr>
        <p:txBody>
          <a:bodyPr wrap="square" anchor="ctr" lIns="0" rIns="0" tIns="0" bIns="0">
            <a:spAutoFit/>
          </a:bodyPr>
          <a:lstStyle/>
          <a:p>
            <a:r>
              <a:rPr sz="1500" b="1">
                <a:solidFill>
                  <a:srgbClr val="5B3FD6"/>
                </a:solidFill>
                <a:latin typeface="Calibri"/>
              </a:rPr>
              <a:t>The best-fit call. </a:t>
            </a:r>
            <a:r>
              <a:rPr sz="1500" b="0" i="0">
                <a:solidFill>
                  <a:srgbClr val="1A1440"/>
                </a:solidFill>
                <a:latin typeface="Calibri"/>
              </a:rPr>
              <a:t>d on the room's Microsoft 365, c wherever the file must open.</a:t>
            </a:r>
          </a:p>
        </p:txBody>
      </p:sp>
      <p:sp>
        <p:nvSpPr>
          <p:cNvPr id="13" name="Rounded Rectangle 12"/>
          <p:cNvSpPr/>
          <p:nvPr/>
        </p:nvSpPr>
        <p:spPr>
          <a:xfrm>
            <a:off x="530352" y="459486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4722875"/>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713732"/>
            <a:ext cx="10564063" cy="358140"/>
          </a:xfrm>
          <a:prstGeom prst="rect">
            <a:avLst/>
          </a:prstGeom>
          <a:noFill/>
        </p:spPr>
        <p:txBody>
          <a:bodyPr wrap="square" anchor="ctr" lIns="0" rIns="0" tIns="0" bIns="0">
            <a:spAutoFit/>
          </a:bodyPr>
          <a:lstStyle/>
          <a:p>
            <a:r>
              <a:rPr sz="1500" b="1">
                <a:solidFill>
                  <a:srgbClr val="5B3FD6"/>
                </a:solidFill>
                <a:latin typeface="Calibri"/>
              </a:rPr>
              <a:t>The fact that would change it. </a:t>
            </a:r>
            <a:r>
              <a:rPr sz="1500" b="0" i="0">
                <a:solidFill>
                  <a:srgbClr val="1A1440"/>
                </a:solidFill>
                <a:latin typeface="Calibri"/>
              </a:rPr>
              <a:t>The Excel version on the chief of staff's laptop.</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8" name="Oval 1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0" name="Oval 19"/>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2" name="Oval 21"/>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4" name="Oval 2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44 / 82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Who makes the list, and where does it stop?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Filter to Retail-Plus, sort by revenue, keep fifty: what is the cut-off?</a:t>
            </a:r>
          </a:p>
        </p:txBody>
      </p:sp>
      <p:pic>
        <p:nvPicPr>
          <p:cNvPr id="9" name="mermaid diagram" descr="8d18a39097370279.png"/>
          <p:cNvPicPr>
            <a:picLocks noChangeAspect="1"/>
          </p:cNvPicPr>
          <p:nvPr/>
        </p:nvPicPr>
        <p:blipFill>
          <a:blip r:embed="rId5"/>
          <a:stretch>
            <a:fillRect/>
          </a:stretch>
        </p:blipFill>
        <p:spPr>
          <a:xfrm>
            <a:off x="2159641" y="1956816"/>
            <a:ext cx="7872412" cy="2628900"/>
          </a:xfrm>
          <a:prstGeom prst="rect">
            <a:avLst/>
          </a:prstGeom>
        </p:spPr>
      </p:pic>
      <p:sp>
        <p:nvSpPr>
          <p:cNvPr id="10" name="Rounded Rectangle 9"/>
          <p:cNvSpPr/>
          <p:nvPr/>
        </p:nvSpPr>
        <p:spPr>
          <a:xfrm>
            <a:off x="530352" y="473202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6003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50892"/>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The fiftieth member's revenue, the list's cut-off, is about which?</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45 / 82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8,580, and no tie at the boundary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list hold?</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25,840</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RANK 1</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C-0152</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8,580</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RANK 50, THE CUT-OFF</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51st spent Rs 8,520</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7,14,890</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FIFTY TOGETHER</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April to September</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Fifty of the 106 Retail-Plus members make the list, and since the fifty-first spent less than the fiftieth, the list ships exactly fifty rows; Wednesday's tie rule has nothing to decide.</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6" name="Oval 25"/>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8" name="Oval 27"/>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0" name="Oval 2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46 / 82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tie the list's source yourself</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raw export tied to the warehouse in chapter 2; does the customer table tie on its own?</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Sum it</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customer table's orders and revenue.</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Tie it</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Against the raw export counted once, 1,000 orders and Rs 19,84,00,000.</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Find it</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Any id in the export and not in the table.</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STEP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Say it</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What your answer means for the list and the lookup.</a:t>
            </a:r>
          </a:p>
        </p:txBody>
      </p:sp>
      <p:sp>
        <p:nvSpPr>
          <p:cNvPr id="30" name="TextBox 29"/>
          <p:cNvSpPr txBox="1"/>
          <p:nvPr/>
        </p:nvSpPr>
        <p:spPr>
          <a:xfrm>
            <a:off x="530352" y="41036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list's source ties to the warehouse before the list ships. In Excel: SUM the table's orders and revenue, set them beside the raw export counted once, and COUNTIF each export id in the table.</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33" name="Oval 3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35" name="Oval 34"/>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37" name="Oval 3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9" name="Oval 3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47 / 82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VLOOKUP return for C-0195?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table has no row for C-0195; what comes back when the fourth argument is left out?</a:t>
            </a:r>
          </a:p>
        </p:txBody>
      </p:sp>
      <p:pic>
        <p:nvPicPr>
          <p:cNvPr id="9" name="mermaid diagram" descr="201367854f6d6bf5.png"/>
          <p:cNvPicPr>
            <a:picLocks noChangeAspect="1"/>
          </p:cNvPicPr>
          <p:nvPr/>
        </p:nvPicPr>
        <p:blipFill>
          <a:blip r:embed="rId5"/>
          <a:stretch>
            <a:fillRect/>
          </a:stretch>
        </p:blipFill>
        <p:spPr>
          <a:xfrm>
            <a:off x="530352" y="2638047"/>
            <a:ext cx="4786326" cy="2606032"/>
          </a:xfrm>
          <a:prstGeom prst="rect">
            <a:avLst/>
          </a:prstGeom>
        </p:spPr>
      </p:pic>
      <p:sp>
        <p:nvSpPr>
          <p:cNvPr id="10" name="Rounded Rectangle 9"/>
          <p:cNvSpPr/>
          <p:nvPr/>
        </p:nvSpPr>
        <p:spPr>
          <a:xfrm>
            <a:off x="5761917" y="1956816"/>
            <a:ext cx="5899425"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44797"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100245"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255693"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6237" y="2286000"/>
            <a:ext cx="5442225"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=VLOOKUP("C-0195", A2:F301, 5)</a:t>
            </a:r>
          </a:p>
        </p:txBody>
      </p:sp>
      <p:sp>
        <p:nvSpPr>
          <p:cNvPr id="15" name="Rounded Rectangle 14"/>
          <p:cNvSpPr/>
          <p:nvPr/>
        </p:nvSpPr>
        <p:spPr>
          <a:xfrm>
            <a:off x="5761917" y="2831084"/>
            <a:ext cx="5899425"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908221" y="2959100"/>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109389" y="2949956"/>
            <a:ext cx="5332497"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What comes back?</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0" name="Oval 19"/>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2" name="Oval 21"/>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4" name="Oval 23"/>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6" name="Oval 2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48 / 82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C-0194's row, rank 15, and nothing is red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plausible wrong answer, and why does the sheet give it?</a:t>
            </a:r>
          </a:p>
        </p:txBody>
      </p:sp>
      <p:pic>
        <p:nvPicPr>
          <p:cNvPr id="9" name="mermaid diagram" descr="bfb2f99d8c7a58d4.png"/>
          <p:cNvPicPr>
            <a:picLocks noChangeAspect="1"/>
          </p:cNvPicPr>
          <p:nvPr/>
        </p:nvPicPr>
        <p:blipFill>
          <a:blip r:embed="rId5"/>
          <a:stretch>
            <a:fillRect/>
          </a:stretch>
        </p:blipFill>
        <p:spPr>
          <a:xfrm>
            <a:off x="2538260" y="1956816"/>
            <a:ext cx="7115175" cy="871537"/>
          </a:xfrm>
          <a:prstGeom prst="rect">
            <a:avLst/>
          </a:prstGeom>
        </p:spPr>
      </p:pic>
      <p:sp>
        <p:nvSpPr>
          <p:cNvPr id="10" name="TextBox 9"/>
          <p:cNvSpPr txBox="1"/>
          <p:nvPr/>
        </p:nvSpPr>
        <p:spPr>
          <a:xfrm>
            <a:off x="530352" y="2974657"/>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Left out, the fourth argument "will always be TRUE or approximate match" (Microsoft Support, VLOOKUP, checked 30 September 2026), which returns the largest id not above the one asked for. </a:t>
            </a:r>
            <a:r>
              <a:rPr sz="1600" b="1" i="0">
                <a:solidFill>
                  <a:srgbClr val="1A1440"/>
                </a:solidFill>
                <a:latin typeface="Calibri"/>
              </a:rPr>
              <a:t>Why it is wrong.</a:t>
            </a:r>
            <a:r>
              <a:rPr sz="1600" b="0" i="0">
                <a:solidFill>
                  <a:srgbClr val="1A1440"/>
                </a:solidFill>
                <a:latin typeface="Calibri"/>
              </a:rPr>
              <a:t> A director hears that C-0195 spent Rs 16,740 and sits at rank 15, and a retention offer goes to someone who placed no order between April and September.</a:t>
            </a:r>
          </a:p>
        </p:txBody>
      </p:sp>
      <p:sp>
        <p:nvSpPr>
          <p:cNvPr id="11" name="Rounded Rectangle 10"/>
          <p:cNvSpPr/>
          <p:nvPr/>
        </p:nvSpPr>
        <p:spPr>
          <a:xfrm>
            <a:off x="530352" y="4427537"/>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55555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546409"/>
            <a:ext cx="10564063" cy="358140"/>
          </a:xfrm>
          <a:prstGeom prst="rect">
            <a:avLst/>
          </a:prstGeom>
          <a:noFill/>
        </p:spPr>
        <p:txBody>
          <a:bodyPr wrap="square" anchor="ctr" lIns="0" rIns="0" tIns="0" bIns="0">
            <a:spAutoFit/>
          </a:bodyPr>
          <a:lstStyle/>
          <a:p>
            <a:r>
              <a:rPr sz="1500" b="1">
                <a:solidFill>
                  <a:srgbClr val="5B3FD6"/>
                </a:solidFill>
                <a:latin typeface="Calibri"/>
              </a:rPr>
              <a:t>The check that catches it. </a:t>
            </a:r>
            <a:r>
              <a:rPr sz="1500" b="0" i="0">
                <a:solidFill>
                  <a:srgbClr val="1A1440"/>
                </a:solidFill>
                <a:latin typeface="Calibri"/>
              </a:rPr>
              <a:t>Test every lookup with an id you know is missing.</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49 / 82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nearest match answers a missing id with a neighbour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nearest-match trap, and where does a nearest match belong?</a:t>
            </a:r>
          </a:p>
        </p:txBody>
      </p:sp>
      <p:sp>
        <p:nvSpPr>
          <p:cNvPr id="9" name="TextBox 8"/>
          <p:cNvSpPr txBox="1"/>
          <p:nvPr/>
        </p:nvSpPr>
        <p:spPr>
          <a:xfrm>
            <a:off x="530352" y="1956816"/>
            <a:ext cx="11130991" cy="1186688"/>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A nearest match reads a column sorted from smallest and stops at the largest value that is not above the one typed: "MATCH finds the largest value that is less than or equal to lookup_value" (Microsoft Support, MATCH function, checked 13 October 2026). On a band that is the answer. On an id the table lacks it is the nearest-match trap: the lookup returns a neighbour's row, and nothing on the sheet turns red.</a:t>
            </a:r>
          </a:p>
        </p:txBody>
      </p:sp>
      <p:graphicFrame>
        <p:nvGraphicFramePr>
          <p:cNvPr id="10" name="Table 9"/>
          <p:cNvGraphicFramePr>
            <a:graphicFrameLocks noGrp="1"/>
          </p:cNvGraphicFramePr>
          <p:nvPr/>
        </p:nvGraphicFramePr>
        <p:xfrm>
          <a:off x="530352" y="3271520"/>
          <a:ext cx="11130989" cy="1341120"/>
        </p:xfrm>
        <a:graphic>
          <a:graphicData uri="http://schemas.openxmlformats.org/drawingml/2006/table">
            <a:tbl>
              <a:tblPr firstRow="0" bandRow="0">
                <a:tableStyleId>{2D5ABB26-0587-4C30-8999-92F81FD0307C}</a:tableStyleId>
              </a:tblPr>
              <a:tblGrid>
                <a:gridCol w="2830268"/>
                <a:gridCol w="4416508"/>
                <a:gridCol w="3884213"/>
              </a:tblGrid>
              <a:tr h="335280">
                <a:tc>
                  <a:txBody>
                    <a:bodyPr/>
                    <a:lstStyle/>
                    <a:p>
                      <a:r>
                        <a:rPr sz="1250" b="1" i="0">
                          <a:solidFill>
                            <a:srgbClr val="FFFFFF"/>
                          </a:solidFill>
                          <a:latin typeface="Calibri"/>
                        </a:rPr>
                        <a:t>Typed into a nearest match</a:t>
                      </a:r>
                    </a:p>
                  </a:txBody>
                  <a:tcPr marL="101600" marR="101600" marT="38100" marB="38100" anchor="ctr">
                    <a:solidFill>
                      <a:srgbClr val="1A0F5C"/>
                    </a:solidFill>
                  </a:tcPr>
                </a:tc>
                <a:tc>
                  <a:txBody>
                    <a:bodyPr/>
                    <a:lstStyle/>
                    <a:p>
                      <a:r>
                        <a:rPr sz="1250" b="1" i="0">
                          <a:solidFill>
                            <a:srgbClr val="FFFFFF"/>
                          </a:solidFill>
                          <a:latin typeface="Calibri"/>
                        </a:rPr>
                        <a:t>What the sorted column holds</a:t>
                      </a:r>
                    </a:p>
                  </a:txBody>
                  <a:tcPr marL="101600" marR="101600" marT="38100" marB="38100" anchor="ctr">
                    <a:solidFill>
                      <a:srgbClr val="1A0F5C"/>
                    </a:solidFill>
                  </a:tcPr>
                </a:tc>
                <a:tc>
                  <a:txBody>
                    <a:bodyPr/>
                    <a:lstStyle/>
                    <a:p>
                      <a:r>
                        <a:rPr sz="1250" b="1" i="0">
                          <a:solidFill>
                            <a:srgbClr val="FFFFFF"/>
                          </a:solidFill>
                          <a:latin typeface="Calibri"/>
                        </a:rPr>
                        <a:t>What comes back</a:t>
                      </a:r>
                    </a:p>
                  </a:txBody>
                  <a:tcPr marL="101600" marR="101600" marT="38100" marB="38100" anchor="ctr">
                    <a:solidFill>
                      <a:srgbClr val="1A0F5C"/>
                    </a:solidFill>
                  </a:tcPr>
                </a:tc>
              </a:tr>
              <a:tr h="335280">
                <a:tc>
                  <a:txBody>
                    <a:bodyPr/>
                    <a:lstStyle/>
                    <a:p>
                      <a:r>
                        <a:rPr sz="1200" b="0" i="0">
                          <a:solidFill>
                            <a:srgbClr val="1A1440"/>
                          </a:solidFill>
                          <a:latin typeface="Calibri"/>
                        </a:rPr>
                        <a:t>An order of Rs 2,700</a:t>
                      </a:r>
                    </a:p>
                  </a:txBody>
                  <a:tcPr marL="101600" marR="101600" marT="38100" marB="38100" anchor="ctr">
                    <a:solidFill>
                      <a:srgbClr val="FFFFFF"/>
                    </a:solidFill>
                  </a:tcPr>
                </a:tc>
                <a:tc>
                  <a:txBody>
                    <a:bodyPr/>
                    <a:lstStyle/>
                    <a:p>
                      <a:r>
                        <a:rPr sz="1200" b="0" i="0">
                          <a:solidFill>
                            <a:srgbClr val="1A1440"/>
                          </a:solidFill>
                          <a:latin typeface="Calibri"/>
                        </a:rPr>
                        <a:t>invented tiers from Rs 0, Rs 1,000 and Rs 2,500</a:t>
                      </a:r>
                    </a:p>
                  </a:txBody>
                  <a:tcPr marL="101600" marR="101600" marT="38100" marB="38100" anchor="ctr">
                    <a:solidFill>
                      <a:srgbClr val="FFFFFF"/>
                    </a:solidFill>
                  </a:tcPr>
                </a:tc>
                <a:tc>
                  <a:txBody>
                    <a:bodyPr/>
                    <a:lstStyle/>
                    <a:p>
                      <a:r>
                        <a:rPr sz="1200" b="0" i="0">
                          <a:solidFill>
                            <a:srgbClr val="1A1440"/>
                          </a:solidFill>
                          <a:latin typeface="Calibri"/>
                        </a:rPr>
                        <a:t>the Rs 2,500 tier, the right band</a:t>
                      </a:r>
                    </a:p>
                  </a:txBody>
                  <a:tcPr marL="101600" marR="101600" marT="38100" marB="38100" anchor="ctr">
                    <a:solidFill>
                      <a:srgbClr val="FFFFFF"/>
                    </a:solidFill>
                  </a:tcPr>
                </a:tc>
              </a:tr>
              <a:tr h="335280">
                <a:tc>
                  <a:txBody>
                    <a:bodyPr/>
                    <a:lstStyle/>
                    <a:p>
                      <a:r>
                        <a:rPr sz="1200" b="0" i="0">
                          <a:solidFill>
                            <a:srgbClr val="1A1440"/>
                          </a:solidFill>
                          <a:latin typeface="Calibri"/>
                        </a:rPr>
                        <a:t>C-0195, which has no row</a:t>
                      </a:r>
                    </a:p>
                  </a:txBody>
                  <a:tcPr marL="101600" marR="101600" marT="38100" marB="38100" anchor="ctr">
                    <a:solidFill>
                      <a:srgbClr val="F4F2FA"/>
                    </a:solidFill>
                  </a:tcPr>
                </a:tc>
                <a:tc>
                  <a:txBody>
                    <a:bodyPr/>
                    <a:lstStyle/>
                    <a:p>
                      <a:r>
                        <a:rPr sz="1200" b="0" i="0">
                          <a:solidFill>
                            <a:srgbClr val="1A1440"/>
                          </a:solidFill>
                          <a:latin typeface="Calibri"/>
                        </a:rPr>
                        <a:t>ids up to C-0194, then C-0196</a:t>
                      </a:r>
                    </a:p>
                  </a:txBody>
                  <a:tcPr marL="101600" marR="101600" marT="38100" marB="38100" anchor="ctr">
                    <a:solidFill>
                      <a:srgbClr val="F4F2FA"/>
                    </a:solidFill>
                  </a:tcPr>
                </a:tc>
                <a:tc>
                  <a:txBody>
                    <a:bodyPr/>
                    <a:lstStyle/>
                    <a:p>
                      <a:r>
                        <a:rPr sz="1200" b="0" i="0">
                          <a:solidFill>
                            <a:srgbClr val="1A1440"/>
                          </a:solidFill>
                          <a:latin typeface="Calibri"/>
                        </a:rPr>
                        <a:t>C-0194's Rs 16,740, the wrong member</a:t>
                      </a:r>
                    </a:p>
                  </a:txBody>
                  <a:tcPr marL="101600" marR="101600" marT="38100" marB="38100" anchor="ctr">
                    <a:solidFill>
                      <a:srgbClr val="F4F2FA"/>
                    </a:solidFill>
                  </a:tcPr>
                </a:tc>
              </a:tr>
              <a:tr h="335280">
                <a:tc>
                  <a:txBody>
                    <a:bodyPr/>
                    <a:lstStyle/>
                    <a:p>
                      <a:r>
                        <a:rPr sz="1200" b="0" i="0">
                          <a:solidFill>
                            <a:srgbClr val="1A1440"/>
                          </a:solidFill>
                          <a:latin typeface="Calibri"/>
                        </a:rPr>
                        <a:t>C-0152, which has a row</a:t>
                      </a:r>
                    </a:p>
                  </a:txBody>
                  <a:tcPr marL="101600" marR="101600" marT="38100" marB="38100" anchor="ctr">
                    <a:solidFill>
                      <a:srgbClr val="FFFFFF"/>
                    </a:solidFill>
                  </a:tcPr>
                </a:tc>
                <a:tc>
                  <a:txBody>
                    <a:bodyPr/>
                    <a:lstStyle/>
                    <a:p>
                      <a:r>
                        <a:rPr sz="1200" b="0" i="0">
                          <a:solidFill>
                            <a:srgbClr val="1A1440"/>
                          </a:solidFill>
                          <a:latin typeface="Calibri"/>
                        </a:rPr>
                        <a:t>C-0152 itself</a:t>
                      </a:r>
                    </a:p>
                  </a:txBody>
                  <a:tcPr marL="101600" marR="101600" marT="38100" marB="38100" anchor="ctr">
                    <a:solidFill>
                      <a:srgbClr val="FFFFFF"/>
                    </a:solidFill>
                  </a:tcPr>
                </a:tc>
                <a:tc>
                  <a:txBody>
                    <a:bodyPr/>
                    <a:lstStyle/>
                    <a:p>
                      <a:r>
                        <a:rPr sz="1200" b="0" i="0">
                          <a:solidFill>
                            <a:srgbClr val="1A1440"/>
                          </a:solidFill>
                          <a:latin typeface="Calibri"/>
                        </a:rPr>
                        <a:t>its own Rs 25,840, so a test on it passes</a:t>
                      </a:r>
                    </a:p>
                  </a:txBody>
                  <a:tcPr marL="101600" marR="101600" marT="38100" marB="38100" anchor="ctr">
                    <a:solidFill>
                      <a:srgbClr val="FFFFFF"/>
                    </a:solidFill>
                  </a:tcPr>
                </a:tc>
              </a:tr>
            </a:tbl>
          </a:graphicData>
        </a:graphic>
      </p:graphicFrame>
      <p:sp>
        <p:nvSpPr>
          <p:cNvPr id="11" name="Rounded Rectangle 10"/>
          <p:cNvSpPr/>
          <p:nvPr/>
        </p:nvSpPr>
        <p:spPr>
          <a:xfrm>
            <a:off x="530352" y="4868672"/>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996688"/>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987544"/>
            <a:ext cx="10564063" cy="553720"/>
          </a:xfrm>
          <a:prstGeom prst="rect">
            <a:avLst/>
          </a:prstGeom>
          <a:noFill/>
        </p:spPr>
        <p:txBody>
          <a:bodyPr wrap="square" anchor="ctr" lIns="0" rIns="0" tIns="0" bIns="0">
            <a:spAutoFit/>
          </a:bodyPr>
          <a:lstStyle/>
          <a:p>
            <a:r>
              <a:rPr sz="1300" b="1">
                <a:solidFill>
                  <a:srgbClr val="5B3FD6"/>
                </a:solidFill>
                <a:latin typeface="Calibri"/>
              </a:rPr>
              <a:t>Check yourself. </a:t>
            </a:r>
            <a:r>
              <a:rPr sz="1300" b="0" i="0">
                <a:solidFill>
                  <a:srgbClr val="1A1440"/>
                </a:solidFill>
                <a:latin typeface="Calibri"/>
              </a:rPr>
              <a:t>Invented ids M-10, M-20, M-30 and M-40 sit sorted in column A, and M-35 has no row. What does a nearest match for M-35 return? a) #N/A; b) M-40's row; c) M-10's row; d) M-30's row.</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S43a  ·  50 / 82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an exact match with a not-found path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C-0195, C-0152 and C-0194 return once the match is exact?</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2115226"/>
                <a:gridCol w="5726270"/>
                <a:gridCol w="3289494"/>
              </a:tblGrid>
              <a:tr h="369824">
                <a:tc>
                  <a:txBody>
                    <a:bodyPr/>
                    <a:lstStyle/>
                    <a:p>
                      <a:r>
                        <a:rPr sz="1450" b="1" i="0">
                          <a:solidFill>
                            <a:srgbClr val="FFFFFF"/>
                          </a:solidFill>
                          <a:latin typeface="Calibri"/>
                        </a:rPr>
                        <a:t>Asked for</a:t>
                      </a:r>
                    </a:p>
                  </a:txBody>
                  <a:tcPr marL="101600" marR="101600" marT="38100" marB="38100" anchor="ctr">
                    <a:solidFill>
                      <a:srgbClr val="1A0F5C"/>
                    </a:solidFill>
                  </a:tcPr>
                </a:tc>
                <a:tc>
                  <a:txBody>
                    <a:bodyPr/>
                    <a:lstStyle/>
                    <a:p>
                      <a:r>
                        <a:rPr sz="1450" b="1" i="0">
                          <a:solidFill>
                            <a:srgbClr val="FFFFFF"/>
                          </a:solidFill>
                          <a:latin typeface="Calibri"/>
                        </a:rPr>
                        <a:t>Exact, with a not-found path</a:t>
                      </a:r>
                    </a:p>
                  </a:txBody>
                  <a:tcPr marL="101600" marR="101600" marT="38100" marB="38100" anchor="ctr">
                    <a:solidFill>
                      <a:srgbClr val="1A0F5C"/>
                    </a:solidFill>
                  </a:tcPr>
                </a:tc>
                <a:tc>
                  <a:txBody>
                    <a:bodyPr/>
                    <a:lstStyle/>
                    <a:p>
                      <a:r>
                        <a:rPr sz="1450" b="1" i="0">
                          <a:solidFill>
                            <a:srgbClr val="FFFFFF"/>
                          </a:solidFill>
                          <a:latin typeface="Calibri"/>
                        </a:rPr>
                        <a:t>Approximate</a:t>
                      </a:r>
                    </a:p>
                  </a:txBody>
                  <a:tcPr marL="101600" marR="101600" marT="38100" marB="38100" anchor="ctr">
                    <a:solidFill>
                      <a:srgbClr val="1A0F5C"/>
                    </a:solidFill>
                  </a:tcPr>
                </a:tc>
              </a:tr>
              <a:tr h="369824">
                <a:tc>
                  <a:txBody>
                    <a:bodyPr/>
                    <a:lstStyle/>
                    <a:p>
                      <a:r>
                        <a:rPr sz="1400" b="0" i="0">
                          <a:solidFill>
                            <a:srgbClr val="1A1440"/>
                          </a:solidFill>
                          <a:latin typeface="Calibri"/>
                        </a:rPr>
                        <a:t>C-0195</a:t>
                      </a:r>
                    </a:p>
                  </a:txBody>
                  <a:tcPr marL="101600" marR="101600" marT="38100" marB="38100" anchor="ctr">
                    <a:solidFill>
                      <a:srgbClr val="FFFFFF"/>
                    </a:solidFill>
                  </a:tcPr>
                </a:tc>
                <a:tc>
                  <a:txBody>
                    <a:bodyPr/>
                    <a:lstStyle/>
                    <a:p>
                      <a:r>
                        <a:rPr sz="1400" b="0" i="0">
                          <a:solidFill>
                            <a:srgbClr val="1A1440"/>
                          </a:solidFill>
                          <a:latin typeface="Calibri"/>
                        </a:rPr>
                        <a:t>not in the table</a:t>
                      </a:r>
                    </a:p>
                  </a:txBody>
                  <a:tcPr marL="101600" marR="101600" marT="38100" marB="38100" anchor="ctr">
                    <a:solidFill>
                      <a:srgbClr val="FFFFFF"/>
                    </a:solidFill>
                  </a:tcPr>
                </a:tc>
                <a:tc>
                  <a:txBody>
                    <a:bodyPr/>
                    <a:lstStyle/>
                    <a:p>
                      <a:r>
                        <a:rPr sz="1400" b="0" i="0">
                          <a:solidFill>
                            <a:srgbClr val="1A1440"/>
                          </a:solidFill>
                          <a:latin typeface="Calibri"/>
                        </a:rPr>
                        <a:t>C-0194: Rs 16,740</a:t>
                      </a:r>
                    </a:p>
                  </a:txBody>
                  <a:tcPr marL="101600" marR="101600" marT="38100" marB="38100" anchor="ctr">
                    <a:solidFill>
                      <a:srgbClr val="FFFFFF"/>
                    </a:solidFill>
                  </a:tcPr>
                </a:tc>
              </a:tr>
              <a:tr h="369824">
                <a:tc>
                  <a:txBody>
                    <a:bodyPr/>
                    <a:lstStyle/>
                    <a:p>
                      <a:r>
                        <a:rPr sz="1400" b="0" i="0">
                          <a:solidFill>
                            <a:srgbClr val="1A1440"/>
                          </a:solidFill>
                          <a:latin typeface="Calibri"/>
                        </a:rPr>
                        <a:t>C-0152</a:t>
                      </a:r>
                    </a:p>
                  </a:txBody>
                  <a:tcPr marL="101600" marR="101600" marT="38100" marB="38100" anchor="ctr">
                    <a:solidFill>
                      <a:srgbClr val="F4F2FA"/>
                    </a:solidFill>
                  </a:tcPr>
                </a:tc>
                <a:tc>
                  <a:txBody>
                    <a:bodyPr/>
                    <a:lstStyle/>
                    <a:p>
                      <a:r>
                        <a:rPr sz="1400" b="0" i="0">
                          <a:solidFill>
                            <a:srgbClr val="1A1440"/>
                          </a:solidFill>
                          <a:latin typeface="Calibri"/>
                        </a:rPr>
                        <a:t>Rs 25,840</a:t>
                      </a:r>
                    </a:p>
                  </a:txBody>
                  <a:tcPr marL="101600" marR="101600" marT="38100" marB="38100" anchor="ctr">
                    <a:solidFill>
                      <a:srgbClr val="F4F2FA"/>
                    </a:solidFill>
                  </a:tcPr>
                </a:tc>
                <a:tc>
                  <a:txBody>
                    <a:bodyPr/>
                    <a:lstStyle/>
                    <a:p>
                      <a:r>
                        <a:rPr sz="1400" b="0" i="0">
                          <a:solidFill>
                            <a:srgbClr val="1A1440"/>
                          </a:solidFill>
                          <a:latin typeface="Calibri"/>
                        </a:rPr>
                        <a:t>C-0152: Rs 25,840</a:t>
                      </a:r>
                    </a:p>
                  </a:txBody>
                  <a:tcPr marL="101600" marR="101600" marT="38100" marB="38100" anchor="ctr">
                    <a:solidFill>
                      <a:srgbClr val="F4F2FA"/>
                    </a:solidFill>
                  </a:tcPr>
                </a:tc>
              </a:tr>
              <a:tr h="369824">
                <a:tc>
                  <a:txBody>
                    <a:bodyPr/>
                    <a:lstStyle/>
                    <a:p>
                      <a:r>
                        <a:rPr sz="1400" b="0" i="0">
                          <a:solidFill>
                            <a:srgbClr val="1A1440"/>
                          </a:solidFill>
                          <a:latin typeface="Calibri"/>
                        </a:rPr>
                        <a:t>C-0194</a:t>
                      </a:r>
                    </a:p>
                  </a:txBody>
                  <a:tcPr marL="101600" marR="101600" marT="38100" marB="38100" anchor="ctr">
                    <a:solidFill>
                      <a:srgbClr val="FFFFFF"/>
                    </a:solidFill>
                  </a:tcPr>
                </a:tc>
                <a:tc>
                  <a:txBody>
                    <a:bodyPr/>
                    <a:lstStyle/>
                    <a:p>
                      <a:r>
                        <a:rPr sz="1400" b="0" i="0">
                          <a:solidFill>
                            <a:srgbClr val="1A1440"/>
                          </a:solidFill>
                          <a:latin typeface="Calibri"/>
                        </a:rPr>
                        <a:t>Rs 16,740</a:t>
                      </a:r>
                    </a:p>
                  </a:txBody>
                  <a:tcPr marL="101600" marR="101600" marT="38100" marB="38100" anchor="ctr">
                    <a:solidFill>
                      <a:srgbClr val="FFFFFF"/>
                    </a:solidFill>
                  </a:tcPr>
                </a:tc>
                <a:tc>
                  <a:txBody>
                    <a:bodyPr/>
                    <a:lstStyle/>
                    <a:p>
                      <a:r>
                        <a:rPr sz="1400" b="0" i="0">
                          <a:solidFill>
                            <a:srgbClr val="1A1440"/>
                          </a:solidFill>
                          <a:latin typeface="Calibri"/>
                        </a:rPr>
                        <a:t>C-0194: Rs 16,740</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8915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C-0195's line moves from "rank 15, Rs 16,740" to "not in the table", the answer that makes somebody check the export. For members in the table the two agree, which is why a lookup tested only on present ids looks fine.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51 / 82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room sorts the list by revenue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to each lookup once the ids are no longer in order?</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24 of 49</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STEPS DOWN THE LIST</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to a smaller id</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50 of 50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EXACT LOOKUPS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still right, shuffled</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An approximate match assumes the first column is sorted: "If the first column isn't sorted, the return value might be something you don't expect" (Microsoft Support, VLOOKUP, checked 30 September 2026). An exact match does not care about order, so it survives the view a director looks at.</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0" name="Oval 19"/>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2" name="Oval 21"/>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4" name="Oval 23"/>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6" name="Oval 25"/>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52 / 82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the warehouse's own count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warehouse, which never saw the customer table, agree with the lookup?</a:t>
            </a:r>
          </a:p>
        </p:txBody>
      </p:sp>
      <p:pic>
        <p:nvPicPr>
          <p:cNvPr id="9" name="mermaid diagram" descr="db853b3f9a6028bc.png"/>
          <p:cNvPicPr>
            <a:picLocks noChangeAspect="1"/>
          </p:cNvPicPr>
          <p:nvPr/>
        </p:nvPicPr>
        <p:blipFill>
          <a:blip r:embed="rId5"/>
          <a:stretch>
            <a:fillRect/>
          </a:stretch>
        </p:blipFill>
        <p:spPr>
          <a:xfrm>
            <a:off x="3502666" y="1956816"/>
            <a:ext cx="5186362" cy="1800225"/>
          </a:xfrm>
          <a:prstGeom prst="rect">
            <a:avLst/>
          </a:prstGeom>
        </p:spPr>
      </p:pic>
      <p:sp>
        <p:nvSpPr>
          <p:cNvPr id="10" name="TextBox 9"/>
          <p:cNvSpPr txBox="1"/>
          <p:nvPr/>
        </p:nvSpPr>
        <p:spPr>
          <a:xfrm>
            <a:off x="530352" y="390334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SELECT count(*), sum(amount) FROM orders WHERE customer_id = 'C-0195' finds no orders, which has to meet a not-found answer; for C-0152 it adds Rs 25,840, which has to meet the lookup. The warehouse never saw the customer table, so it can disagree with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53 / 82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Fifty members, and a lookup that says so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is on the protect list, and does the lookup answer for the member typed?</a:t>
            </a:r>
          </a:p>
        </p:txBody>
      </p:sp>
      <p:graphicFrame>
        <p:nvGraphicFramePr>
          <p:cNvPr id="9" name="Table 8"/>
          <p:cNvGraphicFramePr>
            <a:graphicFrameLocks noGrp="1"/>
          </p:cNvGraphicFramePr>
          <p:nvPr/>
        </p:nvGraphicFramePr>
        <p:xfrm>
          <a:off x="530352" y="1794764"/>
          <a:ext cx="11130990" cy="2226056"/>
        </p:xfrm>
        <a:graphic>
          <a:graphicData uri="http://schemas.openxmlformats.org/drawingml/2006/table">
            <a:tbl>
              <a:tblPr firstRow="0" bandRow="0">
                <a:tableStyleId>{2D5ABB26-0587-4C30-8999-92F81FD0307C}</a:tableStyleId>
              </a:tblPr>
              <a:tblGrid>
                <a:gridCol w="3228783"/>
                <a:gridCol w="7902207"/>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Which lookup?</a:t>
                      </a:r>
                    </a:p>
                  </a:txBody>
                  <a:tcPr marL="101600" marR="101600" marT="38100" marB="38100" anchor="ctr">
                    <a:solidFill>
                      <a:srgbClr val="FFFFFF"/>
                    </a:solidFill>
                  </a:tcPr>
                </a:tc>
                <a:tc>
                  <a:txBody>
                    <a:bodyPr/>
                    <a:lstStyle/>
                    <a:p>
                      <a:r>
                        <a:rPr sz="1100" b="0" i="0">
                          <a:solidFill>
                            <a:srgbClr val="1A1440"/>
                          </a:solidFill>
                          <a:latin typeface="Calibri"/>
                        </a:rPr>
                        <a:t>XLOOKUP on 365; INDEX and MATCH anywhere</a:t>
                      </a:r>
                    </a:p>
                  </a:txBody>
                  <a:tcPr marL="101600" marR="101600" marT="38100" marB="38100" anchor="ctr">
                    <a:solidFill>
                      <a:srgbClr val="FFFFFF"/>
                    </a:solidFill>
                  </a:tcPr>
                </a:tc>
              </a:tr>
              <a:tr h="318008">
                <a:tc>
                  <a:txBody>
                    <a:bodyPr/>
                    <a:lstStyle/>
                    <a:p>
                      <a:r>
                        <a:rPr sz="1100" b="0" i="0">
                          <a:solidFill>
                            <a:srgbClr val="1A1440"/>
                          </a:solidFill>
                          <a:latin typeface="Calibri"/>
                        </a:rPr>
                        <a:t>Who is on it?</a:t>
                      </a:r>
                    </a:p>
                  </a:txBody>
                  <a:tcPr marL="101600" marR="101600" marT="38100" marB="38100" anchor="ctr">
                    <a:solidFill>
                      <a:srgbClr val="F4F2FA"/>
                    </a:solidFill>
                  </a:tcPr>
                </a:tc>
                <a:tc>
                  <a:txBody>
                    <a:bodyPr/>
                    <a:lstStyle/>
                    <a:p>
                      <a:r>
                        <a:rPr sz="1100" b="0" i="0">
                          <a:solidFill>
                            <a:srgbClr val="1A1440"/>
                          </a:solidFill>
                          <a:latin typeface="Calibri"/>
                        </a:rPr>
                        <a:t>Fifty, Rs 25,840 down to Rs 8,580</a:t>
                      </a:r>
                    </a:p>
                  </a:txBody>
                  <a:tcPr marL="101600" marR="101600" marT="38100" marB="38100" anchor="ctr">
                    <a:solidFill>
                      <a:srgbClr val="F4F2FA"/>
                    </a:solidFill>
                  </a:tcPr>
                </a:tc>
              </a:tr>
              <a:tr h="318008">
                <a:tc>
                  <a:txBody>
                    <a:bodyPr/>
                    <a:lstStyle/>
                    <a:p>
                      <a:r>
                        <a:rPr sz="1100" b="0" i="0">
                          <a:solidFill>
                            <a:srgbClr val="1A1440"/>
                          </a:solidFill>
                          <a:latin typeface="Calibri"/>
                        </a:rPr>
                        <a:t>Does it tie?</a:t>
                      </a:r>
                    </a:p>
                  </a:txBody>
                  <a:tcPr marL="101600" marR="101600" marT="38100" marB="38100" anchor="ctr">
                    <a:solidFill>
                      <a:srgbClr val="FFFFFF"/>
                    </a:solidFill>
                  </a:tcPr>
                </a:tc>
                <a:tc>
                  <a:txBody>
                    <a:bodyPr/>
                    <a:lstStyle/>
                    <a:p>
                      <a:r>
                        <a:rPr sz="1100" b="0" i="0">
                          <a:solidFill>
                            <a:srgbClr val="1A1440"/>
                          </a:solidFill>
                          <a:latin typeface="Calibri"/>
                        </a:rPr>
                        <a:t>The room's own answer, from the your-turn step</a:t>
                      </a:r>
                    </a:p>
                  </a:txBody>
                  <a:tcPr marL="101600" marR="101600" marT="38100" marB="38100" anchor="ctr">
                    <a:solidFill>
                      <a:srgbClr val="FFFFFF"/>
                    </a:solidFill>
                  </a:tcPr>
                </a:tc>
              </a:tr>
              <a:tr h="318008">
                <a:tc>
                  <a:txBody>
                    <a:bodyPr/>
                    <a:lstStyle/>
                    <a:p>
                      <a:r>
                        <a:rPr sz="1100" b="0" i="0">
                          <a:solidFill>
                            <a:srgbClr val="1A1440"/>
                          </a:solidFill>
                          <a:latin typeface="Calibri"/>
                        </a:rPr>
                        <a:t>A missing id?</a:t>
                      </a:r>
                    </a:p>
                  </a:txBody>
                  <a:tcPr marL="101600" marR="101600" marT="38100" marB="38100" anchor="ctr">
                    <a:solidFill>
                      <a:srgbClr val="F4F2FA"/>
                    </a:solidFill>
                  </a:tcPr>
                </a:tc>
                <a:tc>
                  <a:txBody>
                    <a:bodyPr/>
                    <a:lstStyle/>
                    <a:p>
                      <a:r>
                        <a:rPr sz="1100" b="0" i="0">
                          <a:solidFill>
                            <a:srgbClr val="1A1440"/>
                          </a:solidFill>
                          <a:latin typeface="Calibri"/>
                        </a:rPr>
                        <a:t>Approximate returns C-0194, Rs 16,740</a:t>
                      </a:r>
                    </a:p>
                  </a:txBody>
                  <a:tcPr marL="101600" marR="101600" marT="38100" marB="38100" anchor="ctr">
                    <a:solidFill>
                      <a:srgbClr val="F4F2FA"/>
                    </a:solidFill>
                  </a:tcPr>
                </a:tc>
              </a:tr>
              <a:tr h="318008">
                <a:tc>
                  <a:txBody>
                    <a:bodyPr/>
                    <a:lstStyle/>
                    <a:p>
                      <a:r>
                        <a:rPr sz="1100" b="0" i="0">
                          <a:solidFill>
                            <a:srgbClr val="1A1440"/>
                          </a:solidFill>
                          <a:latin typeface="Calibri"/>
                        </a:rPr>
                        <a:t>Found or not?</a:t>
                      </a:r>
                    </a:p>
                  </a:txBody>
                  <a:tcPr marL="101600" marR="101600" marT="38100" marB="38100" anchor="ctr">
                    <a:solidFill>
                      <a:srgbClr val="FFFFFF"/>
                    </a:solidFill>
                  </a:tcPr>
                </a:tc>
                <a:tc>
                  <a:txBody>
                    <a:bodyPr/>
                    <a:lstStyle/>
                    <a:p>
                      <a:r>
                        <a:rPr sz="1100" b="0" i="0">
                          <a:solidFill>
                            <a:srgbClr val="1A1440"/>
                          </a:solidFill>
                          <a:latin typeface="Calibri"/>
                        </a:rPr>
                        <a:t>"Not in the table", sorted or not</a:t>
                      </a:r>
                    </a:p>
                  </a:txBody>
                  <a:tcPr marL="101600" marR="101600" marT="38100" marB="38100" anchor="ctr">
                    <a:solidFill>
                      <a:srgbClr val="FFFFFF"/>
                    </a:solidFill>
                  </a:tcPr>
                </a:tc>
              </a:tr>
              <a:tr h="318008">
                <a:tc>
                  <a:txBody>
                    <a:bodyPr/>
                    <a:lstStyle/>
                    <a:p>
                      <a:r>
                        <a:rPr sz="1100" b="0" i="0">
                          <a:solidFill>
                            <a:srgbClr val="1A1440"/>
                          </a:solidFill>
                          <a:latin typeface="Calibri"/>
                        </a:rPr>
                        <a:t>Warehouse agrees?</a:t>
                      </a:r>
                    </a:p>
                  </a:txBody>
                  <a:tcPr marL="101600" marR="101600" marT="38100" marB="38100" anchor="ctr">
                    <a:solidFill>
                      <a:srgbClr val="F4F2FA"/>
                    </a:solidFill>
                  </a:tcPr>
                </a:tc>
                <a:tc>
                  <a:txBody>
                    <a:bodyPr/>
                    <a:lstStyle/>
                    <a:p>
                      <a:r>
                        <a:rPr sz="1100" b="0" i="0">
                          <a:solidFill>
                            <a:srgbClr val="1A1440"/>
                          </a:solidFill>
                          <a:latin typeface="Calibri"/>
                        </a:rPr>
                        <a:t>No orders for C-0195; Rs 25,840 for C-0152</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"A lookup that answers with somebody else's row is worse than none, since nobody can tell; test it with a missing id."</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[F] Your lookup returned a member for an id that does not exist; which argument was wrong?</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4" name="Oval 23"/>
          <p:cNvSpPr/>
          <p:nvPr/>
        </p:nvSpPr>
        <p:spPr>
          <a:xfrm>
            <a:off x="345957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6930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Find any member by id?</a:t>
            </a:r>
          </a:p>
        </p:txBody>
      </p:sp>
      <p:sp>
        <p:nvSpPr>
          <p:cNvPr id="26" name="Oval 25"/>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8" name="Oval 2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54 / 82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Presenting one number</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Read right in two minutes?</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must sit beside the front-page number so a director reads it right in two minutes? The meeting's first decision is made from it.</a:t>
            </a:r>
          </a:p>
        </p:txBody>
      </p:sp>
      <p:sp>
        <p:nvSpPr>
          <p:cNvPr id="11" name="Rounded Rectangle 10"/>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segment carries it?</a:t>
            </a:r>
          </a:p>
        </p:txBody>
      </p:sp>
      <p:sp>
        <p:nvSpPr>
          <p:cNvPr id="12" name="Rounded Rectangle 11"/>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Q2 fall?</a:t>
            </a:r>
          </a:p>
        </p:txBody>
      </p:sp>
      <p:sp>
        <p:nvSpPr>
          <p:cNvPr id="13" name="Rounded Rectangle 12"/>
          <p:cNvSpPr/>
          <p:nvPr/>
        </p:nvSpPr>
        <p:spPr>
          <a:xfrm>
            <a:off x="4228782"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Find any member by id?</a:t>
            </a:r>
          </a:p>
        </p:txBody>
      </p:sp>
      <p:sp>
        <p:nvSpPr>
          <p:cNvPr id="14" name="Rounded Rectangle 13"/>
          <p:cNvSpPr/>
          <p:nvPr/>
        </p:nvSpPr>
        <p:spPr>
          <a:xfrm>
            <a:off x="6007022"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Read right in two minutes?</a:t>
            </a:r>
          </a:p>
        </p:txBody>
      </p:sp>
      <p:sp>
        <p:nvSpPr>
          <p:cNvPr id="15" name="Rounded Rectangle 14"/>
          <p:cNvSpPr/>
          <p:nvPr/>
        </p:nvSpPr>
        <p:spPr>
          <a:xfrm>
            <a:off x="8022125"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Excel never do?</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What can a director open, change and still trust?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55 / 82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directors read the front page in two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reads the front-page number, and which six questions build its card?</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and her directors, who read the front page first and may read nothing else, and the chief of staff, who answers for it; a card without its period reads two quarters as one.</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Which form?</a:t>
            </a:r>
          </a:p>
        </p:txBody>
      </p:sp>
      <p:sp>
        <p:nvSpPr>
          <p:cNvPr id="17" name="TextBox 16"/>
          <p:cNvSpPr txBox="1"/>
          <p:nvPr/>
        </p:nvSpPr>
        <p:spPr>
          <a:xfrm>
            <a:off x="694944" y="4250182"/>
            <a:ext cx="1373581" cy="201676"/>
          </a:xfrm>
          <a:prstGeom prst="rect">
            <a:avLst/>
          </a:prstGeom>
          <a:noFill/>
        </p:spPr>
        <p:txBody>
          <a:bodyPr wrap="square" anchor="t" lIns="0" rIns="0" tIns="0" bIns="0">
            <a:spAutoFit/>
          </a:bodyPr>
          <a:lstStyle/>
          <a:p>
            <a:pPr algn="l"/>
            <a:r>
              <a:rPr sz="1000" b="0" i="0">
                <a:solidFill>
                  <a:srgbClr val="6B6690"/>
                </a:solidFill>
                <a:latin typeface="Calibri"/>
              </a:rPr>
              <a:t>Four cards, sized.</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A bare total?</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a director reads in it.</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card?</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Period, comparison, base.</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A bare percentage?</a:t>
            </a:r>
          </a:p>
        </p:txBody>
      </p:sp>
      <p:sp>
        <p:nvSpPr>
          <p:cNvPr id="32" name="TextBox 31"/>
          <p:cNvSpPr txBox="1"/>
          <p:nvPr/>
        </p:nvSpPr>
        <p:spPr>
          <a:xfrm>
            <a:off x="6351879" y="4464812"/>
            <a:ext cx="1373581" cy="201676"/>
          </a:xfrm>
          <a:prstGeom prst="rect">
            <a:avLst/>
          </a:prstGeom>
          <a:noFill/>
        </p:spPr>
        <p:txBody>
          <a:bodyPr wrap="square" anchor="t" lIns="0" rIns="0" tIns="0" bIns="0">
            <a:spAutoFit/>
          </a:bodyPr>
          <a:lstStyle/>
          <a:p>
            <a:pPr algn="l"/>
            <a:r>
              <a:rPr sz="1000" b="0" i="0">
                <a:solidFill>
                  <a:srgbClr val="6B6690"/>
                </a:solidFill>
                <a:latin typeface="Calibri"/>
              </a:rPr>
              <a:t>What it leaves out.</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Trend and scope?</a:t>
            </a:r>
          </a:p>
        </p:txBody>
      </p:sp>
      <p:sp>
        <p:nvSpPr>
          <p:cNvPr id="37" name="TextBox 36"/>
          <p:cNvSpPr txBox="1"/>
          <p:nvPr/>
        </p:nvSpPr>
        <p:spPr>
          <a:xfrm>
            <a:off x="823752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Six months, and a director's input.</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465836"/>
          </a:xfrm>
          <a:prstGeom prst="rect">
            <a:avLst/>
          </a:prstGeom>
          <a:noFill/>
        </p:spPr>
        <p:txBody>
          <a:bodyPr wrap="square" anchor="t" lIns="0" rIns="0" tIns="0" bIns="0">
            <a:spAutoFit/>
          </a:bodyPr>
          <a:lstStyle/>
          <a:p>
            <a:pPr algn="l"/>
            <a:r>
              <a:rPr sz="1300" b="1" i="0">
                <a:solidFill>
                  <a:srgbClr val="FFFFFF"/>
                </a:solidFill>
                <a:latin typeface="Calibri"/>
              </a:rPr>
              <a:t>Warehouse agrees?</a:t>
            </a:r>
          </a:p>
        </p:txBody>
      </p:sp>
      <p:sp>
        <p:nvSpPr>
          <p:cNvPr id="42" name="TextBox 41"/>
          <p:cNvSpPr txBox="1"/>
          <p:nvPr/>
        </p:nvSpPr>
        <p:spPr>
          <a:xfrm>
            <a:off x="10123170" y="4464812"/>
            <a:ext cx="1373581" cy="201676"/>
          </a:xfrm>
          <a:prstGeom prst="rect">
            <a:avLst/>
          </a:prstGeom>
          <a:noFill/>
        </p:spPr>
        <p:txBody>
          <a:bodyPr wrap="square" anchor="t" lIns="0" rIns="0" tIns="0" bIns="0">
            <a:spAutoFit/>
          </a:bodyPr>
          <a:lstStyle/>
          <a:p>
            <a:pPr algn="l"/>
            <a:r>
              <a:rPr sz="1000" b="0" i="0">
                <a:solidFill>
                  <a:srgbClr val="CFC9EE"/>
                </a:solidFill>
                <a:latin typeface="Calibri"/>
              </a:rPr>
              <a:t>The second route.</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45" name="Oval 4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47" name="Oval 4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49" name="Oval 48"/>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51" name="Oval 50"/>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56 / 82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front page is read in two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misread front-page number cost the meeting's first decision?</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9.84 cr</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REVENUE</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July to September 2026</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-1.6%</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ON Q1</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Rs 10.00 crore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 minutes</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READING TIME</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 director's, for the front page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"One number on the front page with its trend."</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8" name="Oval 2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30" name="Oval 2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2" name="Oval 31"/>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34" name="Oval 3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57 / 82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DMart's headline carries all four parts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company writes this card every quarter?</a:t>
            </a:r>
          </a:p>
        </p:txBody>
      </p:sp>
      <p:sp>
        <p:nvSpPr>
          <p:cNvPr id="9" name="Rounded Rectangle 8"/>
          <p:cNvSpPr/>
          <p:nvPr/>
        </p:nvSpPr>
        <p:spPr>
          <a:xfrm>
            <a:off x="530352" y="1956816"/>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741680"/>
          </a:xfrm>
          <a:prstGeom prst="rect">
            <a:avLst/>
          </a:prstGeom>
          <a:noFill/>
        </p:spPr>
        <p:txBody>
          <a:bodyPr wrap="square" anchor="t" lIns="0" rIns="0" tIns="0" bIns="0">
            <a:spAutoFit/>
          </a:bodyPr>
          <a:lstStyle/>
          <a:p>
            <a:r>
              <a:rPr sz="1600" b="0" i="1">
                <a:solidFill>
                  <a:srgbClr val="1A0F5C"/>
                </a:solidFill>
                <a:latin typeface="Georgia"/>
              </a:rPr>
              <a:t>"Standalone Total Revenue up by 16.2% at Rs.15,932 Crore."</a:t>
            </a:r>
          </a:p>
          <a:p>
            <a:pPr>
              <a:spcBef>
                <a:spcPts val="400"/>
              </a:spcBef>
            </a:pPr>
            <a:r>
              <a:rPr sz="1000" b="0" i="0">
                <a:solidFill>
                  <a:srgbClr val="6B6690"/>
                </a:solidFill>
                <a:latin typeface="Calibri"/>
              </a:rPr>
              <a:t>Avenue Supermarts (DMart), press release, quarter ended 30 June 2025</a:t>
            </a:r>
          </a:p>
        </p:txBody>
      </p:sp>
      <p:pic>
        <p:nvPicPr>
          <p:cNvPr id="11" name="mermaid diagram" descr="6110cada9d0b61d8.png"/>
          <p:cNvPicPr>
            <a:picLocks noChangeAspect="1"/>
          </p:cNvPicPr>
          <p:nvPr/>
        </p:nvPicPr>
        <p:blipFill>
          <a:blip r:embed="rId5"/>
          <a:stretch>
            <a:fillRect/>
          </a:stretch>
        </p:blipFill>
        <p:spPr>
          <a:xfrm>
            <a:off x="1030928" y="2844800"/>
            <a:ext cx="10129837" cy="1128712"/>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4" name="Oval 1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6" name="Oval 1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8" name="Oval 17"/>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0" name="Oval 1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58 / 82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quarter against the last, with its sentence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form should the card take, and what does each ask the director to remember?</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2431376"/>
                <a:gridCol w="5195866"/>
                <a:gridCol w="914400"/>
                <a:gridCol w="2589347"/>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The card</a:t>
                      </a:r>
                    </a:p>
                  </a:txBody>
                  <a:tcPr marL="101600" marR="101600" marT="38100" marB="38100" anchor="ctr">
                    <a:solidFill>
                      <a:srgbClr val="1A0F5C"/>
                    </a:solidFill>
                  </a:tcPr>
                </a:tc>
                <a:tc>
                  <a:txBody>
                    <a:bodyPr/>
                    <a:lstStyle/>
                    <a:p>
                      <a:r>
                        <a:rPr sz="1250" b="1" i="0">
                          <a:solidFill>
                            <a:srgbClr val="FFFFFF"/>
                          </a:solidFill>
                          <a:latin typeface="Calibri"/>
                        </a:rPr>
                        <a:t>Words</a:t>
                      </a:r>
                    </a:p>
                  </a:txBody>
                  <a:tcPr marL="101600" marR="101600" marT="38100" marB="38100" anchor="ctr">
                    <a:solidFill>
                      <a:srgbClr val="1A0F5C"/>
                    </a:solidFill>
                  </a:tcPr>
                </a:tc>
                <a:tc>
                  <a:txBody>
                    <a:bodyPr/>
                    <a:lstStyle/>
                    <a:p>
                      <a:r>
                        <a:rPr sz="1250" b="1" i="0">
                          <a:solidFill>
                            <a:srgbClr val="FFFFFF"/>
                          </a:solidFill>
                          <a:latin typeface="Calibri"/>
                        </a:rPr>
                        <a:t>The director must bring</a:t>
                      </a:r>
                    </a:p>
                  </a:txBody>
                  <a:tcPr marL="101600" marR="101600" marT="38100" marB="38100" anchor="ctr">
                    <a:solidFill>
                      <a:srgbClr val="1A0F5C"/>
                    </a:solidFill>
                  </a:tcPr>
                </a:tc>
              </a:tr>
              <a:tr h="335280">
                <a:tc>
                  <a:txBody>
                    <a:bodyPr/>
                    <a:lstStyle/>
                    <a:p>
                      <a:r>
                        <a:rPr sz="1200" b="0" i="0">
                          <a:solidFill>
                            <a:srgbClr val="1A1440"/>
                          </a:solidFill>
                          <a:latin typeface="Calibri"/>
                        </a:rPr>
                        <a:t>a) The total</a:t>
                      </a:r>
                    </a:p>
                  </a:txBody>
                  <a:tcPr marL="101600" marR="101600" marT="38100" marB="38100" anchor="ctr">
                    <a:solidFill>
                      <a:srgbClr val="FFFFFF"/>
                    </a:solidFill>
                  </a:tcPr>
                </a:tc>
                <a:tc>
                  <a:txBody>
                    <a:bodyPr/>
                    <a:lstStyle/>
                    <a:p>
                      <a:r>
                        <a:rPr sz="1200" b="0" i="0">
                          <a:solidFill>
                            <a:srgbClr val="1A1440"/>
                          </a:solidFill>
                          <a:latin typeface="Calibri"/>
                        </a:rPr>
                        <a:t>"Revenue Rs 19.84 crore"</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c>
                  <a:txBody>
                    <a:bodyPr/>
                    <a:lstStyle/>
                    <a:p>
                      <a:r>
                        <a:rPr sz="1200" b="0" i="0">
                          <a:solidFill>
                            <a:srgbClr val="1A1440"/>
                          </a:solidFill>
                          <a:latin typeface="Calibri"/>
                        </a:rPr>
                        <a:t>the period and the last figure</a:t>
                      </a:r>
                    </a:p>
                  </a:txBody>
                  <a:tcPr marL="101600" marR="101600" marT="38100" marB="38100" anchor="ctr">
                    <a:solidFill>
                      <a:srgbClr val="FFFFFF"/>
                    </a:solidFill>
                  </a:tcPr>
                </a:tc>
              </a:tr>
              <a:tr h="335280">
                <a:tc>
                  <a:txBody>
                    <a:bodyPr/>
                    <a:lstStyle/>
                    <a:p>
                      <a:r>
                        <a:rPr sz="1200" b="0" i="0">
                          <a:solidFill>
                            <a:srgbClr val="1A1440"/>
                          </a:solidFill>
                          <a:latin typeface="Calibri"/>
                        </a:rPr>
                        <a:t>b) The quarter</a:t>
                      </a:r>
                    </a:p>
                  </a:txBody>
                  <a:tcPr marL="101600" marR="101600" marT="38100" marB="38100" anchor="ctr">
                    <a:solidFill>
                      <a:srgbClr val="F4F2FA"/>
                    </a:solidFill>
                  </a:tcPr>
                </a:tc>
                <a:tc>
                  <a:txBody>
                    <a:bodyPr/>
                    <a:lstStyle/>
                    <a:p>
                      <a:r>
                        <a:rPr sz="1200" b="0" i="0">
                          <a:solidFill>
                            <a:srgbClr val="1A1440"/>
                          </a:solidFill>
                          <a:latin typeface="Calibri"/>
                        </a:rPr>
                        <a:t>"Q2 revenue Rs 9.84 crore"</a:t>
                      </a:r>
                    </a:p>
                  </a:txBody>
                  <a:tcPr marL="101600" marR="101600" marT="38100" marB="38100" anchor="ctr">
                    <a:solidFill>
                      <a:srgbClr val="F4F2FA"/>
                    </a:solidFill>
                  </a:tcPr>
                </a:tc>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Q1's figure, from memory</a:t>
                      </a:r>
                    </a:p>
                  </a:txBody>
                  <a:tcPr marL="101600" marR="101600" marT="38100" marB="38100" anchor="ctr">
                    <a:solidFill>
                      <a:srgbClr val="F4F2FA"/>
                    </a:solidFill>
                  </a:tcPr>
                </a:tc>
              </a:tr>
              <a:tr h="335280">
                <a:tc>
                  <a:txBody>
                    <a:bodyPr/>
                    <a:lstStyle/>
                    <a:p>
                      <a:r>
                        <a:rPr sz="1200" b="0" i="0">
                          <a:solidFill>
                            <a:srgbClr val="1A1440"/>
                          </a:solidFill>
                          <a:latin typeface="Calibri"/>
                        </a:rPr>
                        <a:t>c) Against the last</a:t>
                      </a:r>
                    </a:p>
                  </a:txBody>
                  <a:tcPr marL="101600" marR="101600" marT="38100" marB="38100" anchor="ctr">
                    <a:solidFill>
                      <a:srgbClr val="FFFFFF"/>
                    </a:solidFill>
                  </a:tcPr>
                </a:tc>
                <a:tc>
                  <a:txBody>
                    <a:bodyPr/>
                    <a:lstStyle/>
                    <a:p>
                      <a:r>
                        <a:rPr sz="1200" b="0" i="0">
                          <a:solidFill>
                            <a:srgbClr val="1A1440"/>
                          </a:solidFill>
                          <a:latin typeface="Calibri"/>
                        </a:rPr>
                        <a:t>"Q2 ... Rs 9.84 crore, down 1.6 percent on Q1 (Rs 10.00 crore)"</a:t>
                      </a:r>
                    </a:p>
                  </a:txBody>
                  <a:tcPr marL="101600" marR="101600" marT="38100" marB="38100" anchor="ctr">
                    <a:solidFill>
                      <a:srgbClr val="FFFFFF"/>
                    </a:solidFill>
                  </a:tcPr>
                </a:tc>
                <a:tc>
                  <a:txBody>
                    <a:bodyPr/>
                    <a:lstStyle/>
                    <a:p>
                      <a:r>
                        <a:rPr sz="1200" b="0" i="0">
                          <a:solidFill>
                            <a:srgbClr val="1A1440"/>
                          </a:solidFill>
                          <a:latin typeface="Calibri"/>
                        </a:rPr>
                        <a:t>29</a:t>
                      </a:r>
                    </a:p>
                  </a:txBody>
                  <a:tcPr marL="101600" marR="101600" marT="38100" marB="38100" anchor="ctr">
                    <a:solidFill>
                      <a:srgbClr val="FFFFFF"/>
                    </a:solidFill>
                  </a:tcPr>
                </a:tc>
                <a:tc>
                  <a:txBody>
                    <a:bodyPr/>
                    <a:lstStyle/>
                    <a:p>
                      <a:r>
                        <a:rPr sz="1200" b="0" i="0">
                          <a:solidFill>
                            <a:srgbClr val="1A1440"/>
                          </a:solidFill>
                          <a:latin typeface="Calibri"/>
                        </a:rPr>
                        <a:t>nothing</a:t>
                      </a:r>
                    </a:p>
                  </a:txBody>
                  <a:tcPr marL="101600" marR="101600" marT="38100" marB="38100" anchor="ctr">
                    <a:solidFill>
                      <a:srgbClr val="FFFFFF"/>
                    </a:solidFill>
                  </a:tcPr>
                </a:tc>
              </a:tr>
              <a:tr h="335280">
                <a:tc>
                  <a:txBody>
                    <a:bodyPr/>
                    <a:lstStyle/>
                    <a:p>
                      <a:r>
                        <a:rPr sz="1200" b="0" i="0">
                          <a:solidFill>
                            <a:srgbClr val="1A1440"/>
                          </a:solidFill>
                          <a:latin typeface="Calibri"/>
                        </a:rPr>
                        <a:t>d) c with sentence and trend</a:t>
                      </a:r>
                    </a:p>
                  </a:txBody>
                  <a:tcPr marL="101600" marR="101600" marT="38100" marB="38100" anchor="ctr">
                    <a:solidFill>
                      <a:srgbClr val="F4F2FA"/>
                    </a:solidFill>
                  </a:tcPr>
                </a:tc>
                <a:tc>
                  <a:txBody>
                    <a:bodyPr/>
                    <a:lstStyle/>
                    <a:p>
                      <a:r>
                        <a:rPr sz="1200" b="0" i="0">
                          <a:solidFill>
                            <a:srgbClr val="1A1440"/>
                          </a:solidFill>
                          <a:latin typeface="Calibri"/>
                        </a:rPr>
                        <a:t>c, where the change sits, and six months drawn</a:t>
                      </a:r>
                    </a:p>
                  </a:txBody>
                  <a:tcPr marL="101600" marR="101600" marT="38100" marB="38100" anchor="ctr">
                    <a:solidFill>
                      <a:srgbClr val="F4F2FA"/>
                    </a:solidFill>
                  </a:tcPr>
                </a:tc>
                <a:tc>
                  <a:txBody>
                    <a:bodyPr/>
                    <a:lstStyle/>
                    <a:p>
                      <a:r>
                        <a:rPr sz="1200" b="0" i="0">
                          <a:solidFill>
                            <a:srgbClr val="1A1440"/>
                          </a:solidFill>
                          <a:latin typeface="Calibri"/>
                        </a:rPr>
                        <a:t>53</a:t>
                      </a:r>
                    </a:p>
                  </a:txBody>
                  <a:tcPr marL="101600" marR="101600" marT="38100" marB="38100" anchor="ctr">
                    <a:solidFill>
                      <a:srgbClr val="F4F2FA"/>
                    </a:solidFill>
                  </a:tcPr>
                </a:tc>
                <a:tc>
                  <a:txBody>
                    <a:bodyPr/>
                    <a:lstStyle/>
                    <a:p>
                      <a:r>
                        <a:rPr sz="1200" b="0" i="0">
                          <a:solidFill>
                            <a:srgbClr val="1A1440"/>
                          </a:solidFill>
                          <a:latin typeface="Calibri"/>
                        </a:rPr>
                        <a:t>nothing</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358140"/>
          </a:xfrm>
          <a:prstGeom prst="rect">
            <a:avLst/>
          </a:prstGeom>
          <a:noFill/>
        </p:spPr>
        <p:txBody>
          <a:bodyPr wrap="square" anchor="ctr" lIns="0" rIns="0" tIns="0" bIns="0">
            <a:spAutoFit/>
          </a:bodyPr>
          <a:lstStyle/>
          <a:p>
            <a:r>
              <a:rPr sz="1500" b="1">
                <a:solidFill>
                  <a:srgbClr val="5B3FD6"/>
                </a:solidFill>
                <a:latin typeface="Calibri"/>
              </a:rPr>
              <a:t>The best-fit call. </a:t>
            </a:r>
            <a:r>
              <a:rPr sz="1500" b="0" i="0">
                <a:solidFill>
                  <a:srgbClr val="1A1440"/>
                </a:solidFill>
                <a:latin typeface="Calibri"/>
              </a:rPr>
              <a:t>d.</a:t>
            </a:r>
          </a:p>
        </p:txBody>
      </p:sp>
      <p:sp>
        <p:nvSpPr>
          <p:cNvPr id="13" name="Rounded Rectangle 12"/>
          <p:cNvSpPr/>
          <p:nvPr/>
        </p:nvSpPr>
        <p:spPr>
          <a:xfrm>
            <a:off x="530352" y="459486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4722875"/>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713732"/>
            <a:ext cx="10564063" cy="624840"/>
          </a:xfrm>
          <a:prstGeom prst="rect">
            <a:avLst/>
          </a:prstGeom>
          <a:noFill/>
        </p:spPr>
        <p:txBody>
          <a:bodyPr wrap="square" anchor="ctr" lIns="0" rIns="0" tIns="0" bIns="0">
            <a:spAutoFit/>
          </a:bodyPr>
          <a:lstStyle/>
          <a:p>
            <a:r>
              <a:rPr sz="1500" b="1">
                <a:solidFill>
                  <a:srgbClr val="5B3FD6"/>
                </a:solidFill>
                <a:latin typeface="Calibri"/>
              </a:rPr>
              <a:t>The fact that would change it. </a:t>
            </a:r>
            <a:r>
              <a:rPr sz="1500" b="0" i="0">
                <a:solidFill>
                  <a:srgbClr val="1A1440"/>
                </a:solidFill>
                <a:latin typeface="Calibri"/>
              </a:rPr>
              <a:t>A board that reviews every month against the plan line, where the comparison becomes the plan.</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8" name="Oval 1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0" name="Oval 1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2" name="Oval 21"/>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4" name="Oval 2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59 / 82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a director read in "Revenue Rs 19.84 crore"?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fastest card is the export's grand total; what does a director who remembers Q1 read into it?</a:t>
            </a:r>
          </a:p>
        </p:txBody>
      </p:sp>
      <p:sp>
        <p:nvSpPr>
          <p:cNvPr id="9" name="TextBox 8"/>
          <p:cNvSpPr txBox="1"/>
          <p:nvPr/>
        </p:nvSpPr>
        <p:spPr>
          <a:xfrm>
            <a:off x="530352" y="1956816"/>
            <a:ext cx="11130991" cy="698500"/>
          </a:xfrm>
          <a:prstGeom prst="rect">
            <a:avLst/>
          </a:prstGeom>
          <a:noFill/>
        </p:spPr>
        <p:txBody>
          <a:bodyPr wrap="square" anchor="t" lIns="0" rIns="0" tIns="0" bIns="0">
            <a:spAutoFit/>
          </a:bodyPr>
          <a:lstStyle/>
          <a:p>
            <a:pPr algn="l"/>
            <a:r>
              <a:rPr sz="4400" b="0" i="0">
                <a:solidFill>
                  <a:srgbClr val="5B3FD6"/>
                </a:solidFill>
                <a:latin typeface="Georgia"/>
              </a:rPr>
              <a:t>Rs 19.84 cr</a:t>
            </a:r>
          </a:p>
        </p:txBody>
      </p:sp>
      <p:sp>
        <p:nvSpPr>
          <p:cNvPr id="10" name="TextBox 9"/>
          <p:cNvSpPr txBox="1"/>
          <p:nvPr/>
        </p:nvSpPr>
        <p:spPr>
          <a:xfrm>
            <a:off x="530352" y="2691892"/>
            <a:ext cx="11130991" cy="168656"/>
          </a:xfrm>
          <a:prstGeom prst="rect">
            <a:avLst/>
          </a:prstGeom>
          <a:noFill/>
        </p:spPr>
        <p:txBody>
          <a:bodyPr wrap="square" anchor="t" lIns="0" rIns="0" tIns="0" bIns="0">
            <a:spAutoFit/>
          </a:bodyPr>
          <a:lstStyle/>
          <a:p>
            <a:pPr algn="l"/>
            <a:r>
              <a:rPr sz="800" b="1" i="0" spc="250">
                <a:solidFill>
                  <a:srgbClr val="1A0F5C"/>
                </a:solidFill>
                <a:latin typeface="Calibri"/>
              </a:rPr>
              <a:t>REVENUE</a:t>
            </a:r>
          </a:p>
        </p:txBody>
      </p:sp>
      <p:sp>
        <p:nvSpPr>
          <p:cNvPr id="11" name="TextBox 10"/>
          <p:cNvSpPr txBox="1"/>
          <p:nvPr/>
        </p:nvSpPr>
        <p:spPr>
          <a:xfrm>
            <a:off x="530352" y="2893060"/>
            <a:ext cx="11130991" cy="193421"/>
          </a:xfrm>
          <a:prstGeom prst="rect">
            <a:avLst/>
          </a:prstGeom>
          <a:noFill/>
        </p:spPr>
        <p:txBody>
          <a:bodyPr wrap="square" anchor="t" lIns="0" rIns="0" tIns="0" bIns="0">
            <a:spAutoFit/>
          </a:bodyPr>
          <a:lstStyle/>
          <a:p>
            <a:pPr algn="l"/>
            <a:r>
              <a:rPr sz="950" b="0" i="0">
                <a:solidFill>
                  <a:srgbClr val="6B6690"/>
                </a:solidFill>
                <a:latin typeface="Calibri"/>
              </a:rPr>
              <a:t>the card as drafted</a:t>
            </a:r>
          </a:p>
        </p:txBody>
      </p:sp>
      <p:sp>
        <p:nvSpPr>
          <p:cNvPr id="12" name="Rectangle 11"/>
          <p:cNvSpPr/>
          <p:nvPr/>
        </p:nvSpPr>
        <p:spPr>
          <a:xfrm>
            <a:off x="530352" y="3145536"/>
            <a:ext cx="11130991"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30352" y="341985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354787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3538728"/>
            <a:ext cx="10564063" cy="8915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A director who remembers Q1 at Rs 10.00 crore reads this card as: a) two quarters of revenue; b) revenue nearly doubled this quarter; c) a number to check later; d) nothing wrong, since the number is right.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8" name="Oval 1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0" name="Oval 1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2" name="Oval 21"/>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4" name="Oval 2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60 / 82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up 98.4 percent, a quarter that never happened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the bare total the plausible wrong answer, and what catches it?</a:t>
            </a:r>
          </a:p>
        </p:txBody>
      </p:sp>
      <p:pic>
        <p:nvPicPr>
          <p:cNvPr id="9" name="mermaid diagram" descr="1da7ccc1dd4b33bd.png"/>
          <p:cNvPicPr>
            <a:picLocks noChangeAspect="1"/>
          </p:cNvPicPr>
          <p:nvPr/>
        </p:nvPicPr>
        <p:blipFill>
          <a:blip r:embed="rId5"/>
          <a:stretch>
            <a:fillRect/>
          </a:stretch>
        </p:blipFill>
        <p:spPr>
          <a:xfrm>
            <a:off x="2516828" y="1684496"/>
            <a:ext cx="7158037" cy="2300287"/>
          </a:xfrm>
          <a:prstGeom prst="rect">
            <a:avLst/>
          </a:prstGeom>
        </p:spPr>
      </p:pic>
      <p:sp>
        <p:nvSpPr>
          <p:cNvPr id="10" name="TextBox 9"/>
          <p:cNvSpPr txBox="1"/>
          <p:nvPr/>
        </p:nvSpPr>
        <p:spPr>
          <a:xfrm>
            <a:off x="530352" y="4050791"/>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a:t>
            </a:r>
            <a:r>
              <a:rPr sz="1600" b="1" i="0">
                <a:solidFill>
                  <a:srgbClr val="1A1440"/>
                </a:solidFill>
                <a:latin typeface="Calibri"/>
              </a:rPr>
              <a:t>Why it is wrong.</a:t>
            </a:r>
            <a:r>
              <a:rPr sz="1600" b="0" i="0">
                <a:solidFill>
                  <a:srgbClr val="1A1440"/>
                </a:solidFill>
                <a:latin typeface="Calibri"/>
              </a:rPr>
              <a:t> The number is right and its period is missing, so the reader supplies one, and the minutes record a boom. </a:t>
            </a:r>
            <a:r>
              <a:rPr sz="1600" b="1" i="0">
                <a:solidFill>
                  <a:srgbClr val="1A1440"/>
                </a:solidFill>
                <a:latin typeface="Calibri"/>
              </a:rPr>
              <a:t>The check that catches it.</a:t>
            </a:r>
            <a:r>
              <a:rPr sz="1600" b="0" i="0">
                <a:solidFill>
                  <a:srgbClr val="1A1440"/>
                </a:solidFill>
                <a:latin typeface="Calibri"/>
              </a:rPr>
              <a:t> Read the card aloud and ask which months, against what.</a:t>
            </a:r>
          </a:p>
        </p:txBody>
      </p:sp>
      <p:sp>
        <p:nvSpPr>
          <p:cNvPr id="11" name="Rounded Rectangle 10"/>
          <p:cNvSpPr/>
          <p:nvPr/>
        </p:nvSpPr>
        <p:spPr>
          <a:xfrm>
            <a:off x="530352" y="5227319"/>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355335"/>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346191"/>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With its period, comparison and base, the change on the card reads: a) down 1.6 percent; b) down 1.6 points; c) up 1.6 percent; d) down 16 percent.</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61 / 82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card: period, comparison, base, sentence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card say, and what sits beside it?</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9.84 cr</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JULY TO SEPTEMBER 2026</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number and its period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-1.6%</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ON Q1</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comparison, measured on Q1</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10.00 cr</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APRIL TO JUNE 2026</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base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a. Beside the card, one sentence: "Business invoices carry Rs 14.30 lakh of the Rs 16.00 lakh fall; Retail-Plus, the paid tier, fell 29.4 percent because members ordered less often."</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8" name="Oval 27"/>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30" name="Oval 29"/>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62 / 82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"Retail-Plus down 29.4 percent" leave out?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second slot is drafted as a bare percentage; what must sit beside it?</a:t>
            </a:r>
          </a:p>
        </p:txBody>
      </p:sp>
      <p:sp>
        <p:nvSpPr>
          <p:cNvPr id="9" name="TextBox 8"/>
          <p:cNvSpPr txBox="1"/>
          <p:nvPr/>
        </p:nvSpPr>
        <p:spPr>
          <a:xfrm>
            <a:off x="530352" y="1956816"/>
            <a:ext cx="11130991" cy="698500"/>
          </a:xfrm>
          <a:prstGeom prst="rect">
            <a:avLst/>
          </a:prstGeom>
          <a:noFill/>
        </p:spPr>
        <p:txBody>
          <a:bodyPr wrap="square" anchor="t" lIns="0" rIns="0" tIns="0" bIns="0">
            <a:spAutoFit/>
          </a:bodyPr>
          <a:lstStyle/>
          <a:p>
            <a:pPr algn="l"/>
            <a:r>
              <a:rPr sz="4400" b="0" i="0">
                <a:solidFill>
                  <a:srgbClr val="5B3FD6"/>
                </a:solidFill>
                <a:latin typeface="Georgia"/>
              </a:rPr>
              <a:t>-29.4%</a:t>
            </a:r>
          </a:p>
        </p:txBody>
      </p:sp>
      <p:sp>
        <p:nvSpPr>
          <p:cNvPr id="10" name="TextBox 9"/>
          <p:cNvSpPr txBox="1"/>
          <p:nvPr/>
        </p:nvSpPr>
        <p:spPr>
          <a:xfrm>
            <a:off x="530352" y="2691892"/>
            <a:ext cx="11130991" cy="168656"/>
          </a:xfrm>
          <a:prstGeom prst="rect">
            <a:avLst/>
          </a:prstGeom>
          <a:noFill/>
        </p:spPr>
        <p:txBody>
          <a:bodyPr wrap="square" anchor="t" lIns="0" rIns="0" tIns="0" bIns="0">
            <a:spAutoFit/>
          </a:bodyPr>
          <a:lstStyle/>
          <a:p>
            <a:pPr algn="l"/>
            <a:r>
              <a:rPr sz="800" b="1" i="0" spc="250">
                <a:solidFill>
                  <a:srgbClr val="1A0F5C"/>
                </a:solidFill>
                <a:latin typeface="Calibri"/>
              </a:rPr>
              <a:t>RETAIL-PLUS, AS DRAFTED</a:t>
            </a:r>
          </a:p>
        </p:txBody>
      </p:sp>
      <p:sp>
        <p:nvSpPr>
          <p:cNvPr id="11" name="TextBox 10"/>
          <p:cNvSpPr txBox="1"/>
          <p:nvPr/>
        </p:nvSpPr>
        <p:spPr>
          <a:xfrm>
            <a:off x="530352" y="2893060"/>
            <a:ext cx="11130991" cy="193421"/>
          </a:xfrm>
          <a:prstGeom prst="rect">
            <a:avLst/>
          </a:prstGeom>
          <a:noFill/>
        </p:spPr>
        <p:txBody>
          <a:bodyPr wrap="square" anchor="t" lIns="0" rIns="0" tIns="0" bIns="0">
            <a:spAutoFit/>
          </a:bodyPr>
          <a:lstStyle/>
          <a:p>
            <a:pPr algn="l"/>
            <a:r>
              <a:rPr sz="950" b="0" i="0">
                <a:solidFill>
                  <a:srgbClr val="6B6690"/>
                </a:solidFill>
                <a:latin typeface="Calibri"/>
              </a:rPr>
              <a:t>no base, no share</a:t>
            </a:r>
          </a:p>
        </p:txBody>
      </p:sp>
      <p:sp>
        <p:nvSpPr>
          <p:cNvPr id="12" name="Rectangle 11"/>
          <p:cNvSpPr/>
          <p:nvPr/>
        </p:nvSpPr>
        <p:spPr>
          <a:xfrm>
            <a:off x="530352" y="3145536"/>
            <a:ext cx="11130991"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What must sit beside it? a) nothing, since it is correct; b) its rupee base and its share of revenue; c) the Business figure; d) the protect list.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8" name="Oval 1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0" name="Oval 1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2" name="Oval 21"/>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4" name="Oval 23"/>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63 / 82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1.72 lakh, 0.4 percent of the quarter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base the draft left out, and what slip makes it worse?</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Rs 1.72 lakh</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FALL IN RUPEES</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Rs 5.86 lakh to Rs 4.13 lakh</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0.4%</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OF Q2 REVENUE</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Retail-Plus's share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-41.7%</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DIVIDED BY Q2</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slip that makes it worse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Read without its base, "down 29.4 percent" sounds like the business collapsing, and the meeting argues about a panic instead of about members ordering less often. </a:t>
            </a:r>
            <a:r>
              <a:rPr sz="1600" b="1" i="0">
                <a:solidFill>
                  <a:srgbClr val="1A1440"/>
                </a:solidFill>
                <a:latin typeface="Calibri"/>
              </a:rPr>
              <a:t>The fix.</a:t>
            </a:r>
            <a:r>
              <a:rPr sz="1600" b="0" i="0">
                <a:solidFill>
                  <a:srgbClr val="1A1440"/>
                </a:solidFill>
                <a:latin typeface="Calibri"/>
              </a:rPr>
              <a:t> "Retail-Plus, Q2: Rs 4.13 lakh, down 29.4 percent on Q1 (Rs 5.86 lakh); 0.4 percent of company revenue."</a:t>
            </a:r>
          </a:p>
        </p:txBody>
      </p:sp>
      <p:sp>
        <p:nvSpPr>
          <p:cNvPr id="22" name="Rounded Rectangle 21"/>
          <p:cNvSpPr/>
          <p:nvPr/>
        </p:nvSpPr>
        <p:spPr>
          <a:xfrm>
            <a:off x="530352" y="459638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472440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715256"/>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Taking Business out, the change on the card reads: a) down 1.6 percent; b) down 17.3 percent; c) down 29.4 percent; d) up 33.9 percent.</a:t>
            </a: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7" name="Oval 2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9" name="Oval 2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1" name="Oval 30"/>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33" name="Oval 32"/>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64 / 82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trend beside it, and the scope a director picks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six months show, and what happens when a director changes the scope?</a:t>
            </a:r>
          </a:p>
        </p:txBody>
      </p:sp>
      <p:graphicFrame>
        <p:nvGraphicFramePr>
          <p:cNvPr id="9" name="Table 8"/>
          <p:cNvGraphicFramePr>
            <a:graphicFrameLocks noGrp="1"/>
          </p:cNvGraphicFramePr>
          <p:nvPr/>
        </p:nvGraphicFramePr>
        <p:xfrm>
          <a:off x="530352" y="1956816"/>
          <a:ext cx="11130991" cy="1479296"/>
        </p:xfrm>
        <a:graphic>
          <a:graphicData uri="http://schemas.openxmlformats.org/drawingml/2006/table">
            <a:tbl>
              <a:tblPr firstRow="0" bandRow="0">
                <a:tableStyleId>{2D5ABB26-0587-4C30-8999-92F81FD0307C}</a:tableStyleId>
              </a:tblPr>
              <a:tblGrid>
                <a:gridCol w="3730737"/>
                <a:gridCol w="7400254"/>
              </a:tblGrid>
              <a:tr h="369824">
                <a:tc>
                  <a:txBody>
                    <a:bodyPr/>
                    <a:lstStyle/>
                    <a:p>
                      <a:r>
                        <a:rPr sz="1450" b="1" i="0">
                          <a:solidFill>
                            <a:srgbClr val="FFFFFF"/>
                          </a:solidFill>
                          <a:latin typeface="Calibri"/>
                        </a:rPr>
                        <a:t>The director asks for</a:t>
                      </a:r>
                    </a:p>
                  </a:txBody>
                  <a:tcPr marL="101600" marR="101600" marT="38100" marB="38100" anchor="ctr">
                    <a:solidFill>
                      <a:srgbClr val="1A0F5C"/>
                    </a:solidFill>
                  </a:tcPr>
                </a:tc>
                <a:tc>
                  <a:txBody>
                    <a:bodyPr/>
                    <a:lstStyle/>
                    <a:p>
                      <a:r>
                        <a:rPr sz="1450" b="1" i="0">
                          <a:solidFill>
                            <a:srgbClr val="FFFFFF"/>
                          </a:solidFill>
                          <a:latin typeface="Calibri"/>
                        </a:rPr>
                        <a:t>The card says</a:t>
                      </a:r>
                    </a:p>
                  </a:txBody>
                  <a:tcPr marL="101600" marR="101600" marT="38100" marB="38100" anchor="ctr">
                    <a:solidFill>
                      <a:srgbClr val="1A0F5C"/>
                    </a:solidFill>
                  </a:tcPr>
                </a:tc>
              </a:tr>
              <a:tr h="369824">
                <a:tc>
                  <a:txBody>
                    <a:bodyPr/>
                    <a:lstStyle/>
                    <a:p>
                      <a:r>
                        <a:rPr sz="1400" b="0" i="0">
                          <a:solidFill>
                            <a:srgbClr val="1A1440"/>
                          </a:solidFill>
                          <a:latin typeface="Calibri"/>
                        </a:rPr>
                        <a:t>All segments</a:t>
                      </a:r>
                    </a:p>
                  </a:txBody>
                  <a:tcPr marL="101600" marR="101600" marT="38100" marB="38100" anchor="ctr">
                    <a:solidFill>
                      <a:srgbClr val="FFFFFF"/>
                    </a:solidFill>
                  </a:tcPr>
                </a:tc>
                <a:tc>
                  <a:txBody>
                    <a:bodyPr/>
                    <a:lstStyle/>
                    <a:p>
                      <a:r>
                        <a:rPr sz="1400" b="0" i="0">
                          <a:solidFill>
                            <a:srgbClr val="1A1440"/>
                          </a:solidFill>
                          <a:latin typeface="Calibri"/>
                        </a:rPr>
                        <a:t>Rs 9.84 crore, down 1.6% on Q1; 100.0% of revenue</a:t>
                      </a:r>
                    </a:p>
                  </a:txBody>
                  <a:tcPr marL="101600" marR="101600" marT="38100" marB="38100" anchor="ctr">
                    <a:solidFill>
                      <a:srgbClr val="FFFFFF"/>
                    </a:solidFill>
                  </a:tcPr>
                </a:tc>
              </a:tr>
              <a:tr h="369824">
                <a:tc>
                  <a:txBody>
                    <a:bodyPr/>
                    <a:lstStyle/>
                    <a:p>
                      <a:r>
                        <a:rPr sz="1400" b="0" i="0">
                          <a:solidFill>
                            <a:srgbClr val="1A1440"/>
                          </a:solidFill>
                          <a:latin typeface="Calibri"/>
                        </a:rPr>
                        <a:t>All except Business</a:t>
                      </a:r>
                    </a:p>
                  </a:txBody>
                  <a:tcPr marL="101600" marR="101600" marT="38100" marB="38100" anchor="ctr">
                    <a:solidFill>
                      <a:srgbClr val="F4F2FA"/>
                    </a:solidFill>
                  </a:tcPr>
                </a:tc>
                <a:tc>
                  <a:txBody>
                    <a:bodyPr/>
                    <a:lstStyle/>
                    <a:p>
                      <a:r>
                        <a:rPr sz="1400" b="0" i="0">
                          <a:solidFill>
                            <a:srgbClr val="1A1440"/>
                          </a:solidFill>
                          <a:latin typeface="Calibri"/>
                        </a:rPr>
                        <a:t>Rs 8.15 lakh, down 17.3% on Q1; 0.8% of revenue</a:t>
                      </a:r>
                    </a:p>
                  </a:txBody>
                  <a:tcPr marL="101600" marR="101600" marT="38100" marB="38100" anchor="ctr">
                    <a:solidFill>
                      <a:srgbClr val="F4F2FA"/>
                    </a:solidFill>
                  </a:tcPr>
                </a:tc>
              </a:tr>
              <a:tr h="369824">
                <a:tc>
                  <a:txBody>
                    <a:bodyPr/>
                    <a:lstStyle/>
                    <a:p>
                      <a:r>
                        <a:rPr sz="1400" b="0" i="0">
                          <a:solidFill>
                            <a:srgbClr val="1A1440"/>
                          </a:solidFill>
                          <a:latin typeface="Calibri"/>
                        </a:rPr>
                        <a:t>Retail-Plus</a:t>
                      </a:r>
                    </a:p>
                  </a:txBody>
                  <a:tcPr marL="101600" marR="101600" marT="38100" marB="38100" anchor="ctr">
                    <a:solidFill>
                      <a:srgbClr val="FFFFFF"/>
                    </a:solidFill>
                  </a:tcPr>
                </a:tc>
                <a:tc>
                  <a:txBody>
                    <a:bodyPr/>
                    <a:lstStyle/>
                    <a:p>
                      <a:r>
                        <a:rPr sz="1400" b="0" i="0">
                          <a:solidFill>
                            <a:srgbClr val="1A1440"/>
                          </a:solidFill>
                          <a:latin typeface="Calibri"/>
                        </a:rPr>
                        <a:t>Rs 4.13 lakh, down 29.4% on Q1; 0.4% of revenue</a:t>
                      </a:r>
                    </a:p>
                  </a:txBody>
                  <a:tcPr marL="101600" marR="101600" marT="38100" marB="38100" anchor="ctr">
                    <a:solidFill>
                      <a:srgbClr val="FFFFFF"/>
                    </a:solidFill>
                  </a:tcPr>
                </a:tc>
              </a:tr>
            </a:tbl>
          </a:graphicData>
        </a:graphic>
      </p:graphicFrame>
      <p:sp>
        <p:nvSpPr>
          <p:cNvPr id="10" name="TextBox 9"/>
          <p:cNvSpPr txBox="1"/>
          <p:nvPr/>
        </p:nvSpPr>
        <p:spPr>
          <a:xfrm>
            <a:off x="530352" y="3692144"/>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The company line jumps in July to Rs 4.51 crore, 45 percent above June, on corporate invoices; without Business, revenue slides from Rs 3.32 lakh in June to Rs 2.48 lakh in September. The scope is a yellow input, and each card prints its own scope.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65 / 82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percentage on the card names its denominator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percentage on the card divide by, and what does the wrong one print?</a:t>
            </a:r>
          </a:p>
        </p:txBody>
      </p:sp>
      <p:sp>
        <p:nvSpPr>
          <p:cNvPr id="9" name="TextBox 8"/>
          <p:cNvSpPr txBox="1"/>
          <p:nvPr/>
        </p:nvSpPr>
        <p:spPr>
          <a:xfrm>
            <a:off x="530352" y="195681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percentage is a fraction, and its denominator is the number it divides by: a change divides by the earlier period, its base, and a share divides by the whole it is part of. An invented Rs 100 that falls to Rs 80 is down Rs 20, which is 20 percent of Rs 100 and prints as 25 percent if the Rs 80 goes under the line instead.</a:t>
            </a:r>
          </a:p>
        </p:txBody>
      </p:sp>
      <p:graphicFrame>
        <p:nvGraphicFramePr>
          <p:cNvPr id="10" name="Table 9"/>
          <p:cNvGraphicFramePr>
            <a:graphicFrameLocks noGrp="1"/>
          </p:cNvGraphicFramePr>
          <p:nvPr/>
        </p:nvGraphicFramePr>
        <p:xfrm>
          <a:off x="530352" y="3409696"/>
          <a:ext cx="11130988" cy="1341120"/>
        </p:xfrm>
        <a:graphic>
          <a:graphicData uri="http://schemas.openxmlformats.org/drawingml/2006/table">
            <a:tbl>
              <a:tblPr firstRow="0" bandRow="0">
                <a:tableStyleId>{2D5ABB26-0587-4C30-8999-92F81FD0307C}</a:tableStyleId>
              </a:tblPr>
              <a:tblGrid>
                <a:gridCol w="3345330"/>
                <a:gridCol w="2787435"/>
                <a:gridCol w="3490664"/>
                <a:gridCol w="1507559"/>
              </a:tblGrid>
              <a:tr h="335280">
                <a:tc>
                  <a:txBody>
                    <a:bodyPr/>
                    <a:lstStyle/>
                    <a:p>
                      <a:r>
                        <a:rPr sz="1250" b="1" i="0">
                          <a:solidFill>
                            <a:srgbClr val="FFFFFF"/>
                          </a:solidFill>
                          <a:latin typeface="Calibri"/>
                        </a:rPr>
                        <a:t>On the Retail-Plus card</a:t>
                      </a:r>
                    </a:p>
                  </a:txBody>
                  <a:tcPr marL="101600" marR="101600" marT="38100" marB="38100" anchor="ctr">
                    <a:solidFill>
                      <a:srgbClr val="1A0F5C"/>
                    </a:solidFill>
                  </a:tcPr>
                </a:tc>
                <a:tc>
                  <a:txBody>
                    <a:bodyPr/>
                    <a:lstStyle/>
                    <a:p>
                      <a:r>
                        <a:rPr sz="1250" b="1" i="0">
                          <a:solidFill>
                            <a:srgbClr val="FFFFFF"/>
                          </a:solidFill>
                          <a:latin typeface="Calibri"/>
                        </a:rPr>
                        <a:t>What it divides</a:t>
                      </a:r>
                    </a:p>
                  </a:txBody>
                  <a:tcPr marL="101600" marR="101600" marT="38100" marB="38100" anchor="ctr">
                    <a:solidFill>
                      <a:srgbClr val="1A0F5C"/>
                    </a:solidFill>
                  </a:tcPr>
                </a:tc>
                <a:tc>
                  <a:txBody>
                    <a:bodyPr/>
                    <a:lstStyle/>
                    <a:p>
                      <a:r>
                        <a:rPr sz="1250" b="1" i="0">
                          <a:solidFill>
                            <a:srgbClr val="FFFFFF"/>
                          </a:solidFill>
                          <a:latin typeface="Calibri"/>
                        </a:rPr>
                        <a:t>Its denominator</a:t>
                      </a:r>
                    </a:p>
                  </a:txBody>
                  <a:tcPr marL="101600" marR="101600" marT="38100" marB="38100" anchor="ctr">
                    <a:solidFill>
                      <a:srgbClr val="1A0F5C"/>
                    </a:solidFill>
                  </a:tcPr>
                </a:tc>
                <a:tc>
                  <a:txBody>
                    <a:bodyPr/>
                    <a:lstStyle/>
                    <a:p>
                      <a:r>
                        <a:rPr sz="1250" b="1" i="0">
                          <a:solidFill>
                            <a:srgbClr val="FFFFFF"/>
                          </a:solidFill>
                          <a:latin typeface="Calibri"/>
                        </a:rPr>
                        <a:t>It prints</a:t>
                      </a:r>
                    </a:p>
                  </a:txBody>
                  <a:tcPr marL="101600" marR="101600" marT="38100" marB="38100" anchor="ctr">
                    <a:solidFill>
                      <a:srgbClr val="1A0F5C"/>
                    </a:solidFill>
                  </a:tcPr>
                </a:tc>
              </a:tr>
              <a:tr h="335280">
                <a:tc>
                  <a:txBody>
                    <a:bodyPr/>
                    <a:lstStyle/>
                    <a:p>
                      <a:r>
                        <a:rPr sz="1200" b="0" i="0">
                          <a:solidFill>
                            <a:srgbClr val="1A1440"/>
                          </a:solidFill>
                          <a:latin typeface="Calibri"/>
                        </a:rPr>
                        <a:t>The change</a:t>
                      </a:r>
                    </a:p>
                  </a:txBody>
                  <a:tcPr marL="101600" marR="101600" marT="38100" marB="38100" anchor="ctr">
                    <a:solidFill>
                      <a:srgbClr val="FFFFFF"/>
                    </a:solidFill>
                  </a:tcPr>
                </a:tc>
                <a:tc>
                  <a:txBody>
                    <a:bodyPr/>
                    <a:lstStyle/>
                    <a:p>
                      <a:r>
                        <a:rPr sz="1200" b="0" i="0">
                          <a:solidFill>
                            <a:srgbClr val="1A1440"/>
                          </a:solidFill>
                          <a:latin typeface="Calibri"/>
                        </a:rPr>
                        <a:t>the Rs 1.72 lakh fall</a:t>
                      </a:r>
                    </a:p>
                  </a:txBody>
                  <a:tcPr marL="101600" marR="101600" marT="38100" marB="38100" anchor="ctr">
                    <a:solidFill>
                      <a:srgbClr val="FFFFFF"/>
                    </a:solidFill>
                  </a:tcPr>
                </a:tc>
                <a:tc>
                  <a:txBody>
                    <a:bodyPr/>
                    <a:lstStyle/>
                    <a:p>
                      <a:r>
                        <a:rPr sz="1200" b="0" i="0">
                          <a:solidFill>
                            <a:srgbClr val="1A1440"/>
                          </a:solidFill>
                          <a:latin typeface="Calibri"/>
                        </a:rPr>
                        <a:t>Q1's Rs 5.86 lakh, the base</a:t>
                      </a:r>
                    </a:p>
                  </a:txBody>
                  <a:tcPr marL="101600" marR="101600" marT="38100" marB="38100" anchor="ctr">
                    <a:solidFill>
                      <a:srgbClr val="FFFFFF"/>
                    </a:solidFill>
                  </a:tcPr>
                </a:tc>
                <a:tc>
                  <a:txBody>
                    <a:bodyPr/>
                    <a:lstStyle/>
                    <a:p>
                      <a:r>
                        <a:rPr sz="1200" b="0" i="0">
                          <a:solidFill>
                            <a:srgbClr val="1A1440"/>
                          </a:solidFill>
                          <a:latin typeface="Calibri"/>
                        </a:rPr>
                        <a:t>down 29.4%</a:t>
                      </a:r>
                    </a:p>
                  </a:txBody>
                  <a:tcPr marL="101600" marR="101600" marT="38100" marB="38100" anchor="ctr">
                    <a:solidFill>
                      <a:srgbClr val="FFFFFF"/>
                    </a:solidFill>
                  </a:tcPr>
                </a:tc>
              </a:tr>
              <a:tr h="335280">
                <a:tc>
                  <a:txBody>
                    <a:bodyPr/>
                    <a:lstStyle/>
                    <a:p>
                      <a:r>
                        <a:rPr sz="1200" b="0" i="0">
                          <a:solidFill>
                            <a:srgbClr val="1A1440"/>
                          </a:solidFill>
                          <a:latin typeface="Calibri"/>
                        </a:rPr>
                        <a:t>The slip</a:t>
                      </a:r>
                    </a:p>
                  </a:txBody>
                  <a:tcPr marL="101600" marR="101600" marT="38100" marB="38100" anchor="ctr">
                    <a:solidFill>
                      <a:srgbClr val="F4F2FA"/>
                    </a:solidFill>
                  </a:tcPr>
                </a:tc>
                <a:tc>
                  <a:txBody>
                    <a:bodyPr/>
                    <a:lstStyle/>
                    <a:p>
                      <a:r>
                        <a:rPr sz="1200" b="0" i="0">
                          <a:solidFill>
                            <a:srgbClr val="1A1440"/>
                          </a:solidFill>
                          <a:latin typeface="Calibri"/>
                        </a:rPr>
                        <a:t>the same Rs 1.72 lakh</a:t>
                      </a:r>
                    </a:p>
                  </a:txBody>
                  <a:tcPr marL="101600" marR="101600" marT="38100" marB="38100" anchor="ctr">
                    <a:solidFill>
                      <a:srgbClr val="F4F2FA"/>
                    </a:solidFill>
                  </a:tcPr>
                </a:tc>
                <a:tc>
                  <a:txBody>
                    <a:bodyPr/>
                    <a:lstStyle/>
                    <a:p>
                      <a:r>
                        <a:rPr sz="1200" b="0" i="0">
                          <a:solidFill>
                            <a:srgbClr val="1A1440"/>
                          </a:solidFill>
                          <a:latin typeface="Calibri"/>
                        </a:rPr>
                        <a:t>Q2's Rs 4.13 lakh</a:t>
                      </a:r>
                    </a:p>
                  </a:txBody>
                  <a:tcPr marL="101600" marR="101600" marT="38100" marB="38100" anchor="ctr">
                    <a:solidFill>
                      <a:srgbClr val="F4F2FA"/>
                    </a:solidFill>
                  </a:tcPr>
                </a:tc>
                <a:tc>
                  <a:txBody>
                    <a:bodyPr/>
                    <a:lstStyle/>
                    <a:p>
                      <a:r>
                        <a:rPr sz="1200" b="0" i="0">
                          <a:solidFill>
                            <a:srgbClr val="1A1440"/>
                          </a:solidFill>
                          <a:latin typeface="Calibri"/>
                        </a:rPr>
                        <a:t>down 41.7%</a:t>
                      </a:r>
                    </a:p>
                  </a:txBody>
                  <a:tcPr marL="101600" marR="101600" marT="38100" marB="38100" anchor="ctr">
                    <a:solidFill>
                      <a:srgbClr val="F4F2FA"/>
                    </a:solidFill>
                  </a:tcPr>
                </a:tc>
              </a:tr>
              <a:tr h="335280">
                <a:tc>
                  <a:txBody>
                    <a:bodyPr/>
                    <a:lstStyle/>
                    <a:p>
                      <a:r>
                        <a:rPr sz="1200" b="0" i="0">
                          <a:solidFill>
                            <a:srgbClr val="1A1440"/>
                          </a:solidFill>
                          <a:latin typeface="Calibri"/>
                        </a:rPr>
                        <a:t>The share</a:t>
                      </a:r>
                    </a:p>
                  </a:txBody>
                  <a:tcPr marL="101600" marR="101600" marT="38100" marB="38100" anchor="ctr">
                    <a:solidFill>
                      <a:srgbClr val="FFFFFF"/>
                    </a:solidFill>
                  </a:tcPr>
                </a:tc>
                <a:tc>
                  <a:txBody>
                    <a:bodyPr/>
                    <a:lstStyle/>
                    <a:p>
                      <a:r>
                        <a:rPr sz="1200" b="0" i="0">
                          <a:solidFill>
                            <a:srgbClr val="1A1440"/>
                          </a:solidFill>
                          <a:latin typeface="Calibri"/>
                        </a:rPr>
                        <a:t>Q2's Rs 4.13 lakh</a:t>
                      </a:r>
                    </a:p>
                  </a:txBody>
                  <a:tcPr marL="101600" marR="101600" marT="38100" marB="38100" anchor="ctr">
                    <a:solidFill>
                      <a:srgbClr val="FFFFFF"/>
                    </a:solidFill>
                  </a:tcPr>
                </a:tc>
                <a:tc>
                  <a:txBody>
                    <a:bodyPr/>
                    <a:lstStyle/>
                    <a:p>
                      <a:r>
                        <a:rPr sz="1200" b="0" i="0">
                          <a:solidFill>
                            <a:srgbClr val="1A1440"/>
                          </a:solidFill>
                          <a:latin typeface="Calibri"/>
                        </a:rPr>
                        <a:t>the company's Rs 9.84 crore</a:t>
                      </a:r>
                    </a:p>
                  </a:txBody>
                  <a:tcPr marL="101600" marR="101600" marT="38100" marB="38100" anchor="ctr">
                    <a:solidFill>
                      <a:srgbClr val="FFFFFF"/>
                    </a:solidFill>
                  </a:tcPr>
                </a:tc>
                <a:tc>
                  <a:txBody>
                    <a:bodyPr/>
                    <a:lstStyle/>
                    <a:p>
                      <a:r>
                        <a:rPr sz="1200" b="0" i="0">
                          <a:solidFill>
                            <a:srgbClr val="1A1440"/>
                          </a:solidFill>
                          <a:latin typeface="Calibri"/>
                        </a:rPr>
                        <a:t>0.4%</a:t>
                      </a:r>
                    </a:p>
                  </a:txBody>
                  <a:tcPr marL="101600" marR="101600" marT="38100" marB="38100" anchor="ctr">
                    <a:solidFill>
                      <a:srgbClr val="FFFFFF"/>
                    </a:solidFill>
                  </a:tcPr>
                </a:tc>
              </a:tr>
            </a:tbl>
          </a:graphicData>
        </a:graphic>
      </p:graphicFrame>
      <p:sp>
        <p:nvSpPr>
          <p:cNvPr id="11" name="Rounded Rectangle 10"/>
          <p:cNvSpPr/>
          <p:nvPr/>
        </p:nvSpPr>
        <p:spPr>
          <a:xfrm>
            <a:off x="530352" y="50068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13486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125720"/>
            <a:ext cx="10564063" cy="624840"/>
          </a:xfrm>
          <a:prstGeom prst="rect">
            <a:avLst/>
          </a:prstGeom>
          <a:noFill/>
        </p:spPr>
        <p:txBody>
          <a:bodyPr wrap="square" anchor="ctr" lIns="0" rIns="0" tIns="0" bIns="0">
            <a:spAutoFit/>
          </a:bodyPr>
          <a:lstStyle/>
          <a:p>
            <a:r>
              <a:rPr sz="1500" b="1">
                <a:solidFill>
                  <a:srgbClr val="5B3FD6"/>
                </a:solidFill>
                <a:latin typeface="Calibri"/>
              </a:rPr>
              <a:t>Check yourself. </a:t>
            </a:r>
            <a:r>
              <a:rPr sz="1500" b="0" i="0">
                <a:solidFill>
                  <a:srgbClr val="1A1440"/>
                </a:solidFill>
                <a:latin typeface="Calibri"/>
              </a:rPr>
              <a:t>An invented city's revenue rose from Rs 80 to Rs 100. What does its card print? a) up 20 percent; b) up 25 percent; c) up 22.2 percent, on the average of the two; d) up Rs 20, with no percentage.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2" name="Oval 21"/>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S57a  ·  66 / 82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the warehouse's own change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warehouse reach the same two changes by its own query?</a:t>
            </a:r>
          </a:p>
        </p:txBody>
      </p:sp>
      <p:pic>
        <p:nvPicPr>
          <p:cNvPr id="9" name="mermaid diagram" descr="f34020063aed2200.png"/>
          <p:cNvPicPr>
            <a:picLocks noChangeAspect="1"/>
          </p:cNvPicPr>
          <p:nvPr/>
        </p:nvPicPr>
        <p:blipFill>
          <a:blip r:embed="rId5"/>
          <a:stretch>
            <a:fillRect/>
          </a:stretch>
        </p:blipFill>
        <p:spPr>
          <a:xfrm>
            <a:off x="1873891" y="1956816"/>
            <a:ext cx="8443912" cy="1800225"/>
          </a:xfrm>
          <a:prstGeom prst="rect">
            <a:avLst/>
          </a:prstGeom>
        </p:spPr>
      </p:pic>
      <p:sp>
        <p:nvSpPr>
          <p:cNvPr id="10" name="TextBox 9"/>
          <p:cNvSpPr txBox="1"/>
          <p:nvPr/>
        </p:nvSpPr>
        <p:spPr>
          <a:xfrm>
            <a:off x="530352" y="3903345"/>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warehouse's orders, joined to its customers for the segment, give the same changes to the hundredth of a percent: minus 1.60 for the company and minus 29.43 for Retail-Plus.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19" name="Oval 18"/>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67 / 82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Q2 against Q1, and every percentage in rupees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card carry so a director reads it right?</a:t>
            </a:r>
          </a:p>
        </p:txBody>
      </p:sp>
      <p:graphicFrame>
        <p:nvGraphicFramePr>
          <p:cNvPr id="9" name="Table 8"/>
          <p:cNvGraphicFramePr>
            <a:graphicFrameLocks noGrp="1"/>
          </p:cNvGraphicFramePr>
          <p:nvPr/>
        </p:nvGraphicFramePr>
        <p:xfrm>
          <a:off x="530352" y="1794764"/>
          <a:ext cx="11130990" cy="2226056"/>
        </p:xfrm>
        <a:graphic>
          <a:graphicData uri="http://schemas.openxmlformats.org/drawingml/2006/table">
            <a:tbl>
              <a:tblPr firstRow="0" bandRow="0">
                <a:tableStyleId>{2D5ABB26-0587-4C30-8999-92F81FD0307C}</a:tableStyleId>
              </a:tblPr>
              <a:tblGrid>
                <a:gridCol w="3077997"/>
                <a:gridCol w="8052993"/>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Which form?</a:t>
                      </a:r>
                    </a:p>
                  </a:txBody>
                  <a:tcPr marL="101600" marR="101600" marT="38100" marB="38100" anchor="ctr">
                    <a:solidFill>
                      <a:srgbClr val="FFFFFF"/>
                    </a:solidFill>
                  </a:tcPr>
                </a:tc>
                <a:tc>
                  <a:txBody>
                    <a:bodyPr/>
                    <a:lstStyle/>
                    <a:p>
                      <a:r>
                        <a:rPr sz="1100" b="0" i="0">
                          <a:solidFill>
                            <a:srgbClr val="1A1440"/>
                          </a:solidFill>
                          <a:latin typeface="Calibri"/>
                        </a:rPr>
                        <a:t>d: against the last quarter, with sentence and trend</a:t>
                      </a:r>
                    </a:p>
                  </a:txBody>
                  <a:tcPr marL="101600" marR="101600" marT="38100" marB="38100" anchor="ctr">
                    <a:solidFill>
                      <a:srgbClr val="FFFFFF"/>
                    </a:solidFill>
                  </a:tcPr>
                </a:tc>
              </a:tr>
              <a:tr h="318008">
                <a:tc>
                  <a:txBody>
                    <a:bodyPr/>
                    <a:lstStyle/>
                    <a:p>
                      <a:r>
                        <a:rPr sz="1100" b="0" i="0">
                          <a:solidFill>
                            <a:srgbClr val="1A1440"/>
                          </a:solidFill>
                          <a:latin typeface="Calibri"/>
                        </a:rPr>
                        <a:t>A bare total?</a:t>
                      </a:r>
                    </a:p>
                  </a:txBody>
                  <a:tcPr marL="101600" marR="101600" marT="38100" marB="38100" anchor="ctr">
                    <a:solidFill>
                      <a:srgbClr val="F4F2FA"/>
                    </a:solidFill>
                  </a:tcPr>
                </a:tc>
                <a:tc>
                  <a:txBody>
                    <a:bodyPr/>
                    <a:lstStyle/>
                    <a:p>
                      <a:r>
                        <a:rPr sz="1100" b="0" i="0">
                          <a:solidFill>
                            <a:srgbClr val="1A1440"/>
                          </a:solidFill>
                          <a:latin typeface="Calibri"/>
                        </a:rPr>
                        <a:t>Rs 19.84 crore, read as up 98.4%</a:t>
                      </a:r>
                    </a:p>
                  </a:txBody>
                  <a:tcPr marL="101600" marR="101600" marT="38100" marB="38100" anchor="ctr">
                    <a:solidFill>
                      <a:srgbClr val="F4F2FA"/>
                    </a:solidFill>
                  </a:tcPr>
                </a:tc>
              </a:tr>
              <a:tr h="318008">
                <a:tc>
                  <a:txBody>
                    <a:bodyPr/>
                    <a:lstStyle/>
                    <a:p>
                      <a:r>
                        <a:rPr sz="1100" b="0" i="0">
                          <a:solidFill>
                            <a:srgbClr val="1A1440"/>
                          </a:solidFill>
                          <a:latin typeface="Calibri"/>
                        </a:rPr>
                        <a:t>The card?</a:t>
                      </a:r>
                    </a:p>
                  </a:txBody>
                  <a:tcPr marL="101600" marR="101600" marT="38100" marB="38100" anchor="ctr">
                    <a:solidFill>
                      <a:srgbClr val="FFFFFF"/>
                    </a:solidFill>
                  </a:tcPr>
                </a:tc>
                <a:tc>
                  <a:txBody>
                    <a:bodyPr/>
                    <a:lstStyle/>
                    <a:p>
                      <a:r>
                        <a:rPr sz="1100" b="0" i="0">
                          <a:solidFill>
                            <a:srgbClr val="1A1440"/>
                          </a:solidFill>
                          <a:latin typeface="Calibri"/>
                        </a:rPr>
                        <a:t>Rs 9.84 crore, down 1.6% on Q1's Rs 10.00 crore</a:t>
                      </a:r>
                    </a:p>
                  </a:txBody>
                  <a:tcPr marL="101600" marR="101600" marT="38100" marB="38100" anchor="ctr">
                    <a:solidFill>
                      <a:srgbClr val="FFFFFF"/>
                    </a:solidFill>
                  </a:tcPr>
                </a:tc>
              </a:tr>
              <a:tr h="318008">
                <a:tc>
                  <a:txBody>
                    <a:bodyPr/>
                    <a:lstStyle/>
                    <a:p>
                      <a:r>
                        <a:rPr sz="1100" b="0" i="0">
                          <a:solidFill>
                            <a:srgbClr val="1A1440"/>
                          </a:solidFill>
                          <a:latin typeface="Calibri"/>
                        </a:rPr>
                        <a:t>A bare percentage?</a:t>
                      </a:r>
                    </a:p>
                  </a:txBody>
                  <a:tcPr marL="101600" marR="101600" marT="38100" marB="38100" anchor="ctr">
                    <a:solidFill>
                      <a:srgbClr val="F4F2FA"/>
                    </a:solidFill>
                  </a:tcPr>
                </a:tc>
                <a:tc>
                  <a:txBody>
                    <a:bodyPr/>
                    <a:lstStyle/>
                    <a:p>
                      <a:r>
                        <a:rPr sz="1100" b="0" i="0">
                          <a:solidFill>
                            <a:srgbClr val="1A1440"/>
                          </a:solidFill>
                          <a:latin typeface="Calibri"/>
                        </a:rPr>
                        <a:t>Rs 1.72 lakh, 0.4% of revenue</a:t>
                      </a:r>
                    </a:p>
                  </a:txBody>
                  <a:tcPr marL="101600" marR="101600" marT="38100" marB="38100" anchor="ctr">
                    <a:solidFill>
                      <a:srgbClr val="F4F2FA"/>
                    </a:solidFill>
                  </a:tcPr>
                </a:tc>
              </a:tr>
              <a:tr h="318008">
                <a:tc>
                  <a:txBody>
                    <a:bodyPr/>
                    <a:lstStyle/>
                    <a:p>
                      <a:r>
                        <a:rPr sz="1100" b="0" i="0">
                          <a:solidFill>
                            <a:srgbClr val="1A1440"/>
                          </a:solidFill>
                          <a:latin typeface="Calibri"/>
                        </a:rPr>
                        <a:t>Trend and scope?</a:t>
                      </a:r>
                    </a:p>
                  </a:txBody>
                  <a:tcPr marL="101600" marR="101600" marT="38100" marB="38100" anchor="ctr">
                    <a:solidFill>
                      <a:srgbClr val="FFFFFF"/>
                    </a:solidFill>
                  </a:tcPr>
                </a:tc>
                <a:tc>
                  <a:txBody>
                    <a:bodyPr/>
                    <a:lstStyle/>
                    <a:p>
                      <a:r>
                        <a:rPr sz="1100" b="0" i="0">
                          <a:solidFill>
                            <a:srgbClr val="1A1440"/>
                          </a:solidFill>
                          <a:latin typeface="Calibri"/>
                        </a:rPr>
                        <a:t>July is invoices; without Business, down 17.3%</a:t>
                      </a:r>
                    </a:p>
                  </a:txBody>
                  <a:tcPr marL="101600" marR="101600" marT="38100" marB="38100" anchor="ctr">
                    <a:solidFill>
                      <a:srgbClr val="FFFFFF"/>
                    </a:solidFill>
                  </a:tcPr>
                </a:tc>
              </a:tr>
              <a:tr h="318008">
                <a:tc>
                  <a:txBody>
                    <a:bodyPr/>
                    <a:lstStyle/>
                    <a:p>
                      <a:r>
                        <a:rPr sz="1100" b="0" i="0">
                          <a:solidFill>
                            <a:srgbClr val="1A1440"/>
                          </a:solidFill>
                          <a:latin typeface="Calibri"/>
                        </a:rPr>
                        <a:t>Warehouse agrees?</a:t>
                      </a:r>
                    </a:p>
                  </a:txBody>
                  <a:tcPr marL="101600" marR="101600" marT="38100" marB="38100" anchor="ctr">
                    <a:solidFill>
                      <a:srgbClr val="F4F2FA"/>
                    </a:solidFill>
                  </a:tcPr>
                </a:tc>
                <a:tc>
                  <a:txBody>
                    <a:bodyPr/>
                    <a:lstStyle/>
                    <a:p>
                      <a:r>
                        <a:rPr sz="1100" b="0" i="0">
                          <a:solidFill>
                            <a:srgbClr val="1A1440"/>
                          </a:solidFill>
                          <a:latin typeface="Calibri"/>
                        </a:rPr>
                        <a:t>-1.60% and -29.43%</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"A number without its period is read against what a director remembers, and a percentage without its base as what they fear."</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[F] How do you present one number so it is not misread?</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4" name="Oval 2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6" name="Oval 25"/>
          <p:cNvSpPr/>
          <p:nvPr/>
        </p:nvSpPr>
        <p:spPr>
          <a:xfrm>
            <a:off x="49471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056917"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Read right in two minutes?</a:t>
            </a:r>
          </a:p>
        </p:txBody>
      </p:sp>
      <p:sp>
        <p:nvSpPr>
          <p:cNvPr id="28" name="Oval 27"/>
          <p:cNvSpPr/>
          <p:nvPr/>
        </p:nvSpPr>
        <p:spPr>
          <a:xfrm>
            <a:off x="661882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8555"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must Excel never do?</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68 / 82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tool operating rule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must Excel never do?</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of the week's steps belong in the workbook, which must never be done there, and how do the two stay in step? Every number Finance relies on depends on it.</a:t>
            </a:r>
          </a:p>
        </p:txBody>
      </p:sp>
      <p:sp>
        <p:nvSpPr>
          <p:cNvPr id="11" name="Rounded Rectangle 10"/>
          <p:cNvSpPr/>
          <p:nvPr/>
        </p:nvSpPr>
        <p:spPr>
          <a:xfrm>
            <a:off x="731519"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segment carries it?</a:t>
            </a:r>
          </a:p>
        </p:txBody>
      </p:sp>
      <p:sp>
        <p:nvSpPr>
          <p:cNvPr id="12" name="Rounded Rectangle 11"/>
          <p:cNvSpPr/>
          <p:nvPr/>
        </p:nvSpPr>
        <p:spPr>
          <a:xfrm>
            <a:off x="2687407"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Q2 fall?</a:t>
            </a:r>
          </a:p>
        </p:txBody>
      </p:sp>
      <p:sp>
        <p:nvSpPr>
          <p:cNvPr id="13" name="Rounded Rectangle 12"/>
          <p:cNvSpPr/>
          <p:nvPr/>
        </p:nvSpPr>
        <p:spPr>
          <a:xfrm>
            <a:off x="4228782"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Find any member by id?</a:t>
            </a:r>
          </a:p>
        </p:txBody>
      </p:sp>
      <p:sp>
        <p:nvSpPr>
          <p:cNvPr id="14" name="Rounded Rectangle 13"/>
          <p:cNvSpPr/>
          <p:nvPr/>
        </p:nvSpPr>
        <p:spPr>
          <a:xfrm>
            <a:off x="600702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Read right in two minutes?</a:t>
            </a:r>
          </a:p>
        </p:txBody>
      </p:sp>
      <p:sp>
        <p:nvSpPr>
          <p:cNvPr id="15" name="Rounded Rectangle 14"/>
          <p:cNvSpPr/>
          <p:nvPr/>
        </p:nvSpPr>
        <p:spPr>
          <a:xfrm>
            <a:off x="8022125"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must Excel never do?</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What can a director open, change and still trust?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69 / 82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 signs the rule; Anand's analyst audits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rule, and which six questions write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Kavya, who signs the team's rule, and Anand's analyst, who audits every number Finance relies on; a join done in a sheet can report as unpaid money that customers have paid.</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Where could it live?</a:t>
            </a:r>
          </a:p>
        </p:txBody>
      </p:sp>
      <p:sp>
        <p:nvSpPr>
          <p:cNvPr id="17" name="TextBox 16"/>
          <p:cNvSpPr txBox="1"/>
          <p:nvPr/>
        </p:nvSpPr>
        <p:spPr>
          <a:xfrm>
            <a:off x="69494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arrangements, sized.</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each touches?</a:t>
            </a:r>
          </a:p>
        </p:txBody>
      </p:sp>
      <p:sp>
        <p:nvSpPr>
          <p:cNvPr id="22" name="TextBox 21"/>
          <p:cNvSpPr txBox="1"/>
          <p:nvPr/>
        </p:nvSpPr>
        <p:spPr>
          <a:xfrm>
            <a:off x="2580589" y="4464812"/>
            <a:ext cx="1373581" cy="201676"/>
          </a:xfrm>
          <a:prstGeom prst="rect">
            <a:avLst/>
          </a:prstGeom>
          <a:noFill/>
        </p:spPr>
        <p:txBody>
          <a:bodyPr wrap="square" anchor="t" lIns="0" rIns="0" tIns="0" bIns="0">
            <a:spAutoFit/>
          </a:bodyPr>
          <a:lstStyle/>
          <a:p>
            <a:pPr algn="l"/>
            <a:r>
              <a:rPr sz="1000" b="0" i="0">
                <a:solidFill>
                  <a:srgbClr val="6B6690"/>
                </a:solidFill>
                <a:latin typeface="Calibri"/>
              </a:rPr>
              <a:t>The week's steps.</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A lookup joins?</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Booked against collected.</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Every payment once?</a:t>
            </a:r>
          </a:p>
        </p:txBody>
      </p:sp>
      <p:sp>
        <p:nvSpPr>
          <p:cNvPr id="32" name="TextBox 31"/>
          <p:cNvSpPr txBox="1"/>
          <p:nvPr/>
        </p:nvSpPr>
        <p:spPr>
          <a:xfrm>
            <a:off x="6351879"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adding them says.</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Where each belongs?</a:t>
            </a:r>
          </a:p>
        </p:txBody>
      </p:sp>
      <p:sp>
        <p:nvSpPr>
          <p:cNvPr id="37" name="TextBox 36"/>
          <p:cNvSpPr txBox="1"/>
          <p:nvPr/>
        </p:nvSpPr>
        <p:spPr>
          <a:xfrm>
            <a:off x="8237524" y="4464812"/>
            <a:ext cx="1373581" cy="201676"/>
          </a:xfrm>
          <a:prstGeom prst="rect">
            <a:avLst/>
          </a:prstGeom>
          <a:noFill/>
        </p:spPr>
        <p:txBody>
          <a:bodyPr wrap="square" anchor="t" lIns="0" rIns="0" tIns="0" bIns="0">
            <a:spAutoFit/>
          </a:bodyPr>
          <a:lstStyle/>
          <a:p>
            <a:pPr algn="l"/>
            <a:r>
              <a:rPr sz="1000" b="0" i="0">
                <a:solidFill>
                  <a:srgbClr val="6B6690"/>
                </a:solidFill>
                <a:latin typeface="Calibri"/>
              </a:rPr>
              <a:t>The rule.</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FFFFFF"/>
                </a:solidFill>
                <a:latin typeface="Calibri"/>
              </a:rPr>
              <a:t>How in step?</a:t>
            </a:r>
          </a:p>
        </p:txBody>
      </p:sp>
      <p:sp>
        <p:nvSpPr>
          <p:cNvPr id="42" name="TextBox 41"/>
          <p:cNvSpPr txBox="1"/>
          <p:nvPr/>
        </p:nvSpPr>
        <p:spPr>
          <a:xfrm>
            <a:off x="10123170" y="4250182"/>
            <a:ext cx="1373581" cy="201676"/>
          </a:xfrm>
          <a:prstGeom prst="rect">
            <a:avLst/>
          </a:prstGeom>
          <a:noFill/>
        </p:spPr>
        <p:txBody>
          <a:bodyPr wrap="square" anchor="t" lIns="0" rIns="0" tIns="0" bIns="0">
            <a:spAutoFit/>
          </a:bodyPr>
          <a:lstStyle/>
          <a:p>
            <a:pPr algn="l"/>
            <a:r>
              <a:rPr sz="1000" b="0" i="0">
                <a:solidFill>
                  <a:srgbClr val="CFC9EE"/>
                </a:solidFill>
                <a:latin typeface="Calibri"/>
              </a:rPr>
              <a:t>The drift check.</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45" name="Oval 4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47" name="Oval 4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49" name="Oval 4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51" name="Oval 50"/>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70 / 82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Collected against booked is the test case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wrong collected figure cost Anand's collections team?</a:t>
            </a:r>
          </a:p>
        </p:txBody>
      </p:sp>
      <p:sp>
        <p:nvSpPr>
          <p:cNvPr id="9" name="TextBox 8"/>
          <p:cNvSpPr txBox="1"/>
          <p:nvPr/>
        </p:nvSpPr>
        <p:spPr>
          <a:xfrm>
            <a:off x="530352" y="1956816"/>
            <a:ext cx="3527450" cy="539750"/>
          </a:xfrm>
          <a:prstGeom prst="rect">
            <a:avLst/>
          </a:prstGeom>
          <a:noFill/>
        </p:spPr>
        <p:txBody>
          <a:bodyPr wrap="square" anchor="t" lIns="0" rIns="0" tIns="0" bIns="0">
            <a:spAutoFit/>
          </a:bodyPr>
          <a:lstStyle/>
          <a:p>
            <a:pPr algn="l"/>
            <a:r>
              <a:rPr sz="3400" b="0" i="0">
                <a:solidFill>
                  <a:srgbClr val="5B3FD6"/>
                </a:solidFill>
                <a:latin typeface="Georgia"/>
              </a:rPr>
              <a:t>Rs 19.84 cr</a:t>
            </a:r>
          </a:p>
        </p:txBody>
      </p:sp>
      <p:sp>
        <p:nvSpPr>
          <p:cNvPr id="10" name="TextBox 9"/>
          <p:cNvSpPr txBox="1"/>
          <p:nvPr/>
        </p:nvSpPr>
        <p:spPr>
          <a:xfrm>
            <a:off x="530352" y="253314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BOOKED</a:t>
            </a:r>
          </a:p>
        </p:txBody>
      </p:sp>
      <p:sp>
        <p:nvSpPr>
          <p:cNvPr id="11" name="TextBox 10"/>
          <p:cNvSpPr txBox="1"/>
          <p:nvPr/>
        </p:nvSpPr>
        <p:spPr>
          <a:xfrm>
            <a:off x="530352" y="2734310"/>
            <a:ext cx="3527450" cy="193421"/>
          </a:xfrm>
          <a:prstGeom prst="rect">
            <a:avLst/>
          </a:prstGeom>
          <a:noFill/>
        </p:spPr>
        <p:txBody>
          <a:bodyPr wrap="square" anchor="t" lIns="0" rIns="0" tIns="0" bIns="0">
            <a:spAutoFit/>
          </a:bodyPr>
          <a:lstStyle/>
          <a:p>
            <a:pPr algn="l"/>
            <a:r>
              <a:rPr sz="950" b="0" i="0">
                <a:solidFill>
                  <a:srgbClr val="6B6690"/>
                </a:solidFill>
                <a:latin typeface="Calibri"/>
              </a:rPr>
              <a:t>the orders' value, both quarters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39750"/>
          </a:xfrm>
          <a:prstGeom prst="rect">
            <a:avLst/>
          </a:prstGeom>
          <a:noFill/>
        </p:spPr>
        <p:txBody>
          <a:bodyPr wrap="square" anchor="t" lIns="0" rIns="0" tIns="0" bIns="0">
            <a:spAutoFit/>
          </a:bodyPr>
          <a:lstStyle/>
          <a:p>
            <a:pPr algn="l"/>
            <a:r>
              <a:rPr sz="3400" b="0" i="0">
                <a:solidFill>
                  <a:srgbClr val="5B3FD6"/>
                </a:solidFill>
                <a:latin typeface="Georgia"/>
              </a:rPr>
              <a:t>Anand</a:t>
            </a:r>
          </a:p>
        </p:txBody>
      </p:sp>
      <p:sp>
        <p:nvSpPr>
          <p:cNvPr id="14" name="TextBox 13"/>
          <p:cNvSpPr txBox="1"/>
          <p:nvPr/>
        </p:nvSpPr>
        <p:spPr>
          <a:xfrm>
            <a:off x="4332122" y="253314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WHO ASKS</a:t>
            </a:r>
          </a:p>
        </p:txBody>
      </p:sp>
      <p:sp>
        <p:nvSpPr>
          <p:cNvPr id="15" name="TextBox 14"/>
          <p:cNvSpPr txBox="1"/>
          <p:nvPr/>
        </p:nvSpPr>
        <p:spPr>
          <a:xfrm>
            <a:off x="4332122" y="2734310"/>
            <a:ext cx="3527450" cy="193421"/>
          </a:xfrm>
          <a:prstGeom prst="rect">
            <a:avLst/>
          </a:prstGeom>
          <a:noFill/>
        </p:spPr>
        <p:txBody>
          <a:bodyPr wrap="square" anchor="t" lIns="0" rIns="0" tIns="0" bIns="0">
            <a:spAutoFit/>
          </a:bodyPr>
          <a:lstStyle/>
          <a:p>
            <a:pPr algn="l"/>
            <a:r>
              <a:rPr sz="950" b="0" i="0">
                <a:solidFill>
                  <a:srgbClr val="6B6690"/>
                </a:solidFill>
                <a:latin typeface="Calibri"/>
              </a:rPr>
              <a:t>finance controller</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39750"/>
          </a:xfrm>
          <a:prstGeom prst="rect">
            <a:avLst/>
          </a:prstGeom>
          <a:noFill/>
        </p:spPr>
        <p:txBody>
          <a:bodyPr wrap="square" anchor="t" lIns="0" rIns="0" tIns="0" bIns="0">
            <a:spAutoFit/>
          </a:bodyPr>
          <a:lstStyle/>
          <a:p>
            <a:pPr algn="l"/>
            <a:r>
              <a:rPr sz="3400" b="0" i="0">
                <a:solidFill>
                  <a:srgbClr val="5B3FD6"/>
                </a:solidFill>
                <a:latin typeface="Georgia"/>
              </a:rPr>
              <a:t>A false alarm</a:t>
            </a:r>
          </a:p>
        </p:txBody>
      </p:sp>
      <p:sp>
        <p:nvSpPr>
          <p:cNvPr id="18" name="TextBox 17"/>
          <p:cNvSpPr txBox="1"/>
          <p:nvPr/>
        </p:nvSpPr>
        <p:spPr>
          <a:xfrm>
            <a:off x="8133892" y="253314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WHAT IT COSTS</a:t>
            </a:r>
          </a:p>
        </p:txBody>
      </p:sp>
      <p:sp>
        <p:nvSpPr>
          <p:cNvPr id="19" name="TextBox 18"/>
          <p:cNvSpPr txBox="1"/>
          <p:nvPr/>
        </p:nvSpPr>
        <p:spPr>
          <a:xfrm>
            <a:off x="8133892" y="2734310"/>
            <a:ext cx="3527450" cy="193421"/>
          </a:xfrm>
          <a:prstGeom prst="rect">
            <a:avLst/>
          </a:prstGeom>
          <a:noFill/>
        </p:spPr>
        <p:txBody>
          <a:bodyPr wrap="square" anchor="t" lIns="0" rIns="0" tIns="0" bIns="0">
            <a:spAutoFit/>
          </a:bodyPr>
          <a:lstStyle/>
          <a:p>
            <a:pPr algn="l"/>
            <a:r>
              <a:rPr sz="950" b="0" i="0">
                <a:solidFill>
                  <a:srgbClr val="6B6690"/>
                </a:solidFill>
                <a:latin typeface="Calibri"/>
              </a:rPr>
              <a:t>a collections team chasing paid accounts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Booked is the value of the orders; collected is the money received against them. Tuesday built the report in the warehouse, where it needs a join of one order to several payments.</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4" name="Oval 23"/>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6" name="Oval 25"/>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8" name="Oval 27"/>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0" name="Oval 29"/>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71 / 82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Public Health England left 15,841 cases unreported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organisation ran a pipeline step in a spreadsheet?</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15,841</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CASES NOT REPORTED</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25 September to 2 October 2020</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~65,000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PER XLS TEMPLATE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BBC News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~1,400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CASES PER TEMPLATE</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several rows per test result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86384" y="3419856"/>
            <a:ext cx="10820095" cy="1026160"/>
          </a:xfrm>
          <a:prstGeom prst="rect">
            <a:avLst/>
          </a:prstGeom>
          <a:noFill/>
        </p:spPr>
        <p:txBody>
          <a:bodyPr wrap="square" anchor="t" lIns="0" rIns="0" tIns="0" bIns="0">
            <a:spAutoFit/>
          </a:bodyPr>
          <a:lstStyle/>
          <a:p>
            <a:r>
              <a:rPr sz="1600" b="0" i="1">
                <a:solidFill>
                  <a:srgbClr val="1A0F5C"/>
                </a:solidFill>
                <a:latin typeface="Georgia"/>
              </a:rPr>
              <a:t>"15,841 cases between 25 September and 2 October were not included in the reported daily COVID-19 cases."</a:t>
            </a:r>
          </a:p>
          <a:p>
            <a:pPr>
              <a:spcBef>
                <a:spcPts val="400"/>
              </a:spcBef>
            </a:pPr>
            <a:r>
              <a:rPr sz="1000" b="0" i="0">
                <a:solidFill>
                  <a:srgbClr val="6B6690"/>
                </a:solidFill>
                <a:latin typeface="Calibri"/>
              </a:rPr>
              <a:t>Public Health England, 4 October 2020</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5" name="Oval 2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7" name="Oval 2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9" name="Oval 2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1" name="Oval 30"/>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72 / 82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split: warehouse, pandas, workbook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could the week's work live, and what does each arrangement cost?</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2033480"/>
                <a:gridCol w="4872809"/>
                <a:gridCol w="1875740"/>
                <a:gridCol w="2348961"/>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Collected per order costs</a:t>
                      </a:r>
                    </a:p>
                  </a:txBody>
                  <a:tcPr marL="101600" marR="101600" marT="38100" marB="38100" anchor="ctr">
                    <a:solidFill>
                      <a:srgbClr val="1A0F5C"/>
                    </a:solidFill>
                  </a:tcPr>
                </a:tc>
                <a:tc>
                  <a:txBody>
                    <a:bodyPr/>
                    <a:lstStyle/>
                    <a:p>
                      <a:r>
                        <a:rPr sz="1250" b="1" i="0">
                          <a:solidFill>
                            <a:srgbClr val="FFFFFF"/>
                          </a:solidFill>
                          <a:latin typeface="Calibri"/>
                        </a:rPr>
                        <a:t>Who can rerun it</a:t>
                      </a:r>
                    </a:p>
                  </a:txBody>
                  <a:tcPr marL="101600" marR="101600" marT="38100" marB="38100" anchor="ctr">
                    <a:solidFill>
                      <a:srgbClr val="1A0F5C"/>
                    </a:solidFill>
                  </a:tcPr>
                </a:tc>
                <a:tc>
                  <a:txBody>
                    <a:bodyPr/>
                    <a:lstStyle/>
                    <a:p>
                      <a:r>
                        <a:rPr sz="1250" b="1" i="0">
                          <a:solidFill>
                            <a:srgbClr val="FFFFFF"/>
                          </a:solidFill>
                          <a:latin typeface="Calibri"/>
                        </a:rPr>
                        <a:t>What an auditor traces</a:t>
                      </a:r>
                    </a:p>
                  </a:txBody>
                  <a:tcPr marL="101600" marR="101600" marT="38100" marB="38100" anchor="ctr">
                    <a:solidFill>
                      <a:srgbClr val="1A0F5C"/>
                    </a:solidFill>
                  </a:tcPr>
                </a:tc>
              </a:tr>
              <a:tr h="335280">
                <a:tc>
                  <a:txBody>
                    <a:bodyPr/>
                    <a:lstStyle/>
                    <a:p>
                      <a:r>
                        <a:rPr sz="1200" b="0" i="0">
                          <a:solidFill>
                            <a:srgbClr val="1A1440"/>
                          </a:solidFill>
                          <a:latin typeface="Calibri"/>
                        </a:rPr>
                        <a:t>a) All in the workbook</a:t>
                      </a:r>
                    </a:p>
                  </a:txBody>
                  <a:tcPr marL="101600" marR="101600" marT="38100" marB="38100" anchor="ctr">
                    <a:solidFill>
                      <a:srgbClr val="FFFFFF"/>
                    </a:solidFill>
                  </a:tcPr>
                </a:tc>
                <a:tc>
                  <a:txBody>
                    <a:bodyPr/>
                    <a:lstStyle/>
                    <a:p>
                      <a:r>
                        <a:rPr sz="1200" b="0" i="0">
                          <a:solidFill>
                            <a:srgbClr val="1A1440"/>
                          </a:solidFill>
                          <a:latin typeface="Calibri"/>
                        </a:rPr>
                        <a:t>1,000 SUMIFS x 1,450 rows = 1,450,000 tests a recalculation</a:t>
                      </a:r>
                    </a:p>
                  </a:txBody>
                  <a:tcPr marL="101600" marR="101600" marT="38100" marB="38100" anchor="ctr">
                    <a:solidFill>
                      <a:srgbClr val="FFFFFF"/>
                    </a:solidFill>
                  </a:tcPr>
                </a:tc>
                <a:tc>
                  <a:txBody>
                    <a:bodyPr/>
                    <a:lstStyle/>
                    <a:p>
                      <a:r>
                        <a:rPr sz="1200" b="0" i="0">
                          <a:solidFill>
                            <a:srgbClr val="1A1440"/>
                          </a:solidFill>
                          <a:latin typeface="Calibri"/>
                        </a:rPr>
                        <a:t>its author, by hand</a:t>
                      </a:r>
                    </a:p>
                  </a:txBody>
                  <a:tcPr marL="101600" marR="101600" marT="38100" marB="38100" anchor="ctr">
                    <a:solidFill>
                      <a:srgbClr val="FFFFFF"/>
                    </a:solidFill>
                  </a:tcPr>
                </a:tc>
                <a:tc>
                  <a:txBody>
                    <a:bodyPr/>
                    <a:lstStyle/>
                    <a:p>
                      <a:r>
                        <a:rPr sz="1200" b="0" i="0">
                          <a:solidFill>
                            <a:srgbClr val="1A1440"/>
                          </a:solidFill>
                          <a:latin typeface="Calibri"/>
                        </a:rPr>
                        <a:t>the cells</a:t>
                      </a:r>
                    </a:p>
                  </a:txBody>
                  <a:tcPr marL="101600" marR="101600" marT="38100" marB="38100" anchor="ctr">
                    <a:solidFill>
                      <a:srgbClr val="FFFFFF"/>
                    </a:solidFill>
                  </a:tcPr>
                </a:tc>
              </a:tr>
              <a:tr h="335280">
                <a:tc>
                  <a:txBody>
                    <a:bodyPr/>
                    <a:lstStyle/>
                    <a:p>
                      <a:r>
                        <a:rPr sz="1200" b="0" i="0">
                          <a:solidFill>
                            <a:srgbClr val="1A1440"/>
                          </a:solidFill>
                          <a:latin typeface="Calibri"/>
                        </a:rPr>
                        <a:t>b) The split</a:t>
                      </a:r>
                    </a:p>
                  </a:txBody>
                  <a:tcPr marL="101600" marR="101600" marT="38100" marB="38100" anchor="ctr">
                    <a:solidFill>
                      <a:srgbClr val="F4F2FA"/>
                    </a:solidFill>
                  </a:tcPr>
                </a:tc>
                <a:tc>
                  <a:txBody>
                    <a:bodyPr/>
                    <a:lstStyle/>
                    <a:p>
                      <a:r>
                        <a:rPr sz="1200" b="0" i="0">
                          <a:solidFill>
                            <a:srgbClr val="1A1440"/>
                          </a:solidFill>
                          <a:latin typeface="Calibri"/>
                        </a:rPr>
                        <a:t>one GROUP BY over 1,428 payments</a:t>
                      </a:r>
                    </a:p>
                  </a:txBody>
                  <a:tcPr marL="101600" marR="101600" marT="38100" marB="38100" anchor="ctr">
                    <a:solidFill>
                      <a:srgbClr val="F4F2FA"/>
                    </a:solidFill>
                  </a:tcPr>
                </a:tc>
                <a:tc>
                  <a:txBody>
                    <a:bodyPr/>
                    <a:lstStyle/>
                    <a:p>
                      <a:r>
                        <a:rPr sz="1200" b="0" i="0">
                          <a:solidFill>
                            <a:srgbClr val="1A1440"/>
                          </a:solidFill>
                          <a:latin typeface="Calibri"/>
                        </a:rPr>
                        <a:t>anyone with the query</a:t>
                      </a:r>
                    </a:p>
                  </a:txBody>
                  <a:tcPr marL="101600" marR="101600" marT="38100" marB="38100" anchor="ctr">
                    <a:solidFill>
                      <a:srgbClr val="F4F2FA"/>
                    </a:solidFill>
                  </a:tcPr>
                </a:tc>
                <a:tc>
                  <a:txBody>
                    <a:bodyPr/>
                    <a:lstStyle/>
                    <a:p>
                      <a:r>
                        <a:rPr sz="1200" b="0" i="0">
                          <a:solidFill>
                            <a:srgbClr val="1A1440"/>
                          </a:solidFill>
                          <a:latin typeface="Calibri"/>
                        </a:rPr>
                        <a:t>the query</a:t>
                      </a:r>
                    </a:p>
                  </a:txBody>
                  <a:tcPr marL="101600" marR="101600" marT="38100" marB="38100" anchor="ctr">
                    <a:solidFill>
                      <a:srgbClr val="F4F2FA"/>
                    </a:solidFill>
                  </a:tcPr>
                </a:tc>
              </a:tr>
              <a:tr h="335280">
                <a:tc>
                  <a:txBody>
                    <a:bodyPr/>
                    <a:lstStyle/>
                    <a:p>
                      <a:r>
                        <a:rPr sz="1200" b="0" i="0">
                          <a:solidFill>
                            <a:srgbClr val="1A1440"/>
                          </a:solidFill>
                          <a:latin typeface="Calibri"/>
                        </a:rPr>
                        <a:t>c) pandas pastes values</a:t>
                      </a:r>
                    </a:p>
                  </a:txBody>
                  <a:tcPr marL="101600" marR="101600" marT="38100" marB="38100" anchor="ctr">
                    <a:solidFill>
                      <a:srgbClr val="FFFFFF"/>
                    </a:solidFill>
                  </a:tcPr>
                </a:tc>
                <a:tc>
                  <a:txBody>
                    <a:bodyPr/>
                    <a:lstStyle/>
                    <a:p>
                      <a:r>
                        <a:rPr sz="1200" b="0" i="0">
                          <a:solidFill>
                            <a:srgbClr val="1A1440"/>
                          </a:solidFill>
                          <a:latin typeface="Calibri"/>
                        </a:rPr>
                        <a:t>one groupby over 1,450 rows</a:t>
                      </a:r>
                    </a:p>
                  </a:txBody>
                  <a:tcPr marL="101600" marR="101600" marT="38100" marB="38100" anchor="ctr">
                    <a:solidFill>
                      <a:srgbClr val="FFFFFF"/>
                    </a:solidFill>
                  </a:tcPr>
                </a:tc>
                <a:tc>
                  <a:txBody>
                    <a:bodyPr/>
                    <a:lstStyle/>
                    <a:p>
                      <a:r>
                        <a:rPr sz="1200" b="0" i="0">
                          <a:solidFill>
                            <a:srgbClr val="1A1440"/>
                          </a:solidFill>
                          <a:latin typeface="Calibri"/>
                        </a:rPr>
                        <a:t>the analyst</a:t>
                      </a:r>
                    </a:p>
                  </a:txBody>
                  <a:tcPr marL="101600" marR="101600" marT="38100" marB="38100" anchor="ctr">
                    <a:solidFill>
                      <a:srgbClr val="FFFFFF"/>
                    </a:solidFill>
                  </a:tcPr>
                </a:tc>
                <a:tc>
                  <a:txBody>
                    <a:bodyPr/>
                    <a:lstStyle/>
                    <a:p>
                      <a:r>
                        <a:rPr sz="1200" b="0" i="0">
                          <a:solidFill>
                            <a:srgbClr val="1A1440"/>
                          </a:solidFill>
                          <a:latin typeface="Calibri"/>
                        </a:rPr>
                        <a:t>the notebook</a:t>
                      </a:r>
                    </a:p>
                  </a:txBody>
                  <a:tcPr marL="101600" marR="101600" marT="38100" marB="38100" anchor="ctr">
                    <a:solidFill>
                      <a:srgbClr val="FFFFFF"/>
                    </a:solidFill>
                  </a:tcPr>
                </a:tc>
              </a:tr>
              <a:tr h="335280">
                <a:tc>
                  <a:txBody>
                    <a:bodyPr/>
                    <a:lstStyle/>
                    <a:p>
                      <a:r>
                        <a:rPr sz="1200" b="0" i="0">
                          <a:solidFill>
                            <a:srgbClr val="1A1440"/>
                          </a:solidFill>
                          <a:latin typeface="Calibri"/>
                        </a:rPr>
                        <a:t>d) Dashboard</a:t>
                      </a:r>
                    </a:p>
                  </a:txBody>
                  <a:tcPr marL="101600" marR="101600" marT="38100" marB="38100" anchor="ctr">
                    <a:solidFill>
                      <a:srgbClr val="F4F2FA"/>
                    </a:solidFill>
                  </a:tcPr>
                </a:tc>
                <a:tc>
                  <a:txBody>
                    <a:bodyPr/>
                    <a:lstStyle/>
                    <a:p>
                      <a:r>
                        <a:rPr sz="1200" b="0" i="0">
                          <a:solidFill>
                            <a:srgbClr val="1A1440"/>
                          </a:solidFill>
                          <a:latin typeface="Calibri"/>
                        </a:rPr>
                        <a:t>a query a view</a:t>
                      </a:r>
                    </a:p>
                  </a:txBody>
                  <a:tcPr marL="101600" marR="101600" marT="38100" marB="38100" anchor="ctr">
                    <a:solidFill>
                      <a:srgbClr val="F4F2FA"/>
                    </a:solidFill>
                  </a:tcPr>
                </a:tc>
                <a:tc>
                  <a:txBody>
                    <a:bodyPr/>
                    <a:lstStyle/>
                    <a:p>
                      <a:r>
                        <a:rPr sz="1200" b="0" i="0">
                          <a:solidFill>
                            <a:srgbClr val="1A1440"/>
                          </a:solidFill>
                          <a:latin typeface="Calibri"/>
                        </a:rPr>
                        <a:t>its owner</a:t>
                      </a:r>
                    </a:p>
                  </a:txBody>
                  <a:tcPr marL="101600" marR="101600" marT="38100" marB="38100" anchor="ctr">
                    <a:solidFill>
                      <a:srgbClr val="F4F2FA"/>
                    </a:solidFill>
                  </a:tcPr>
                </a:tc>
                <a:tc>
                  <a:txBody>
                    <a:bodyPr/>
                    <a:lstStyle/>
                    <a:p>
                      <a:r>
                        <a:rPr sz="1200" b="0" i="0">
                          <a:solidFill>
                            <a:srgbClr val="1A1440"/>
                          </a:solidFill>
                          <a:latin typeface="Calibri"/>
                        </a:rPr>
                        <a:t>the queries, behind a login</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358140"/>
          </a:xfrm>
          <a:prstGeom prst="rect">
            <a:avLst/>
          </a:prstGeom>
          <a:noFill/>
        </p:spPr>
        <p:txBody>
          <a:bodyPr wrap="square" anchor="ctr" lIns="0" rIns="0" tIns="0" bIns="0">
            <a:spAutoFit/>
          </a:bodyPr>
          <a:lstStyle/>
          <a:p>
            <a:r>
              <a:rPr sz="1500" b="1">
                <a:solidFill>
                  <a:srgbClr val="5B3FD6"/>
                </a:solidFill>
                <a:latin typeface="Calibri"/>
              </a:rPr>
              <a:t>The best-fit call. </a:t>
            </a:r>
            <a:r>
              <a:rPr sz="1500" b="0" i="0">
                <a:solidFill>
                  <a:srgbClr val="1A1440"/>
                </a:solidFill>
                <a:latin typeface="Calibri"/>
              </a:rPr>
              <a:t>b.</a:t>
            </a:r>
          </a:p>
        </p:txBody>
      </p:sp>
      <p:sp>
        <p:nvSpPr>
          <p:cNvPr id="13" name="Rounded Rectangle 12"/>
          <p:cNvSpPr/>
          <p:nvPr/>
        </p:nvSpPr>
        <p:spPr>
          <a:xfrm>
            <a:off x="530352" y="459486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4722875"/>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713732"/>
            <a:ext cx="10564063" cy="358140"/>
          </a:xfrm>
          <a:prstGeom prst="rect">
            <a:avLst/>
          </a:prstGeom>
          <a:noFill/>
        </p:spPr>
        <p:txBody>
          <a:bodyPr wrap="square" anchor="ctr" lIns="0" rIns="0" tIns="0" bIns="0">
            <a:spAutoFit/>
          </a:bodyPr>
          <a:lstStyle/>
          <a:p>
            <a:r>
              <a:rPr sz="1500" b="1">
                <a:solidFill>
                  <a:srgbClr val="5B3FD6"/>
                </a:solidFill>
                <a:latin typeface="Calibri"/>
              </a:rPr>
              <a:t>The fact that would change it. </a:t>
            </a:r>
            <a:r>
              <a:rPr sz="1500" b="0" i="0">
                <a:solidFill>
                  <a:srgbClr val="1A1440"/>
                </a:solidFill>
                <a:latin typeface="Calibri"/>
              </a:rPr>
              <a:t>A one-off question nobody audits and nobody reruns can live in a sheet.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8" name="Oval 17"/>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0" name="Oval 19"/>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2" name="Oval 21"/>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4" name="Oval 23"/>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73 / 82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did each day build, and what does it 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week's steps touches the most rows?</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1523984"/>
                <a:gridCol w="4468858"/>
                <a:gridCol w="5138148"/>
              </a:tblGrid>
              <a:tr h="369824">
                <a:tc>
                  <a:txBody>
                    <a:bodyPr/>
                    <a:lstStyle/>
                    <a:p>
                      <a:r>
                        <a:rPr sz="1450" b="1" i="0">
                          <a:solidFill>
                            <a:srgbClr val="FFFFFF"/>
                          </a:solidFill>
                          <a:latin typeface="Calibri"/>
                        </a:rPr>
                        <a:t>Day</a:t>
                      </a:r>
                    </a:p>
                  </a:txBody>
                  <a:tcPr marL="101600" marR="101600" marT="38100" marB="38100" anchor="ctr">
                    <a:solidFill>
                      <a:srgbClr val="1A0F5C"/>
                    </a:solidFill>
                  </a:tcPr>
                </a:tc>
                <a:tc>
                  <a:txBody>
                    <a:bodyPr/>
                    <a:lstStyle/>
                    <a:p>
                      <a:r>
                        <a:rPr sz="1450" b="1" i="0">
                          <a:solidFill>
                            <a:srgbClr val="FFFFFF"/>
                          </a:solidFill>
                          <a:latin typeface="Calibri"/>
                        </a:rPr>
                        <a:t>Step</a:t>
                      </a:r>
                    </a:p>
                  </a:txBody>
                  <a:tcPr marL="101600" marR="101600" marT="38100" marB="38100" anchor="ctr">
                    <a:solidFill>
                      <a:srgbClr val="1A0F5C"/>
                    </a:solidFill>
                  </a:tcPr>
                </a:tc>
                <a:tc>
                  <a:txBody>
                    <a:bodyPr/>
                    <a:lstStyle/>
                    <a:p>
                      <a:r>
                        <a:rPr sz="1450" b="1" i="0">
                          <a:solidFill>
                            <a:srgbClr val="FFFFFF"/>
                          </a:solidFill>
                          <a:latin typeface="Calibri"/>
                        </a:rPr>
                        <a:t>Reads</a:t>
                      </a:r>
                    </a:p>
                  </a:txBody>
                  <a:tcPr marL="101600" marR="101600" marT="38100" marB="38100" anchor="ctr">
                    <a:solidFill>
                      <a:srgbClr val="1A0F5C"/>
                    </a:solidFill>
                  </a:tcPr>
                </a:tc>
              </a:tr>
              <a:tr h="369824">
                <a:tc>
                  <a:txBody>
                    <a:bodyPr/>
                    <a:lstStyle/>
                    <a:p>
                      <a:r>
                        <a:rPr sz="1400" b="0" i="0">
                          <a:solidFill>
                            <a:srgbClr val="1A1440"/>
                          </a:solidFill>
                          <a:latin typeface="Calibri"/>
                        </a:rPr>
                        <a:t>Monday</a:t>
                      </a:r>
                    </a:p>
                  </a:txBody>
                  <a:tcPr marL="101600" marR="101600" marT="38100" marB="38100" anchor="ctr">
                    <a:solidFill>
                      <a:srgbClr val="FFFFFF"/>
                    </a:solidFill>
                  </a:tcPr>
                </a:tc>
                <a:tc>
                  <a:txBody>
                    <a:bodyPr/>
                    <a:lstStyle/>
                    <a:p>
                      <a:r>
                        <a:rPr sz="1400" b="0" i="0">
                          <a:solidFill>
                            <a:srgbClr val="1A1440"/>
                          </a:solidFill>
                          <a:latin typeface="Calibri"/>
                        </a:rPr>
                        <a:t>The tree by segment and quarter</a:t>
                      </a:r>
                    </a:p>
                  </a:txBody>
                  <a:tcPr marL="101600" marR="101600" marT="38100" marB="38100" anchor="ctr">
                    <a:solidFill>
                      <a:srgbClr val="FFFFFF"/>
                    </a:solidFill>
                  </a:tcPr>
                </a:tc>
                <a:tc>
                  <a:txBody>
                    <a:bodyPr/>
                    <a:lstStyle/>
                    <a:p>
                      <a:r>
                        <a:rPr sz="1400" b="0" i="0">
                          <a:solidFill>
                            <a:srgbClr val="1A1440"/>
                          </a:solidFill>
                          <a:latin typeface="Calibri"/>
                        </a:rPr>
                        <a:t>1,000 orders</a:t>
                      </a:r>
                    </a:p>
                  </a:txBody>
                  <a:tcPr marL="101600" marR="101600" marT="38100" marB="38100" anchor="ctr">
                    <a:solidFill>
                      <a:srgbClr val="FFFFFF"/>
                    </a:solidFill>
                  </a:tcPr>
                </a:tc>
              </a:tr>
              <a:tr h="369824">
                <a:tc>
                  <a:txBody>
                    <a:bodyPr/>
                    <a:lstStyle/>
                    <a:p>
                      <a:r>
                        <a:rPr sz="1400" b="0" i="0">
                          <a:solidFill>
                            <a:srgbClr val="1A1440"/>
                          </a:solidFill>
                          <a:latin typeface="Calibri"/>
                        </a:rPr>
                        <a:t>Tuesday</a:t>
                      </a:r>
                    </a:p>
                  </a:txBody>
                  <a:tcPr marL="101600" marR="101600" marT="38100" marB="38100" anchor="ctr">
                    <a:solidFill>
                      <a:srgbClr val="F4F2FA"/>
                    </a:solidFill>
                  </a:tcPr>
                </a:tc>
                <a:tc>
                  <a:txBody>
                    <a:bodyPr/>
                    <a:lstStyle/>
                    <a:p>
                      <a:r>
                        <a:rPr sz="1400" b="0" i="0">
                          <a:solidFill>
                            <a:srgbClr val="1A1440"/>
                          </a:solidFill>
                          <a:latin typeface="Calibri"/>
                        </a:rPr>
                        <a:t>Booked against collected</a:t>
                      </a:r>
                    </a:p>
                  </a:txBody>
                  <a:tcPr marL="101600" marR="101600" marT="38100" marB="38100" anchor="ctr">
                    <a:solidFill>
                      <a:srgbClr val="F4F2FA"/>
                    </a:solidFill>
                  </a:tcPr>
                </a:tc>
                <a:tc>
                  <a:txBody>
                    <a:bodyPr/>
                    <a:lstStyle/>
                    <a:p>
                      <a:r>
                        <a:rPr sz="1400" b="0" i="0">
                          <a:solidFill>
                            <a:srgbClr val="1A1440"/>
                          </a:solidFill>
                          <a:latin typeface="Calibri"/>
                        </a:rPr>
                        <a:t>1,000 orders and 1,428 payment rows</a:t>
                      </a:r>
                    </a:p>
                  </a:txBody>
                  <a:tcPr marL="101600" marR="101600" marT="38100" marB="38100" anchor="ctr">
                    <a:solidFill>
                      <a:srgbClr val="F4F2FA"/>
                    </a:solidFill>
                  </a:tcPr>
                </a:tc>
              </a:tr>
              <a:tr h="369824">
                <a:tc>
                  <a:txBody>
                    <a:bodyPr/>
                    <a:lstStyle/>
                    <a:p>
                      <a:r>
                        <a:rPr sz="1400" b="0" i="0">
                          <a:solidFill>
                            <a:srgbClr val="1A1440"/>
                          </a:solidFill>
                          <a:latin typeface="Calibri"/>
                        </a:rPr>
                        <a:t>Wednesday</a:t>
                      </a:r>
                    </a:p>
                  </a:txBody>
                  <a:tcPr marL="101600" marR="101600" marT="38100" marB="38100" anchor="ctr">
                    <a:solidFill>
                      <a:srgbClr val="FFFFFF"/>
                    </a:solidFill>
                  </a:tcPr>
                </a:tc>
                <a:tc>
                  <a:txBody>
                    <a:bodyPr/>
                    <a:lstStyle/>
                    <a:p>
                      <a:r>
                        <a:rPr sz="1400" b="0" i="0">
                          <a:solidFill>
                            <a:srgbClr val="1A1440"/>
                          </a:solidFill>
                          <a:latin typeface="Calibri"/>
                        </a:rPr>
                        <a:t>Top fifty, falling spend</a:t>
                      </a:r>
                    </a:p>
                  </a:txBody>
                  <a:tcPr marL="101600" marR="101600" marT="38100" marB="38100" anchor="ctr">
                    <a:solidFill>
                      <a:srgbClr val="FFFFFF"/>
                    </a:solidFill>
                  </a:tcPr>
                </a:tc>
                <a:tc>
                  <a:txBody>
                    <a:bodyPr/>
                    <a:lstStyle/>
                    <a:p>
                      <a:r>
                        <a:rPr sz="1400" b="0" i="0">
                          <a:solidFill>
                            <a:srgbClr val="1A1440"/>
                          </a:solidFill>
                          <a:latin typeface="Calibri"/>
                        </a:rPr>
                        <a:t>orders, ranked within a segment</a:t>
                      </a:r>
                    </a:p>
                  </a:txBody>
                  <a:tcPr marL="101600" marR="101600" marT="38100" marB="38100" anchor="ctr">
                    <a:solidFill>
                      <a:srgbClr val="FFFFFF"/>
                    </a:solidFill>
                  </a:tcPr>
                </a:tc>
              </a:tr>
              <a:tr h="369824">
                <a:tc>
                  <a:txBody>
                    <a:bodyPr/>
                    <a:lstStyle/>
                    <a:p>
                      <a:r>
                        <a:rPr sz="1400" b="0" i="0">
                          <a:solidFill>
                            <a:srgbClr val="1A1440"/>
                          </a:solidFill>
                          <a:latin typeface="Calibri"/>
                        </a:rPr>
                        <a:t>Thursday</a:t>
                      </a:r>
                    </a:p>
                  </a:txBody>
                  <a:tcPr marL="101600" marR="101600" marT="38100" marB="38100" anchor="ctr">
                    <a:solidFill>
                      <a:srgbClr val="F4F2FA"/>
                    </a:solidFill>
                  </a:tcPr>
                </a:tc>
                <a:tc>
                  <a:txBody>
                    <a:bodyPr/>
                    <a:lstStyle/>
                    <a:p>
                      <a:r>
                        <a:rPr sz="1400" b="0" i="0">
                          <a:solidFill>
                            <a:srgbClr val="1A1440"/>
                          </a:solidFill>
                          <a:latin typeface="Calibri"/>
                        </a:rPr>
                        <a:t>The customer table</a:t>
                      </a:r>
                    </a:p>
                  </a:txBody>
                  <a:tcPr marL="101600" marR="101600" marT="38100" marB="38100" anchor="ctr">
                    <a:solidFill>
                      <a:srgbClr val="F4F2FA"/>
                    </a:solidFill>
                  </a:tcPr>
                </a:tc>
                <a:tc>
                  <a:txBody>
                    <a:bodyPr/>
                    <a:lstStyle/>
                    <a:p>
                      <a:r>
                        <a:rPr sz="1400" b="0" i="0">
                          <a:solidFill>
                            <a:srgbClr val="1A1440"/>
                          </a:solidFill>
                          <a:latin typeface="Calibri"/>
                        </a:rPr>
                        <a:t>orders, customers, campaign exposure</a:t>
                      </a:r>
                    </a:p>
                  </a:txBody>
                  <a:tcPr marL="101600" marR="101600" marT="38100" marB="38100" anchor="ctr">
                    <a:solidFill>
                      <a:srgbClr val="F4F2FA"/>
                    </a:solidFill>
                  </a:tcPr>
                </a:tc>
              </a:tr>
              <a:tr h="369824">
                <a:tc>
                  <a:txBody>
                    <a:bodyPr/>
                    <a:lstStyle/>
                    <a:p>
                      <a:r>
                        <a:rPr sz="1400" b="0" i="0">
                          <a:solidFill>
                            <a:srgbClr val="1A1440"/>
                          </a:solidFill>
                          <a:latin typeface="Calibri"/>
                        </a:rPr>
                        <a:t>Friday</a:t>
                      </a:r>
                    </a:p>
                  </a:txBody>
                  <a:tcPr marL="101600" marR="101600" marT="38100" marB="38100" anchor="ctr">
                    <a:solidFill>
                      <a:srgbClr val="FFFFFF"/>
                    </a:solidFill>
                  </a:tcPr>
                </a:tc>
                <a:tc>
                  <a:txBody>
                    <a:bodyPr/>
                    <a:lstStyle/>
                    <a:p>
                      <a:r>
                        <a:rPr sz="1400" b="0" i="0">
                          <a:solidFill>
                            <a:srgbClr val="1A1440"/>
                          </a:solidFill>
                          <a:latin typeface="Calibri"/>
                        </a:rPr>
                        <a:t>Pivot, lookup, card</a:t>
                      </a:r>
                    </a:p>
                  </a:txBody>
                  <a:tcPr marL="101600" marR="101600" marT="38100" marB="38100" anchor="ctr">
                    <a:solidFill>
                      <a:srgbClr val="FFFFFF"/>
                    </a:solidFill>
                  </a:tcPr>
                </a:tc>
                <a:tc>
                  <a:txBody>
                    <a:bodyPr/>
                    <a:lstStyle/>
                    <a:p>
                      <a:r>
                        <a:rPr sz="1400" b="0" i="0">
                          <a:solidFill>
                            <a:srgbClr val="1A1440"/>
                          </a:solidFill>
                          <a:latin typeface="Calibri"/>
                        </a:rPr>
                        <a:t>the two exports</a:t>
                      </a:r>
                    </a:p>
                  </a:txBody>
                  <a:tcPr marL="101600" marR="101600" marT="38100" marB="38100" anchor="ctr">
                    <a:solidFill>
                      <a:srgbClr val="FFFFFF"/>
                    </a:solidFill>
                  </a:tcPr>
                </a:tc>
              </a:tr>
            </a:tbl>
          </a:graphicData>
        </a:graphic>
      </p:graphicFrame>
      <p:sp>
        <p:nvSpPr>
          <p:cNvPr id="10" name="Rounded Rectangle 9"/>
          <p:cNvSpPr/>
          <p:nvPr/>
        </p:nvSpPr>
        <p:spPr>
          <a:xfrm>
            <a:off x="530352" y="443179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55980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550664"/>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Which step touches the most rows? a) the tree; b) booked against collected; c) the top fifty; d) Friday's pivot.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5" name="Oval 14"/>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7" name="Oval 16"/>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9" name="Oval 18"/>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1" name="Oval 20"/>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74 / 82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Tuesday's join, one order to several payments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that the step to watch?</a:t>
            </a:r>
          </a:p>
        </p:txBody>
      </p:sp>
      <p:pic>
        <p:nvPicPr>
          <p:cNvPr id="9" name="mermaid diagram" descr="9bdb281b54f5da79.png"/>
          <p:cNvPicPr>
            <a:picLocks noChangeAspect="1"/>
          </p:cNvPicPr>
          <p:nvPr/>
        </p:nvPicPr>
        <p:blipFill>
          <a:blip r:embed="rId5"/>
          <a:stretch>
            <a:fillRect/>
          </a:stretch>
        </p:blipFill>
        <p:spPr>
          <a:xfrm>
            <a:off x="2116778" y="1956816"/>
            <a:ext cx="7958137" cy="871537"/>
          </a:xfrm>
          <a:prstGeom prst="rect">
            <a:avLst/>
          </a:prstGeom>
        </p:spPr>
      </p:pic>
      <p:sp>
        <p:nvSpPr>
          <p:cNvPr id="10" name="TextBox 9"/>
          <p:cNvSpPr txBox="1"/>
          <p:nvPr/>
        </p:nvSpPr>
        <p:spPr>
          <a:xfrm>
            <a:off x="530352" y="2974657"/>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It is the one step where one row on one side meets several on the other, which is what a lookup in a sheet handles worst. Eight of the 1,428 payment rows match no order.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75 / 82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collected say when a lookup joins?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When a lookup fetches one payment per order, what does collected add up to?</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19.84 cr</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BOOKED</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1,000 orders</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COLLECTED, BY LOOKUP</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one exact match per order</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0352" y="341985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=VLOOKUP(A2, RawExport!A:H, 7, FALSE) fetches paid_amount beside each order.</a:t>
            </a:r>
          </a:p>
        </p:txBody>
      </p:sp>
      <p:sp>
        <p:nvSpPr>
          <p:cNvPr id="18" name="Rounded Rectangle 17"/>
          <p:cNvSpPr/>
          <p:nvPr/>
        </p:nvSpPr>
        <p:spPr>
          <a:xfrm>
            <a:off x="530352" y="404368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76656" y="417169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4162552"/>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Collected reads about: a) Rs 19.7 crore; b) Rs 11.8 crore; c) Rs 39 crore; d) exactly booked.</a:t>
            </a: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3" name="Oval 2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5" name="Oval 2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7" name="Oval 2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9" name="Oval 28"/>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S66  ·  76 / 82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8.00 crore "outstanding", 40.3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plausible wrong answer, and what decision would it mislead?</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11.84 cr</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COLLECTED, BY LOOKUP</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Rs 11,83,81,974</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8.00 cr</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OUTSTANDING, IT SAYS</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40.3 percent of booked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450</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ORDERS ON TWO ROWS</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lookup reads one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a:t>
            </a:r>
            <a:r>
              <a:rPr sz="1600" b="1" i="0">
                <a:solidFill>
                  <a:srgbClr val="1A1440"/>
                </a:solidFill>
                <a:latin typeface="Calibri"/>
              </a:rPr>
              <a:t>Why it is wrong.</a:t>
            </a:r>
            <a:r>
              <a:rPr sz="1600" b="0" i="0">
                <a:solidFill>
                  <a:srgbClr val="1A1440"/>
                </a:solidFill>
                <a:latin typeface="Calibri"/>
              </a:rPr>
              <a:t> A lookup returns the first matching row and stops, so on that figure Anand's team chases Rs 8 crore from accounts that paid, most of them corporate buyers, and the board pack reports a cash problem Kalpa does not have.</a:t>
            </a:r>
          </a:p>
        </p:txBody>
      </p:sp>
      <p:sp>
        <p:nvSpPr>
          <p:cNvPr id="22" name="Rounded Rectangle 21"/>
          <p:cNvSpPr/>
          <p:nvPr/>
        </p:nvSpPr>
        <p:spPr>
          <a:xfrm>
            <a:off x="530352" y="459638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472440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715256"/>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With every payment added once, collected is short of booked by about: a) Rs 8.00 crore; b) Rs 17.5 lakh; c) nothing; d) Rs 39 crore.</a:t>
            </a: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7" name="Oval 26"/>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9" name="Oval 28"/>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31" name="Oval 30"/>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33" name="Oval 32"/>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S67  ·  77 / 82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add every payment once, and join upstream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adding every payment once say?</a:t>
            </a:r>
          </a:p>
        </p:txBody>
      </p:sp>
      <p:pic>
        <p:nvPicPr>
          <p:cNvPr id="9" name="mermaid diagram" descr="9f74a2f2f9c01536.png"/>
          <p:cNvPicPr>
            <a:picLocks noChangeAspect="1"/>
          </p:cNvPicPr>
          <p:nvPr/>
        </p:nvPicPr>
        <p:blipFill>
          <a:blip r:embed="rId5"/>
          <a:stretch>
            <a:fillRect/>
          </a:stretch>
        </p:blipFill>
        <p:spPr>
          <a:xfrm>
            <a:off x="2602553" y="1956816"/>
            <a:ext cx="6986587" cy="1128712"/>
          </a:xfrm>
          <a:prstGeom prst="rect">
            <a:avLst/>
          </a:prstGeom>
        </p:spPr>
      </p:pic>
      <p:sp>
        <p:nvSpPr>
          <p:cNvPr id="10" name="TextBox 9"/>
          <p:cNvSpPr txBox="1"/>
          <p:nvPr/>
        </p:nvSpPr>
        <p:spPr>
          <a:xfrm>
            <a:off x="530352" y="3231832"/>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With the gateway's 50 copies dropped, since each is one payment posted twice, =SUMIFS(G:G, A:A, A2) adds every payment once: collected Rs 19,66,45,070, Rs 17,54,930 short of booked, 0.9 percent, exactly Tuesday's 30 unpaid orders. </a:t>
            </a:r>
            <a:r>
              <a:rPr sz="1600" b="1" i="0">
                <a:solidFill>
                  <a:srgbClr val="1A1440"/>
                </a:solidFill>
                <a:latin typeface="Calibri"/>
              </a:rPr>
              <a:t>What changed.</a:t>
            </a:r>
            <a:r>
              <a:rPr sz="1600" b="0" i="0">
                <a:solidFill>
                  <a:srgbClr val="1A1440"/>
                </a:solidFill>
                <a:latin typeface="Calibri"/>
              </a:rPr>
              <a:t> Rs 7,82,63,096 of "outstanding" money disappears. The join belongs in the warehouse, where Tuesday did it; SUMIFS is only a check.</a:t>
            </a:r>
          </a:p>
        </p:txBody>
      </p:sp>
      <p:sp>
        <p:nvSpPr>
          <p:cNvPr id="11" name="Rounded Rectangle 10"/>
          <p:cNvSpPr/>
          <p:nvPr/>
        </p:nvSpPr>
        <p:spPr>
          <a:xfrm>
            <a:off x="530352" y="468471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81272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803584"/>
            <a:ext cx="10564063" cy="8915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Counting each order once in the raw export belongs: a) in the workbook, as the first-row flag; b) in the warehouse, as an export at the order grain; c) in pandas, as a drop_duplicates; d) anywhere, since all three give Rs 19.84 crore.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S68  ·  78 / 82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step in one place: the rule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each of the week's steps belong?</a:t>
            </a:r>
          </a:p>
        </p:txBody>
      </p:sp>
      <p:graphicFrame>
        <p:nvGraphicFramePr>
          <p:cNvPr id="9" name="Table 8"/>
          <p:cNvGraphicFramePr>
            <a:graphicFrameLocks noGrp="1"/>
          </p:cNvGraphicFramePr>
          <p:nvPr/>
        </p:nvGraphicFramePr>
        <p:xfrm>
          <a:off x="530352" y="1882648"/>
          <a:ext cx="11130990" cy="2226056"/>
        </p:xfrm>
        <a:graphic>
          <a:graphicData uri="http://schemas.openxmlformats.org/drawingml/2006/table">
            <a:tbl>
              <a:tblPr firstRow="0" bandRow="0">
                <a:tableStyleId>{2D5ABB26-0587-4C30-8999-92F81FD0307C}</a:tableStyleId>
              </a:tblPr>
              <a:tblGrid>
                <a:gridCol w="4231728"/>
                <a:gridCol w="2197806"/>
                <a:gridCol w="4701456"/>
              </a:tblGrid>
              <a:tr h="318008">
                <a:tc>
                  <a:txBody>
                    <a:bodyPr/>
                    <a:lstStyle/>
                    <a:p>
                      <a:r>
                        <a:rPr sz="1150" b="1" i="0">
                          <a:solidFill>
                            <a:srgbClr val="FFFFFF"/>
                          </a:solidFill>
                          <a:latin typeface="Calibri"/>
                        </a:rPr>
                        <a:t>Step</a:t>
                      </a:r>
                    </a:p>
                  </a:txBody>
                  <a:tcPr marL="101600" marR="101600" marT="38100" marB="38100" anchor="ctr">
                    <a:solidFill>
                      <a:srgbClr val="1A0F5C"/>
                    </a:solidFill>
                  </a:tcPr>
                </a:tc>
                <a:tc>
                  <a:txBody>
                    <a:bodyPr/>
                    <a:lstStyle/>
                    <a:p>
                      <a:r>
                        <a:rPr sz="1150" b="1" i="0">
                          <a:solidFill>
                            <a:srgbClr val="FFFFFF"/>
                          </a:solidFill>
                          <a:latin typeface="Calibri"/>
                        </a:rPr>
                        <a:t>Where it lives</a:t>
                      </a:r>
                    </a:p>
                  </a:txBody>
                  <a:tcPr marL="101600" marR="101600" marT="38100" marB="38100" anchor="ctr">
                    <a:solidFill>
                      <a:srgbClr val="1A0F5C"/>
                    </a:solidFill>
                  </a:tcPr>
                </a:tc>
                <a:tc>
                  <a:txBody>
                    <a:bodyPr/>
                    <a:lstStyle/>
                    <a:p>
                      <a:r>
                        <a:rPr sz="1150" b="1" i="0">
                          <a:solidFill>
                            <a:srgbClr val="FFFFFF"/>
                          </a:solidFill>
                          <a:latin typeface="Calibri"/>
                        </a:rPr>
                        <a:t>Why</a:t>
                      </a:r>
                    </a:p>
                  </a:txBody>
                  <a:tcPr marL="101600" marR="101600" marT="38100" marB="38100" anchor="ctr">
                    <a:solidFill>
                      <a:srgbClr val="1A0F5C"/>
                    </a:solidFill>
                  </a:tcPr>
                </a:tc>
              </a:tr>
              <a:tr h="318008">
                <a:tc>
                  <a:txBody>
                    <a:bodyPr/>
                    <a:lstStyle/>
                    <a:p>
                      <a:r>
                        <a:rPr sz="1100" b="0" i="0">
                          <a:solidFill>
                            <a:srgbClr val="1A1440"/>
                          </a:solidFill>
                          <a:latin typeface="Calibri"/>
                        </a:rPr>
                        <a:t>The tree by segment and quarter</a:t>
                      </a:r>
                    </a:p>
                  </a:txBody>
                  <a:tcPr marL="101600" marR="101600" marT="38100" marB="38100" anchor="ctr">
                    <a:solidFill>
                      <a:srgbClr val="FFFFFF"/>
                    </a:solidFill>
                  </a:tcPr>
                </a:tc>
                <a:tc>
                  <a:txBody>
                    <a:bodyPr/>
                    <a:lstStyle/>
                    <a:p>
                      <a:r>
                        <a:rPr sz="1100" b="0" i="0">
                          <a:solidFill>
                            <a:srgbClr val="1A1440"/>
                          </a:solidFill>
                          <a:latin typeface="Calibri"/>
                        </a:rPr>
                        <a:t>warehouse</a:t>
                      </a:r>
                    </a:p>
                  </a:txBody>
                  <a:tcPr marL="101600" marR="101600" marT="38100" marB="38100" anchor="ctr">
                    <a:solidFill>
                      <a:srgbClr val="FFFFFF"/>
                    </a:solidFill>
                  </a:tcPr>
                </a:tc>
                <a:tc>
                  <a:txBody>
                    <a:bodyPr/>
                    <a:lstStyle/>
                    <a:p>
                      <a:r>
                        <a:rPr sz="1100" b="0" i="0">
                          <a:solidFill>
                            <a:srgbClr val="1A1440"/>
                          </a:solidFill>
                          <a:latin typeface="Calibri"/>
                        </a:rPr>
                        <a:t>Finance audits it</a:t>
                      </a:r>
                    </a:p>
                  </a:txBody>
                  <a:tcPr marL="101600" marR="101600" marT="38100" marB="38100" anchor="ctr">
                    <a:solidFill>
                      <a:srgbClr val="FFFFFF"/>
                    </a:solidFill>
                  </a:tcPr>
                </a:tc>
              </a:tr>
              <a:tr h="318008">
                <a:tc>
                  <a:txBody>
                    <a:bodyPr/>
                    <a:lstStyle/>
                    <a:p>
                      <a:r>
                        <a:rPr sz="1100" b="0" i="0">
                          <a:solidFill>
                            <a:srgbClr val="1A1440"/>
                          </a:solidFill>
                          <a:latin typeface="Calibri"/>
                        </a:rPr>
                        <a:t>Counting each order once</a:t>
                      </a:r>
                    </a:p>
                  </a:txBody>
                  <a:tcPr marL="101600" marR="101600" marT="38100" marB="38100" anchor="ctr">
                    <a:solidFill>
                      <a:srgbClr val="F4F2FA"/>
                    </a:solidFill>
                  </a:tcPr>
                </a:tc>
                <a:tc>
                  <a:txBody>
                    <a:bodyPr/>
                    <a:lstStyle/>
                    <a:p>
                      <a:r>
                        <a:rPr sz="1100" b="0" i="0">
                          <a:solidFill>
                            <a:srgbClr val="1A1440"/>
                          </a:solidFill>
                          <a:latin typeface="Calibri"/>
                        </a:rPr>
                        <a:t>warehouse</a:t>
                      </a:r>
                    </a:p>
                  </a:txBody>
                  <a:tcPr marL="101600" marR="101600" marT="38100" marB="38100" anchor="ctr">
                    <a:solidFill>
                      <a:srgbClr val="F4F2FA"/>
                    </a:solidFill>
                  </a:tcPr>
                </a:tc>
                <a:tc>
                  <a:txBody>
                    <a:bodyPr/>
                    <a:lstStyle/>
                    <a:p>
                      <a:r>
                        <a:rPr sz="1100" b="0" i="0">
                          <a:solidFill>
                            <a:srgbClr val="1A1440"/>
                          </a:solidFill>
                          <a:latin typeface="Calibri"/>
                        </a:rPr>
                        <a:t>a grain fix is cleaning</a:t>
                      </a:r>
                    </a:p>
                  </a:txBody>
                  <a:tcPr marL="101600" marR="101600" marT="38100" marB="38100" anchor="ctr">
                    <a:solidFill>
                      <a:srgbClr val="F4F2FA"/>
                    </a:solidFill>
                  </a:tcPr>
                </a:tc>
              </a:tr>
              <a:tr h="318008">
                <a:tc>
                  <a:txBody>
                    <a:bodyPr/>
                    <a:lstStyle/>
                    <a:p>
                      <a:r>
                        <a:rPr sz="1100" b="0" i="0">
                          <a:solidFill>
                            <a:srgbClr val="1A1440"/>
                          </a:solidFill>
                          <a:latin typeface="Calibri"/>
                        </a:rPr>
                        <a:t>Booked against collected</a:t>
                      </a:r>
                    </a:p>
                  </a:txBody>
                  <a:tcPr marL="101600" marR="101600" marT="38100" marB="38100" anchor="ctr">
                    <a:solidFill>
                      <a:srgbClr val="FFFFFF"/>
                    </a:solidFill>
                  </a:tcPr>
                </a:tc>
                <a:tc>
                  <a:txBody>
                    <a:bodyPr/>
                    <a:lstStyle/>
                    <a:p>
                      <a:r>
                        <a:rPr sz="1100" b="0" i="0">
                          <a:solidFill>
                            <a:srgbClr val="1A1440"/>
                          </a:solidFill>
                          <a:latin typeface="Calibri"/>
                        </a:rPr>
                        <a:t>warehouse</a:t>
                      </a:r>
                    </a:p>
                  </a:txBody>
                  <a:tcPr marL="101600" marR="101600" marT="38100" marB="38100" anchor="ctr">
                    <a:solidFill>
                      <a:srgbClr val="FFFFFF"/>
                    </a:solidFill>
                  </a:tcPr>
                </a:tc>
                <a:tc>
                  <a:txBody>
                    <a:bodyPr/>
                    <a:lstStyle/>
                    <a:p>
                      <a:r>
                        <a:rPr sz="1100" b="0" i="0">
                          <a:solidFill>
                            <a:srgbClr val="1A1440"/>
                          </a:solidFill>
                          <a:latin typeface="Calibri"/>
                        </a:rPr>
                        <a:t>a join, one to several</a:t>
                      </a:r>
                    </a:p>
                  </a:txBody>
                  <a:tcPr marL="101600" marR="101600" marT="38100" marB="38100" anchor="ctr">
                    <a:solidFill>
                      <a:srgbClr val="FFFFFF"/>
                    </a:solidFill>
                  </a:tcPr>
                </a:tc>
              </a:tr>
              <a:tr h="318008">
                <a:tc>
                  <a:txBody>
                    <a:bodyPr/>
                    <a:lstStyle/>
                    <a:p>
                      <a:r>
                        <a:rPr sz="1100" b="0" i="0">
                          <a:solidFill>
                            <a:srgbClr val="1A1440"/>
                          </a:solidFill>
                          <a:latin typeface="Calibri"/>
                        </a:rPr>
                        <a:t>Top fifty, ties settled by a rule</a:t>
                      </a:r>
                    </a:p>
                  </a:txBody>
                  <a:tcPr marL="101600" marR="101600" marT="38100" marB="38100" anchor="ctr">
                    <a:solidFill>
                      <a:srgbClr val="F4F2FA"/>
                    </a:solidFill>
                  </a:tcPr>
                </a:tc>
                <a:tc>
                  <a:txBody>
                    <a:bodyPr/>
                    <a:lstStyle/>
                    <a:p>
                      <a:r>
                        <a:rPr sz="1100" b="0" i="0">
                          <a:solidFill>
                            <a:srgbClr val="1A1440"/>
                          </a:solidFill>
                          <a:latin typeface="Calibri"/>
                        </a:rPr>
                        <a:t>warehouse</a:t>
                      </a:r>
                    </a:p>
                  </a:txBody>
                  <a:tcPr marL="101600" marR="101600" marT="38100" marB="38100" anchor="ctr">
                    <a:solidFill>
                      <a:srgbClr val="F4F2FA"/>
                    </a:solidFill>
                  </a:tcPr>
                </a:tc>
                <a:tc>
                  <a:txBody>
                    <a:bodyPr/>
                    <a:lstStyle/>
                    <a:p>
                      <a:r>
                        <a:rPr sz="1100" b="0" i="0">
                          <a:solidFill>
                            <a:srgbClr val="1A1440"/>
                          </a:solidFill>
                          <a:latin typeface="Calibri"/>
                        </a:rPr>
                        <a:t>a rank others rely on</a:t>
                      </a:r>
                    </a:p>
                  </a:txBody>
                  <a:tcPr marL="101600" marR="101600" marT="38100" marB="38100" anchor="ctr">
                    <a:solidFill>
                      <a:srgbClr val="F4F2FA"/>
                    </a:solidFill>
                  </a:tcPr>
                </a:tc>
              </a:tr>
              <a:tr h="318008">
                <a:tc>
                  <a:txBody>
                    <a:bodyPr/>
                    <a:lstStyle/>
                    <a:p>
                      <a:r>
                        <a:rPr sz="1100" b="0" i="0">
                          <a:solidFill>
                            <a:srgbClr val="1A1440"/>
                          </a:solidFill>
                          <a:latin typeface="Calibri"/>
                        </a:rPr>
                        <a:t>The customer table</a:t>
                      </a:r>
                    </a:p>
                  </a:txBody>
                  <a:tcPr marL="101600" marR="101600" marT="38100" marB="38100" anchor="ctr">
                    <a:solidFill>
                      <a:srgbClr val="FFFFFF"/>
                    </a:solidFill>
                  </a:tcPr>
                </a:tc>
                <a:tc>
                  <a:txBody>
                    <a:bodyPr/>
                    <a:lstStyle/>
                    <a:p>
                      <a:r>
                        <a:rPr sz="1100" b="0" i="0">
                          <a:solidFill>
                            <a:srgbClr val="1A1440"/>
                          </a:solidFill>
                          <a:latin typeface="Calibri"/>
                        </a:rPr>
                        <a:t>pandas</a:t>
                      </a:r>
                    </a:p>
                  </a:txBody>
                  <a:tcPr marL="101600" marR="101600" marT="38100" marB="38100" anchor="ctr">
                    <a:solidFill>
                      <a:srgbClr val="FFFFFF"/>
                    </a:solidFill>
                  </a:tcPr>
                </a:tc>
                <a:tc>
                  <a:txBody>
                    <a:bodyPr/>
                    <a:lstStyle/>
                    <a:p>
                      <a:r>
                        <a:rPr sz="1100" b="0" i="0">
                          <a:solidFill>
                            <a:srgbClr val="1A1440"/>
                          </a:solidFill>
                          <a:latin typeface="Calibri"/>
                        </a:rPr>
                        <a:t>the weekly iteration</a:t>
                      </a:r>
                    </a:p>
                  </a:txBody>
                  <a:tcPr marL="101600" marR="101600" marT="38100" marB="38100" anchor="ctr">
                    <a:solidFill>
                      <a:srgbClr val="FFFFFF"/>
                    </a:solidFill>
                  </a:tcPr>
                </a:tc>
              </a:tr>
              <a:tr h="318008">
                <a:tc>
                  <a:txBody>
                    <a:bodyPr/>
                    <a:lstStyle/>
                    <a:p>
                      <a:r>
                        <a:rPr sz="1100" b="0" i="0">
                          <a:solidFill>
                            <a:srgbClr val="1A1440"/>
                          </a:solidFill>
                          <a:latin typeface="Calibri"/>
                        </a:rPr>
                        <a:t>Pivot, lookup, card, what-ifs</a:t>
                      </a:r>
                    </a:p>
                  </a:txBody>
                  <a:tcPr marL="101600" marR="101600" marT="38100" marB="38100" anchor="ctr">
                    <a:solidFill>
                      <a:srgbClr val="F4F2FA"/>
                    </a:solidFill>
                  </a:tcPr>
                </a:tc>
                <a:tc>
                  <a:txBody>
                    <a:bodyPr/>
                    <a:lstStyle/>
                    <a:p>
                      <a:r>
                        <a:rPr sz="1100" b="0" i="0">
                          <a:solidFill>
                            <a:srgbClr val="1A1440"/>
                          </a:solidFill>
                          <a:latin typeface="Calibri"/>
                        </a:rPr>
                        <a:t>workbook</a:t>
                      </a:r>
                    </a:p>
                  </a:txBody>
                  <a:tcPr marL="101600" marR="101600" marT="38100" marB="38100" anchor="ctr">
                    <a:solidFill>
                      <a:srgbClr val="F4F2FA"/>
                    </a:solidFill>
                  </a:tcPr>
                </a:tc>
                <a:tc>
                  <a:txBody>
                    <a:bodyPr/>
                    <a:lstStyle/>
                    <a:p>
                      <a:r>
                        <a:rPr sz="1100" b="0" i="0">
                          <a:solidFill>
                            <a:srgbClr val="1A1440"/>
                          </a:solidFill>
                          <a:latin typeface="Calibri"/>
                        </a:rPr>
                        <a:t>the last mile, on an export that ties</a:t>
                      </a:r>
                    </a:p>
                  </a:txBody>
                  <a:tcPr marL="101600" marR="101600" marT="38100" marB="38100" anchor="ctr">
                    <a:solidFill>
                      <a:srgbClr val="F4F2FA"/>
                    </a:solidFill>
                  </a:tcPr>
                </a:tc>
              </a:tr>
            </a:tbl>
          </a:graphicData>
        </a:graphic>
      </p:graphicFrame>
      <p:sp>
        <p:nvSpPr>
          <p:cNvPr id="10" name="TextBox 9"/>
          <p:cNvSpPr txBox="1"/>
          <p:nvPr/>
        </p:nvSpPr>
        <p:spPr>
          <a:xfrm>
            <a:off x="530352" y="4364736"/>
            <a:ext cx="11130991" cy="841248"/>
          </a:xfrm>
          <a:prstGeom prst="rect">
            <a:avLst/>
          </a:prstGeom>
          <a:noFill/>
        </p:spPr>
        <p:txBody>
          <a:bodyPr wrap="square" anchor="t" lIns="0" rIns="0" tIns="0" bIns="0">
            <a:spAutoFit/>
          </a:bodyPr>
          <a:lstStyle/>
          <a:p>
            <a:pPr>
              <a:spcAft>
                <a:spcPts val="600"/>
              </a:spcAft>
            </a:pPr>
            <a:r>
              <a:rPr sz="1200" b="0" i="0">
                <a:solidFill>
                  <a:srgbClr val="1A1440"/>
                </a:solidFill>
                <a:latin typeface="Calibri"/>
              </a:rPr>
              <a:t>The answer to counting each order once is the warehouse, b. Written as the team's rule: the warehouse owns the number and every join, dedupe and rank Finance relies on; pandas owns the iteration until Finance relies on it; the workbook owns the last mile, and nobody types over the source.</a:t>
            </a:r>
          </a:p>
        </p:txBody>
      </p:sp>
      <p:sp>
        <p:nvSpPr>
          <p:cNvPr id="11" name="Rounded Rectangle 10"/>
          <p:cNvSpPr/>
          <p:nvPr/>
        </p:nvSpPr>
        <p:spPr>
          <a:xfrm>
            <a:off x="530352" y="5334000"/>
            <a:ext cx="11130991" cy="6654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462016"/>
            <a:ext cx="45720" cy="4094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452872"/>
            <a:ext cx="10564063" cy="482600"/>
          </a:xfrm>
          <a:prstGeom prst="rect">
            <a:avLst/>
          </a:prstGeom>
          <a:noFill/>
        </p:spPr>
        <p:txBody>
          <a:bodyPr wrap="square" anchor="ctr" lIns="0" rIns="0" tIns="0" bIns="0">
            <a:spAutoFit/>
          </a:bodyPr>
          <a:lstStyle/>
          <a:p>
            <a:r>
              <a:rPr sz="1100" b="1">
                <a:solidFill>
                  <a:srgbClr val="5B3FD6"/>
                </a:solidFill>
                <a:latin typeface="Calibri"/>
              </a:rPr>
              <a:t>Predict before you run. </a:t>
            </a:r>
            <a:r>
              <a:rPr sz="1100" b="0" i="0">
                <a:solidFill>
                  <a:srgbClr val="1A1440"/>
                </a:solidFill>
                <a:latin typeface="Calibri"/>
              </a:rPr>
              <a:t>A drift check runs on the same export pulled a week early. It: a) passes, since every row is real; b) holds the deck, since Q2 falls short of the warehouse; c) holds only the protect list; d) cannot run.</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6" name="Oval 15"/>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8" name="Oval 17"/>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0" name="Oval 19"/>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2" name="Oval 21"/>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S69  ·  79 / 82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and the drift check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booked less the unpaid orders give the same collected figure, and how do the sheet and the warehouse stay in step?</a:t>
            </a:r>
          </a:p>
        </p:txBody>
      </p:sp>
      <p:graphicFrame>
        <p:nvGraphicFramePr>
          <p:cNvPr id="9" name="Table 8"/>
          <p:cNvGraphicFramePr>
            <a:graphicFrameLocks noGrp="1"/>
          </p:cNvGraphicFramePr>
          <p:nvPr/>
        </p:nvGraphicFramePr>
        <p:xfrm>
          <a:off x="530352" y="1956816"/>
          <a:ext cx="11130990" cy="1341120"/>
        </p:xfrm>
        <a:graphic>
          <a:graphicData uri="http://schemas.openxmlformats.org/drawingml/2006/table">
            <a:tbl>
              <a:tblPr firstRow="0" bandRow="0">
                <a:tableStyleId>{2D5ABB26-0587-4C30-8999-92F81FD0307C}</a:tableStyleId>
              </a:tblPr>
              <a:tblGrid>
                <a:gridCol w="4002025"/>
                <a:gridCol w="1988855"/>
                <a:gridCol w="4225710"/>
                <a:gridCol w="914400"/>
              </a:tblGrid>
              <a:tr h="335280">
                <a:tc>
                  <a:txBody>
                    <a:bodyPr/>
                    <a:lstStyle/>
                    <a:p>
                      <a:r>
                        <a:rPr sz="1250" b="1" i="0">
                          <a:solidFill>
                            <a:srgbClr val="FFFFFF"/>
                          </a:solidFill>
                          <a:latin typeface="Calibri"/>
                        </a:rPr>
                        <a:t>Check</a:t>
                      </a:r>
                    </a:p>
                  </a:txBody>
                  <a:tcPr marL="101600" marR="101600" marT="38100" marB="38100" anchor="ctr">
                    <a:solidFill>
                      <a:srgbClr val="1A0F5C"/>
                    </a:solidFill>
                  </a:tcPr>
                </a:tc>
                <a:tc>
                  <a:txBody>
                    <a:bodyPr/>
                    <a:lstStyle/>
                    <a:p>
                      <a:r>
                        <a:rPr sz="1250" b="1" i="0">
                          <a:solidFill>
                            <a:srgbClr val="FFFFFF"/>
                          </a:solidFill>
                          <a:latin typeface="Calibri"/>
                        </a:rPr>
                        <a:t>The workbook</a:t>
                      </a:r>
                    </a:p>
                  </a:txBody>
                  <a:tcPr marL="101600" marR="101600" marT="38100" marB="38100" anchor="ctr">
                    <a:solidFill>
                      <a:srgbClr val="1A0F5C"/>
                    </a:solidFill>
                  </a:tcPr>
                </a:tc>
                <a:tc>
                  <a:txBody>
                    <a:bodyPr/>
                    <a:lstStyle/>
                    <a:p>
                      <a:r>
                        <a:rPr sz="1250" b="1" i="0">
                          <a:solidFill>
                            <a:srgbClr val="FFFFFF"/>
                          </a:solidFill>
                          <a:latin typeface="Calibri"/>
                        </a:rPr>
                        <a:t>The warehouse</a:t>
                      </a:r>
                    </a:p>
                  </a:txBody>
                  <a:tcPr marL="101600" marR="101600" marT="38100" marB="38100" anchor="ctr">
                    <a:solidFill>
                      <a:srgbClr val="1A0F5C"/>
                    </a:solidFill>
                  </a:tcPr>
                </a:tc>
                <a:tc>
                  <a:txBody>
                    <a:bodyPr/>
                    <a:lstStyle/>
                    <a:p>
                      <a:r>
                        <a:rPr sz="1250" b="1" i="0">
                          <a:solidFill>
                            <a:srgbClr val="FFFFFF"/>
                          </a:solidFill>
                          <a:latin typeface="Calibri"/>
                        </a:rPr>
                        <a:t>Verdict</a:t>
                      </a:r>
                    </a:p>
                  </a:txBody>
                  <a:tcPr marL="101600" marR="101600" marT="38100" marB="38100" anchor="ctr">
                    <a:solidFill>
                      <a:srgbClr val="1A0F5C"/>
                    </a:solidFill>
                  </a:tcPr>
                </a:tc>
              </a:tr>
              <a:tr h="335280">
                <a:tc>
                  <a:txBody>
                    <a:bodyPr/>
                    <a:lstStyle/>
                    <a:p>
                      <a:r>
                        <a:rPr sz="1200" b="0" i="0">
                          <a:solidFill>
                            <a:srgbClr val="1A1440"/>
                          </a:solidFill>
                          <a:latin typeface="Calibri"/>
                        </a:rPr>
                        <a:t>Collected, each payment once</a:t>
                      </a:r>
                    </a:p>
                  </a:txBody>
                  <a:tcPr marL="101600" marR="101600" marT="38100" marB="38100" anchor="ctr">
                    <a:solidFill>
                      <a:srgbClr val="FFFFFF"/>
                    </a:solidFill>
                  </a:tcPr>
                </a:tc>
                <a:tc>
                  <a:txBody>
                    <a:bodyPr/>
                    <a:lstStyle/>
                    <a:p>
                      <a:r>
                        <a:rPr sz="1200" b="0" i="0">
                          <a:solidFill>
                            <a:srgbClr val="1A1440"/>
                          </a:solidFill>
                          <a:latin typeface="Calibri"/>
                        </a:rPr>
                        <a:t>Rs 19,66,45,070</a:t>
                      </a:r>
                    </a:p>
                  </a:txBody>
                  <a:tcPr marL="101600" marR="101600" marT="38100" marB="38100" anchor="ctr">
                    <a:solidFill>
                      <a:srgbClr val="FFFFFF"/>
                    </a:solidFill>
                  </a:tcPr>
                </a:tc>
                <a:tc>
                  <a:txBody>
                    <a:bodyPr/>
                    <a:lstStyle/>
                    <a:p>
                      <a:r>
                        <a:rPr sz="1200" b="0" i="0">
                          <a:solidFill>
                            <a:srgbClr val="1A1440"/>
                          </a:solidFill>
                          <a:latin typeface="Calibri"/>
                        </a:rPr>
                        <a:t>booked less unpaid, Rs 19,66,45,070</a:t>
                      </a:r>
                    </a:p>
                  </a:txBody>
                  <a:tcPr marL="101600" marR="101600" marT="38100" marB="38100" anchor="ctr">
                    <a:solidFill>
                      <a:srgbClr val="FFFFFF"/>
                    </a:solidFill>
                  </a:tcPr>
                </a:tc>
                <a:tc>
                  <a:txBody>
                    <a:bodyPr/>
                    <a:lstStyle/>
                    <a:p>
                      <a:r>
                        <a:rPr sz="1200" b="0" i="0">
                          <a:solidFill>
                            <a:srgbClr val="1A1440"/>
                          </a:solidFill>
                          <a:latin typeface="Calibri"/>
                        </a:rPr>
                        <a:t>ties</a:t>
                      </a:r>
                    </a:p>
                  </a:txBody>
                  <a:tcPr marL="101600" marR="101600" marT="38100" marB="38100" anchor="ctr">
                    <a:solidFill>
                      <a:srgbClr val="FFFFFF"/>
                    </a:solidFill>
                  </a:tcPr>
                </a:tc>
              </a:tr>
              <a:tr h="335280">
                <a:tc>
                  <a:txBody>
                    <a:bodyPr/>
                    <a:lstStyle/>
                    <a:p>
                      <a:r>
                        <a:rPr sz="1200" b="0" i="0">
                          <a:solidFill>
                            <a:srgbClr val="1A1440"/>
                          </a:solidFill>
                          <a:latin typeface="Calibri"/>
                        </a:rPr>
                        <a:t>Q2 orders, today's export</a:t>
                      </a:r>
                    </a:p>
                  </a:txBody>
                  <a:tcPr marL="101600" marR="101600" marT="38100" marB="38100" anchor="ctr">
                    <a:solidFill>
                      <a:srgbClr val="F4F2FA"/>
                    </a:solidFill>
                  </a:tcPr>
                </a:tc>
                <a:tc>
                  <a:txBody>
                    <a:bodyPr/>
                    <a:lstStyle/>
                    <a:p>
                      <a:r>
                        <a:rPr sz="1200" b="0" i="0">
                          <a:solidFill>
                            <a:srgbClr val="1A1440"/>
                          </a:solidFill>
                          <a:latin typeface="Calibri"/>
                        </a:rPr>
                        <a:t>462</a:t>
                      </a:r>
                    </a:p>
                  </a:txBody>
                  <a:tcPr marL="101600" marR="101600" marT="38100" marB="38100" anchor="ctr">
                    <a:solidFill>
                      <a:srgbClr val="F4F2FA"/>
                    </a:solidFill>
                  </a:tcPr>
                </a:tc>
                <a:tc>
                  <a:txBody>
                    <a:bodyPr/>
                    <a:lstStyle/>
                    <a:p>
                      <a:r>
                        <a:rPr sz="1200" b="0" i="0">
                          <a:solidFill>
                            <a:srgbClr val="1A1440"/>
                          </a:solidFill>
                          <a:latin typeface="Calibri"/>
                        </a:rPr>
                        <a:t>462</a:t>
                      </a:r>
                    </a:p>
                  </a:txBody>
                  <a:tcPr marL="101600" marR="101600" marT="38100" marB="38100" anchor="ctr">
                    <a:solidFill>
                      <a:srgbClr val="F4F2FA"/>
                    </a:solidFill>
                  </a:tcPr>
                </a:tc>
                <a:tc>
                  <a:txBody>
                    <a:bodyPr/>
                    <a:lstStyle/>
                    <a:p>
                      <a:r>
                        <a:rPr sz="1200" b="0" i="0">
                          <a:solidFill>
                            <a:srgbClr val="1A1440"/>
                          </a:solidFill>
                          <a:latin typeface="Calibri"/>
                        </a:rPr>
                        <a:t>ship</a:t>
                      </a:r>
                    </a:p>
                  </a:txBody>
                  <a:tcPr marL="101600" marR="101600" marT="38100" marB="38100" anchor="ctr">
                    <a:solidFill>
                      <a:srgbClr val="F4F2FA"/>
                    </a:solidFill>
                  </a:tcPr>
                </a:tc>
              </a:tr>
              <a:tr h="335280">
                <a:tc>
                  <a:txBody>
                    <a:bodyPr/>
                    <a:lstStyle/>
                    <a:p>
                      <a:r>
                        <a:rPr sz="1200" b="0" i="0">
                          <a:solidFill>
                            <a:srgbClr val="1A1440"/>
                          </a:solidFill>
                          <a:latin typeface="Calibri"/>
                        </a:rPr>
                        <a:t>Q2 orders, an export a week early</a:t>
                      </a:r>
                    </a:p>
                  </a:txBody>
                  <a:tcPr marL="101600" marR="101600" marT="38100" marB="38100" anchor="ctr">
                    <a:solidFill>
                      <a:srgbClr val="FFFFFF"/>
                    </a:solidFill>
                  </a:tcPr>
                </a:tc>
                <a:tc>
                  <a:txBody>
                    <a:bodyPr/>
                    <a:lstStyle/>
                    <a:p>
                      <a:r>
                        <a:rPr sz="1200" b="0" i="0">
                          <a:solidFill>
                            <a:srgbClr val="1A1440"/>
                          </a:solidFill>
                          <a:latin typeface="Calibri"/>
                        </a:rPr>
                        <a:t>430</a:t>
                      </a:r>
                    </a:p>
                  </a:txBody>
                  <a:tcPr marL="101600" marR="101600" marT="38100" marB="38100" anchor="ctr">
                    <a:solidFill>
                      <a:srgbClr val="FFFFFF"/>
                    </a:solidFill>
                  </a:tcPr>
                </a:tc>
                <a:tc>
                  <a:txBody>
                    <a:bodyPr/>
                    <a:lstStyle/>
                    <a:p>
                      <a:r>
                        <a:rPr sz="1200" b="0" i="0">
                          <a:solidFill>
                            <a:srgbClr val="1A1440"/>
                          </a:solidFill>
                          <a:latin typeface="Calibri"/>
                        </a:rPr>
                        <a:t>462</a:t>
                      </a:r>
                    </a:p>
                  </a:txBody>
                  <a:tcPr marL="101600" marR="101600" marT="38100" marB="38100" anchor="ctr">
                    <a:solidFill>
                      <a:srgbClr val="FFFFFF"/>
                    </a:solidFill>
                  </a:tcPr>
                </a:tc>
                <a:tc>
                  <a:txBody>
                    <a:bodyPr/>
                    <a:lstStyle/>
                    <a:p>
                      <a:r>
                        <a:rPr sz="1200" b="0" i="0">
                          <a:solidFill>
                            <a:srgbClr val="1A1440"/>
                          </a:solidFill>
                          <a:latin typeface="Calibri"/>
                        </a:rPr>
                        <a:t>hold</a:t>
                      </a:r>
                    </a:p>
                  </a:txBody>
                  <a:tcPr marL="101600" marR="101600" marT="38100" marB="38100" anchor="ctr">
                    <a:solidFill>
                      <a:srgbClr val="FFFFFF"/>
                    </a:solidFill>
                  </a:tcPr>
                </a:tc>
              </a:tr>
            </a:tbl>
          </a:graphicData>
        </a:graphic>
      </p:graphicFrame>
      <p:sp>
        <p:nvSpPr>
          <p:cNvPr id="10" name="TextBox 9"/>
          <p:cNvSpPr txBox="1"/>
          <p:nvPr/>
        </p:nvSpPr>
        <p:spPr>
          <a:xfrm>
            <a:off x="530352" y="355396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Booked less the orders with no payment in the warehouse, Rs 19,84,00,000 less Rs 17,54,930, gives the same collected figure without adding a single payment. The drift check compares the workbook's quarters, live on the Checks tab, with the warehouse's control totals, which travel on a small tab beside each export; the same export pulled a week early, Rs 9,20,15,460 for Q2, is held.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S70  ·  80 / 82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warehouse owns it; the workbook presents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each of the week's steps live, and how do the sheet and the warehouse stay in step?</a:t>
            </a:r>
          </a:p>
        </p:txBody>
      </p:sp>
      <p:graphicFrame>
        <p:nvGraphicFramePr>
          <p:cNvPr id="9" name="Table 8"/>
          <p:cNvGraphicFramePr>
            <a:graphicFrameLocks noGrp="1"/>
          </p:cNvGraphicFramePr>
          <p:nvPr/>
        </p:nvGraphicFramePr>
        <p:xfrm>
          <a:off x="530352" y="1794764"/>
          <a:ext cx="11130991" cy="2226056"/>
        </p:xfrm>
        <a:graphic>
          <a:graphicData uri="http://schemas.openxmlformats.org/drawingml/2006/table">
            <a:tbl>
              <a:tblPr firstRow="0" bandRow="0">
                <a:tableStyleId>{2D5ABB26-0587-4C30-8999-92F81FD0307C}</a:tableStyleId>
              </a:tblPr>
              <a:tblGrid>
                <a:gridCol w="3461655"/>
                <a:gridCol w="7669336"/>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Where could it live?</a:t>
                      </a:r>
                    </a:p>
                  </a:txBody>
                  <a:tcPr marL="101600" marR="101600" marT="38100" marB="38100" anchor="ctr">
                    <a:solidFill>
                      <a:srgbClr val="FFFFFF"/>
                    </a:solidFill>
                  </a:tcPr>
                </a:tc>
                <a:tc>
                  <a:txBody>
                    <a:bodyPr/>
                    <a:lstStyle/>
                    <a:p>
                      <a:r>
                        <a:rPr sz="1100" b="0" i="0">
                          <a:solidFill>
                            <a:srgbClr val="1A1440"/>
                          </a:solidFill>
                          <a:latin typeface="Calibri"/>
                        </a:rPr>
                        <a:t>b, the split</a:t>
                      </a:r>
                    </a:p>
                  </a:txBody>
                  <a:tcPr marL="101600" marR="101600" marT="38100" marB="38100" anchor="ctr">
                    <a:solidFill>
                      <a:srgbClr val="FFFFFF"/>
                    </a:solidFill>
                  </a:tcPr>
                </a:tc>
              </a:tr>
              <a:tr h="318008">
                <a:tc>
                  <a:txBody>
                    <a:bodyPr/>
                    <a:lstStyle/>
                    <a:p>
                      <a:r>
                        <a:rPr sz="1100" b="0" i="0">
                          <a:solidFill>
                            <a:srgbClr val="1A1440"/>
                          </a:solidFill>
                          <a:latin typeface="Calibri"/>
                        </a:rPr>
                        <a:t>What each touches?</a:t>
                      </a:r>
                    </a:p>
                  </a:txBody>
                  <a:tcPr marL="101600" marR="101600" marT="38100" marB="38100" anchor="ctr">
                    <a:solidFill>
                      <a:srgbClr val="F4F2FA"/>
                    </a:solidFill>
                  </a:tcPr>
                </a:tc>
                <a:tc>
                  <a:txBody>
                    <a:bodyPr/>
                    <a:lstStyle/>
                    <a:p>
                      <a:r>
                        <a:rPr sz="1100" b="0" i="0">
                          <a:solidFill>
                            <a:srgbClr val="1A1440"/>
                          </a:solidFill>
                          <a:latin typeface="Calibri"/>
                        </a:rPr>
                        <a:t>Tuesday's join: 1,000 orders, 1,428 payment rows</a:t>
                      </a:r>
                    </a:p>
                  </a:txBody>
                  <a:tcPr marL="101600" marR="101600" marT="38100" marB="38100" anchor="ctr">
                    <a:solidFill>
                      <a:srgbClr val="F4F2FA"/>
                    </a:solidFill>
                  </a:tcPr>
                </a:tc>
              </a:tr>
              <a:tr h="318008">
                <a:tc>
                  <a:txBody>
                    <a:bodyPr/>
                    <a:lstStyle/>
                    <a:p>
                      <a:r>
                        <a:rPr sz="1100" b="0" i="0">
                          <a:solidFill>
                            <a:srgbClr val="1A1440"/>
                          </a:solidFill>
                          <a:latin typeface="Calibri"/>
                        </a:rPr>
                        <a:t>A lookup joins?</a:t>
                      </a:r>
                    </a:p>
                  </a:txBody>
                  <a:tcPr marL="101600" marR="101600" marT="38100" marB="38100" anchor="ctr">
                    <a:solidFill>
                      <a:srgbClr val="FFFFFF"/>
                    </a:solidFill>
                  </a:tcPr>
                </a:tc>
                <a:tc>
                  <a:txBody>
                    <a:bodyPr/>
                    <a:lstStyle/>
                    <a:p>
                      <a:r>
                        <a:rPr sz="1100" b="0" i="0">
                          <a:solidFill>
                            <a:srgbClr val="1A1440"/>
                          </a:solidFill>
                          <a:latin typeface="Calibri"/>
                        </a:rPr>
                        <a:t>Rs 11.84 crore, "Rs 8.00 crore outstanding"</a:t>
                      </a:r>
                    </a:p>
                  </a:txBody>
                  <a:tcPr marL="101600" marR="101600" marT="38100" marB="38100" anchor="ctr">
                    <a:solidFill>
                      <a:srgbClr val="FFFFFF"/>
                    </a:solidFill>
                  </a:tcPr>
                </a:tc>
              </a:tr>
              <a:tr h="318008">
                <a:tc>
                  <a:txBody>
                    <a:bodyPr/>
                    <a:lstStyle/>
                    <a:p>
                      <a:r>
                        <a:rPr sz="1100" b="0" i="0">
                          <a:solidFill>
                            <a:srgbClr val="1A1440"/>
                          </a:solidFill>
                          <a:latin typeface="Calibri"/>
                        </a:rPr>
                        <a:t>Every payment once?</a:t>
                      </a:r>
                    </a:p>
                  </a:txBody>
                  <a:tcPr marL="101600" marR="101600" marT="38100" marB="38100" anchor="ctr">
                    <a:solidFill>
                      <a:srgbClr val="F4F2FA"/>
                    </a:solidFill>
                  </a:tcPr>
                </a:tc>
                <a:tc>
                  <a:txBody>
                    <a:bodyPr/>
                    <a:lstStyle/>
                    <a:p>
                      <a:r>
                        <a:rPr sz="1100" b="0" i="0">
                          <a:solidFill>
                            <a:srgbClr val="1A1440"/>
                          </a:solidFill>
                          <a:latin typeface="Calibri"/>
                        </a:rPr>
                        <a:t>Rs 19.66 crore; the gap is the unpaid list</a:t>
                      </a:r>
                    </a:p>
                  </a:txBody>
                  <a:tcPr marL="101600" marR="101600" marT="38100" marB="38100" anchor="ctr">
                    <a:solidFill>
                      <a:srgbClr val="F4F2FA"/>
                    </a:solidFill>
                  </a:tcPr>
                </a:tc>
              </a:tr>
              <a:tr h="318008">
                <a:tc>
                  <a:txBody>
                    <a:bodyPr/>
                    <a:lstStyle/>
                    <a:p>
                      <a:r>
                        <a:rPr sz="1100" b="0" i="0">
                          <a:solidFill>
                            <a:srgbClr val="1A1440"/>
                          </a:solidFill>
                          <a:latin typeface="Calibri"/>
                        </a:rPr>
                        <a:t>Where each belongs?</a:t>
                      </a:r>
                    </a:p>
                  </a:txBody>
                  <a:tcPr marL="101600" marR="101600" marT="38100" marB="38100" anchor="ctr">
                    <a:solidFill>
                      <a:srgbClr val="FFFFFF"/>
                    </a:solidFill>
                  </a:tcPr>
                </a:tc>
                <a:tc>
                  <a:txBody>
                    <a:bodyPr/>
                    <a:lstStyle/>
                    <a:p>
                      <a:r>
                        <a:rPr sz="1100" b="0" i="0">
                          <a:solidFill>
                            <a:srgbClr val="1A1440"/>
                          </a:solidFill>
                          <a:latin typeface="Calibri"/>
                        </a:rPr>
                        <a:t>Joins and ranks upstream; the last mile here</a:t>
                      </a:r>
                    </a:p>
                  </a:txBody>
                  <a:tcPr marL="101600" marR="101600" marT="38100" marB="38100" anchor="ctr">
                    <a:solidFill>
                      <a:srgbClr val="FFFFFF"/>
                    </a:solidFill>
                  </a:tcPr>
                </a:tc>
              </a:tr>
              <a:tr h="318008">
                <a:tc>
                  <a:txBody>
                    <a:bodyPr/>
                    <a:lstStyle/>
                    <a:p>
                      <a:r>
                        <a:rPr sz="1100" b="0" i="0">
                          <a:solidFill>
                            <a:srgbClr val="1A1440"/>
                          </a:solidFill>
                          <a:latin typeface="Calibri"/>
                        </a:rPr>
                        <a:t>How in step?</a:t>
                      </a:r>
                    </a:p>
                  </a:txBody>
                  <a:tcPr marL="101600" marR="101600" marT="38100" marB="38100" anchor="ctr">
                    <a:solidFill>
                      <a:srgbClr val="F4F2FA"/>
                    </a:solidFill>
                  </a:tcPr>
                </a:tc>
                <a:tc>
                  <a:txBody>
                    <a:bodyPr/>
                    <a:lstStyle/>
                    <a:p>
                      <a:r>
                        <a:rPr sz="1100" b="0" i="0">
                          <a:solidFill>
                            <a:srgbClr val="1A1440"/>
                          </a:solidFill>
                          <a:latin typeface="Calibri"/>
                        </a:rPr>
                        <a:t>A live drift check on control totals</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"Excel presents; it does not clean, join or compute the source of truth, because a sheet with a typed-over cell has no audit trail."</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[S] SQL, pandas or Excel: how do you choose?</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22" name="Oval 21"/>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24" name="Oval 23"/>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26" name="Oval 25"/>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28" name="Oval 27"/>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S71  ·  81 / 82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morning's answers, in one picture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can a director trust so far, and what is still open?</a:t>
            </a:r>
          </a:p>
        </p:txBody>
      </p:sp>
      <p:pic>
        <p:nvPicPr>
          <p:cNvPr id="9" name="mermaid diagram" descr="c0e3f4de27eea272.png"/>
          <p:cNvPicPr>
            <a:picLocks noChangeAspect="1"/>
          </p:cNvPicPr>
          <p:nvPr/>
        </p:nvPicPr>
        <p:blipFill>
          <a:blip r:embed="rId5"/>
          <a:stretch>
            <a:fillRect/>
          </a:stretch>
        </p:blipFill>
        <p:spPr>
          <a:xfrm>
            <a:off x="530352" y="1956816"/>
            <a:ext cx="11130991" cy="963141"/>
          </a:xfrm>
          <a:prstGeom prst="rect">
            <a:avLst/>
          </a:prstGeom>
        </p:spPr>
      </p:pic>
      <p:sp>
        <p:nvSpPr>
          <p:cNvPr id="10" name="TextBox 9"/>
          <p:cNvSpPr txBox="1"/>
          <p:nvPr/>
        </p:nvSpPr>
        <p:spPr>
          <a:xfrm>
            <a:off x="530352" y="3066261"/>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tree ties to the warehouse, the list and its lookup say what they hold, the card carries its period, comparison and base, and the rule says who owns each number. After lunch a director takes the laptop.</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segment carries it?</a:t>
            </a:r>
          </a:p>
        </p:txBody>
      </p:sp>
      <p:sp>
        <p:nvSpPr>
          <p:cNvPr id="13" name="Oval 12"/>
          <p:cNvSpPr/>
          <p:nvPr/>
        </p:nvSpPr>
        <p:spPr>
          <a:xfrm>
            <a:off x="215598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6571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Where did Q2 fall?</a:t>
            </a:r>
          </a:p>
        </p:txBody>
      </p:sp>
      <p:sp>
        <p:nvSpPr>
          <p:cNvPr id="15" name="Oval 14"/>
          <p:cNvSpPr/>
          <p:nvPr/>
        </p:nvSpPr>
        <p:spPr>
          <a:xfrm>
            <a:off x="345957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6930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Find any member by id?</a:t>
            </a:r>
          </a:p>
        </p:txBody>
      </p:sp>
      <p:sp>
        <p:nvSpPr>
          <p:cNvPr id="17" name="Oval 16"/>
          <p:cNvSpPr/>
          <p:nvPr/>
        </p:nvSpPr>
        <p:spPr>
          <a:xfrm>
            <a:off x="49471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6917"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Read right in two minutes?</a:t>
            </a:r>
          </a:p>
        </p:txBody>
      </p:sp>
      <p:sp>
        <p:nvSpPr>
          <p:cNvPr id="19" name="Oval 18"/>
          <p:cNvSpPr/>
          <p:nvPr/>
        </p:nvSpPr>
        <p:spPr>
          <a:xfrm>
            <a:off x="661882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8555"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must Excel never do?</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S72  ·  82 / 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