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tree, the list, the card and the rule. The afternoon hands the</a:t>
            </a:r>
          </a:p>
          <a:p>
            <a:r>
              <a:t>workbook to a director: chapter 6, then the escalated case alone, the debrief of the room's wrong</a:t>
            </a:r>
          </a:p>
          <a:p>
            <a:r>
              <a:t>numbers, the director's edit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C2_W02_D05_06_director_proof beside it; the reference workbook,</a:t>
            </a:r>
          </a:p>
          <a:p>
            <a:r>
              <a:t>demos/C2_W02_D05_deck_pack_STUDENT.xlsx, open in Excel.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in one line: the tree ties to the warehouse's Rs 10.00 crore and Rs 9.84</a:t>
            </a:r>
          </a:p>
          <a:p>
            <a:r>
              <a:t>crore, the list of fifty runs from Rs 25,840 to Rs 8,580 with a lookup that says when an id is missing,</a:t>
            </a:r>
          </a:p>
          <a:p>
            <a:r>
              <a:t>the card carries its period, comparison and base, and the warehouse owns every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head of Retail-Plus sizes each city's retention budget from the list. Nothing in</a:t>
            </a:r>
          </a:p>
          <a:p>
            <a:r>
              <a:t>Excel turns red when a filter changes what a number at the foot of a list means.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Computerworld, 14 October 2008, checked 30 September 2026. A law firm reformatting a</a:t>
            </a:r>
          </a:p>
          <a:p>
            <a:r>
              <a:t>spreadsheet into a PDF for the court's website exposed hidden rows. Rows a person could not see still</a:t>
            </a:r>
          </a:p>
          <a:p>
            <a:r>
              <a:t>counted.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five actions: filter, sort, type over a cell, change an assumption, paste in a new</a:t>
            </a:r>
          </a:p>
          <a:p>
            <a:r>
              <a:t>export. Protection and the PDF fail the brief, since nothing recalculates.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next two steps take the filter; step 5 takes the input; the second case after the</a:t>
            </a:r>
          </a:p>
          <a:p>
            <a:r>
              <a:t>break takes the typed-over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it live in the reference workbook's Protect tab after switching its foot to SUM</a:t>
            </a:r>
          </a:p>
          <a:p>
            <a:r>
              <a:t>(the tab ships with SUBTOTAL). Letters before you read the foot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foot aloud as if it were right, then ask how many members are on screen.</a:t>
            </a:r>
          </a:p>
          <a:p>
            <a:r>
              <a:t>Delhi carries Rs 2,21,150 on 16 members; Mumbai is the second-largest city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LibreOffice 24.2.7.2, SUM over three rows with one hidden by hand gave 60 and</a:t>
            </a:r>
          </a:p>
          <a:p>
            <a:r>
              <a:t>SUBTOTAL(109) gave 40: the same rule. The label beside the foot says which rows it adds.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does not depend on the filter, so it can disagree with the foot. Put</a:t>
            </a:r>
          </a:p>
          <a:p>
            <a:r>
              <a:t>it on the Checks tab as the foot's partner.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voucher is an assumption, so it gets a yellow cell, and the cost is a formula that</a:t>
            </a:r>
          </a:p>
          <a:p>
            <a:r>
              <a:t>reads it and the rows on screen.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Change B1 live. This is the chief of staff's condition met: the sheet recalculates and</a:t>
            </a:r>
          </a:p>
          <a:p>
            <a:r>
              <a:t>the source is untouched.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ISFORMULA "checks whether there is a reference to a cell that contains a formula, and</a:t>
            </a:r>
          </a:p>
          <a:p>
            <a:r>
              <a:t>returns TRUE or FALSE" (Microsoft Support, checked 30 September 2026).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shows the release deciding on invented inputs; the real Checks tab runs</a:t>
            </a:r>
          </a:p>
          <a:p>
            <a:r>
              <a:t>in the escalated case. The note that goes with a HOLD names what does not tie and asks for the export</a:t>
            </a:r>
          </a:p>
          <a:p>
            <a:r>
              <a:t>to be rerun.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adding hidden rows, SUM; SUBTOTAL(109) adds what is on</a:t>
            </a:r>
          </a:p>
          <a:p>
            <a:r>
              <a:t>screen, SUBTOTAL(103) counts it; Mumbai Rs 7,14,890 against Rs 1,56,790.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support TA answers environment problems only. The brief is</a:t>
            </a:r>
          </a:p>
          <a:p>
            <a:r>
              <a:t>exercises/unguided/C2_W02_D05_escalated_STUDENT.md; the notebook is</a:t>
            </a:r>
          </a:p>
          <a:p>
            <a:r>
              <a:t>notebooks/C2_W02_D05_ex1_escalated_case_STUDENT.ipynb. Solutions open at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brief aloud, point at the five parts and start the clock: 47 minutes of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leave on screen during the case. The reference workbook in demos/ has exactly this tab.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room's wrong numbers during the case and show the ones that actually</a:t>
            </a:r>
          </a:p>
          <a:p>
            <a:r>
              <a:t>appeared; the table on S18 is the list most rooms produce.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number a hurried sheet shows.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did chapter 3's your-turn step should know.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TRAINER: the day sheet has what the room found and the consequence to say aloud now,</a:t>
            </a:r>
          </a:p>
          <a:p>
            <a:r>
              <a:t>since the room has found it. BREAK,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plays the director, one defends the rule, then they swap. The brief is</a:t>
            </a:r>
          </a:p>
          <a:p>
            <a:r>
              <a:t>exercises/unguided/C2_W02_D05_director_edit_STUDENT.md; the notebook is</a:t>
            </a:r>
          </a:p>
          <a:p>
            <a:r>
              <a:t>notebooks/C2_W02_D05_ex2_second_case_STUDENT.ipynb.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 corrosive in</a:t>
            </a:r>
          </a:p>
          <a:p>
            <a:r>
              <a:t>a file. The pair's job: yes to the question, no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ex2, steps 1 to 4. The drift check that catches it is the sheet's Q2 total</a:t>
            </a:r>
          </a:p>
          <a:p>
            <a:r>
              <a:t>against the warehouse's; the typed-over check is ISFORMULA on the cell.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role play: 10 minutes each way, walking the room. Listen for anyone who says</a:t>
            </a:r>
          </a:p>
          <a:p>
            <a:r>
              <a:t>no to the question as well as to the edit.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27 minutes across the role play and the notebook: 20 for the two rounds, 7 for the notebook's</a:t>
            </a:r>
          </a:p>
          <a:p>
            <a:r>
              <a:t>five letters. Close with one pair's three lines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pairs: one asks, one answers in under a minute, then swap.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Tags: [S] staple, [F] frequent in GCC and product screens, [D] differentiator, the</a:t>
            </a:r>
          </a:p>
          <a:p>
            <a:r>
              <a:t>programme's own calibration for 0 to 3 year candidates. The design question is the export growing a</a:t>
            </a:r>
          </a:p>
          <a:p>
            <a:r>
              <a:t>hundredfold.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example aloud and ask one pair to redo their weakest answer in this shape.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(2), the six lines (2), the Kahoot (9), tomorrow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learners read their own sentences, with what their own Checks tab released; check</a:t>
            </a:r>
          </a:p>
          <a:p>
            <a:r>
              <a:t>each for the number, the period, the comparison, what is held and why. The day sheet has the release</a:t>
            </a:r>
          </a:p>
          <a:p>
            <a:r>
              <a:t>this room's workbook should give.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kahoot/C2_W02_D05_quiz_STUDENT.md. The return question is Thursday's merge one level</a:t>
            </a:r>
          </a:p>
          <a:p>
            <a:r>
              <a:t>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 Priya Menon, COO of Kalpa Health, brings Meera's question to a diagnostics business</a:t>
            </a:r>
          </a:p>
          <a:p>
            <a:r>
              <a:t>whose laboratories test US patients and bill US payers, run from Kalpa's GCC. Leave the last card's</a:t>
            </a:r>
          </a:p>
          <a:p>
            <a:r>
              <a:t>question open. The 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a director change it and still trust it?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“Everything you built this week has to survive a room that only has Excel. Which parts belong in Excel, which parts must never be in Excel, and how do you keep the two from drifting apart?”</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Can a director break it?</a:t>
            </a:r>
          </a:p>
        </p:txBody>
      </p:sp>
      <p:sp>
        <p:nvSpPr>
          <p:cNvPr id="13" name="TextBox 12"/>
          <p:cNvSpPr txBox="1"/>
          <p:nvPr/>
        </p:nvSpPr>
        <p:spPr>
          <a:xfrm>
            <a:off x="279120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Can you ship it alone?</a:t>
            </a:r>
          </a:p>
        </p:txBody>
      </p:sp>
      <p:sp>
        <p:nvSpPr>
          <p:cNvPr id="15" name="TextBox 14"/>
          <p:cNvSpPr txBox="1"/>
          <p:nvPr/>
        </p:nvSpPr>
        <p:spPr>
          <a:xfrm>
            <a:off x="48423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numbers were wrong?</a:t>
            </a:r>
          </a:p>
        </p:txBody>
      </p:sp>
      <p:sp>
        <p:nvSpPr>
          <p:cNvPr id="17" name="TextBox 16"/>
          <p:cNvSpPr txBox="1"/>
          <p:nvPr/>
        </p:nvSpPr>
        <p:spPr>
          <a:xfrm>
            <a:off x="7070883"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870448"/>
            <a:ext cx="1602486" cy="185166"/>
          </a:xfrm>
          <a:prstGeom prst="rect">
            <a:avLst/>
          </a:prstGeom>
          <a:noFill/>
        </p:spPr>
        <p:txBody>
          <a:bodyPr wrap="square" anchor="t" lIns="0" rIns="0" tIns="0" bIns="0">
            <a:spAutoFit/>
          </a:bodyPr>
          <a:lstStyle/>
          <a:p>
            <a:pPr algn="l"/>
            <a:r>
              <a:rPr sz="900" b="0" i="0">
                <a:solidFill>
                  <a:srgbClr val="FFFFFF"/>
                </a:solidFill>
                <a:latin typeface="Calibri"/>
              </a:rPr>
              <a:t>Where does five lakh go?</a:t>
            </a:r>
          </a:p>
        </p:txBody>
      </p:sp>
      <p:sp>
        <p:nvSpPr>
          <p:cNvPr id="19" name="TextBox 18"/>
          <p:cNvSpPr txBox="1"/>
          <p:nvPr/>
        </p:nvSpPr>
        <p:spPr>
          <a:xfrm>
            <a:off x="9240297"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624345"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a director break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a director takes the workbook in the room, what can they break, and which checks catch it before anyone reads a wrong number? The chief of staff's last condition rides on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room to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 hands the laptop across mid-meeting, and the head of Retail-Plus, who sizes each city's budget from the list; a total that keeps counting hidden rows sizes a budget on the whole list.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they do?</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things a director does to a sheet.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to protect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filtered total?</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the foot says.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Visible rows only?</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SUBTOTAL, and a second route.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An assumption?</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a what-if goes.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is released?</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Checks tab.</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9" name="Oval 4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51" name="Oval 5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director will filter, sort, type and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is in the room, and what does a silent change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LIST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7,14,890 together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CITIES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budget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ERRORS SHOWN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when a filter changes what a total means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a director changes an assumption in the room, the sheet must recalculate in front of them."</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4" name="Oval 3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Barclays bought 179 contracts hidden in a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paid for rows nobody could see?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179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CONTRACTS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Barclays asked the court to exclude them</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2008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YEAR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Lehman purchase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"Contracts that had been marked as 'hidden' in the spreadsheet when it was received by the law firm were added to the purchase offer during the reformatting process."</a:t>
            </a:r>
          </a:p>
          <a:p>
            <a:pPr>
              <a:spcBef>
                <a:spcPts val="400"/>
              </a:spcBef>
            </a:pPr>
            <a:r>
              <a:rPr sz="1000" b="0" i="0">
                <a:solidFill>
                  <a:srgbClr val="6B6690"/>
                </a:solidFill>
                <a:latin typeface="Calibri"/>
              </a:rPr>
              <a:t>Computerworld, 14 October 2008</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1" name="Oval 2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5" name="Oval 2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7" name="Oval 2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Yellow inputs, formulas, and a Checks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protect the workbook, and what does each way cost?</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3830839"/>
                <a:gridCol w="3830839"/>
                <a:gridCol w="346931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Director actions it allows, of 5</a:t>
                      </a:r>
                    </a:p>
                  </a:txBody>
                  <a:tcPr marL="101600" marR="101600" marT="38100" marB="38100" anchor="ctr">
                    <a:solidFill>
                      <a:srgbClr val="1A0F5C"/>
                    </a:solidFill>
                  </a:tcPr>
                </a:tc>
                <a:tc>
                  <a:txBody>
                    <a:bodyPr/>
                    <a:lstStyle/>
                    <a:p>
                      <a:r>
                        <a:rPr sz="1450" b="1" i="0">
                          <a:solidFill>
                            <a:srgbClr val="FFFFFF"/>
                          </a:solidFill>
                          <a:latin typeface="Calibri"/>
                        </a:rPr>
                        <a:t>A wrong number is caught by</a:t>
                      </a:r>
                    </a:p>
                  </a:txBody>
                  <a:tcPr marL="101600" marR="101600" marT="38100" marB="38100" anchor="ctr">
                    <a:solidFill>
                      <a:srgbClr val="1A0F5C"/>
                    </a:solidFill>
                  </a:tcPr>
                </a:tc>
              </a:tr>
              <a:tr h="611632">
                <a:tc>
                  <a:txBody>
                    <a:bodyPr/>
                    <a:lstStyle/>
                    <a:p>
                      <a:r>
                        <a:rPr sz="1400" b="0" i="0">
                          <a:solidFill>
                            <a:srgbClr val="1A1440"/>
                          </a:solidFill>
                          <a:latin typeface="Calibri"/>
                        </a:rPr>
                        <a:t>a) Protect every cell</a:t>
                      </a:r>
                    </a:p>
                  </a:txBody>
                  <a:tcPr marL="101600" marR="101600" marT="38100" marB="38100" anchor="ctr">
                    <a:solidFill>
                      <a:srgbClr val="FFFFFF"/>
                    </a:solidFill>
                  </a:tcPr>
                </a:tc>
                <a:tc>
                  <a:txBody>
                    <a:bodyPr/>
                    <a:lstStyle/>
                    <a:p>
                      <a:r>
                        <a:rPr sz="1400" b="0" i="0">
                          <a:solidFill>
                            <a:srgbClr val="1A1440"/>
                          </a:solidFill>
                          <a:latin typeface="Calibri"/>
                        </a:rPr>
                        <a:t>2: filter and sort, if protection allows</a:t>
                      </a:r>
                    </a:p>
                  </a:txBody>
                  <a:tcPr marL="101600" marR="101600" marT="38100" marB="38100" anchor="ctr">
                    <a:solidFill>
                      <a:srgbClr val="FFFFFF"/>
                    </a:solidFill>
                  </a:tcPr>
                </a:tc>
                <a:tc>
                  <a:txBody>
                    <a:bodyPr/>
                    <a:lstStyle/>
                    <a:p>
                      <a:r>
                        <a:rPr sz="1400" b="0" i="0">
                          <a:solidFill>
                            <a:srgbClr val="1A1440"/>
                          </a:solidFill>
                          <a:latin typeface="Calibri"/>
                        </a:rPr>
                        <a:t>nothing: no what-if can be asked</a:t>
                      </a:r>
                    </a:p>
                  </a:txBody>
                  <a:tcPr marL="101600" marR="101600" marT="38100" marB="38100" anchor="ctr">
                    <a:solidFill>
                      <a:srgbClr val="FFFFFF"/>
                    </a:solidFill>
                  </a:tcPr>
                </a:tc>
              </a:tr>
              <a:tr h="369824">
                <a:tc>
                  <a:txBody>
                    <a:bodyPr/>
                    <a:lstStyle/>
                    <a:p>
                      <a:r>
                        <a:rPr sz="1400" b="0" i="0">
                          <a:solidFill>
                            <a:srgbClr val="1A1440"/>
                          </a:solidFill>
                          <a:latin typeface="Calibri"/>
                        </a:rPr>
                        <a:t>b) Send a PDF</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nothing: nothing recalculates</a:t>
                      </a:r>
                    </a:p>
                  </a:txBody>
                  <a:tcPr marL="101600" marR="101600" marT="38100" marB="38100" anchor="ctr">
                    <a:solidFill>
                      <a:srgbClr val="F4F2FA"/>
                    </a:solidFill>
                  </a:tcPr>
                </a:tc>
              </a:tr>
              <a:tr h="611632">
                <a:tc>
                  <a:txBody>
                    <a:bodyPr/>
                    <a:lstStyle/>
                    <a:p>
                      <a:r>
                        <a:rPr sz="1400" b="0" i="0">
                          <a:solidFill>
                            <a:srgbClr val="1A1440"/>
                          </a:solidFill>
                          <a:latin typeface="Calibri"/>
                        </a:rPr>
                        <a:t>c) Yellow inputs, formulas, a Checks tab</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a red check and a release that holds</a:t>
                      </a:r>
                    </a:p>
                  </a:txBody>
                  <a:tcPr marL="101600" marR="101600" marT="38100" marB="38100" anchor="ctr">
                    <a:solidFill>
                      <a:srgbClr val="FFFFFF"/>
                    </a:solidFill>
                  </a:tcPr>
                </a:tc>
              </a:tr>
              <a:tr h="369824">
                <a:tc>
                  <a:txBody>
                    <a:bodyPr/>
                    <a:lstStyle/>
                    <a:p>
                      <a:r>
                        <a:rPr sz="1400" b="0" i="0">
                          <a:solidFill>
                            <a:srgbClr val="1A1440"/>
                          </a:solidFill>
                          <a:latin typeface="Calibri"/>
                        </a:rPr>
                        <a:t>d) A copy for each director</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nothing: the copies drift apart</a:t>
                      </a:r>
                    </a:p>
                  </a:txBody>
                  <a:tcPr marL="101600" marR="101600" marT="38100" marB="38100" anchor="ctr">
                    <a:solidFill>
                      <a:srgbClr val="F4F2FA"/>
                    </a:solidFill>
                  </a:tcPr>
                </a:tc>
              </a:tr>
            </a:tbl>
          </a:graphicData>
        </a:graphic>
      </p:graphicFrame>
      <p:sp>
        <p:nvSpPr>
          <p:cNvPr id="10" name="Rounded Rectangle 9"/>
          <p:cNvSpPr/>
          <p:nvPr/>
        </p:nvSpPr>
        <p:spPr>
          <a:xfrm>
            <a:off x="530352" y="45455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736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4456"/>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the only way that lets a director do all five and turns a wrong number red before it is read. What would switch it: a board pack nobody is meant to change goes as a PDF.</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change hides its effect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five things a director does, which change what a number means with nothing shown?</a:t>
            </a:r>
          </a:p>
        </p:txBody>
      </p:sp>
      <p:pic>
        <p:nvPicPr>
          <p:cNvPr id="9" name="mermaid diagram" descr="313f128d31774d0b.png"/>
          <p:cNvPicPr>
            <a:picLocks noChangeAspect="1"/>
          </p:cNvPicPr>
          <p:nvPr/>
        </p:nvPicPr>
        <p:blipFill>
          <a:blip r:embed="rId5"/>
          <a:stretch>
            <a:fillRect/>
          </a:stretch>
        </p:blipFill>
        <p:spPr>
          <a:xfrm>
            <a:off x="3645541" y="1956816"/>
            <a:ext cx="49006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changes a number's meaning with no error,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filtering and typing over are both silent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five do to the sheet?</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3170804"/>
                <a:gridCol w="6084244"/>
                <a:gridCol w="1875941"/>
              </a:tblGrid>
              <a:tr h="369824">
                <a:tc>
                  <a:txBody>
                    <a:bodyPr/>
                    <a:lstStyle/>
                    <a:p>
                      <a:r>
                        <a:rPr sz="1450" b="1" i="0">
                          <a:solidFill>
                            <a:srgbClr val="FFFFFF"/>
                          </a:solidFill>
                          <a:latin typeface="Calibri"/>
                        </a:rPr>
                        <a:t>What a director does</a:t>
                      </a:r>
                    </a:p>
                  </a:txBody>
                  <a:tcPr marL="101600" marR="101600" marT="38100" marB="38100" anchor="ctr">
                    <a:solidFill>
                      <a:srgbClr val="1A0F5C"/>
                    </a:solidFill>
                  </a:tcPr>
                </a:tc>
                <a:tc>
                  <a:txBody>
                    <a:bodyPr/>
                    <a:lstStyle/>
                    <a:p>
                      <a:r>
                        <a:rPr sz="1450" b="1" i="0">
                          <a:solidFill>
                            <a:srgbClr val="FFFFFF"/>
                          </a:solidFill>
                          <a:latin typeface="Calibri"/>
                        </a:rPr>
                        <a:t>What happens</a:t>
                      </a:r>
                    </a:p>
                  </a:txBody>
                  <a:tcPr marL="101600" marR="101600" marT="38100" marB="38100" anchor="ctr">
                    <a:solidFill>
                      <a:srgbClr val="1A0F5C"/>
                    </a:solidFill>
                  </a:tcPr>
                </a:tc>
                <a:tc>
                  <a:txBody>
                    <a:bodyPr/>
                    <a:lstStyle/>
                    <a:p>
                      <a:r>
                        <a:rPr sz="1450" b="1" i="0">
                          <a:solidFill>
                            <a:srgbClr val="FFFFFF"/>
                          </a:solidFill>
                          <a:latin typeface="Calibri"/>
                        </a:rPr>
                        <a:t>Error shown?</a:t>
                      </a:r>
                    </a:p>
                  </a:txBody>
                  <a:tcPr marL="101600" marR="101600" marT="38100" marB="38100" anchor="ctr">
                    <a:solidFill>
                      <a:srgbClr val="1A0F5C"/>
                    </a:solidFill>
                  </a:tcPr>
                </a:tc>
              </a:tr>
              <a:tr h="369824">
                <a:tc>
                  <a:txBody>
                    <a:bodyPr/>
                    <a:lstStyle/>
                    <a:p>
                      <a:r>
                        <a:rPr sz="1400" b="0" i="0">
                          <a:solidFill>
                            <a:srgbClr val="1A1440"/>
                          </a:solidFill>
                          <a:latin typeface="Calibri"/>
                        </a:rPr>
                        <a:t>Filters the list to a city</a:t>
                      </a:r>
                    </a:p>
                  </a:txBody>
                  <a:tcPr marL="101600" marR="101600" marT="38100" marB="38100" anchor="ctr">
                    <a:solidFill>
                      <a:srgbClr val="FFFFFF"/>
                    </a:solidFill>
                  </a:tcPr>
                </a:tc>
                <a:tc>
                  <a:txBody>
                    <a:bodyPr/>
                    <a:lstStyle/>
                    <a:p>
                      <a:r>
                        <a:rPr sz="1400" b="0" i="0">
                          <a:solidFill>
                            <a:srgbClr val="1A1440"/>
                          </a:solidFill>
                          <a:latin typeface="Calibri"/>
                        </a:rPr>
                        <a:t>the rows on screen change; a SUM below them does not</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Sorts one column on its own</a:t>
                      </a:r>
                    </a:p>
                  </a:txBody>
                  <a:tcPr marL="101600" marR="101600" marT="38100" marB="38100" anchor="ctr">
                    <a:solidFill>
                      <a:srgbClr val="F4F2FA"/>
                    </a:solidFill>
                  </a:tcPr>
                </a:tc>
                <a:tc>
                  <a:txBody>
                    <a:bodyPr/>
                    <a:lstStyle/>
                    <a:p>
                      <a:r>
                        <a:rPr sz="1400" b="0" i="0">
                          <a:solidFill>
                            <a:srgbClr val="1A1440"/>
                          </a:solidFill>
                          <a:latin typeface="Calibri"/>
                        </a:rPr>
                        <a:t>values separate from their ids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Types over a formula</a:t>
                      </a:r>
                    </a:p>
                  </a:txBody>
                  <a:tcPr marL="101600" marR="101600" marT="38100" marB="38100" anchor="ctr">
                    <a:solidFill>
                      <a:srgbClr val="FFFFFF"/>
                    </a:solidFill>
                  </a:tcPr>
                </a:tc>
                <a:tc>
                  <a:txBody>
                    <a:bodyPr/>
                    <a:lstStyle/>
                    <a:p>
                      <a:r>
                        <a:rPr sz="1400" b="0" i="0">
                          <a:solidFill>
                            <a:srgbClr val="1A1440"/>
                          </a:solidFill>
                          <a:latin typeface="Calibri"/>
                        </a:rPr>
                        <a:t>the cell stops following its source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Changes a yellow input</a:t>
                      </a:r>
                    </a:p>
                  </a:txBody>
                  <a:tcPr marL="101600" marR="101600" marT="38100" marB="38100" anchor="ctr">
                    <a:solidFill>
                      <a:srgbClr val="F4F2FA"/>
                    </a:solidFill>
                  </a:tcPr>
                </a:tc>
                <a:tc>
                  <a:txBody>
                    <a:bodyPr/>
                    <a:lstStyle/>
                    <a:p>
                      <a:r>
                        <a:rPr sz="1400" b="0" i="0">
                          <a:solidFill>
                            <a:srgbClr val="1A1440"/>
                          </a:solidFill>
                          <a:latin typeface="Calibri"/>
                        </a:rPr>
                        <a:t>every formula reading it recalculates</a:t>
                      </a:r>
                    </a:p>
                  </a:txBody>
                  <a:tcPr marL="101600" marR="101600" marT="38100" marB="38100" anchor="ctr">
                    <a:solidFill>
                      <a:srgbClr val="F4F2FA"/>
                    </a:solidFill>
                  </a:tcPr>
                </a:tc>
                <a:tc>
                  <a:txBody>
                    <a:bodyPr/>
                    <a:lstStyle/>
                    <a:p>
                      <a:r>
                        <a:rPr sz="1400" b="0" i="0">
                          <a:solidFill>
                            <a:srgbClr val="1A1440"/>
                          </a:solidFill>
                          <a:latin typeface="Calibri"/>
                        </a:rPr>
                        <a:t>honest</a:t>
                      </a:r>
                    </a:p>
                  </a:txBody>
                  <a:tcPr marL="101600" marR="101600" marT="38100" marB="38100" anchor="ctr">
                    <a:solidFill>
                      <a:srgbClr val="F4F2FA"/>
                    </a:solidFill>
                  </a:tcPr>
                </a:tc>
              </a:tr>
              <a:tr h="369824">
                <a:tc>
                  <a:txBody>
                    <a:bodyPr/>
                    <a:lstStyle/>
                    <a:p>
                      <a:r>
                        <a:rPr sz="1400" b="0" i="0">
                          <a:solidFill>
                            <a:srgbClr val="1A1440"/>
                          </a:solidFill>
                          <a:latin typeface="Calibri"/>
                        </a:rPr>
                        <a:t>Pastes a new export</a:t>
                      </a:r>
                    </a:p>
                  </a:txBody>
                  <a:tcPr marL="101600" marR="101600" marT="38100" marB="38100" anchor="ctr">
                    <a:solidFill>
                      <a:srgbClr val="FFFFFF"/>
                    </a:solidFill>
                  </a:tcPr>
                </a:tc>
                <a:tc>
                  <a:txBody>
                    <a:bodyPr/>
                    <a:lstStyle/>
                    <a:p>
                      <a:r>
                        <a:rPr sz="1400" b="0" i="0">
                          <a:solidFill>
                            <a:srgbClr val="1A1440"/>
                          </a:solidFill>
                          <a:latin typeface="Calibri"/>
                        </a:rPr>
                        <a:t>formulas read the new rows, if their ranges reach them</a:t>
                      </a:r>
                    </a:p>
                  </a:txBody>
                  <a:tcPr marL="101600" marR="101600" marT="38100" marB="38100" anchor="ctr">
                    <a:solidFill>
                      <a:srgbClr val="FFFFFF"/>
                    </a:solidFill>
                  </a:tcPr>
                </a:tc>
                <a:tc>
                  <a:txBody>
                    <a:bodyPr/>
                    <a:lstStyle/>
                    <a:p>
                      <a:r>
                        <a:rPr sz="1400" b="0" i="0">
                          <a:solidFill>
                            <a:srgbClr val="1A1440"/>
                          </a:solidFill>
                          <a:latin typeface="Calibri"/>
                        </a:rPr>
                        <a:t>the drift check</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A yellow input is the honest way to change a number, because every formula that reads it recalculates in front of the room.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foot say, filtered to Mumbai?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list's foot is =SUM(E2:E51); a director filters the city column to Mumbai. What does the foot read?</a:t>
            </a:r>
          </a:p>
        </p:txBody>
      </p:sp>
      <p:pic>
        <p:nvPicPr>
          <p:cNvPr id="9" name="mermaid diagram" descr="ce422415f54af223.png"/>
          <p:cNvPicPr>
            <a:picLocks noChangeAspect="1"/>
          </p:cNvPicPr>
          <p:nvPr/>
        </p:nvPicPr>
        <p:blipFill>
          <a:blip r:embed="rId5"/>
          <a:stretch>
            <a:fillRect/>
          </a:stretch>
        </p:blipFill>
        <p:spPr>
          <a:xfrm>
            <a:off x="3516953" y="1956816"/>
            <a:ext cx="515778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the foot read,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7,14,890, the whole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budget would it size?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FOOT, SUM</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fifty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1,56,790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ELEVEN ON SCREEN</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Mumbai's list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4.6 times</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OVERSTATEMENT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read as Mumbai's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What breaks:</a:t>
            </a:r>
            <a:r>
              <a:rPr sz="1600" b="0" i="0">
                <a:solidFill>
                  <a:srgbClr val="1A1440"/>
                </a:solidFill>
                <a:latin typeface="Calibri"/>
              </a:rPr>
              <a:t> the Mumbai store head is told the members on their list spent Rs 7.15 lakh, and a retention budget sized on it is 4.6 times too big. SUM adds every row in its range, hidden or not. </a:t>
            </a:r>
            <a:r>
              <a:rPr sz="1600" b="1" i="0">
                <a:solidFill>
                  <a:srgbClr val="1A1440"/>
                </a:solidFill>
                <a:latin typeface="Calibri"/>
              </a:rPr>
              <a:t>The check:</a:t>
            </a:r>
            <a:r>
              <a:rPr sz="1600" b="0" i="0">
                <a:solidFill>
                  <a:srgbClr val="1A1440"/>
                </a:solidFill>
                <a:latin typeface="Calibri"/>
              </a:rPr>
              <a:t> count the rows on screen beside the rows the total adds.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8" name="Oval 2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2" name="Oval 31"/>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SUBTOTAL(109) at the foot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SUBTOTAL(109) and SUBTOTAL(103) say, filtered or hidden by hand?</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50887"/>
                <a:gridCol w="3705946"/>
                <a:gridCol w="4074156"/>
              </a:tblGrid>
              <a:tr h="369824">
                <a:tc>
                  <a:txBody>
                    <a:bodyPr/>
                    <a:lstStyle/>
                    <a:p>
                      <a:r>
                        <a:rPr sz="1450" b="1" i="0">
                          <a:solidFill>
                            <a:srgbClr val="FFFFFF"/>
                          </a:solidFill>
                          <a:latin typeface="Calibri"/>
                        </a:rPr>
                        <a:t>The foot</a:t>
                      </a:r>
                    </a:p>
                  </a:txBody>
                  <a:tcPr marL="101600" marR="101600" marT="38100" marB="38100" anchor="ctr">
                    <a:solidFill>
                      <a:srgbClr val="1A0F5C"/>
                    </a:solidFill>
                  </a:tcPr>
                </a:tc>
                <a:tc>
                  <a:txBody>
                    <a:bodyPr/>
                    <a:lstStyle/>
                    <a:p>
                      <a:r>
                        <a:rPr sz="1450" b="1" i="0">
                          <a:solidFill>
                            <a:srgbClr val="FFFFFF"/>
                          </a:solidFill>
                          <a:latin typeface="Calibri"/>
                        </a:rPr>
                        <a:t>Filtered to Mumbai</a:t>
                      </a:r>
                    </a:p>
                  </a:txBody>
                  <a:tcPr marL="101600" marR="101600" marT="38100" marB="38100" anchor="ctr">
                    <a:solidFill>
                      <a:srgbClr val="1A0F5C"/>
                    </a:solidFill>
                  </a:tcPr>
                </a:tc>
                <a:tc>
                  <a:txBody>
                    <a:bodyPr/>
                    <a:lstStyle/>
                    <a:p>
                      <a:r>
                        <a:rPr sz="1450" b="1" i="0">
                          <a:solidFill>
                            <a:srgbClr val="FFFFFF"/>
                          </a:solidFill>
                          <a:latin typeface="Calibri"/>
                        </a:rPr>
                        <a:t>Delhi hidden by hand</a:t>
                      </a:r>
                    </a:p>
                  </a:txBody>
                  <a:tcPr marL="101600" marR="101600" marT="38100" marB="38100" anchor="ctr">
                    <a:solidFill>
                      <a:srgbClr val="1A0F5C"/>
                    </a:solidFill>
                  </a:tcPr>
                </a:tc>
              </a:tr>
              <a:tr h="369824">
                <a:tc>
                  <a:txBody>
                    <a:bodyPr/>
                    <a:lstStyle/>
                    <a:p>
                      <a:r>
                        <a:rPr sz="1400" b="0" i="0">
                          <a:solidFill>
                            <a:srgbClr val="1A1440"/>
                          </a:solidFill>
                          <a:latin typeface="Calibri"/>
                        </a:rPr>
                        <a:t>SUM</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r>
              <a:tr h="369824">
                <a:tc>
                  <a:txBody>
                    <a:bodyPr/>
                    <a:lstStyle/>
                    <a:p>
                      <a:r>
                        <a:rPr sz="1400" b="0" i="0">
                          <a:solidFill>
                            <a:srgbClr val="1A1440"/>
                          </a:solidFill>
                          <a:latin typeface="Calibri"/>
                        </a:rPr>
                        <a:t>SUBTOTAL(9, ...)</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c>
                  <a:txBody>
                    <a:bodyPr/>
                    <a:lstStyle/>
                    <a:p>
                      <a:r>
                        <a:rPr sz="1400" b="0" i="0">
                          <a:solidFill>
                            <a:srgbClr val="1A1440"/>
                          </a:solidFill>
                          <a:latin typeface="Calibri"/>
                        </a:rPr>
                        <a:t>Rs 7,14,890</a:t>
                      </a:r>
                    </a:p>
                  </a:txBody>
                  <a:tcPr marL="101600" marR="101600" marT="38100" marB="38100" anchor="ctr">
                    <a:solidFill>
                      <a:srgbClr val="F4F2FA"/>
                    </a:solidFill>
                  </a:tcPr>
                </a:tc>
              </a:tr>
              <a:tr h="369824">
                <a:tc>
                  <a:txBody>
                    <a:bodyPr/>
                    <a:lstStyle/>
                    <a:p>
                      <a:r>
                        <a:rPr sz="1400" b="0" i="0">
                          <a:solidFill>
                            <a:srgbClr val="1A1440"/>
                          </a:solidFill>
                          <a:latin typeface="Calibri"/>
                        </a:rPr>
                        <a:t>SUBTOTAL(109, ...)</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4,93,740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SUBTOTAL "ignores any rows that are not included in the result of a filter, no matter which function_num value you use", and 101 to 111 also ignore rows hidden by hand (Microsoft Support, SUBTOTAL, checked 30 September 2026). =SUBTOTAL(103, A2:A51) beside it counts 11 of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SUMIFS on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total that ignores the filter altogether agree with the foot?</a:t>
            </a:r>
          </a:p>
        </p:txBody>
      </p:sp>
      <p:pic>
        <p:nvPicPr>
          <p:cNvPr id="9" name="mermaid diagram" descr="959843e9f17d6a76.png"/>
          <p:cNvPicPr>
            <a:picLocks noChangeAspect="1"/>
          </p:cNvPicPr>
          <p:nvPr/>
        </p:nvPicPr>
        <p:blipFill>
          <a:blip r:embed="rId5"/>
          <a:stretch>
            <a:fillRect/>
          </a:stretch>
        </p:blipFill>
        <p:spPr>
          <a:xfrm>
            <a:off x="3759841" y="1956816"/>
            <a:ext cx="4672012" cy="2043112"/>
          </a:xfrm>
          <a:prstGeom prst="rect">
            <a:avLst/>
          </a:prstGeom>
        </p:spPr>
      </p:pic>
      <p:sp>
        <p:nvSpPr>
          <p:cNvPr id="10" name="TextBox 9"/>
          <p:cNvSpPr txBox="1"/>
          <p:nvPr/>
        </p:nvSpPr>
        <p:spPr>
          <a:xfrm>
            <a:off x="530352" y="41462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=SUMIFS(E2:E51, C2:C51, "Mumbai") reads the whole list and picks Mumbai by its city, whatever the screen shows. It gives Rs 1,56,790, the same as the visible foot.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a director's assumption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director asks what a Rs 500 voucher for every member on the list would cost; where does the Rs 500 go?</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=B1*SUBTOTAL(103, A2:A51)</a:t>
            </a:r>
          </a:p>
        </p:txBody>
      </p:sp>
      <p:sp>
        <p:nvSpPr>
          <p:cNvPr id="14" name="Rounded Rectangle 13"/>
          <p:cNvSpPr/>
          <p:nvPr/>
        </p:nvSpPr>
        <p:spPr>
          <a:xfrm>
            <a:off x="530352" y="28310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the list filtered to Mumbai and the voucher at Rs 500 in yellow cell B1, the cost reads: a) Rs 25,000; b) Rs 5,500; c) Rs 500; d) Rs 7,14,890.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3" name="Oval 2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5" name="Oval 2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7" name="Oval 26"/>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5,500, and it moves in front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director changes the input?</a:t>
            </a:r>
          </a:p>
        </p:txBody>
      </p:sp>
      <p:pic>
        <p:nvPicPr>
          <p:cNvPr id="9" name="mermaid diagram" descr="081f2d1971e1367d.png"/>
          <p:cNvPicPr>
            <a:picLocks noChangeAspect="1"/>
          </p:cNvPicPr>
          <p:nvPr/>
        </p:nvPicPr>
        <p:blipFill>
          <a:blip r:embed="rId5"/>
          <a:stretch>
            <a:fillRect/>
          </a:stretch>
        </p:blipFill>
        <p:spPr>
          <a:xfrm>
            <a:off x="1723872" y="1956816"/>
            <a:ext cx="8743950" cy="1543050"/>
          </a:xfrm>
          <a:prstGeom prst="rect">
            <a:avLst/>
          </a:prstGeom>
        </p:spPr>
      </p:pic>
      <p:sp>
        <p:nvSpPr>
          <p:cNvPr id="10" name="TextBox 9"/>
          <p:cNvSpPr txBox="1"/>
          <p:nvPr/>
        </p:nvSpPr>
        <p:spPr>
          <a:xfrm>
            <a:off x="530352" y="36461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500 times the eleven on screen; the whole list would cost Rs 25,000. The director types Rs 750 and the cost becomes Rs 8,250 in front of the room, while the list's figures never change: the assumption sits beside them, never over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Checks tab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checks each compare the sheet with something outside it; what does the release hold when one fails?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42597"/>
                <a:gridCol w="4644962"/>
                <a:gridCol w="3543431"/>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It compares</a:t>
                      </a:r>
                    </a:p>
                  </a:txBody>
                  <a:tcPr marL="101600" marR="101600" marT="38100" marB="38100" anchor="ctr">
                    <a:solidFill>
                      <a:srgbClr val="1A0F5C"/>
                    </a:solidFill>
                  </a:tcPr>
                </a:tc>
                <a:tc>
                  <a:txBody>
                    <a:bodyPr/>
                    <a:lstStyle/>
                    <a:p>
                      <a:r>
                        <a:rPr sz="1450" b="1" i="0">
                          <a:solidFill>
                            <a:srgbClr val="FFFFFF"/>
                          </a:solidFill>
                          <a:latin typeface="Calibri"/>
                        </a:rPr>
                        <a:t>It catches</a:t>
                      </a:r>
                    </a:p>
                  </a:txBody>
                  <a:tcPr marL="101600" marR="101600" marT="38100" marB="38100" anchor="ctr">
                    <a:solidFill>
                      <a:srgbClr val="1A0F5C"/>
                    </a:solidFill>
                  </a:tcPr>
                </a:tc>
              </a:tr>
              <a:tr h="369824">
                <a:tc>
                  <a:txBody>
                    <a:bodyPr/>
                    <a:lstStyle/>
                    <a:p>
                      <a:r>
                        <a:rPr sz="1400" b="0" i="0">
                          <a:solidFill>
                            <a:srgbClr val="1A1440"/>
                          </a:solidFill>
                          <a:latin typeface="Calibri"/>
                        </a:rPr>
                        <a:t>The tree ties</a:t>
                      </a:r>
                    </a:p>
                  </a:txBody>
                  <a:tcPr marL="101600" marR="101600" marT="38100" marB="38100" anchor="ctr">
                    <a:solidFill>
                      <a:srgbClr val="FFFFFF"/>
                    </a:solidFill>
                  </a:tcPr>
                </a:tc>
                <a:tc>
                  <a:txBody>
                    <a:bodyPr/>
                    <a:lstStyle/>
                    <a:p>
                      <a:r>
                        <a:rPr sz="1400" b="0" i="0">
                          <a:solidFill>
                            <a:srgbClr val="1A1440"/>
                          </a:solidFill>
                          <a:latin typeface="Calibri"/>
                        </a:rPr>
                        <a:t>the tree's quarters against the warehouse</a:t>
                      </a:r>
                    </a:p>
                  </a:txBody>
                  <a:tcPr marL="101600" marR="101600" marT="38100" marB="38100" anchor="ctr">
                    <a:solidFill>
                      <a:srgbClr val="FFFFFF"/>
                    </a:solidFill>
                  </a:tcPr>
                </a:tc>
                <a:tc>
                  <a:txBody>
                    <a:bodyPr/>
                    <a:lstStyle/>
                    <a:p>
                      <a:r>
                        <a:rPr sz="1400" b="0" i="0">
                          <a:solidFill>
                            <a:srgbClr val="1A1440"/>
                          </a:solidFill>
                          <a:latin typeface="Calibri"/>
                        </a:rPr>
                        <a:t>a pivot adding payment rows</a:t>
                      </a:r>
                    </a:p>
                  </a:txBody>
                  <a:tcPr marL="101600" marR="101600" marT="38100" marB="38100" anchor="ctr">
                    <a:solidFill>
                      <a:srgbClr val="FFFFFF"/>
                    </a:solidFill>
                  </a:tcPr>
                </a:tc>
              </a:tr>
              <a:tr h="369824">
                <a:tc>
                  <a:txBody>
                    <a:bodyPr/>
                    <a:lstStyle/>
                    <a:p>
                      <a:r>
                        <a:rPr sz="1400" b="0" i="0">
                          <a:solidFill>
                            <a:srgbClr val="1A1440"/>
                          </a:solidFill>
                          <a:latin typeface="Calibri"/>
                        </a:rPr>
                        <a:t>The list's source ties</a:t>
                      </a:r>
                    </a:p>
                  </a:txBody>
                  <a:tcPr marL="101600" marR="101600" marT="38100" marB="38100" anchor="ctr">
                    <a:solidFill>
                      <a:srgbClr val="F4F2FA"/>
                    </a:solidFill>
                  </a:tcPr>
                </a:tc>
                <a:tc>
                  <a:txBody>
                    <a:bodyPr/>
                    <a:lstStyle/>
                    <a:p>
                      <a:r>
                        <a:rPr sz="1400" b="0" i="0">
                          <a:solidFill>
                            <a:srgbClr val="1A1440"/>
                          </a:solidFill>
                          <a:latin typeface="Calibri"/>
                        </a:rPr>
                        <a:t>the customer table against the warehouse</a:t>
                      </a:r>
                    </a:p>
                  </a:txBody>
                  <a:tcPr marL="101600" marR="101600" marT="38100" marB="38100" anchor="ctr">
                    <a:solidFill>
                      <a:srgbClr val="F4F2FA"/>
                    </a:solidFill>
                  </a:tcPr>
                </a:tc>
                <a:tc>
                  <a:txBody>
                    <a:bodyPr/>
                    <a:lstStyle/>
                    <a:p>
                      <a:r>
                        <a:rPr sz="1400" b="0" i="0">
                          <a:solidFill>
                            <a:srgbClr val="1A1440"/>
                          </a:solidFill>
                          <a:latin typeface="Calibri"/>
                        </a:rPr>
                        <a:t>a list on an export that is short</a:t>
                      </a:r>
                    </a:p>
                  </a:txBody>
                  <a:tcPr marL="101600" marR="101600" marT="38100" marB="38100" anchor="ctr">
                    <a:solidFill>
                      <a:srgbClr val="F4F2FA"/>
                    </a:solidFill>
                  </a:tcPr>
                </a:tc>
              </a:tr>
              <a:tr h="369824">
                <a:tc>
                  <a:txBody>
                    <a:bodyPr/>
                    <a:lstStyle/>
                    <a:p>
                      <a:r>
                        <a:rPr sz="1400" b="0" i="0">
                          <a:solidFill>
                            <a:srgbClr val="1A1440"/>
                          </a:solidFill>
                          <a:latin typeface="Calibri"/>
                        </a:rPr>
                        <a:t>The lookup is honest</a:t>
                      </a:r>
                    </a:p>
                  </a:txBody>
                  <a:tcPr marL="101600" marR="101600" marT="38100" marB="38100" anchor="ctr">
                    <a:solidFill>
                      <a:srgbClr val="FFFFFF"/>
                    </a:solidFill>
                  </a:tcPr>
                </a:tc>
                <a:tc>
                  <a:txBody>
                    <a:bodyPr/>
                    <a:lstStyle/>
                    <a:p>
                      <a:r>
                        <a:rPr sz="1400" b="0" i="0">
                          <a:solidFill>
                            <a:srgbClr val="1A1440"/>
                          </a:solidFill>
                          <a:latin typeface="Calibri"/>
                        </a:rPr>
                        <a:t>the answer for an id known to be missing</a:t>
                      </a:r>
                    </a:p>
                  </a:txBody>
                  <a:tcPr marL="101600" marR="101600" marT="38100" marB="38100" anchor="ctr">
                    <a:solidFill>
                      <a:srgbClr val="FFFFFF"/>
                    </a:solidFill>
                  </a:tcPr>
                </a:tc>
                <a:tc>
                  <a:txBody>
                    <a:bodyPr/>
                    <a:lstStyle/>
                    <a:p>
                      <a:r>
                        <a:rPr sz="1400" b="0" i="0">
                          <a:solidFill>
                            <a:srgbClr val="1A1440"/>
                          </a:solidFill>
                          <a:latin typeface="Calibri"/>
                        </a:rPr>
                        <a:t>an approximate match</a:t>
                      </a:r>
                    </a:p>
                  </a:txBody>
                  <a:tcPr marL="101600" marR="101600" marT="38100" marB="38100" anchor="ctr">
                    <a:solidFill>
                      <a:srgbClr val="FFFFFF"/>
                    </a:solidFill>
                  </a:tcPr>
                </a:tc>
              </a:tr>
              <a:tr h="369824">
                <a:tc>
                  <a:txBody>
                    <a:bodyPr/>
                    <a:lstStyle/>
                    <a:p>
                      <a:r>
                        <a:rPr sz="1400" b="0" i="0">
                          <a:solidFill>
                            <a:srgbClr val="1A1440"/>
                          </a:solidFill>
                          <a:latin typeface="Calibri"/>
                        </a:rPr>
                        <a:t>The foot follows the filter</a:t>
                      </a:r>
                    </a:p>
                  </a:txBody>
                  <a:tcPr marL="101600" marR="101600" marT="38100" marB="38100" anchor="ctr">
                    <a:solidFill>
                      <a:srgbClr val="F4F2FA"/>
                    </a:solidFill>
                  </a:tcPr>
                </a:tc>
                <a:tc>
                  <a:txBody>
                    <a:bodyPr/>
                    <a:lstStyle/>
                    <a:p>
                      <a:r>
                        <a:rPr sz="1400" b="0" i="0">
                          <a:solidFill>
                            <a:srgbClr val="1A1440"/>
                          </a:solidFill>
                          <a:latin typeface="Calibri"/>
                        </a:rPr>
                        <a:t>SUBTOTAL(103) against the rows the foot adds</a:t>
                      </a:r>
                    </a:p>
                  </a:txBody>
                  <a:tcPr marL="101600" marR="101600" marT="38100" marB="38100" anchor="ctr">
                    <a:solidFill>
                      <a:srgbClr val="F4F2FA"/>
                    </a:solidFill>
                  </a:tcPr>
                </a:tc>
                <a:tc>
                  <a:txBody>
                    <a:bodyPr/>
                    <a:lstStyle/>
                    <a:p>
                      <a:r>
                        <a:rPr sz="1400" b="0" i="0">
                          <a:solidFill>
                            <a:srgbClr val="1A1440"/>
                          </a:solidFill>
                          <a:latin typeface="Calibri"/>
                        </a:rPr>
                        <a:t>SUM under a filter</a:t>
                      </a:r>
                    </a:p>
                  </a:txBody>
                  <a:tcPr marL="101600" marR="101600" marT="38100" marB="38100" anchor="ctr">
                    <a:solidFill>
                      <a:srgbClr val="F4F2FA"/>
                    </a:solidFill>
                  </a:tcPr>
                </a:tc>
              </a:tr>
              <a:tr h="369824">
                <a:tc>
                  <a:txBody>
                    <a:bodyPr/>
                    <a:lstStyle/>
                    <a:p>
                      <a:r>
                        <a:rPr sz="1400" b="0" i="0">
                          <a:solidFill>
                            <a:srgbClr val="1A1440"/>
                          </a:solidFill>
                          <a:latin typeface="Calibri"/>
                        </a:rPr>
                        <a:t>No typed-over formula</a:t>
                      </a:r>
                    </a:p>
                  </a:txBody>
                  <a:tcPr marL="101600" marR="101600" marT="38100" marB="38100" anchor="ctr">
                    <a:solidFill>
                      <a:srgbClr val="FFFFFF"/>
                    </a:solidFill>
                  </a:tcPr>
                </a:tc>
                <a:tc>
                  <a:txBody>
                    <a:bodyPr/>
                    <a:lstStyle/>
                    <a:p>
                      <a:r>
                        <a:rPr sz="1400" b="0" i="0">
                          <a:solidFill>
                            <a:srgbClr val="1A1440"/>
                          </a:solidFill>
                          <a:latin typeface="Calibri"/>
                        </a:rPr>
                        <a:t>ISFORMULA outside the yellow inputs</a:t>
                      </a:r>
                    </a:p>
                  </a:txBody>
                  <a:tcPr marL="101600" marR="101600" marT="38100" marB="38100" anchor="ctr">
                    <a:solidFill>
                      <a:srgbClr val="FFFFFF"/>
                    </a:solidFill>
                  </a:tcPr>
                </a:tc>
                <a:tc>
                  <a:txBody>
                    <a:bodyPr/>
                    <a:lstStyle/>
                    <a:p>
                      <a:r>
                        <a:rPr sz="1400" b="0" i="0">
                          <a:solidFill>
                            <a:srgbClr val="1A1440"/>
                          </a:solidFill>
                          <a:latin typeface="Calibri"/>
                        </a:rPr>
                        <a:t>a figure typed over a formula</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Four checks pass and the list's source does not tie. The release: a) ships everything; b) holds the list, ships the rest; c) holds everything; d) cannot decide.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hold what fails, ship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failing check hold, and why is a typed-over figure different?</a:t>
            </a:r>
          </a:p>
        </p:txBody>
      </p:sp>
      <p:pic>
        <p:nvPicPr>
          <p:cNvPr id="9" name="mermaid diagram" descr="5bdf619cf4d5298f.png"/>
          <p:cNvPicPr>
            <a:picLocks noChangeAspect="1"/>
          </p:cNvPicPr>
          <p:nvPr/>
        </p:nvPicPr>
        <p:blipFill>
          <a:blip r:embed="rId5"/>
          <a:stretch>
            <a:fillRect/>
          </a:stretch>
        </p:blipFill>
        <p:spPr>
          <a:xfrm>
            <a:off x="1588141" y="1956816"/>
            <a:ext cx="901541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"Hold the protect list; ship the rest." A figure typed over a formula holds the whole workbook, since nobody can say which other numbers it moved. A formula recalculating is never the same as the number being right, so the release reads the checks and nothing else.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sheet a director can change and cannot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question by question?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3038060"/>
                <a:gridCol w="8092931"/>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will they do?</a:t>
                      </a:r>
                    </a:p>
                  </a:txBody>
                  <a:tcPr marL="101600" marR="101600" marT="38100" marB="38100" anchor="ctr">
                    <a:solidFill>
                      <a:srgbClr val="FFFFFF"/>
                    </a:solidFill>
                  </a:tcPr>
                </a:tc>
                <a:tc>
                  <a:txBody>
                    <a:bodyPr/>
                    <a:lstStyle/>
                    <a:p>
                      <a:r>
                        <a:rPr sz="1100" b="0" i="0">
                          <a:solidFill>
                            <a:srgbClr val="1A1440"/>
                          </a:solidFill>
                          <a:latin typeface="Calibri"/>
                        </a:rPr>
                        <a:t>Filter, sort, type over, change inputs, paste exports</a:t>
                      </a:r>
                    </a:p>
                  </a:txBody>
                  <a:tcPr marL="101600" marR="101600" marT="38100" marB="38100" anchor="ctr">
                    <a:solidFill>
                      <a:srgbClr val="FFFFFF"/>
                    </a:solidFill>
                  </a:tcPr>
                </a:tc>
              </a:tr>
              <a:tr h="318008">
                <a:tc>
                  <a:txBody>
                    <a:bodyPr/>
                    <a:lstStyle/>
                    <a:p>
                      <a:r>
                        <a:rPr sz="1100" b="0" i="0">
                          <a:solidFill>
                            <a:srgbClr val="1A1440"/>
                          </a:solidFill>
                          <a:latin typeface="Calibri"/>
                        </a:rPr>
                        <a:t>How to protect it?</a:t>
                      </a:r>
                    </a:p>
                  </a:txBody>
                  <a:tcPr marL="101600" marR="101600" marT="38100" marB="38100" anchor="ctr">
                    <a:solidFill>
                      <a:srgbClr val="F4F2FA"/>
                    </a:solidFill>
                  </a:tcPr>
                </a:tc>
                <a:tc>
                  <a:txBody>
                    <a:bodyPr/>
                    <a:lstStyle/>
                    <a:p>
                      <a:r>
                        <a:rPr sz="1100" b="0" i="0">
                          <a:solidFill>
                            <a:srgbClr val="1A1440"/>
                          </a:solidFill>
                          <a:latin typeface="Calibri"/>
                        </a:rPr>
                        <a:t>c: yellow inputs, formulas, a Checks tab</a:t>
                      </a:r>
                    </a:p>
                  </a:txBody>
                  <a:tcPr marL="101600" marR="101600" marT="38100" marB="38100" anchor="ctr">
                    <a:solidFill>
                      <a:srgbClr val="F4F2FA"/>
                    </a:solidFill>
                  </a:tcPr>
                </a:tc>
              </a:tr>
              <a:tr h="318008">
                <a:tc>
                  <a:txBody>
                    <a:bodyPr/>
                    <a:lstStyle/>
                    <a:p>
                      <a:r>
                        <a:rPr sz="1100" b="0" i="0">
                          <a:solidFill>
                            <a:srgbClr val="1A1440"/>
                          </a:solidFill>
                          <a:latin typeface="Calibri"/>
                        </a:rPr>
                        <a:t>A filtered total?</a:t>
                      </a:r>
                    </a:p>
                  </a:txBody>
                  <a:tcPr marL="101600" marR="101600" marT="38100" marB="38100" anchor="ctr">
                    <a:solidFill>
                      <a:srgbClr val="FFFFFF"/>
                    </a:solidFill>
                  </a:tcPr>
                </a:tc>
                <a:tc>
                  <a:txBody>
                    <a:bodyPr/>
                    <a:lstStyle/>
                    <a:p>
                      <a:r>
                        <a:rPr sz="1100" b="0" i="0">
                          <a:solidFill>
                            <a:srgbClr val="1A1440"/>
                          </a:solidFill>
                          <a:latin typeface="Calibri"/>
                        </a:rPr>
                        <a:t>SUM still reads Rs 7,14,890</a:t>
                      </a:r>
                    </a:p>
                  </a:txBody>
                  <a:tcPr marL="101600" marR="101600" marT="38100" marB="38100" anchor="ctr">
                    <a:solidFill>
                      <a:srgbClr val="FFFFFF"/>
                    </a:solidFill>
                  </a:tcPr>
                </a:tc>
              </a:tr>
              <a:tr h="318008">
                <a:tc>
                  <a:txBody>
                    <a:bodyPr/>
                    <a:lstStyle/>
                    <a:p>
                      <a:r>
                        <a:rPr sz="1100" b="0" i="0">
                          <a:solidFill>
                            <a:srgbClr val="1A1440"/>
                          </a:solidFill>
                          <a:latin typeface="Calibri"/>
                        </a:rPr>
                        <a:t>Visible rows only?</a:t>
                      </a:r>
                    </a:p>
                  </a:txBody>
                  <a:tcPr marL="101600" marR="101600" marT="38100" marB="38100" anchor="ctr">
                    <a:solidFill>
                      <a:srgbClr val="F4F2FA"/>
                    </a:solidFill>
                  </a:tcPr>
                </a:tc>
                <a:tc>
                  <a:txBody>
                    <a:bodyPr/>
                    <a:lstStyle/>
                    <a:p>
                      <a:r>
                        <a:rPr sz="1100" b="0" i="0">
                          <a:solidFill>
                            <a:srgbClr val="1A1440"/>
                          </a:solidFill>
                          <a:latin typeface="Calibri"/>
                        </a:rPr>
                        <a:t>SUBTOTAL(109) Rs 1,56,790; SUMIFS agrees</a:t>
                      </a:r>
                    </a:p>
                  </a:txBody>
                  <a:tcPr marL="101600" marR="101600" marT="38100" marB="38100" anchor="ctr">
                    <a:solidFill>
                      <a:srgbClr val="F4F2FA"/>
                    </a:solidFill>
                  </a:tcPr>
                </a:tc>
              </a:tr>
              <a:tr h="318008">
                <a:tc>
                  <a:txBody>
                    <a:bodyPr/>
                    <a:lstStyle/>
                    <a:p>
                      <a:r>
                        <a:rPr sz="1100" b="0" i="0">
                          <a:solidFill>
                            <a:srgbClr val="1A1440"/>
                          </a:solidFill>
                          <a:latin typeface="Calibri"/>
                        </a:rPr>
                        <a:t>An assumption?</a:t>
                      </a:r>
                    </a:p>
                  </a:txBody>
                  <a:tcPr marL="101600" marR="101600" marT="38100" marB="38100" anchor="ctr">
                    <a:solidFill>
                      <a:srgbClr val="FFFFFF"/>
                    </a:solidFill>
                  </a:tcPr>
                </a:tc>
                <a:tc>
                  <a:txBody>
                    <a:bodyPr/>
                    <a:lstStyle/>
                    <a:p>
                      <a:r>
                        <a:rPr sz="1100" b="0" i="0">
                          <a:solidFill>
                            <a:srgbClr val="1A1440"/>
                          </a:solidFill>
                          <a:latin typeface="Calibri"/>
                        </a:rPr>
                        <a:t>A yellow input: Rs 500 costs Rs 5,500 for Mumbai</a:t>
                      </a:r>
                    </a:p>
                  </a:txBody>
                  <a:tcPr marL="101600" marR="101600" marT="38100" marB="38100" anchor="ctr">
                    <a:solidFill>
                      <a:srgbClr val="FFFFFF"/>
                    </a:solidFill>
                  </a:tcPr>
                </a:tc>
              </a:tr>
              <a:tr h="318008">
                <a:tc>
                  <a:txBody>
                    <a:bodyPr/>
                    <a:lstStyle/>
                    <a:p>
                      <a:r>
                        <a:rPr sz="1100" b="0" i="0">
                          <a:solidFill>
                            <a:srgbClr val="1A1440"/>
                          </a:solidFill>
                          <a:latin typeface="Calibri"/>
                        </a:rPr>
                        <a:t>What is released?</a:t>
                      </a:r>
                    </a:p>
                  </a:txBody>
                  <a:tcPr marL="101600" marR="101600" marT="38100" marB="38100" anchor="ctr">
                    <a:solidFill>
                      <a:srgbClr val="F4F2FA"/>
                    </a:solidFill>
                  </a:tcPr>
                </a:tc>
                <a:tc>
                  <a:txBody>
                    <a:bodyPr/>
                    <a:lstStyle/>
                    <a:p>
                      <a:r>
                        <a:rPr sz="1100" b="0" i="0">
                          <a:solidFill>
                            <a:srgbClr val="1A1440"/>
                          </a:solidFill>
                          <a:latin typeface="Calibri"/>
                        </a:rPr>
                        <a:t>Hold what fails, ship the rest</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director who filters, sorts or asks a what-if should see a number move, and never a number lie."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 filter a list and its total does not move; what is the foot doing?</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ship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three deliverables and the Checks tab from the two exports, alone? The chief of staff opens it on Monday.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chief of staff want, and how long does each part take?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Does the tree for both quarters tie to the warehouse?</a:t>
                      </a:r>
                    </a:p>
                  </a:txBody>
                  <a:tcPr marL="101600" marR="101600" marT="38100" marB="38100" anchor="ctr">
                    <a:solidFill>
                      <a:srgbClr val="FFFFFF"/>
                    </a:solidFill>
                  </a:tcPr>
                </a:tc>
                <a:tc>
                  <a:txBody>
                    <a:bodyPr/>
                    <a:lstStyle/>
                    <a:p>
                      <a:r>
                        <a:rPr sz="1400" b="0" i="0">
                          <a:solidFill>
                            <a:srgbClr val="1A1440"/>
                          </a:solidFill>
                          <a:latin typeface="Calibri"/>
                        </a:rPr>
                        <a:t>12</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Does the list hold the right fifty, and does the lookup say when an id is missing?</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Does the card carry its period, comparison and base, for any scope?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is held?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Do the numbers agree a second way?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the file pass before it goes to Monday?</a:t>
            </a:r>
          </a:p>
        </p:txBody>
      </p:sp>
      <p:sp>
        <p:nvSpPr>
          <p:cNvPr id="10" name="Rounded Rectangle 9"/>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ties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Its two quarters sum to the warehouse's Rs 10,00,00,000 and Rs 9,84,00,000.</a:t>
            </a:r>
          </a:p>
        </p:txBody>
      </p:sp>
      <p:sp>
        <p:nvSpPr>
          <p:cNvPr id="16" name="Rounded Rectangle 15"/>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source ties</a:t>
            </a:r>
          </a:p>
        </p:txBody>
      </p:sp>
      <p:sp>
        <p:nvSpPr>
          <p:cNvPr id="21" name="TextBox 20"/>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customer table's orders and revenue tie to the warehouse.</a:t>
            </a:r>
          </a:p>
        </p:txBody>
      </p:sp>
      <p:sp>
        <p:nvSpPr>
          <p:cNvPr id="22" name="Rounded Rectangle 21"/>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lookup is honest</a:t>
            </a:r>
          </a:p>
        </p:txBody>
      </p:sp>
      <p:sp>
        <p:nvSpPr>
          <p:cNvPr id="27" name="TextBox 26"/>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says when an id is missing.</a:t>
            </a:r>
          </a:p>
        </p:txBody>
      </p:sp>
      <p:sp>
        <p:nvSpPr>
          <p:cNvPr id="28" name="Rounded Rectangle 27"/>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release says it</a:t>
            </a:r>
          </a:p>
        </p:txBody>
      </p:sp>
      <p:sp>
        <p:nvSpPr>
          <p:cNvPr id="33" name="TextBox 32"/>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What ships, what is held, and why.</a:t>
            </a:r>
          </a:p>
        </p:txBody>
      </p:sp>
      <p:sp>
        <p:nvSpPr>
          <p:cNvPr id="34" name="Rounded Rectangle 33"/>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earch-check_6571e64a041f.png"/>
          <p:cNvPicPr>
            <a:picLocks noChangeAspect="1"/>
          </p:cNvPicPr>
          <p:nvPr/>
        </p:nvPicPr>
        <p:blipFill>
          <a:blip r:embed="rId6"/>
          <a:stretch>
            <a:fillRect/>
          </a:stretch>
        </p:blipFill>
        <p:spPr>
          <a:xfrm>
            <a:off x="868680" y="4606544"/>
            <a:ext cx="237744" cy="237744"/>
          </a:xfrm>
          <a:prstGeom prst="rect">
            <a:avLst/>
          </a:prstGeom>
        </p:spPr>
      </p:pic>
      <p:sp>
        <p:nvSpPr>
          <p:cNvPr id="37" name="TextBox 36"/>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8" name="TextBox 37"/>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with its reason, never shipped with a footnote.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47" name="Oval 4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9" name="Oval 4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were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this room produce, in the order the day produced them? Every one was plausible.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plausible numbers, none raised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numbers appeared, and what would each have done?</a:t>
            </a:r>
          </a:p>
        </p:txBody>
      </p:sp>
      <p:graphicFrame>
        <p:nvGraphicFramePr>
          <p:cNvPr id="9" name="Table 8"/>
          <p:cNvGraphicFramePr>
            <a:graphicFrameLocks noGrp="1"/>
          </p:cNvGraphicFramePr>
          <p:nvPr/>
        </p:nvGraphicFramePr>
        <p:xfrm>
          <a:off x="530352" y="1956816"/>
          <a:ext cx="11130990" cy="2958592"/>
        </p:xfrm>
        <a:graphic>
          <a:graphicData uri="http://schemas.openxmlformats.org/drawingml/2006/table">
            <a:tbl>
              <a:tblPr firstRow="0" bandRow="0">
                <a:tableStyleId>{2D5ABB26-0587-4C30-8999-92F81FD0307C}</a:tableStyleId>
              </a:tblPr>
              <a:tblGrid>
                <a:gridCol w="2938593"/>
                <a:gridCol w="3517396"/>
                <a:gridCol w="467500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11,66,786 an order</a:t>
                      </a:r>
                    </a:p>
                  </a:txBody>
                  <a:tcPr marL="101600" marR="101600" marT="38100" marB="38100" anchor="ctr">
                    <a:solidFill>
                      <a:srgbClr val="FFFFFF"/>
                    </a:solidFill>
                  </a:tcPr>
                </a:tc>
                <a:tc>
                  <a:txBody>
                    <a:bodyPr/>
                    <a:lstStyle/>
                    <a:p>
                      <a:r>
                        <a:rPr sz="1400" b="0" i="0">
                          <a:solidFill>
                            <a:srgbClr val="1A1440"/>
                          </a:solidFill>
                          <a:latin typeface="Calibri"/>
                        </a:rPr>
                        <a:t>a leaf averaged per customer</a:t>
                      </a:r>
                    </a:p>
                  </a:txBody>
                  <a:tcPr marL="101600" marR="101600" marT="38100" marB="38100" anchor="ctr">
                    <a:solidFill>
                      <a:srgbClr val="FFFFFF"/>
                    </a:solidFill>
                  </a:tcPr>
                </a:tc>
                <a:tc>
                  <a:txBody>
                    <a:bodyPr/>
                    <a:lstStyle/>
                    <a:p>
                      <a:r>
                        <a:rPr sz="1400" b="0" i="0">
                          <a:solidFill>
                            <a:srgbClr val="1A1440"/>
                          </a:solidFill>
                          <a:latin typeface="Calibri"/>
                        </a:rPr>
                        <a:t>a tree that does not multiply back</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a:t>
                      </a:r>
                    </a:p>
                  </a:txBody>
                  <a:tcPr marL="101600" marR="101600" marT="38100" marB="38100" anchor="ctr">
                    <a:solidFill>
                      <a:srgbClr val="F4F2FA"/>
                    </a:solidFill>
                  </a:tcPr>
                </a:tc>
                <a:tc>
                  <a:txBody>
                    <a:bodyPr/>
                    <a:lstStyle/>
                    <a:p>
                      <a:r>
                        <a:rPr sz="1400" b="0" i="0">
                          <a:solidFill>
                            <a:srgbClr val="1A1440"/>
                          </a:solidFill>
                          <a:latin typeface="Calibri"/>
                        </a:rPr>
                        <a:t>Sum over payment rows</a:t>
                      </a:r>
                    </a:p>
                  </a:txBody>
                  <a:tcPr marL="101600" marR="101600" marT="38100" marB="38100" anchor="ctr">
                    <a:solidFill>
                      <a:srgbClr val="F4F2FA"/>
                    </a:solidFill>
                  </a:tcPr>
                </a:tc>
                <a:tc>
                  <a:txBody>
                    <a:bodyPr/>
                    <a:lstStyle/>
                    <a:p>
                      <a:r>
                        <a:rPr sz="1400" b="0" i="0">
                          <a:solidFill>
                            <a:srgbClr val="1A1440"/>
                          </a:solidFill>
                          <a:latin typeface="Calibri"/>
                        </a:rPr>
                        <a:t>doubled the deck's revenue</a:t>
                      </a:r>
                    </a:p>
                  </a:txBody>
                  <a:tcPr marL="101600" marR="101600" marT="38100" marB="38100" anchor="ctr">
                    <a:solidFill>
                      <a:srgbClr val="F4F2FA"/>
                    </a:solidFill>
                  </a:tcPr>
                </a:tc>
              </a:tr>
              <a:tr h="369824">
                <a:tc>
                  <a:txBody>
                    <a:bodyPr/>
                    <a:lstStyle/>
                    <a:p>
                      <a:r>
                        <a:rPr sz="1400" b="0" i="0">
                          <a:solidFill>
                            <a:srgbClr val="1A1440"/>
                          </a:solidFill>
                          <a:latin typeface="Calibri"/>
                        </a:rPr>
                        <a:t>Rs 39,40,57,740</a:t>
                      </a:r>
                    </a:p>
                  </a:txBody>
                  <a:tcPr marL="101600" marR="101600" marT="38100" marB="38100" anchor="ctr">
                    <a:solidFill>
                      <a:srgbClr val="FFFFFF"/>
                    </a:solidFill>
                  </a:tcPr>
                </a:tc>
                <a:tc>
                  <a:txBody>
                    <a:bodyPr/>
                    <a:lstStyle/>
                    <a:p>
                      <a:r>
                        <a:rPr sz="1400" b="0" i="0">
                          <a:solidFill>
                            <a:srgbClr val="1A1440"/>
                          </a:solidFill>
                          <a:latin typeface="Calibri"/>
                        </a:rPr>
                        <a:t>Remove Duplicates, then Sum</a:t>
                      </a:r>
                    </a:p>
                  </a:txBody>
                  <a:tcPr marL="101600" marR="101600" marT="38100" marB="38100" anchor="ctr">
                    <a:solidFill>
                      <a:srgbClr val="FFFFFF"/>
                    </a:solidFill>
                  </a:tcPr>
                </a:tc>
                <a:tc>
                  <a:txBody>
                    <a:bodyPr/>
                    <a:lstStyle/>
                    <a:p>
                      <a:r>
                        <a:rPr sz="1400" b="0" i="0">
                          <a:solidFill>
                            <a:srgbClr val="1A1440"/>
                          </a:solidFill>
                          <a:latin typeface="Calibri"/>
                        </a:rPr>
                        <a:t>the same, with false confidence</a:t>
                      </a:r>
                    </a:p>
                  </a:txBody>
                  <a:tcPr marL="101600" marR="101600" marT="38100" marB="38100" anchor="ctr">
                    <a:solidFill>
                      <a:srgbClr val="FFFFFF"/>
                    </a:solidFill>
                  </a:tcPr>
                </a:tc>
              </a:tr>
              <a:tr h="369824">
                <a:tc>
                  <a:txBody>
                    <a:bodyPr/>
                    <a:lstStyle/>
                    <a:p>
                      <a:r>
                        <a:rPr sz="1400" b="0" i="0">
                          <a:solidFill>
                            <a:srgbClr val="1A1440"/>
                          </a:solidFill>
                          <a:latin typeface="Calibri"/>
                        </a:rPr>
                        <a:t>C-0194's row for C-0195</a:t>
                      </a:r>
                    </a:p>
                  </a:txBody>
                  <a:tcPr marL="101600" marR="101600" marT="38100" marB="38100" anchor="ctr">
                    <a:solidFill>
                      <a:srgbClr val="F4F2FA"/>
                    </a:solidFill>
                  </a:tcPr>
                </a:tc>
                <a:tc>
                  <a:txBody>
                    <a:bodyPr/>
                    <a:lstStyle/>
                    <a:p>
                      <a:r>
                        <a:rPr sz="1400" b="0" i="0">
                          <a:solidFill>
                            <a:srgbClr val="1A1440"/>
                          </a:solidFill>
                          <a:latin typeface="Calibri"/>
                        </a:rPr>
                        <a:t>an approximate lookup</a:t>
                      </a:r>
                    </a:p>
                  </a:txBody>
                  <a:tcPr marL="101600" marR="101600" marT="38100" marB="38100" anchor="ctr">
                    <a:solidFill>
                      <a:srgbClr val="F4F2FA"/>
                    </a:solidFill>
                  </a:tcPr>
                </a:tc>
                <a:tc>
                  <a:txBody>
                    <a:bodyPr/>
                    <a:lstStyle/>
                    <a:p>
                      <a:r>
                        <a:rPr sz="1400" b="0" i="0">
                          <a:solidFill>
                            <a:srgbClr val="1A1440"/>
                          </a:solidFill>
                          <a:latin typeface="Calibri"/>
                        </a:rPr>
                        <a:t>an offer to someone who stopped buying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in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FFFFF"/>
                    </a:solidFill>
                  </a:tcPr>
                </a:tc>
                <a:tc>
                  <a:txBody>
                    <a:bodyPr/>
                    <a:lstStyle/>
                    <a:p>
                      <a:r>
                        <a:rPr sz="1400" b="0" i="0">
                          <a:solidFill>
                            <a:srgbClr val="1A1440"/>
                          </a:solidFill>
                          <a:latin typeface="Calibri"/>
                        </a:rPr>
                        <a:t>SUM on a filtered list</a:t>
                      </a:r>
                    </a:p>
                  </a:txBody>
                  <a:tcPr marL="101600" marR="101600" marT="38100" marB="38100" anchor="ctr">
                    <a:solidFill>
                      <a:srgbClr val="FFFFFF"/>
                    </a:solidFill>
                  </a:tcPr>
                </a:tc>
                <a:tc>
                  <a:txBody>
                    <a:bodyPr/>
                    <a:lstStyle/>
                    <a:p>
                      <a:r>
                        <a:rPr sz="1400" b="0" i="0">
                          <a:solidFill>
                            <a:srgbClr val="1A1440"/>
                          </a:solidFill>
                          <a:latin typeface="Calibri"/>
                        </a:rPr>
                        <a:t>a budget 4.6 times too big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part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tree and the card tie; the list comes from a different export. If that export does not tie, what does the Checks tab hold?</a:t>
            </a:r>
          </a:p>
        </p:txBody>
      </p:sp>
      <p:pic>
        <p:nvPicPr>
          <p:cNvPr id="9" name="mermaid diagram" descr="239b5ec34f9aa141.png"/>
          <p:cNvPicPr>
            <a:picLocks noChangeAspect="1"/>
          </p:cNvPicPr>
          <p:nvPr/>
        </p:nvPicPr>
        <p:blipFill>
          <a:blip r:embed="rId5"/>
          <a:stretch>
            <a:fillRect/>
          </a:stretch>
        </p:blipFill>
        <p:spPr>
          <a:xfrm>
            <a:off x="3474091" y="1682496"/>
            <a:ext cx="5243512" cy="3643312"/>
          </a:xfrm>
          <a:prstGeom prst="rect">
            <a:avLst/>
          </a:prstGeom>
        </p:spPr>
      </p:pic>
      <p:sp>
        <p:nvSpPr>
          <p:cNvPr id="10" name="Rounded Rectangle 9"/>
          <p:cNvSpPr/>
          <p:nvPr/>
        </p:nvSpPr>
        <p:spPr>
          <a:xfrm>
            <a:off x="530352" y="5472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00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9098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part does the Checks tab hold,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to the data platform lead, and what does the chief of staff hear?</a:t>
            </a:r>
          </a:p>
        </p:txBody>
      </p:sp>
      <p:pic>
        <p:nvPicPr>
          <p:cNvPr id="9" name="mermaid diagram" descr="9207a882d369c949.png"/>
          <p:cNvPicPr>
            <a:picLocks noChangeAspect="1"/>
          </p:cNvPicPr>
          <p:nvPr/>
        </p:nvPicPr>
        <p:blipFill>
          <a:blip r:embed="rId5"/>
          <a:stretch>
            <a:fillRect/>
          </a:stretch>
        </p:blipFill>
        <p:spPr>
          <a:xfrm>
            <a:off x="3338360" y="1956816"/>
            <a:ext cx="5514975"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list built on a table that does not tie waits, with a note to the data platform lead that names the gap and asks for the export to be rerun. Option d is the afternoon's trap: formulas recalculating is not the same as numbers being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five lakh go?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director wants five lakh typed into the source; can the sheet show that number and still be the one Finance signs? Pairs defend the rule, then swap.</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by saying yes to the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director ask, in the room,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of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typed-over cell moves the card, leaving no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after the edit, and what happens on Monday's refresh?</a:t>
            </a:r>
          </a:p>
        </p:txBody>
      </p:sp>
      <p:pic>
        <p:nvPicPr>
          <p:cNvPr id="9" name="mermaid diagram" descr="ad41dcc4abb70657.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 sheet's Q2 total drifts Rs 86,620 from the warehouse's Rs 9,84,00,000;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"five lakh" belong in the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is legitimate; the edit is not. Where does the director's number go?</a:t>
            </a:r>
          </a:p>
        </p:txBody>
      </p:sp>
      <p:pic>
        <p:nvPicPr>
          <p:cNvPr id="9" name="mermaid diagram" descr="7a33375b7393d3e7.png"/>
          <p:cNvPicPr>
            <a:picLocks noChangeAspect="1"/>
          </p:cNvPicPr>
          <p:nvPr/>
        </p:nvPicPr>
        <p:blipFill>
          <a:blip r:embed="rId5"/>
          <a:stretch>
            <a:fillRect/>
          </a:stretch>
        </p:blipFill>
        <p:spPr>
          <a:xfrm>
            <a:off x="3002603" y="1956816"/>
            <a:ext cx="6186487" cy="3143250"/>
          </a:xfrm>
          <a:prstGeom prst="rect">
            <a:avLst/>
          </a:prstGeom>
        </p:spPr>
      </p:pic>
      <p:sp>
        <p:nvSpPr>
          <p:cNvPr id="10" name="Rounded Rectangle 9"/>
          <p:cNvSpPr/>
          <p:nvPr/>
        </p:nvSpPr>
        <p:spPr>
          <a:xfrm>
            <a:off x="530352" y="524637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7438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6524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it belong,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and what does each line come from?</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to discuss, the card keeps the number Finance signs, and both carry their labels. Option d is how a team ends up with directors typing over cells anyway; option c edits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to the question, no to the edit, and a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partner say to the director?</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Every refresh ties the sheet back to the warehouse, so a drift shows the same day.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[D] A director wants to type over the source in the room; what do you say, and what do you build?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0" name="Oval 3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answer twelve screen questions aloud, each in under a minute?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then seven follow-ups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a screen ask, and with which tags?</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SQL, pandas or Excel: how do you choose?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do you present one number so it is not misread?</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leaf of your tree does not multiply back;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Why does Remove Duplicates not fix a payment-grain export?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export grows a hundredfold; which formula do you replace?</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A lookup returned a member for a missing id; which argument?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lookup does a join and collected falls 40 percent; why?</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 filter and the total does not move; what is the foot?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director wants to type over the source;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Mechanism, check, number, then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into a one-minute answer?</a:t>
            </a:r>
          </a:p>
        </p:txBody>
      </p:sp>
      <p:pic>
        <p:nvPicPr>
          <p:cNvPr id="9" name="mermaid diagram" descr="17b75dcda3b5714a.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ships on Monday?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can the chief of staff trust on Monday? The sentence, the day's six lines, the Kahoot and tomorrow.</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ties, what waits,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 send the chief of staff?</a:t>
            </a:r>
          </a:p>
        </p:txBody>
      </p:sp>
      <p:sp>
        <p:nvSpPr>
          <p:cNvPr id="9" name="Rounded Rectangle 8"/>
          <p:cNvSpPr/>
          <p:nvPr/>
        </p:nvSpPr>
        <p:spPr>
          <a:xfrm>
            <a:off x="530352" y="1956816"/>
            <a:ext cx="45720" cy="18795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7959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 Q2, July to September 2026, Rs 9.84 crore, down 1.6 percent on Q1's Rs 10.00 crore. Business invoices carry most of the rupees; Retail-Plus fell 29.4 percent because members ordered less often. The protect list ships when the Checks tab says its source ties to the warehouse, and the release note says what it found.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d6dc06a7beb778fa.png"/>
          <p:cNvPicPr>
            <a:picLocks noChangeAspect="1"/>
          </p:cNvPicPr>
          <p:nvPr/>
        </p:nvPicPr>
        <p:blipFill>
          <a:blip r:embed="rId5"/>
          <a:stretch>
            <a:fillRect/>
          </a:stretch>
        </p:blipFill>
        <p:spPr>
          <a:xfrm>
            <a:off x="1509560" y="3982720"/>
            <a:ext cx="917257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lines do the cheat sheet and the notes repeat word for word?</a:t>
            </a:r>
          </a:p>
        </p:txBody>
      </p:sp>
      <p:sp>
        <p:nvSpPr>
          <p:cNvPr id="9" name="TextBox 8"/>
          <p:cNvSpPr txBox="1"/>
          <p:nvPr/>
        </p:nvSpPr>
        <p:spPr>
          <a:xfrm>
            <a:off x="530352" y="1837944"/>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874520"/>
            <a:ext cx="10564063" cy="627888"/>
          </a:xfrm>
          <a:prstGeom prst="rect">
            <a:avLst/>
          </a:prstGeom>
          <a:noFill/>
        </p:spPr>
        <p:txBody>
          <a:bodyPr wrap="square" anchor="t" lIns="0" rIns="0" tIns="0" bIns="0">
            <a:spAutoFit/>
          </a:bodyPr>
          <a:lstStyle/>
          <a:p>
            <a:r>
              <a:rPr sz="1500" b="0" i="0">
                <a:solidFill>
                  <a:srgbClr val="1A1440"/>
                </a:solidFill>
                <a:latin typeface="Calibri"/>
              </a:rPr>
              <a:t>Every leaf of the tree is a ratio of the pivot's sums, and the tree multiplies back to its revenue before it goes on a page.</a:t>
            </a:r>
          </a:p>
        </p:txBody>
      </p:sp>
      <p:sp>
        <p:nvSpPr>
          <p:cNvPr id="11" name="TextBox 10"/>
          <p:cNvSpPr txBox="1"/>
          <p:nvPr/>
        </p:nvSpPr>
        <p:spPr>
          <a:xfrm>
            <a:off x="530352" y="2538984"/>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575560"/>
            <a:ext cx="10564063" cy="627888"/>
          </a:xfrm>
          <a:prstGeom prst="rect">
            <a:avLst/>
          </a:prstGeom>
          <a:noFill/>
        </p:spPr>
        <p:txBody>
          <a:bodyPr wrap="square" anchor="t" lIns="0" rIns="0" tIns="0" bIns="0">
            <a:spAutoFit/>
          </a:bodyPr>
          <a:lstStyle/>
          <a:p>
            <a:r>
              <a:rPr sz="1500" b="0" i="0">
                <a:solidFill>
                  <a:srgbClr val="1A1440"/>
                </a:solidFill>
                <a:latin typeface="Calibri"/>
              </a:rPr>
              <a:t>Say the grain before you pivot: count rows against keys, count each order once, and tie the total to the warehouse.</a:t>
            </a:r>
          </a:p>
        </p:txBody>
      </p:sp>
      <p:sp>
        <p:nvSpPr>
          <p:cNvPr id="13" name="TextBox 12"/>
          <p:cNvSpPr txBox="1"/>
          <p:nvPr/>
        </p:nvSpPr>
        <p:spPr>
          <a:xfrm>
            <a:off x="530352" y="3240024"/>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276600"/>
            <a:ext cx="10564063" cy="62788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exact match with a not-found path, tested with an id you know is missing.</a:t>
            </a:r>
          </a:p>
        </p:txBody>
      </p:sp>
      <p:sp>
        <p:nvSpPr>
          <p:cNvPr id="15" name="TextBox 14"/>
          <p:cNvSpPr txBox="1"/>
          <p:nvPr/>
        </p:nvSpPr>
        <p:spPr>
          <a:xfrm>
            <a:off x="530352" y="3941064"/>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977640"/>
            <a:ext cx="10564063" cy="62788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 and every percentage carries its rupees.</a:t>
            </a:r>
          </a:p>
        </p:txBody>
      </p:sp>
      <p:sp>
        <p:nvSpPr>
          <p:cNvPr id="17" name="TextBox 16"/>
          <p:cNvSpPr txBox="1"/>
          <p:nvPr/>
        </p:nvSpPr>
        <p:spPr>
          <a:xfrm>
            <a:off x="530352" y="4642104"/>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4678680"/>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9" name="TextBox 18"/>
          <p:cNvSpPr txBox="1"/>
          <p:nvPr/>
        </p:nvSpPr>
        <p:spPr>
          <a:xfrm>
            <a:off x="530352" y="5343144"/>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5379720"/>
            <a:ext cx="10564063" cy="627888"/>
          </a:xfrm>
          <a:prstGeom prst="rect">
            <a:avLst/>
          </a:prstGeom>
          <a:noFill/>
        </p:spPr>
        <p:txBody>
          <a:bodyPr wrap="square" anchor="t" lIns="0" rIns="0" tIns="0" bIns="0">
            <a:spAutoFit/>
          </a:bodyPr>
          <a:lstStyle/>
          <a:p>
            <a:r>
              <a:rPr sz="1500" b="0" i="0">
                <a:solidFill>
                  <a:srgbClr val="1A1440"/>
                </a:solidFill>
                <a:latin typeface="Calibri"/>
              </a:rPr>
              <a:t>A director gets yellow inputs, formulas everywhere else, SUBTOTAL at every foot, and a Checks tab whose release holds whatever does not tie.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9" name="Oval 2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1" name="Oval 3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get wrong, fast?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Thursday's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mermaid diagram" descr="06b3dc94828f3627.png"/>
          <p:cNvPicPr>
            <a:picLocks noChangeAspect="1"/>
          </p:cNvPicPr>
          <p:nvPr/>
        </p:nvPicPr>
        <p:blipFill>
          <a:blip r:embed="rId5"/>
          <a:stretch>
            <a:fillRect/>
          </a:stretch>
        </p:blipFill>
        <p:spPr>
          <a:xfrm>
            <a:off x="3259778" y="3419856"/>
            <a:ext cx="5672137" cy="1128712"/>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4" name="Oval 2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8" name="Oval 2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paper; Monday, a new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and which question is left open?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line_3985a040f10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recap paper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Pen and paper, AI-free, two hours; bring a pen.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lask-conical_7f5aa1048f7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MONDAY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Build 1, Kalpa Health</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US diagnostics and revenue-cycle business that grew 5 percent against a plan of 18.</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there, and what does one row stand for?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7" name="Oval 3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