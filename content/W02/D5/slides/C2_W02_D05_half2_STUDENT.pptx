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has two cases. The escalated case is the three deliverables end to</a:t>
            </a:r>
          </a:p>
          <a:p>
            <a:r>
              <a:t>end, alone; the second case is a director who wants to edit the source, in pairs. Then the interview</a:t>
            </a:r>
          </a:p>
          <a:p>
            <a:r>
              <a:t>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60 minutes, unguided. The support TA answers environment problems</a:t>
            </a:r>
          </a:p>
          <a:p>
            <a:r>
              <a:t>only. The solution, the deck pack workbook and the hands-on solution notebook, opens at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brief aloud, point at the five parts and start the clock. The brief file</a:t>
            </a:r>
          </a:p>
          <a:p>
            <a:r>
              <a:t>is exercises/unguided/C2_W02_D05_escalated_case_STUDENT.md, with eight items at its foot.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Leave it on screen during the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deck pack in demos/ has exactly this tab. Its release sentence is the</a:t>
            </a:r>
          </a:p>
          <a:p>
            <a:r>
              <a:t>answer to part 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Collect the room's wrong numbers during the case and show the</a:t>
            </a:r>
          </a:p>
          <a:p>
            <a:r>
              <a:t>ones that actually appeared; the table on S4 is the list most rooms produce.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down the table and, for each row, ask who produced it during the case. No</a:t>
            </a:r>
          </a:p>
          <a:p>
            <a:r>
              <a:t>shaming; each is the plausible number a hurried sheet shows.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Those who ran round 1's harder variant should know.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TRAINER: the gap and the missing member are in the day sheet; say them aloud now,</a:t>
            </a:r>
          </a:p>
          <a:p>
            <a:r>
              <a:t>since the room has found them. Option d is the trap of the afternoon: formulas recalculating is not</a:t>
            </a:r>
          </a:p>
          <a:p>
            <a:r>
              <a:t>the same as the numbers being right.</a:t>
            </a:r>
          </a:p>
          <a:p>
            <a:r>
              <a:t>BREAK,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45 minutes in pairs: one plays the director, one defends the rule, then</a:t>
            </a:r>
          </a:p>
          <a:p>
            <a:r>
              <a:t>they swap. The hands-on notebook ex2 plays the same scene in four steps.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in the director's voice. The request is reasonable in a meeting and</a:t>
            </a:r>
          </a:p>
          <a:p>
            <a:r>
              <a:t>corrosive in a file. The pair's job is to say yes to the question and no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ex2, steps 1 to 3. The drift check that catches it is the sheet's Q2</a:t>
            </a:r>
          </a:p>
          <a:p>
            <a:r>
              <a:t>total against the warehouse's Q2 total.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Thursday's tool-choice note turned into a team rule. The decision tool's</a:t>
            </a:r>
          </a:p>
          <a:p>
            <a:r>
              <a:t>Rule tab asks the four questions in the right order.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each pair says why their letter survives the director's pushback.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Option d is how a team ends up with directors typing over cells anyway. Option c</a:t>
            </a:r>
          </a:p>
          <a:p>
            <a:r>
              <a:t>edits the source of truth, which is what the rule forbids.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for the role play: ten each way. Walk the room; listen for anyone who says no to the</a:t>
            </a:r>
          </a:p>
          <a:p>
            <a:r>
              <a:t>question as well as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30 minutes: pairs, one asks and one answers in under a minute, then swap. The</a:t>
            </a:r>
          </a:p>
          <a:p>
            <a:r>
              <a:t>answers in one breath are in the day sheet and in full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Pairs take them in order. Tags: [S] staple, [F] frequent in GCC and product</a:t>
            </a:r>
          </a:p>
          <a:p>
            <a:r>
              <a:t>screens, [D] differentiator, the programme's own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example aloud and ask one pair to redo their weakest answer in this shape.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20 minutes: the sentence (3), the crux lines (2), the Kahoot (12), Build 1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learners read their own sentences; check each for the number, the period, the</a:t>
            </a:r>
          </a:p>
          <a:p>
            <a:r>
              <a:t>comparison, what is held and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them once. They are on the cheat sheet's panels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Run kahoot/C2_W02_D05_quiz_STUDENT.md. The return question is Thursday's: 1,000</a:t>
            </a:r>
          </a:p>
          <a:p>
            <a:r>
              <a:t>customers merged to 1,120 rows.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Leave the last card's question open. Saturday's recap paper comes first; the</a:t>
            </a:r>
          </a:p>
          <a:p>
            <a:r>
              <a:t>pre-read for Monday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sheet a director cannot break</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“Everything you built this week has to survive a room that only has Excel. Which parts belong in Excel, which must never be in Excel, and how do you keep the two from drifting apart?”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7" name="TextBox 16"/>
          <p:cNvSpPr txBox="1"/>
          <p:nvPr/>
        </p:nvSpPr>
        <p:spPr>
          <a:xfrm>
            <a:off x="547382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857874"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73474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sheet a director cannot break</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Monday's deck pack, end to end, from the two exports, alone, in 60 minutes.</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in the chief of staff's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deliverables, one workbook, and a director with their hands on it.</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"Build me the file I open on Monday: the tree by segment for both quarters, the protect list with the lookup, and the front-page number with its trend. I will change things in the room. Tell me what I can trust it for."</a:t>
            </a:r>
          </a:p>
        </p:txBody>
      </p:sp>
      <p:graphicFrame>
        <p:nvGraphicFramePr>
          <p:cNvPr id="14" name="Table 13"/>
          <p:cNvGraphicFramePr>
            <a:graphicFrameLocks noGrp="1"/>
          </p:cNvGraphicFramePr>
          <p:nvPr/>
        </p:nvGraphicFramePr>
        <p:xfrm>
          <a:off x="530352" y="3502152"/>
          <a:ext cx="11130990" cy="2218944"/>
        </p:xfrm>
        <a:graphic>
          <a:graphicData uri="http://schemas.openxmlformats.org/drawingml/2006/table">
            <a:tbl>
              <a:tblPr firstRow="0" bandRow="0">
                <a:tableStyleId>{2D5ABB26-0587-4C30-8999-92F81FD0307C}</a:tableStyleId>
              </a:tblPr>
              <a:tblGrid>
                <a:gridCol w="914400"/>
                <a:gridCol w="8739253"/>
                <a:gridCol w="147733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What you ship</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The tree by segment and quarter, each order once, tied to the warehouse</a:t>
                      </a:r>
                    </a:p>
                  </a:txBody>
                  <a:tcPr marL="101600" marR="101600" marT="38100" marB="38100" anchor="ctr">
                    <a:solidFill>
                      <a:srgbClr val="FFFFFF"/>
                    </a:solidFill>
                  </a:tcPr>
                </a:tc>
                <a:tc>
                  <a:txBody>
                    <a:bodyPr/>
                    <a:lstStyle/>
                    <a:p>
                      <a:r>
                        <a:rPr sz="1400" b="0" i="0">
                          <a:solidFill>
                            <a:srgbClr val="1A1440"/>
                          </a:solidFill>
                          <a:latin typeface="Calibri"/>
                        </a:rPr>
                        <a:t>15</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protect list and a lookup that says when an id is missing</a:t>
                      </a:r>
                    </a:p>
                  </a:txBody>
                  <a:tcPr marL="101600" marR="101600" marT="38100" marB="38100" anchor="ctr">
                    <a:solidFill>
                      <a:srgbClr val="F4F2FA"/>
                    </a:solidFill>
                  </a:tcPr>
                </a:tc>
                <a:tc>
                  <a:txBody>
                    <a:bodyPr/>
                    <a:lstStyle/>
                    <a:p>
                      <a:r>
                        <a:rPr sz="1400" b="0" i="0">
                          <a:solidFill>
                            <a:srgbClr val="1A1440"/>
                          </a:solidFill>
                          <a:latin typeface="Calibri"/>
                        </a:rPr>
                        <a:t>12</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The front-page card with its trend and a scope a director can change</a:t>
                      </a:r>
                    </a:p>
                  </a:txBody>
                  <a:tcPr marL="101600" marR="101600" marT="38100" marB="38100" anchor="ctr">
                    <a:solidFill>
                      <a:srgbClr val="FFFFFF"/>
                    </a:solidFill>
                  </a:tcPr>
                </a:tc>
                <a:tc>
                  <a:txBody>
                    <a:bodyPr/>
                    <a:lstStyle/>
                    <a:p>
                      <a:r>
                        <a:rPr sz="1400" b="0" i="0">
                          <a:solidFill>
                            <a:srgbClr val="1A1440"/>
                          </a:solidFill>
                          <a:latin typeface="Calibri"/>
                        </a:rPr>
                        <a:t>12</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ships on Monday and what is held, with the reason</a:t>
                      </a:r>
                    </a:p>
                  </a:txBody>
                  <a:tcPr marL="101600" marR="101600" marT="38100" marB="38100" anchor="ctr">
                    <a:solidFill>
                      <a:srgbClr val="F4F2FA"/>
                    </a:solidFill>
                  </a:tcPr>
                </a:tc>
                <a:tc>
                  <a:txBody>
                    <a:bodyPr/>
                    <a:lstStyle/>
                    <a:p>
                      <a:r>
                        <a:rPr sz="1400" b="0" i="0">
                          <a:solidFill>
                            <a:srgbClr val="1A1440"/>
                          </a:solidFill>
                          <a:latin typeface="Calibri"/>
                        </a:rPr>
                        <a:t>6</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numbers proved a second way, in the hands-on notebook</a:t>
                      </a:r>
                    </a:p>
                  </a:txBody>
                  <a:tcPr marL="101600" marR="101600" marT="38100" marB="38100" anchor="ctr">
                    <a:solidFill>
                      <a:srgbClr val="FFFFFF"/>
                    </a:solidFill>
                  </a:tcPr>
                </a:tc>
                <a:tc>
                  <a:txBody>
                    <a:bodyPr/>
                    <a:lstStyle/>
                    <a:p>
                      <a:r>
                        <a:rPr sz="1400" b="0" i="0">
                          <a:solidFill>
                            <a:srgbClr val="1A1440"/>
                          </a:solidFill>
                          <a:latin typeface="Calibri"/>
                        </a:rPr>
                        <a:t>15</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order of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Grain first, because every other number sits on it.</a:t>
            </a:r>
          </a:p>
        </p:txBody>
      </p:sp>
      <p:pic>
        <p:nvPicPr>
          <p:cNvPr id="9" name="mermaid diagram" descr="1e9302ee931790c2.png"/>
          <p:cNvPicPr>
            <a:picLocks noChangeAspect="1"/>
          </p:cNvPicPr>
          <p:nvPr/>
        </p:nvPicPr>
        <p:blipFill>
          <a:blip r:embed="rId5"/>
          <a:stretch>
            <a:fillRect/>
          </a:stretch>
        </p:blipFill>
        <p:spPr>
          <a:xfrm>
            <a:off x="530352" y="1956816"/>
            <a:ext cx="11130991" cy="974887"/>
          </a:xfrm>
          <a:prstGeom prst="rect">
            <a:avLst/>
          </a:prstGeom>
        </p:spPr>
      </p:pic>
      <p:sp>
        <p:nvSpPr>
          <p:cNvPr id="10" name="TextBox 9"/>
          <p:cNvSpPr txBox="1"/>
          <p:nvPr/>
        </p:nvSpPr>
        <p:spPr>
          <a:xfrm>
            <a:off x="530352" y="307800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learner who starts on the card has built a number on a grain nobody checked.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Checks tab that says, in a sentence, what may go into the deck.</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check_5bfb0e0fcdf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tree reconciles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Its two quarters sum to Monday's Rs 19,84,00,000 to the rupee.</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check_5bfb0e0fcdf2.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list's source reconciles</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clean table's revenue and orders tie to the warehouse.</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lookup answers honestly</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row returned is the id asked for, or it says not found.</a:t>
            </a:r>
          </a:p>
        </p:txBody>
      </p:sp>
      <p:sp>
        <p:nvSpPr>
          <p:cNvPr id="27" name="Rounded Rectangle 26"/>
          <p:cNvSpPr/>
          <p:nvPr/>
        </p:nvSpPr>
        <p:spPr>
          <a:xfrm>
            <a:off x="9015755" y="1956816"/>
            <a:ext cx="2645587"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9dd99c81814d.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The card ties to the tree</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CFC9EE"/>
                </a:solidFill>
                <a:latin typeface="Calibri"/>
              </a:rPr>
              <a:t>Its quarters are the tree's quarters.</a:t>
            </a:r>
          </a:p>
        </p:txBody>
      </p:sp>
      <p:sp>
        <p:nvSpPr>
          <p:cNvPr id="33" name="Rounded Rectangle 32"/>
          <p:cNvSpPr/>
          <p:nvPr/>
        </p:nvSpPr>
        <p:spPr>
          <a:xfrm>
            <a:off x="530352" y="43352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537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earch-check_6571e64a041f.png"/>
          <p:cNvPicPr>
            <a:picLocks noChangeAspect="1"/>
          </p:cNvPicPr>
          <p:nvPr/>
        </p:nvPicPr>
        <p:blipFill>
          <a:blip r:embed="rId6"/>
          <a:stretch>
            <a:fillRect/>
          </a:stretch>
        </p:blipFill>
        <p:spPr>
          <a:xfrm>
            <a:off x="868680" y="4647692"/>
            <a:ext cx="237744" cy="237744"/>
          </a:xfrm>
          <a:prstGeom prst="rect">
            <a:avLst/>
          </a:prstGeom>
        </p:spPr>
      </p:pic>
      <p:sp>
        <p:nvSpPr>
          <p:cNvPr id="36" name="TextBox 35"/>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7" name="TextBox 36"/>
          <p:cNvSpPr txBox="1"/>
          <p:nvPr/>
        </p:nvSpPr>
        <p:spPr>
          <a:xfrm>
            <a:off x="1399031" y="4701032"/>
            <a:ext cx="9987991" cy="423672"/>
          </a:xfrm>
          <a:prstGeom prst="rect">
            <a:avLst/>
          </a:prstGeom>
          <a:noFill/>
        </p:spPr>
        <p:txBody>
          <a:bodyPr wrap="square" anchor="t" lIns="0" rIns="0" tIns="0" bIns="0">
            <a:spAutoFit/>
          </a:bodyPr>
          <a:lstStyle/>
          <a:p>
            <a:r>
              <a:rPr sz="1500" b="0" i="0">
                <a:solidFill>
                  <a:srgbClr val="1A1440"/>
                </a:solidFill>
                <a:latin typeface="Calibri"/>
              </a:rPr>
              <a:t>A deliverable that fails its check is held with its reason, never shipped with a footnote.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0" name="Oval 3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2" name="Oval 41"/>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4" name="Oval 43"/>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6" name="Oval 45"/>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wrong numbers this room produced, in the order the day produced them.</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numbers, and what each would have done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one of them was plausible, and none raised an error.</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657036"/>
                <a:gridCol w="3964573"/>
                <a:gridCol w="4509381"/>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Where it came from</a:t>
                      </a:r>
                    </a:p>
                  </a:txBody>
                  <a:tcPr marL="101600" marR="101600" marT="38100" marB="38100" anchor="ctr">
                    <a:solidFill>
                      <a:srgbClr val="1A0F5C"/>
                    </a:solidFill>
                  </a:tcPr>
                </a:tc>
                <a:tc>
                  <a:txBody>
                    <a:bodyPr/>
                    <a:lstStyle/>
                    <a:p>
                      <a:r>
                        <a:rPr sz="1450" b="1" i="0">
                          <a:solidFill>
                            <a:srgbClr val="FFFFFF"/>
                          </a:solidFill>
                          <a:latin typeface="Calibri"/>
                        </a:rPr>
                        <a:t>What it would have done</a:t>
                      </a:r>
                    </a:p>
                  </a:txBody>
                  <a:tcPr marL="101600" marR="101600" marT="38100" marB="38100" anchor="ctr">
                    <a:solidFill>
                      <a:srgbClr val="1A0F5C"/>
                    </a:solidFill>
                  </a:tcPr>
                </a:tc>
              </a:tr>
              <a:tr h="369824">
                <a:tc>
                  <a:txBody>
                    <a:bodyPr/>
                    <a:lstStyle/>
                    <a:p>
                      <a:r>
                        <a:rPr sz="1400" b="0" i="0">
                          <a:solidFill>
                            <a:srgbClr val="1A1440"/>
                          </a:solidFill>
                          <a:latin typeface="Calibri"/>
                        </a:rPr>
                        <a:t>Rs 39.41 crore</a:t>
                      </a:r>
                    </a:p>
                  </a:txBody>
                  <a:tcPr marL="101600" marR="101600" marT="38100" marB="38100" anchor="ctr">
                    <a:solidFill>
                      <a:srgbClr val="FFFFFF"/>
                    </a:solidFill>
                  </a:tcPr>
                </a:tc>
                <a:tc>
                  <a:txBody>
                    <a:bodyPr/>
                    <a:lstStyle/>
                    <a:p>
                      <a:r>
                        <a:rPr sz="1400" b="0" i="0">
                          <a:solidFill>
                            <a:srgbClr val="1A1440"/>
                          </a:solidFill>
                          <a:latin typeface="Calibri"/>
                        </a:rPr>
                        <a:t>Sum over payment rows</a:t>
                      </a:r>
                    </a:p>
                  </a:txBody>
                  <a:tcPr marL="101600" marR="101600" marT="38100" marB="38100" anchor="ctr">
                    <a:solidFill>
                      <a:srgbClr val="FFFFFF"/>
                    </a:solidFill>
                  </a:tcPr>
                </a:tc>
                <a:tc>
                  <a:txBody>
                    <a:bodyPr/>
                    <a:lstStyle/>
                    <a:p>
                      <a:r>
                        <a:rPr sz="1400" b="0" i="0">
                          <a:solidFill>
                            <a:srgbClr val="1A1440"/>
                          </a:solidFill>
                          <a:latin typeface="Calibri"/>
                        </a:rPr>
                        <a:t>Doubled the deck's revenue</a:t>
                      </a:r>
                    </a:p>
                  </a:txBody>
                  <a:tcPr marL="101600" marR="101600" marT="38100" marB="38100" anchor="ctr">
                    <a:solidFill>
                      <a:srgbClr val="FFFFFF"/>
                    </a:solidFill>
                  </a:tcPr>
                </a:tc>
              </a:tr>
              <a:tr h="369824">
                <a:tc>
                  <a:txBody>
                    <a:bodyPr/>
                    <a:lstStyle/>
                    <a:p>
                      <a:r>
                        <a:rPr sz="1400" b="0" i="0">
                          <a:solidFill>
                            <a:srgbClr val="1A1440"/>
                          </a:solidFill>
                          <a:latin typeface="Calibri"/>
                        </a:rPr>
                        <a:t>Rs 39.41 crore again</a:t>
                      </a:r>
                    </a:p>
                  </a:txBody>
                  <a:tcPr marL="101600" marR="101600" marT="38100" marB="38100" anchor="ctr">
                    <a:solidFill>
                      <a:srgbClr val="F4F2FA"/>
                    </a:solidFill>
                  </a:tcPr>
                </a:tc>
                <a:tc>
                  <a:txBody>
                    <a:bodyPr/>
                    <a:lstStyle/>
                    <a:p>
                      <a:r>
                        <a:rPr sz="1400" b="0" i="0">
                          <a:solidFill>
                            <a:srgbClr val="1A1440"/>
                          </a:solidFill>
                          <a:latin typeface="Calibri"/>
                        </a:rPr>
                        <a:t>Remove Duplicates, then Sum</a:t>
                      </a:r>
                    </a:p>
                  </a:txBody>
                  <a:tcPr marL="101600" marR="101600" marT="38100" marB="38100" anchor="ctr">
                    <a:solidFill>
                      <a:srgbClr val="F4F2FA"/>
                    </a:solidFill>
                  </a:tcPr>
                </a:tc>
                <a:tc>
                  <a:txBody>
                    <a:bodyPr/>
                    <a:lstStyle/>
                    <a:p>
                      <a:r>
                        <a:rPr sz="1400" b="0" i="0">
                          <a:solidFill>
                            <a:srgbClr val="1A1440"/>
                          </a:solidFill>
                          <a:latin typeface="Calibri"/>
                        </a:rPr>
                        <a:t>The same, with false confidence</a:t>
                      </a:r>
                    </a:p>
                  </a:txBody>
                  <a:tcPr marL="101600" marR="101600" marT="38100" marB="38100" anchor="ctr">
                    <a:solidFill>
                      <a:srgbClr val="F4F2FA"/>
                    </a:solidFill>
                  </a:tcPr>
                </a:tc>
              </a:tr>
              <a:tr h="369824">
                <a:tc>
                  <a:txBody>
                    <a:bodyPr/>
                    <a:lstStyle/>
                    <a:p>
                      <a:r>
                        <a:rPr sz="1400" b="0" i="0">
                          <a:solidFill>
                            <a:srgbClr val="1A1440"/>
                          </a:solidFill>
                          <a:latin typeface="Calibri"/>
                        </a:rPr>
                        <a:t>A neighbour's row</a:t>
                      </a:r>
                    </a:p>
                  </a:txBody>
                  <a:tcPr marL="101600" marR="101600" marT="38100" marB="38100" anchor="ctr">
                    <a:solidFill>
                      <a:srgbClr val="FFFFFF"/>
                    </a:solidFill>
                  </a:tcPr>
                </a:tc>
                <a:tc>
                  <a:txBody>
                    <a:bodyPr/>
                    <a:lstStyle/>
                    <a:p>
                      <a:r>
                        <a:rPr sz="1400" b="0" i="0">
                          <a:solidFill>
                            <a:srgbClr val="1A1440"/>
                          </a:solidFill>
                          <a:latin typeface="Calibri"/>
                        </a:rPr>
                        <a:t>Approximate lookup on a missing id</a:t>
                      </a:r>
                    </a:p>
                  </a:txBody>
                  <a:tcPr marL="101600" marR="101600" marT="38100" marB="38100" anchor="ctr">
                    <a:solidFill>
                      <a:srgbClr val="FFFFFF"/>
                    </a:solidFill>
                  </a:tcPr>
                </a:tc>
                <a:tc>
                  <a:txBody>
                    <a:bodyPr/>
                    <a:lstStyle/>
                    <a:p>
                      <a:r>
                        <a:rPr sz="1400" b="0" i="0">
                          <a:solidFill>
                            <a:srgbClr val="1A1440"/>
                          </a:solidFill>
                          <a:latin typeface="Calibri"/>
                        </a:rPr>
                        <a:t>Protected someone who stopped buying</a:t>
                      </a:r>
                    </a:p>
                  </a:txBody>
                  <a:tcPr marL="101600" marR="101600" marT="38100" marB="38100" anchor="ctr">
                    <a:solidFill>
                      <a:srgbClr val="FFFFFF"/>
                    </a:solidFill>
                  </a:tcPr>
                </a:tc>
              </a:tr>
              <a:tr h="369824">
                <a:tc>
                  <a:txBody>
                    <a:bodyPr/>
                    <a:lstStyle/>
                    <a:p>
                      <a:r>
                        <a:rPr sz="1400" b="0" i="0">
                          <a:solidFill>
                            <a:srgbClr val="1A1440"/>
                          </a:solidFill>
                          <a:latin typeface="Calibri"/>
                        </a:rPr>
                        <a:t>Rs 7,14,890 for Mumbai</a:t>
                      </a:r>
                    </a:p>
                  </a:txBody>
                  <a:tcPr marL="101600" marR="101600" marT="38100" marB="38100" anchor="ctr">
                    <a:solidFill>
                      <a:srgbClr val="F4F2FA"/>
                    </a:solidFill>
                  </a:tcPr>
                </a:tc>
                <a:tc>
                  <a:txBody>
                    <a:bodyPr/>
                    <a:lstStyle/>
                    <a:p>
                      <a:r>
                        <a:rPr sz="1400" b="0" i="0">
                          <a:solidFill>
                            <a:srgbClr val="1A1440"/>
                          </a:solidFill>
                          <a:latin typeface="Calibri"/>
                        </a:rPr>
                        <a:t>SUM on a filtered list</a:t>
                      </a:r>
                    </a:p>
                  </a:txBody>
                  <a:tcPr marL="101600" marR="101600" marT="38100" marB="38100" anchor="ctr">
                    <a:solidFill>
                      <a:srgbClr val="F4F2FA"/>
                    </a:solidFill>
                  </a:tcPr>
                </a:tc>
                <a:tc>
                  <a:txBody>
                    <a:bodyPr/>
                    <a:lstStyle/>
                    <a:p>
                      <a:r>
                        <a:rPr sz="1400" b="0" i="0">
                          <a:solidFill>
                            <a:srgbClr val="1A1440"/>
                          </a:solidFill>
                          <a:latin typeface="Calibri"/>
                        </a:rPr>
                        <a:t>A budget four and a half times too big</a:t>
                      </a:r>
                    </a:p>
                  </a:txBody>
                  <a:tcPr marL="101600" marR="101600" marT="38100" marB="38100" anchor="ctr">
                    <a:solidFill>
                      <a:srgbClr val="F4F2FA"/>
                    </a:solidFill>
                  </a:tcPr>
                </a:tc>
              </a:tr>
              <a:tr h="369824">
                <a:tc>
                  <a:txBody>
                    <a:bodyPr/>
                    <a:lstStyle/>
                    <a:p>
                      <a:r>
                        <a:rPr sz="1400" b="0" i="0">
                          <a:solidFill>
                            <a:srgbClr val="1A1440"/>
                          </a:solidFill>
                          <a:latin typeface="Calibri"/>
                        </a:rPr>
                        <a:t>Rs 19.84 crore, bare</a:t>
                      </a:r>
                    </a:p>
                  </a:txBody>
                  <a:tcPr marL="101600" marR="101600" marT="38100" marB="38100" anchor="ctr">
                    <a:solidFill>
                      <a:srgbClr val="FFFFFF"/>
                    </a:solidFill>
                  </a:tcPr>
                </a:tc>
                <a:tc>
                  <a:txBody>
                    <a:bodyPr/>
                    <a:lstStyle/>
                    <a:p>
                      <a:r>
                        <a:rPr sz="1400" b="0" i="0">
                          <a:solidFill>
                            <a:srgbClr val="1A1440"/>
                          </a:solidFill>
                          <a:latin typeface="Calibri"/>
                        </a:rPr>
                        <a:t>A card with no period</a:t>
                      </a:r>
                    </a:p>
                  </a:txBody>
                  <a:tcPr marL="101600" marR="101600" marT="38100" marB="38100" anchor="ctr">
                    <a:solidFill>
                      <a:srgbClr val="FFFFFF"/>
                    </a:solidFill>
                  </a:tcPr>
                </a:tc>
                <a:tc>
                  <a:txBody>
                    <a:bodyPr/>
                    <a:lstStyle/>
                    <a:p>
                      <a:r>
                        <a:rPr sz="1400" b="0" i="0">
                          <a:solidFill>
                            <a:srgbClr val="1A1440"/>
                          </a:solidFill>
                          <a:latin typeface="Calibri"/>
                        </a:rPr>
                        <a:t>A doubled quarter read into the minutes</a:t>
                      </a:r>
                    </a:p>
                  </a:txBody>
                  <a:tcPr marL="101600" marR="101600" marT="38100" marB="38100" anchor="ctr">
                    <a:solidFill>
                      <a:srgbClr val="FFFFFF"/>
                    </a:solidFill>
                  </a:tcPr>
                </a:tc>
              </a:tr>
              <a:tr h="369824">
                <a:tc>
                  <a:txBody>
                    <a:bodyPr/>
                    <a:lstStyle/>
                    <a:p>
                      <a:r>
                        <a:rPr sz="1400" b="0" i="0">
                          <a:solidFill>
                            <a:srgbClr val="1A1440"/>
                          </a:solidFill>
                          <a:latin typeface="Calibri"/>
                        </a:rPr>
                        <a:t>41.7 percent</a:t>
                      </a:r>
                    </a:p>
                  </a:txBody>
                  <a:tcPr marL="101600" marR="101600" marT="38100" marB="38100" anchor="ctr">
                    <a:solidFill>
                      <a:srgbClr val="F4F2FA"/>
                    </a:solidFill>
                  </a:tcPr>
                </a:tc>
                <a:tc>
                  <a:txBody>
                    <a:bodyPr/>
                    <a:lstStyle/>
                    <a:p>
                      <a:r>
                        <a:rPr sz="1400" b="0" i="0">
                          <a:solidFill>
                            <a:srgbClr val="1A1440"/>
                          </a:solidFill>
                          <a:latin typeface="Calibri"/>
                        </a:rPr>
                        <a:t>A change on the wrong base</a:t>
                      </a:r>
                    </a:p>
                  </a:txBody>
                  <a:tcPr marL="101600" marR="101600" marT="38100" marB="38100" anchor="ctr">
                    <a:solidFill>
                      <a:srgbClr val="F4F2FA"/>
                    </a:solidFill>
                  </a:tcPr>
                </a:tc>
                <a:tc>
                  <a:txBody>
                    <a:bodyPr/>
                    <a:lstStyle/>
                    <a:p>
                      <a:r>
                        <a:rPr sz="1400" b="0" i="0">
                          <a:solidFill>
                            <a:srgbClr val="1A1440"/>
                          </a:solidFill>
                          <a:latin typeface="Calibri"/>
                        </a:rPr>
                        <a:t>A fall overstated by twelve points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deliverable does the release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tree and the card reconcile. The list comes from a different export.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Monday, which part of the deck pack does the Checks tab hold back? a) the tree, because it is built from the raw export; b) the protect list, until the customer table reconciles to the warehouse; c) the front page, because its trend is lumpy; d) nothing, since every number is a formula.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protect list, until its source reconciles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formula is only as good as the table it reads.</a:t>
            </a:r>
          </a:p>
        </p:txBody>
      </p:sp>
      <p:pic>
        <p:nvPicPr>
          <p:cNvPr id="9" name="mermaid diagram" descr="8b4561889e52f5f3.png"/>
          <p:cNvPicPr>
            <a:picLocks noChangeAspect="1"/>
          </p:cNvPicPr>
          <p:nvPr/>
        </p:nvPicPr>
        <p:blipFill>
          <a:blip r:embed="rId5"/>
          <a:stretch>
            <a:fillRect/>
          </a:stretch>
        </p:blipFill>
        <p:spPr>
          <a:xfrm>
            <a:off x="3509810" y="1956816"/>
            <a:ext cx="517207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note to the data platform lead names the gap and asks for the export to be rerun; the list ships when its source reconciles.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director wants to type a number into the source. The pair defends the operating rule.</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director says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the room, with the sheet on the projector.</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"Retail-Plus will be back at five lakh next quarter; I have spoken to the team. Type five lakh into Q2 so the card stops frightening people, and fix the source later."</a:t>
            </a:r>
          </a:p>
          <a:p>
            <a:pPr>
              <a:spcBef>
                <a:spcPts val="400"/>
              </a:spcBef>
            </a:pPr>
            <a:r>
              <a:rPr sz="1000" b="0" i="0">
                <a:solidFill>
                  <a:srgbClr val="6B6690"/>
                </a:solidFill>
                <a:latin typeface="Calibri"/>
              </a:rPr>
              <a:t>A director, Kalpa Retail</a:t>
            </a:r>
          </a:p>
        </p:txBody>
      </p:sp>
      <p:sp>
        <p:nvSpPr>
          <p:cNvPr id="11" name="Rounded Rectangle 10"/>
          <p:cNvSpPr/>
          <p:nvPr/>
        </p:nvSpPr>
        <p:spPr>
          <a:xfrm>
            <a:off x="530352" y="3129280"/>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33319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3441700"/>
            <a:ext cx="237744" cy="237744"/>
          </a:xfrm>
          <a:prstGeom prst="rect">
            <a:avLst/>
          </a:prstGeom>
        </p:spPr>
      </p:pic>
      <p:sp>
        <p:nvSpPr>
          <p:cNvPr id="14" name="TextBox 13"/>
          <p:cNvSpPr txBox="1"/>
          <p:nvPr/>
        </p:nvSpPr>
        <p:spPr>
          <a:xfrm>
            <a:off x="1399031" y="327558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3495040"/>
            <a:ext cx="9987991" cy="423672"/>
          </a:xfrm>
          <a:prstGeom prst="rect">
            <a:avLst/>
          </a:prstGeom>
          <a:noFill/>
        </p:spPr>
        <p:txBody>
          <a:bodyPr wrap="square" anchor="t" lIns="0" rIns="0" tIns="0" bIns="0">
            <a:spAutoFit/>
          </a:bodyPr>
          <a:lstStyle/>
          <a:p>
            <a:r>
              <a:rPr sz="1500" b="0" i="0">
                <a:solidFill>
                  <a:srgbClr val="FFFFFF"/>
                </a:solidFill>
                <a:latin typeface="Calibri"/>
              </a:rPr>
              <a:t>Can the sheet show what the director expects, and still be the number Finance signs?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0" name="Oval 19"/>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2" name="Oval 2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 typed-over cell does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card recalculates from the cell, and the next refresh wipes it without a trace.</a:t>
            </a:r>
          </a:p>
        </p:txBody>
      </p:sp>
      <p:pic>
        <p:nvPicPr>
          <p:cNvPr id="9" name="mermaid diagram" descr="ee3c3a5934a89e8d.png"/>
          <p:cNvPicPr>
            <a:picLocks noChangeAspect="1"/>
          </p:cNvPicPr>
          <p:nvPr/>
        </p:nvPicPr>
        <p:blipFill>
          <a:blip r:embed="rId5"/>
          <a:stretch>
            <a:fillRect/>
          </a:stretch>
        </p:blipFill>
        <p:spPr>
          <a:xfrm>
            <a:off x="1938185" y="1956816"/>
            <a:ext cx="831532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week, the deck says Retail-Plus fell 14.6 percent while Finance's books say 29.4. Then the refresh restores the export and nobody can say why the two differed.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operating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warehouse owns the number, pandas owns the iteration, Excel owns the last mile.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WAREHOUSE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Owns the number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Anything Finance audits or that needs a join, a dedupe or a cleaning step.</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ode_963a38c8fdc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PANDAS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Owns the iteration</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analyst's question that changes daily, until Finance relies on it.</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able_25d7ac20a7c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EXCEL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Owns the last mile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Presents, slices and looks up an export, and takes what-ifs as labelled inputs.</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Nobody types over the source. A director's assumption is an input beside it, and the sheet ties back to the warehouse every time it is refreshed.</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8" name="Oval 3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0" name="Oval 3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the director's what-if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 is legitimate; the edit is not.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"Retail-Plus back at five lakh" belong in the sheet? a) over the Q2 cell, with a comment; b) in a yellow input cell feeding a separate, labelled scenario line on the card; c) in the export, before it is loaded; d) nowhere, since directors do not get what-ifs.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labelled input beside the source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lines on one card: what the export says, and what the director assumes.</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59998"/>
                <a:gridCol w="3326777"/>
                <a:gridCol w="4544215"/>
              </a:tblGrid>
              <a:tr h="369824">
                <a:tc>
                  <a:txBody>
                    <a:bodyPr/>
                    <a:lstStyle/>
                    <a:p>
                      <a:r>
                        <a:rPr sz="1450" b="1" i="0">
                          <a:solidFill>
                            <a:srgbClr val="FFFFFF"/>
                          </a:solidFill>
                          <a:latin typeface="Calibri"/>
                        </a:rPr>
                        <a:t>Line on the card</a:t>
                      </a:r>
                    </a:p>
                  </a:txBody>
                  <a:tcPr marL="101600" marR="101600" marT="38100" marB="38100" anchor="ctr">
                    <a:solidFill>
                      <a:srgbClr val="1A0F5C"/>
                    </a:solidFill>
                  </a:tcPr>
                </a:tc>
                <a:tc>
                  <a:txBody>
                    <a:bodyPr/>
                    <a:lstStyle/>
                    <a:p>
                      <a:r>
                        <a:rPr sz="1450" b="1" i="0">
                          <a:solidFill>
                            <a:srgbClr val="FFFFFF"/>
                          </a:solidFill>
                          <a:latin typeface="Calibri"/>
                        </a:rPr>
                        <a:t>Retail-Plus, Q2 on Q1</a:t>
                      </a:r>
                    </a:p>
                  </a:txBody>
                  <a:tcPr marL="101600" marR="101600" marT="38100" marB="38100" anchor="ctr">
                    <a:solidFill>
                      <a:srgbClr val="1A0F5C"/>
                    </a:solidFill>
                  </a:tcPr>
                </a:tc>
                <a:tc>
                  <a:txBody>
                    <a:bodyPr/>
                    <a:lstStyle/>
                    <a:p>
                      <a:r>
                        <a:rPr sz="1450" b="1" i="0">
                          <a:solidFill>
                            <a:srgbClr val="FFFFFF"/>
                          </a:solidFill>
                          <a:latin typeface="Calibri"/>
                        </a:rPr>
                        <a:t>Where it comes from</a:t>
                      </a:r>
                    </a:p>
                  </a:txBody>
                  <a:tcPr marL="101600" marR="101600" marT="38100" marB="38100" anchor="ctr">
                    <a:solidFill>
                      <a:srgbClr val="1A0F5C"/>
                    </a:solidFill>
                  </a:tcPr>
                </a:tc>
              </a:tr>
              <a:tr h="369824">
                <a:tc>
                  <a:txBody>
                    <a:bodyPr/>
                    <a:lstStyle/>
                    <a:p>
                      <a:r>
                        <a:rPr sz="1400" b="0" i="0">
                          <a:solidFill>
                            <a:srgbClr val="1A1440"/>
                          </a:solidFill>
                          <a:latin typeface="Calibri"/>
                        </a:rPr>
                        <a:t>Actual</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c>
                  <a:txBody>
                    <a:bodyPr/>
                    <a:lstStyle/>
                    <a:p>
                      <a:r>
                        <a:rPr sz="1400" b="0" i="0">
                          <a:solidFill>
                            <a:srgbClr val="1A1440"/>
                          </a:solidFill>
                          <a:latin typeface="Calibri"/>
                        </a:rPr>
                        <a:t>The export, tied to the warehouse</a:t>
                      </a:r>
                    </a:p>
                  </a:txBody>
                  <a:tcPr marL="101600" marR="101600" marT="38100" marB="38100" anchor="ctr">
                    <a:solidFill>
                      <a:srgbClr val="FFFFFF"/>
                    </a:solidFill>
                  </a:tcPr>
                </a:tc>
              </a:tr>
              <a:tr h="369824">
                <a:tc>
                  <a:txBody>
                    <a:bodyPr/>
                    <a:lstStyle/>
                    <a:p>
                      <a:r>
                        <a:rPr sz="1400" b="0" i="0">
                          <a:solidFill>
                            <a:srgbClr val="1A1440"/>
                          </a:solidFill>
                          <a:latin typeface="Calibri"/>
                        </a:rPr>
                        <a:t>The director's scenario</a:t>
                      </a:r>
                    </a:p>
                  </a:txBody>
                  <a:tcPr marL="101600" marR="101600" marT="38100" marB="38100" anchor="ctr">
                    <a:solidFill>
                      <a:srgbClr val="F4F2FA"/>
                    </a:solidFill>
                  </a:tcPr>
                </a:tc>
                <a:tc>
                  <a:txBody>
                    <a:bodyPr/>
                    <a:lstStyle/>
                    <a:p>
                      <a:r>
                        <a:rPr sz="1400" b="0" i="0">
                          <a:solidFill>
                            <a:srgbClr val="1A1440"/>
                          </a:solidFill>
                          <a:latin typeface="Calibri"/>
                        </a:rPr>
                        <a:t>-14.6%</a:t>
                      </a:r>
                    </a:p>
                  </a:txBody>
                  <a:tcPr marL="101600" marR="101600" marT="38100" marB="38100" anchor="ctr">
                    <a:solidFill>
                      <a:srgbClr val="F4F2FA"/>
                    </a:solidFill>
                  </a:tcPr>
                </a:tc>
                <a:tc>
                  <a:txBody>
                    <a:bodyPr/>
                    <a:lstStyle/>
                    <a:p>
                      <a:r>
                        <a:rPr sz="1400" b="0" i="0">
                          <a:solidFill>
                            <a:srgbClr val="1A1440"/>
                          </a:solidFill>
                          <a:latin typeface="Calibri"/>
                        </a:rPr>
                        <a:t>A yellow input of Rs 5,00,000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director gets the number they want to discuss, the card keeps the number Finance signs, and both are labelled.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defence, in three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one partner says to the director, then they swap.</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Yes to the question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I will show five lakh as your scenario, beside the actual.</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No to the edit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actual comes from the export Finance ties to; typing over it breaks that tie.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Every refresh ties the sheet back to the warehouse, so a drift shows the same day.</a:t>
            </a:r>
          </a:p>
        </p:txBody>
      </p:sp>
      <p:sp>
        <p:nvSpPr>
          <p:cNvPr id="25" name="Rounded Rectangle 24"/>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54558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[D] Two directors change assumptions in the room and the sheet recalculates differently for each; what did you get right and what do you fix?</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4" name="Oval 33"/>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6" name="Oval 3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8" name="Oval 3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Eleven questions, answered aloud, the way an analytics screen asks them.</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questions, with their tags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five, then six follow-ups a screen asks next.</a:t>
            </a:r>
          </a:p>
        </p:txBody>
      </p:sp>
      <p:graphicFrame>
        <p:nvGraphicFramePr>
          <p:cNvPr id="9" name="Table 8"/>
          <p:cNvGraphicFramePr>
            <a:graphicFrameLocks noGrp="1"/>
          </p:cNvGraphicFramePr>
          <p:nvPr/>
        </p:nvGraphicFramePr>
        <p:xfrm>
          <a:off x="530352" y="1825752"/>
          <a:ext cx="11130991" cy="4230624"/>
        </p:xfrm>
        <a:graphic>
          <a:graphicData uri="http://schemas.openxmlformats.org/drawingml/2006/table">
            <a:tbl>
              <a:tblPr firstRow="0" bandRow="0">
                <a:tableStyleId>{2D5ABB26-0587-4C30-8999-92F81FD0307C}</a:tableStyleId>
              </a:tblPr>
              <a:tblGrid>
                <a:gridCol w="914400"/>
                <a:gridCol w="10216591"/>
              </a:tblGrid>
              <a:tr h="352552">
                <a:tc>
                  <a:txBody>
                    <a:bodyPr/>
                    <a:lstStyle/>
                    <a:p>
                      <a:r>
                        <a:rPr sz="1350" b="1" i="0">
                          <a:solidFill>
                            <a:srgbClr val="FFFFFF"/>
                          </a:solidFill>
                          <a:latin typeface="Calibri"/>
                        </a:rPr>
                        <a:t>Tag</a:t>
                      </a:r>
                    </a:p>
                  </a:txBody>
                  <a:tcPr marL="101600" marR="101600" marT="38100" marB="38100" anchor="ctr">
                    <a:solidFill>
                      <a:srgbClr val="1A0F5C"/>
                    </a:solidFill>
                  </a:tcPr>
                </a:tc>
                <a:tc>
                  <a:txBody>
                    <a:bodyPr/>
                    <a:lstStyle/>
                    <a:p>
                      <a:r>
                        <a:rPr sz="1350" b="1" i="0">
                          <a:solidFill>
                            <a:srgbClr val="FFFFFF"/>
                          </a:solidFill>
                          <a:latin typeface="Calibri"/>
                        </a:rPr>
                        <a:t>Question</a:t>
                      </a:r>
                    </a:p>
                  </a:txBody>
                  <a:tcPr marL="101600" marR="101600" marT="38100" marB="38100" anchor="ctr">
                    <a:solidFill>
                      <a:srgbClr val="1A0F5C"/>
                    </a:solidFill>
                  </a:tcPr>
                </a:tc>
              </a:tr>
              <a:tr h="352552">
                <a:tc>
                  <a:txBody>
                    <a:bodyPr/>
                    <a:lstStyle/>
                    <a:p>
                      <a:r>
                        <a:rPr sz="1300" b="0" i="0">
                          <a:solidFill>
                            <a:srgbClr val="1A1440"/>
                          </a:solidFill>
                          <a:latin typeface="Calibri"/>
                        </a:rPr>
                        <a:t>[S]</a:t>
                      </a:r>
                    </a:p>
                  </a:txBody>
                  <a:tcPr marL="101600" marR="101600" marT="38100" marB="38100" anchor="ctr">
                    <a:solidFill>
                      <a:srgbClr val="FFFFFF"/>
                    </a:solidFill>
                  </a:tcPr>
                </a:tc>
                <a:tc>
                  <a:txBody>
                    <a:bodyPr/>
                    <a:lstStyle/>
                    <a:p>
                      <a:r>
                        <a:rPr sz="1300" b="0" i="0">
                          <a:solidFill>
                            <a:srgbClr val="1A1440"/>
                          </a:solidFill>
                          <a:latin typeface="Calibri"/>
                        </a:rPr>
                        <a:t>SQL, pandas or Excel: how do you choose?</a:t>
                      </a:r>
                    </a:p>
                  </a:txBody>
                  <a:tcPr marL="101600" marR="101600" marT="38100" marB="38100" anchor="ctr">
                    <a:solidFill>
                      <a:srgbClr val="FFFFFF"/>
                    </a:solidFill>
                  </a:tcPr>
                </a:tc>
              </a:tr>
              <a:tr h="352552">
                <a:tc>
                  <a:txBody>
                    <a:bodyPr/>
                    <a:lstStyle/>
                    <a:p>
                      <a:r>
                        <a:rPr sz="1300" b="0" i="0">
                          <a:solidFill>
                            <a:srgbClr val="1A1440"/>
                          </a:solidFill>
                          <a:latin typeface="Calibri"/>
                        </a:rPr>
                        <a:t>[S]</a:t>
                      </a:r>
                    </a:p>
                  </a:txBody>
                  <a:tcPr marL="101600" marR="101600" marT="38100" marB="38100" anchor="ctr">
                    <a:solidFill>
                      <a:srgbClr val="F4F2FA"/>
                    </a:solidFill>
                  </a:tcPr>
                </a:tc>
                <a:tc>
                  <a:txBody>
                    <a:bodyPr/>
                    <a:lstStyle/>
                    <a:p>
                      <a:r>
                        <a:rPr sz="1300" b="0" i="0">
                          <a:solidFill>
                            <a:srgbClr val="1A1440"/>
                          </a:solidFill>
                          <a:latin typeface="Calibri"/>
                        </a:rPr>
                        <a:t>A stakeholder wants to poke the numbers; what do you give them and never give them?</a:t>
                      </a:r>
                    </a:p>
                  </a:txBody>
                  <a:tcPr marL="101600" marR="101600" marT="38100" marB="38100" anchor="ctr">
                    <a:solidFill>
                      <a:srgbClr val="F4F2FA"/>
                    </a:solidFill>
                  </a:tcPr>
                </a:tc>
              </a:tr>
              <a:tr h="352552">
                <a:tc>
                  <a:txBody>
                    <a:bodyPr/>
                    <a:lstStyle/>
                    <a:p>
                      <a:r>
                        <a:rPr sz="1300" b="0" i="0">
                          <a:solidFill>
                            <a:srgbClr val="1A1440"/>
                          </a:solidFill>
                          <a:latin typeface="Calibri"/>
                        </a:rPr>
                        <a:t>[F]</a:t>
                      </a:r>
                    </a:p>
                  </a:txBody>
                  <a:tcPr marL="101600" marR="101600" marT="38100" marB="38100" anchor="ctr">
                    <a:solidFill>
                      <a:srgbClr val="FFFFFF"/>
                    </a:solidFill>
                  </a:tcPr>
                </a:tc>
                <a:tc>
                  <a:txBody>
                    <a:bodyPr/>
                    <a:lstStyle/>
                    <a:p>
                      <a:r>
                        <a:rPr sz="1300" b="0" i="0">
                          <a:solidFill>
                            <a:srgbClr val="1A1440"/>
                          </a:solidFill>
                          <a:latin typeface="Calibri"/>
                        </a:rPr>
                        <a:t>Your pivot shows a different total from the warehouse; where do you look first?</a:t>
                      </a:r>
                    </a:p>
                  </a:txBody>
                  <a:tcPr marL="101600" marR="101600" marT="38100" marB="38100" anchor="ctr">
                    <a:solidFill>
                      <a:srgbClr val="FFFFFF"/>
                    </a:solidFill>
                  </a:tcPr>
                </a:tc>
              </a:tr>
              <a:tr h="352552">
                <a:tc>
                  <a:txBody>
                    <a:bodyPr/>
                    <a:lstStyle/>
                    <a:p>
                      <a:r>
                        <a:rPr sz="1300" b="0" i="0">
                          <a:solidFill>
                            <a:srgbClr val="1A1440"/>
                          </a:solidFill>
                          <a:latin typeface="Calibri"/>
                        </a:rPr>
                        <a:t>[F]</a:t>
                      </a:r>
                    </a:p>
                  </a:txBody>
                  <a:tcPr marL="101600" marR="101600" marT="38100" marB="38100" anchor="ctr">
                    <a:solidFill>
                      <a:srgbClr val="F4F2FA"/>
                    </a:solidFill>
                  </a:tcPr>
                </a:tc>
                <a:tc>
                  <a:txBody>
                    <a:bodyPr/>
                    <a:lstStyle/>
                    <a:p>
                      <a:r>
                        <a:rPr sz="1300" b="0" i="0">
                          <a:solidFill>
                            <a:srgbClr val="1A1440"/>
                          </a:solidFill>
                          <a:latin typeface="Calibri"/>
                        </a:rPr>
                        <a:t>How do you present one number so it is not misread?</a:t>
                      </a:r>
                    </a:p>
                  </a:txBody>
                  <a:tcPr marL="101600" marR="101600" marT="38100" marB="38100" anchor="ctr">
                    <a:solidFill>
                      <a:srgbClr val="F4F2FA"/>
                    </a:solidFill>
                  </a:tcPr>
                </a:tc>
              </a:tr>
              <a:tr h="352552">
                <a:tc>
                  <a:txBody>
                    <a:bodyPr/>
                    <a:lstStyle/>
                    <a:p>
                      <a:r>
                        <a:rPr sz="1300" b="0" i="0">
                          <a:solidFill>
                            <a:srgbClr val="1A1440"/>
                          </a:solidFill>
                          <a:latin typeface="Calibri"/>
                        </a:rPr>
                        <a:t>[D]</a:t>
                      </a:r>
                    </a:p>
                  </a:txBody>
                  <a:tcPr marL="101600" marR="101600" marT="38100" marB="38100" anchor="ctr">
                    <a:solidFill>
                      <a:srgbClr val="FFFFFF"/>
                    </a:solidFill>
                  </a:tcPr>
                </a:tc>
                <a:tc>
                  <a:txBody>
                    <a:bodyPr/>
                    <a:lstStyle/>
                    <a:p>
                      <a:r>
                        <a:rPr sz="1300" b="0" i="0">
                          <a:solidFill>
                            <a:srgbClr val="1A1440"/>
                          </a:solidFill>
                          <a:latin typeface="Calibri"/>
                        </a:rPr>
                        <a:t>Two directors change assumptions and the sheet recalculates differently; what did you get right, what do you fix?</a:t>
                      </a:r>
                    </a:p>
                  </a:txBody>
                  <a:tcPr marL="101600" marR="101600" marT="38100" marB="38100" anchor="ctr">
                    <a:solidFill>
                      <a:srgbClr val="FFFFFF"/>
                    </a:solidFill>
                  </a:tcPr>
                </a:tc>
              </a:tr>
              <a:tr h="352552">
                <a:tc>
                  <a:txBody>
                    <a:bodyPr/>
                    <a:lstStyle/>
                    <a:p>
                      <a:r>
                        <a:rPr sz="1300" b="0" i="0">
                          <a:solidFill>
                            <a:srgbClr val="1A1440"/>
                          </a:solidFill>
                          <a:latin typeface="Calibri"/>
                        </a:rPr>
                        <a:t>[F]</a:t>
                      </a:r>
                    </a:p>
                  </a:txBody>
                  <a:tcPr marL="101600" marR="101600" marT="38100" marB="38100" anchor="ctr">
                    <a:solidFill>
                      <a:srgbClr val="F4F2FA"/>
                    </a:solidFill>
                  </a:tcPr>
                </a:tc>
                <a:tc>
                  <a:txBody>
                    <a:bodyPr/>
                    <a:lstStyle/>
                    <a:p>
                      <a:r>
                        <a:rPr sz="1300" b="0" i="0">
                          <a:solidFill>
                            <a:srgbClr val="1A1440"/>
                          </a:solidFill>
                          <a:latin typeface="Calibri"/>
                        </a:rPr>
                        <a:t>Your lookup returned a member for an id that does not exist; which argument was wrong?</a:t>
                      </a:r>
                    </a:p>
                  </a:txBody>
                  <a:tcPr marL="101600" marR="101600" marT="38100" marB="38100" anchor="ctr">
                    <a:solidFill>
                      <a:srgbClr val="F4F2FA"/>
                    </a:solidFill>
                  </a:tcPr>
                </a:tc>
              </a:tr>
              <a:tr h="352552">
                <a:tc>
                  <a:txBody>
                    <a:bodyPr/>
                    <a:lstStyle/>
                    <a:p>
                      <a:r>
                        <a:rPr sz="1300" b="0" i="0">
                          <a:solidFill>
                            <a:srgbClr val="1A1440"/>
                          </a:solidFill>
                          <a:latin typeface="Calibri"/>
                        </a:rPr>
                        <a:t>[F]</a:t>
                      </a:r>
                    </a:p>
                  </a:txBody>
                  <a:tcPr marL="101600" marR="101600" marT="38100" marB="38100" anchor="ctr">
                    <a:solidFill>
                      <a:srgbClr val="FFFFFF"/>
                    </a:solidFill>
                  </a:tcPr>
                </a:tc>
                <a:tc>
                  <a:txBody>
                    <a:bodyPr/>
                    <a:lstStyle/>
                    <a:p>
                      <a:r>
                        <a:rPr sz="1300" b="0" i="0">
                          <a:solidFill>
                            <a:srgbClr val="1A1440"/>
                          </a:solidFill>
                          <a:latin typeface="Calibri"/>
                        </a:rPr>
                        <a:t>You filter a list and its total does not move; what is the foot doing?</a:t>
                      </a:r>
                    </a:p>
                  </a:txBody>
                  <a:tcPr marL="101600" marR="101600" marT="38100" marB="38100" anchor="ctr">
                    <a:solidFill>
                      <a:srgbClr val="FFFFFF"/>
                    </a:solidFill>
                  </a:tcPr>
                </a:tc>
              </a:tr>
              <a:tr h="352552">
                <a:tc>
                  <a:txBody>
                    <a:bodyPr/>
                    <a:lstStyle/>
                    <a:p>
                      <a:r>
                        <a:rPr sz="1300" b="0" i="0">
                          <a:solidFill>
                            <a:srgbClr val="1A1440"/>
                          </a:solidFill>
                          <a:latin typeface="Calibri"/>
                        </a:rPr>
                        <a:t>[S]</a:t>
                      </a:r>
                    </a:p>
                  </a:txBody>
                  <a:tcPr marL="101600" marR="101600" marT="38100" marB="38100" anchor="ctr">
                    <a:solidFill>
                      <a:srgbClr val="F4F2FA"/>
                    </a:solidFill>
                  </a:tcPr>
                </a:tc>
                <a:tc>
                  <a:txBody>
                    <a:bodyPr/>
                    <a:lstStyle/>
                    <a:p>
                      <a:r>
                        <a:rPr sz="1300" b="0" i="0">
                          <a:solidFill>
                            <a:srgbClr val="1A1440"/>
                          </a:solidFill>
                          <a:latin typeface="Calibri"/>
                        </a:rPr>
                        <a:t>Why does Remove Duplicates not fix an export at the payment grain?</a:t>
                      </a:r>
                    </a:p>
                  </a:txBody>
                  <a:tcPr marL="101600" marR="101600" marT="38100" marB="38100" anchor="ctr">
                    <a:solidFill>
                      <a:srgbClr val="F4F2FA"/>
                    </a:solidFill>
                  </a:tcPr>
                </a:tc>
              </a:tr>
              <a:tr h="352552">
                <a:tc>
                  <a:txBody>
                    <a:bodyPr/>
                    <a:lstStyle/>
                    <a:p>
                      <a:r>
                        <a:rPr sz="1300" b="0" i="0">
                          <a:solidFill>
                            <a:srgbClr val="1A1440"/>
                          </a:solidFill>
                          <a:latin typeface="Calibri"/>
                        </a:rPr>
                        <a:t>[F]</a:t>
                      </a:r>
                    </a:p>
                  </a:txBody>
                  <a:tcPr marL="101600" marR="101600" marT="38100" marB="38100" anchor="ctr">
                    <a:solidFill>
                      <a:srgbClr val="FFFFFF"/>
                    </a:solidFill>
                  </a:tcPr>
                </a:tc>
                <a:tc>
                  <a:txBody>
                    <a:bodyPr/>
                    <a:lstStyle/>
                    <a:p>
                      <a:r>
                        <a:rPr sz="1300" b="0" i="0">
                          <a:solidFill>
                            <a:srgbClr val="1A1440"/>
                          </a:solidFill>
                          <a:latin typeface="Calibri"/>
                        </a:rPr>
                        <a:t>A director says revenue doubled; your card says Rs 19.84 crore; what is missing?</a:t>
                      </a:r>
                    </a:p>
                  </a:txBody>
                  <a:tcPr marL="101600" marR="101600" marT="38100" marB="38100" anchor="ctr">
                    <a:solidFill>
                      <a:srgbClr val="FFFFFF"/>
                    </a:solidFill>
                  </a:tcPr>
                </a:tc>
              </a:tr>
              <a:tr h="352552">
                <a:tc>
                  <a:txBody>
                    <a:bodyPr/>
                    <a:lstStyle/>
                    <a:p>
                      <a:r>
                        <a:rPr sz="1300" b="0" i="0">
                          <a:solidFill>
                            <a:srgbClr val="1A1440"/>
                          </a:solidFill>
                          <a:latin typeface="Calibri"/>
                        </a:rPr>
                        <a:t>[D]</a:t>
                      </a:r>
                    </a:p>
                  </a:txBody>
                  <a:tcPr marL="101600" marR="101600" marT="38100" marB="38100" anchor="ctr">
                    <a:solidFill>
                      <a:srgbClr val="F4F2FA"/>
                    </a:solidFill>
                  </a:tcPr>
                </a:tc>
                <a:tc>
                  <a:txBody>
                    <a:bodyPr/>
                    <a:lstStyle/>
                    <a:p>
                      <a:r>
                        <a:rPr sz="1300" b="0" i="0">
                          <a:solidFill>
                            <a:srgbClr val="1A1440"/>
                          </a:solidFill>
                          <a:latin typeface="Calibri"/>
                        </a:rPr>
                        <a:t>A segment fell 29 percent and is 0.4 percent of revenue; does it go on the front page, and how?</a:t>
                      </a:r>
                    </a:p>
                  </a:txBody>
                  <a:tcPr marL="101600" marR="101600" marT="38100" marB="38100" anchor="ctr">
                    <a:solidFill>
                      <a:srgbClr val="F4F2FA"/>
                    </a:solidFill>
                  </a:tcPr>
                </a:tc>
              </a:tr>
              <a:tr h="352552">
                <a:tc>
                  <a:txBody>
                    <a:bodyPr/>
                    <a:lstStyle/>
                    <a:p>
                      <a:r>
                        <a:rPr sz="1300" b="0" i="0">
                          <a:solidFill>
                            <a:srgbClr val="1A1440"/>
                          </a:solidFill>
                          <a:latin typeface="Calibri"/>
                        </a:rPr>
                        <a:t>[D]</a:t>
                      </a:r>
                    </a:p>
                  </a:txBody>
                  <a:tcPr marL="101600" marR="101600" marT="38100" marB="38100" anchor="ctr">
                    <a:solidFill>
                      <a:srgbClr val="FFFFFF"/>
                    </a:solidFill>
                  </a:tcPr>
                </a:tc>
                <a:tc>
                  <a:txBody>
                    <a:bodyPr/>
                    <a:lstStyle/>
                    <a:p>
                      <a:r>
                        <a:rPr sz="1300" b="0" i="0">
                          <a:solidFill>
                            <a:srgbClr val="1A1440"/>
                          </a:solidFill>
                          <a:latin typeface="Calibri"/>
                        </a:rPr>
                        <a:t>A director wants to type over the source in the room; what do you say, and what do you build?</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shape of a strong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mechanism, the check, the number from this week, and the decision it changes.</a:t>
            </a:r>
          </a:p>
        </p:txBody>
      </p:sp>
      <p:pic>
        <p:nvPicPr>
          <p:cNvPr id="9" name="mermaid diagram" descr="27288e316e33679f.png"/>
          <p:cNvPicPr>
            <a:picLocks noChangeAspect="1"/>
          </p:cNvPicPr>
          <p:nvPr/>
        </p:nvPicPr>
        <p:blipFill>
          <a:blip r:embed="rId5"/>
          <a:stretch>
            <a:fillRect/>
          </a:stretch>
        </p:blipFill>
        <p:spPr>
          <a:xfrm>
            <a:off x="1545278" y="1956816"/>
            <a:ext cx="9101137"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adds one value per row; I count rows against order ids; here 1,450 rows held 1,000 orders and the pivot read Rs 39.41 crore; counting each order once gave the warehouse's Rs 19.84 crore, so the deck carries the right quarter."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the chief of staff, the day's crux lines, and Monday in Kalpa Health.</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the number reaches the leadership deck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the chief of staff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she can trust the file for, and what she cannot.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"The tree and the front page tie to Finance's Rs 9.84 crore for Q2, down 1.6 percent on Q1, and the fall sits in Retail-Plus, where orders per member fell from 2.36 to 1.84. The protect list is held until the customer export is rerun, because it does not tie to the warehouse. Change the yellow cells freely; never type over a number."</a:t>
            </a:r>
          </a:p>
          <a:p>
            <a:pPr>
              <a:spcBef>
                <a:spcPts val="400"/>
              </a:spcBef>
            </a:pPr>
            <a:r>
              <a:rPr sz="1000" b="0" i="0">
                <a:solidFill>
                  <a:srgbClr val="6B6690"/>
                </a:solidFill>
                <a:latin typeface="Calibri"/>
              </a:rPr>
              <a:t>The team, to Meera's chief of staff</a:t>
            </a:r>
          </a:p>
        </p:txBody>
      </p:sp>
      <p:pic>
        <p:nvPicPr>
          <p:cNvPr id="11" name="mermaid diagram" descr="fa68fbcfde100f47.png"/>
          <p:cNvPicPr>
            <a:picLocks noChangeAspect="1"/>
          </p:cNvPicPr>
          <p:nvPr/>
        </p:nvPicPr>
        <p:blipFill>
          <a:blip r:embed="rId5"/>
          <a:stretch>
            <a:fillRect/>
          </a:stretch>
        </p:blipFill>
        <p:spPr>
          <a:xfrm>
            <a:off x="1881035" y="3698240"/>
            <a:ext cx="8429625"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crux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five lines the cheat sheet and the notes repeat word for word.</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A pivot is only as honest as the rows under it: say the grain, count rows against ids, tie the total to the warehouse.</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A lookup that cannot find an id says so; an approximate match answers with a neighbour.</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The foot of a filtered list adds only what the director can see: SUBTOTAL(109), never SUM.</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One number reaches the front page with its period, its comparison and its base.</a:t>
            </a:r>
          </a:p>
        </p:txBody>
      </p:sp>
      <p:sp>
        <p:nvSpPr>
          <p:cNvPr id="17" name="TextBox 16"/>
          <p:cNvSpPr txBox="1"/>
          <p:nvPr/>
        </p:nvSpPr>
        <p:spPr>
          <a:xfrm>
            <a:off x="530352" y="39471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983736"/>
            <a:ext cx="10564063" cy="627888"/>
          </a:xfrm>
          <a:prstGeom prst="rect">
            <a:avLst/>
          </a:prstGeom>
          <a:noFill/>
        </p:spPr>
        <p:txBody>
          <a:bodyPr wrap="square" anchor="t" lIns="0" rIns="0" tIns="0" bIns="0">
            <a:spAutoFit/>
          </a:bodyPr>
          <a:lstStyle/>
          <a:p>
            <a:r>
              <a:rPr sz="1500" b="0" i="0">
                <a:solidFill>
                  <a:srgbClr val="1A1440"/>
                </a:solidFill>
                <a:latin typeface="Calibri"/>
              </a:rPr>
              <a:t>The warehouse owns the number, pandas owns the iteration, Excel owns the last mile, and nobody types over the source.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Eight items, ungraded, including Thursday's merge one level up.</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the return question</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 performance indicator only</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the same method, a business you have not seen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Build 1 opens in Kalpa Health, with the project introduction online.</a:t>
            </a:r>
          </a:p>
        </p:txBody>
      </p:sp>
      <p:sp>
        <p:nvSpPr>
          <p:cNvPr id="9" name="TextBox 8"/>
          <p:cNvSpPr txBox="1"/>
          <p:nvPr/>
        </p:nvSpPr>
        <p:spPr>
          <a:xfrm>
            <a:off x="530352" y="19568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Dr Priya Menon, COO of Kalpa Health, brings Meera's question to a diagnostics business that grew 5 percent against a plan of 18.</a:t>
            </a:r>
          </a:p>
        </p:txBody>
      </p:sp>
      <p:sp>
        <p:nvSpPr>
          <p:cNvPr id="10" name="Rounded Rectangle 9"/>
          <p:cNvSpPr/>
          <p:nvPr/>
        </p:nvSpPr>
        <p:spPr>
          <a:xfrm>
            <a:off x="530352" y="2856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3058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flask-conical_7f5aa1048f78.png"/>
          <p:cNvPicPr>
            <a:picLocks noChangeAspect="1"/>
          </p:cNvPicPr>
          <p:nvPr/>
        </p:nvPicPr>
        <p:blipFill>
          <a:blip r:embed="rId4"/>
          <a:stretch>
            <a:fillRect/>
          </a:stretch>
        </p:blipFill>
        <p:spPr>
          <a:xfrm>
            <a:off x="841247" y="3167888"/>
            <a:ext cx="237744" cy="237744"/>
          </a:xfrm>
          <a:prstGeom prst="rect">
            <a:avLst/>
          </a:prstGeom>
        </p:spPr>
      </p:pic>
      <p:sp>
        <p:nvSpPr>
          <p:cNvPr id="13" name="TextBox 12"/>
          <p:cNvSpPr txBox="1"/>
          <p:nvPr/>
        </p:nvSpPr>
        <p:spPr>
          <a:xfrm>
            <a:off x="731519" y="3625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STAYS</a:t>
            </a:r>
          </a:p>
        </p:txBody>
      </p:sp>
      <p:sp>
        <p:nvSpPr>
          <p:cNvPr id="14" name="TextBox 13"/>
          <p:cNvSpPr txBox="1"/>
          <p:nvPr/>
        </p:nvSpPr>
        <p:spPr>
          <a:xfrm>
            <a:off x="731519" y="3862832"/>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method</a:t>
            </a:r>
          </a:p>
        </p:txBody>
      </p:sp>
      <p:sp>
        <p:nvSpPr>
          <p:cNvPr id="15" name="TextBox 14"/>
          <p:cNvSpPr txBox="1"/>
          <p:nvPr/>
        </p:nvSpPr>
        <p:spPr>
          <a:xfrm>
            <a:off x="731519" y="4203700"/>
            <a:ext cx="3186074" cy="399796"/>
          </a:xfrm>
          <a:prstGeom prst="rect">
            <a:avLst/>
          </a:prstGeom>
          <a:noFill/>
        </p:spPr>
        <p:txBody>
          <a:bodyPr wrap="square" anchor="t" lIns="0" rIns="0" tIns="0" bIns="0">
            <a:spAutoFit/>
          </a:bodyPr>
          <a:lstStyle/>
          <a:p>
            <a:pPr algn="l"/>
            <a:r>
              <a:rPr sz="1100" b="0" i="0">
                <a:solidFill>
                  <a:srgbClr val="6B6690"/>
                </a:solidFill>
                <a:latin typeface="Calibri"/>
              </a:rPr>
              <a:t>The tree, the grain, the reconciliation, the card with its period and base.</a:t>
            </a:r>
          </a:p>
        </p:txBody>
      </p:sp>
      <p:sp>
        <p:nvSpPr>
          <p:cNvPr id="16" name="Rounded Rectangle 15"/>
          <p:cNvSpPr/>
          <p:nvPr/>
        </p:nvSpPr>
        <p:spPr>
          <a:xfrm>
            <a:off x="4301642" y="2856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02810" y="3058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hospital_8adfcd515209.png"/>
          <p:cNvPicPr>
            <a:picLocks noChangeAspect="1"/>
          </p:cNvPicPr>
          <p:nvPr/>
        </p:nvPicPr>
        <p:blipFill>
          <a:blip r:embed="rId5"/>
          <a:stretch>
            <a:fillRect/>
          </a:stretch>
        </p:blipFill>
        <p:spPr>
          <a:xfrm>
            <a:off x="4612538" y="3167888"/>
            <a:ext cx="237744" cy="237744"/>
          </a:xfrm>
          <a:prstGeom prst="rect">
            <a:avLst/>
          </a:prstGeom>
        </p:spPr>
      </p:pic>
      <p:sp>
        <p:nvSpPr>
          <p:cNvPr id="19" name="TextBox 18"/>
          <p:cNvSpPr txBox="1"/>
          <p:nvPr/>
        </p:nvSpPr>
        <p:spPr>
          <a:xfrm>
            <a:off x="4502810" y="3625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CHANGES</a:t>
            </a:r>
          </a:p>
        </p:txBody>
      </p:sp>
      <p:sp>
        <p:nvSpPr>
          <p:cNvPr id="20" name="TextBox 19"/>
          <p:cNvSpPr txBox="1"/>
          <p:nvPr/>
        </p:nvSpPr>
        <p:spPr>
          <a:xfrm>
            <a:off x="4502810" y="3862832"/>
            <a:ext cx="3186074" cy="267716"/>
          </a:xfrm>
          <a:prstGeom prst="rect">
            <a:avLst/>
          </a:prstGeom>
          <a:noFill/>
        </p:spPr>
        <p:txBody>
          <a:bodyPr wrap="square" anchor="t" lIns="0" rIns="0" tIns="0" bIns="0">
            <a:spAutoFit/>
          </a:bodyPr>
          <a:lstStyle/>
          <a:p>
            <a:pPr algn="l"/>
            <a:r>
              <a:rPr sz="1400" b="1" i="0">
                <a:solidFill>
                  <a:srgbClr val="1A0F5C"/>
                </a:solidFill>
                <a:latin typeface="Calibri"/>
              </a:rPr>
              <a:t>The domain</a:t>
            </a:r>
          </a:p>
        </p:txBody>
      </p:sp>
      <p:sp>
        <p:nvSpPr>
          <p:cNvPr id="21" name="TextBox 20"/>
          <p:cNvSpPr txBox="1"/>
          <p:nvPr/>
        </p:nvSpPr>
        <p:spPr>
          <a:xfrm>
            <a:off x="4502810" y="4203700"/>
            <a:ext cx="3186074" cy="399796"/>
          </a:xfrm>
          <a:prstGeom prst="rect">
            <a:avLst/>
          </a:prstGeom>
          <a:noFill/>
        </p:spPr>
        <p:txBody>
          <a:bodyPr wrap="square" anchor="t" lIns="0" rIns="0" tIns="0" bIns="0">
            <a:spAutoFit/>
          </a:bodyPr>
          <a:lstStyle/>
          <a:p>
            <a:pPr algn="l"/>
            <a:r>
              <a:rPr sz="1100" b="0" i="0">
                <a:solidFill>
                  <a:srgbClr val="6B6690"/>
                </a:solidFill>
                <a:latin typeface="Calibri"/>
              </a:rPr>
              <a:t>Labs, bookings, collections and clinics, in five sub-problems.</a:t>
            </a:r>
          </a:p>
        </p:txBody>
      </p:sp>
      <p:sp>
        <p:nvSpPr>
          <p:cNvPr id="22" name="Rounded Rectangle 21"/>
          <p:cNvSpPr/>
          <p:nvPr/>
        </p:nvSpPr>
        <p:spPr>
          <a:xfrm>
            <a:off x="8072932" y="2856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274100" y="3058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ircle-help_e970ab2886cf.png"/>
          <p:cNvPicPr>
            <a:picLocks noChangeAspect="1"/>
          </p:cNvPicPr>
          <p:nvPr/>
        </p:nvPicPr>
        <p:blipFill>
          <a:blip r:embed="rId6"/>
          <a:stretch>
            <a:fillRect/>
          </a:stretch>
        </p:blipFill>
        <p:spPr>
          <a:xfrm>
            <a:off x="8383828" y="3167888"/>
            <a:ext cx="237744" cy="237744"/>
          </a:xfrm>
          <a:prstGeom prst="rect">
            <a:avLst/>
          </a:prstGeom>
        </p:spPr>
      </p:pic>
      <p:sp>
        <p:nvSpPr>
          <p:cNvPr id="25" name="TextBox 24"/>
          <p:cNvSpPr txBox="1"/>
          <p:nvPr/>
        </p:nvSpPr>
        <p:spPr>
          <a:xfrm>
            <a:off x="8274100" y="3625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LEFT OPEN</a:t>
            </a:r>
          </a:p>
        </p:txBody>
      </p:sp>
      <p:sp>
        <p:nvSpPr>
          <p:cNvPr id="26" name="TextBox 25"/>
          <p:cNvSpPr txBox="1"/>
          <p:nvPr/>
        </p:nvSpPr>
        <p:spPr>
          <a:xfrm>
            <a:off x="8274100" y="3862832"/>
            <a:ext cx="3186074" cy="267716"/>
          </a:xfrm>
          <a:prstGeom prst="rect">
            <a:avLst/>
          </a:prstGeom>
          <a:noFill/>
        </p:spPr>
        <p:txBody>
          <a:bodyPr wrap="square" anchor="t" lIns="0" rIns="0" tIns="0" bIns="0">
            <a:spAutoFit/>
          </a:bodyPr>
          <a:lstStyle/>
          <a:p>
            <a:pPr algn="l"/>
            <a:r>
              <a:rPr sz="1400" b="1" i="0">
                <a:solidFill>
                  <a:srgbClr val="FFFFFF"/>
                </a:solidFill>
                <a:latin typeface="Calibri"/>
              </a:rPr>
              <a:t>Monday's question</a:t>
            </a:r>
          </a:p>
        </p:txBody>
      </p:sp>
      <p:sp>
        <p:nvSpPr>
          <p:cNvPr id="27" name="TextBox 26"/>
          <p:cNvSpPr txBox="1"/>
          <p:nvPr/>
        </p:nvSpPr>
        <p:spPr>
          <a:xfrm>
            <a:off x="8274100" y="4203700"/>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is an order, a customer and a payment in a diagnostics business?</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2" name="Oval 31"/>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