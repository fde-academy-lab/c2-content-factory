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a:p>
            <a:r>
              <a:t>Transition: when a director takes the workbook in the room, what can they break, and which checks catch it before anyone reads a wrong number? The chief of staff's last condition rides on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C2_W02_D05_06_director_proof beside it; the reference workbook,</a:t>
            </a:r>
          </a:p>
          <a:p>
            <a:r>
              <a:t>demos/C2_W02_D05_deck_pack_STUDENT.xlsx, open in Excel.</a:t>
            </a:r>
          </a:p>
          <a:p>
            <a:r>
              <a:t>Transition: who changes the workbook in the room, and which six questions make it safe to hand over?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a:p>
            <a:r>
              <a:t>Transition: what does a silent change in the room cost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a:p>
            <a:r>
              <a:t>Transition: which real company paid for rows nobody could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a:p>
            <a:r>
              <a:t>Transition: how could the team protect the workbook, and what does each way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a:p>
            <a:r>
              <a:t>Transition: of the five things a director does, which change what a number means with nothing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a:p>
            <a:r>
              <a:t>Transition: what does each of the five do to the sheet?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the step after them takes the input, and the</a:t>
            </a:r>
          </a:p>
          <a:p>
            <a:r>
              <a:t>second case after the break takes the typed-over cell.</a:t>
            </a:r>
          </a:p>
          <a:p>
            <a:r>
              <a:t>Transition: when a director filters the list to Mumbai, what does a foot of =SUM(E2:E51)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a:p>
            <a:r>
              <a:t>Transition: what is the plausible wrong answer, and what budget would it size?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a:p>
            <a:r>
              <a:t>Transition: what do SUBTOTAL(109) and SUBTOTAL(103) say, filtered or hidden by hand?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a:p>
            <a:r>
              <a:t>Transition: does a total that reads the city, and never the screen, agree with the foot?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screen, so it can disagree with the foot,</a:t>
            </a:r>
          </a:p>
          <a:p>
            <a:r>
              <a:t>and here it does the moment someone hides a row by hand. Before reading a foot aloud, ask what else</a:t>
            </a:r>
          </a:p>
          <a:p>
            <a:r>
              <a:t>was hidden.</a:t>
            </a:r>
          </a:p>
          <a:p>
            <a:r>
              <a:t>Transition: a director asks what a Rs 500 voucher for every member on the list would cost; where does the Rs 500 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a:p>
            <a:r>
              <a:t>Transition: what happens when the director changes the input?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a:p>
            <a:r>
              <a:t>Transition: five checks each compare the sheet with something outside it; what does the release hold when one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a:p>
            <a:r>
              <a:t>Transition: what does each failing check hold, and why is a typed-over figure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a:p>
            <a:r>
              <a:t>Transition: what can a director break, and which checks catch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a:p>
            <a:r>
              <a:t>Transition: can you build the three deliverables and the Checks tab from the two exports, alone? The chief of staff opens it on Monday.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a:p>
            <a:r>
              <a:t>Transition: what does the chief of staff want, and how long does each part take?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brief takes 3 minutes of the section's opening; then start the clock for the brief's 50</a:t>
            </a:r>
          </a:p>
          <a:p>
            <a:r>
              <a:t>minutes of work, ten for each part.</a:t>
            </a:r>
          </a:p>
          <a:p>
            <a:r>
              <a:t>Transition: which checks must the file pass before it goes to Monday?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on screen for the case's 50 minutes. The reference workbook in demos/ has this tab.</a:t>
            </a:r>
          </a:p>
          <a:p>
            <a:r>
              <a:t>Transition: which wrong numbers did this room produce, in the order the day produced them? Every one was plausible.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a:t>
            </a:r>
          </a:p>
          <a:p>
            <a:r>
              <a:t>appeared; the table on the next slide is the list most rooms produce.</a:t>
            </a:r>
          </a:p>
          <a:p>
            <a:r>
              <a:t>Transition: which wrong numbers appeared, and what would each have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a:p>
            <a:r>
              <a:t>Transition: if the list's export does not tie while the tree and the card do, what does the Checks tab hold?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a:p>
            <a:r>
              <a:t>Transition: what goes to the data platform lead, and what does the chief of staff hear?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a:p>
            <a:r>
              <a:t>Transition: a director wants five lakh typed into the source; can the sheet show that number and still be the one Finance signs? Pairs defend the rule, then swap.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the notebook 15, the role play 15 with one round each way, the three</a:t>
            </a:r>
          </a:p>
          <a:p>
            <a:r>
              <a:t>lines 10. One partner plays the director, one defends the rule, then they swap. The brief is</a:t>
            </a:r>
          </a:p>
          <a:p>
            <a:r>
              <a:t>exercises/unguided/C2_W02_D05_director_STUDENT.md; the notebook is</a:t>
            </a:r>
          </a:p>
          <a:p>
            <a:r>
              <a:t>notebooks/C2_W02_D05_ex2_second_case_STUDENT.ipynb.</a:t>
            </a:r>
          </a:p>
          <a:p>
            <a:r>
              <a:t>Transition: what does the director ask, with the sheet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is to answer the question and refuse the edit.</a:t>
            </a:r>
          </a:p>
          <a:p>
            <a:r>
              <a:t>Transition: what does the card show after the edit, and what happens on Monday's refresh?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inside the notebook's 15. Notebook ex2, steps 1 to 4. The drift check that catches it</a:t>
            </a:r>
          </a:p>
          <a:p>
            <a:r>
              <a:t>is the sheet's Q2 total against the warehouse's control total, live on the Checks tab; the typed-over</a:t>
            </a:r>
          </a:p>
          <a:p>
            <a:r>
              <a:t>check is ISFORMULA on the cell.</a:t>
            </a:r>
          </a:p>
          <a:p>
            <a:r>
              <a:t>Transition: where does the director's five lakh go, so the card shows it and the source stays Finance's?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a:p>
            <a:r>
              <a:t>Transition: what does the card show, and what does each line come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closing the notebook's 15. Then the role play: 15 minutes, one round each way,</a:t>
            </a:r>
          </a:p>
          <a:p>
            <a:r>
              <a:t>walking the room. Listen for anyone who refuses the question as well as the edit.</a:t>
            </a:r>
          </a:p>
          <a:p>
            <a:r>
              <a:t>Transition: what does one partner say to the director?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three lines' 10 minutes: each pair writes its three lines, then one pair says them aloud.</a:t>
            </a:r>
          </a:p>
          <a:p>
            <a:r>
              <a:t>Transition: can you answer twelve screen questions aloud, each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a:p>
            <a:r>
              <a:t>Transition: which questions does a screen ask, and with which tags?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a:p>
            <a:r>
              <a:t>Transition: what goes into a one-minute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a:p>
            <a:r>
              <a:t>Transition: what can the chief of staff trust on Monday? The sentence, the day's six lines, the Kahoot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a:p>
            <a:r>
              <a:t>Transition: what does the team send the chief of staff?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a:p>
            <a:r>
              <a:t>Transition: which six lines do the cheat sheet and the notes repeat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a:p>
            <a:r>
              <a:t>Transition: what does the room still get wrong, fast?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the merge from Thursday's</a:t>
            </a:r>
          </a:p>
          <a:p>
            <a:r>
              <a:t>Kahoot, on its invented numbers, one level up.</a:t>
            </a:r>
          </a:p>
          <a:p>
            <a:r>
              <a:t>Transition: what comes next, and which question is left open?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a:p>
            <a:r>
              <a:t>Transition: the end of the day;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“Which parts belong in Excel, which parts must never be in Excel, and how do you keep the two from drifting apart?”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55675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454931"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624345" y="555675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977382"/>
            <a:ext cx="1425035" cy="185166"/>
          </a:xfrm>
          <a:prstGeom prst="rect">
            <a:avLst/>
          </a:prstGeom>
          <a:noFill/>
        </p:spPr>
        <p:txBody>
          <a:bodyPr wrap="square" anchor="t" lIns="0" rIns="0" tIns="0" bIns="0">
            <a:spAutoFit/>
          </a:bodyPr>
          <a:lstStyle/>
          <a:p>
            <a:pPr algn="l"/>
            <a:r>
              <a:rPr sz="900" b="0" i="0">
                <a:solidFill>
                  <a:srgbClr val="FFFFFF"/>
                </a:solidFill>
                <a:latin typeface="Calibri"/>
              </a:rPr>
              <a:t>What ships on Monday?</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directors take the laptop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changes the workbook in the room, and which six questions make it safe to hand over?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silent change in the room cost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890014"/>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4787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67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97654"/>
            <a:ext cx="10564063" cy="6248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c, the only way that lets a director do all five and turns a wrong number red before it is read.</a:t>
            </a:r>
          </a:p>
        </p:txBody>
      </p:sp>
      <p:sp>
        <p:nvSpPr>
          <p:cNvPr id="13" name="Rounded Rectangle 12"/>
          <p:cNvSpPr/>
          <p:nvPr/>
        </p:nvSpPr>
        <p:spPr>
          <a:xfrm>
            <a:off x="530352" y="545109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7910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69965"/>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board pack nobody is meant to change goes as a PDF.</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2dc8937eb9b4b5c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changes a number's meaning with no error?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a director filters the list to Mumbai, what does a foot of =SUM(E2:E51) read?</a:t>
            </a:r>
          </a:p>
        </p:txBody>
      </p:sp>
      <p:pic>
        <p:nvPicPr>
          <p:cNvPr id="9" name="mermaid diagram" descr="bfe3f39a11262cba.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does the foot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SUM adds every row in its range, hidden or not, so the head of Retail-Plus is told the Mumbai members on the list spent Rs 7.15 lakh, and a Mumbai budget sized on it is 4.6 times too big. </a:t>
            </a:r>
            <a:r>
              <a:rPr sz="1600" b="1" i="0">
                <a:solidFill>
                  <a:srgbClr val="1A1440"/>
                </a:solidFill>
                <a:latin typeface="Calibri"/>
              </a:rPr>
              <a:t>The check that catches it.</a:t>
            </a:r>
            <a:r>
              <a:rPr sz="1600" b="0" i="0">
                <a:solidFill>
                  <a:srgbClr val="1A1440"/>
                </a:solidFill>
                <a:latin typeface="Calibri"/>
              </a:rPr>
              <a:t> Count the rows on screen beside the rows the total adds.</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 director hides Delhi's rows by hand, with no filter on. Which foot still adds Delhi? a) SUM only; b) SUM and SUBTOTAL(9); c) SUBTOTAL(109) only; d) none of them.</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9" name="Oval 2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1" name="Oval 3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3" name="Oval 3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5" name="Oval 3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4792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8325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Rounded Rectangle 10"/>
          <p:cNvSpPr/>
          <p:nvPr/>
        </p:nvSpPr>
        <p:spPr>
          <a:xfrm>
            <a:off x="530352" y="485978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8779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78653"/>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Mumbai filter on, a director also hides Mumbai's smallest member by hand. Which total still reads Rs 1,56,790? a) SUBTOTAL(109) only; b) SUMIFS on the city only; c) both; d) neither.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reads the city, and never the screen, agree with the foot?</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5258179"/>
                <a:gridCol w="3520324"/>
                <a:gridCol w="2352486"/>
              </a:tblGrid>
              <a:tr h="369824">
                <a:tc>
                  <a:txBody>
                    <a:bodyPr/>
                    <a:lstStyle/>
                    <a:p>
                      <a:r>
                        <a:rPr sz="1450" b="1" i="0">
                          <a:solidFill>
                            <a:srgbClr val="FFFFFF"/>
                          </a:solidFill>
                          <a:latin typeface="Calibri"/>
                        </a:rPr>
                        <a:t>What the director has done</a:t>
                      </a:r>
                    </a:p>
                  </a:txBody>
                  <a:tcPr marL="101600" marR="101600" marT="38100" marB="38100" anchor="ctr">
                    <a:solidFill>
                      <a:srgbClr val="1A0F5C"/>
                    </a:solidFill>
                  </a:tcPr>
                </a:tc>
                <a:tc>
                  <a:txBody>
                    <a:bodyPr/>
                    <a:lstStyle/>
                    <a:p>
                      <a:r>
                        <a:rPr sz="1450" b="1" i="0">
                          <a:solidFill>
                            <a:srgbClr val="FFFFFF"/>
                          </a:solidFill>
                          <a:latin typeface="Calibri"/>
                        </a:rPr>
                        <a:t>SUBTOTAL(109), the screen</a:t>
                      </a:r>
                    </a:p>
                  </a:txBody>
                  <a:tcPr marL="101600" marR="101600" marT="38100" marB="38100" anchor="ctr">
                    <a:solidFill>
                      <a:srgbClr val="1A0F5C"/>
                    </a:solidFill>
                  </a:tcPr>
                </a:tc>
                <a:tc>
                  <a:txBody>
                    <a:bodyPr/>
                    <a:lstStyle/>
                    <a:p>
                      <a:r>
                        <a:rPr sz="1450" b="1" i="0">
                          <a:solidFill>
                            <a:srgbClr val="FFFFFF"/>
                          </a:solidFill>
                          <a:latin typeface="Calibri"/>
                        </a:rPr>
                        <a:t>SUMIFS, the city</a:t>
                      </a:r>
                    </a:p>
                  </a:txBody>
                  <a:tcPr marL="101600" marR="101600" marT="38100" marB="38100" anchor="ctr">
                    <a:solidFill>
                      <a:srgbClr val="1A0F5C"/>
                    </a:solidFill>
                  </a:tcPr>
                </a:tc>
              </a:tr>
              <a:tr h="369824">
                <a:tc>
                  <a:txBody>
                    <a:bodyPr/>
                    <a:lstStyle/>
                    <a:p>
                      <a:r>
                        <a:rPr sz="1400" b="0" i="0">
                          <a:solidFill>
                            <a:srgbClr val="1A1440"/>
                          </a:solidFill>
                          <a:latin typeface="Calibri"/>
                        </a:rPr>
                        <a:t>Filtered to Mumbai</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r>
              <a:tr h="369824">
                <a:tc>
                  <a:txBody>
                    <a:bodyPr/>
                    <a:lstStyle/>
                    <a:p>
                      <a:r>
                        <a:rPr sz="1400" b="0" i="0">
                          <a:solidFill>
                            <a:srgbClr val="1A1440"/>
                          </a:solidFill>
                          <a:latin typeface="Calibri"/>
                        </a:rPr>
                        <a:t>Filtered, and one Mumbai row hidden by hand</a:t>
                      </a:r>
                    </a:p>
                  </a:txBody>
                  <a:tcPr marL="101600" marR="101600" marT="38100" marB="38100" anchor="ctr">
                    <a:solidFill>
                      <a:srgbClr val="F4F2FA"/>
                    </a:solidFill>
                  </a:tcPr>
                </a:tc>
                <a:tc>
                  <a:txBody>
                    <a:bodyPr/>
                    <a:lstStyle/>
                    <a:p>
                      <a:r>
                        <a:rPr sz="1400" b="0" i="0">
                          <a:solidFill>
                            <a:srgbClr val="1A1440"/>
                          </a:solidFill>
                          <a:latin typeface="Calibri"/>
                        </a:rPr>
                        <a:t>Rs 1,47,400</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=SUMIFS(E2:E51, C2:C51, "Mumbai") reads the whole list and picks Mumbai by its city, whatever the screen shows. With only the filter on, the two agree; once Mumbai's smallest member, Rs 9,390, is also hidden by hand, the foot drops and SUMIFS does not, so a gap between them says the screen shows less than the whole city.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9069b515ed66f42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The list's figures stay as they were, because the assumption sits in its own yellow cell and the list keeps its formulas.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3b32a90bcdcd62d4.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Formulas recalculate whether or not their inputs tie,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break, and which checks catch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389936"/>
                <a:gridCol w="7741054"/>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How to protect it?</a:t>
                      </a:r>
                    </a:p>
                  </a:txBody>
                  <a:tcPr marL="101600" marR="101600" marT="38100" marB="38100" anchor="ctr">
                    <a:solidFill>
                      <a:srgbClr val="FFFFFF"/>
                    </a:solidFill>
                  </a:tcPr>
                </a:tc>
                <a:tc>
                  <a:txBody>
                    <a:bodyPr/>
                    <a:lstStyle/>
                    <a:p>
                      <a:r>
                        <a:rPr sz="1100" b="0" i="0">
                          <a:solidFill>
                            <a:srgbClr val="1A1440"/>
                          </a:solidFill>
                          <a:latin typeface="Calibri"/>
                        </a:rPr>
                        <a:t>c: yellow inputs, formulas, a Checks tab</a:t>
                      </a:r>
                    </a:p>
                  </a:txBody>
                  <a:tcPr marL="101600" marR="101600" marT="38100" marB="38100" anchor="ctr">
                    <a:solidFill>
                      <a:srgbClr val="FFFFFF"/>
                    </a:solidFill>
                  </a:tcPr>
                </a:tc>
              </a:tr>
              <a:tr h="318008">
                <a:tc>
                  <a:txBody>
                    <a:bodyPr/>
                    <a:lstStyle/>
                    <a:p>
                      <a:r>
                        <a:rPr sz="1100" b="0" i="0">
                          <a:solidFill>
                            <a:srgbClr val="1A1440"/>
                          </a:solidFill>
                          <a:latin typeface="Calibri"/>
                        </a:rPr>
                        <a:t>What will they do?</a:t>
                      </a:r>
                    </a:p>
                  </a:txBody>
                  <a:tcPr marL="101600" marR="101600" marT="38100" marB="38100" anchor="ctr">
                    <a:solidFill>
                      <a:srgbClr val="F4F2FA"/>
                    </a:solidFill>
                  </a:tcPr>
                </a:tc>
                <a:tc>
                  <a:txBody>
                    <a:bodyPr/>
                    <a:lstStyle/>
                    <a:p>
                      <a:r>
                        <a:rPr sz="1100" b="0" i="0">
                          <a:solidFill>
                            <a:srgbClr val="1A1440"/>
                          </a:solidFill>
                          <a:latin typeface="Calibri"/>
                        </a:rPr>
                        <a:t>Filter, sort, type over, change inputs, paste</a:t>
                      </a:r>
                    </a:p>
                  </a:txBody>
                  <a:tcPr marL="101600" marR="101600" marT="38100" marB="38100" anchor="ctr">
                    <a:solidFill>
                      <a:srgbClr val="F4F2FA"/>
                    </a:solidFill>
                  </a:tcPr>
                </a:tc>
              </a:tr>
              <a:tr h="318008">
                <a:tc>
                  <a:txBody>
                    <a:bodyPr/>
                    <a:lstStyle/>
                    <a:p>
                      <a:r>
                        <a:rPr sz="1100" b="0" i="0">
                          <a:solidFill>
                            <a:srgbClr val="1A1440"/>
                          </a:solidFill>
                          <a:latin typeface="Calibri"/>
                        </a:rPr>
                        <a:t>A filtered total?</a:t>
                      </a:r>
                    </a:p>
                  </a:txBody>
                  <a:tcPr marL="101600" marR="101600" marT="38100" marB="38100" anchor="ctr">
                    <a:solidFill>
                      <a:srgbClr val="FFFFFF"/>
                    </a:solidFill>
                  </a:tcPr>
                </a:tc>
                <a:tc>
                  <a:txBody>
                    <a:bodyPr/>
                    <a:lstStyle/>
                    <a:p>
                      <a:r>
                        <a:rPr sz="1100" b="0" i="0">
                          <a:solidFill>
                            <a:srgbClr val="1A1440"/>
                          </a:solidFill>
                          <a:latin typeface="Calibri"/>
                        </a:rPr>
                        <a:t>SUM still reads Rs 7,14,890</a:t>
                      </a:r>
                    </a:p>
                  </a:txBody>
                  <a:tcPr marL="101600" marR="101600" marT="38100" marB="38100" anchor="ctr">
                    <a:solidFill>
                      <a:srgbClr val="FFFFFF"/>
                    </a:solidFill>
                  </a:tcPr>
                </a:tc>
              </a:tr>
              <a:tr h="318008">
                <a:tc>
                  <a:txBody>
                    <a:bodyPr/>
                    <a:lstStyle/>
                    <a:p>
                      <a:r>
                        <a:rPr sz="1100" b="0" i="0">
                          <a:solidFill>
                            <a:srgbClr val="1A1440"/>
                          </a:solidFill>
                          <a:latin typeface="Calibri"/>
                        </a:rPr>
                        <a:t>Visible rows only?</a:t>
                      </a:r>
                    </a:p>
                  </a:txBody>
                  <a:tcPr marL="101600" marR="101600" marT="38100" marB="38100" anchor="ctr">
                    <a:solidFill>
                      <a:srgbClr val="F4F2FA"/>
                    </a:solidFill>
                  </a:tcPr>
                </a:tc>
                <a:tc>
                  <a:txBody>
                    <a:bodyPr/>
                    <a:lstStyle/>
                    <a:p>
                      <a:r>
                        <a:rPr sz="1100" b="0" i="0">
                          <a:solidFill>
                            <a:srgbClr val="1A1440"/>
                          </a:solidFill>
                          <a:latin typeface="Calibri"/>
                        </a:rPr>
                        <a:t>SUBTOTAL(109), Rs 1,56,790 for eleven</a:t>
                      </a:r>
                    </a:p>
                  </a:txBody>
                  <a:tcPr marL="101600" marR="101600" marT="38100" marB="38100" anchor="ctr">
                    <a:solidFill>
                      <a:srgbClr val="F4F2FA"/>
                    </a:solidFill>
                  </a:tcPr>
                </a:tc>
              </a:tr>
              <a:tr h="318008">
                <a:tc>
                  <a:txBody>
                    <a:bodyPr/>
                    <a:lstStyle/>
                    <a:p>
                      <a:r>
                        <a:rPr sz="1100" b="0" i="0">
                          <a:solidFill>
                            <a:srgbClr val="1A1440"/>
                          </a:solidFill>
                          <a:latin typeface="Calibri"/>
                        </a:rPr>
                        <a:t>An assumption?</a:t>
                      </a:r>
                    </a:p>
                  </a:txBody>
                  <a:tcPr marL="101600" marR="101600" marT="38100" marB="38100" anchor="ctr">
                    <a:solidFill>
                      <a:srgbClr val="FFFFFF"/>
                    </a:solidFill>
                  </a:tcPr>
                </a:tc>
                <a:tc>
                  <a:txBody>
                    <a:bodyPr/>
                    <a:lstStyle/>
                    <a:p>
                      <a:r>
                        <a:rPr sz="1100" b="0" i="0">
                          <a:solidFill>
                            <a:srgbClr val="1A1440"/>
                          </a:solidFill>
                          <a:latin typeface="Calibri"/>
                        </a:rPr>
                        <a:t>A yellow input: Rs 5,500 for Mumbai</a:t>
                      </a:r>
                    </a:p>
                  </a:txBody>
                  <a:tcPr marL="101600" marR="101600" marT="38100" marB="38100" anchor="ctr">
                    <a:solidFill>
                      <a:srgbClr val="FFFFFF"/>
                    </a:solidFill>
                  </a:tcPr>
                </a:tc>
              </a:tr>
              <a:tr h="318008">
                <a:tc>
                  <a:txBody>
                    <a:bodyPr/>
                    <a:lstStyle/>
                    <a:p>
                      <a:r>
                        <a:rPr sz="1100" b="0" i="0">
                          <a:solidFill>
                            <a:srgbClr val="1A1440"/>
                          </a:solidFill>
                          <a:latin typeface="Calibri"/>
                        </a:rPr>
                        <a:t>What is released?</a:t>
                      </a:r>
                    </a:p>
                  </a:txBody>
                  <a:tcPr marL="101600" marR="101600" marT="38100" marB="38100" anchor="ctr">
                    <a:solidFill>
                      <a:srgbClr val="F4F2FA"/>
                    </a:solidFill>
                  </a:tcPr>
                </a:tc>
                <a:tc>
                  <a:txBody>
                    <a:bodyPr/>
                    <a:lstStyle/>
                    <a:p>
                      <a:r>
                        <a:rPr sz="11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director who filters, sorts or asks a what-if should see the right numbers move and a wrong one turn red."</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if anything, is held?</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and the note says why."</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list's export does not tie while the tree and the card do, what does the Checks tab hold?</a:t>
            </a:r>
          </a:p>
        </p:txBody>
      </p:sp>
      <p:pic>
        <p:nvPicPr>
          <p:cNvPr id="9" name="mermaid diagram" descr="d248a8f9a2fa250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part does the Checks tab hold?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bf26c508d5e45704.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recalculate whether or not their inputs tie.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 asks for five lakh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fe8bcebd325752f9.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director's five lakh go, so the card shows it and the source stays Finance's?</a:t>
            </a:r>
          </a:p>
        </p:txBody>
      </p:sp>
      <p:pic>
        <p:nvPicPr>
          <p:cNvPr id="9" name="mermaid diagram" descr="d54ae14364966769.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Where does it belong?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531876"/>
          </a:xfrm>
          <a:prstGeom prst="rect">
            <a:avLst/>
          </a:prstGeom>
          <a:noFill/>
        </p:spPr>
        <p:txBody>
          <a:bodyPr wrap="square" anchor="t" lIns="0" rIns="0" tIns="0" bIns="0">
            <a:spAutoFit/>
          </a:bodyPr>
          <a:lstStyle/>
          <a:p>
            <a:pPr algn="l"/>
            <a:r>
              <a:rPr sz="1000" b="0" i="0">
                <a:solidFill>
                  <a:srgbClr val="CFC9EE"/>
                </a:solidFill>
                <a:latin typeface="Calibri"/>
              </a:rPr>
              <a:t>The Checks tab compares the sheet with the warehouse's totals as it recalculates, so a drift shows at once.</a:t>
            </a:r>
          </a:p>
        </p:txBody>
      </p:sp>
      <p:sp>
        <p:nvSpPr>
          <p:cNvPr id="25" name="Rounded Rectangle 24"/>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88764"/>
            <a:ext cx="237744" cy="237744"/>
          </a:xfrm>
          <a:prstGeom prst="rect">
            <a:avLst/>
          </a:prstGeom>
        </p:spPr>
      </p:pic>
      <p:sp>
        <p:nvSpPr>
          <p:cNvPr id="28" name="TextBox 2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b2aabb1846aeb5c2.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4e2992764398c9ed.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Finance relies on;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6afaaa40dbdee4fa.png"/>
          <p:cNvPicPr>
            <a:picLocks noChangeAspect="1"/>
          </p:cNvPicPr>
          <p:nvPr/>
        </p:nvPicPr>
        <p:blipFill>
          <a:blip r:embed="rId5"/>
          <a:stretch>
            <a:fillRect/>
          </a:stretch>
        </p:blipFill>
        <p:spPr>
          <a:xfrm>
            <a:off x="3159766" y="3419856"/>
            <a:ext cx="5872162" cy="1371600"/>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