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C2_W02_D05_06_director_proof beside it; the reference workbook,</a:t>
            </a:r>
          </a:p>
          <a:p>
            <a:r>
              <a:t>demos/C2_W02_D05_deck_pack_STUDENT.xlsx, open in Excel.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step 5 takes the input; the second case after the</a:t>
            </a:r>
          </a:p>
          <a:p>
            <a:r>
              <a:t>break takes the typed-over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filter, so it can disagree with the foot. Put</a:t>
            </a:r>
          </a:p>
          <a:p>
            <a:r>
              <a:t>it on the Checks tab as the foot's partner.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47 minutes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leave on screen during the case. The reference workbook in demos/ has exactly this tab.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 actually</a:t>
            </a:r>
          </a:p>
          <a:p>
            <a:r>
              <a:t>appeared; the table on S18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plays the director, one defends the rule, then they swap. The brief is</a:t>
            </a:r>
          </a:p>
          <a:p>
            <a:r>
              <a:t>exercises/unguided/C2_W02_D05_director_edit_STUDENT.md; the notebook is</a:t>
            </a:r>
          </a:p>
          <a:p>
            <a:r>
              <a:t>notebooks/C2_W02_D05_ex2_second_case_STUDENT.ipynb.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yes to the question,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4. The drift check that catches it is the sheet's Q2 total</a:t>
            </a:r>
          </a:p>
          <a:p>
            <a:r>
              <a:t>against the warehouse's; the typed-over check is ISFORMULA on the cell.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role play: 10 minutes each way, walking the room. Listen for anyone who says</a:t>
            </a:r>
          </a:p>
          <a:p>
            <a:r>
              <a:t>no to the 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27 minutes across the role play and the notebook: 20 for the two rounds, 7 for the notebook's</a:t>
            </a:r>
          </a:p>
          <a:p>
            <a:r>
              <a:t>five letters. Close with one pair's three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Thursday's merge one level</a:t>
            </a:r>
          </a:p>
          <a:p>
            <a:r>
              <a:t>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parts must never be in Excel, and how do you keep the two from drifting apart?”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454931"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624345"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6291072"/>
            <a:ext cx="1425035" cy="185166"/>
          </a:xfrm>
          <a:prstGeom prst="rect">
            <a:avLst/>
          </a:prstGeom>
          <a:noFill/>
        </p:spPr>
        <p:txBody>
          <a:bodyPr wrap="square" anchor="t" lIns="0" rIns="0" tIns="0" bIns="0">
            <a:spAutoFit/>
          </a:bodyPr>
          <a:lstStyle/>
          <a:p>
            <a:pPr algn="l"/>
            <a:r>
              <a:rPr sz="900" b="0" i="0">
                <a:solidFill>
                  <a:srgbClr val="FFFFFF"/>
                </a:solidFill>
                <a:latin typeface="Calibri"/>
              </a:rPr>
              <a:t>What ships on Monday?</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room to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is in the room, and what does a silent change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the only way that lets a director do all five and turns a wrong number red before it is read. What would switch it: a board pack nobody is meant to change goes as a PDF.</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2dc8937eb9b4b5c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changes a number's meaning with no error,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list's foot is =SUM(E2:E51); a director filters the city column to Mumbai. What does the foot read?</a:t>
            </a:r>
          </a:p>
        </p:txBody>
      </p:sp>
      <p:pic>
        <p:nvPicPr>
          <p:cNvPr id="9" name="mermaid diagram" descr="bfe3f39a11262cba.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the foot read,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the Mumbai store head is told the members on their list spent Rs 7.15 lakh, and a retention budget sized on it is 4.6 times too big. SUM adds every row in its range, hidden or not. </a:t>
            </a:r>
            <a:r>
              <a:rPr sz="1600" b="1" i="0">
                <a:solidFill>
                  <a:srgbClr val="1A1440"/>
                </a:solidFill>
                <a:latin typeface="Calibri"/>
              </a:rPr>
              <a:t>The check:</a:t>
            </a:r>
            <a:r>
              <a:rPr sz="1600" b="0" i="0">
                <a:solidFill>
                  <a:srgbClr val="1A1440"/>
                </a:solidFill>
                <a:latin typeface="Calibri"/>
              </a:rPr>
              <a:t> count the rows on screen beside the rows the total adds.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2" name="Oval 3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ignores the filter altogether agree with the foot?</a:t>
            </a:r>
          </a:p>
        </p:txBody>
      </p:sp>
      <p:pic>
        <p:nvPicPr>
          <p:cNvPr id="9" name="mermaid diagram" descr="93eb2a503635aabd.png"/>
          <p:cNvPicPr>
            <a:picLocks noChangeAspect="1"/>
          </p:cNvPicPr>
          <p:nvPr/>
        </p:nvPicPr>
        <p:blipFill>
          <a:blip r:embed="rId5"/>
          <a:stretch>
            <a:fillRect/>
          </a:stretch>
        </p:blipFill>
        <p:spPr>
          <a:xfrm>
            <a:off x="3759841" y="1956816"/>
            <a:ext cx="4672012" cy="2043112"/>
          </a:xfrm>
          <a:prstGeom prst="rect">
            <a:avLst/>
          </a:prstGeom>
        </p:spPr>
      </p:pic>
      <p:sp>
        <p:nvSpPr>
          <p:cNvPr id="10" name="TextBox 9"/>
          <p:cNvSpPr txBox="1"/>
          <p:nvPr/>
        </p:nvSpPr>
        <p:spPr>
          <a:xfrm>
            <a:off x="530352" y="41462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=SUMIFS(E2:E51, C2:C51, "Mumbai") reads the whole list and picks Mumbai by its city, whatever the screen shows. It gives Rs 1,56,790, the same as the visible foot.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9069b515ed66f42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while the list's figures never change: the assumption sits beside them, never over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3b32a90bcdcd62d4.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A formula recalculating is never the same as the number being right,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question by question?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038060"/>
                <a:gridCol w="8092931"/>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will they do?</a:t>
                      </a:r>
                    </a:p>
                  </a:txBody>
                  <a:tcPr marL="101600" marR="101600" marT="38100" marB="38100" anchor="ctr">
                    <a:solidFill>
                      <a:srgbClr val="FFFFFF"/>
                    </a:solidFill>
                  </a:tcPr>
                </a:tc>
                <a:tc>
                  <a:txBody>
                    <a:bodyPr/>
                    <a:lstStyle/>
                    <a:p>
                      <a:r>
                        <a:rPr sz="1100" b="0" i="0">
                          <a:solidFill>
                            <a:srgbClr val="1A1440"/>
                          </a:solidFill>
                          <a:latin typeface="Calibri"/>
                        </a:rPr>
                        <a:t>Filter, sort, type over, change inputs, paste exports</a:t>
                      </a:r>
                    </a:p>
                  </a:txBody>
                  <a:tcPr marL="101600" marR="101600" marT="38100" marB="38100" anchor="ctr">
                    <a:solidFill>
                      <a:srgbClr val="FFFFFF"/>
                    </a:solidFill>
                  </a:tcPr>
                </a:tc>
              </a:tr>
              <a:tr h="318008">
                <a:tc>
                  <a:txBody>
                    <a:bodyPr/>
                    <a:lstStyle/>
                    <a:p>
                      <a:r>
                        <a:rPr sz="1100" b="0" i="0">
                          <a:solidFill>
                            <a:srgbClr val="1A1440"/>
                          </a:solidFill>
                          <a:latin typeface="Calibri"/>
                        </a:rPr>
                        <a:t>How to protect it?</a:t>
                      </a:r>
                    </a:p>
                  </a:txBody>
                  <a:tcPr marL="101600" marR="101600" marT="38100" marB="38100" anchor="ctr">
                    <a:solidFill>
                      <a:srgbClr val="F4F2FA"/>
                    </a:solidFill>
                  </a:tcPr>
                </a:tc>
                <a:tc>
                  <a:txBody>
                    <a:bodyPr/>
                    <a:lstStyle/>
                    <a:p>
                      <a:r>
                        <a:rPr sz="1100" b="0" i="0">
                          <a:solidFill>
                            <a:srgbClr val="1A1440"/>
                          </a:solidFill>
                          <a:latin typeface="Calibri"/>
                        </a:rPr>
                        <a:t>c: yellow inputs, formulas, a Checks tab</a:t>
                      </a:r>
                    </a:p>
                  </a:txBody>
                  <a:tcPr marL="101600" marR="101600" marT="38100" marB="38100" anchor="ctr">
                    <a:solidFill>
                      <a:srgbClr val="F4F2FA"/>
                    </a:solidFill>
                  </a:tcPr>
                </a:tc>
              </a:tr>
              <a:tr h="318008">
                <a:tc>
                  <a:txBody>
                    <a:bodyPr/>
                    <a:lstStyle/>
                    <a:p>
                      <a:r>
                        <a:rPr sz="1100" b="0" i="0">
                          <a:solidFill>
                            <a:srgbClr val="1A1440"/>
                          </a:solidFill>
                          <a:latin typeface="Calibri"/>
                        </a:rPr>
                        <a:t>A filtered total?</a:t>
                      </a:r>
                    </a:p>
                  </a:txBody>
                  <a:tcPr marL="101600" marR="101600" marT="38100" marB="38100" anchor="ctr">
                    <a:solidFill>
                      <a:srgbClr val="FFFFFF"/>
                    </a:solidFill>
                  </a:tcPr>
                </a:tc>
                <a:tc>
                  <a:txBody>
                    <a:bodyPr/>
                    <a:lstStyle/>
                    <a:p>
                      <a:r>
                        <a:rPr sz="1100" b="0" i="0">
                          <a:solidFill>
                            <a:srgbClr val="1A1440"/>
                          </a:solidFill>
                          <a:latin typeface="Calibri"/>
                        </a:rPr>
                        <a:t>SUM still reads Rs 7,14,890</a:t>
                      </a:r>
                    </a:p>
                  </a:txBody>
                  <a:tcPr marL="101600" marR="101600" marT="38100" marB="38100" anchor="ctr">
                    <a:solidFill>
                      <a:srgbClr val="FFFFFF"/>
                    </a:solidFill>
                  </a:tcPr>
                </a:tc>
              </a:tr>
              <a:tr h="318008">
                <a:tc>
                  <a:txBody>
                    <a:bodyPr/>
                    <a:lstStyle/>
                    <a:p>
                      <a:r>
                        <a:rPr sz="1100" b="0" i="0">
                          <a:solidFill>
                            <a:srgbClr val="1A1440"/>
                          </a:solidFill>
                          <a:latin typeface="Calibri"/>
                        </a:rPr>
                        <a:t>Visible rows only?</a:t>
                      </a:r>
                    </a:p>
                  </a:txBody>
                  <a:tcPr marL="101600" marR="101600" marT="38100" marB="38100" anchor="ctr">
                    <a:solidFill>
                      <a:srgbClr val="F4F2FA"/>
                    </a:solidFill>
                  </a:tcPr>
                </a:tc>
                <a:tc>
                  <a:txBody>
                    <a:bodyPr/>
                    <a:lstStyle/>
                    <a:p>
                      <a:r>
                        <a:rPr sz="1100" b="0" i="0">
                          <a:solidFill>
                            <a:srgbClr val="1A1440"/>
                          </a:solidFill>
                          <a:latin typeface="Calibri"/>
                        </a:rPr>
                        <a:t>SUBTOTAL(109) Rs 1,56,790; SUMIFS agrees</a:t>
                      </a:r>
                    </a:p>
                  </a:txBody>
                  <a:tcPr marL="101600" marR="101600" marT="38100" marB="38100" anchor="ctr">
                    <a:solidFill>
                      <a:srgbClr val="F4F2FA"/>
                    </a:solidFill>
                  </a:tcPr>
                </a:tc>
              </a:tr>
              <a:tr h="318008">
                <a:tc>
                  <a:txBody>
                    <a:bodyPr/>
                    <a:lstStyle/>
                    <a:p>
                      <a:r>
                        <a:rPr sz="1100" b="0" i="0">
                          <a:solidFill>
                            <a:srgbClr val="1A1440"/>
                          </a:solidFill>
                          <a:latin typeface="Calibri"/>
                        </a:rPr>
                        <a:t>An assumption?</a:t>
                      </a:r>
                    </a:p>
                  </a:txBody>
                  <a:tcPr marL="101600" marR="101600" marT="38100" marB="38100" anchor="ctr">
                    <a:solidFill>
                      <a:srgbClr val="FFFFFF"/>
                    </a:solidFill>
                  </a:tcPr>
                </a:tc>
                <a:tc>
                  <a:txBody>
                    <a:bodyPr/>
                    <a:lstStyle/>
                    <a:p>
                      <a:r>
                        <a:rPr sz="1100" b="0" i="0">
                          <a:solidFill>
                            <a:srgbClr val="1A1440"/>
                          </a:solidFill>
                          <a:latin typeface="Calibri"/>
                        </a:rPr>
                        <a:t>A yellow input: Rs 500 costs Rs 5,500 for Mumbai</a:t>
                      </a:r>
                    </a:p>
                  </a:txBody>
                  <a:tcPr marL="101600" marR="101600" marT="38100" marB="38100" anchor="ctr">
                    <a:solidFill>
                      <a:srgbClr val="FFFFFF"/>
                    </a:solidFill>
                  </a:tcPr>
                </a:tc>
              </a:tr>
              <a:tr h="318008">
                <a:tc>
                  <a:txBody>
                    <a:bodyPr/>
                    <a:lstStyle/>
                    <a:p>
                      <a:r>
                        <a:rPr sz="1100" b="0" i="0">
                          <a:solidFill>
                            <a:srgbClr val="1A1440"/>
                          </a:solidFill>
                          <a:latin typeface="Calibri"/>
                        </a:rPr>
                        <a:t>What is released?</a:t>
                      </a:r>
                    </a:p>
                  </a:txBody>
                  <a:tcPr marL="101600" marR="101600" marT="38100" marB="38100" anchor="ctr">
                    <a:solidFill>
                      <a:srgbClr val="F4F2FA"/>
                    </a:solidFill>
                  </a:tcPr>
                </a:tc>
                <a:tc>
                  <a:txBody>
                    <a:bodyPr/>
                    <a:lstStyle/>
                    <a:p>
                      <a:r>
                        <a:rPr sz="11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director who filters, sorts or asks a what-if should see a number move, and never a number lie."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tie; the list comes from a different export. If that export does not tie, what does the Checks tab hold?</a:t>
            </a:r>
          </a:p>
        </p:txBody>
      </p:sp>
      <p:pic>
        <p:nvPicPr>
          <p:cNvPr id="9" name="mermaid diagram" descr="d248a8f9a2fa250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part does the Checks tab hold,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bf26c508d5e45704.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recalculating is not the same as numbers being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by saying yes to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fe8bcebd325752f9.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 Where does the director's number go?</a:t>
            </a:r>
          </a:p>
        </p:txBody>
      </p:sp>
      <p:pic>
        <p:nvPicPr>
          <p:cNvPr id="9" name="mermaid diagram" descr="d54ae14364966769.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it belong,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b2aabb1846aeb5c2.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4e2992764398c9ed.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eb5525876ecd60eb.png"/>
          <p:cNvPicPr>
            <a:picLocks noChangeAspect="1"/>
          </p:cNvPicPr>
          <p:nvPr/>
        </p:nvPicPr>
        <p:blipFill>
          <a:blip r:embed="rId5"/>
          <a:stretch>
            <a:fillRect/>
          </a:stretch>
        </p:blipFill>
        <p:spPr>
          <a:xfrm>
            <a:off x="3259778" y="3419856"/>
            <a:ext cx="5672137" cy="1128712"/>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