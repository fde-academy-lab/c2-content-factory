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has two cases. The escalated case is the three deliverables end to</a:t>
            </a:r>
          </a:p>
          <a:p>
            <a:r>
              <a:t>end, alone; the second case is a director who wants to edit the source, in pairs. Then the interview</a:t>
            </a:r>
          </a:p>
          <a:p>
            <a:r>
              <a:t>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The support TA answers environment problems</a:t>
            </a:r>
          </a:p>
          <a:p>
            <a:r>
              <a:t>only. The solution, the deck pack workbook and the hands-on solution notebook, opens at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brief aloud, point at the five parts and start the clock. The brief file</a:t>
            </a:r>
          </a:p>
          <a:p>
            <a:r>
              <a:t>is exercises/unguided/C2_W02_D05_escalated_case_STUDENT.md, with eight items at its foot.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Leave it on screen during the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deck pack in demos/ has exactly this tab. Its release sentence is the</a:t>
            </a:r>
          </a:p>
          <a:p>
            <a:r>
              <a:t>answer to part 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Collect the room's wrong numbers during the case and show the</a:t>
            </a:r>
          </a:p>
          <a:p>
            <a:r>
              <a:t>ones that actually appeared; the table on S4 is the list most rooms produce.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plausible number a hurried sheet shows.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ran round 1's harder variant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TRAINER: the gap and the missing member are in the day sheet; say them aloud now,</a:t>
            </a:r>
          </a:p>
          <a:p>
            <a:r>
              <a:t>since the room has found them. Option d is the trap of the afternoon: formulas recalculating is not</a:t>
            </a:r>
          </a:p>
          <a:p>
            <a:r>
              <a:t>the same as the numbers being right.</a:t>
            </a:r>
          </a:p>
          <a:p>
            <a:r>
              <a:t>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one plays the director, one defends the rule, then</a:t>
            </a:r>
          </a:p>
          <a:p>
            <a:r>
              <a:t>they swap. The hands-on notebook ex2 plays the same scene in four steps.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a:t>
            </a:r>
          </a:p>
          <a:p>
            <a:r>
              <a:t>corrosive in a file. The pair's job is to say yes to the question and no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ex2, steps 1 to 3. The drift check that catches it is the sheet's Q2</a:t>
            </a:r>
          </a:p>
          <a:p>
            <a:r>
              <a:t>total against the warehouse's Q2 total.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Thursday's tool-choice note turned into a team rule. The decision tool's</a:t>
            </a:r>
          </a:p>
          <a:p>
            <a:r>
              <a:t>Rule tab asks the four questions in the right 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Option d is how a team ends up with directors typing over cells anyway. Option c</a:t>
            </a:r>
          </a:p>
          <a:p>
            <a:r>
              <a:t>edits the source of truth, which is what the rule forbids.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for the role play: ten each way. Walk the room; listen for anyone who says no to the</a:t>
            </a:r>
          </a:p>
          <a:p>
            <a:r>
              <a:t>question as well as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pairs, one asks and one answers in under a minute, then swap. The</a:t>
            </a:r>
          </a:p>
          <a:p>
            <a:r>
              <a:t>answers in one breath are in the day sheet and in full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Pairs take them in order. Tags: [S] staple, [F] frequent in GCC and product</a:t>
            </a:r>
          </a:p>
          <a:p>
            <a:r>
              <a:t>screens, [D] differentiator, the programme's own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example aloud and ask one pair to redo their weakest answer in this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the sentence (3), the crux lines (2), the Kahoot (12), Build 1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learners read their own sentences; check each for the number, the period, the</a:t>
            </a:r>
          </a:p>
          <a:p>
            <a:r>
              <a:t>comparison, what is held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kahoot/C2_W02_D05_quiz_STUDENT.md. The return question is Thursday's: 1,000</a:t>
            </a:r>
          </a:p>
          <a:p>
            <a:r>
              <a:t>customers merged to 1,120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Leave the last card's question open. Saturday's recap paper comes first; the</a:t>
            </a:r>
          </a:p>
          <a:p>
            <a:r>
              <a:t>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sheet a director cannot break</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“Everything you built this week has to survive a room that only has Excel. Which parts belong in Excel, which must never be in Excel, and how do you keep the two from drifting apart?”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sheet a director cannot break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Monday's deck pack, end to end, from the two exports, alone, in 60 minutes.</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deliverables, one workbook, and a director with their hands on it.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you ship</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 each order once, tied to the warehouse</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protect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12</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front-page card with its trend and a scope a director can change</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is held, with the reason</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numbers proved a second way, in the hands-on notebook</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 of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Grain first, because every other number sits on it.</a:t>
            </a:r>
          </a:p>
        </p:txBody>
      </p:sp>
      <p:pic>
        <p:nvPicPr>
          <p:cNvPr id="9" name="mermaid diagram" descr="1e9302ee931790c2.png"/>
          <p:cNvPicPr>
            <a:picLocks noChangeAspect="1"/>
          </p:cNvPicPr>
          <p:nvPr/>
        </p:nvPicPr>
        <p:blipFill>
          <a:blip r:embed="rId5"/>
          <a:stretch>
            <a:fillRect/>
          </a:stretch>
        </p:blipFill>
        <p:spPr>
          <a:xfrm>
            <a:off x="530352" y="1956816"/>
            <a:ext cx="11130991" cy="974887"/>
          </a:xfrm>
          <a:prstGeom prst="rect">
            <a:avLst/>
          </a:prstGeom>
        </p:spPr>
      </p:pic>
      <p:sp>
        <p:nvSpPr>
          <p:cNvPr id="10" name="TextBox 9"/>
          <p:cNvSpPr txBox="1"/>
          <p:nvPr/>
        </p:nvSpPr>
        <p:spPr>
          <a:xfrm>
            <a:off x="530352" y="307800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learner who starts on the card has built a number on a grain nobody checked.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Checks tab that says, in a sentence, what may go into the deck.</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reconciles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Its two quarters sum to Monday's Rs 19,84,00,000 to the rupee.</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list's source reconciles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clean table's revenue and orders tie to the warehouse.</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lookup answers honestly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row returned is the id asked for, or it says not found.</a:t>
            </a:r>
          </a:p>
        </p:txBody>
      </p:sp>
      <p:sp>
        <p:nvSpPr>
          <p:cNvPr id="27" name="Rounded Rectangle 26"/>
          <p:cNvSpPr/>
          <p:nvPr/>
        </p:nvSpPr>
        <p:spPr>
          <a:xfrm>
            <a:off x="9015755" y="1956816"/>
            <a:ext cx="2645587"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The card ties to the tree</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Its quarters are the tree's quarters.</a:t>
            </a:r>
          </a:p>
        </p:txBody>
      </p:sp>
      <p:sp>
        <p:nvSpPr>
          <p:cNvPr id="33" name="Rounded Rectangle 32"/>
          <p:cNvSpPr/>
          <p:nvPr/>
        </p:nvSpPr>
        <p:spPr>
          <a:xfrm>
            <a:off x="530352" y="43352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earch-check_6571e64a041f.png"/>
          <p:cNvPicPr>
            <a:picLocks noChangeAspect="1"/>
          </p:cNvPicPr>
          <p:nvPr/>
        </p:nvPicPr>
        <p:blipFill>
          <a:blip r:embed="rId6"/>
          <a:stretch>
            <a:fillRect/>
          </a:stretch>
        </p:blipFill>
        <p:spPr>
          <a:xfrm>
            <a:off x="868680" y="4647692"/>
            <a:ext cx="237744" cy="237744"/>
          </a:xfrm>
          <a:prstGeom prst="rect">
            <a:avLst/>
          </a:prstGeom>
        </p:spPr>
      </p:pic>
      <p:sp>
        <p:nvSpPr>
          <p:cNvPr id="36" name="TextBox 35"/>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7" name="TextBox 36"/>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with its reason, never shipped with a footnote.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0" name="Oval 3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2" name="Oval 4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4" name="Oval 4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6" name="Oval 45"/>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numbers this room produced, in the order the day produced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numbers, and what each would have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one of them was plausible, and none raised an error.</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657036"/>
                <a:gridCol w="3964573"/>
                <a:gridCol w="450938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39.41 crore</a:t>
                      </a:r>
                    </a:p>
                  </a:txBody>
                  <a:tcPr marL="101600" marR="101600" marT="38100" marB="38100" anchor="ctr">
                    <a:solidFill>
                      <a:srgbClr val="FFFFFF"/>
                    </a:solidFill>
                  </a:tcPr>
                </a:tc>
                <a:tc>
                  <a:txBody>
                    <a:bodyPr/>
                    <a:lstStyle/>
                    <a:p>
                      <a:r>
                        <a:rPr sz="1400" b="0" i="0">
                          <a:solidFill>
                            <a:srgbClr val="1A1440"/>
                          </a:solidFill>
                          <a:latin typeface="Calibri"/>
                        </a:rPr>
                        <a:t>Sum over payment rows</a:t>
                      </a:r>
                    </a:p>
                  </a:txBody>
                  <a:tcPr marL="101600" marR="101600" marT="38100" marB="38100" anchor="ctr">
                    <a:solidFill>
                      <a:srgbClr val="FFFFFF"/>
                    </a:solidFill>
                  </a:tcPr>
                </a:tc>
                <a:tc>
                  <a:txBody>
                    <a:bodyPr/>
                    <a:lstStyle/>
                    <a:p>
                      <a:r>
                        <a:rPr sz="1400" b="0" i="0">
                          <a:solidFill>
                            <a:srgbClr val="1A1440"/>
                          </a:solidFill>
                          <a:latin typeface="Calibri"/>
                        </a:rPr>
                        <a:t>Doubled the deck's revenue</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 again</a:t>
                      </a:r>
                    </a:p>
                  </a:txBody>
                  <a:tcPr marL="101600" marR="101600" marT="38100" marB="38100" anchor="ctr">
                    <a:solidFill>
                      <a:srgbClr val="F4F2FA"/>
                    </a:solidFill>
                  </a:tcPr>
                </a:tc>
                <a:tc>
                  <a:txBody>
                    <a:bodyPr/>
                    <a:lstStyle/>
                    <a:p>
                      <a:r>
                        <a:rPr sz="1400" b="0" i="0">
                          <a:solidFill>
                            <a:srgbClr val="1A1440"/>
                          </a:solidFill>
                          <a:latin typeface="Calibri"/>
                        </a:rPr>
                        <a:t>Remove Duplicates, then Sum</a:t>
                      </a:r>
                    </a:p>
                  </a:txBody>
                  <a:tcPr marL="101600" marR="101600" marT="38100" marB="38100" anchor="ctr">
                    <a:solidFill>
                      <a:srgbClr val="F4F2FA"/>
                    </a:solidFill>
                  </a:tcPr>
                </a:tc>
                <a:tc>
                  <a:txBody>
                    <a:bodyPr/>
                    <a:lstStyle/>
                    <a:p>
                      <a:r>
                        <a:rPr sz="1400" b="0" i="0">
                          <a:solidFill>
                            <a:srgbClr val="1A1440"/>
                          </a:solidFill>
                          <a:latin typeface="Calibri"/>
                        </a:rPr>
                        <a:t>The same, with false confidence</a:t>
                      </a:r>
                    </a:p>
                  </a:txBody>
                  <a:tcPr marL="101600" marR="101600" marT="38100" marB="38100" anchor="ctr">
                    <a:solidFill>
                      <a:srgbClr val="F4F2FA"/>
                    </a:solidFill>
                  </a:tcPr>
                </a:tc>
              </a:tr>
              <a:tr h="369824">
                <a:tc>
                  <a:txBody>
                    <a:bodyPr/>
                    <a:lstStyle/>
                    <a:p>
                      <a:r>
                        <a:rPr sz="1400" b="0" i="0">
                          <a:solidFill>
                            <a:srgbClr val="1A1440"/>
                          </a:solidFill>
                          <a:latin typeface="Calibri"/>
                        </a:rPr>
                        <a:t>A neighbour's row</a:t>
                      </a:r>
                    </a:p>
                  </a:txBody>
                  <a:tcPr marL="101600" marR="101600" marT="38100" marB="38100" anchor="ctr">
                    <a:solidFill>
                      <a:srgbClr val="FFFFFF"/>
                    </a:solidFill>
                  </a:tcPr>
                </a:tc>
                <a:tc>
                  <a:txBody>
                    <a:bodyPr/>
                    <a:lstStyle/>
                    <a:p>
                      <a:r>
                        <a:rPr sz="1400" b="0" i="0">
                          <a:solidFill>
                            <a:srgbClr val="1A1440"/>
                          </a:solidFill>
                          <a:latin typeface="Calibri"/>
                        </a:rPr>
                        <a:t>Approximate lookup on a missing id</a:t>
                      </a:r>
                    </a:p>
                  </a:txBody>
                  <a:tcPr marL="101600" marR="101600" marT="38100" marB="38100" anchor="ctr">
                    <a:solidFill>
                      <a:srgbClr val="FFFFFF"/>
                    </a:solidFill>
                  </a:tcPr>
                </a:tc>
                <a:tc>
                  <a:txBody>
                    <a:bodyPr/>
                    <a:lstStyle/>
                    <a:p>
                      <a:r>
                        <a:rPr sz="1400" b="0" i="0">
                          <a:solidFill>
                            <a:srgbClr val="1A1440"/>
                          </a:solidFill>
                          <a:latin typeface="Calibri"/>
                        </a:rPr>
                        <a:t>Protected someone who stopped buying</a:t>
                      </a:r>
                    </a:p>
                  </a:txBody>
                  <a:tcPr marL="101600" marR="101600" marT="38100" marB="38100" anchor="ctr">
                    <a:solidFill>
                      <a:srgbClr val="FFFFFF"/>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4F2FA"/>
                    </a:solidFill>
                  </a:tcPr>
                </a:tc>
                <a:tc>
                  <a:txBody>
                    <a:bodyPr/>
                    <a:lstStyle/>
                    <a:p>
                      <a:r>
                        <a:rPr sz="1400" b="0" i="0">
                          <a:solidFill>
                            <a:srgbClr val="1A1440"/>
                          </a:solidFill>
                          <a:latin typeface="Calibri"/>
                        </a:rPr>
                        <a:t>SUM on a filtered list</a:t>
                      </a:r>
                    </a:p>
                  </a:txBody>
                  <a:tcPr marL="101600" marR="101600" marT="38100" marB="38100" anchor="ctr">
                    <a:solidFill>
                      <a:srgbClr val="F4F2FA"/>
                    </a:solidFill>
                  </a:tcPr>
                </a:tc>
                <a:tc>
                  <a:txBody>
                    <a:bodyPr/>
                    <a:lstStyle/>
                    <a:p>
                      <a:r>
                        <a:rPr sz="1400" b="0" i="0">
                          <a:solidFill>
                            <a:srgbClr val="1A1440"/>
                          </a:solidFill>
                          <a:latin typeface="Calibri"/>
                        </a:rPr>
                        <a:t>A budget four and a half times too big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read into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deliverable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tree and the card reconcile. The list comes from a different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Monday, which part of the deck pack does the Checks tab hold back? a) the tree, because it is built from the raw export; b) the protect list, until the customer table reconciles to the warehouse; c) the front page, because its trend is lumpy; d) nothing, since every number is a formula.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reconciles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formula is only as good as the table it reads.</a:t>
            </a:r>
          </a:p>
        </p:txBody>
      </p:sp>
      <p:pic>
        <p:nvPicPr>
          <p:cNvPr id="9" name="mermaid diagram" descr="8b4561889e52f5f3.png"/>
          <p:cNvPicPr>
            <a:picLocks noChangeAspect="1"/>
          </p:cNvPicPr>
          <p:nvPr/>
        </p:nvPicPr>
        <p:blipFill>
          <a:blip r:embed="rId5"/>
          <a:stretch>
            <a:fillRect/>
          </a:stretch>
        </p:blipFill>
        <p:spPr>
          <a:xfrm>
            <a:off x="3509810" y="1956816"/>
            <a:ext cx="51720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note to the data platform lead names the gap and asks for the export to be rerun; the list ships when its source reconciles.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director wants to type a number into the source. The pair defends the operating rule.</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director says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the room,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0" name="Oval 19"/>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2" name="Oval 2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typed-over cell does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card recalculates from the cell, and the next refresh wipes it without a trace.</a:t>
            </a:r>
          </a:p>
        </p:txBody>
      </p:sp>
      <p:pic>
        <p:nvPicPr>
          <p:cNvPr id="9" name="mermaid diagram" descr="ee3c3a5934a89e8d.png"/>
          <p:cNvPicPr>
            <a:picLocks noChangeAspect="1"/>
          </p:cNvPicPr>
          <p:nvPr/>
        </p:nvPicPr>
        <p:blipFill>
          <a:blip r:embed="rId5"/>
          <a:stretch>
            <a:fillRect/>
          </a:stretch>
        </p:blipFill>
        <p:spPr>
          <a:xfrm>
            <a:off x="1938185" y="1956816"/>
            <a:ext cx="831532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operating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warehouse owns the number, pandas owns the iteration, Excel owns the last mile.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WAREHOUSE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Owns the number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Anything Finance audits or that needs a join, a dedupe or a cleaning step.</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ode_963a38c8fdc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PANDAS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Owns the iteration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analyst's question that changes daily, until Finance relies on it.</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ble_25d7ac20a7c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EXCEL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Owns the last mile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Presents, slices and looks up an export, and takes what-ifs as labelled inputs.</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Nobody types over the source. A director's assumption is an input beside it, and the sheet ties back to the warehouse every time it is refreshed.</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director's what-if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is legitimate; the edit is not.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"Retail-Plus back at five lakh" belong in the sheet? a) over the Q2 cell, with a comment; b) in a yellow input cell feeding a separate, labelled scenario line on the card; c) in the export, before it is loaded; d) nowhere, since directors do not get what-ifs.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lines on one card: what the export says, and what the director assumes.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they want to discuss, the card keeps the number Finance signs, and both are labelled.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defence, in three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partner says to the director, then they swap.</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Every refresh ties the sheet back to the warehouse, so a drift shows the same day.</a:t>
            </a:r>
          </a:p>
        </p:txBody>
      </p:sp>
      <p:sp>
        <p:nvSpPr>
          <p:cNvPr id="25" name="Rounded Rectangle 24"/>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[D] Two directors change assumptions in the room and the sheet recalculates differently for each; what did you get right and what do you fix?</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6" name="Oval 3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Eleven questions, answered aloud, the way an analytics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questions, with their tags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five, then six follow-ups a screen asks next.</a:t>
            </a:r>
          </a:p>
        </p:txBody>
      </p:sp>
      <p:graphicFrame>
        <p:nvGraphicFramePr>
          <p:cNvPr id="9" name="Table 8"/>
          <p:cNvGraphicFramePr>
            <a:graphicFrameLocks noGrp="1"/>
          </p:cNvGraphicFramePr>
          <p:nvPr/>
        </p:nvGraphicFramePr>
        <p:xfrm>
          <a:off x="530352" y="1825752"/>
          <a:ext cx="11130991" cy="4230624"/>
        </p:xfrm>
        <a:graphic>
          <a:graphicData uri="http://schemas.openxmlformats.org/drawingml/2006/table">
            <a:tbl>
              <a:tblPr firstRow="0" bandRow="0">
                <a:tableStyleId>{2D5ABB26-0587-4C30-8999-92F81FD0307C}</a:tableStyleId>
              </a:tblPr>
              <a:tblGrid>
                <a:gridCol w="914400"/>
                <a:gridCol w="10216591"/>
              </a:tblGrid>
              <a:tr h="352552">
                <a:tc>
                  <a:txBody>
                    <a:bodyPr/>
                    <a:lstStyle/>
                    <a:p>
                      <a:r>
                        <a:rPr sz="1350" b="1" i="0">
                          <a:solidFill>
                            <a:srgbClr val="FFFFFF"/>
                          </a:solidFill>
                          <a:latin typeface="Calibri"/>
                        </a:rPr>
                        <a:t>Tag</a:t>
                      </a:r>
                    </a:p>
                  </a:txBody>
                  <a:tcPr marL="101600" marR="101600" marT="38100" marB="38100" anchor="ctr">
                    <a:solidFill>
                      <a:srgbClr val="1A0F5C"/>
                    </a:solidFill>
                  </a:tcPr>
                </a:tc>
                <a:tc>
                  <a:txBody>
                    <a:bodyPr/>
                    <a:lstStyle/>
                    <a:p>
                      <a:r>
                        <a:rPr sz="1350" b="1" i="0">
                          <a:solidFill>
                            <a:srgbClr val="FFFFFF"/>
                          </a:solidFill>
                          <a:latin typeface="Calibri"/>
                        </a:rPr>
                        <a:t>Question</a:t>
                      </a:r>
                    </a:p>
                  </a:txBody>
                  <a:tcPr marL="101600" marR="101600" marT="38100" marB="38100" anchor="ctr">
                    <a:solidFill>
                      <a:srgbClr val="1A0F5C"/>
                    </a:solidFill>
                  </a:tcPr>
                </a:tc>
              </a:tr>
              <a:tr h="352552">
                <a:tc>
                  <a:txBody>
                    <a:bodyPr/>
                    <a:lstStyle/>
                    <a:p>
                      <a:r>
                        <a:rPr sz="1300" b="0" i="0">
                          <a:solidFill>
                            <a:srgbClr val="1A1440"/>
                          </a:solidFill>
                          <a:latin typeface="Calibri"/>
                        </a:rPr>
                        <a:t>[S]</a:t>
                      </a:r>
                    </a:p>
                  </a:txBody>
                  <a:tcPr marL="101600" marR="101600" marT="38100" marB="38100" anchor="ctr">
                    <a:solidFill>
                      <a:srgbClr val="FFFFFF"/>
                    </a:solidFill>
                  </a:tcPr>
                </a:tc>
                <a:tc>
                  <a:txBody>
                    <a:bodyPr/>
                    <a:lstStyle/>
                    <a:p>
                      <a:r>
                        <a:rPr sz="1300" b="0" i="0">
                          <a:solidFill>
                            <a:srgbClr val="1A1440"/>
                          </a:solidFill>
                          <a:latin typeface="Calibri"/>
                        </a:rPr>
                        <a:t>SQL, pandas or Excel: how do you choose?</a:t>
                      </a:r>
                    </a:p>
                  </a:txBody>
                  <a:tcPr marL="101600" marR="101600" marT="38100" marB="38100" anchor="ctr">
                    <a:solidFill>
                      <a:srgbClr val="FFFFFF"/>
                    </a:solidFill>
                  </a:tcPr>
                </a:tc>
              </a:tr>
              <a:tr h="352552">
                <a:tc>
                  <a:txBody>
                    <a:bodyPr/>
                    <a:lstStyle/>
                    <a:p>
                      <a:r>
                        <a:rPr sz="1300" b="0" i="0">
                          <a:solidFill>
                            <a:srgbClr val="1A1440"/>
                          </a:solidFill>
                          <a:latin typeface="Calibri"/>
                        </a:rPr>
                        <a:t>[S]</a:t>
                      </a:r>
                    </a:p>
                  </a:txBody>
                  <a:tcPr marL="101600" marR="101600" marT="38100" marB="38100" anchor="ctr">
                    <a:solidFill>
                      <a:srgbClr val="F4F2FA"/>
                    </a:solidFill>
                  </a:tcPr>
                </a:tc>
                <a:tc>
                  <a:txBody>
                    <a:bodyPr/>
                    <a:lstStyle/>
                    <a:p>
                      <a:r>
                        <a:rPr sz="13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52552">
                <a:tc>
                  <a:txBody>
                    <a:bodyPr/>
                    <a:lstStyle/>
                    <a:p>
                      <a:r>
                        <a:rPr sz="1300" b="0" i="0">
                          <a:solidFill>
                            <a:srgbClr val="1A1440"/>
                          </a:solidFill>
                          <a:latin typeface="Calibri"/>
                        </a:rPr>
                        <a:t>[F]</a:t>
                      </a:r>
                    </a:p>
                  </a:txBody>
                  <a:tcPr marL="101600" marR="101600" marT="38100" marB="38100" anchor="ctr">
                    <a:solidFill>
                      <a:srgbClr val="F4F2FA"/>
                    </a:solidFill>
                  </a:tcPr>
                </a:tc>
                <a:tc>
                  <a:txBody>
                    <a:bodyPr/>
                    <a:lstStyle/>
                    <a:p>
                      <a:r>
                        <a:rPr sz="1300" b="0" i="0">
                          <a:solidFill>
                            <a:srgbClr val="1A1440"/>
                          </a:solidFill>
                          <a:latin typeface="Calibri"/>
                        </a:rPr>
                        <a:t>How do you present one number so it is not misread?</a:t>
                      </a:r>
                    </a:p>
                  </a:txBody>
                  <a:tcPr marL="101600" marR="101600" marT="38100" marB="38100" anchor="ctr">
                    <a:solidFill>
                      <a:srgbClr val="F4F2FA"/>
                    </a:solidFill>
                  </a:tcPr>
                </a:tc>
              </a:tr>
              <a:tr h="352552">
                <a:tc>
                  <a:txBody>
                    <a:bodyPr/>
                    <a:lstStyle/>
                    <a:p>
                      <a:r>
                        <a:rPr sz="1300" b="0" i="0">
                          <a:solidFill>
                            <a:srgbClr val="1A1440"/>
                          </a:solidFill>
                          <a:latin typeface="Calibri"/>
                        </a:rPr>
                        <a:t>[D]</a:t>
                      </a:r>
                    </a:p>
                  </a:txBody>
                  <a:tcPr marL="101600" marR="101600" marT="38100" marB="38100" anchor="ctr">
                    <a:solidFill>
                      <a:srgbClr val="FFFFFF"/>
                    </a:solidFill>
                  </a:tcPr>
                </a:tc>
                <a:tc>
                  <a:txBody>
                    <a:bodyPr/>
                    <a:lstStyle/>
                    <a:p>
                      <a:r>
                        <a:rPr sz="13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52552">
                <a:tc>
                  <a:txBody>
                    <a:bodyPr/>
                    <a:lstStyle/>
                    <a:p>
                      <a:r>
                        <a:rPr sz="1300" b="0" i="0">
                          <a:solidFill>
                            <a:srgbClr val="1A1440"/>
                          </a:solidFill>
                          <a:latin typeface="Calibri"/>
                        </a:rPr>
                        <a:t>[F]</a:t>
                      </a:r>
                    </a:p>
                  </a:txBody>
                  <a:tcPr marL="101600" marR="101600" marT="38100" marB="38100" anchor="ctr">
                    <a:solidFill>
                      <a:srgbClr val="F4F2FA"/>
                    </a:solidFill>
                  </a:tcPr>
                </a:tc>
                <a:tc>
                  <a:txBody>
                    <a:bodyPr/>
                    <a:lstStyle/>
                    <a:p>
                      <a:r>
                        <a:rPr sz="1300" b="0" i="0">
                          <a:solidFill>
                            <a:srgbClr val="1A1440"/>
                          </a:solidFill>
                          <a:latin typeface="Calibri"/>
                        </a:rPr>
                        <a:t>Your lookup returned a member for an id that does not exist; which argument was wrong?</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You filter a list and its total does not move; what is the foot doing?</a:t>
                      </a:r>
                    </a:p>
                  </a:txBody>
                  <a:tcPr marL="101600" marR="101600" marT="38100" marB="38100" anchor="ctr">
                    <a:solidFill>
                      <a:srgbClr val="FFFFFF"/>
                    </a:solidFill>
                  </a:tcPr>
                </a:tc>
              </a:tr>
              <a:tr h="352552">
                <a:tc>
                  <a:txBody>
                    <a:bodyPr/>
                    <a:lstStyle/>
                    <a:p>
                      <a:r>
                        <a:rPr sz="1300" b="0" i="0">
                          <a:solidFill>
                            <a:srgbClr val="1A1440"/>
                          </a:solidFill>
                          <a:latin typeface="Calibri"/>
                        </a:rPr>
                        <a:t>[S]</a:t>
                      </a:r>
                    </a:p>
                  </a:txBody>
                  <a:tcPr marL="101600" marR="101600" marT="38100" marB="38100" anchor="ctr">
                    <a:solidFill>
                      <a:srgbClr val="F4F2FA"/>
                    </a:solidFill>
                  </a:tcPr>
                </a:tc>
                <a:tc>
                  <a:txBody>
                    <a:bodyPr/>
                    <a:lstStyle/>
                    <a:p>
                      <a:r>
                        <a:rPr sz="1300" b="0" i="0">
                          <a:solidFill>
                            <a:srgbClr val="1A1440"/>
                          </a:solidFill>
                          <a:latin typeface="Calibri"/>
                        </a:rPr>
                        <a:t>Why does Remove Duplicates not fix an export at the payment grain?</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A director says revenue doubled; your card says Rs 19.84 crore; what is missing?</a:t>
                      </a:r>
                    </a:p>
                  </a:txBody>
                  <a:tcPr marL="101600" marR="101600" marT="38100" marB="38100" anchor="ctr">
                    <a:solidFill>
                      <a:srgbClr val="FFFFFF"/>
                    </a:solidFill>
                  </a:tcPr>
                </a:tc>
              </a:tr>
              <a:tr h="352552">
                <a:tc>
                  <a:txBody>
                    <a:bodyPr/>
                    <a:lstStyle/>
                    <a:p>
                      <a:r>
                        <a:rPr sz="1300" b="0" i="0">
                          <a:solidFill>
                            <a:srgbClr val="1A1440"/>
                          </a:solidFill>
                          <a:latin typeface="Calibri"/>
                        </a:rPr>
                        <a:t>[D]</a:t>
                      </a:r>
                    </a:p>
                  </a:txBody>
                  <a:tcPr marL="101600" marR="101600" marT="38100" marB="38100" anchor="ctr">
                    <a:solidFill>
                      <a:srgbClr val="F4F2FA"/>
                    </a:solidFill>
                  </a:tcPr>
                </a:tc>
                <a:tc>
                  <a:txBody>
                    <a:bodyPr/>
                    <a:lstStyle/>
                    <a:p>
                      <a:r>
                        <a:rPr sz="1300" b="0" i="0">
                          <a:solidFill>
                            <a:srgbClr val="1A1440"/>
                          </a:solidFill>
                          <a:latin typeface="Calibri"/>
                        </a:rPr>
                        <a:t>A segment fell 29 percent and is 0.4 percent of revenue; does it go on the front page, and how?</a:t>
                      </a:r>
                    </a:p>
                  </a:txBody>
                  <a:tcPr marL="101600" marR="101600" marT="38100" marB="38100" anchor="ctr">
                    <a:solidFill>
                      <a:srgbClr val="F4F2FA"/>
                    </a:solidFill>
                  </a:tcPr>
                </a:tc>
              </a:tr>
              <a:tr h="352552">
                <a:tc>
                  <a:txBody>
                    <a:bodyPr/>
                    <a:lstStyle/>
                    <a:p>
                      <a:r>
                        <a:rPr sz="1300" b="0" i="0">
                          <a:solidFill>
                            <a:srgbClr val="1A1440"/>
                          </a:solidFill>
                          <a:latin typeface="Calibri"/>
                        </a:rPr>
                        <a:t>[D]</a:t>
                      </a:r>
                    </a:p>
                  </a:txBody>
                  <a:tcPr marL="101600" marR="101600" marT="38100" marB="38100" anchor="ctr">
                    <a:solidFill>
                      <a:srgbClr val="FFFFFF"/>
                    </a:solidFill>
                  </a:tcPr>
                </a:tc>
                <a:tc>
                  <a:txBody>
                    <a:bodyPr/>
                    <a:lstStyle/>
                    <a:p>
                      <a:r>
                        <a:rPr sz="1300" b="0" i="0">
                          <a:solidFill>
                            <a:srgbClr val="1A1440"/>
                          </a:solidFill>
                          <a:latin typeface="Calibri"/>
                        </a:rPr>
                        <a:t>A director wants to type over the source in the room; what do you say, and what do you build?</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shape of a strong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mechanism, the check, the number from this week, and the decision it changes.</a:t>
            </a:r>
          </a:p>
        </p:txBody>
      </p:sp>
      <p:pic>
        <p:nvPicPr>
          <p:cNvPr id="9" name="mermaid diagram" descr="27288e316e33679f.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the chief of staff, the day's crux lines, and Monday in Kalpa Health.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she can trust the file for, and what she cannot.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Finance's Rs 9.84 crore for Q2, down 1.6 percent on Q1, and the fall sits in Retail-Plus, where orders per member fell from 2.36 to 1.84. The protect list is held until the customer export is rerun, because it does not tie to the warehouse.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fa68fbcfde100f47.png"/>
          <p:cNvPicPr>
            <a:picLocks noChangeAspect="1"/>
          </p:cNvPicPr>
          <p:nvPr/>
        </p:nvPicPr>
        <p:blipFill>
          <a:blip r:embed="rId5"/>
          <a:stretch>
            <a:fillRect/>
          </a:stretch>
        </p:blipFill>
        <p:spPr>
          <a:xfrm>
            <a:off x="1881035" y="3698240"/>
            <a:ext cx="842962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crux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five lines the cheat sheet and the notes repeat word for word.</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pivot is only as honest as the rows under it: say the grain, count rows against ids, tie the total to the warehouse.</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approximate match answers with a neighbour.</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The foot of a filtered list adds only what the director can see: SUBTOTAL(109), never SUM.</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a:t>
            </a:r>
          </a:p>
        </p:txBody>
      </p:sp>
      <p:sp>
        <p:nvSpPr>
          <p:cNvPr id="17" name="TextBox 16"/>
          <p:cNvSpPr txBox="1"/>
          <p:nvPr/>
        </p:nvSpPr>
        <p:spPr>
          <a:xfrm>
            <a:off x="530352" y="39471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983736"/>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pandas owns the iteration, Excel owns the last mile, and nobody types over the source.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items, ungraded, including Thursday's merge one level up.</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MARKS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the same method, a business you have not seen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Build 1 opens in Kalpa Health, with the project introduction online.</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"Where does our growth come from?"</a:t>
            </a:r>
          </a:p>
          <a:p>
            <a:pPr>
              <a:spcBef>
                <a:spcPts val="400"/>
              </a:spcBef>
            </a:pPr>
            <a:r>
              <a:rPr sz="1000" b="0" i="0">
                <a:solidFill>
                  <a:srgbClr val="6B6690"/>
                </a:solidFill>
                <a:latin typeface="Calibri"/>
              </a:rPr>
              <a:t>Dr Priya Menon, COO, Kalpa Health, whose diagnostics business grew 5 percent against a plan of 18</a:t>
            </a:r>
          </a:p>
        </p:txBody>
      </p:sp>
      <p:sp>
        <p:nvSpPr>
          <p:cNvPr id="11" name="Rounded Rectangle 10"/>
          <p:cNvSpPr/>
          <p:nvPr/>
        </p:nvSpPr>
        <p:spPr>
          <a:xfrm>
            <a:off x="530352" y="284480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04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flask-conical_7f5aa1048f78.png"/>
          <p:cNvPicPr>
            <a:picLocks noChangeAspect="1"/>
          </p:cNvPicPr>
          <p:nvPr/>
        </p:nvPicPr>
        <p:blipFill>
          <a:blip r:embed="rId4"/>
          <a:stretch>
            <a:fillRect/>
          </a:stretch>
        </p:blipFill>
        <p:spPr>
          <a:xfrm>
            <a:off x="841247" y="3155696"/>
            <a:ext cx="237744" cy="237744"/>
          </a:xfrm>
          <a:prstGeom prst="rect">
            <a:avLst/>
          </a:prstGeom>
        </p:spPr>
      </p:pic>
      <p:sp>
        <p:nvSpPr>
          <p:cNvPr id="14" name="TextBox 13"/>
          <p:cNvSpPr txBox="1"/>
          <p:nvPr/>
        </p:nvSpPr>
        <p:spPr>
          <a:xfrm>
            <a:off x="731519" y="361289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STAYS</a:t>
            </a:r>
          </a:p>
        </p:txBody>
      </p:sp>
      <p:sp>
        <p:nvSpPr>
          <p:cNvPr id="15" name="TextBox 14"/>
          <p:cNvSpPr txBox="1"/>
          <p:nvPr/>
        </p:nvSpPr>
        <p:spPr>
          <a:xfrm>
            <a:off x="731519" y="385064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method</a:t>
            </a:r>
          </a:p>
        </p:txBody>
      </p:sp>
      <p:sp>
        <p:nvSpPr>
          <p:cNvPr id="16" name="TextBox 15"/>
          <p:cNvSpPr txBox="1"/>
          <p:nvPr/>
        </p:nvSpPr>
        <p:spPr>
          <a:xfrm>
            <a:off x="731519" y="419150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tree, the grain, the reconciliation, the card with its period and base.</a:t>
            </a:r>
          </a:p>
        </p:txBody>
      </p:sp>
      <p:sp>
        <p:nvSpPr>
          <p:cNvPr id="17" name="Rounded Rectangle 16"/>
          <p:cNvSpPr/>
          <p:nvPr/>
        </p:nvSpPr>
        <p:spPr>
          <a:xfrm>
            <a:off x="4301642" y="284480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04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hospital_8adfcd515209.png"/>
          <p:cNvPicPr>
            <a:picLocks noChangeAspect="1"/>
          </p:cNvPicPr>
          <p:nvPr/>
        </p:nvPicPr>
        <p:blipFill>
          <a:blip r:embed="rId5"/>
          <a:stretch>
            <a:fillRect/>
          </a:stretch>
        </p:blipFill>
        <p:spPr>
          <a:xfrm>
            <a:off x="4612538" y="3155696"/>
            <a:ext cx="237744" cy="237744"/>
          </a:xfrm>
          <a:prstGeom prst="rect">
            <a:avLst/>
          </a:prstGeom>
        </p:spPr>
      </p:pic>
      <p:sp>
        <p:nvSpPr>
          <p:cNvPr id="20" name="TextBox 19"/>
          <p:cNvSpPr txBox="1"/>
          <p:nvPr/>
        </p:nvSpPr>
        <p:spPr>
          <a:xfrm>
            <a:off x="4502810" y="361289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CHANGES</a:t>
            </a:r>
          </a:p>
        </p:txBody>
      </p:sp>
      <p:sp>
        <p:nvSpPr>
          <p:cNvPr id="21" name="TextBox 20"/>
          <p:cNvSpPr txBox="1"/>
          <p:nvPr/>
        </p:nvSpPr>
        <p:spPr>
          <a:xfrm>
            <a:off x="4502810" y="385064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domain</a:t>
            </a:r>
          </a:p>
        </p:txBody>
      </p:sp>
      <p:sp>
        <p:nvSpPr>
          <p:cNvPr id="22" name="TextBox 21"/>
          <p:cNvSpPr txBox="1"/>
          <p:nvPr/>
        </p:nvSpPr>
        <p:spPr>
          <a:xfrm>
            <a:off x="4502810" y="4191508"/>
            <a:ext cx="3186074" cy="399796"/>
          </a:xfrm>
          <a:prstGeom prst="rect">
            <a:avLst/>
          </a:prstGeom>
          <a:noFill/>
        </p:spPr>
        <p:txBody>
          <a:bodyPr wrap="square" anchor="t" lIns="0" rIns="0" tIns="0" bIns="0">
            <a:spAutoFit/>
          </a:bodyPr>
          <a:lstStyle/>
          <a:p>
            <a:pPr algn="l"/>
            <a:r>
              <a:rPr sz="1100" b="0" i="0">
                <a:solidFill>
                  <a:srgbClr val="6B6690"/>
                </a:solidFill>
                <a:latin typeface="Calibri"/>
              </a:rPr>
              <a:t>Labs, bookings, collections and clinics, in five sub-problems.</a:t>
            </a:r>
          </a:p>
        </p:txBody>
      </p:sp>
      <p:sp>
        <p:nvSpPr>
          <p:cNvPr id="23" name="Rounded Rectangle 22"/>
          <p:cNvSpPr/>
          <p:nvPr/>
        </p:nvSpPr>
        <p:spPr>
          <a:xfrm>
            <a:off x="8072932" y="2844800"/>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0459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circle-help_e970ab2886cf.png"/>
          <p:cNvPicPr>
            <a:picLocks noChangeAspect="1"/>
          </p:cNvPicPr>
          <p:nvPr/>
        </p:nvPicPr>
        <p:blipFill>
          <a:blip r:embed="rId6"/>
          <a:stretch>
            <a:fillRect/>
          </a:stretch>
        </p:blipFill>
        <p:spPr>
          <a:xfrm>
            <a:off x="8383828" y="3155696"/>
            <a:ext cx="237744" cy="237744"/>
          </a:xfrm>
          <a:prstGeom prst="rect">
            <a:avLst/>
          </a:prstGeom>
        </p:spPr>
      </p:pic>
      <p:sp>
        <p:nvSpPr>
          <p:cNvPr id="26" name="TextBox 25"/>
          <p:cNvSpPr txBox="1"/>
          <p:nvPr/>
        </p:nvSpPr>
        <p:spPr>
          <a:xfrm>
            <a:off x="8274100" y="361289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7" name="TextBox 26"/>
          <p:cNvSpPr txBox="1"/>
          <p:nvPr/>
        </p:nvSpPr>
        <p:spPr>
          <a:xfrm>
            <a:off x="8274100" y="3850640"/>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8" name="TextBox 27"/>
          <p:cNvSpPr txBox="1"/>
          <p:nvPr/>
        </p:nvSpPr>
        <p:spPr>
          <a:xfrm>
            <a:off x="8274100" y="4191508"/>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in a diagnostics business?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1" name="Oval 3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3" name="Oval 3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5" name="Oval 3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7" name="Oval 36"/>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