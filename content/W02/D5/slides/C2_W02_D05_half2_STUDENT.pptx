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morning built the tree, the list, the card and the rule. The afternoon hands the</a:t>
            </a:r>
          </a:p>
          <a:p>
            <a:r>
              <a:t>workbook to a director: chapter 6, then the escalated case alone, the debrief of the room's wrong</a:t>
            </a:r>
          </a:p>
          <a:p>
            <a:r>
              <a:t>numbers, the director's edit in pairs, the interview drill, and the close.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with notebook C2_W02_D05_06_director_proof beside it; the reference workbook,</a:t>
            </a:r>
          </a:p>
          <a:p>
            <a:r>
              <a:t>demos/C2_W02_D05_deck_pack_STUDENT.xlsx, open in Excel.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morning in one line: the tree ties to the warehouse's Rs 10.00 crore and Rs 9.84</a:t>
            </a:r>
          </a:p>
          <a:p>
            <a:r>
              <a:t>crore, the list of fifty runs from Rs 25,840 to Rs 8,580 with a lookup that says when an id is missing,</a:t>
            </a:r>
          </a:p>
          <a:p>
            <a:r>
              <a:t>the card carries its period, comparison and base, and the warehouse owns every join.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head of Retail-Plus sizes each city's retention budget from the list. Nothing in</a:t>
            </a:r>
          </a:p>
          <a:p>
            <a:r>
              <a:t>Excel turns red when a filter changes what a number at the foot of a list means.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Computerworld, 14 October 2008, checked 30 September 2026. A law firm reformatting a</a:t>
            </a:r>
          </a:p>
          <a:p>
            <a:r>
              <a:t>spreadsheet into a PDF for the court's website exposed hidden rows. Rows a person could not see still</a:t>
            </a:r>
          </a:p>
          <a:p>
            <a:r>
              <a:t>counted.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five actions: filter, sort, type over a cell, change an assumption, paste in a new</a:t>
            </a:r>
          </a:p>
          <a:p>
            <a:r>
              <a:t>export. Protection and the PDF fail the brief, since nothing recalculates.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first.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next two steps take the filter; step 5 takes the input; the second case after the</a:t>
            </a:r>
          </a:p>
          <a:p>
            <a:r>
              <a:t>break takes the typed-over cell.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Filter it live in the reference workbook's Protect tab after switching its foot to SUM</a:t>
            </a:r>
          </a:p>
          <a:p>
            <a:r>
              <a:t>(the tab ships with SUBTOTAL). Letters before you read the foot aloud.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foot aloud as if it were right, then ask how many members are on screen.</a:t>
            </a:r>
          </a:p>
          <a:p>
            <a:r>
              <a:t>Delhi carries Rs 2,21,150 on 16 members; Mumbai is the second-largest city on the list.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 LibreOffice 24.2.7.2, SUM over three rows with one hidden by hand gave 60 and</a:t>
            </a:r>
          </a:p>
          <a:p>
            <a:r>
              <a:t>SUBTOTAL(109) gave 40: the same rule. The label beside the foot says which rows it adds.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second route does not depend on the filter, so it can disagree with the foot. Put</a:t>
            </a:r>
          </a:p>
          <a:p>
            <a:r>
              <a:t>it on the Checks tab as the foot's partner.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voucher is an assumption, so it gets a yellow cell, and the cost is a formula that</a:t>
            </a:r>
          </a:p>
          <a:p>
            <a:r>
              <a:t>reads it and the rows on screen.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Change B1 live. This is the chief of staff's condition met: the sheet recalculates and</a:t>
            </a:r>
          </a:p>
          <a:p>
            <a:r>
              <a:t>the source is untouched.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ISFORMULA "checks whether there is a reference to a cell that contains a formula, and</a:t>
            </a:r>
          </a:p>
          <a:p>
            <a:r>
              <a:t>returns TRUE or FALSE" (Microsoft Support, checked 30 September 2026). Letters first.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notebook shows the release deciding on invented inputs; the real Checks tab runs</a:t>
            </a:r>
          </a:p>
          <a:p>
            <a:r>
              <a:t>in the escalated case. The note that goes with a HOLD names what does not tie and asks for the export</a:t>
            </a:r>
          </a:p>
          <a:p>
            <a:r>
              <a:t>to be rerun.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adding hidden rows, SUM; SUBTOTAL(109) adds what is on</a:t>
            </a:r>
          </a:p>
          <a:p>
            <a:r>
              <a:t>screen, SUBTOTAL(103) counts it; Mumbai Rs 7,14,890 against Rs 1,56,790.</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unguided. The support TA answers environment problems only. The brief is</a:t>
            </a:r>
          </a:p>
          <a:p>
            <a:r>
              <a:t>exercises/unguided/C2_W02_D05_escalated_STUDENT.md; the notebook is</a:t>
            </a:r>
          </a:p>
          <a:p>
            <a:r>
              <a:t>notebooks/C2_W02_D05_ex1_escalated_case_STUDENT.ipynb. Solutions open at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brief aloud, point at the five parts and start the clock: 47 minutes of work.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leave on screen during the case. The reference workbook in demos/ has exactly this tab.</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Collect the room's wrong numbers during the case and show the ones that actually</a:t>
            </a:r>
          </a:p>
          <a:p>
            <a:r>
              <a:t>appeared; the table on S18 is the list most rooms produce.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down the table and, for each row, ask who produced it during the case. No</a:t>
            </a:r>
          </a:p>
          <a:p>
            <a:r>
              <a:t>shaming: each is the number a hurried sheet shows.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Those who did chapter 3's your-turn step should know.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TRAINER: the day sheet has what the room found and the consequence to say aloud now,</a:t>
            </a:r>
          </a:p>
          <a:p>
            <a:r>
              <a:t>since the room has found it. BREAK, 10 minutes, after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forty minutes in pairs: one plays the director, one defends the rule, then they swap. The brief is</a:t>
            </a:r>
          </a:p>
          <a:p>
            <a:r>
              <a:t>exercises/unguided/C2_W02_D05_director_edit_STUDENT.md; the notebook is</a:t>
            </a:r>
          </a:p>
          <a:p>
            <a:r>
              <a:t>notebooks/C2_W02_D05_ex2_second_case_STUDENT.ipynb.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it in the director's voice. The request is reasonable in a meeting and corrosive in</a:t>
            </a:r>
          </a:p>
          <a:p>
            <a:r>
              <a:t>a file. The pair's job: yes to the question, no to the edit.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ex2, steps 1 to 4. The drift check that catches it is the sheet's Q2 total</a:t>
            </a:r>
          </a:p>
          <a:p>
            <a:r>
              <a:t>against the warehouse's; the typed-over check is ISFORMULA on the cell.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then each pair says why their letter survives the director's pushback.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Then the role play: 10 minutes each way, walking the room. Listen for anyone who says</a:t>
            </a:r>
          </a:p>
          <a:p>
            <a:r>
              <a:t>no to the question as well as to the edit.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27 minutes across the role play and the notebook: 20 for the two rounds, 7 for the notebook's</a:t>
            </a:r>
          </a:p>
          <a:p>
            <a:r>
              <a:t>five letters. Close with one pair's three lines aloud.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in pairs: one asks, one answers in under a minute, then swap.</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16 minutes. Tags: [S] staple, [F] frequent in GCC and product screens, [D] differentiator, the</a:t>
            </a:r>
          </a:p>
          <a:p>
            <a:r>
              <a:t>programme's own calibration for 0 to 3 year candidates. The design question is the export growing a</a:t>
            </a:r>
          </a:p>
          <a:p>
            <a:r>
              <a:t>hundredfold.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example aloud and ask one pair to redo their weakest answer in this shape.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the sentence (2), the six lines (2), the Kahoot (9), tomorrow (2).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Two learners read their own sentences, with what their own Checks tab released; check</a:t>
            </a:r>
          </a:p>
          <a:p>
            <a:r>
              <a:t>each for the number, the period, the comparison, what is held and why. The day sheet has the release</a:t>
            </a:r>
          </a:p>
          <a:p>
            <a:r>
              <a:t>this room's workbook should give.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them once. They are on the cheat sheet's panels in this order.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Run kahoot/C2_W02_D05_quiz_STUDENT.md. The return question is Thursday's merge one level</a:t>
            </a:r>
          </a:p>
          <a:p>
            <a:r>
              <a:t>up.</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 Priya Menon, COO of Kalpa Health, brings Meera's question to a diagnostics business</a:t>
            </a:r>
          </a:p>
          <a:p>
            <a:r>
              <a:t>whose laboratories test US patients and bill US payers, run from Kalpa's GCC. Leave the last card's</a:t>
            </a:r>
          </a:p>
          <a:p>
            <a:r>
              <a:t>question open. The pre-read for Monday ships tonight.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1.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5.png"/><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2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29067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FRIDAY  ·  HALF TWO</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Can a director change it and still trust it?</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“Everything you built this week has to survive a room that only has Excel. Which parts belong in Excel, which parts must never be in Excel, and how do you keep the two from drifting apart?”</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Kavya Nair, senior analyst, Kalpa Retail data team</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870448"/>
            <a:ext cx="1602486" cy="185166"/>
          </a:xfrm>
          <a:prstGeom prst="rect">
            <a:avLst/>
          </a:prstGeom>
          <a:noFill/>
        </p:spPr>
        <p:txBody>
          <a:bodyPr wrap="square" anchor="t" lIns="0" rIns="0" tIns="0" bIns="0">
            <a:spAutoFit/>
          </a:bodyPr>
          <a:lstStyle/>
          <a:p>
            <a:pPr algn="l"/>
            <a:r>
              <a:rPr sz="900" b="0" i="0">
                <a:solidFill>
                  <a:srgbClr val="FFFFFF"/>
                </a:solidFill>
                <a:latin typeface="Calibri"/>
              </a:rPr>
              <a:t>Can a director break it?</a:t>
            </a:r>
          </a:p>
        </p:txBody>
      </p:sp>
      <p:sp>
        <p:nvSpPr>
          <p:cNvPr id="13" name="TextBox 12"/>
          <p:cNvSpPr txBox="1"/>
          <p:nvPr/>
        </p:nvSpPr>
        <p:spPr>
          <a:xfrm>
            <a:off x="2791206"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3175254"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Can you ship it alone?</a:t>
            </a:r>
          </a:p>
        </p:txBody>
      </p:sp>
      <p:sp>
        <p:nvSpPr>
          <p:cNvPr id="15" name="TextBox 14"/>
          <p:cNvSpPr txBox="1"/>
          <p:nvPr/>
        </p:nvSpPr>
        <p:spPr>
          <a:xfrm>
            <a:off x="4842319"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5226367" y="5870448"/>
            <a:ext cx="1661636" cy="185166"/>
          </a:xfrm>
          <a:prstGeom prst="rect">
            <a:avLst/>
          </a:prstGeom>
          <a:noFill/>
        </p:spPr>
        <p:txBody>
          <a:bodyPr wrap="square" anchor="t" lIns="0" rIns="0" tIns="0" bIns="0">
            <a:spAutoFit/>
          </a:bodyPr>
          <a:lstStyle/>
          <a:p>
            <a:pPr algn="l"/>
            <a:r>
              <a:rPr sz="900" b="0" i="0">
                <a:solidFill>
                  <a:srgbClr val="FFFFFF"/>
                </a:solidFill>
                <a:latin typeface="Calibri"/>
              </a:rPr>
              <a:t>Which numbers were wrong?</a:t>
            </a:r>
          </a:p>
        </p:txBody>
      </p:sp>
      <p:sp>
        <p:nvSpPr>
          <p:cNvPr id="17" name="TextBox 16"/>
          <p:cNvSpPr txBox="1"/>
          <p:nvPr/>
        </p:nvSpPr>
        <p:spPr>
          <a:xfrm>
            <a:off x="7070883"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09</a:t>
            </a:r>
          </a:p>
        </p:txBody>
      </p:sp>
      <p:sp>
        <p:nvSpPr>
          <p:cNvPr id="18" name="TextBox 17"/>
          <p:cNvSpPr txBox="1"/>
          <p:nvPr/>
        </p:nvSpPr>
        <p:spPr>
          <a:xfrm>
            <a:off x="7454931" y="5870448"/>
            <a:ext cx="1602486" cy="185166"/>
          </a:xfrm>
          <a:prstGeom prst="rect">
            <a:avLst/>
          </a:prstGeom>
          <a:noFill/>
        </p:spPr>
        <p:txBody>
          <a:bodyPr wrap="square" anchor="t" lIns="0" rIns="0" tIns="0" bIns="0">
            <a:spAutoFit/>
          </a:bodyPr>
          <a:lstStyle/>
          <a:p>
            <a:pPr algn="l"/>
            <a:r>
              <a:rPr sz="900" b="0" i="0">
                <a:solidFill>
                  <a:srgbClr val="FFFFFF"/>
                </a:solidFill>
                <a:latin typeface="Calibri"/>
              </a:rPr>
              <a:t>Where does five lakh go?</a:t>
            </a:r>
          </a:p>
        </p:txBody>
      </p:sp>
      <p:sp>
        <p:nvSpPr>
          <p:cNvPr id="19" name="TextBox 18"/>
          <p:cNvSpPr txBox="1"/>
          <p:nvPr/>
        </p:nvSpPr>
        <p:spPr>
          <a:xfrm>
            <a:off x="9240297"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10</a:t>
            </a:r>
          </a:p>
        </p:txBody>
      </p:sp>
      <p:sp>
        <p:nvSpPr>
          <p:cNvPr id="20" name="TextBox 19"/>
          <p:cNvSpPr txBox="1"/>
          <p:nvPr/>
        </p:nvSpPr>
        <p:spPr>
          <a:xfrm>
            <a:off x="9624345" y="5870448"/>
            <a:ext cx="1425035" cy="185166"/>
          </a:xfrm>
          <a:prstGeom prst="rect">
            <a:avLst/>
          </a:prstGeom>
          <a:noFill/>
        </p:spPr>
        <p:txBody>
          <a:bodyPr wrap="square" anchor="t" lIns="0" rIns="0" tIns="0" bIns="0">
            <a:spAutoFit/>
          </a:bodyPr>
          <a:lstStyle/>
          <a:p>
            <a:pPr algn="l"/>
            <a:r>
              <a:rPr sz="900" b="0" i="0">
                <a:solidFill>
                  <a:srgbClr val="FFFFFF"/>
                </a:solidFill>
                <a:latin typeface="Calibri"/>
              </a:rPr>
              <a:t>Can you say it aloud?</a:t>
            </a:r>
          </a:p>
        </p:txBody>
      </p:sp>
      <p:sp>
        <p:nvSpPr>
          <p:cNvPr id="21" name="TextBox 20"/>
          <p:cNvSpPr txBox="1"/>
          <p:nvPr/>
        </p:nvSpPr>
        <p:spPr>
          <a:xfrm>
            <a:off x="621792" y="6254496"/>
            <a:ext cx="365760" cy="251205"/>
          </a:xfrm>
          <a:prstGeom prst="rect">
            <a:avLst/>
          </a:prstGeom>
          <a:noFill/>
        </p:spPr>
        <p:txBody>
          <a:bodyPr wrap="square" anchor="t" lIns="0" rIns="0" tIns="0" bIns="0">
            <a:spAutoFit/>
          </a:bodyPr>
          <a:lstStyle/>
          <a:p>
            <a:pPr algn="l"/>
            <a:r>
              <a:rPr sz="1300" b="0" i="0">
                <a:solidFill>
                  <a:srgbClr val="D9A7FF"/>
                </a:solidFill>
                <a:latin typeface="Georgia"/>
              </a:rPr>
              <a:t>11</a:t>
            </a:r>
          </a:p>
        </p:txBody>
      </p:sp>
      <p:sp>
        <p:nvSpPr>
          <p:cNvPr id="22" name="TextBox 21"/>
          <p:cNvSpPr txBox="1"/>
          <p:nvPr/>
        </p:nvSpPr>
        <p:spPr>
          <a:xfrm>
            <a:off x="1005839" y="6291072"/>
            <a:ext cx="1425035" cy="185166"/>
          </a:xfrm>
          <a:prstGeom prst="rect">
            <a:avLst/>
          </a:prstGeom>
          <a:noFill/>
        </p:spPr>
        <p:txBody>
          <a:bodyPr wrap="square" anchor="t" lIns="0" rIns="0" tIns="0" bIns="0">
            <a:spAutoFit/>
          </a:bodyPr>
          <a:lstStyle/>
          <a:p>
            <a:pPr algn="l"/>
            <a:r>
              <a:rPr sz="900" b="0" i="0">
                <a:solidFill>
                  <a:srgbClr val="FFFFFF"/>
                </a:solidFill>
                <a:latin typeface="Calibri"/>
              </a:rPr>
              <a:t>What ships on Monday?</a:t>
            </a:r>
          </a:p>
        </p:txBody>
      </p:sp>
      <p:sp>
        <p:nvSpPr>
          <p:cNvPr id="23" name="TextBox 2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Can a director change it and still trust it?</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a director break it?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When a director takes the workbook in the room, what can they break, and which checks catch it before anyone reads a wrong number? The chief of staff's last condition rides on it.</a:t>
            </a:r>
          </a:p>
        </p:txBody>
      </p:sp>
      <p:sp>
        <p:nvSpPr>
          <p:cNvPr id="10" name="Rounded Rectangle 9"/>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six steps, from the room to the release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what must we find out on the way?</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chief of staff, who hands the laptop across mid-meeting, and the head of Retail-Plus, who sizes each city's budget from the list; a total that keeps counting hidden rows sizes a budget on the whole list.</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will they do?</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Five things a director does to a sheet.</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to protect it?</a:t>
            </a:r>
          </a:p>
        </p:txBody>
      </p:sp>
      <p:sp>
        <p:nvSpPr>
          <p:cNvPr id="22" name="TextBox 21"/>
          <p:cNvSpPr txBox="1"/>
          <p:nvPr/>
        </p:nvSpPr>
        <p:spPr>
          <a:xfrm>
            <a:off x="2580589"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ways, sized.</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A filtered total?</a:t>
            </a:r>
          </a:p>
        </p:txBody>
      </p:sp>
      <p:sp>
        <p:nvSpPr>
          <p:cNvPr id="27" name="TextBox 26"/>
          <p:cNvSpPr txBox="1"/>
          <p:nvPr/>
        </p:nvSpPr>
        <p:spPr>
          <a:xfrm>
            <a:off x="446623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What the foot says.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Visible rows only?</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SUBTOTAL, and a second route.</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An assumption?</a:t>
            </a:r>
          </a:p>
        </p:txBody>
      </p:sp>
      <p:sp>
        <p:nvSpPr>
          <p:cNvPr id="37" name="TextBox 36"/>
          <p:cNvSpPr txBox="1"/>
          <p:nvPr/>
        </p:nvSpPr>
        <p:spPr>
          <a:xfrm>
            <a:off x="823752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Where a what-if goes.</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What is released?</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The Checks tab.</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45" name="Oval 4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47" name="Oval 4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49" name="Oval 4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51" name="Oval 5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53" name="Oval 5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55" name="TextBox 5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director will filter, sort, type and ask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at stake, who is in the room, and what does a silent change cost?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MEMBERS ON THE LIST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7,14,890 together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CITIES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each with its own budget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ERRORS SHOWN</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when a filter changes what a total means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"If a director changes an assumption in the room, the sheet must recalculate in front of them."</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28" name="Oval 2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32" name="Oval 3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34" name="Oval 3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6" name="Oval 35"/>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Barclays bought 179 contracts hidden in a sheet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paid for rows nobody could see?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179</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CONTRACTS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Barclays asked the court to exclude them</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2008</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YEAR</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Lehman purchase</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86384" y="3419856"/>
            <a:ext cx="10820095" cy="1026160"/>
          </a:xfrm>
          <a:prstGeom prst="rect">
            <a:avLst/>
          </a:prstGeom>
          <a:noFill/>
        </p:spPr>
        <p:txBody>
          <a:bodyPr wrap="square" anchor="t" lIns="0" rIns="0" tIns="0" bIns="0">
            <a:spAutoFit/>
          </a:bodyPr>
          <a:lstStyle/>
          <a:p>
            <a:r>
              <a:rPr sz="1600" b="0" i="1">
                <a:solidFill>
                  <a:srgbClr val="1A0F5C"/>
                </a:solidFill>
                <a:latin typeface="Georgia"/>
              </a:rPr>
              <a:t>"Contracts that had been marked as 'hidden' in the spreadsheet when it was received by the law firm were added to the purchase offer during the reformatting process."</a:t>
            </a:r>
          </a:p>
          <a:p>
            <a:pPr>
              <a:spcBef>
                <a:spcPts val="400"/>
              </a:spcBef>
            </a:pPr>
            <a:r>
              <a:rPr sz="1000" b="0" i="0">
                <a:solidFill>
                  <a:srgbClr val="6B6690"/>
                </a:solidFill>
                <a:latin typeface="Calibri"/>
              </a:rPr>
              <a:t>Computerworld, 14 October 2008</a:t>
            </a:r>
          </a:p>
        </p:txBody>
      </p:sp>
      <p:sp>
        <p:nvSpPr>
          <p:cNvPr id="19" name="Oval 18"/>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21" name="Oval 2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3" name="Oval 22"/>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5" name="Oval 24"/>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7" name="Oval 26"/>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9" name="Oval 28"/>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Yellow inputs, formulas, and a Checks tab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the team protect the workbook, and what does each way cost?</a:t>
            </a:r>
          </a:p>
        </p:txBody>
      </p:sp>
      <p:graphicFrame>
        <p:nvGraphicFramePr>
          <p:cNvPr id="9" name="Table 8"/>
          <p:cNvGraphicFramePr>
            <a:graphicFrameLocks noGrp="1"/>
          </p:cNvGraphicFramePr>
          <p:nvPr/>
        </p:nvGraphicFramePr>
        <p:xfrm>
          <a:off x="530352" y="1956816"/>
          <a:ext cx="11130990" cy="2332736"/>
        </p:xfrm>
        <a:graphic>
          <a:graphicData uri="http://schemas.openxmlformats.org/drawingml/2006/table">
            <a:tbl>
              <a:tblPr firstRow="0" bandRow="0">
                <a:tableStyleId>{2D5ABB26-0587-4C30-8999-92F81FD0307C}</a:tableStyleId>
              </a:tblPr>
              <a:tblGrid>
                <a:gridCol w="3830839"/>
                <a:gridCol w="3830839"/>
                <a:gridCol w="3469312"/>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Director actions it allows, of 5</a:t>
                      </a:r>
                    </a:p>
                  </a:txBody>
                  <a:tcPr marL="101600" marR="101600" marT="38100" marB="38100" anchor="ctr">
                    <a:solidFill>
                      <a:srgbClr val="1A0F5C"/>
                    </a:solidFill>
                  </a:tcPr>
                </a:tc>
                <a:tc>
                  <a:txBody>
                    <a:bodyPr/>
                    <a:lstStyle/>
                    <a:p>
                      <a:r>
                        <a:rPr sz="1450" b="1" i="0">
                          <a:solidFill>
                            <a:srgbClr val="FFFFFF"/>
                          </a:solidFill>
                          <a:latin typeface="Calibri"/>
                        </a:rPr>
                        <a:t>A wrong number is caught by</a:t>
                      </a:r>
                    </a:p>
                  </a:txBody>
                  <a:tcPr marL="101600" marR="101600" marT="38100" marB="38100" anchor="ctr">
                    <a:solidFill>
                      <a:srgbClr val="1A0F5C"/>
                    </a:solidFill>
                  </a:tcPr>
                </a:tc>
              </a:tr>
              <a:tr h="611632">
                <a:tc>
                  <a:txBody>
                    <a:bodyPr/>
                    <a:lstStyle/>
                    <a:p>
                      <a:r>
                        <a:rPr sz="1400" b="0" i="0">
                          <a:solidFill>
                            <a:srgbClr val="1A1440"/>
                          </a:solidFill>
                          <a:latin typeface="Calibri"/>
                        </a:rPr>
                        <a:t>a) Protect every cell</a:t>
                      </a:r>
                    </a:p>
                  </a:txBody>
                  <a:tcPr marL="101600" marR="101600" marT="38100" marB="38100" anchor="ctr">
                    <a:solidFill>
                      <a:srgbClr val="FFFFFF"/>
                    </a:solidFill>
                  </a:tcPr>
                </a:tc>
                <a:tc>
                  <a:txBody>
                    <a:bodyPr/>
                    <a:lstStyle/>
                    <a:p>
                      <a:r>
                        <a:rPr sz="1400" b="0" i="0">
                          <a:solidFill>
                            <a:srgbClr val="1A1440"/>
                          </a:solidFill>
                          <a:latin typeface="Calibri"/>
                        </a:rPr>
                        <a:t>2: filter and sort, if protection allows</a:t>
                      </a:r>
                    </a:p>
                  </a:txBody>
                  <a:tcPr marL="101600" marR="101600" marT="38100" marB="38100" anchor="ctr">
                    <a:solidFill>
                      <a:srgbClr val="FFFFFF"/>
                    </a:solidFill>
                  </a:tcPr>
                </a:tc>
                <a:tc>
                  <a:txBody>
                    <a:bodyPr/>
                    <a:lstStyle/>
                    <a:p>
                      <a:r>
                        <a:rPr sz="1400" b="0" i="0">
                          <a:solidFill>
                            <a:srgbClr val="1A1440"/>
                          </a:solidFill>
                          <a:latin typeface="Calibri"/>
                        </a:rPr>
                        <a:t>nothing: no what-if can be asked</a:t>
                      </a:r>
                    </a:p>
                  </a:txBody>
                  <a:tcPr marL="101600" marR="101600" marT="38100" marB="38100" anchor="ctr">
                    <a:solidFill>
                      <a:srgbClr val="FFFFFF"/>
                    </a:solidFill>
                  </a:tcPr>
                </a:tc>
              </a:tr>
              <a:tr h="369824">
                <a:tc>
                  <a:txBody>
                    <a:bodyPr/>
                    <a:lstStyle/>
                    <a:p>
                      <a:r>
                        <a:rPr sz="1400" b="0" i="0">
                          <a:solidFill>
                            <a:srgbClr val="1A1440"/>
                          </a:solidFill>
                          <a:latin typeface="Calibri"/>
                        </a:rPr>
                        <a:t>b) Send a PDF</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c>
                  <a:txBody>
                    <a:bodyPr/>
                    <a:lstStyle/>
                    <a:p>
                      <a:r>
                        <a:rPr sz="1400" b="0" i="0">
                          <a:solidFill>
                            <a:srgbClr val="1A1440"/>
                          </a:solidFill>
                          <a:latin typeface="Calibri"/>
                        </a:rPr>
                        <a:t>nothing: nothing recalculates</a:t>
                      </a:r>
                    </a:p>
                  </a:txBody>
                  <a:tcPr marL="101600" marR="101600" marT="38100" marB="38100" anchor="ctr">
                    <a:solidFill>
                      <a:srgbClr val="F4F2FA"/>
                    </a:solidFill>
                  </a:tcPr>
                </a:tc>
              </a:tr>
              <a:tr h="611632">
                <a:tc>
                  <a:txBody>
                    <a:bodyPr/>
                    <a:lstStyle/>
                    <a:p>
                      <a:r>
                        <a:rPr sz="1400" b="0" i="0">
                          <a:solidFill>
                            <a:srgbClr val="1A1440"/>
                          </a:solidFill>
                          <a:latin typeface="Calibri"/>
                        </a:rPr>
                        <a:t>c) Yellow inputs, formulas, a Checks tab</a:t>
                      </a:r>
                    </a:p>
                  </a:txBody>
                  <a:tcPr marL="101600" marR="101600" marT="38100" marB="38100" anchor="ctr">
                    <a:solidFill>
                      <a:srgbClr val="FFFFFF"/>
                    </a:solidFill>
                  </a:tcPr>
                </a:tc>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a red check and a release that holds</a:t>
                      </a:r>
                    </a:p>
                  </a:txBody>
                  <a:tcPr marL="101600" marR="101600" marT="38100" marB="38100" anchor="ctr">
                    <a:solidFill>
                      <a:srgbClr val="FFFFFF"/>
                    </a:solidFill>
                  </a:tcPr>
                </a:tc>
              </a:tr>
              <a:tr h="369824">
                <a:tc>
                  <a:txBody>
                    <a:bodyPr/>
                    <a:lstStyle/>
                    <a:p>
                      <a:r>
                        <a:rPr sz="1400" b="0" i="0">
                          <a:solidFill>
                            <a:srgbClr val="1A1440"/>
                          </a:solidFill>
                          <a:latin typeface="Calibri"/>
                        </a:rPr>
                        <a:t>d) A copy for each director</a:t>
                      </a:r>
                    </a:p>
                  </a:txBody>
                  <a:tcPr marL="101600" marR="101600" marT="38100" marB="38100" anchor="ctr">
                    <a:solidFill>
                      <a:srgbClr val="F4F2FA"/>
                    </a:solidFill>
                  </a:tcPr>
                </a:tc>
                <a:tc>
                  <a:txBody>
                    <a:bodyPr/>
                    <a:lstStyle/>
                    <a:p>
                      <a:r>
                        <a:rPr sz="1400" b="0" i="0">
                          <a:solidFill>
                            <a:srgbClr val="1A1440"/>
                          </a:solidFill>
                          <a:latin typeface="Calibri"/>
                        </a:rPr>
                        <a:t>5</a:t>
                      </a:r>
                    </a:p>
                  </a:txBody>
                  <a:tcPr marL="101600" marR="101600" marT="38100" marB="38100" anchor="ctr">
                    <a:solidFill>
                      <a:srgbClr val="F4F2FA"/>
                    </a:solidFill>
                  </a:tcPr>
                </a:tc>
                <a:tc>
                  <a:txBody>
                    <a:bodyPr/>
                    <a:lstStyle/>
                    <a:p>
                      <a:r>
                        <a:rPr sz="1400" b="0" i="0">
                          <a:solidFill>
                            <a:srgbClr val="1A1440"/>
                          </a:solidFill>
                          <a:latin typeface="Calibri"/>
                        </a:rPr>
                        <a:t>nothing: the copies drift apart</a:t>
                      </a:r>
                    </a:p>
                  </a:txBody>
                  <a:tcPr marL="101600" marR="101600" marT="38100" marB="38100" anchor="ctr">
                    <a:solidFill>
                      <a:srgbClr val="F4F2FA"/>
                    </a:solidFill>
                  </a:tcPr>
                </a:tc>
              </a:tr>
            </a:tbl>
          </a:graphicData>
        </a:graphic>
      </p:graphicFrame>
      <p:sp>
        <p:nvSpPr>
          <p:cNvPr id="10" name="Rounded Rectangle 9"/>
          <p:cNvSpPr/>
          <p:nvPr/>
        </p:nvSpPr>
        <p:spPr>
          <a:xfrm>
            <a:off x="530352" y="454558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7360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64456"/>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the only way that lets a director do all five and turns a wrong number red before it is read. What would switch it: a board pack nobody is meant to change goes as a PDF.</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change hides its effect without an error?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the five things a director does, which change what a number means with nothing shown?</a:t>
            </a:r>
          </a:p>
        </p:txBody>
      </p:sp>
      <p:pic>
        <p:nvPicPr>
          <p:cNvPr id="9" name="mermaid diagram" descr="2dc8937eb9b4b5cb.png"/>
          <p:cNvPicPr>
            <a:picLocks noChangeAspect="1"/>
          </p:cNvPicPr>
          <p:nvPr/>
        </p:nvPicPr>
        <p:blipFill>
          <a:blip r:embed="rId5"/>
          <a:stretch>
            <a:fillRect/>
          </a:stretch>
        </p:blipFill>
        <p:spPr>
          <a:xfrm>
            <a:off x="3645541" y="1956816"/>
            <a:ext cx="4900612" cy="2886075"/>
          </a:xfrm>
          <a:prstGeom prst="rect">
            <a:avLst/>
          </a:prstGeom>
        </p:spPr>
      </p:pic>
      <p:sp>
        <p:nvSpPr>
          <p:cNvPr id="10" name="Rounded Rectangle 9"/>
          <p:cNvSpPr/>
          <p:nvPr/>
        </p:nvSpPr>
        <p:spPr>
          <a:xfrm>
            <a:off x="530352" y="4989195"/>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17211"/>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08067"/>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changes a number's meaning with no error, as a letter?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filtering and typing over are both silent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of the five do to the sheet?</a:t>
            </a:r>
          </a:p>
        </p:txBody>
      </p:sp>
      <p:graphicFrame>
        <p:nvGraphicFramePr>
          <p:cNvPr id="9" name="Table 8"/>
          <p:cNvGraphicFramePr>
            <a:graphicFrameLocks noGrp="1"/>
          </p:cNvGraphicFramePr>
          <p:nvPr/>
        </p:nvGraphicFramePr>
        <p:xfrm>
          <a:off x="530352" y="1956816"/>
          <a:ext cx="11130989" cy="2218944"/>
        </p:xfrm>
        <a:graphic>
          <a:graphicData uri="http://schemas.openxmlformats.org/drawingml/2006/table">
            <a:tbl>
              <a:tblPr firstRow="0" bandRow="0">
                <a:tableStyleId>{2D5ABB26-0587-4C30-8999-92F81FD0307C}</a:tableStyleId>
              </a:tblPr>
              <a:tblGrid>
                <a:gridCol w="3170804"/>
                <a:gridCol w="6084244"/>
                <a:gridCol w="1875941"/>
              </a:tblGrid>
              <a:tr h="369824">
                <a:tc>
                  <a:txBody>
                    <a:bodyPr/>
                    <a:lstStyle/>
                    <a:p>
                      <a:r>
                        <a:rPr sz="1450" b="1" i="0">
                          <a:solidFill>
                            <a:srgbClr val="FFFFFF"/>
                          </a:solidFill>
                          <a:latin typeface="Calibri"/>
                        </a:rPr>
                        <a:t>What a director does</a:t>
                      </a:r>
                    </a:p>
                  </a:txBody>
                  <a:tcPr marL="101600" marR="101600" marT="38100" marB="38100" anchor="ctr">
                    <a:solidFill>
                      <a:srgbClr val="1A0F5C"/>
                    </a:solidFill>
                  </a:tcPr>
                </a:tc>
                <a:tc>
                  <a:txBody>
                    <a:bodyPr/>
                    <a:lstStyle/>
                    <a:p>
                      <a:r>
                        <a:rPr sz="1450" b="1" i="0">
                          <a:solidFill>
                            <a:srgbClr val="FFFFFF"/>
                          </a:solidFill>
                          <a:latin typeface="Calibri"/>
                        </a:rPr>
                        <a:t>What happens</a:t>
                      </a:r>
                    </a:p>
                  </a:txBody>
                  <a:tcPr marL="101600" marR="101600" marT="38100" marB="38100" anchor="ctr">
                    <a:solidFill>
                      <a:srgbClr val="1A0F5C"/>
                    </a:solidFill>
                  </a:tcPr>
                </a:tc>
                <a:tc>
                  <a:txBody>
                    <a:bodyPr/>
                    <a:lstStyle/>
                    <a:p>
                      <a:r>
                        <a:rPr sz="1450" b="1" i="0">
                          <a:solidFill>
                            <a:srgbClr val="FFFFFF"/>
                          </a:solidFill>
                          <a:latin typeface="Calibri"/>
                        </a:rPr>
                        <a:t>Error shown?</a:t>
                      </a:r>
                    </a:p>
                  </a:txBody>
                  <a:tcPr marL="101600" marR="101600" marT="38100" marB="38100" anchor="ctr">
                    <a:solidFill>
                      <a:srgbClr val="1A0F5C"/>
                    </a:solidFill>
                  </a:tcPr>
                </a:tc>
              </a:tr>
              <a:tr h="369824">
                <a:tc>
                  <a:txBody>
                    <a:bodyPr/>
                    <a:lstStyle/>
                    <a:p>
                      <a:r>
                        <a:rPr sz="1400" b="0" i="0">
                          <a:solidFill>
                            <a:srgbClr val="1A1440"/>
                          </a:solidFill>
                          <a:latin typeface="Calibri"/>
                        </a:rPr>
                        <a:t>Filters the list to a city</a:t>
                      </a:r>
                    </a:p>
                  </a:txBody>
                  <a:tcPr marL="101600" marR="101600" marT="38100" marB="38100" anchor="ctr">
                    <a:solidFill>
                      <a:srgbClr val="FFFFFF"/>
                    </a:solidFill>
                  </a:tcPr>
                </a:tc>
                <a:tc>
                  <a:txBody>
                    <a:bodyPr/>
                    <a:lstStyle/>
                    <a:p>
                      <a:r>
                        <a:rPr sz="1400" b="0" i="0">
                          <a:solidFill>
                            <a:srgbClr val="1A1440"/>
                          </a:solidFill>
                          <a:latin typeface="Calibri"/>
                        </a:rPr>
                        <a:t>the rows on screen change; a SUM below them does not</a:t>
                      </a:r>
                    </a:p>
                  </a:txBody>
                  <a:tcPr marL="101600" marR="101600" marT="38100" marB="38100" anchor="ctr">
                    <a:solidFill>
                      <a:srgbClr val="FFFFFF"/>
                    </a:solidFill>
                  </a:tcPr>
                </a:tc>
                <a:tc>
                  <a:txBody>
                    <a:bodyPr/>
                    <a:lstStyle/>
                    <a:p>
                      <a:r>
                        <a:rPr sz="1400" b="0" i="0">
                          <a:solidFill>
                            <a:srgbClr val="1A1440"/>
                          </a:solidFill>
                          <a:latin typeface="Calibri"/>
                        </a:rPr>
                        <a:t>none</a:t>
                      </a:r>
                    </a:p>
                  </a:txBody>
                  <a:tcPr marL="101600" marR="101600" marT="38100" marB="38100" anchor="ctr">
                    <a:solidFill>
                      <a:srgbClr val="FFFFFF"/>
                    </a:solidFill>
                  </a:tcPr>
                </a:tc>
              </a:tr>
              <a:tr h="369824">
                <a:tc>
                  <a:txBody>
                    <a:bodyPr/>
                    <a:lstStyle/>
                    <a:p>
                      <a:r>
                        <a:rPr sz="1400" b="0" i="0">
                          <a:solidFill>
                            <a:srgbClr val="1A1440"/>
                          </a:solidFill>
                          <a:latin typeface="Calibri"/>
                        </a:rPr>
                        <a:t>Sorts one column on its own</a:t>
                      </a:r>
                    </a:p>
                  </a:txBody>
                  <a:tcPr marL="101600" marR="101600" marT="38100" marB="38100" anchor="ctr">
                    <a:solidFill>
                      <a:srgbClr val="F4F2FA"/>
                    </a:solidFill>
                  </a:tcPr>
                </a:tc>
                <a:tc>
                  <a:txBody>
                    <a:bodyPr/>
                    <a:lstStyle/>
                    <a:p>
                      <a:r>
                        <a:rPr sz="1400" b="0" i="0">
                          <a:solidFill>
                            <a:srgbClr val="1A1440"/>
                          </a:solidFill>
                          <a:latin typeface="Calibri"/>
                        </a:rPr>
                        <a:t>values separate from their ids</a:t>
                      </a:r>
                    </a:p>
                  </a:txBody>
                  <a:tcPr marL="101600" marR="101600" marT="38100" marB="38100" anchor="ctr">
                    <a:solidFill>
                      <a:srgbClr val="F4F2FA"/>
                    </a:solidFill>
                  </a:tcPr>
                </a:tc>
                <a:tc>
                  <a:txBody>
                    <a:bodyPr/>
                    <a:lstStyle/>
                    <a:p>
                      <a:r>
                        <a:rPr sz="1400" b="0" i="0">
                          <a:solidFill>
                            <a:srgbClr val="1A1440"/>
                          </a:solidFill>
                          <a:latin typeface="Calibri"/>
                        </a:rPr>
                        <a:t>none</a:t>
                      </a:r>
                    </a:p>
                  </a:txBody>
                  <a:tcPr marL="101600" marR="101600" marT="38100" marB="38100" anchor="ctr">
                    <a:solidFill>
                      <a:srgbClr val="F4F2FA"/>
                    </a:solidFill>
                  </a:tcPr>
                </a:tc>
              </a:tr>
              <a:tr h="369824">
                <a:tc>
                  <a:txBody>
                    <a:bodyPr/>
                    <a:lstStyle/>
                    <a:p>
                      <a:r>
                        <a:rPr sz="1400" b="0" i="0">
                          <a:solidFill>
                            <a:srgbClr val="1A1440"/>
                          </a:solidFill>
                          <a:latin typeface="Calibri"/>
                        </a:rPr>
                        <a:t>Types over a formula</a:t>
                      </a:r>
                    </a:p>
                  </a:txBody>
                  <a:tcPr marL="101600" marR="101600" marT="38100" marB="38100" anchor="ctr">
                    <a:solidFill>
                      <a:srgbClr val="FFFFFF"/>
                    </a:solidFill>
                  </a:tcPr>
                </a:tc>
                <a:tc>
                  <a:txBody>
                    <a:bodyPr/>
                    <a:lstStyle/>
                    <a:p>
                      <a:r>
                        <a:rPr sz="1400" b="0" i="0">
                          <a:solidFill>
                            <a:srgbClr val="1A1440"/>
                          </a:solidFill>
                          <a:latin typeface="Calibri"/>
                        </a:rPr>
                        <a:t>the cell stops following its source</a:t>
                      </a:r>
                    </a:p>
                  </a:txBody>
                  <a:tcPr marL="101600" marR="101600" marT="38100" marB="38100" anchor="ctr">
                    <a:solidFill>
                      <a:srgbClr val="FFFFFF"/>
                    </a:solidFill>
                  </a:tcPr>
                </a:tc>
                <a:tc>
                  <a:txBody>
                    <a:bodyPr/>
                    <a:lstStyle/>
                    <a:p>
                      <a:r>
                        <a:rPr sz="1400" b="0" i="0">
                          <a:solidFill>
                            <a:srgbClr val="1A1440"/>
                          </a:solidFill>
                          <a:latin typeface="Calibri"/>
                        </a:rPr>
                        <a:t>none</a:t>
                      </a:r>
                    </a:p>
                  </a:txBody>
                  <a:tcPr marL="101600" marR="101600" marT="38100" marB="38100" anchor="ctr">
                    <a:solidFill>
                      <a:srgbClr val="FFFFFF"/>
                    </a:solidFill>
                  </a:tcPr>
                </a:tc>
              </a:tr>
              <a:tr h="369824">
                <a:tc>
                  <a:txBody>
                    <a:bodyPr/>
                    <a:lstStyle/>
                    <a:p>
                      <a:r>
                        <a:rPr sz="1400" b="0" i="0">
                          <a:solidFill>
                            <a:srgbClr val="1A1440"/>
                          </a:solidFill>
                          <a:latin typeface="Calibri"/>
                        </a:rPr>
                        <a:t>Changes a yellow input</a:t>
                      </a:r>
                    </a:p>
                  </a:txBody>
                  <a:tcPr marL="101600" marR="101600" marT="38100" marB="38100" anchor="ctr">
                    <a:solidFill>
                      <a:srgbClr val="F4F2FA"/>
                    </a:solidFill>
                  </a:tcPr>
                </a:tc>
                <a:tc>
                  <a:txBody>
                    <a:bodyPr/>
                    <a:lstStyle/>
                    <a:p>
                      <a:r>
                        <a:rPr sz="1400" b="0" i="0">
                          <a:solidFill>
                            <a:srgbClr val="1A1440"/>
                          </a:solidFill>
                          <a:latin typeface="Calibri"/>
                        </a:rPr>
                        <a:t>every formula reading it recalculates</a:t>
                      </a:r>
                    </a:p>
                  </a:txBody>
                  <a:tcPr marL="101600" marR="101600" marT="38100" marB="38100" anchor="ctr">
                    <a:solidFill>
                      <a:srgbClr val="F4F2FA"/>
                    </a:solidFill>
                  </a:tcPr>
                </a:tc>
                <a:tc>
                  <a:txBody>
                    <a:bodyPr/>
                    <a:lstStyle/>
                    <a:p>
                      <a:r>
                        <a:rPr sz="1400" b="0" i="0">
                          <a:solidFill>
                            <a:srgbClr val="1A1440"/>
                          </a:solidFill>
                          <a:latin typeface="Calibri"/>
                        </a:rPr>
                        <a:t>honest</a:t>
                      </a:r>
                    </a:p>
                  </a:txBody>
                  <a:tcPr marL="101600" marR="101600" marT="38100" marB="38100" anchor="ctr">
                    <a:solidFill>
                      <a:srgbClr val="F4F2FA"/>
                    </a:solidFill>
                  </a:tcPr>
                </a:tc>
              </a:tr>
              <a:tr h="369824">
                <a:tc>
                  <a:txBody>
                    <a:bodyPr/>
                    <a:lstStyle/>
                    <a:p>
                      <a:r>
                        <a:rPr sz="1400" b="0" i="0">
                          <a:solidFill>
                            <a:srgbClr val="1A1440"/>
                          </a:solidFill>
                          <a:latin typeface="Calibri"/>
                        </a:rPr>
                        <a:t>Pastes a new export</a:t>
                      </a:r>
                    </a:p>
                  </a:txBody>
                  <a:tcPr marL="101600" marR="101600" marT="38100" marB="38100" anchor="ctr">
                    <a:solidFill>
                      <a:srgbClr val="FFFFFF"/>
                    </a:solidFill>
                  </a:tcPr>
                </a:tc>
                <a:tc>
                  <a:txBody>
                    <a:bodyPr/>
                    <a:lstStyle/>
                    <a:p>
                      <a:r>
                        <a:rPr sz="1400" b="0" i="0">
                          <a:solidFill>
                            <a:srgbClr val="1A1440"/>
                          </a:solidFill>
                          <a:latin typeface="Calibri"/>
                        </a:rPr>
                        <a:t>formulas read the new rows, if their ranges reach them</a:t>
                      </a:r>
                    </a:p>
                  </a:txBody>
                  <a:tcPr marL="101600" marR="101600" marT="38100" marB="38100" anchor="ctr">
                    <a:solidFill>
                      <a:srgbClr val="FFFFFF"/>
                    </a:solidFill>
                  </a:tcPr>
                </a:tc>
                <a:tc>
                  <a:txBody>
                    <a:bodyPr/>
                    <a:lstStyle/>
                    <a:p>
                      <a:r>
                        <a:rPr sz="1400" b="0" i="0">
                          <a:solidFill>
                            <a:srgbClr val="1A1440"/>
                          </a:solidFill>
                          <a:latin typeface="Calibri"/>
                        </a:rPr>
                        <a:t>the drift check</a:t>
                      </a:r>
                    </a:p>
                  </a:txBody>
                  <a:tcPr marL="101600" marR="101600" marT="38100" marB="38100" anchor="ctr">
                    <a:solidFill>
                      <a:srgbClr val="FFFFFF"/>
                    </a:solidFill>
                  </a:tcPr>
                </a:tc>
              </a:tr>
            </a:tbl>
          </a:graphicData>
        </a:graphic>
      </p:graphicFrame>
      <p:sp>
        <p:nvSpPr>
          <p:cNvPr id="10" name="TextBox 9"/>
          <p:cNvSpPr txBox="1"/>
          <p:nvPr/>
        </p:nvSpPr>
        <p:spPr>
          <a:xfrm>
            <a:off x="530352" y="44317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d. A yellow input is the honest way to change a number, because every formula that reads it recalculates in front of the room.</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the foot say, filtered to Mumbai?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list's foot is =SUM(E2:E51); a director filters the city column to Mumbai. What does the foot read?</a:t>
            </a:r>
          </a:p>
        </p:txBody>
      </p:sp>
      <p:pic>
        <p:nvPicPr>
          <p:cNvPr id="9" name="mermaid diagram" descr="bfe3f39a11262cba.png"/>
          <p:cNvPicPr>
            <a:picLocks noChangeAspect="1"/>
          </p:cNvPicPr>
          <p:nvPr/>
        </p:nvPicPr>
        <p:blipFill>
          <a:blip r:embed="rId5"/>
          <a:stretch>
            <a:fillRect/>
          </a:stretch>
        </p:blipFill>
        <p:spPr>
          <a:xfrm>
            <a:off x="3516953" y="1956816"/>
            <a:ext cx="5157787" cy="2628900"/>
          </a:xfrm>
          <a:prstGeom prst="rect">
            <a:avLst/>
          </a:prstGeom>
        </p:spPr>
      </p:pic>
      <p:sp>
        <p:nvSpPr>
          <p:cNvPr id="10" name="Rounded Rectangle 9"/>
          <p:cNvSpPr/>
          <p:nvPr/>
        </p:nvSpPr>
        <p:spPr>
          <a:xfrm>
            <a:off x="530352" y="47320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600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5089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does the foot read, as a letter?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7,14,890, the whole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plausible wrong answer, and what budget would it size?</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7,14,890</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FOOT, SUM</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all fifty rows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1,56,790</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ELEVEN ON SCREEN</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Mumbai's list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4.6 times</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OVERSTATEMENT</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read as Mumbai's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t>
            </a:r>
            <a:r>
              <a:rPr sz="1600" b="1" i="0">
                <a:solidFill>
                  <a:srgbClr val="1A1440"/>
                </a:solidFill>
                <a:latin typeface="Calibri"/>
              </a:rPr>
              <a:t>What breaks:</a:t>
            </a:r>
            <a:r>
              <a:rPr sz="1600" b="0" i="0">
                <a:solidFill>
                  <a:srgbClr val="1A1440"/>
                </a:solidFill>
                <a:latin typeface="Calibri"/>
              </a:rPr>
              <a:t> the Mumbai store head is told the members on their list spent Rs 7.15 lakh, and a retention budget sized on it is 4.6 times too big. SUM adds every row in its range, hidden or not. </a:t>
            </a:r>
            <a:r>
              <a:rPr sz="1600" b="1" i="0">
                <a:solidFill>
                  <a:srgbClr val="1A1440"/>
                </a:solidFill>
                <a:latin typeface="Calibri"/>
              </a:rPr>
              <a:t>The check:</a:t>
            </a:r>
            <a:r>
              <a:rPr sz="1600" b="0" i="0">
                <a:solidFill>
                  <a:srgbClr val="1A1440"/>
                </a:solidFill>
                <a:latin typeface="Calibri"/>
              </a:rPr>
              <a:t> count the rows on screen beside the rows the total adds.</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8" name="Oval 2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2" name="Oval 3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SUBTOTAL(109) at the foot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SUBTOTAL(109) and SUBTOTAL(103) say, filtered or hidden by hand?</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3350887"/>
                <a:gridCol w="3705946"/>
                <a:gridCol w="4074156"/>
              </a:tblGrid>
              <a:tr h="369824">
                <a:tc>
                  <a:txBody>
                    <a:bodyPr/>
                    <a:lstStyle/>
                    <a:p>
                      <a:r>
                        <a:rPr sz="1450" b="1" i="0">
                          <a:solidFill>
                            <a:srgbClr val="FFFFFF"/>
                          </a:solidFill>
                          <a:latin typeface="Calibri"/>
                        </a:rPr>
                        <a:t>The foot</a:t>
                      </a:r>
                    </a:p>
                  </a:txBody>
                  <a:tcPr marL="101600" marR="101600" marT="38100" marB="38100" anchor="ctr">
                    <a:solidFill>
                      <a:srgbClr val="1A0F5C"/>
                    </a:solidFill>
                  </a:tcPr>
                </a:tc>
                <a:tc>
                  <a:txBody>
                    <a:bodyPr/>
                    <a:lstStyle/>
                    <a:p>
                      <a:r>
                        <a:rPr sz="1450" b="1" i="0">
                          <a:solidFill>
                            <a:srgbClr val="FFFFFF"/>
                          </a:solidFill>
                          <a:latin typeface="Calibri"/>
                        </a:rPr>
                        <a:t>Filtered to Mumbai</a:t>
                      </a:r>
                    </a:p>
                  </a:txBody>
                  <a:tcPr marL="101600" marR="101600" marT="38100" marB="38100" anchor="ctr">
                    <a:solidFill>
                      <a:srgbClr val="1A0F5C"/>
                    </a:solidFill>
                  </a:tcPr>
                </a:tc>
                <a:tc>
                  <a:txBody>
                    <a:bodyPr/>
                    <a:lstStyle/>
                    <a:p>
                      <a:r>
                        <a:rPr sz="1450" b="1" i="0">
                          <a:solidFill>
                            <a:srgbClr val="FFFFFF"/>
                          </a:solidFill>
                          <a:latin typeface="Calibri"/>
                        </a:rPr>
                        <a:t>Delhi hidden by hand</a:t>
                      </a:r>
                    </a:p>
                  </a:txBody>
                  <a:tcPr marL="101600" marR="101600" marT="38100" marB="38100" anchor="ctr">
                    <a:solidFill>
                      <a:srgbClr val="1A0F5C"/>
                    </a:solidFill>
                  </a:tcPr>
                </a:tc>
              </a:tr>
              <a:tr h="369824">
                <a:tc>
                  <a:txBody>
                    <a:bodyPr/>
                    <a:lstStyle/>
                    <a:p>
                      <a:r>
                        <a:rPr sz="1400" b="0" i="0">
                          <a:solidFill>
                            <a:srgbClr val="1A1440"/>
                          </a:solidFill>
                          <a:latin typeface="Calibri"/>
                        </a:rPr>
                        <a:t>SUM</a:t>
                      </a:r>
                    </a:p>
                  </a:txBody>
                  <a:tcPr marL="101600" marR="101600" marT="38100" marB="38100" anchor="ctr">
                    <a:solidFill>
                      <a:srgbClr val="FFFFFF"/>
                    </a:solidFill>
                  </a:tcPr>
                </a:tc>
                <a:tc>
                  <a:txBody>
                    <a:bodyPr/>
                    <a:lstStyle/>
                    <a:p>
                      <a:r>
                        <a:rPr sz="1400" b="0" i="0">
                          <a:solidFill>
                            <a:srgbClr val="1A1440"/>
                          </a:solidFill>
                          <a:latin typeface="Calibri"/>
                        </a:rPr>
                        <a:t>Rs 7,14,890</a:t>
                      </a:r>
                    </a:p>
                  </a:txBody>
                  <a:tcPr marL="101600" marR="101600" marT="38100" marB="38100" anchor="ctr">
                    <a:solidFill>
                      <a:srgbClr val="FFFFFF"/>
                    </a:solidFill>
                  </a:tcPr>
                </a:tc>
                <a:tc>
                  <a:txBody>
                    <a:bodyPr/>
                    <a:lstStyle/>
                    <a:p>
                      <a:r>
                        <a:rPr sz="1400" b="0" i="0">
                          <a:solidFill>
                            <a:srgbClr val="1A1440"/>
                          </a:solidFill>
                          <a:latin typeface="Calibri"/>
                        </a:rPr>
                        <a:t>Rs 7,14,890</a:t>
                      </a:r>
                    </a:p>
                  </a:txBody>
                  <a:tcPr marL="101600" marR="101600" marT="38100" marB="38100" anchor="ctr">
                    <a:solidFill>
                      <a:srgbClr val="FFFFFF"/>
                    </a:solidFill>
                  </a:tcPr>
                </a:tc>
              </a:tr>
              <a:tr h="369824">
                <a:tc>
                  <a:txBody>
                    <a:bodyPr/>
                    <a:lstStyle/>
                    <a:p>
                      <a:r>
                        <a:rPr sz="1400" b="0" i="0">
                          <a:solidFill>
                            <a:srgbClr val="1A1440"/>
                          </a:solidFill>
                          <a:latin typeface="Calibri"/>
                        </a:rPr>
                        <a:t>SUBTOTAL(9, ...)</a:t>
                      </a:r>
                    </a:p>
                  </a:txBody>
                  <a:tcPr marL="101600" marR="101600" marT="38100" marB="38100" anchor="ctr">
                    <a:solidFill>
                      <a:srgbClr val="F4F2FA"/>
                    </a:solidFill>
                  </a:tcPr>
                </a:tc>
                <a:tc>
                  <a:txBody>
                    <a:bodyPr/>
                    <a:lstStyle/>
                    <a:p>
                      <a:r>
                        <a:rPr sz="1400" b="0" i="0">
                          <a:solidFill>
                            <a:srgbClr val="1A1440"/>
                          </a:solidFill>
                          <a:latin typeface="Calibri"/>
                        </a:rPr>
                        <a:t>Rs 1,56,790</a:t>
                      </a:r>
                    </a:p>
                  </a:txBody>
                  <a:tcPr marL="101600" marR="101600" marT="38100" marB="38100" anchor="ctr">
                    <a:solidFill>
                      <a:srgbClr val="F4F2FA"/>
                    </a:solidFill>
                  </a:tcPr>
                </a:tc>
                <a:tc>
                  <a:txBody>
                    <a:bodyPr/>
                    <a:lstStyle/>
                    <a:p>
                      <a:r>
                        <a:rPr sz="1400" b="0" i="0">
                          <a:solidFill>
                            <a:srgbClr val="1A1440"/>
                          </a:solidFill>
                          <a:latin typeface="Calibri"/>
                        </a:rPr>
                        <a:t>Rs 7,14,890</a:t>
                      </a:r>
                    </a:p>
                  </a:txBody>
                  <a:tcPr marL="101600" marR="101600" marT="38100" marB="38100" anchor="ctr">
                    <a:solidFill>
                      <a:srgbClr val="F4F2FA"/>
                    </a:solidFill>
                  </a:tcPr>
                </a:tc>
              </a:tr>
              <a:tr h="369824">
                <a:tc>
                  <a:txBody>
                    <a:bodyPr/>
                    <a:lstStyle/>
                    <a:p>
                      <a:r>
                        <a:rPr sz="1400" b="0" i="0">
                          <a:solidFill>
                            <a:srgbClr val="1A1440"/>
                          </a:solidFill>
                          <a:latin typeface="Calibri"/>
                        </a:rPr>
                        <a:t>SUBTOTAL(109, ...)</a:t>
                      </a:r>
                    </a:p>
                  </a:txBody>
                  <a:tcPr marL="101600" marR="101600" marT="38100" marB="38100" anchor="ctr">
                    <a:solidFill>
                      <a:srgbClr val="FFFFFF"/>
                    </a:solidFill>
                  </a:tcPr>
                </a:tc>
                <a:tc>
                  <a:txBody>
                    <a:bodyPr/>
                    <a:lstStyle/>
                    <a:p>
                      <a:r>
                        <a:rPr sz="1400" b="0" i="0">
                          <a:solidFill>
                            <a:srgbClr val="1A1440"/>
                          </a:solidFill>
                          <a:latin typeface="Calibri"/>
                        </a:rPr>
                        <a:t>Rs 1,56,790</a:t>
                      </a:r>
                    </a:p>
                  </a:txBody>
                  <a:tcPr marL="101600" marR="101600" marT="38100" marB="38100" anchor="ctr">
                    <a:solidFill>
                      <a:srgbClr val="FFFFFF"/>
                    </a:solidFill>
                  </a:tcPr>
                </a:tc>
                <a:tc>
                  <a:txBody>
                    <a:bodyPr/>
                    <a:lstStyle/>
                    <a:p>
                      <a:r>
                        <a:rPr sz="1400" b="0" i="0">
                          <a:solidFill>
                            <a:srgbClr val="1A1440"/>
                          </a:solidFill>
                          <a:latin typeface="Calibri"/>
                        </a:rPr>
                        <a:t>Rs 4,93,740</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SUBTOTAL "ignores any rows that are not included in the result of a filter, no matter which function_num value you use", and 101 to 111 also ignore rows hidden by hand (Microsoft Support, SUBTOTAL, checked 30 September 2026). =SUBTOTAL(103, A2:A51) beside it counts 11 of 50.</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SUMIFS on the city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total that ignores the filter altogether agree with the foot?</a:t>
            </a:r>
          </a:p>
        </p:txBody>
      </p:sp>
      <p:pic>
        <p:nvPicPr>
          <p:cNvPr id="9" name="mermaid diagram" descr="93eb2a503635aabd.png"/>
          <p:cNvPicPr>
            <a:picLocks noChangeAspect="1"/>
          </p:cNvPicPr>
          <p:nvPr/>
        </p:nvPicPr>
        <p:blipFill>
          <a:blip r:embed="rId5"/>
          <a:stretch>
            <a:fillRect/>
          </a:stretch>
        </p:blipFill>
        <p:spPr>
          <a:xfrm>
            <a:off x="3759841" y="1956816"/>
            <a:ext cx="4672012" cy="2043112"/>
          </a:xfrm>
          <a:prstGeom prst="rect">
            <a:avLst/>
          </a:prstGeom>
        </p:spPr>
      </p:pic>
      <p:sp>
        <p:nvSpPr>
          <p:cNvPr id="10" name="TextBox 9"/>
          <p:cNvSpPr txBox="1"/>
          <p:nvPr/>
        </p:nvSpPr>
        <p:spPr>
          <a:xfrm>
            <a:off x="530352" y="41462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=SUMIFS(E2:E51, C2:C51, "Mumbai") reads the whole list and picks Mumbai by its city, whatever the screen shows. It gives Rs 1,56,790, the same as the visible foot.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does a director's assumption go?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director asks what a Rs 500 voucher for every member on the list would cost; where does the Rs 500 go?</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=B1*SUBTOTAL(103, A2:A51)</a:t>
            </a:r>
          </a:p>
        </p:txBody>
      </p:sp>
      <p:sp>
        <p:nvSpPr>
          <p:cNvPr id="14" name="Rounded Rectangle 13"/>
          <p:cNvSpPr/>
          <p:nvPr/>
        </p:nvSpPr>
        <p:spPr>
          <a:xfrm>
            <a:off x="530352" y="283108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295910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2949956"/>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With the list filtered to Mumbai and the voucher at Rs 500 in yellow cell B1, the cost reads: a) Rs 25,000; b) Rs 5,500; c) Rs 500; d) Rs 7,14,890.</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9" name="Oval 1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1" name="Oval 2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3" name="Oval 2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5" name="Oval 24"/>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7" name="Oval 26"/>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5,500, and it moves in front of the room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the director changes the input?</a:t>
            </a:r>
          </a:p>
        </p:txBody>
      </p:sp>
      <p:pic>
        <p:nvPicPr>
          <p:cNvPr id="9" name="mermaid diagram" descr="9069b515ed66f42d.png"/>
          <p:cNvPicPr>
            <a:picLocks noChangeAspect="1"/>
          </p:cNvPicPr>
          <p:nvPr/>
        </p:nvPicPr>
        <p:blipFill>
          <a:blip r:embed="rId5"/>
          <a:stretch>
            <a:fillRect/>
          </a:stretch>
        </p:blipFill>
        <p:spPr>
          <a:xfrm>
            <a:off x="1723872" y="1956816"/>
            <a:ext cx="8743950" cy="1543050"/>
          </a:xfrm>
          <a:prstGeom prst="rect">
            <a:avLst/>
          </a:prstGeom>
        </p:spPr>
      </p:pic>
      <p:sp>
        <p:nvSpPr>
          <p:cNvPr id="10" name="TextBox 9"/>
          <p:cNvSpPr txBox="1"/>
          <p:nvPr/>
        </p:nvSpPr>
        <p:spPr>
          <a:xfrm>
            <a:off x="530352" y="364617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Rs 500 times the eleven on screen; the whole list would cost Rs 25,000. The director types Rs 750 and the cost becomes Rs 8,250 in front of the room, while the list's figures never change: the assumption sits beside them, never over them.</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the Checks tab release?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checks each compare the sheet with something outside it; what does the release hold when one fails?</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2942597"/>
                <a:gridCol w="4644962"/>
                <a:gridCol w="3543431"/>
              </a:tblGrid>
              <a:tr h="369824">
                <a:tc>
                  <a:txBody>
                    <a:bodyPr/>
                    <a:lstStyle/>
                    <a:p>
                      <a:r>
                        <a:rPr sz="1450" b="1" i="0">
                          <a:solidFill>
                            <a:srgbClr val="FFFFFF"/>
                          </a:solidFill>
                          <a:latin typeface="Calibri"/>
                        </a:rPr>
                        <a:t>Check</a:t>
                      </a:r>
                    </a:p>
                  </a:txBody>
                  <a:tcPr marL="101600" marR="101600" marT="38100" marB="38100" anchor="ctr">
                    <a:solidFill>
                      <a:srgbClr val="1A0F5C"/>
                    </a:solidFill>
                  </a:tcPr>
                </a:tc>
                <a:tc>
                  <a:txBody>
                    <a:bodyPr/>
                    <a:lstStyle/>
                    <a:p>
                      <a:r>
                        <a:rPr sz="1450" b="1" i="0">
                          <a:solidFill>
                            <a:srgbClr val="FFFFFF"/>
                          </a:solidFill>
                          <a:latin typeface="Calibri"/>
                        </a:rPr>
                        <a:t>It compares</a:t>
                      </a:r>
                    </a:p>
                  </a:txBody>
                  <a:tcPr marL="101600" marR="101600" marT="38100" marB="38100" anchor="ctr">
                    <a:solidFill>
                      <a:srgbClr val="1A0F5C"/>
                    </a:solidFill>
                  </a:tcPr>
                </a:tc>
                <a:tc>
                  <a:txBody>
                    <a:bodyPr/>
                    <a:lstStyle/>
                    <a:p>
                      <a:r>
                        <a:rPr sz="1450" b="1" i="0">
                          <a:solidFill>
                            <a:srgbClr val="FFFFFF"/>
                          </a:solidFill>
                          <a:latin typeface="Calibri"/>
                        </a:rPr>
                        <a:t>It catches</a:t>
                      </a:r>
                    </a:p>
                  </a:txBody>
                  <a:tcPr marL="101600" marR="101600" marT="38100" marB="38100" anchor="ctr">
                    <a:solidFill>
                      <a:srgbClr val="1A0F5C"/>
                    </a:solidFill>
                  </a:tcPr>
                </a:tc>
              </a:tr>
              <a:tr h="369824">
                <a:tc>
                  <a:txBody>
                    <a:bodyPr/>
                    <a:lstStyle/>
                    <a:p>
                      <a:r>
                        <a:rPr sz="1400" b="0" i="0">
                          <a:solidFill>
                            <a:srgbClr val="1A1440"/>
                          </a:solidFill>
                          <a:latin typeface="Calibri"/>
                        </a:rPr>
                        <a:t>The tree ties</a:t>
                      </a:r>
                    </a:p>
                  </a:txBody>
                  <a:tcPr marL="101600" marR="101600" marT="38100" marB="38100" anchor="ctr">
                    <a:solidFill>
                      <a:srgbClr val="FFFFFF"/>
                    </a:solidFill>
                  </a:tcPr>
                </a:tc>
                <a:tc>
                  <a:txBody>
                    <a:bodyPr/>
                    <a:lstStyle/>
                    <a:p>
                      <a:r>
                        <a:rPr sz="1400" b="0" i="0">
                          <a:solidFill>
                            <a:srgbClr val="1A1440"/>
                          </a:solidFill>
                          <a:latin typeface="Calibri"/>
                        </a:rPr>
                        <a:t>the tree's quarters against the warehouse</a:t>
                      </a:r>
                    </a:p>
                  </a:txBody>
                  <a:tcPr marL="101600" marR="101600" marT="38100" marB="38100" anchor="ctr">
                    <a:solidFill>
                      <a:srgbClr val="FFFFFF"/>
                    </a:solidFill>
                  </a:tcPr>
                </a:tc>
                <a:tc>
                  <a:txBody>
                    <a:bodyPr/>
                    <a:lstStyle/>
                    <a:p>
                      <a:r>
                        <a:rPr sz="1400" b="0" i="0">
                          <a:solidFill>
                            <a:srgbClr val="1A1440"/>
                          </a:solidFill>
                          <a:latin typeface="Calibri"/>
                        </a:rPr>
                        <a:t>a pivot adding payment rows</a:t>
                      </a:r>
                    </a:p>
                  </a:txBody>
                  <a:tcPr marL="101600" marR="101600" marT="38100" marB="38100" anchor="ctr">
                    <a:solidFill>
                      <a:srgbClr val="FFFFFF"/>
                    </a:solidFill>
                  </a:tcPr>
                </a:tc>
              </a:tr>
              <a:tr h="369824">
                <a:tc>
                  <a:txBody>
                    <a:bodyPr/>
                    <a:lstStyle/>
                    <a:p>
                      <a:r>
                        <a:rPr sz="1400" b="0" i="0">
                          <a:solidFill>
                            <a:srgbClr val="1A1440"/>
                          </a:solidFill>
                          <a:latin typeface="Calibri"/>
                        </a:rPr>
                        <a:t>The list's source ties</a:t>
                      </a:r>
                    </a:p>
                  </a:txBody>
                  <a:tcPr marL="101600" marR="101600" marT="38100" marB="38100" anchor="ctr">
                    <a:solidFill>
                      <a:srgbClr val="F4F2FA"/>
                    </a:solidFill>
                  </a:tcPr>
                </a:tc>
                <a:tc>
                  <a:txBody>
                    <a:bodyPr/>
                    <a:lstStyle/>
                    <a:p>
                      <a:r>
                        <a:rPr sz="1400" b="0" i="0">
                          <a:solidFill>
                            <a:srgbClr val="1A1440"/>
                          </a:solidFill>
                          <a:latin typeface="Calibri"/>
                        </a:rPr>
                        <a:t>the customer table against the warehouse</a:t>
                      </a:r>
                    </a:p>
                  </a:txBody>
                  <a:tcPr marL="101600" marR="101600" marT="38100" marB="38100" anchor="ctr">
                    <a:solidFill>
                      <a:srgbClr val="F4F2FA"/>
                    </a:solidFill>
                  </a:tcPr>
                </a:tc>
                <a:tc>
                  <a:txBody>
                    <a:bodyPr/>
                    <a:lstStyle/>
                    <a:p>
                      <a:r>
                        <a:rPr sz="1400" b="0" i="0">
                          <a:solidFill>
                            <a:srgbClr val="1A1440"/>
                          </a:solidFill>
                          <a:latin typeface="Calibri"/>
                        </a:rPr>
                        <a:t>a list on an export that is short</a:t>
                      </a:r>
                    </a:p>
                  </a:txBody>
                  <a:tcPr marL="101600" marR="101600" marT="38100" marB="38100" anchor="ctr">
                    <a:solidFill>
                      <a:srgbClr val="F4F2FA"/>
                    </a:solidFill>
                  </a:tcPr>
                </a:tc>
              </a:tr>
              <a:tr h="369824">
                <a:tc>
                  <a:txBody>
                    <a:bodyPr/>
                    <a:lstStyle/>
                    <a:p>
                      <a:r>
                        <a:rPr sz="1400" b="0" i="0">
                          <a:solidFill>
                            <a:srgbClr val="1A1440"/>
                          </a:solidFill>
                          <a:latin typeface="Calibri"/>
                        </a:rPr>
                        <a:t>The lookup is honest</a:t>
                      </a:r>
                    </a:p>
                  </a:txBody>
                  <a:tcPr marL="101600" marR="101600" marT="38100" marB="38100" anchor="ctr">
                    <a:solidFill>
                      <a:srgbClr val="FFFFFF"/>
                    </a:solidFill>
                  </a:tcPr>
                </a:tc>
                <a:tc>
                  <a:txBody>
                    <a:bodyPr/>
                    <a:lstStyle/>
                    <a:p>
                      <a:r>
                        <a:rPr sz="1400" b="0" i="0">
                          <a:solidFill>
                            <a:srgbClr val="1A1440"/>
                          </a:solidFill>
                          <a:latin typeface="Calibri"/>
                        </a:rPr>
                        <a:t>the answer for an id known to be missing</a:t>
                      </a:r>
                    </a:p>
                  </a:txBody>
                  <a:tcPr marL="101600" marR="101600" marT="38100" marB="38100" anchor="ctr">
                    <a:solidFill>
                      <a:srgbClr val="FFFFFF"/>
                    </a:solidFill>
                  </a:tcPr>
                </a:tc>
                <a:tc>
                  <a:txBody>
                    <a:bodyPr/>
                    <a:lstStyle/>
                    <a:p>
                      <a:r>
                        <a:rPr sz="1400" b="0" i="0">
                          <a:solidFill>
                            <a:srgbClr val="1A1440"/>
                          </a:solidFill>
                          <a:latin typeface="Calibri"/>
                        </a:rPr>
                        <a:t>an approximate match</a:t>
                      </a:r>
                    </a:p>
                  </a:txBody>
                  <a:tcPr marL="101600" marR="101600" marT="38100" marB="38100" anchor="ctr">
                    <a:solidFill>
                      <a:srgbClr val="FFFFFF"/>
                    </a:solidFill>
                  </a:tcPr>
                </a:tc>
              </a:tr>
              <a:tr h="369824">
                <a:tc>
                  <a:txBody>
                    <a:bodyPr/>
                    <a:lstStyle/>
                    <a:p>
                      <a:r>
                        <a:rPr sz="1400" b="0" i="0">
                          <a:solidFill>
                            <a:srgbClr val="1A1440"/>
                          </a:solidFill>
                          <a:latin typeface="Calibri"/>
                        </a:rPr>
                        <a:t>The foot follows the filter</a:t>
                      </a:r>
                    </a:p>
                  </a:txBody>
                  <a:tcPr marL="101600" marR="101600" marT="38100" marB="38100" anchor="ctr">
                    <a:solidFill>
                      <a:srgbClr val="F4F2FA"/>
                    </a:solidFill>
                  </a:tcPr>
                </a:tc>
                <a:tc>
                  <a:txBody>
                    <a:bodyPr/>
                    <a:lstStyle/>
                    <a:p>
                      <a:r>
                        <a:rPr sz="1400" b="0" i="0">
                          <a:solidFill>
                            <a:srgbClr val="1A1440"/>
                          </a:solidFill>
                          <a:latin typeface="Calibri"/>
                        </a:rPr>
                        <a:t>SUBTOTAL(103) against the rows the foot adds</a:t>
                      </a:r>
                    </a:p>
                  </a:txBody>
                  <a:tcPr marL="101600" marR="101600" marT="38100" marB="38100" anchor="ctr">
                    <a:solidFill>
                      <a:srgbClr val="F4F2FA"/>
                    </a:solidFill>
                  </a:tcPr>
                </a:tc>
                <a:tc>
                  <a:txBody>
                    <a:bodyPr/>
                    <a:lstStyle/>
                    <a:p>
                      <a:r>
                        <a:rPr sz="1400" b="0" i="0">
                          <a:solidFill>
                            <a:srgbClr val="1A1440"/>
                          </a:solidFill>
                          <a:latin typeface="Calibri"/>
                        </a:rPr>
                        <a:t>SUM under a filter</a:t>
                      </a:r>
                    </a:p>
                  </a:txBody>
                  <a:tcPr marL="101600" marR="101600" marT="38100" marB="38100" anchor="ctr">
                    <a:solidFill>
                      <a:srgbClr val="F4F2FA"/>
                    </a:solidFill>
                  </a:tcPr>
                </a:tc>
              </a:tr>
              <a:tr h="369824">
                <a:tc>
                  <a:txBody>
                    <a:bodyPr/>
                    <a:lstStyle/>
                    <a:p>
                      <a:r>
                        <a:rPr sz="1400" b="0" i="0">
                          <a:solidFill>
                            <a:srgbClr val="1A1440"/>
                          </a:solidFill>
                          <a:latin typeface="Calibri"/>
                        </a:rPr>
                        <a:t>No typed-over formula</a:t>
                      </a:r>
                    </a:p>
                  </a:txBody>
                  <a:tcPr marL="101600" marR="101600" marT="38100" marB="38100" anchor="ctr">
                    <a:solidFill>
                      <a:srgbClr val="FFFFFF"/>
                    </a:solidFill>
                  </a:tcPr>
                </a:tc>
                <a:tc>
                  <a:txBody>
                    <a:bodyPr/>
                    <a:lstStyle/>
                    <a:p>
                      <a:r>
                        <a:rPr sz="1400" b="0" i="0">
                          <a:solidFill>
                            <a:srgbClr val="1A1440"/>
                          </a:solidFill>
                          <a:latin typeface="Calibri"/>
                        </a:rPr>
                        <a:t>ISFORMULA outside the yellow inputs</a:t>
                      </a:r>
                    </a:p>
                  </a:txBody>
                  <a:tcPr marL="101600" marR="101600" marT="38100" marB="38100" anchor="ctr">
                    <a:solidFill>
                      <a:srgbClr val="FFFFFF"/>
                    </a:solidFill>
                  </a:tcPr>
                </a:tc>
                <a:tc>
                  <a:txBody>
                    <a:bodyPr/>
                    <a:lstStyle/>
                    <a:p>
                      <a:r>
                        <a:rPr sz="1400" b="0" i="0">
                          <a:solidFill>
                            <a:srgbClr val="1A1440"/>
                          </a:solidFill>
                          <a:latin typeface="Calibri"/>
                        </a:rPr>
                        <a:t>a figure typed over a formula</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Four checks pass and the list's source does not tie. The release: a) ships everything; b) holds the list, ships the rest; c) holds everything; d) cannot decide.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hold what fails, ship the rest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failing check hold, and why is a typed-over figure different?</a:t>
            </a:r>
          </a:p>
        </p:txBody>
      </p:sp>
      <p:pic>
        <p:nvPicPr>
          <p:cNvPr id="9" name="mermaid diagram" descr="3b32a90bcdcd62d4.png"/>
          <p:cNvPicPr>
            <a:picLocks noChangeAspect="1"/>
          </p:cNvPicPr>
          <p:nvPr/>
        </p:nvPicPr>
        <p:blipFill>
          <a:blip r:embed="rId5"/>
          <a:stretch>
            <a:fillRect/>
          </a:stretch>
        </p:blipFill>
        <p:spPr>
          <a:xfrm>
            <a:off x="1588141" y="1956816"/>
            <a:ext cx="9015412" cy="1800225"/>
          </a:xfrm>
          <a:prstGeom prst="rect">
            <a:avLst/>
          </a:prstGeom>
        </p:spPr>
      </p:pic>
      <p:sp>
        <p:nvSpPr>
          <p:cNvPr id="10" name="TextBox 9"/>
          <p:cNvSpPr txBox="1"/>
          <p:nvPr/>
        </p:nvSpPr>
        <p:spPr>
          <a:xfrm>
            <a:off x="530352" y="39033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"Hold the protect list; ship the rest." A figure typed over a formula holds the whole workbook, since nobody can say which other numbers it moved. A formula recalculating is never the same as the number being right, so the release reads the checks and nothing else.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sheet a director can change and cannot break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6 answer, question by question?</a:t>
            </a:r>
          </a:p>
        </p:txBody>
      </p:sp>
      <p:graphicFrame>
        <p:nvGraphicFramePr>
          <p:cNvPr id="9" name="Table 8"/>
          <p:cNvGraphicFramePr>
            <a:graphicFrameLocks noGrp="1"/>
          </p:cNvGraphicFramePr>
          <p:nvPr/>
        </p:nvGraphicFramePr>
        <p:xfrm>
          <a:off x="530352" y="1819656"/>
          <a:ext cx="11130991" cy="2176272"/>
        </p:xfrm>
        <a:graphic>
          <a:graphicData uri="http://schemas.openxmlformats.org/drawingml/2006/table">
            <a:tbl>
              <a:tblPr firstRow="0" bandRow="0">
                <a:tableStyleId>{2D5ABB26-0587-4C30-8999-92F81FD0307C}</a:tableStyleId>
              </a:tblPr>
              <a:tblGrid>
                <a:gridCol w="3081542"/>
                <a:gridCol w="8049449"/>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What will they do?</a:t>
                      </a:r>
                    </a:p>
                  </a:txBody>
                  <a:tcPr marL="101600" marR="101600" marT="38100" marB="38100" anchor="ctr">
                    <a:solidFill>
                      <a:srgbClr val="FFFFFF"/>
                    </a:solidFill>
                  </a:tcPr>
                </a:tc>
                <a:tc>
                  <a:txBody>
                    <a:bodyPr/>
                    <a:lstStyle/>
                    <a:p>
                      <a:r>
                        <a:rPr sz="900" b="0" i="0">
                          <a:solidFill>
                            <a:srgbClr val="1A1440"/>
                          </a:solidFill>
                          <a:latin typeface="Calibri"/>
                        </a:rPr>
                        <a:t>Filter, sort, type over, change inputs, paste exports</a:t>
                      </a:r>
                    </a:p>
                  </a:txBody>
                  <a:tcPr marL="101600" marR="101600" marT="38100" marB="38100" anchor="ctr">
                    <a:solidFill>
                      <a:srgbClr val="FFFFFF"/>
                    </a:solidFill>
                  </a:tcPr>
                </a:tc>
              </a:tr>
              <a:tr h="310896">
                <a:tc>
                  <a:txBody>
                    <a:bodyPr/>
                    <a:lstStyle/>
                    <a:p>
                      <a:r>
                        <a:rPr sz="900" b="0" i="0">
                          <a:solidFill>
                            <a:srgbClr val="1A1440"/>
                          </a:solidFill>
                          <a:latin typeface="Calibri"/>
                        </a:rPr>
                        <a:t>How to protect it?</a:t>
                      </a:r>
                    </a:p>
                  </a:txBody>
                  <a:tcPr marL="101600" marR="101600" marT="38100" marB="38100" anchor="ctr">
                    <a:solidFill>
                      <a:srgbClr val="F4F2FA"/>
                    </a:solidFill>
                  </a:tcPr>
                </a:tc>
                <a:tc>
                  <a:txBody>
                    <a:bodyPr/>
                    <a:lstStyle/>
                    <a:p>
                      <a:r>
                        <a:rPr sz="900" b="0" i="0">
                          <a:solidFill>
                            <a:srgbClr val="1A1440"/>
                          </a:solidFill>
                          <a:latin typeface="Calibri"/>
                        </a:rPr>
                        <a:t>c: yellow inputs, formulas, a Checks tab</a:t>
                      </a:r>
                    </a:p>
                  </a:txBody>
                  <a:tcPr marL="101600" marR="101600" marT="38100" marB="38100" anchor="ctr">
                    <a:solidFill>
                      <a:srgbClr val="F4F2FA"/>
                    </a:solidFill>
                  </a:tcPr>
                </a:tc>
              </a:tr>
              <a:tr h="310896">
                <a:tc>
                  <a:txBody>
                    <a:bodyPr/>
                    <a:lstStyle/>
                    <a:p>
                      <a:r>
                        <a:rPr sz="900" b="0" i="0">
                          <a:solidFill>
                            <a:srgbClr val="1A1440"/>
                          </a:solidFill>
                          <a:latin typeface="Calibri"/>
                        </a:rPr>
                        <a:t>A filtered total?</a:t>
                      </a:r>
                    </a:p>
                  </a:txBody>
                  <a:tcPr marL="101600" marR="101600" marT="38100" marB="38100" anchor="ctr">
                    <a:solidFill>
                      <a:srgbClr val="FFFFFF"/>
                    </a:solidFill>
                  </a:tcPr>
                </a:tc>
                <a:tc>
                  <a:txBody>
                    <a:bodyPr/>
                    <a:lstStyle/>
                    <a:p>
                      <a:r>
                        <a:rPr sz="900" b="0" i="0">
                          <a:solidFill>
                            <a:srgbClr val="1A1440"/>
                          </a:solidFill>
                          <a:latin typeface="Calibri"/>
                        </a:rPr>
                        <a:t>SUM still reads Rs 7,14,890</a:t>
                      </a:r>
                    </a:p>
                  </a:txBody>
                  <a:tcPr marL="101600" marR="101600" marT="38100" marB="38100" anchor="ctr">
                    <a:solidFill>
                      <a:srgbClr val="FFFFFF"/>
                    </a:solidFill>
                  </a:tcPr>
                </a:tc>
              </a:tr>
              <a:tr h="310896">
                <a:tc>
                  <a:txBody>
                    <a:bodyPr/>
                    <a:lstStyle/>
                    <a:p>
                      <a:r>
                        <a:rPr sz="900" b="0" i="0">
                          <a:solidFill>
                            <a:srgbClr val="1A1440"/>
                          </a:solidFill>
                          <a:latin typeface="Calibri"/>
                        </a:rPr>
                        <a:t>Visible rows only?</a:t>
                      </a:r>
                    </a:p>
                  </a:txBody>
                  <a:tcPr marL="101600" marR="101600" marT="38100" marB="38100" anchor="ctr">
                    <a:solidFill>
                      <a:srgbClr val="F4F2FA"/>
                    </a:solidFill>
                  </a:tcPr>
                </a:tc>
                <a:tc>
                  <a:txBody>
                    <a:bodyPr/>
                    <a:lstStyle/>
                    <a:p>
                      <a:r>
                        <a:rPr sz="900" b="0" i="0">
                          <a:solidFill>
                            <a:srgbClr val="1A1440"/>
                          </a:solidFill>
                          <a:latin typeface="Calibri"/>
                        </a:rPr>
                        <a:t>SUBTOTAL(109) Rs 1,56,790; SUMIFS agrees</a:t>
                      </a:r>
                    </a:p>
                  </a:txBody>
                  <a:tcPr marL="101600" marR="101600" marT="38100" marB="38100" anchor="ctr">
                    <a:solidFill>
                      <a:srgbClr val="F4F2FA"/>
                    </a:solidFill>
                  </a:tcPr>
                </a:tc>
              </a:tr>
              <a:tr h="310896">
                <a:tc>
                  <a:txBody>
                    <a:bodyPr/>
                    <a:lstStyle/>
                    <a:p>
                      <a:r>
                        <a:rPr sz="900" b="0" i="0">
                          <a:solidFill>
                            <a:srgbClr val="1A1440"/>
                          </a:solidFill>
                          <a:latin typeface="Calibri"/>
                        </a:rPr>
                        <a:t>An assumption?</a:t>
                      </a:r>
                    </a:p>
                  </a:txBody>
                  <a:tcPr marL="101600" marR="101600" marT="38100" marB="38100" anchor="ctr">
                    <a:solidFill>
                      <a:srgbClr val="FFFFFF"/>
                    </a:solidFill>
                  </a:tcPr>
                </a:tc>
                <a:tc>
                  <a:txBody>
                    <a:bodyPr/>
                    <a:lstStyle/>
                    <a:p>
                      <a:r>
                        <a:rPr sz="900" b="0" i="0">
                          <a:solidFill>
                            <a:srgbClr val="1A1440"/>
                          </a:solidFill>
                          <a:latin typeface="Calibri"/>
                        </a:rPr>
                        <a:t>A yellow input: Rs 500 costs Rs 5,500 for Mumbai</a:t>
                      </a:r>
                    </a:p>
                  </a:txBody>
                  <a:tcPr marL="101600" marR="101600" marT="38100" marB="38100" anchor="ctr">
                    <a:solidFill>
                      <a:srgbClr val="FFFFFF"/>
                    </a:solidFill>
                  </a:tcPr>
                </a:tc>
              </a:tr>
              <a:tr h="310896">
                <a:tc>
                  <a:txBody>
                    <a:bodyPr/>
                    <a:lstStyle/>
                    <a:p>
                      <a:r>
                        <a:rPr sz="900" b="0" i="0">
                          <a:solidFill>
                            <a:srgbClr val="1A1440"/>
                          </a:solidFill>
                          <a:latin typeface="Calibri"/>
                        </a:rPr>
                        <a:t>What is released?</a:t>
                      </a:r>
                    </a:p>
                  </a:txBody>
                  <a:tcPr marL="101600" marR="101600" marT="38100" marB="38100" anchor="ctr">
                    <a:solidFill>
                      <a:srgbClr val="F4F2FA"/>
                    </a:solidFill>
                  </a:tcPr>
                </a:tc>
                <a:tc>
                  <a:txBody>
                    <a:bodyPr/>
                    <a:lstStyle/>
                    <a:p>
                      <a:r>
                        <a:rPr sz="900" b="0" i="0">
                          <a:solidFill>
                            <a:srgbClr val="1A1440"/>
                          </a:solidFill>
                          <a:latin typeface="Calibri"/>
                        </a:rPr>
                        <a:t>Hold what fails, ship the rest</a:t>
                      </a:r>
                    </a:p>
                  </a:txBody>
                  <a:tcPr marL="101600" marR="101600" marT="38100" marB="38100" anchor="ctr">
                    <a:solidFill>
                      <a:srgbClr val="F4F2FA"/>
                    </a:solidFill>
                  </a:tcPr>
                </a:tc>
              </a:tr>
            </a:tbl>
          </a:graphicData>
        </a:graphic>
      </p:graphicFrame>
      <p:sp>
        <p:nvSpPr>
          <p:cNvPr id="10" name="Rounded Rectangle 9"/>
          <p:cNvSpPr/>
          <p:nvPr/>
        </p:nvSpPr>
        <p:spPr>
          <a:xfrm>
            <a:off x="530352" y="4251960"/>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348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44568"/>
            <a:ext cx="237744" cy="237744"/>
          </a:xfrm>
          <a:prstGeom prst="rect">
            <a:avLst/>
          </a:prstGeom>
        </p:spPr>
      </p:pic>
      <p:sp>
        <p:nvSpPr>
          <p:cNvPr id="13" name="TextBox 12"/>
          <p:cNvSpPr txBox="1"/>
          <p:nvPr/>
        </p:nvSpPr>
        <p:spPr>
          <a:xfrm>
            <a:off x="1399031" y="439826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17720"/>
            <a:ext cx="9987991" cy="384048"/>
          </a:xfrm>
          <a:prstGeom prst="rect">
            <a:avLst/>
          </a:prstGeom>
          <a:noFill/>
        </p:spPr>
        <p:txBody>
          <a:bodyPr wrap="square" anchor="t" lIns="0" rIns="0" tIns="0" bIns="0">
            <a:spAutoFit/>
          </a:bodyPr>
          <a:lstStyle/>
          <a:p>
            <a:r>
              <a:rPr sz="1000" b="0" i="0">
                <a:solidFill>
                  <a:srgbClr val="1A1440"/>
                </a:solidFill>
                <a:latin typeface="Calibri"/>
              </a:rPr>
              <a:t>"A director who filters, sorts or asks a what-if should see the right numbers move, and see a wrong one turn red before anyone reads it out."</a:t>
            </a:r>
          </a:p>
        </p:txBody>
      </p:sp>
      <p:sp>
        <p:nvSpPr>
          <p:cNvPr id="15" name="Rounded Rectangle 14"/>
          <p:cNvSpPr/>
          <p:nvPr/>
        </p:nvSpPr>
        <p:spPr>
          <a:xfrm>
            <a:off x="530352" y="523951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223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32120"/>
            <a:ext cx="237744" cy="237744"/>
          </a:xfrm>
          <a:prstGeom prst="rect">
            <a:avLst/>
          </a:prstGeom>
        </p:spPr>
      </p:pic>
      <p:sp>
        <p:nvSpPr>
          <p:cNvPr id="18" name="TextBox 17"/>
          <p:cNvSpPr txBox="1"/>
          <p:nvPr/>
        </p:nvSpPr>
        <p:spPr>
          <a:xfrm>
            <a:off x="1399031" y="53858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05272"/>
            <a:ext cx="9987991" cy="384048"/>
          </a:xfrm>
          <a:prstGeom prst="rect">
            <a:avLst/>
          </a:prstGeom>
          <a:noFill/>
        </p:spPr>
        <p:txBody>
          <a:bodyPr wrap="square" anchor="t" lIns="0" rIns="0" tIns="0" bIns="0">
            <a:spAutoFit/>
          </a:bodyPr>
          <a:lstStyle/>
          <a:p>
            <a:r>
              <a:rPr sz="1000" b="0" i="0">
                <a:solidFill>
                  <a:srgbClr val="1A1440"/>
                </a:solidFill>
                <a:latin typeface="Calibri"/>
              </a:rPr>
              <a:t>[F] You filter a list and its total does not move; what is the foot doing?</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22" name="Oval 2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4" name="Oval 2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6" name="Oval 2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8" name="Oval 2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0" name="Oval 29"/>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ship it alone?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you build the three deliverables and the Checks tab from the two exports, alone? The chief of staff opens it on Monday.</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five parts, in the chief of staff's words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chief of staff want, and how long does each part take?</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"Build me the file I open on Monday: the tree by segment for both quarters, the protect list with the lookup, and the front-page number with its trend. I will change things in the room. Tell me what I can trust it for."</a:t>
            </a:r>
          </a:p>
        </p:txBody>
      </p:sp>
      <p:graphicFrame>
        <p:nvGraphicFramePr>
          <p:cNvPr id="14" name="Table 13"/>
          <p:cNvGraphicFramePr>
            <a:graphicFrameLocks noGrp="1"/>
          </p:cNvGraphicFramePr>
          <p:nvPr/>
        </p:nvGraphicFramePr>
        <p:xfrm>
          <a:off x="530352" y="3502152"/>
          <a:ext cx="11130990" cy="2218944"/>
        </p:xfrm>
        <a:graphic>
          <a:graphicData uri="http://schemas.openxmlformats.org/drawingml/2006/table">
            <a:tbl>
              <a:tblPr firstRow="0" bandRow="0">
                <a:tableStyleId>{2D5ABB26-0587-4C30-8999-92F81FD0307C}</a:tableStyleId>
              </a:tblPr>
              <a:tblGrid>
                <a:gridCol w="914400"/>
                <a:gridCol w="8739253"/>
                <a:gridCol w="1477337"/>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The question it answers</a:t>
                      </a:r>
                    </a:p>
                  </a:txBody>
                  <a:tcPr marL="101600" marR="101600" marT="38100" marB="38100" anchor="ctr">
                    <a:solidFill>
                      <a:srgbClr val="1A0F5C"/>
                    </a:solidFill>
                  </a:tcPr>
                </a:tc>
                <a:tc>
                  <a:txBody>
                    <a:bodyPr/>
                    <a:lstStyle/>
                    <a:p>
                      <a:r>
                        <a:rPr sz="1450" b="1" i="0">
                          <a:solidFill>
                            <a:srgbClr val="FFFFFF"/>
                          </a:solidFill>
                          <a:latin typeface="Calibri"/>
                        </a:rPr>
                        <a:t>Minutes</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Does the tree for both quarters tie to the warehouse?</a:t>
                      </a:r>
                    </a:p>
                  </a:txBody>
                  <a:tcPr marL="101600" marR="101600" marT="38100" marB="38100" anchor="ctr">
                    <a:solidFill>
                      <a:srgbClr val="FFFFFF"/>
                    </a:solidFill>
                  </a:tcPr>
                </a:tc>
                <a:tc>
                  <a:txBody>
                    <a:bodyPr/>
                    <a:lstStyle/>
                    <a:p>
                      <a:r>
                        <a:rPr sz="1400" b="0" i="0">
                          <a:solidFill>
                            <a:srgbClr val="1A1440"/>
                          </a:solidFill>
                          <a:latin typeface="Calibri"/>
                        </a:rPr>
                        <a:t>12</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Does the list hold the right fifty, and does the lookup say when an id is missing?</a:t>
                      </a:r>
                    </a:p>
                  </a:txBody>
                  <a:tcPr marL="101600" marR="101600" marT="38100" marB="38100" anchor="ctr">
                    <a:solidFill>
                      <a:srgbClr val="F4F2FA"/>
                    </a:solidFill>
                  </a:tcPr>
                </a:tc>
                <a:tc>
                  <a:txBody>
                    <a:bodyPr/>
                    <a:lstStyle/>
                    <a:p>
                      <a:r>
                        <a:rPr sz="1400" b="0" i="0">
                          <a:solidFill>
                            <a:srgbClr val="1A1440"/>
                          </a:solidFill>
                          <a:latin typeface="Calibri"/>
                        </a:rPr>
                        <a:t>10</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Does the card carry its period, comparison and base, for any scope?</a:t>
                      </a:r>
                    </a:p>
                  </a:txBody>
                  <a:tcPr marL="101600" marR="101600" marT="38100" marB="38100" anchor="ctr">
                    <a:solidFill>
                      <a:srgbClr val="FFFFFF"/>
                    </a:solidFill>
                  </a:tcPr>
                </a:tc>
                <a:tc>
                  <a:txBody>
                    <a:bodyPr/>
                    <a:lstStyle/>
                    <a:p>
                      <a:r>
                        <a:rPr sz="1400" b="0" i="0">
                          <a:solidFill>
                            <a:srgbClr val="1A1440"/>
                          </a:solidFill>
                          <a:latin typeface="Calibri"/>
                        </a:rPr>
                        <a:t>10</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What ships on Monday, and what is held?</a:t>
                      </a:r>
                    </a:p>
                  </a:txBody>
                  <a:tcPr marL="101600" marR="101600" marT="38100" marB="38100" anchor="ctr">
                    <a:solidFill>
                      <a:srgbClr val="F4F2FA"/>
                    </a:solidFill>
                  </a:tcPr>
                </a:tc>
                <a:tc>
                  <a:txBody>
                    <a:bodyPr/>
                    <a:lstStyle/>
                    <a:p>
                      <a:r>
                        <a:rPr sz="1400" b="0" i="0">
                          <a:solidFill>
                            <a:srgbClr val="1A1440"/>
                          </a:solidFill>
                          <a:latin typeface="Calibri"/>
                        </a:rPr>
                        <a:t>5</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Do the numbers agree a second way?</a:t>
                      </a:r>
                    </a:p>
                  </a:txBody>
                  <a:tcPr marL="101600" marR="101600" marT="38100" marB="38100" anchor="ctr">
                    <a:solidFill>
                      <a:srgbClr val="FFFFFF"/>
                    </a:solidFill>
                  </a:tcPr>
                </a:tc>
                <a:tc>
                  <a:txBody>
                    <a:bodyPr/>
                    <a:lstStyle/>
                    <a:p>
                      <a:r>
                        <a:rPr sz="1400" b="0" i="0">
                          <a:solidFill>
                            <a:srgbClr val="1A1440"/>
                          </a:solidFill>
                          <a:latin typeface="Calibri"/>
                        </a:rPr>
                        <a:t>10</a:t>
                      </a:r>
                    </a:p>
                  </a:txBody>
                  <a:tcPr marL="101600" marR="101600" marT="38100" marB="38100" anchor="ctr">
                    <a:solidFill>
                      <a:srgbClr val="FFFFFF"/>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7" name="Oval 1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Can you ship it alone?</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5" name="Oval 24"/>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What done looks like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checks must the file pass before it goes to Monday?</a:t>
            </a:r>
          </a:p>
        </p:txBody>
      </p:sp>
      <p:sp>
        <p:nvSpPr>
          <p:cNvPr id="10" name="Rounded Rectangle 9"/>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circle-check_5bfb0e0fcdf2.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1</a:t>
            </a:r>
          </a:p>
        </p:txBody>
      </p:sp>
      <p:sp>
        <p:nvSpPr>
          <p:cNvPr id="14" name="TextBox 13"/>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tree ties</a:t>
            </a:r>
          </a:p>
        </p:txBody>
      </p:sp>
      <p:sp>
        <p:nvSpPr>
          <p:cNvPr id="15" name="TextBox 14"/>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Its two quarters sum to the warehouse's Rs 10,00,00,000 and Rs 9,84,00,000.</a:t>
            </a:r>
          </a:p>
        </p:txBody>
      </p:sp>
      <p:sp>
        <p:nvSpPr>
          <p:cNvPr id="16" name="Rounded Rectangle 15"/>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circle-check_5bfb0e0fcdf2.png"/>
          <p:cNvPicPr>
            <a:picLocks noChangeAspect="1"/>
          </p:cNvPicPr>
          <p:nvPr/>
        </p:nvPicPr>
        <p:blipFill>
          <a:blip r:embed="rId4"/>
          <a:stretch>
            <a:fillRect/>
          </a:stretch>
        </p:blipFill>
        <p:spPr>
          <a:xfrm>
            <a:off x="3669715" y="2267712"/>
            <a:ext cx="237744" cy="237744"/>
          </a:xfrm>
          <a:prstGeom prst="rect">
            <a:avLst/>
          </a:prstGeom>
        </p:spPr>
      </p:pic>
      <p:sp>
        <p:nvSpPr>
          <p:cNvPr id="19" name="TextBox 18"/>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2</a:t>
            </a:r>
          </a:p>
        </p:txBody>
      </p:sp>
      <p:sp>
        <p:nvSpPr>
          <p:cNvPr id="20" name="TextBox 19"/>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source ties</a:t>
            </a:r>
          </a:p>
        </p:txBody>
      </p:sp>
      <p:sp>
        <p:nvSpPr>
          <p:cNvPr id="21" name="TextBox 20"/>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customer table's orders and revenue tie to the warehouse.</a:t>
            </a:r>
          </a:p>
        </p:txBody>
      </p:sp>
      <p:sp>
        <p:nvSpPr>
          <p:cNvPr id="22" name="Rounded Rectangle 21"/>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circle-check_5bfb0e0fcdf2.png"/>
          <p:cNvPicPr>
            <a:picLocks noChangeAspect="1"/>
          </p:cNvPicPr>
          <p:nvPr/>
        </p:nvPicPr>
        <p:blipFill>
          <a:blip r:embed="rId4"/>
          <a:stretch>
            <a:fillRect/>
          </a:stretch>
        </p:blipFill>
        <p:spPr>
          <a:xfrm>
            <a:off x="6498183" y="2267712"/>
            <a:ext cx="237744" cy="237744"/>
          </a:xfrm>
          <a:prstGeom prst="rect">
            <a:avLst/>
          </a:prstGeom>
        </p:spPr>
      </p:pic>
      <p:sp>
        <p:nvSpPr>
          <p:cNvPr id="25" name="TextBox 24"/>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3</a:t>
            </a:r>
          </a:p>
        </p:txBody>
      </p:sp>
      <p:sp>
        <p:nvSpPr>
          <p:cNvPr id="26" name="TextBox 25"/>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lookup is honest</a:t>
            </a:r>
          </a:p>
        </p:txBody>
      </p:sp>
      <p:sp>
        <p:nvSpPr>
          <p:cNvPr id="27" name="TextBox 26"/>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It says when an id is missing.</a:t>
            </a:r>
          </a:p>
        </p:txBody>
      </p:sp>
      <p:sp>
        <p:nvSpPr>
          <p:cNvPr id="28" name="Rounded Rectangle 27"/>
          <p:cNvSpPr/>
          <p:nvPr/>
        </p:nvSpPr>
        <p:spPr>
          <a:xfrm>
            <a:off x="9015755" y="1956816"/>
            <a:ext cx="2645587"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circle-check_9dd99c81814d.png"/>
          <p:cNvPicPr>
            <a:picLocks noChangeAspect="1"/>
          </p:cNvPicPr>
          <p:nvPr/>
        </p:nvPicPr>
        <p:blipFill>
          <a:blip r:embed="rId5"/>
          <a:stretch>
            <a:fillRect/>
          </a:stretch>
        </p:blipFill>
        <p:spPr>
          <a:xfrm>
            <a:off x="9326651" y="2267712"/>
            <a:ext cx="237744" cy="237744"/>
          </a:xfrm>
          <a:prstGeom prst="rect">
            <a:avLst/>
          </a:prstGeom>
        </p:spPr>
      </p:pic>
      <p:sp>
        <p:nvSpPr>
          <p:cNvPr id="31" name="TextBox 30"/>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CHECK 4</a:t>
            </a:r>
          </a:p>
        </p:txBody>
      </p:sp>
      <p:sp>
        <p:nvSpPr>
          <p:cNvPr id="32" name="TextBox 31"/>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The release says it</a:t>
            </a:r>
          </a:p>
        </p:txBody>
      </p:sp>
      <p:sp>
        <p:nvSpPr>
          <p:cNvPr id="33" name="TextBox 32"/>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CFC9EE"/>
                </a:solidFill>
                <a:latin typeface="Calibri"/>
              </a:rPr>
              <a:t>What ships, what is held, and why.</a:t>
            </a:r>
          </a:p>
        </p:txBody>
      </p:sp>
      <p:sp>
        <p:nvSpPr>
          <p:cNvPr id="34" name="Rounded Rectangle 33"/>
          <p:cNvSpPr/>
          <p:nvPr/>
        </p:nvSpPr>
        <p:spPr>
          <a:xfrm>
            <a:off x="530352" y="42941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Oval 34"/>
          <p:cNvSpPr/>
          <p:nvPr/>
        </p:nvSpPr>
        <p:spPr>
          <a:xfrm>
            <a:off x="758952" y="44968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6" name="Picture 35" descr="search-check_6571e64a041f.png"/>
          <p:cNvPicPr>
            <a:picLocks noChangeAspect="1"/>
          </p:cNvPicPr>
          <p:nvPr/>
        </p:nvPicPr>
        <p:blipFill>
          <a:blip r:embed="rId6"/>
          <a:stretch>
            <a:fillRect/>
          </a:stretch>
        </p:blipFill>
        <p:spPr>
          <a:xfrm>
            <a:off x="868680" y="4606544"/>
            <a:ext cx="237744" cy="237744"/>
          </a:xfrm>
          <a:prstGeom prst="rect">
            <a:avLst/>
          </a:prstGeom>
        </p:spPr>
      </p:pic>
      <p:sp>
        <p:nvSpPr>
          <p:cNvPr id="37" name="TextBox 36"/>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38" name="TextBox 37"/>
          <p:cNvSpPr txBox="1"/>
          <p:nvPr/>
        </p:nvSpPr>
        <p:spPr>
          <a:xfrm>
            <a:off x="1399031" y="4659884"/>
            <a:ext cx="9987991" cy="423672"/>
          </a:xfrm>
          <a:prstGeom prst="rect">
            <a:avLst/>
          </a:prstGeom>
          <a:noFill/>
        </p:spPr>
        <p:txBody>
          <a:bodyPr wrap="square" anchor="t" lIns="0" rIns="0" tIns="0" bIns="0">
            <a:spAutoFit/>
          </a:bodyPr>
          <a:lstStyle/>
          <a:p>
            <a:r>
              <a:rPr sz="1500" b="0" i="0">
                <a:solidFill>
                  <a:srgbClr val="1A1440"/>
                </a:solidFill>
                <a:latin typeface="Calibri"/>
              </a:rPr>
              <a:t>A deliverable that fails its check is held with its reason, never shipped with a footnote.</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41" name="Oval 40"/>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Can you ship it alone?</a:t>
            </a:r>
          </a:p>
        </p:txBody>
      </p:sp>
      <p:sp>
        <p:nvSpPr>
          <p:cNvPr id="43" name="Oval 42"/>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45" name="Oval 44"/>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47" name="Oval 46"/>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49" name="Oval 48"/>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D17  ·  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numbers were wrong?</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wrong numbers did this room produce, in the order the day produced them? Every one was plausible.</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seven plausible numbers, none raised an error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wrong numbers appeared, and what would each have done?</a:t>
            </a:r>
          </a:p>
        </p:txBody>
      </p:sp>
      <p:graphicFrame>
        <p:nvGraphicFramePr>
          <p:cNvPr id="9" name="Table 8"/>
          <p:cNvGraphicFramePr>
            <a:graphicFrameLocks noGrp="1"/>
          </p:cNvGraphicFramePr>
          <p:nvPr/>
        </p:nvGraphicFramePr>
        <p:xfrm>
          <a:off x="530352" y="1956816"/>
          <a:ext cx="11130990" cy="2958592"/>
        </p:xfrm>
        <a:graphic>
          <a:graphicData uri="http://schemas.openxmlformats.org/drawingml/2006/table">
            <a:tbl>
              <a:tblPr firstRow="0" bandRow="0">
                <a:tableStyleId>{2D5ABB26-0587-4C30-8999-92F81FD0307C}</a:tableStyleId>
              </a:tblPr>
              <a:tblGrid>
                <a:gridCol w="2938593"/>
                <a:gridCol w="3517396"/>
                <a:gridCol w="4675001"/>
              </a:tblGrid>
              <a:tr h="369824">
                <a:tc>
                  <a:txBody>
                    <a:bodyPr/>
                    <a:lstStyle/>
                    <a:p>
                      <a:r>
                        <a:rPr sz="1450" b="1" i="0">
                          <a:solidFill>
                            <a:srgbClr val="FFFFFF"/>
                          </a:solidFill>
                          <a:latin typeface="Calibri"/>
                        </a:rPr>
                        <a:t>The number</a:t>
                      </a:r>
                    </a:p>
                  </a:txBody>
                  <a:tcPr marL="101600" marR="101600" marT="38100" marB="38100" anchor="ctr">
                    <a:solidFill>
                      <a:srgbClr val="1A0F5C"/>
                    </a:solidFill>
                  </a:tcPr>
                </a:tc>
                <a:tc>
                  <a:txBody>
                    <a:bodyPr/>
                    <a:lstStyle/>
                    <a:p>
                      <a:r>
                        <a:rPr sz="1450" b="1" i="0">
                          <a:solidFill>
                            <a:srgbClr val="FFFFFF"/>
                          </a:solidFill>
                          <a:latin typeface="Calibri"/>
                        </a:rPr>
                        <a:t>Where it came from</a:t>
                      </a:r>
                    </a:p>
                  </a:txBody>
                  <a:tcPr marL="101600" marR="101600" marT="38100" marB="38100" anchor="ctr">
                    <a:solidFill>
                      <a:srgbClr val="1A0F5C"/>
                    </a:solidFill>
                  </a:tcPr>
                </a:tc>
                <a:tc>
                  <a:txBody>
                    <a:bodyPr/>
                    <a:lstStyle/>
                    <a:p>
                      <a:r>
                        <a:rPr sz="1450" b="1" i="0">
                          <a:solidFill>
                            <a:srgbClr val="FFFFFF"/>
                          </a:solidFill>
                          <a:latin typeface="Calibri"/>
                        </a:rPr>
                        <a:t>What it would have done</a:t>
                      </a:r>
                    </a:p>
                  </a:txBody>
                  <a:tcPr marL="101600" marR="101600" marT="38100" marB="38100" anchor="ctr">
                    <a:solidFill>
                      <a:srgbClr val="1A0F5C"/>
                    </a:solidFill>
                  </a:tcPr>
                </a:tc>
              </a:tr>
              <a:tr h="369824">
                <a:tc>
                  <a:txBody>
                    <a:bodyPr/>
                    <a:lstStyle/>
                    <a:p>
                      <a:r>
                        <a:rPr sz="1400" b="0" i="0">
                          <a:solidFill>
                            <a:srgbClr val="1A1440"/>
                          </a:solidFill>
                          <a:latin typeface="Calibri"/>
                        </a:rPr>
                        <a:t>Rs 11,66,786 an order</a:t>
                      </a:r>
                    </a:p>
                  </a:txBody>
                  <a:tcPr marL="101600" marR="101600" marT="38100" marB="38100" anchor="ctr">
                    <a:solidFill>
                      <a:srgbClr val="FFFFFF"/>
                    </a:solidFill>
                  </a:tcPr>
                </a:tc>
                <a:tc>
                  <a:txBody>
                    <a:bodyPr/>
                    <a:lstStyle/>
                    <a:p>
                      <a:r>
                        <a:rPr sz="1400" b="0" i="0">
                          <a:solidFill>
                            <a:srgbClr val="1A1440"/>
                          </a:solidFill>
                          <a:latin typeface="Calibri"/>
                        </a:rPr>
                        <a:t>a leaf averaged per customer</a:t>
                      </a:r>
                    </a:p>
                  </a:txBody>
                  <a:tcPr marL="101600" marR="101600" marT="38100" marB="38100" anchor="ctr">
                    <a:solidFill>
                      <a:srgbClr val="FFFFFF"/>
                    </a:solidFill>
                  </a:tcPr>
                </a:tc>
                <a:tc>
                  <a:txBody>
                    <a:bodyPr/>
                    <a:lstStyle/>
                    <a:p>
                      <a:r>
                        <a:rPr sz="1400" b="0" i="0">
                          <a:solidFill>
                            <a:srgbClr val="1A1440"/>
                          </a:solidFill>
                          <a:latin typeface="Calibri"/>
                        </a:rPr>
                        <a:t>a tree that does not multiply back</a:t>
                      </a:r>
                    </a:p>
                  </a:txBody>
                  <a:tcPr marL="101600" marR="101600" marT="38100" marB="38100" anchor="ctr">
                    <a:solidFill>
                      <a:srgbClr val="FFFFFF"/>
                    </a:solidFill>
                  </a:tcPr>
                </a:tc>
              </a:tr>
              <a:tr h="369824">
                <a:tc>
                  <a:txBody>
                    <a:bodyPr/>
                    <a:lstStyle/>
                    <a:p>
                      <a:r>
                        <a:rPr sz="1400" b="0" i="0">
                          <a:solidFill>
                            <a:srgbClr val="1A1440"/>
                          </a:solidFill>
                          <a:latin typeface="Calibri"/>
                        </a:rPr>
                        <a:t>Rs 39.41 crore</a:t>
                      </a:r>
                    </a:p>
                  </a:txBody>
                  <a:tcPr marL="101600" marR="101600" marT="38100" marB="38100" anchor="ctr">
                    <a:solidFill>
                      <a:srgbClr val="F4F2FA"/>
                    </a:solidFill>
                  </a:tcPr>
                </a:tc>
                <a:tc>
                  <a:txBody>
                    <a:bodyPr/>
                    <a:lstStyle/>
                    <a:p>
                      <a:r>
                        <a:rPr sz="1400" b="0" i="0">
                          <a:solidFill>
                            <a:srgbClr val="1A1440"/>
                          </a:solidFill>
                          <a:latin typeface="Calibri"/>
                        </a:rPr>
                        <a:t>Sum over payment rows</a:t>
                      </a:r>
                    </a:p>
                  </a:txBody>
                  <a:tcPr marL="101600" marR="101600" marT="38100" marB="38100" anchor="ctr">
                    <a:solidFill>
                      <a:srgbClr val="F4F2FA"/>
                    </a:solidFill>
                  </a:tcPr>
                </a:tc>
                <a:tc>
                  <a:txBody>
                    <a:bodyPr/>
                    <a:lstStyle/>
                    <a:p>
                      <a:r>
                        <a:rPr sz="1400" b="0" i="0">
                          <a:solidFill>
                            <a:srgbClr val="1A1440"/>
                          </a:solidFill>
                          <a:latin typeface="Calibri"/>
                        </a:rPr>
                        <a:t>doubled the deck's revenue</a:t>
                      </a:r>
                    </a:p>
                  </a:txBody>
                  <a:tcPr marL="101600" marR="101600" marT="38100" marB="38100" anchor="ctr">
                    <a:solidFill>
                      <a:srgbClr val="F4F2FA"/>
                    </a:solidFill>
                  </a:tcPr>
                </a:tc>
              </a:tr>
              <a:tr h="369824">
                <a:tc>
                  <a:txBody>
                    <a:bodyPr/>
                    <a:lstStyle/>
                    <a:p>
                      <a:r>
                        <a:rPr sz="1400" b="0" i="0">
                          <a:solidFill>
                            <a:srgbClr val="1A1440"/>
                          </a:solidFill>
                          <a:latin typeface="Calibri"/>
                        </a:rPr>
                        <a:t>Rs 39,40,57,740</a:t>
                      </a:r>
                    </a:p>
                  </a:txBody>
                  <a:tcPr marL="101600" marR="101600" marT="38100" marB="38100" anchor="ctr">
                    <a:solidFill>
                      <a:srgbClr val="FFFFFF"/>
                    </a:solidFill>
                  </a:tcPr>
                </a:tc>
                <a:tc>
                  <a:txBody>
                    <a:bodyPr/>
                    <a:lstStyle/>
                    <a:p>
                      <a:r>
                        <a:rPr sz="1400" b="0" i="0">
                          <a:solidFill>
                            <a:srgbClr val="1A1440"/>
                          </a:solidFill>
                          <a:latin typeface="Calibri"/>
                        </a:rPr>
                        <a:t>Remove Duplicates, then Sum</a:t>
                      </a:r>
                    </a:p>
                  </a:txBody>
                  <a:tcPr marL="101600" marR="101600" marT="38100" marB="38100" anchor="ctr">
                    <a:solidFill>
                      <a:srgbClr val="FFFFFF"/>
                    </a:solidFill>
                  </a:tcPr>
                </a:tc>
                <a:tc>
                  <a:txBody>
                    <a:bodyPr/>
                    <a:lstStyle/>
                    <a:p>
                      <a:r>
                        <a:rPr sz="1400" b="0" i="0">
                          <a:solidFill>
                            <a:srgbClr val="1A1440"/>
                          </a:solidFill>
                          <a:latin typeface="Calibri"/>
                        </a:rPr>
                        <a:t>the same, with false confidence</a:t>
                      </a:r>
                    </a:p>
                  </a:txBody>
                  <a:tcPr marL="101600" marR="101600" marT="38100" marB="38100" anchor="ctr">
                    <a:solidFill>
                      <a:srgbClr val="FFFFFF"/>
                    </a:solidFill>
                  </a:tcPr>
                </a:tc>
              </a:tr>
              <a:tr h="369824">
                <a:tc>
                  <a:txBody>
                    <a:bodyPr/>
                    <a:lstStyle/>
                    <a:p>
                      <a:r>
                        <a:rPr sz="1400" b="0" i="0">
                          <a:solidFill>
                            <a:srgbClr val="1A1440"/>
                          </a:solidFill>
                          <a:latin typeface="Calibri"/>
                        </a:rPr>
                        <a:t>C-0194's row for C-0195</a:t>
                      </a:r>
                    </a:p>
                  </a:txBody>
                  <a:tcPr marL="101600" marR="101600" marT="38100" marB="38100" anchor="ctr">
                    <a:solidFill>
                      <a:srgbClr val="F4F2FA"/>
                    </a:solidFill>
                  </a:tcPr>
                </a:tc>
                <a:tc>
                  <a:txBody>
                    <a:bodyPr/>
                    <a:lstStyle/>
                    <a:p>
                      <a:r>
                        <a:rPr sz="1400" b="0" i="0">
                          <a:solidFill>
                            <a:srgbClr val="1A1440"/>
                          </a:solidFill>
                          <a:latin typeface="Calibri"/>
                        </a:rPr>
                        <a:t>an approximate lookup</a:t>
                      </a:r>
                    </a:p>
                  </a:txBody>
                  <a:tcPr marL="101600" marR="101600" marT="38100" marB="38100" anchor="ctr">
                    <a:solidFill>
                      <a:srgbClr val="F4F2FA"/>
                    </a:solidFill>
                  </a:tcPr>
                </a:tc>
                <a:tc>
                  <a:txBody>
                    <a:bodyPr/>
                    <a:lstStyle/>
                    <a:p>
                      <a:r>
                        <a:rPr sz="1400" b="0" i="0">
                          <a:solidFill>
                            <a:srgbClr val="1A1440"/>
                          </a:solidFill>
                          <a:latin typeface="Calibri"/>
                        </a:rPr>
                        <a:t>an offer to someone who stopped buying</a:t>
                      </a:r>
                    </a:p>
                  </a:txBody>
                  <a:tcPr marL="101600" marR="101600" marT="38100" marB="38100" anchor="ctr">
                    <a:solidFill>
                      <a:srgbClr val="F4F2FA"/>
                    </a:solidFill>
                  </a:tcPr>
                </a:tc>
              </a:tr>
              <a:tr h="369824">
                <a:tc>
                  <a:txBody>
                    <a:bodyPr/>
                    <a:lstStyle/>
                    <a:p>
                      <a:r>
                        <a:rPr sz="1400" b="0" i="0">
                          <a:solidFill>
                            <a:srgbClr val="1A1440"/>
                          </a:solidFill>
                          <a:latin typeface="Calibri"/>
                        </a:rPr>
                        <a:t>Rs 19.84 crore, bare</a:t>
                      </a:r>
                    </a:p>
                  </a:txBody>
                  <a:tcPr marL="101600" marR="101600" marT="38100" marB="38100" anchor="ctr">
                    <a:solidFill>
                      <a:srgbClr val="FFFFFF"/>
                    </a:solidFill>
                  </a:tcPr>
                </a:tc>
                <a:tc>
                  <a:txBody>
                    <a:bodyPr/>
                    <a:lstStyle/>
                    <a:p>
                      <a:r>
                        <a:rPr sz="1400" b="0" i="0">
                          <a:solidFill>
                            <a:srgbClr val="1A1440"/>
                          </a:solidFill>
                          <a:latin typeface="Calibri"/>
                        </a:rPr>
                        <a:t>a card with no period</a:t>
                      </a:r>
                    </a:p>
                  </a:txBody>
                  <a:tcPr marL="101600" marR="101600" marT="38100" marB="38100" anchor="ctr">
                    <a:solidFill>
                      <a:srgbClr val="FFFFFF"/>
                    </a:solidFill>
                  </a:tcPr>
                </a:tc>
                <a:tc>
                  <a:txBody>
                    <a:bodyPr/>
                    <a:lstStyle/>
                    <a:p>
                      <a:r>
                        <a:rPr sz="1400" b="0" i="0">
                          <a:solidFill>
                            <a:srgbClr val="1A1440"/>
                          </a:solidFill>
                          <a:latin typeface="Calibri"/>
                        </a:rPr>
                        <a:t>a doubled quarter in the minutes</a:t>
                      </a:r>
                    </a:p>
                  </a:txBody>
                  <a:tcPr marL="101600" marR="101600" marT="38100" marB="38100" anchor="ctr">
                    <a:solidFill>
                      <a:srgbClr val="FFFFFF"/>
                    </a:solidFill>
                  </a:tcPr>
                </a:tc>
              </a:tr>
              <a:tr h="369824">
                <a:tc>
                  <a:txBody>
                    <a:bodyPr/>
                    <a:lstStyle/>
                    <a:p>
                      <a:r>
                        <a:rPr sz="1400" b="0" i="0">
                          <a:solidFill>
                            <a:srgbClr val="1A1440"/>
                          </a:solidFill>
                          <a:latin typeface="Calibri"/>
                        </a:rPr>
                        <a:t>41.7 percent</a:t>
                      </a:r>
                    </a:p>
                  </a:txBody>
                  <a:tcPr marL="101600" marR="101600" marT="38100" marB="38100" anchor="ctr">
                    <a:solidFill>
                      <a:srgbClr val="F4F2FA"/>
                    </a:solidFill>
                  </a:tcPr>
                </a:tc>
                <a:tc>
                  <a:txBody>
                    <a:bodyPr/>
                    <a:lstStyle/>
                    <a:p>
                      <a:r>
                        <a:rPr sz="1400" b="0" i="0">
                          <a:solidFill>
                            <a:srgbClr val="1A1440"/>
                          </a:solidFill>
                          <a:latin typeface="Calibri"/>
                        </a:rPr>
                        <a:t>a change on the wrong base</a:t>
                      </a:r>
                    </a:p>
                  </a:txBody>
                  <a:tcPr marL="101600" marR="101600" marT="38100" marB="38100" anchor="ctr">
                    <a:solidFill>
                      <a:srgbClr val="F4F2FA"/>
                    </a:solidFill>
                  </a:tcPr>
                </a:tc>
                <a:tc>
                  <a:txBody>
                    <a:bodyPr/>
                    <a:lstStyle/>
                    <a:p>
                      <a:r>
                        <a:rPr sz="1400" b="0" i="0">
                          <a:solidFill>
                            <a:srgbClr val="1A1440"/>
                          </a:solidFill>
                          <a:latin typeface="Calibri"/>
                        </a:rPr>
                        <a:t>a fall overstated by twelve points</a:t>
                      </a:r>
                    </a:p>
                  </a:txBody>
                  <a:tcPr marL="101600" marR="101600" marT="38100" marB="38100" anchor="ctr">
                    <a:solidFill>
                      <a:srgbClr val="F4F2FA"/>
                    </a:solidFill>
                  </a:tcPr>
                </a:tc>
              </a:tr>
              <a:tr h="369824">
                <a:tc>
                  <a:txBody>
                    <a:bodyPr/>
                    <a:lstStyle/>
                    <a:p>
                      <a:r>
                        <a:rPr sz="1400" b="0" i="0">
                          <a:solidFill>
                            <a:srgbClr val="1A1440"/>
                          </a:solidFill>
                          <a:latin typeface="Calibri"/>
                        </a:rPr>
                        <a:t>Rs 7,14,890 for Mumbai</a:t>
                      </a:r>
                    </a:p>
                  </a:txBody>
                  <a:tcPr marL="101600" marR="101600" marT="38100" marB="38100" anchor="ctr">
                    <a:solidFill>
                      <a:srgbClr val="FFFFFF"/>
                    </a:solidFill>
                  </a:tcPr>
                </a:tc>
                <a:tc>
                  <a:txBody>
                    <a:bodyPr/>
                    <a:lstStyle/>
                    <a:p>
                      <a:r>
                        <a:rPr sz="1400" b="0" i="0">
                          <a:solidFill>
                            <a:srgbClr val="1A1440"/>
                          </a:solidFill>
                          <a:latin typeface="Calibri"/>
                        </a:rPr>
                        <a:t>SUM on a filtered list</a:t>
                      </a:r>
                    </a:p>
                  </a:txBody>
                  <a:tcPr marL="101600" marR="101600" marT="38100" marB="38100" anchor="ctr">
                    <a:solidFill>
                      <a:srgbClr val="FFFFFF"/>
                    </a:solidFill>
                  </a:tcPr>
                </a:tc>
                <a:tc>
                  <a:txBody>
                    <a:bodyPr/>
                    <a:lstStyle/>
                    <a:p>
                      <a:r>
                        <a:rPr sz="1400" b="0" i="0">
                          <a:solidFill>
                            <a:srgbClr val="1A1440"/>
                          </a:solidFill>
                          <a:latin typeface="Calibri"/>
                        </a:rPr>
                        <a:t>a budget 4.6 times too big</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4" name="Oval 13"/>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numbers were wrong?</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0" name="Oval 19"/>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part does the release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tree and the card tie; the list comes from a different export. If that export does not tie, what does the Checks tab hold?</a:t>
            </a:r>
          </a:p>
        </p:txBody>
      </p:sp>
      <p:pic>
        <p:nvPicPr>
          <p:cNvPr id="9" name="mermaid diagram" descr="d248a8f9a2fa2501.png"/>
          <p:cNvPicPr>
            <a:picLocks noChangeAspect="1"/>
          </p:cNvPicPr>
          <p:nvPr/>
        </p:nvPicPr>
        <p:blipFill>
          <a:blip r:embed="rId5"/>
          <a:stretch>
            <a:fillRect/>
          </a:stretch>
        </p:blipFill>
        <p:spPr>
          <a:xfrm>
            <a:off x="3474091" y="1682496"/>
            <a:ext cx="5243512" cy="3643312"/>
          </a:xfrm>
          <a:prstGeom prst="rect">
            <a:avLst/>
          </a:prstGeom>
        </p:spPr>
      </p:pic>
      <p:sp>
        <p:nvSpPr>
          <p:cNvPr id="10" name="Rounded Rectangle 9"/>
          <p:cNvSpPr/>
          <p:nvPr/>
        </p:nvSpPr>
        <p:spPr>
          <a:xfrm>
            <a:off x="530352" y="547211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60012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590984"/>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part does the Checks tab hold, as a letter?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numbers were wrong?</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protect list, until its source ties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to the data platform lead, and what does the chief of staff hear?</a:t>
            </a:r>
          </a:p>
        </p:txBody>
      </p:sp>
      <p:pic>
        <p:nvPicPr>
          <p:cNvPr id="9" name="mermaid diagram" descr="bf26c508d5e45704.png"/>
          <p:cNvPicPr>
            <a:picLocks noChangeAspect="1"/>
          </p:cNvPicPr>
          <p:nvPr/>
        </p:nvPicPr>
        <p:blipFill>
          <a:blip r:embed="rId5"/>
          <a:stretch>
            <a:fillRect/>
          </a:stretch>
        </p:blipFill>
        <p:spPr>
          <a:xfrm>
            <a:off x="3338360" y="1956816"/>
            <a:ext cx="5514975" cy="1800225"/>
          </a:xfrm>
          <a:prstGeom prst="rect">
            <a:avLst/>
          </a:prstGeom>
        </p:spPr>
      </p:pic>
      <p:sp>
        <p:nvSpPr>
          <p:cNvPr id="10" name="TextBox 9"/>
          <p:cNvSpPr txBox="1"/>
          <p:nvPr/>
        </p:nvSpPr>
        <p:spPr>
          <a:xfrm>
            <a:off x="530352" y="39033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 list built on a table that does not tie waits, with a note to the data platform lead that names the gap and asks for the export to be rerun. Option d is the afternoon's trap: formulas recalculating is not the same as numbers being right.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does five lakh go?</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A director wants five lakh typed into the source; can the sheet show that number and still be the one Finance signs? Pairs defend the rule, then swap.</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by saying yes to the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director ask, in the room, with the sheet on the projector?</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"Retail-Plus will be back at five lakh next quarter; I have spoken to the team. Type five lakh into Q2 so the card stops frightening people, and fix the source later."</a:t>
            </a:r>
          </a:p>
          <a:p>
            <a:pPr>
              <a:spcBef>
                <a:spcPts val="400"/>
              </a:spcBef>
            </a:pPr>
            <a:r>
              <a:rPr sz="1000" b="0" i="0">
                <a:solidFill>
                  <a:srgbClr val="6B6690"/>
                </a:solidFill>
                <a:latin typeface="Calibri"/>
              </a:rPr>
              <a:t>A director of Kalpa Retail</a:t>
            </a:r>
          </a:p>
        </p:txBody>
      </p:sp>
      <p:sp>
        <p:nvSpPr>
          <p:cNvPr id="11" name="Rounded Rectangle 10"/>
          <p:cNvSpPr/>
          <p:nvPr/>
        </p:nvSpPr>
        <p:spPr>
          <a:xfrm>
            <a:off x="530352" y="3129280"/>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33319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essage-square_028dbd132a0a.png"/>
          <p:cNvPicPr>
            <a:picLocks noChangeAspect="1"/>
          </p:cNvPicPr>
          <p:nvPr/>
        </p:nvPicPr>
        <p:blipFill>
          <a:blip r:embed="rId4"/>
          <a:stretch>
            <a:fillRect/>
          </a:stretch>
        </p:blipFill>
        <p:spPr>
          <a:xfrm>
            <a:off x="868680" y="3441700"/>
            <a:ext cx="237744" cy="237744"/>
          </a:xfrm>
          <a:prstGeom prst="rect">
            <a:avLst/>
          </a:prstGeom>
        </p:spPr>
      </p:pic>
      <p:sp>
        <p:nvSpPr>
          <p:cNvPr id="14" name="TextBox 13"/>
          <p:cNvSpPr txBox="1"/>
          <p:nvPr/>
        </p:nvSpPr>
        <p:spPr>
          <a:xfrm>
            <a:off x="1399031" y="3275584"/>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5" name="TextBox 14"/>
          <p:cNvSpPr txBox="1"/>
          <p:nvPr/>
        </p:nvSpPr>
        <p:spPr>
          <a:xfrm>
            <a:off x="1399031" y="3495040"/>
            <a:ext cx="9987991" cy="423672"/>
          </a:xfrm>
          <a:prstGeom prst="rect">
            <a:avLst/>
          </a:prstGeom>
          <a:noFill/>
        </p:spPr>
        <p:txBody>
          <a:bodyPr wrap="square" anchor="t" lIns="0" rIns="0" tIns="0" bIns="0">
            <a:spAutoFit/>
          </a:bodyPr>
          <a:lstStyle/>
          <a:p>
            <a:r>
              <a:rPr sz="1500" b="0" i="0">
                <a:solidFill>
                  <a:srgbClr val="FFFFFF"/>
                </a:solidFill>
                <a:latin typeface="Calibri"/>
              </a:rPr>
              <a:t>Can the sheet show what the director expects, and still be the number Finance signs?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0" name="Oval 1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2" name="Oval 2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Where does five lakh go?</a:t>
            </a:r>
          </a:p>
        </p:txBody>
      </p:sp>
      <p:sp>
        <p:nvSpPr>
          <p:cNvPr id="24" name="Oval 2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6" name="Oval 25"/>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typed-over cell moves the card, leaving no trace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card show after the edit, and what happens on Monday's refresh?</a:t>
            </a:r>
          </a:p>
        </p:txBody>
      </p:sp>
      <p:pic>
        <p:nvPicPr>
          <p:cNvPr id="9" name="mermaid diagram" descr="fe8bcebd325752f9.png"/>
          <p:cNvPicPr>
            <a:picLocks noChangeAspect="1"/>
          </p:cNvPicPr>
          <p:nvPr/>
        </p:nvPicPr>
        <p:blipFill>
          <a:blip r:embed="rId5"/>
          <a:stretch>
            <a:fillRect/>
          </a:stretch>
        </p:blipFill>
        <p:spPr>
          <a:xfrm>
            <a:off x="1788166" y="1956816"/>
            <a:ext cx="8615362" cy="1800225"/>
          </a:xfrm>
          <a:prstGeom prst="rect">
            <a:avLst/>
          </a:prstGeom>
        </p:spPr>
      </p:pic>
      <p:sp>
        <p:nvSpPr>
          <p:cNvPr id="10" name="TextBox 9"/>
          <p:cNvSpPr txBox="1"/>
          <p:nvPr/>
        </p:nvSpPr>
        <p:spPr>
          <a:xfrm>
            <a:off x="530352" y="39033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For a week the deck says Retail-Plus fell 14.6 percent while Finance's books say 29.4. The sheet's Q2 total drifts Rs 86,620 from the warehouse's Rs 9,84,00,000; then the refresh restores the export, and nobody can say why the two differed.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does "five lakh" belong in the sheet?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question is legitimate; the edit is not. Where does the director's number go?</a:t>
            </a:r>
          </a:p>
        </p:txBody>
      </p:sp>
      <p:pic>
        <p:nvPicPr>
          <p:cNvPr id="9" name="mermaid diagram" descr="d54ae14364966769.png"/>
          <p:cNvPicPr>
            <a:picLocks noChangeAspect="1"/>
          </p:cNvPicPr>
          <p:nvPr/>
        </p:nvPicPr>
        <p:blipFill>
          <a:blip r:embed="rId5"/>
          <a:stretch>
            <a:fillRect/>
          </a:stretch>
        </p:blipFill>
        <p:spPr>
          <a:xfrm>
            <a:off x="3002603" y="1956816"/>
            <a:ext cx="6186487" cy="3143250"/>
          </a:xfrm>
          <a:prstGeom prst="rect">
            <a:avLst/>
          </a:prstGeom>
        </p:spPr>
      </p:pic>
      <p:sp>
        <p:nvSpPr>
          <p:cNvPr id="10" name="Rounded Rectangle 9"/>
          <p:cNvSpPr/>
          <p:nvPr/>
        </p:nvSpPr>
        <p:spPr>
          <a:xfrm>
            <a:off x="530352" y="524637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7438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6524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Where does it belong, as a letter?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Where does five lakh go?</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labelled input beside the source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card show, and what does each line come from?</a:t>
            </a:r>
          </a:p>
        </p:txBody>
      </p:sp>
      <p:graphicFrame>
        <p:nvGraphicFramePr>
          <p:cNvPr id="9" name="Table 8"/>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3259998"/>
                <a:gridCol w="3326777"/>
                <a:gridCol w="4544215"/>
              </a:tblGrid>
              <a:tr h="369824">
                <a:tc>
                  <a:txBody>
                    <a:bodyPr/>
                    <a:lstStyle/>
                    <a:p>
                      <a:r>
                        <a:rPr sz="1450" b="1" i="0">
                          <a:solidFill>
                            <a:srgbClr val="FFFFFF"/>
                          </a:solidFill>
                          <a:latin typeface="Calibri"/>
                        </a:rPr>
                        <a:t>Line on the card</a:t>
                      </a:r>
                    </a:p>
                  </a:txBody>
                  <a:tcPr marL="101600" marR="101600" marT="38100" marB="38100" anchor="ctr">
                    <a:solidFill>
                      <a:srgbClr val="1A0F5C"/>
                    </a:solidFill>
                  </a:tcPr>
                </a:tc>
                <a:tc>
                  <a:txBody>
                    <a:bodyPr/>
                    <a:lstStyle/>
                    <a:p>
                      <a:r>
                        <a:rPr sz="1450" b="1" i="0">
                          <a:solidFill>
                            <a:srgbClr val="FFFFFF"/>
                          </a:solidFill>
                          <a:latin typeface="Calibri"/>
                        </a:rPr>
                        <a:t>Retail-Plus, Q2 on Q1</a:t>
                      </a:r>
                    </a:p>
                  </a:txBody>
                  <a:tcPr marL="101600" marR="101600" marT="38100" marB="38100" anchor="ctr">
                    <a:solidFill>
                      <a:srgbClr val="1A0F5C"/>
                    </a:solidFill>
                  </a:tcPr>
                </a:tc>
                <a:tc>
                  <a:txBody>
                    <a:bodyPr/>
                    <a:lstStyle/>
                    <a:p>
                      <a:r>
                        <a:rPr sz="1450" b="1" i="0">
                          <a:solidFill>
                            <a:srgbClr val="FFFFFF"/>
                          </a:solidFill>
                          <a:latin typeface="Calibri"/>
                        </a:rPr>
                        <a:t>Where it comes from</a:t>
                      </a:r>
                    </a:p>
                  </a:txBody>
                  <a:tcPr marL="101600" marR="101600" marT="38100" marB="38100" anchor="ctr">
                    <a:solidFill>
                      <a:srgbClr val="1A0F5C"/>
                    </a:solidFill>
                  </a:tcPr>
                </a:tc>
              </a:tr>
              <a:tr h="369824">
                <a:tc>
                  <a:txBody>
                    <a:bodyPr/>
                    <a:lstStyle/>
                    <a:p>
                      <a:r>
                        <a:rPr sz="1400" b="0" i="0">
                          <a:solidFill>
                            <a:srgbClr val="1A1440"/>
                          </a:solidFill>
                          <a:latin typeface="Calibri"/>
                        </a:rPr>
                        <a:t>Actual</a:t>
                      </a:r>
                    </a:p>
                  </a:txBody>
                  <a:tcPr marL="101600" marR="101600" marT="38100" marB="38100" anchor="ctr">
                    <a:solidFill>
                      <a:srgbClr val="FFFFFF"/>
                    </a:solidFill>
                  </a:tcPr>
                </a:tc>
                <a:tc>
                  <a:txBody>
                    <a:bodyPr/>
                    <a:lstStyle/>
                    <a:p>
                      <a:r>
                        <a:rPr sz="1400" b="0" i="0">
                          <a:solidFill>
                            <a:srgbClr val="1A1440"/>
                          </a:solidFill>
                          <a:latin typeface="Calibri"/>
                        </a:rPr>
                        <a:t>-29.4%</a:t>
                      </a:r>
                    </a:p>
                  </a:txBody>
                  <a:tcPr marL="101600" marR="101600" marT="38100" marB="38100" anchor="ctr">
                    <a:solidFill>
                      <a:srgbClr val="FFFFFF"/>
                    </a:solidFill>
                  </a:tcPr>
                </a:tc>
                <a:tc>
                  <a:txBody>
                    <a:bodyPr/>
                    <a:lstStyle/>
                    <a:p>
                      <a:r>
                        <a:rPr sz="1400" b="0" i="0">
                          <a:solidFill>
                            <a:srgbClr val="1A1440"/>
                          </a:solidFill>
                          <a:latin typeface="Calibri"/>
                        </a:rPr>
                        <a:t>the export, tied to the warehouse</a:t>
                      </a:r>
                    </a:p>
                  </a:txBody>
                  <a:tcPr marL="101600" marR="101600" marT="38100" marB="38100" anchor="ctr">
                    <a:solidFill>
                      <a:srgbClr val="FFFFFF"/>
                    </a:solidFill>
                  </a:tcPr>
                </a:tc>
              </a:tr>
              <a:tr h="369824">
                <a:tc>
                  <a:txBody>
                    <a:bodyPr/>
                    <a:lstStyle/>
                    <a:p>
                      <a:r>
                        <a:rPr sz="1400" b="0" i="0">
                          <a:solidFill>
                            <a:srgbClr val="1A1440"/>
                          </a:solidFill>
                          <a:latin typeface="Calibri"/>
                        </a:rPr>
                        <a:t>The director's scenario</a:t>
                      </a:r>
                    </a:p>
                  </a:txBody>
                  <a:tcPr marL="101600" marR="101600" marT="38100" marB="38100" anchor="ctr">
                    <a:solidFill>
                      <a:srgbClr val="F4F2FA"/>
                    </a:solidFill>
                  </a:tcPr>
                </a:tc>
                <a:tc>
                  <a:txBody>
                    <a:bodyPr/>
                    <a:lstStyle/>
                    <a:p>
                      <a:r>
                        <a:rPr sz="1400" b="0" i="0">
                          <a:solidFill>
                            <a:srgbClr val="1A1440"/>
                          </a:solidFill>
                          <a:latin typeface="Calibri"/>
                        </a:rPr>
                        <a:t>-14.6%</a:t>
                      </a:r>
                    </a:p>
                  </a:txBody>
                  <a:tcPr marL="101600" marR="101600" marT="38100" marB="38100" anchor="ctr">
                    <a:solidFill>
                      <a:srgbClr val="F4F2FA"/>
                    </a:solidFill>
                  </a:tcPr>
                </a:tc>
                <a:tc>
                  <a:txBody>
                    <a:bodyPr/>
                    <a:lstStyle/>
                    <a:p>
                      <a:r>
                        <a:rPr sz="1400" b="0" i="0">
                          <a:solidFill>
                            <a:srgbClr val="1A1440"/>
                          </a:solidFill>
                          <a:latin typeface="Calibri"/>
                        </a:rPr>
                        <a:t>a yellow input of Rs 5,00,000</a:t>
                      </a:r>
                    </a:p>
                  </a:txBody>
                  <a:tcPr marL="101600" marR="101600" marT="38100" marB="38100" anchor="ctr">
                    <a:solidFill>
                      <a:srgbClr val="F4F2FA"/>
                    </a:solidFill>
                  </a:tcPr>
                </a:tc>
              </a:tr>
            </a:tbl>
          </a:graphicData>
        </a:graphic>
      </p:graphicFrame>
      <p:sp>
        <p:nvSpPr>
          <p:cNvPr id="10" name="TextBox 9"/>
          <p:cNvSpPr txBox="1"/>
          <p:nvPr/>
        </p:nvSpPr>
        <p:spPr>
          <a:xfrm>
            <a:off x="530352" y="33223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director gets the number to discuss, the card keeps the number Finance signs, and both carry their labels. Option d is how a team ends up with directors typing over cells anyway; option c edits the source of truth.</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Yes to the question, no to the edit, and a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one partner say to the director?</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Yes to the question</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I will show five lakh as your scenario, beside the actual.</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No to the edit</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actual comes from the export Finance ties to; typing over it breaks that tie.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The check</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Every refresh ties the sheet back to the warehouse, so a drift shows the same day.</a:t>
            </a:r>
          </a:p>
        </p:txBody>
      </p:sp>
      <p:sp>
        <p:nvSpPr>
          <p:cNvPr id="25" name="Rounded Rectangle 24"/>
          <p:cNvSpPr/>
          <p:nvPr/>
        </p:nvSpPr>
        <p:spPr>
          <a:xfrm>
            <a:off x="530352" y="41036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430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mic_caee7398c80d.png"/>
          <p:cNvPicPr>
            <a:picLocks noChangeAspect="1"/>
          </p:cNvPicPr>
          <p:nvPr/>
        </p:nvPicPr>
        <p:blipFill>
          <a:blip r:embed="rId4"/>
          <a:stretch>
            <a:fillRect/>
          </a:stretch>
        </p:blipFill>
        <p:spPr>
          <a:xfrm>
            <a:off x="868680" y="4416044"/>
            <a:ext cx="237744" cy="237744"/>
          </a:xfrm>
          <a:prstGeom prst="rect">
            <a:avLst/>
          </a:prstGeom>
        </p:spPr>
      </p:pic>
      <p:sp>
        <p:nvSpPr>
          <p:cNvPr id="28" name="TextBox 27"/>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9" name="TextBox 28"/>
          <p:cNvSpPr txBox="1"/>
          <p:nvPr/>
        </p:nvSpPr>
        <p:spPr>
          <a:xfrm>
            <a:off x="1399031" y="4469384"/>
            <a:ext cx="9987991" cy="423672"/>
          </a:xfrm>
          <a:prstGeom prst="rect">
            <a:avLst/>
          </a:prstGeom>
          <a:noFill/>
        </p:spPr>
        <p:txBody>
          <a:bodyPr wrap="square" anchor="t" lIns="0" rIns="0" tIns="0" bIns="0">
            <a:spAutoFit/>
          </a:bodyPr>
          <a:lstStyle/>
          <a:p>
            <a:r>
              <a:rPr sz="1500" b="0" i="0">
                <a:solidFill>
                  <a:srgbClr val="1A1440"/>
                </a:solidFill>
                <a:latin typeface="Calibri"/>
              </a:rPr>
              <a:t>[D] A director wants to type over the source in the room; what do you say, and what do you build?</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32" name="Oval 3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34" name="Oval 3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36" name="Oval 35"/>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Where does five lakh go?</a:t>
            </a:r>
          </a:p>
        </p:txBody>
      </p:sp>
      <p:sp>
        <p:nvSpPr>
          <p:cNvPr id="38" name="Oval 3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40" name="Oval 39"/>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say it aloud?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Can you answer twelve screen questions aloud, each in under a minute?</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row's five first, then seven follow-ups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questions does a screen ask, and with which tags?</a:t>
            </a:r>
          </a:p>
        </p:txBody>
      </p:sp>
      <p:graphicFrame>
        <p:nvGraphicFramePr>
          <p:cNvPr id="9" name="Table 8"/>
          <p:cNvGraphicFramePr>
            <a:graphicFrameLocks noGrp="1"/>
          </p:cNvGraphicFramePr>
          <p:nvPr/>
        </p:nvGraphicFramePr>
        <p:xfrm>
          <a:off x="530352" y="1874012"/>
          <a:ext cx="11130991" cy="4134104"/>
        </p:xfrm>
        <a:graphic>
          <a:graphicData uri="http://schemas.openxmlformats.org/drawingml/2006/table">
            <a:tbl>
              <a:tblPr firstRow="0" bandRow="0">
                <a:tableStyleId>{2D5ABB26-0587-4C30-8999-92F81FD0307C}</a:tableStyleId>
              </a:tblPr>
              <a:tblGrid>
                <a:gridCol w="914400"/>
                <a:gridCol w="10216591"/>
              </a:tblGrid>
              <a:tr h="318008">
                <a:tc>
                  <a:txBody>
                    <a:bodyPr/>
                    <a:lstStyle/>
                    <a:p>
                      <a:r>
                        <a:rPr sz="1150" b="1" i="0">
                          <a:solidFill>
                            <a:srgbClr val="FFFFFF"/>
                          </a:solidFill>
                          <a:latin typeface="Calibri"/>
                        </a:rPr>
                        <a:t>Tag</a:t>
                      </a:r>
                    </a:p>
                  </a:txBody>
                  <a:tcPr marL="101600" marR="101600" marT="38100" marB="38100" anchor="ctr">
                    <a:solidFill>
                      <a:srgbClr val="1A0F5C"/>
                    </a:solidFill>
                  </a:tcPr>
                </a:tc>
                <a:tc>
                  <a:txBody>
                    <a:bodyPr/>
                    <a:lstStyle/>
                    <a:p>
                      <a:r>
                        <a:rPr sz="1150" b="1" i="0">
                          <a:solidFill>
                            <a:srgbClr val="FFFFFF"/>
                          </a:solidFill>
                          <a:latin typeface="Calibri"/>
                        </a:rPr>
                        <a:t>Question</a:t>
                      </a:r>
                    </a:p>
                  </a:txBody>
                  <a:tcPr marL="101600" marR="101600" marT="38100" marB="38100" anchor="ctr">
                    <a:solidFill>
                      <a:srgbClr val="1A0F5C"/>
                    </a:solidFill>
                  </a:tcPr>
                </a:tc>
              </a:tr>
              <a:tr h="318008">
                <a:tc>
                  <a:txBody>
                    <a:bodyPr/>
                    <a:lstStyle/>
                    <a:p>
                      <a:r>
                        <a:rPr sz="1100" b="0" i="0">
                          <a:solidFill>
                            <a:srgbClr val="1A1440"/>
                          </a:solidFill>
                          <a:latin typeface="Calibri"/>
                        </a:rPr>
                        <a:t>[S]</a:t>
                      </a:r>
                    </a:p>
                  </a:txBody>
                  <a:tcPr marL="101600" marR="101600" marT="38100" marB="38100" anchor="ctr">
                    <a:solidFill>
                      <a:srgbClr val="FFFFFF"/>
                    </a:solidFill>
                  </a:tcPr>
                </a:tc>
                <a:tc>
                  <a:txBody>
                    <a:bodyPr/>
                    <a:lstStyle/>
                    <a:p>
                      <a:r>
                        <a:rPr sz="1100" b="0" i="0">
                          <a:solidFill>
                            <a:srgbClr val="1A1440"/>
                          </a:solidFill>
                          <a:latin typeface="Calibri"/>
                        </a:rPr>
                        <a:t>SQL, pandas or Excel: how do you choose?</a:t>
                      </a:r>
                    </a:p>
                  </a:txBody>
                  <a:tcPr marL="101600" marR="101600" marT="38100" marB="38100" anchor="ctr">
                    <a:solidFill>
                      <a:srgbClr val="FFFFFF"/>
                    </a:solidFill>
                  </a:tcPr>
                </a:tc>
              </a:tr>
              <a:tr h="318008">
                <a:tc>
                  <a:txBody>
                    <a:bodyPr/>
                    <a:lstStyle/>
                    <a:p>
                      <a:r>
                        <a:rPr sz="1100" b="0" i="0">
                          <a:solidFill>
                            <a:srgbClr val="1A1440"/>
                          </a:solidFill>
                          <a:latin typeface="Calibri"/>
                        </a:rPr>
                        <a:t>[S]</a:t>
                      </a:r>
                    </a:p>
                  </a:txBody>
                  <a:tcPr marL="101600" marR="101600" marT="38100" marB="38100" anchor="ctr">
                    <a:solidFill>
                      <a:srgbClr val="F4F2FA"/>
                    </a:solidFill>
                  </a:tcPr>
                </a:tc>
                <a:tc>
                  <a:txBody>
                    <a:bodyPr/>
                    <a:lstStyle/>
                    <a:p>
                      <a:r>
                        <a:rPr sz="1100" b="0" i="0">
                          <a:solidFill>
                            <a:srgbClr val="1A1440"/>
                          </a:solidFill>
                          <a:latin typeface="Calibri"/>
                        </a:rPr>
                        <a:t>A stakeholder wants to poke the numbers; what do you give them and never give them?</a:t>
                      </a:r>
                    </a:p>
                  </a:txBody>
                  <a:tcPr marL="101600" marR="101600" marT="38100" marB="38100" anchor="ctr">
                    <a:solidFill>
                      <a:srgbClr val="F4F2FA"/>
                    </a:solidFill>
                  </a:tcPr>
                </a:tc>
              </a:tr>
              <a:tr h="318008">
                <a:tc>
                  <a:txBody>
                    <a:bodyPr/>
                    <a:lstStyle/>
                    <a:p>
                      <a:r>
                        <a:rPr sz="1100" b="0" i="0">
                          <a:solidFill>
                            <a:srgbClr val="1A1440"/>
                          </a:solidFill>
                          <a:latin typeface="Calibri"/>
                        </a:rPr>
                        <a:t>[F]</a:t>
                      </a:r>
                    </a:p>
                  </a:txBody>
                  <a:tcPr marL="101600" marR="101600" marT="38100" marB="38100" anchor="ctr">
                    <a:solidFill>
                      <a:srgbClr val="FFFFFF"/>
                    </a:solidFill>
                  </a:tcPr>
                </a:tc>
                <a:tc>
                  <a:txBody>
                    <a:bodyPr/>
                    <a:lstStyle/>
                    <a:p>
                      <a:r>
                        <a:rPr sz="1100" b="0" i="0">
                          <a:solidFill>
                            <a:srgbClr val="1A1440"/>
                          </a:solidFill>
                          <a:latin typeface="Calibri"/>
                        </a:rPr>
                        <a:t>Your pivot shows a different total from the warehouse; where do you look first?</a:t>
                      </a:r>
                    </a:p>
                  </a:txBody>
                  <a:tcPr marL="101600" marR="101600" marT="38100" marB="38100" anchor="ctr">
                    <a:solidFill>
                      <a:srgbClr val="FFFFFF"/>
                    </a:solidFill>
                  </a:tcPr>
                </a:tc>
              </a:tr>
              <a:tr h="318008">
                <a:tc>
                  <a:txBody>
                    <a:bodyPr/>
                    <a:lstStyle/>
                    <a:p>
                      <a:r>
                        <a:rPr sz="1100" b="0" i="0">
                          <a:solidFill>
                            <a:srgbClr val="1A1440"/>
                          </a:solidFill>
                          <a:latin typeface="Calibri"/>
                        </a:rPr>
                        <a:t>[F]</a:t>
                      </a:r>
                    </a:p>
                  </a:txBody>
                  <a:tcPr marL="101600" marR="101600" marT="38100" marB="38100" anchor="ctr">
                    <a:solidFill>
                      <a:srgbClr val="F4F2FA"/>
                    </a:solidFill>
                  </a:tcPr>
                </a:tc>
                <a:tc>
                  <a:txBody>
                    <a:bodyPr/>
                    <a:lstStyle/>
                    <a:p>
                      <a:r>
                        <a:rPr sz="1100" b="0" i="0">
                          <a:solidFill>
                            <a:srgbClr val="1A1440"/>
                          </a:solidFill>
                          <a:latin typeface="Calibri"/>
                        </a:rPr>
                        <a:t>How do you present one number so it is not misread?</a:t>
                      </a:r>
                    </a:p>
                  </a:txBody>
                  <a:tcPr marL="101600" marR="101600" marT="38100" marB="38100" anchor="ctr">
                    <a:solidFill>
                      <a:srgbClr val="F4F2FA"/>
                    </a:solidFill>
                  </a:tcPr>
                </a:tc>
              </a:tr>
              <a:tr h="318008">
                <a:tc>
                  <a:txBody>
                    <a:bodyPr/>
                    <a:lstStyle/>
                    <a:p>
                      <a:r>
                        <a:rPr sz="1100" b="0" i="0">
                          <a:solidFill>
                            <a:srgbClr val="1A1440"/>
                          </a:solidFill>
                          <a:latin typeface="Calibri"/>
                        </a:rPr>
                        <a:t>[D]</a:t>
                      </a:r>
                    </a:p>
                  </a:txBody>
                  <a:tcPr marL="101600" marR="101600" marT="38100" marB="38100" anchor="ctr">
                    <a:solidFill>
                      <a:srgbClr val="FFFFFF"/>
                    </a:solidFill>
                  </a:tcPr>
                </a:tc>
                <a:tc>
                  <a:txBody>
                    <a:bodyPr/>
                    <a:lstStyle/>
                    <a:p>
                      <a:r>
                        <a:rPr sz="1100" b="0" i="0">
                          <a:solidFill>
                            <a:srgbClr val="1A1440"/>
                          </a:solidFill>
                          <a:latin typeface="Calibri"/>
                        </a:rPr>
                        <a:t>Two directors change assumptions and the sheet recalculates differently; what did you get right, what do you fix?</a:t>
                      </a:r>
                    </a:p>
                  </a:txBody>
                  <a:tcPr marL="101600" marR="101600" marT="38100" marB="38100" anchor="ctr">
                    <a:solidFill>
                      <a:srgbClr val="FFFFFF"/>
                    </a:solidFill>
                  </a:tcPr>
                </a:tc>
              </a:tr>
              <a:tr h="318008">
                <a:tc>
                  <a:txBody>
                    <a:bodyPr/>
                    <a:lstStyle/>
                    <a:p>
                      <a:r>
                        <a:rPr sz="1100" b="0" i="0">
                          <a:solidFill>
                            <a:srgbClr val="1A1440"/>
                          </a:solidFill>
                          <a:latin typeface="Calibri"/>
                        </a:rPr>
                        <a:t>[D]</a:t>
                      </a:r>
                    </a:p>
                  </a:txBody>
                  <a:tcPr marL="101600" marR="101600" marT="38100" marB="38100" anchor="ctr">
                    <a:solidFill>
                      <a:srgbClr val="F4F2FA"/>
                    </a:solidFill>
                  </a:tcPr>
                </a:tc>
                <a:tc>
                  <a:txBody>
                    <a:bodyPr/>
                    <a:lstStyle/>
                    <a:p>
                      <a:r>
                        <a:rPr sz="1100" b="0" i="0">
                          <a:solidFill>
                            <a:srgbClr val="1A1440"/>
                          </a:solidFill>
                          <a:latin typeface="Calibri"/>
                        </a:rPr>
                        <a:t>A leaf of your tree does not multiply back; what happened?</a:t>
                      </a:r>
                    </a:p>
                  </a:txBody>
                  <a:tcPr marL="101600" marR="101600" marT="38100" marB="38100" anchor="ctr">
                    <a:solidFill>
                      <a:srgbClr val="F4F2FA"/>
                    </a:solidFill>
                  </a:tcPr>
                </a:tc>
              </a:tr>
              <a:tr h="318008">
                <a:tc>
                  <a:txBody>
                    <a:bodyPr/>
                    <a:lstStyle/>
                    <a:p>
                      <a:r>
                        <a:rPr sz="1100" b="0" i="0">
                          <a:solidFill>
                            <a:srgbClr val="1A1440"/>
                          </a:solidFill>
                          <a:latin typeface="Calibri"/>
                        </a:rPr>
                        <a:t>[S]</a:t>
                      </a:r>
                    </a:p>
                  </a:txBody>
                  <a:tcPr marL="101600" marR="101600" marT="38100" marB="38100" anchor="ctr">
                    <a:solidFill>
                      <a:srgbClr val="FFFFFF"/>
                    </a:solidFill>
                  </a:tcPr>
                </a:tc>
                <a:tc>
                  <a:txBody>
                    <a:bodyPr/>
                    <a:lstStyle/>
                    <a:p>
                      <a:r>
                        <a:rPr sz="1100" b="0" i="0">
                          <a:solidFill>
                            <a:srgbClr val="1A1440"/>
                          </a:solidFill>
                          <a:latin typeface="Calibri"/>
                        </a:rPr>
                        <a:t>Why does Remove Duplicates not fix a payment-grain export?</a:t>
                      </a:r>
                    </a:p>
                  </a:txBody>
                  <a:tcPr marL="101600" marR="101600" marT="38100" marB="38100" anchor="ctr">
                    <a:solidFill>
                      <a:srgbClr val="FFFFFF"/>
                    </a:solidFill>
                  </a:tcPr>
                </a:tc>
              </a:tr>
              <a:tr h="318008">
                <a:tc>
                  <a:txBody>
                    <a:bodyPr/>
                    <a:lstStyle/>
                    <a:p>
                      <a:r>
                        <a:rPr sz="1100" b="0" i="0">
                          <a:solidFill>
                            <a:srgbClr val="1A1440"/>
                          </a:solidFill>
                          <a:latin typeface="Calibri"/>
                        </a:rPr>
                        <a:t>[D]</a:t>
                      </a:r>
                    </a:p>
                  </a:txBody>
                  <a:tcPr marL="101600" marR="101600" marT="38100" marB="38100" anchor="ctr">
                    <a:solidFill>
                      <a:srgbClr val="F4F2FA"/>
                    </a:solidFill>
                  </a:tcPr>
                </a:tc>
                <a:tc>
                  <a:txBody>
                    <a:bodyPr/>
                    <a:lstStyle/>
                    <a:p>
                      <a:r>
                        <a:rPr sz="1100" b="0" i="0">
                          <a:solidFill>
                            <a:srgbClr val="1A1440"/>
                          </a:solidFill>
                          <a:latin typeface="Calibri"/>
                        </a:rPr>
                        <a:t>The export grows a hundredfold; which formula do you replace?</a:t>
                      </a:r>
                    </a:p>
                  </a:txBody>
                  <a:tcPr marL="101600" marR="101600" marT="38100" marB="38100" anchor="ctr">
                    <a:solidFill>
                      <a:srgbClr val="F4F2FA"/>
                    </a:solidFill>
                  </a:tcPr>
                </a:tc>
              </a:tr>
              <a:tr h="318008">
                <a:tc>
                  <a:txBody>
                    <a:bodyPr/>
                    <a:lstStyle/>
                    <a:p>
                      <a:r>
                        <a:rPr sz="1100" b="0" i="0">
                          <a:solidFill>
                            <a:srgbClr val="1A1440"/>
                          </a:solidFill>
                          <a:latin typeface="Calibri"/>
                        </a:rPr>
                        <a:t>[F]</a:t>
                      </a:r>
                    </a:p>
                  </a:txBody>
                  <a:tcPr marL="101600" marR="101600" marT="38100" marB="38100" anchor="ctr">
                    <a:solidFill>
                      <a:srgbClr val="FFFFFF"/>
                    </a:solidFill>
                  </a:tcPr>
                </a:tc>
                <a:tc>
                  <a:txBody>
                    <a:bodyPr/>
                    <a:lstStyle/>
                    <a:p>
                      <a:r>
                        <a:rPr sz="1100" b="0" i="0">
                          <a:solidFill>
                            <a:srgbClr val="1A1440"/>
                          </a:solidFill>
                          <a:latin typeface="Calibri"/>
                        </a:rPr>
                        <a:t>A lookup returned a member for a missing id; which argument?</a:t>
                      </a:r>
                    </a:p>
                  </a:txBody>
                  <a:tcPr marL="101600" marR="101600" marT="38100" marB="38100" anchor="ctr">
                    <a:solidFill>
                      <a:srgbClr val="FFFFFF"/>
                    </a:solidFill>
                  </a:tcPr>
                </a:tc>
              </a:tr>
              <a:tr h="318008">
                <a:tc>
                  <a:txBody>
                    <a:bodyPr/>
                    <a:lstStyle/>
                    <a:p>
                      <a:r>
                        <a:rPr sz="1100" b="0" i="0">
                          <a:solidFill>
                            <a:srgbClr val="1A1440"/>
                          </a:solidFill>
                          <a:latin typeface="Calibri"/>
                        </a:rPr>
                        <a:t>[F]</a:t>
                      </a:r>
                    </a:p>
                  </a:txBody>
                  <a:tcPr marL="101600" marR="101600" marT="38100" marB="38100" anchor="ctr">
                    <a:solidFill>
                      <a:srgbClr val="F4F2FA"/>
                    </a:solidFill>
                  </a:tcPr>
                </a:tc>
                <a:tc>
                  <a:txBody>
                    <a:bodyPr/>
                    <a:lstStyle/>
                    <a:p>
                      <a:r>
                        <a:rPr sz="1100" b="0" i="0">
                          <a:solidFill>
                            <a:srgbClr val="1A1440"/>
                          </a:solidFill>
                          <a:latin typeface="Calibri"/>
                        </a:rPr>
                        <a:t>A lookup does a join and collected falls 40 percent; why?</a:t>
                      </a:r>
                    </a:p>
                  </a:txBody>
                  <a:tcPr marL="101600" marR="101600" marT="38100" marB="38100" anchor="ctr">
                    <a:solidFill>
                      <a:srgbClr val="F4F2FA"/>
                    </a:solidFill>
                  </a:tcPr>
                </a:tc>
              </a:tr>
              <a:tr h="318008">
                <a:tc>
                  <a:txBody>
                    <a:bodyPr/>
                    <a:lstStyle/>
                    <a:p>
                      <a:r>
                        <a:rPr sz="1100" b="0" i="0">
                          <a:solidFill>
                            <a:srgbClr val="1A1440"/>
                          </a:solidFill>
                          <a:latin typeface="Calibri"/>
                        </a:rPr>
                        <a:t>[F]</a:t>
                      </a:r>
                    </a:p>
                  </a:txBody>
                  <a:tcPr marL="101600" marR="101600" marT="38100" marB="38100" anchor="ctr">
                    <a:solidFill>
                      <a:srgbClr val="FFFFFF"/>
                    </a:solidFill>
                  </a:tcPr>
                </a:tc>
                <a:tc>
                  <a:txBody>
                    <a:bodyPr/>
                    <a:lstStyle/>
                    <a:p>
                      <a:r>
                        <a:rPr sz="1100" b="0" i="0">
                          <a:solidFill>
                            <a:srgbClr val="1A1440"/>
                          </a:solidFill>
                          <a:latin typeface="Calibri"/>
                        </a:rPr>
                        <a:t>You filter and the total does not move; what is the foot?</a:t>
                      </a:r>
                    </a:p>
                  </a:txBody>
                  <a:tcPr marL="101600" marR="101600" marT="38100" marB="38100" anchor="ctr">
                    <a:solidFill>
                      <a:srgbClr val="FFFFFF"/>
                    </a:solidFill>
                  </a:tcPr>
                </a:tc>
              </a:tr>
              <a:tr h="318008">
                <a:tc>
                  <a:txBody>
                    <a:bodyPr/>
                    <a:lstStyle/>
                    <a:p>
                      <a:r>
                        <a:rPr sz="1100" b="0" i="0">
                          <a:solidFill>
                            <a:srgbClr val="1A1440"/>
                          </a:solidFill>
                          <a:latin typeface="Calibri"/>
                        </a:rPr>
                        <a:t>[D]</a:t>
                      </a:r>
                    </a:p>
                  </a:txBody>
                  <a:tcPr marL="101600" marR="101600" marT="38100" marB="38100" anchor="ctr">
                    <a:solidFill>
                      <a:srgbClr val="F4F2FA"/>
                    </a:solidFill>
                  </a:tcPr>
                </a:tc>
                <a:tc>
                  <a:txBody>
                    <a:bodyPr/>
                    <a:lstStyle/>
                    <a:p>
                      <a:r>
                        <a:rPr sz="1100" b="0" i="0">
                          <a:solidFill>
                            <a:srgbClr val="1A1440"/>
                          </a:solidFill>
                          <a:latin typeface="Calibri"/>
                        </a:rPr>
                        <a:t>A director wants to type over the source; what do you say?</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8" name="Oval 1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say it aloud?</a:t>
            </a:r>
          </a:p>
        </p:txBody>
      </p:sp>
      <p:sp>
        <p:nvSpPr>
          <p:cNvPr id="20" name="Oval 19"/>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Mechanism, check, number, then the decision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into a one-minute answer?</a:t>
            </a:r>
          </a:p>
        </p:txBody>
      </p:sp>
      <p:pic>
        <p:nvPicPr>
          <p:cNvPr id="9" name="mermaid diagram" descr="b2aabb1846aeb5c2.png"/>
          <p:cNvPicPr>
            <a:picLocks noChangeAspect="1"/>
          </p:cNvPicPr>
          <p:nvPr/>
        </p:nvPicPr>
        <p:blipFill>
          <a:blip r:embed="rId5"/>
          <a:stretch>
            <a:fillRect/>
          </a:stretch>
        </p:blipFill>
        <p:spPr>
          <a:xfrm>
            <a:off x="1545278" y="1956816"/>
            <a:ext cx="9101137" cy="871537"/>
          </a:xfrm>
          <a:prstGeom prst="rect">
            <a:avLst/>
          </a:prstGeom>
        </p:spPr>
      </p:pic>
      <p:sp>
        <p:nvSpPr>
          <p:cNvPr id="10" name="TextBox 9"/>
          <p:cNvSpPr txBox="1"/>
          <p:nvPr/>
        </p:nvSpPr>
        <p:spPr>
          <a:xfrm>
            <a:off x="530352" y="2974657"/>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Sum adds one value per row; I count rows against order ids; here 1,450 rows held 1,000 orders and the pivot read Rs 39.41 crore; counting each order once gave the warehouse's Rs 19.84 crore, so the deck carries the right quarters."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ships on Monday?</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can the chief of staff trust on Monday? The sentence, the day's six lines, the Kahoot and tomorrow.</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what ties, what waits, and why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team send the chief of staff?</a:t>
            </a:r>
          </a:p>
        </p:txBody>
      </p:sp>
      <p:sp>
        <p:nvSpPr>
          <p:cNvPr id="9" name="Rounded Rectangle 8"/>
          <p:cNvSpPr/>
          <p:nvPr/>
        </p:nvSpPr>
        <p:spPr>
          <a:xfrm>
            <a:off x="530352" y="1956816"/>
            <a:ext cx="45720" cy="187959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879599"/>
          </a:xfrm>
          <a:prstGeom prst="rect">
            <a:avLst/>
          </a:prstGeom>
          <a:noFill/>
        </p:spPr>
        <p:txBody>
          <a:bodyPr wrap="square" anchor="t" lIns="0" rIns="0" tIns="0" bIns="0">
            <a:spAutoFit/>
          </a:bodyPr>
          <a:lstStyle/>
          <a:p>
            <a:r>
              <a:rPr sz="1600" b="0" i="1">
                <a:solidFill>
                  <a:srgbClr val="1A0F5C"/>
                </a:solidFill>
                <a:latin typeface="Georgia"/>
              </a:rPr>
              <a:t>"The tree and the front page tie to Finance: Q2, July to September 2026, Rs 9.84 crore, down 1.6 percent on Q1's Rs 10.00 crore. Business invoices carry most of the rupees; Retail-Plus fell 29.4 percent because members ordered less often. The protect list ships when the Checks tab says its source ties to the warehouse, and the release note says what it found. Change the yellow cells freely; never type over a number."</a:t>
            </a:r>
          </a:p>
          <a:p>
            <a:pPr>
              <a:spcBef>
                <a:spcPts val="400"/>
              </a:spcBef>
            </a:pPr>
            <a:r>
              <a:rPr sz="1000" b="0" i="0">
                <a:solidFill>
                  <a:srgbClr val="6B6690"/>
                </a:solidFill>
                <a:latin typeface="Calibri"/>
              </a:rPr>
              <a:t>The team, to Meera's chief of staff</a:t>
            </a:r>
          </a:p>
        </p:txBody>
      </p:sp>
      <p:pic>
        <p:nvPicPr>
          <p:cNvPr id="11" name="mermaid diagram" descr="4e2992764398c9ed.png"/>
          <p:cNvPicPr>
            <a:picLocks noChangeAspect="1"/>
          </p:cNvPicPr>
          <p:nvPr/>
        </p:nvPicPr>
        <p:blipFill>
          <a:blip r:embed="rId5"/>
          <a:stretch>
            <a:fillRect/>
          </a:stretch>
        </p:blipFill>
        <p:spPr>
          <a:xfrm>
            <a:off x="1509560" y="3982720"/>
            <a:ext cx="9172575" cy="871537"/>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2" name="Oval 21"/>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ships on Monday?</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six lines the day comes down to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six lines do the cheat sheet and the notes repeat word for word?</a:t>
            </a:r>
          </a:p>
        </p:txBody>
      </p:sp>
      <p:sp>
        <p:nvSpPr>
          <p:cNvPr id="9" name="TextBox 8"/>
          <p:cNvSpPr txBox="1"/>
          <p:nvPr/>
        </p:nvSpPr>
        <p:spPr>
          <a:xfrm>
            <a:off x="530352" y="1837944"/>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874520"/>
            <a:ext cx="10564063" cy="627888"/>
          </a:xfrm>
          <a:prstGeom prst="rect">
            <a:avLst/>
          </a:prstGeom>
          <a:noFill/>
        </p:spPr>
        <p:txBody>
          <a:bodyPr wrap="square" anchor="t" lIns="0" rIns="0" tIns="0" bIns="0">
            <a:spAutoFit/>
          </a:bodyPr>
          <a:lstStyle/>
          <a:p>
            <a:r>
              <a:rPr sz="1500" b="0" i="0">
                <a:solidFill>
                  <a:srgbClr val="1A1440"/>
                </a:solidFill>
                <a:latin typeface="Calibri"/>
              </a:rPr>
              <a:t>Every leaf of the tree is a ratio of the pivot's sums, and the tree multiplies back to its revenue before it goes on a page.</a:t>
            </a:r>
          </a:p>
        </p:txBody>
      </p:sp>
      <p:sp>
        <p:nvSpPr>
          <p:cNvPr id="11" name="TextBox 10"/>
          <p:cNvSpPr txBox="1"/>
          <p:nvPr/>
        </p:nvSpPr>
        <p:spPr>
          <a:xfrm>
            <a:off x="530352" y="2538984"/>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575560"/>
            <a:ext cx="10564063" cy="627888"/>
          </a:xfrm>
          <a:prstGeom prst="rect">
            <a:avLst/>
          </a:prstGeom>
          <a:noFill/>
        </p:spPr>
        <p:txBody>
          <a:bodyPr wrap="square" anchor="t" lIns="0" rIns="0" tIns="0" bIns="0">
            <a:spAutoFit/>
          </a:bodyPr>
          <a:lstStyle/>
          <a:p>
            <a:r>
              <a:rPr sz="1500" b="0" i="0">
                <a:solidFill>
                  <a:srgbClr val="1A1440"/>
                </a:solidFill>
                <a:latin typeface="Calibri"/>
              </a:rPr>
              <a:t>Say the grain before you pivot: count rows against keys, count each order once, and tie the total to the warehouse.</a:t>
            </a:r>
          </a:p>
        </p:txBody>
      </p:sp>
      <p:sp>
        <p:nvSpPr>
          <p:cNvPr id="13" name="TextBox 12"/>
          <p:cNvSpPr txBox="1"/>
          <p:nvPr/>
        </p:nvSpPr>
        <p:spPr>
          <a:xfrm>
            <a:off x="530352" y="3240024"/>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3276600"/>
            <a:ext cx="10564063" cy="627888"/>
          </a:xfrm>
          <a:prstGeom prst="rect">
            <a:avLst/>
          </a:prstGeom>
          <a:noFill/>
        </p:spPr>
        <p:txBody>
          <a:bodyPr wrap="square" anchor="t" lIns="0" rIns="0" tIns="0" bIns="0">
            <a:spAutoFit/>
          </a:bodyPr>
          <a:lstStyle/>
          <a:p>
            <a:r>
              <a:rPr sz="1500" b="0" i="0">
                <a:solidFill>
                  <a:srgbClr val="1A1440"/>
                </a:solidFill>
                <a:latin typeface="Calibri"/>
              </a:rPr>
              <a:t>A lookup that cannot find an id says so: an exact match with a not-found path, tested with an id you know is missing.</a:t>
            </a:r>
          </a:p>
        </p:txBody>
      </p:sp>
      <p:sp>
        <p:nvSpPr>
          <p:cNvPr id="15" name="TextBox 14"/>
          <p:cNvSpPr txBox="1"/>
          <p:nvPr/>
        </p:nvSpPr>
        <p:spPr>
          <a:xfrm>
            <a:off x="530352" y="3941064"/>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977640"/>
            <a:ext cx="10564063" cy="627888"/>
          </a:xfrm>
          <a:prstGeom prst="rect">
            <a:avLst/>
          </a:prstGeom>
          <a:noFill/>
        </p:spPr>
        <p:txBody>
          <a:bodyPr wrap="square" anchor="t" lIns="0" rIns="0" tIns="0" bIns="0">
            <a:spAutoFit/>
          </a:bodyPr>
          <a:lstStyle/>
          <a:p>
            <a:r>
              <a:rPr sz="1500" b="0" i="0">
                <a:solidFill>
                  <a:srgbClr val="1A1440"/>
                </a:solidFill>
                <a:latin typeface="Calibri"/>
              </a:rPr>
              <a:t>One number reaches the front page with its period, its comparison and its base, and every percentage carries its rupees.</a:t>
            </a:r>
          </a:p>
        </p:txBody>
      </p:sp>
      <p:sp>
        <p:nvSpPr>
          <p:cNvPr id="17" name="TextBox 16"/>
          <p:cNvSpPr txBox="1"/>
          <p:nvPr/>
        </p:nvSpPr>
        <p:spPr>
          <a:xfrm>
            <a:off x="530352" y="4642104"/>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8" name="TextBox 17"/>
          <p:cNvSpPr txBox="1"/>
          <p:nvPr/>
        </p:nvSpPr>
        <p:spPr>
          <a:xfrm>
            <a:off x="1097280" y="4678680"/>
            <a:ext cx="10564063" cy="627888"/>
          </a:xfrm>
          <a:prstGeom prst="rect">
            <a:avLst/>
          </a:prstGeom>
          <a:noFill/>
        </p:spPr>
        <p:txBody>
          <a:bodyPr wrap="square" anchor="t" lIns="0" rIns="0" tIns="0" bIns="0">
            <a:spAutoFit/>
          </a:bodyPr>
          <a:lstStyle/>
          <a:p>
            <a:r>
              <a:rPr sz="1500" b="0" i="0">
                <a:solidFill>
                  <a:srgbClr val="1A1440"/>
                </a:solidFill>
                <a:latin typeface="Calibri"/>
              </a:rPr>
              <a:t>The warehouse owns the number and every join, dedupe and rank; pandas owns the iteration; the workbook owns the last mile, and nobody types over the source.</a:t>
            </a:r>
          </a:p>
        </p:txBody>
      </p:sp>
      <p:sp>
        <p:nvSpPr>
          <p:cNvPr id="19" name="TextBox 18"/>
          <p:cNvSpPr txBox="1"/>
          <p:nvPr/>
        </p:nvSpPr>
        <p:spPr>
          <a:xfrm>
            <a:off x="530352" y="5343144"/>
            <a:ext cx="502920" cy="333756"/>
          </a:xfrm>
          <a:prstGeom prst="rect">
            <a:avLst/>
          </a:prstGeom>
          <a:noFill/>
        </p:spPr>
        <p:txBody>
          <a:bodyPr wrap="square" anchor="t" lIns="0" rIns="0" tIns="0" bIns="0">
            <a:spAutoFit/>
          </a:bodyPr>
          <a:lstStyle/>
          <a:p>
            <a:pPr algn="l"/>
            <a:r>
              <a:rPr sz="1800" b="0" i="0">
                <a:solidFill>
                  <a:srgbClr val="5B3FD6"/>
                </a:solidFill>
                <a:latin typeface="Georgia"/>
              </a:rPr>
              <a:t>06</a:t>
            </a:r>
          </a:p>
        </p:txBody>
      </p:sp>
      <p:sp>
        <p:nvSpPr>
          <p:cNvPr id="20" name="TextBox 19"/>
          <p:cNvSpPr txBox="1"/>
          <p:nvPr/>
        </p:nvSpPr>
        <p:spPr>
          <a:xfrm>
            <a:off x="1097280" y="5379720"/>
            <a:ext cx="10564063" cy="627888"/>
          </a:xfrm>
          <a:prstGeom prst="rect">
            <a:avLst/>
          </a:prstGeom>
          <a:noFill/>
        </p:spPr>
        <p:txBody>
          <a:bodyPr wrap="square" anchor="t" lIns="0" rIns="0" tIns="0" bIns="0">
            <a:spAutoFit/>
          </a:bodyPr>
          <a:lstStyle/>
          <a:p>
            <a:r>
              <a:rPr sz="1500" b="0" i="0">
                <a:solidFill>
                  <a:srgbClr val="1A1440"/>
                </a:solidFill>
                <a:latin typeface="Calibri"/>
              </a:rPr>
              <a:t>A director gets yellow inputs, formulas everywhere else, SUBTOTAL at every foot, and a Checks tab whose release holds whatever does not tie.</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23" name="Oval 2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5" name="Oval 2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7" name="Oval 2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9" name="Oval 2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1" name="Oval 30"/>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ships on Monday?</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items, one from Thursday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room still get wrong, fast?</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including Thursday's return question</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GRADES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a performance indicator only</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mermaid diagram" descr="eb5525876ecd60eb.png"/>
          <p:cNvPicPr>
            <a:picLocks noChangeAspect="1"/>
          </p:cNvPicPr>
          <p:nvPr/>
        </p:nvPicPr>
        <p:blipFill>
          <a:blip r:embed="rId5"/>
          <a:stretch>
            <a:fillRect/>
          </a:stretch>
        </p:blipFill>
        <p:spPr>
          <a:xfrm>
            <a:off x="3259778" y="3419856"/>
            <a:ext cx="5672137" cy="1128712"/>
          </a:xfrm>
          <a:prstGeom prst="rect">
            <a:avLst/>
          </a:prstGeom>
        </p:spPr>
      </p:pic>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2" name="Oval 21"/>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4" name="Oval 23"/>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6" name="Oval 25"/>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8" name="Oval 27"/>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ships on Monday?</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the paper; Monday, a new business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comes next, and which question is left open?</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en-line_3985a040f10f.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SATURDAY</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recap paper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Pen and paper, AI-free, two hours; bring a pen.</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lask-conical_7f5aa1048f78.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MONDAY</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Build 1, Kalpa Health</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US diagnostics and revenue-cycle business that grew 5 percent against a plan of 18.</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help_e970ab2886c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LEFT OPEN</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Monday's question</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What is an order, a customer and a payment there, and what does one row stand for?</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29" name="Oval 2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31" name="Oval 3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33" name="Oval 3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35" name="Oval 34"/>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7" name="Oval 36"/>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ships on Monday?</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