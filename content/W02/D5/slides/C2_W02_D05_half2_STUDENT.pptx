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one minute. The morning built the tree, the list, the card and the rule. The afternoon hands the</a:t>
            </a:r>
          </a:p>
          <a:p>
            <a:r>
              <a:t>workbook to a director: chapter 6, then the escalated case alone, the debrief of the room's wrong</a:t>
            </a:r>
          </a:p>
          <a:p>
            <a:r>
              <a:t>numbers, the director's edit in pairs, the interview drill, and the close.</a:t>
            </a:r>
          </a:p>
          <a:p>
            <a:r>
              <a:t>Transition: which of the six curriculum topics does chapter 6 finish after lunch?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morning taught chapters 1 to 5. Chapter 6 finishes the two dark topics: the</a:t>
            </a:r>
          </a:p>
          <a:p>
            <a:r>
              <a:t>customer table's filters, at the foot of a filtered list, and keeping the sheet and the source from</a:t>
            </a:r>
          </a:p>
          <a:p>
            <a:r>
              <a:t>drifting, on the Checks tab. The escalated case then practises all six, and the second case</a:t>
            </a:r>
          </a:p>
          <a:p>
            <a:r>
              <a:t>practises the last one.</a:t>
            </a:r>
          </a:p>
          <a:p>
            <a:r>
              <a:t>Transition: when a director takes the workbook in the room, what can they break, and which checks catch it before anyone reads a wrong number? The chief of staff's last condition rides on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thirty minutes, with notebook C2_W02_D05_06_director_proof beside it; the reference workbook,</a:t>
            </a:r>
          </a:p>
          <a:p>
            <a:r>
              <a:t>demos/C2_W02_D05_deck_pack_STUDENT.xlsx, open in Excel.</a:t>
            </a:r>
          </a:p>
          <a:p>
            <a:r>
              <a:t>Transition: who changes the workbook in the room, and which six questions make it safe to hand over?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The morning in one line: the tree ties to the warehouse's Rs 10.00 crore and Rs 9.84</a:t>
            </a:r>
          </a:p>
          <a:p>
            <a:r>
              <a:t>crore, the list of fifty runs from Rs 25,840 to Rs 8,580 with a lookup that says when an id is missing,</a:t>
            </a:r>
          </a:p>
          <a:p>
            <a:r>
              <a:t>the card carries its period, comparison and base, and the warehouse owns every join.</a:t>
            </a:r>
          </a:p>
          <a:p>
            <a:r>
              <a:t>Transition: what does a silent change in the room cost the head of Retail-Plus?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head of Retail-Plus sizes each city's retention budget from the list. Nothing in</a:t>
            </a:r>
          </a:p>
          <a:p>
            <a:r>
              <a:t>Excel turns red when a filter changes what a number at the foot of a list means.</a:t>
            </a:r>
          </a:p>
          <a:p>
            <a:r>
              <a:t>Transition: which real company paid for rows nobody could see?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Computerworld, 14 October 2008, checked 30 September 2026. A law firm reformatting a</a:t>
            </a:r>
          </a:p>
          <a:p>
            <a:r>
              <a:t>spreadsheet into a PDF for the court's website exposed hidden rows. Rows a person could not see still</a:t>
            </a:r>
          </a:p>
          <a:p>
            <a:r>
              <a:t>counted.</a:t>
            </a:r>
          </a:p>
          <a:p>
            <a:r>
              <a:t>Transition: how could the team protect the workbook, and what does each way cost?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The five actions: filter, sort, type over a cell, change an assumption, paste in a new</a:t>
            </a:r>
          </a:p>
          <a:p>
            <a:r>
              <a:t>export. Protection and the PDF fail the brief, since nothing recalculates.</a:t>
            </a:r>
          </a:p>
          <a:p>
            <a:r>
              <a:t>Transition: of the five things a director does, which change what a number means with nothing shown?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 minute. Letters first.</a:t>
            </a:r>
          </a:p>
          <a:p>
            <a:r>
              <a:t>Transition: what does each of the five do to the sheet?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next two steps take the filter, the step after them takes the input, and the</a:t>
            </a:r>
          </a:p>
          <a:p>
            <a:r>
              <a:t>second case after the break takes the typed-over cell.</a:t>
            </a:r>
          </a:p>
          <a:p>
            <a:r>
              <a:t>Transition: when a director filters the list to Mumbai, what does a foot of =SUM(E2:E51) read?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Filter it live in the reference workbook's Protect tab after switching its foot to SUM</a:t>
            </a:r>
          </a:p>
          <a:p>
            <a:r>
              <a:t>(the tab ships with SUBTOTAL). Letters before you read the foot aloud.</a:t>
            </a:r>
          </a:p>
          <a:p>
            <a:r>
              <a:t>Transition: what is the plausible wrong answer, and what budget would it size?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the foot aloud as if it were right, then ask how many members are on screen.</a:t>
            </a:r>
          </a:p>
          <a:p>
            <a:r>
              <a:t>Delhi carries Rs 2,21,150 on 16 members; Mumbai is the second-largest city on the list.</a:t>
            </a:r>
          </a:p>
          <a:p>
            <a:r>
              <a:t>Transition: what do SUBTOTAL(109) and SUBTOTAL(103) say, filtered or hidden by hand?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 LibreOffice 24.2.7.2, SUM over three rows with one hidden by hand gave 60 and</a:t>
            </a:r>
          </a:p>
          <a:p>
            <a:r>
              <a:t>SUBTOTAL(109) gave 40: the same rule. The label beside the foot says which rows it adds.</a:t>
            </a:r>
          </a:p>
          <a:p>
            <a:r>
              <a:t>Transition: does a total that reads the city, and never the screen, agree with the foot?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second route does not depend on the screen, so it can disagree with the foot,</a:t>
            </a:r>
          </a:p>
          <a:p>
            <a:r>
              <a:t>and here it does the moment someone hides a row by hand. Before reading a foot aloud, ask what else</a:t>
            </a:r>
          </a:p>
          <a:p>
            <a:r>
              <a:t>was hidden.</a:t>
            </a:r>
          </a:p>
          <a:p>
            <a:r>
              <a:t>Transition: a director asks what a Rs 500 voucher for every member on the list would cost; where does the Rs 500 go?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voucher is an assumption, so it gets a yellow cell, and the cost is a formula that</a:t>
            </a:r>
          </a:p>
          <a:p>
            <a:r>
              <a:t>reads it and the rows on screen.</a:t>
            </a:r>
          </a:p>
          <a:p>
            <a:r>
              <a:t>Transition: what happens when the director changes the input?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Change B1 live. This is the chief of staff's condition met: the sheet recalculates and</a:t>
            </a:r>
          </a:p>
          <a:p>
            <a:r>
              <a:t>the source is untouched.</a:t>
            </a:r>
          </a:p>
          <a:p>
            <a:r>
              <a:t>Transition: five checks each compare the sheet with something outside it; what does the release hold when one fails?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ISFORMULA "checks whether there is a reference to a cell that contains a formula, and</a:t>
            </a:r>
          </a:p>
          <a:p>
            <a:r>
              <a:t>returns TRUE or FALSE" (Microsoft Support, checked 30 September 2026). Letters first.</a:t>
            </a:r>
          </a:p>
          <a:p>
            <a:r>
              <a:t>Transition: what does each failing check hold, and why is a typed-over figure different?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The notebook shows the release deciding on invented inputs; the real Checks tab runs</a:t>
            </a:r>
          </a:p>
          <a:p>
            <a:r>
              <a:t>in the escalated case. The note that goes with a HOLD names what does not tie and asks for the export</a:t>
            </a:r>
          </a:p>
          <a:p>
            <a:r>
              <a:t>to be rerun.</a:t>
            </a:r>
          </a:p>
          <a:p>
            <a:r>
              <a:t>Transition: what can a director break, and which checks catch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One learner answers aloud: adding hidden rows, SUM; SUBTOTAL(109) adds what is on</a:t>
            </a:r>
          </a:p>
          <a:p>
            <a:r>
              <a:t>screen, SUBTOTAL(103) counts it; Mumbai Rs 7,14,890 against Rs 1,56,790.</a:t>
            </a:r>
          </a:p>
          <a:p>
            <a:r>
              <a:t>Transition: can you build the three deliverables and the Checks tab from the two exports, alone? The chief of staff opens it on Monday.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fifty minutes, unguided. The support TA answers environment problems only. The brief is</a:t>
            </a:r>
          </a:p>
          <a:p>
            <a:r>
              <a:t>exercises/unguided/C2_W02_D05_escalated_STUDENT.md; the notebook is</a:t>
            </a:r>
          </a:p>
          <a:p>
            <a:r>
              <a:t>notebooks/C2_W02_D05_ex1_escalated_case_STUDENT.ipynb. Solutions open at the debrief.</a:t>
            </a:r>
          </a:p>
          <a:p>
            <a:r>
              <a:t>Transition: what does the chief of staff want, and how long does each part take?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brief takes 3 minutes of the section's opening; then start the clock for the brief's 50</a:t>
            </a:r>
          </a:p>
          <a:p>
            <a:r>
              <a:t>minutes of work, ten for each part.</a:t>
            </a:r>
          </a:p>
          <a:p>
            <a:r>
              <a:t>Transition: which checks must the file pass before it goes to Monday?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SELF-STUDY, on screen for the case's 50 minutes. The reference workbook in demos/ has this tab.</a:t>
            </a:r>
          </a:p>
          <a:p>
            <a:r>
              <a:t>Transition: which wrong numbers did this room produce, in the order the day produced them? Every one was plausible.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fifteen minutes. Collect the room's wrong numbers during the case and show the ones that</a:t>
            </a:r>
          </a:p>
          <a:p>
            <a:r>
              <a:t>appeared; the table on the next slide is the list most rooms produce.</a:t>
            </a:r>
          </a:p>
          <a:p>
            <a:r>
              <a:t>Transition: which wrong numbers appeared, and what would each have done?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6 minutes. Walk down the table and, for each row, ask who produced it during the case. No</a:t>
            </a:r>
          </a:p>
          <a:p>
            <a:r>
              <a:t>shaming: each is the number a hurried sheet shows.</a:t>
            </a:r>
          </a:p>
          <a:p>
            <a:r>
              <a:t>Transition: if the list's export does not tie while the tree and the card do, what does the Checks tab hold?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Those who did chapter 3's your-turn step should know.</a:t>
            </a:r>
          </a:p>
          <a:p>
            <a:r>
              <a:t>Transition: what goes to the data platform lead, and what does the chief of staff hear?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7 minutes. TRAINER: the day sheet has what the room found and the consequence to say aloud now,</a:t>
            </a:r>
          </a:p>
          <a:p>
            <a:r>
              <a:t>since the room has found it. BREAK, 10 minutes, after this slide.</a:t>
            </a:r>
          </a:p>
          <a:p>
            <a:r>
              <a:t>Transition: a director wants five lakh typed into the source; can the sheet show that number and still be the one Finance signs? Pairs defend the rule, then swap.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forty minutes in pairs: the notebook 15, the role play 15 with one round each way, the three</a:t>
            </a:r>
          </a:p>
          <a:p>
            <a:r>
              <a:t>lines 10. One partner plays the director, one defends the rule, then they swap. The brief is</a:t>
            </a:r>
          </a:p>
          <a:p>
            <a:r>
              <a:t>exercises/unguided/C2_W02_D05_director_STUDENT.md; the notebook is</a:t>
            </a:r>
          </a:p>
          <a:p>
            <a:r>
              <a:t>notebooks/C2_W02_D05_ex2_second_case_STUDENT.ipynb.</a:t>
            </a:r>
          </a:p>
          <a:p>
            <a:r>
              <a:t>Transition: what does the director ask, with the sheet on the projector?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3 minutes. Read it in the director's voice. The request is reasonable in a meeting and corrosive in</a:t>
            </a:r>
          </a:p>
          <a:p>
            <a:r>
              <a:t>a file. The pair's job is to answer the question and refuse the edit.</a:t>
            </a:r>
          </a:p>
          <a:p>
            <a:r>
              <a:t>Transition: what does the card show after the edit, and what happens on Monday's refresh?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inside the notebook's 15. Notebook ex2, steps 1 to 4. The drift check that catches it</a:t>
            </a:r>
          </a:p>
          <a:p>
            <a:r>
              <a:t>is the sheet's Q2 total against the warehouse's control total, live on the Checks tab; the typed-over</a:t>
            </a:r>
          </a:p>
          <a:p>
            <a:r>
              <a:t>check is ISFORMULA on the cell.</a:t>
            </a:r>
          </a:p>
          <a:p>
            <a:r>
              <a:t>Transition: where does the director's five lakh go, so the card shows it and the source stays Finance's?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Letters, then each pair says why their letter survives the director's pushback.</a:t>
            </a:r>
          </a:p>
          <a:p>
            <a:r>
              <a:t>Transition: what does the card show, and what does each line come from?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closing the notebook's 15. Then the role play: 15 minutes, one round each way,</a:t>
            </a:r>
          </a:p>
          <a:p>
            <a:r>
              <a:t>walking the room. Listen for anyone who refuses the question as well as the edit.</a:t>
            </a:r>
          </a:p>
          <a:p>
            <a:r>
              <a:t>Transition: what does one partner say to the director?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the three lines' 10 minutes: each pair writes its three lines, then one pair says them aloud.</a:t>
            </a:r>
          </a:p>
          <a:p>
            <a:r>
              <a:t>Transition: can you answer twelve screen questions aloud, each in under a minute?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twenty minutes in pairs: one asks, one answers in under a minute, then swap.</a:t>
            </a:r>
          </a:p>
          <a:p>
            <a:r>
              <a:t>Transition: which questions does a screen ask, and with which tags?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16 minutes. Tags: [S] staple, [F] frequent in GCC and product screens, [D] differentiator, the</a:t>
            </a:r>
          </a:p>
          <a:p>
            <a:r>
              <a:t>programme's own calibration for 0 to 3 year candidates. The design question is the export growing a</a:t>
            </a:r>
          </a:p>
          <a:p>
            <a:r>
              <a:t>hundredfold.</a:t>
            </a:r>
          </a:p>
          <a:p>
            <a:r>
              <a:t>Transition: what goes into a one-minute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4 minutes. Read the example aloud and ask one pair to redo their weakest answer in this shape.</a:t>
            </a:r>
          </a:p>
          <a:p>
            <a:r>
              <a:t>Transition: what can the chief of staff trust on Monday? The sentence, the day's six lines, the Kahoot and tomorrow.</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fifteen minutes: the sentence (2), the six lines (2), the Kahoot (9), tomorrow (2).</a:t>
            </a:r>
          </a:p>
          <a:p>
            <a:r>
              <a:t>Transition: what does the team send the chief of staff?</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Two learners read their own sentences, with what their own Checks tab released; check</a:t>
            </a:r>
          </a:p>
          <a:p>
            <a:r>
              <a:t>each for the number, the period, the comparison, what is held and why. The day sheet has the release</a:t>
            </a:r>
          </a:p>
          <a:p>
            <a:r>
              <a:t>this room's workbook should give.</a:t>
            </a:r>
          </a:p>
          <a:p>
            <a:r>
              <a:t>Transition: which six lines do the cheat sheet and the notes repeat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Read them once. They are on the cheat sheet's panels in this order.</a:t>
            </a:r>
          </a:p>
          <a:p>
            <a:r>
              <a:t>Transition: what does the room still get wrong, fast?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9 minutes. Run kahoot/C2_W02_D05_quiz_STUDENT.md. The return question is the merge from Thursday's</a:t>
            </a:r>
          </a:p>
          <a:p>
            <a:r>
              <a:t>Kahoot, on its invented numbers, one level up.</a:t>
            </a:r>
          </a:p>
          <a:p>
            <a:r>
              <a:t>Transition: what comes next, and which question is left open?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2 minutes. Dr Priya Menon, COO of Kalpa Health, brings Meera's question to a diagnostics business</a:t>
            </a:r>
          </a:p>
          <a:p>
            <a:r>
              <a:t>whose laboratories test US patients and bill US payers, run from Kalpa's GCC. Leave the last card's</a:t>
            </a:r>
          </a:p>
          <a:p>
            <a:r>
              <a:t>question open. The pre-read for Monday ships tonight.</a:t>
            </a:r>
          </a:p>
          <a:p>
            <a:r>
              <a:t>Transition: the end of the day; the pre-read for Monday ships tonight.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8.xml"/><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0.xml"/><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5.xml"/><Relationship Id="rId5"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17.xml"/><Relationship Id="rId5"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6.png"/><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4.xml"/><Relationship Id="rId5"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5.xml"/><Relationship Id="rId5"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8.xml"/><Relationship Id="rId5"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9.xml"/><Relationship Id="rId5"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4.xml"/><Relationship Id="rId5"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6.xml"/><Relationship Id="rId5"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38.xml"/><Relationship Id="rId5" Type="http://schemas.openxmlformats.org/officeDocument/2006/relationships/image" Target="../media/image2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621792" y="566928"/>
            <a:ext cx="1051560" cy="1051560"/>
          </a:xfrm>
          <a:prstGeom prst="rect">
            <a:avLst/>
          </a:prstGeom>
        </p:spPr>
      </p:pic>
      <p:sp>
        <p:nvSpPr>
          <p:cNvPr id="4" name="TextBox 3"/>
          <p:cNvSpPr txBox="1"/>
          <p:nvPr/>
        </p:nvSpPr>
        <p:spPr>
          <a:xfrm>
            <a:off x="1901952" y="804672"/>
            <a:ext cx="6858000" cy="300735"/>
          </a:xfrm>
          <a:prstGeom prst="rect">
            <a:avLst/>
          </a:prstGeom>
          <a:noFill/>
        </p:spPr>
        <p:txBody>
          <a:bodyPr wrap="square" anchor="t" lIns="0" rIns="0" tIns="0" bIns="0">
            <a:spAutoFit/>
          </a:bodyPr>
          <a:lstStyle/>
          <a:p>
            <a:pPr algn="l"/>
            <a:r>
              <a:rPr sz="1600" b="1" i="0">
                <a:solidFill>
                  <a:srgbClr val="FFFFFF"/>
                </a:solidFill>
                <a:latin typeface="Calibri"/>
              </a:rPr>
              <a:t>Indian Institute of Technology Gandhinagar</a:t>
            </a:r>
          </a:p>
        </p:txBody>
      </p:sp>
      <p:sp>
        <p:nvSpPr>
          <p:cNvPr id="5" name="TextBox 4"/>
          <p:cNvSpPr txBox="1"/>
          <p:nvPr/>
        </p:nvSpPr>
        <p:spPr>
          <a:xfrm>
            <a:off x="1901952" y="1133856"/>
            <a:ext cx="7772400" cy="152146"/>
          </a:xfrm>
          <a:prstGeom prst="rect">
            <a:avLst/>
          </a:prstGeom>
          <a:noFill/>
        </p:spPr>
        <p:txBody>
          <a:bodyPr wrap="square" anchor="t" lIns="0" rIns="0" tIns="0" bIns="0">
            <a:spAutoFit/>
          </a:bodyPr>
          <a:lstStyle/>
          <a:p>
            <a:pPr algn="l"/>
            <a:r>
              <a:rPr sz="700" b="1" i="0" spc="300">
                <a:solidFill>
                  <a:srgbClr val="D9A7FF"/>
                </a:solidFill>
                <a:latin typeface="Calibri"/>
              </a:rPr>
              <a:t>ADMINISTERED THROUGH THE COMPETENCY ADVANCEMENT ACADEMY</a:t>
            </a:r>
          </a:p>
        </p:txBody>
      </p:sp>
      <p:sp>
        <p:nvSpPr>
          <p:cNvPr id="6" name="Rectangle 5"/>
          <p:cNvSpPr/>
          <p:nvPr/>
        </p:nvSpPr>
        <p:spPr>
          <a:xfrm>
            <a:off x="621792" y="1938528"/>
            <a:ext cx="10948111" cy="10972"/>
          </a:xfrm>
          <a:prstGeom prst="rect">
            <a:avLst/>
          </a:prstGeom>
          <a:solidFill>
            <a:srgbClr val="A9A3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ounded Rectangle 6"/>
          <p:cNvSpPr/>
          <p:nvPr/>
        </p:nvSpPr>
        <p:spPr>
          <a:xfrm>
            <a:off x="621792" y="2240280"/>
            <a:ext cx="3290677" cy="329184"/>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900" b="1" spc="250">
                <a:solidFill>
                  <a:srgbClr val="FFFFFF"/>
                </a:solidFill>
                <a:latin typeface="Calibri"/>
              </a:rPr>
              <a:t>WEEK 2  ·  FRIDAY  ·  HALF TWO</a:t>
            </a:r>
          </a:p>
        </p:txBody>
      </p:sp>
      <p:sp>
        <p:nvSpPr>
          <p:cNvPr id="8" name="TextBox 7"/>
          <p:cNvSpPr txBox="1"/>
          <p:nvPr/>
        </p:nvSpPr>
        <p:spPr>
          <a:xfrm>
            <a:off x="621792" y="2807208"/>
            <a:ext cx="10582351" cy="1291336"/>
          </a:xfrm>
          <a:prstGeom prst="rect">
            <a:avLst/>
          </a:prstGeom>
          <a:noFill/>
        </p:spPr>
        <p:txBody>
          <a:bodyPr wrap="square" anchor="t" lIns="0" rIns="0" tIns="0" bIns="0">
            <a:spAutoFit/>
          </a:bodyPr>
          <a:lstStyle/>
          <a:p>
            <a:pPr algn="l"/>
            <a:r>
              <a:rPr sz="3800" b="0" i="0">
                <a:solidFill>
                  <a:srgbClr val="FFFFFF"/>
                </a:solidFill>
                <a:latin typeface="Georgia"/>
              </a:rPr>
              <a:t>Can a director change it and still trust it?</a:t>
            </a:r>
          </a:p>
        </p:txBody>
      </p:sp>
      <p:sp>
        <p:nvSpPr>
          <p:cNvPr id="9" name="TextBox 8"/>
          <p:cNvSpPr txBox="1"/>
          <p:nvPr/>
        </p:nvSpPr>
        <p:spPr>
          <a:xfrm>
            <a:off x="621792" y="4263136"/>
            <a:ext cx="10033711" cy="663956"/>
          </a:xfrm>
          <a:prstGeom prst="rect">
            <a:avLst/>
          </a:prstGeom>
          <a:noFill/>
        </p:spPr>
        <p:txBody>
          <a:bodyPr wrap="square" anchor="t" lIns="0" rIns="0" tIns="0" bIns="0">
            <a:spAutoFit/>
          </a:bodyPr>
          <a:lstStyle/>
          <a:p>
            <a:pPr algn="l"/>
            <a:r>
              <a:rPr sz="1900" b="0" i="1">
                <a:solidFill>
                  <a:srgbClr val="D9A7FF"/>
                </a:solidFill>
                <a:latin typeface="Georgia"/>
              </a:rPr>
              <a:t>“Which parts belong in Excel, which parts must never be in Excel, and how do you keep the two from drifting apart?”</a:t>
            </a:r>
          </a:p>
        </p:txBody>
      </p:sp>
      <p:sp>
        <p:nvSpPr>
          <p:cNvPr id="10" name="TextBox 9"/>
          <p:cNvSpPr txBox="1"/>
          <p:nvPr/>
        </p:nvSpPr>
        <p:spPr>
          <a:xfrm>
            <a:off x="621792" y="4981956"/>
            <a:ext cx="10033711" cy="218186"/>
          </a:xfrm>
          <a:prstGeom prst="rect">
            <a:avLst/>
          </a:prstGeom>
          <a:noFill/>
        </p:spPr>
        <p:txBody>
          <a:bodyPr wrap="square" anchor="t" lIns="0" rIns="0" tIns="0" bIns="0">
            <a:spAutoFit/>
          </a:bodyPr>
          <a:lstStyle/>
          <a:p>
            <a:pPr algn="l"/>
            <a:r>
              <a:rPr sz="1100" b="0" i="0">
                <a:solidFill>
                  <a:srgbClr val="CFC9EE"/>
                </a:solidFill>
                <a:latin typeface="Calibri"/>
              </a:rPr>
              <a:t>Kavya Nair, senior analyst, Kalpa Retail data team</a:t>
            </a:r>
          </a:p>
        </p:txBody>
      </p:sp>
      <p:sp>
        <p:nvSpPr>
          <p:cNvPr id="11" name="TextBox 10"/>
          <p:cNvSpPr txBox="1"/>
          <p:nvPr/>
        </p:nvSpPr>
        <p:spPr>
          <a:xfrm>
            <a:off x="621792" y="5520182"/>
            <a:ext cx="365760" cy="251205"/>
          </a:xfrm>
          <a:prstGeom prst="rect">
            <a:avLst/>
          </a:prstGeom>
          <a:noFill/>
        </p:spPr>
        <p:txBody>
          <a:bodyPr wrap="square" anchor="t" lIns="0" rIns="0" tIns="0" bIns="0">
            <a:spAutoFit/>
          </a:bodyPr>
          <a:lstStyle/>
          <a:p>
            <a:pPr algn="l"/>
            <a:r>
              <a:rPr sz="1300" b="0" i="0">
                <a:solidFill>
                  <a:srgbClr val="D9A7FF"/>
                </a:solidFill>
                <a:latin typeface="Georgia"/>
              </a:rPr>
              <a:t>06</a:t>
            </a:r>
          </a:p>
        </p:txBody>
      </p:sp>
      <p:sp>
        <p:nvSpPr>
          <p:cNvPr id="12" name="TextBox 11"/>
          <p:cNvSpPr txBox="1"/>
          <p:nvPr/>
        </p:nvSpPr>
        <p:spPr>
          <a:xfrm>
            <a:off x="1005839" y="5556758"/>
            <a:ext cx="1602486" cy="185166"/>
          </a:xfrm>
          <a:prstGeom prst="rect">
            <a:avLst/>
          </a:prstGeom>
          <a:noFill/>
        </p:spPr>
        <p:txBody>
          <a:bodyPr wrap="square" anchor="t" lIns="0" rIns="0" tIns="0" bIns="0">
            <a:spAutoFit/>
          </a:bodyPr>
          <a:lstStyle/>
          <a:p>
            <a:pPr algn="l"/>
            <a:r>
              <a:rPr sz="900" b="0" i="0">
                <a:solidFill>
                  <a:srgbClr val="FFFFFF"/>
                </a:solidFill>
                <a:latin typeface="Calibri"/>
              </a:rPr>
              <a:t>Can a director break it?</a:t>
            </a:r>
          </a:p>
        </p:txBody>
      </p:sp>
      <p:sp>
        <p:nvSpPr>
          <p:cNvPr id="13" name="TextBox 12"/>
          <p:cNvSpPr txBox="1"/>
          <p:nvPr/>
        </p:nvSpPr>
        <p:spPr>
          <a:xfrm>
            <a:off x="2791206" y="5520182"/>
            <a:ext cx="365760" cy="251205"/>
          </a:xfrm>
          <a:prstGeom prst="rect">
            <a:avLst/>
          </a:prstGeom>
          <a:noFill/>
        </p:spPr>
        <p:txBody>
          <a:bodyPr wrap="square" anchor="t" lIns="0" rIns="0" tIns="0" bIns="0">
            <a:spAutoFit/>
          </a:bodyPr>
          <a:lstStyle/>
          <a:p>
            <a:pPr algn="l"/>
            <a:r>
              <a:rPr sz="1300" b="0" i="0">
                <a:solidFill>
                  <a:srgbClr val="D9A7FF"/>
                </a:solidFill>
                <a:latin typeface="Georgia"/>
              </a:rPr>
              <a:t>07</a:t>
            </a:r>
          </a:p>
        </p:txBody>
      </p:sp>
      <p:sp>
        <p:nvSpPr>
          <p:cNvPr id="14" name="TextBox 13"/>
          <p:cNvSpPr txBox="1"/>
          <p:nvPr/>
        </p:nvSpPr>
        <p:spPr>
          <a:xfrm>
            <a:off x="3175254" y="5556758"/>
            <a:ext cx="1484185" cy="185166"/>
          </a:xfrm>
          <a:prstGeom prst="rect">
            <a:avLst/>
          </a:prstGeom>
          <a:noFill/>
        </p:spPr>
        <p:txBody>
          <a:bodyPr wrap="square" anchor="t" lIns="0" rIns="0" tIns="0" bIns="0">
            <a:spAutoFit/>
          </a:bodyPr>
          <a:lstStyle/>
          <a:p>
            <a:pPr algn="l"/>
            <a:r>
              <a:rPr sz="900" b="0" i="0">
                <a:solidFill>
                  <a:srgbClr val="FFFFFF"/>
                </a:solidFill>
                <a:latin typeface="Calibri"/>
              </a:rPr>
              <a:t>Can you ship it alone?</a:t>
            </a:r>
          </a:p>
        </p:txBody>
      </p:sp>
      <p:sp>
        <p:nvSpPr>
          <p:cNvPr id="15" name="TextBox 14"/>
          <p:cNvSpPr txBox="1"/>
          <p:nvPr/>
        </p:nvSpPr>
        <p:spPr>
          <a:xfrm>
            <a:off x="4842319" y="5520182"/>
            <a:ext cx="365760" cy="251205"/>
          </a:xfrm>
          <a:prstGeom prst="rect">
            <a:avLst/>
          </a:prstGeom>
          <a:noFill/>
        </p:spPr>
        <p:txBody>
          <a:bodyPr wrap="square" anchor="t" lIns="0" rIns="0" tIns="0" bIns="0">
            <a:spAutoFit/>
          </a:bodyPr>
          <a:lstStyle/>
          <a:p>
            <a:pPr algn="l"/>
            <a:r>
              <a:rPr sz="1300" b="0" i="0">
                <a:solidFill>
                  <a:srgbClr val="D9A7FF"/>
                </a:solidFill>
                <a:latin typeface="Georgia"/>
              </a:rPr>
              <a:t>08</a:t>
            </a:r>
          </a:p>
        </p:txBody>
      </p:sp>
      <p:sp>
        <p:nvSpPr>
          <p:cNvPr id="16" name="TextBox 15"/>
          <p:cNvSpPr txBox="1"/>
          <p:nvPr/>
        </p:nvSpPr>
        <p:spPr>
          <a:xfrm>
            <a:off x="5226367" y="5556758"/>
            <a:ext cx="1661636" cy="185166"/>
          </a:xfrm>
          <a:prstGeom prst="rect">
            <a:avLst/>
          </a:prstGeom>
          <a:noFill/>
        </p:spPr>
        <p:txBody>
          <a:bodyPr wrap="square" anchor="t" lIns="0" rIns="0" tIns="0" bIns="0">
            <a:spAutoFit/>
          </a:bodyPr>
          <a:lstStyle/>
          <a:p>
            <a:pPr algn="l"/>
            <a:r>
              <a:rPr sz="900" b="0" i="0">
                <a:solidFill>
                  <a:srgbClr val="FFFFFF"/>
                </a:solidFill>
                <a:latin typeface="Calibri"/>
              </a:rPr>
              <a:t>Which numbers were wrong?</a:t>
            </a:r>
          </a:p>
        </p:txBody>
      </p:sp>
      <p:sp>
        <p:nvSpPr>
          <p:cNvPr id="17" name="TextBox 16"/>
          <p:cNvSpPr txBox="1"/>
          <p:nvPr/>
        </p:nvSpPr>
        <p:spPr>
          <a:xfrm>
            <a:off x="7070883" y="5520182"/>
            <a:ext cx="365760" cy="251205"/>
          </a:xfrm>
          <a:prstGeom prst="rect">
            <a:avLst/>
          </a:prstGeom>
          <a:noFill/>
        </p:spPr>
        <p:txBody>
          <a:bodyPr wrap="square" anchor="t" lIns="0" rIns="0" tIns="0" bIns="0">
            <a:spAutoFit/>
          </a:bodyPr>
          <a:lstStyle/>
          <a:p>
            <a:pPr algn="l"/>
            <a:r>
              <a:rPr sz="1300" b="0" i="0">
                <a:solidFill>
                  <a:srgbClr val="D9A7FF"/>
                </a:solidFill>
                <a:latin typeface="Georgia"/>
              </a:rPr>
              <a:t>09</a:t>
            </a:r>
          </a:p>
        </p:txBody>
      </p:sp>
      <p:sp>
        <p:nvSpPr>
          <p:cNvPr id="18" name="TextBox 17"/>
          <p:cNvSpPr txBox="1"/>
          <p:nvPr/>
        </p:nvSpPr>
        <p:spPr>
          <a:xfrm>
            <a:off x="7454931" y="5556758"/>
            <a:ext cx="1602486" cy="185166"/>
          </a:xfrm>
          <a:prstGeom prst="rect">
            <a:avLst/>
          </a:prstGeom>
          <a:noFill/>
        </p:spPr>
        <p:txBody>
          <a:bodyPr wrap="square" anchor="t" lIns="0" rIns="0" tIns="0" bIns="0">
            <a:spAutoFit/>
          </a:bodyPr>
          <a:lstStyle/>
          <a:p>
            <a:pPr algn="l"/>
            <a:r>
              <a:rPr sz="900" b="0" i="0">
                <a:solidFill>
                  <a:srgbClr val="FFFFFF"/>
                </a:solidFill>
                <a:latin typeface="Calibri"/>
              </a:rPr>
              <a:t>Where does five lakh go?</a:t>
            </a:r>
          </a:p>
        </p:txBody>
      </p:sp>
      <p:sp>
        <p:nvSpPr>
          <p:cNvPr id="19" name="TextBox 18"/>
          <p:cNvSpPr txBox="1"/>
          <p:nvPr/>
        </p:nvSpPr>
        <p:spPr>
          <a:xfrm>
            <a:off x="9240297" y="5520182"/>
            <a:ext cx="365760" cy="251205"/>
          </a:xfrm>
          <a:prstGeom prst="rect">
            <a:avLst/>
          </a:prstGeom>
          <a:noFill/>
        </p:spPr>
        <p:txBody>
          <a:bodyPr wrap="square" anchor="t" lIns="0" rIns="0" tIns="0" bIns="0">
            <a:spAutoFit/>
          </a:bodyPr>
          <a:lstStyle/>
          <a:p>
            <a:pPr algn="l"/>
            <a:r>
              <a:rPr sz="1300" b="0" i="0">
                <a:solidFill>
                  <a:srgbClr val="D9A7FF"/>
                </a:solidFill>
                <a:latin typeface="Georgia"/>
              </a:rPr>
              <a:t>10</a:t>
            </a:r>
          </a:p>
        </p:txBody>
      </p:sp>
      <p:sp>
        <p:nvSpPr>
          <p:cNvPr id="20" name="TextBox 19"/>
          <p:cNvSpPr txBox="1"/>
          <p:nvPr/>
        </p:nvSpPr>
        <p:spPr>
          <a:xfrm>
            <a:off x="9624345" y="5556758"/>
            <a:ext cx="1425035" cy="185166"/>
          </a:xfrm>
          <a:prstGeom prst="rect">
            <a:avLst/>
          </a:prstGeom>
          <a:noFill/>
        </p:spPr>
        <p:txBody>
          <a:bodyPr wrap="square" anchor="t" lIns="0" rIns="0" tIns="0" bIns="0">
            <a:spAutoFit/>
          </a:bodyPr>
          <a:lstStyle/>
          <a:p>
            <a:pPr algn="l"/>
            <a:r>
              <a:rPr sz="900" b="0" i="0">
                <a:solidFill>
                  <a:srgbClr val="FFFFFF"/>
                </a:solidFill>
                <a:latin typeface="Calibri"/>
              </a:rPr>
              <a:t>Can you say it aloud?</a:t>
            </a:r>
          </a:p>
        </p:txBody>
      </p:sp>
      <p:sp>
        <p:nvSpPr>
          <p:cNvPr id="21" name="TextBox 20"/>
          <p:cNvSpPr txBox="1"/>
          <p:nvPr/>
        </p:nvSpPr>
        <p:spPr>
          <a:xfrm>
            <a:off x="621792" y="5940806"/>
            <a:ext cx="365760" cy="251205"/>
          </a:xfrm>
          <a:prstGeom prst="rect">
            <a:avLst/>
          </a:prstGeom>
          <a:noFill/>
        </p:spPr>
        <p:txBody>
          <a:bodyPr wrap="square" anchor="t" lIns="0" rIns="0" tIns="0" bIns="0">
            <a:spAutoFit/>
          </a:bodyPr>
          <a:lstStyle/>
          <a:p>
            <a:pPr algn="l"/>
            <a:r>
              <a:rPr sz="1300" b="0" i="0">
                <a:solidFill>
                  <a:srgbClr val="D9A7FF"/>
                </a:solidFill>
                <a:latin typeface="Georgia"/>
              </a:rPr>
              <a:t>11</a:t>
            </a:r>
          </a:p>
        </p:txBody>
      </p:sp>
      <p:sp>
        <p:nvSpPr>
          <p:cNvPr id="22" name="TextBox 21"/>
          <p:cNvSpPr txBox="1"/>
          <p:nvPr/>
        </p:nvSpPr>
        <p:spPr>
          <a:xfrm>
            <a:off x="1005839" y="5977382"/>
            <a:ext cx="1425035" cy="185166"/>
          </a:xfrm>
          <a:prstGeom prst="rect">
            <a:avLst/>
          </a:prstGeom>
          <a:noFill/>
        </p:spPr>
        <p:txBody>
          <a:bodyPr wrap="square" anchor="t" lIns="0" rIns="0" tIns="0" bIns="0">
            <a:spAutoFit/>
          </a:bodyPr>
          <a:lstStyle/>
          <a:p>
            <a:pPr algn="l"/>
            <a:r>
              <a:rPr sz="900" b="0" i="0">
                <a:solidFill>
                  <a:srgbClr val="FFFFFF"/>
                </a:solidFill>
                <a:latin typeface="Calibri"/>
              </a:rPr>
              <a:t>What ships on Monday?</a:t>
            </a:r>
          </a:p>
        </p:txBody>
      </p:sp>
      <p:sp>
        <p:nvSpPr>
          <p:cNvPr id="23" name="TextBox 22"/>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5. Can a director change it and still trust it?</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 / 39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will today teach? Six topics across six chapters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curriculum topic does each chapter teach, in how many minutes, and which two does chapter 6 finish?</a:t>
            </a:r>
          </a:p>
        </p:txBody>
      </p:sp>
      <p:graphicFrame>
        <p:nvGraphicFramePr>
          <p:cNvPr id="9" name="Table 8"/>
          <p:cNvGraphicFramePr>
            <a:graphicFrameLocks noGrp="1"/>
          </p:cNvGraphicFramePr>
          <p:nvPr/>
        </p:nvGraphicFramePr>
        <p:xfrm>
          <a:off x="530352" y="1829106"/>
          <a:ext cx="11130990" cy="2226056"/>
        </p:xfrm>
        <a:graphic>
          <a:graphicData uri="http://schemas.openxmlformats.org/drawingml/2006/table">
            <a:tbl>
              <a:tblPr firstRow="0" bandRow="0">
                <a:tableStyleId>{2D5ABB26-0587-4C30-8999-92F81FD0307C}</a:tableStyleId>
              </a:tblPr>
              <a:tblGrid>
                <a:gridCol w="5970002"/>
                <a:gridCol w="2604182"/>
                <a:gridCol w="2556806"/>
              </a:tblGrid>
              <a:tr h="318008">
                <a:tc>
                  <a:txBody>
                    <a:bodyPr/>
                    <a:lstStyle/>
                    <a:p>
                      <a:r>
                        <a:rPr sz="1150" b="1" i="0">
                          <a:solidFill>
                            <a:srgbClr val="FFFFFF"/>
                          </a:solidFill>
                          <a:latin typeface="Calibri"/>
                        </a:rPr>
                        <a:t>The curriculum's topic</a:t>
                      </a:r>
                    </a:p>
                  </a:txBody>
                  <a:tcPr marL="101600" marR="101600" marT="38100" marB="38100" anchor="ctr">
                    <a:solidFill>
                      <a:srgbClr val="1A0F5C"/>
                    </a:solidFill>
                  </a:tcPr>
                </a:tc>
                <a:tc>
                  <a:txBody>
                    <a:bodyPr/>
                    <a:lstStyle/>
                    <a:p>
                      <a:r>
                        <a:rPr sz="1150" b="1" i="0">
                          <a:solidFill>
                            <a:srgbClr val="FFFFFF"/>
                          </a:solidFill>
                          <a:latin typeface="Calibri"/>
                        </a:rPr>
                        <a:t>Chapter</a:t>
                      </a:r>
                    </a:p>
                  </a:txBody>
                  <a:tcPr marL="101600" marR="101600" marT="38100" marB="38100" anchor="ctr">
                    <a:solidFill>
                      <a:srgbClr val="1A0F5C"/>
                    </a:solidFill>
                  </a:tcPr>
                </a:tc>
                <a:tc>
                  <a:txBody>
                    <a:bodyPr/>
                    <a:lstStyle/>
                    <a:p>
                      <a:r>
                        <a:rPr sz="1150" b="1" i="0">
                          <a:solidFill>
                            <a:srgbClr val="FFFFFF"/>
                          </a:solidFill>
                          <a:latin typeface="Calibri"/>
                        </a:rPr>
                        <a:t>The chapters' minutes</a:t>
                      </a:r>
                    </a:p>
                  </a:txBody>
                  <a:tcPr marL="101600" marR="101600" marT="38100" marB="38100" anchor="ctr">
                    <a:solidFill>
                      <a:srgbClr val="1A0F5C"/>
                    </a:solidFill>
                  </a:tcPr>
                </a:tc>
              </a:tr>
              <a:tr h="318008">
                <a:tc>
                  <a:txBody>
                    <a:bodyPr/>
                    <a:lstStyle/>
                    <a:p>
                      <a:r>
                        <a:rPr sz="1100" b="0" i="0">
                          <a:solidFill>
                            <a:srgbClr val="1A1440"/>
                          </a:solidFill>
                          <a:latin typeface="Calibri"/>
                        </a:rPr>
                        <a:t>The customer table in Excel: structure, filters, freeze panes</a:t>
                      </a:r>
                    </a:p>
                  </a:txBody>
                  <a:tcPr marL="101600" marR="101600" marT="38100" marB="38100" anchor="ctr">
                    <a:solidFill>
                      <a:srgbClr val="FFFFFF"/>
                    </a:solidFill>
                  </a:tcPr>
                </a:tc>
                <a:tc>
                  <a:txBody>
                    <a:bodyPr/>
                    <a:lstStyle/>
                    <a:p>
                      <a:r>
                        <a:rPr sz="1100" b="0" i="0">
                          <a:solidFill>
                            <a:srgbClr val="1A1440"/>
                          </a:solidFill>
                          <a:latin typeface="Calibri"/>
                        </a:rPr>
                        <a:t>1, and 6 for filters</a:t>
                      </a:r>
                    </a:p>
                  </a:txBody>
                  <a:tcPr marL="101600" marR="101600" marT="38100" marB="38100" anchor="ctr">
                    <a:solidFill>
                      <a:srgbClr val="FFFFFF"/>
                    </a:solidFill>
                  </a:tcPr>
                </a:tc>
                <a:tc>
                  <a:txBody>
                    <a:bodyPr/>
                    <a:lstStyle/>
                    <a:p>
                      <a:r>
                        <a:rPr sz="1100" b="0" i="0">
                          <a:solidFill>
                            <a:srgbClr val="1A1440"/>
                          </a:solidFill>
                          <a:latin typeface="Calibri"/>
                        </a:rPr>
                        <a:t>30 and 30</a:t>
                      </a:r>
                    </a:p>
                  </a:txBody>
                  <a:tcPr marL="101600" marR="101600" marT="38100" marB="38100" anchor="ctr">
                    <a:solidFill>
                      <a:srgbClr val="FFFFFF"/>
                    </a:solidFill>
                  </a:tcPr>
                </a:tc>
              </a:tr>
              <a:tr h="318008">
                <a:tc>
                  <a:txBody>
                    <a:bodyPr/>
                    <a:lstStyle/>
                    <a:p>
                      <a:r>
                        <a:rPr sz="1100" b="0" i="0">
                          <a:solidFill>
                            <a:srgbClr val="1A1440"/>
                          </a:solidFill>
                          <a:latin typeface="Calibri"/>
                        </a:rPr>
                        <a:t>Pivot tables: build, slice, refresh; what they cannot do</a:t>
                      </a:r>
                    </a:p>
                  </a:txBody>
                  <a:tcPr marL="101600" marR="101600" marT="38100" marB="38100" anchor="ctr">
                    <a:solidFill>
                      <a:srgbClr val="F4F2FA"/>
                    </a:solidFill>
                  </a:tcPr>
                </a:tc>
                <a:tc>
                  <a:txBody>
                    <a:bodyPr/>
                    <a:lstStyle/>
                    <a:p>
                      <a:r>
                        <a:rPr sz="1100" b="0" i="0">
                          <a:solidFill>
                            <a:srgbClr val="1A1440"/>
                          </a:solidFill>
                          <a:latin typeface="Calibri"/>
                        </a:rPr>
                        <a:t>1 and 2</a:t>
                      </a:r>
                    </a:p>
                  </a:txBody>
                  <a:tcPr marL="101600" marR="101600" marT="38100" marB="38100" anchor="ctr">
                    <a:solidFill>
                      <a:srgbClr val="F4F2FA"/>
                    </a:solidFill>
                  </a:tcPr>
                </a:tc>
                <a:tc>
                  <a:txBody>
                    <a:bodyPr/>
                    <a:lstStyle/>
                    <a:p>
                      <a:r>
                        <a:rPr sz="1100" b="0" i="0">
                          <a:solidFill>
                            <a:srgbClr val="1A1440"/>
                          </a:solidFill>
                          <a:latin typeface="Calibri"/>
                        </a:rPr>
                        <a:t>30 each</a:t>
                      </a:r>
                    </a:p>
                  </a:txBody>
                  <a:tcPr marL="101600" marR="101600" marT="38100" marB="38100" anchor="ctr">
                    <a:solidFill>
                      <a:srgbClr val="F4F2FA"/>
                    </a:solidFill>
                  </a:tcPr>
                </a:tc>
              </a:tr>
              <a:tr h="318008">
                <a:tc>
                  <a:txBody>
                    <a:bodyPr/>
                    <a:lstStyle/>
                    <a:p>
                      <a:r>
                        <a:rPr sz="1100" b="0" i="0">
                          <a:solidFill>
                            <a:srgbClr val="1A1440"/>
                          </a:solidFill>
                          <a:latin typeface="Calibri"/>
                        </a:rPr>
                        <a:t>XLOOKUP: exact match, the not-found path, and the nearest-match trap</a:t>
                      </a:r>
                    </a:p>
                  </a:txBody>
                  <a:tcPr marL="101600" marR="101600" marT="38100" marB="38100" anchor="ctr">
                    <a:solidFill>
                      <a:srgbClr val="FFFFFF"/>
                    </a:solidFill>
                  </a:tcPr>
                </a:tc>
                <a:tc>
                  <a:txBody>
                    <a:bodyPr/>
                    <a:lstStyle/>
                    <a:p>
                      <a:r>
                        <a:rPr sz="1100" b="0" i="0">
                          <a:solidFill>
                            <a:srgbClr val="1A1440"/>
                          </a:solidFill>
                          <a:latin typeface="Calibri"/>
                        </a:rPr>
                        <a:t>3</a:t>
                      </a:r>
                    </a:p>
                  </a:txBody>
                  <a:tcPr marL="101600" marR="101600" marT="38100" marB="38100" anchor="ctr">
                    <a:solidFill>
                      <a:srgbClr val="FFFFFF"/>
                    </a:solidFill>
                  </a:tcPr>
                </a:tc>
                <a:tc>
                  <a:txBody>
                    <a:bodyPr/>
                    <a:lstStyle/>
                    <a:p>
                      <a:r>
                        <a:rPr sz="1100" b="0" i="0">
                          <a:solidFill>
                            <a:srgbClr val="1A1440"/>
                          </a:solidFill>
                          <a:latin typeface="Calibri"/>
                        </a:rPr>
                        <a:t>30</a:t>
                      </a:r>
                    </a:p>
                  </a:txBody>
                  <a:tcPr marL="101600" marR="101600" marT="38100" marB="38100" anchor="ctr">
                    <a:solidFill>
                      <a:srgbClr val="FFFFFF"/>
                    </a:solidFill>
                  </a:tcPr>
                </a:tc>
              </a:tr>
              <a:tr h="318008">
                <a:tc>
                  <a:txBody>
                    <a:bodyPr/>
                    <a:lstStyle/>
                    <a:p>
                      <a:r>
                        <a:rPr sz="1100" b="0" i="0">
                          <a:solidFill>
                            <a:srgbClr val="1A1440"/>
                          </a:solidFill>
                          <a:latin typeface="Calibri"/>
                        </a:rPr>
                        <a:t>Presenting one number: denominator, period, comparison, the sentence beside it</a:t>
                      </a:r>
                    </a:p>
                  </a:txBody>
                  <a:tcPr marL="101600" marR="101600" marT="38100" marB="38100" anchor="ctr">
                    <a:solidFill>
                      <a:srgbClr val="F4F2FA"/>
                    </a:solidFill>
                  </a:tcPr>
                </a:tc>
                <a:tc>
                  <a:txBody>
                    <a:bodyPr/>
                    <a:lstStyle/>
                    <a:p>
                      <a:r>
                        <a:rPr sz="1100" b="0" i="0">
                          <a:solidFill>
                            <a:srgbClr val="1A1440"/>
                          </a:solidFill>
                          <a:latin typeface="Calibri"/>
                        </a:rPr>
                        <a:t>4</a:t>
                      </a:r>
                    </a:p>
                  </a:txBody>
                  <a:tcPr marL="101600" marR="101600" marT="38100" marB="38100" anchor="ctr">
                    <a:solidFill>
                      <a:srgbClr val="F4F2FA"/>
                    </a:solidFill>
                  </a:tcPr>
                </a:tc>
                <a:tc>
                  <a:txBody>
                    <a:bodyPr/>
                    <a:lstStyle/>
                    <a:p>
                      <a:r>
                        <a:rPr sz="1100" b="0" i="0">
                          <a:solidFill>
                            <a:srgbClr val="1A1440"/>
                          </a:solidFill>
                          <a:latin typeface="Calibri"/>
                        </a:rPr>
                        <a:t>30</a:t>
                      </a:r>
                    </a:p>
                  </a:txBody>
                  <a:tcPr marL="101600" marR="101600" marT="38100" marB="38100" anchor="ctr">
                    <a:solidFill>
                      <a:srgbClr val="F4F2FA"/>
                    </a:solidFill>
                  </a:tcPr>
                </a:tc>
              </a:tr>
              <a:tr h="318008">
                <a:tc>
                  <a:txBody>
                    <a:bodyPr/>
                    <a:lstStyle/>
                    <a:p>
                      <a:r>
                        <a:rPr sz="1100" b="0" i="0">
                          <a:solidFill>
                            <a:srgbClr val="1A1440"/>
                          </a:solidFill>
                          <a:latin typeface="Calibri"/>
                        </a:rPr>
                        <a:t>The tool operating rule: warehouse, pandas, Excel</a:t>
                      </a:r>
                    </a:p>
                  </a:txBody>
                  <a:tcPr marL="101600" marR="101600" marT="38100" marB="38100" anchor="ctr">
                    <a:solidFill>
                      <a:srgbClr val="FFFFFF"/>
                    </a:solidFill>
                  </a:tcPr>
                </a:tc>
                <a:tc>
                  <a:txBody>
                    <a:bodyPr/>
                    <a:lstStyle/>
                    <a:p>
                      <a:r>
                        <a:rPr sz="1100" b="0" i="0">
                          <a:solidFill>
                            <a:srgbClr val="1A1440"/>
                          </a:solidFill>
                          <a:latin typeface="Calibri"/>
                        </a:rPr>
                        <a:t>5</a:t>
                      </a:r>
                    </a:p>
                  </a:txBody>
                  <a:tcPr marL="101600" marR="101600" marT="38100" marB="38100" anchor="ctr">
                    <a:solidFill>
                      <a:srgbClr val="FFFFFF"/>
                    </a:solidFill>
                  </a:tcPr>
                </a:tc>
                <a:tc>
                  <a:txBody>
                    <a:bodyPr/>
                    <a:lstStyle/>
                    <a:p>
                      <a:r>
                        <a:rPr sz="1100" b="0" i="0">
                          <a:solidFill>
                            <a:srgbClr val="1A1440"/>
                          </a:solidFill>
                          <a:latin typeface="Calibri"/>
                        </a:rPr>
                        <a:t>30</a:t>
                      </a:r>
                    </a:p>
                  </a:txBody>
                  <a:tcPr marL="101600" marR="101600" marT="38100" marB="38100" anchor="ctr">
                    <a:solidFill>
                      <a:srgbClr val="FFFFFF"/>
                    </a:solidFill>
                  </a:tcPr>
                </a:tc>
              </a:tr>
              <a:tr h="318008">
                <a:tc>
                  <a:txBody>
                    <a:bodyPr/>
                    <a:lstStyle/>
                    <a:p>
                      <a:r>
                        <a:rPr sz="1100" b="0" i="0">
                          <a:solidFill>
                            <a:srgbClr val="1A1440"/>
                          </a:solidFill>
                          <a:latin typeface="Calibri"/>
                        </a:rPr>
                        <a:t>Keeping the sheet and the source from drifting</a:t>
                      </a:r>
                    </a:p>
                  </a:txBody>
                  <a:tcPr marL="101600" marR="101600" marT="38100" marB="38100" anchor="ctr">
                    <a:solidFill>
                      <a:srgbClr val="F4F2FA"/>
                    </a:solidFill>
                  </a:tcPr>
                </a:tc>
                <a:tc>
                  <a:txBody>
                    <a:bodyPr/>
                    <a:lstStyle/>
                    <a:p>
                      <a:r>
                        <a:rPr sz="1100" b="0" i="0">
                          <a:solidFill>
                            <a:srgbClr val="1A1440"/>
                          </a:solidFill>
                          <a:latin typeface="Calibri"/>
                        </a:rPr>
                        <a:t>5, 6 and the second case</a:t>
                      </a:r>
                    </a:p>
                  </a:txBody>
                  <a:tcPr marL="101600" marR="101600" marT="38100" marB="38100" anchor="ctr">
                    <a:solidFill>
                      <a:srgbClr val="F4F2FA"/>
                    </a:solidFill>
                  </a:tcPr>
                </a:tc>
                <a:tc>
                  <a:txBody>
                    <a:bodyPr/>
                    <a:lstStyle/>
                    <a:p>
                      <a:r>
                        <a:rPr sz="1100" b="0" i="0">
                          <a:solidFill>
                            <a:srgbClr val="1A1440"/>
                          </a:solidFill>
                          <a:latin typeface="Calibri"/>
                        </a:rPr>
                        <a:t>30, 30 and 40</a:t>
                      </a:r>
                    </a:p>
                  </a:txBody>
                  <a:tcPr marL="101600" marR="101600" marT="38100" marB="38100" anchor="ctr">
                    <a:solidFill>
                      <a:srgbClr val="F4F2FA"/>
                    </a:solidFill>
                  </a:tcPr>
                </a:tc>
              </a:tr>
            </a:tbl>
          </a:graphicData>
        </a:graphic>
      </p:graphicFrame>
      <p:pic>
        <p:nvPicPr>
          <p:cNvPr id="10" name="mermaid diagram" descr="771b5682079467f3.png"/>
          <p:cNvPicPr>
            <a:picLocks noChangeAspect="1"/>
          </p:cNvPicPr>
          <p:nvPr/>
        </p:nvPicPr>
        <p:blipFill>
          <a:blip r:embed="rId5"/>
          <a:stretch>
            <a:fillRect/>
          </a:stretch>
        </p:blipFill>
        <p:spPr>
          <a:xfrm>
            <a:off x="530351" y="4311194"/>
            <a:ext cx="11130991" cy="1741827"/>
          </a:xfrm>
          <a:prstGeom prst="rect">
            <a:avLst/>
          </a:prstGeom>
        </p:spPr>
      </p:pic>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Can a director break it?</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15" name="Oval 14"/>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17" name="Oval 1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19" name="Oval 18"/>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1" name="Oval 20"/>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S0  ·  2 / 39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06</a:t>
            </a:r>
          </a:p>
        </p:txBody>
      </p:sp>
      <p:sp>
        <p:nvSpPr>
          <p:cNvPr id="8" name="TextBox 7"/>
          <p:cNvSpPr txBox="1"/>
          <p:nvPr/>
        </p:nvSpPr>
        <p:spPr>
          <a:xfrm>
            <a:off x="731519" y="2542032"/>
            <a:ext cx="10673791" cy="366776"/>
          </a:xfrm>
          <a:prstGeom prst="rect">
            <a:avLst/>
          </a:prstGeom>
          <a:noFill/>
        </p:spPr>
        <p:txBody>
          <a:bodyPr wrap="square" anchor="t" lIns="0" rIns="0" tIns="0" bIns="0">
            <a:spAutoFit/>
          </a:bodyPr>
          <a:lstStyle/>
          <a:p>
            <a:pPr algn="l"/>
            <a:r>
              <a:rPr sz="2000" b="1" i="0">
                <a:solidFill>
                  <a:srgbClr val="D9A7FF"/>
                </a:solidFill>
                <a:latin typeface="Calibri"/>
              </a:rPr>
              <a:t>Keeping the sheet and the source from drifting</a:t>
            </a:r>
          </a:p>
        </p:txBody>
      </p:sp>
      <p:sp>
        <p:nvSpPr>
          <p:cNvPr id="9" name="TextBox 8"/>
          <p:cNvSpPr txBox="1"/>
          <p:nvPr/>
        </p:nvSpPr>
        <p:spPr>
          <a:xfrm>
            <a:off x="731519" y="3017520"/>
            <a:ext cx="10673791" cy="731520"/>
          </a:xfrm>
          <a:prstGeom prst="rect">
            <a:avLst/>
          </a:prstGeom>
          <a:noFill/>
        </p:spPr>
        <p:txBody>
          <a:bodyPr wrap="square" anchor="t" lIns="0" rIns="0" tIns="0" bIns="0">
            <a:spAutoFit/>
          </a:bodyPr>
          <a:lstStyle/>
          <a:p>
            <a:pPr algn="l"/>
            <a:r>
              <a:rPr sz="4000" b="0" i="0">
                <a:solidFill>
                  <a:srgbClr val="FFFFFF"/>
                </a:solidFill>
                <a:latin typeface="Georgia"/>
              </a:rPr>
              <a:t>Can a director break it?</a:t>
            </a:r>
          </a:p>
        </p:txBody>
      </p:sp>
      <p:sp>
        <p:nvSpPr>
          <p:cNvPr id="10" name="TextBox 9"/>
          <p:cNvSpPr txBox="1"/>
          <p:nvPr/>
        </p:nvSpPr>
        <p:spPr>
          <a:xfrm>
            <a:off x="731519" y="3931920"/>
            <a:ext cx="9509760" cy="531876"/>
          </a:xfrm>
          <a:prstGeom prst="rect">
            <a:avLst/>
          </a:prstGeom>
          <a:noFill/>
        </p:spPr>
        <p:txBody>
          <a:bodyPr wrap="square" anchor="t" lIns="0" rIns="0" tIns="0" bIns="0">
            <a:spAutoFit/>
          </a:bodyPr>
          <a:lstStyle/>
          <a:p>
            <a:pPr algn="l"/>
            <a:r>
              <a:rPr sz="1500" b="0" i="0">
                <a:solidFill>
                  <a:srgbClr val="E4E1F1"/>
                </a:solidFill>
                <a:latin typeface="Calibri"/>
              </a:rPr>
              <a:t>When a director takes the workbook in the room, what can they break, and which checks catch it before anyone reads a wrong number? The chief of staff's last condition rides on it.</a:t>
            </a:r>
          </a:p>
        </p:txBody>
      </p:sp>
      <p:sp>
        <p:nvSpPr>
          <p:cNvPr id="11" name="Rounded Rectangle 10"/>
          <p:cNvSpPr/>
          <p:nvPr/>
        </p:nvSpPr>
        <p:spPr>
          <a:xfrm>
            <a:off x="731519" y="5074920"/>
            <a:ext cx="178694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Can a director break it?</a:t>
            </a:r>
          </a:p>
        </p:txBody>
      </p:sp>
      <p:sp>
        <p:nvSpPr>
          <p:cNvPr id="12" name="Rounded Rectangle 11"/>
          <p:cNvSpPr/>
          <p:nvPr/>
        </p:nvSpPr>
        <p:spPr>
          <a:xfrm>
            <a:off x="2628191"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ship it alone?</a:t>
            </a:r>
          </a:p>
        </p:txBody>
      </p:sp>
      <p:sp>
        <p:nvSpPr>
          <p:cNvPr id="13" name="Rounded Rectangle 12"/>
          <p:cNvSpPr/>
          <p:nvPr/>
        </p:nvSpPr>
        <p:spPr>
          <a:xfrm>
            <a:off x="4406430"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numbers were wrong?</a:t>
            </a:r>
          </a:p>
        </p:txBody>
      </p:sp>
      <p:sp>
        <p:nvSpPr>
          <p:cNvPr id="14" name="Rounded Rectangle 13"/>
          <p:cNvSpPr/>
          <p:nvPr/>
        </p:nvSpPr>
        <p:spPr>
          <a:xfrm>
            <a:off x="6362318"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does five lakh go?</a:t>
            </a:r>
          </a:p>
        </p:txBody>
      </p:sp>
      <p:sp>
        <p:nvSpPr>
          <p:cNvPr id="15" name="Rounded Rectangle 14"/>
          <p:cNvSpPr/>
          <p:nvPr/>
        </p:nvSpPr>
        <p:spPr>
          <a:xfrm>
            <a:off x="8258989"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say it aloud?</a:t>
            </a:r>
          </a:p>
        </p:txBody>
      </p:sp>
      <p:sp>
        <p:nvSpPr>
          <p:cNvPr id="16" name="Rounded Rectangle 15"/>
          <p:cNvSpPr/>
          <p:nvPr/>
        </p:nvSpPr>
        <p:spPr>
          <a:xfrm>
            <a:off x="9978012"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ships on Monday?</a:t>
            </a:r>
          </a:p>
        </p:txBody>
      </p:sp>
      <p:sp>
        <p:nvSpPr>
          <p:cNvPr id="17" name="TextBox 16"/>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5. Can a director change it and still trust it?</a:t>
            </a:r>
          </a:p>
        </p:txBody>
      </p:sp>
      <p:sp>
        <p:nvSpPr>
          <p:cNvPr id="18" name="TextBox 1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 / 39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directors take the laptop in the room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Who changes the workbook in the room, and which six questions make it safe to hand over?</a:t>
            </a:r>
          </a:p>
        </p:txBody>
      </p:sp>
      <p:sp>
        <p:nvSpPr>
          <p:cNvPr id="9" name="Rounded Rectangle 8"/>
          <p:cNvSpPr/>
          <p:nvPr/>
        </p:nvSpPr>
        <p:spPr>
          <a:xfrm>
            <a:off x="530352" y="1956816"/>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676656" y="2084832"/>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77824" y="2075688"/>
            <a:ext cx="10564063" cy="891540"/>
          </a:xfrm>
          <a:prstGeom prst="rect">
            <a:avLst/>
          </a:prstGeom>
          <a:noFill/>
        </p:spPr>
        <p:txBody>
          <a:bodyPr wrap="square" anchor="ctr" lIns="0" rIns="0" tIns="0" bIns="0">
            <a:spAutoFit/>
          </a:bodyPr>
          <a:lstStyle/>
          <a:p>
            <a:r>
              <a:rPr sz="1500" b="1">
                <a:solidFill>
                  <a:srgbClr val="5B3FD6"/>
                </a:solidFill>
                <a:latin typeface="Calibri"/>
              </a:rPr>
              <a:t>Who needs the answer. </a:t>
            </a:r>
            <a:r>
              <a:rPr sz="1500" b="0" i="0">
                <a:solidFill>
                  <a:srgbClr val="1A1440"/>
                </a:solidFill>
                <a:latin typeface="Calibri"/>
              </a:rPr>
              <a:t>The chief of staff, who hands the laptop across mid-meeting, and the head of Retail-Plus, who sizes each city's budget from the list; a total that keeps counting hidden rows sizes a budget on the whole list.</a:t>
            </a:r>
          </a:p>
        </p:txBody>
      </p:sp>
      <p:sp>
        <p:nvSpPr>
          <p:cNvPr id="12" name="Rectangle 11"/>
          <p:cNvSpPr/>
          <p:nvPr/>
        </p:nvSpPr>
        <p:spPr>
          <a:xfrm>
            <a:off x="1381734" y="3762756"/>
            <a:ext cx="9428226"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035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1</a:t>
            </a:r>
          </a:p>
        </p:txBody>
      </p:sp>
      <p:sp>
        <p:nvSpPr>
          <p:cNvPr id="14" name="Oval 13"/>
          <p:cNvSpPr/>
          <p:nvPr/>
        </p:nvSpPr>
        <p:spPr>
          <a:xfrm>
            <a:off x="1281150"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530352"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94944" y="4229100"/>
            <a:ext cx="1373581" cy="465836"/>
          </a:xfrm>
          <a:prstGeom prst="rect">
            <a:avLst/>
          </a:prstGeom>
          <a:noFill/>
        </p:spPr>
        <p:txBody>
          <a:bodyPr wrap="square" anchor="t" lIns="0" rIns="0" tIns="0" bIns="0">
            <a:spAutoFit/>
          </a:bodyPr>
          <a:lstStyle/>
          <a:p>
            <a:pPr algn="l"/>
            <a:r>
              <a:rPr sz="1300" b="1" i="0">
                <a:solidFill>
                  <a:srgbClr val="1A0F5C"/>
                </a:solidFill>
                <a:latin typeface="Calibri"/>
              </a:rPr>
              <a:t>How to protect it?</a:t>
            </a:r>
          </a:p>
        </p:txBody>
      </p:sp>
      <p:sp>
        <p:nvSpPr>
          <p:cNvPr id="17" name="TextBox 16"/>
          <p:cNvSpPr txBox="1"/>
          <p:nvPr/>
        </p:nvSpPr>
        <p:spPr>
          <a:xfrm>
            <a:off x="694944" y="4731512"/>
            <a:ext cx="1373581" cy="201676"/>
          </a:xfrm>
          <a:prstGeom prst="rect">
            <a:avLst/>
          </a:prstGeom>
          <a:noFill/>
        </p:spPr>
        <p:txBody>
          <a:bodyPr wrap="square" anchor="t" lIns="0" rIns="0" tIns="0" bIns="0">
            <a:spAutoFit/>
          </a:bodyPr>
          <a:lstStyle/>
          <a:p>
            <a:pPr algn="l"/>
            <a:r>
              <a:rPr sz="1000" b="0" i="0">
                <a:solidFill>
                  <a:srgbClr val="6B6690"/>
                </a:solidFill>
                <a:latin typeface="Calibri"/>
              </a:rPr>
              <a:t>Four ways, sized.</a:t>
            </a:r>
          </a:p>
        </p:txBody>
      </p:sp>
      <p:sp>
        <p:nvSpPr>
          <p:cNvPr id="18" name="TextBox 17"/>
          <p:cNvSpPr txBox="1"/>
          <p:nvPr/>
        </p:nvSpPr>
        <p:spPr>
          <a:xfrm>
            <a:off x="2415997"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2</a:t>
            </a:r>
          </a:p>
        </p:txBody>
      </p:sp>
      <p:sp>
        <p:nvSpPr>
          <p:cNvPr id="19" name="Oval 18"/>
          <p:cNvSpPr/>
          <p:nvPr/>
        </p:nvSpPr>
        <p:spPr>
          <a:xfrm>
            <a:off x="3166795"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2415997"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580589" y="4229100"/>
            <a:ext cx="1373581" cy="465836"/>
          </a:xfrm>
          <a:prstGeom prst="rect">
            <a:avLst/>
          </a:prstGeom>
          <a:noFill/>
        </p:spPr>
        <p:txBody>
          <a:bodyPr wrap="square" anchor="t" lIns="0" rIns="0" tIns="0" bIns="0">
            <a:spAutoFit/>
          </a:bodyPr>
          <a:lstStyle/>
          <a:p>
            <a:pPr algn="l"/>
            <a:r>
              <a:rPr sz="1300" b="1" i="0">
                <a:solidFill>
                  <a:srgbClr val="1A0F5C"/>
                </a:solidFill>
                <a:latin typeface="Calibri"/>
              </a:rPr>
              <a:t>What will they do?</a:t>
            </a:r>
          </a:p>
        </p:txBody>
      </p:sp>
      <p:sp>
        <p:nvSpPr>
          <p:cNvPr id="22" name="TextBox 21"/>
          <p:cNvSpPr txBox="1"/>
          <p:nvPr/>
        </p:nvSpPr>
        <p:spPr>
          <a:xfrm>
            <a:off x="2580589" y="4731512"/>
            <a:ext cx="1373581" cy="366776"/>
          </a:xfrm>
          <a:prstGeom prst="rect">
            <a:avLst/>
          </a:prstGeom>
          <a:noFill/>
        </p:spPr>
        <p:txBody>
          <a:bodyPr wrap="square" anchor="t" lIns="0" rIns="0" tIns="0" bIns="0">
            <a:spAutoFit/>
          </a:bodyPr>
          <a:lstStyle/>
          <a:p>
            <a:pPr algn="l"/>
            <a:r>
              <a:rPr sz="1000" b="0" i="0">
                <a:solidFill>
                  <a:srgbClr val="6B6690"/>
                </a:solidFill>
                <a:latin typeface="Calibri"/>
              </a:rPr>
              <a:t>Five things a director does to a sheet.</a:t>
            </a:r>
          </a:p>
        </p:txBody>
      </p:sp>
      <p:sp>
        <p:nvSpPr>
          <p:cNvPr id="23" name="TextBox 22"/>
          <p:cNvSpPr txBox="1"/>
          <p:nvPr/>
        </p:nvSpPr>
        <p:spPr>
          <a:xfrm>
            <a:off x="430164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3</a:t>
            </a:r>
          </a:p>
        </p:txBody>
      </p:sp>
      <p:sp>
        <p:nvSpPr>
          <p:cNvPr id="24" name="Oval 23"/>
          <p:cNvSpPr/>
          <p:nvPr/>
        </p:nvSpPr>
        <p:spPr>
          <a:xfrm>
            <a:off x="5052441"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01642"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466234" y="4229100"/>
            <a:ext cx="1373581" cy="465836"/>
          </a:xfrm>
          <a:prstGeom prst="rect">
            <a:avLst/>
          </a:prstGeom>
          <a:noFill/>
        </p:spPr>
        <p:txBody>
          <a:bodyPr wrap="square" anchor="t" lIns="0" rIns="0" tIns="0" bIns="0">
            <a:spAutoFit/>
          </a:bodyPr>
          <a:lstStyle/>
          <a:p>
            <a:pPr algn="l"/>
            <a:r>
              <a:rPr sz="1300" b="1" i="0">
                <a:solidFill>
                  <a:srgbClr val="1A0F5C"/>
                </a:solidFill>
                <a:latin typeface="Calibri"/>
              </a:rPr>
              <a:t>A filtered total?</a:t>
            </a:r>
          </a:p>
        </p:txBody>
      </p:sp>
      <p:sp>
        <p:nvSpPr>
          <p:cNvPr id="27" name="TextBox 26"/>
          <p:cNvSpPr txBox="1"/>
          <p:nvPr/>
        </p:nvSpPr>
        <p:spPr>
          <a:xfrm>
            <a:off x="4466234" y="4731512"/>
            <a:ext cx="1373581" cy="201676"/>
          </a:xfrm>
          <a:prstGeom prst="rect">
            <a:avLst/>
          </a:prstGeom>
          <a:noFill/>
        </p:spPr>
        <p:txBody>
          <a:bodyPr wrap="square" anchor="t" lIns="0" rIns="0" tIns="0" bIns="0">
            <a:spAutoFit/>
          </a:bodyPr>
          <a:lstStyle/>
          <a:p>
            <a:pPr algn="l"/>
            <a:r>
              <a:rPr sz="1000" b="0" i="0">
                <a:solidFill>
                  <a:srgbClr val="6B6690"/>
                </a:solidFill>
                <a:latin typeface="Calibri"/>
              </a:rPr>
              <a:t>What the foot says.</a:t>
            </a:r>
          </a:p>
        </p:txBody>
      </p:sp>
      <p:sp>
        <p:nvSpPr>
          <p:cNvPr id="28" name="TextBox 27"/>
          <p:cNvSpPr txBox="1"/>
          <p:nvPr/>
        </p:nvSpPr>
        <p:spPr>
          <a:xfrm>
            <a:off x="6187287"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4</a:t>
            </a:r>
          </a:p>
        </p:txBody>
      </p:sp>
      <p:sp>
        <p:nvSpPr>
          <p:cNvPr id="29" name="Oval 28"/>
          <p:cNvSpPr/>
          <p:nvPr/>
        </p:nvSpPr>
        <p:spPr>
          <a:xfrm>
            <a:off x="6938086"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ounded Rectangle 29"/>
          <p:cNvSpPr/>
          <p:nvPr/>
        </p:nvSpPr>
        <p:spPr>
          <a:xfrm>
            <a:off x="6187287"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351879" y="4229100"/>
            <a:ext cx="1373581" cy="465836"/>
          </a:xfrm>
          <a:prstGeom prst="rect">
            <a:avLst/>
          </a:prstGeom>
          <a:noFill/>
        </p:spPr>
        <p:txBody>
          <a:bodyPr wrap="square" anchor="t" lIns="0" rIns="0" tIns="0" bIns="0">
            <a:spAutoFit/>
          </a:bodyPr>
          <a:lstStyle/>
          <a:p>
            <a:pPr algn="l"/>
            <a:r>
              <a:rPr sz="1300" b="1" i="0">
                <a:solidFill>
                  <a:srgbClr val="1A0F5C"/>
                </a:solidFill>
                <a:latin typeface="Calibri"/>
              </a:rPr>
              <a:t>Visible rows only?</a:t>
            </a:r>
          </a:p>
        </p:txBody>
      </p:sp>
      <p:sp>
        <p:nvSpPr>
          <p:cNvPr id="32" name="TextBox 31"/>
          <p:cNvSpPr txBox="1"/>
          <p:nvPr/>
        </p:nvSpPr>
        <p:spPr>
          <a:xfrm>
            <a:off x="6351879" y="4731512"/>
            <a:ext cx="1373581" cy="366776"/>
          </a:xfrm>
          <a:prstGeom prst="rect">
            <a:avLst/>
          </a:prstGeom>
          <a:noFill/>
        </p:spPr>
        <p:txBody>
          <a:bodyPr wrap="square" anchor="t" lIns="0" rIns="0" tIns="0" bIns="0">
            <a:spAutoFit/>
          </a:bodyPr>
          <a:lstStyle/>
          <a:p>
            <a:pPr algn="l"/>
            <a:r>
              <a:rPr sz="1000" b="0" i="0">
                <a:solidFill>
                  <a:srgbClr val="6B6690"/>
                </a:solidFill>
                <a:latin typeface="Calibri"/>
              </a:rPr>
              <a:t>SUBTOTAL, and a second route.</a:t>
            </a:r>
          </a:p>
        </p:txBody>
      </p:sp>
      <p:sp>
        <p:nvSpPr>
          <p:cNvPr id="33" name="TextBox 32"/>
          <p:cNvSpPr txBox="1"/>
          <p:nvPr/>
        </p:nvSpPr>
        <p:spPr>
          <a:xfrm>
            <a:off x="8072932"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5</a:t>
            </a:r>
          </a:p>
        </p:txBody>
      </p:sp>
      <p:sp>
        <p:nvSpPr>
          <p:cNvPr id="34" name="Oval 33"/>
          <p:cNvSpPr/>
          <p:nvPr/>
        </p:nvSpPr>
        <p:spPr>
          <a:xfrm>
            <a:off x="8823731" y="3671316"/>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ounded Rectangle 34"/>
          <p:cNvSpPr/>
          <p:nvPr/>
        </p:nvSpPr>
        <p:spPr>
          <a:xfrm>
            <a:off x="8072932" y="4082796"/>
            <a:ext cx="1702765" cy="107696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237524" y="4229100"/>
            <a:ext cx="1373581" cy="251205"/>
          </a:xfrm>
          <a:prstGeom prst="rect">
            <a:avLst/>
          </a:prstGeom>
          <a:noFill/>
        </p:spPr>
        <p:txBody>
          <a:bodyPr wrap="square" anchor="t" lIns="0" rIns="0" tIns="0" bIns="0">
            <a:spAutoFit/>
          </a:bodyPr>
          <a:lstStyle/>
          <a:p>
            <a:pPr algn="l"/>
            <a:r>
              <a:rPr sz="1300" b="1" i="0">
                <a:solidFill>
                  <a:srgbClr val="1A0F5C"/>
                </a:solidFill>
                <a:latin typeface="Calibri"/>
              </a:rPr>
              <a:t>An assumption?</a:t>
            </a:r>
          </a:p>
        </p:txBody>
      </p:sp>
      <p:sp>
        <p:nvSpPr>
          <p:cNvPr id="37" name="TextBox 36"/>
          <p:cNvSpPr txBox="1"/>
          <p:nvPr/>
        </p:nvSpPr>
        <p:spPr>
          <a:xfrm>
            <a:off x="8237524" y="4516882"/>
            <a:ext cx="1373581" cy="366776"/>
          </a:xfrm>
          <a:prstGeom prst="rect">
            <a:avLst/>
          </a:prstGeom>
          <a:noFill/>
        </p:spPr>
        <p:txBody>
          <a:bodyPr wrap="square" anchor="t" lIns="0" rIns="0" tIns="0" bIns="0">
            <a:spAutoFit/>
          </a:bodyPr>
          <a:lstStyle/>
          <a:p>
            <a:pPr algn="l"/>
            <a:r>
              <a:rPr sz="1000" b="0" i="0">
                <a:solidFill>
                  <a:srgbClr val="6B6690"/>
                </a:solidFill>
                <a:latin typeface="Calibri"/>
              </a:rPr>
              <a:t>Where a what-if goes.</a:t>
            </a:r>
          </a:p>
        </p:txBody>
      </p:sp>
      <p:sp>
        <p:nvSpPr>
          <p:cNvPr id="38" name="TextBox 37"/>
          <p:cNvSpPr txBox="1"/>
          <p:nvPr/>
        </p:nvSpPr>
        <p:spPr>
          <a:xfrm>
            <a:off x="9958578" y="3195828"/>
            <a:ext cx="1702765" cy="168656"/>
          </a:xfrm>
          <a:prstGeom prst="rect">
            <a:avLst/>
          </a:prstGeom>
          <a:noFill/>
        </p:spPr>
        <p:txBody>
          <a:bodyPr wrap="square" anchor="t" lIns="0" rIns="0" tIns="0" bIns="0">
            <a:spAutoFit/>
          </a:bodyPr>
          <a:lstStyle/>
          <a:p>
            <a:pPr algn="ctr"/>
            <a:r>
              <a:rPr sz="800" b="1" i="0" spc="250">
                <a:solidFill>
                  <a:srgbClr val="5B3FD6"/>
                </a:solidFill>
                <a:latin typeface="Calibri"/>
              </a:rPr>
              <a:t>6</a:t>
            </a:r>
          </a:p>
        </p:txBody>
      </p:sp>
      <p:sp>
        <p:nvSpPr>
          <p:cNvPr id="39" name="Oval 38"/>
          <p:cNvSpPr/>
          <p:nvPr/>
        </p:nvSpPr>
        <p:spPr>
          <a:xfrm>
            <a:off x="10709376" y="3671316"/>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Rounded Rectangle 39"/>
          <p:cNvSpPr/>
          <p:nvPr/>
        </p:nvSpPr>
        <p:spPr>
          <a:xfrm>
            <a:off x="9958578" y="4082796"/>
            <a:ext cx="1702765" cy="107696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10123170" y="4229100"/>
            <a:ext cx="1373581" cy="465836"/>
          </a:xfrm>
          <a:prstGeom prst="rect">
            <a:avLst/>
          </a:prstGeom>
          <a:noFill/>
        </p:spPr>
        <p:txBody>
          <a:bodyPr wrap="square" anchor="t" lIns="0" rIns="0" tIns="0" bIns="0">
            <a:spAutoFit/>
          </a:bodyPr>
          <a:lstStyle/>
          <a:p>
            <a:pPr algn="l"/>
            <a:r>
              <a:rPr sz="1300" b="1" i="0">
                <a:solidFill>
                  <a:srgbClr val="FFFFFF"/>
                </a:solidFill>
                <a:latin typeface="Calibri"/>
              </a:rPr>
              <a:t>What is released?</a:t>
            </a:r>
          </a:p>
        </p:txBody>
      </p:sp>
      <p:sp>
        <p:nvSpPr>
          <p:cNvPr id="42" name="TextBox 41"/>
          <p:cNvSpPr txBox="1"/>
          <p:nvPr/>
        </p:nvSpPr>
        <p:spPr>
          <a:xfrm>
            <a:off x="10123170" y="4731512"/>
            <a:ext cx="1373581" cy="201676"/>
          </a:xfrm>
          <a:prstGeom prst="rect">
            <a:avLst/>
          </a:prstGeom>
          <a:noFill/>
        </p:spPr>
        <p:txBody>
          <a:bodyPr wrap="square" anchor="t" lIns="0" rIns="0" tIns="0" bIns="0">
            <a:spAutoFit/>
          </a:bodyPr>
          <a:lstStyle/>
          <a:p>
            <a:pPr algn="l"/>
            <a:r>
              <a:rPr sz="1000" b="0" i="0">
                <a:solidFill>
                  <a:srgbClr val="CFC9EE"/>
                </a:solidFill>
                <a:latin typeface="Calibri"/>
              </a:rPr>
              <a:t>The Checks tab.</a:t>
            </a:r>
          </a:p>
        </p:txBody>
      </p:sp>
      <p:sp>
        <p:nvSpPr>
          <p:cNvPr id="43" name="Oval 4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Can a director break it?</a:t>
            </a:r>
          </a:p>
        </p:txBody>
      </p:sp>
      <p:sp>
        <p:nvSpPr>
          <p:cNvPr id="45" name="Oval 4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47" name="Oval 46"/>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49" name="Oval 4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51" name="Oval 50"/>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53" name="Oval 52"/>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55" name="TextBox 5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  ·  4 / 39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director will filter, sort, type and ask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a silent change in the room cost the head of Retail-Plus?</a:t>
            </a:r>
          </a:p>
        </p:txBody>
      </p:sp>
      <p:sp>
        <p:nvSpPr>
          <p:cNvPr id="9" name="TextBox 8"/>
          <p:cNvSpPr txBox="1"/>
          <p:nvPr/>
        </p:nvSpPr>
        <p:spPr>
          <a:xfrm>
            <a:off x="53035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50</a:t>
            </a:r>
          </a:p>
        </p:txBody>
      </p:sp>
      <p:sp>
        <p:nvSpPr>
          <p:cNvPr id="10" name="TextBox 9"/>
          <p:cNvSpPr txBox="1"/>
          <p:nvPr/>
        </p:nvSpPr>
        <p:spPr>
          <a:xfrm>
            <a:off x="53035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MEMBERS ON THE LIST</a:t>
            </a:r>
          </a:p>
        </p:txBody>
      </p:sp>
      <p:sp>
        <p:nvSpPr>
          <p:cNvPr id="11" name="TextBox 10"/>
          <p:cNvSpPr txBox="1"/>
          <p:nvPr/>
        </p:nvSpPr>
        <p:spPr>
          <a:xfrm>
            <a:off x="53035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Rs 7,14,890 together</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6</a:t>
            </a:r>
          </a:p>
        </p:txBody>
      </p:sp>
      <p:sp>
        <p:nvSpPr>
          <p:cNvPr id="14" name="TextBox 13"/>
          <p:cNvSpPr txBox="1"/>
          <p:nvPr/>
        </p:nvSpPr>
        <p:spPr>
          <a:xfrm>
            <a:off x="433212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CITIES</a:t>
            </a:r>
          </a:p>
        </p:txBody>
      </p:sp>
      <p:sp>
        <p:nvSpPr>
          <p:cNvPr id="15" name="TextBox 14"/>
          <p:cNvSpPr txBox="1"/>
          <p:nvPr/>
        </p:nvSpPr>
        <p:spPr>
          <a:xfrm>
            <a:off x="433212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each with its own budget</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98500"/>
          </a:xfrm>
          <a:prstGeom prst="rect">
            <a:avLst/>
          </a:prstGeom>
          <a:noFill/>
        </p:spPr>
        <p:txBody>
          <a:bodyPr wrap="square" anchor="t" lIns="0" rIns="0" tIns="0" bIns="0">
            <a:spAutoFit/>
          </a:bodyPr>
          <a:lstStyle/>
          <a:p>
            <a:pPr algn="l"/>
            <a:r>
              <a:rPr sz="4400" b="0" i="0">
                <a:solidFill>
                  <a:srgbClr val="5B3FD6"/>
                </a:solidFill>
                <a:latin typeface="Georgia"/>
              </a:rPr>
              <a:t>0</a:t>
            </a:r>
          </a:p>
        </p:txBody>
      </p:sp>
      <p:sp>
        <p:nvSpPr>
          <p:cNvPr id="18" name="TextBox 17"/>
          <p:cNvSpPr txBox="1"/>
          <p:nvPr/>
        </p:nvSpPr>
        <p:spPr>
          <a:xfrm>
            <a:off x="8133892" y="26918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ERRORS SHOWN</a:t>
            </a:r>
          </a:p>
        </p:txBody>
      </p:sp>
      <p:sp>
        <p:nvSpPr>
          <p:cNvPr id="19" name="TextBox 18"/>
          <p:cNvSpPr txBox="1"/>
          <p:nvPr/>
        </p:nvSpPr>
        <p:spPr>
          <a:xfrm>
            <a:off x="8133892" y="2893060"/>
            <a:ext cx="3527450" cy="193421"/>
          </a:xfrm>
          <a:prstGeom prst="rect">
            <a:avLst/>
          </a:prstGeom>
          <a:noFill/>
        </p:spPr>
        <p:txBody>
          <a:bodyPr wrap="square" anchor="t" lIns="0" rIns="0" tIns="0" bIns="0">
            <a:spAutoFit/>
          </a:bodyPr>
          <a:lstStyle/>
          <a:p>
            <a:pPr algn="l"/>
            <a:r>
              <a:rPr sz="950" b="0" i="0">
                <a:solidFill>
                  <a:srgbClr val="6B6690"/>
                </a:solidFill>
                <a:latin typeface="Calibri"/>
              </a:rPr>
              <a:t>when a filter changes what a total means</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530352" y="3419856"/>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58952" y="362254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message-square_028dbd132a0a.png"/>
          <p:cNvPicPr>
            <a:picLocks noChangeAspect="1"/>
          </p:cNvPicPr>
          <p:nvPr/>
        </p:nvPicPr>
        <p:blipFill>
          <a:blip r:embed="rId4"/>
          <a:stretch>
            <a:fillRect/>
          </a:stretch>
        </p:blipFill>
        <p:spPr>
          <a:xfrm>
            <a:off x="868680" y="3732276"/>
            <a:ext cx="237744" cy="237744"/>
          </a:xfrm>
          <a:prstGeom prst="rect">
            <a:avLst/>
          </a:prstGeom>
        </p:spPr>
      </p:pic>
      <p:sp>
        <p:nvSpPr>
          <p:cNvPr id="24" name="TextBox 23"/>
          <p:cNvSpPr txBox="1"/>
          <p:nvPr/>
        </p:nvSpPr>
        <p:spPr>
          <a:xfrm>
            <a:off x="1399031" y="356616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25" name="TextBox 24"/>
          <p:cNvSpPr txBox="1"/>
          <p:nvPr/>
        </p:nvSpPr>
        <p:spPr>
          <a:xfrm>
            <a:off x="1399031" y="3785616"/>
            <a:ext cx="9987991" cy="423672"/>
          </a:xfrm>
          <a:prstGeom prst="rect">
            <a:avLst/>
          </a:prstGeom>
          <a:noFill/>
        </p:spPr>
        <p:txBody>
          <a:bodyPr wrap="square" anchor="t" lIns="0" rIns="0" tIns="0" bIns="0">
            <a:spAutoFit/>
          </a:bodyPr>
          <a:lstStyle/>
          <a:p>
            <a:r>
              <a:rPr sz="1500" b="0" i="0">
                <a:solidFill>
                  <a:srgbClr val="FFFFFF"/>
                </a:solidFill>
                <a:latin typeface="Calibri"/>
              </a:rPr>
              <a:t>"If a director changes an assumption in the room, the sheet must recalculate in front of them."</a:t>
            </a:r>
          </a:p>
        </p:txBody>
      </p:sp>
      <p:sp>
        <p:nvSpPr>
          <p:cNvPr id="26" name="Oval 2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Can a director break it?</a:t>
            </a:r>
          </a:p>
        </p:txBody>
      </p:sp>
      <p:sp>
        <p:nvSpPr>
          <p:cNvPr id="28" name="Oval 27"/>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30" name="Oval 29"/>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32" name="Oval 31"/>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34" name="Oval 33"/>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36" name="Oval 35"/>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38" name="TextBox 3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  ·  5 / 39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Barclays bought 179 contracts hidden in a sheet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real company paid for rows nobody could see?</a:t>
            </a:r>
          </a:p>
        </p:txBody>
      </p:sp>
      <p:sp>
        <p:nvSpPr>
          <p:cNvPr id="9" name="TextBox 8"/>
          <p:cNvSpPr txBox="1"/>
          <p:nvPr/>
        </p:nvSpPr>
        <p:spPr>
          <a:xfrm>
            <a:off x="530352"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179</a:t>
            </a:r>
          </a:p>
        </p:txBody>
      </p:sp>
      <p:sp>
        <p:nvSpPr>
          <p:cNvPr id="10" name="TextBox 9"/>
          <p:cNvSpPr txBox="1"/>
          <p:nvPr/>
        </p:nvSpPr>
        <p:spPr>
          <a:xfrm>
            <a:off x="530352"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CONTRACTS</a:t>
            </a:r>
          </a:p>
        </p:txBody>
      </p:sp>
      <p:sp>
        <p:nvSpPr>
          <p:cNvPr id="11" name="TextBox 10"/>
          <p:cNvSpPr txBox="1"/>
          <p:nvPr/>
        </p:nvSpPr>
        <p:spPr>
          <a:xfrm>
            <a:off x="530352"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Barclays asked the court to exclude them</a:t>
            </a:r>
          </a:p>
        </p:txBody>
      </p:sp>
      <p:sp>
        <p:nvSpPr>
          <p:cNvPr id="12" name="Rectangle 11"/>
          <p:cNvSpPr/>
          <p:nvPr/>
        </p:nvSpPr>
        <p:spPr>
          <a:xfrm>
            <a:off x="530352"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3007"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2008</a:t>
            </a:r>
          </a:p>
        </p:txBody>
      </p:sp>
      <p:sp>
        <p:nvSpPr>
          <p:cNvPr id="14" name="TextBox 13"/>
          <p:cNvSpPr txBox="1"/>
          <p:nvPr/>
        </p:nvSpPr>
        <p:spPr>
          <a:xfrm>
            <a:off x="6233007"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THE YEAR</a:t>
            </a:r>
          </a:p>
        </p:txBody>
      </p:sp>
      <p:sp>
        <p:nvSpPr>
          <p:cNvPr id="15" name="TextBox 14"/>
          <p:cNvSpPr txBox="1"/>
          <p:nvPr/>
        </p:nvSpPr>
        <p:spPr>
          <a:xfrm>
            <a:off x="6233007"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the Lehman purchase</a:t>
            </a:r>
          </a:p>
        </p:txBody>
      </p:sp>
      <p:sp>
        <p:nvSpPr>
          <p:cNvPr id="16" name="Rectangle 15"/>
          <p:cNvSpPr/>
          <p:nvPr/>
        </p:nvSpPr>
        <p:spPr>
          <a:xfrm>
            <a:off x="6233007"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530352" y="3419856"/>
            <a:ext cx="45720" cy="102616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86384" y="3419856"/>
            <a:ext cx="10820095" cy="1026160"/>
          </a:xfrm>
          <a:prstGeom prst="rect">
            <a:avLst/>
          </a:prstGeom>
          <a:noFill/>
        </p:spPr>
        <p:txBody>
          <a:bodyPr wrap="square" anchor="t" lIns="0" rIns="0" tIns="0" bIns="0">
            <a:spAutoFit/>
          </a:bodyPr>
          <a:lstStyle/>
          <a:p>
            <a:r>
              <a:rPr sz="1600" b="0" i="1">
                <a:solidFill>
                  <a:srgbClr val="1A0F5C"/>
                </a:solidFill>
                <a:latin typeface="Georgia"/>
              </a:rPr>
              <a:t>"Contracts that had been marked as 'hidden' in the spreadsheet when it was received by the law firm were added to the purchase offer during the reformatting process."</a:t>
            </a:r>
          </a:p>
          <a:p>
            <a:pPr>
              <a:spcBef>
                <a:spcPts val="400"/>
              </a:spcBef>
            </a:pPr>
            <a:r>
              <a:rPr sz="1000" b="0" i="0">
                <a:solidFill>
                  <a:srgbClr val="6B6690"/>
                </a:solidFill>
                <a:latin typeface="Calibri"/>
              </a:rPr>
              <a:t>Computerworld, 14 October 2008</a:t>
            </a:r>
          </a:p>
        </p:txBody>
      </p:sp>
      <p:sp>
        <p:nvSpPr>
          <p:cNvPr id="19" name="Oval 18"/>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Can a director break it?</a:t>
            </a:r>
          </a:p>
        </p:txBody>
      </p:sp>
      <p:sp>
        <p:nvSpPr>
          <p:cNvPr id="21" name="Oval 20"/>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23" name="Oval 22"/>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25" name="Oval 24"/>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27" name="Oval 26"/>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9" name="Oval 28"/>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31" name="TextBox 3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  ·  6 / 39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Yellow inputs, formulas, and a Checks tab</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How could the team protect the workbook, and what does each way cost?</a:t>
            </a:r>
          </a:p>
        </p:txBody>
      </p:sp>
      <p:graphicFrame>
        <p:nvGraphicFramePr>
          <p:cNvPr id="9" name="Table 8"/>
          <p:cNvGraphicFramePr>
            <a:graphicFrameLocks noGrp="1"/>
          </p:cNvGraphicFramePr>
          <p:nvPr/>
        </p:nvGraphicFramePr>
        <p:xfrm>
          <a:off x="530352" y="1890014"/>
          <a:ext cx="11130990" cy="2332736"/>
        </p:xfrm>
        <a:graphic>
          <a:graphicData uri="http://schemas.openxmlformats.org/drawingml/2006/table">
            <a:tbl>
              <a:tblPr firstRow="0" bandRow="0">
                <a:tableStyleId>{2D5ABB26-0587-4C30-8999-92F81FD0307C}</a:tableStyleId>
              </a:tblPr>
              <a:tblGrid>
                <a:gridCol w="3830839"/>
                <a:gridCol w="3830839"/>
                <a:gridCol w="3469312"/>
              </a:tblGrid>
              <a:tr h="369824">
                <a:tc>
                  <a:txBody>
                    <a:bodyPr/>
                    <a:lstStyle/>
                    <a:p>
                      <a:r>
                        <a:rPr sz="1450" b="1" i="0">
                          <a:solidFill>
                            <a:srgbClr val="FFFFFF"/>
                          </a:solidFill>
                          <a:latin typeface="Calibri"/>
                        </a:rPr>
                        <a:t>Option</a:t>
                      </a:r>
                    </a:p>
                  </a:txBody>
                  <a:tcPr marL="101600" marR="101600" marT="38100" marB="38100" anchor="ctr">
                    <a:solidFill>
                      <a:srgbClr val="1A0F5C"/>
                    </a:solidFill>
                  </a:tcPr>
                </a:tc>
                <a:tc>
                  <a:txBody>
                    <a:bodyPr/>
                    <a:lstStyle/>
                    <a:p>
                      <a:r>
                        <a:rPr sz="1450" b="1" i="0">
                          <a:solidFill>
                            <a:srgbClr val="FFFFFF"/>
                          </a:solidFill>
                          <a:latin typeface="Calibri"/>
                        </a:rPr>
                        <a:t>Director actions it allows, of 5</a:t>
                      </a:r>
                    </a:p>
                  </a:txBody>
                  <a:tcPr marL="101600" marR="101600" marT="38100" marB="38100" anchor="ctr">
                    <a:solidFill>
                      <a:srgbClr val="1A0F5C"/>
                    </a:solidFill>
                  </a:tcPr>
                </a:tc>
                <a:tc>
                  <a:txBody>
                    <a:bodyPr/>
                    <a:lstStyle/>
                    <a:p>
                      <a:r>
                        <a:rPr sz="1450" b="1" i="0">
                          <a:solidFill>
                            <a:srgbClr val="FFFFFF"/>
                          </a:solidFill>
                          <a:latin typeface="Calibri"/>
                        </a:rPr>
                        <a:t>A wrong number is caught by</a:t>
                      </a:r>
                    </a:p>
                  </a:txBody>
                  <a:tcPr marL="101600" marR="101600" marT="38100" marB="38100" anchor="ctr">
                    <a:solidFill>
                      <a:srgbClr val="1A0F5C"/>
                    </a:solidFill>
                  </a:tcPr>
                </a:tc>
              </a:tr>
              <a:tr h="611632">
                <a:tc>
                  <a:txBody>
                    <a:bodyPr/>
                    <a:lstStyle/>
                    <a:p>
                      <a:r>
                        <a:rPr sz="1400" b="0" i="0">
                          <a:solidFill>
                            <a:srgbClr val="1A1440"/>
                          </a:solidFill>
                          <a:latin typeface="Calibri"/>
                        </a:rPr>
                        <a:t>a) Protect every cell</a:t>
                      </a:r>
                    </a:p>
                  </a:txBody>
                  <a:tcPr marL="101600" marR="101600" marT="38100" marB="38100" anchor="ctr">
                    <a:solidFill>
                      <a:srgbClr val="FFFFFF"/>
                    </a:solidFill>
                  </a:tcPr>
                </a:tc>
                <a:tc>
                  <a:txBody>
                    <a:bodyPr/>
                    <a:lstStyle/>
                    <a:p>
                      <a:r>
                        <a:rPr sz="1400" b="0" i="0">
                          <a:solidFill>
                            <a:srgbClr val="1A1440"/>
                          </a:solidFill>
                          <a:latin typeface="Calibri"/>
                        </a:rPr>
                        <a:t>2: filter and sort, if protection allows</a:t>
                      </a:r>
                    </a:p>
                  </a:txBody>
                  <a:tcPr marL="101600" marR="101600" marT="38100" marB="38100" anchor="ctr">
                    <a:solidFill>
                      <a:srgbClr val="FFFFFF"/>
                    </a:solidFill>
                  </a:tcPr>
                </a:tc>
                <a:tc>
                  <a:txBody>
                    <a:bodyPr/>
                    <a:lstStyle/>
                    <a:p>
                      <a:r>
                        <a:rPr sz="1400" b="0" i="0">
                          <a:solidFill>
                            <a:srgbClr val="1A1440"/>
                          </a:solidFill>
                          <a:latin typeface="Calibri"/>
                        </a:rPr>
                        <a:t>nothing: no what-if can be asked</a:t>
                      </a:r>
                    </a:p>
                  </a:txBody>
                  <a:tcPr marL="101600" marR="101600" marT="38100" marB="38100" anchor="ctr">
                    <a:solidFill>
                      <a:srgbClr val="FFFFFF"/>
                    </a:solidFill>
                  </a:tcPr>
                </a:tc>
              </a:tr>
              <a:tr h="369824">
                <a:tc>
                  <a:txBody>
                    <a:bodyPr/>
                    <a:lstStyle/>
                    <a:p>
                      <a:r>
                        <a:rPr sz="1400" b="0" i="0">
                          <a:solidFill>
                            <a:srgbClr val="1A1440"/>
                          </a:solidFill>
                          <a:latin typeface="Calibri"/>
                        </a:rPr>
                        <a:t>b) Send a PDF</a:t>
                      </a:r>
                    </a:p>
                  </a:txBody>
                  <a:tcPr marL="101600" marR="101600" marT="38100" marB="38100" anchor="ctr">
                    <a:solidFill>
                      <a:srgbClr val="F4F2FA"/>
                    </a:solidFill>
                  </a:tcPr>
                </a:tc>
                <a:tc>
                  <a:txBody>
                    <a:bodyPr/>
                    <a:lstStyle/>
                    <a:p>
                      <a:r>
                        <a:rPr sz="1400" b="0" i="0">
                          <a:solidFill>
                            <a:srgbClr val="1A1440"/>
                          </a:solidFill>
                          <a:latin typeface="Calibri"/>
                        </a:rPr>
                        <a:t>0</a:t>
                      </a:r>
                    </a:p>
                  </a:txBody>
                  <a:tcPr marL="101600" marR="101600" marT="38100" marB="38100" anchor="ctr">
                    <a:solidFill>
                      <a:srgbClr val="F4F2FA"/>
                    </a:solidFill>
                  </a:tcPr>
                </a:tc>
                <a:tc>
                  <a:txBody>
                    <a:bodyPr/>
                    <a:lstStyle/>
                    <a:p>
                      <a:r>
                        <a:rPr sz="1400" b="0" i="0">
                          <a:solidFill>
                            <a:srgbClr val="1A1440"/>
                          </a:solidFill>
                          <a:latin typeface="Calibri"/>
                        </a:rPr>
                        <a:t>nothing: nothing recalculates</a:t>
                      </a:r>
                    </a:p>
                  </a:txBody>
                  <a:tcPr marL="101600" marR="101600" marT="38100" marB="38100" anchor="ctr">
                    <a:solidFill>
                      <a:srgbClr val="F4F2FA"/>
                    </a:solidFill>
                  </a:tcPr>
                </a:tc>
              </a:tr>
              <a:tr h="611632">
                <a:tc>
                  <a:txBody>
                    <a:bodyPr/>
                    <a:lstStyle/>
                    <a:p>
                      <a:r>
                        <a:rPr sz="1400" b="0" i="0">
                          <a:solidFill>
                            <a:srgbClr val="1A1440"/>
                          </a:solidFill>
                          <a:latin typeface="Calibri"/>
                        </a:rPr>
                        <a:t>c) Yellow inputs, formulas, a Checks tab</a:t>
                      </a:r>
                    </a:p>
                  </a:txBody>
                  <a:tcPr marL="101600" marR="101600" marT="38100" marB="38100" anchor="ctr">
                    <a:solidFill>
                      <a:srgbClr val="FFFFFF"/>
                    </a:solidFill>
                  </a:tcPr>
                </a:tc>
                <a:tc>
                  <a:txBody>
                    <a:bodyPr/>
                    <a:lstStyle/>
                    <a:p>
                      <a:r>
                        <a:rPr sz="1400" b="0" i="0">
                          <a:solidFill>
                            <a:srgbClr val="1A1440"/>
                          </a:solidFill>
                          <a:latin typeface="Calibri"/>
                        </a:rPr>
                        <a:t>5</a:t>
                      </a:r>
                    </a:p>
                  </a:txBody>
                  <a:tcPr marL="101600" marR="101600" marT="38100" marB="38100" anchor="ctr">
                    <a:solidFill>
                      <a:srgbClr val="FFFFFF"/>
                    </a:solidFill>
                  </a:tcPr>
                </a:tc>
                <a:tc>
                  <a:txBody>
                    <a:bodyPr/>
                    <a:lstStyle/>
                    <a:p>
                      <a:r>
                        <a:rPr sz="1400" b="0" i="0">
                          <a:solidFill>
                            <a:srgbClr val="1A1440"/>
                          </a:solidFill>
                          <a:latin typeface="Calibri"/>
                        </a:rPr>
                        <a:t>a red check and a release that holds</a:t>
                      </a:r>
                    </a:p>
                  </a:txBody>
                  <a:tcPr marL="101600" marR="101600" marT="38100" marB="38100" anchor="ctr">
                    <a:solidFill>
                      <a:srgbClr val="FFFFFF"/>
                    </a:solidFill>
                  </a:tcPr>
                </a:tc>
              </a:tr>
              <a:tr h="369824">
                <a:tc>
                  <a:txBody>
                    <a:bodyPr/>
                    <a:lstStyle/>
                    <a:p>
                      <a:r>
                        <a:rPr sz="1400" b="0" i="0">
                          <a:solidFill>
                            <a:srgbClr val="1A1440"/>
                          </a:solidFill>
                          <a:latin typeface="Calibri"/>
                        </a:rPr>
                        <a:t>d) A copy for each director</a:t>
                      </a:r>
                    </a:p>
                  </a:txBody>
                  <a:tcPr marL="101600" marR="101600" marT="38100" marB="38100" anchor="ctr">
                    <a:solidFill>
                      <a:srgbClr val="F4F2FA"/>
                    </a:solidFill>
                  </a:tcPr>
                </a:tc>
                <a:tc>
                  <a:txBody>
                    <a:bodyPr/>
                    <a:lstStyle/>
                    <a:p>
                      <a:r>
                        <a:rPr sz="1400" b="0" i="0">
                          <a:solidFill>
                            <a:srgbClr val="1A1440"/>
                          </a:solidFill>
                          <a:latin typeface="Calibri"/>
                        </a:rPr>
                        <a:t>5</a:t>
                      </a:r>
                    </a:p>
                  </a:txBody>
                  <a:tcPr marL="101600" marR="101600" marT="38100" marB="38100" anchor="ctr">
                    <a:solidFill>
                      <a:srgbClr val="F4F2FA"/>
                    </a:solidFill>
                  </a:tcPr>
                </a:tc>
                <a:tc>
                  <a:txBody>
                    <a:bodyPr/>
                    <a:lstStyle/>
                    <a:p>
                      <a:r>
                        <a:rPr sz="1400" b="0" i="0">
                          <a:solidFill>
                            <a:srgbClr val="1A1440"/>
                          </a:solidFill>
                          <a:latin typeface="Calibri"/>
                        </a:rPr>
                        <a:t>nothing: the copies drift apart</a:t>
                      </a:r>
                    </a:p>
                  </a:txBody>
                  <a:tcPr marL="101600" marR="101600" marT="38100" marB="38100" anchor="ctr">
                    <a:solidFill>
                      <a:srgbClr val="F4F2FA"/>
                    </a:solidFill>
                  </a:tcPr>
                </a:tc>
              </a:tr>
            </a:tbl>
          </a:graphicData>
        </a:graphic>
      </p:graphicFrame>
      <p:sp>
        <p:nvSpPr>
          <p:cNvPr id="10" name="Rounded Rectangle 9"/>
          <p:cNvSpPr/>
          <p:nvPr/>
        </p:nvSpPr>
        <p:spPr>
          <a:xfrm>
            <a:off x="530352" y="447878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60679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597654"/>
            <a:ext cx="10564063" cy="624840"/>
          </a:xfrm>
          <a:prstGeom prst="rect">
            <a:avLst/>
          </a:prstGeom>
          <a:noFill/>
        </p:spPr>
        <p:txBody>
          <a:bodyPr wrap="square" anchor="ctr" lIns="0" rIns="0" tIns="0" bIns="0">
            <a:spAutoFit/>
          </a:bodyPr>
          <a:lstStyle/>
          <a:p>
            <a:r>
              <a:rPr sz="1500" b="1">
                <a:solidFill>
                  <a:srgbClr val="5B3FD6"/>
                </a:solidFill>
                <a:latin typeface="Calibri"/>
              </a:rPr>
              <a:t>The best-fit call. </a:t>
            </a:r>
            <a:r>
              <a:rPr sz="1500" b="0" i="0">
                <a:solidFill>
                  <a:srgbClr val="1A1440"/>
                </a:solidFill>
                <a:latin typeface="Calibri"/>
              </a:rPr>
              <a:t>c, the only way that lets a director do all five and turns a wrong number red before it is read.</a:t>
            </a:r>
          </a:p>
        </p:txBody>
      </p:sp>
      <p:sp>
        <p:nvSpPr>
          <p:cNvPr id="13" name="Rounded Rectangle 12"/>
          <p:cNvSpPr/>
          <p:nvPr/>
        </p:nvSpPr>
        <p:spPr>
          <a:xfrm>
            <a:off x="530352" y="5451093"/>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76656" y="5579109"/>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77824" y="5569965"/>
            <a:ext cx="10564063" cy="358140"/>
          </a:xfrm>
          <a:prstGeom prst="rect">
            <a:avLst/>
          </a:prstGeom>
          <a:noFill/>
        </p:spPr>
        <p:txBody>
          <a:bodyPr wrap="square" anchor="ctr" lIns="0" rIns="0" tIns="0" bIns="0">
            <a:spAutoFit/>
          </a:bodyPr>
          <a:lstStyle/>
          <a:p>
            <a:r>
              <a:rPr sz="1500" b="1">
                <a:solidFill>
                  <a:srgbClr val="5B3FD6"/>
                </a:solidFill>
                <a:latin typeface="Calibri"/>
              </a:rPr>
              <a:t>The fact that would change it. </a:t>
            </a:r>
            <a:r>
              <a:rPr sz="1500" b="0" i="0">
                <a:solidFill>
                  <a:srgbClr val="1A1440"/>
                </a:solidFill>
                <a:latin typeface="Calibri"/>
              </a:rPr>
              <a:t>A board pack nobody is meant to change goes as a PDF.</a:t>
            </a:r>
          </a:p>
        </p:txBody>
      </p:sp>
      <p:sp>
        <p:nvSpPr>
          <p:cNvPr id="16" name="Oval 15"/>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Can a director break it?</a:t>
            </a:r>
          </a:p>
        </p:txBody>
      </p:sp>
      <p:sp>
        <p:nvSpPr>
          <p:cNvPr id="18" name="Oval 17"/>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20" name="Oval 19"/>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22" name="Oval 21"/>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24" name="Oval 23"/>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6" name="Oval 25"/>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S4  ·  7 / 39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change hides its effect without an error?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Of the five things a director does, which change what a number means with nothing shown?</a:t>
            </a:r>
          </a:p>
        </p:txBody>
      </p:sp>
      <p:pic>
        <p:nvPicPr>
          <p:cNvPr id="9" name="mermaid diagram" descr="2dc8937eb9b4b5cb.png"/>
          <p:cNvPicPr>
            <a:picLocks noChangeAspect="1"/>
          </p:cNvPicPr>
          <p:nvPr/>
        </p:nvPicPr>
        <p:blipFill>
          <a:blip r:embed="rId5"/>
          <a:stretch>
            <a:fillRect/>
          </a:stretch>
        </p:blipFill>
        <p:spPr>
          <a:xfrm>
            <a:off x="3645541" y="1956816"/>
            <a:ext cx="4900612" cy="2886075"/>
          </a:xfrm>
          <a:prstGeom prst="rect">
            <a:avLst/>
          </a:prstGeom>
        </p:spPr>
      </p:pic>
      <p:sp>
        <p:nvSpPr>
          <p:cNvPr id="10" name="Rounded Rectangle 9"/>
          <p:cNvSpPr/>
          <p:nvPr/>
        </p:nvSpPr>
        <p:spPr>
          <a:xfrm>
            <a:off x="530352" y="4989195"/>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117211"/>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108067"/>
            <a:ext cx="10564063" cy="3581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Which changes a number's meaning with no error?</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Can a director break it?</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17" name="Oval 16"/>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21" name="Oval 20"/>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3" name="Oval 22"/>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S5  ·  8 / 39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filtering and typing over are both silent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of the five do to the sheet?</a:t>
            </a:r>
          </a:p>
        </p:txBody>
      </p:sp>
      <p:graphicFrame>
        <p:nvGraphicFramePr>
          <p:cNvPr id="9" name="Table 8"/>
          <p:cNvGraphicFramePr>
            <a:graphicFrameLocks noGrp="1"/>
          </p:cNvGraphicFramePr>
          <p:nvPr/>
        </p:nvGraphicFramePr>
        <p:xfrm>
          <a:off x="530352" y="1956816"/>
          <a:ext cx="11130989" cy="2218944"/>
        </p:xfrm>
        <a:graphic>
          <a:graphicData uri="http://schemas.openxmlformats.org/drawingml/2006/table">
            <a:tbl>
              <a:tblPr firstRow="0" bandRow="0">
                <a:tableStyleId>{2D5ABB26-0587-4C30-8999-92F81FD0307C}</a:tableStyleId>
              </a:tblPr>
              <a:tblGrid>
                <a:gridCol w="3170804"/>
                <a:gridCol w="6084244"/>
                <a:gridCol w="1875941"/>
              </a:tblGrid>
              <a:tr h="369824">
                <a:tc>
                  <a:txBody>
                    <a:bodyPr/>
                    <a:lstStyle/>
                    <a:p>
                      <a:r>
                        <a:rPr sz="1450" b="1" i="0">
                          <a:solidFill>
                            <a:srgbClr val="FFFFFF"/>
                          </a:solidFill>
                          <a:latin typeface="Calibri"/>
                        </a:rPr>
                        <a:t>What a director does</a:t>
                      </a:r>
                    </a:p>
                  </a:txBody>
                  <a:tcPr marL="101600" marR="101600" marT="38100" marB="38100" anchor="ctr">
                    <a:solidFill>
                      <a:srgbClr val="1A0F5C"/>
                    </a:solidFill>
                  </a:tcPr>
                </a:tc>
                <a:tc>
                  <a:txBody>
                    <a:bodyPr/>
                    <a:lstStyle/>
                    <a:p>
                      <a:r>
                        <a:rPr sz="1450" b="1" i="0">
                          <a:solidFill>
                            <a:srgbClr val="FFFFFF"/>
                          </a:solidFill>
                          <a:latin typeface="Calibri"/>
                        </a:rPr>
                        <a:t>What happens</a:t>
                      </a:r>
                    </a:p>
                  </a:txBody>
                  <a:tcPr marL="101600" marR="101600" marT="38100" marB="38100" anchor="ctr">
                    <a:solidFill>
                      <a:srgbClr val="1A0F5C"/>
                    </a:solidFill>
                  </a:tcPr>
                </a:tc>
                <a:tc>
                  <a:txBody>
                    <a:bodyPr/>
                    <a:lstStyle/>
                    <a:p>
                      <a:r>
                        <a:rPr sz="1450" b="1" i="0">
                          <a:solidFill>
                            <a:srgbClr val="FFFFFF"/>
                          </a:solidFill>
                          <a:latin typeface="Calibri"/>
                        </a:rPr>
                        <a:t>Error shown?</a:t>
                      </a:r>
                    </a:p>
                  </a:txBody>
                  <a:tcPr marL="101600" marR="101600" marT="38100" marB="38100" anchor="ctr">
                    <a:solidFill>
                      <a:srgbClr val="1A0F5C"/>
                    </a:solidFill>
                  </a:tcPr>
                </a:tc>
              </a:tr>
              <a:tr h="369824">
                <a:tc>
                  <a:txBody>
                    <a:bodyPr/>
                    <a:lstStyle/>
                    <a:p>
                      <a:r>
                        <a:rPr sz="1400" b="0" i="0">
                          <a:solidFill>
                            <a:srgbClr val="1A1440"/>
                          </a:solidFill>
                          <a:latin typeface="Calibri"/>
                        </a:rPr>
                        <a:t>Filters the list to a city</a:t>
                      </a:r>
                    </a:p>
                  </a:txBody>
                  <a:tcPr marL="101600" marR="101600" marT="38100" marB="38100" anchor="ctr">
                    <a:solidFill>
                      <a:srgbClr val="FFFFFF"/>
                    </a:solidFill>
                  </a:tcPr>
                </a:tc>
                <a:tc>
                  <a:txBody>
                    <a:bodyPr/>
                    <a:lstStyle/>
                    <a:p>
                      <a:r>
                        <a:rPr sz="1400" b="0" i="0">
                          <a:solidFill>
                            <a:srgbClr val="1A1440"/>
                          </a:solidFill>
                          <a:latin typeface="Calibri"/>
                        </a:rPr>
                        <a:t>the rows on screen change; a SUM below them does not</a:t>
                      </a:r>
                    </a:p>
                  </a:txBody>
                  <a:tcPr marL="101600" marR="101600" marT="38100" marB="38100" anchor="ctr">
                    <a:solidFill>
                      <a:srgbClr val="FFFFFF"/>
                    </a:solidFill>
                  </a:tcPr>
                </a:tc>
                <a:tc>
                  <a:txBody>
                    <a:bodyPr/>
                    <a:lstStyle/>
                    <a:p>
                      <a:r>
                        <a:rPr sz="1400" b="0" i="0">
                          <a:solidFill>
                            <a:srgbClr val="1A1440"/>
                          </a:solidFill>
                          <a:latin typeface="Calibri"/>
                        </a:rPr>
                        <a:t>none</a:t>
                      </a:r>
                    </a:p>
                  </a:txBody>
                  <a:tcPr marL="101600" marR="101600" marT="38100" marB="38100" anchor="ctr">
                    <a:solidFill>
                      <a:srgbClr val="FFFFFF"/>
                    </a:solidFill>
                  </a:tcPr>
                </a:tc>
              </a:tr>
              <a:tr h="369824">
                <a:tc>
                  <a:txBody>
                    <a:bodyPr/>
                    <a:lstStyle/>
                    <a:p>
                      <a:r>
                        <a:rPr sz="1400" b="0" i="0">
                          <a:solidFill>
                            <a:srgbClr val="1A1440"/>
                          </a:solidFill>
                          <a:latin typeface="Calibri"/>
                        </a:rPr>
                        <a:t>Sorts one column on its own</a:t>
                      </a:r>
                    </a:p>
                  </a:txBody>
                  <a:tcPr marL="101600" marR="101600" marT="38100" marB="38100" anchor="ctr">
                    <a:solidFill>
                      <a:srgbClr val="F4F2FA"/>
                    </a:solidFill>
                  </a:tcPr>
                </a:tc>
                <a:tc>
                  <a:txBody>
                    <a:bodyPr/>
                    <a:lstStyle/>
                    <a:p>
                      <a:r>
                        <a:rPr sz="1400" b="0" i="0">
                          <a:solidFill>
                            <a:srgbClr val="1A1440"/>
                          </a:solidFill>
                          <a:latin typeface="Calibri"/>
                        </a:rPr>
                        <a:t>values separate from their ids</a:t>
                      </a:r>
                    </a:p>
                  </a:txBody>
                  <a:tcPr marL="101600" marR="101600" marT="38100" marB="38100" anchor="ctr">
                    <a:solidFill>
                      <a:srgbClr val="F4F2FA"/>
                    </a:solidFill>
                  </a:tcPr>
                </a:tc>
                <a:tc>
                  <a:txBody>
                    <a:bodyPr/>
                    <a:lstStyle/>
                    <a:p>
                      <a:r>
                        <a:rPr sz="1400" b="0" i="0">
                          <a:solidFill>
                            <a:srgbClr val="1A1440"/>
                          </a:solidFill>
                          <a:latin typeface="Calibri"/>
                        </a:rPr>
                        <a:t>none</a:t>
                      </a:r>
                    </a:p>
                  </a:txBody>
                  <a:tcPr marL="101600" marR="101600" marT="38100" marB="38100" anchor="ctr">
                    <a:solidFill>
                      <a:srgbClr val="F4F2FA"/>
                    </a:solidFill>
                  </a:tcPr>
                </a:tc>
              </a:tr>
              <a:tr h="369824">
                <a:tc>
                  <a:txBody>
                    <a:bodyPr/>
                    <a:lstStyle/>
                    <a:p>
                      <a:r>
                        <a:rPr sz="1400" b="0" i="0">
                          <a:solidFill>
                            <a:srgbClr val="1A1440"/>
                          </a:solidFill>
                          <a:latin typeface="Calibri"/>
                        </a:rPr>
                        <a:t>Types over a formula</a:t>
                      </a:r>
                    </a:p>
                  </a:txBody>
                  <a:tcPr marL="101600" marR="101600" marT="38100" marB="38100" anchor="ctr">
                    <a:solidFill>
                      <a:srgbClr val="FFFFFF"/>
                    </a:solidFill>
                  </a:tcPr>
                </a:tc>
                <a:tc>
                  <a:txBody>
                    <a:bodyPr/>
                    <a:lstStyle/>
                    <a:p>
                      <a:r>
                        <a:rPr sz="1400" b="0" i="0">
                          <a:solidFill>
                            <a:srgbClr val="1A1440"/>
                          </a:solidFill>
                          <a:latin typeface="Calibri"/>
                        </a:rPr>
                        <a:t>the cell stops following its source</a:t>
                      </a:r>
                    </a:p>
                  </a:txBody>
                  <a:tcPr marL="101600" marR="101600" marT="38100" marB="38100" anchor="ctr">
                    <a:solidFill>
                      <a:srgbClr val="FFFFFF"/>
                    </a:solidFill>
                  </a:tcPr>
                </a:tc>
                <a:tc>
                  <a:txBody>
                    <a:bodyPr/>
                    <a:lstStyle/>
                    <a:p>
                      <a:r>
                        <a:rPr sz="1400" b="0" i="0">
                          <a:solidFill>
                            <a:srgbClr val="1A1440"/>
                          </a:solidFill>
                          <a:latin typeface="Calibri"/>
                        </a:rPr>
                        <a:t>none</a:t>
                      </a:r>
                    </a:p>
                  </a:txBody>
                  <a:tcPr marL="101600" marR="101600" marT="38100" marB="38100" anchor="ctr">
                    <a:solidFill>
                      <a:srgbClr val="FFFFFF"/>
                    </a:solidFill>
                  </a:tcPr>
                </a:tc>
              </a:tr>
              <a:tr h="369824">
                <a:tc>
                  <a:txBody>
                    <a:bodyPr/>
                    <a:lstStyle/>
                    <a:p>
                      <a:r>
                        <a:rPr sz="1400" b="0" i="0">
                          <a:solidFill>
                            <a:srgbClr val="1A1440"/>
                          </a:solidFill>
                          <a:latin typeface="Calibri"/>
                        </a:rPr>
                        <a:t>Changes a yellow input</a:t>
                      </a:r>
                    </a:p>
                  </a:txBody>
                  <a:tcPr marL="101600" marR="101600" marT="38100" marB="38100" anchor="ctr">
                    <a:solidFill>
                      <a:srgbClr val="F4F2FA"/>
                    </a:solidFill>
                  </a:tcPr>
                </a:tc>
                <a:tc>
                  <a:txBody>
                    <a:bodyPr/>
                    <a:lstStyle/>
                    <a:p>
                      <a:r>
                        <a:rPr sz="1400" b="0" i="0">
                          <a:solidFill>
                            <a:srgbClr val="1A1440"/>
                          </a:solidFill>
                          <a:latin typeface="Calibri"/>
                        </a:rPr>
                        <a:t>every formula reading it recalculates</a:t>
                      </a:r>
                    </a:p>
                  </a:txBody>
                  <a:tcPr marL="101600" marR="101600" marT="38100" marB="38100" anchor="ctr">
                    <a:solidFill>
                      <a:srgbClr val="F4F2FA"/>
                    </a:solidFill>
                  </a:tcPr>
                </a:tc>
                <a:tc>
                  <a:txBody>
                    <a:bodyPr/>
                    <a:lstStyle/>
                    <a:p>
                      <a:r>
                        <a:rPr sz="1400" b="0" i="0">
                          <a:solidFill>
                            <a:srgbClr val="1A1440"/>
                          </a:solidFill>
                          <a:latin typeface="Calibri"/>
                        </a:rPr>
                        <a:t>honest</a:t>
                      </a:r>
                    </a:p>
                  </a:txBody>
                  <a:tcPr marL="101600" marR="101600" marT="38100" marB="38100" anchor="ctr">
                    <a:solidFill>
                      <a:srgbClr val="F4F2FA"/>
                    </a:solidFill>
                  </a:tcPr>
                </a:tc>
              </a:tr>
              <a:tr h="369824">
                <a:tc>
                  <a:txBody>
                    <a:bodyPr/>
                    <a:lstStyle/>
                    <a:p>
                      <a:r>
                        <a:rPr sz="1400" b="0" i="0">
                          <a:solidFill>
                            <a:srgbClr val="1A1440"/>
                          </a:solidFill>
                          <a:latin typeface="Calibri"/>
                        </a:rPr>
                        <a:t>Pastes a new export</a:t>
                      </a:r>
                    </a:p>
                  </a:txBody>
                  <a:tcPr marL="101600" marR="101600" marT="38100" marB="38100" anchor="ctr">
                    <a:solidFill>
                      <a:srgbClr val="FFFFFF"/>
                    </a:solidFill>
                  </a:tcPr>
                </a:tc>
                <a:tc>
                  <a:txBody>
                    <a:bodyPr/>
                    <a:lstStyle/>
                    <a:p>
                      <a:r>
                        <a:rPr sz="1400" b="0" i="0">
                          <a:solidFill>
                            <a:srgbClr val="1A1440"/>
                          </a:solidFill>
                          <a:latin typeface="Calibri"/>
                        </a:rPr>
                        <a:t>formulas read the new rows, if their ranges reach them</a:t>
                      </a:r>
                    </a:p>
                  </a:txBody>
                  <a:tcPr marL="101600" marR="101600" marT="38100" marB="38100" anchor="ctr">
                    <a:solidFill>
                      <a:srgbClr val="FFFFFF"/>
                    </a:solidFill>
                  </a:tcPr>
                </a:tc>
                <a:tc>
                  <a:txBody>
                    <a:bodyPr/>
                    <a:lstStyle/>
                    <a:p>
                      <a:r>
                        <a:rPr sz="1400" b="0" i="0">
                          <a:solidFill>
                            <a:srgbClr val="1A1440"/>
                          </a:solidFill>
                          <a:latin typeface="Calibri"/>
                        </a:rPr>
                        <a:t>the drift check</a:t>
                      </a:r>
                    </a:p>
                  </a:txBody>
                  <a:tcPr marL="101600" marR="101600" marT="38100" marB="38100" anchor="ctr">
                    <a:solidFill>
                      <a:srgbClr val="FFFFFF"/>
                    </a:solidFill>
                  </a:tcPr>
                </a:tc>
              </a:tr>
            </a:tbl>
          </a:graphicData>
        </a:graphic>
      </p:graphicFrame>
      <p:sp>
        <p:nvSpPr>
          <p:cNvPr id="10" name="TextBox 9"/>
          <p:cNvSpPr txBox="1"/>
          <p:nvPr/>
        </p:nvSpPr>
        <p:spPr>
          <a:xfrm>
            <a:off x="530352" y="4431792"/>
            <a:ext cx="11130991" cy="772160"/>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d. A yellow input is the honest way to change a number, because every formula that reads it recalculates in front of the room.</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Can a director break it?</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15" name="Oval 14"/>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17" name="Oval 1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19" name="Oval 18"/>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1" name="Oval 20"/>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S6  ·  9 / 39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does the foot say, filtered to Mumbai?</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When a director filters the list to Mumbai, what does a foot of =SUM(E2:E51) read?</a:t>
            </a:r>
          </a:p>
        </p:txBody>
      </p:sp>
      <p:pic>
        <p:nvPicPr>
          <p:cNvPr id="9" name="mermaid diagram" descr="bfe3f39a11262cba.png"/>
          <p:cNvPicPr>
            <a:picLocks noChangeAspect="1"/>
          </p:cNvPicPr>
          <p:nvPr/>
        </p:nvPicPr>
        <p:blipFill>
          <a:blip r:embed="rId5"/>
          <a:stretch>
            <a:fillRect/>
          </a:stretch>
        </p:blipFill>
        <p:spPr>
          <a:xfrm>
            <a:off x="3516953" y="1956816"/>
            <a:ext cx="5157787" cy="2628900"/>
          </a:xfrm>
          <a:prstGeom prst="rect">
            <a:avLst/>
          </a:prstGeom>
        </p:spPr>
      </p:pic>
      <p:sp>
        <p:nvSpPr>
          <p:cNvPr id="10" name="Rounded Rectangle 9"/>
          <p:cNvSpPr/>
          <p:nvPr/>
        </p:nvSpPr>
        <p:spPr>
          <a:xfrm>
            <a:off x="530352" y="4732020"/>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860036"/>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850892"/>
            <a:ext cx="10564063" cy="3581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What does the foot read?</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Can a director break it?</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17" name="Oval 16"/>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21" name="Oval 20"/>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3" name="Oval 22"/>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S7  ·  10 / 39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Rs 7,14,890, the whole list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is the plausible wrong answer, and what budget would it size?</a:t>
            </a:r>
          </a:p>
        </p:txBody>
      </p:sp>
      <p:sp>
        <p:nvSpPr>
          <p:cNvPr id="9" name="TextBox 8"/>
          <p:cNvSpPr txBox="1"/>
          <p:nvPr/>
        </p:nvSpPr>
        <p:spPr>
          <a:xfrm>
            <a:off x="53035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Rs 7,14,890</a:t>
            </a:r>
          </a:p>
        </p:txBody>
      </p:sp>
      <p:sp>
        <p:nvSpPr>
          <p:cNvPr id="10" name="TextBox 9"/>
          <p:cNvSpPr txBox="1"/>
          <p:nvPr/>
        </p:nvSpPr>
        <p:spPr>
          <a:xfrm>
            <a:off x="53035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FOOT, SUM</a:t>
            </a:r>
          </a:p>
        </p:txBody>
      </p:sp>
      <p:sp>
        <p:nvSpPr>
          <p:cNvPr id="11" name="TextBox 10"/>
          <p:cNvSpPr txBox="1"/>
          <p:nvPr/>
        </p:nvSpPr>
        <p:spPr>
          <a:xfrm>
            <a:off x="53035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all fifty rows</a:t>
            </a:r>
          </a:p>
        </p:txBody>
      </p:sp>
      <p:sp>
        <p:nvSpPr>
          <p:cNvPr id="12" name="Rectangle 11"/>
          <p:cNvSpPr/>
          <p:nvPr/>
        </p:nvSpPr>
        <p:spPr>
          <a:xfrm>
            <a:off x="53035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33212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Rs 1,56,790</a:t>
            </a:r>
          </a:p>
        </p:txBody>
      </p:sp>
      <p:sp>
        <p:nvSpPr>
          <p:cNvPr id="14" name="TextBox 13"/>
          <p:cNvSpPr txBox="1"/>
          <p:nvPr/>
        </p:nvSpPr>
        <p:spPr>
          <a:xfrm>
            <a:off x="433212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ELEVEN ON SCREEN</a:t>
            </a:r>
          </a:p>
        </p:txBody>
      </p:sp>
      <p:sp>
        <p:nvSpPr>
          <p:cNvPr id="15" name="TextBox 14"/>
          <p:cNvSpPr txBox="1"/>
          <p:nvPr/>
        </p:nvSpPr>
        <p:spPr>
          <a:xfrm>
            <a:off x="433212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Mumbai's list</a:t>
            </a:r>
          </a:p>
        </p:txBody>
      </p:sp>
      <p:sp>
        <p:nvSpPr>
          <p:cNvPr id="16" name="Rectangle 15"/>
          <p:cNvSpPr/>
          <p:nvPr/>
        </p:nvSpPr>
        <p:spPr>
          <a:xfrm>
            <a:off x="433212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33892" y="1956816"/>
            <a:ext cx="3527450" cy="635000"/>
          </a:xfrm>
          <a:prstGeom prst="rect">
            <a:avLst/>
          </a:prstGeom>
          <a:noFill/>
        </p:spPr>
        <p:txBody>
          <a:bodyPr wrap="square" anchor="t" lIns="0" rIns="0" tIns="0" bIns="0">
            <a:spAutoFit/>
          </a:bodyPr>
          <a:lstStyle/>
          <a:p>
            <a:pPr algn="l"/>
            <a:r>
              <a:rPr sz="4000" b="0" i="0">
                <a:solidFill>
                  <a:srgbClr val="5B3FD6"/>
                </a:solidFill>
                <a:latin typeface="Georgia"/>
              </a:rPr>
              <a:t>4.6 times</a:t>
            </a:r>
          </a:p>
        </p:txBody>
      </p:sp>
      <p:sp>
        <p:nvSpPr>
          <p:cNvPr id="18" name="TextBox 17"/>
          <p:cNvSpPr txBox="1"/>
          <p:nvPr/>
        </p:nvSpPr>
        <p:spPr>
          <a:xfrm>
            <a:off x="8133892" y="2628392"/>
            <a:ext cx="3527450" cy="168656"/>
          </a:xfrm>
          <a:prstGeom prst="rect">
            <a:avLst/>
          </a:prstGeom>
          <a:noFill/>
        </p:spPr>
        <p:txBody>
          <a:bodyPr wrap="square" anchor="t" lIns="0" rIns="0" tIns="0" bIns="0">
            <a:spAutoFit/>
          </a:bodyPr>
          <a:lstStyle/>
          <a:p>
            <a:pPr algn="l"/>
            <a:r>
              <a:rPr sz="800" b="1" i="0" spc="250">
                <a:solidFill>
                  <a:srgbClr val="1A0F5C"/>
                </a:solidFill>
                <a:latin typeface="Calibri"/>
              </a:rPr>
              <a:t>THE OVERSTATEMENT</a:t>
            </a:r>
          </a:p>
        </p:txBody>
      </p:sp>
      <p:sp>
        <p:nvSpPr>
          <p:cNvPr id="19" name="TextBox 18"/>
          <p:cNvSpPr txBox="1"/>
          <p:nvPr/>
        </p:nvSpPr>
        <p:spPr>
          <a:xfrm>
            <a:off x="8133892" y="2829560"/>
            <a:ext cx="3527450" cy="193421"/>
          </a:xfrm>
          <a:prstGeom prst="rect">
            <a:avLst/>
          </a:prstGeom>
          <a:noFill/>
        </p:spPr>
        <p:txBody>
          <a:bodyPr wrap="square" anchor="t" lIns="0" rIns="0" tIns="0" bIns="0">
            <a:spAutoFit/>
          </a:bodyPr>
          <a:lstStyle/>
          <a:p>
            <a:pPr algn="l"/>
            <a:r>
              <a:rPr sz="950" b="0" i="0">
                <a:solidFill>
                  <a:srgbClr val="6B6690"/>
                </a:solidFill>
                <a:latin typeface="Calibri"/>
              </a:rPr>
              <a:t>read as Mumbai's</a:t>
            </a:r>
          </a:p>
        </p:txBody>
      </p:sp>
      <p:sp>
        <p:nvSpPr>
          <p:cNvPr id="20" name="Rectangle 19"/>
          <p:cNvSpPr/>
          <p:nvPr/>
        </p:nvSpPr>
        <p:spPr>
          <a:xfrm>
            <a:off x="8133892" y="3145536"/>
            <a:ext cx="3527450"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0352" y="3419856"/>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a:t>
            </a:r>
            <a:r>
              <a:rPr sz="1600" b="1" i="0">
                <a:solidFill>
                  <a:srgbClr val="1A1440"/>
                </a:solidFill>
                <a:latin typeface="Calibri"/>
              </a:rPr>
              <a:t>Why it is wrong.</a:t>
            </a:r>
            <a:r>
              <a:rPr sz="1600" b="0" i="0">
                <a:solidFill>
                  <a:srgbClr val="1A1440"/>
                </a:solidFill>
                <a:latin typeface="Calibri"/>
              </a:rPr>
              <a:t> SUM adds every row in its range, hidden or not, so the head of Retail-Plus is told the Mumbai members on the list spent Rs 7.15 lakh, and a Mumbai budget sized on it is 4.6 times too big. </a:t>
            </a:r>
            <a:r>
              <a:rPr sz="1600" b="1" i="0">
                <a:solidFill>
                  <a:srgbClr val="1A1440"/>
                </a:solidFill>
                <a:latin typeface="Calibri"/>
              </a:rPr>
              <a:t>The check that catches it.</a:t>
            </a:r>
            <a:r>
              <a:rPr sz="1600" b="0" i="0">
                <a:solidFill>
                  <a:srgbClr val="1A1440"/>
                </a:solidFill>
                <a:latin typeface="Calibri"/>
              </a:rPr>
              <a:t> Count the rows on screen beside the rows the total adds.</a:t>
            </a:r>
          </a:p>
        </p:txBody>
      </p:sp>
      <p:sp>
        <p:nvSpPr>
          <p:cNvPr id="22" name="Rounded Rectangle 21"/>
          <p:cNvSpPr/>
          <p:nvPr/>
        </p:nvSpPr>
        <p:spPr>
          <a:xfrm>
            <a:off x="530352" y="4596384"/>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ounded Rectangle 22"/>
          <p:cNvSpPr/>
          <p:nvPr/>
        </p:nvSpPr>
        <p:spPr>
          <a:xfrm>
            <a:off x="676656" y="4724400"/>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77824" y="4715256"/>
            <a:ext cx="10564063" cy="6248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A director hides Delhi's rows by hand, with no filter on. Which foot still adds Delhi? a) SUM only; b) SUM and SUBTOTAL(9); c) SUBTOTAL(109) only; d) none of them.</a:t>
            </a:r>
          </a:p>
        </p:txBody>
      </p:sp>
      <p:sp>
        <p:nvSpPr>
          <p:cNvPr id="25" name="Oval 24"/>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Can a director break it?</a:t>
            </a:r>
          </a:p>
        </p:txBody>
      </p:sp>
      <p:sp>
        <p:nvSpPr>
          <p:cNvPr id="27" name="Oval 26"/>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29" name="Oval 28"/>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31" name="Oval 30"/>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33" name="Oval 32"/>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35" name="Oval 34"/>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37" name="TextBox 3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S8  ·  11 / 39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fix: SUBTOTAL(109) at the foot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 SUBTOTAL(109) and SUBTOTAL(103) say, filtered or hidden by hand?</a:t>
            </a:r>
          </a:p>
        </p:txBody>
      </p:sp>
      <p:graphicFrame>
        <p:nvGraphicFramePr>
          <p:cNvPr id="9" name="Table 8"/>
          <p:cNvGraphicFramePr>
            <a:graphicFrameLocks noGrp="1"/>
          </p:cNvGraphicFramePr>
          <p:nvPr/>
        </p:nvGraphicFramePr>
        <p:xfrm>
          <a:off x="530352" y="1947926"/>
          <a:ext cx="11130989" cy="1479296"/>
        </p:xfrm>
        <a:graphic>
          <a:graphicData uri="http://schemas.openxmlformats.org/drawingml/2006/table">
            <a:tbl>
              <a:tblPr firstRow="0" bandRow="0">
                <a:tableStyleId>{2D5ABB26-0587-4C30-8999-92F81FD0307C}</a:tableStyleId>
              </a:tblPr>
              <a:tblGrid>
                <a:gridCol w="3350887"/>
                <a:gridCol w="3705946"/>
                <a:gridCol w="4074156"/>
              </a:tblGrid>
              <a:tr h="369824">
                <a:tc>
                  <a:txBody>
                    <a:bodyPr/>
                    <a:lstStyle/>
                    <a:p>
                      <a:r>
                        <a:rPr sz="1450" b="1" i="0">
                          <a:solidFill>
                            <a:srgbClr val="FFFFFF"/>
                          </a:solidFill>
                          <a:latin typeface="Calibri"/>
                        </a:rPr>
                        <a:t>The foot</a:t>
                      </a:r>
                    </a:p>
                  </a:txBody>
                  <a:tcPr marL="101600" marR="101600" marT="38100" marB="38100" anchor="ctr">
                    <a:solidFill>
                      <a:srgbClr val="1A0F5C"/>
                    </a:solidFill>
                  </a:tcPr>
                </a:tc>
                <a:tc>
                  <a:txBody>
                    <a:bodyPr/>
                    <a:lstStyle/>
                    <a:p>
                      <a:r>
                        <a:rPr sz="1450" b="1" i="0">
                          <a:solidFill>
                            <a:srgbClr val="FFFFFF"/>
                          </a:solidFill>
                          <a:latin typeface="Calibri"/>
                        </a:rPr>
                        <a:t>Filtered to Mumbai</a:t>
                      </a:r>
                    </a:p>
                  </a:txBody>
                  <a:tcPr marL="101600" marR="101600" marT="38100" marB="38100" anchor="ctr">
                    <a:solidFill>
                      <a:srgbClr val="1A0F5C"/>
                    </a:solidFill>
                  </a:tcPr>
                </a:tc>
                <a:tc>
                  <a:txBody>
                    <a:bodyPr/>
                    <a:lstStyle/>
                    <a:p>
                      <a:r>
                        <a:rPr sz="1450" b="1" i="0">
                          <a:solidFill>
                            <a:srgbClr val="FFFFFF"/>
                          </a:solidFill>
                          <a:latin typeface="Calibri"/>
                        </a:rPr>
                        <a:t>Delhi hidden by hand</a:t>
                      </a:r>
                    </a:p>
                  </a:txBody>
                  <a:tcPr marL="101600" marR="101600" marT="38100" marB="38100" anchor="ctr">
                    <a:solidFill>
                      <a:srgbClr val="1A0F5C"/>
                    </a:solidFill>
                  </a:tcPr>
                </a:tc>
              </a:tr>
              <a:tr h="369824">
                <a:tc>
                  <a:txBody>
                    <a:bodyPr/>
                    <a:lstStyle/>
                    <a:p>
                      <a:r>
                        <a:rPr sz="1400" b="0" i="0">
                          <a:solidFill>
                            <a:srgbClr val="1A1440"/>
                          </a:solidFill>
                          <a:latin typeface="Calibri"/>
                        </a:rPr>
                        <a:t>SUM</a:t>
                      </a:r>
                    </a:p>
                  </a:txBody>
                  <a:tcPr marL="101600" marR="101600" marT="38100" marB="38100" anchor="ctr">
                    <a:solidFill>
                      <a:srgbClr val="FFFFFF"/>
                    </a:solidFill>
                  </a:tcPr>
                </a:tc>
                <a:tc>
                  <a:txBody>
                    <a:bodyPr/>
                    <a:lstStyle/>
                    <a:p>
                      <a:r>
                        <a:rPr sz="1400" b="0" i="0">
                          <a:solidFill>
                            <a:srgbClr val="1A1440"/>
                          </a:solidFill>
                          <a:latin typeface="Calibri"/>
                        </a:rPr>
                        <a:t>Rs 7,14,890</a:t>
                      </a:r>
                    </a:p>
                  </a:txBody>
                  <a:tcPr marL="101600" marR="101600" marT="38100" marB="38100" anchor="ctr">
                    <a:solidFill>
                      <a:srgbClr val="FFFFFF"/>
                    </a:solidFill>
                  </a:tcPr>
                </a:tc>
                <a:tc>
                  <a:txBody>
                    <a:bodyPr/>
                    <a:lstStyle/>
                    <a:p>
                      <a:r>
                        <a:rPr sz="1400" b="0" i="0">
                          <a:solidFill>
                            <a:srgbClr val="1A1440"/>
                          </a:solidFill>
                          <a:latin typeface="Calibri"/>
                        </a:rPr>
                        <a:t>Rs 7,14,890</a:t>
                      </a:r>
                    </a:p>
                  </a:txBody>
                  <a:tcPr marL="101600" marR="101600" marT="38100" marB="38100" anchor="ctr">
                    <a:solidFill>
                      <a:srgbClr val="FFFFFF"/>
                    </a:solidFill>
                  </a:tcPr>
                </a:tc>
              </a:tr>
              <a:tr h="369824">
                <a:tc>
                  <a:txBody>
                    <a:bodyPr/>
                    <a:lstStyle/>
                    <a:p>
                      <a:r>
                        <a:rPr sz="1400" b="0" i="0">
                          <a:solidFill>
                            <a:srgbClr val="1A1440"/>
                          </a:solidFill>
                          <a:latin typeface="Calibri"/>
                        </a:rPr>
                        <a:t>SUBTOTAL(9, ...)</a:t>
                      </a:r>
                    </a:p>
                  </a:txBody>
                  <a:tcPr marL="101600" marR="101600" marT="38100" marB="38100" anchor="ctr">
                    <a:solidFill>
                      <a:srgbClr val="F4F2FA"/>
                    </a:solidFill>
                  </a:tcPr>
                </a:tc>
                <a:tc>
                  <a:txBody>
                    <a:bodyPr/>
                    <a:lstStyle/>
                    <a:p>
                      <a:r>
                        <a:rPr sz="1400" b="0" i="0">
                          <a:solidFill>
                            <a:srgbClr val="1A1440"/>
                          </a:solidFill>
                          <a:latin typeface="Calibri"/>
                        </a:rPr>
                        <a:t>Rs 1,56,790</a:t>
                      </a:r>
                    </a:p>
                  </a:txBody>
                  <a:tcPr marL="101600" marR="101600" marT="38100" marB="38100" anchor="ctr">
                    <a:solidFill>
                      <a:srgbClr val="F4F2FA"/>
                    </a:solidFill>
                  </a:tcPr>
                </a:tc>
                <a:tc>
                  <a:txBody>
                    <a:bodyPr/>
                    <a:lstStyle/>
                    <a:p>
                      <a:r>
                        <a:rPr sz="1400" b="0" i="0">
                          <a:solidFill>
                            <a:srgbClr val="1A1440"/>
                          </a:solidFill>
                          <a:latin typeface="Calibri"/>
                        </a:rPr>
                        <a:t>Rs 7,14,890</a:t>
                      </a:r>
                    </a:p>
                  </a:txBody>
                  <a:tcPr marL="101600" marR="101600" marT="38100" marB="38100" anchor="ctr">
                    <a:solidFill>
                      <a:srgbClr val="F4F2FA"/>
                    </a:solidFill>
                  </a:tcPr>
                </a:tc>
              </a:tr>
              <a:tr h="369824">
                <a:tc>
                  <a:txBody>
                    <a:bodyPr/>
                    <a:lstStyle/>
                    <a:p>
                      <a:r>
                        <a:rPr sz="1400" b="0" i="0">
                          <a:solidFill>
                            <a:srgbClr val="1A1440"/>
                          </a:solidFill>
                          <a:latin typeface="Calibri"/>
                        </a:rPr>
                        <a:t>SUBTOTAL(109, ...)</a:t>
                      </a:r>
                    </a:p>
                  </a:txBody>
                  <a:tcPr marL="101600" marR="101600" marT="38100" marB="38100" anchor="ctr">
                    <a:solidFill>
                      <a:srgbClr val="FFFFFF"/>
                    </a:solidFill>
                  </a:tcPr>
                </a:tc>
                <a:tc>
                  <a:txBody>
                    <a:bodyPr/>
                    <a:lstStyle/>
                    <a:p>
                      <a:r>
                        <a:rPr sz="1400" b="0" i="0">
                          <a:solidFill>
                            <a:srgbClr val="1A1440"/>
                          </a:solidFill>
                          <a:latin typeface="Calibri"/>
                        </a:rPr>
                        <a:t>Rs 1,56,790</a:t>
                      </a:r>
                    </a:p>
                  </a:txBody>
                  <a:tcPr marL="101600" marR="101600" marT="38100" marB="38100" anchor="ctr">
                    <a:solidFill>
                      <a:srgbClr val="FFFFFF"/>
                    </a:solidFill>
                  </a:tcPr>
                </a:tc>
                <a:tc>
                  <a:txBody>
                    <a:bodyPr/>
                    <a:lstStyle/>
                    <a:p>
                      <a:r>
                        <a:rPr sz="1400" b="0" i="0">
                          <a:solidFill>
                            <a:srgbClr val="1A1440"/>
                          </a:solidFill>
                          <a:latin typeface="Calibri"/>
                        </a:rPr>
                        <a:t>Rs 4,93,740</a:t>
                      </a:r>
                    </a:p>
                  </a:txBody>
                  <a:tcPr marL="101600" marR="101600" marT="38100" marB="38100" anchor="ctr">
                    <a:solidFill>
                      <a:srgbClr val="FFFFFF"/>
                    </a:solidFill>
                  </a:tcPr>
                </a:tc>
              </a:tr>
            </a:tbl>
          </a:graphicData>
        </a:graphic>
      </p:graphicFrame>
      <p:sp>
        <p:nvSpPr>
          <p:cNvPr id="10" name="TextBox 9"/>
          <p:cNvSpPr txBox="1"/>
          <p:nvPr/>
        </p:nvSpPr>
        <p:spPr>
          <a:xfrm>
            <a:off x="530352" y="3683254"/>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SUBTOTAL "ignores any rows that are not included in the result of a filter, no matter which function_num value you use", and 101 to 111 also ignore rows hidden by hand (Microsoft Support, SUBTOTAL, checked 30 September 2026). =SUBTOTAL(103, A2:A51) beside it counts 11 of 50.</a:t>
            </a:r>
          </a:p>
        </p:txBody>
      </p:sp>
      <p:sp>
        <p:nvSpPr>
          <p:cNvPr id="11" name="Rounded Rectangle 10"/>
          <p:cNvSpPr/>
          <p:nvPr/>
        </p:nvSpPr>
        <p:spPr>
          <a:xfrm>
            <a:off x="530352" y="4859781"/>
            <a:ext cx="11130991" cy="10744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676656" y="4987797"/>
            <a:ext cx="45720" cy="8183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7824" y="4978653"/>
            <a:ext cx="10564063" cy="8915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With the Mumbai filter on, a director also hides Mumbai's smallest member by hand. Which total still reads Rs 1,56,790? a) SUBTOTAL(109) only; b) SUMIFS on the city only; c) both; d) neither.</a:t>
            </a:r>
          </a:p>
        </p:txBody>
      </p:sp>
      <p:sp>
        <p:nvSpPr>
          <p:cNvPr id="14" name="Oval 13"/>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Can a director break it?</a:t>
            </a:r>
          </a:p>
        </p:txBody>
      </p:sp>
      <p:sp>
        <p:nvSpPr>
          <p:cNvPr id="16" name="Oval 15"/>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18" name="Oval 17"/>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20" name="Oval 19"/>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22" name="Oval 21"/>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4" name="Oval 23"/>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6" name="TextBox 25"/>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S9  ·  12 / 39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second route: SUMIFS on the city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Does a total that reads the city, and never the screen, agree with the foot?</a:t>
            </a:r>
          </a:p>
        </p:txBody>
      </p:sp>
      <p:graphicFrame>
        <p:nvGraphicFramePr>
          <p:cNvPr id="9" name="Table 8"/>
          <p:cNvGraphicFramePr>
            <a:graphicFrameLocks noGrp="1"/>
          </p:cNvGraphicFramePr>
          <p:nvPr/>
        </p:nvGraphicFramePr>
        <p:xfrm>
          <a:off x="530352" y="1956816"/>
          <a:ext cx="11130989" cy="1109472"/>
        </p:xfrm>
        <a:graphic>
          <a:graphicData uri="http://schemas.openxmlformats.org/drawingml/2006/table">
            <a:tbl>
              <a:tblPr firstRow="0" bandRow="0">
                <a:tableStyleId>{2D5ABB26-0587-4C30-8999-92F81FD0307C}</a:tableStyleId>
              </a:tblPr>
              <a:tblGrid>
                <a:gridCol w="5258179"/>
                <a:gridCol w="3520324"/>
                <a:gridCol w="2352486"/>
              </a:tblGrid>
              <a:tr h="369824">
                <a:tc>
                  <a:txBody>
                    <a:bodyPr/>
                    <a:lstStyle/>
                    <a:p>
                      <a:r>
                        <a:rPr sz="1450" b="1" i="0">
                          <a:solidFill>
                            <a:srgbClr val="FFFFFF"/>
                          </a:solidFill>
                          <a:latin typeface="Calibri"/>
                        </a:rPr>
                        <a:t>What the director has done</a:t>
                      </a:r>
                    </a:p>
                  </a:txBody>
                  <a:tcPr marL="101600" marR="101600" marT="38100" marB="38100" anchor="ctr">
                    <a:solidFill>
                      <a:srgbClr val="1A0F5C"/>
                    </a:solidFill>
                  </a:tcPr>
                </a:tc>
                <a:tc>
                  <a:txBody>
                    <a:bodyPr/>
                    <a:lstStyle/>
                    <a:p>
                      <a:r>
                        <a:rPr sz="1450" b="1" i="0">
                          <a:solidFill>
                            <a:srgbClr val="FFFFFF"/>
                          </a:solidFill>
                          <a:latin typeface="Calibri"/>
                        </a:rPr>
                        <a:t>SUBTOTAL(109), the screen</a:t>
                      </a:r>
                    </a:p>
                  </a:txBody>
                  <a:tcPr marL="101600" marR="101600" marT="38100" marB="38100" anchor="ctr">
                    <a:solidFill>
                      <a:srgbClr val="1A0F5C"/>
                    </a:solidFill>
                  </a:tcPr>
                </a:tc>
                <a:tc>
                  <a:txBody>
                    <a:bodyPr/>
                    <a:lstStyle/>
                    <a:p>
                      <a:r>
                        <a:rPr sz="1450" b="1" i="0">
                          <a:solidFill>
                            <a:srgbClr val="FFFFFF"/>
                          </a:solidFill>
                          <a:latin typeface="Calibri"/>
                        </a:rPr>
                        <a:t>SUMIFS, the city</a:t>
                      </a:r>
                    </a:p>
                  </a:txBody>
                  <a:tcPr marL="101600" marR="101600" marT="38100" marB="38100" anchor="ctr">
                    <a:solidFill>
                      <a:srgbClr val="1A0F5C"/>
                    </a:solidFill>
                  </a:tcPr>
                </a:tc>
              </a:tr>
              <a:tr h="369824">
                <a:tc>
                  <a:txBody>
                    <a:bodyPr/>
                    <a:lstStyle/>
                    <a:p>
                      <a:r>
                        <a:rPr sz="1400" b="0" i="0">
                          <a:solidFill>
                            <a:srgbClr val="1A1440"/>
                          </a:solidFill>
                          <a:latin typeface="Calibri"/>
                        </a:rPr>
                        <a:t>Filtered to Mumbai</a:t>
                      </a:r>
                    </a:p>
                  </a:txBody>
                  <a:tcPr marL="101600" marR="101600" marT="38100" marB="38100" anchor="ctr">
                    <a:solidFill>
                      <a:srgbClr val="FFFFFF"/>
                    </a:solidFill>
                  </a:tcPr>
                </a:tc>
                <a:tc>
                  <a:txBody>
                    <a:bodyPr/>
                    <a:lstStyle/>
                    <a:p>
                      <a:r>
                        <a:rPr sz="1400" b="0" i="0">
                          <a:solidFill>
                            <a:srgbClr val="1A1440"/>
                          </a:solidFill>
                          <a:latin typeface="Calibri"/>
                        </a:rPr>
                        <a:t>Rs 1,56,790</a:t>
                      </a:r>
                    </a:p>
                  </a:txBody>
                  <a:tcPr marL="101600" marR="101600" marT="38100" marB="38100" anchor="ctr">
                    <a:solidFill>
                      <a:srgbClr val="FFFFFF"/>
                    </a:solidFill>
                  </a:tcPr>
                </a:tc>
                <a:tc>
                  <a:txBody>
                    <a:bodyPr/>
                    <a:lstStyle/>
                    <a:p>
                      <a:r>
                        <a:rPr sz="1400" b="0" i="0">
                          <a:solidFill>
                            <a:srgbClr val="1A1440"/>
                          </a:solidFill>
                          <a:latin typeface="Calibri"/>
                        </a:rPr>
                        <a:t>Rs 1,56,790</a:t>
                      </a:r>
                    </a:p>
                  </a:txBody>
                  <a:tcPr marL="101600" marR="101600" marT="38100" marB="38100" anchor="ctr">
                    <a:solidFill>
                      <a:srgbClr val="FFFFFF"/>
                    </a:solidFill>
                  </a:tcPr>
                </a:tc>
              </a:tr>
              <a:tr h="369824">
                <a:tc>
                  <a:txBody>
                    <a:bodyPr/>
                    <a:lstStyle/>
                    <a:p>
                      <a:r>
                        <a:rPr sz="1400" b="0" i="0">
                          <a:solidFill>
                            <a:srgbClr val="1A1440"/>
                          </a:solidFill>
                          <a:latin typeface="Calibri"/>
                        </a:rPr>
                        <a:t>Filtered, and one Mumbai row hidden by hand</a:t>
                      </a:r>
                    </a:p>
                  </a:txBody>
                  <a:tcPr marL="101600" marR="101600" marT="38100" marB="38100" anchor="ctr">
                    <a:solidFill>
                      <a:srgbClr val="F4F2FA"/>
                    </a:solidFill>
                  </a:tcPr>
                </a:tc>
                <a:tc>
                  <a:txBody>
                    <a:bodyPr/>
                    <a:lstStyle/>
                    <a:p>
                      <a:r>
                        <a:rPr sz="1400" b="0" i="0">
                          <a:solidFill>
                            <a:srgbClr val="1A1440"/>
                          </a:solidFill>
                          <a:latin typeface="Calibri"/>
                        </a:rPr>
                        <a:t>Rs 1,47,400</a:t>
                      </a:r>
                    </a:p>
                  </a:txBody>
                  <a:tcPr marL="101600" marR="101600" marT="38100" marB="38100" anchor="ctr">
                    <a:solidFill>
                      <a:srgbClr val="F4F2FA"/>
                    </a:solidFill>
                  </a:tcPr>
                </a:tc>
                <a:tc>
                  <a:txBody>
                    <a:bodyPr/>
                    <a:lstStyle/>
                    <a:p>
                      <a:r>
                        <a:rPr sz="1400" b="0" i="0">
                          <a:solidFill>
                            <a:srgbClr val="1A1440"/>
                          </a:solidFill>
                          <a:latin typeface="Calibri"/>
                        </a:rPr>
                        <a:t>Rs 1,56,790</a:t>
                      </a:r>
                    </a:p>
                  </a:txBody>
                  <a:tcPr marL="101600" marR="101600" marT="38100" marB="38100" anchor="ctr">
                    <a:solidFill>
                      <a:srgbClr val="F4F2FA"/>
                    </a:solidFill>
                  </a:tcPr>
                </a:tc>
              </a:tr>
            </a:tbl>
          </a:graphicData>
        </a:graphic>
      </p:graphicFrame>
      <p:sp>
        <p:nvSpPr>
          <p:cNvPr id="10" name="TextBox 9"/>
          <p:cNvSpPr txBox="1"/>
          <p:nvPr/>
        </p:nvSpPr>
        <p:spPr>
          <a:xfrm>
            <a:off x="530352" y="3322320"/>
            <a:ext cx="11130991" cy="1324864"/>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=SUMIFS(E2:E51, C2:C51, "Mumbai") reads the whole list and picks Mumbai by its city, whatever the screen shows. With only the filter on, the two agree; once Mumbai's smallest member, Rs 9,390, is also hidden by hand, the foot drops and SUMIFS does not, so a gap between them says the screen shows less than the whole city.</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Can a director break it?</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15" name="Oval 14"/>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17" name="Oval 1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19" name="Oval 18"/>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1" name="Oval 20"/>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S10  ·  13 / 39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Where does a director's assumption go?</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A director asks what a Rs 500 voucher for every member on the list would cost; where does the Rs 500 go?</a:t>
            </a:r>
          </a:p>
        </p:txBody>
      </p:sp>
      <p:sp>
        <p:nvSpPr>
          <p:cNvPr id="9" name="Rounded Rectangle 8"/>
          <p:cNvSpPr/>
          <p:nvPr/>
        </p:nvSpPr>
        <p:spPr>
          <a:xfrm>
            <a:off x="530352" y="1956816"/>
            <a:ext cx="11130991" cy="709676"/>
          </a:xfrm>
          <a:prstGeom prst="roundRect">
            <a:avLst>
              <a:gd name="adj" fmla="val 3500"/>
            </a:avLst>
          </a:prstGeom>
          <a:solidFill>
            <a:srgbClr val="1A1440"/>
          </a:soli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13232" y="2084832"/>
            <a:ext cx="91440" cy="91440"/>
          </a:xfrm>
          <a:prstGeom prst="ellipse">
            <a:avLst/>
          </a:prstGeom>
          <a:solidFill>
            <a:srgbClr val="D63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868680" y="2084832"/>
            <a:ext cx="91440" cy="91440"/>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024128" y="2084832"/>
            <a:ext cx="91440" cy="91440"/>
          </a:xfrm>
          <a:prstGeom prst="ellipse">
            <a:avLst/>
          </a:prstGeom>
          <a:solidFill>
            <a:srgbClr val="1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1" y="2286000"/>
            <a:ext cx="10673791" cy="307340"/>
          </a:xfrm>
          <a:prstGeom prst="rect">
            <a:avLst/>
          </a:prstGeom>
          <a:noFill/>
        </p:spPr>
        <p:txBody>
          <a:bodyPr wrap="square" anchor="t" lIns="0" rIns="0" tIns="0" bIns="0">
            <a:spAutoFit/>
          </a:bodyPr>
          <a:lstStyle/>
          <a:p>
            <a:pPr>
              <a:spcAft>
                <a:spcPts val="200"/>
              </a:spcAft>
            </a:pPr>
            <a:r>
              <a:rPr sz="1400" b="0" i="0">
                <a:solidFill>
                  <a:srgbClr val="E4E1F1"/>
                </a:solidFill>
                <a:latin typeface="Consolas"/>
              </a:rPr>
              <a:t>=B1*SUBTOTAL(103, A2:A51)</a:t>
            </a:r>
          </a:p>
        </p:txBody>
      </p:sp>
      <p:sp>
        <p:nvSpPr>
          <p:cNvPr id="14" name="Rounded Rectangle 13"/>
          <p:cNvSpPr/>
          <p:nvPr/>
        </p:nvSpPr>
        <p:spPr>
          <a:xfrm>
            <a:off x="530352" y="2831084"/>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676656" y="2959100"/>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77824" y="2949956"/>
            <a:ext cx="10564063" cy="6248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With the list filtered to Mumbai and the voucher at Rs 500 in yellow cell B1, the cost reads: a) Rs 25,000; b) Rs 5,500; c) Rs 500; d) Rs 7,14,890.</a:t>
            </a:r>
          </a:p>
        </p:txBody>
      </p:sp>
      <p:sp>
        <p:nvSpPr>
          <p:cNvPr id="17" name="Oval 16"/>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Can a director break it?</a:t>
            </a:r>
          </a:p>
        </p:txBody>
      </p:sp>
      <p:sp>
        <p:nvSpPr>
          <p:cNvPr id="19" name="Oval 18"/>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21" name="Oval 20"/>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23" name="Oval 22"/>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25" name="Oval 24"/>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7" name="Oval 26"/>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9" name="TextBox 2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S11  ·  14 / 39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Rs 5,500, and it moves in front of the room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happens when the director changes the input?</a:t>
            </a:r>
          </a:p>
        </p:txBody>
      </p:sp>
      <p:pic>
        <p:nvPicPr>
          <p:cNvPr id="9" name="mermaid diagram" descr="9069b515ed66f42d.png"/>
          <p:cNvPicPr>
            <a:picLocks noChangeAspect="1"/>
          </p:cNvPicPr>
          <p:nvPr/>
        </p:nvPicPr>
        <p:blipFill>
          <a:blip r:embed="rId5"/>
          <a:stretch>
            <a:fillRect/>
          </a:stretch>
        </p:blipFill>
        <p:spPr>
          <a:xfrm>
            <a:off x="1723872" y="1956816"/>
            <a:ext cx="8743950" cy="1543050"/>
          </a:xfrm>
          <a:prstGeom prst="rect">
            <a:avLst/>
          </a:prstGeom>
        </p:spPr>
      </p:pic>
      <p:sp>
        <p:nvSpPr>
          <p:cNvPr id="10" name="TextBox 9"/>
          <p:cNvSpPr txBox="1"/>
          <p:nvPr/>
        </p:nvSpPr>
        <p:spPr>
          <a:xfrm>
            <a:off x="530352" y="3646170"/>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Rs 500 times the eleven on screen; the whole list would cost Rs 25,000. The director types Rs 750 and the cost becomes Rs 8,250 in front of the room. The list's figures stay as they were, because the assumption sits in its own yellow cell and the list keeps its formulas.</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Can a director break it?</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15" name="Oval 14"/>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17" name="Oval 1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19" name="Oval 18"/>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1" name="Oval 20"/>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S12  ·  15 / 39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What does the Checks tab release?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Five checks each compare the sheet with something outside it; what does the release hold when one fails?</a:t>
            </a:r>
          </a:p>
        </p:txBody>
      </p:sp>
      <p:graphicFrame>
        <p:nvGraphicFramePr>
          <p:cNvPr id="9" name="Table 8"/>
          <p:cNvGraphicFramePr>
            <a:graphicFrameLocks noGrp="1"/>
          </p:cNvGraphicFramePr>
          <p:nvPr/>
        </p:nvGraphicFramePr>
        <p:xfrm>
          <a:off x="530352" y="1956816"/>
          <a:ext cx="11130990" cy="2218944"/>
        </p:xfrm>
        <a:graphic>
          <a:graphicData uri="http://schemas.openxmlformats.org/drawingml/2006/table">
            <a:tbl>
              <a:tblPr firstRow="0" bandRow="0">
                <a:tableStyleId>{2D5ABB26-0587-4C30-8999-92F81FD0307C}</a:tableStyleId>
              </a:tblPr>
              <a:tblGrid>
                <a:gridCol w="2942597"/>
                <a:gridCol w="4644962"/>
                <a:gridCol w="3543431"/>
              </a:tblGrid>
              <a:tr h="369824">
                <a:tc>
                  <a:txBody>
                    <a:bodyPr/>
                    <a:lstStyle/>
                    <a:p>
                      <a:r>
                        <a:rPr sz="1450" b="1" i="0">
                          <a:solidFill>
                            <a:srgbClr val="FFFFFF"/>
                          </a:solidFill>
                          <a:latin typeface="Calibri"/>
                        </a:rPr>
                        <a:t>Check</a:t>
                      </a:r>
                    </a:p>
                  </a:txBody>
                  <a:tcPr marL="101600" marR="101600" marT="38100" marB="38100" anchor="ctr">
                    <a:solidFill>
                      <a:srgbClr val="1A0F5C"/>
                    </a:solidFill>
                  </a:tcPr>
                </a:tc>
                <a:tc>
                  <a:txBody>
                    <a:bodyPr/>
                    <a:lstStyle/>
                    <a:p>
                      <a:r>
                        <a:rPr sz="1450" b="1" i="0">
                          <a:solidFill>
                            <a:srgbClr val="FFFFFF"/>
                          </a:solidFill>
                          <a:latin typeface="Calibri"/>
                        </a:rPr>
                        <a:t>It compares</a:t>
                      </a:r>
                    </a:p>
                  </a:txBody>
                  <a:tcPr marL="101600" marR="101600" marT="38100" marB="38100" anchor="ctr">
                    <a:solidFill>
                      <a:srgbClr val="1A0F5C"/>
                    </a:solidFill>
                  </a:tcPr>
                </a:tc>
                <a:tc>
                  <a:txBody>
                    <a:bodyPr/>
                    <a:lstStyle/>
                    <a:p>
                      <a:r>
                        <a:rPr sz="1450" b="1" i="0">
                          <a:solidFill>
                            <a:srgbClr val="FFFFFF"/>
                          </a:solidFill>
                          <a:latin typeface="Calibri"/>
                        </a:rPr>
                        <a:t>It catches</a:t>
                      </a:r>
                    </a:p>
                  </a:txBody>
                  <a:tcPr marL="101600" marR="101600" marT="38100" marB="38100" anchor="ctr">
                    <a:solidFill>
                      <a:srgbClr val="1A0F5C"/>
                    </a:solidFill>
                  </a:tcPr>
                </a:tc>
              </a:tr>
              <a:tr h="369824">
                <a:tc>
                  <a:txBody>
                    <a:bodyPr/>
                    <a:lstStyle/>
                    <a:p>
                      <a:r>
                        <a:rPr sz="1400" b="0" i="0">
                          <a:solidFill>
                            <a:srgbClr val="1A1440"/>
                          </a:solidFill>
                          <a:latin typeface="Calibri"/>
                        </a:rPr>
                        <a:t>The tree ties</a:t>
                      </a:r>
                    </a:p>
                  </a:txBody>
                  <a:tcPr marL="101600" marR="101600" marT="38100" marB="38100" anchor="ctr">
                    <a:solidFill>
                      <a:srgbClr val="FFFFFF"/>
                    </a:solidFill>
                  </a:tcPr>
                </a:tc>
                <a:tc>
                  <a:txBody>
                    <a:bodyPr/>
                    <a:lstStyle/>
                    <a:p>
                      <a:r>
                        <a:rPr sz="1400" b="0" i="0">
                          <a:solidFill>
                            <a:srgbClr val="1A1440"/>
                          </a:solidFill>
                          <a:latin typeface="Calibri"/>
                        </a:rPr>
                        <a:t>the tree's quarters against the warehouse</a:t>
                      </a:r>
                    </a:p>
                  </a:txBody>
                  <a:tcPr marL="101600" marR="101600" marT="38100" marB="38100" anchor="ctr">
                    <a:solidFill>
                      <a:srgbClr val="FFFFFF"/>
                    </a:solidFill>
                  </a:tcPr>
                </a:tc>
                <a:tc>
                  <a:txBody>
                    <a:bodyPr/>
                    <a:lstStyle/>
                    <a:p>
                      <a:r>
                        <a:rPr sz="1400" b="0" i="0">
                          <a:solidFill>
                            <a:srgbClr val="1A1440"/>
                          </a:solidFill>
                          <a:latin typeface="Calibri"/>
                        </a:rPr>
                        <a:t>a pivot adding payment rows</a:t>
                      </a:r>
                    </a:p>
                  </a:txBody>
                  <a:tcPr marL="101600" marR="101600" marT="38100" marB="38100" anchor="ctr">
                    <a:solidFill>
                      <a:srgbClr val="FFFFFF"/>
                    </a:solidFill>
                  </a:tcPr>
                </a:tc>
              </a:tr>
              <a:tr h="369824">
                <a:tc>
                  <a:txBody>
                    <a:bodyPr/>
                    <a:lstStyle/>
                    <a:p>
                      <a:r>
                        <a:rPr sz="1400" b="0" i="0">
                          <a:solidFill>
                            <a:srgbClr val="1A1440"/>
                          </a:solidFill>
                          <a:latin typeface="Calibri"/>
                        </a:rPr>
                        <a:t>The list's source ties</a:t>
                      </a:r>
                    </a:p>
                  </a:txBody>
                  <a:tcPr marL="101600" marR="101600" marT="38100" marB="38100" anchor="ctr">
                    <a:solidFill>
                      <a:srgbClr val="F4F2FA"/>
                    </a:solidFill>
                  </a:tcPr>
                </a:tc>
                <a:tc>
                  <a:txBody>
                    <a:bodyPr/>
                    <a:lstStyle/>
                    <a:p>
                      <a:r>
                        <a:rPr sz="1400" b="0" i="0">
                          <a:solidFill>
                            <a:srgbClr val="1A1440"/>
                          </a:solidFill>
                          <a:latin typeface="Calibri"/>
                        </a:rPr>
                        <a:t>the customer table against the warehouse</a:t>
                      </a:r>
                    </a:p>
                  </a:txBody>
                  <a:tcPr marL="101600" marR="101600" marT="38100" marB="38100" anchor="ctr">
                    <a:solidFill>
                      <a:srgbClr val="F4F2FA"/>
                    </a:solidFill>
                  </a:tcPr>
                </a:tc>
                <a:tc>
                  <a:txBody>
                    <a:bodyPr/>
                    <a:lstStyle/>
                    <a:p>
                      <a:r>
                        <a:rPr sz="1400" b="0" i="0">
                          <a:solidFill>
                            <a:srgbClr val="1A1440"/>
                          </a:solidFill>
                          <a:latin typeface="Calibri"/>
                        </a:rPr>
                        <a:t>a list on an export that is short</a:t>
                      </a:r>
                    </a:p>
                  </a:txBody>
                  <a:tcPr marL="101600" marR="101600" marT="38100" marB="38100" anchor="ctr">
                    <a:solidFill>
                      <a:srgbClr val="F4F2FA"/>
                    </a:solidFill>
                  </a:tcPr>
                </a:tc>
              </a:tr>
              <a:tr h="369824">
                <a:tc>
                  <a:txBody>
                    <a:bodyPr/>
                    <a:lstStyle/>
                    <a:p>
                      <a:r>
                        <a:rPr sz="1400" b="0" i="0">
                          <a:solidFill>
                            <a:srgbClr val="1A1440"/>
                          </a:solidFill>
                          <a:latin typeface="Calibri"/>
                        </a:rPr>
                        <a:t>The lookup is honest</a:t>
                      </a:r>
                    </a:p>
                  </a:txBody>
                  <a:tcPr marL="101600" marR="101600" marT="38100" marB="38100" anchor="ctr">
                    <a:solidFill>
                      <a:srgbClr val="FFFFFF"/>
                    </a:solidFill>
                  </a:tcPr>
                </a:tc>
                <a:tc>
                  <a:txBody>
                    <a:bodyPr/>
                    <a:lstStyle/>
                    <a:p>
                      <a:r>
                        <a:rPr sz="1400" b="0" i="0">
                          <a:solidFill>
                            <a:srgbClr val="1A1440"/>
                          </a:solidFill>
                          <a:latin typeface="Calibri"/>
                        </a:rPr>
                        <a:t>the answer for an id known to be missing</a:t>
                      </a:r>
                    </a:p>
                  </a:txBody>
                  <a:tcPr marL="101600" marR="101600" marT="38100" marB="38100" anchor="ctr">
                    <a:solidFill>
                      <a:srgbClr val="FFFFFF"/>
                    </a:solidFill>
                  </a:tcPr>
                </a:tc>
                <a:tc>
                  <a:txBody>
                    <a:bodyPr/>
                    <a:lstStyle/>
                    <a:p>
                      <a:r>
                        <a:rPr sz="1400" b="0" i="0">
                          <a:solidFill>
                            <a:srgbClr val="1A1440"/>
                          </a:solidFill>
                          <a:latin typeface="Calibri"/>
                        </a:rPr>
                        <a:t>an approximate match</a:t>
                      </a:r>
                    </a:p>
                  </a:txBody>
                  <a:tcPr marL="101600" marR="101600" marT="38100" marB="38100" anchor="ctr">
                    <a:solidFill>
                      <a:srgbClr val="FFFFFF"/>
                    </a:solidFill>
                  </a:tcPr>
                </a:tc>
              </a:tr>
              <a:tr h="369824">
                <a:tc>
                  <a:txBody>
                    <a:bodyPr/>
                    <a:lstStyle/>
                    <a:p>
                      <a:r>
                        <a:rPr sz="1400" b="0" i="0">
                          <a:solidFill>
                            <a:srgbClr val="1A1440"/>
                          </a:solidFill>
                          <a:latin typeface="Calibri"/>
                        </a:rPr>
                        <a:t>The foot follows the filter</a:t>
                      </a:r>
                    </a:p>
                  </a:txBody>
                  <a:tcPr marL="101600" marR="101600" marT="38100" marB="38100" anchor="ctr">
                    <a:solidFill>
                      <a:srgbClr val="F4F2FA"/>
                    </a:solidFill>
                  </a:tcPr>
                </a:tc>
                <a:tc>
                  <a:txBody>
                    <a:bodyPr/>
                    <a:lstStyle/>
                    <a:p>
                      <a:r>
                        <a:rPr sz="1400" b="0" i="0">
                          <a:solidFill>
                            <a:srgbClr val="1A1440"/>
                          </a:solidFill>
                          <a:latin typeface="Calibri"/>
                        </a:rPr>
                        <a:t>SUBTOTAL(103) against the rows the foot adds</a:t>
                      </a:r>
                    </a:p>
                  </a:txBody>
                  <a:tcPr marL="101600" marR="101600" marT="38100" marB="38100" anchor="ctr">
                    <a:solidFill>
                      <a:srgbClr val="F4F2FA"/>
                    </a:solidFill>
                  </a:tcPr>
                </a:tc>
                <a:tc>
                  <a:txBody>
                    <a:bodyPr/>
                    <a:lstStyle/>
                    <a:p>
                      <a:r>
                        <a:rPr sz="1400" b="0" i="0">
                          <a:solidFill>
                            <a:srgbClr val="1A1440"/>
                          </a:solidFill>
                          <a:latin typeface="Calibri"/>
                        </a:rPr>
                        <a:t>SUM under a filter</a:t>
                      </a:r>
                    </a:p>
                  </a:txBody>
                  <a:tcPr marL="101600" marR="101600" marT="38100" marB="38100" anchor="ctr">
                    <a:solidFill>
                      <a:srgbClr val="F4F2FA"/>
                    </a:solidFill>
                  </a:tcPr>
                </a:tc>
              </a:tr>
              <a:tr h="369824">
                <a:tc>
                  <a:txBody>
                    <a:bodyPr/>
                    <a:lstStyle/>
                    <a:p>
                      <a:r>
                        <a:rPr sz="1400" b="0" i="0">
                          <a:solidFill>
                            <a:srgbClr val="1A1440"/>
                          </a:solidFill>
                          <a:latin typeface="Calibri"/>
                        </a:rPr>
                        <a:t>No typed-over formula</a:t>
                      </a:r>
                    </a:p>
                  </a:txBody>
                  <a:tcPr marL="101600" marR="101600" marT="38100" marB="38100" anchor="ctr">
                    <a:solidFill>
                      <a:srgbClr val="FFFFFF"/>
                    </a:solidFill>
                  </a:tcPr>
                </a:tc>
                <a:tc>
                  <a:txBody>
                    <a:bodyPr/>
                    <a:lstStyle/>
                    <a:p>
                      <a:r>
                        <a:rPr sz="1400" b="0" i="0">
                          <a:solidFill>
                            <a:srgbClr val="1A1440"/>
                          </a:solidFill>
                          <a:latin typeface="Calibri"/>
                        </a:rPr>
                        <a:t>ISFORMULA outside the yellow inputs</a:t>
                      </a:r>
                    </a:p>
                  </a:txBody>
                  <a:tcPr marL="101600" marR="101600" marT="38100" marB="38100" anchor="ctr">
                    <a:solidFill>
                      <a:srgbClr val="FFFFFF"/>
                    </a:solidFill>
                  </a:tcPr>
                </a:tc>
                <a:tc>
                  <a:txBody>
                    <a:bodyPr/>
                    <a:lstStyle/>
                    <a:p>
                      <a:r>
                        <a:rPr sz="1400" b="0" i="0">
                          <a:solidFill>
                            <a:srgbClr val="1A1440"/>
                          </a:solidFill>
                          <a:latin typeface="Calibri"/>
                        </a:rPr>
                        <a:t>a figure typed over a formula</a:t>
                      </a:r>
                    </a:p>
                  </a:txBody>
                  <a:tcPr marL="101600" marR="101600" marT="38100" marB="38100" anchor="ctr">
                    <a:solidFill>
                      <a:srgbClr val="FFFFFF"/>
                    </a:solidFill>
                  </a:tcPr>
                </a:tc>
              </a:tr>
            </a:tbl>
          </a:graphicData>
        </a:graphic>
      </p:graphicFrame>
      <p:sp>
        <p:nvSpPr>
          <p:cNvPr id="10" name="Rounded Rectangle 9"/>
          <p:cNvSpPr/>
          <p:nvPr/>
        </p:nvSpPr>
        <p:spPr>
          <a:xfrm>
            <a:off x="530352" y="4431792"/>
            <a:ext cx="11130991" cy="8077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4559808"/>
            <a:ext cx="45720" cy="5516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4550664"/>
            <a:ext cx="10564063" cy="6248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Four checks pass and the list's source does not tie. The release: a) ships everything; b) holds the list, ships the rest; c) holds everything; d) cannot decide.</a:t>
            </a:r>
          </a:p>
        </p:txBody>
      </p:sp>
      <p:sp>
        <p:nvSpPr>
          <p:cNvPr id="13" name="Oval 12"/>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Can a director break it?</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17" name="Oval 16"/>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21" name="Oval 20"/>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3" name="Oval 22"/>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S13  ·  16 / 39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hold what fails, ship the rest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each failing check hold, and why is a typed-over figure different?</a:t>
            </a:r>
          </a:p>
        </p:txBody>
      </p:sp>
      <p:pic>
        <p:nvPicPr>
          <p:cNvPr id="9" name="mermaid diagram" descr="3b32a90bcdcd62d4.png"/>
          <p:cNvPicPr>
            <a:picLocks noChangeAspect="1"/>
          </p:cNvPicPr>
          <p:nvPr/>
        </p:nvPicPr>
        <p:blipFill>
          <a:blip r:embed="rId5"/>
          <a:stretch>
            <a:fillRect/>
          </a:stretch>
        </p:blipFill>
        <p:spPr>
          <a:xfrm>
            <a:off x="1588141" y="1956816"/>
            <a:ext cx="9015412" cy="1800225"/>
          </a:xfrm>
          <a:prstGeom prst="rect">
            <a:avLst/>
          </a:prstGeom>
        </p:spPr>
      </p:pic>
      <p:sp>
        <p:nvSpPr>
          <p:cNvPr id="10" name="TextBox 9"/>
          <p:cNvSpPr txBox="1"/>
          <p:nvPr/>
        </p:nvSpPr>
        <p:spPr>
          <a:xfrm>
            <a:off x="530352" y="3903345"/>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"Hold the protect list; ship the rest." A figure typed over a formula holds the whole workbook, since nobody can say which other numbers it moved. Formulas recalculate whether or not their inputs tie, so the release reads the checks and nothing else.</a:t>
            </a:r>
          </a:p>
        </p:txBody>
      </p:sp>
      <p:sp>
        <p:nvSpPr>
          <p:cNvPr id="11" name="Oval 10"/>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Can a director break it?</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15" name="Oval 14"/>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17" name="Oval 1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19" name="Oval 18"/>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1" name="Oval 20"/>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S14  ·  17 / 39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sheet a director can change and cannot break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can a director break, and which checks catch it?</a:t>
            </a:r>
          </a:p>
        </p:txBody>
      </p:sp>
      <p:graphicFrame>
        <p:nvGraphicFramePr>
          <p:cNvPr id="9" name="Table 8"/>
          <p:cNvGraphicFramePr>
            <a:graphicFrameLocks noGrp="1"/>
          </p:cNvGraphicFramePr>
          <p:nvPr/>
        </p:nvGraphicFramePr>
        <p:xfrm>
          <a:off x="530352" y="1794764"/>
          <a:ext cx="11130990" cy="2226056"/>
        </p:xfrm>
        <a:graphic>
          <a:graphicData uri="http://schemas.openxmlformats.org/drawingml/2006/table">
            <a:tbl>
              <a:tblPr firstRow="0" bandRow="0">
                <a:tableStyleId>{2D5ABB26-0587-4C30-8999-92F81FD0307C}</a:tableStyleId>
              </a:tblPr>
              <a:tblGrid>
                <a:gridCol w="3389936"/>
                <a:gridCol w="7741054"/>
              </a:tblGrid>
              <a:tr h="318008">
                <a:tc>
                  <a:txBody>
                    <a:bodyPr/>
                    <a:lstStyle/>
                    <a:p>
                      <a:r>
                        <a:rPr sz="1150" b="1" i="0">
                          <a:solidFill>
                            <a:srgbClr val="FFFFFF"/>
                          </a:solidFill>
                          <a:latin typeface="Calibri"/>
                        </a:rPr>
                        <a:t>Question</a:t>
                      </a:r>
                    </a:p>
                  </a:txBody>
                  <a:tcPr marL="101600" marR="101600" marT="38100" marB="38100" anchor="ctr">
                    <a:solidFill>
                      <a:srgbClr val="1A0F5C"/>
                    </a:solidFill>
                  </a:tcPr>
                </a:tc>
                <a:tc>
                  <a:txBody>
                    <a:bodyPr/>
                    <a:lstStyle/>
                    <a:p>
                      <a:r>
                        <a:rPr sz="1150" b="1" i="0">
                          <a:solidFill>
                            <a:srgbClr val="FFFFFF"/>
                          </a:solidFill>
                          <a:latin typeface="Calibri"/>
                        </a:rPr>
                        <a:t>Answer</a:t>
                      </a:r>
                    </a:p>
                  </a:txBody>
                  <a:tcPr marL="101600" marR="101600" marT="38100" marB="38100" anchor="ctr">
                    <a:solidFill>
                      <a:srgbClr val="1A0F5C"/>
                    </a:solidFill>
                  </a:tcPr>
                </a:tc>
              </a:tr>
              <a:tr h="318008">
                <a:tc>
                  <a:txBody>
                    <a:bodyPr/>
                    <a:lstStyle/>
                    <a:p>
                      <a:r>
                        <a:rPr sz="1100" b="0" i="0">
                          <a:solidFill>
                            <a:srgbClr val="1A1440"/>
                          </a:solidFill>
                          <a:latin typeface="Calibri"/>
                        </a:rPr>
                        <a:t>How to protect it?</a:t>
                      </a:r>
                    </a:p>
                  </a:txBody>
                  <a:tcPr marL="101600" marR="101600" marT="38100" marB="38100" anchor="ctr">
                    <a:solidFill>
                      <a:srgbClr val="FFFFFF"/>
                    </a:solidFill>
                  </a:tcPr>
                </a:tc>
                <a:tc>
                  <a:txBody>
                    <a:bodyPr/>
                    <a:lstStyle/>
                    <a:p>
                      <a:r>
                        <a:rPr sz="1100" b="0" i="0">
                          <a:solidFill>
                            <a:srgbClr val="1A1440"/>
                          </a:solidFill>
                          <a:latin typeface="Calibri"/>
                        </a:rPr>
                        <a:t>c: yellow inputs, formulas, a Checks tab</a:t>
                      </a:r>
                    </a:p>
                  </a:txBody>
                  <a:tcPr marL="101600" marR="101600" marT="38100" marB="38100" anchor="ctr">
                    <a:solidFill>
                      <a:srgbClr val="FFFFFF"/>
                    </a:solidFill>
                  </a:tcPr>
                </a:tc>
              </a:tr>
              <a:tr h="318008">
                <a:tc>
                  <a:txBody>
                    <a:bodyPr/>
                    <a:lstStyle/>
                    <a:p>
                      <a:r>
                        <a:rPr sz="1100" b="0" i="0">
                          <a:solidFill>
                            <a:srgbClr val="1A1440"/>
                          </a:solidFill>
                          <a:latin typeface="Calibri"/>
                        </a:rPr>
                        <a:t>What will they do?</a:t>
                      </a:r>
                    </a:p>
                  </a:txBody>
                  <a:tcPr marL="101600" marR="101600" marT="38100" marB="38100" anchor="ctr">
                    <a:solidFill>
                      <a:srgbClr val="F4F2FA"/>
                    </a:solidFill>
                  </a:tcPr>
                </a:tc>
                <a:tc>
                  <a:txBody>
                    <a:bodyPr/>
                    <a:lstStyle/>
                    <a:p>
                      <a:r>
                        <a:rPr sz="1100" b="0" i="0">
                          <a:solidFill>
                            <a:srgbClr val="1A1440"/>
                          </a:solidFill>
                          <a:latin typeface="Calibri"/>
                        </a:rPr>
                        <a:t>Filter, sort, type over, change inputs, paste</a:t>
                      </a:r>
                    </a:p>
                  </a:txBody>
                  <a:tcPr marL="101600" marR="101600" marT="38100" marB="38100" anchor="ctr">
                    <a:solidFill>
                      <a:srgbClr val="F4F2FA"/>
                    </a:solidFill>
                  </a:tcPr>
                </a:tc>
              </a:tr>
              <a:tr h="318008">
                <a:tc>
                  <a:txBody>
                    <a:bodyPr/>
                    <a:lstStyle/>
                    <a:p>
                      <a:r>
                        <a:rPr sz="1100" b="0" i="0">
                          <a:solidFill>
                            <a:srgbClr val="1A1440"/>
                          </a:solidFill>
                          <a:latin typeface="Calibri"/>
                        </a:rPr>
                        <a:t>A filtered total?</a:t>
                      </a:r>
                    </a:p>
                  </a:txBody>
                  <a:tcPr marL="101600" marR="101600" marT="38100" marB="38100" anchor="ctr">
                    <a:solidFill>
                      <a:srgbClr val="FFFFFF"/>
                    </a:solidFill>
                  </a:tcPr>
                </a:tc>
                <a:tc>
                  <a:txBody>
                    <a:bodyPr/>
                    <a:lstStyle/>
                    <a:p>
                      <a:r>
                        <a:rPr sz="1100" b="0" i="0">
                          <a:solidFill>
                            <a:srgbClr val="1A1440"/>
                          </a:solidFill>
                          <a:latin typeface="Calibri"/>
                        </a:rPr>
                        <a:t>SUM still reads Rs 7,14,890</a:t>
                      </a:r>
                    </a:p>
                  </a:txBody>
                  <a:tcPr marL="101600" marR="101600" marT="38100" marB="38100" anchor="ctr">
                    <a:solidFill>
                      <a:srgbClr val="FFFFFF"/>
                    </a:solidFill>
                  </a:tcPr>
                </a:tc>
              </a:tr>
              <a:tr h="318008">
                <a:tc>
                  <a:txBody>
                    <a:bodyPr/>
                    <a:lstStyle/>
                    <a:p>
                      <a:r>
                        <a:rPr sz="1100" b="0" i="0">
                          <a:solidFill>
                            <a:srgbClr val="1A1440"/>
                          </a:solidFill>
                          <a:latin typeface="Calibri"/>
                        </a:rPr>
                        <a:t>Visible rows only?</a:t>
                      </a:r>
                    </a:p>
                  </a:txBody>
                  <a:tcPr marL="101600" marR="101600" marT="38100" marB="38100" anchor="ctr">
                    <a:solidFill>
                      <a:srgbClr val="F4F2FA"/>
                    </a:solidFill>
                  </a:tcPr>
                </a:tc>
                <a:tc>
                  <a:txBody>
                    <a:bodyPr/>
                    <a:lstStyle/>
                    <a:p>
                      <a:r>
                        <a:rPr sz="1100" b="0" i="0">
                          <a:solidFill>
                            <a:srgbClr val="1A1440"/>
                          </a:solidFill>
                          <a:latin typeface="Calibri"/>
                        </a:rPr>
                        <a:t>SUBTOTAL(109), Rs 1,56,790 for eleven</a:t>
                      </a:r>
                    </a:p>
                  </a:txBody>
                  <a:tcPr marL="101600" marR="101600" marT="38100" marB="38100" anchor="ctr">
                    <a:solidFill>
                      <a:srgbClr val="F4F2FA"/>
                    </a:solidFill>
                  </a:tcPr>
                </a:tc>
              </a:tr>
              <a:tr h="318008">
                <a:tc>
                  <a:txBody>
                    <a:bodyPr/>
                    <a:lstStyle/>
                    <a:p>
                      <a:r>
                        <a:rPr sz="1100" b="0" i="0">
                          <a:solidFill>
                            <a:srgbClr val="1A1440"/>
                          </a:solidFill>
                          <a:latin typeface="Calibri"/>
                        </a:rPr>
                        <a:t>An assumption?</a:t>
                      </a:r>
                    </a:p>
                  </a:txBody>
                  <a:tcPr marL="101600" marR="101600" marT="38100" marB="38100" anchor="ctr">
                    <a:solidFill>
                      <a:srgbClr val="FFFFFF"/>
                    </a:solidFill>
                  </a:tcPr>
                </a:tc>
                <a:tc>
                  <a:txBody>
                    <a:bodyPr/>
                    <a:lstStyle/>
                    <a:p>
                      <a:r>
                        <a:rPr sz="1100" b="0" i="0">
                          <a:solidFill>
                            <a:srgbClr val="1A1440"/>
                          </a:solidFill>
                          <a:latin typeface="Calibri"/>
                        </a:rPr>
                        <a:t>A yellow input: Rs 5,500 for Mumbai</a:t>
                      </a:r>
                    </a:p>
                  </a:txBody>
                  <a:tcPr marL="101600" marR="101600" marT="38100" marB="38100" anchor="ctr">
                    <a:solidFill>
                      <a:srgbClr val="FFFFFF"/>
                    </a:solidFill>
                  </a:tcPr>
                </a:tc>
              </a:tr>
              <a:tr h="318008">
                <a:tc>
                  <a:txBody>
                    <a:bodyPr/>
                    <a:lstStyle/>
                    <a:p>
                      <a:r>
                        <a:rPr sz="1100" b="0" i="0">
                          <a:solidFill>
                            <a:srgbClr val="1A1440"/>
                          </a:solidFill>
                          <a:latin typeface="Calibri"/>
                        </a:rPr>
                        <a:t>What is released?</a:t>
                      </a:r>
                    </a:p>
                  </a:txBody>
                  <a:tcPr marL="101600" marR="101600" marT="38100" marB="38100" anchor="ctr">
                    <a:solidFill>
                      <a:srgbClr val="F4F2FA"/>
                    </a:solidFill>
                  </a:tcPr>
                </a:tc>
                <a:tc>
                  <a:txBody>
                    <a:bodyPr/>
                    <a:lstStyle/>
                    <a:p>
                      <a:r>
                        <a:rPr sz="1100" b="0" i="0">
                          <a:solidFill>
                            <a:srgbClr val="1A1440"/>
                          </a:solidFill>
                          <a:latin typeface="Calibri"/>
                        </a:rPr>
                        <a:t>Hold what fails, ship the rest</a:t>
                      </a:r>
                    </a:p>
                  </a:txBody>
                  <a:tcPr marL="101600" marR="101600" marT="38100" marB="38100" anchor="ctr">
                    <a:solidFill>
                      <a:srgbClr val="F4F2FA"/>
                    </a:solidFill>
                  </a:tcPr>
                </a:tc>
              </a:tr>
            </a:tbl>
          </a:graphicData>
        </a:graphic>
      </p:graphicFrame>
      <p:sp>
        <p:nvSpPr>
          <p:cNvPr id="10" name="Rounded Rectangle 9"/>
          <p:cNvSpPr/>
          <p:nvPr/>
        </p:nvSpPr>
        <p:spPr>
          <a:xfrm>
            <a:off x="530352" y="4276852"/>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58952" y="445973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search-check_6571e64a041f.png"/>
          <p:cNvPicPr>
            <a:picLocks noChangeAspect="1"/>
          </p:cNvPicPr>
          <p:nvPr/>
        </p:nvPicPr>
        <p:blipFill>
          <a:blip r:embed="rId4"/>
          <a:stretch>
            <a:fillRect/>
          </a:stretch>
        </p:blipFill>
        <p:spPr>
          <a:xfrm>
            <a:off x="868680" y="4569460"/>
            <a:ext cx="237744" cy="237744"/>
          </a:xfrm>
          <a:prstGeom prst="rect">
            <a:avLst/>
          </a:prstGeom>
        </p:spPr>
      </p:pic>
      <p:sp>
        <p:nvSpPr>
          <p:cNvPr id="13" name="TextBox 12"/>
          <p:cNvSpPr txBox="1"/>
          <p:nvPr/>
        </p:nvSpPr>
        <p:spPr>
          <a:xfrm>
            <a:off x="1399031" y="4423156"/>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14" name="TextBox 13"/>
          <p:cNvSpPr txBox="1"/>
          <p:nvPr/>
        </p:nvSpPr>
        <p:spPr>
          <a:xfrm>
            <a:off x="1399031" y="4642612"/>
            <a:ext cx="9987991" cy="384048"/>
          </a:xfrm>
          <a:prstGeom prst="rect">
            <a:avLst/>
          </a:prstGeom>
          <a:noFill/>
        </p:spPr>
        <p:txBody>
          <a:bodyPr wrap="square" anchor="t" lIns="0" rIns="0" tIns="0" bIns="0">
            <a:spAutoFit/>
          </a:bodyPr>
          <a:lstStyle/>
          <a:p>
            <a:r>
              <a:rPr sz="1100" b="0" i="0">
                <a:solidFill>
                  <a:srgbClr val="1A1440"/>
                </a:solidFill>
                <a:latin typeface="Calibri"/>
              </a:rPr>
              <a:t>"A director who filters, sorts or asks a what-if should see the right numbers move and a wrong one turn red."</a:t>
            </a:r>
          </a:p>
        </p:txBody>
      </p:sp>
      <p:sp>
        <p:nvSpPr>
          <p:cNvPr id="15" name="Rounded Rectangle 14"/>
          <p:cNvSpPr/>
          <p:nvPr/>
        </p:nvSpPr>
        <p:spPr>
          <a:xfrm>
            <a:off x="530352" y="5264404"/>
            <a:ext cx="11130991" cy="822960"/>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758952" y="54472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mic_caee7398c80d.png"/>
          <p:cNvPicPr>
            <a:picLocks noChangeAspect="1"/>
          </p:cNvPicPr>
          <p:nvPr/>
        </p:nvPicPr>
        <p:blipFill>
          <a:blip r:embed="rId5"/>
          <a:stretch>
            <a:fillRect/>
          </a:stretch>
        </p:blipFill>
        <p:spPr>
          <a:xfrm>
            <a:off x="868680" y="5557012"/>
            <a:ext cx="237744" cy="237744"/>
          </a:xfrm>
          <a:prstGeom prst="rect">
            <a:avLst/>
          </a:prstGeom>
        </p:spPr>
      </p:pic>
      <p:sp>
        <p:nvSpPr>
          <p:cNvPr id="18" name="TextBox 17"/>
          <p:cNvSpPr txBox="1"/>
          <p:nvPr/>
        </p:nvSpPr>
        <p:spPr>
          <a:xfrm>
            <a:off x="1399031" y="541070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19" name="TextBox 18"/>
          <p:cNvSpPr txBox="1"/>
          <p:nvPr/>
        </p:nvSpPr>
        <p:spPr>
          <a:xfrm>
            <a:off x="1399031" y="5630164"/>
            <a:ext cx="9987991" cy="384048"/>
          </a:xfrm>
          <a:prstGeom prst="rect">
            <a:avLst/>
          </a:prstGeom>
          <a:noFill/>
        </p:spPr>
        <p:txBody>
          <a:bodyPr wrap="square" anchor="t" lIns="0" rIns="0" tIns="0" bIns="0">
            <a:spAutoFit/>
          </a:bodyPr>
          <a:lstStyle/>
          <a:p>
            <a:r>
              <a:rPr sz="1100" b="0" i="0">
                <a:solidFill>
                  <a:srgbClr val="1A1440"/>
                </a:solidFill>
                <a:latin typeface="Calibri"/>
              </a:rPr>
              <a:t>[F] You filter a list and its total does not move; what is the foot doing?</a:t>
            </a:r>
          </a:p>
        </p:txBody>
      </p:sp>
      <p:sp>
        <p:nvSpPr>
          <p:cNvPr id="20" name="Oval 19"/>
          <p:cNvSpPr/>
          <p:nvPr/>
        </p:nvSpPr>
        <p:spPr>
          <a:xfrm>
            <a:off x="53035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40080"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Can a director break it?</a:t>
            </a:r>
          </a:p>
        </p:txBody>
      </p:sp>
      <p:sp>
        <p:nvSpPr>
          <p:cNvPr id="22" name="Oval 2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24" name="Oval 23"/>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26" name="Oval 25"/>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28" name="Oval 27"/>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30" name="Oval 29"/>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32" name="TextBox 3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S15  ·  18 / 39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07</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Can you ship it alone?</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Can you build the three deliverables and the Checks tab from the two exports, alone? The chief of staff opens it on Monday.</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a director break it?</a:t>
            </a:r>
          </a:p>
        </p:txBody>
      </p:sp>
      <p:sp>
        <p:nvSpPr>
          <p:cNvPr id="11" name="Rounded Rectangle 10"/>
          <p:cNvSpPr/>
          <p:nvPr/>
        </p:nvSpPr>
        <p:spPr>
          <a:xfrm>
            <a:off x="2628191" y="5074920"/>
            <a:ext cx="1668511"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Can you ship it alone?</a:t>
            </a:r>
          </a:p>
        </p:txBody>
      </p:sp>
      <p:sp>
        <p:nvSpPr>
          <p:cNvPr id="12" name="Rounded Rectangle 11"/>
          <p:cNvSpPr/>
          <p:nvPr/>
        </p:nvSpPr>
        <p:spPr>
          <a:xfrm>
            <a:off x="4406430"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numbers were wrong?</a:t>
            </a:r>
          </a:p>
        </p:txBody>
      </p:sp>
      <p:sp>
        <p:nvSpPr>
          <p:cNvPr id="13" name="Rounded Rectangle 12"/>
          <p:cNvSpPr/>
          <p:nvPr/>
        </p:nvSpPr>
        <p:spPr>
          <a:xfrm>
            <a:off x="6362318"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does five lakh go?</a:t>
            </a:r>
          </a:p>
        </p:txBody>
      </p:sp>
      <p:sp>
        <p:nvSpPr>
          <p:cNvPr id="14" name="Rounded Rectangle 13"/>
          <p:cNvSpPr/>
          <p:nvPr/>
        </p:nvSpPr>
        <p:spPr>
          <a:xfrm>
            <a:off x="8258989"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say it aloud?</a:t>
            </a:r>
          </a:p>
        </p:txBody>
      </p:sp>
      <p:sp>
        <p:nvSpPr>
          <p:cNvPr id="15" name="Rounded Rectangle 14"/>
          <p:cNvSpPr/>
          <p:nvPr/>
        </p:nvSpPr>
        <p:spPr>
          <a:xfrm>
            <a:off x="9978012"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ships on Monday?</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5. Can a director change it and still trust it?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19 / 39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it in five parts, in the chief of staff's words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chief of staff want, and how long does each part take?</a:t>
            </a:r>
          </a:p>
        </p:txBody>
      </p:sp>
      <p:sp>
        <p:nvSpPr>
          <p:cNvPr id="9" name="Rounded Rectangle 8"/>
          <p:cNvSpPr/>
          <p:nvPr/>
        </p:nvSpPr>
        <p:spPr>
          <a:xfrm>
            <a:off x="530352" y="1956816"/>
            <a:ext cx="11130991" cy="138074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58952" y="2418588"/>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message-square_028dbd132a0a.png"/>
          <p:cNvPicPr>
            <a:picLocks noChangeAspect="1"/>
          </p:cNvPicPr>
          <p:nvPr/>
        </p:nvPicPr>
        <p:blipFill>
          <a:blip r:embed="rId4"/>
          <a:stretch>
            <a:fillRect/>
          </a:stretch>
        </p:blipFill>
        <p:spPr>
          <a:xfrm>
            <a:off x="868680" y="2528316"/>
            <a:ext cx="237744" cy="237744"/>
          </a:xfrm>
          <a:prstGeom prst="rect">
            <a:avLst/>
          </a:prstGeom>
        </p:spPr>
      </p:pic>
      <p:sp>
        <p:nvSpPr>
          <p:cNvPr id="12" name="TextBox 11"/>
          <p:cNvSpPr txBox="1"/>
          <p:nvPr/>
        </p:nvSpPr>
        <p:spPr>
          <a:xfrm>
            <a:off x="1399031" y="2103120"/>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3" name="TextBox 12"/>
          <p:cNvSpPr txBox="1"/>
          <p:nvPr/>
        </p:nvSpPr>
        <p:spPr>
          <a:xfrm>
            <a:off x="1399031" y="2322576"/>
            <a:ext cx="9987991" cy="941832"/>
          </a:xfrm>
          <a:prstGeom prst="rect">
            <a:avLst/>
          </a:prstGeom>
          <a:noFill/>
        </p:spPr>
        <p:txBody>
          <a:bodyPr wrap="square" anchor="t" lIns="0" rIns="0" tIns="0" bIns="0">
            <a:spAutoFit/>
          </a:bodyPr>
          <a:lstStyle/>
          <a:p>
            <a:r>
              <a:rPr sz="1500" b="0" i="0">
                <a:solidFill>
                  <a:srgbClr val="FFFFFF"/>
                </a:solidFill>
                <a:latin typeface="Calibri"/>
              </a:rPr>
              <a:t>"Build me the file I open on Monday: the tree by segment for both quarters, the protect list with the lookup, and the front-page number with its trend. I will change things in the room. Tell me what I can trust it for."</a:t>
            </a:r>
          </a:p>
        </p:txBody>
      </p:sp>
      <p:graphicFrame>
        <p:nvGraphicFramePr>
          <p:cNvPr id="14" name="Table 13"/>
          <p:cNvGraphicFramePr>
            <a:graphicFrameLocks noGrp="1"/>
          </p:cNvGraphicFramePr>
          <p:nvPr/>
        </p:nvGraphicFramePr>
        <p:xfrm>
          <a:off x="530352" y="3502152"/>
          <a:ext cx="11130990" cy="2218944"/>
        </p:xfrm>
        <a:graphic>
          <a:graphicData uri="http://schemas.openxmlformats.org/drawingml/2006/table">
            <a:tbl>
              <a:tblPr firstRow="0" bandRow="0">
                <a:tableStyleId>{2D5ABB26-0587-4C30-8999-92F81FD0307C}</a:tableStyleId>
              </a:tblPr>
              <a:tblGrid>
                <a:gridCol w="914400"/>
                <a:gridCol w="8739253"/>
                <a:gridCol w="1477337"/>
              </a:tblGrid>
              <a:tr h="369824">
                <a:tc>
                  <a:txBody>
                    <a:bodyPr/>
                    <a:lstStyle/>
                    <a:p>
                      <a:r>
                        <a:rPr sz="1450" b="1" i="0">
                          <a:solidFill>
                            <a:srgbClr val="FFFFFF"/>
                          </a:solidFill>
                          <a:latin typeface="Calibri"/>
                        </a:rPr>
                        <a:t>Part</a:t>
                      </a:r>
                    </a:p>
                  </a:txBody>
                  <a:tcPr marL="101600" marR="101600" marT="38100" marB="38100" anchor="ctr">
                    <a:solidFill>
                      <a:srgbClr val="1A0F5C"/>
                    </a:solidFill>
                  </a:tcPr>
                </a:tc>
                <a:tc>
                  <a:txBody>
                    <a:bodyPr/>
                    <a:lstStyle/>
                    <a:p>
                      <a:r>
                        <a:rPr sz="1450" b="1" i="0">
                          <a:solidFill>
                            <a:srgbClr val="FFFFFF"/>
                          </a:solidFill>
                          <a:latin typeface="Calibri"/>
                        </a:rPr>
                        <a:t>The question it answers</a:t>
                      </a:r>
                    </a:p>
                  </a:txBody>
                  <a:tcPr marL="101600" marR="101600" marT="38100" marB="38100" anchor="ctr">
                    <a:solidFill>
                      <a:srgbClr val="1A0F5C"/>
                    </a:solidFill>
                  </a:tcPr>
                </a:tc>
                <a:tc>
                  <a:txBody>
                    <a:bodyPr/>
                    <a:lstStyle/>
                    <a:p>
                      <a:r>
                        <a:rPr sz="1450" b="1" i="0">
                          <a:solidFill>
                            <a:srgbClr val="FFFFFF"/>
                          </a:solidFill>
                          <a:latin typeface="Calibri"/>
                        </a:rPr>
                        <a:t>Minutes</a:t>
                      </a:r>
                    </a:p>
                  </a:txBody>
                  <a:tcPr marL="101600" marR="101600" marT="38100" marB="38100" anchor="ctr">
                    <a:solidFill>
                      <a:srgbClr val="1A0F5C"/>
                    </a:solidFill>
                  </a:tcPr>
                </a:tc>
              </a:tr>
              <a:tr h="369824">
                <a:tc>
                  <a:txBody>
                    <a:bodyPr/>
                    <a:lstStyle/>
                    <a:p>
                      <a:r>
                        <a:rPr sz="1400" b="0" i="0">
                          <a:solidFill>
                            <a:srgbClr val="1A1440"/>
                          </a:solidFill>
                          <a:latin typeface="Calibri"/>
                        </a:rPr>
                        <a:t>1</a:t>
                      </a:r>
                    </a:p>
                  </a:txBody>
                  <a:tcPr marL="101600" marR="101600" marT="38100" marB="38100" anchor="ctr">
                    <a:solidFill>
                      <a:srgbClr val="FFFFFF"/>
                    </a:solidFill>
                  </a:tcPr>
                </a:tc>
                <a:tc>
                  <a:txBody>
                    <a:bodyPr/>
                    <a:lstStyle/>
                    <a:p>
                      <a:r>
                        <a:rPr sz="1400" b="0" i="0">
                          <a:solidFill>
                            <a:srgbClr val="1A1440"/>
                          </a:solidFill>
                          <a:latin typeface="Calibri"/>
                        </a:rPr>
                        <a:t>Does the tree for both quarters tie to the warehouse?</a:t>
                      </a:r>
                    </a:p>
                  </a:txBody>
                  <a:tcPr marL="101600" marR="101600" marT="38100" marB="38100" anchor="ctr">
                    <a:solidFill>
                      <a:srgbClr val="FFFFFF"/>
                    </a:solidFill>
                  </a:tcPr>
                </a:tc>
                <a:tc>
                  <a:txBody>
                    <a:bodyPr/>
                    <a:lstStyle/>
                    <a:p>
                      <a:r>
                        <a:rPr sz="1400" b="0" i="0">
                          <a:solidFill>
                            <a:srgbClr val="1A1440"/>
                          </a:solidFill>
                          <a:latin typeface="Calibri"/>
                        </a:rPr>
                        <a:t>10</a:t>
                      </a:r>
                    </a:p>
                  </a:txBody>
                  <a:tcPr marL="101600" marR="101600" marT="38100" marB="38100" anchor="ctr">
                    <a:solidFill>
                      <a:srgbClr val="FFFFFF"/>
                    </a:solidFill>
                  </a:tcPr>
                </a:tc>
              </a:tr>
              <a:tr h="369824">
                <a:tc>
                  <a:txBody>
                    <a:bodyPr/>
                    <a:lstStyle/>
                    <a:p>
                      <a:r>
                        <a:rPr sz="1400" b="0" i="0">
                          <a:solidFill>
                            <a:srgbClr val="1A1440"/>
                          </a:solidFill>
                          <a:latin typeface="Calibri"/>
                        </a:rPr>
                        <a:t>2</a:t>
                      </a:r>
                    </a:p>
                  </a:txBody>
                  <a:tcPr marL="101600" marR="101600" marT="38100" marB="38100" anchor="ctr">
                    <a:solidFill>
                      <a:srgbClr val="F4F2FA"/>
                    </a:solidFill>
                  </a:tcPr>
                </a:tc>
                <a:tc>
                  <a:txBody>
                    <a:bodyPr/>
                    <a:lstStyle/>
                    <a:p>
                      <a:r>
                        <a:rPr sz="1400" b="0" i="0">
                          <a:solidFill>
                            <a:srgbClr val="1A1440"/>
                          </a:solidFill>
                          <a:latin typeface="Calibri"/>
                        </a:rPr>
                        <a:t>Does the list hold the right fifty, and does the lookup say when an id is missing?</a:t>
                      </a:r>
                    </a:p>
                  </a:txBody>
                  <a:tcPr marL="101600" marR="101600" marT="38100" marB="38100" anchor="ctr">
                    <a:solidFill>
                      <a:srgbClr val="F4F2FA"/>
                    </a:solidFill>
                  </a:tcPr>
                </a:tc>
                <a:tc>
                  <a:txBody>
                    <a:bodyPr/>
                    <a:lstStyle/>
                    <a:p>
                      <a:r>
                        <a:rPr sz="1400" b="0" i="0">
                          <a:solidFill>
                            <a:srgbClr val="1A1440"/>
                          </a:solidFill>
                          <a:latin typeface="Calibri"/>
                        </a:rPr>
                        <a:t>10</a:t>
                      </a:r>
                    </a:p>
                  </a:txBody>
                  <a:tcPr marL="101600" marR="101600" marT="38100" marB="38100" anchor="ctr">
                    <a:solidFill>
                      <a:srgbClr val="F4F2FA"/>
                    </a:solidFill>
                  </a:tcPr>
                </a:tc>
              </a:tr>
              <a:tr h="369824">
                <a:tc>
                  <a:txBody>
                    <a:bodyPr/>
                    <a:lstStyle/>
                    <a:p>
                      <a:r>
                        <a:rPr sz="1400" b="0" i="0">
                          <a:solidFill>
                            <a:srgbClr val="1A1440"/>
                          </a:solidFill>
                          <a:latin typeface="Calibri"/>
                        </a:rPr>
                        <a:t>3</a:t>
                      </a:r>
                    </a:p>
                  </a:txBody>
                  <a:tcPr marL="101600" marR="101600" marT="38100" marB="38100" anchor="ctr">
                    <a:solidFill>
                      <a:srgbClr val="FFFFFF"/>
                    </a:solidFill>
                  </a:tcPr>
                </a:tc>
                <a:tc>
                  <a:txBody>
                    <a:bodyPr/>
                    <a:lstStyle/>
                    <a:p>
                      <a:r>
                        <a:rPr sz="1400" b="0" i="0">
                          <a:solidFill>
                            <a:srgbClr val="1A1440"/>
                          </a:solidFill>
                          <a:latin typeface="Calibri"/>
                        </a:rPr>
                        <a:t>Does the card carry its period, comparison and base, for any scope?</a:t>
                      </a:r>
                    </a:p>
                  </a:txBody>
                  <a:tcPr marL="101600" marR="101600" marT="38100" marB="38100" anchor="ctr">
                    <a:solidFill>
                      <a:srgbClr val="FFFFFF"/>
                    </a:solidFill>
                  </a:tcPr>
                </a:tc>
                <a:tc>
                  <a:txBody>
                    <a:bodyPr/>
                    <a:lstStyle/>
                    <a:p>
                      <a:r>
                        <a:rPr sz="1400" b="0" i="0">
                          <a:solidFill>
                            <a:srgbClr val="1A1440"/>
                          </a:solidFill>
                          <a:latin typeface="Calibri"/>
                        </a:rPr>
                        <a:t>10</a:t>
                      </a:r>
                    </a:p>
                  </a:txBody>
                  <a:tcPr marL="101600" marR="101600" marT="38100" marB="38100" anchor="ctr">
                    <a:solidFill>
                      <a:srgbClr val="FFFFFF"/>
                    </a:solidFill>
                  </a:tcPr>
                </a:tc>
              </a:tr>
              <a:tr h="369824">
                <a:tc>
                  <a:txBody>
                    <a:bodyPr/>
                    <a:lstStyle/>
                    <a:p>
                      <a:r>
                        <a:rPr sz="1400" b="0" i="0">
                          <a:solidFill>
                            <a:srgbClr val="1A1440"/>
                          </a:solidFill>
                          <a:latin typeface="Calibri"/>
                        </a:rPr>
                        <a:t>4</a:t>
                      </a:r>
                    </a:p>
                  </a:txBody>
                  <a:tcPr marL="101600" marR="101600" marT="38100" marB="38100" anchor="ctr">
                    <a:solidFill>
                      <a:srgbClr val="F4F2FA"/>
                    </a:solidFill>
                  </a:tcPr>
                </a:tc>
                <a:tc>
                  <a:txBody>
                    <a:bodyPr/>
                    <a:lstStyle/>
                    <a:p>
                      <a:r>
                        <a:rPr sz="1400" b="0" i="0">
                          <a:solidFill>
                            <a:srgbClr val="1A1440"/>
                          </a:solidFill>
                          <a:latin typeface="Calibri"/>
                        </a:rPr>
                        <a:t>What ships on Monday, and what, if anything, is held?</a:t>
                      </a:r>
                    </a:p>
                  </a:txBody>
                  <a:tcPr marL="101600" marR="101600" marT="38100" marB="38100" anchor="ctr">
                    <a:solidFill>
                      <a:srgbClr val="F4F2FA"/>
                    </a:solidFill>
                  </a:tcPr>
                </a:tc>
                <a:tc>
                  <a:txBody>
                    <a:bodyPr/>
                    <a:lstStyle/>
                    <a:p>
                      <a:r>
                        <a:rPr sz="1400" b="0" i="0">
                          <a:solidFill>
                            <a:srgbClr val="1A1440"/>
                          </a:solidFill>
                          <a:latin typeface="Calibri"/>
                        </a:rPr>
                        <a:t>10</a:t>
                      </a:r>
                    </a:p>
                  </a:txBody>
                  <a:tcPr marL="101600" marR="101600" marT="38100" marB="38100" anchor="ctr">
                    <a:solidFill>
                      <a:srgbClr val="F4F2FA"/>
                    </a:solidFill>
                  </a:tcPr>
                </a:tc>
              </a:tr>
              <a:tr h="369824">
                <a:tc>
                  <a:txBody>
                    <a:bodyPr/>
                    <a:lstStyle/>
                    <a:p>
                      <a:r>
                        <a:rPr sz="1400" b="0" i="0">
                          <a:solidFill>
                            <a:srgbClr val="1A1440"/>
                          </a:solidFill>
                          <a:latin typeface="Calibri"/>
                        </a:rPr>
                        <a:t>5</a:t>
                      </a:r>
                    </a:p>
                  </a:txBody>
                  <a:tcPr marL="101600" marR="101600" marT="38100" marB="38100" anchor="ctr">
                    <a:solidFill>
                      <a:srgbClr val="FFFFFF"/>
                    </a:solidFill>
                  </a:tcPr>
                </a:tc>
                <a:tc>
                  <a:txBody>
                    <a:bodyPr/>
                    <a:lstStyle/>
                    <a:p>
                      <a:r>
                        <a:rPr sz="1400" b="0" i="0">
                          <a:solidFill>
                            <a:srgbClr val="1A1440"/>
                          </a:solidFill>
                          <a:latin typeface="Calibri"/>
                        </a:rPr>
                        <a:t>Do the numbers agree a second way?</a:t>
                      </a:r>
                    </a:p>
                  </a:txBody>
                  <a:tcPr marL="101600" marR="101600" marT="38100" marB="38100" anchor="ctr">
                    <a:solidFill>
                      <a:srgbClr val="FFFFFF"/>
                    </a:solidFill>
                  </a:tcPr>
                </a:tc>
                <a:tc>
                  <a:txBody>
                    <a:bodyPr/>
                    <a:lstStyle/>
                    <a:p>
                      <a:r>
                        <a:rPr sz="1400" b="0" i="0">
                          <a:solidFill>
                            <a:srgbClr val="1A1440"/>
                          </a:solidFill>
                          <a:latin typeface="Calibri"/>
                        </a:rPr>
                        <a:t>10</a:t>
                      </a:r>
                    </a:p>
                  </a:txBody>
                  <a:tcPr marL="101600" marR="101600" marT="38100" marB="38100" anchor="ctr">
                    <a:solidFill>
                      <a:srgbClr val="FFFFFF"/>
                    </a:solidFill>
                  </a:tcPr>
                </a:tc>
              </a:tr>
            </a:tbl>
          </a:graphicData>
        </a:graphic>
      </p:graphicFrame>
      <p:sp>
        <p:nvSpPr>
          <p:cNvPr id="15" name="Oval 14"/>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Can a director break it?</a:t>
            </a:r>
          </a:p>
        </p:txBody>
      </p:sp>
      <p:sp>
        <p:nvSpPr>
          <p:cNvPr id="17" name="Oval 16"/>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219706"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Can you ship it alone?</a:t>
            </a:r>
          </a:p>
        </p:txBody>
      </p:sp>
      <p:sp>
        <p:nvSpPr>
          <p:cNvPr id="19" name="Oval 18"/>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21" name="Oval 20"/>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23" name="Oval 22"/>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5" name="Oval 24"/>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7" name="TextBox 2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S16  ·  20 / 39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0033711" cy="512064"/>
          </a:xfrm>
          <a:prstGeom prst="rect">
            <a:avLst/>
          </a:prstGeom>
          <a:noFill/>
        </p:spPr>
        <p:txBody>
          <a:bodyPr wrap="square" anchor="b" lIns="0" rIns="0" tIns="0" bIns="0">
            <a:spAutoFit/>
          </a:bodyPr>
          <a:lstStyle/>
          <a:p>
            <a:pPr algn="l"/>
            <a:r>
              <a:rPr sz="2600" b="0" i="0">
                <a:solidFill>
                  <a:srgbClr val="1A0F5C"/>
                </a:solidFill>
                <a:latin typeface="Georgia"/>
              </a:rPr>
              <a:t>What done looks like</a:t>
            </a:r>
          </a:p>
        </p:txBody>
      </p:sp>
      <p:sp>
        <p:nvSpPr>
          <p:cNvPr id="8" name="Rounded Rectangle 7"/>
          <p:cNvSpPr/>
          <p:nvPr/>
        </p:nvSpPr>
        <p:spPr>
          <a:xfrm>
            <a:off x="10701223" y="822960"/>
            <a:ext cx="960120" cy="256032"/>
          </a:xfrm>
          <a:prstGeom prst="roundRect">
            <a:avLst>
              <a:gd name="adj" fmla="val 50000"/>
            </a:avLst>
          </a:prstGeom>
          <a:solidFill>
            <a:srgbClr val="1A0F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00" b="1" spc="200">
                <a:solidFill>
                  <a:srgbClr val="FFFFFF"/>
                </a:solidFill>
                <a:latin typeface="Calibri"/>
              </a:rPr>
              <a:t>DEPTH</a:t>
            </a:r>
          </a:p>
        </p:txBody>
      </p:sp>
      <p:sp>
        <p:nvSpPr>
          <p:cNvPr id="9" name="TextBox 8"/>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checks must the file pass before it goes to Monday?</a:t>
            </a:r>
          </a:p>
        </p:txBody>
      </p:sp>
      <p:sp>
        <p:nvSpPr>
          <p:cNvPr id="10" name="Rounded Rectangle 9"/>
          <p:cNvSpPr/>
          <p:nvPr/>
        </p:nvSpPr>
        <p:spPr>
          <a:xfrm>
            <a:off x="530352" y="1956816"/>
            <a:ext cx="2645587"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2" name="Picture 11" descr="circle-check_5bfb0e0fcdf2.png"/>
          <p:cNvPicPr>
            <a:picLocks noChangeAspect="1"/>
          </p:cNvPicPr>
          <p:nvPr/>
        </p:nvPicPr>
        <p:blipFill>
          <a:blip r:embed="rId4"/>
          <a:stretch>
            <a:fillRect/>
          </a:stretch>
        </p:blipFill>
        <p:spPr>
          <a:xfrm>
            <a:off x="841247" y="2267712"/>
            <a:ext cx="237744" cy="237744"/>
          </a:xfrm>
          <a:prstGeom prst="rect">
            <a:avLst/>
          </a:prstGeom>
        </p:spPr>
      </p:pic>
      <p:sp>
        <p:nvSpPr>
          <p:cNvPr id="13" name="TextBox 12"/>
          <p:cNvSpPr txBox="1"/>
          <p:nvPr/>
        </p:nvSpPr>
        <p:spPr>
          <a:xfrm>
            <a:off x="731519"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CHECK 1</a:t>
            </a:r>
          </a:p>
        </p:txBody>
      </p:sp>
      <p:sp>
        <p:nvSpPr>
          <p:cNvPr id="14" name="TextBox 13"/>
          <p:cNvSpPr txBox="1"/>
          <p:nvPr/>
        </p:nvSpPr>
        <p:spPr>
          <a:xfrm>
            <a:off x="731519"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tree ties</a:t>
            </a:r>
          </a:p>
        </p:txBody>
      </p:sp>
      <p:sp>
        <p:nvSpPr>
          <p:cNvPr id="15" name="TextBox 14"/>
          <p:cNvSpPr txBox="1"/>
          <p:nvPr/>
        </p:nvSpPr>
        <p:spPr>
          <a:xfrm>
            <a:off x="731519" y="3303524"/>
            <a:ext cx="2243251" cy="581406"/>
          </a:xfrm>
          <a:prstGeom prst="rect">
            <a:avLst/>
          </a:prstGeom>
          <a:noFill/>
        </p:spPr>
        <p:txBody>
          <a:bodyPr wrap="square" anchor="t" lIns="0" rIns="0" tIns="0" bIns="0">
            <a:spAutoFit/>
          </a:bodyPr>
          <a:lstStyle/>
          <a:p>
            <a:pPr algn="l"/>
            <a:r>
              <a:rPr sz="1100" b="0" i="0">
                <a:solidFill>
                  <a:srgbClr val="6B6690"/>
                </a:solidFill>
                <a:latin typeface="Calibri"/>
              </a:rPr>
              <a:t>Its two quarters sum to the warehouse's Rs 10,00,00,000 and Rs 9,84,00,000.</a:t>
            </a:r>
          </a:p>
        </p:txBody>
      </p:sp>
      <p:sp>
        <p:nvSpPr>
          <p:cNvPr id="16" name="Rounded Rectangle 15"/>
          <p:cNvSpPr/>
          <p:nvPr/>
        </p:nvSpPr>
        <p:spPr>
          <a:xfrm>
            <a:off x="3358819" y="1956816"/>
            <a:ext cx="2645587"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3559987"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8" name="Picture 17" descr="circle-check_5bfb0e0fcdf2.png"/>
          <p:cNvPicPr>
            <a:picLocks noChangeAspect="1"/>
          </p:cNvPicPr>
          <p:nvPr/>
        </p:nvPicPr>
        <p:blipFill>
          <a:blip r:embed="rId4"/>
          <a:stretch>
            <a:fillRect/>
          </a:stretch>
        </p:blipFill>
        <p:spPr>
          <a:xfrm>
            <a:off x="3669715" y="2267712"/>
            <a:ext cx="237744" cy="237744"/>
          </a:xfrm>
          <a:prstGeom prst="rect">
            <a:avLst/>
          </a:prstGeom>
        </p:spPr>
      </p:pic>
      <p:sp>
        <p:nvSpPr>
          <p:cNvPr id="19" name="TextBox 18"/>
          <p:cNvSpPr txBox="1"/>
          <p:nvPr/>
        </p:nvSpPr>
        <p:spPr>
          <a:xfrm>
            <a:off x="3559987"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CHECK 2</a:t>
            </a:r>
          </a:p>
        </p:txBody>
      </p:sp>
      <p:sp>
        <p:nvSpPr>
          <p:cNvPr id="20" name="TextBox 19"/>
          <p:cNvSpPr txBox="1"/>
          <p:nvPr/>
        </p:nvSpPr>
        <p:spPr>
          <a:xfrm>
            <a:off x="3559987"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source ties</a:t>
            </a:r>
          </a:p>
        </p:txBody>
      </p:sp>
      <p:sp>
        <p:nvSpPr>
          <p:cNvPr id="21" name="TextBox 20"/>
          <p:cNvSpPr txBox="1"/>
          <p:nvPr/>
        </p:nvSpPr>
        <p:spPr>
          <a:xfrm>
            <a:off x="3559987" y="3303524"/>
            <a:ext cx="2243251" cy="399796"/>
          </a:xfrm>
          <a:prstGeom prst="rect">
            <a:avLst/>
          </a:prstGeom>
          <a:noFill/>
        </p:spPr>
        <p:txBody>
          <a:bodyPr wrap="square" anchor="t" lIns="0" rIns="0" tIns="0" bIns="0">
            <a:spAutoFit/>
          </a:bodyPr>
          <a:lstStyle/>
          <a:p>
            <a:pPr algn="l"/>
            <a:r>
              <a:rPr sz="1100" b="0" i="0">
                <a:solidFill>
                  <a:srgbClr val="6B6690"/>
                </a:solidFill>
                <a:latin typeface="Calibri"/>
              </a:rPr>
              <a:t>The customer table's orders and revenue tie to the warehouse.</a:t>
            </a:r>
          </a:p>
        </p:txBody>
      </p:sp>
      <p:sp>
        <p:nvSpPr>
          <p:cNvPr id="22" name="Rounded Rectangle 21"/>
          <p:cNvSpPr/>
          <p:nvPr/>
        </p:nvSpPr>
        <p:spPr>
          <a:xfrm>
            <a:off x="6187287" y="1956816"/>
            <a:ext cx="2645587" cy="2154428"/>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388455"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4" name="Picture 23" descr="circle-check_5bfb0e0fcdf2.png"/>
          <p:cNvPicPr>
            <a:picLocks noChangeAspect="1"/>
          </p:cNvPicPr>
          <p:nvPr/>
        </p:nvPicPr>
        <p:blipFill>
          <a:blip r:embed="rId4"/>
          <a:stretch>
            <a:fillRect/>
          </a:stretch>
        </p:blipFill>
        <p:spPr>
          <a:xfrm>
            <a:off x="6498183" y="2267712"/>
            <a:ext cx="237744" cy="237744"/>
          </a:xfrm>
          <a:prstGeom prst="rect">
            <a:avLst/>
          </a:prstGeom>
        </p:spPr>
      </p:pic>
      <p:sp>
        <p:nvSpPr>
          <p:cNvPr id="25" name="TextBox 24"/>
          <p:cNvSpPr txBox="1"/>
          <p:nvPr/>
        </p:nvSpPr>
        <p:spPr>
          <a:xfrm>
            <a:off x="6388455" y="2724912"/>
            <a:ext cx="2243251" cy="160401"/>
          </a:xfrm>
          <a:prstGeom prst="rect">
            <a:avLst/>
          </a:prstGeom>
          <a:noFill/>
        </p:spPr>
        <p:txBody>
          <a:bodyPr wrap="square" anchor="t" lIns="0" rIns="0" tIns="0" bIns="0">
            <a:spAutoFit/>
          </a:bodyPr>
          <a:lstStyle/>
          <a:p>
            <a:pPr algn="l"/>
            <a:r>
              <a:rPr sz="750" b="1" i="0" spc="250">
                <a:solidFill>
                  <a:srgbClr val="5B3FD6"/>
                </a:solidFill>
                <a:latin typeface="Calibri"/>
              </a:rPr>
              <a:t>CHECK 3</a:t>
            </a:r>
          </a:p>
        </p:txBody>
      </p:sp>
      <p:sp>
        <p:nvSpPr>
          <p:cNvPr id="26" name="TextBox 25"/>
          <p:cNvSpPr txBox="1"/>
          <p:nvPr/>
        </p:nvSpPr>
        <p:spPr>
          <a:xfrm>
            <a:off x="6388455" y="2962656"/>
            <a:ext cx="2243251" cy="267716"/>
          </a:xfrm>
          <a:prstGeom prst="rect">
            <a:avLst/>
          </a:prstGeom>
          <a:noFill/>
        </p:spPr>
        <p:txBody>
          <a:bodyPr wrap="square" anchor="t" lIns="0" rIns="0" tIns="0" bIns="0">
            <a:spAutoFit/>
          </a:bodyPr>
          <a:lstStyle/>
          <a:p>
            <a:pPr algn="l"/>
            <a:r>
              <a:rPr sz="1400" b="1" i="0">
                <a:solidFill>
                  <a:srgbClr val="1A0F5C"/>
                </a:solidFill>
                <a:latin typeface="Calibri"/>
              </a:rPr>
              <a:t>The lookup is honest</a:t>
            </a:r>
          </a:p>
        </p:txBody>
      </p:sp>
      <p:sp>
        <p:nvSpPr>
          <p:cNvPr id="27" name="TextBox 26"/>
          <p:cNvSpPr txBox="1"/>
          <p:nvPr/>
        </p:nvSpPr>
        <p:spPr>
          <a:xfrm>
            <a:off x="6388455" y="3303524"/>
            <a:ext cx="2243251" cy="218186"/>
          </a:xfrm>
          <a:prstGeom prst="rect">
            <a:avLst/>
          </a:prstGeom>
          <a:noFill/>
        </p:spPr>
        <p:txBody>
          <a:bodyPr wrap="square" anchor="t" lIns="0" rIns="0" tIns="0" bIns="0">
            <a:spAutoFit/>
          </a:bodyPr>
          <a:lstStyle/>
          <a:p>
            <a:pPr algn="l"/>
            <a:r>
              <a:rPr sz="1100" b="0" i="0">
                <a:solidFill>
                  <a:srgbClr val="6B6690"/>
                </a:solidFill>
                <a:latin typeface="Calibri"/>
              </a:rPr>
              <a:t>It says when an id is missing.</a:t>
            </a:r>
          </a:p>
        </p:txBody>
      </p:sp>
      <p:sp>
        <p:nvSpPr>
          <p:cNvPr id="28" name="Rounded Rectangle 27"/>
          <p:cNvSpPr/>
          <p:nvPr/>
        </p:nvSpPr>
        <p:spPr>
          <a:xfrm>
            <a:off x="9015755" y="1956816"/>
            <a:ext cx="2645587" cy="2154428"/>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9216923"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0" name="Picture 29" descr="circle-check_9dd99c81814d.png"/>
          <p:cNvPicPr>
            <a:picLocks noChangeAspect="1"/>
          </p:cNvPicPr>
          <p:nvPr/>
        </p:nvPicPr>
        <p:blipFill>
          <a:blip r:embed="rId5"/>
          <a:stretch>
            <a:fillRect/>
          </a:stretch>
        </p:blipFill>
        <p:spPr>
          <a:xfrm>
            <a:off x="9326651" y="2267712"/>
            <a:ext cx="237744" cy="237744"/>
          </a:xfrm>
          <a:prstGeom prst="rect">
            <a:avLst/>
          </a:prstGeom>
        </p:spPr>
      </p:pic>
      <p:sp>
        <p:nvSpPr>
          <p:cNvPr id="31" name="TextBox 30"/>
          <p:cNvSpPr txBox="1"/>
          <p:nvPr/>
        </p:nvSpPr>
        <p:spPr>
          <a:xfrm>
            <a:off x="9216923" y="2724912"/>
            <a:ext cx="2243251" cy="160401"/>
          </a:xfrm>
          <a:prstGeom prst="rect">
            <a:avLst/>
          </a:prstGeom>
          <a:noFill/>
        </p:spPr>
        <p:txBody>
          <a:bodyPr wrap="square" anchor="t" lIns="0" rIns="0" tIns="0" bIns="0">
            <a:spAutoFit/>
          </a:bodyPr>
          <a:lstStyle/>
          <a:p>
            <a:pPr algn="l"/>
            <a:r>
              <a:rPr sz="750" b="1" i="0" spc="250">
                <a:solidFill>
                  <a:srgbClr val="D9A7FF"/>
                </a:solidFill>
                <a:latin typeface="Calibri"/>
              </a:rPr>
              <a:t>CHECK 4</a:t>
            </a:r>
          </a:p>
        </p:txBody>
      </p:sp>
      <p:sp>
        <p:nvSpPr>
          <p:cNvPr id="32" name="TextBox 31"/>
          <p:cNvSpPr txBox="1"/>
          <p:nvPr/>
        </p:nvSpPr>
        <p:spPr>
          <a:xfrm>
            <a:off x="9216923" y="2962656"/>
            <a:ext cx="2243251" cy="267716"/>
          </a:xfrm>
          <a:prstGeom prst="rect">
            <a:avLst/>
          </a:prstGeom>
          <a:noFill/>
        </p:spPr>
        <p:txBody>
          <a:bodyPr wrap="square" anchor="t" lIns="0" rIns="0" tIns="0" bIns="0">
            <a:spAutoFit/>
          </a:bodyPr>
          <a:lstStyle/>
          <a:p>
            <a:pPr algn="l"/>
            <a:r>
              <a:rPr sz="1400" b="1" i="0">
                <a:solidFill>
                  <a:srgbClr val="FFFFFF"/>
                </a:solidFill>
                <a:latin typeface="Calibri"/>
              </a:rPr>
              <a:t>The release says it</a:t>
            </a:r>
          </a:p>
        </p:txBody>
      </p:sp>
      <p:sp>
        <p:nvSpPr>
          <p:cNvPr id="33" name="TextBox 32"/>
          <p:cNvSpPr txBox="1"/>
          <p:nvPr/>
        </p:nvSpPr>
        <p:spPr>
          <a:xfrm>
            <a:off x="9216923" y="3303524"/>
            <a:ext cx="2243251" cy="399796"/>
          </a:xfrm>
          <a:prstGeom prst="rect">
            <a:avLst/>
          </a:prstGeom>
          <a:noFill/>
        </p:spPr>
        <p:txBody>
          <a:bodyPr wrap="square" anchor="t" lIns="0" rIns="0" tIns="0" bIns="0">
            <a:spAutoFit/>
          </a:bodyPr>
          <a:lstStyle/>
          <a:p>
            <a:pPr algn="l"/>
            <a:r>
              <a:rPr sz="1100" b="0" i="0">
                <a:solidFill>
                  <a:srgbClr val="CFC9EE"/>
                </a:solidFill>
                <a:latin typeface="Calibri"/>
              </a:rPr>
              <a:t>What ships, what is held, and why.</a:t>
            </a:r>
          </a:p>
        </p:txBody>
      </p:sp>
      <p:sp>
        <p:nvSpPr>
          <p:cNvPr id="34" name="Rounded Rectangle 33"/>
          <p:cNvSpPr/>
          <p:nvPr/>
        </p:nvSpPr>
        <p:spPr>
          <a:xfrm>
            <a:off x="530352" y="4294124"/>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758952" y="449681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36" name="Picture 35" descr="search-check_6571e64a041f.png"/>
          <p:cNvPicPr>
            <a:picLocks noChangeAspect="1"/>
          </p:cNvPicPr>
          <p:nvPr/>
        </p:nvPicPr>
        <p:blipFill>
          <a:blip r:embed="rId6"/>
          <a:stretch>
            <a:fillRect/>
          </a:stretch>
        </p:blipFill>
        <p:spPr>
          <a:xfrm>
            <a:off x="868680" y="4606544"/>
            <a:ext cx="237744" cy="237744"/>
          </a:xfrm>
          <a:prstGeom prst="rect">
            <a:avLst/>
          </a:prstGeom>
        </p:spPr>
      </p:pic>
      <p:sp>
        <p:nvSpPr>
          <p:cNvPr id="37" name="TextBox 36"/>
          <p:cNvSpPr txBox="1"/>
          <p:nvPr/>
        </p:nvSpPr>
        <p:spPr>
          <a:xfrm>
            <a:off x="1399031" y="444042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KAVYA'S REVIEW</a:t>
            </a:r>
          </a:p>
        </p:txBody>
      </p:sp>
      <p:sp>
        <p:nvSpPr>
          <p:cNvPr id="38" name="TextBox 37"/>
          <p:cNvSpPr txBox="1"/>
          <p:nvPr/>
        </p:nvSpPr>
        <p:spPr>
          <a:xfrm>
            <a:off x="1399031" y="4659884"/>
            <a:ext cx="9987991" cy="423672"/>
          </a:xfrm>
          <a:prstGeom prst="rect">
            <a:avLst/>
          </a:prstGeom>
          <a:noFill/>
        </p:spPr>
        <p:txBody>
          <a:bodyPr wrap="square" anchor="t" lIns="0" rIns="0" tIns="0" bIns="0">
            <a:spAutoFit/>
          </a:bodyPr>
          <a:lstStyle/>
          <a:p>
            <a:r>
              <a:rPr sz="1500" b="0" i="0">
                <a:solidFill>
                  <a:srgbClr val="1A1440"/>
                </a:solidFill>
                <a:latin typeface="Calibri"/>
              </a:rPr>
              <a:t>"A deliverable that fails its check is held, and the note says why."</a:t>
            </a:r>
          </a:p>
        </p:txBody>
      </p:sp>
      <p:sp>
        <p:nvSpPr>
          <p:cNvPr id="39" name="Oval 38"/>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Can a director break it?</a:t>
            </a:r>
          </a:p>
        </p:txBody>
      </p:sp>
      <p:sp>
        <p:nvSpPr>
          <p:cNvPr id="41" name="Oval 40"/>
          <p:cNvSpPr/>
          <p:nvPr/>
        </p:nvSpPr>
        <p:spPr>
          <a:xfrm>
            <a:off x="2109977"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2219706" y="6437376"/>
            <a:ext cx="1286446" cy="152146"/>
          </a:xfrm>
          <a:prstGeom prst="rect">
            <a:avLst/>
          </a:prstGeom>
          <a:noFill/>
        </p:spPr>
        <p:txBody>
          <a:bodyPr wrap="square" anchor="t" lIns="0" rIns="0" tIns="0" bIns="0">
            <a:spAutoFit/>
          </a:bodyPr>
          <a:lstStyle/>
          <a:p>
            <a:pPr algn="l"/>
            <a:r>
              <a:rPr sz="700" b="1" i="0">
                <a:solidFill>
                  <a:srgbClr val="5B3FD6"/>
                </a:solidFill>
                <a:latin typeface="Calibri"/>
              </a:rPr>
              <a:t>Can you ship it alone?</a:t>
            </a:r>
          </a:p>
        </p:txBody>
      </p:sp>
      <p:sp>
        <p:nvSpPr>
          <p:cNvPr id="43" name="Oval 42"/>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45" name="Oval 44"/>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47" name="Oval 46"/>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49" name="Oval 48"/>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51" name="TextBox 50"/>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D17  ·  21 / 39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08</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Which numbers were wrong?</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Which wrong numbers did this room produce, in the order the day produced them? Every one was plausible.</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a director break it?</a:t>
            </a:r>
          </a:p>
        </p:txBody>
      </p:sp>
      <p:sp>
        <p:nvSpPr>
          <p:cNvPr id="11" name="Rounded Rectangle 10"/>
          <p:cNvSpPr/>
          <p:nvPr/>
        </p:nvSpPr>
        <p:spPr>
          <a:xfrm>
            <a:off x="2628191"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ship it alone?</a:t>
            </a:r>
          </a:p>
        </p:txBody>
      </p:sp>
      <p:sp>
        <p:nvSpPr>
          <p:cNvPr id="12" name="Rounded Rectangle 11"/>
          <p:cNvSpPr/>
          <p:nvPr/>
        </p:nvSpPr>
        <p:spPr>
          <a:xfrm>
            <a:off x="4406430" y="5074920"/>
            <a:ext cx="1846159"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Which numbers were wrong?</a:t>
            </a:r>
          </a:p>
        </p:txBody>
      </p:sp>
      <p:sp>
        <p:nvSpPr>
          <p:cNvPr id="13" name="Rounded Rectangle 12"/>
          <p:cNvSpPr/>
          <p:nvPr/>
        </p:nvSpPr>
        <p:spPr>
          <a:xfrm>
            <a:off x="6362318"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does five lakh go?</a:t>
            </a:r>
          </a:p>
        </p:txBody>
      </p:sp>
      <p:sp>
        <p:nvSpPr>
          <p:cNvPr id="14" name="Rounded Rectangle 13"/>
          <p:cNvSpPr/>
          <p:nvPr/>
        </p:nvSpPr>
        <p:spPr>
          <a:xfrm>
            <a:off x="8258989"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say it aloud?</a:t>
            </a:r>
          </a:p>
        </p:txBody>
      </p:sp>
      <p:sp>
        <p:nvSpPr>
          <p:cNvPr id="15" name="Rounded Rectangle 14"/>
          <p:cNvSpPr/>
          <p:nvPr/>
        </p:nvSpPr>
        <p:spPr>
          <a:xfrm>
            <a:off x="9978012"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ships on Monday?</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5. Can a director change it and still trust it?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22 / 39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seven plausible numbers, none raised an error</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wrong numbers appeared, and what would each have done?</a:t>
            </a:r>
          </a:p>
        </p:txBody>
      </p:sp>
      <p:graphicFrame>
        <p:nvGraphicFramePr>
          <p:cNvPr id="9" name="Table 8"/>
          <p:cNvGraphicFramePr>
            <a:graphicFrameLocks noGrp="1"/>
          </p:cNvGraphicFramePr>
          <p:nvPr/>
        </p:nvGraphicFramePr>
        <p:xfrm>
          <a:off x="530352" y="1956816"/>
          <a:ext cx="11130990" cy="2958592"/>
        </p:xfrm>
        <a:graphic>
          <a:graphicData uri="http://schemas.openxmlformats.org/drawingml/2006/table">
            <a:tbl>
              <a:tblPr firstRow="0" bandRow="0">
                <a:tableStyleId>{2D5ABB26-0587-4C30-8999-92F81FD0307C}</a:tableStyleId>
              </a:tblPr>
              <a:tblGrid>
                <a:gridCol w="2938593"/>
                <a:gridCol w="3517396"/>
                <a:gridCol w="4675001"/>
              </a:tblGrid>
              <a:tr h="369824">
                <a:tc>
                  <a:txBody>
                    <a:bodyPr/>
                    <a:lstStyle/>
                    <a:p>
                      <a:r>
                        <a:rPr sz="1450" b="1" i="0">
                          <a:solidFill>
                            <a:srgbClr val="FFFFFF"/>
                          </a:solidFill>
                          <a:latin typeface="Calibri"/>
                        </a:rPr>
                        <a:t>The number</a:t>
                      </a:r>
                    </a:p>
                  </a:txBody>
                  <a:tcPr marL="101600" marR="101600" marT="38100" marB="38100" anchor="ctr">
                    <a:solidFill>
                      <a:srgbClr val="1A0F5C"/>
                    </a:solidFill>
                  </a:tcPr>
                </a:tc>
                <a:tc>
                  <a:txBody>
                    <a:bodyPr/>
                    <a:lstStyle/>
                    <a:p>
                      <a:r>
                        <a:rPr sz="1450" b="1" i="0">
                          <a:solidFill>
                            <a:srgbClr val="FFFFFF"/>
                          </a:solidFill>
                          <a:latin typeface="Calibri"/>
                        </a:rPr>
                        <a:t>Where it came from</a:t>
                      </a:r>
                    </a:p>
                  </a:txBody>
                  <a:tcPr marL="101600" marR="101600" marT="38100" marB="38100" anchor="ctr">
                    <a:solidFill>
                      <a:srgbClr val="1A0F5C"/>
                    </a:solidFill>
                  </a:tcPr>
                </a:tc>
                <a:tc>
                  <a:txBody>
                    <a:bodyPr/>
                    <a:lstStyle/>
                    <a:p>
                      <a:r>
                        <a:rPr sz="1450" b="1" i="0">
                          <a:solidFill>
                            <a:srgbClr val="FFFFFF"/>
                          </a:solidFill>
                          <a:latin typeface="Calibri"/>
                        </a:rPr>
                        <a:t>What it would have done</a:t>
                      </a:r>
                    </a:p>
                  </a:txBody>
                  <a:tcPr marL="101600" marR="101600" marT="38100" marB="38100" anchor="ctr">
                    <a:solidFill>
                      <a:srgbClr val="1A0F5C"/>
                    </a:solidFill>
                  </a:tcPr>
                </a:tc>
              </a:tr>
              <a:tr h="369824">
                <a:tc>
                  <a:txBody>
                    <a:bodyPr/>
                    <a:lstStyle/>
                    <a:p>
                      <a:r>
                        <a:rPr sz="1400" b="0" i="0">
                          <a:solidFill>
                            <a:srgbClr val="1A1440"/>
                          </a:solidFill>
                          <a:latin typeface="Calibri"/>
                        </a:rPr>
                        <a:t>Rs 11,66,786 an order</a:t>
                      </a:r>
                    </a:p>
                  </a:txBody>
                  <a:tcPr marL="101600" marR="101600" marT="38100" marB="38100" anchor="ctr">
                    <a:solidFill>
                      <a:srgbClr val="FFFFFF"/>
                    </a:solidFill>
                  </a:tcPr>
                </a:tc>
                <a:tc>
                  <a:txBody>
                    <a:bodyPr/>
                    <a:lstStyle/>
                    <a:p>
                      <a:r>
                        <a:rPr sz="1400" b="0" i="0">
                          <a:solidFill>
                            <a:srgbClr val="1A1440"/>
                          </a:solidFill>
                          <a:latin typeface="Calibri"/>
                        </a:rPr>
                        <a:t>a leaf averaged per customer</a:t>
                      </a:r>
                    </a:p>
                  </a:txBody>
                  <a:tcPr marL="101600" marR="101600" marT="38100" marB="38100" anchor="ctr">
                    <a:solidFill>
                      <a:srgbClr val="FFFFFF"/>
                    </a:solidFill>
                  </a:tcPr>
                </a:tc>
                <a:tc>
                  <a:txBody>
                    <a:bodyPr/>
                    <a:lstStyle/>
                    <a:p>
                      <a:r>
                        <a:rPr sz="1400" b="0" i="0">
                          <a:solidFill>
                            <a:srgbClr val="1A1440"/>
                          </a:solidFill>
                          <a:latin typeface="Calibri"/>
                        </a:rPr>
                        <a:t>a tree that does not multiply back</a:t>
                      </a:r>
                    </a:p>
                  </a:txBody>
                  <a:tcPr marL="101600" marR="101600" marT="38100" marB="38100" anchor="ctr">
                    <a:solidFill>
                      <a:srgbClr val="FFFFFF"/>
                    </a:solidFill>
                  </a:tcPr>
                </a:tc>
              </a:tr>
              <a:tr h="369824">
                <a:tc>
                  <a:txBody>
                    <a:bodyPr/>
                    <a:lstStyle/>
                    <a:p>
                      <a:r>
                        <a:rPr sz="1400" b="0" i="0">
                          <a:solidFill>
                            <a:srgbClr val="1A1440"/>
                          </a:solidFill>
                          <a:latin typeface="Calibri"/>
                        </a:rPr>
                        <a:t>Rs 39.41 crore</a:t>
                      </a:r>
                    </a:p>
                  </a:txBody>
                  <a:tcPr marL="101600" marR="101600" marT="38100" marB="38100" anchor="ctr">
                    <a:solidFill>
                      <a:srgbClr val="F4F2FA"/>
                    </a:solidFill>
                  </a:tcPr>
                </a:tc>
                <a:tc>
                  <a:txBody>
                    <a:bodyPr/>
                    <a:lstStyle/>
                    <a:p>
                      <a:r>
                        <a:rPr sz="1400" b="0" i="0">
                          <a:solidFill>
                            <a:srgbClr val="1A1440"/>
                          </a:solidFill>
                          <a:latin typeface="Calibri"/>
                        </a:rPr>
                        <a:t>Sum over payment rows</a:t>
                      </a:r>
                    </a:p>
                  </a:txBody>
                  <a:tcPr marL="101600" marR="101600" marT="38100" marB="38100" anchor="ctr">
                    <a:solidFill>
                      <a:srgbClr val="F4F2FA"/>
                    </a:solidFill>
                  </a:tcPr>
                </a:tc>
                <a:tc>
                  <a:txBody>
                    <a:bodyPr/>
                    <a:lstStyle/>
                    <a:p>
                      <a:r>
                        <a:rPr sz="1400" b="0" i="0">
                          <a:solidFill>
                            <a:srgbClr val="1A1440"/>
                          </a:solidFill>
                          <a:latin typeface="Calibri"/>
                        </a:rPr>
                        <a:t>doubled the deck's revenue</a:t>
                      </a:r>
                    </a:p>
                  </a:txBody>
                  <a:tcPr marL="101600" marR="101600" marT="38100" marB="38100" anchor="ctr">
                    <a:solidFill>
                      <a:srgbClr val="F4F2FA"/>
                    </a:solidFill>
                  </a:tcPr>
                </a:tc>
              </a:tr>
              <a:tr h="369824">
                <a:tc>
                  <a:txBody>
                    <a:bodyPr/>
                    <a:lstStyle/>
                    <a:p>
                      <a:r>
                        <a:rPr sz="1400" b="0" i="0">
                          <a:solidFill>
                            <a:srgbClr val="1A1440"/>
                          </a:solidFill>
                          <a:latin typeface="Calibri"/>
                        </a:rPr>
                        <a:t>Rs 39,40,57,740</a:t>
                      </a:r>
                    </a:p>
                  </a:txBody>
                  <a:tcPr marL="101600" marR="101600" marT="38100" marB="38100" anchor="ctr">
                    <a:solidFill>
                      <a:srgbClr val="FFFFFF"/>
                    </a:solidFill>
                  </a:tcPr>
                </a:tc>
                <a:tc>
                  <a:txBody>
                    <a:bodyPr/>
                    <a:lstStyle/>
                    <a:p>
                      <a:r>
                        <a:rPr sz="1400" b="0" i="0">
                          <a:solidFill>
                            <a:srgbClr val="1A1440"/>
                          </a:solidFill>
                          <a:latin typeface="Calibri"/>
                        </a:rPr>
                        <a:t>Remove Duplicates, then Sum</a:t>
                      </a:r>
                    </a:p>
                  </a:txBody>
                  <a:tcPr marL="101600" marR="101600" marT="38100" marB="38100" anchor="ctr">
                    <a:solidFill>
                      <a:srgbClr val="FFFFFF"/>
                    </a:solidFill>
                  </a:tcPr>
                </a:tc>
                <a:tc>
                  <a:txBody>
                    <a:bodyPr/>
                    <a:lstStyle/>
                    <a:p>
                      <a:r>
                        <a:rPr sz="1400" b="0" i="0">
                          <a:solidFill>
                            <a:srgbClr val="1A1440"/>
                          </a:solidFill>
                          <a:latin typeface="Calibri"/>
                        </a:rPr>
                        <a:t>the same, with false confidence</a:t>
                      </a:r>
                    </a:p>
                  </a:txBody>
                  <a:tcPr marL="101600" marR="101600" marT="38100" marB="38100" anchor="ctr">
                    <a:solidFill>
                      <a:srgbClr val="FFFFFF"/>
                    </a:solidFill>
                  </a:tcPr>
                </a:tc>
              </a:tr>
              <a:tr h="369824">
                <a:tc>
                  <a:txBody>
                    <a:bodyPr/>
                    <a:lstStyle/>
                    <a:p>
                      <a:r>
                        <a:rPr sz="1400" b="0" i="0">
                          <a:solidFill>
                            <a:srgbClr val="1A1440"/>
                          </a:solidFill>
                          <a:latin typeface="Calibri"/>
                        </a:rPr>
                        <a:t>C-0194's row for C-0195</a:t>
                      </a:r>
                    </a:p>
                  </a:txBody>
                  <a:tcPr marL="101600" marR="101600" marT="38100" marB="38100" anchor="ctr">
                    <a:solidFill>
                      <a:srgbClr val="F4F2FA"/>
                    </a:solidFill>
                  </a:tcPr>
                </a:tc>
                <a:tc>
                  <a:txBody>
                    <a:bodyPr/>
                    <a:lstStyle/>
                    <a:p>
                      <a:r>
                        <a:rPr sz="1400" b="0" i="0">
                          <a:solidFill>
                            <a:srgbClr val="1A1440"/>
                          </a:solidFill>
                          <a:latin typeface="Calibri"/>
                        </a:rPr>
                        <a:t>an approximate lookup</a:t>
                      </a:r>
                    </a:p>
                  </a:txBody>
                  <a:tcPr marL="101600" marR="101600" marT="38100" marB="38100" anchor="ctr">
                    <a:solidFill>
                      <a:srgbClr val="F4F2FA"/>
                    </a:solidFill>
                  </a:tcPr>
                </a:tc>
                <a:tc>
                  <a:txBody>
                    <a:bodyPr/>
                    <a:lstStyle/>
                    <a:p>
                      <a:r>
                        <a:rPr sz="1400" b="0" i="0">
                          <a:solidFill>
                            <a:srgbClr val="1A1440"/>
                          </a:solidFill>
                          <a:latin typeface="Calibri"/>
                        </a:rPr>
                        <a:t>an offer to someone who stopped buying</a:t>
                      </a:r>
                    </a:p>
                  </a:txBody>
                  <a:tcPr marL="101600" marR="101600" marT="38100" marB="38100" anchor="ctr">
                    <a:solidFill>
                      <a:srgbClr val="F4F2FA"/>
                    </a:solidFill>
                  </a:tcPr>
                </a:tc>
              </a:tr>
              <a:tr h="369824">
                <a:tc>
                  <a:txBody>
                    <a:bodyPr/>
                    <a:lstStyle/>
                    <a:p>
                      <a:r>
                        <a:rPr sz="1400" b="0" i="0">
                          <a:solidFill>
                            <a:srgbClr val="1A1440"/>
                          </a:solidFill>
                          <a:latin typeface="Calibri"/>
                        </a:rPr>
                        <a:t>Rs 19.84 crore, bare</a:t>
                      </a:r>
                    </a:p>
                  </a:txBody>
                  <a:tcPr marL="101600" marR="101600" marT="38100" marB="38100" anchor="ctr">
                    <a:solidFill>
                      <a:srgbClr val="FFFFFF"/>
                    </a:solidFill>
                  </a:tcPr>
                </a:tc>
                <a:tc>
                  <a:txBody>
                    <a:bodyPr/>
                    <a:lstStyle/>
                    <a:p>
                      <a:r>
                        <a:rPr sz="1400" b="0" i="0">
                          <a:solidFill>
                            <a:srgbClr val="1A1440"/>
                          </a:solidFill>
                          <a:latin typeface="Calibri"/>
                        </a:rPr>
                        <a:t>a card with no period</a:t>
                      </a:r>
                    </a:p>
                  </a:txBody>
                  <a:tcPr marL="101600" marR="101600" marT="38100" marB="38100" anchor="ctr">
                    <a:solidFill>
                      <a:srgbClr val="FFFFFF"/>
                    </a:solidFill>
                  </a:tcPr>
                </a:tc>
                <a:tc>
                  <a:txBody>
                    <a:bodyPr/>
                    <a:lstStyle/>
                    <a:p>
                      <a:r>
                        <a:rPr sz="1400" b="0" i="0">
                          <a:solidFill>
                            <a:srgbClr val="1A1440"/>
                          </a:solidFill>
                          <a:latin typeface="Calibri"/>
                        </a:rPr>
                        <a:t>a doubled quarter in the minutes</a:t>
                      </a:r>
                    </a:p>
                  </a:txBody>
                  <a:tcPr marL="101600" marR="101600" marT="38100" marB="38100" anchor="ctr">
                    <a:solidFill>
                      <a:srgbClr val="FFFFFF"/>
                    </a:solidFill>
                  </a:tcPr>
                </a:tc>
              </a:tr>
              <a:tr h="369824">
                <a:tc>
                  <a:txBody>
                    <a:bodyPr/>
                    <a:lstStyle/>
                    <a:p>
                      <a:r>
                        <a:rPr sz="1400" b="0" i="0">
                          <a:solidFill>
                            <a:srgbClr val="1A1440"/>
                          </a:solidFill>
                          <a:latin typeface="Calibri"/>
                        </a:rPr>
                        <a:t>41.7 percent</a:t>
                      </a:r>
                    </a:p>
                  </a:txBody>
                  <a:tcPr marL="101600" marR="101600" marT="38100" marB="38100" anchor="ctr">
                    <a:solidFill>
                      <a:srgbClr val="F4F2FA"/>
                    </a:solidFill>
                  </a:tcPr>
                </a:tc>
                <a:tc>
                  <a:txBody>
                    <a:bodyPr/>
                    <a:lstStyle/>
                    <a:p>
                      <a:r>
                        <a:rPr sz="1400" b="0" i="0">
                          <a:solidFill>
                            <a:srgbClr val="1A1440"/>
                          </a:solidFill>
                          <a:latin typeface="Calibri"/>
                        </a:rPr>
                        <a:t>a change on the wrong base</a:t>
                      </a:r>
                    </a:p>
                  </a:txBody>
                  <a:tcPr marL="101600" marR="101600" marT="38100" marB="38100" anchor="ctr">
                    <a:solidFill>
                      <a:srgbClr val="F4F2FA"/>
                    </a:solidFill>
                  </a:tcPr>
                </a:tc>
                <a:tc>
                  <a:txBody>
                    <a:bodyPr/>
                    <a:lstStyle/>
                    <a:p>
                      <a:r>
                        <a:rPr sz="1400" b="0" i="0">
                          <a:solidFill>
                            <a:srgbClr val="1A1440"/>
                          </a:solidFill>
                          <a:latin typeface="Calibri"/>
                        </a:rPr>
                        <a:t>a fall overstated by twelve points</a:t>
                      </a:r>
                    </a:p>
                  </a:txBody>
                  <a:tcPr marL="101600" marR="101600" marT="38100" marB="38100" anchor="ctr">
                    <a:solidFill>
                      <a:srgbClr val="F4F2FA"/>
                    </a:solidFill>
                  </a:tcPr>
                </a:tc>
              </a:tr>
              <a:tr h="369824">
                <a:tc>
                  <a:txBody>
                    <a:bodyPr/>
                    <a:lstStyle/>
                    <a:p>
                      <a:r>
                        <a:rPr sz="1400" b="0" i="0">
                          <a:solidFill>
                            <a:srgbClr val="1A1440"/>
                          </a:solidFill>
                          <a:latin typeface="Calibri"/>
                        </a:rPr>
                        <a:t>Rs 7,14,890 for Mumbai</a:t>
                      </a:r>
                    </a:p>
                  </a:txBody>
                  <a:tcPr marL="101600" marR="101600" marT="38100" marB="38100" anchor="ctr">
                    <a:solidFill>
                      <a:srgbClr val="FFFFFF"/>
                    </a:solidFill>
                  </a:tcPr>
                </a:tc>
                <a:tc>
                  <a:txBody>
                    <a:bodyPr/>
                    <a:lstStyle/>
                    <a:p>
                      <a:r>
                        <a:rPr sz="1400" b="0" i="0">
                          <a:solidFill>
                            <a:srgbClr val="1A1440"/>
                          </a:solidFill>
                          <a:latin typeface="Calibri"/>
                        </a:rPr>
                        <a:t>SUM on a filtered list</a:t>
                      </a:r>
                    </a:p>
                  </a:txBody>
                  <a:tcPr marL="101600" marR="101600" marT="38100" marB="38100" anchor="ctr">
                    <a:solidFill>
                      <a:srgbClr val="FFFFFF"/>
                    </a:solidFill>
                  </a:tcPr>
                </a:tc>
                <a:tc>
                  <a:txBody>
                    <a:bodyPr/>
                    <a:lstStyle/>
                    <a:p>
                      <a:r>
                        <a:rPr sz="1400" b="0" i="0">
                          <a:solidFill>
                            <a:srgbClr val="1A1440"/>
                          </a:solidFill>
                          <a:latin typeface="Calibri"/>
                        </a:rPr>
                        <a:t>a budget 4.6 times too big</a:t>
                      </a:r>
                    </a:p>
                  </a:txBody>
                  <a:tcPr marL="101600" marR="101600" marT="38100" marB="38100" anchor="ctr">
                    <a:solidFill>
                      <a:srgbClr val="FFFFFF"/>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Can a director break it?</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14" name="Oval 13"/>
          <p:cNvSpPr/>
          <p:nvPr/>
        </p:nvSpPr>
        <p:spPr>
          <a:xfrm>
            <a:off x="359759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0732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numbers were wrong?</a:t>
            </a:r>
          </a:p>
        </p:txBody>
      </p:sp>
      <p:sp>
        <p:nvSpPr>
          <p:cNvPr id="16" name="Oval 15"/>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18" name="Oval 17"/>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0" name="Oval 19"/>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S18  ·  23 / 39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Which part does the release hold?</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If the list's export does not tie while the tree and the card do, what does the Checks tab hold?</a:t>
            </a:r>
          </a:p>
        </p:txBody>
      </p:sp>
      <p:pic>
        <p:nvPicPr>
          <p:cNvPr id="9" name="mermaid diagram" descr="d248a8f9a2fa2501.png"/>
          <p:cNvPicPr>
            <a:picLocks noChangeAspect="1"/>
          </p:cNvPicPr>
          <p:nvPr/>
        </p:nvPicPr>
        <p:blipFill>
          <a:blip r:embed="rId5"/>
          <a:stretch>
            <a:fillRect/>
          </a:stretch>
        </p:blipFill>
        <p:spPr>
          <a:xfrm>
            <a:off x="3474091" y="1682496"/>
            <a:ext cx="5243512" cy="3643312"/>
          </a:xfrm>
          <a:prstGeom prst="rect">
            <a:avLst/>
          </a:prstGeom>
        </p:spPr>
      </p:pic>
      <p:sp>
        <p:nvSpPr>
          <p:cNvPr id="10" name="Rounded Rectangle 9"/>
          <p:cNvSpPr/>
          <p:nvPr/>
        </p:nvSpPr>
        <p:spPr>
          <a:xfrm>
            <a:off x="530352" y="5472112"/>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600128"/>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590984"/>
            <a:ext cx="10564063" cy="3581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Which part does the Checks tab hold?</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Can a director break it?</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17" name="Oval 16"/>
          <p:cNvSpPr/>
          <p:nvPr/>
        </p:nvSpPr>
        <p:spPr>
          <a:xfrm>
            <a:off x="359759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0732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numbers were wrong?</a:t>
            </a:r>
          </a:p>
        </p:txBody>
      </p:sp>
      <p:sp>
        <p:nvSpPr>
          <p:cNvPr id="19" name="Oval 18"/>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21" name="Oval 20"/>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3" name="Oval 22"/>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S19  ·  24 / 39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protect list, until its source ties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goes to the data platform lead, and what does the chief of staff hear?</a:t>
            </a:r>
          </a:p>
        </p:txBody>
      </p:sp>
      <p:pic>
        <p:nvPicPr>
          <p:cNvPr id="9" name="mermaid diagram" descr="bf26c508d5e45704.png"/>
          <p:cNvPicPr>
            <a:picLocks noChangeAspect="1"/>
          </p:cNvPicPr>
          <p:nvPr/>
        </p:nvPicPr>
        <p:blipFill>
          <a:blip r:embed="rId5"/>
          <a:stretch>
            <a:fillRect/>
          </a:stretch>
        </p:blipFill>
        <p:spPr>
          <a:xfrm>
            <a:off x="3338360" y="1956816"/>
            <a:ext cx="5514975" cy="1800225"/>
          </a:xfrm>
          <a:prstGeom prst="rect">
            <a:avLst/>
          </a:prstGeom>
        </p:spPr>
      </p:pic>
      <p:sp>
        <p:nvSpPr>
          <p:cNvPr id="10" name="TextBox 9"/>
          <p:cNvSpPr txBox="1"/>
          <p:nvPr/>
        </p:nvSpPr>
        <p:spPr>
          <a:xfrm>
            <a:off x="530352" y="3903345"/>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A list built on a table that does not tie waits, with a note to the data platform lead that names the gap and asks for the export to be rerun. Option d is the afternoon's trap: formulas recalculate whether or not their inputs tie.</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Can a director break it?</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15" name="Oval 14"/>
          <p:cNvSpPr/>
          <p:nvPr/>
        </p:nvSpPr>
        <p:spPr>
          <a:xfrm>
            <a:off x="3597592"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07320" y="6437376"/>
            <a:ext cx="1424463" cy="152146"/>
          </a:xfrm>
          <a:prstGeom prst="rect">
            <a:avLst/>
          </a:prstGeom>
          <a:noFill/>
        </p:spPr>
        <p:txBody>
          <a:bodyPr wrap="square" anchor="t" lIns="0" rIns="0" tIns="0" bIns="0">
            <a:spAutoFit/>
          </a:bodyPr>
          <a:lstStyle/>
          <a:p>
            <a:pPr algn="l"/>
            <a:r>
              <a:rPr sz="700" b="1" i="0">
                <a:solidFill>
                  <a:srgbClr val="5B3FD6"/>
                </a:solidFill>
                <a:latin typeface="Calibri"/>
              </a:rPr>
              <a:t>Which numbers were wrong?</a:t>
            </a:r>
          </a:p>
        </p:txBody>
      </p:sp>
      <p:sp>
        <p:nvSpPr>
          <p:cNvPr id="17" name="Oval 1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19" name="Oval 18"/>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1" name="Oval 20"/>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S20  ·  25 / 39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09</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Where does five lakh go?</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A director wants five lakh typed into the source; can the sheet show that number and still be the one Finance signs? Pairs defend the rule, then swap.</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a director break it?</a:t>
            </a:r>
          </a:p>
        </p:txBody>
      </p:sp>
      <p:sp>
        <p:nvSpPr>
          <p:cNvPr id="11" name="Rounded Rectangle 10"/>
          <p:cNvSpPr/>
          <p:nvPr/>
        </p:nvSpPr>
        <p:spPr>
          <a:xfrm>
            <a:off x="2628191"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ship it alone?</a:t>
            </a:r>
          </a:p>
        </p:txBody>
      </p:sp>
      <p:sp>
        <p:nvSpPr>
          <p:cNvPr id="12" name="Rounded Rectangle 11"/>
          <p:cNvSpPr/>
          <p:nvPr/>
        </p:nvSpPr>
        <p:spPr>
          <a:xfrm>
            <a:off x="4406430"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numbers were wrong?</a:t>
            </a:r>
          </a:p>
        </p:txBody>
      </p:sp>
      <p:sp>
        <p:nvSpPr>
          <p:cNvPr id="13" name="Rounded Rectangle 12"/>
          <p:cNvSpPr/>
          <p:nvPr/>
        </p:nvSpPr>
        <p:spPr>
          <a:xfrm>
            <a:off x="6362318" y="5074920"/>
            <a:ext cx="1786943"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Where does five lakh go?</a:t>
            </a:r>
          </a:p>
        </p:txBody>
      </p:sp>
      <p:sp>
        <p:nvSpPr>
          <p:cNvPr id="14" name="Rounded Rectangle 13"/>
          <p:cNvSpPr/>
          <p:nvPr/>
        </p:nvSpPr>
        <p:spPr>
          <a:xfrm>
            <a:off x="8258989"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say it aloud?</a:t>
            </a:r>
          </a:p>
        </p:txBody>
      </p:sp>
      <p:sp>
        <p:nvSpPr>
          <p:cNvPr id="15" name="Rounded Rectangle 14"/>
          <p:cNvSpPr/>
          <p:nvPr/>
        </p:nvSpPr>
        <p:spPr>
          <a:xfrm>
            <a:off x="9978012"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ships on Monday?</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5. Can a director change it and still trust it?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26 / 39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director asks for five lakh in the room</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director ask, with the sheet on the projector?</a:t>
            </a:r>
          </a:p>
        </p:txBody>
      </p:sp>
      <p:sp>
        <p:nvSpPr>
          <p:cNvPr id="9" name="Rounded Rectangle 8"/>
          <p:cNvSpPr/>
          <p:nvPr/>
        </p:nvSpPr>
        <p:spPr>
          <a:xfrm>
            <a:off x="530352" y="1956816"/>
            <a:ext cx="45720" cy="1026160"/>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1026160"/>
          </a:xfrm>
          <a:prstGeom prst="rect">
            <a:avLst/>
          </a:prstGeom>
          <a:noFill/>
        </p:spPr>
        <p:txBody>
          <a:bodyPr wrap="square" anchor="t" lIns="0" rIns="0" tIns="0" bIns="0">
            <a:spAutoFit/>
          </a:bodyPr>
          <a:lstStyle/>
          <a:p>
            <a:r>
              <a:rPr sz="1600" b="0" i="1">
                <a:solidFill>
                  <a:srgbClr val="1A0F5C"/>
                </a:solidFill>
                <a:latin typeface="Georgia"/>
              </a:rPr>
              <a:t>"Retail-Plus will be back at five lakh next quarter; I have spoken to the team. Type five lakh into Q2 so the card stops frightening people, and fix the source later."</a:t>
            </a:r>
          </a:p>
          <a:p>
            <a:pPr>
              <a:spcBef>
                <a:spcPts val="400"/>
              </a:spcBef>
            </a:pPr>
            <a:r>
              <a:rPr sz="1000" b="0" i="0">
                <a:solidFill>
                  <a:srgbClr val="6B6690"/>
                </a:solidFill>
                <a:latin typeface="Calibri"/>
              </a:rPr>
              <a:t>A director of Kalpa Retail</a:t>
            </a:r>
          </a:p>
        </p:txBody>
      </p:sp>
      <p:sp>
        <p:nvSpPr>
          <p:cNvPr id="11" name="Rounded Rectangle 10"/>
          <p:cNvSpPr/>
          <p:nvPr/>
        </p:nvSpPr>
        <p:spPr>
          <a:xfrm>
            <a:off x="530352" y="3129280"/>
            <a:ext cx="11130991" cy="862584"/>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758952" y="3331972"/>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3" name="Picture 12" descr="message-square_028dbd132a0a.png"/>
          <p:cNvPicPr>
            <a:picLocks noChangeAspect="1"/>
          </p:cNvPicPr>
          <p:nvPr/>
        </p:nvPicPr>
        <p:blipFill>
          <a:blip r:embed="rId4"/>
          <a:stretch>
            <a:fillRect/>
          </a:stretch>
        </p:blipFill>
        <p:spPr>
          <a:xfrm>
            <a:off x="868680" y="3441700"/>
            <a:ext cx="237744" cy="237744"/>
          </a:xfrm>
          <a:prstGeom prst="rect">
            <a:avLst/>
          </a:prstGeom>
        </p:spPr>
      </p:pic>
      <p:sp>
        <p:nvSpPr>
          <p:cNvPr id="14" name="TextBox 13"/>
          <p:cNvSpPr txBox="1"/>
          <p:nvPr/>
        </p:nvSpPr>
        <p:spPr>
          <a:xfrm>
            <a:off x="1399031" y="3275584"/>
            <a:ext cx="9987991" cy="160401"/>
          </a:xfrm>
          <a:prstGeom prst="rect">
            <a:avLst/>
          </a:prstGeom>
          <a:noFill/>
        </p:spPr>
        <p:txBody>
          <a:bodyPr wrap="square" anchor="t" lIns="0" rIns="0" tIns="0" bIns="0">
            <a:spAutoFit/>
          </a:bodyPr>
          <a:lstStyle/>
          <a:p>
            <a:pPr algn="l"/>
            <a:r>
              <a:rPr sz="750" b="1" i="0" spc="250">
                <a:solidFill>
                  <a:srgbClr val="D9A7FF"/>
                </a:solidFill>
                <a:latin typeface="Calibri"/>
              </a:rPr>
              <a:t>THE CLIENT ASKS</a:t>
            </a:r>
          </a:p>
        </p:txBody>
      </p:sp>
      <p:sp>
        <p:nvSpPr>
          <p:cNvPr id="15" name="TextBox 14"/>
          <p:cNvSpPr txBox="1"/>
          <p:nvPr/>
        </p:nvSpPr>
        <p:spPr>
          <a:xfrm>
            <a:off x="1399031" y="3495040"/>
            <a:ext cx="9987991" cy="423672"/>
          </a:xfrm>
          <a:prstGeom prst="rect">
            <a:avLst/>
          </a:prstGeom>
          <a:noFill/>
        </p:spPr>
        <p:txBody>
          <a:bodyPr wrap="square" anchor="t" lIns="0" rIns="0" tIns="0" bIns="0">
            <a:spAutoFit/>
          </a:bodyPr>
          <a:lstStyle/>
          <a:p>
            <a:r>
              <a:rPr sz="1500" b="0" i="0">
                <a:solidFill>
                  <a:srgbClr val="FFFFFF"/>
                </a:solidFill>
                <a:latin typeface="Calibri"/>
              </a:rPr>
              <a:t>Can the sheet show what the director expects, and still be the number Finance signs?</a:t>
            </a:r>
          </a:p>
        </p:txBody>
      </p:sp>
      <p:sp>
        <p:nvSpPr>
          <p:cNvPr id="16" name="Oval 15"/>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Can a director break it?</a:t>
            </a:r>
          </a:p>
        </p:txBody>
      </p:sp>
      <p:sp>
        <p:nvSpPr>
          <p:cNvPr id="18" name="Oval 17"/>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20" name="Oval 19"/>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22" name="Oval 21"/>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Where does five lakh go?</a:t>
            </a:r>
          </a:p>
        </p:txBody>
      </p:sp>
      <p:sp>
        <p:nvSpPr>
          <p:cNvPr id="24" name="Oval 23"/>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6" name="Oval 25"/>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8" name="TextBox 27"/>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S21  ·  27 / 39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 typed-over cell moves the card, leaving no trace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card show after the edit, and what happens on Monday's refresh?</a:t>
            </a:r>
          </a:p>
        </p:txBody>
      </p:sp>
      <p:pic>
        <p:nvPicPr>
          <p:cNvPr id="9" name="mermaid diagram" descr="fe8bcebd325752f9.png"/>
          <p:cNvPicPr>
            <a:picLocks noChangeAspect="1"/>
          </p:cNvPicPr>
          <p:nvPr/>
        </p:nvPicPr>
        <p:blipFill>
          <a:blip r:embed="rId5"/>
          <a:stretch>
            <a:fillRect/>
          </a:stretch>
        </p:blipFill>
        <p:spPr>
          <a:xfrm>
            <a:off x="1788166" y="1956816"/>
            <a:ext cx="8615362" cy="1800225"/>
          </a:xfrm>
          <a:prstGeom prst="rect">
            <a:avLst/>
          </a:prstGeom>
        </p:spPr>
      </p:pic>
      <p:sp>
        <p:nvSpPr>
          <p:cNvPr id="10" name="TextBox 9"/>
          <p:cNvSpPr txBox="1"/>
          <p:nvPr/>
        </p:nvSpPr>
        <p:spPr>
          <a:xfrm>
            <a:off x="530352" y="3903345"/>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For a week the deck says Retail-Plus fell 14.6 percent while Finance's books say 29.4. The sheet's Q2 total drifts Rs 86,620 from the warehouse's Rs 9,84,00,000; then the refresh restores the export, and nobody can say why the two differed.</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Can a director break it?</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15" name="Oval 14"/>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17" name="Oval 16"/>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Where does five lakh go?</a:t>
            </a:r>
          </a:p>
        </p:txBody>
      </p:sp>
      <p:sp>
        <p:nvSpPr>
          <p:cNvPr id="19" name="Oval 18"/>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1" name="Oval 20"/>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S22  ·  28 / 39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Where does "five lakh" belong in the sheet?</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Where does the director's five lakh go, so the card shows it and the source stays Finance's?</a:t>
            </a:r>
          </a:p>
        </p:txBody>
      </p:sp>
      <p:pic>
        <p:nvPicPr>
          <p:cNvPr id="9" name="mermaid diagram" descr="d54ae14364966769.png"/>
          <p:cNvPicPr>
            <a:picLocks noChangeAspect="1"/>
          </p:cNvPicPr>
          <p:nvPr/>
        </p:nvPicPr>
        <p:blipFill>
          <a:blip r:embed="rId5"/>
          <a:stretch>
            <a:fillRect/>
          </a:stretch>
        </p:blipFill>
        <p:spPr>
          <a:xfrm>
            <a:off x="3002603" y="1956816"/>
            <a:ext cx="6186487" cy="3143250"/>
          </a:xfrm>
          <a:prstGeom prst="rect">
            <a:avLst/>
          </a:prstGeom>
        </p:spPr>
      </p:pic>
      <p:sp>
        <p:nvSpPr>
          <p:cNvPr id="10" name="Rounded Rectangle 9"/>
          <p:cNvSpPr/>
          <p:nvPr/>
        </p:nvSpPr>
        <p:spPr>
          <a:xfrm>
            <a:off x="530352" y="5246370"/>
            <a:ext cx="11130991" cy="541020"/>
          </a:xfrm>
          <a:prstGeom prst="roundRect">
            <a:avLst>
              <a:gd name="adj" fmla="val 8000"/>
            </a:avLst>
          </a:prstGeom>
          <a:solidFill>
            <a:srgbClr val="F7F5FD"/>
          </a:solidFill>
          <a:ln w="9525">
            <a:solidFill>
              <a:srgbClr val="E4E1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676656" y="5374386"/>
            <a:ext cx="45720" cy="284988"/>
          </a:xfrm>
          <a:prstGeom prst="roundRect">
            <a:avLst>
              <a:gd name="adj" fmla="val 50000"/>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77824" y="5365242"/>
            <a:ext cx="10564063" cy="358140"/>
          </a:xfrm>
          <a:prstGeom prst="rect">
            <a:avLst/>
          </a:prstGeom>
          <a:noFill/>
        </p:spPr>
        <p:txBody>
          <a:bodyPr wrap="square" anchor="ctr" lIns="0" rIns="0" tIns="0" bIns="0">
            <a:spAutoFit/>
          </a:bodyPr>
          <a:lstStyle/>
          <a:p>
            <a:r>
              <a:rPr sz="1500" b="1">
                <a:solidFill>
                  <a:srgbClr val="5B3FD6"/>
                </a:solidFill>
                <a:latin typeface="Calibri"/>
              </a:rPr>
              <a:t>Predict before you run. </a:t>
            </a:r>
            <a:r>
              <a:rPr sz="1500" b="0" i="0">
                <a:solidFill>
                  <a:srgbClr val="1A1440"/>
                </a:solidFill>
                <a:latin typeface="Calibri"/>
              </a:rPr>
              <a:t>Where does it belong?</a:t>
            </a:r>
          </a:p>
        </p:txBody>
      </p:sp>
      <p:sp>
        <p:nvSpPr>
          <p:cNvPr id="13" name="Oval 12"/>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Can a director break it?</a:t>
            </a:r>
          </a:p>
        </p:txBody>
      </p:sp>
      <p:sp>
        <p:nvSpPr>
          <p:cNvPr id="15" name="Oval 14"/>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17" name="Oval 16"/>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19" name="Oval 18"/>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Where does five lakh go?</a:t>
            </a:r>
          </a:p>
        </p:txBody>
      </p:sp>
      <p:sp>
        <p:nvSpPr>
          <p:cNvPr id="21" name="Oval 20"/>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3" name="Oval 22"/>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5" name="TextBox 24"/>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S23  ·  29 / 39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a labelled input beside the source</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card show, and what does each line come from?</a:t>
            </a:r>
          </a:p>
        </p:txBody>
      </p:sp>
      <p:graphicFrame>
        <p:nvGraphicFramePr>
          <p:cNvPr id="9" name="Table 8"/>
          <p:cNvGraphicFramePr>
            <a:graphicFrameLocks noGrp="1"/>
          </p:cNvGraphicFramePr>
          <p:nvPr/>
        </p:nvGraphicFramePr>
        <p:xfrm>
          <a:off x="530352" y="1956816"/>
          <a:ext cx="11130990" cy="1109472"/>
        </p:xfrm>
        <a:graphic>
          <a:graphicData uri="http://schemas.openxmlformats.org/drawingml/2006/table">
            <a:tbl>
              <a:tblPr firstRow="0" bandRow="0">
                <a:tableStyleId>{2D5ABB26-0587-4C30-8999-92F81FD0307C}</a:tableStyleId>
              </a:tblPr>
              <a:tblGrid>
                <a:gridCol w="3259998"/>
                <a:gridCol w="3326777"/>
                <a:gridCol w="4544215"/>
              </a:tblGrid>
              <a:tr h="369824">
                <a:tc>
                  <a:txBody>
                    <a:bodyPr/>
                    <a:lstStyle/>
                    <a:p>
                      <a:r>
                        <a:rPr sz="1450" b="1" i="0">
                          <a:solidFill>
                            <a:srgbClr val="FFFFFF"/>
                          </a:solidFill>
                          <a:latin typeface="Calibri"/>
                        </a:rPr>
                        <a:t>Line on the card</a:t>
                      </a:r>
                    </a:p>
                  </a:txBody>
                  <a:tcPr marL="101600" marR="101600" marT="38100" marB="38100" anchor="ctr">
                    <a:solidFill>
                      <a:srgbClr val="1A0F5C"/>
                    </a:solidFill>
                  </a:tcPr>
                </a:tc>
                <a:tc>
                  <a:txBody>
                    <a:bodyPr/>
                    <a:lstStyle/>
                    <a:p>
                      <a:r>
                        <a:rPr sz="1450" b="1" i="0">
                          <a:solidFill>
                            <a:srgbClr val="FFFFFF"/>
                          </a:solidFill>
                          <a:latin typeface="Calibri"/>
                        </a:rPr>
                        <a:t>Retail-Plus, Q2 on Q1</a:t>
                      </a:r>
                    </a:p>
                  </a:txBody>
                  <a:tcPr marL="101600" marR="101600" marT="38100" marB="38100" anchor="ctr">
                    <a:solidFill>
                      <a:srgbClr val="1A0F5C"/>
                    </a:solidFill>
                  </a:tcPr>
                </a:tc>
                <a:tc>
                  <a:txBody>
                    <a:bodyPr/>
                    <a:lstStyle/>
                    <a:p>
                      <a:r>
                        <a:rPr sz="1450" b="1" i="0">
                          <a:solidFill>
                            <a:srgbClr val="FFFFFF"/>
                          </a:solidFill>
                          <a:latin typeface="Calibri"/>
                        </a:rPr>
                        <a:t>Where it comes from</a:t>
                      </a:r>
                    </a:p>
                  </a:txBody>
                  <a:tcPr marL="101600" marR="101600" marT="38100" marB="38100" anchor="ctr">
                    <a:solidFill>
                      <a:srgbClr val="1A0F5C"/>
                    </a:solidFill>
                  </a:tcPr>
                </a:tc>
              </a:tr>
              <a:tr h="369824">
                <a:tc>
                  <a:txBody>
                    <a:bodyPr/>
                    <a:lstStyle/>
                    <a:p>
                      <a:r>
                        <a:rPr sz="1400" b="0" i="0">
                          <a:solidFill>
                            <a:srgbClr val="1A1440"/>
                          </a:solidFill>
                          <a:latin typeface="Calibri"/>
                        </a:rPr>
                        <a:t>Actual</a:t>
                      </a:r>
                    </a:p>
                  </a:txBody>
                  <a:tcPr marL="101600" marR="101600" marT="38100" marB="38100" anchor="ctr">
                    <a:solidFill>
                      <a:srgbClr val="FFFFFF"/>
                    </a:solidFill>
                  </a:tcPr>
                </a:tc>
                <a:tc>
                  <a:txBody>
                    <a:bodyPr/>
                    <a:lstStyle/>
                    <a:p>
                      <a:r>
                        <a:rPr sz="1400" b="0" i="0">
                          <a:solidFill>
                            <a:srgbClr val="1A1440"/>
                          </a:solidFill>
                          <a:latin typeface="Calibri"/>
                        </a:rPr>
                        <a:t>-29.4%</a:t>
                      </a:r>
                    </a:p>
                  </a:txBody>
                  <a:tcPr marL="101600" marR="101600" marT="38100" marB="38100" anchor="ctr">
                    <a:solidFill>
                      <a:srgbClr val="FFFFFF"/>
                    </a:solidFill>
                  </a:tcPr>
                </a:tc>
                <a:tc>
                  <a:txBody>
                    <a:bodyPr/>
                    <a:lstStyle/>
                    <a:p>
                      <a:r>
                        <a:rPr sz="1400" b="0" i="0">
                          <a:solidFill>
                            <a:srgbClr val="1A1440"/>
                          </a:solidFill>
                          <a:latin typeface="Calibri"/>
                        </a:rPr>
                        <a:t>the export, tied to the warehouse</a:t>
                      </a:r>
                    </a:p>
                  </a:txBody>
                  <a:tcPr marL="101600" marR="101600" marT="38100" marB="38100" anchor="ctr">
                    <a:solidFill>
                      <a:srgbClr val="FFFFFF"/>
                    </a:solidFill>
                  </a:tcPr>
                </a:tc>
              </a:tr>
              <a:tr h="369824">
                <a:tc>
                  <a:txBody>
                    <a:bodyPr/>
                    <a:lstStyle/>
                    <a:p>
                      <a:r>
                        <a:rPr sz="1400" b="0" i="0">
                          <a:solidFill>
                            <a:srgbClr val="1A1440"/>
                          </a:solidFill>
                          <a:latin typeface="Calibri"/>
                        </a:rPr>
                        <a:t>The director's scenario</a:t>
                      </a:r>
                    </a:p>
                  </a:txBody>
                  <a:tcPr marL="101600" marR="101600" marT="38100" marB="38100" anchor="ctr">
                    <a:solidFill>
                      <a:srgbClr val="F4F2FA"/>
                    </a:solidFill>
                  </a:tcPr>
                </a:tc>
                <a:tc>
                  <a:txBody>
                    <a:bodyPr/>
                    <a:lstStyle/>
                    <a:p>
                      <a:r>
                        <a:rPr sz="1400" b="0" i="0">
                          <a:solidFill>
                            <a:srgbClr val="1A1440"/>
                          </a:solidFill>
                          <a:latin typeface="Calibri"/>
                        </a:rPr>
                        <a:t>-14.6%</a:t>
                      </a:r>
                    </a:p>
                  </a:txBody>
                  <a:tcPr marL="101600" marR="101600" marT="38100" marB="38100" anchor="ctr">
                    <a:solidFill>
                      <a:srgbClr val="F4F2FA"/>
                    </a:solidFill>
                  </a:tcPr>
                </a:tc>
                <a:tc>
                  <a:txBody>
                    <a:bodyPr/>
                    <a:lstStyle/>
                    <a:p>
                      <a:r>
                        <a:rPr sz="1400" b="0" i="0">
                          <a:solidFill>
                            <a:srgbClr val="1A1440"/>
                          </a:solidFill>
                          <a:latin typeface="Calibri"/>
                        </a:rPr>
                        <a:t>a yellow input of Rs 5,00,000</a:t>
                      </a:r>
                    </a:p>
                  </a:txBody>
                  <a:tcPr marL="101600" marR="101600" marT="38100" marB="38100" anchor="ctr">
                    <a:solidFill>
                      <a:srgbClr val="F4F2FA"/>
                    </a:solidFill>
                  </a:tcPr>
                </a:tc>
              </a:tr>
            </a:tbl>
          </a:graphicData>
        </a:graphic>
      </p:graphicFrame>
      <p:sp>
        <p:nvSpPr>
          <p:cNvPr id="10" name="TextBox 9"/>
          <p:cNvSpPr txBox="1"/>
          <p:nvPr/>
        </p:nvSpPr>
        <p:spPr>
          <a:xfrm>
            <a:off x="530352" y="3322320"/>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The answer is b. The director gets the number to discuss, the card keeps the number Finance signs, and both carry their labels. Option d is how a team ends up with directors typing over cells anyway; option c edits the source of truth.</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Can a director break it?</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15" name="Oval 14"/>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17" name="Oval 16"/>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Where does five lakh go?</a:t>
            </a:r>
          </a:p>
        </p:txBody>
      </p:sp>
      <p:sp>
        <p:nvSpPr>
          <p:cNvPr id="19" name="Oval 18"/>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1" name="Oval 20"/>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S24  ·  30 / 39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Yes to the question, no to the edit, and a check</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one partner say to the director?</a:t>
            </a:r>
          </a:p>
        </p:txBody>
      </p:sp>
      <p:sp>
        <p:nvSpPr>
          <p:cNvPr id="9" name="Rectangle 8"/>
          <p:cNvSpPr/>
          <p:nvPr/>
        </p:nvSpPr>
        <p:spPr>
          <a:xfrm>
            <a:off x="2324557" y="2523744"/>
            <a:ext cx="7542580" cy="18288"/>
          </a:xfrm>
          <a:prstGeom prst="rect">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30352" y="1956816"/>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LINE 1</a:t>
            </a:r>
          </a:p>
        </p:txBody>
      </p:sp>
      <p:sp>
        <p:nvSpPr>
          <p:cNvPr id="11" name="Oval 10"/>
          <p:cNvSpPr/>
          <p:nvPr/>
        </p:nvSpPr>
        <p:spPr>
          <a:xfrm>
            <a:off x="222397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ounded Rectangle 11"/>
          <p:cNvSpPr/>
          <p:nvPr/>
        </p:nvSpPr>
        <p:spPr>
          <a:xfrm>
            <a:off x="530352" y="2843784"/>
            <a:ext cx="3588410"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94944" y="2990088"/>
            <a:ext cx="3259226" cy="251205"/>
          </a:xfrm>
          <a:prstGeom prst="rect">
            <a:avLst/>
          </a:prstGeom>
          <a:noFill/>
        </p:spPr>
        <p:txBody>
          <a:bodyPr wrap="square" anchor="t" lIns="0" rIns="0" tIns="0" bIns="0">
            <a:spAutoFit/>
          </a:bodyPr>
          <a:lstStyle/>
          <a:p>
            <a:pPr algn="l"/>
            <a:r>
              <a:rPr sz="1300" b="1" i="0">
                <a:solidFill>
                  <a:srgbClr val="1A0F5C"/>
                </a:solidFill>
                <a:latin typeface="Calibri"/>
              </a:rPr>
              <a:t>Yes to the question</a:t>
            </a:r>
          </a:p>
        </p:txBody>
      </p:sp>
      <p:sp>
        <p:nvSpPr>
          <p:cNvPr id="14" name="TextBox 13"/>
          <p:cNvSpPr txBox="1"/>
          <p:nvPr/>
        </p:nvSpPr>
        <p:spPr>
          <a:xfrm>
            <a:off x="694944" y="3277870"/>
            <a:ext cx="3259226" cy="366776"/>
          </a:xfrm>
          <a:prstGeom prst="rect">
            <a:avLst/>
          </a:prstGeom>
          <a:noFill/>
        </p:spPr>
        <p:txBody>
          <a:bodyPr wrap="square" anchor="t" lIns="0" rIns="0" tIns="0" bIns="0">
            <a:spAutoFit/>
          </a:bodyPr>
          <a:lstStyle/>
          <a:p>
            <a:pPr algn="l"/>
            <a:r>
              <a:rPr sz="1000" b="0" i="0">
                <a:solidFill>
                  <a:srgbClr val="6B6690"/>
                </a:solidFill>
                <a:latin typeface="Calibri"/>
              </a:rPr>
              <a:t>I will show five lakh as your scenario, beside the actual.</a:t>
            </a:r>
          </a:p>
        </p:txBody>
      </p:sp>
      <p:sp>
        <p:nvSpPr>
          <p:cNvPr id="15" name="TextBox 14"/>
          <p:cNvSpPr txBox="1"/>
          <p:nvPr/>
        </p:nvSpPr>
        <p:spPr>
          <a:xfrm>
            <a:off x="4301642" y="1956816"/>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LINE 2</a:t>
            </a:r>
          </a:p>
        </p:txBody>
      </p:sp>
      <p:sp>
        <p:nvSpPr>
          <p:cNvPr id="16" name="Oval 15"/>
          <p:cNvSpPr/>
          <p:nvPr/>
        </p:nvSpPr>
        <p:spPr>
          <a:xfrm>
            <a:off x="5995263" y="2432304"/>
            <a:ext cx="201168" cy="20116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ounded Rectangle 16"/>
          <p:cNvSpPr/>
          <p:nvPr/>
        </p:nvSpPr>
        <p:spPr>
          <a:xfrm>
            <a:off x="4301642" y="2843784"/>
            <a:ext cx="3588410" cy="1249680"/>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466234" y="2990088"/>
            <a:ext cx="3259226" cy="251205"/>
          </a:xfrm>
          <a:prstGeom prst="rect">
            <a:avLst/>
          </a:prstGeom>
          <a:noFill/>
        </p:spPr>
        <p:txBody>
          <a:bodyPr wrap="square" anchor="t" lIns="0" rIns="0" tIns="0" bIns="0">
            <a:spAutoFit/>
          </a:bodyPr>
          <a:lstStyle/>
          <a:p>
            <a:pPr algn="l"/>
            <a:r>
              <a:rPr sz="1300" b="1" i="0">
                <a:solidFill>
                  <a:srgbClr val="1A0F5C"/>
                </a:solidFill>
                <a:latin typeface="Calibri"/>
              </a:rPr>
              <a:t>No to the edit</a:t>
            </a:r>
          </a:p>
        </p:txBody>
      </p:sp>
      <p:sp>
        <p:nvSpPr>
          <p:cNvPr id="19" name="TextBox 18"/>
          <p:cNvSpPr txBox="1"/>
          <p:nvPr/>
        </p:nvSpPr>
        <p:spPr>
          <a:xfrm>
            <a:off x="4466234" y="3277870"/>
            <a:ext cx="3259226" cy="366776"/>
          </a:xfrm>
          <a:prstGeom prst="rect">
            <a:avLst/>
          </a:prstGeom>
          <a:noFill/>
        </p:spPr>
        <p:txBody>
          <a:bodyPr wrap="square" anchor="t" lIns="0" rIns="0" tIns="0" bIns="0">
            <a:spAutoFit/>
          </a:bodyPr>
          <a:lstStyle/>
          <a:p>
            <a:pPr algn="l"/>
            <a:r>
              <a:rPr sz="1000" b="0" i="0">
                <a:solidFill>
                  <a:srgbClr val="6B6690"/>
                </a:solidFill>
                <a:latin typeface="Calibri"/>
              </a:rPr>
              <a:t>The actual comes from the export Finance ties to; typing over it breaks that tie.</a:t>
            </a:r>
          </a:p>
        </p:txBody>
      </p:sp>
      <p:sp>
        <p:nvSpPr>
          <p:cNvPr id="20" name="TextBox 19"/>
          <p:cNvSpPr txBox="1"/>
          <p:nvPr/>
        </p:nvSpPr>
        <p:spPr>
          <a:xfrm>
            <a:off x="8072932" y="1956816"/>
            <a:ext cx="3588410" cy="168656"/>
          </a:xfrm>
          <a:prstGeom prst="rect">
            <a:avLst/>
          </a:prstGeom>
          <a:noFill/>
        </p:spPr>
        <p:txBody>
          <a:bodyPr wrap="square" anchor="t" lIns="0" rIns="0" tIns="0" bIns="0">
            <a:spAutoFit/>
          </a:bodyPr>
          <a:lstStyle/>
          <a:p>
            <a:pPr algn="ctr"/>
            <a:r>
              <a:rPr sz="800" b="1" i="0" spc="250">
                <a:solidFill>
                  <a:srgbClr val="5B3FD6"/>
                </a:solidFill>
                <a:latin typeface="Calibri"/>
              </a:rPr>
              <a:t>LINE 3</a:t>
            </a:r>
          </a:p>
        </p:txBody>
      </p:sp>
      <p:sp>
        <p:nvSpPr>
          <p:cNvPr id="21" name="Oval 20"/>
          <p:cNvSpPr/>
          <p:nvPr/>
        </p:nvSpPr>
        <p:spPr>
          <a:xfrm>
            <a:off x="9766554" y="2432304"/>
            <a:ext cx="201168" cy="201168"/>
          </a:xfrm>
          <a:prstGeom prst="ellipse">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8072932" y="2843784"/>
            <a:ext cx="3588410" cy="1249680"/>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237524" y="2990088"/>
            <a:ext cx="3259226" cy="251205"/>
          </a:xfrm>
          <a:prstGeom prst="rect">
            <a:avLst/>
          </a:prstGeom>
          <a:noFill/>
        </p:spPr>
        <p:txBody>
          <a:bodyPr wrap="square" anchor="t" lIns="0" rIns="0" tIns="0" bIns="0">
            <a:spAutoFit/>
          </a:bodyPr>
          <a:lstStyle/>
          <a:p>
            <a:pPr algn="l"/>
            <a:r>
              <a:rPr sz="1300" b="1" i="0">
                <a:solidFill>
                  <a:srgbClr val="FFFFFF"/>
                </a:solidFill>
                <a:latin typeface="Calibri"/>
              </a:rPr>
              <a:t>The check</a:t>
            </a:r>
          </a:p>
        </p:txBody>
      </p:sp>
      <p:sp>
        <p:nvSpPr>
          <p:cNvPr id="24" name="TextBox 23"/>
          <p:cNvSpPr txBox="1"/>
          <p:nvPr/>
        </p:nvSpPr>
        <p:spPr>
          <a:xfrm>
            <a:off x="8237524" y="3277870"/>
            <a:ext cx="3259226" cy="531876"/>
          </a:xfrm>
          <a:prstGeom prst="rect">
            <a:avLst/>
          </a:prstGeom>
          <a:noFill/>
        </p:spPr>
        <p:txBody>
          <a:bodyPr wrap="square" anchor="t" lIns="0" rIns="0" tIns="0" bIns="0">
            <a:spAutoFit/>
          </a:bodyPr>
          <a:lstStyle/>
          <a:p>
            <a:pPr algn="l"/>
            <a:r>
              <a:rPr sz="1000" b="0" i="0">
                <a:solidFill>
                  <a:srgbClr val="CFC9EE"/>
                </a:solidFill>
                <a:latin typeface="Calibri"/>
              </a:rPr>
              <a:t>The Checks tab compares the sheet with the warehouse's totals as it recalculates, so a drift shows at once.</a:t>
            </a:r>
          </a:p>
        </p:txBody>
      </p:sp>
      <p:sp>
        <p:nvSpPr>
          <p:cNvPr id="25" name="Rounded Rectangle 24"/>
          <p:cNvSpPr/>
          <p:nvPr/>
        </p:nvSpPr>
        <p:spPr>
          <a:xfrm>
            <a:off x="530352" y="4276344"/>
            <a:ext cx="11130991" cy="862584"/>
          </a:xfrm>
          <a:prstGeom prst="roundRect">
            <a:avLst>
              <a:gd name="adj" fmla="val 5000"/>
            </a:avLst>
          </a:prstGeom>
          <a:solidFill>
            <a:srgbClr val="F7F5FD"/>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758952" y="4479036"/>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7" name="Picture 26" descr="mic_caee7398c80d.png"/>
          <p:cNvPicPr>
            <a:picLocks noChangeAspect="1"/>
          </p:cNvPicPr>
          <p:nvPr/>
        </p:nvPicPr>
        <p:blipFill>
          <a:blip r:embed="rId4"/>
          <a:stretch>
            <a:fillRect/>
          </a:stretch>
        </p:blipFill>
        <p:spPr>
          <a:xfrm>
            <a:off x="868680" y="4588764"/>
            <a:ext cx="237744" cy="237744"/>
          </a:xfrm>
          <a:prstGeom prst="rect">
            <a:avLst/>
          </a:prstGeom>
        </p:spPr>
      </p:pic>
      <p:sp>
        <p:nvSpPr>
          <p:cNvPr id="28" name="TextBox 27"/>
          <p:cNvSpPr txBox="1"/>
          <p:nvPr/>
        </p:nvSpPr>
        <p:spPr>
          <a:xfrm>
            <a:off x="1399031" y="4422648"/>
            <a:ext cx="9987991" cy="160401"/>
          </a:xfrm>
          <a:prstGeom prst="rect">
            <a:avLst/>
          </a:prstGeom>
          <a:noFill/>
        </p:spPr>
        <p:txBody>
          <a:bodyPr wrap="square" anchor="t" lIns="0" rIns="0" tIns="0" bIns="0">
            <a:spAutoFit/>
          </a:bodyPr>
          <a:lstStyle/>
          <a:p>
            <a:pPr algn="l"/>
            <a:r>
              <a:rPr sz="750" b="1" i="0" spc="250">
                <a:solidFill>
                  <a:srgbClr val="5B3FD6"/>
                </a:solidFill>
                <a:latin typeface="Calibri"/>
              </a:rPr>
              <a:t>IN THE INTERVIEW</a:t>
            </a:r>
          </a:p>
        </p:txBody>
      </p:sp>
      <p:sp>
        <p:nvSpPr>
          <p:cNvPr id="29" name="TextBox 28"/>
          <p:cNvSpPr txBox="1"/>
          <p:nvPr/>
        </p:nvSpPr>
        <p:spPr>
          <a:xfrm>
            <a:off x="1399031" y="4642104"/>
            <a:ext cx="9987991" cy="423672"/>
          </a:xfrm>
          <a:prstGeom prst="rect">
            <a:avLst/>
          </a:prstGeom>
          <a:noFill/>
        </p:spPr>
        <p:txBody>
          <a:bodyPr wrap="square" anchor="t" lIns="0" rIns="0" tIns="0" bIns="0">
            <a:spAutoFit/>
          </a:bodyPr>
          <a:lstStyle/>
          <a:p>
            <a:r>
              <a:rPr sz="1500" b="0" i="0">
                <a:solidFill>
                  <a:srgbClr val="1A1440"/>
                </a:solidFill>
                <a:latin typeface="Calibri"/>
              </a:rPr>
              <a:t>[D] A director wants to type over the source in the room; what do you say, and what do you build?</a:t>
            </a:r>
          </a:p>
        </p:txBody>
      </p:sp>
      <p:sp>
        <p:nvSpPr>
          <p:cNvPr id="30" name="Oval 2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Can a director break it?</a:t>
            </a:r>
          </a:p>
        </p:txBody>
      </p:sp>
      <p:sp>
        <p:nvSpPr>
          <p:cNvPr id="32" name="Oval 3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34" name="Oval 33"/>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36" name="Oval 35"/>
          <p:cNvSpPr/>
          <p:nvPr/>
        </p:nvSpPr>
        <p:spPr>
          <a:xfrm>
            <a:off x="5223224"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332952" y="6437376"/>
            <a:ext cx="1378457" cy="152146"/>
          </a:xfrm>
          <a:prstGeom prst="rect">
            <a:avLst/>
          </a:prstGeom>
          <a:noFill/>
        </p:spPr>
        <p:txBody>
          <a:bodyPr wrap="square" anchor="t" lIns="0" rIns="0" tIns="0" bIns="0">
            <a:spAutoFit/>
          </a:bodyPr>
          <a:lstStyle/>
          <a:p>
            <a:pPr algn="l"/>
            <a:r>
              <a:rPr sz="700" b="1" i="0">
                <a:solidFill>
                  <a:srgbClr val="5B3FD6"/>
                </a:solidFill>
                <a:latin typeface="Calibri"/>
              </a:rPr>
              <a:t>Where does five lakh go?</a:t>
            </a:r>
          </a:p>
        </p:txBody>
      </p:sp>
      <p:sp>
        <p:nvSpPr>
          <p:cNvPr id="38" name="Oval 37"/>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40" name="Oval 39"/>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42" name="TextBox 4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S25  ·  31 / 39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10</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Can you say it aloud?</a:t>
            </a:r>
          </a:p>
        </p:txBody>
      </p:sp>
      <p:sp>
        <p:nvSpPr>
          <p:cNvPr id="9" name="TextBox 8"/>
          <p:cNvSpPr txBox="1"/>
          <p:nvPr/>
        </p:nvSpPr>
        <p:spPr>
          <a:xfrm>
            <a:off x="731519" y="3520440"/>
            <a:ext cx="9509760" cy="284226"/>
          </a:xfrm>
          <a:prstGeom prst="rect">
            <a:avLst/>
          </a:prstGeom>
          <a:noFill/>
        </p:spPr>
        <p:txBody>
          <a:bodyPr wrap="square" anchor="t" lIns="0" rIns="0" tIns="0" bIns="0">
            <a:spAutoFit/>
          </a:bodyPr>
          <a:lstStyle/>
          <a:p>
            <a:pPr algn="l"/>
            <a:r>
              <a:rPr sz="1500" b="0" i="0">
                <a:solidFill>
                  <a:srgbClr val="E4E1F1"/>
                </a:solidFill>
                <a:latin typeface="Calibri"/>
              </a:rPr>
              <a:t>Can you answer twelve screen questions aloud, each in under a minute?</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a director break it?</a:t>
            </a:r>
          </a:p>
        </p:txBody>
      </p:sp>
      <p:sp>
        <p:nvSpPr>
          <p:cNvPr id="11" name="Rounded Rectangle 10"/>
          <p:cNvSpPr/>
          <p:nvPr/>
        </p:nvSpPr>
        <p:spPr>
          <a:xfrm>
            <a:off x="2628191"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ship it alone?</a:t>
            </a:r>
          </a:p>
        </p:txBody>
      </p:sp>
      <p:sp>
        <p:nvSpPr>
          <p:cNvPr id="12" name="Rounded Rectangle 11"/>
          <p:cNvSpPr/>
          <p:nvPr/>
        </p:nvSpPr>
        <p:spPr>
          <a:xfrm>
            <a:off x="4406430"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numbers were wrong?</a:t>
            </a:r>
          </a:p>
        </p:txBody>
      </p:sp>
      <p:sp>
        <p:nvSpPr>
          <p:cNvPr id="13" name="Rounded Rectangle 12"/>
          <p:cNvSpPr/>
          <p:nvPr/>
        </p:nvSpPr>
        <p:spPr>
          <a:xfrm>
            <a:off x="6362318"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does five lakh go?</a:t>
            </a:r>
          </a:p>
        </p:txBody>
      </p:sp>
      <p:sp>
        <p:nvSpPr>
          <p:cNvPr id="14" name="Rounded Rectangle 13"/>
          <p:cNvSpPr/>
          <p:nvPr/>
        </p:nvSpPr>
        <p:spPr>
          <a:xfrm>
            <a:off x="8258989" y="5074920"/>
            <a:ext cx="160929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Can you say it aloud?</a:t>
            </a:r>
          </a:p>
        </p:txBody>
      </p:sp>
      <p:sp>
        <p:nvSpPr>
          <p:cNvPr id="15" name="Rounded Rectangle 14"/>
          <p:cNvSpPr/>
          <p:nvPr/>
        </p:nvSpPr>
        <p:spPr>
          <a:xfrm>
            <a:off x="9978012"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What ships on Monday?</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5. Can a director change it and still trust it?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32 / 39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the row's five first, then seven follow-ups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questions does a screen ask, and with which tags?</a:t>
            </a:r>
          </a:p>
        </p:txBody>
      </p:sp>
      <p:graphicFrame>
        <p:nvGraphicFramePr>
          <p:cNvPr id="9" name="Table 8"/>
          <p:cNvGraphicFramePr>
            <a:graphicFrameLocks noGrp="1"/>
          </p:cNvGraphicFramePr>
          <p:nvPr/>
        </p:nvGraphicFramePr>
        <p:xfrm>
          <a:off x="530352" y="1874012"/>
          <a:ext cx="11130991" cy="4134104"/>
        </p:xfrm>
        <a:graphic>
          <a:graphicData uri="http://schemas.openxmlformats.org/drawingml/2006/table">
            <a:tbl>
              <a:tblPr firstRow="0" bandRow="0">
                <a:tableStyleId>{2D5ABB26-0587-4C30-8999-92F81FD0307C}</a:tableStyleId>
              </a:tblPr>
              <a:tblGrid>
                <a:gridCol w="914400"/>
                <a:gridCol w="10216591"/>
              </a:tblGrid>
              <a:tr h="318008">
                <a:tc>
                  <a:txBody>
                    <a:bodyPr/>
                    <a:lstStyle/>
                    <a:p>
                      <a:r>
                        <a:rPr sz="1150" b="1" i="0">
                          <a:solidFill>
                            <a:srgbClr val="FFFFFF"/>
                          </a:solidFill>
                          <a:latin typeface="Calibri"/>
                        </a:rPr>
                        <a:t>Tag</a:t>
                      </a:r>
                    </a:p>
                  </a:txBody>
                  <a:tcPr marL="101600" marR="101600" marT="38100" marB="38100" anchor="ctr">
                    <a:solidFill>
                      <a:srgbClr val="1A0F5C"/>
                    </a:solidFill>
                  </a:tcPr>
                </a:tc>
                <a:tc>
                  <a:txBody>
                    <a:bodyPr/>
                    <a:lstStyle/>
                    <a:p>
                      <a:r>
                        <a:rPr sz="1150" b="1" i="0">
                          <a:solidFill>
                            <a:srgbClr val="FFFFFF"/>
                          </a:solidFill>
                          <a:latin typeface="Calibri"/>
                        </a:rPr>
                        <a:t>Question</a:t>
                      </a:r>
                    </a:p>
                  </a:txBody>
                  <a:tcPr marL="101600" marR="101600" marT="38100" marB="38100" anchor="ctr">
                    <a:solidFill>
                      <a:srgbClr val="1A0F5C"/>
                    </a:solidFill>
                  </a:tcPr>
                </a:tc>
              </a:tr>
              <a:tr h="318008">
                <a:tc>
                  <a:txBody>
                    <a:bodyPr/>
                    <a:lstStyle/>
                    <a:p>
                      <a:r>
                        <a:rPr sz="1100" b="0" i="0">
                          <a:solidFill>
                            <a:srgbClr val="1A1440"/>
                          </a:solidFill>
                          <a:latin typeface="Calibri"/>
                        </a:rPr>
                        <a:t>[S]</a:t>
                      </a:r>
                    </a:p>
                  </a:txBody>
                  <a:tcPr marL="101600" marR="101600" marT="38100" marB="38100" anchor="ctr">
                    <a:solidFill>
                      <a:srgbClr val="FFFFFF"/>
                    </a:solidFill>
                  </a:tcPr>
                </a:tc>
                <a:tc>
                  <a:txBody>
                    <a:bodyPr/>
                    <a:lstStyle/>
                    <a:p>
                      <a:r>
                        <a:rPr sz="1100" b="0" i="0">
                          <a:solidFill>
                            <a:srgbClr val="1A1440"/>
                          </a:solidFill>
                          <a:latin typeface="Calibri"/>
                        </a:rPr>
                        <a:t>SQL, pandas or Excel: how do you choose?</a:t>
                      </a:r>
                    </a:p>
                  </a:txBody>
                  <a:tcPr marL="101600" marR="101600" marT="38100" marB="38100" anchor="ctr">
                    <a:solidFill>
                      <a:srgbClr val="FFFFFF"/>
                    </a:solidFill>
                  </a:tcPr>
                </a:tc>
              </a:tr>
              <a:tr h="318008">
                <a:tc>
                  <a:txBody>
                    <a:bodyPr/>
                    <a:lstStyle/>
                    <a:p>
                      <a:r>
                        <a:rPr sz="1100" b="0" i="0">
                          <a:solidFill>
                            <a:srgbClr val="1A1440"/>
                          </a:solidFill>
                          <a:latin typeface="Calibri"/>
                        </a:rPr>
                        <a:t>[S]</a:t>
                      </a:r>
                    </a:p>
                  </a:txBody>
                  <a:tcPr marL="101600" marR="101600" marT="38100" marB="38100" anchor="ctr">
                    <a:solidFill>
                      <a:srgbClr val="F4F2FA"/>
                    </a:solidFill>
                  </a:tcPr>
                </a:tc>
                <a:tc>
                  <a:txBody>
                    <a:bodyPr/>
                    <a:lstStyle/>
                    <a:p>
                      <a:r>
                        <a:rPr sz="1100" b="0" i="0">
                          <a:solidFill>
                            <a:srgbClr val="1A1440"/>
                          </a:solidFill>
                          <a:latin typeface="Calibri"/>
                        </a:rPr>
                        <a:t>A stakeholder wants to poke the numbers; what do you give them and never give them?</a:t>
                      </a:r>
                    </a:p>
                  </a:txBody>
                  <a:tcPr marL="101600" marR="101600" marT="38100" marB="38100" anchor="ctr">
                    <a:solidFill>
                      <a:srgbClr val="F4F2FA"/>
                    </a:solidFill>
                  </a:tcPr>
                </a:tc>
              </a:tr>
              <a:tr h="318008">
                <a:tc>
                  <a:txBody>
                    <a:bodyPr/>
                    <a:lstStyle/>
                    <a:p>
                      <a:r>
                        <a:rPr sz="1100" b="0" i="0">
                          <a:solidFill>
                            <a:srgbClr val="1A1440"/>
                          </a:solidFill>
                          <a:latin typeface="Calibri"/>
                        </a:rPr>
                        <a:t>[F]</a:t>
                      </a:r>
                    </a:p>
                  </a:txBody>
                  <a:tcPr marL="101600" marR="101600" marT="38100" marB="38100" anchor="ctr">
                    <a:solidFill>
                      <a:srgbClr val="FFFFFF"/>
                    </a:solidFill>
                  </a:tcPr>
                </a:tc>
                <a:tc>
                  <a:txBody>
                    <a:bodyPr/>
                    <a:lstStyle/>
                    <a:p>
                      <a:r>
                        <a:rPr sz="1100" b="0" i="0">
                          <a:solidFill>
                            <a:srgbClr val="1A1440"/>
                          </a:solidFill>
                          <a:latin typeface="Calibri"/>
                        </a:rPr>
                        <a:t>Your pivot shows a different total from the warehouse; where do you look first?</a:t>
                      </a:r>
                    </a:p>
                  </a:txBody>
                  <a:tcPr marL="101600" marR="101600" marT="38100" marB="38100" anchor="ctr">
                    <a:solidFill>
                      <a:srgbClr val="FFFFFF"/>
                    </a:solidFill>
                  </a:tcPr>
                </a:tc>
              </a:tr>
              <a:tr h="318008">
                <a:tc>
                  <a:txBody>
                    <a:bodyPr/>
                    <a:lstStyle/>
                    <a:p>
                      <a:r>
                        <a:rPr sz="1100" b="0" i="0">
                          <a:solidFill>
                            <a:srgbClr val="1A1440"/>
                          </a:solidFill>
                          <a:latin typeface="Calibri"/>
                        </a:rPr>
                        <a:t>[F]</a:t>
                      </a:r>
                    </a:p>
                  </a:txBody>
                  <a:tcPr marL="101600" marR="101600" marT="38100" marB="38100" anchor="ctr">
                    <a:solidFill>
                      <a:srgbClr val="F4F2FA"/>
                    </a:solidFill>
                  </a:tcPr>
                </a:tc>
                <a:tc>
                  <a:txBody>
                    <a:bodyPr/>
                    <a:lstStyle/>
                    <a:p>
                      <a:r>
                        <a:rPr sz="1100" b="0" i="0">
                          <a:solidFill>
                            <a:srgbClr val="1A1440"/>
                          </a:solidFill>
                          <a:latin typeface="Calibri"/>
                        </a:rPr>
                        <a:t>How do you present one number so it is not misread?</a:t>
                      </a:r>
                    </a:p>
                  </a:txBody>
                  <a:tcPr marL="101600" marR="101600" marT="38100" marB="38100" anchor="ctr">
                    <a:solidFill>
                      <a:srgbClr val="F4F2FA"/>
                    </a:solidFill>
                  </a:tcPr>
                </a:tc>
              </a:tr>
              <a:tr h="318008">
                <a:tc>
                  <a:txBody>
                    <a:bodyPr/>
                    <a:lstStyle/>
                    <a:p>
                      <a:r>
                        <a:rPr sz="1100" b="0" i="0">
                          <a:solidFill>
                            <a:srgbClr val="1A1440"/>
                          </a:solidFill>
                          <a:latin typeface="Calibri"/>
                        </a:rPr>
                        <a:t>[D]</a:t>
                      </a:r>
                    </a:p>
                  </a:txBody>
                  <a:tcPr marL="101600" marR="101600" marT="38100" marB="38100" anchor="ctr">
                    <a:solidFill>
                      <a:srgbClr val="FFFFFF"/>
                    </a:solidFill>
                  </a:tcPr>
                </a:tc>
                <a:tc>
                  <a:txBody>
                    <a:bodyPr/>
                    <a:lstStyle/>
                    <a:p>
                      <a:r>
                        <a:rPr sz="1100" b="0" i="0">
                          <a:solidFill>
                            <a:srgbClr val="1A1440"/>
                          </a:solidFill>
                          <a:latin typeface="Calibri"/>
                        </a:rPr>
                        <a:t>Two directors change assumptions and the sheet recalculates differently; what did you get right, what do you fix?</a:t>
                      </a:r>
                    </a:p>
                  </a:txBody>
                  <a:tcPr marL="101600" marR="101600" marT="38100" marB="38100" anchor="ctr">
                    <a:solidFill>
                      <a:srgbClr val="FFFFFF"/>
                    </a:solidFill>
                  </a:tcPr>
                </a:tc>
              </a:tr>
              <a:tr h="318008">
                <a:tc>
                  <a:txBody>
                    <a:bodyPr/>
                    <a:lstStyle/>
                    <a:p>
                      <a:r>
                        <a:rPr sz="1100" b="0" i="0">
                          <a:solidFill>
                            <a:srgbClr val="1A1440"/>
                          </a:solidFill>
                          <a:latin typeface="Calibri"/>
                        </a:rPr>
                        <a:t>[D]</a:t>
                      </a:r>
                    </a:p>
                  </a:txBody>
                  <a:tcPr marL="101600" marR="101600" marT="38100" marB="38100" anchor="ctr">
                    <a:solidFill>
                      <a:srgbClr val="F4F2FA"/>
                    </a:solidFill>
                  </a:tcPr>
                </a:tc>
                <a:tc>
                  <a:txBody>
                    <a:bodyPr/>
                    <a:lstStyle/>
                    <a:p>
                      <a:r>
                        <a:rPr sz="1100" b="0" i="0">
                          <a:solidFill>
                            <a:srgbClr val="1A1440"/>
                          </a:solidFill>
                          <a:latin typeface="Calibri"/>
                        </a:rPr>
                        <a:t>A leaf of your tree does not multiply back; what happened?</a:t>
                      </a:r>
                    </a:p>
                  </a:txBody>
                  <a:tcPr marL="101600" marR="101600" marT="38100" marB="38100" anchor="ctr">
                    <a:solidFill>
                      <a:srgbClr val="F4F2FA"/>
                    </a:solidFill>
                  </a:tcPr>
                </a:tc>
              </a:tr>
              <a:tr h="318008">
                <a:tc>
                  <a:txBody>
                    <a:bodyPr/>
                    <a:lstStyle/>
                    <a:p>
                      <a:r>
                        <a:rPr sz="1100" b="0" i="0">
                          <a:solidFill>
                            <a:srgbClr val="1A1440"/>
                          </a:solidFill>
                          <a:latin typeface="Calibri"/>
                        </a:rPr>
                        <a:t>[S]</a:t>
                      </a:r>
                    </a:p>
                  </a:txBody>
                  <a:tcPr marL="101600" marR="101600" marT="38100" marB="38100" anchor="ctr">
                    <a:solidFill>
                      <a:srgbClr val="FFFFFF"/>
                    </a:solidFill>
                  </a:tcPr>
                </a:tc>
                <a:tc>
                  <a:txBody>
                    <a:bodyPr/>
                    <a:lstStyle/>
                    <a:p>
                      <a:r>
                        <a:rPr sz="1100" b="0" i="0">
                          <a:solidFill>
                            <a:srgbClr val="1A1440"/>
                          </a:solidFill>
                          <a:latin typeface="Calibri"/>
                        </a:rPr>
                        <a:t>Why does Remove Duplicates not fix a payment-grain export?</a:t>
                      </a:r>
                    </a:p>
                  </a:txBody>
                  <a:tcPr marL="101600" marR="101600" marT="38100" marB="38100" anchor="ctr">
                    <a:solidFill>
                      <a:srgbClr val="FFFFFF"/>
                    </a:solidFill>
                  </a:tcPr>
                </a:tc>
              </a:tr>
              <a:tr h="318008">
                <a:tc>
                  <a:txBody>
                    <a:bodyPr/>
                    <a:lstStyle/>
                    <a:p>
                      <a:r>
                        <a:rPr sz="1100" b="0" i="0">
                          <a:solidFill>
                            <a:srgbClr val="1A1440"/>
                          </a:solidFill>
                          <a:latin typeface="Calibri"/>
                        </a:rPr>
                        <a:t>[D]</a:t>
                      </a:r>
                    </a:p>
                  </a:txBody>
                  <a:tcPr marL="101600" marR="101600" marT="38100" marB="38100" anchor="ctr">
                    <a:solidFill>
                      <a:srgbClr val="F4F2FA"/>
                    </a:solidFill>
                  </a:tcPr>
                </a:tc>
                <a:tc>
                  <a:txBody>
                    <a:bodyPr/>
                    <a:lstStyle/>
                    <a:p>
                      <a:r>
                        <a:rPr sz="1100" b="0" i="0">
                          <a:solidFill>
                            <a:srgbClr val="1A1440"/>
                          </a:solidFill>
                          <a:latin typeface="Calibri"/>
                        </a:rPr>
                        <a:t>The export grows a hundredfold; which formula do you replace?</a:t>
                      </a:r>
                    </a:p>
                  </a:txBody>
                  <a:tcPr marL="101600" marR="101600" marT="38100" marB="38100" anchor="ctr">
                    <a:solidFill>
                      <a:srgbClr val="F4F2FA"/>
                    </a:solidFill>
                  </a:tcPr>
                </a:tc>
              </a:tr>
              <a:tr h="318008">
                <a:tc>
                  <a:txBody>
                    <a:bodyPr/>
                    <a:lstStyle/>
                    <a:p>
                      <a:r>
                        <a:rPr sz="1100" b="0" i="0">
                          <a:solidFill>
                            <a:srgbClr val="1A1440"/>
                          </a:solidFill>
                          <a:latin typeface="Calibri"/>
                        </a:rPr>
                        <a:t>[F]</a:t>
                      </a:r>
                    </a:p>
                  </a:txBody>
                  <a:tcPr marL="101600" marR="101600" marT="38100" marB="38100" anchor="ctr">
                    <a:solidFill>
                      <a:srgbClr val="FFFFFF"/>
                    </a:solidFill>
                  </a:tcPr>
                </a:tc>
                <a:tc>
                  <a:txBody>
                    <a:bodyPr/>
                    <a:lstStyle/>
                    <a:p>
                      <a:r>
                        <a:rPr sz="1100" b="0" i="0">
                          <a:solidFill>
                            <a:srgbClr val="1A1440"/>
                          </a:solidFill>
                          <a:latin typeface="Calibri"/>
                        </a:rPr>
                        <a:t>A lookup returned a member for a missing id; which argument?</a:t>
                      </a:r>
                    </a:p>
                  </a:txBody>
                  <a:tcPr marL="101600" marR="101600" marT="38100" marB="38100" anchor="ctr">
                    <a:solidFill>
                      <a:srgbClr val="FFFFFF"/>
                    </a:solidFill>
                  </a:tcPr>
                </a:tc>
              </a:tr>
              <a:tr h="318008">
                <a:tc>
                  <a:txBody>
                    <a:bodyPr/>
                    <a:lstStyle/>
                    <a:p>
                      <a:r>
                        <a:rPr sz="1100" b="0" i="0">
                          <a:solidFill>
                            <a:srgbClr val="1A1440"/>
                          </a:solidFill>
                          <a:latin typeface="Calibri"/>
                        </a:rPr>
                        <a:t>[F]</a:t>
                      </a:r>
                    </a:p>
                  </a:txBody>
                  <a:tcPr marL="101600" marR="101600" marT="38100" marB="38100" anchor="ctr">
                    <a:solidFill>
                      <a:srgbClr val="F4F2FA"/>
                    </a:solidFill>
                  </a:tcPr>
                </a:tc>
                <a:tc>
                  <a:txBody>
                    <a:bodyPr/>
                    <a:lstStyle/>
                    <a:p>
                      <a:r>
                        <a:rPr sz="1100" b="0" i="0">
                          <a:solidFill>
                            <a:srgbClr val="1A1440"/>
                          </a:solidFill>
                          <a:latin typeface="Calibri"/>
                        </a:rPr>
                        <a:t>A lookup does a join and collected falls 40 percent; why?</a:t>
                      </a:r>
                    </a:p>
                  </a:txBody>
                  <a:tcPr marL="101600" marR="101600" marT="38100" marB="38100" anchor="ctr">
                    <a:solidFill>
                      <a:srgbClr val="F4F2FA"/>
                    </a:solidFill>
                  </a:tcPr>
                </a:tc>
              </a:tr>
              <a:tr h="318008">
                <a:tc>
                  <a:txBody>
                    <a:bodyPr/>
                    <a:lstStyle/>
                    <a:p>
                      <a:r>
                        <a:rPr sz="1100" b="0" i="0">
                          <a:solidFill>
                            <a:srgbClr val="1A1440"/>
                          </a:solidFill>
                          <a:latin typeface="Calibri"/>
                        </a:rPr>
                        <a:t>[F]</a:t>
                      </a:r>
                    </a:p>
                  </a:txBody>
                  <a:tcPr marL="101600" marR="101600" marT="38100" marB="38100" anchor="ctr">
                    <a:solidFill>
                      <a:srgbClr val="FFFFFF"/>
                    </a:solidFill>
                  </a:tcPr>
                </a:tc>
                <a:tc>
                  <a:txBody>
                    <a:bodyPr/>
                    <a:lstStyle/>
                    <a:p>
                      <a:r>
                        <a:rPr sz="1100" b="0" i="0">
                          <a:solidFill>
                            <a:srgbClr val="1A1440"/>
                          </a:solidFill>
                          <a:latin typeface="Calibri"/>
                        </a:rPr>
                        <a:t>You filter and the total does not move; what is the foot?</a:t>
                      </a:r>
                    </a:p>
                  </a:txBody>
                  <a:tcPr marL="101600" marR="101600" marT="38100" marB="38100" anchor="ctr">
                    <a:solidFill>
                      <a:srgbClr val="FFFFFF"/>
                    </a:solidFill>
                  </a:tcPr>
                </a:tc>
              </a:tr>
              <a:tr h="318008">
                <a:tc>
                  <a:txBody>
                    <a:bodyPr/>
                    <a:lstStyle/>
                    <a:p>
                      <a:r>
                        <a:rPr sz="1100" b="0" i="0">
                          <a:solidFill>
                            <a:srgbClr val="1A1440"/>
                          </a:solidFill>
                          <a:latin typeface="Calibri"/>
                        </a:rPr>
                        <a:t>[D]</a:t>
                      </a:r>
                    </a:p>
                  </a:txBody>
                  <a:tcPr marL="101600" marR="101600" marT="38100" marB="38100" anchor="ctr">
                    <a:solidFill>
                      <a:srgbClr val="F4F2FA"/>
                    </a:solidFill>
                  </a:tcPr>
                </a:tc>
                <a:tc>
                  <a:txBody>
                    <a:bodyPr/>
                    <a:lstStyle/>
                    <a:p>
                      <a:r>
                        <a:rPr sz="1100" b="0" i="0">
                          <a:solidFill>
                            <a:srgbClr val="1A1440"/>
                          </a:solidFill>
                          <a:latin typeface="Calibri"/>
                        </a:rPr>
                        <a:t>A director wants to type over the source; what do you say?</a:t>
                      </a:r>
                    </a:p>
                  </a:txBody>
                  <a:tcPr marL="101600" marR="101600" marT="38100" marB="38100" anchor="ctr">
                    <a:solidFill>
                      <a:srgbClr val="F4F2FA"/>
                    </a:solidFill>
                  </a:tcPr>
                </a:tc>
              </a:tr>
            </a:tbl>
          </a:graphicData>
        </a:graphic>
      </p:graphicFrame>
      <p:sp>
        <p:nvSpPr>
          <p:cNvPr id="10" name="Oval 9"/>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Can a director break it?</a:t>
            </a:r>
          </a:p>
        </p:txBody>
      </p:sp>
      <p:sp>
        <p:nvSpPr>
          <p:cNvPr id="12" name="Oval 11"/>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14" name="Oval 13"/>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16" name="Oval 15"/>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18" name="Oval 17"/>
          <p:cNvSpPr/>
          <p:nvPr/>
        </p:nvSpPr>
        <p:spPr>
          <a:xfrm>
            <a:off x="680285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12578"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you say it aloud?</a:t>
            </a:r>
          </a:p>
        </p:txBody>
      </p:sp>
      <p:sp>
        <p:nvSpPr>
          <p:cNvPr id="20" name="Oval 19"/>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2" name="TextBox 21"/>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S26  ·  33 / 39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Mechanism, check, number, then the decision</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goes into a one-minute answer?</a:t>
            </a:r>
          </a:p>
        </p:txBody>
      </p:sp>
      <p:pic>
        <p:nvPicPr>
          <p:cNvPr id="9" name="mermaid diagram" descr="b2aabb1846aeb5c2.png"/>
          <p:cNvPicPr>
            <a:picLocks noChangeAspect="1"/>
          </p:cNvPicPr>
          <p:nvPr/>
        </p:nvPicPr>
        <p:blipFill>
          <a:blip r:embed="rId5"/>
          <a:stretch>
            <a:fillRect/>
          </a:stretch>
        </p:blipFill>
        <p:spPr>
          <a:xfrm>
            <a:off x="1545278" y="1956816"/>
            <a:ext cx="9101137" cy="871537"/>
          </a:xfrm>
          <a:prstGeom prst="rect">
            <a:avLst/>
          </a:prstGeom>
        </p:spPr>
      </p:pic>
      <p:sp>
        <p:nvSpPr>
          <p:cNvPr id="10" name="TextBox 9"/>
          <p:cNvSpPr txBox="1"/>
          <p:nvPr/>
        </p:nvSpPr>
        <p:spPr>
          <a:xfrm>
            <a:off x="530352" y="2974657"/>
            <a:ext cx="11130991" cy="1048512"/>
          </a:xfrm>
          <a:prstGeom prst="rect">
            <a:avLst/>
          </a:prstGeom>
          <a:noFill/>
        </p:spPr>
        <p:txBody>
          <a:bodyPr wrap="square" anchor="t" lIns="0" rIns="0" tIns="0" bIns="0">
            <a:spAutoFit/>
          </a:bodyPr>
          <a:lstStyle/>
          <a:p>
            <a:pPr>
              <a:spcAft>
                <a:spcPts val="800"/>
              </a:spcAft>
            </a:pPr>
            <a:r>
              <a:rPr sz="1600" b="0" i="0">
                <a:solidFill>
                  <a:srgbClr val="1A1440"/>
                </a:solidFill>
                <a:latin typeface="Calibri"/>
              </a:rPr>
              <a:t>"A Sum adds one value per row; I count rows against order ids; here 1,450 rows held 1,000 orders and the pivot read Rs 39.41 crore; counting each order once gave the warehouse's Rs 19.84 crore, so the deck carries the right quarters."</a:t>
            </a:r>
          </a:p>
        </p:txBody>
      </p:sp>
      <p:sp>
        <p:nvSpPr>
          <p:cNvPr id="11" name="Oval 1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Can a director break it?</a:t>
            </a:r>
          </a:p>
        </p:txBody>
      </p:sp>
      <p:sp>
        <p:nvSpPr>
          <p:cNvPr id="13" name="Oval 1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15" name="Oval 14"/>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17" name="Oval 1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19" name="Oval 18"/>
          <p:cNvSpPr/>
          <p:nvPr/>
        </p:nvSpPr>
        <p:spPr>
          <a:xfrm>
            <a:off x="6802850"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912578"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Can you say it aloud?</a:t>
            </a:r>
          </a:p>
        </p:txBody>
      </p:sp>
      <p:sp>
        <p:nvSpPr>
          <p:cNvPr id="21" name="Oval 20"/>
          <p:cNvSpPr/>
          <p:nvPr/>
        </p:nvSpPr>
        <p:spPr>
          <a:xfrm>
            <a:off x="8244458"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354186"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What ships on Monday?</a:t>
            </a:r>
          </a:p>
        </p:txBody>
      </p:sp>
      <p:sp>
        <p:nvSpPr>
          <p:cNvPr id="23" name="TextBox 2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S27  ·  34 / 39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ark.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FFFFFF"/>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CFC9EE"/>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CFC9EE"/>
                </a:solidFill>
                <a:latin typeface="Calibri"/>
              </a:rPr>
              <a:t>PG DIPLOMA IN AI-ML AND AGENTIC AI ENGINEERING  ·  COHORT 2</a:t>
            </a:r>
          </a:p>
        </p:txBody>
      </p:sp>
      <p:sp>
        <p:nvSpPr>
          <p:cNvPr id="7" name="TextBox 6"/>
          <p:cNvSpPr txBox="1"/>
          <p:nvPr/>
        </p:nvSpPr>
        <p:spPr>
          <a:xfrm>
            <a:off x="731519" y="1143000"/>
            <a:ext cx="3657600" cy="1371600"/>
          </a:xfrm>
          <a:prstGeom prst="rect">
            <a:avLst/>
          </a:prstGeom>
          <a:noFill/>
        </p:spPr>
        <p:txBody>
          <a:bodyPr wrap="square" anchor="t" lIns="0" rIns="0" tIns="0" bIns="0">
            <a:spAutoFit/>
          </a:bodyPr>
          <a:lstStyle/>
          <a:p>
            <a:pPr algn="l"/>
            <a:r>
              <a:rPr sz="9600" b="0" i="0">
                <a:solidFill>
                  <a:srgbClr val="D9A7FF"/>
                </a:solidFill>
                <a:latin typeface="Georgia"/>
              </a:rPr>
              <a:t>11</a:t>
            </a:r>
          </a:p>
        </p:txBody>
      </p:sp>
      <p:sp>
        <p:nvSpPr>
          <p:cNvPr id="8" name="TextBox 7"/>
          <p:cNvSpPr txBox="1"/>
          <p:nvPr/>
        </p:nvSpPr>
        <p:spPr>
          <a:xfrm>
            <a:off x="731519" y="2606040"/>
            <a:ext cx="10673791" cy="731520"/>
          </a:xfrm>
          <a:prstGeom prst="rect">
            <a:avLst/>
          </a:prstGeom>
          <a:noFill/>
        </p:spPr>
        <p:txBody>
          <a:bodyPr wrap="square" anchor="t" lIns="0" rIns="0" tIns="0" bIns="0">
            <a:spAutoFit/>
          </a:bodyPr>
          <a:lstStyle/>
          <a:p>
            <a:pPr algn="l"/>
            <a:r>
              <a:rPr sz="4000" b="0" i="0">
                <a:solidFill>
                  <a:srgbClr val="FFFFFF"/>
                </a:solidFill>
                <a:latin typeface="Georgia"/>
              </a:rPr>
              <a:t>What ships on Monday?</a:t>
            </a:r>
          </a:p>
        </p:txBody>
      </p:sp>
      <p:sp>
        <p:nvSpPr>
          <p:cNvPr id="9" name="TextBox 8"/>
          <p:cNvSpPr txBox="1"/>
          <p:nvPr/>
        </p:nvSpPr>
        <p:spPr>
          <a:xfrm>
            <a:off x="731519" y="3520440"/>
            <a:ext cx="9509760" cy="531876"/>
          </a:xfrm>
          <a:prstGeom prst="rect">
            <a:avLst/>
          </a:prstGeom>
          <a:noFill/>
        </p:spPr>
        <p:txBody>
          <a:bodyPr wrap="square" anchor="t" lIns="0" rIns="0" tIns="0" bIns="0">
            <a:spAutoFit/>
          </a:bodyPr>
          <a:lstStyle/>
          <a:p>
            <a:pPr algn="l"/>
            <a:r>
              <a:rPr sz="1500" b="0" i="0">
                <a:solidFill>
                  <a:srgbClr val="E4E1F1"/>
                </a:solidFill>
                <a:latin typeface="Calibri"/>
              </a:rPr>
              <a:t>What can the chief of staff trust on Monday? The sentence, the day's six lines, the Kahoot and tomorrow.</a:t>
            </a:r>
          </a:p>
        </p:txBody>
      </p:sp>
      <p:sp>
        <p:nvSpPr>
          <p:cNvPr id="10" name="Rounded Rectangle 9"/>
          <p:cNvSpPr/>
          <p:nvPr/>
        </p:nvSpPr>
        <p:spPr>
          <a:xfrm>
            <a:off x="731519"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a director break it?</a:t>
            </a:r>
          </a:p>
        </p:txBody>
      </p:sp>
      <p:sp>
        <p:nvSpPr>
          <p:cNvPr id="11" name="Rounded Rectangle 10"/>
          <p:cNvSpPr/>
          <p:nvPr/>
        </p:nvSpPr>
        <p:spPr>
          <a:xfrm>
            <a:off x="2628191" y="5074920"/>
            <a:ext cx="1668511"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ship it alone?</a:t>
            </a:r>
          </a:p>
        </p:txBody>
      </p:sp>
      <p:sp>
        <p:nvSpPr>
          <p:cNvPr id="12" name="Rounded Rectangle 11"/>
          <p:cNvSpPr/>
          <p:nvPr/>
        </p:nvSpPr>
        <p:spPr>
          <a:xfrm>
            <a:off x="4406430" y="5074920"/>
            <a:ext cx="1846159"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Which numbers were wrong?</a:t>
            </a:r>
          </a:p>
        </p:txBody>
      </p:sp>
      <p:sp>
        <p:nvSpPr>
          <p:cNvPr id="13" name="Rounded Rectangle 12"/>
          <p:cNvSpPr/>
          <p:nvPr/>
        </p:nvSpPr>
        <p:spPr>
          <a:xfrm>
            <a:off x="6362318" y="5074920"/>
            <a:ext cx="1786943"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Where does five lakh go?</a:t>
            </a:r>
          </a:p>
        </p:txBody>
      </p:sp>
      <p:sp>
        <p:nvSpPr>
          <p:cNvPr id="14" name="Rounded Rectangle 13"/>
          <p:cNvSpPr/>
          <p:nvPr/>
        </p:nvSpPr>
        <p:spPr>
          <a:xfrm>
            <a:off x="8258989" y="5074920"/>
            <a:ext cx="1609295" cy="310896"/>
          </a:xfrm>
          <a:prstGeom prst="roundRect">
            <a:avLst>
              <a:gd name="adj" fmla="val 50000"/>
            </a:avLst>
          </a:prstGeom>
          <a:noFill/>
          <a:ln w="9525">
            <a:solidFill>
              <a:srgbClr val="CFC9EE"/>
            </a:solid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0">
                <a:solidFill>
                  <a:srgbClr val="CFC9EE"/>
                </a:solidFill>
                <a:latin typeface="Calibri"/>
              </a:rPr>
              <a:t>Can you say it aloud?</a:t>
            </a:r>
          </a:p>
        </p:txBody>
      </p:sp>
      <p:sp>
        <p:nvSpPr>
          <p:cNvPr id="15" name="Rounded Rectangle 14"/>
          <p:cNvSpPr/>
          <p:nvPr/>
        </p:nvSpPr>
        <p:spPr>
          <a:xfrm>
            <a:off x="9978012" y="5074920"/>
            <a:ext cx="1609295" cy="310896"/>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5400" rIns="25400" tIns="0" bIns="0"/>
          <a:lstStyle/>
          <a:p>
            <a:pPr algn="ctr"/>
            <a:r>
              <a:rPr sz="850" b="1">
                <a:solidFill>
                  <a:srgbClr val="1A0F5C"/>
                </a:solidFill>
                <a:latin typeface="Calibri"/>
              </a:rPr>
              <a:t>What ships on Monday?</a:t>
            </a:r>
          </a:p>
        </p:txBody>
      </p:sp>
      <p:sp>
        <p:nvSpPr>
          <p:cNvPr id="16" name="TextBox 15"/>
          <p:cNvSpPr txBox="1"/>
          <p:nvPr/>
        </p:nvSpPr>
        <p:spPr>
          <a:xfrm>
            <a:off x="530352" y="6437376"/>
            <a:ext cx="9667951" cy="160401"/>
          </a:xfrm>
          <a:prstGeom prst="rect">
            <a:avLst/>
          </a:prstGeom>
          <a:noFill/>
        </p:spPr>
        <p:txBody>
          <a:bodyPr wrap="square" anchor="t" lIns="0" rIns="0" tIns="0" bIns="0">
            <a:spAutoFit/>
          </a:bodyPr>
          <a:lstStyle/>
          <a:p>
            <a:pPr algn="l"/>
            <a:r>
              <a:rPr sz="750" b="0" i="0">
                <a:solidFill>
                  <a:srgbClr val="CFC9EE"/>
                </a:solidFill>
                <a:latin typeface="Calibri"/>
              </a:rPr>
              <a:t>Week 2, Day 5. Can a director change it and still trust it?</a:t>
            </a:r>
          </a:p>
        </p:txBody>
      </p:sp>
      <p:sp>
        <p:nvSpPr>
          <p:cNvPr id="17" name="TextBox 16"/>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CFC9EE"/>
                </a:solidFill>
                <a:latin typeface="Calibri"/>
              </a:rPr>
              <a:t>35 / 39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Answer: what ties, what waits, and why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team send the chief of staff?</a:t>
            </a:r>
          </a:p>
        </p:txBody>
      </p:sp>
      <p:sp>
        <p:nvSpPr>
          <p:cNvPr id="9" name="Rounded Rectangle 8"/>
          <p:cNvSpPr/>
          <p:nvPr/>
        </p:nvSpPr>
        <p:spPr>
          <a:xfrm>
            <a:off x="530352" y="1956816"/>
            <a:ext cx="45720" cy="1879599"/>
          </a:xfrm>
          <a:prstGeom prst="roundRect">
            <a:avLst>
              <a:gd name="adj" fmla="val 50000"/>
            </a:avLst>
          </a:prstGeom>
          <a:solidFill>
            <a:srgbClr val="D9A7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956816"/>
            <a:ext cx="10820095" cy="1879599"/>
          </a:xfrm>
          <a:prstGeom prst="rect">
            <a:avLst/>
          </a:prstGeom>
          <a:noFill/>
        </p:spPr>
        <p:txBody>
          <a:bodyPr wrap="square" anchor="t" lIns="0" rIns="0" tIns="0" bIns="0">
            <a:spAutoFit/>
          </a:bodyPr>
          <a:lstStyle/>
          <a:p>
            <a:r>
              <a:rPr sz="1600" b="0" i="1">
                <a:solidFill>
                  <a:srgbClr val="1A0F5C"/>
                </a:solidFill>
                <a:latin typeface="Georgia"/>
              </a:rPr>
              <a:t>"The tree and the front page tie to Finance: Q2, July to September 2026, Rs 9.84 crore, down 1.6 percent on Q1's Rs 10.00 crore. Business invoices carry most of the rupees; Retail-Plus fell 29.4 percent because members ordered less often. The protect list ships when the Checks tab says its source ties to the warehouse, and the release note says what it found. Change the yellow cells freely; never type over a number."</a:t>
            </a:r>
          </a:p>
          <a:p>
            <a:pPr>
              <a:spcBef>
                <a:spcPts val="400"/>
              </a:spcBef>
            </a:pPr>
            <a:r>
              <a:rPr sz="1000" b="0" i="0">
                <a:solidFill>
                  <a:srgbClr val="6B6690"/>
                </a:solidFill>
                <a:latin typeface="Calibri"/>
              </a:rPr>
              <a:t>The team, to Meera's chief of staff</a:t>
            </a:r>
          </a:p>
        </p:txBody>
      </p:sp>
      <p:pic>
        <p:nvPicPr>
          <p:cNvPr id="11" name="mermaid diagram" descr="4e2992764398c9ed.png"/>
          <p:cNvPicPr>
            <a:picLocks noChangeAspect="1"/>
          </p:cNvPicPr>
          <p:nvPr/>
        </p:nvPicPr>
        <p:blipFill>
          <a:blip r:embed="rId5"/>
          <a:stretch>
            <a:fillRect/>
          </a:stretch>
        </p:blipFill>
        <p:spPr>
          <a:xfrm>
            <a:off x="1509560" y="3982720"/>
            <a:ext cx="9172575" cy="871537"/>
          </a:xfrm>
          <a:prstGeom prst="rect">
            <a:avLst/>
          </a:prstGeom>
        </p:spPr>
      </p:pic>
      <p:sp>
        <p:nvSpPr>
          <p:cNvPr id="12" name="Oval 11"/>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Can a director break it?</a:t>
            </a:r>
          </a:p>
        </p:txBody>
      </p:sp>
      <p:sp>
        <p:nvSpPr>
          <p:cNvPr id="14" name="Oval 13"/>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16" name="Oval 15"/>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18" name="Oval 17"/>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20" name="Oval 19"/>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2" name="Oval 21"/>
          <p:cNvSpPr/>
          <p:nvPr/>
        </p:nvSpPr>
        <p:spPr>
          <a:xfrm>
            <a:off x="82444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5418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ships on Monday?</a:t>
            </a:r>
          </a:p>
        </p:txBody>
      </p:sp>
      <p:sp>
        <p:nvSpPr>
          <p:cNvPr id="24" name="TextBox 23"/>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S28  ·  36 / 39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The six lines the day comes down to</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Which six lines do the cheat sheet and the notes repeat word for word?</a:t>
            </a:r>
          </a:p>
        </p:txBody>
      </p:sp>
      <p:sp>
        <p:nvSpPr>
          <p:cNvPr id="9" name="TextBox 8"/>
          <p:cNvSpPr txBox="1"/>
          <p:nvPr/>
        </p:nvSpPr>
        <p:spPr>
          <a:xfrm>
            <a:off x="530352" y="1837944"/>
            <a:ext cx="502920" cy="333756"/>
          </a:xfrm>
          <a:prstGeom prst="rect">
            <a:avLst/>
          </a:prstGeom>
          <a:noFill/>
        </p:spPr>
        <p:txBody>
          <a:bodyPr wrap="square" anchor="t" lIns="0" rIns="0" tIns="0" bIns="0">
            <a:spAutoFit/>
          </a:bodyPr>
          <a:lstStyle/>
          <a:p>
            <a:pPr algn="l"/>
            <a:r>
              <a:rPr sz="1800" b="0" i="0">
                <a:solidFill>
                  <a:srgbClr val="5B3FD6"/>
                </a:solidFill>
                <a:latin typeface="Georgia"/>
              </a:rPr>
              <a:t>01</a:t>
            </a:r>
          </a:p>
        </p:txBody>
      </p:sp>
      <p:sp>
        <p:nvSpPr>
          <p:cNvPr id="10" name="TextBox 9"/>
          <p:cNvSpPr txBox="1"/>
          <p:nvPr/>
        </p:nvSpPr>
        <p:spPr>
          <a:xfrm>
            <a:off x="1097280" y="1874520"/>
            <a:ext cx="10564063" cy="627888"/>
          </a:xfrm>
          <a:prstGeom prst="rect">
            <a:avLst/>
          </a:prstGeom>
          <a:noFill/>
        </p:spPr>
        <p:txBody>
          <a:bodyPr wrap="square" anchor="t" lIns="0" rIns="0" tIns="0" bIns="0">
            <a:spAutoFit/>
          </a:bodyPr>
          <a:lstStyle/>
          <a:p>
            <a:r>
              <a:rPr sz="1500" b="0" i="0">
                <a:solidFill>
                  <a:srgbClr val="1A1440"/>
                </a:solidFill>
                <a:latin typeface="Calibri"/>
              </a:rPr>
              <a:t>Every leaf of the tree is a ratio of the pivot's sums, and the tree multiplies back to its revenue before it goes on a page.</a:t>
            </a:r>
          </a:p>
        </p:txBody>
      </p:sp>
      <p:sp>
        <p:nvSpPr>
          <p:cNvPr id="11" name="TextBox 10"/>
          <p:cNvSpPr txBox="1"/>
          <p:nvPr/>
        </p:nvSpPr>
        <p:spPr>
          <a:xfrm>
            <a:off x="530352" y="2538984"/>
            <a:ext cx="502920" cy="333756"/>
          </a:xfrm>
          <a:prstGeom prst="rect">
            <a:avLst/>
          </a:prstGeom>
          <a:noFill/>
        </p:spPr>
        <p:txBody>
          <a:bodyPr wrap="square" anchor="t" lIns="0" rIns="0" tIns="0" bIns="0">
            <a:spAutoFit/>
          </a:bodyPr>
          <a:lstStyle/>
          <a:p>
            <a:pPr algn="l"/>
            <a:r>
              <a:rPr sz="1800" b="0" i="0">
                <a:solidFill>
                  <a:srgbClr val="5B3FD6"/>
                </a:solidFill>
                <a:latin typeface="Georgia"/>
              </a:rPr>
              <a:t>02</a:t>
            </a:r>
          </a:p>
        </p:txBody>
      </p:sp>
      <p:sp>
        <p:nvSpPr>
          <p:cNvPr id="12" name="TextBox 11"/>
          <p:cNvSpPr txBox="1"/>
          <p:nvPr/>
        </p:nvSpPr>
        <p:spPr>
          <a:xfrm>
            <a:off x="1097280" y="2575560"/>
            <a:ext cx="10564063" cy="627888"/>
          </a:xfrm>
          <a:prstGeom prst="rect">
            <a:avLst/>
          </a:prstGeom>
          <a:noFill/>
        </p:spPr>
        <p:txBody>
          <a:bodyPr wrap="square" anchor="t" lIns="0" rIns="0" tIns="0" bIns="0">
            <a:spAutoFit/>
          </a:bodyPr>
          <a:lstStyle/>
          <a:p>
            <a:r>
              <a:rPr sz="1500" b="0" i="0">
                <a:solidFill>
                  <a:srgbClr val="1A1440"/>
                </a:solidFill>
                <a:latin typeface="Calibri"/>
              </a:rPr>
              <a:t>Say the grain before you pivot: count rows against keys, count each order once, and tie the total to the warehouse.</a:t>
            </a:r>
          </a:p>
        </p:txBody>
      </p:sp>
      <p:sp>
        <p:nvSpPr>
          <p:cNvPr id="13" name="TextBox 12"/>
          <p:cNvSpPr txBox="1"/>
          <p:nvPr/>
        </p:nvSpPr>
        <p:spPr>
          <a:xfrm>
            <a:off x="530352" y="3240024"/>
            <a:ext cx="502920" cy="333756"/>
          </a:xfrm>
          <a:prstGeom prst="rect">
            <a:avLst/>
          </a:prstGeom>
          <a:noFill/>
        </p:spPr>
        <p:txBody>
          <a:bodyPr wrap="square" anchor="t" lIns="0" rIns="0" tIns="0" bIns="0">
            <a:spAutoFit/>
          </a:bodyPr>
          <a:lstStyle/>
          <a:p>
            <a:pPr algn="l"/>
            <a:r>
              <a:rPr sz="1800" b="0" i="0">
                <a:solidFill>
                  <a:srgbClr val="5B3FD6"/>
                </a:solidFill>
                <a:latin typeface="Georgia"/>
              </a:rPr>
              <a:t>03</a:t>
            </a:r>
          </a:p>
        </p:txBody>
      </p:sp>
      <p:sp>
        <p:nvSpPr>
          <p:cNvPr id="14" name="TextBox 13"/>
          <p:cNvSpPr txBox="1"/>
          <p:nvPr/>
        </p:nvSpPr>
        <p:spPr>
          <a:xfrm>
            <a:off x="1097280" y="3276600"/>
            <a:ext cx="10564063" cy="627888"/>
          </a:xfrm>
          <a:prstGeom prst="rect">
            <a:avLst/>
          </a:prstGeom>
          <a:noFill/>
        </p:spPr>
        <p:txBody>
          <a:bodyPr wrap="square" anchor="t" lIns="0" rIns="0" tIns="0" bIns="0">
            <a:spAutoFit/>
          </a:bodyPr>
          <a:lstStyle/>
          <a:p>
            <a:r>
              <a:rPr sz="1500" b="0" i="0">
                <a:solidFill>
                  <a:srgbClr val="1A1440"/>
                </a:solidFill>
                <a:latin typeface="Calibri"/>
              </a:rPr>
              <a:t>A lookup that cannot find an id says so: an exact match with a not-found path, tested with an id you know is missing.</a:t>
            </a:r>
          </a:p>
        </p:txBody>
      </p:sp>
      <p:sp>
        <p:nvSpPr>
          <p:cNvPr id="15" name="TextBox 14"/>
          <p:cNvSpPr txBox="1"/>
          <p:nvPr/>
        </p:nvSpPr>
        <p:spPr>
          <a:xfrm>
            <a:off x="530352" y="3941064"/>
            <a:ext cx="502920" cy="333756"/>
          </a:xfrm>
          <a:prstGeom prst="rect">
            <a:avLst/>
          </a:prstGeom>
          <a:noFill/>
        </p:spPr>
        <p:txBody>
          <a:bodyPr wrap="square" anchor="t" lIns="0" rIns="0" tIns="0" bIns="0">
            <a:spAutoFit/>
          </a:bodyPr>
          <a:lstStyle/>
          <a:p>
            <a:pPr algn="l"/>
            <a:r>
              <a:rPr sz="1800" b="0" i="0">
                <a:solidFill>
                  <a:srgbClr val="5B3FD6"/>
                </a:solidFill>
                <a:latin typeface="Georgia"/>
              </a:rPr>
              <a:t>04</a:t>
            </a:r>
          </a:p>
        </p:txBody>
      </p:sp>
      <p:sp>
        <p:nvSpPr>
          <p:cNvPr id="16" name="TextBox 15"/>
          <p:cNvSpPr txBox="1"/>
          <p:nvPr/>
        </p:nvSpPr>
        <p:spPr>
          <a:xfrm>
            <a:off x="1097280" y="3977640"/>
            <a:ext cx="10564063" cy="627888"/>
          </a:xfrm>
          <a:prstGeom prst="rect">
            <a:avLst/>
          </a:prstGeom>
          <a:noFill/>
        </p:spPr>
        <p:txBody>
          <a:bodyPr wrap="square" anchor="t" lIns="0" rIns="0" tIns="0" bIns="0">
            <a:spAutoFit/>
          </a:bodyPr>
          <a:lstStyle/>
          <a:p>
            <a:r>
              <a:rPr sz="1500" b="0" i="0">
                <a:solidFill>
                  <a:srgbClr val="1A1440"/>
                </a:solidFill>
                <a:latin typeface="Calibri"/>
              </a:rPr>
              <a:t>One number reaches the front page with its period, its comparison and its base, and every percentage carries its rupees.</a:t>
            </a:r>
          </a:p>
        </p:txBody>
      </p:sp>
      <p:sp>
        <p:nvSpPr>
          <p:cNvPr id="17" name="TextBox 16"/>
          <p:cNvSpPr txBox="1"/>
          <p:nvPr/>
        </p:nvSpPr>
        <p:spPr>
          <a:xfrm>
            <a:off x="530352" y="4642104"/>
            <a:ext cx="502920" cy="333756"/>
          </a:xfrm>
          <a:prstGeom prst="rect">
            <a:avLst/>
          </a:prstGeom>
          <a:noFill/>
        </p:spPr>
        <p:txBody>
          <a:bodyPr wrap="square" anchor="t" lIns="0" rIns="0" tIns="0" bIns="0">
            <a:spAutoFit/>
          </a:bodyPr>
          <a:lstStyle/>
          <a:p>
            <a:pPr algn="l"/>
            <a:r>
              <a:rPr sz="1800" b="0" i="0">
                <a:solidFill>
                  <a:srgbClr val="5B3FD6"/>
                </a:solidFill>
                <a:latin typeface="Georgia"/>
              </a:rPr>
              <a:t>05</a:t>
            </a:r>
          </a:p>
        </p:txBody>
      </p:sp>
      <p:sp>
        <p:nvSpPr>
          <p:cNvPr id="18" name="TextBox 17"/>
          <p:cNvSpPr txBox="1"/>
          <p:nvPr/>
        </p:nvSpPr>
        <p:spPr>
          <a:xfrm>
            <a:off x="1097280" y="4678680"/>
            <a:ext cx="10564063" cy="627888"/>
          </a:xfrm>
          <a:prstGeom prst="rect">
            <a:avLst/>
          </a:prstGeom>
          <a:noFill/>
        </p:spPr>
        <p:txBody>
          <a:bodyPr wrap="square" anchor="t" lIns="0" rIns="0" tIns="0" bIns="0">
            <a:spAutoFit/>
          </a:bodyPr>
          <a:lstStyle/>
          <a:p>
            <a:r>
              <a:rPr sz="1500" b="0" i="0">
                <a:solidFill>
                  <a:srgbClr val="1A1440"/>
                </a:solidFill>
                <a:latin typeface="Calibri"/>
              </a:rPr>
              <a:t>The warehouse owns the number and every join, dedupe and rank Finance relies on; pandas owns the iteration; the workbook owns the last mile, and nobody types over the source.</a:t>
            </a:r>
          </a:p>
        </p:txBody>
      </p:sp>
      <p:sp>
        <p:nvSpPr>
          <p:cNvPr id="19" name="TextBox 18"/>
          <p:cNvSpPr txBox="1"/>
          <p:nvPr/>
        </p:nvSpPr>
        <p:spPr>
          <a:xfrm>
            <a:off x="530352" y="5343144"/>
            <a:ext cx="502920" cy="333756"/>
          </a:xfrm>
          <a:prstGeom prst="rect">
            <a:avLst/>
          </a:prstGeom>
          <a:noFill/>
        </p:spPr>
        <p:txBody>
          <a:bodyPr wrap="square" anchor="t" lIns="0" rIns="0" tIns="0" bIns="0">
            <a:spAutoFit/>
          </a:bodyPr>
          <a:lstStyle/>
          <a:p>
            <a:pPr algn="l"/>
            <a:r>
              <a:rPr sz="1800" b="0" i="0">
                <a:solidFill>
                  <a:srgbClr val="5B3FD6"/>
                </a:solidFill>
                <a:latin typeface="Georgia"/>
              </a:rPr>
              <a:t>06</a:t>
            </a:r>
          </a:p>
        </p:txBody>
      </p:sp>
      <p:sp>
        <p:nvSpPr>
          <p:cNvPr id="20" name="TextBox 19"/>
          <p:cNvSpPr txBox="1"/>
          <p:nvPr/>
        </p:nvSpPr>
        <p:spPr>
          <a:xfrm>
            <a:off x="1097280" y="5379720"/>
            <a:ext cx="10564063" cy="627888"/>
          </a:xfrm>
          <a:prstGeom prst="rect">
            <a:avLst/>
          </a:prstGeom>
          <a:noFill/>
        </p:spPr>
        <p:txBody>
          <a:bodyPr wrap="square" anchor="t" lIns="0" rIns="0" tIns="0" bIns="0">
            <a:spAutoFit/>
          </a:bodyPr>
          <a:lstStyle/>
          <a:p>
            <a:r>
              <a:rPr sz="1500" b="0" i="0">
                <a:solidFill>
                  <a:srgbClr val="1A1440"/>
                </a:solidFill>
                <a:latin typeface="Calibri"/>
              </a:rPr>
              <a:t>A director gets yellow inputs, formulas everywhere else, SUBTOTAL at every foot, and a Checks tab whose release holds whatever does not tie.</a:t>
            </a:r>
          </a:p>
        </p:txBody>
      </p:sp>
      <p:sp>
        <p:nvSpPr>
          <p:cNvPr id="21" name="Oval 20"/>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Can a director break it?</a:t>
            </a:r>
          </a:p>
        </p:txBody>
      </p:sp>
      <p:sp>
        <p:nvSpPr>
          <p:cNvPr id="23" name="Oval 22"/>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25" name="Oval 24"/>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27" name="Oval 26"/>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29" name="Oval 28"/>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31" name="Oval 30"/>
          <p:cNvSpPr/>
          <p:nvPr/>
        </p:nvSpPr>
        <p:spPr>
          <a:xfrm>
            <a:off x="82444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35418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ships on Monday?</a:t>
            </a:r>
          </a:p>
        </p:txBody>
      </p:sp>
      <p:sp>
        <p:nvSpPr>
          <p:cNvPr id="33" name="TextBox 32"/>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S29  ·  37 / 39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Kahoot: eight items, one from Thursday</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does the room still get wrong, fast?</a:t>
            </a:r>
          </a:p>
        </p:txBody>
      </p:sp>
      <p:sp>
        <p:nvSpPr>
          <p:cNvPr id="9" name="TextBox 8"/>
          <p:cNvSpPr txBox="1"/>
          <p:nvPr/>
        </p:nvSpPr>
        <p:spPr>
          <a:xfrm>
            <a:off x="530352"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8</a:t>
            </a:r>
          </a:p>
        </p:txBody>
      </p:sp>
      <p:sp>
        <p:nvSpPr>
          <p:cNvPr id="10" name="TextBox 9"/>
          <p:cNvSpPr txBox="1"/>
          <p:nvPr/>
        </p:nvSpPr>
        <p:spPr>
          <a:xfrm>
            <a:off x="530352"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ITEMS</a:t>
            </a:r>
          </a:p>
        </p:txBody>
      </p:sp>
      <p:sp>
        <p:nvSpPr>
          <p:cNvPr id="11" name="TextBox 10"/>
          <p:cNvSpPr txBox="1"/>
          <p:nvPr/>
        </p:nvSpPr>
        <p:spPr>
          <a:xfrm>
            <a:off x="530352"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including Thursday's return question</a:t>
            </a:r>
          </a:p>
        </p:txBody>
      </p:sp>
      <p:sp>
        <p:nvSpPr>
          <p:cNvPr id="12" name="Rectangle 11"/>
          <p:cNvSpPr/>
          <p:nvPr/>
        </p:nvSpPr>
        <p:spPr>
          <a:xfrm>
            <a:off x="530352"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33007" y="1956816"/>
            <a:ext cx="5428335" cy="698500"/>
          </a:xfrm>
          <a:prstGeom prst="rect">
            <a:avLst/>
          </a:prstGeom>
          <a:noFill/>
        </p:spPr>
        <p:txBody>
          <a:bodyPr wrap="square" anchor="t" lIns="0" rIns="0" tIns="0" bIns="0">
            <a:spAutoFit/>
          </a:bodyPr>
          <a:lstStyle/>
          <a:p>
            <a:pPr algn="l"/>
            <a:r>
              <a:rPr sz="4400" b="0" i="0">
                <a:solidFill>
                  <a:srgbClr val="5B3FD6"/>
                </a:solidFill>
                <a:latin typeface="Georgia"/>
              </a:rPr>
              <a:t>0</a:t>
            </a:r>
          </a:p>
        </p:txBody>
      </p:sp>
      <p:sp>
        <p:nvSpPr>
          <p:cNvPr id="14" name="TextBox 13"/>
          <p:cNvSpPr txBox="1"/>
          <p:nvPr/>
        </p:nvSpPr>
        <p:spPr>
          <a:xfrm>
            <a:off x="6233007" y="2691892"/>
            <a:ext cx="5428335" cy="168656"/>
          </a:xfrm>
          <a:prstGeom prst="rect">
            <a:avLst/>
          </a:prstGeom>
          <a:noFill/>
        </p:spPr>
        <p:txBody>
          <a:bodyPr wrap="square" anchor="t" lIns="0" rIns="0" tIns="0" bIns="0">
            <a:spAutoFit/>
          </a:bodyPr>
          <a:lstStyle/>
          <a:p>
            <a:pPr algn="l"/>
            <a:r>
              <a:rPr sz="800" b="1" i="0" spc="250">
                <a:solidFill>
                  <a:srgbClr val="1A0F5C"/>
                </a:solidFill>
                <a:latin typeface="Calibri"/>
              </a:rPr>
              <a:t>GRADES</a:t>
            </a:r>
          </a:p>
        </p:txBody>
      </p:sp>
      <p:sp>
        <p:nvSpPr>
          <p:cNvPr id="15" name="TextBox 14"/>
          <p:cNvSpPr txBox="1"/>
          <p:nvPr/>
        </p:nvSpPr>
        <p:spPr>
          <a:xfrm>
            <a:off x="6233007" y="2893060"/>
            <a:ext cx="5428335" cy="193421"/>
          </a:xfrm>
          <a:prstGeom prst="rect">
            <a:avLst/>
          </a:prstGeom>
          <a:noFill/>
        </p:spPr>
        <p:txBody>
          <a:bodyPr wrap="square" anchor="t" lIns="0" rIns="0" tIns="0" bIns="0">
            <a:spAutoFit/>
          </a:bodyPr>
          <a:lstStyle/>
          <a:p>
            <a:pPr algn="l"/>
            <a:r>
              <a:rPr sz="950" b="0" i="0">
                <a:solidFill>
                  <a:srgbClr val="6B6690"/>
                </a:solidFill>
                <a:latin typeface="Calibri"/>
              </a:rPr>
              <a:t>a performance indicator only</a:t>
            </a:r>
          </a:p>
        </p:txBody>
      </p:sp>
      <p:sp>
        <p:nvSpPr>
          <p:cNvPr id="16" name="Rectangle 15"/>
          <p:cNvSpPr/>
          <p:nvPr/>
        </p:nvSpPr>
        <p:spPr>
          <a:xfrm>
            <a:off x="6233007" y="3145536"/>
            <a:ext cx="5428335" cy="10972"/>
          </a:xfrm>
          <a:prstGeom prst="rect">
            <a:avLst/>
          </a:prstGeom>
          <a:solidFill>
            <a:srgbClr val="E4E1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mermaid diagram" descr="6afaaa40dbdee4fa.png"/>
          <p:cNvPicPr>
            <a:picLocks noChangeAspect="1"/>
          </p:cNvPicPr>
          <p:nvPr/>
        </p:nvPicPr>
        <p:blipFill>
          <a:blip r:embed="rId5"/>
          <a:stretch>
            <a:fillRect/>
          </a:stretch>
        </p:blipFill>
        <p:spPr>
          <a:xfrm>
            <a:off x="3159766" y="3419856"/>
            <a:ext cx="5872162" cy="1371600"/>
          </a:xfrm>
          <a:prstGeom prst="rect">
            <a:avLst/>
          </a:prstGeom>
        </p:spPr>
      </p:pic>
      <p:sp>
        <p:nvSpPr>
          <p:cNvPr id="18" name="Oval 17"/>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Can a director break it?</a:t>
            </a:r>
          </a:p>
        </p:txBody>
      </p:sp>
      <p:sp>
        <p:nvSpPr>
          <p:cNvPr id="20" name="Oval 19"/>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22" name="Oval 21"/>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24" name="Oval 23"/>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26" name="Oval 25"/>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28" name="Oval 27"/>
          <p:cNvSpPr/>
          <p:nvPr/>
        </p:nvSpPr>
        <p:spPr>
          <a:xfrm>
            <a:off x="82444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35418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ships on Monday?</a:t>
            </a:r>
          </a:p>
        </p:txBody>
      </p:sp>
      <p:sp>
        <p:nvSpPr>
          <p:cNvPr id="30" name="TextBox 29"/>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S30  ·  38 / 39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light.jpg"/>
          <p:cNvPicPr>
            <a:picLocks noChangeAspect="1"/>
          </p:cNvPicPr>
          <p:nvPr/>
        </p:nvPicPr>
        <p:blipFill>
          <a:blip r:embed="rId2"/>
          <a:stretch>
            <a:fillRect/>
          </a:stretch>
        </p:blipFill>
        <p:spPr>
          <a:xfrm>
            <a:off x="0" y="0"/>
            <a:ext cx="12191695" cy="6858000"/>
          </a:xfrm>
          <a:prstGeom prst="rect">
            <a:avLst/>
          </a:prstGeom>
        </p:spPr>
      </p:pic>
      <p:pic>
        <p:nvPicPr>
          <p:cNvPr id="3" name="Picture 2" descr="iitgn_logo.png"/>
          <p:cNvPicPr>
            <a:picLocks noChangeAspect="1"/>
          </p:cNvPicPr>
          <p:nvPr/>
        </p:nvPicPr>
        <p:blipFill>
          <a:blip r:embed="rId3"/>
          <a:stretch>
            <a:fillRect/>
          </a:stretch>
        </p:blipFill>
        <p:spPr>
          <a:xfrm>
            <a:off x="530352" y="201168"/>
            <a:ext cx="420624" cy="420624"/>
          </a:xfrm>
          <a:prstGeom prst="rect">
            <a:avLst/>
          </a:prstGeom>
        </p:spPr>
      </p:pic>
      <p:sp>
        <p:nvSpPr>
          <p:cNvPr id="4" name="TextBox 3"/>
          <p:cNvSpPr txBox="1"/>
          <p:nvPr/>
        </p:nvSpPr>
        <p:spPr>
          <a:xfrm>
            <a:off x="1042416" y="228600"/>
            <a:ext cx="5120640" cy="185166"/>
          </a:xfrm>
          <a:prstGeom prst="rect">
            <a:avLst/>
          </a:prstGeom>
          <a:noFill/>
        </p:spPr>
        <p:txBody>
          <a:bodyPr wrap="square" anchor="t" lIns="0" rIns="0" tIns="0" bIns="0">
            <a:spAutoFit/>
          </a:bodyPr>
          <a:lstStyle/>
          <a:p>
            <a:pPr algn="l"/>
            <a:r>
              <a:rPr sz="900" b="1" i="0">
                <a:solidFill>
                  <a:srgbClr val="1A0F5C"/>
                </a:solidFill>
                <a:latin typeface="Calibri"/>
              </a:rPr>
              <a:t>Indian Institute of Technology Gandhinagar</a:t>
            </a:r>
          </a:p>
        </p:txBody>
      </p:sp>
      <p:sp>
        <p:nvSpPr>
          <p:cNvPr id="5" name="TextBox 4"/>
          <p:cNvSpPr txBox="1"/>
          <p:nvPr/>
        </p:nvSpPr>
        <p:spPr>
          <a:xfrm>
            <a:off x="1042416" y="420623"/>
            <a:ext cx="5852160" cy="127381"/>
          </a:xfrm>
          <a:prstGeom prst="rect">
            <a:avLst/>
          </a:prstGeom>
          <a:noFill/>
        </p:spPr>
        <p:txBody>
          <a:bodyPr wrap="square" anchor="t" lIns="0" rIns="0" tIns="0" bIns="0">
            <a:spAutoFit/>
          </a:bodyPr>
          <a:lstStyle/>
          <a:p>
            <a:pPr algn="l"/>
            <a:r>
              <a:rPr sz="550" b="1" i="0" spc="300">
                <a:solidFill>
                  <a:srgbClr val="6B6690"/>
                </a:solidFill>
                <a:latin typeface="Calibri"/>
              </a:rPr>
              <a:t>ADMINISTERED THROUGH THE COMPETENCY ADVANCEMENT ACADEMY</a:t>
            </a:r>
          </a:p>
        </p:txBody>
      </p:sp>
      <p:sp>
        <p:nvSpPr>
          <p:cNvPr id="6" name="TextBox 5"/>
          <p:cNvSpPr txBox="1"/>
          <p:nvPr/>
        </p:nvSpPr>
        <p:spPr>
          <a:xfrm>
            <a:off x="5992063" y="310896"/>
            <a:ext cx="5669280" cy="127381"/>
          </a:xfrm>
          <a:prstGeom prst="rect">
            <a:avLst/>
          </a:prstGeom>
          <a:noFill/>
        </p:spPr>
        <p:txBody>
          <a:bodyPr wrap="square" anchor="t" lIns="0" rIns="0" tIns="0" bIns="0">
            <a:spAutoFit/>
          </a:bodyPr>
          <a:lstStyle/>
          <a:p>
            <a:pPr algn="r"/>
            <a:r>
              <a:rPr sz="550" b="1" i="0" spc="300">
                <a:solidFill>
                  <a:srgbClr val="6B6690"/>
                </a:solidFill>
                <a:latin typeface="Calibri"/>
              </a:rPr>
              <a:t>WEEK 2  ·  DAY 5  ·  KALPA GLOBAL CAPABILITY CENTRE</a:t>
            </a:r>
          </a:p>
        </p:txBody>
      </p:sp>
      <p:sp>
        <p:nvSpPr>
          <p:cNvPr id="7" name="TextBox 6"/>
          <p:cNvSpPr txBox="1"/>
          <p:nvPr/>
        </p:nvSpPr>
        <p:spPr>
          <a:xfrm>
            <a:off x="530352" y="676656"/>
            <a:ext cx="11130991" cy="512064"/>
          </a:xfrm>
          <a:prstGeom prst="rect">
            <a:avLst/>
          </a:prstGeom>
          <a:noFill/>
        </p:spPr>
        <p:txBody>
          <a:bodyPr wrap="square" anchor="b" lIns="0" rIns="0" tIns="0" bIns="0">
            <a:spAutoFit/>
          </a:bodyPr>
          <a:lstStyle/>
          <a:p>
            <a:pPr algn="l"/>
            <a:r>
              <a:rPr sz="2600" b="0" i="0">
                <a:solidFill>
                  <a:srgbClr val="1A0F5C"/>
                </a:solidFill>
                <a:latin typeface="Georgia"/>
              </a:rPr>
              <a:t>Tomorrow the paper; Monday, a new business</a:t>
            </a:r>
          </a:p>
        </p:txBody>
      </p:sp>
      <p:sp>
        <p:nvSpPr>
          <p:cNvPr id="8" name="TextBox 7"/>
          <p:cNvSpPr txBox="1"/>
          <p:nvPr/>
        </p:nvSpPr>
        <p:spPr>
          <a:xfrm>
            <a:off x="530352" y="1243584"/>
            <a:ext cx="11130991" cy="234696"/>
          </a:xfrm>
          <a:prstGeom prst="rect">
            <a:avLst/>
          </a:prstGeom>
          <a:noFill/>
        </p:spPr>
        <p:txBody>
          <a:bodyPr wrap="square" anchor="t" lIns="0" rIns="0" tIns="0" bIns="0">
            <a:spAutoFit/>
          </a:bodyPr>
          <a:lstStyle/>
          <a:p>
            <a:pPr algn="l"/>
            <a:r>
              <a:rPr sz="1200" b="0" i="0">
                <a:solidFill>
                  <a:srgbClr val="6B6690"/>
                </a:solidFill>
                <a:latin typeface="Calibri"/>
              </a:rPr>
              <a:t>What comes next, and which question is left open?</a:t>
            </a:r>
          </a:p>
        </p:txBody>
      </p:sp>
      <p:sp>
        <p:nvSpPr>
          <p:cNvPr id="9" name="Rounded Rectangle 8"/>
          <p:cNvSpPr/>
          <p:nvPr/>
        </p:nvSpPr>
        <p:spPr>
          <a:xfrm>
            <a:off x="53035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31519"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1" name="Picture 10" descr="pen-line_3985a040f10f.png"/>
          <p:cNvPicPr>
            <a:picLocks noChangeAspect="1"/>
          </p:cNvPicPr>
          <p:nvPr/>
        </p:nvPicPr>
        <p:blipFill>
          <a:blip r:embed="rId4"/>
          <a:stretch>
            <a:fillRect/>
          </a:stretch>
        </p:blipFill>
        <p:spPr>
          <a:xfrm>
            <a:off x="841247" y="2267712"/>
            <a:ext cx="237744" cy="237744"/>
          </a:xfrm>
          <a:prstGeom prst="rect">
            <a:avLst/>
          </a:prstGeom>
        </p:spPr>
      </p:pic>
      <p:sp>
        <p:nvSpPr>
          <p:cNvPr id="12" name="TextBox 11"/>
          <p:cNvSpPr txBox="1"/>
          <p:nvPr/>
        </p:nvSpPr>
        <p:spPr>
          <a:xfrm>
            <a:off x="731519"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SATURDAY</a:t>
            </a:r>
          </a:p>
        </p:txBody>
      </p:sp>
      <p:sp>
        <p:nvSpPr>
          <p:cNvPr id="13" name="TextBox 12"/>
          <p:cNvSpPr txBox="1"/>
          <p:nvPr/>
        </p:nvSpPr>
        <p:spPr>
          <a:xfrm>
            <a:off x="731519"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The recap paper</a:t>
            </a:r>
          </a:p>
        </p:txBody>
      </p:sp>
      <p:sp>
        <p:nvSpPr>
          <p:cNvPr id="14" name="TextBox 13"/>
          <p:cNvSpPr txBox="1"/>
          <p:nvPr/>
        </p:nvSpPr>
        <p:spPr>
          <a:xfrm>
            <a:off x="731519"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Pen and paper, AI-free, two hours; bring a pen.</a:t>
            </a:r>
          </a:p>
        </p:txBody>
      </p:sp>
      <p:sp>
        <p:nvSpPr>
          <p:cNvPr id="15" name="Rounded Rectangle 14"/>
          <p:cNvSpPr/>
          <p:nvPr/>
        </p:nvSpPr>
        <p:spPr>
          <a:xfrm>
            <a:off x="4301642" y="1956816"/>
            <a:ext cx="3588410" cy="1964436"/>
          </a:xfrm>
          <a:prstGeom prst="roundRect">
            <a:avLst>
              <a:gd name="adj" fmla="val 5000"/>
            </a:avLst>
          </a:prstGeom>
          <a:solidFill>
            <a:srgbClr val="FFFFFF"/>
          </a:solidFill>
          <a:ln w="9525">
            <a:solidFill>
              <a:srgbClr val="E4E1F1"/>
            </a:solid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502810" y="2157984"/>
            <a:ext cx="457200" cy="457200"/>
          </a:xfrm>
          <a:prstGeom prst="ellipse">
            <a:avLst/>
          </a:prstGeom>
          <a:solidFill>
            <a:srgbClr val="EEEA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 name="Picture 16" descr="flask-conical_7f5aa1048f78.png"/>
          <p:cNvPicPr>
            <a:picLocks noChangeAspect="1"/>
          </p:cNvPicPr>
          <p:nvPr/>
        </p:nvPicPr>
        <p:blipFill>
          <a:blip r:embed="rId5"/>
          <a:stretch>
            <a:fillRect/>
          </a:stretch>
        </p:blipFill>
        <p:spPr>
          <a:xfrm>
            <a:off x="4612538" y="2267712"/>
            <a:ext cx="237744" cy="237744"/>
          </a:xfrm>
          <a:prstGeom prst="rect">
            <a:avLst/>
          </a:prstGeom>
        </p:spPr>
      </p:pic>
      <p:sp>
        <p:nvSpPr>
          <p:cNvPr id="18" name="TextBox 17"/>
          <p:cNvSpPr txBox="1"/>
          <p:nvPr/>
        </p:nvSpPr>
        <p:spPr>
          <a:xfrm>
            <a:off x="4502810" y="2724912"/>
            <a:ext cx="3186074" cy="160401"/>
          </a:xfrm>
          <a:prstGeom prst="rect">
            <a:avLst/>
          </a:prstGeom>
          <a:noFill/>
        </p:spPr>
        <p:txBody>
          <a:bodyPr wrap="square" anchor="t" lIns="0" rIns="0" tIns="0" bIns="0">
            <a:spAutoFit/>
          </a:bodyPr>
          <a:lstStyle/>
          <a:p>
            <a:pPr algn="l"/>
            <a:r>
              <a:rPr sz="750" b="1" i="0" spc="250">
                <a:solidFill>
                  <a:srgbClr val="5B3FD6"/>
                </a:solidFill>
                <a:latin typeface="Calibri"/>
              </a:rPr>
              <a:t>MONDAY</a:t>
            </a:r>
          </a:p>
        </p:txBody>
      </p:sp>
      <p:sp>
        <p:nvSpPr>
          <p:cNvPr id="19" name="TextBox 18"/>
          <p:cNvSpPr txBox="1"/>
          <p:nvPr/>
        </p:nvSpPr>
        <p:spPr>
          <a:xfrm>
            <a:off x="4502810" y="2962656"/>
            <a:ext cx="3186074" cy="267716"/>
          </a:xfrm>
          <a:prstGeom prst="rect">
            <a:avLst/>
          </a:prstGeom>
          <a:noFill/>
        </p:spPr>
        <p:txBody>
          <a:bodyPr wrap="square" anchor="t" lIns="0" rIns="0" tIns="0" bIns="0">
            <a:spAutoFit/>
          </a:bodyPr>
          <a:lstStyle/>
          <a:p>
            <a:pPr algn="l"/>
            <a:r>
              <a:rPr sz="1400" b="1" i="0">
                <a:solidFill>
                  <a:srgbClr val="1A0F5C"/>
                </a:solidFill>
                <a:latin typeface="Calibri"/>
              </a:rPr>
              <a:t>Build 1, Kalpa Health</a:t>
            </a:r>
          </a:p>
        </p:txBody>
      </p:sp>
      <p:sp>
        <p:nvSpPr>
          <p:cNvPr id="20" name="TextBox 19"/>
          <p:cNvSpPr txBox="1"/>
          <p:nvPr/>
        </p:nvSpPr>
        <p:spPr>
          <a:xfrm>
            <a:off x="4502810" y="3303524"/>
            <a:ext cx="3186074" cy="399796"/>
          </a:xfrm>
          <a:prstGeom prst="rect">
            <a:avLst/>
          </a:prstGeom>
          <a:noFill/>
        </p:spPr>
        <p:txBody>
          <a:bodyPr wrap="square" anchor="t" lIns="0" rIns="0" tIns="0" bIns="0">
            <a:spAutoFit/>
          </a:bodyPr>
          <a:lstStyle/>
          <a:p>
            <a:pPr algn="l"/>
            <a:r>
              <a:rPr sz="1100" b="0" i="0">
                <a:solidFill>
                  <a:srgbClr val="6B6690"/>
                </a:solidFill>
                <a:latin typeface="Calibri"/>
              </a:rPr>
              <a:t>A US diagnostics and revenue-cycle business that grew 5 percent against a plan of 18.</a:t>
            </a:r>
          </a:p>
        </p:txBody>
      </p:sp>
      <p:sp>
        <p:nvSpPr>
          <p:cNvPr id="21" name="Rounded Rectangle 20"/>
          <p:cNvSpPr/>
          <p:nvPr/>
        </p:nvSpPr>
        <p:spPr>
          <a:xfrm>
            <a:off x="8072932" y="1956816"/>
            <a:ext cx="3588410" cy="1964436"/>
          </a:xfrm>
          <a:prstGeom prst="roundRect">
            <a:avLst>
              <a:gd name="adj" fmla="val 5000"/>
            </a:avLst>
          </a:prstGeom>
          <a:gradFill rotWithShape="1">
            <a:gsLst>
              <a:gs pos="0">
                <a:srgbClr val="2C1A86"/>
              </a:gs>
              <a:gs pos="100000">
                <a:srgbClr val="1A0F5C"/>
              </a:gs>
            </a:gsLst>
            <a:lin scaled="0" ang="16200000"/>
          </a:gradFill>
          <a:ln>
            <a:noFill/>
          </a:ln>
          <a:effectLst>
            <a:outerShdw blurRad="76200" dist="19050" dir="5400000" algn="bl" rotWithShape="0">
              <a:srgbClr val="1A0F5C">
                <a:alpha val="1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8274100" y="2157984"/>
            <a:ext cx="457200" cy="457200"/>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23" name="Picture 22" descr="circle-help_e970ab2886cf.png"/>
          <p:cNvPicPr>
            <a:picLocks noChangeAspect="1"/>
          </p:cNvPicPr>
          <p:nvPr/>
        </p:nvPicPr>
        <p:blipFill>
          <a:blip r:embed="rId6"/>
          <a:stretch>
            <a:fillRect/>
          </a:stretch>
        </p:blipFill>
        <p:spPr>
          <a:xfrm>
            <a:off x="8383828" y="2267712"/>
            <a:ext cx="237744" cy="237744"/>
          </a:xfrm>
          <a:prstGeom prst="rect">
            <a:avLst/>
          </a:prstGeom>
        </p:spPr>
      </p:pic>
      <p:sp>
        <p:nvSpPr>
          <p:cNvPr id="24" name="TextBox 23"/>
          <p:cNvSpPr txBox="1"/>
          <p:nvPr/>
        </p:nvSpPr>
        <p:spPr>
          <a:xfrm>
            <a:off x="8274100" y="2724912"/>
            <a:ext cx="3186074" cy="160401"/>
          </a:xfrm>
          <a:prstGeom prst="rect">
            <a:avLst/>
          </a:prstGeom>
          <a:noFill/>
        </p:spPr>
        <p:txBody>
          <a:bodyPr wrap="square" anchor="t" lIns="0" rIns="0" tIns="0" bIns="0">
            <a:spAutoFit/>
          </a:bodyPr>
          <a:lstStyle/>
          <a:p>
            <a:pPr algn="l"/>
            <a:r>
              <a:rPr sz="750" b="1" i="0" spc="250">
                <a:solidFill>
                  <a:srgbClr val="D9A7FF"/>
                </a:solidFill>
                <a:latin typeface="Calibri"/>
              </a:rPr>
              <a:t>LEFT OPEN</a:t>
            </a:r>
          </a:p>
        </p:txBody>
      </p:sp>
      <p:sp>
        <p:nvSpPr>
          <p:cNvPr id="25" name="TextBox 24"/>
          <p:cNvSpPr txBox="1"/>
          <p:nvPr/>
        </p:nvSpPr>
        <p:spPr>
          <a:xfrm>
            <a:off x="8274100" y="2962656"/>
            <a:ext cx="3186074" cy="267716"/>
          </a:xfrm>
          <a:prstGeom prst="rect">
            <a:avLst/>
          </a:prstGeom>
          <a:noFill/>
        </p:spPr>
        <p:txBody>
          <a:bodyPr wrap="square" anchor="t" lIns="0" rIns="0" tIns="0" bIns="0">
            <a:spAutoFit/>
          </a:bodyPr>
          <a:lstStyle/>
          <a:p>
            <a:pPr algn="l"/>
            <a:r>
              <a:rPr sz="1400" b="1" i="0">
                <a:solidFill>
                  <a:srgbClr val="FFFFFF"/>
                </a:solidFill>
                <a:latin typeface="Calibri"/>
              </a:rPr>
              <a:t>Monday's question</a:t>
            </a:r>
          </a:p>
        </p:txBody>
      </p:sp>
      <p:sp>
        <p:nvSpPr>
          <p:cNvPr id="26" name="TextBox 25"/>
          <p:cNvSpPr txBox="1"/>
          <p:nvPr/>
        </p:nvSpPr>
        <p:spPr>
          <a:xfrm>
            <a:off x="8274100" y="3303524"/>
            <a:ext cx="3186074" cy="399796"/>
          </a:xfrm>
          <a:prstGeom prst="rect">
            <a:avLst/>
          </a:prstGeom>
          <a:noFill/>
        </p:spPr>
        <p:txBody>
          <a:bodyPr wrap="square" anchor="t" lIns="0" rIns="0" tIns="0" bIns="0">
            <a:spAutoFit/>
          </a:bodyPr>
          <a:lstStyle/>
          <a:p>
            <a:pPr algn="l"/>
            <a:r>
              <a:rPr sz="1100" b="0" i="0">
                <a:solidFill>
                  <a:srgbClr val="CFC9EE"/>
                </a:solidFill>
                <a:latin typeface="Calibri"/>
              </a:rPr>
              <a:t>What is an order, a customer and a payment there, and what does one row stand for?</a:t>
            </a:r>
          </a:p>
        </p:txBody>
      </p:sp>
      <p:sp>
        <p:nvSpPr>
          <p:cNvPr id="27" name="Oval 26"/>
          <p:cNvSpPr/>
          <p:nvPr/>
        </p:nvSpPr>
        <p:spPr>
          <a:xfrm>
            <a:off x="53035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40080"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Can a director break it?</a:t>
            </a:r>
          </a:p>
        </p:txBody>
      </p:sp>
      <p:sp>
        <p:nvSpPr>
          <p:cNvPr id="29" name="Oval 28"/>
          <p:cNvSpPr/>
          <p:nvPr/>
        </p:nvSpPr>
        <p:spPr>
          <a:xfrm>
            <a:off x="2109977"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219706" y="6437376"/>
            <a:ext cx="1286446" cy="152146"/>
          </a:xfrm>
          <a:prstGeom prst="rect">
            <a:avLst/>
          </a:prstGeom>
          <a:noFill/>
        </p:spPr>
        <p:txBody>
          <a:bodyPr wrap="square" anchor="t" lIns="0" rIns="0" tIns="0" bIns="0">
            <a:spAutoFit/>
          </a:bodyPr>
          <a:lstStyle/>
          <a:p>
            <a:pPr algn="l"/>
            <a:r>
              <a:rPr sz="700" b="0" i="0">
                <a:solidFill>
                  <a:srgbClr val="6B6690"/>
                </a:solidFill>
                <a:latin typeface="Calibri"/>
              </a:rPr>
              <a:t>Can you ship it alone?</a:t>
            </a:r>
          </a:p>
        </p:txBody>
      </p:sp>
      <p:sp>
        <p:nvSpPr>
          <p:cNvPr id="31" name="Oval 30"/>
          <p:cNvSpPr/>
          <p:nvPr/>
        </p:nvSpPr>
        <p:spPr>
          <a:xfrm>
            <a:off x="3597592"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707320" y="6437376"/>
            <a:ext cx="1424463" cy="152146"/>
          </a:xfrm>
          <a:prstGeom prst="rect">
            <a:avLst/>
          </a:prstGeom>
          <a:noFill/>
        </p:spPr>
        <p:txBody>
          <a:bodyPr wrap="square" anchor="t" lIns="0" rIns="0" tIns="0" bIns="0">
            <a:spAutoFit/>
          </a:bodyPr>
          <a:lstStyle/>
          <a:p>
            <a:pPr algn="l"/>
            <a:r>
              <a:rPr sz="700" b="0" i="0">
                <a:solidFill>
                  <a:srgbClr val="6B6690"/>
                </a:solidFill>
                <a:latin typeface="Calibri"/>
              </a:rPr>
              <a:t>Which numbers were wrong?</a:t>
            </a:r>
          </a:p>
        </p:txBody>
      </p:sp>
      <p:sp>
        <p:nvSpPr>
          <p:cNvPr id="33" name="Oval 32"/>
          <p:cNvSpPr/>
          <p:nvPr/>
        </p:nvSpPr>
        <p:spPr>
          <a:xfrm>
            <a:off x="5223224"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5332952" y="6437376"/>
            <a:ext cx="1378457" cy="152146"/>
          </a:xfrm>
          <a:prstGeom prst="rect">
            <a:avLst/>
          </a:prstGeom>
          <a:noFill/>
        </p:spPr>
        <p:txBody>
          <a:bodyPr wrap="square" anchor="t" lIns="0" rIns="0" tIns="0" bIns="0">
            <a:spAutoFit/>
          </a:bodyPr>
          <a:lstStyle/>
          <a:p>
            <a:pPr algn="l"/>
            <a:r>
              <a:rPr sz="700" b="0" i="0">
                <a:solidFill>
                  <a:srgbClr val="6B6690"/>
                </a:solidFill>
                <a:latin typeface="Calibri"/>
              </a:rPr>
              <a:t>Where does five lakh go?</a:t>
            </a:r>
          </a:p>
        </p:txBody>
      </p:sp>
      <p:sp>
        <p:nvSpPr>
          <p:cNvPr id="35" name="Oval 34"/>
          <p:cNvSpPr/>
          <p:nvPr/>
        </p:nvSpPr>
        <p:spPr>
          <a:xfrm>
            <a:off x="6802850" y="6492240"/>
            <a:ext cx="64008" cy="64008"/>
          </a:xfrm>
          <a:prstGeom prst="ellipse">
            <a:avLst/>
          </a:prstGeom>
          <a:solidFill>
            <a:srgbClr val="CFC9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912578" y="6437376"/>
            <a:ext cx="1240440" cy="152146"/>
          </a:xfrm>
          <a:prstGeom prst="rect">
            <a:avLst/>
          </a:prstGeom>
          <a:noFill/>
        </p:spPr>
        <p:txBody>
          <a:bodyPr wrap="square" anchor="t" lIns="0" rIns="0" tIns="0" bIns="0">
            <a:spAutoFit/>
          </a:bodyPr>
          <a:lstStyle/>
          <a:p>
            <a:pPr algn="l"/>
            <a:r>
              <a:rPr sz="700" b="0" i="0">
                <a:solidFill>
                  <a:srgbClr val="6B6690"/>
                </a:solidFill>
                <a:latin typeface="Calibri"/>
              </a:rPr>
              <a:t>Can you say it aloud?</a:t>
            </a:r>
          </a:p>
        </p:txBody>
      </p:sp>
      <p:sp>
        <p:nvSpPr>
          <p:cNvPr id="37" name="Oval 36"/>
          <p:cNvSpPr/>
          <p:nvPr/>
        </p:nvSpPr>
        <p:spPr>
          <a:xfrm>
            <a:off x="8244458" y="6492240"/>
            <a:ext cx="64008" cy="64008"/>
          </a:xfrm>
          <a:prstGeom prst="ellipse">
            <a:avLst/>
          </a:prstGeom>
          <a:solidFill>
            <a:srgbClr val="5B3F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8354186" y="6437376"/>
            <a:ext cx="1240440" cy="152146"/>
          </a:xfrm>
          <a:prstGeom prst="rect">
            <a:avLst/>
          </a:prstGeom>
          <a:noFill/>
        </p:spPr>
        <p:txBody>
          <a:bodyPr wrap="square" anchor="t" lIns="0" rIns="0" tIns="0" bIns="0">
            <a:spAutoFit/>
          </a:bodyPr>
          <a:lstStyle/>
          <a:p>
            <a:pPr algn="l"/>
            <a:r>
              <a:rPr sz="700" b="1" i="0">
                <a:solidFill>
                  <a:srgbClr val="5B3FD6"/>
                </a:solidFill>
                <a:latin typeface="Calibri"/>
              </a:rPr>
              <a:t>What ships on Monday?</a:t>
            </a:r>
          </a:p>
        </p:txBody>
      </p:sp>
      <p:sp>
        <p:nvSpPr>
          <p:cNvPr id="39" name="TextBox 38"/>
          <p:cNvSpPr txBox="1"/>
          <p:nvPr/>
        </p:nvSpPr>
        <p:spPr>
          <a:xfrm>
            <a:off x="10198303" y="6437376"/>
            <a:ext cx="1463040" cy="160401"/>
          </a:xfrm>
          <a:prstGeom prst="rect">
            <a:avLst/>
          </a:prstGeom>
          <a:noFill/>
        </p:spPr>
        <p:txBody>
          <a:bodyPr wrap="square" anchor="t" lIns="0" rIns="0" tIns="0" bIns="0">
            <a:spAutoFit/>
          </a:bodyPr>
          <a:lstStyle/>
          <a:p>
            <a:pPr algn="r"/>
            <a:r>
              <a:rPr sz="750" b="0" i="0">
                <a:solidFill>
                  <a:srgbClr val="6B6690"/>
                </a:solidFill>
                <a:latin typeface="Calibri"/>
              </a:rPr>
              <a:t>S31  ·  39 / 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