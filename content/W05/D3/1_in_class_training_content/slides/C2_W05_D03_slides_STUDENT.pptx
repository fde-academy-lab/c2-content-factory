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1 minute. Read the quote and stop. Do not explain it yet; chapter 3 does. Today's whole day</a:t>
            </a:r>
          </a:p>
          <a:p>
            <a:r>
              <a:t>hangs on the gap between a score measured on a table built after the outcome and a model that has</a:t>
            </a:r>
          </a:p>
          <a:p>
            <a:r>
              <a:t>to run before it. Transition: the five topics and the case.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1 minute. Monday framed the call list and set the baseline of 0.887; Tuesday read the same</a:t>
            </a:r>
          </a:p>
          <a:p>
            <a:r>
              <a:t>model through recall and the Rs 40 against Rs 1,200 bill. Today decides what goes into the model.</a:t>
            </a:r>
          </a:p>
          <a:p>
            <a:r>
              <a:t>Thursday tunes on today's feature set; Build 2 moves the method to Rohan's lending book.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1 minute. This is the picture the room redraws every night. Point at the thick line: the</a:t>
            </a:r>
          </a:p>
          <a:p>
            <a:r>
              <a:t>moment the call list is made. Today's question sits in the orange card. Ask the room to keep one</a:t>
            </a:r>
          </a:p>
          <a:p>
            <a:r>
              <a:t>hand on that line all day: every column is either left of it or right of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3 minutes. Read the Kalpa row aloud and take a prediction before anything else: what happens</a:t>
            </a:r>
          </a:p>
          <a:p>
            <a:r>
              <a:t>to the 0.99 once the platform lead's remark is taken seriously? Write the room's guesses on the</a:t>
            </a:r>
          </a:p>
          <a:p>
            <a:r>
              <a:t>board; chapter 3 settles them. The bank row is the same file as Monday; the jump is measured in</a:t>
            </a:r>
          </a:p>
          <a:p>
            <a:r>
              <a:t>case 1. Transition: the five topics that get us there.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1 minute. Read the second column once; these are the words to search later. Each concept</a:t>
            </a:r>
          </a:p>
          <a:p>
            <a:r>
              <a:t>chapter teaches on an invented Kalpa table, and each case chapter names the topics it applies.</a:t>
            </a:r>
          </a:p>
          <a:p>
            <a:r>
              <a:t>A 10-minute break follows chapter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1 minute. Week 2 gave recency, frequency and monetary; Week 4 gave cohorts and baskets;</a:t>
            </a:r>
          </a:p>
          <a:p>
            <a:r>
              <a:t>Monday gave prediction time. Today turns them into features, checks each against the clock, and</a:t>
            </a:r>
          </a:p>
          <a:p>
            <a:r>
              <a:t>reads what the model does with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30 seconds. Chapter 1, 22 minutes, notebook ch01. Eight invented Kalpa members. Laptops</a:t>
            </a:r>
          </a:p>
          <a:p>
            <a:r>
              <a:t>stay shut until slide S8.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2 minutes. The table is invented. Ask for a letter, then ask the follow-up: is the top</a:t>
            </a:r>
          </a:p>
          <a:p>
            <a:r>
              <a:t>spender the member most likely to buy in the next ninety days? Three other members (Esha, Farid,</a:t>
            </a:r>
          </a:p>
          <a:p>
            <a:r>
              <a:t>Gauri) are in the notebook.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3 minutes. Hari's bubble is the biggest and sits far right: ten months since the last</a:t>
            </a:r>
          </a:p>
          <a:p>
            <a:r>
              <a:t>order. A Rs 40 nudge to Hari reaches the member least likely to answer. Land: a raw total answers</a:t>
            </a:r>
          </a:p>
          <a:p>
            <a:r>
              <a:t>"who spent most", and Marketing asked "who buys next".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5 minutes. Count one by hand: Asha's average basket is Rs 16,800 over 24 orders, Rs 700.</a:t>
            </a:r>
          </a:p>
          <a:p>
            <a:r>
              <a:t>Dev's recency is 2 days. Ask: which of these would you have to recompute every morning? (Recency</a:t>
            </a:r>
          </a:p>
          <a:p>
            <a:r>
              <a:t>and cohort age.) Land: every feature is a sentence the business would say. Run notebook ch01 to</a:t>
            </a:r>
          </a:p>
          <a:p>
            <a:r>
              <a:t>cell 4: one line of pandas per signal, measured from NUDGE, never from today.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4 minutes. Predict first: does ringing a client more often this campaign raise the yes-rate?</a:t>
            </a:r>
          </a:p>
          <a:p>
            <a:r>
              <a:t>It falls from 13 percent at one call to 7 percent at four or more. Earlier contact helps sharply.</a:t>
            </a:r>
          </a:p>
          <a:p>
            <a:r>
              <a:t>pdays holds 999 for 96.3 percent of rows; case 2 splits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3 minutes. Read each rule with its flip. Interview line: "Engineer features from a customer</a:t>
            </a:r>
          </a:p>
          <a:p>
            <a:r>
              <a:t>table and justify each." The answer names the prediction moment first. Transition: chapter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30 seconds. Chapter 2, 18 minutes, notebook ch02. Six invented members.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2 minutes. Take letters. Then ask who chose that order: nobody did, the alphabet or the</a:t>
            </a:r>
          </a:p>
          <a:p>
            <a:r>
              <a:t>order of signups did.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2 minutes. A tree splits on city_code &lt;= 1.5 and &lt;= 2.5, so the made-up order costs it</a:t>
            </a:r>
          </a:p>
          <a:p>
            <a:r>
              <a:t>little. A linear model reads it as a straight line through the cities. Land: encoding is a model</a:t>
            </a:r>
          </a:p>
          <a:p>
            <a:r>
              <a:t>decision, never a ritual.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5 minutes. Airbnb's search team fed their first neural network the tree model's raw features</a:t>
            </a:r>
          </a:p>
          <a:p>
            <a:r>
              <a:t>and the loss stopped improving midway; normalising fixed it (Haldar and others, arXiv 1810.09591,</a:t>
            </a:r>
          </a:p>
          <a:p>
            <a:r>
              <a:t>facts in the sources file). Predict first: after standardising, is A's nearest neighbour still B? It becomes</a:t>
            </a:r>
          </a:p>
          <a:p>
            <a:r>
              <a:t>C, who also visits twice. The formula is named last: z = (value - mean) / standard deviation, with</a:t>
            </a:r>
          </a:p>
          <a:p>
            <a:r>
              <a:t>the mean and spread learned on training rows only.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3 minutes. Kahoot Q4 comes from this table: which family shrugs at unscaled features? A</a:t>
            </a:r>
          </a:p>
          <a:p>
            <a:r>
              <a:t>forty-value city is still one-hot for a logistic model; replacing a city with its average outcome</a:t>
            </a:r>
          </a:p>
          <a:p>
            <a:r>
              <a:t>comes later, because it can carry the target 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3 minutes, the mid-session drill. Letters in the chat, then the answer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2 minutes. In the bank's file default has 3 yes rows and 8,597 unknown: the unknown level</a:t>
            </a:r>
          </a:p>
          <a:p>
            <a:r>
              <a:t>carries the signal. Transition: chapter 3, the question that catches the 0.99.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30 seconds. Chapter 3, 20 minutes, notebook ch03, then the explorable. Twelve invented</a:t>
            </a:r>
          </a:p>
          <a:p>
            <a:r>
              <a:t>members.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3 minutes. This answers the S3 prediction. Take letters. Hint only if stuck: on the nudge</a:t>
            </a:r>
          </a:p>
          <a:p>
            <a:r>
              <a:t>morning, has anyone paid yet for an order in the next ninety days?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3 minutes. The column reads none for everyone on the nudge morning, so the rule says nobody</a:t>
            </a:r>
          </a:p>
          <a:p>
            <a:r>
              <a:t>buys. Land: the 0.99 was measured on a table built after the outcome; the model meets a table</a:t>
            </a:r>
          </a:p>
          <a:p>
            <a:r>
              <a:t>built before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3 minutes. Draw this on the board first, then show it. Each column is pinned at the moment</a:t>
            </a:r>
          </a:p>
          <a:p>
            <a:r>
              <a:t>it is written. Settlement sits right of the line: the payments team writes the answer in its own</a:t>
            </a:r>
          </a:p>
          <a:p>
            <a:r>
              <a:t>words.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2 minutes. Read the question aloud twice; Kahoot Q1 asks for it from memory, and tonight's</a:t>
            </a:r>
          </a:p>
          <a:p>
            <a:r>
              <a:t>recap asks for it verbatim. Leakage is any input unavailable at prediction time, however innocent</a:t>
            </a:r>
          </a:p>
          <a:p>
            <a:r>
              <a:t>it looks.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4 minutes. Open demos/C2_W05_D03_leakage_timeline_explorer_STUDENT.html at #p3 and press P</a:t>
            </a:r>
          </a:p>
          <a:p>
            <a:r>
              <a:t>for presenter mode. The room has S18's answer, so commit it on the prediction card first. Press</a:t>
            </a:r>
          </a:p>
          <a:p>
            <a:r>
              <a:t>play: the training table gives the settlement rule 12 of 12, the nudge morning blanks the column,</a:t>
            </a:r>
          </a:p>
          <a:p>
            <a:r>
              <a:t>and the rule falls to 6 of 12. Then drag the prediction moment from day +13 to day 0:</a:t>
            </a:r>
          </a:p>
          <a:p>
            <a:r>
              <a:t>coupon_redeemed and settlement_status turn red and leave, and the rule becomes orders_90d of 2 or</a:t>
            </a:r>
          </a:p>
          <a:p>
            <a:r>
              <a:t>more, 10 of 12 on both tables. Land the day's line: the score fell and the model got better. Drag</a:t>
            </a:r>
          </a:p>
          <a:p>
            <a:r>
              <a:t>on to day -2 for the flip: before last night's columns are written, the model knows nothing.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3 minutes. Narayanan, Shi and Rubinstein de-anonymised the challenge's test set with their own</a:t>
            </a:r>
          </a:p>
          <a:p>
            <a:r>
              <a:t>Flickr crawl (arXiv 1102.4374): the question that would have caught it is where each input comes</a:t>
            </a:r>
          </a:p>
          <a:p>
            <a:r>
              <a:t>from at prediction time. Interview anchor [S]: what is data leakage, and how do you catch it before it</a:t>
            </a:r>
          </a:p>
          <a:p>
            <a:r>
              <a:t>ships? 10-minute break after this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30 seconds. Chapter 4, 15 minutes, notebook ch04. Nine invented candidate columns.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2 minutes. The solution architect's seat: is it there at prediction time? The</a:t>
            </a:r>
          </a:p>
          <a:p>
            <a:r>
              <a:t>implementation engineer's seat: can the scoring service read it the same way every night?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2 minutes. Take letters with one reason each.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3 minutes. coupon_redeemed is the outcome itself. member_id is a key; if ids are issued in</a:t>
            </a:r>
          </a:p>
          <a:p>
            <a:r>
              <a:t>signup order it smuggles cohort age, which should be engineered openly. loyalty_tier is kept with</a:t>
            </a:r>
          </a:p>
          <a:p>
            <a:r>
              <a:t>a fix: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3 minutes. M07 bought, was upgraded, and today's table says Gold. A model trained on today's</a:t>
            </a:r>
          </a:p>
          <a:p>
            <a:r>
              <a:t>tier learns "Gold buys", which the purchase wrote. Fix: a snapshot, read as of the prediction</a:t>
            </a:r>
          </a:p>
          <a:p>
            <a:r>
              <a:t>morning. The question to the owner: is this field ever overwritten?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4 minutes, the mid-session drill. Ten seconds each, letters in the chat as L or 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1 minute. Number 5 is the one most of the room calls clean. Transition: chapter 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30 seconds. Chapter 5, 15 minutes, notebook ch05. Twelve invented members, a rule, and a</a:t>
            </a:r>
          </a:p>
          <a:p>
            <a:r>
              <a:t>shuffle done by hand.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4 minutes. The shuffle keeps the column's values and breaks their link to each member; a big</a:t>
            </a:r>
          </a:p>
          <a:p>
            <a:r>
              <a:t>fall means the model leans on that column, nothing more. Take letters, then run the notebook cell.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3 minutes. Visits alone costs 2, searches alone 4, both together 8, more than 2 + 4. Land:</a:t>
            </a:r>
          </a:p>
          <a:p>
            <a:r>
              <a:t>twins share credit, so shuffle them as a group and read the group.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3 minutes. Marketing proposes pushing searches up. The chart cannot say whether that moves</a:t>
            </a:r>
          </a:p>
          <a:p>
            <a:r>
              <a:t>purchases. Week 1's fair comparison can: push a random half, compare. Interview anchor [F]: what</a:t>
            </a:r>
          </a:p>
          <a:p>
            <a:r>
              <a:t>does a feature importance chart prove, and what does it not?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2 minutes. Transition: the bank. Everything so far was invented; the case is real.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30 seconds. Case 1, 20 minutes. Every learner runs case01 from the top; the first cell</a:t>
            </a:r>
          </a:p>
          <a:p>
            <a:r>
              <a:t>downloads the bank's file once.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3 minutes. Every learner writes a letter before running. This is the prediction the brief</a:t>
            </a:r>
          </a:p>
          <a:p>
            <a:r>
              <a:t>promises the room: the jump is shown only after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5 minutes. Calling nobody scores 0.887, so accuracy has no room to show the jump. Ask: a</a:t>
            </a:r>
          </a:p>
          <a:p>
            <a:r>
              <a:t>jump of 0.14 from one column; what is your first suspicion? Hold the answer for case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5 minutes. Recall at 0.5 goes 0.23 to 0.42 and the bill falls from Rs 2.80 lakh to Rs 1.19</a:t>
            </a:r>
          </a:p>
          <a:p>
            <a:r>
              <a:t>lakh: a promise of Rs 1.61 lakh saved on 8,238 calls. That promise is what the junior would take</a:t>
            </a:r>
          </a:p>
          <a:p>
            <a:r>
              <a:t>to the campaign head.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4 minutes. The implementation engineer's seat. Uber's feature store exists so a feature such as</a:t>
            </a:r>
          </a:p>
          <a:p>
            <a:r>
              <a:t>"average preparation time over the last hour" means one thing in training and in serving. On this file the means differ only in the</a:t>
            </a:r>
          </a:p>
          <a:p>
            <a:r>
              <a:t>third decimal, which is why the habit looks harmless; on a file where the future differs, it</a:t>
            </a:r>
          </a:p>
          <a:p>
            <a:r>
              <a:t>carries the future in. Then the guided notebook, 20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20 minutes. Pairs. Each pair says its reason aloud before typing. The worked answer sits</a:t>
            </a:r>
          </a:p>
          <a:p>
            <a:r>
              <a:t>below the line in the same notebook; the room opens it only after the check cell runs.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30 seconds. Case 2, 30 minutes. Never cut the audit.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2 minutes. Letters first.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4 minutes. All four calls of 0 seconds ended in no. Open the UCI page and read the duration</a:t>
            </a:r>
          </a:p>
          <a:p>
            <a:r>
              <a:t>row aloud (the trainer guide holds the exact text): the authors say the length is unknown before</a:t>
            </a:r>
          </a:p>
          <a:p>
            <a:r>
              <a:t>dialling and the column belongs in benchmarks only. A long call is often the sale being made. Ask the prediction-time question of</a:t>
            </a:r>
          </a:p>
          <a:p>
            <a:r>
              <a:t>duration aloud: on the morning the list is made, do we know how long tomorrow's call will last?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4 minutes. The quarterly and monthly indicators pass only if each figure was published</a:t>
            </a:r>
          </a:p>
          <a:p>
            <a:r>
              <a:t>before the call; that is a question for the data owner and is not verified here. The calendar flag</a:t>
            </a:r>
          </a:p>
          <a:p>
            <a:r>
              <a:t>is the next two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2 minutes. Letters first. Most of the room says 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4 minutes. emp.var.rate and nr.employed take 10 and 11 distinct values: a stamp for the</a:t>
            </a:r>
          </a:p>
          <a:p>
            <a:r>
              <a:t>quarter. On a random split every month sits in training and validation, so the model is scored</a:t>
            </a:r>
          </a:p>
          <a:p>
            <a:r>
              <a:t>partly on months it has seen. Next month's list is a month it has never seen.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4 minutes. Zech and others (PLOS Medicine 2018): the network identified the hospital system of</a:t>
            </a:r>
          </a:p>
          <a:p>
            <a:r>
              <a:t>99.95 percent of NIH images, partly from a metal token, and hospital prevalence alone ranked at 0.861.</a:t>
            </a:r>
          </a:p>
          <a:p>
            <a:r>
              <a:t>The hospital, like the month, is known when the prediction is made. Known that morning, and still borrowing each month's yes-rate through the split.</a:t>
            </a:r>
          </a:p>
          <a:p>
            <a:r>
              <a:t>Verdict: keep, flag, and write the caveat beside the score. Friday's split by time prices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3 minutes. Raw pdays has a mean of 962 days, which describes nobody. AUC barely moves after</a:t>
            </a:r>
          </a:p>
          <a:p>
            <a:r>
              <a:t>the split; the model now reads a sentence a person can say.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4 minutes. The leaked model can never deliver its promise: on the morning of the call its</a:t>
            </a:r>
          </a:p>
          <a:p>
            <a:r>
              <a:t>best column does not exist. The honest bill sits near calling everyone at these costs (Tuesday's</a:t>
            </a:r>
          </a:p>
          <a:p>
            <a:r>
              <a:t>lesson); under a budget its top 1,000 hold 462 buyers against 113 at random.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2 minutes. Close the loop on S3: the 0.99 collapses because a payment can only settle for a</a:t>
            </a:r>
          </a:p>
          <a:p>
            <a:r>
              <a:t>member who already bought. The column is the target in another team's words.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1 minute. Tonight's self-check is to redraw this from memory. Lunch after this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30 seconds. Case 3, 20 minutes. Afternoon block.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4 minutes. Three desks, one signal: when columns move together this closely the data has</a:t>
            </a:r>
          </a:p>
          <a:p>
            <a:r>
              <a:t>almost no row where one is high and another low. Letters first. This is the row's second discovery; let the room find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4 minutes. A coefficient answers "holding the others fixed", and these partners are never</a:t>
            </a:r>
          </a:p>
          <a:p>
            <a:r>
              <a:t>held fixed in the data. Read a sign alone only when the column has no close partner. Kahoot Q5.</a:t>
            </a:r>
          </a:p>
          <a:p>
            <a:r>
              <a:t>The faculty block, tentative, takes multicollinearity further.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3 minutes. The model's whole lift above a coin is 0.30. One column costing 0.34 is costing</a:t>
            </a:r>
          </a:p>
          <a:p>
            <a:r>
              <a:t>more than the model ever earned. Ask why before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3 minutes. A 2010 employment rate beside a 2008 interbank rate: an impossible client. Shuffle</a:t>
            </a:r>
          </a:p>
          <a:p>
            <a:r>
              <a:t>the five economy columns together and the cost falls to 0.14. Land: permute partners as a group.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3 minutes. Ask first: would hiring more people in Portugal raise deposits? The same holds for contact: mobile against landline ranks third, and moving every</a:t>
            </a:r>
          </a:p>
          <a:p>
            <a:r>
              <a:t>client to mobile would not move the yes-rate by that gap. A lever needs a fair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2 minutes. Then the unguided task, 20 minutes: in a blank notebook, rebuild this set from</a:t>
            </a:r>
          </a:p>
          <a:p>
            <a:r>
              <a:t>the raw file, write the audit table with a reason per column, and report the honest score. Target:</a:t>
            </a:r>
          </a:p>
          <a:p>
            <a:r>
              <a:t>0.796 to the third decimal.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6 minutes. Pairs: one asks, one answers in 60 seconds, swap. The [D] answer opens with a</a:t>
            </a:r>
          </a:p>
          <a:p>
            <a:r>
              <a:t>clarifying question: which system writes the column, and when? The model answers with follow-ups</a:t>
            </a:r>
          </a:p>
          <a:p>
            <a:r>
              <a:t>are in the interview bank.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8 minutes. Type the six into Kahoot from the trainer guide. Discuss Q2 and Q5 for a minute</a:t>
            </a:r>
          </a:p>
          <a:p>
            <a:r>
              <a:t>each; they carry the 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4 minutes. Say the ME1 scope aloud and no more. Tomorrow tunes on today's audited feature</a:t>
            </a:r>
          </a:p>
          <a:p>
            <a:r>
              <a:t>set, so every learner commits case03 with its outputs tonight.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2.xml"/><Relationship Id="rId4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6.xml"/><Relationship Id="rId4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7.png"/><Relationship Id="rId4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15.xml"/><Relationship Id="rId4" Type="http://schemas.openxmlformats.org/officeDocument/2006/relationships/image" Target="../media/image9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8.png"/><Relationship Id="rId4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10.png"/><Relationship Id="rId4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11.png"/><Relationship Id="rId4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12.png"/><Relationship Id="rId4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13.png"/><Relationship Id="rId4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35.xml"/><Relationship Id="rId4" Type="http://schemas.openxmlformats.org/officeDocument/2006/relationships/image" Target="../media/image15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14.png"/><Relationship Id="rId4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37.xml"/><Relationship Id="rId4" Type="http://schemas.openxmlformats.org/officeDocument/2006/relationships/image" Target="../media/image17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16.png"/><Relationship Id="rId4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18.png"/><Relationship Id="rId4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19.png"/><Relationship Id="rId4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20.png"/><Relationship Id="rId4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21.png"/><Relationship Id="rId4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22.png"/><Relationship Id="rId4" Type="http://schemas.openxmlformats.org/officeDocument/2006/relationships/notesSlide" Target="../notesSlides/notesSlide5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5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23.png"/><Relationship Id="rId4" Type="http://schemas.openxmlformats.org/officeDocument/2006/relationships/notesSlide" Target="../notesSlides/notesSlide5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5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24.png"/><Relationship Id="rId4" Type="http://schemas.openxmlformats.org/officeDocument/2006/relationships/notesSlide" Target="../notesSlides/notesSlide5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25.png"/><Relationship Id="rId4" Type="http://schemas.openxmlformats.org/officeDocument/2006/relationships/notesSlide" Target="../notesSlides/notesSlide58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26.png"/><Relationship Id="rId4" Type="http://schemas.openxmlformats.org/officeDocument/2006/relationships/notesSlide" Target="../notesSlides/notesSlide59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27.png"/><Relationship Id="rId4" Type="http://schemas.openxmlformats.org/officeDocument/2006/relationships/notesSlide" Target="../notesSlides/notesSlide60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61.xml"/><Relationship Id="rId4" Type="http://schemas.openxmlformats.org/officeDocument/2006/relationships/image" Target="../media/image29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6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63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64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6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dar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21792" y="1938528"/>
            <a:ext cx="10948111" cy="10972"/>
          </a:xfrm>
          <a:prstGeom prst="rect">
            <a:avLst/>
          </a:prstGeom>
          <a:solidFill>
            <a:srgbClr val="A9A3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21792" y="2240280"/>
            <a:ext cx="1968388" cy="329184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FC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900" b="1" spc="250">
                <a:solidFill>
                  <a:srgbClr val="FFFFFF"/>
                </a:solidFill>
                <a:latin typeface="Calibri"/>
              </a:rPr>
              <a:t>WEEK 5  ·  DAY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2807208"/>
            <a:ext cx="10582351" cy="6639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800" b="0" i="0">
                <a:solidFill>
                  <a:srgbClr val="FFFFFF"/>
                </a:solidFill>
                <a:latin typeface="Georgia"/>
              </a:rPr>
              <a:t>Feature engineering and leakage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3635756"/>
            <a:ext cx="10033711" cy="3502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0" i="1">
                <a:solidFill>
                  <a:srgbClr val="D9A7FF"/>
                </a:solidFill>
                <a:latin typeface="Georgia"/>
              </a:rPr>
              <a:t>“settlement_status is written after delivery, when the payment clears.”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4040886"/>
            <a:ext cx="10033711" cy="21818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CFC9EE"/>
                </a:solidFill>
                <a:latin typeface="Calibri"/>
              </a:rPr>
              <a:t>Kalpa's data platform lead, reading the schema the night the score hit 0.99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5212080"/>
            <a:ext cx="365760" cy="2512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D9A7FF"/>
                </a:solidFill>
                <a:latin typeface="Georgia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39" y="5248656"/>
            <a:ext cx="1425035" cy="1851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What does a row know?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13755" y="5212080"/>
            <a:ext cx="365760" cy="2512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D9A7FF"/>
                </a:solidFill>
                <a:latin typeface="Georgia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97803" y="5248656"/>
            <a:ext cx="1365885" cy="1851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Is Surat twice Pune?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6568" y="5212080"/>
            <a:ext cx="365760" cy="2512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D9A7FF"/>
                </a:solidFill>
                <a:latin typeface="Georgia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0616" y="5248656"/>
            <a:ext cx="1306734" cy="1851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Known that morning?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20231" y="5212080"/>
            <a:ext cx="365760" cy="2512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D9A7FF"/>
                </a:solidFill>
                <a:latin typeface="Georgia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04279" y="5248656"/>
            <a:ext cx="1247584" cy="1851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Keep, drop or fix?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34743" y="5212080"/>
            <a:ext cx="365760" cy="2512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D9A7FF"/>
                </a:solidFill>
                <a:latin typeface="Georgia"/>
              </a:rPr>
              <a:t>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18791" y="5248656"/>
            <a:ext cx="1365885" cy="1851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Is it rank or cause?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" y="5632704"/>
            <a:ext cx="365760" cy="2512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D9A7FF"/>
                </a:solidFill>
                <a:latin typeface="Georgia"/>
              </a:rPr>
              <a:t>06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39" y="5669280"/>
            <a:ext cx="1129284" cy="1851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Why did it jump?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18003" y="5632704"/>
            <a:ext cx="365760" cy="2512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D9A7FF"/>
                </a:solidFill>
                <a:latin typeface="Georgia"/>
              </a:rPr>
              <a:t>07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02051" y="5669280"/>
            <a:ext cx="1484185" cy="1851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Known before the call?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69117" y="5632704"/>
            <a:ext cx="365760" cy="2512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D9A7FF"/>
                </a:solidFill>
                <a:latin typeface="Georgia"/>
              </a:rPr>
              <a:t>08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53165" y="5669280"/>
            <a:ext cx="1306734" cy="1851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What does it prove?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0352" y="6437376"/>
            <a:ext cx="9667951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 i="0">
                <a:solidFill>
                  <a:srgbClr val="CFC9EE"/>
                </a:solidFill>
                <a:latin typeface="Calibri"/>
              </a:rPr>
              <a:t>Week 5, Day 3. Feature engineering and leakage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CFC9EE"/>
                </a:solidFill>
                <a:latin typeface="Calibri"/>
              </a:rPr>
              <a:t>1 / 65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5  ·  WEDNESDAY  ·  WHAT THE MODEL IS ALLOWED TO KNOW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Week 5 sits between the analyst's craft and Build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Twenty weeks; today is the middle of the machine learning core</a:t>
            </a:r>
          </a:p>
        </p:txBody>
      </p:sp>
      <p:pic>
        <p:nvPicPr>
          <p:cNvPr id="6" name="mermaid diagram" descr="5e4b777c327a702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52" y="1956816"/>
            <a:ext cx="11130991" cy="957029"/>
          </a:xfrm>
          <a:prstGeom prst="rect">
            <a:avLst/>
          </a:prstGeom>
        </p:spPr>
      </p:pic>
      <p:sp>
        <p:nvSpPr>
          <p:cNvPr id="7" name="Oval 6"/>
          <p:cNvSpPr/>
          <p:nvPr/>
        </p:nvSpPr>
        <p:spPr>
          <a:xfrm>
            <a:off x="530352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does a row know?</a:t>
            </a:r>
          </a:p>
        </p:txBody>
      </p:sp>
      <p:sp>
        <p:nvSpPr>
          <p:cNvPr id="9" name="Oval 8"/>
          <p:cNvSpPr/>
          <p:nvPr/>
        </p:nvSpPr>
        <p:spPr>
          <a:xfrm>
            <a:off x="1971960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81688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Is Surat twice Pune?</a:t>
            </a:r>
          </a:p>
        </p:txBody>
      </p:sp>
      <p:sp>
        <p:nvSpPr>
          <p:cNvPr id="11" name="Oval 10"/>
          <p:cNvSpPr/>
          <p:nvPr/>
        </p:nvSpPr>
        <p:spPr>
          <a:xfrm>
            <a:off x="3367563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7291" y="6437376"/>
            <a:ext cx="1148429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Known that morning?</a:t>
            </a:r>
          </a:p>
        </p:txBody>
      </p:sp>
      <p:sp>
        <p:nvSpPr>
          <p:cNvPr id="13" name="Oval 12"/>
          <p:cNvSpPr/>
          <p:nvPr/>
        </p:nvSpPr>
        <p:spPr>
          <a:xfrm>
            <a:off x="4717161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26889" y="6437376"/>
            <a:ext cx="1102423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Keep, drop or fix?</a:t>
            </a:r>
          </a:p>
        </p:txBody>
      </p:sp>
      <p:sp>
        <p:nvSpPr>
          <p:cNvPr id="15" name="Oval 14"/>
          <p:cNvSpPr/>
          <p:nvPr/>
        </p:nvSpPr>
        <p:spPr>
          <a:xfrm>
            <a:off x="6020752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30480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Is it rank or cause?</a:t>
            </a:r>
          </a:p>
        </p:txBody>
      </p:sp>
      <p:sp>
        <p:nvSpPr>
          <p:cNvPr id="17" name="Oval 16"/>
          <p:cNvSpPr/>
          <p:nvPr/>
        </p:nvSpPr>
        <p:spPr>
          <a:xfrm>
            <a:off x="7416355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26083" y="6437376"/>
            <a:ext cx="101041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Why did it jump?</a:t>
            </a:r>
          </a:p>
        </p:txBody>
      </p:sp>
      <p:sp>
        <p:nvSpPr>
          <p:cNvPr id="19" name="Oval 18"/>
          <p:cNvSpPr/>
          <p:nvPr/>
        </p:nvSpPr>
        <p:spPr>
          <a:xfrm>
            <a:off x="8627935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737663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Known before the call?</a:t>
            </a:r>
          </a:p>
        </p:txBody>
      </p:sp>
      <p:sp>
        <p:nvSpPr>
          <p:cNvPr id="21" name="Oval 20"/>
          <p:cNvSpPr/>
          <p:nvPr/>
        </p:nvSpPr>
        <p:spPr>
          <a:xfrm>
            <a:off x="10115549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225277" y="6437376"/>
            <a:ext cx="1148429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does it prove?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S1  ·  2 / 65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5  ·  WEDNESDAY  ·  WHAT THE MODEL IS ALLOWED TO KNOW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The week's picture, as Tuesday left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Past rows, the cut, the prediction moment, the outcome window</a:t>
            </a:r>
          </a:p>
        </p:txBody>
      </p:sp>
      <p:pic>
        <p:nvPicPr>
          <p:cNvPr id="6" name="mermaid diagram" descr="C2_W05_D03_week_timeline_tuesday_STUD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1682496"/>
            <a:ext cx="11130991" cy="4052229"/>
          </a:xfrm>
          <a:prstGeom prst="rect">
            <a:avLst/>
          </a:prstGeom>
        </p:spPr>
      </p:pic>
      <p:sp>
        <p:nvSpPr>
          <p:cNvPr id="7" name="picture caption"/>
          <p:cNvSpPr txBox="1"/>
          <p:nvPr/>
        </p:nvSpPr>
        <p:spPr>
          <a:xfrm>
            <a:off x="530352" y="5771301"/>
            <a:ext cx="11130991" cy="3169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6B6690"/>
                </a:solidFill>
                <a:latin typeface="Calibri"/>
              </a:rPr>
              <a:t>The week's timeline in Tuesday's state</a:t>
            </a:r>
          </a:p>
        </p:txBody>
      </p:sp>
      <p:sp>
        <p:nvSpPr>
          <p:cNvPr id="8" name="Oval 7"/>
          <p:cNvSpPr/>
          <p:nvPr/>
        </p:nvSpPr>
        <p:spPr>
          <a:xfrm>
            <a:off x="530352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does a row know?</a:t>
            </a:r>
          </a:p>
        </p:txBody>
      </p:sp>
      <p:sp>
        <p:nvSpPr>
          <p:cNvPr id="10" name="Oval 9"/>
          <p:cNvSpPr/>
          <p:nvPr/>
        </p:nvSpPr>
        <p:spPr>
          <a:xfrm>
            <a:off x="1971960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81688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Is Surat twice Pune?</a:t>
            </a:r>
          </a:p>
        </p:txBody>
      </p:sp>
      <p:sp>
        <p:nvSpPr>
          <p:cNvPr id="12" name="Oval 11"/>
          <p:cNvSpPr/>
          <p:nvPr/>
        </p:nvSpPr>
        <p:spPr>
          <a:xfrm>
            <a:off x="3367563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77291" y="6437376"/>
            <a:ext cx="1148429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Known that morning?</a:t>
            </a:r>
          </a:p>
        </p:txBody>
      </p:sp>
      <p:sp>
        <p:nvSpPr>
          <p:cNvPr id="14" name="Oval 13"/>
          <p:cNvSpPr/>
          <p:nvPr/>
        </p:nvSpPr>
        <p:spPr>
          <a:xfrm>
            <a:off x="4717161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26889" y="6437376"/>
            <a:ext cx="1102423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Keep, drop or fix?</a:t>
            </a:r>
          </a:p>
        </p:txBody>
      </p:sp>
      <p:sp>
        <p:nvSpPr>
          <p:cNvPr id="16" name="Oval 15"/>
          <p:cNvSpPr/>
          <p:nvPr/>
        </p:nvSpPr>
        <p:spPr>
          <a:xfrm>
            <a:off x="6020752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30480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Is it rank or cause?</a:t>
            </a:r>
          </a:p>
        </p:txBody>
      </p:sp>
      <p:sp>
        <p:nvSpPr>
          <p:cNvPr id="18" name="Oval 17"/>
          <p:cNvSpPr/>
          <p:nvPr/>
        </p:nvSpPr>
        <p:spPr>
          <a:xfrm>
            <a:off x="7416355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26083" y="6437376"/>
            <a:ext cx="101041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Why did it jump?</a:t>
            </a:r>
          </a:p>
        </p:txBody>
      </p:sp>
      <p:sp>
        <p:nvSpPr>
          <p:cNvPr id="20" name="Oval 19"/>
          <p:cNvSpPr/>
          <p:nvPr/>
        </p:nvSpPr>
        <p:spPr>
          <a:xfrm>
            <a:off x="8627935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37663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Known before the call?</a:t>
            </a:r>
          </a:p>
        </p:txBody>
      </p:sp>
      <p:sp>
        <p:nvSpPr>
          <p:cNvPr id="22" name="Oval 21"/>
          <p:cNvSpPr/>
          <p:nvPr/>
        </p:nvSpPr>
        <p:spPr>
          <a:xfrm>
            <a:off x="10115549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25277" y="6437376"/>
            <a:ext cx="1148429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does it prove?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S2  ·  3 / 65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5  ·  WEDNESDAY  ·  WHAT THE MODEL IS ALLOWED TO KNOW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Today's ticket: Kalpa's 0.99 and the bank's jump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The ask, the data and the caveat, on one page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30352" y="1956816"/>
          <a:ext cx="11130990" cy="2830576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435886"/>
                <a:gridCol w="8695104"/>
              </a:tblGrid>
              <a:tr h="369824">
                <a:tc>
                  <a:txBody>
                    <a:bodyPr/>
                    <a:lstStyle/>
                    <a:p>
                      <a:r>
                        <a:rPr sz="1450" b="1" i="0">
                          <a:solidFill>
                            <a:srgbClr val="FFFFFF"/>
                          </a:solidFill>
                          <a:latin typeface="Calibri"/>
                        </a:rPr>
                        <a:t>On the ticket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1" i="0">
                          <a:solidFill>
                            <a:srgbClr val="FFFFFF"/>
                          </a:solidFill>
                          <a:latin typeface="Calibri"/>
                        </a:rPr>
                        <a:t>What it says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</a:tr>
              <a:tr h="611632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Kalpa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A junior joins settlement_status from the payments feed; validation hits 0.99; Marketing wants it shipped tonight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  <a:tr h="369824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The bank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A junior joins the economy feed and the call log to the customer table; AUC jumps from 0.76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</a:tr>
              <a:tr h="369824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The data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UCI Bank Marketing, 41,188 calls, 20 inputs, 11.3 percent yes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  <a:tr h="369824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The ask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Ship the feature set with a reason per column and the honest score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</a:tr>
              <a:tr h="369824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Who asks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The campaign head and Kavya Nair, Kalpa's senior analyst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  <a:tr h="369824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The caveat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The rows run May 2008 to November 2010 in date order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</a:tr>
            </a:tbl>
          </a:graphicData>
        </a:graphic>
      </p:graphicFrame>
      <p:sp>
        <p:nvSpPr>
          <p:cNvPr id="7" name="Oval 6"/>
          <p:cNvSpPr/>
          <p:nvPr/>
        </p:nvSpPr>
        <p:spPr>
          <a:xfrm>
            <a:off x="530352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does a row know?</a:t>
            </a:r>
          </a:p>
        </p:txBody>
      </p:sp>
      <p:sp>
        <p:nvSpPr>
          <p:cNvPr id="9" name="Oval 8"/>
          <p:cNvSpPr/>
          <p:nvPr/>
        </p:nvSpPr>
        <p:spPr>
          <a:xfrm>
            <a:off x="1971960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81688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Is Surat twice Pune?</a:t>
            </a:r>
          </a:p>
        </p:txBody>
      </p:sp>
      <p:sp>
        <p:nvSpPr>
          <p:cNvPr id="11" name="Oval 10"/>
          <p:cNvSpPr/>
          <p:nvPr/>
        </p:nvSpPr>
        <p:spPr>
          <a:xfrm>
            <a:off x="3367563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7291" y="6437376"/>
            <a:ext cx="1148429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Known that morning?</a:t>
            </a:r>
          </a:p>
        </p:txBody>
      </p:sp>
      <p:sp>
        <p:nvSpPr>
          <p:cNvPr id="13" name="Oval 12"/>
          <p:cNvSpPr/>
          <p:nvPr/>
        </p:nvSpPr>
        <p:spPr>
          <a:xfrm>
            <a:off x="4717161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26889" y="6437376"/>
            <a:ext cx="1102423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Keep, drop or fix?</a:t>
            </a:r>
          </a:p>
        </p:txBody>
      </p:sp>
      <p:sp>
        <p:nvSpPr>
          <p:cNvPr id="15" name="Oval 14"/>
          <p:cNvSpPr/>
          <p:nvPr/>
        </p:nvSpPr>
        <p:spPr>
          <a:xfrm>
            <a:off x="6020752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30480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Is it rank or cause?</a:t>
            </a:r>
          </a:p>
        </p:txBody>
      </p:sp>
      <p:sp>
        <p:nvSpPr>
          <p:cNvPr id="17" name="Oval 16"/>
          <p:cNvSpPr/>
          <p:nvPr/>
        </p:nvSpPr>
        <p:spPr>
          <a:xfrm>
            <a:off x="7416355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26083" y="6437376"/>
            <a:ext cx="101041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Why did it jump?</a:t>
            </a:r>
          </a:p>
        </p:txBody>
      </p:sp>
      <p:sp>
        <p:nvSpPr>
          <p:cNvPr id="19" name="Oval 18"/>
          <p:cNvSpPr/>
          <p:nvPr/>
        </p:nvSpPr>
        <p:spPr>
          <a:xfrm>
            <a:off x="8627935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737663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Known before the call?</a:t>
            </a:r>
          </a:p>
        </p:txBody>
      </p:sp>
      <p:sp>
        <p:nvSpPr>
          <p:cNvPr id="21" name="Oval 20"/>
          <p:cNvSpPr/>
          <p:nvPr/>
        </p:nvSpPr>
        <p:spPr>
          <a:xfrm>
            <a:off x="10115549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225277" y="6437376"/>
            <a:ext cx="1148429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does it prove?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S3  ·  4 / 65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5  ·  WEDNESDAY  ·  WHAT THE MODEL IS ALLOWED TO KNOW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Five topics in five chapters, then three case chapters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The curriculum's words, the chapter, the minutes and the notebook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30352" y="1956816"/>
          <a:ext cx="11130990" cy="2426208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914400"/>
                <a:gridCol w="5131399"/>
                <a:gridCol w="3256391"/>
                <a:gridCol w="914400"/>
                <a:gridCol w="914400"/>
              </a:tblGrid>
              <a:tr h="335280"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The topic, in the curriculum's words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Chapter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Minutes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Notebook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</a:tr>
              <a:tr h="542544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Feature engineering from the customer table: ratios, recency, counts, cohort age, basket signals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1 Turning raw columns into signals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22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ch01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Encoding categoricals; scaling numerics; which models care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2 Teaching a model to read categories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18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ch02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Leakage and the prediction-time question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3 Answers from the future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20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ch03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The column audit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4 Interrogating every column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ch04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</a:tr>
              <a:tr h="542544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Feature importance and its limits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5 What the importance chart can't tell you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ch05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30352" y="4639056"/>
            <a:ext cx="11130991" cy="4958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600" b="0" i="0">
                <a:solidFill>
                  <a:srgbClr val="1A1440"/>
                </a:solidFill>
                <a:latin typeface="Calibri"/>
              </a:rPr>
              <a:t>Cases 6, 7 and 8 apply the topics to the bank's calls in notebooks case01 to case03.</a:t>
            </a:r>
          </a:p>
        </p:txBody>
      </p:sp>
      <p:sp>
        <p:nvSpPr>
          <p:cNvPr id="8" name="Oval 7"/>
          <p:cNvSpPr/>
          <p:nvPr/>
        </p:nvSpPr>
        <p:spPr>
          <a:xfrm>
            <a:off x="530352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does a row know?</a:t>
            </a:r>
          </a:p>
        </p:txBody>
      </p:sp>
      <p:sp>
        <p:nvSpPr>
          <p:cNvPr id="10" name="Oval 9"/>
          <p:cNvSpPr/>
          <p:nvPr/>
        </p:nvSpPr>
        <p:spPr>
          <a:xfrm>
            <a:off x="1971960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81688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Is Surat twice Pune?</a:t>
            </a:r>
          </a:p>
        </p:txBody>
      </p:sp>
      <p:sp>
        <p:nvSpPr>
          <p:cNvPr id="12" name="Oval 11"/>
          <p:cNvSpPr/>
          <p:nvPr/>
        </p:nvSpPr>
        <p:spPr>
          <a:xfrm>
            <a:off x="3367563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77291" y="6437376"/>
            <a:ext cx="1148429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Known that morning?</a:t>
            </a:r>
          </a:p>
        </p:txBody>
      </p:sp>
      <p:sp>
        <p:nvSpPr>
          <p:cNvPr id="14" name="Oval 13"/>
          <p:cNvSpPr/>
          <p:nvPr/>
        </p:nvSpPr>
        <p:spPr>
          <a:xfrm>
            <a:off x="4717161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26889" y="6437376"/>
            <a:ext cx="1102423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Keep, drop or fix?</a:t>
            </a:r>
          </a:p>
        </p:txBody>
      </p:sp>
      <p:sp>
        <p:nvSpPr>
          <p:cNvPr id="16" name="Oval 15"/>
          <p:cNvSpPr/>
          <p:nvPr/>
        </p:nvSpPr>
        <p:spPr>
          <a:xfrm>
            <a:off x="6020752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30480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Is it rank or cause?</a:t>
            </a:r>
          </a:p>
        </p:txBody>
      </p:sp>
      <p:sp>
        <p:nvSpPr>
          <p:cNvPr id="18" name="Oval 17"/>
          <p:cNvSpPr/>
          <p:nvPr/>
        </p:nvSpPr>
        <p:spPr>
          <a:xfrm>
            <a:off x="7416355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26083" y="6437376"/>
            <a:ext cx="101041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Why did it jump?</a:t>
            </a:r>
          </a:p>
        </p:txBody>
      </p:sp>
      <p:sp>
        <p:nvSpPr>
          <p:cNvPr id="20" name="Oval 19"/>
          <p:cNvSpPr/>
          <p:nvPr/>
        </p:nvSpPr>
        <p:spPr>
          <a:xfrm>
            <a:off x="8627935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37663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Known before the call?</a:t>
            </a:r>
          </a:p>
        </p:txBody>
      </p:sp>
      <p:sp>
        <p:nvSpPr>
          <p:cNvPr id="22" name="Oval 21"/>
          <p:cNvSpPr/>
          <p:nvPr/>
        </p:nvSpPr>
        <p:spPr>
          <a:xfrm>
            <a:off x="10115549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25277" y="6437376"/>
            <a:ext cx="1148429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does it prove?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S4  ·  5 / 65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5  ·  WEDNESDAY  ·  WHAT THE MODEL IS ALLOWED TO KNOW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Five topics, joined to what came before and after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What each one rests on and where it is applied</a:t>
            </a:r>
          </a:p>
        </p:txBody>
      </p:sp>
      <p:pic>
        <p:nvPicPr>
          <p:cNvPr id="6" name="mermaid diagram" descr="12ddf7822d07287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88412" y="1682496"/>
            <a:ext cx="7214870" cy="4517136"/>
          </a:xfrm>
          <a:prstGeom prst="rect">
            <a:avLst/>
          </a:prstGeom>
        </p:spPr>
      </p:pic>
      <p:sp>
        <p:nvSpPr>
          <p:cNvPr id="7" name="Oval 6"/>
          <p:cNvSpPr/>
          <p:nvPr/>
        </p:nvSpPr>
        <p:spPr>
          <a:xfrm>
            <a:off x="530352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does a row know?</a:t>
            </a:r>
          </a:p>
        </p:txBody>
      </p:sp>
      <p:sp>
        <p:nvSpPr>
          <p:cNvPr id="9" name="Oval 8"/>
          <p:cNvSpPr/>
          <p:nvPr/>
        </p:nvSpPr>
        <p:spPr>
          <a:xfrm>
            <a:off x="1971960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81688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Is Surat twice Pune?</a:t>
            </a:r>
          </a:p>
        </p:txBody>
      </p:sp>
      <p:sp>
        <p:nvSpPr>
          <p:cNvPr id="11" name="Oval 10"/>
          <p:cNvSpPr/>
          <p:nvPr/>
        </p:nvSpPr>
        <p:spPr>
          <a:xfrm>
            <a:off x="3367563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7291" y="6437376"/>
            <a:ext cx="1148429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Known that morning?</a:t>
            </a:r>
          </a:p>
        </p:txBody>
      </p:sp>
      <p:sp>
        <p:nvSpPr>
          <p:cNvPr id="13" name="Oval 12"/>
          <p:cNvSpPr/>
          <p:nvPr/>
        </p:nvSpPr>
        <p:spPr>
          <a:xfrm>
            <a:off x="4717161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26889" y="6437376"/>
            <a:ext cx="1102423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Keep, drop or fix?</a:t>
            </a:r>
          </a:p>
        </p:txBody>
      </p:sp>
      <p:sp>
        <p:nvSpPr>
          <p:cNvPr id="15" name="Oval 14"/>
          <p:cNvSpPr/>
          <p:nvPr/>
        </p:nvSpPr>
        <p:spPr>
          <a:xfrm>
            <a:off x="6020752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30480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Is it rank or cause?</a:t>
            </a:r>
          </a:p>
        </p:txBody>
      </p:sp>
      <p:sp>
        <p:nvSpPr>
          <p:cNvPr id="17" name="Oval 16"/>
          <p:cNvSpPr/>
          <p:nvPr/>
        </p:nvSpPr>
        <p:spPr>
          <a:xfrm>
            <a:off x="7416355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26083" y="6437376"/>
            <a:ext cx="101041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Why did it jump?</a:t>
            </a:r>
          </a:p>
        </p:txBody>
      </p:sp>
      <p:sp>
        <p:nvSpPr>
          <p:cNvPr id="19" name="Oval 18"/>
          <p:cNvSpPr/>
          <p:nvPr/>
        </p:nvSpPr>
        <p:spPr>
          <a:xfrm>
            <a:off x="8627935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737663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Known before the call?</a:t>
            </a:r>
          </a:p>
        </p:txBody>
      </p:sp>
      <p:sp>
        <p:nvSpPr>
          <p:cNvPr id="21" name="Oval 20"/>
          <p:cNvSpPr/>
          <p:nvPr/>
        </p:nvSpPr>
        <p:spPr>
          <a:xfrm>
            <a:off x="10115549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225277" y="6437376"/>
            <a:ext cx="1148429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does it prove?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S5  ·  6 / 65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dar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19" y="1143000"/>
            <a:ext cx="36576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600" b="0" i="0">
                <a:solidFill>
                  <a:srgbClr val="D9A7FF"/>
                </a:solidFill>
                <a:latin typeface="Georgia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19" y="2542032"/>
            <a:ext cx="10673791" cy="366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D9A7FF"/>
                </a:solidFill>
                <a:latin typeface="Calibri"/>
              </a:rPr>
              <a:t>Turning raw columns into signals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19" y="3017520"/>
            <a:ext cx="10673791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0" i="0">
                <a:solidFill>
                  <a:srgbClr val="FFFFFF"/>
                </a:solidFill>
                <a:latin typeface="Georgia"/>
              </a:rPr>
              <a:t>What does a row know?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19" y="3931920"/>
            <a:ext cx="9509760" cy="5318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E4E1F1"/>
                </a:solidFill>
                <a:latin typeface="Calibri"/>
              </a:rPr>
              <a:t>Feature engineering from the customer table: ratios, recency, counts, cohort age, basket signals · also searched as: feature engineering for machine learning, RFM features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19" y="5074920"/>
            <a:ext cx="1341271" cy="310896"/>
          </a:xfrm>
          <a:prstGeom prst="roundRect">
            <a:avLst>
              <a:gd name="adj" fmla="val 50000"/>
            </a:avLst>
          </a:prstGeom>
          <a:solidFill>
            <a:srgbClr val="D9A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1">
                <a:solidFill>
                  <a:srgbClr val="1A0F5C"/>
                </a:solidFill>
                <a:latin typeface="Calibri"/>
              </a:rPr>
              <a:t>What does a row know?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182519" y="5074920"/>
            <a:ext cx="1291917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FC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0">
                <a:solidFill>
                  <a:srgbClr val="CFC9EE"/>
                </a:solidFill>
                <a:latin typeface="Calibri"/>
              </a:rPr>
              <a:t>Is Surat twice Pune?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84165" y="5074920"/>
            <a:ext cx="1242564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FC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0">
                <a:solidFill>
                  <a:srgbClr val="CFC9EE"/>
                </a:solidFill>
                <a:latin typeface="Calibri"/>
              </a:rPr>
              <a:t>Known that morning?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936457" y="5074920"/>
            <a:ext cx="1193210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FC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0">
                <a:solidFill>
                  <a:srgbClr val="CFC9EE"/>
                </a:solidFill>
                <a:latin typeface="Calibri"/>
              </a:rPr>
              <a:t>Keep, drop or fix?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9396" y="5074920"/>
            <a:ext cx="1291917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FC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0">
                <a:solidFill>
                  <a:srgbClr val="CFC9EE"/>
                </a:solidFill>
                <a:latin typeface="Calibri"/>
              </a:rPr>
              <a:t>Is it rank or cause?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41042" y="5074920"/>
            <a:ext cx="1094503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FC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0">
                <a:solidFill>
                  <a:srgbClr val="CFC9EE"/>
                </a:solidFill>
                <a:latin typeface="Calibri"/>
              </a:rPr>
              <a:t>Why did it jump?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845273" y="5074920"/>
            <a:ext cx="1390625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FC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0">
                <a:solidFill>
                  <a:srgbClr val="CFC9EE"/>
                </a:solidFill>
                <a:latin typeface="Calibri"/>
              </a:rPr>
              <a:t>Known before the call?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345626" y="5074920"/>
            <a:ext cx="1242564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FC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0">
                <a:solidFill>
                  <a:srgbClr val="CFC9EE"/>
                </a:solidFill>
                <a:latin typeface="Calibri"/>
              </a:rPr>
              <a:t>What does it prove?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" y="6437376"/>
            <a:ext cx="9667951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 i="0">
                <a:solidFill>
                  <a:srgbClr val="CFC9EE"/>
                </a:solidFill>
                <a:latin typeface="Calibri"/>
              </a:rPr>
              <a:t>Week 5 Wednesday: what the model is allowed to know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CFC9EE"/>
                </a:solidFill>
                <a:latin typeface="Calibri"/>
              </a:rPr>
              <a:t>7 / 65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5  ·  WEDNESDAY  ·  WHAT THE MODEL IS ALLOWED TO KNOW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Which member would total spend nudge first?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Eight invented Kalpa members on the nudge morning, 1 November 2026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30352" y="1956816"/>
          <a:ext cx="11130990" cy="201168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914400"/>
                <a:gridCol w="3349097"/>
                <a:gridCol w="3100730"/>
                <a:gridCol w="914400"/>
                <a:gridCol w="2852363"/>
              </a:tblGrid>
              <a:tr h="335280"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Member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First order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Last order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Orders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Spend, Rs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Asha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Nov 2024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29 Oct 2026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24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16,800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Bilal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Aug 2026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25 Oct 2026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4,200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Chitra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May 2023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14 Mar 2026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30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19,500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Dev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Oct 2026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30 Oct 2026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2,400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Hari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Feb 2022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24 Dec 2025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40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26,000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30352" y="4224528"/>
            <a:ext cx="11130991" cy="4958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600" b="0" i="0">
                <a:solidFill>
                  <a:srgbClr val="1A1440"/>
                </a:solidFill>
                <a:latin typeface="Calibri"/>
              </a:rPr>
              <a:t>(a) Asha (b) Hari (c) Dev</a:t>
            </a:r>
          </a:p>
        </p:txBody>
      </p:sp>
      <p:sp>
        <p:nvSpPr>
          <p:cNvPr id="8" name="Oval 7"/>
          <p:cNvSpPr/>
          <p:nvPr/>
        </p:nvSpPr>
        <p:spPr>
          <a:xfrm>
            <a:off x="530352" y="6492240"/>
            <a:ext cx="64008" cy="6400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5B3FD6"/>
                </a:solidFill>
                <a:latin typeface="Calibri"/>
              </a:rPr>
              <a:t>What does a row know?</a:t>
            </a:r>
          </a:p>
        </p:txBody>
      </p:sp>
      <p:sp>
        <p:nvSpPr>
          <p:cNvPr id="10" name="Oval 9"/>
          <p:cNvSpPr/>
          <p:nvPr/>
        </p:nvSpPr>
        <p:spPr>
          <a:xfrm>
            <a:off x="1971960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81688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Is Surat twice Pune?</a:t>
            </a:r>
          </a:p>
        </p:txBody>
      </p:sp>
      <p:sp>
        <p:nvSpPr>
          <p:cNvPr id="12" name="Oval 11"/>
          <p:cNvSpPr/>
          <p:nvPr/>
        </p:nvSpPr>
        <p:spPr>
          <a:xfrm>
            <a:off x="3367563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77291" y="6437376"/>
            <a:ext cx="1148429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Known that morning?</a:t>
            </a:r>
          </a:p>
        </p:txBody>
      </p:sp>
      <p:sp>
        <p:nvSpPr>
          <p:cNvPr id="14" name="Oval 13"/>
          <p:cNvSpPr/>
          <p:nvPr/>
        </p:nvSpPr>
        <p:spPr>
          <a:xfrm>
            <a:off x="4717161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26889" y="6437376"/>
            <a:ext cx="1102423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Keep, drop or fix?</a:t>
            </a:r>
          </a:p>
        </p:txBody>
      </p:sp>
      <p:sp>
        <p:nvSpPr>
          <p:cNvPr id="16" name="Oval 15"/>
          <p:cNvSpPr/>
          <p:nvPr/>
        </p:nvSpPr>
        <p:spPr>
          <a:xfrm>
            <a:off x="6020752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30480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Is it rank or cause?</a:t>
            </a:r>
          </a:p>
        </p:txBody>
      </p:sp>
      <p:sp>
        <p:nvSpPr>
          <p:cNvPr id="18" name="Oval 17"/>
          <p:cNvSpPr/>
          <p:nvPr/>
        </p:nvSpPr>
        <p:spPr>
          <a:xfrm>
            <a:off x="7416355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26083" y="6437376"/>
            <a:ext cx="101041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Why did it jump?</a:t>
            </a:r>
          </a:p>
        </p:txBody>
      </p:sp>
      <p:sp>
        <p:nvSpPr>
          <p:cNvPr id="20" name="Oval 19"/>
          <p:cNvSpPr/>
          <p:nvPr/>
        </p:nvSpPr>
        <p:spPr>
          <a:xfrm>
            <a:off x="8627935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37663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Known before the call?</a:t>
            </a:r>
          </a:p>
        </p:txBody>
      </p:sp>
      <p:sp>
        <p:nvSpPr>
          <p:cNvPr id="22" name="Oval 21"/>
          <p:cNvSpPr/>
          <p:nvPr/>
        </p:nvSpPr>
        <p:spPr>
          <a:xfrm>
            <a:off x="10115549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25277" y="6437376"/>
            <a:ext cx="1148429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does it prove?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S6  ·  8 / 65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5  ·  WEDNESDAY  ·  WHAT THE MODEL IS ALLOWED TO KNOW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Answer: b, Hari, the coldest member on the table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Total spend grows with time, so it ranks the oldest first</a:t>
            </a:r>
          </a:p>
        </p:txBody>
      </p:sp>
      <p:pic>
        <p:nvPicPr>
          <p:cNvPr id="6" name="mermaid diagram" descr="C2_W05_D03_ch1_members_STUD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4909" y="1682496"/>
            <a:ext cx="8041875" cy="4200144"/>
          </a:xfrm>
          <a:prstGeom prst="rect">
            <a:avLst/>
          </a:prstGeom>
        </p:spPr>
      </p:pic>
      <p:sp>
        <p:nvSpPr>
          <p:cNvPr id="7" name="picture caption"/>
          <p:cNvSpPr txBox="1"/>
          <p:nvPr/>
        </p:nvSpPr>
        <p:spPr>
          <a:xfrm>
            <a:off x="530352" y="5919216"/>
            <a:ext cx="11130991" cy="3169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6B6690"/>
                </a:solidFill>
                <a:latin typeface="Calibri"/>
              </a:rPr>
              <a:t>Recency against orders per month, bubble size is spend</a:t>
            </a:r>
          </a:p>
        </p:txBody>
      </p:sp>
      <p:sp>
        <p:nvSpPr>
          <p:cNvPr id="8" name="Oval 7"/>
          <p:cNvSpPr/>
          <p:nvPr/>
        </p:nvSpPr>
        <p:spPr>
          <a:xfrm>
            <a:off x="530352" y="6492240"/>
            <a:ext cx="64008" cy="6400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5B3FD6"/>
                </a:solidFill>
                <a:latin typeface="Calibri"/>
              </a:rPr>
              <a:t>What does a row know?</a:t>
            </a:r>
          </a:p>
        </p:txBody>
      </p:sp>
      <p:sp>
        <p:nvSpPr>
          <p:cNvPr id="10" name="Oval 9"/>
          <p:cNvSpPr/>
          <p:nvPr/>
        </p:nvSpPr>
        <p:spPr>
          <a:xfrm>
            <a:off x="1971960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81688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Is Surat twice Pune?</a:t>
            </a:r>
          </a:p>
        </p:txBody>
      </p:sp>
      <p:sp>
        <p:nvSpPr>
          <p:cNvPr id="12" name="Oval 11"/>
          <p:cNvSpPr/>
          <p:nvPr/>
        </p:nvSpPr>
        <p:spPr>
          <a:xfrm>
            <a:off x="3367563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77291" y="6437376"/>
            <a:ext cx="1148429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Known that morning?</a:t>
            </a:r>
          </a:p>
        </p:txBody>
      </p:sp>
      <p:sp>
        <p:nvSpPr>
          <p:cNvPr id="14" name="Oval 13"/>
          <p:cNvSpPr/>
          <p:nvPr/>
        </p:nvSpPr>
        <p:spPr>
          <a:xfrm>
            <a:off x="4717161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26889" y="6437376"/>
            <a:ext cx="1102423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Keep, drop or fix?</a:t>
            </a:r>
          </a:p>
        </p:txBody>
      </p:sp>
      <p:sp>
        <p:nvSpPr>
          <p:cNvPr id="16" name="Oval 15"/>
          <p:cNvSpPr/>
          <p:nvPr/>
        </p:nvSpPr>
        <p:spPr>
          <a:xfrm>
            <a:off x="6020752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30480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Is it rank or cause?</a:t>
            </a:r>
          </a:p>
        </p:txBody>
      </p:sp>
      <p:sp>
        <p:nvSpPr>
          <p:cNvPr id="18" name="Oval 17"/>
          <p:cNvSpPr/>
          <p:nvPr/>
        </p:nvSpPr>
        <p:spPr>
          <a:xfrm>
            <a:off x="7416355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26083" y="6437376"/>
            <a:ext cx="101041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Why did it jump?</a:t>
            </a:r>
          </a:p>
        </p:txBody>
      </p:sp>
      <p:sp>
        <p:nvSpPr>
          <p:cNvPr id="20" name="Oval 19"/>
          <p:cNvSpPr/>
          <p:nvPr/>
        </p:nvSpPr>
        <p:spPr>
          <a:xfrm>
            <a:off x="8627935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37663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Known before the call?</a:t>
            </a:r>
          </a:p>
        </p:txBody>
      </p:sp>
      <p:sp>
        <p:nvSpPr>
          <p:cNvPr id="22" name="Oval 21"/>
          <p:cNvSpPr/>
          <p:nvPr/>
        </p:nvSpPr>
        <p:spPr>
          <a:xfrm>
            <a:off x="10115549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25277" y="6437376"/>
            <a:ext cx="1148429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does it prove?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S7  ·  9 / 65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5  ·  WEDNESDAY  ·  WHAT THE MODEL IS ALLOWED TO KNOW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Five signals, each with a reason Marketing can repeat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Measured from the nudge morning, never from today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30352" y="1956816"/>
          <a:ext cx="11130989" cy="2218944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838342"/>
                <a:gridCol w="5422999"/>
                <a:gridCol w="3869648"/>
              </a:tblGrid>
              <a:tr h="369824">
                <a:tc>
                  <a:txBody>
                    <a:bodyPr/>
                    <a:lstStyle/>
                    <a:p>
                      <a:r>
                        <a:rPr sz="1450" b="1" i="0">
                          <a:solidFill>
                            <a:srgbClr val="FFFFFF"/>
                          </a:solidFill>
                          <a:latin typeface="Calibri"/>
                        </a:rPr>
                        <a:t>Signal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1" i="0">
                          <a:solidFill>
                            <a:srgbClr val="FFFFFF"/>
                          </a:solidFill>
                          <a:latin typeface="Calibri"/>
                        </a:rPr>
                        <a:t>Formula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1" i="0">
                          <a:solidFill>
                            <a:srgbClr val="FFFFFF"/>
                          </a:solidFill>
                          <a:latin typeface="Calibri"/>
                        </a:rPr>
                        <a:t>The reason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</a:tr>
              <a:tr h="369824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Recency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nudge morning - last order, in days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warm buys again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  <a:tr h="369824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Count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orders in the last 90 days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habit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</a:tr>
              <a:tr h="369824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Cohort age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nudge morning - first order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new members are still deciding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  <a:tr h="369824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Ratio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orders / months as a member; spend / orders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puts old and new on one scale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</a:tr>
              <a:tr h="369824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Basket signal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items / orders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weekly shop against top-up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Oval 6"/>
          <p:cNvSpPr/>
          <p:nvPr/>
        </p:nvSpPr>
        <p:spPr>
          <a:xfrm>
            <a:off x="530352" y="6492240"/>
            <a:ext cx="64008" cy="6400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5B3FD6"/>
                </a:solidFill>
                <a:latin typeface="Calibri"/>
              </a:rPr>
              <a:t>What does a row know?</a:t>
            </a:r>
          </a:p>
        </p:txBody>
      </p:sp>
      <p:sp>
        <p:nvSpPr>
          <p:cNvPr id="9" name="Oval 8"/>
          <p:cNvSpPr/>
          <p:nvPr/>
        </p:nvSpPr>
        <p:spPr>
          <a:xfrm>
            <a:off x="1971960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81688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Is Surat twice Pune?</a:t>
            </a:r>
          </a:p>
        </p:txBody>
      </p:sp>
      <p:sp>
        <p:nvSpPr>
          <p:cNvPr id="11" name="Oval 10"/>
          <p:cNvSpPr/>
          <p:nvPr/>
        </p:nvSpPr>
        <p:spPr>
          <a:xfrm>
            <a:off x="3367563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7291" y="6437376"/>
            <a:ext cx="1148429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Known that morning?</a:t>
            </a:r>
          </a:p>
        </p:txBody>
      </p:sp>
      <p:sp>
        <p:nvSpPr>
          <p:cNvPr id="13" name="Oval 12"/>
          <p:cNvSpPr/>
          <p:nvPr/>
        </p:nvSpPr>
        <p:spPr>
          <a:xfrm>
            <a:off x="4717161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26889" y="6437376"/>
            <a:ext cx="1102423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Keep, drop or fix?</a:t>
            </a:r>
          </a:p>
        </p:txBody>
      </p:sp>
      <p:sp>
        <p:nvSpPr>
          <p:cNvPr id="15" name="Oval 14"/>
          <p:cNvSpPr/>
          <p:nvPr/>
        </p:nvSpPr>
        <p:spPr>
          <a:xfrm>
            <a:off x="6020752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30480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Is it rank or cause?</a:t>
            </a:r>
          </a:p>
        </p:txBody>
      </p:sp>
      <p:sp>
        <p:nvSpPr>
          <p:cNvPr id="17" name="Oval 16"/>
          <p:cNvSpPr/>
          <p:nvPr/>
        </p:nvSpPr>
        <p:spPr>
          <a:xfrm>
            <a:off x="7416355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26083" y="6437376"/>
            <a:ext cx="101041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Why did it jump?</a:t>
            </a:r>
          </a:p>
        </p:txBody>
      </p:sp>
      <p:sp>
        <p:nvSpPr>
          <p:cNvPr id="19" name="Oval 18"/>
          <p:cNvSpPr/>
          <p:nvPr/>
        </p:nvSpPr>
        <p:spPr>
          <a:xfrm>
            <a:off x="8627935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737663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Known before the call?</a:t>
            </a:r>
          </a:p>
        </p:txBody>
      </p:sp>
      <p:sp>
        <p:nvSpPr>
          <p:cNvPr id="21" name="Oval 20"/>
          <p:cNvSpPr/>
          <p:nvPr/>
        </p:nvSpPr>
        <p:spPr>
          <a:xfrm>
            <a:off x="10115549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225277" y="6437376"/>
            <a:ext cx="1148429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does it prove?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S8  ·  10 / 65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5  ·  WEDNESDAY  ·  WHAT THE MODEL IS ALLOWED TO KNOW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The bank's file already holds counts and a recency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campaign, previous, pdays and poutcome are the same five ideas</a:t>
            </a:r>
          </a:p>
        </p:txBody>
      </p:sp>
      <p:pic>
        <p:nvPicPr>
          <p:cNvPr id="6" name="mermaid diagram" descr="C2_W05_D03_ch1_bank_counts_STUD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0221" y="1682496"/>
            <a:ext cx="9831251" cy="4200144"/>
          </a:xfrm>
          <a:prstGeom prst="rect">
            <a:avLst/>
          </a:prstGeom>
        </p:spPr>
      </p:pic>
      <p:sp>
        <p:nvSpPr>
          <p:cNvPr id="7" name="picture caption"/>
          <p:cNvSpPr txBox="1"/>
          <p:nvPr/>
        </p:nvSpPr>
        <p:spPr>
          <a:xfrm>
            <a:off x="530352" y="5919215"/>
            <a:ext cx="11130991" cy="3169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6B6690"/>
                </a:solidFill>
                <a:latin typeface="Calibri"/>
              </a:rPr>
              <a:t>Yes-rate by calls this campaign and by earlier calls</a:t>
            </a:r>
          </a:p>
        </p:txBody>
      </p:sp>
      <p:sp>
        <p:nvSpPr>
          <p:cNvPr id="8" name="Oval 7"/>
          <p:cNvSpPr/>
          <p:nvPr/>
        </p:nvSpPr>
        <p:spPr>
          <a:xfrm>
            <a:off x="530352" y="6492240"/>
            <a:ext cx="64008" cy="6400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5B3FD6"/>
                </a:solidFill>
                <a:latin typeface="Calibri"/>
              </a:rPr>
              <a:t>What does a row know?</a:t>
            </a:r>
          </a:p>
        </p:txBody>
      </p:sp>
      <p:sp>
        <p:nvSpPr>
          <p:cNvPr id="10" name="Oval 9"/>
          <p:cNvSpPr/>
          <p:nvPr/>
        </p:nvSpPr>
        <p:spPr>
          <a:xfrm>
            <a:off x="1971960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81688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Is Surat twice Pune?</a:t>
            </a:r>
          </a:p>
        </p:txBody>
      </p:sp>
      <p:sp>
        <p:nvSpPr>
          <p:cNvPr id="12" name="Oval 11"/>
          <p:cNvSpPr/>
          <p:nvPr/>
        </p:nvSpPr>
        <p:spPr>
          <a:xfrm>
            <a:off x="3367563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77291" y="6437376"/>
            <a:ext cx="1148429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Known that morning?</a:t>
            </a:r>
          </a:p>
        </p:txBody>
      </p:sp>
      <p:sp>
        <p:nvSpPr>
          <p:cNvPr id="14" name="Oval 13"/>
          <p:cNvSpPr/>
          <p:nvPr/>
        </p:nvSpPr>
        <p:spPr>
          <a:xfrm>
            <a:off x="4717161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26889" y="6437376"/>
            <a:ext cx="1102423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Keep, drop or fix?</a:t>
            </a:r>
          </a:p>
        </p:txBody>
      </p:sp>
      <p:sp>
        <p:nvSpPr>
          <p:cNvPr id="16" name="Oval 15"/>
          <p:cNvSpPr/>
          <p:nvPr/>
        </p:nvSpPr>
        <p:spPr>
          <a:xfrm>
            <a:off x="6020752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30480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Is it rank or cause?</a:t>
            </a:r>
          </a:p>
        </p:txBody>
      </p:sp>
      <p:sp>
        <p:nvSpPr>
          <p:cNvPr id="18" name="Oval 17"/>
          <p:cNvSpPr/>
          <p:nvPr/>
        </p:nvSpPr>
        <p:spPr>
          <a:xfrm>
            <a:off x="7416355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26083" y="6437376"/>
            <a:ext cx="101041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Why did it jump?</a:t>
            </a:r>
          </a:p>
        </p:txBody>
      </p:sp>
      <p:sp>
        <p:nvSpPr>
          <p:cNvPr id="20" name="Oval 19"/>
          <p:cNvSpPr/>
          <p:nvPr/>
        </p:nvSpPr>
        <p:spPr>
          <a:xfrm>
            <a:off x="8627935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37663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Known before the call?</a:t>
            </a:r>
          </a:p>
        </p:txBody>
      </p:sp>
      <p:sp>
        <p:nvSpPr>
          <p:cNvPr id="22" name="Oval 21"/>
          <p:cNvSpPr/>
          <p:nvPr/>
        </p:nvSpPr>
        <p:spPr>
          <a:xfrm>
            <a:off x="10115549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25277" y="6437376"/>
            <a:ext cx="1148429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does it prove?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S9  ·  11 / 65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5  ·  WEDNESDAY  ·  WHAT THE MODEL IS ALLOWED TO KNOW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Four rules for features, each with its flip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A rule without the condition that flips it is a slogan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30352" y="1956816"/>
          <a:ext cx="11130991" cy="184912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4461841"/>
                <a:gridCol w="6669150"/>
              </a:tblGrid>
              <a:tr h="369824">
                <a:tc>
                  <a:txBody>
                    <a:bodyPr/>
                    <a:lstStyle/>
                    <a:p>
                      <a:r>
                        <a:rPr sz="1450" b="1" i="0">
                          <a:solidFill>
                            <a:srgbClr val="FFFFFF"/>
                          </a:solidFill>
                          <a:latin typeface="Calibri"/>
                        </a:rPr>
                        <a:t>Rule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1" i="0">
                          <a:solidFill>
                            <a:srgbClr val="FFFFFF"/>
                          </a:solidFill>
                          <a:latin typeface="Calibri"/>
                        </a:rPr>
                        <a:t>Flips when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</a:tr>
              <a:tr h="369824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Measure from the prediction moment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never; computed from today it leaks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  <a:tr h="369824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A ratio beats a total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everyone joined in the same window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</a:tr>
              <a:tr h="369824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Count over a fixed window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the decision is a loyalty tier, which wants lifetime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  <a:tr h="369824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Every feature carries a reason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a fair test shows signal the reasons missed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</a:tr>
            </a:tbl>
          </a:graphicData>
        </a:graphic>
      </p:graphicFrame>
      <p:sp>
        <p:nvSpPr>
          <p:cNvPr id="7" name="Oval 6"/>
          <p:cNvSpPr/>
          <p:nvPr/>
        </p:nvSpPr>
        <p:spPr>
          <a:xfrm>
            <a:off x="530352" y="6492240"/>
            <a:ext cx="64008" cy="6400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5B3FD6"/>
                </a:solidFill>
                <a:latin typeface="Calibri"/>
              </a:rPr>
              <a:t>What does a row know?</a:t>
            </a:r>
          </a:p>
        </p:txBody>
      </p:sp>
      <p:sp>
        <p:nvSpPr>
          <p:cNvPr id="9" name="Oval 8"/>
          <p:cNvSpPr/>
          <p:nvPr/>
        </p:nvSpPr>
        <p:spPr>
          <a:xfrm>
            <a:off x="1971960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81688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Is Surat twice Pune?</a:t>
            </a:r>
          </a:p>
        </p:txBody>
      </p:sp>
      <p:sp>
        <p:nvSpPr>
          <p:cNvPr id="11" name="Oval 10"/>
          <p:cNvSpPr/>
          <p:nvPr/>
        </p:nvSpPr>
        <p:spPr>
          <a:xfrm>
            <a:off x="3367563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7291" y="6437376"/>
            <a:ext cx="1148429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Known that morning?</a:t>
            </a:r>
          </a:p>
        </p:txBody>
      </p:sp>
      <p:sp>
        <p:nvSpPr>
          <p:cNvPr id="13" name="Oval 12"/>
          <p:cNvSpPr/>
          <p:nvPr/>
        </p:nvSpPr>
        <p:spPr>
          <a:xfrm>
            <a:off x="4717161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26889" y="6437376"/>
            <a:ext cx="1102423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Keep, drop or fix?</a:t>
            </a:r>
          </a:p>
        </p:txBody>
      </p:sp>
      <p:sp>
        <p:nvSpPr>
          <p:cNvPr id="15" name="Oval 14"/>
          <p:cNvSpPr/>
          <p:nvPr/>
        </p:nvSpPr>
        <p:spPr>
          <a:xfrm>
            <a:off x="6020752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30480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Is it rank or cause?</a:t>
            </a:r>
          </a:p>
        </p:txBody>
      </p:sp>
      <p:sp>
        <p:nvSpPr>
          <p:cNvPr id="17" name="Oval 16"/>
          <p:cNvSpPr/>
          <p:nvPr/>
        </p:nvSpPr>
        <p:spPr>
          <a:xfrm>
            <a:off x="7416355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26083" y="6437376"/>
            <a:ext cx="101041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Why did it jump?</a:t>
            </a:r>
          </a:p>
        </p:txBody>
      </p:sp>
      <p:sp>
        <p:nvSpPr>
          <p:cNvPr id="19" name="Oval 18"/>
          <p:cNvSpPr/>
          <p:nvPr/>
        </p:nvSpPr>
        <p:spPr>
          <a:xfrm>
            <a:off x="8627935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737663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Known before the call?</a:t>
            </a:r>
          </a:p>
        </p:txBody>
      </p:sp>
      <p:sp>
        <p:nvSpPr>
          <p:cNvPr id="21" name="Oval 20"/>
          <p:cNvSpPr/>
          <p:nvPr/>
        </p:nvSpPr>
        <p:spPr>
          <a:xfrm>
            <a:off x="10115549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225277" y="6437376"/>
            <a:ext cx="1148429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does it prove?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S10  ·  12 / 65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dar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19" y="1143000"/>
            <a:ext cx="36576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600" b="0" i="0">
                <a:solidFill>
                  <a:srgbClr val="D9A7FF"/>
                </a:solidFill>
                <a:latin typeface="Georgia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19" y="2542032"/>
            <a:ext cx="10673791" cy="366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D9A7FF"/>
                </a:solidFill>
                <a:latin typeface="Calibri"/>
              </a:rPr>
              <a:t>Teaching a model to read categories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19" y="3017520"/>
            <a:ext cx="10673791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0" i="0">
                <a:solidFill>
                  <a:srgbClr val="FFFFFF"/>
                </a:solidFill>
                <a:latin typeface="Georgia"/>
              </a:rPr>
              <a:t>Is Surat twice Pune?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19" y="3931920"/>
            <a:ext cx="9509760" cy="5318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E4E1F1"/>
                </a:solidFill>
                <a:latin typeface="Calibri"/>
              </a:rPr>
              <a:t>Encoding categoricals; scaling numerics; which models care · also searched as: one-hot encoding, standard scaling, label encoding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19" y="5074920"/>
            <a:ext cx="1341271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FC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0">
                <a:solidFill>
                  <a:srgbClr val="CFC9EE"/>
                </a:solidFill>
                <a:latin typeface="Calibri"/>
              </a:rPr>
              <a:t>What does a row know?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182519" y="5074920"/>
            <a:ext cx="1291917" cy="310896"/>
          </a:xfrm>
          <a:prstGeom prst="roundRect">
            <a:avLst>
              <a:gd name="adj" fmla="val 50000"/>
            </a:avLst>
          </a:prstGeom>
          <a:solidFill>
            <a:srgbClr val="D9A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1">
                <a:solidFill>
                  <a:srgbClr val="1A0F5C"/>
                </a:solidFill>
                <a:latin typeface="Calibri"/>
              </a:rPr>
              <a:t>Is Surat twice Pune?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84165" y="5074920"/>
            <a:ext cx="1242564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FC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0">
                <a:solidFill>
                  <a:srgbClr val="CFC9EE"/>
                </a:solidFill>
                <a:latin typeface="Calibri"/>
              </a:rPr>
              <a:t>Known that morning?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936457" y="5074920"/>
            <a:ext cx="1193210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FC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0">
                <a:solidFill>
                  <a:srgbClr val="CFC9EE"/>
                </a:solidFill>
                <a:latin typeface="Calibri"/>
              </a:rPr>
              <a:t>Keep, drop or fix?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9396" y="5074920"/>
            <a:ext cx="1291917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FC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0">
                <a:solidFill>
                  <a:srgbClr val="CFC9EE"/>
                </a:solidFill>
                <a:latin typeface="Calibri"/>
              </a:rPr>
              <a:t>Is it rank or cause?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41042" y="5074920"/>
            <a:ext cx="1094503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FC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0">
                <a:solidFill>
                  <a:srgbClr val="CFC9EE"/>
                </a:solidFill>
                <a:latin typeface="Calibri"/>
              </a:rPr>
              <a:t>Why did it jump?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845273" y="5074920"/>
            <a:ext cx="1390625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FC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0">
                <a:solidFill>
                  <a:srgbClr val="CFC9EE"/>
                </a:solidFill>
                <a:latin typeface="Calibri"/>
              </a:rPr>
              <a:t>Known before the call?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345626" y="5074920"/>
            <a:ext cx="1242564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FC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0">
                <a:solidFill>
                  <a:srgbClr val="CFC9EE"/>
                </a:solidFill>
                <a:latin typeface="Calibri"/>
              </a:rPr>
              <a:t>What does it prove?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" y="6437376"/>
            <a:ext cx="9667951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 i="0">
                <a:solidFill>
                  <a:srgbClr val="CFC9EE"/>
                </a:solidFill>
                <a:latin typeface="Calibri"/>
              </a:rPr>
              <a:t>Week 5 Wednesday: what the model is allowed to know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CFC9EE"/>
                </a:solidFill>
                <a:latin typeface="Calibri"/>
              </a:rPr>
              <a:t>13 / 65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5  ·  WEDNESDAY  ·  WHAT THE MODEL IS ALLOWED TO KNOW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Pune is 1, Surat 2, Indore 3: what does a line read?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A logistic model multiplies the code by one weight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30352" y="1956816"/>
          <a:ext cx="11130989" cy="134112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914400"/>
                <a:gridCol w="914400"/>
                <a:gridCol w="2182986"/>
                <a:gridCol w="2182986"/>
                <a:gridCol w="2373068"/>
                <a:gridCol w="2563149"/>
              </a:tblGrid>
              <a:tr h="335280"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Member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City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city_code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city_Pune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city_Surat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city_Indore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A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Pune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B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Surat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C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Indore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30352" y="3553968"/>
            <a:ext cx="11130991" cy="4958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600" b="0" i="0">
                <a:solidFill>
                  <a:srgbClr val="1A1440"/>
                </a:solidFill>
                <a:latin typeface="Calibri"/>
              </a:rPr>
              <a:t>(a) nothing about the cities (b) Indore is as far from Surat as Surat from Pune</a:t>
            </a:r>
          </a:p>
        </p:txBody>
      </p:sp>
      <p:sp>
        <p:nvSpPr>
          <p:cNvPr id="8" name="Oval 7"/>
          <p:cNvSpPr/>
          <p:nvPr/>
        </p:nvSpPr>
        <p:spPr>
          <a:xfrm>
            <a:off x="530352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does a row know?</a:t>
            </a:r>
          </a:p>
        </p:txBody>
      </p:sp>
      <p:sp>
        <p:nvSpPr>
          <p:cNvPr id="10" name="Oval 9"/>
          <p:cNvSpPr/>
          <p:nvPr/>
        </p:nvSpPr>
        <p:spPr>
          <a:xfrm>
            <a:off x="1971960" y="6492240"/>
            <a:ext cx="64008" cy="6400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81688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5B3FD6"/>
                </a:solidFill>
                <a:latin typeface="Calibri"/>
              </a:rPr>
              <a:t>Is Surat twice Pune?</a:t>
            </a:r>
          </a:p>
        </p:txBody>
      </p:sp>
      <p:sp>
        <p:nvSpPr>
          <p:cNvPr id="12" name="Oval 11"/>
          <p:cNvSpPr/>
          <p:nvPr/>
        </p:nvSpPr>
        <p:spPr>
          <a:xfrm>
            <a:off x="3367563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77291" y="6437376"/>
            <a:ext cx="1148429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Known that morning?</a:t>
            </a:r>
          </a:p>
        </p:txBody>
      </p:sp>
      <p:sp>
        <p:nvSpPr>
          <p:cNvPr id="14" name="Oval 13"/>
          <p:cNvSpPr/>
          <p:nvPr/>
        </p:nvSpPr>
        <p:spPr>
          <a:xfrm>
            <a:off x="4717161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26889" y="6437376"/>
            <a:ext cx="1102423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Keep, drop or fix?</a:t>
            </a:r>
          </a:p>
        </p:txBody>
      </p:sp>
      <p:sp>
        <p:nvSpPr>
          <p:cNvPr id="16" name="Oval 15"/>
          <p:cNvSpPr/>
          <p:nvPr/>
        </p:nvSpPr>
        <p:spPr>
          <a:xfrm>
            <a:off x="6020752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30480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Is it rank or cause?</a:t>
            </a:r>
          </a:p>
        </p:txBody>
      </p:sp>
      <p:sp>
        <p:nvSpPr>
          <p:cNvPr id="18" name="Oval 17"/>
          <p:cNvSpPr/>
          <p:nvPr/>
        </p:nvSpPr>
        <p:spPr>
          <a:xfrm>
            <a:off x="7416355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26083" y="6437376"/>
            <a:ext cx="101041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Why did it jump?</a:t>
            </a:r>
          </a:p>
        </p:txBody>
      </p:sp>
      <p:sp>
        <p:nvSpPr>
          <p:cNvPr id="20" name="Oval 19"/>
          <p:cNvSpPr/>
          <p:nvPr/>
        </p:nvSpPr>
        <p:spPr>
          <a:xfrm>
            <a:off x="8627935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37663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Known before the call?</a:t>
            </a:r>
          </a:p>
        </p:txBody>
      </p:sp>
      <p:sp>
        <p:nvSpPr>
          <p:cNvPr id="22" name="Oval 21"/>
          <p:cNvSpPr/>
          <p:nvPr/>
        </p:nvSpPr>
        <p:spPr>
          <a:xfrm>
            <a:off x="10115549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25277" y="6437376"/>
            <a:ext cx="1148429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does it prove?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S11  ·  14 / 65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5  ·  WEDNESDAY  ·  WHAT THE MODEL IS ALLOWED TO KNOW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Answer: b, an order and a distance nobody chose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One-hot gives each city its own switch and its own weight</a:t>
            </a:r>
          </a:p>
        </p:txBody>
      </p:sp>
      <p:pic>
        <p:nvPicPr>
          <p:cNvPr id="6" name="mermaid diagram" descr="d55d9fb4e8fbbc1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52" y="1956816"/>
            <a:ext cx="11130991" cy="1240527"/>
          </a:xfrm>
          <a:prstGeom prst="rect">
            <a:avLst/>
          </a:prstGeom>
        </p:spPr>
      </p:pic>
      <p:sp>
        <p:nvSpPr>
          <p:cNvPr id="7" name="Oval 6"/>
          <p:cNvSpPr/>
          <p:nvPr/>
        </p:nvSpPr>
        <p:spPr>
          <a:xfrm>
            <a:off x="530352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does a row know?</a:t>
            </a:r>
          </a:p>
        </p:txBody>
      </p:sp>
      <p:sp>
        <p:nvSpPr>
          <p:cNvPr id="9" name="Oval 8"/>
          <p:cNvSpPr/>
          <p:nvPr/>
        </p:nvSpPr>
        <p:spPr>
          <a:xfrm>
            <a:off x="1971960" y="6492240"/>
            <a:ext cx="64008" cy="6400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81688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5B3FD6"/>
                </a:solidFill>
                <a:latin typeface="Calibri"/>
              </a:rPr>
              <a:t>Is Surat twice Pune?</a:t>
            </a:r>
          </a:p>
        </p:txBody>
      </p:sp>
      <p:sp>
        <p:nvSpPr>
          <p:cNvPr id="11" name="Oval 10"/>
          <p:cNvSpPr/>
          <p:nvPr/>
        </p:nvSpPr>
        <p:spPr>
          <a:xfrm>
            <a:off x="3367563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7291" y="6437376"/>
            <a:ext cx="1148429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Known that morning?</a:t>
            </a:r>
          </a:p>
        </p:txBody>
      </p:sp>
      <p:sp>
        <p:nvSpPr>
          <p:cNvPr id="13" name="Oval 12"/>
          <p:cNvSpPr/>
          <p:nvPr/>
        </p:nvSpPr>
        <p:spPr>
          <a:xfrm>
            <a:off x="4717161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26889" y="6437376"/>
            <a:ext cx="1102423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Keep, drop or fix?</a:t>
            </a:r>
          </a:p>
        </p:txBody>
      </p:sp>
      <p:sp>
        <p:nvSpPr>
          <p:cNvPr id="15" name="Oval 14"/>
          <p:cNvSpPr/>
          <p:nvPr/>
        </p:nvSpPr>
        <p:spPr>
          <a:xfrm>
            <a:off x="6020752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30480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Is it rank or cause?</a:t>
            </a:r>
          </a:p>
        </p:txBody>
      </p:sp>
      <p:sp>
        <p:nvSpPr>
          <p:cNvPr id="17" name="Oval 16"/>
          <p:cNvSpPr/>
          <p:nvPr/>
        </p:nvSpPr>
        <p:spPr>
          <a:xfrm>
            <a:off x="7416355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26083" y="6437376"/>
            <a:ext cx="101041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Why did it jump?</a:t>
            </a:r>
          </a:p>
        </p:txBody>
      </p:sp>
      <p:sp>
        <p:nvSpPr>
          <p:cNvPr id="19" name="Oval 18"/>
          <p:cNvSpPr/>
          <p:nvPr/>
        </p:nvSpPr>
        <p:spPr>
          <a:xfrm>
            <a:off x="8627935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737663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Known before the call?</a:t>
            </a:r>
          </a:p>
        </p:txBody>
      </p:sp>
      <p:sp>
        <p:nvSpPr>
          <p:cNvPr id="21" name="Oval 20"/>
          <p:cNvSpPr/>
          <p:nvPr/>
        </p:nvSpPr>
        <p:spPr>
          <a:xfrm>
            <a:off x="10115549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225277" y="6437376"/>
            <a:ext cx="1148429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does it prove?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S12  ·  15 / 65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5  ·  WEDNESDAY  ·  WHAT THE MODEL IS ALLOWED TO KNOW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Rupees drown visits in a distance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A to B by hand: square root of 200 squared plus 7 squared, about 200</a:t>
            </a:r>
          </a:p>
        </p:txBody>
      </p:sp>
      <p:pic>
        <p:nvPicPr>
          <p:cNvPr id="6" name="mermaid diagram" descr="C2_W05_D03_ch2_scaling_STUD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0948" y="1664208"/>
            <a:ext cx="8189798" cy="3768344"/>
          </a:xfrm>
          <a:prstGeom prst="rect">
            <a:avLst/>
          </a:prstGeom>
        </p:spPr>
      </p:pic>
      <p:sp>
        <p:nvSpPr>
          <p:cNvPr id="7" name="picture caption"/>
          <p:cNvSpPr txBox="1"/>
          <p:nvPr/>
        </p:nvSpPr>
        <p:spPr>
          <a:xfrm>
            <a:off x="530352" y="5469128"/>
            <a:ext cx="11130991" cy="3169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6B6690"/>
                </a:solidFill>
                <a:latin typeface="Calibri"/>
              </a:rPr>
              <a:t>Raw against standardised, A's nearest neighbour changes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5795264"/>
            <a:ext cx="11130991" cy="40436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0" i="0">
                <a:solidFill>
                  <a:srgbClr val="1A1440"/>
                </a:solidFill>
                <a:latin typeface="Calibri"/>
              </a:rPr>
              <a:t>Airbnb's first search network stalled until its features were standardised.</a:t>
            </a:r>
          </a:p>
        </p:txBody>
      </p:sp>
      <p:sp>
        <p:nvSpPr>
          <p:cNvPr id="9" name="Oval 8"/>
          <p:cNvSpPr/>
          <p:nvPr/>
        </p:nvSpPr>
        <p:spPr>
          <a:xfrm>
            <a:off x="530352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does a row know?</a:t>
            </a:r>
          </a:p>
        </p:txBody>
      </p:sp>
      <p:sp>
        <p:nvSpPr>
          <p:cNvPr id="11" name="Oval 10"/>
          <p:cNvSpPr/>
          <p:nvPr/>
        </p:nvSpPr>
        <p:spPr>
          <a:xfrm>
            <a:off x="1971960" y="6492240"/>
            <a:ext cx="64008" cy="6400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081688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5B3FD6"/>
                </a:solidFill>
                <a:latin typeface="Calibri"/>
              </a:rPr>
              <a:t>Is Surat twice Pune?</a:t>
            </a:r>
          </a:p>
        </p:txBody>
      </p:sp>
      <p:sp>
        <p:nvSpPr>
          <p:cNvPr id="13" name="Oval 12"/>
          <p:cNvSpPr/>
          <p:nvPr/>
        </p:nvSpPr>
        <p:spPr>
          <a:xfrm>
            <a:off x="3367563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77291" y="6437376"/>
            <a:ext cx="1148429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Known that morning?</a:t>
            </a:r>
          </a:p>
        </p:txBody>
      </p:sp>
      <p:sp>
        <p:nvSpPr>
          <p:cNvPr id="15" name="Oval 14"/>
          <p:cNvSpPr/>
          <p:nvPr/>
        </p:nvSpPr>
        <p:spPr>
          <a:xfrm>
            <a:off x="4717161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26889" y="6437376"/>
            <a:ext cx="1102423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Keep, drop or fix?</a:t>
            </a:r>
          </a:p>
        </p:txBody>
      </p:sp>
      <p:sp>
        <p:nvSpPr>
          <p:cNvPr id="17" name="Oval 16"/>
          <p:cNvSpPr/>
          <p:nvPr/>
        </p:nvSpPr>
        <p:spPr>
          <a:xfrm>
            <a:off x="6020752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30480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Is it rank or cause?</a:t>
            </a:r>
          </a:p>
        </p:txBody>
      </p:sp>
      <p:sp>
        <p:nvSpPr>
          <p:cNvPr id="19" name="Oval 18"/>
          <p:cNvSpPr/>
          <p:nvPr/>
        </p:nvSpPr>
        <p:spPr>
          <a:xfrm>
            <a:off x="7416355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26083" y="6437376"/>
            <a:ext cx="101041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Why did it jump?</a:t>
            </a:r>
          </a:p>
        </p:txBody>
      </p:sp>
      <p:sp>
        <p:nvSpPr>
          <p:cNvPr id="21" name="Oval 20"/>
          <p:cNvSpPr/>
          <p:nvPr/>
        </p:nvSpPr>
        <p:spPr>
          <a:xfrm>
            <a:off x="8627935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37663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Known before the call?</a:t>
            </a:r>
          </a:p>
        </p:txBody>
      </p:sp>
      <p:sp>
        <p:nvSpPr>
          <p:cNvPr id="23" name="Oval 22"/>
          <p:cNvSpPr/>
          <p:nvPr/>
        </p:nvSpPr>
        <p:spPr>
          <a:xfrm>
            <a:off x="10115549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225277" y="6437376"/>
            <a:ext cx="1148429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does it prove?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S13  ·  16 / 65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5  ·  WEDNESDAY  ·  WHAT THE MODEL IS ALLOWED TO KNOW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Which models care, and which shrug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The cut-first table if the room runs late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30352" y="1956816"/>
          <a:ext cx="11130990" cy="134112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720508"/>
                <a:gridCol w="2388562"/>
                <a:gridCol w="1973631"/>
                <a:gridCol w="4048289"/>
              </a:tblGrid>
              <a:tr h="335280"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Model family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Category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Number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Why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Logistic, linear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one-hot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standardise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one weight per column; the penalty reads scale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Nearest neighbours, clustering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one-hot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standardise, decisive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distance adds raw gaps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Tree, forest, boosting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one-hot or an ordinal code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no need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thresholds ignore units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Oval 6"/>
          <p:cNvSpPr/>
          <p:nvPr/>
        </p:nvSpPr>
        <p:spPr>
          <a:xfrm>
            <a:off x="530352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does a row know?</a:t>
            </a:r>
          </a:p>
        </p:txBody>
      </p:sp>
      <p:sp>
        <p:nvSpPr>
          <p:cNvPr id="9" name="Oval 8"/>
          <p:cNvSpPr/>
          <p:nvPr/>
        </p:nvSpPr>
        <p:spPr>
          <a:xfrm>
            <a:off x="1971960" y="6492240"/>
            <a:ext cx="64008" cy="6400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81688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5B3FD6"/>
                </a:solidFill>
                <a:latin typeface="Calibri"/>
              </a:rPr>
              <a:t>Is Surat twice Pune?</a:t>
            </a:r>
          </a:p>
        </p:txBody>
      </p:sp>
      <p:sp>
        <p:nvSpPr>
          <p:cNvPr id="11" name="Oval 10"/>
          <p:cNvSpPr/>
          <p:nvPr/>
        </p:nvSpPr>
        <p:spPr>
          <a:xfrm>
            <a:off x="3367563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7291" y="6437376"/>
            <a:ext cx="1148429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Known that morning?</a:t>
            </a:r>
          </a:p>
        </p:txBody>
      </p:sp>
      <p:sp>
        <p:nvSpPr>
          <p:cNvPr id="13" name="Oval 12"/>
          <p:cNvSpPr/>
          <p:nvPr/>
        </p:nvSpPr>
        <p:spPr>
          <a:xfrm>
            <a:off x="4717161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26889" y="6437376"/>
            <a:ext cx="1102423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Keep, drop or fix?</a:t>
            </a:r>
          </a:p>
        </p:txBody>
      </p:sp>
      <p:sp>
        <p:nvSpPr>
          <p:cNvPr id="15" name="Oval 14"/>
          <p:cNvSpPr/>
          <p:nvPr/>
        </p:nvSpPr>
        <p:spPr>
          <a:xfrm>
            <a:off x="6020752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30480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Is it rank or cause?</a:t>
            </a:r>
          </a:p>
        </p:txBody>
      </p:sp>
      <p:sp>
        <p:nvSpPr>
          <p:cNvPr id="17" name="Oval 16"/>
          <p:cNvSpPr/>
          <p:nvPr/>
        </p:nvSpPr>
        <p:spPr>
          <a:xfrm>
            <a:off x="7416355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26083" y="6437376"/>
            <a:ext cx="101041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Why did it jump?</a:t>
            </a:r>
          </a:p>
        </p:txBody>
      </p:sp>
      <p:sp>
        <p:nvSpPr>
          <p:cNvPr id="19" name="Oval 18"/>
          <p:cNvSpPr/>
          <p:nvPr/>
        </p:nvSpPr>
        <p:spPr>
          <a:xfrm>
            <a:off x="8627935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737663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Known before the call?</a:t>
            </a:r>
          </a:p>
        </p:txBody>
      </p:sp>
      <p:sp>
        <p:nvSpPr>
          <p:cNvPr id="21" name="Oval 20"/>
          <p:cNvSpPr/>
          <p:nvPr/>
        </p:nvSpPr>
        <p:spPr>
          <a:xfrm>
            <a:off x="10115549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225277" y="6437376"/>
            <a:ext cx="1148429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does it prove?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S14  ·  17 / 65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5  ·  WEDNESDAY  ·  WHAT THE MODEL IS ALLOWED TO KNOW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Drill: match the encoder to the column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Three column types, fifteen seconds each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30352" y="1956816"/>
          <a:ext cx="11130990" cy="1479296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3958677"/>
                <a:gridCol w="7172313"/>
              </a:tblGrid>
              <a:tr h="369824">
                <a:tc>
                  <a:txBody>
                    <a:bodyPr/>
                    <a:lstStyle/>
                    <a:p>
                      <a:r>
                        <a:rPr sz="1450" b="1" i="0">
                          <a:solidFill>
                            <a:srgbClr val="FFFFFF"/>
                          </a:solidFill>
                          <a:latin typeface="Calibri"/>
                        </a:rPr>
                        <a:t>Column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1" i="0">
                          <a:solidFill>
                            <a:srgbClr val="FFFFFF"/>
                          </a:solidFill>
                          <a:latin typeface="Calibri"/>
                        </a:rPr>
                        <a:t>Options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</a:tr>
              <a:tr h="369824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city, 40 values, logistic model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(a) one-hot (b) code 1 to 40 (c) drop it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  <a:tr h="369824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education, ordered levels, tree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(a) an ordinal code (b) a random code (c) text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</a:tr>
              <a:tr h="369824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default, yes, no or unknown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(a) one-hot with unknown kept (b) unknown as no (c) drop rows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Oval 6"/>
          <p:cNvSpPr/>
          <p:nvPr/>
        </p:nvSpPr>
        <p:spPr>
          <a:xfrm>
            <a:off x="530352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does a row know?</a:t>
            </a:r>
          </a:p>
        </p:txBody>
      </p:sp>
      <p:sp>
        <p:nvSpPr>
          <p:cNvPr id="9" name="Oval 8"/>
          <p:cNvSpPr/>
          <p:nvPr/>
        </p:nvSpPr>
        <p:spPr>
          <a:xfrm>
            <a:off x="1971960" y="6492240"/>
            <a:ext cx="64008" cy="6400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81688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5B3FD6"/>
                </a:solidFill>
                <a:latin typeface="Calibri"/>
              </a:rPr>
              <a:t>Is Surat twice Pune?</a:t>
            </a:r>
          </a:p>
        </p:txBody>
      </p:sp>
      <p:sp>
        <p:nvSpPr>
          <p:cNvPr id="11" name="Oval 10"/>
          <p:cNvSpPr/>
          <p:nvPr/>
        </p:nvSpPr>
        <p:spPr>
          <a:xfrm>
            <a:off x="3367563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7291" y="6437376"/>
            <a:ext cx="1148429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Known that morning?</a:t>
            </a:r>
          </a:p>
        </p:txBody>
      </p:sp>
      <p:sp>
        <p:nvSpPr>
          <p:cNvPr id="13" name="Oval 12"/>
          <p:cNvSpPr/>
          <p:nvPr/>
        </p:nvSpPr>
        <p:spPr>
          <a:xfrm>
            <a:off x="4717161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26889" y="6437376"/>
            <a:ext cx="1102423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Keep, drop or fix?</a:t>
            </a:r>
          </a:p>
        </p:txBody>
      </p:sp>
      <p:sp>
        <p:nvSpPr>
          <p:cNvPr id="15" name="Oval 14"/>
          <p:cNvSpPr/>
          <p:nvPr/>
        </p:nvSpPr>
        <p:spPr>
          <a:xfrm>
            <a:off x="6020752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30480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Is it rank or cause?</a:t>
            </a:r>
          </a:p>
        </p:txBody>
      </p:sp>
      <p:sp>
        <p:nvSpPr>
          <p:cNvPr id="17" name="Oval 16"/>
          <p:cNvSpPr/>
          <p:nvPr/>
        </p:nvSpPr>
        <p:spPr>
          <a:xfrm>
            <a:off x="7416355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26083" y="6437376"/>
            <a:ext cx="101041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Why did it jump?</a:t>
            </a:r>
          </a:p>
        </p:txBody>
      </p:sp>
      <p:sp>
        <p:nvSpPr>
          <p:cNvPr id="19" name="Oval 18"/>
          <p:cNvSpPr/>
          <p:nvPr/>
        </p:nvSpPr>
        <p:spPr>
          <a:xfrm>
            <a:off x="8627935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737663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Known before the call?</a:t>
            </a:r>
          </a:p>
        </p:txBody>
      </p:sp>
      <p:sp>
        <p:nvSpPr>
          <p:cNvPr id="21" name="Oval 20"/>
          <p:cNvSpPr/>
          <p:nvPr/>
        </p:nvSpPr>
        <p:spPr>
          <a:xfrm>
            <a:off x="10115549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225277" y="6437376"/>
            <a:ext cx="1148429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does it prove?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S15  ·  18 / 65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5  ·  WEDNESDAY  ·  WHAT THE MODEL IS ALLOWED TO KNOW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Answer: a, a, a, and each one has a flip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The flip is what an interviewer asks next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30352" y="1956816"/>
          <a:ext cx="11130990" cy="1479296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439113"/>
                <a:gridCol w="3092881"/>
                <a:gridCol w="5598996"/>
              </a:tblGrid>
              <a:tr h="369824">
                <a:tc>
                  <a:txBody>
                    <a:bodyPr/>
                    <a:lstStyle/>
                    <a:p>
                      <a:r>
                        <a:rPr sz="1450" b="1" i="0">
                          <a:solidFill>
                            <a:srgbClr val="FFFFFF"/>
                          </a:solidFill>
                          <a:latin typeface="Calibri"/>
                        </a:rPr>
                        <a:t>Column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1" i="0">
                          <a:solidFill>
                            <a:srgbClr val="FFFFFF"/>
                          </a:solidFill>
                          <a:latin typeface="Calibri"/>
                        </a:rPr>
                        <a:t>Answer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1" i="0">
                          <a:solidFill>
                            <a:srgbClr val="FFFFFF"/>
                          </a:solidFill>
                          <a:latin typeface="Calibri"/>
                        </a:rPr>
                        <a:t>Flips when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</a:tr>
              <a:tr h="369824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city, 40 values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one-hot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a tree model, or rare cities grouped into "other"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  <a:tr h="369824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education, ordered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ordinal code for a tree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a logistic model, which wants one-hot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</a:tr>
              <a:tr h="369824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default with unknown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keep unknown as a category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the business confirms unknown is noise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Oval 6"/>
          <p:cNvSpPr/>
          <p:nvPr/>
        </p:nvSpPr>
        <p:spPr>
          <a:xfrm>
            <a:off x="530352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does a row know?</a:t>
            </a:r>
          </a:p>
        </p:txBody>
      </p:sp>
      <p:sp>
        <p:nvSpPr>
          <p:cNvPr id="9" name="Oval 8"/>
          <p:cNvSpPr/>
          <p:nvPr/>
        </p:nvSpPr>
        <p:spPr>
          <a:xfrm>
            <a:off x="1971960" y="6492240"/>
            <a:ext cx="64008" cy="6400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81688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5B3FD6"/>
                </a:solidFill>
                <a:latin typeface="Calibri"/>
              </a:rPr>
              <a:t>Is Surat twice Pune?</a:t>
            </a:r>
          </a:p>
        </p:txBody>
      </p:sp>
      <p:sp>
        <p:nvSpPr>
          <p:cNvPr id="11" name="Oval 10"/>
          <p:cNvSpPr/>
          <p:nvPr/>
        </p:nvSpPr>
        <p:spPr>
          <a:xfrm>
            <a:off x="3367563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7291" y="6437376"/>
            <a:ext cx="1148429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Known that morning?</a:t>
            </a:r>
          </a:p>
        </p:txBody>
      </p:sp>
      <p:sp>
        <p:nvSpPr>
          <p:cNvPr id="13" name="Oval 12"/>
          <p:cNvSpPr/>
          <p:nvPr/>
        </p:nvSpPr>
        <p:spPr>
          <a:xfrm>
            <a:off x="4717161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26889" y="6437376"/>
            <a:ext cx="1102423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Keep, drop or fix?</a:t>
            </a:r>
          </a:p>
        </p:txBody>
      </p:sp>
      <p:sp>
        <p:nvSpPr>
          <p:cNvPr id="15" name="Oval 14"/>
          <p:cNvSpPr/>
          <p:nvPr/>
        </p:nvSpPr>
        <p:spPr>
          <a:xfrm>
            <a:off x="6020752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30480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Is it rank or cause?</a:t>
            </a:r>
          </a:p>
        </p:txBody>
      </p:sp>
      <p:sp>
        <p:nvSpPr>
          <p:cNvPr id="17" name="Oval 16"/>
          <p:cNvSpPr/>
          <p:nvPr/>
        </p:nvSpPr>
        <p:spPr>
          <a:xfrm>
            <a:off x="7416355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26083" y="6437376"/>
            <a:ext cx="101041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Why did it jump?</a:t>
            </a:r>
          </a:p>
        </p:txBody>
      </p:sp>
      <p:sp>
        <p:nvSpPr>
          <p:cNvPr id="19" name="Oval 18"/>
          <p:cNvSpPr/>
          <p:nvPr/>
        </p:nvSpPr>
        <p:spPr>
          <a:xfrm>
            <a:off x="8627935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737663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Known before the call?</a:t>
            </a:r>
          </a:p>
        </p:txBody>
      </p:sp>
      <p:sp>
        <p:nvSpPr>
          <p:cNvPr id="21" name="Oval 20"/>
          <p:cNvSpPr/>
          <p:nvPr/>
        </p:nvSpPr>
        <p:spPr>
          <a:xfrm>
            <a:off x="10115549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225277" y="6437376"/>
            <a:ext cx="1148429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does it prove?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S16  ·  19 / 65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dar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19" y="1143000"/>
            <a:ext cx="36576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600" b="0" i="0">
                <a:solidFill>
                  <a:srgbClr val="D9A7FF"/>
                </a:solidFill>
                <a:latin typeface="Georgia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19" y="2542032"/>
            <a:ext cx="10673791" cy="366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D9A7FF"/>
                </a:solidFill>
                <a:latin typeface="Calibri"/>
              </a:rPr>
              <a:t>Answers from the future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19" y="3017520"/>
            <a:ext cx="10673791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0" i="0">
                <a:solidFill>
                  <a:srgbClr val="FFFFFF"/>
                </a:solidFill>
                <a:latin typeface="Georgia"/>
              </a:rPr>
              <a:t>Known that morning?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19" y="3931920"/>
            <a:ext cx="9509760" cy="5318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E4E1F1"/>
                </a:solidFill>
                <a:latin typeface="Calibri"/>
              </a:rPr>
              <a:t>Leakage and the prediction-time question · also searched as: data leakage in machine learning, target leakage, train test contamination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19" y="5074920"/>
            <a:ext cx="1341271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FC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0">
                <a:solidFill>
                  <a:srgbClr val="CFC9EE"/>
                </a:solidFill>
                <a:latin typeface="Calibri"/>
              </a:rPr>
              <a:t>What does a row know?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182519" y="5074920"/>
            <a:ext cx="1291917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FC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0">
                <a:solidFill>
                  <a:srgbClr val="CFC9EE"/>
                </a:solidFill>
                <a:latin typeface="Calibri"/>
              </a:rPr>
              <a:t>Is Surat twice Pune?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84165" y="5074920"/>
            <a:ext cx="1242564" cy="310896"/>
          </a:xfrm>
          <a:prstGeom prst="roundRect">
            <a:avLst>
              <a:gd name="adj" fmla="val 50000"/>
            </a:avLst>
          </a:prstGeom>
          <a:solidFill>
            <a:srgbClr val="D9A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1">
                <a:solidFill>
                  <a:srgbClr val="1A0F5C"/>
                </a:solidFill>
                <a:latin typeface="Calibri"/>
              </a:rPr>
              <a:t>Known that morning?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936457" y="5074920"/>
            <a:ext cx="1193210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FC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0">
                <a:solidFill>
                  <a:srgbClr val="CFC9EE"/>
                </a:solidFill>
                <a:latin typeface="Calibri"/>
              </a:rPr>
              <a:t>Keep, drop or fix?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9396" y="5074920"/>
            <a:ext cx="1291917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FC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0">
                <a:solidFill>
                  <a:srgbClr val="CFC9EE"/>
                </a:solidFill>
                <a:latin typeface="Calibri"/>
              </a:rPr>
              <a:t>Is it rank or cause?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41042" y="5074920"/>
            <a:ext cx="1094503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FC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0">
                <a:solidFill>
                  <a:srgbClr val="CFC9EE"/>
                </a:solidFill>
                <a:latin typeface="Calibri"/>
              </a:rPr>
              <a:t>Why did it jump?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845273" y="5074920"/>
            <a:ext cx="1390625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FC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0">
                <a:solidFill>
                  <a:srgbClr val="CFC9EE"/>
                </a:solidFill>
                <a:latin typeface="Calibri"/>
              </a:rPr>
              <a:t>Known before the call?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345626" y="5074920"/>
            <a:ext cx="1242564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FC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0">
                <a:solidFill>
                  <a:srgbClr val="CFC9EE"/>
                </a:solidFill>
                <a:latin typeface="Calibri"/>
              </a:rPr>
              <a:t>What does it prove?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" y="6437376"/>
            <a:ext cx="9667951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 i="0">
                <a:solidFill>
                  <a:srgbClr val="CFC9EE"/>
                </a:solidFill>
                <a:latin typeface="Calibri"/>
              </a:rPr>
              <a:t>Week 5 Wednesday: what the model is allowed to know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CFC9EE"/>
                </a:solidFill>
                <a:latin typeface="Calibri"/>
              </a:rPr>
              <a:t>20 / 65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5  ·  WEDNESDAY  ·  WHAT THE MODEL IS ALLOWED TO KNOW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Settled scores 12 of 12: what on the nudge morning?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Twelve invented members; the rule says bought if settled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30352" y="1956816"/>
          <a:ext cx="11130990" cy="1479296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5484019"/>
                <a:gridCol w="5646971"/>
              </a:tblGrid>
              <a:tr h="369824">
                <a:tc>
                  <a:txBody>
                    <a:bodyPr/>
                    <a:lstStyle/>
                    <a:p>
                      <a:r>
                        <a:rPr sz="1450" b="1" i="0">
                          <a:solidFill>
                            <a:srgbClr val="FFFFFF"/>
                          </a:solidFill>
                          <a:latin typeface="Calibri"/>
                        </a:rPr>
                        <a:t>Rule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1" i="0">
                          <a:solidFill>
                            <a:srgbClr val="FFFFFF"/>
                          </a:solidFill>
                          <a:latin typeface="Calibri"/>
                        </a:rPr>
                        <a:t>Right, of 12, on the training table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</a:tr>
              <a:tr h="369824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bought if settlement_status is settled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  <a:tr h="369824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bought if orders_90d &gt;= 2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</a:tr>
              <a:tr h="369824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predict nobody buys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30352" y="3692144"/>
            <a:ext cx="11130991" cy="4958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600" b="0" i="0">
                <a:solidFill>
                  <a:srgbClr val="1A1440"/>
                </a:solidFill>
                <a:latin typeface="Calibri"/>
              </a:rPr>
              <a:t>On the nudge morning the settlement rule scores (a) 12 (b) 10 (c) 6</a:t>
            </a:r>
          </a:p>
        </p:txBody>
      </p:sp>
      <p:sp>
        <p:nvSpPr>
          <p:cNvPr id="8" name="Oval 7"/>
          <p:cNvSpPr/>
          <p:nvPr/>
        </p:nvSpPr>
        <p:spPr>
          <a:xfrm>
            <a:off x="530352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does a row know?</a:t>
            </a:r>
          </a:p>
        </p:txBody>
      </p:sp>
      <p:sp>
        <p:nvSpPr>
          <p:cNvPr id="10" name="Oval 9"/>
          <p:cNvSpPr/>
          <p:nvPr/>
        </p:nvSpPr>
        <p:spPr>
          <a:xfrm>
            <a:off x="1971960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81688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Is Surat twice Pune?</a:t>
            </a:r>
          </a:p>
        </p:txBody>
      </p:sp>
      <p:sp>
        <p:nvSpPr>
          <p:cNvPr id="12" name="Oval 11"/>
          <p:cNvSpPr/>
          <p:nvPr/>
        </p:nvSpPr>
        <p:spPr>
          <a:xfrm>
            <a:off x="3367563" y="6492240"/>
            <a:ext cx="64008" cy="6400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77291" y="6437376"/>
            <a:ext cx="1148429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5B3FD6"/>
                </a:solidFill>
                <a:latin typeface="Calibri"/>
              </a:rPr>
              <a:t>Known that morning?</a:t>
            </a:r>
          </a:p>
        </p:txBody>
      </p:sp>
      <p:sp>
        <p:nvSpPr>
          <p:cNvPr id="14" name="Oval 13"/>
          <p:cNvSpPr/>
          <p:nvPr/>
        </p:nvSpPr>
        <p:spPr>
          <a:xfrm>
            <a:off x="4717161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26889" y="6437376"/>
            <a:ext cx="1102423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Keep, drop or fix?</a:t>
            </a:r>
          </a:p>
        </p:txBody>
      </p:sp>
      <p:sp>
        <p:nvSpPr>
          <p:cNvPr id="16" name="Oval 15"/>
          <p:cNvSpPr/>
          <p:nvPr/>
        </p:nvSpPr>
        <p:spPr>
          <a:xfrm>
            <a:off x="6020752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30480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Is it rank or cause?</a:t>
            </a:r>
          </a:p>
        </p:txBody>
      </p:sp>
      <p:sp>
        <p:nvSpPr>
          <p:cNvPr id="18" name="Oval 17"/>
          <p:cNvSpPr/>
          <p:nvPr/>
        </p:nvSpPr>
        <p:spPr>
          <a:xfrm>
            <a:off x="7416355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26083" y="6437376"/>
            <a:ext cx="101041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Why did it jump?</a:t>
            </a:r>
          </a:p>
        </p:txBody>
      </p:sp>
      <p:sp>
        <p:nvSpPr>
          <p:cNvPr id="20" name="Oval 19"/>
          <p:cNvSpPr/>
          <p:nvPr/>
        </p:nvSpPr>
        <p:spPr>
          <a:xfrm>
            <a:off x="8627935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37663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Known before the call?</a:t>
            </a:r>
          </a:p>
        </p:txBody>
      </p:sp>
      <p:sp>
        <p:nvSpPr>
          <p:cNvPr id="22" name="Oval 21"/>
          <p:cNvSpPr/>
          <p:nvPr/>
        </p:nvSpPr>
        <p:spPr>
          <a:xfrm>
            <a:off x="10115549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25277" y="6437376"/>
            <a:ext cx="1148429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does it prove?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S17  ·  21 / 65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5  ·  WEDNESDAY  ·  WHAT THE MODEL IS ALLOWED TO KNOW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Answer: c, 6 of 12, the score of predicting nobody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No payment from the coming 90 days exists that morning</a:t>
            </a:r>
          </a:p>
        </p:txBody>
      </p:sp>
      <p:pic>
        <p:nvPicPr>
          <p:cNvPr id="6" name="mermaid diagram" descr="C2_W05_D03_ch3_rule_counts_STUD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4888" y="1682496"/>
            <a:ext cx="9081918" cy="4200144"/>
          </a:xfrm>
          <a:prstGeom prst="rect">
            <a:avLst/>
          </a:prstGeom>
        </p:spPr>
      </p:pic>
      <p:sp>
        <p:nvSpPr>
          <p:cNvPr id="7" name="picture caption"/>
          <p:cNvSpPr txBox="1"/>
          <p:nvPr/>
        </p:nvSpPr>
        <p:spPr>
          <a:xfrm>
            <a:off x="530352" y="5919216"/>
            <a:ext cx="11130991" cy="3169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6B6690"/>
                </a:solidFill>
                <a:latin typeface="Calibri"/>
              </a:rPr>
              <a:t>The perfect rule collapses when it meets the morning</a:t>
            </a:r>
          </a:p>
        </p:txBody>
      </p:sp>
      <p:sp>
        <p:nvSpPr>
          <p:cNvPr id="8" name="Oval 7"/>
          <p:cNvSpPr/>
          <p:nvPr/>
        </p:nvSpPr>
        <p:spPr>
          <a:xfrm>
            <a:off x="530352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does a row know?</a:t>
            </a:r>
          </a:p>
        </p:txBody>
      </p:sp>
      <p:sp>
        <p:nvSpPr>
          <p:cNvPr id="10" name="Oval 9"/>
          <p:cNvSpPr/>
          <p:nvPr/>
        </p:nvSpPr>
        <p:spPr>
          <a:xfrm>
            <a:off x="1971960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81688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Is Surat twice Pune?</a:t>
            </a:r>
          </a:p>
        </p:txBody>
      </p:sp>
      <p:sp>
        <p:nvSpPr>
          <p:cNvPr id="12" name="Oval 11"/>
          <p:cNvSpPr/>
          <p:nvPr/>
        </p:nvSpPr>
        <p:spPr>
          <a:xfrm>
            <a:off x="3367563" y="6492240"/>
            <a:ext cx="64008" cy="6400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77291" y="6437376"/>
            <a:ext cx="1148429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5B3FD6"/>
                </a:solidFill>
                <a:latin typeface="Calibri"/>
              </a:rPr>
              <a:t>Known that morning?</a:t>
            </a:r>
          </a:p>
        </p:txBody>
      </p:sp>
      <p:sp>
        <p:nvSpPr>
          <p:cNvPr id="14" name="Oval 13"/>
          <p:cNvSpPr/>
          <p:nvPr/>
        </p:nvSpPr>
        <p:spPr>
          <a:xfrm>
            <a:off x="4717161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26889" y="6437376"/>
            <a:ext cx="1102423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Keep, drop or fix?</a:t>
            </a:r>
          </a:p>
        </p:txBody>
      </p:sp>
      <p:sp>
        <p:nvSpPr>
          <p:cNvPr id="16" name="Oval 15"/>
          <p:cNvSpPr/>
          <p:nvPr/>
        </p:nvSpPr>
        <p:spPr>
          <a:xfrm>
            <a:off x="6020752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30480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Is it rank or cause?</a:t>
            </a:r>
          </a:p>
        </p:txBody>
      </p:sp>
      <p:sp>
        <p:nvSpPr>
          <p:cNvPr id="18" name="Oval 17"/>
          <p:cNvSpPr/>
          <p:nvPr/>
        </p:nvSpPr>
        <p:spPr>
          <a:xfrm>
            <a:off x="7416355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26083" y="6437376"/>
            <a:ext cx="101041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Why did it jump?</a:t>
            </a:r>
          </a:p>
        </p:txBody>
      </p:sp>
      <p:sp>
        <p:nvSpPr>
          <p:cNvPr id="20" name="Oval 19"/>
          <p:cNvSpPr/>
          <p:nvPr/>
        </p:nvSpPr>
        <p:spPr>
          <a:xfrm>
            <a:off x="8627935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37663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Known before the call?</a:t>
            </a:r>
          </a:p>
        </p:txBody>
      </p:sp>
      <p:sp>
        <p:nvSpPr>
          <p:cNvPr id="22" name="Oval 21"/>
          <p:cNvSpPr/>
          <p:nvPr/>
        </p:nvSpPr>
        <p:spPr>
          <a:xfrm>
            <a:off x="10115549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25277" y="6437376"/>
            <a:ext cx="1148429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does it prove?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S18  ·  22 / 65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5  ·  WEDNESDAY  ·  WHAT THE MODEL IS ALLOWED TO KNOW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One member's timeline: green known, red written after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The nudge morning is the prediction moment</a:t>
            </a:r>
          </a:p>
        </p:txBody>
      </p:sp>
      <p:pic>
        <p:nvPicPr>
          <p:cNvPr id="6" name="mermaid diagram" descr="C2_W05_D03_ch3_member_timeline_STUD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1821232"/>
            <a:ext cx="11130991" cy="3886095"/>
          </a:xfrm>
          <a:prstGeom prst="rect">
            <a:avLst/>
          </a:prstGeom>
        </p:spPr>
      </p:pic>
      <p:sp>
        <p:nvSpPr>
          <p:cNvPr id="7" name="picture caption"/>
          <p:cNvSpPr txBox="1"/>
          <p:nvPr/>
        </p:nvSpPr>
        <p:spPr>
          <a:xfrm>
            <a:off x="530352" y="5743903"/>
            <a:ext cx="11130991" cy="3169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6B6690"/>
                </a:solidFill>
                <a:latin typeface="Calibri"/>
              </a:rPr>
              <a:t>One invented member's timeline with settlement in red</a:t>
            </a:r>
          </a:p>
        </p:txBody>
      </p:sp>
      <p:sp>
        <p:nvSpPr>
          <p:cNvPr id="8" name="Oval 7"/>
          <p:cNvSpPr/>
          <p:nvPr/>
        </p:nvSpPr>
        <p:spPr>
          <a:xfrm>
            <a:off x="530352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does a row know?</a:t>
            </a:r>
          </a:p>
        </p:txBody>
      </p:sp>
      <p:sp>
        <p:nvSpPr>
          <p:cNvPr id="10" name="Oval 9"/>
          <p:cNvSpPr/>
          <p:nvPr/>
        </p:nvSpPr>
        <p:spPr>
          <a:xfrm>
            <a:off x="1971960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81688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Is Surat twice Pune?</a:t>
            </a:r>
          </a:p>
        </p:txBody>
      </p:sp>
      <p:sp>
        <p:nvSpPr>
          <p:cNvPr id="12" name="Oval 11"/>
          <p:cNvSpPr/>
          <p:nvPr/>
        </p:nvSpPr>
        <p:spPr>
          <a:xfrm>
            <a:off x="3367563" y="6492240"/>
            <a:ext cx="64008" cy="6400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77291" y="6437376"/>
            <a:ext cx="1148429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5B3FD6"/>
                </a:solidFill>
                <a:latin typeface="Calibri"/>
              </a:rPr>
              <a:t>Known that morning?</a:t>
            </a:r>
          </a:p>
        </p:txBody>
      </p:sp>
      <p:sp>
        <p:nvSpPr>
          <p:cNvPr id="14" name="Oval 13"/>
          <p:cNvSpPr/>
          <p:nvPr/>
        </p:nvSpPr>
        <p:spPr>
          <a:xfrm>
            <a:off x="4717161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26889" y="6437376"/>
            <a:ext cx="1102423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Keep, drop or fix?</a:t>
            </a:r>
          </a:p>
        </p:txBody>
      </p:sp>
      <p:sp>
        <p:nvSpPr>
          <p:cNvPr id="16" name="Oval 15"/>
          <p:cNvSpPr/>
          <p:nvPr/>
        </p:nvSpPr>
        <p:spPr>
          <a:xfrm>
            <a:off x="6020752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30480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Is it rank or cause?</a:t>
            </a:r>
          </a:p>
        </p:txBody>
      </p:sp>
      <p:sp>
        <p:nvSpPr>
          <p:cNvPr id="18" name="Oval 17"/>
          <p:cNvSpPr/>
          <p:nvPr/>
        </p:nvSpPr>
        <p:spPr>
          <a:xfrm>
            <a:off x="7416355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26083" y="6437376"/>
            <a:ext cx="101041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Why did it jump?</a:t>
            </a:r>
          </a:p>
        </p:txBody>
      </p:sp>
      <p:sp>
        <p:nvSpPr>
          <p:cNvPr id="20" name="Oval 19"/>
          <p:cNvSpPr/>
          <p:nvPr/>
        </p:nvSpPr>
        <p:spPr>
          <a:xfrm>
            <a:off x="8627935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37663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Known before the call?</a:t>
            </a:r>
          </a:p>
        </p:txBody>
      </p:sp>
      <p:sp>
        <p:nvSpPr>
          <p:cNvPr id="22" name="Oval 21"/>
          <p:cNvSpPr/>
          <p:nvPr/>
        </p:nvSpPr>
        <p:spPr>
          <a:xfrm>
            <a:off x="10115549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25277" y="6437376"/>
            <a:ext cx="1148429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does it prove?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S19  ·  23 / 65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5  ·  WEDNESDAY  ·  WHAT THE MODEL IS ALLOWED TO KNOW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The prediction-time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Asked of every column, with the system that writes it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0352" y="1956816"/>
            <a:ext cx="45720" cy="467359"/>
          </a:xfrm>
          <a:prstGeom prst="roundRect">
            <a:avLst>
              <a:gd name="adj" fmla="val 50000"/>
            </a:avLst>
          </a:prstGeom>
          <a:solidFill>
            <a:srgbClr val="D9A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" y="1956816"/>
            <a:ext cx="10820095" cy="467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0" i="1">
                <a:solidFill>
                  <a:srgbClr val="1A0F5C"/>
                </a:solidFill>
                <a:latin typeface="Georgia"/>
              </a:rPr>
              <a:t>"On the morning the model is used, do we know this value for this customer?"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0352" y="2570480"/>
            <a:ext cx="45720" cy="467359"/>
          </a:xfrm>
          <a:prstGeom prst="roundRect">
            <a:avLst>
              <a:gd name="adj" fmla="val 50000"/>
            </a:avLst>
          </a:prstGeom>
          <a:solidFill>
            <a:srgbClr val="D9A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2570480"/>
            <a:ext cx="10820095" cy="467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0" i="1">
                <a:solidFill>
                  <a:srgbClr val="1A0F5C"/>
                </a:solidFill>
                <a:latin typeface="Georgia"/>
              </a:rPr>
              <a:t>The prediction-time question, asked of every column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30352" y="3184144"/>
          <a:ext cx="11130990" cy="1109472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5503498"/>
                <a:gridCol w="5627492"/>
              </a:tblGrid>
              <a:tr h="369824">
                <a:tc>
                  <a:txBody>
                    <a:bodyPr/>
                    <a:lstStyle/>
                    <a:p>
                      <a:r>
                        <a:rPr sz="1450" b="1" i="0">
                          <a:solidFill>
                            <a:srgbClr val="FFFFFF"/>
                          </a:solidFill>
                          <a:latin typeface="Calibri"/>
                        </a:rPr>
                        <a:t>Two more routes for the future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1" i="0">
                          <a:solidFill>
                            <a:srgbClr val="FFFFFF"/>
                          </a:solidFill>
                          <a:latin typeface="Calibri"/>
                        </a:rPr>
                        <a:t>The fix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</a:tr>
              <a:tr h="369824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an encoder or scaler fitted on all rows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fit inside the pipeline, on training rows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  <a:tr h="369824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rows from after the moment inside training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split by the moment; Friday does it by time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</a:tr>
            </a:tbl>
          </a:graphicData>
        </a:graphic>
      </p:graphicFrame>
      <p:sp>
        <p:nvSpPr>
          <p:cNvPr id="11" name="Oval 10"/>
          <p:cNvSpPr/>
          <p:nvPr/>
        </p:nvSpPr>
        <p:spPr>
          <a:xfrm>
            <a:off x="530352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does a row know?</a:t>
            </a:r>
          </a:p>
        </p:txBody>
      </p:sp>
      <p:sp>
        <p:nvSpPr>
          <p:cNvPr id="13" name="Oval 12"/>
          <p:cNvSpPr/>
          <p:nvPr/>
        </p:nvSpPr>
        <p:spPr>
          <a:xfrm>
            <a:off x="1971960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081688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Is Surat twice Pune?</a:t>
            </a:r>
          </a:p>
        </p:txBody>
      </p:sp>
      <p:sp>
        <p:nvSpPr>
          <p:cNvPr id="15" name="Oval 14"/>
          <p:cNvSpPr/>
          <p:nvPr/>
        </p:nvSpPr>
        <p:spPr>
          <a:xfrm>
            <a:off x="3367563" y="6492240"/>
            <a:ext cx="64008" cy="6400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77291" y="6437376"/>
            <a:ext cx="1148429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5B3FD6"/>
                </a:solidFill>
                <a:latin typeface="Calibri"/>
              </a:rPr>
              <a:t>Known that morning?</a:t>
            </a:r>
          </a:p>
        </p:txBody>
      </p:sp>
      <p:sp>
        <p:nvSpPr>
          <p:cNvPr id="17" name="Oval 16"/>
          <p:cNvSpPr/>
          <p:nvPr/>
        </p:nvSpPr>
        <p:spPr>
          <a:xfrm>
            <a:off x="4717161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26889" y="6437376"/>
            <a:ext cx="1102423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Keep, drop or fix?</a:t>
            </a:r>
          </a:p>
        </p:txBody>
      </p:sp>
      <p:sp>
        <p:nvSpPr>
          <p:cNvPr id="19" name="Oval 18"/>
          <p:cNvSpPr/>
          <p:nvPr/>
        </p:nvSpPr>
        <p:spPr>
          <a:xfrm>
            <a:off x="6020752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30480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Is it rank or cause?</a:t>
            </a:r>
          </a:p>
        </p:txBody>
      </p:sp>
      <p:sp>
        <p:nvSpPr>
          <p:cNvPr id="21" name="Oval 20"/>
          <p:cNvSpPr/>
          <p:nvPr/>
        </p:nvSpPr>
        <p:spPr>
          <a:xfrm>
            <a:off x="7416355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26083" y="6437376"/>
            <a:ext cx="101041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Why did it jump?</a:t>
            </a:r>
          </a:p>
        </p:txBody>
      </p:sp>
      <p:sp>
        <p:nvSpPr>
          <p:cNvPr id="23" name="Oval 22"/>
          <p:cNvSpPr/>
          <p:nvPr/>
        </p:nvSpPr>
        <p:spPr>
          <a:xfrm>
            <a:off x="8627935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737663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Known before the call?</a:t>
            </a:r>
          </a:p>
        </p:txBody>
      </p:sp>
      <p:sp>
        <p:nvSpPr>
          <p:cNvPr id="25" name="Oval 24"/>
          <p:cNvSpPr/>
          <p:nvPr/>
        </p:nvSpPr>
        <p:spPr>
          <a:xfrm>
            <a:off x="10115549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225277" y="6437376"/>
            <a:ext cx="1148429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does it prove?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S20  ·  24 / 65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5  ·  WEDNESDAY  ·  WHAT THE MODEL IS ALLOWED TO KNOW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The explorable: slide the prediction moment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Open the explorer at #p3: every column pinned at the day it is written</a:t>
            </a:r>
          </a:p>
        </p:txBody>
      </p:sp>
      <p:pic>
        <p:nvPicPr>
          <p:cNvPr id="6" name="mermaid diagram" descr="C2_W05_D03_explorer_STUD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6683" y="1956816"/>
            <a:ext cx="8958327" cy="2714644"/>
          </a:xfrm>
          <a:prstGeom prst="rect">
            <a:avLst/>
          </a:prstGeom>
        </p:spPr>
      </p:pic>
      <p:sp>
        <p:nvSpPr>
          <p:cNvPr id="7" name="picture caption"/>
          <p:cNvSpPr txBox="1"/>
          <p:nvPr/>
        </p:nvSpPr>
        <p:spPr>
          <a:xfrm>
            <a:off x="530352" y="4708036"/>
            <a:ext cx="11130991" cy="3169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6B6690"/>
                </a:solidFill>
                <a:latin typeface="Calibri"/>
              </a:rPr>
              <a:t>The explorer's page 3 at the nudge morning: the two columns written after it turn red and leave</a:t>
            </a:r>
          </a:p>
        </p:txBody>
      </p:sp>
      <p:sp>
        <p:nvSpPr>
          <p:cNvPr id="8" name="Oval 7"/>
          <p:cNvSpPr/>
          <p:nvPr/>
        </p:nvSpPr>
        <p:spPr>
          <a:xfrm>
            <a:off x="530352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does a row know?</a:t>
            </a:r>
          </a:p>
        </p:txBody>
      </p:sp>
      <p:sp>
        <p:nvSpPr>
          <p:cNvPr id="10" name="Oval 9"/>
          <p:cNvSpPr/>
          <p:nvPr/>
        </p:nvSpPr>
        <p:spPr>
          <a:xfrm>
            <a:off x="1971960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81688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Is Surat twice Pune?</a:t>
            </a:r>
          </a:p>
        </p:txBody>
      </p:sp>
      <p:sp>
        <p:nvSpPr>
          <p:cNvPr id="12" name="Oval 11"/>
          <p:cNvSpPr/>
          <p:nvPr/>
        </p:nvSpPr>
        <p:spPr>
          <a:xfrm>
            <a:off x="3367563" y="6492240"/>
            <a:ext cx="64008" cy="6400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77291" y="6437376"/>
            <a:ext cx="1148429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5B3FD6"/>
                </a:solidFill>
                <a:latin typeface="Calibri"/>
              </a:rPr>
              <a:t>Known that morning?</a:t>
            </a:r>
          </a:p>
        </p:txBody>
      </p:sp>
      <p:sp>
        <p:nvSpPr>
          <p:cNvPr id="14" name="Oval 13"/>
          <p:cNvSpPr/>
          <p:nvPr/>
        </p:nvSpPr>
        <p:spPr>
          <a:xfrm>
            <a:off x="4717161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26889" y="6437376"/>
            <a:ext cx="1102423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Keep, drop or fix?</a:t>
            </a:r>
          </a:p>
        </p:txBody>
      </p:sp>
      <p:sp>
        <p:nvSpPr>
          <p:cNvPr id="16" name="Oval 15"/>
          <p:cNvSpPr/>
          <p:nvPr/>
        </p:nvSpPr>
        <p:spPr>
          <a:xfrm>
            <a:off x="6020752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30480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Is it rank or cause?</a:t>
            </a:r>
          </a:p>
        </p:txBody>
      </p:sp>
      <p:sp>
        <p:nvSpPr>
          <p:cNvPr id="18" name="Oval 17"/>
          <p:cNvSpPr/>
          <p:nvPr/>
        </p:nvSpPr>
        <p:spPr>
          <a:xfrm>
            <a:off x="7416355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26083" y="6437376"/>
            <a:ext cx="101041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Why did it jump?</a:t>
            </a:r>
          </a:p>
        </p:txBody>
      </p:sp>
      <p:sp>
        <p:nvSpPr>
          <p:cNvPr id="20" name="Oval 19"/>
          <p:cNvSpPr/>
          <p:nvPr/>
        </p:nvSpPr>
        <p:spPr>
          <a:xfrm>
            <a:off x="8627935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37663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Known before the call?</a:t>
            </a:r>
          </a:p>
        </p:txBody>
      </p:sp>
      <p:sp>
        <p:nvSpPr>
          <p:cNvPr id="22" name="Oval 21"/>
          <p:cNvSpPr/>
          <p:nvPr/>
        </p:nvSpPr>
        <p:spPr>
          <a:xfrm>
            <a:off x="10115549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25277" y="6437376"/>
            <a:ext cx="1148429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does it prove?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S21  ·  25 / 65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5  ·  WEDNESDAY  ·  WHAT THE MODEL IS ALLOWED TO KNOW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Four rules for leakage, each with its flip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"Too good" starts the question; it is never the verdict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30352" y="1956816"/>
          <a:ext cx="11130990" cy="184912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5675954"/>
                <a:gridCol w="5455036"/>
              </a:tblGrid>
              <a:tr h="369824">
                <a:tc>
                  <a:txBody>
                    <a:bodyPr/>
                    <a:lstStyle/>
                    <a:p>
                      <a:r>
                        <a:rPr sz="1450" b="1" i="0">
                          <a:solidFill>
                            <a:srgbClr val="FFFFFF"/>
                          </a:solidFill>
                          <a:latin typeface="Calibri"/>
                        </a:rPr>
                        <a:t>Rule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1" i="0">
                          <a:solidFill>
                            <a:srgbClr val="FFFFFF"/>
                          </a:solidFill>
                          <a:latin typeface="Calibri"/>
                        </a:rPr>
                        <a:t>Flips when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</a:tr>
              <a:tr h="369824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Drop a column written after the prediction moment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never, whatever it scores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  <a:tr h="369824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Suspect a jump from one new column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a known, legitimate new source explains it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</a:tr>
              <a:tr h="369824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A strong column known in time stays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never; strength alone is no evidence of a leak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  <a:tr h="369824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Ship the honest score, which is lower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never ship a model that cannot run that morning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30352" y="4061968"/>
            <a:ext cx="11130991" cy="4958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600" b="0" i="0">
                <a:solidFill>
                  <a:srgbClr val="1A1440"/>
                </a:solidFill>
                <a:latin typeface="Calibri"/>
              </a:rPr>
              <a:t>Kaggle, 2011: the winners rebuilt the test answers from a public crawl and scored AUC 0.981.</a:t>
            </a:r>
          </a:p>
        </p:txBody>
      </p:sp>
      <p:sp>
        <p:nvSpPr>
          <p:cNvPr id="8" name="Oval 7"/>
          <p:cNvSpPr/>
          <p:nvPr/>
        </p:nvSpPr>
        <p:spPr>
          <a:xfrm>
            <a:off x="530352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does a row know?</a:t>
            </a:r>
          </a:p>
        </p:txBody>
      </p:sp>
      <p:sp>
        <p:nvSpPr>
          <p:cNvPr id="10" name="Oval 9"/>
          <p:cNvSpPr/>
          <p:nvPr/>
        </p:nvSpPr>
        <p:spPr>
          <a:xfrm>
            <a:off x="1971960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81688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Is Surat twice Pune?</a:t>
            </a:r>
          </a:p>
        </p:txBody>
      </p:sp>
      <p:sp>
        <p:nvSpPr>
          <p:cNvPr id="12" name="Oval 11"/>
          <p:cNvSpPr/>
          <p:nvPr/>
        </p:nvSpPr>
        <p:spPr>
          <a:xfrm>
            <a:off x="3367563" y="6492240"/>
            <a:ext cx="64008" cy="6400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77291" y="6437376"/>
            <a:ext cx="1148429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5B3FD6"/>
                </a:solidFill>
                <a:latin typeface="Calibri"/>
              </a:rPr>
              <a:t>Known that morning?</a:t>
            </a:r>
          </a:p>
        </p:txBody>
      </p:sp>
      <p:sp>
        <p:nvSpPr>
          <p:cNvPr id="14" name="Oval 13"/>
          <p:cNvSpPr/>
          <p:nvPr/>
        </p:nvSpPr>
        <p:spPr>
          <a:xfrm>
            <a:off x="4717161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26889" y="6437376"/>
            <a:ext cx="1102423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Keep, drop or fix?</a:t>
            </a:r>
          </a:p>
        </p:txBody>
      </p:sp>
      <p:sp>
        <p:nvSpPr>
          <p:cNvPr id="16" name="Oval 15"/>
          <p:cNvSpPr/>
          <p:nvPr/>
        </p:nvSpPr>
        <p:spPr>
          <a:xfrm>
            <a:off x="6020752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30480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Is it rank or cause?</a:t>
            </a:r>
          </a:p>
        </p:txBody>
      </p:sp>
      <p:sp>
        <p:nvSpPr>
          <p:cNvPr id="18" name="Oval 17"/>
          <p:cNvSpPr/>
          <p:nvPr/>
        </p:nvSpPr>
        <p:spPr>
          <a:xfrm>
            <a:off x="7416355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26083" y="6437376"/>
            <a:ext cx="101041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Why did it jump?</a:t>
            </a:r>
          </a:p>
        </p:txBody>
      </p:sp>
      <p:sp>
        <p:nvSpPr>
          <p:cNvPr id="20" name="Oval 19"/>
          <p:cNvSpPr/>
          <p:nvPr/>
        </p:nvSpPr>
        <p:spPr>
          <a:xfrm>
            <a:off x="8627935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37663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Known before the call?</a:t>
            </a:r>
          </a:p>
        </p:txBody>
      </p:sp>
      <p:sp>
        <p:nvSpPr>
          <p:cNvPr id="22" name="Oval 21"/>
          <p:cNvSpPr/>
          <p:nvPr/>
        </p:nvSpPr>
        <p:spPr>
          <a:xfrm>
            <a:off x="10115549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25277" y="6437376"/>
            <a:ext cx="1148429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does it prove?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S22  ·  26 / 65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dar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19" y="1143000"/>
            <a:ext cx="36576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600" b="0" i="0">
                <a:solidFill>
                  <a:srgbClr val="D9A7FF"/>
                </a:solidFill>
                <a:latin typeface="Georgia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19" y="2542032"/>
            <a:ext cx="10673791" cy="366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D9A7FF"/>
                </a:solidFill>
                <a:latin typeface="Calibri"/>
              </a:rPr>
              <a:t>Interrogating every column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19" y="3017520"/>
            <a:ext cx="10673791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0" i="0">
                <a:solidFill>
                  <a:srgbClr val="FFFFFF"/>
                </a:solidFill>
                <a:latin typeface="Georgia"/>
              </a:rPr>
              <a:t>Keep, drop or fix?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19" y="3931920"/>
            <a:ext cx="9509760" cy="5318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E4E1F1"/>
                </a:solidFill>
                <a:latin typeface="Calibri"/>
              </a:rPr>
              <a:t>The column audit · also searched as: feature audit, leakage checklist, point-in-time correct features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19" y="5074920"/>
            <a:ext cx="1341271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FC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0">
                <a:solidFill>
                  <a:srgbClr val="CFC9EE"/>
                </a:solidFill>
                <a:latin typeface="Calibri"/>
              </a:rPr>
              <a:t>What does a row know?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182519" y="5074920"/>
            <a:ext cx="1291917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FC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0">
                <a:solidFill>
                  <a:srgbClr val="CFC9EE"/>
                </a:solidFill>
                <a:latin typeface="Calibri"/>
              </a:rPr>
              <a:t>Is Surat twice Pune?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84165" y="5074920"/>
            <a:ext cx="1242564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FC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0">
                <a:solidFill>
                  <a:srgbClr val="CFC9EE"/>
                </a:solidFill>
                <a:latin typeface="Calibri"/>
              </a:rPr>
              <a:t>Known that morning?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936457" y="5074920"/>
            <a:ext cx="1193210" cy="310896"/>
          </a:xfrm>
          <a:prstGeom prst="roundRect">
            <a:avLst>
              <a:gd name="adj" fmla="val 50000"/>
            </a:avLst>
          </a:prstGeom>
          <a:solidFill>
            <a:srgbClr val="D9A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1">
                <a:solidFill>
                  <a:srgbClr val="1A0F5C"/>
                </a:solidFill>
                <a:latin typeface="Calibri"/>
              </a:rPr>
              <a:t>Keep, drop or fix?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9396" y="5074920"/>
            <a:ext cx="1291917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FC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0">
                <a:solidFill>
                  <a:srgbClr val="CFC9EE"/>
                </a:solidFill>
                <a:latin typeface="Calibri"/>
              </a:rPr>
              <a:t>Is it rank or cause?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41042" y="5074920"/>
            <a:ext cx="1094503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FC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0">
                <a:solidFill>
                  <a:srgbClr val="CFC9EE"/>
                </a:solidFill>
                <a:latin typeface="Calibri"/>
              </a:rPr>
              <a:t>Why did it jump?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845273" y="5074920"/>
            <a:ext cx="1390625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FC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0">
                <a:solidFill>
                  <a:srgbClr val="CFC9EE"/>
                </a:solidFill>
                <a:latin typeface="Calibri"/>
              </a:rPr>
              <a:t>Known before the call?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345626" y="5074920"/>
            <a:ext cx="1242564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FC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0">
                <a:solidFill>
                  <a:srgbClr val="CFC9EE"/>
                </a:solidFill>
                <a:latin typeface="Calibri"/>
              </a:rPr>
              <a:t>What does it prove?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" y="6437376"/>
            <a:ext cx="9667951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 i="0">
                <a:solidFill>
                  <a:srgbClr val="CFC9EE"/>
                </a:solidFill>
                <a:latin typeface="Calibri"/>
              </a:rPr>
              <a:t>Week 5 Wednesday: what the model is allowed to know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CFC9EE"/>
                </a:solidFill>
                <a:latin typeface="Calibri"/>
              </a:rPr>
              <a:t>27 / 65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5  ·  WEDNESDAY  ·  WHAT THE MODEL IS ALLOWED TO KNOW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Five asks of every column, written on one 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A reviewer argues with a line, never with a feeling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30352" y="1956816"/>
          <a:ext cx="11130990" cy="2218944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5834456"/>
                <a:gridCol w="5296534"/>
              </a:tblGrid>
              <a:tr h="369824">
                <a:tc>
                  <a:txBody>
                    <a:bodyPr/>
                    <a:lstStyle/>
                    <a:p>
                      <a:r>
                        <a:rPr sz="1450" b="1" i="0">
                          <a:solidFill>
                            <a:srgbClr val="FFFFFF"/>
                          </a:solidFill>
                          <a:latin typeface="Calibri"/>
                        </a:rPr>
                        <a:t>Ask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1" i="0">
                          <a:solidFill>
                            <a:srgbClr val="FFFFFF"/>
                          </a:solidFill>
                          <a:latin typeface="Calibri"/>
                        </a:rPr>
                        <a:t>Why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</a:tr>
              <a:tr h="369824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Which system writes it?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the owner knows when it changes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  <a:tr h="369824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When, in days from the prediction moment?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negative means known in time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</a:tr>
              <a:tr h="369824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Is it overwritten later?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then read it as it stood that morning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  <a:tr h="369824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What is its business reason?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no reason, no column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</a:tr>
              <a:tr h="369824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Verdict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keep, drop, or fix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Oval 6"/>
          <p:cNvSpPr/>
          <p:nvPr/>
        </p:nvSpPr>
        <p:spPr>
          <a:xfrm>
            <a:off x="530352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does a row know?</a:t>
            </a:r>
          </a:p>
        </p:txBody>
      </p:sp>
      <p:sp>
        <p:nvSpPr>
          <p:cNvPr id="9" name="Oval 8"/>
          <p:cNvSpPr/>
          <p:nvPr/>
        </p:nvSpPr>
        <p:spPr>
          <a:xfrm>
            <a:off x="1971960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81688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Is Surat twice Pune?</a:t>
            </a:r>
          </a:p>
        </p:txBody>
      </p:sp>
      <p:sp>
        <p:nvSpPr>
          <p:cNvPr id="11" name="Oval 10"/>
          <p:cNvSpPr/>
          <p:nvPr/>
        </p:nvSpPr>
        <p:spPr>
          <a:xfrm>
            <a:off x="3367563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7291" y="6437376"/>
            <a:ext cx="1148429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Known that morning?</a:t>
            </a:r>
          </a:p>
        </p:txBody>
      </p:sp>
      <p:sp>
        <p:nvSpPr>
          <p:cNvPr id="13" name="Oval 12"/>
          <p:cNvSpPr/>
          <p:nvPr/>
        </p:nvSpPr>
        <p:spPr>
          <a:xfrm>
            <a:off x="4717161" y="6492240"/>
            <a:ext cx="64008" cy="6400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26889" y="6437376"/>
            <a:ext cx="1102423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5B3FD6"/>
                </a:solidFill>
                <a:latin typeface="Calibri"/>
              </a:rPr>
              <a:t>Keep, drop or fix?</a:t>
            </a:r>
          </a:p>
        </p:txBody>
      </p:sp>
      <p:sp>
        <p:nvSpPr>
          <p:cNvPr id="15" name="Oval 14"/>
          <p:cNvSpPr/>
          <p:nvPr/>
        </p:nvSpPr>
        <p:spPr>
          <a:xfrm>
            <a:off x="6020752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30480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Is it rank or cause?</a:t>
            </a:r>
          </a:p>
        </p:txBody>
      </p:sp>
      <p:sp>
        <p:nvSpPr>
          <p:cNvPr id="17" name="Oval 16"/>
          <p:cNvSpPr/>
          <p:nvPr/>
        </p:nvSpPr>
        <p:spPr>
          <a:xfrm>
            <a:off x="7416355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26083" y="6437376"/>
            <a:ext cx="101041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Why did it jump?</a:t>
            </a:r>
          </a:p>
        </p:txBody>
      </p:sp>
      <p:sp>
        <p:nvSpPr>
          <p:cNvPr id="19" name="Oval 18"/>
          <p:cNvSpPr/>
          <p:nvPr/>
        </p:nvSpPr>
        <p:spPr>
          <a:xfrm>
            <a:off x="8627935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737663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Known before the call?</a:t>
            </a:r>
          </a:p>
        </p:txBody>
      </p:sp>
      <p:sp>
        <p:nvSpPr>
          <p:cNvPr id="21" name="Oval 20"/>
          <p:cNvSpPr/>
          <p:nvPr/>
        </p:nvSpPr>
        <p:spPr>
          <a:xfrm>
            <a:off x="10115549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225277" y="6437376"/>
            <a:ext cx="1148429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does it prove?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S23  ·  28 / 65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5  ·  WEDNESDAY  ·  WHAT THE MODEL IS ALLOWED TO KNOW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How many of nine candidate columns are dropped?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Invented candidates for Kalpa's nudge model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30352" y="1956816"/>
          <a:ext cx="11130990" cy="2588768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6085772"/>
                <a:gridCol w="2099861"/>
                <a:gridCol w="2945357"/>
              </a:tblGrid>
              <a:tr h="369824">
                <a:tc>
                  <a:txBody>
                    <a:bodyPr/>
                    <a:lstStyle/>
                    <a:p>
                      <a:r>
                        <a:rPr sz="1450" b="1" i="0">
                          <a:solidFill>
                            <a:srgbClr val="FFFFFF"/>
                          </a:solidFill>
                          <a:latin typeface="Calibri"/>
                        </a:rPr>
                        <a:t>Column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1" i="0">
                          <a:solidFill>
                            <a:srgbClr val="FFFFFF"/>
                          </a:solidFill>
                          <a:latin typeface="Calibri"/>
                        </a:rPr>
                        <a:t>Written by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1" i="0">
                          <a:solidFill>
                            <a:srgbClr val="FFFFFF"/>
                          </a:solidFill>
                          <a:latin typeface="Calibri"/>
                        </a:rPr>
                        <a:t>Written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</a:tr>
              <a:tr h="369824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days_since_last_order, orders_90d, avg_basket_rs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orders table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last night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  <a:tr h="369824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city, member_id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signup form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at signup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</a:tr>
              <a:tr h="369824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app_visits_7d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app events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last night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  <a:tr h="369824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loyalty_tier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loyalty service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nightly, overwritten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</a:tr>
              <a:tr h="369824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coupon_redeemed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checkout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3 days after the nudge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  <a:tr h="369824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settlement_status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payments feed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12 days after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30352" y="4801616"/>
            <a:ext cx="11130991" cy="4958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600" b="0" i="0">
                <a:solidFill>
                  <a:srgbClr val="1A1440"/>
                </a:solidFill>
                <a:latin typeface="Calibri"/>
              </a:rPr>
              <a:t>(a) 1 (b) 3 (c) 5</a:t>
            </a:r>
          </a:p>
        </p:txBody>
      </p:sp>
      <p:sp>
        <p:nvSpPr>
          <p:cNvPr id="8" name="Oval 7"/>
          <p:cNvSpPr/>
          <p:nvPr/>
        </p:nvSpPr>
        <p:spPr>
          <a:xfrm>
            <a:off x="530352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does a row know?</a:t>
            </a:r>
          </a:p>
        </p:txBody>
      </p:sp>
      <p:sp>
        <p:nvSpPr>
          <p:cNvPr id="10" name="Oval 9"/>
          <p:cNvSpPr/>
          <p:nvPr/>
        </p:nvSpPr>
        <p:spPr>
          <a:xfrm>
            <a:off x="1971960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81688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Is Surat twice Pune?</a:t>
            </a:r>
          </a:p>
        </p:txBody>
      </p:sp>
      <p:sp>
        <p:nvSpPr>
          <p:cNvPr id="12" name="Oval 11"/>
          <p:cNvSpPr/>
          <p:nvPr/>
        </p:nvSpPr>
        <p:spPr>
          <a:xfrm>
            <a:off x="3367563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77291" y="6437376"/>
            <a:ext cx="1148429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Known that morning?</a:t>
            </a:r>
          </a:p>
        </p:txBody>
      </p:sp>
      <p:sp>
        <p:nvSpPr>
          <p:cNvPr id="14" name="Oval 13"/>
          <p:cNvSpPr/>
          <p:nvPr/>
        </p:nvSpPr>
        <p:spPr>
          <a:xfrm>
            <a:off x="4717161" y="6492240"/>
            <a:ext cx="64008" cy="6400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26889" y="6437376"/>
            <a:ext cx="1102423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5B3FD6"/>
                </a:solidFill>
                <a:latin typeface="Calibri"/>
              </a:rPr>
              <a:t>Keep, drop or fix?</a:t>
            </a:r>
          </a:p>
        </p:txBody>
      </p:sp>
      <p:sp>
        <p:nvSpPr>
          <p:cNvPr id="16" name="Oval 15"/>
          <p:cNvSpPr/>
          <p:nvPr/>
        </p:nvSpPr>
        <p:spPr>
          <a:xfrm>
            <a:off x="6020752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30480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Is it rank or cause?</a:t>
            </a:r>
          </a:p>
        </p:txBody>
      </p:sp>
      <p:sp>
        <p:nvSpPr>
          <p:cNvPr id="18" name="Oval 17"/>
          <p:cNvSpPr/>
          <p:nvPr/>
        </p:nvSpPr>
        <p:spPr>
          <a:xfrm>
            <a:off x="7416355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26083" y="6437376"/>
            <a:ext cx="101041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Why did it jump?</a:t>
            </a:r>
          </a:p>
        </p:txBody>
      </p:sp>
      <p:sp>
        <p:nvSpPr>
          <p:cNvPr id="20" name="Oval 19"/>
          <p:cNvSpPr/>
          <p:nvPr/>
        </p:nvSpPr>
        <p:spPr>
          <a:xfrm>
            <a:off x="8627935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37663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Known before the call?</a:t>
            </a:r>
          </a:p>
        </p:txBody>
      </p:sp>
      <p:sp>
        <p:nvSpPr>
          <p:cNvPr id="22" name="Oval 21"/>
          <p:cNvSpPr/>
          <p:nvPr/>
        </p:nvSpPr>
        <p:spPr>
          <a:xfrm>
            <a:off x="10115549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25277" y="6437376"/>
            <a:ext cx="1148429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does it prove?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S24  ·  29 / 65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5  ·  WEDNESDAY  ·  WHAT THE MODEL IS ALLOWED TO KNOW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Answer: b, three dropped and one fixed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Two written after the nudge, one with no reason</a:t>
            </a:r>
          </a:p>
        </p:txBody>
      </p:sp>
      <p:pic>
        <p:nvPicPr>
          <p:cNvPr id="6" name="mermaid diagram" descr="C2_W05_D03_ch4_audit_timeline_STUD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0255" y="1682496"/>
            <a:ext cx="8131183" cy="4200144"/>
          </a:xfrm>
          <a:prstGeom prst="rect">
            <a:avLst/>
          </a:prstGeom>
        </p:spPr>
      </p:pic>
      <p:sp>
        <p:nvSpPr>
          <p:cNvPr id="7" name="picture caption"/>
          <p:cNvSpPr txBox="1"/>
          <p:nvPr/>
        </p:nvSpPr>
        <p:spPr>
          <a:xfrm>
            <a:off x="530352" y="5919216"/>
            <a:ext cx="11130991" cy="3169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6B6690"/>
                </a:solidFill>
                <a:latin typeface="Calibri"/>
              </a:rPr>
              <a:t>Nine candidate columns on the timeline</a:t>
            </a:r>
          </a:p>
        </p:txBody>
      </p:sp>
      <p:sp>
        <p:nvSpPr>
          <p:cNvPr id="8" name="Oval 7"/>
          <p:cNvSpPr/>
          <p:nvPr/>
        </p:nvSpPr>
        <p:spPr>
          <a:xfrm>
            <a:off x="530352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does a row know?</a:t>
            </a:r>
          </a:p>
        </p:txBody>
      </p:sp>
      <p:sp>
        <p:nvSpPr>
          <p:cNvPr id="10" name="Oval 9"/>
          <p:cNvSpPr/>
          <p:nvPr/>
        </p:nvSpPr>
        <p:spPr>
          <a:xfrm>
            <a:off x="1971960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81688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Is Surat twice Pune?</a:t>
            </a:r>
          </a:p>
        </p:txBody>
      </p:sp>
      <p:sp>
        <p:nvSpPr>
          <p:cNvPr id="12" name="Oval 11"/>
          <p:cNvSpPr/>
          <p:nvPr/>
        </p:nvSpPr>
        <p:spPr>
          <a:xfrm>
            <a:off x="3367563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77291" y="6437376"/>
            <a:ext cx="1148429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Known that morning?</a:t>
            </a:r>
          </a:p>
        </p:txBody>
      </p:sp>
      <p:sp>
        <p:nvSpPr>
          <p:cNvPr id="14" name="Oval 13"/>
          <p:cNvSpPr/>
          <p:nvPr/>
        </p:nvSpPr>
        <p:spPr>
          <a:xfrm>
            <a:off x="4717161" y="6492240"/>
            <a:ext cx="64008" cy="6400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26889" y="6437376"/>
            <a:ext cx="1102423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5B3FD6"/>
                </a:solidFill>
                <a:latin typeface="Calibri"/>
              </a:rPr>
              <a:t>Keep, drop or fix?</a:t>
            </a:r>
          </a:p>
        </p:txBody>
      </p:sp>
      <p:sp>
        <p:nvSpPr>
          <p:cNvPr id="16" name="Oval 15"/>
          <p:cNvSpPr/>
          <p:nvPr/>
        </p:nvSpPr>
        <p:spPr>
          <a:xfrm>
            <a:off x="6020752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30480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Is it rank or cause?</a:t>
            </a:r>
          </a:p>
        </p:txBody>
      </p:sp>
      <p:sp>
        <p:nvSpPr>
          <p:cNvPr id="18" name="Oval 17"/>
          <p:cNvSpPr/>
          <p:nvPr/>
        </p:nvSpPr>
        <p:spPr>
          <a:xfrm>
            <a:off x="7416355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26083" y="6437376"/>
            <a:ext cx="101041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Why did it jump?</a:t>
            </a:r>
          </a:p>
        </p:txBody>
      </p:sp>
      <p:sp>
        <p:nvSpPr>
          <p:cNvPr id="20" name="Oval 19"/>
          <p:cNvSpPr/>
          <p:nvPr/>
        </p:nvSpPr>
        <p:spPr>
          <a:xfrm>
            <a:off x="8627935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37663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Known before the call?</a:t>
            </a:r>
          </a:p>
        </p:txBody>
      </p:sp>
      <p:sp>
        <p:nvSpPr>
          <p:cNvPr id="22" name="Oval 21"/>
          <p:cNvSpPr/>
          <p:nvPr/>
        </p:nvSpPr>
        <p:spPr>
          <a:xfrm>
            <a:off x="10115549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25277" y="6437376"/>
            <a:ext cx="1148429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does it prove?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S25  ·  30 / 65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5  ·  WEDNESDAY  ·  WHAT THE MODEL IS ALLOWED TO KNOW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The as-of trap: the purchase wrote today's tier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The warehouse keeps only the latest value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30352" y="1956816"/>
          <a:ext cx="11130990" cy="100584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914400"/>
                <a:gridCol w="3348249"/>
                <a:gridCol w="2145356"/>
                <a:gridCol w="4722985"/>
              </a:tblGrid>
              <a:tr h="335280"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Member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Bought in 90 days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Tier today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Tier on the nudge morning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M04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Silver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Silver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M07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Gold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Silver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</a:tr>
            </a:tbl>
          </a:graphicData>
        </a:graphic>
      </p:graphicFrame>
      <p:sp>
        <p:nvSpPr>
          <p:cNvPr id="7" name="Oval 6"/>
          <p:cNvSpPr/>
          <p:nvPr/>
        </p:nvSpPr>
        <p:spPr>
          <a:xfrm>
            <a:off x="530352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does a row know?</a:t>
            </a:r>
          </a:p>
        </p:txBody>
      </p:sp>
      <p:sp>
        <p:nvSpPr>
          <p:cNvPr id="9" name="Oval 8"/>
          <p:cNvSpPr/>
          <p:nvPr/>
        </p:nvSpPr>
        <p:spPr>
          <a:xfrm>
            <a:off x="1971960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81688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Is Surat twice Pune?</a:t>
            </a:r>
          </a:p>
        </p:txBody>
      </p:sp>
      <p:sp>
        <p:nvSpPr>
          <p:cNvPr id="11" name="Oval 10"/>
          <p:cNvSpPr/>
          <p:nvPr/>
        </p:nvSpPr>
        <p:spPr>
          <a:xfrm>
            <a:off x="3367563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7291" y="6437376"/>
            <a:ext cx="1148429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Known that morning?</a:t>
            </a:r>
          </a:p>
        </p:txBody>
      </p:sp>
      <p:sp>
        <p:nvSpPr>
          <p:cNvPr id="13" name="Oval 12"/>
          <p:cNvSpPr/>
          <p:nvPr/>
        </p:nvSpPr>
        <p:spPr>
          <a:xfrm>
            <a:off x="4717161" y="6492240"/>
            <a:ext cx="64008" cy="6400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26889" y="6437376"/>
            <a:ext cx="1102423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5B3FD6"/>
                </a:solidFill>
                <a:latin typeface="Calibri"/>
              </a:rPr>
              <a:t>Keep, drop or fix?</a:t>
            </a:r>
          </a:p>
        </p:txBody>
      </p:sp>
      <p:sp>
        <p:nvSpPr>
          <p:cNvPr id="15" name="Oval 14"/>
          <p:cNvSpPr/>
          <p:nvPr/>
        </p:nvSpPr>
        <p:spPr>
          <a:xfrm>
            <a:off x="6020752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30480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Is it rank or cause?</a:t>
            </a:r>
          </a:p>
        </p:txBody>
      </p:sp>
      <p:sp>
        <p:nvSpPr>
          <p:cNvPr id="17" name="Oval 16"/>
          <p:cNvSpPr/>
          <p:nvPr/>
        </p:nvSpPr>
        <p:spPr>
          <a:xfrm>
            <a:off x="7416355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26083" y="6437376"/>
            <a:ext cx="101041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Why did it jump?</a:t>
            </a:r>
          </a:p>
        </p:txBody>
      </p:sp>
      <p:sp>
        <p:nvSpPr>
          <p:cNvPr id="19" name="Oval 18"/>
          <p:cNvSpPr/>
          <p:nvPr/>
        </p:nvSpPr>
        <p:spPr>
          <a:xfrm>
            <a:off x="8627935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737663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Known before the call?</a:t>
            </a:r>
          </a:p>
        </p:txBody>
      </p:sp>
      <p:sp>
        <p:nvSpPr>
          <p:cNvPr id="21" name="Oval 20"/>
          <p:cNvSpPr/>
          <p:nvPr/>
        </p:nvSpPr>
        <p:spPr>
          <a:xfrm>
            <a:off x="10115549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225277" y="6437376"/>
            <a:ext cx="1148429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does it prove?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S26  ·  31 / 65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5  ·  WEDNESDAY  ·  WHAT THE MODEL IS ALLOWED TO KNOW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Drill: leak or clean, six candidates fast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Kalpa's nudge, predicted on the nudge morning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30352" y="1956816"/>
          <a:ext cx="11130991" cy="2588768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914400"/>
                <a:gridCol w="7930961"/>
                <a:gridCol w="2285630"/>
              </a:tblGrid>
              <a:tr h="369824">
                <a:tc>
                  <a:txBody>
                    <a:bodyPr/>
                    <a:lstStyle/>
                    <a:p>
                      <a:r>
                        <a:rPr sz="1450" b="1" i="0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1" i="0">
                          <a:solidFill>
                            <a:srgbClr val="FFFFFF"/>
                          </a:solidFill>
                          <a:latin typeface="Calibri"/>
                        </a:rPr>
                        <a:t>Candidate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1" i="0">
                          <a:solidFill>
                            <a:srgbClr val="FFFFFF"/>
                          </a:solidFill>
                          <a:latin typeface="Calibri"/>
                        </a:rPr>
                        <a:t>Your call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</a:tr>
              <a:tr h="369824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refund_requested in the 90 days after the nudge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leak or clean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  <a:tr h="369824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orders in the 30 days before the nudge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leak or clean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</a:tr>
              <a:tr h="369824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delivery_rating of the order placed after the nudge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leak or clean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  <a:tr h="369824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city at signup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leak or clean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</a:tr>
              <a:tr h="369824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loyalty tier read from today's table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leak or clean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  <a:tr h="369824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app visits in the 7 days before the nudge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leak or clean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</a:tr>
            </a:tbl>
          </a:graphicData>
        </a:graphic>
      </p:graphicFrame>
      <p:sp>
        <p:nvSpPr>
          <p:cNvPr id="7" name="Oval 6"/>
          <p:cNvSpPr/>
          <p:nvPr/>
        </p:nvSpPr>
        <p:spPr>
          <a:xfrm>
            <a:off x="530352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does a row know?</a:t>
            </a:r>
          </a:p>
        </p:txBody>
      </p:sp>
      <p:sp>
        <p:nvSpPr>
          <p:cNvPr id="9" name="Oval 8"/>
          <p:cNvSpPr/>
          <p:nvPr/>
        </p:nvSpPr>
        <p:spPr>
          <a:xfrm>
            <a:off x="1971960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81688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Is Surat twice Pune?</a:t>
            </a:r>
          </a:p>
        </p:txBody>
      </p:sp>
      <p:sp>
        <p:nvSpPr>
          <p:cNvPr id="11" name="Oval 10"/>
          <p:cNvSpPr/>
          <p:nvPr/>
        </p:nvSpPr>
        <p:spPr>
          <a:xfrm>
            <a:off x="3367563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7291" y="6437376"/>
            <a:ext cx="1148429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Known that morning?</a:t>
            </a:r>
          </a:p>
        </p:txBody>
      </p:sp>
      <p:sp>
        <p:nvSpPr>
          <p:cNvPr id="13" name="Oval 12"/>
          <p:cNvSpPr/>
          <p:nvPr/>
        </p:nvSpPr>
        <p:spPr>
          <a:xfrm>
            <a:off x="4717161" y="6492240"/>
            <a:ext cx="64008" cy="6400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26889" y="6437376"/>
            <a:ext cx="1102423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5B3FD6"/>
                </a:solidFill>
                <a:latin typeface="Calibri"/>
              </a:rPr>
              <a:t>Keep, drop or fix?</a:t>
            </a:r>
          </a:p>
        </p:txBody>
      </p:sp>
      <p:sp>
        <p:nvSpPr>
          <p:cNvPr id="15" name="Oval 14"/>
          <p:cNvSpPr/>
          <p:nvPr/>
        </p:nvSpPr>
        <p:spPr>
          <a:xfrm>
            <a:off x="6020752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30480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Is it rank or cause?</a:t>
            </a:r>
          </a:p>
        </p:txBody>
      </p:sp>
      <p:sp>
        <p:nvSpPr>
          <p:cNvPr id="17" name="Oval 16"/>
          <p:cNvSpPr/>
          <p:nvPr/>
        </p:nvSpPr>
        <p:spPr>
          <a:xfrm>
            <a:off x="7416355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26083" y="6437376"/>
            <a:ext cx="101041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Why did it jump?</a:t>
            </a:r>
          </a:p>
        </p:txBody>
      </p:sp>
      <p:sp>
        <p:nvSpPr>
          <p:cNvPr id="19" name="Oval 18"/>
          <p:cNvSpPr/>
          <p:nvPr/>
        </p:nvSpPr>
        <p:spPr>
          <a:xfrm>
            <a:off x="8627935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737663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Known before the call?</a:t>
            </a:r>
          </a:p>
        </p:txBody>
      </p:sp>
      <p:sp>
        <p:nvSpPr>
          <p:cNvPr id="21" name="Oval 20"/>
          <p:cNvSpPr/>
          <p:nvPr/>
        </p:nvSpPr>
        <p:spPr>
          <a:xfrm>
            <a:off x="10115549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225277" y="6437376"/>
            <a:ext cx="1148429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does it prove?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S27  ·  32 / 65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5  ·  WEDNESDAY  ·  WHAT THE MODEL IS ALLOWED TO KNOW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Answer: leak 1, 3, 5; clean 2, 4,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Each leak is written after the morning, or read from a table that was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30352" y="1956816"/>
          <a:ext cx="11130991" cy="184912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914400"/>
                <a:gridCol w="914400"/>
                <a:gridCol w="9302191"/>
              </a:tblGrid>
              <a:tr h="369824">
                <a:tc>
                  <a:txBody>
                    <a:bodyPr/>
                    <a:lstStyle/>
                    <a:p>
                      <a:r>
                        <a:rPr sz="1450" b="1" i="0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1" i="0">
                          <a:solidFill>
                            <a:srgbClr val="FFFFFF"/>
                          </a:solidFill>
                          <a:latin typeface="Calibri"/>
                        </a:rPr>
                        <a:t>Call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1" i="0">
                          <a:solidFill>
                            <a:srgbClr val="FFFFFF"/>
                          </a:solidFill>
                          <a:latin typeface="Calibri"/>
                        </a:rPr>
                        <a:t>The reason, in one line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</a:tr>
              <a:tr h="369824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leak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written after the outcome window opens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  <a:tr h="369824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leak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exists only once an order was placed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</a:tr>
              <a:tr h="369824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leak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today's value was overwritten after the purchase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  <a:tr h="369824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2, 4, 6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clean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written before the nudge morning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</a:tr>
            </a:tbl>
          </a:graphicData>
        </a:graphic>
      </p:graphicFrame>
      <p:sp>
        <p:nvSpPr>
          <p:cNvPr id="7" name="Oval 6"/>
          <p:cNvSpPr/>
          <p:nvPr/>
        </p:nvSpPr>
        <p:spPr>
          <a:xfrm>
            <a:off x="530352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does a row know?</a:t>
            </a:r>
          </a:p>
        </p:txBody>
      </p:sp>
      <p:sp>
        <p:nvSpPr>
          <p:cNvPr id="9" name="Oval 8"/>
          <p:cNvSpPr/>
          <p:nvPr/>
        </p:nvSpPr>
        <p:spPr>
          <a:xfrm>
            <a:off x="1971960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81688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Is Surat twice Pune?</a:t>
            </a:r>
          </a:p>
        </p:txBody>
      </p:sp>
      <p:sp>
        <p:nvSpPr>
          <p:cNvPr id="11" name="Oval 10"/>
          <p:cNvSpPr/>
          <p:nvPr/>
        </p:nvSpPr>
        <p:spPr>
          <a:xfrm>
            <a:off x="3367563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7291" y="6437376"/>
            <a:ext cx="1148429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Known that morning?</a:t>
            </a:r>
          </a:p>
        </p:txBody>
      </p:sp>
      <p:sp>
        <p:nvSpPr>
          <p:cNvPr id="13" name="Oval 12"/>
          <p:cNvSpPr/>
          <p:nvPr/>
        </p:nvSpPr>
        <p:spPr>
          <a:xfrm>
            <a:off x="4717161" y="6492240"/>
            <a:ext cx="64008" cy="6400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26889" y="6437376"/>
            <a:ext cx="1102423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5B3FD6"/>
                </a:solidFill>
                <a:latin typeface="Calibri"/>
              </a:rPr>
              <a:t>Keep, drop or fix?</a:t>
            </a:r>
          </a:p>
        </p:txBody>
      </p:sp>
      <p:sp>
        <p:nvSpPr>
          <p:cNvPr id="15" name="Oval 14"/>
          <p:cNvSpPr/>
          <p:nvPr/>
        </p:nvSpPr>
        <p:spPr>
          <a:xfrm>
            <a:off x="6020752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30480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Is it rank or cause?</a:t>
            </a:r>
          </a:p>
        </p:txBody>
      </p:sp>
      <p:sp>
        <p:nvSpPr>
          <p:cNvPr id="17" name="Oval 16"/>
          <p:cNvSpPr/>
          <p:nvPr/>
        </p:nvSpPr>
        <p:spPr>
          <a:xfrm>
            <a:off x="7416355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26083" y="6437376"/>
            <a:ext cx="101041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Why did it jump?</a:t>
            </a:r>
          </a:p>
        </p:txBody>
      </p:sp>
      <p:sp>
        <p:nvSpPr>
          <p:cNvPr id="19" name="Oval 18"/>
          <p:cNvSpPr/>
          <p:nvPr/>
        </p:nvSpPr>
        <p:spPr>
          <a:xfrm>
            <a:off x="8627935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737663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Known before the call?</a:t>
            </a:r>
          </a:p>
        </p:txBody>
      </p:sp>
      <p:sp>
        <p:nvSpPr>
          <p:cNvPr id="21" name="Oval 20"/>
          <p:cNvSpPr/>
          <p:nvPr/>
        </p:nvSpPr>
        <p:spPr>
          <a:xfrm>
            <a:off x="10115549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225277" y="6437376"/>
            <a:ext cx="1148429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does it prove?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S28  ·  33 / 65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dar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19" y="1143000"/>
            <a:ext cx="36576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600" b="0" i="0">
                <a:solidFill>
                  <a:srgbClr val="D9A7FF"/>
                </a:solidFill>
                <a:latin typeface="Georgia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19" y="2542032"/>
            <a:ext cx="10673791" cy="366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D9A7FF"/>
                </a:solidFill>
                <a:latin typeface="Calibri"/>
              </a:rPr>
              <a:t>What the importance chart can't tell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19" y="3017520"/>
            <a:ext cx="10673791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0" i="0">
                <a:solidFill>
                  <a:srgbClr val="FFFFFF"/>
                </a:solidFill>
                <a:latin typeface="Georgia"/>
              </a:rPr>
              <a:t>Is it rank or cause?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19" y="3931920"/>
            <a:ext cx="9509760" cy="5318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E4E1F1"/>
                </a:solidFill>
                <a:latin typeface="Calibri"/>
              </a:rPr>
              <a:t>Feature importance and its limits · also searched as: feature importance, permutation importance, correlation is not causation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19" y="5074920"/>
            <a:ext cx="1341271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FC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0">
                <a:solidFill>
                  <a:srgbClr val="CFC9EE"/>
                </a:solidFill>
                <a:latin typeface="Calibri"/>
              </a:rPr>
              <a:t>What does a row know?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182519" y="5074920"/>
            <a:ext cx="1291917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FC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0">
                <a:solidFill>
                  <a:srgbClr val="CFC9EE"/>
                </a:solidFill>
                <a:latin typeface="Calibri"/>
              </a:rPr>
              <a:t>Is Surat twice Pune?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84165" y="5074920"/>
            <a:ext cx="1242564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FC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0">
                <a:solidFill>
                  <a:srgbClr val="CFC9EE"/>
                </a:solidFill>
                <a:latin typeface="Calibri"/>
              </a:rPr>
              <a:t>Known that morning?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936457" y="5074920"/>
            <a:ext cx="1193210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FC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0">
                <a:solidFill>
                  <a:srgbClr val="CFC9EE"/>
                </a:solidFill>
                <a:latin typeface="Calibri"/>
              </a:rPr>
              <a:t>Keep, drop or fix?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9396" y="5074920"/>
            <a:ext cx="1291917" cy="310896"/>
          </a:xfrm>
          <a:prstGeom prst="roundRect">
            <a:avLst>
              <a:gd name="adj" fmla="val 50000"/>
            </a:avLst>
          </a:prstGeom>
          <a:solidFill>
            <a:srgbClr val="D9A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1">
                <a:solidFill>
                  <a:srgbClr val="1A0F5C"/>
                </a:solidFill>
                <a:latin typeface="Calibri"/>
              </a:rPr>
              <a:t>Is it rank or cause?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41042" y="5074920"/>
            <a:ext cx="1094503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FC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0">
                <a:solidFill>
                  <a:srgbClr val="CFC9EE"/>
                </a:solidFill>
                <a:latin typeface="Calibri"/>
              </a:rPr>
              <a:t>Why did it jump?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845273" y="5074920"/>
            <a:ext cx="1390625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FC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0">
                <a:solidFill>
                  <a:srgbClr val="CFC9EE"/>
                </a:solidFill>
                <a:latin typeface="Calibri"/>
              </a:rPr>
              <a:t>Known before the call?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345626" y="5074920"/>
            <a:ext cx="1242564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FC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0">
                <a:solidFill>
                  <a:srgbClr val="CFC9EE"/>
                </a:solidFill>
                <a:latin typeface="Calibri"/>
              </a:rPr>
              <a:t>What does it prove?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" y="6437376"/>
            <a:ext cx="9667951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 i="0">
                <a:solidFill>
                  <a:srgbClr val="CFC9EE"/>
                </a:solidFill>
                <a:latin typeface="Calibri"/>
              </a:rPr>
              <a:t>Week 5 Wednesday: what the model is allowed to know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CFC9EE"/>
                </a:solidFill>
                <a:latin typeface="Calibri"/>
              </a:rPr>
              <a:t>34 / 65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5  ·  WEDNESDAY  ·  WHAT THE MODEL IS ALLOWED TO KNOW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With searches shuffled, how many of 12 stay right?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Visits and searches correlate at 0.94 in this table</a:t>
            </a:r>
          </a:p>
        </p:txBody>
      </p:sp>
      <p:pic>
        <p:nvPicPr>
          <p:cNvPr id="6" name="mermaid diagram" descr="395f4626cda422e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0897" y="1956816"/>
            <a:ext cx="10629900" cy="1600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30352" y="3703320"/>
            <a:ext cx="11130991" cy="4958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600" b="0" i="0">
                <a:solidFill>
                  <a:srgbClr val="1A1440"/>
                </a:solidFill>
                <a:latin typeface="Calibri"/>
              </a:rPr>
              <a:t>(a) about 11 (b) about 7 (c) 0</a:t>
            </a:r>
          </a:p>
        </p:txBody>
      </p:sp>
      <p:sp>
        <p:nvSpPr>
          <p:cNvPr id="8" name="Oval 7"/>
          <p:cNvSpPr/>
          <p:nvPr/>
        </p:nvSpPr>
        <p:spPr>
          <a:xfrm>
            <a:off x="530352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does a row know?</a:t>
            </a:r>
          </a:p>
        </p:txBody>
      </p:sp>
      <p:sp>
        <p:nvSpPr>
          <p:cNvPr id="10" name="Oval 9"/>
          <p:cNvSpPr/>
          <p:nvPr/>
        </p:nvSpPr>
        <p:spPr>
          <a:xfrm>
            <a:off x="1971960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81688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Is Surat twice Pune?</a:t>
            </a:r>
          </a:p>
        </p:txBody>
      </p:sp>
      <p:sp>
        <p:nvSpPr>
          <p:cNvPr id="12" name="Oval 11"/>
          <p:cNvSpPr/>
          <p:nvPr/>
        </p:nvSpPr>
        <p:spPr>
          <a:xfrm>
            <a:off x="3367563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77291" y="6437376"/>
            <a:ext cx="1148429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Known that morning?</a:t>
            </a:r>
          </a:p>
        </p:txBody>
      </p:sp>
      <p:sp>
        <p:nvSpPr>
          <p:cNvPr id="14" name="Oval 13"/>
          <p:cNvSpPr/>
          <p:nvPr/>
        </p:nvSpPr>
        <p:spPr>
          <a:xfrm>
            <a:off x="4717161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26889" y="6437376"/>
            <a:ext cx="1102423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Keep, drop or fix?</a:t>
            </a:r>
          </a:p>
        </p:txBody>
      </p:sp>
      <p:sp>
        <p:nvSpPr>
          <p:cNvPr id="16" name="Oval 15"/>
          <p:cNvSpPr/>
          <p:nvPr/>
        </p:nvSpPr>
        <p:spPr>
          <a:xfrm>
            <a:off x="6020752" y="6492240"/>
            <a:ext cx="64008" cy="6400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30480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5B3FD6"/>
                </a:solidFill>
                <a:latin typeface="Calibri"/>
              </a:rPr>
              <a:t>Is it rank or cause?</a:t>
            </a:r>
          </a:p>
        </p:txBody>
      </p:sp>
      <p:sp>
        <p:nvSpPr>
          <p:cNvPr id="18" name="Oval 17"/>
          <p:cNvSpPr/>
          <p:nvPr/>
        </p:nvSpPr>
        <p:spPr>
          <a:xfrm>
            <a:off x="7416355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26083" y="6437376"/>
            <a:ext cx="101041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Why did it jump?</a:t>
            </a:r>
          </a:p>
        </p:txBody>
      </p:sp>
      <p:sp>
        <p:nvSpPr>
          <p:cNvPr id="20" name="Oval 19"/>
          <p:cNvSpPr/>
          <p:nvPr/>
        </p:nvSpPr>
        <p:spPr>
          <a:xfrm>
            <a:off x="8627935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37663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Known before the call?</a:t>
            </a:r>
          </a:p>
        </p:txBody>
      </p:sp>
      <p:sp>
        <p:nvSpPr>
          <p:cNvPr id="22" name="Oval 21"/>
          <p:cNvSpPr/>
          <p:nvPr/>
        </p:nvSpPr>
        <p:spPr>
          <a:xfrm>
            <a:off x="10115549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25277" y="6437376"/>
            <a:ext cx="1148429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does it prove?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S29  ·  35 / 65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5  ·  WEDNESDAY  ·  WHAT THE MODEL IS ALLOWED TO KNOW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Answer: b, 7; the twins together cost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Each twin alone costs little, because the other carries the signal</a:t>
            </a:r>
          </a:p>
        </p:txBody>
      </p:sp>
      <p:pic>
        <p:nvPicPr>
          <p:cNvPr id="6" name="mermaid diagram" descr="C2_W05_D03_ch5_twins_STUD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1682496"/>
            <a:ext cx="11130991" cy="4171461"/>
          </a:xfrm>
          <a:prstGeom prst="rect">
            <a:avLst/>
          </a:prstGeom>
        </p:spPr>
      </p:pic>
      <p:sp>
        <p:nvSpPr>
          <p:cNvPr id="7" name="picture caption"/>
          <p:cNvSpPr txBox="1"/>
          <p:nvPr/>
        </p:nvSpPr>
        <p:spPr>
          <a:xfrm>
            <a:off x="530352" y="5890533"/>
            <a:ext cx="11130991" cy="3169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6B6690"/>
                </a:solidFill>
                <a:latin typeface="Calibri"/>
              </a:rPr>
              <a:t>Answers lost when each twin is shuffled</a:t>
            </a:r>
          </a:p>
        </p:txBody>
      </p:sp>
      <p:sp>
        <p:nvSpPr>
          <p:cNvPr id="8" name="Oval 7"/>
          <p:cNvSpPr/>
          <p:nvPr/>
        </p:nvSpPr>
        <p:spPr>
          <a:xfrm>
            <a:off x="530352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does a row know?</a:t>
            </a:r>
          </a:p>
        </p:txBody>
      </p:sp>
      <p:sp>
        <p:nvSpPr>
          <p:cNvPr id="10" name="Oval 9"/>
          <p:cNvSpPr/>
          <p:nvPr/>
        </p:nvSpPr>
        <p:spPr>
          <a:xfrm>
            <a:off x="1971960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81688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Is Surat twice Pune?</a:t>
            </a:r>
          </a:p>
        </p:txBody>
      </p:sp>
      <p:sp>
        <p:nvSpPr>
          <p:cNvPr id="12" name="Oval 11"/>
          <p:cNvSpPr/>
          <p:nvPr/>
        </p:nvSpPr>
        <p:spPr>
          <a:xfrm>
            <a:off x="3367563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77291" y="6437376"/>
            <a:ext cx="1148429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Known that morning?</a:t>
            </a:r>
          </a:p>
        </p:txBody>
      </p:sp>
      <p:sp>
        <p:nvSpPr>
          <p:cNvPr id="14" name="Oval 13"/>
          <p:cNvSpPr/>
          <p:nvPr/>
        </p:nvSpPr>
        <p:spPr>
          <a:xfrm>
            <a:off x="4717161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26889" y="6437376"/>
            <a:ext cx="1102423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Keep, drop or fix?</a:t>
            </a:r>
          </a:p>
        </p:txBody>
      </p:sp>
      <p:sp>
        <p:nvSpPr>
          <p:cNvPr id="16" name="Oval 15"/>
          <p:cNvSpPr/>
          <p:nvPr/>
        </p:nvSpPr>
        <p:spPr>
          <a:xfrm>
            <a:off x="6020752" y="6492240"/>
            <a:ext cx="64008" cy="6400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30480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5B3FD6"/>
                </a:solidFill>
                <a:latin typeface="Calibri"/>
              </a:rPr>
              <a:t>Is it rank or cause?</a:t>
            </a:r>
          </a:p>
        </p:txBody>
      </p:sp>
      <p:sp>
        <p:nvSpPr>
          <p:cNvPr id="18" name="Oval 17"/>
          <p:cNvSpPr/>
          <p:nvPr/>
        </p:nvSpPr>
        <p:spPr>
          <a:xfrm>
            <a:off x="7416355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26083" y="6437376"/>
            <a:ext cx="101041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Why did it jump?</a:t>
            </a:r>
          </a:p>
        </p:txBody>
      </p:sp>
      <p:sp>
        <p:nvSpPr>
          <p:cNvPr id="20" name="Oval 19"/>
          <p:cNvSpPr/>
          <p:nvPr/>
        </p:nvSpPr>
        <p:spPr>
          <a:xfrm>
            <a:off x="8627935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37663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Known before the call?</a:t>
            </a:r>
          </a:p>
        </p:txBody>
      </p:sp>
      <p:sp>
        <p:nvSpPr>
          <p:cNvPr id="22" name="Oval 21"/>
          <p:cNvSpPr/>
          <p:nvPr/>
        </p:nvSpPr>
        <p:spPr>
          <a:xfrm>
            <a:off x="10115549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25277" y="6437376"/>
            <a:ext cx="1148429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does it prove?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S30  ·  36 / 65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5  ·  WEDNESDAY  ·  WHAT THE MODEL IS ALLOWED TO KNOW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A top bar is a reliance, never a lever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Searches are a symptom of intent</a:t>
            </a:r>
          </a:p>
        </p:txBody>
      </p:sp>
      <p:pic>
        <p:nvPicPr>
          <p:cNvPr id="6" name="mermaid diagram" descr="27d89eff646653d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52497" y="1956816"/>
            <a:ext cx="7886700" cy="2771775"/>
          </a:xfrm>
          <a:prstGeom prst="rect">
            <a:avLst/>
          </a:prstGeom>
        </p:spPr>
      </p:pic>
      <p:sp>
        <p:nvSpPr>
          <p:cNvPr id="7" name="Oval 6"/>
          <p:cNvSpPr/>
          <p:nvPr/>
        </p:nvSpPr>
        <p:spPr>
          <a:xfrm>
            <a:off x="530352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does a row know?</a:t>
            </a:r>
          </a:p>
        </p:txBody>
      </p:sp>
      <p:sp>
        <p:nvSpPr>
          <p:cNvPr id="9" name="Oval 8"/>
          <p:cNvSpPr/>
          <p:nvPr/>
        </p:nvSpPr>
        <p:spPr>
          <a:xfrm>
            <a:off x="1971960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81688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Is Surat twice Pune?</a:t>
            </a:r>
          </a:p>
        </p:txBody>
      </p:sp>
      <p:sp>
        <p:nvSpPr>
          <p:cNvPr id="11" name="Oval 10"/>
          <p:cNvSpPr/>
          <p:nvPr/>
        </p:nvSpPr>
        <p:spPr>
          <a:xfrm>
            <a:off x="3367563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7291" y="6437376"/>
            <a:ext cx="1148429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Known that morning?</a:t>
            </a:r>
          </a:p>
        </p:txBody>
      </p:sp>
      <p:sp>
        <p:nvSpPr>
          <p:cNvPr id="13" name="Oval 12"/>
          <p:cNvSpPr/>
          <p:nvPr/>
        </p:nvSpPr>
        <p:spPr>
          <a:xfrm>
            <a:off x="4717161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26889" y="6437376"/>
            <a:ext cx="1102423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Keep, drop or fix?</a:t>
            </a:r>
          </a:p>
        </p:txBody>
      </p:sp>
      <p:sp>
        <p:nvSpPr>
          <p:cNvPr id="15" name="Oval 14"/>
          <p:cNvSpPr/>
          <p:nvPr/>
        </p:nvSpPr>
        <p:spPr>
          <a:xfrm>
            <a:off x="6020752" y="6492240"/>
            <a:ext cx="64008" cy="6400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30480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5B3FD6"/>
                </a:solidFill>
                <a:latin typeface="Calibri"/>
              </a:rPr>
              <a:t>Is it rank or cause?</a:t>
            </a:r>
          </a:p>
        </p:txBody>
      </p:sp>
      <p:sp>
        <p:nvSpPr>
          <p:cNvPr id="17" name="Oval 16"/>
          <p:cNvSpPr/>
          <p:nvPr/>
        </p:nvSpPr>
        <p:spPr>
          <a:xfrm>
            <a:off x="7416355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26083" y="6437376"/>
            <a:ext cx="101041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Why did it jump?</a:t>
            </a:r>
          </a:p>
        </p:txBody>
      </p:sp>
      <p:sp>
        <p:nvSpPr>
          <p:cNvPr id="19" name="Oval 18"/>
          <p:cNvSpPr/>
          <p:nvPr/>
        </p:nvSpPr>
        <p:spPr>
          <a:xfrm>
            <a:off x="8627935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737663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Known before the call?</a:t>
            </a:r>
          </a:p>
        </p:txBody>
      </p:sp>
      <p:sp>
        <p:nvSpPr>
          <p:cNvPr id="21" name="Oval 20"/>
          <p:cNvSpPr/>
          <p:nvPr/>
        </p:nvSpPr>
        <p:spPr>
          <a:xfrm>
            <a:off x="10115549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225277" y="6437376"/>
            <a:ext cx="1148429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does it prove?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S31  ·  37 / 65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5  ·  WEDNESDAY  ·  WHAT THE MODEL IS ALLOWED TO KNOW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Four rules for importance, each with its flip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Run the audit before the chart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30352" y="1956816"/>
          <a:ext cx="11130990" cy="184912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5420504"/>
                <a:gridCol w="5710486"/>
              </a:tblGrid>
              <a:tr h="369824">
                <a:tc>
                  <a:txBody>
                    <a:bodyPr/>
                    <a:lstStyle/>
                    <a:p>
                      <a:r>
                        <a:rPr sz="1450" b="1" i="0">
                          <a:solidFill>
                            <a:srgbClr val="FFFFFF"/>
                          </a:solidFill>
                          <a:latin typeface="Calibri"/>
                        </a:rPr>
                        <a:t>Rule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1" i="0">
                          <a:solidFill>
                            <a:srgbClr val="FFFFFF"/>
                          </a:solidFill>
                          <a:latin typeface="Calibri"/>
                        </a:rPr>
                        <a:t>Flips when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</a:tr>
              <a:tr h="369824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Importance ranks reliance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the column was changed in a fair test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  <a:tr h="369824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Shuffle close partners as a group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the column has no twin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</a:tr>
              <a:tr h="369824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Score importance on validation rows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never on training rows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  <a:tr h="369824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Audit before the chart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never; a leak tops every chart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</a:tr>
            </a:tbl>
          </a:graphicData>
        </a:graphic>
      </p:graphicFrame>
      <p:sp>
        <p:nvSpPr>
          <p:cNvPr id="7" name="Oval 6"/>
          <p:cNvSpPr/>
          <p:nvPr/>
        </p:nvSpPr>
        <p:spPr>
          <a:xfrm>
            <a:off x="530352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does a row know?</a:t>
            </a:r>
          </a:p>
        </p:txBody>
      </p:sp>
      <p:sp>
        <p:nvSpPr>
          <p:cNvPr id="9" name="Oval 8"/>
          <p:cNvSpPr/>
          <p:nvPr/>
        </p:nvSpPr>
        <p:spPr>
          <a:xfrm>
            <a:off x="1971960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81688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Is Surat twice Pune?</a:t>
            </a:r>
          </a:p>
        </p:txBody>
      </p:sp>
      <p:sp>
        <p:nvSpPr>
          <p:cNvPr id="11" name="Oval 10"/>
          <p:cNvSpPr/>
          <p:nvPr/>
        </p:nvSpPr>
        <p:spPr>
          <a:xfrm>
            <a:off x="3367563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7291" y="6437376"/>
            <a:ext cx="1148429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Known that morning?</a:t>
            </a:r>
          </a:p>
        </p:txBody>
      </p:sp>
      <p:sp>
        <p:nvSpPr>
          <p:cNvPr id="13" name="Oval 12"/>
          <p:cNvSpPr/>
          <p:nvPr/>
        </p:nvSpPr>
        <p:spPr>
          <a:xfrm>
            <a:off x="4717161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26889" y="6437376"/>
            <a:ext cx="1102423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Keep, drop or fix?</a:t>
            </a:r>
          </a:p>
        </p:txBody>
      </p:sp>
      <p:sp>
        <p:nvSpPr>
          <p:cNvPr id="15" name="Oval 14"/>
          <p:cNvSpPr/>
          <p:nvPr/>
        </p:nvSpPr>
        <p:spPr>
          <a:xfrm>
            <a:off x="6020752" y="6492240"/>
            <a:ext cx="64008" cy="6400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30480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5B3FD6"/>
                </a:solidFill>
                <a:latin typeface="Calibri"/>
              </a:rPr>
              <a:t>Is it rank or cause?</a:t>
            </a:r>
          </a:p>
        </p:txBody>
      </p:sp>
      <p:sp>
        <p:nvSpPr>
          <p:cNvPr id="17" name="Oval 16"/>
          <p:cNvSpPr/>
          <p:nvPr/>
        </p:nvSpPr>
        <p:spPr>
          <a:xfrm>
            <a:off x="7416355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26083" y="6437376"/>
            <a:ext cx="101041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Why did it jump?</a:t>
            </a:r>
          </a:p>
        </p:txBody>
      </p:sp>
      <p:sp>
        <p:nvSpPr>
          <p:cNvPr id="19" name="Oval 18"/>
          <p:cNvSpPr/>
          <p:nvPr/>
        </p:nvSpPr>
        <p:spPr>
          <a:xfrm>
            <a:off x="8627935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737663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Known before the call?</a:t>
            </a:r>
          </a:p>
        </p:txBody>
      </p:sp>
      <p:sp>
        <p:nvSpPr>
          <p:cNvPr id="21" name="Oval 20"/>
          <p:cNvSpPr/>
          <p:nvPr/>
        </p:nvSpPr>
        <p:spPr>
          <a:xfrm>
            <a:off x="10115549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225277" y="6437376"/>
            <a:ext cx="1148429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does it prove?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S32  ·  38 / 65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dar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19" y="1143000"/>
            <a:ext cx="36576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600" b="0" i="0">
                <a:solidFill>
                  <a:srgbClr val="D9A7FF"/>
                </a:solidFill>
                <a:latin typeface="Georgia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19" y="2542032"/>
            <a:ext cx="10673791" cy="366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D9A7FF"/>
                </a:solidFill>
                <a:latin typeface="Calibri"/>
              </a:rPr>
              <a:t>The junior's join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19" y="3017520"/>
            <a:ext cx="10673791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0" i="0">
                <a:solidFill>
                  <a:srgbClr val="FFFFFF"/>
                </a:solidFill>
                <a:latin typeface="Georgia"/>
              </a:rPr>
              <a:t>Why did it jump?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19" y="3931920"/>
            <a:ext cx="9509760" cy="5318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E4E1F1"/>
                </a:solidFill>
                <a:latin typeface="Calibri"/>
              </a:rPr>
              <a:t>Case 1 applies: Feature engineering from the customer table: ratios, recency, counts, cohort age, basket signals · Encoding categoricals; scaling numerics; which models care · notebook case01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19" y="5074920"/>
            <a:ext cx="1341271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FC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0">
                <a:solidFill>
                  <a:srgbClr val="CFC9EE"/>
                </a:solidFill>
                <a:latin typeface="Calibri"/>
              </a:rPr>
              <a:t>What does a row know?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182519" y="5074920"/>
            <a:ext cx="1291917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FC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0">
                <a:solidFill>
                  <a:srgbClr val="CFC9EE"/>
                </a:solidFill>
                <a:latin typeface="Calibri"/>
              </a:rPr>
              <a:t>Is Surat twice Pune?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84165" y="5074920"/>
            <a:ext cx="1242564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FC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0">
                <a:solidFill>
                  <a:srgbClr val="CFC9EE"/>
                </a:solidFill>
                <a:latin typeface="Calibri"/>
              </a:rPr>
              <a:t>Known that morning?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936457" y="5074920"/>
            <a:ext cx="1193210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FC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0">
                <a:solidFill>
                  <a:srgbClr val="CFC9EE"/>
                </a:solidFill>
                <a:latin typeface="Calibri"/>
              </a:rPr>
              <a:t>Keep, drop or fix?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9396" y="5074920"/>
            <a:ext cx="1291917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FC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0">
                <a:solidFill>
                  <a:srgbClr val="CFC9EE"/>
                </a:solidFill>
                <a:latin typeface="Calibri"/>
              </a:rPr>
              <a:t>Is it rank or cause?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41042" y="5074920"/>
            <a:ext cx="1094503" cy="310896"/>
          </a:xfrm>
          <a:prstGeom prst="roundRect">
            <a:avLst>
              <a:gd name="adj" fmla="val 50000"/>
            </a:avLst>
          </a:prstGeom>
          <a:solidFill>
            <a:srgbClr val="D9A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1">
                <a:solidFill>
                  <a:srgbClr val="1A0F5C"/>
                </a:solidFill>
                <a:latin typeface="Calibri"/>
              </a:rPr>
              <a:t>Why did it jump?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845273" y="5074920"/>
            <a:ext cx="1390625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FC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0">
                <a:solidFill>
                  <a:srgbClr val="CFC9EE"/>
                </a:solidFill>
                <a:latin typeface="Calibri"/>
              </a:rPr>
              <a:t>Known before the call?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345626" y="5074920"/>
            <a:ext cx="1242564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FC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0">
                <a:solidFill>
                  <a:srgbClr val="CFC9EE"/>
                </a:solidFill>
                <a:latin typeface="Calibri"/>
              </a:rPr>
              <a:t>What does it prove?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" y="6437376"/>
            <a:ext cx="9667951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 i="0">
                <a:solidFill>
                  <a:srgbClr val="CFC9EE"/>
                </a:solidFill>
                <a:latin typeface="Calibri"/>
              </a:rPr>
              <a:t>Week 5 Wednesday: what the model is allowed to know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CFC9EE"/>
                </a:solidFill>
                <a:latin typeface="Calibri"/>
              </a:rPr>
              <a:t>39 / 65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5  ·  WEDNESDAY  ·  WHAT THE MODEL IS ALLOWED TO KNOW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What will the economy and the call log add to 0.76?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Validation AUC of the customer table: 0.761, measured Monday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30352" y="1956816"/>
          <a:ext cx="11130990" cy="1479296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914400"/>
                <a:gridCol w="4933707"/>
                <a:gridCol w="5282883"/>
              </a:tblGrid>
              <a:tr h="369824">
                <a:tc>
                  <a:txBody>
                    <a:bodyPr/>
                    <a:lstStyle/>
                    <a:p>
                      <a:r>
                        <a:rPr sz="1450" b="1" i="0">
                          <a:solidFill>
                            <a:srgbClr val="FFFFFF"/>
                          </a:solidFill>
                          <a:latin typeface="Calibri"/>
                        </a:rPr>
                        <a:t>Option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1" i="0">
                          <a:solidFill>
                            <a:srgbClr val="FFFFFF"/>
                          </a:solidFill>
                          <a:latin typeface="Calibri"/>
                        </a:rPr>
                        <a:t>Economy adds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1" i="0">
                          <a:solidFill>
                            <a:srgbClr val="FFFFFF"/>
                          </a:solidFill>
                          <a:latin typeface="Calibri"/>
                        </a:rPr>
                        <a:t>Call log adds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</a:tr>
              <a:tr h="369824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a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about 0.01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about 0.01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  <a:tr h="369824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b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about 0.03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about 0.14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</a:tr>
              <a:tr h="369824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c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about 0.14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about 0.03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Oval 6"/>
          <p:cNvSpPr/>
          <p:nvPr/>
        </p:nvSpPr>
        <p:spPr>
          <a:xfrm>
            <a:off x="530352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does a row know?</a:t>
            </a:r>
          </a:p>
        </p:txBody>
      </p:sp>
      <p:sp>
        <p:nvSpPr>
          <p:cNvPr id="9" name="Oval 8"/>
          <p:cNvSpPr/>
          <p:nvPr/>
        </p:nvSpPr>
        <p:spPr>
          <a:xfrm>
            <a:off x="1971960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81688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Is Surat twice Pune?</a:t>
            </a:r>
          </a:p>
        </p:txBody>
      </p:sp>
      <p:sp>
        <p:nvSpPr>
          <p:cNvPr id="11" name="Oval 10"/>
          <p:cNvSpPr/>
          <p:nvPr/>
        </p:nvSpPr>
        <p:spPr>
          <a:xfrm>
            <a:off x="3367563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7291" y="6437376"/>
            <a:ext cx="1148429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Known that morning?</a:t>
            </a:r>
          </a:p>
        </p:txBody>
      </p:sp>
      <p:sp>
        <p:nvSpPr>
          <p:cNvPr id="13" name="Oval 12"/>
          <p:cNvSpPr/>
          <p:nvPr/>
        </p:nvSpPr>
        <p:spPr>
          <a:xfrm>
            <a:off x="4717161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26889" y="6437376"/>
            <a:ext cx="1102423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Keep, drop or fix?</a:t>
            </a:r>
          </a:p>
        </p:txBody>
      </p:sp>
      <p:sp>
        <p:nvSpPr>
          <p:cNvPr id="15" name="Oval 14"/>
          <p:cNvSpPr/>
          <p:nvPr/>
        </p:nvSpPr>
        <p:spPr>
          <a:xfrm>
            <a:off x="6020752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30480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Is it rank or cause?</a:t>
            </a:r>
          </a:p>
        </p:txBody>
      </p:sp>
      <p:sp>
        <p:nvSpPr>
          <p:cNvPr id="17" name="Oval 16"/>
          <p:cNvSpPr/>
          <p:nvPr/>
        </p:nvSpPr>
        <p:spPr>
          <a:xfrm>
            <a:off x="7416355" y="6492240"/>
            <a:ext cx="64008" cy="6400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26083" y="6437376"/>
            <a:ext cx="101041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5B3FD6"/>
                </a:solidFill>
                <a:latin typeface="Calibri"/>
              </a:rPr>
              <a:t>Why did it jump?</a:t>
            </a:r>
          </a:p>
        </p:txBody>
      </p:sp>
      <p:sp>
        <p:nvSpPr>
          <p:cNvPr id="19" name="Oval 18"/>
          <p:cNvSpPr/>
          <p:nvPr/>
        </p:nvSpPr>
        <p:spPr>
          <a:xfrm>
            <a:off x="8627935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737663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Known before the call?</a:t>
            </a:r>
          </a:p>
        </p:txBody>
      </p:sp>
      <p:sp>
        <p:nvSpPr>
          <p:cNvPr id="21" name="Oval 20"/>
          <p:cNvSpPr/>
          <p:nvPr/>
        </p:nvSpPr>
        <p:spPr>
          <a:xfrm>
            <a:off x="10115549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225277" y="6437376"/>
            <a:ext cx="1148429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does it prove?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S33  ·  40 / 65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5  ·  WEDNESDAY  ·  WHAT THE MODEL IS ALLOWED TO KNOW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Answer: b, AUC 0.761, 0.795, then 0.932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Accuracy moves one point: 0.897 to 0.907</a:t>
            </a:r>
          </a:p>
        </p:txBody>
      </p:sp>
      <p:pic>
        <p:nvPicPr>
          <p:cNvPr id="6" name="mermaid diagram" descr="C2_W05_D03_case1_auc_accuracy_STUD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5882" y="1682496"/>
            <a:ext cx="9379930" cy="4200144"/>
          </a:xfrm>
          <a:prstGeom prst="rect">
            <a:avLst/>
          </a:prstGeom>
        </p:spPr>
      </p:pic>
      <p:sp>
        <p:nvSpPr>
          <p:cNvPr id="7" name="picture caption"/>
          <p:cNvSpPr txBox="1"/>
          <p:nvPr/>
        </p:nvSpPr>
        <p:spPr>
          <a:xfrm>
            <a:off x="530352" y="5919216"/>
            <a:ext cx="11130991" cy="3169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6B6690"/>
                </a:solidFill>
                <a:latin typeface="Calibri"/>
              </a:rPr>
              <a:t>Validation AUC jumps while accuracy barely moves</a:t>
            </a:r>
          </a:p>
        </p:txBody>
      </p:sp>
      <p:sp>
        <p:nvSpPr>
          <p:cNvPr id="8" name="Oval 7"/>
          <p:cNvSpPr/>
          <p:nvPr/>
        </p:nvSpPr>
        <p:spPr>
          <a:xfrm>
            <a:off x="530352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does a row know?</a:t>
            </a:r>
          </a:p>
        </p:txBody>
      </p:sp>
      <p:sp>
        <p:nvSpPr>
          <p:cNvPr id="10" name="Oval 9"/>
          <p:cNvSpPr/>
          <p:nvPr/>
        </p:nvSpPr>
        <p:spPr>
          <a:xfrm>
            <a:off x="1971960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81688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Is Surat twice Pune?</a:t>
            </a:r>
          </a:p>
        </p:txBody>
      </p:sp>
      <p:sp>
        <p:nvSpPr>
          <p:cNvPr id="12" name="Oval 11"/>
          <p:cNvSpPr/>
          <p:nvPr/>
        </p:nvSpPr>
        <p:spPr>
          <a:xfrm>
            <a:off x="3367563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77291" y="6437376"/>
            <a:ext cx="1148429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Known that morning?</a:t>
            </a:r>
          </a:p>
        </p:txBody>
      </p:sp>
      <p:sp>
        <p:nvSpPr>
          <p:cNvPr id="14" name="Oval 13"/>
          <p:cNvSpPr/>
          <p:nvPr/>
        </p:nvSpPr>
        <p:spPr>
          <a:xfrm>
            <a:off x="4717161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26889" y="6437376"/>
            <a:ext cx="1102423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Keep, drop or fix?</a:t>
            </a:r>
          </a:p>
        </p:txBody>
      </p:sp>
      <p:sp>
        <p:nvSpPr>
          <p:cNvPr id="16" name="Oval 15"/>
          <p:cNvSpPr/>
          <p:nvPr/>
        </p:nvSpPr>
        <p:spPr>
          <a:xfrm>
            <a:off x="6020752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30480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Is it rank or cause?</a:t>
            </a:r>
          </a:p>
        </p:txBody>
      </p:sp>
      <p:sp>
        <p:nvSpPr>
          <p:cNvPr id="18" name="Oval 17"/>
          <p:cNvSpPr/>
          <p:nvPr/>
        </p:nvSpPr>
        <p:spPr>
          <a:xfrm>
            <a:off x="7416355" y="6492240"/>
            <a:ext cx="64008" cy="6400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26083" y="6437376"/>
            <a:ext cx="101041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5B3FD6"/>
                </a:solidFill>
                <a:latin typeface="Calibri"/>
              </a:rPr>
              <a:t>Why did it jump?</a:t>
            </a:r>
          </a:p>
        </p:txBody>
      </p:sp>
      <p:sp>
        <p:nvSpPr>
          <p:cNvPr id="20" name="Oval 19"/>
          <p:cNvSpPr/>
          <p:nvPr/>
        </p:nvSpPr>
        <p:spPr>
          <a:xfrm>
            <a:off x="8627935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37663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Known before the call?</a:t>
            </a:r>
          </a:p>
        </p:txBody>
      </p:sp>
      <p:sp>
        <p:nvSpPr>
          <p:cNvPr id="22" name="Oval 21"/>
          <p:cNvSpPr/>
          <p:nvPr/>
        </p:nvSpPr>
        <p:spPr>
          <a:xfrm>
            <a:off x="10115549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25277" y="6437376"/>
            <a:ext cx="1148429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does it prove?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S34  ·  41 / 65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5  ·  WEDNESDAY  ·  WHAT THE MODEL IS ALLOWED TO KNOW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Read the jump in recall and rupees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Rs 40 a call, Rs 1,200 a missed buyer, threshold 0.032</a:t>
            </a:r>
          </a:p>
        </p:txBody>
      </p:sp>
      <p:pic>
        <p:nvPicPr>
          <p:cNvPr id="6" name="mermaid diagram" descr="C2_W05_D03_case1_recall_bill_STUD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7196" y="1682496"/>
            <a:ext cx="9697302" cy="4200144"/>
          </a:xfrm>
          <a:prstGeom prst="rect">
            <a:avLst/>
          </a:prstGeom>
        </p:spPr>
      </p:pic>
      <p:sp>
        <p:nvSpPr>
          <p:cNvPr id="7" name="picture caption"/>
          <p:cNvSpPr txBox="1"/>
          <p:nvPr/>
        </p:nvSpPr>
        <p:spPr>
          <a:xfrm>
            <a:off x="530352" y="5919216"/>
            <a:ext cx="11130991" cy="3169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6B6690"/>
                </a:solidFill>
                <a:latin typeface="Calibri"/>
              </a:rPr>
              <a:t>Recall at 0.5 and the bill on 8,238 calls</a:t>
            </a:r>
          </a:p>
        </p:txBody>
      </p:sp>
      <p:sp>
        <p:nvSpPr>
          <p:cNvPr id="8" name="Oval 7"/>
          <p:cNvSpPr/>
          <p:nvPr/>
        </p:nvSpPr>
        <p:spPr>
          <a:xfrm>
            <a:off x="530352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does a row know?</a:t>
            </a:r>
          </a:p>
        </p:txBody>
      </p:sp>
      <p:sp>
        <p:nvSpPr>
          <p:cNvPr id="10" name="Oval 9"/>
          <p:cNvSpPr/>
          <p:nvPr/>
        </p:nvSpPr>
        <p:spPr>
          <a:xfrm>
            <a:off x="1971960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81688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Is Surat twice Pune?</a:t>
            </a:r>
          </a:p>
        </p:txBody>
      </p:sp>
      <p:sp>
        <p:nvSpPr>
          <p:cNvPr id="12" name="Oval 11"/>
          <p:cNvSpPr/>
          <p:nvPr/>
        </p:nvSpPr>
        <p:spPr>
          <a:xfrm>
            <a:off x="3367563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77291" y="6437376"/>
            <a:ext cx="1148429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Known that morning?</a:t>
            </a:r>
          </a:p>
        </p:txBody>
      </p:sp>
      <p:sp>
        <p:nvSpPr>
          <p:cNvPr id="14" name="Oval 13"/>
          <p:cNvSpPr/>
          <p:nvPr/>
        </p:nvSpPr>
        <p:spPr>
          <a:xfrm>
            <a:off x="4717161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26889" y="6437376"/>
            <a:ext cx="1102423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Keep, drop or fix?</a:t>
            </a:r>
          </a:p>
        </p:txBody>
      </p:sp>
      <p:sp>
        <p:nvSpPr>
          <p:cNvPr id="16" name="Oval 15"/>
          <p:cNvSpPr/>
          <p:nvPr/>
        </p:nvSpPr>
        <p:spPr>
          <a:xfrm>
            <a:off x="6020752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30480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Is it rank or cause?</a:t>
            </a:r>
          </a:p>
        </p:txBody>
      </p:sp>
      <p:sp>
        <p:nvSpPr>
          <p:cNvPr id="18" name="Oval 17"/>
          <p:cNvSpPr/>
          <p:nvPr/>
        </p:nvSpPr>
        <p:spPr>
          <a:xfrm>
            <a:off x="7416355" y="6492240"/>
            <a:ext cx="64008" cy="6400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26083" y="6437376"/>
            <a:ext cx="101041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5B3FD6"/>
                </a:solidFill>
                <a:latin typeface="Calibri"/>
              </a:rPr>
              <a:t>Why did it jump?</a:t>
            </a:r>
          </a:p>
        </p:txBody>
      </p:sp>
      <p:sp>
        <p:nvSpPr>
          <p:cNvPr id="20" name="Oval 19"/>
          <p:cNvSpPr/>
          <p:nvPr/>
        </p:nvSpPr>
        <p:spPr>
          <a:xfrm>
            <a:off x="8627935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37663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Known before the call?</a:t>
            </a:r>
          </a:p>
        </p:txBody>
      </p:sp>
      <p:sp>
        <p:nvSpPr>
          <p:cNvPr id="22" name="Oval 21"/>
          <p:cNvSpPr/>
          <p:nvPr/>
        </p:nvSpPr>
        <p:spPr>
          <a:xfrm>
            <a:off x="10115549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25277" y="6437376"/>
            <a:ext cx="1148429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does it prove?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S35  ·  42 / 65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5  ·  WEDNESDAY  ·  WHAT THE MODEL IS ALLOWED TO KNOW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The scaler saw 24,712 rows and nothing else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Encoders and scalers live inside the pipeline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0352" y="1956816"/>
            <a:ext cx="11130991" cy="1214627"/>
          </a:xfrm>
          <a:prstGeom prst="roundRect">
            <a:avLst>
              <a:gd name="adj" fmla="val 3500"/>
            </a:avLst>
          </a:prstGeom>
          <a:solidFill>
            <a:srgbClr val="1A1440"/>
          </a:solidFill>
          <a:ln>
            <a:noFill/>
          </a:ln>
          <a:effectLst>
            <a:outerShdw blurRad="76200" dist="19050" dir="5400000" algn="bl" rotWithShape="0">
              <a:srgbClr val="1A0F5C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13232" y="2084832"/>
            <a:ext cx="91440" cy="91440"/>
          </a:xfrm>
          <a:prstGeom prst="ellipse">
            <a:avLst/>
          </a:prstGeom>
          <a:solidFill>
            <a:srgbClr val="D63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68680" y="2084832"/>
            <a:ext cx="91440" cy="91440"/>
          </a:xfrm>
          <a:prstGeom prst="ellipse">
            <a:avLst/>
          </a:prstGeom>
          <a:solidFill>
            <a:srgbClr val="D9A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24128" y="2084832"/>
            <a:ext cx="91440" cy="91440"/>
          </a:xfrm>
          <a:prstGeom prst="ellipse">
            <a:avLst/>
          </a:prstGeom>
          <a:solidFill>
            <a:srgbClr val="1F8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1" y="2286000"/>
            <a:ext cx="10673791" cy="81229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400" b="0" i="0">
                <a:solidFill>
                  <a:srgbClr val="E4E1F1"/>
                </a:solidFill>
                <a:latin typeface="Consolas"/>
              </a:rPr>
              <a:t>scaler.n_samples_seen_          # 24712, the training rows</a:t>
            </a:r>
          </a:p>
          <a:p>
            <a:pPr>
              <a:spcAft>
                <a:spcPts val="200"/>
              </a:spcAft>
            </a:pPr>
            <a:r>
              <a:rPr sz="1400" b="0" i="0">
                <a:solidFill>
                  <a:srgbClr val="E4E1F1"/>
                </a:solidFill>
                <a:latin typeface="Consolas"/>
              </a:rPr>
              <a:t>len(encoder.categories_[0])     # 12 job levels, unknown included</a:t>
            </a:r>
          </a:p>
          <a:p>
            <a:pPr>
              <a:spcAft>
                <a:spcPts val="200"/>
              </a:spcAft>
            </a:pPr>
            <a:r>
              <a:rPr sz="1400" b="0" i="0">
                <a:solidFill>
                  <a:srgbClr val="E4E1F1"/>
                </a:solidFill>
                <a:latin typeface="Consolas"/>
              </a:rPr>
              <a:t>StandardScaler().fit(bank[num]) # the trap: all 41,188 rows, test included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3336036"/>
            <a:ext cx="11130991" cy="4958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600" b="0" i="0">
                <a:solidFill>
                  <a:srgbClr val="1A1440"/>
                </a:solidFill>
                <a:latin typeface="Calibri"/>
              </a:rPr>
              <a:t>Uber's Michelangelo applies the same feature expressions at training and at prediction time.</a:t>
            </a:r>
          </a:p>
        </p:txBody>
      </p:sp>
      <p:sp>
        <p:nvSpPr>
          <p:cNvPr id="12" name="Oval 11"/>
          <p:cNvSpPr/>
          <p:nvPr/>
        </p:nvSpPr>
        <p:spPr>
          <a:xfrm>
            <a:off x="530352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does a row know?</a:t>
            </a:r>
          </a:p>
        </p:txBody>
      </p:sp>
      <p:sp>
        <p:nvSpPr>
          <p:cNvPr id="14" name="Oval 13"/>
          <p:cNvSpPr/>
          <p:nvPr/>
        </p:nvSpPr>
        <p:spPr>
          <a:xfrm>
            <a:off x="1971960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081688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Is Surat twice Pune?</a:t>
            </a:r>
          </a:p>
        </p:txBody>
      </p:sp>
      <p:sp>
        <p:nvSpPr>
          <p:cNvPr id="16" name="Oval 15"/>
          <p:cNvSpPr/>
          <p:nvPr/>
        </p:nvSpPr>
        <p:spPr>
          <a:xfrm>
            <a:off x="3367563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77291" y="6437376"/>
            <a:ext cx="1148429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Known that morning?</a:t>
            </a:r>
          </a:p>
        </p:txBody>
      </p:sp>
      <p:sp>
        <p:nvSpPr>
          <p:cNvPr id="18" name="Oval 17"/>
          <p:cNvSpPr/>
          <p:nvPr/>
        </p:nvSpPr>
        <p:spPr>
          <a:xfrm>
            <a:off x="4717161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26889" y="6437376"/>
            <a:ext cx="1102423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Keep, drop or fix?</a:t>
            </a:r>
          </a:p>
        </p:txBody>
      </p:sp>
      <p:sp>
        <p:nvSpPr>
          <p:cNvPr id="20" name="Oval 19"/>
          <p:cNvSpPr/>
          <p:nvPr/>
        </p:nvSpPr>
        <p:spPr>
          <a:xfrm>
            <a:off x="6020752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30480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Is it rank or cause?</a:t>
            </a:r>
          </a:p>
        </p:txBody>
      </p:sp>
      <p:sp>
        <p:nvSpPr>
          <p:cNvPr id="22" name="Oval 21"/>
          <p:cNvSpPr/>
          <p:nvPr/>
        </p:nvSpPr>
        <p:spPr>
          <a:xfrm>
            <a:off x="7416355" y="6492240"/>
            <a:ext cx="64008" cy="6400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26083" y="6437376"/>
            <a:ext cx="101041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5B3FD6"/>
                </a:solidFill>
                <a:latin typeface="Calibri"/>
              </a:rPr>
              <a:t>Why did it jump?</a:t>
            </a:r>
          </a:p>
        </p:txBody>
      </p:sp>
      <p:sp>
        <p:nvSpPr>
          <p:cNvPr id="24" name="Oval 23"/>
          <p:cNvSpPr/>
          <p:nvPr/>
        </p:nvSpPr>
        <p:spPr>
          <a:xfrm>
            <a:off x="8627935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37663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Known before the call?</a:t>
            </a:r>
          </a:p>
        </p:txBody>
      </p:sp>
      <p:sp>
        <p:nvSpPr>
          <p:cNvPr id="26" name="Oval 25"/>
          <p:cNvSpPr/>
          <p:nvPr/>
        </p:nvSpPr>
        <p:spPr>
          <a:xfrm>
            <a:off x="10115549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225277" y="6437376"/>
            <a:ext cx="1148429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does it prove?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S36  ·  43 / 65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5  ·  WEDNESDAY  ·  WHAT THE MODEL IS ALLOWED TO KNOW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Guided: two features and three columns, together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Notebook guided: three TODO cells, reasons said aloud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30352" y="1956816"/>
          <a:ext cx="11130991" cy="1479296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914400"/>
                <a:gridCol w="10216591"/>
              </a:tblGrid>
              <a:tr h="369824">
                <a:tc>
                  <a:txBody>
                    <a:bodyPr/>
                    <a:lstStyle/>
                    <a:p>
                      <a:r>
                        <a:rPr sz="1450" b="1" i="0">
                          <a:solidFill>
                            <a:srgbClr val="FFFFFF"/>
                          </a:solidFill>
                          <a:latin typeface="Calibri"/>
                        </a:rPr>
                        <a:t>TODO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1" i="0">
                          <a:solidFill>
                            <a:srgbClr val="FFFFFF"/>
                          </a:solidFill>
                          <a:latin typeface="Calibri"/>
                        </a:rPr>
                        <a:t>The room decides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</a:tr>
              <a:tr h="369824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the line that turns pdays = 999 into a never-contacted flag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  <a:tr h="369824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the line that flags a previous success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</a:tr>
              <a:tr h="369824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known or not known that morning: duration, euribor3m, poutcome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Oval 6"/>
          <p:cNvSpPr/>
          <p:nvPr/>
        </p:nvSpPr>
        <p:spPr>
          <a:xfrm>
            <a:off x="530352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does a row know?</a:t>
            </a:r>
          </a:p>
        </p:txBody>
      </p:sp>
      <p:sp>
        <p:nvSpPr>
          <p:cNvPr id="9" name="Oval 8"/>
          <p:cNvSpPr/>
          <p:nvPr/>
        </p:nvSpPr>
        <p:spPr>
          <a:xfrm>
            <a:off x="1971960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81688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Is Surat twice Pune?</a:t>
            </a:r>
          </a:p>
        </p:txBody>
      </p:sp>
      <p:sp>
        <p:nvSpPr>
          <p:cNvPr id="11" name="Oval 10"/>
          <p:cNvSpPr/>
          <p:nvPr/>
        </p:nvSpPr>
        <p:spPr>
          <a:xfrm>
            <a:off x="3367563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7291" y="6437376"/>
            <a:ext cx="1148429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Known that morning?</a:t>
            </a:r>
          </a:p>
        </p:txBody>
      </p:sp>
      <p:sp>
        <p:nvSpPr>
          <p:cNvPr id="13" name="Oval 12"/>
          <p:cNvSpPr/>
          <p:nvPr/>
        </p:nvSpPr>
        <p:spPr>
          <a:xfrm>
            <a:off x="4717161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26889" y="6437376"/>
            <a:ext cx="1102423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Keep, drop or fix?</a:t>
            </a:r>
          </a:p>
        </p:txBody>
      </p:sp>
      <p:sp>
        <p:nvSpPr>
          <p:cNvPr id="15" name="Oval 14"/>
          <p:cNvSpPr/>
          <p:nvPr/>
        </p:nvSpPr>
        <p:spPr>
          <a:xfrm>
            <a:off x="6020752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30480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Is it rank or cause?</a:t>
            </a:r>
          </a:p>
        </p:txBody>
      </p:sp>
      <p:sp>
        <p:nvSpPr>
          <p:cNvPr id="17" name="Oval 16"/>
          <p:cNvSpPr/>
          <p:nvPr/>
        </p:nvSpPr>
        <p:spPr>
          <a:xfrm>
            <a:off x="7416355" y="6492240"/>
            <a:ext cx="64008" cy="6400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26083" y="6437376"/>
            <a:ext cx="101041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5B3FD6"/>
                </a:solidFill>
                <a:latin typeface="Calibri"/>
              </a:rPr>
              <a:t>Why did it jump?</a:t>
            </a:r>
          </a:p>
        </p:txBody>
      </p:sp>
      <p:sp>
        <p:nvSpPr>
          <p:cNvPr id="19" name="Oval 18"/>
          <p:cNvSpPr/>
          <p:nvPr/>
        </p:nvSpPr>
        <p:spPr>
          <a:xfrm>
            <a:off x="8627935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737663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Known before the call?</a:t>
            </a:r>
          </a:p>
        </p:txBody>
      </p:sp>
      <p:sp>
        <p:nvSpPr>
          <p:cNvPr id="21" name="Oval 20"/>
          <p:cNvSpPr/>
          <p:nvPr/>
        </p:nvSpPr>
        <p:spPr>
          <a:xfrm>
            <a:off x="10115549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225277" y="6437376"/>
            <a:ext cx="1148429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does it prove?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S37  ·  44 / 65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dar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19" y="1143000"/>
            <a:ext cx="36576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600" b="0" i="0">
                <a:solidFill>
                  <a:srgbClr val="D9A7FF"/>
                </a:solidFill>
                <a:latin typeface="Georgia"/>
              </a:rP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19" y="2542032"/>
            <a:ext cx="10673791" cy="366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D9A7FF"/>
                </a:solidFill>
                <a:latin typeface="Calibri"/>
              </a:rPr>
              <a:t>Every column on the timeline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19" y="3017520"/>
            <a:ext cx="10673791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0" i="0">
                <a:solidFill>
                  <a:srgbClr val="FFFFFF"/>
                </a:solidFill>
                <a:latin typeface="Georgia"/>
              </a:rPr>
              <a:t>Known before the call?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19" y="3931920"/>
            <a:ext cx="9509760" cy="5318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E4E1F1"/>
                </a:solidFill>
                <a:latin typeface="Calibri"/>
              </a:rPr>
              <a:t>Case 2 applies: Leakage and the prediction-time question · The column audit · Feature engineering from the customer table (the 999 sentinel) · notebook case02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19" y="5074920"/>
            <a:ext cx="1341271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FC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0">
                <a:solidFill>
                  <a:srgbClr val="CFC9EE"/>
                </a:solidFill>
                <a:latin typeface="Calibri"/>
              </a:rPr>
              <a:t>What does a row know?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182519" y="5074920"/>
            <a:ext cx="1291917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FC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0">
                <a:solidFill>
                  <a:srgbClr val="CFC9EE"/>
                </a:solidFill>
                <a:latin typeface="Calibri"/>
              </a:rPr>
              <a:t>Is Surat twice Pune?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84165" y="5074920"/>
            <a:ext cx="1242564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FC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0">
                <a:solidFill>
                  <a:srgbClr val="CFC9EE"/>
                </a:solidFill>
                <a:latin typeface="Calibri"/>
              </a:rPr>
              <a:t>Known that morning?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936457" y="5074920"/>
            <a:ext cx="1193210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FC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0">
                <a:solidFill>
                  <a:srgbClr val="CFC9EE"/>
                </a:solidFill>
                <a:latin typeface="Calibri"/>
              </a:rPr>
              <a:t>Keep, drop or fix?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9396" y="5074920"/>
            <a:ext cx="1291917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FC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0">
                <a:solidFill>
                  <a:srgbClr val="CFC9EE"/>
                </a:solidFill>
                <a:latin typeface="Calibri"/>
              </a:rPr>
              <a:t>Is it rank or cause?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41042" y="5074920"/>
            <a:ext cx="1094503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FC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0">
                <a:solidFill>
                  <a:srgbClr val="CFC9EE"/>
                </a:solidFill>
                <a:latin typeface="Calibri"/>
              </a:rPr>
              <a:t>Why did it jump?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845273" y="5074920"/>
            <a:ext cx="1390625" cy="310896"/>
          </a:xfrm>
          <a:prstGeom prst="roundRect">
            <a:avLst>
              <a:gd name="adj" fmla="val 50000"/>
            </a:avLst>
          </a:prstGeom>
          <a:solidFill>
            <a:srgbClr val="D9A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1">
                <a:solidFill>
                  <a:srgbClr val="1A0F5C"/>
                </a:solidFill>
                <a:latin typeface="Calibri"/>
              </a:rPr>
              <a:t>Known before the call?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345626" y="5074920"/>
            <a:ext cx="1242564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FC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0">
                <a:solidFill>
                  <a:srgbClr val="CFC9EE"/>
                </a:solidFill>
                <a:latin typeface="Calibri"/>
              </a:rPr>
              <a:t>What does it prove?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" y="6437376"/>
            <a:ext cx="9667951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 i="0">
                <a:solidFill>
                  <a:srgbClr val="CFC9EE"/>
                </a:solidFill>
                <a:latin typeface="Calibri"/>
              </a:rPr>
              <a:t>Week 5 Wednesday: what the model is allowed to know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CFC9EE"/>
                </a:solidFill>
                <a:latin typeface="Calibri"/>
              </a:rPr>
              <a:t>45 / 65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5  ·  WEDNESDAY  ·  WHAT THE MODEL IS ALLOWED TO KNOW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How often does the shortest fifth of calls say yes?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Calls split into five equal groups by length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30352" y="1956816"/>
          <a:ext cx="11130991" cy="1479296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914400"/>
                <a:gridCol w="10216591"/>
              </a:tblGrid>
              <a:tr h="369824">
                <a:tc>
                  <a:txBody>
                    <a:bodyPr/>
                    <a:lstStyle/>
                    <a:p>
                      <a:r>
                        <a:rPr sz="1450" b="1" i="0">
                          <a:solidFill>
                            <a:srgbClr val="FFFFFF"/>
                          </a:solidFill>
                          <a:latin typeface="Calibri"/>
                        </a:rPr>
                        <a:t>Option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1" i="0">
                          <a:solidFill>
                            <a:srgbClr val="FFFFFF"/>
                          </a:solidFill>
                          <a:latin typeface="Calibri"/>
                        </a:rPr>
                        <a:t>Yes-rate of the shortest fifth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</a:tr>
              <a:tr h="369824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a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about 11 percent, like everyone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  <a:tr h="369824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b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about 0.5 percent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</a:tr>
              <a:tr h="369824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c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about 33 percent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Oval 6"/>
          <p:cNvSpPr/>
          <p:nvPr/>
        </p:nvSpPr>
        <p:spPr>
          <a:xfrm>
            <a:off x="530352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does a row know?</a:t>
            </a:r>
          </a:p>
        </p:txBody>
      </p:sp>
      <p:sp>
        <p:nvSpPr>
          <p:cNvPr id="9" name="Oval 8"/>
          <p:cNvSpPr/>
          <p:nvPr/>
        </p:nvSpPr>
        <p:spPr>
          <a:xfrm>
            <a:off x="1971960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81688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Is Surat twice Pune?</a:t>
            </a:r>
          </a:p>
        </p:txBody>
      </p:sp>
      <p:sp>
        <p:nvSpPr>
          <p:cNvPr id="11" name="Oval 10"/>
          <p:cNvSpPr/>
          <p:nvPr/>
        </p:nvSpPr>
        <p:spPr>
          <a:xfrm>
            <a:off x="3367563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7291" y="6437376"/>
            <a:ext cx="1148429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Known that morning?</a:t>
            </a:r>
          </a:p>
        </p:txBody>
      </p:sp>
      <p:sp>
        <p:nvSpPr>
          <p:cNvPr id="13" name="Oval 12"/>
          <p:cNvSpPr/>
          <p:nvPr/>
        </p:nvSpPr>
        <p:spPr>
          <a:xfrm>
            <a:off x="4717161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26889" y="6437376"/>
            <a:ext cx="1102423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Keep, drop or fix?</a:t>
            </a:r>
          </a:p>
        </p:txBody>
      </p:sp>
      <p:sp>
        <p:nvSpPr>
          <p:cNvPr id="15" name="Oval 14"/>
          <p:cNvSpPr/>
          <p:nvPr/>
        </p:nvSpPr>
        <p:spPr>
          <a:xfrm>
            <a:off x="6020752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30480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Is it rank or cause?</a:t>
            </a:r>
          </a:p>
        </p:txBody>
      </p:sp>
      <p:sp>
        <p:nvSpPr>
          <p:cNvPr id="17" name="Oval 16"/>
          <p:cNvSpPr/>
          <p:nvPr/>
        </p:nvSpPr>
        <p:spPr>
          <a:xfrm>
            <a:off x="7416355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26083" y="6437376"/>
            <a:ext cx="101041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Why did it jump?</a:t>
            </a:r>
          </a:p>
        </p:txBody>
      </p:sp>
      <p:sp>
        <p:nvSpPr>
          <p:cNvPr id="19" name="Oval 18"/>
          <p:cNvSpPr/>
          <p:nvPr/>
        </p:nvSpPr>
        <p:spPr>
          <a:xfrm>
            <a:off x="8627935" y="6492240"/>
            <a:ext cx="64008" cy="6400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737663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5B3FD6"/>
                </a:solidFill>
                <a:latin typeface="Calibri"/>
              </a:rPr>
              <a:t>Known before the call?</a:t>
            </a:r>
          </a:p>
        </p:txBody>
      </p:sp>
      <p:sp>
        <p:nvSpPr>
          <p:cNvPr id="21" name="Oval 20"/>
          <p:cNvSpPr/>
          <p:nvPr/>
        </p:nvSpPr>
        <p:spPr>
          <a:xfrm>
            <a:off x="10115549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225277" y="6437376"/>
            <a:ext cx="1148429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does it prove?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S38  ·  46 / 65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5  ·  WEDNESDAY  ·  WHAT THE MODEL IS ALLOWED TO KNOW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Answer: b, 0.5 percent; the longest fifth, 33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The dataset's own note: the length is unknown before the call</a:t>
            </a:r>
          </a:p>
        </p:txBody>
      </p:sp>
      <p:pic>
        <p:nvPicPr>
          <p:cNvPr id="6" name="mermaid diagram" descr="C2_W05_D03_case2_duration_fifths_STUD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4838" y="1682496"/>
            <a:ext cx="9182018" cy="4200144"/>
          </a:xfrm>
          <a:prstGeom prst="rect">
            <a:avLst/>
          </a:prstGeom>
        </p:spPr>
      </p:pic>
      <p:sp>
        <p:nvSpPr>
          <p:cNvPr id="7" name="picture caption"/>
          <p:cNvSpPr txBox="1"/>
          <p:nvPr/>
        </p:nvSpPr>
        <p:spPr>
          <a:xfrm>
            <a:off x="530352" y="5919215"/>
            <a:ext cx="11130991" cy="3169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6B6690"/>
                </a:solidFill>
                <a:latin typeface="Calibri"/>
              </a:rPr>
              <a:t>Yes-rate by call length</a:t>
            </a:r>
          </a:p>
        </p:txBody>
      </p:sp>
      <p:sp>
        <p:nvSpPr>
          <p:cNvPr id="8" name="Oval 7"/>
          <p:cNvSpPr/>
          <p:nvPr/>
        </p:nvSpPr>
        <p:spPr>
          <a:xfrm>
            <a:off x="530352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does a row know?</a:t>
            </a:r>
          </a:p>
        </p:txBody>
      </p:sp>
      <p:sp>
        <p:nvSpPr>
          <p:cNvPr id="10" name="Oval 9"/>
          <p:cNvSpPr/>
          <p:nvPr/>
        </p:nvSpPr>
        <p:spPr>
          <a:xfrm>
            <a:off x="1971960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81688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Is Surat twice Pune?</a:t>
            </a:r>
          </a:p>
        </p:txBody>
      </p:sp>
      <p:sp>
        <p:nvSpPr>
          <p:cNvPr id="12" name="Oval 11"/>
          <p:cNvSpPr/>
          <p:nvPr/>
        </p:nvSpPr>
        <p:spPr>
          <a:xfrm>
            <a:off x="3367563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77291" y="6437376"/>
            <a:ext cx="1148429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Known that morning?</a:t>
            </a:r>
          </a:p>
        </p:txBody>
      </p:sp>
      <p:sp>
        <p:nvSpPr>
          <p:cNvPr id="14" name="Oval 13"/>
          <p:cNvSpPr/>
          <p:nvPr/>
        </p:nvSpPr>
        <p:spPr>
          <a:xfrm>
            <a:off x="4717161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26889" y="6437376"/>
            <a:ext cx="1102423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Keep, drop or fix?</a:t>
            </a:r>
          </a:p>
        </p:txBody>
      </p:sp>
      <p:sp>
        <p:nvSpPr>
          <p:cNvPr id="16" name="Oval 15"/>
          <p:cNvSpPr/>
          <p:nvPr/>
        </p:nvSpPr>
        <p:spPr>
          <a:xfrm>
            <a:off x="6020752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30480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Is it rank or cause?</a:t>
            </a:r>
          </a:p>
        </p:txBody>
      </p:sp>
      <p:sp>
        <p:nvSpPr>
          <p:cNvPr id="18" name="Oval 17"/>
          <p:cNvSpPr/>
          <p:nvPr/>
        </p:nvSpPr>
        <p:spPr>
          <a:xfrm>
            <a:off x="7416355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26083" y="6437376"/>
            <a:ext cx="101041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Why did it jump?</a:t>
            </a:r>
          </a:p>
        </p:txBody>
      </p:sp>
      <p:sp>
        <p:nvSpPr>
          <p:cNvPr id="20" name="Oval 19"/>
          <p:cNvSpPr/>
          <p:nvPr/>
        </p:nvSpPr>
        <p:spPr>
          <a:xfrm>
            <a:off x="8627935" y="6492240"/>
            <a:ext cx="64008" cy="6400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37663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5B3FD6"/>
                </a:solidFill>
                <a:latin typeface="Calibri"/>
              </a:rPr>
              <a:t>Known before the call?</a:t>
            </a:r>
          </a:p>
        </p:txBody>
      </p:sp>
      <p:sp>
        <p:nvSpPr>
          <p:cNvPr id="22" name="Oval 21"/>
          <p:cNvSpPr/>
          <p:nvPr/>
        </p:nvSpPr>
        <p:spPr>
          <a:xfrm>
            <a:off x="10115549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25277" y="6437376"/>
            <a:ext cx="1148429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does it prove?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S39  ·  47 / 65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5  ·  WEDNESDAY  ·  WHAT THE MODEL IS ALLOWED TO KNOW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Twenty columns audited: one drop, three flags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Notebook case02, the audit table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30352" y="1956816"/>
          <a:ext cx="11130989" cy="2588768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5209359"/>
                <a:gridCol w="4283488"/>
                <a:gridCol w="1638142"/>
              </a:tblGrid>
              <a:tr h="369824">
                <a:tc>
                  <a:txBody>
                    <a:bodyPr/>
                    <a:lstStyle/>
                    <a:p>
                      <a:r>
                        <a:rPr sz="1450" b="1" i="0">
                          <a:solidFill>
                            <a:srgbClr val="FFFFFF"/>
                          </a:solidFill>
                          <a:latin typeface="Calibri"/>
                        </a:rPr>
                        <a:t>Columns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1" i="0">
                          <a:solidFill>
                            <a:srgbClr val="FFFFFF"/>
                          </a:solidFill>
                          <a:latin typeface="Calibri"/>
                        </a:rPr>
                        <a:t>Written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1" i="0">
                          <a:solidFill>
                            <a:srgbClr val="FFFFFF"/>
                          </a:solidFill>
                          <a:latin typeface="Calibri"/>
                        </a:rPr>
                        <a:t>Verdict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</a:tr>
              <a:tr h="369824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profile, credit products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before the campaign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keep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  <a:tr h="369824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contact, campaign, previous, poutcome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before the call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keep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</a:tr>
              <a:tr h="369824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month, day_of_week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the day of the call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keep, flag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  <a:tr h="369824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pdays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when the last campaign closed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engineer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</a:tr>
              <a:tr h="369824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economy, five columns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published by the research desk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keep, flag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  <a:tr h="369824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duration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when the call ends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drop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</a:tr>
            </a:tbl>
          </a:graphicData>
        </a:graphic>
      </p:graphicFrame>
      <p:sp>
        <p:nvSpPr>
          <p:cNvPr id="7" name="Oval 6"/>
          <p:cNvSpPr/>
          <p:nvPr/>
        </p:nvSpPr>
        <p:spPr>
          <a:xfrm>
            <a:off x="530352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does a row know?</a:t>
            </a:r>
          </a:p>
        </p:txBody>
      </p:sp>
      <p:sp>
        <p:nvSpPr>
          <p:cNvPr id="9" name="Oval 8"/>
          <p:cNvSpPr/>
          <p:nvPr/>
        </p:nvSpPr>
        <p:spPr>
          <a:xfrm>
            <a:off x="1971960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81688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Is Surat twice Pune?</a:t>
            </a:r>
          </a:p>
        </p:txBody>
      </p:sp>
      <p:sp>
        <p:nvSpPr>
          <p:cNvPr id="11" name="Oval 10"/>
          <p:cNvSpPr/>
          <p:nvPr/>
        </p:nvSpPr>
        <p:spPr>
          <a:xfrm>
            <a:off x="3367563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7291" y="6437376"/>
            <a:ext cx="1148429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Known that morning?</a:t>
            </a:r>
          </a:p>
        </p:txBody>
      </p:sp>
      <p:sp>
        <p:nvSpPr>
          <p:cNvPr id="13" name="Oval 12"/>
          <p:cNvSpPr/>
          <p:nvPr/>
        </p:nvSpPr>
        <p:spPr>
          <a:xfrm>
            <a:off x="4717161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26889" y="6437376"/>
            <a:ext cx="1102423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Keep, drop or fix?</a:t>
            </a:r>
          </a:p>
        </p:txBody>
      </p:sp>
      <p:sp>
        <p:nvSpPr>
          <p:cNvPr id="15" name="Oval 14"/>
          <p:cNvSpPr/>
          <p:nvPr/>
        </p:nvSpPr>
        <p:spPr>
          <a:xfrm>
            <a:off x="6020752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30480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Is it rank or cause?</a:t>
            </a:r>
          </a:p>
        </p:txBody>
      </p:sp>
      <p:sp>
        <p:nvSpPr>
          <p:cNvPr id="17" name="Oval 16"/>
          <p:cNvSpPr/>
          <p:nvPr/>
        </p:nvSpPr>
        <p:spPr>
          <a:xfrm>
            <a:off x="7416355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26083" y="6437376"/>
            <a:ext cx="101041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Why did it jump?</a:t>
            </a:r>
          </a:p>
        </p:txBody>
      </p:sp>
      <p:sp>
        <p:nvSpPr>
          <p:cNvPr id="19" name="Oval 18"/>
          <p:cNvSpPr/>
          <p:nvPr/>
        </p:nvSpPr>
        <p:spPr>
          <a:xfrm>
            <a:off x="8627935" y="6492240"/>
            <a:ext cx="64008" cy="6400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737663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5B3FD6"/>
                </a:solidFill>
                <a:latin typeface="Calibri"/>
              </a:rPr>
              <a:t>Known before the call?</a:t>
            </a:r>
          </a:p>
        </p:txBody>
      </p:sp>
      <p:sp>
        <p:nvSpPr>
          <p:cNvPr id="21" name="Oval 20"/>
          <p:cNvSpPr/>
          <p:nvPr/>
        </p:nvSpPr>
        <p:spPr>
          <a:xfrm>
            <a:off x="10115549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225277" y="6437376"/>
            <a:ext cx="1148429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does it prove?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S40  ·  48 / 65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5  ·  WEDNESDAY  ·  WHAT THE MODEL IS ALLOWED TO KNOW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What does year and month alone score?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No client information at all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30352" y="1956816"/>
          <a:ext cx="11130991" cy="1479296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914400"/>
                <a:gridCol w="10216591"/>
              </a:tblGrid>
              <a:tr h="369824">
                <a:tc>
                  <a:txBody>
                    <a:bodyPr/>
                    <a:lstStyle/>
                    <a:p>
                      <a:r>
                        <a:rPr sz="1450" b="1" i="0">
                          <a:solidFill>
                            <a:srgbClr val="FFFFFF"/>
                          </a:solidFill>
                          <a:latin typeface="Calibri"/>
                        </a:rPr>
                        <a:t>Option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1" i="0">
                          <a:solidFill>
                            <a:srgbClr val="FFFFFF"/>
                          </a:solidFill>
                          <a:latin typeface="Calibri"/>
                        </a:rPr>
                        <a:t>AUC from year and month alone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</a:tr>
              <a:tr h="369824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a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about 0.50, a coin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  <a:tr h="369824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b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about 0.65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</a:tr>
              <a:tr h="369824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c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about 0.79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Oval 6"/>
          <p:cNvSpPr/>
          <p:nvPr/>
        </p:nvSpPr>
        <p:spPr>
          <a:xfrm>
            <a:off x="530352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does a row know?</a:t>
            </a:r>
          </a:p>
        </p:txBody>
      </p:sp>
      <p:sp>
        <p:nvSpPr>
          <p:cNvPr id="9" name="Oval 8"/>
          <p:cNvSpPr/>
          <p:nvPr/>
        </p:nvSpPr>
        <p:spPr>
          <a:xfrm>
            <a:off x="1971960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81688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Is Surat twice Pune?</a:t>
            </a:r>
          </a:p>
        </p:txBody>
      </p:sp>
      <p:sp>
        <p:nvSpPr>
          <p:cNvPr id="11" name="Oval 10"/>
          <p:cNvSpPr/>
          <p:nvPr/>
        </p:nvSpPr>
        <p:spPr>
          <a:xfrm>
            <a:off x="3367563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7291" y="6437376"/>
            <a:ext cx="1148429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Known that morning?</a:t>
            </a:r>
          </a:p>
        </p:txBody>
      </p:sp>
      <p:sp>
        <p:nvSpPr>
          <p:cNvPr id="13" name="Oval 12"/>
          <p:cNvSpPr/>
          <p:nvPr/>
        </p:nvSpPr>
        <p:spPr>
          <a:xfrm>
            <a:off x="4717161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26889" y="6437376"/>
            <a:ext cx="1102423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Keep, drop or fix?</a:t>
            </a:r>
          </a:p>
        </p:txBody>
      </p:sp>
      <p:sp>
        <p:nvSpPr>
          <p:cNvPr id="15" name="Oval 14"/>
          <p:cNvSpPr/>
          <p:nvPr/>
        </p:nvSpPr>
        <p:spPr>
          <a:xfrm>
            <a:off x="6020752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30480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Is it rank or cause?</a:t>
            </a:r>
          </a:p>
        </p:txBody>
      </p:sp>
      <p:sp>
        <p:nvSpPr>
          <p:cNvPr id="17" name="Oval 16"/>
          <p:cNvSpPr/>
          <p:nvPr/>
        </p:nvSpPr>
        <p:spPr>
          <a:xfrm>
            <a:off x="7416355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26083" y="6437376"/>
            <a:ext cx="101041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Why did it jump?</a:t>
            </a:r>
          </a:p>
        </p:txBody>
      </p:sp>
      <p:sp>
        <p:nvSpPr>
          <p:cNvPr id="19" name="Oval 18"/>
          <p:cNvSpPr/>
          <p:nvPr/>
        </p:nvSpPr>
        <p:spPr>
          <a:xfrm>
            <a:off x="8627935" y="6492240"/>
            <a:ext cx="64008" cy="6400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737663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5B3FD6"/>
                </a:solidFill>
                <a:latin typeface="Calibri"/>
              </a:rPr>
              <a:t>Known before the call?</a:t>
            </a:r>
          </a:p>
        </p:txBody>
      </p:sp>
      <p:sp>
        <p:nvSpPr>
          <p:cNvPr id="21" name="Oval 20"/>
          <p:cNvSpPr/>
          <p:nvPr/>
        </p:nvSpPr>
        <p:spPr>
          <a:xfrm>
            <a:off x="10115549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225277" y="6437376"/>
            <a:ext cx="1148429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does it prove?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S41  ·  49 / 65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5  ·  WEDNESDAY  ·  WHAT THE MODEL IS ALLOWED TO KNOW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Answer: c, 0.79: the yes-rate moves with the month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From 5 percent of calls in 2008 to 52 percent in 2010</a:t>
            </a:r>
          </a:p>
        </p:txBody>
      </p:sp>
      <p:pic>
        <p:nvPicPr>
          <p:cNvPr id="6" name="mermaid diagram" descr="C2_W05_D03_case2_calendar_STUD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4612" y="1682496"/>
            <a:ext cx="10122470" cy="4200144"/>
          </a:xfrm>
          <a:prstGeom prst="rect">
            <a:avLst/>
          </a:prstGeom>
        </p:spPr>
      </p:pic>
      <p:sp>
        <p:nvSpPr>
          <p:cNvPr id="7" name="picture caption"/>
          <p:cNvSpPr txBox="1"/>
          <p:nvPr/>
        </p:nvSpPr>
        <p:spPr>
          <a:xfrm>
            <a:off x="530352" y="5919216"/>
            <a:ext cx="11130991" cy="3169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6B6690"/>
                </a:solidFill>
                <a:latin typeface="Calibri"/>
              </a:rPr>
              <a:t>Yes-rate by month with euribor3m</a:t>
            </a:r>
          </a:p>
        </p:txBody>
      </p:sp>
      <p:sp>
        <p:nvSpPr>
          <p:cNvPr id="8" name="Oval 7"/>
          <p:cNvSpPr/>
          <p:nvPr/>
        </p:nvSpPr>
        <p:spPr>
          <a:xfrm>
            <a:off x="530352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does a row know?</a:t>
            </a:r>
          </a:p>
        </p:txBody>
      </p:sp>
      <p:sp>
        <p:nvSpPr>
          <p:cNvPr id="10" name="Oval 9"/>
          <p:cNvSpPr/>
          <p:nvPr/>
        </p:nvSpPr>
        <p:spPr>
          <a:xfrm>
            <a:off x="1971960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81688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Is Surat twice Pune?</a:t>
            </a:r>
          </a:p>
        </p:txBody>
      </p:sp>
      <p:sp>
        <p:nvSpPr>
          <p:cNvPr id="12" name="Oval 11"/>
          <p:cNvSpPr/>
          <p:nvPr/>
        </p:nvSpPr>
        <p:spPr>
          <a:xfrm>
            <a:off x="3367563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77291" y="6437376"/>
            <a:ext cx="1148429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Known that morning?</a:t>
            </a:r>
          </a:p>
        </p:txBody>
      </p:sp>
      <p:sp>
        <p:nvSpPr>
          <p:cNvPr id="14" name="Oval 13"/>
          <p:cNvSpPr/>
          <p:nvPr/>
        </p:nvSpPr>
        <p:spPr>
          <a:xfrm>
            <a:off x="4717161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26889" y="6437376"/>
            <a:ext cx="1102423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Keep, drop or fix?</a:t>
            </a:r>
          </a:p>
        </p:txBody>
      </p:sp>
      <p:sp>
        <p:nvSpPr>
          <p:cNvPr id="16" name="Oval 15"/>
          <p:cNvSpPr/>
          <p:nvPr/>
        </p:nvSpPr>
        <p:spPr>
          <a:xfrm>
            <a:off x="6020752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30480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Is it rank or cause?</a:t>
            </a:r>
          </a:p>
        </p:txBody>
      </p:sp>
      <p:sp>
        <p:nvSpPr>
          <p:cNvPr id="18" name="Oval 17"/>
          <p:cNvSpPr/>
          <p:nvPr/>
        </p:nvSpPr>
        <p:spPr>
          <a:xfrm>
            <a:off x="7416355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26083" y="6437376"/>
            <a:ext cx="101041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Why did it jump?</a:t>
            </a:r>
          </a:p>
        </p:txBody>
      </p:sp>
      <p:sp>
        <p:nvSpPr>
          <p:cNvPr id="20" name="Oval 19"/>
          <p:cNvSpPr/>
          <p:nvPr/>
        </p:nvSpPr>
        <p:spPr>
          <a:xfrm>
            <a:off x="8627935" y="6492240"/>
            <a:ext cx="64008" cy="6400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37663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5B3FD6"/>
                </a:solidFill>
                <a:latin typeface="Calibri"/>
              </a:rPr>
              <a:t>Known before the call?</a:t>
            </a:r>
          </a:p>
        </p:txBody>
      </p:sp>
      <p:sp>
        <p:nvSpPr>
          <p:cNvPr id="22" name="Oval 21"/>
          <p:cNvSpPr/>
          <p:nvPr/>
        </p:nvSpPr>
        <p:spPr>
          <a:xfrm>
            <a:off x="10115549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25277" y="6437376"/>
            <a:ext cx="1148429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does it prove?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S42  ·  50 / 65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5  ·  WEDNESDAY  ·  WHAT THE MODEL IS ALLOWED TO KNOW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Inside one month the honest model ranks at 0.57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The calendar is a second leak that looks legal</a:t>
            </a:r>
          </a:p>
        </p:txBody>
      </p:sp>
      <p:pic>
        <p:nvPicPr>
          <p:cNvPr id="6" name="mermaid diagram" descr="C2_W05_D03_case2_within_month_STUD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9401" y="1664208"/>
            <a:ext cx="7952893" cy="3768344"/>
          </a:xfrm>
          <a:prstGeom prst="rect">
            <a:avLst/>
          </a:prstGeom>
        </p:spPr>
      </p:pic>
      <p:sp>
        <p:nvSpPr>
          <p:cNvPr id="7" name="picture caption"/>
          <p:cNvSpPr txBox="1"/>
          <p:nvPr/>
        </p:nvSpPr>
        <p:spPr>
          <a:xfrm>
            <a:off x="530352" y="5469128"/>
            <a:ext cx="11130991" cy="3169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6B6690"/>
                </a:solidFill>
                <a:latin typeface="Calibri"/>
              </a:rPr>
              <a:t>AUC from the calendar, the honest model, and inside one month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5795264"/>
            <a:ext cx="11130991" cy="40436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0" i="0">
                <a:solidFill>
                  <a:srgbClr val="1A1440"/>
                </a:solidFill>
                <a:latin typeface="Calibri"/>
              </a:rPr>
              <a:t>A pneumonia model learned the hospital the same way: AUC 0.931 at home, 0.815 at a new site.</a:t>
            </a:r>
          </a:p>
        </p:txBody>
      </p:sp>
      <p:sp>
        <p:nvSpPr>
          <p:cNvPr id="9" name="Oval 8"/>
          <p:cNvSpPr/>
          <p:nvPr/>
        </p:nvSpPr>
        <p:spPr>
          <a:xfrm>
            <a:off x="530352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does a row know?</a:t>
            </a:r>
          </a:p>
        </p:txBody>
      </p:sp>
      <p:sp>
        <p:nvSpPr>
          <p:cNvPr id="11" name="Oval 10"/>
          <p:cNvSpPr/>
          <p:nvPr/>
        </p:nvSpPr>
        <p:spPr>
          <a:xfrm>
            <a:off x="1971960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081688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Is Surat twice Pune?</a:t>
            </a:r>
          </a:p>
        </p:txBody>
      </p:sp>
      <p:sp>
        <p:nvSpPr>
          <p:cNvPr id="13" name="Oval 12"/>
          <p:cNvSpPr/>
          <p:nvPr/>
        </p:nvSpPr>
        <p:spPr>
          <a:xfrm>
            <a:off x="3367563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77291" y="6437376"/>
            <a:ext cx="1148429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Known that morning?</a:t>
            </a:r>
          </a:p>
        </p:txBody>
      </p:sp>
      <p:sp>
        <p:nvSpPr>
          <p:cNvPr id="15" name="Oval 14"/>
          <p:cNvSpPr/>
          <p:nvPr/>
        </p:nvSpPr>
        <p:spPr>
          <a:xfrm>
            <a:off x="4717161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26889" y="6437376"/>
            <a:ext cx="1102423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Keep, drop or fix?</a:t>
            </a:r>
          </a:p>
        </p:txBody>
      </p:sp>
      <p:sp>
        <p:nvSpPr>
          <p:cNvPr id="17" name="Oval 16"/>
          <p:cNvSpPr/>
          <p:nvPr/>
        </p:nvSpPr>
        <p:spPr>
          <a:xfrm>
            <a:off x="6020752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30480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Is it rank or cause?</a:t>
            </a:r>
          </a:p>
        </p:txBody>
      </p:sp>
      <p:sp>
        <p:nvSpPr>
          <p:cNvPr id="19" name="Oval 18"/>
          <p:cNvSpPr/>
          <p:nvPr/>
        </p:nvSpPr>
        <p:spPr>
          <a:xfrm>
            <a:off x="7416355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26083" y="6437376"/>
            <a:ext cx="101041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Why did it jump?</a:t>
            </a:r>
          </a:p>
        </p:txBody>
      </p:sp>
      <p:sp>
        <p:nvSpPr>
          <p:cNvPr id="21" name="Oval 20"/>
          <p:cNvSpPr/>
          <p:nvPr/>
        </p:nvSpPr>
        <p:spPr>
          <a:xfrm>
            <a:off x="8627935" y="6492240"/>
            <a:ext cx="64008" cy="6400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37663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5B3FD6"/>
                </a:solidFill>
                <a:latin typeface="Calibri"/>
              </a:rPr>
              <a:t>Known before the call?</a:t>
            </a:r>
          </a:p>
        </p:txBody>
      </p:sp>
      <p:sp>
        <p:nvSpPr>
          <p:cNvPr id="23" name="Oval 22"/>
          <p:cNvSpPr/>
          <p:nvPr/>
        </p:nvSpPr>
        <p:spPr>
          <a:xfrm>
            <a:off x="10115549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225277" y="6437376"/>
            <a:ext cx="1148429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does it prove?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S43  ·  51 / 65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5  ·  WEDNESDAY  ·  WHAT THE MODEL IS ALLOWED TO KNOW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poutcome = success stays; pdays splits in two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"Too good" starts the question and never ends it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30352" y="1956816"/>
          <a:ext cx="11130990" cy="1109472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041345"/>
                <a:gridCol w="4745101"/>
                <a:gridCol w="4344544"/>
              </a:tblGrid>
              <a:tr h="369824">
                <a:tc>
                  <a:txBody>
                    <a:bodyPr/>
                    <a:lstStyle/>
                    <a:p>
                      <a:r>
                        <a:rPr sz="1450" b="1" i="0">
                          <a:solidFill>
                            <a:srgbClr val="FFFFFF"/>
                          </a:solidFill>
                          <a:latin typeface="Calibri"/>
                        </a:rPr>
                        <a:t>Column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1" i="0">
                          <a:solidFill>
                            <a:srgbClr val="FFFFFF"/>
                          </a:solidFill>
                          <a:latin typeface="Calibri"/>
                        </a:rPr>
                        <a:t>What it shows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1" i="0">
                          <a:solidFill>
                            <a:srgbClr val="FFFFFF"/>
                          </a:solidFill>
                          <a:latin typeface="Calibri"/>
                        </a:rPr>
                        <a:t>Verdict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</a:tr>
              <a:tr h="369824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poutcome = success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65 percent yes, closed months before the call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keep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  <a:tr h="369824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pdays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999 in 96.3 percent of rows, a sentinel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never_contacted flag + days_since_contact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</a:tr>
            </a:tbl>
          </a:graphicData>
        </a:graphic>
      </p:graphicFrame>
      <p:sp>
        <p:nvSpPr>
          <p:cNvPr id="7" name="Oval 6"/>
          <p:cNvSpPr/>
          <p:nvPr/>
        </p:nvSpPr>
        <p:spPr>
          <a:xfrm>
            <a:off x="530352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does a row know?</a:t>
            </a:r>
          </a:p>
        </p:txBody>
      </p:sp>
      <p:sp>
        <p:nvSpPr>
          <p:cNvPr id="9" name="Oval 8"/>
          <p:cNvSpPr/>
          <p:nvPr/>
        </p:nvSpPr>
        <p:spPr>
          <a:xfrm>
            <a:off x="1971960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81688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Is Surat twice Pune?</a:t>
            </a:r>
          </a:p>
        </p:txBody>
      </p:sp>
      <p:sp>
        <p:nvSpPr>
          <p:cNvPr id="11" name="Oval 10"/>
          <p:cNvSpPr/>
          <p:nvPr/>
        </p:nvSpPr>
        <p:spPr>
          <a:xfrm>
            <a:off x="3367563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7291" y="6437376"/>
            <a:ext cx="1148429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Known that morning?</a:t>
            </a:r>
          </a:p>
        </p:txBody>
      </p:sp>
      <p:sp>
        <p:nvSpPr>
          <p:cNvPr id="13" name="Oval 12"/>
          <p:cNvSpPr/>
          <p:nvPr/>
        </p:nvSpPr>
        <p:spPr>
          <a:xfrm>
            <a:off x="4717161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26889" y="6437376"/>
            <a:ext cx="1102423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Keep, drop or fix?</a:t>
            </a:r>
          </a:p>
        </p:txBody>
      </p:sp>
      <p:sp>
        <p:nvSpPr>
          <p:cNvPr id="15" name="Oval 14"/>
          <p:cNvSpPr/>
          <p:nvPr/>
        </p:nvSpPr>
        <p:spPr>
          <a:xfrm>
            <a:off x="6020752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30480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Is it rank or cause?</a:t>
            </a:r>
          </a:p>
        </p:txBody>
      </p:sp>
      <p:sp>
        <p:nvSpPr>
          <p:cNvPr id="17" name="Oval 16"/>
          <p:cNvSpPr/>
          <p:nvPr/>
        </p:nvSpPr>
        <p:spPr>
          <a:xfrm>
            <a:off x="7416355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26083" y="6437376"/>
            <a:ext cx="101041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Why did it jump?</a:t>
            </a:r>
          </a:p>
        </p:txBody>
      </p:sp>
      <p:sp>
        <p:nvSpPr>
          <p:cNvPr id="19" name="Oval 18"/>
          <p:cNvSpPr/>
          <p:nvPr/>
        </p:nvSpPr>
        <p:spPr>
          <a:xfrm>
            <a:off x="8627935" y="6492240"/>
            <a:ext cx="64008" cy="6400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737663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5B3FD6"/>
                </a:solidFill>
                <a:latin typeface="Calibri"/>
              </a:rPr>
              <a:t>Known before the call?</a:t>
            </a:r>
          </a:p>
        </p:txBody>
      </p:sp>
      <p:sp>
        <p:nvSpPr>
          <p:cNvPr id="21" name="Oval 20"/>
          <p:cNvSpPr/>
          <p:nvPr/>
        </p:nvSpPr>
        <p:spPr>
          <a:xfrm>
            <a:off x="10115549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225277" y="6437376"/>
            <a:ext cx="1148429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does it prove?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S44  ·  52 / 65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5  ·  WEDNESDAY  ·  WHAT THE MODEL IS ALLOWED TO KNOW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The leak promised Rs 1.19 lakh; honest is Rs 2.82 lakh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AUC 0.932 against 0.796 on the same 8,238 calls</a:t>
            </a:r>
          </a:p>
        </p:txBody>
      </p:sp>
      <p:pic>
        <p:nvPicPr>
          <p:cNvPr id="6" name="mermaid diagram" descr="C2_W05_D03_case2_bill_STUD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1890320"/>
            <a:ext cx="11130991" cy="3747920"/>
          </a:xfrm>
          <a:prstGeom prst="rect">
            <a:avLst/>
          </a:prstGeom>
        </p:spPr>
      </p:pic>
      <p:sp>
        <p:nvSpPr>
          <p:cNvPr id="7" name="picture caption"/>
          <p:cNvSpPr txBox="1"/>
          <p:nvPr/>
        </p:nvSpPr>
        <p:spPr>
          <a:xfrm>
            <a:off x="530352" y="5674816"/>
            <a:ext cx="11130991" cy="3169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6B6690"/>
                </a:solidFill>
                <a:latin typeface="Calibri"/>
              </a:rPr>
              <a:t>The bill promised, delivered, and calling everyone</a:t>
            </a:r>
          </a:p>
        </p:txBody>
      </p:sp>
      <p:sp>
        <p:nvSpPr>
          <p:cNvPr id="8" name="Oval 7"/>
          <p:cNvSpPr/>
          <p:nvPr/>
        </p:nvSpPr>
        <p:spPr>
          <a:xfrm>
            <a:off x="530352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does a row know?</a:t>
            </a:r>
          </a:p>
        </p:txBody>
      </p:sp>
      <p:sp>
        <p:nvSpPr>
          <p:cNvPr id="10" name="Oval 9"/>
          <p:cNvSpPr/>
          <p:nvPr/>
        </p:nvSpPr>
        <p:spPr>
          <a:xfrm>
            <a:off x="1971960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81688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Is Surat twice Pune?</a:t>
            </a:r>
          </a:p>
        </p:txBody>
      </p:sp>
      <p:sp>
        <p:nvSpPr>
          <p:cNvPr id="12" name="Oval 11"/>
          <p:cNvSpPr/>
          <p:nvPr/>
        </p:nvSpPr>
        <p:spPr>
          <a:xfrm>
            <a:off x="3367563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77291" y="6437376"/>
            <a:ext cx="1148429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Known that morning?</a:t>
            </a:r>
          </a:p>
        </p:txBody>
      </p:sp>
      <p:sp>
        <p:nvSpPr>
          <p:cNvPr id="14" name="Oval 13"/>
          <p:cNvSpPr/>
          <p:nvPr/>
        </p:nvSpPr>
        <p:spPr>
          <a:xfrm>
            <a:off x="4717161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26889" y="6437376"/>
            <a:ext cx="1102423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Keep, drop or fix?</a:t>
            </a:r>
          </a:p>
        </p:txBody>
      </p:sp>
      <p:sp>
        <p:nvSpPr>
          <p:cNvPr id="16" name="Oval 15"/>
          <p:cNvSpPr/>
          <p:nvPr/>
        </p:nvSpPr>
        <p:spPr>
          <a:xfrm>
            <a:off x="6020752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30480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Is it rank or cause?</a:t>
            </a:r>
          </a:p>
        </p:txBody>
      </p:sp>
      <p:sp>
        <p:nvSpPr>
          <p:cNvPr id="18" name="Oval 17"/>
          <p:cNvSpPr/>
          <p:nvPr/>
        </p:nvSpPr>
        <p:spPr>
          <a:xfrm>
            <a:off x="7416355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26083" y="6437376"/>
            <a:ext cx="101041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Why did it jump?</a:t>
            </a:r>
          </a:p>
        </p:txBody>
      </p:sp>
      <p:sp>
        <p:nvSpPr>
          <p:cNvPr id="20" name="Oval 19"/>
          <p:cNvSpPr/>
          <p:nvPr/>
        </p:nvSpPr>
        <p:spPr>
          <a:xfrm>
            <a:off x="8627935" y="6492240"/>
            <a:ext cx="64008" cy="6400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37663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5B3FD6"/>
                </a:solidFill>
                <a:latin typeface="Calibri"/>
              </a:rPr>
              <a:t>Known before the call?</a:t>
            </a:r>
          </a:p>
        </p:txBody>
      </p:sp>
      <p:sp>
        <p:nvSpPr>
          <p:cNvPr id="22" name="Oval 21"/>
          <p:cNvSpPr/>
          <p:nvPr/>
        </p:nvSpPr>
        <p:spPr>
          <a:xfrm>
            <a:off x="10115549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25277" y="6437376"/>
            <a:ext cx="1148429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does it prove?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S45  ·  53 / 65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5  ·  WEDNESDAY  ·  WHAT THE MODEL IS ALLOWED TO KNOW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Kalpa's settlement_status is the same leak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Written by the payments feed, after delivery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30352" y="1956816"/>
          <a:ext cx="11130990" cy="134112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3607795"/>
                <a:gridCol w="2394204"/>
                <a:gridCol w="4214591"/>
                <a:gridCol w="914400"/>
              </a:tblGrid>
              <a:tr h="335280"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Column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Written by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Written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Verdict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orders_90d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orders table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nightly, before the nudge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keep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days_since_last_order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orders table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nightly, before the nudge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keep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settlement_status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payments feed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when the payment clears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drop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Oval 6"/>
          <p:cNvSpPr/>
          <p:nvPr/>
        </p:nvSpPr>
        <p:spPr>
          <a:xfrm>
            <a:off x="530352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does a row know?</a:t>
            </a:r>
          </a:p>
        </p:txBody>
      </p:sp>
      <p:sp>
        <p:nvSpPr>
          <p:cNvPr id="9" name="Oval 8"/>
          <p:cNvSpPr/>
          <p:nvPr/>
        </p:nvSpPr>
        <p:spPr>
          <a:xfrm>
            <a:off x="1971960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81688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Is Surat twice Pune?</a:t>
            </a:r>
          </a:p>
        </p:txBody>
      </p:sp>
      <p:sp>
        <p:nvSpPr>
          <p:cNvPr id="11" name="Oval 10"/>
          <p:cNvSpPr/>
          <p:nvPr/>
        </p:nvSpPr>
        <p:spPr>
          <a:xfrm>
            <a:off x="3367563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7291" y="6437376"/>
            <a:ext cx="1148429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Known that morning?</a:t>
            </a:r>
          </a:p>
        </p:txBody>
      </p:sp>
      <p:sp>
        <p:nvSpPr>
          <p:cNvPr id="13" name="Oval 12"/>
          <p:cNvSpPr/>
          <p:nvPr/>
        </p:nvSpPr>
        <p:spPr>
          <a:xfrm>
            <a:off x="4717161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26889" y="6437376"/>
            <a:ext cx="1102423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Keep, drop or fix?</a:t>
            </a:r>
          </a:p>
        </p:txBody>
      </p:sp>
      <p:sp>
        <p:nvSpPr>
          <p:cNvPr id="15" name="Oval 14"/>
          <p:cNvSpPr/>
          <p:nvPr/>
        </p:nvSpPr>
        <p:spPr>
          <a:xfrm>
            <a:off x="6020752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30480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Is it rank or cause?</a:t>
            </a:r>
          </a:p>
        </p:txBody>
      </p:sp>
      <p:sp>
        <p:nvSpPr>
          <p:cNvPr id="17" name="Oval 16"/>
          <p:cNvSpPr/>
          <p:nvPr/>
        </p:nvSpPr>
        <p:spPr>
          <a:xfrm>
            <a:off x="7416355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26083" y="6437376"/>
            <a:ext cx="101041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Why did it jump?</a:t>
            </a:r>
          </a:p>
        </p:txBody>
      </p:sp>
      <p:sp>
        <p:nvSpPr>
          <p:cNvPr id="19" name="Oval 18"/>
          <p:cNvSpPr/>
          <p:nvPr/>
        </p:nvSpPr>
        <p:spPr>
          <a:xfrm>
            <a:off x="8627935" y="6492240"/>
            <a:ext cx="64008" cy="6400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737663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5B3FD6"/>
                </a:solidFill>
                <a:latin typeface="Calibri"/>
              </a:rPr>
              <a:t>Known before the call?</a:t>
            </a:r>
          </a:p>
        </p:txBody>
      </p:sp>
      <p:sp>
        <p:nvSpPr>
          <p:cNvPr id="21" name="Oval 20"/>
          <p:cNvSpPr/>
          <p:nvPr/>
        </p:nvSpPr>
        <p:spPr>
          <a:xfrm>
            <a:off x="10115549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225277" y="6437376"/>
            <a:ext cx="1148429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does it prove?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S46  ·  54 / 65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5  ·  WEDNESDAY  ·  WHAT THE MODEL IS ALLOWED TO KNOW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The week's picture, Wednesday state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duration sits right of the prediction moment, in red</a:t>
            </a:r>
          </a:p>
        </p:txBody>
      </p:sp>
      <p:pic>
        <p:nvPicPr>
          <p:cNvPr id="6" name="mermaid diagram" descr="C2_W05_D03_week_timeline_wednesday_STUD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1682496"/>
            <a:ext cx="11130991" cy="4052229"/>
          </a:xfrm>
          <a:prstGeom prst="rect">
            <a:avLst/>
          </a:prstGeom>
        </p:spPr>
      </p:pic>
      <p:sp>
        <p:nvSpPr>
          <p:cNvPr id="7" name="picture caption"/>
          <p:cNvSpPr txBox="1"/>
          <p:nvPr/>
        </p:nvSpPr>
        <p:spPr>
          <a:xfrm>
            <a:off x="530352" y="5771301"/>
            <a:ext cx="11130991" cy="3169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6B6690"/>
                </a:solidFill>
                <a:latin typeface="Calibri"/>
              </a:rPr>
              <a:t>The week's timeline with duration in red</a:t>
            </a:r>
          </a:p>
        </p:txBody>
      </p:sp>
      <p:sp>
        <p:nvSpPr>
          <p:cNvPr id="8" name="Oval 7"/>
          <p:cNvSpPr/>
          <p:nvPr/>
        </p:nvSpPr>
        <p:spPr>
          <a:xfrm>
            <a:off x="530352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does a row know?</a:t>
            </a:r>
          </a:p>
        </p:txBody>
      </p:sp>
      <p:sp>
        <p:nvSpPr>
          <p:cNvPr id="10" name="Oval 9"/>
          <p:cNvSpPr/>
          <p:nvPr/>
        </p:nvSpPr>
        <p:spPr>
          <a:xfrm>
            <a:off x="1971960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81688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Is Surat twice Pune?</a:t>
            </a:r>
          </a:p>
        </p:txBody>
      </p:sp>
      <p:sp>
        <p:nvSpPr>
          <p:cNvPr id="12" name="Oval 11"/>
          <p:cNvSpPr/>
          <p:nvPr/>
        </p:nvSpPr>
        <p:spPr>
          <a:xfrm>
            <a:off x="3367563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77291" y="6437376"/>
            <a:ext cx="1148429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Known that morning?</a:t>
            </a:r>
          </a:p>
        </p:txBody>
      </p:sp>
      <p:sp>
        <p:nvSpPr>
          <p:cNvPr id="14" name="Oval 13"/>
          <p:cNvSpPr/>
          <p:nvPr/>
        </p:nvSpPr>
        <p:spPr>
          <a:xfrm>
            <a:off x="4717161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26889" y="6437376"/>
            <a:ext cx="1102423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Keep, drop or fix?</a:t>
            </a:r>
          </a:p>
        </p:txBody>
      </p:sp>
      <p:sp>
        <p:nvSpPr>
          <p:cNvPr id="16" name="Oval 15"/>
          <p:cNvSpPr/>
          <p:nvPr/>
        </p:nvSpPr>
        <p:spPr>
          <a:xfrm>
            <a:off x="6020752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30480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Is it rank or cause?</a:t>
            </a:r>
          </a:p>
        </p:txBody>
      </p:sp>
      <p:sp>
        <p:nvSpPr>
          <p:cNvPr id="18" name="Oval 17"/>
          <p:cNvSpPr/>
          <p:nvPr/>
        </p:nvSpPr>
        <p:spPr>
          <a:xfrm>
            <a:off x="7416355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26083" y="6437376"/>
            <a:ext cx="101041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Why did it jump?</a:t>
            </a:r>
          </a:p>
        </p:txBody>
      </p:sp>
      <p:sp>
        <p:nvSpPr>
          <p:cNvPr id="20" name="Oval 19"/>
          <p:cNvSpPr/>
          <p:nvPr/>
        </p:nvSpPr>
        <p:spPr>
          <a:xfrm>
            <a:off x="8627935" y="6492240"/>
            <a:ext cx="64008" cy="6400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37663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5B3FD6"/>
                </a:solidFill>
                <a:latin typeface="Calibri"/>
              </a:rPr>
              <a:t>Known before the call?</a:t>
            </a:r>
          </a:p>
        </p:txBody>
      </p:sp>
      <p:sp>
        <p:nvSpPr>
          <p:cNvPr id="22" name="Oval 21"/>
          <p:cNvSpPr/>
          <p:nvPr/>
        </p:nvSpPr>
        <p:spPr>
          <a:xfrm>
            <a:off x="10115549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25277" y="6437376"/>
            <a:ext cx="1148429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does it prove?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S47  ·  55 / 65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dar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19" y="1143000"/>
            <a:ext cx="36576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600" b="0" i="0">
                <a:solidFill>
                  <a:srgbClr val="D9A7FF"/>
                </a:solidFill>
                <a:latin typeface="Georgia"/>
              </a:rP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19" y="2542032"/>
            <a:ext cx="10673791" cy="366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D9A7FF"/>
                </a:solidFill>
                <a:latin typeface="Calibri"/>
              </a:rPr>
              <a:t>The sign that flipped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19" y="3017520"/>
            <a:ext cx="10673791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0" i="0">
                <a:solidFill>
                  <a:srgbClr val="FFFFFF"/>
                </a:solidFill>
                <a:latin typeface="Georgia"/>
              </a:rPr>
              <a:t>What does it prove?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19" y="3931920"/>
            <a:ext cx="9509760" cy="5318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E4E1F1"/>
                </a:solidFill>
                <a:latin typeface="Calibri"/>
              </a:rPr>
              <a:t>Case 3 applies: Feature importance and its limits · Encoding categoricals; scaling numerics; which models care · notebook case03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19" y="5074920"/>
            <a:ext cx="1341271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FC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0">
                <a:solidFill>
                  <a:srgbClr val="CFC9EE"/>
                </a:solidFill>
                <a:latin typeface="Calibri"/>
              </a:rPr>
              <a:t>What does a row know?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182519" y="5074920"/>
            <a:ext cx="1291917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FC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0">
                <a:solidFill>
                  <a:srgbClr val="CFC9EE"/>
                </a:solidFill>
                <a:latin typeface="Calibri"/>
              </a:rPr>
              <a:t>Is Surat twice Pune?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84165" y="5074920"/>
            <a:ext cx="1242564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FC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0">
                <a:solidFill>
                  <a:srgbClr val="CFC9EE"/>
                </a:solidFill>
                <a:latin typeface="Calibri"/>
              </a:rPr>
              <a:t>Known that morning?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936457" y="5074920"/>
            <a:ext cx="1193210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FC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0">
                <a:solidFill>
                  <a:srgbClr val="CFC9EE"/>
                </a:solidFill>
                <a:latin typeface="Calibri"/>
              </a:rPr>
              <a:t>Keep, drop or fix?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9396" y="5074920"/>
            <a:ext cx="1291917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FC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0">
                <a:solidFill>
                  <a:srgbClr val="CFC9EE"/>
                </a:solidFill>
                <a:latin typeface="Calibri"/>
              </a:rPr>
              <a:t>Is it rank or cause?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41042" y="5074920"/>
            <a:ext cx="1094503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FC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0">
                <a:solidFill>
                  <a:srgbClr val="CFC9EE"/>
                </a:solidFill>
                <a:latin typeface="Calibri"/>
              </a:rPr>
              <a:t>Why did it jump?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845273" y="5074920"/>
            <a:ext cx="1390625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FC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0">
                <a:solidFill>
                  <a:srgbClr val="CFC9EE"/>
                </a:solidFill>
                <a:latin typeface="Calibri"/>
              </a:rPr>
              <a:t>Known before the call?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345626" y="5074920"/>
            <a:ext cx="1242564" cy="310896"/>
          </a:xfrm>
          <a:prstGeom prst="roundRect">
            <a:avLst>
              <a:gd name="adj" fmla="val 50000"/>
            </a:avLst>
          </a:prstGeom>
          <a:solidFill>
            <a:srgbClr val="D9A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1">
                <a:solidFill>
                  <a:srgbClr val="1A0F5C"/>
                </a:solidFill>
                <a:latin typeface="Calibri"/>
              </a:rPr>
              <a:t>What does it prove?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" y="6437376"/>
            <a:ext cx="9667951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 i="0">
                <a:solidFill>
                  <a:srgbClr val="CFC9EE"/>
                </a:solidFill>
                <a:latin typeface="Calibri"/>
              </a:rPr>
              <a:t>Week 5 Wednesday: what the model is allowed to know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CFC9EE"/>
                </a:solidFill>
                <a:latin typeface="Calibri"/>
              </a:rPr>
              <a:t>56 / 65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5  ·  WEDNESDAY  ·  WHAT THE MODEL IS ALLOWED TO KNOW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Alone, euribor3m is negative; with its partners?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The three rate columns correlate above 0.9 on training rows</a:t>
            </a:r>
          </a:p>
        </p:txBody>
      </p:sp>
      <p:pic>
        <p:nvPicPr>
          <p:cNvPr id="6" name="mermaid diagram" descr="C2_W05_D03_case3_corr_STUD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256" y="1682496"/>
            <a:ext cx="4456516" cy="4200144"/>
          </a:xfrm>
          <a:prstGeom prst="rect">
            <a:avLst/>
          </a:prstGeom>
        </p:spPr>
      </p:pic>
      <p:sp>
        <p:nvSpPr>
          <p:cNvPr id="7" name="picture caption"/>
          <p:cNvSpPr txBox="1"/>
          <p:nvPr/>
        </p:nvSpPr>
        <p:spPr>
          <a:xfrm>
            <a:off x="530352" y="5919216"/>
            <a:ext cx="4786326" cy="3169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6B6690"/>
                </a:solidFill>
                <a:latin typeface="Calibri"/>
              </a:rPr>
              <a:t>Correlation of the three rate columns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1917" y="1956816"/>
            <a:ext cx="5899425" cy="772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600" b="0" i="0">
                <a:solidFill>
                  <a:srgbClr val="1A1440"/>
                </a:solidFill>
                <a:latin typeface="Calibri"/>
              </a:rPr>
              <a:t>(a) stays negative and shrinks (b) turns positive (c) goes to exactly zero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6437376"/>
            <a:ext cx="25603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…</a:t>
            </a:r>
          </a:p>
        </p:txBody>
      </p:sp>
      <p:sp>
        <p:nvSpPr>
          <p:cNvPr id="10" name="Oval 9"/>
          <p:cNvSpPr/>
          <p:nvPr/>
        </p:nvSpPr>
        <p:spPr>
          <a:xfrm>
            <a:off x="786384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Is Surat twice Pune?</a:t>
            </a:r>
          </a:p>
        </p:txBody>
      </p:sp>
      <p:sp>
        <p:nvSpPr>
          <p:cNvPr id="12" name="Oval 11"/>
          <p:cNvSpPr/>
          <p:nvPr/>
        </p:nvSpPr>
        <p:spPr>
          <a:xfrm>
            <a:off x="2181987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291715" y="6437376"/>
            <a:ext cx="1148429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Known that morning?</a:t>
            </a:r>
          </a:p>
        </p:txBody>
      </p:sp>
      <p:sp>
        <p:nvSpPr>
          <p:cNvPr id="14" name="Oval 13"/>
          <p:cNvSpPr/>
          <p:nvPr/>
        </p:nvSpPr>
        <p:spPr>
          <a:xfrm>
            <a:off x="3531584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41312" y="6437376"/>
            <a:ext cx="1102423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Keep, drop or fix?</a:t>
            </a:r>
          </a:p>
        </p:txBody>
      </p:sp>
      <p:sp>
        <p:nvSpPr>
          <p:cNvPr id="16" name="Oval 15"/>
          <p:cNvSpPr/>
          <p:nvPr/>
        </p:nvSpPr>
        <p:spPr>
          <a:xfrm>
            <a:off x="4835175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44903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Is it rank or cause?</a:t>
            </a:r>
          </a:p>
        </p:txBody>
      </p:sp>
      <p:sp>
        <p:nvSpPr>
          <p:cNvPr id="18" name="Oval 17"/>
          <p:cNvSpPr/>
          <p:nvPr/>
        </p:nvSpPr>
        <p:spPr>
          <a:xfrm>
            <a:off x="6230778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40506" y="6437376"/>
            <a:ext cx="101041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Why did it jump?</a:t>
            </a:r>
          </a:p>
        </p:txBody>
      </p:sp>
      <p:sp>
        <p:nvSpPr>
          <p:cNvPr id="20" name="Oval 19"/>
          <p:cNvSpPr/>
          <p:nvPr/>
        </p:nvSpPr>
        <p:spPr>
          <a:xfrm>
            <a:off x="7442358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52086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Known before the call?</a:t>
            </a:r>
          </a:p>
        </p:txBody>
      </p:sp>
      <p:sp>
        <p:nvSpPr>
          <p:cNvPr id="22" name="Oval 21"/>
          <p:cNvSpPr/>
          <p:nvPr/>
        </p:nvSpPr>
        <p:spPr>
          <a:xfrm>
            <a:off x="8929973" y="6492240"/>
            <a:ext cx="64008" cy="6400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39701" y="6437376"/>
            <a:ext cx="1148429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5B3FD6"/>
                </a:solidFill>
                <a:latin typeface="Calibri"/>
              </a:rPr>
              <a:t>What does it prove?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S48  ·  57 / 65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5  ·  WEDNESDAY  ·  WHAT THE MODEL IS ALLOWED TO KNOW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Answer: b, from -0.92 to +0.77 beside both partners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Nothing about interest rates changed between the fits</a:t>
            </a:r>
          </a:p>
        </p:txBody>
      </p:sp>
      <p:pic>
        <p:nvPicPr>
          <p:cNvPr id="6" name="mermaid diagram" descr="C2_W05_D03_case3_flip_STUD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1757" y="1682496"/>
            <a:ext cx="8788180" cy="4200144"/>
          </a:xfrm>
          <a:prstGeom prst="rect">
            <a:avLst/>
          </a:prstGeom>
        </p:spPr>
      </p:pic>
      <p:sp>
        <p:nvSpPr>
          <p:cNvPr id="7" name="picture caption"/>
          <p:cNvSpPr txBox="1"/>
          <p:nvPr/>
        </p:nvSpPr>
        <p:spPr>
          <a:xfrm>
            <a:off x="530352" y="5919216"/>
            <a:ext cx="11130991" cy="3169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6B6690"/>
                </a:solidFill>
                <a:latin typeface="Calibri"/>
              </a:rPr>
              <a:t>euribor3m's coefficient in four neighbourhoods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6437376"/>
            <a:ext cx="25603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…</a:t>
            </a:r>
          </a:p>
        </p:txBody>
      </p:sp>
      <p:sp>
        <p:nvSpPr>
          <p:cNvPr id="9" name="Oval 8"/>
          <p:cNvSpPr/>
          <p:nvPr/>
        </p:nvSpPr>
        <p:spPr>
          <a:xfrm>
            <a:off x="786384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Is Surat twice Pune?</a:t>
            </a:r>
          </a:p>
        </p:txBody>
      </p:sp>
      <p:sp>
        <p:nvSpPr>
          <p:cNvPr id="11" name="Oval 10"/>
          <p:cNvSpPr/>
          <p:nvPr/>
        </p:nvSpPr>
        <p:spPr>
          <a:xfrm>
            <a:off x="2181987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291715" y="6437376"/>
            <a:ext cx="1148429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Known that morning?</a:t>
            </a:r>
          </a:p>
        </p:txBody>
      </p:sp>
      <p:sp>
        <p:nvSpPr>
          <p:cNvPr id="13" name="Oval 12"/>
          <p:cNvSpPr/>
          <p:nvPr/>
        </p:nvSpPr>
        <p:spPr>
          <a:xfrm>
            <a:off x="3531584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41312" y="6437376"/>
            <a:ext cx="1102423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Keep, drop or fix?</a:t>
            </a:r>
          </a:p>
        </p:txBody>
      </p:sp>
      <p:sp>
        <p:nvSpPr>
          <p:cNvPr id="15" name="Oval 14"/>
          <p:cNvSpPr/>
          <p:nvPr/>
        </p:nvSpPr>
        <p:spPr>
          <a:xfrm>
            <a:off x="4835175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44903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Is it rank or cause?</a:t>
            </a:r>
          </a:p>
        </p:txBody>
      </p:sp>
      <p:sp>
        <p:nvSpPr>
          <p:cNvPr id="17" name="Oval 16"/>
          <p:cNvSpPr/>
          <p:nvPr/>
        </p:nvSpPr>
        <p:spPr>
          <a:xfrm>
            <a:off x="6230778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40506" y="6437376"/>
            <a:ext cx="101041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Why did it jump?</a:t>
            </a:r>
          </a:p>
        </p:txBody>
      </p:sp>
      <p:sp>
        <p:nvSpPr>
          <p:cNvPr id="19" name="Oval 18"/>
          <p:cNvSpPr/>
          <p:nvPr/>
        </p:nvSpPr>
        <p:spPr>
          <a:xfrm>
            <a:off x="7442358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52086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Known before the call?</a:t>
            </a:r>
          </a:p>
        </p:txBody>
      </p:sp>
      <p:sp>
        <p:nvSpPr>
          <p:cNvPr id="21" name="Oval 20"/>
          <p:cNvSpPr/>
          <p:nvPr/>
        </p:nvSpPr>
        <p:spPr>
          <a:xfrm>
            <a:off x="8929973" y="6492240"/>
            <a:ext cx="64008" cy="6400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39701" y="6437376"/>
            <a:ext cx="1148429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5B3FD6"/>
                </a:solidFill>
                <a:latin typeface="Calibri"/>
              </a:rPr>
              <a:t>What does it prove?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S49  ·  58 / 65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5  ·  WEDNESDAY  ·  WHAT THE MODEL IS ALLOWED TO KNOW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emp.var.rate tops the importance chart at 0.34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Shuffle a column on validation rows; measure the AUC lost</a:t>
            </a:r>
          </a:p>
        </p:txBody>
      </p:sp>
      <p:pic>
        <p:nvPicPr>
          <p:cNvPr id="6" name="mermaid diagram" descr="C2_W05_D03_case3_permutation_STUD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0098" y="1682496"/>
            <a:ext cx="8691497" cy="4200144"/>
          </a:xfrm>
          <a:prstGeom prst="rect">
            <a:avLst/>
          </a:prstGeom>
        </p:spPr>
      </p:pic>
      <p:sp>
        <p:nvSpPr>
          <p:cNvPr id="7" name="picture caption"/>
          <p:cNvSpPr txBox="1"/>
          <p:nvPr/>
        </p:nvSpPr>
        <p:spPr>
          <a:xfrm>
            <a:off x="530352" y="5919216"/>
            <a:ext cx="11130991" cy="3169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6B6690"/>
                </a:solidFill>
                <a:latin typeface="Calibri"/>
              </a:rPr>
              <a:t>Permutation importance of the honest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6437376"/>
            <a:ext cx="25603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…</a:t>
            </a:r>
          </a:p>
        </p:txBody>
      </p:sp>
      <p:sp>
        <p:nvSpPr>
          <p:cNvPr id="9" name="Oval 8"/>
          <p:cNvSpPr/>
          <p:nvPr/>
        </p:nvSpPr>
        <p:spPr>
          <a:xfrm>
            <a:off x="786384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Is Surat twice Pune?</a:t>
            </a:r>
          </a:p>
        </p:txBody>
      </p:sp>
      <p:sp>
        <p:nvSpPr>
          <p:cNvPr id="11" name="Oval 10"/>
          <p:cNvSpPr/>
          <p:nvPr/>
        </p:nvSpPr>
        <p:spPr>
          <a:xfrm>
            <a:off x="2181987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291715" y="6437376"/>
            <a:ext cx="1148429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Known that morning?</a:t>
            </a:r>
          </a:p>
        </p:txBody>
      </p:sp>
      <p:sp>
        <p:nvSpPr>
          <p:cNvPr id="13" name="Oval 12"/>
          <p:cNvSpPr/>
          <p:nvPr/>
        </p:nvSpPr>
        <p:spPr>
          <a:xfrm>
            <a:off x="3531584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41312" y="6437376"/>
            <a:ext cx="1102423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Keep, drop or fix?</a:t>
            </a:r>
          </a:p>
        </p:txBody>
      </p:sp>
      <p:sp>
        <p:nvSpPr>
          <p:cNvPr id="15" name="Oval 14"/>
          <p:cNvSpPr/>
          <p:nvPr/>
        </p:nvSpPr>
        <p:spPr>
          <a:xfrm>
            <a:off x="4835175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44903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Is it rank or cause?</a:t>
            </a:r>
          </a:p>
        </p:txBody>
      </p:sp>
      <p:sp>
        <p:nvSpPr>
          <p:cNvPr id="17" name="Oval 16"/>
          <p:cNvSpPr/>
          <p:nvPr/>
        </p:nvSpPr>
        <p:spPr>
          <a:xfrm>
            <a:off x="6230778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40506" y="6437376"/>
            <a:ext cx="101041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Why did it jump?</a:t>
            </a:r>
          </a:p>
        </p:txBody>
      </p:sp>
      <p:sp>
        <p:nvSpPr>
          <p:cNvPr id="19" name="Oval 18"/>
          <p:cNvSpPr/>
          <p:nvPr/>
        </p:nvSpPr>
        <p:spPr>
          <a:xfrm>
            <a:off x="7442358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52086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Known before the call?</a:t>
            </a:r>
          </a:p>
        </p:txBody>
      </p:sp>
      <p:sp>
        <p:nvSpPr>
          <p:cNvPr id="21" name="Oval 20"/>
          <p:cNvSpPr/>
          <p:nvPr/>
        </p:nvSpPr>
        <p:spPr>
          <a:xfrm>
            <a:off x="8929973" y="6492240"/>
            <a:ext cx="64008" cy="6400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39701" y="6437376"/>
            <a:ext cx="1148429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5B3FD6"/>
                </a:solidFill>
                <a:latin typeface="Calibri"/>
              </a:rPr>
              <a:t>What does it prove?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S50  ·  59 / 65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5  ·  WEDNESDAY  ·  WHAT THE MODEL IS ALLOWED TO KNOW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One twin shuffled costs more than the model earned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Shuffled alone, it builds clients who never existed</a:t>
            </a:r>
          </a:p>
        </p:txBody>
      </p:sp>
      <p:pic>
        <p:nvPicPr>
          <p:cNvPr id="6" name="mermaid diagram" descr="C2_W05_D03_case3_group_STUD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6200" y="1682496"/>
            <a:ext cx="9179294" cy="4200144"/>
          </a:xfrm>
          <a:prstGeom prst="rect">
            <a:avLst/>
          </a:prstGeom>
        </p:spPr>
      </p:pic>
      <p:sp>
        <p:nvSpPr>
          <p:cNvPr id="7" name="picture caption"/>
          <p:cNvSpPr txBox="1"/>
          <p:nvPr/>
        </p:nvSpPr>
        <p:spPr>
          <a:xfrm>
            <a:off x="530352" y="5919216"/>
            <a:ext cx="11130991" cy="3169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6B6690"/>
                </a:solidFill>
                <a:latin typeface="Calibri"/>
              </a:rPr>
              <a:t>Single shuffle against group shuffle against the model's lift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6437376"/>
            <a:ext cx="25603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…</a:t>
            </a:r>
          </a:p>
        </p:txBody>
      </p:sp>
      <p:sp>
        <p:nvSpPr>
          <p:cNvPr id="9" name="Oval 8"/>
          <p:cNvSpPr/>
          <p:nvPr/>
        </p:nvSpPr>
        <p:spPr>
          <a:xfrm>
            <a:off x="786384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Is Surat twice Pune?</a:t>
            </a:r>
          </a:p>
        </p:txBody>
      </p:sp>
      <p:sp>
        <p:nvSpPr>
          <p:cNvPr id="11" name="Oval 10"/>
          <p:cNvSpPr/>
          <p:nvPr/>
        </p:nvSpPr>
        <p:spPr>
          <a:xfrm>
            <a:off x="2181987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291715" y="6437376"/>
            <a:ext cx="1148429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Known that morning?</a:t>
            </a:r>
          </a:p>
        </p:txBody>
      </p:sp>
      <p:sp>
        <p:nvSpPr>
          <p:cNvPr id="13" name="Oval 12"/>
          <p:cNvSpPr/>
          <p:nvPr/>
        </p:nvSpPr>
        <p:spPr>
          <a:xfrm>
            <a:off x="3531584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41312" y="6437376"/>
            <a:ext cx="1102423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Keep, drop or fix?</a:t>
            </a:r>
          </a:p>
        </p:txBody>
      </p:sp>
      <p:sp>
        <p:nvSpPr>
          <p:cNvPr id="15" name="Oval 14"/>
          <p:cNvSpPr/>
          <p:nvPr/>
        </p:nvSpPr>
        <p:spPr>
          <a:xfrm>
            <a:off x="4835175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44903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Is it rank or cause?</a:t>
            </a:r>
          </a:p>
        </p:txBody>
      </p:sp>
      <p:sp>
        <p:nvSpPr>
          <p:cNvPr id="17" name="Oval 16"/>
          <p:cNvSpPr/>
          <p:nvPr/>
        </p:nvSpPr>
        <p:spPr>
          <a:xfrm>
            <a:off x="6230778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40506" y="6437376"/>
            <a:ext cx="101041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Why did it jump?</a:t>
            </a:r>
          </a:p>
        </p:txBody>
      </p:sp>
      <p:sp>
        <p:nvSpPr>
          <p:cNvPr id="19" name="Oval 18"/>
          <p:cNvSpPr/>
          <p:nvPr/>
        </p:nvSpPr>
        <p:spPr>
          <a:xfrm>
            <a:off x="7442358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52086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Known before the call?</a:t>
            </a:r>
          </a:p>
        </p:txBody>
      </p:sp>
      <p:sp>
        <p:nvSpPr>
          <p:cNvPr id="21" name="Oval 20"/>
          <p:cNvSpPr/>
          <p:nvPr/>
        </p:nvSpPr>
        <p:spPr>
          <a:xfrm>
            <a:off x="8929973" y="6492240"/>
            <a:ext cx="64008" cy="6400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39701" y="6437376"/>
            <a:ext cx="1148429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5B3FD6"/>
                </a:solidFill>
                <a:latin typeface="Calibri"/>
              </a:rPr>
              <a:t>What does it prove?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S51  ·  60 / 65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5  ·  WEDNESDAY  ·  WHAT THE MODEL IS ALLOWED TO KNOW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nr.employed ranks high and only stamps the quarter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The chart ranks reliance and never proves cause</a:t>
            </a:r>
          </a:p>
        </p:txBody>
      </p:sp>
      <p:pic>
        <p:nvPicPr>
          <p:cNvPr id="6" name="mermaid diagram" descr="f0c4de102183f76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2366" y="1956816"/>
            <a:ext cx="9986962" cy="15859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30352" y="6437376"/>
            <a:ext cx="25603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…</a:t>
            </a:r>
          </a:p>
        </p:txBody>
      </p:sp>
      <p:sp>
        <p:nvSpPr>
          <p:cNvPr id="8" name="Oval 7"/>
          <p:cNvSpPr/>
          <p:nvPr/>
        </p:nvSpPr>
        <p:spPr>
          <a:xfrm>
            <a:off x="786384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Is Surat twice Pune?</a:t>
            </a:r>
          </a:p>
        </p:txBody>
      </p:sp>
      <p:sp>
        <p:nvSpPr>
          <p:cNvPr id="10" name="Oval 9"/>
          <p:cNvSpPr/>
          <p:nvPr/>
        </p:nvSpPr>
        <p:spPr>
          <a:xfrm>
            <a:off x="2181987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291715" y="6437376"/>
            <a:ext cx="1148429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Known that morning?</a:t>
            </a:r>
          </a:p>
        </p:txBody>
      </p:sp>
      <p:sp>
        <p:nvSpPr>
          <p:cNvPr id="12" name="Oval 11"/>
          <p:cNvSpPr/>
          <p:nvPr/>
        </p:nvSpPr>
        <p:spPr>
          <a:xfrm>
            <a:off x="3531584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41312" y="6437376"/>
            <a:ext cx="1102423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Keep, drop or fix?</a:t>
            </a:r>
          </a:p>
        </p:txBody>
      </p:sp>
      <p:sp>
        <p:nvSpPr>
          <p:cNvPr id="14" name="Oval 13"/>
          <p:cNvSpPr/>
          <p:nvPr/>
        </p:nvSpPr>
        <p:spPr>
          <a:xfrm>
            <a:off x="4835175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944903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Is it rank or cause?</a:t>
            </a:r>
          </a:p>
        </p:txBody>
      </p:sp>
      <p:sp>
        <p:nvSpPr>
          <p:cNvPr id="16" name="Oval 15"/>
          <p:cNvSpPr/>
          <p:nvPr/>
        </p:nvSpPr>
        <p:spPr>
          <a:xfrm>
            <a:off x="6230778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40506" y="6437376"/>
            <a:ext cx="101041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Why did it jump?</a:t>
            </a:r>
          </a:p>
        </p:txBody>
      </p:sp>
      <p:sp>
        <p:nvSpPr>
          <p:cNvPr id="18" name="Oval 17"/>
          <p:cNvSpPr/>
          <p:nvPr/>
        </p:nvSpPr>
        <p:spPr>
          <a:xfrm>
            <a:off x="7442358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52086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Known before the call?</a:t>
            </a:r>
          </a:p>
        </p:txBody>
      </p:sp>
      <p:sp>
        <p:nvSpPr>
          <p:cNvPr id="20" name="Oval 19"/>
          <p:cNvSpPr/>
          <p:nvPr/>
        </p:nvSpPr>
        <p:spPr>
          <a:xfrm>
            <a:off x="8929973" y="6492240"/>
            <a:ext cx="64008" cy="6400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39701" y="6437376"/>
            <a:ext cx="1148429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5B3FD6"/>
                </a:solidFill>
                <a:latin typeface="Calibri"/>
              </a:rPr>
              <a:t>What does it prove?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S52  ·  61 / 65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5  ·  WEDNESDAY  ·  WHAT THE MODEL IS ALLOWED TO KNOW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The audited feature set goes to Thursday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20 columns, validation AUC 0.796, about 0.57 inside one month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30352" y="1956816"/>
          <a:ext cx="11130991" cy="184912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4034046"/>
                <a:gridCol w="1983847"/>
                <a:gridCol w="5113098"/>
              </a:tblGrid>
              <a:tr h="369824">
                <a:tc>
                  <a:txBody>
                    <a:bodyPr/>
                    <a:lstStyle/>
                    <a:p>
                      <a:r>
                        <a:rPr sz="1450" b="1" i="0">
                          <a:solidFill>
                            <a:srgbClr val="FFFFFF"/>
                          </a:solidFill>
                          <a:latin typeface="Calibri"/>
                        </a:rPr>
                        <a:t>Group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1" i="0">
                          <a:solidFill>
                            <a:srgbClr val="FFFFFF"/>
                          </a:solidFill>
                          <a:latin typeface="Calibri"/>
                        </a:rPr>
                        <a:t>Verdict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1" i="0">
                          <a:solidFill>
                            <a:srgbClr val="FFFFFF"/>
                          </a:solidFill>
                          <a:latin typeface="Calibri"/>
                        </a:rPr>
                        <a:t>Reason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</a:tr>
              <a:tr h="369824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profile, history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keep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known before the call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  <a:tr h="369824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never_contacted, days_since_contact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keep, engineered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999 is a sentinel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</a:tr>
              <a:tr h="369824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economy, five columns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keep, flag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a calendar on a random split; read as a group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  <a:tr h="369824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duration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drop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written when the call ends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30352" y="6437376"/>
            <a:ext cx="25603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…</a:t>
            </a:r>
          </a:p>
        </p:txBody>
      </p:sp>
      <p:sp>
        <p:nvSpPr>
          <p:cNvPr id="8" name="Oval 7"/>
          <p:cNvSpPr/>
          <p:nvPr/>
        </p:nvSpPr>
        <p:spPr>
          <a:xfrm>
            <a:off x="786384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Is Surat twice Pune?</a:t>
            </a:r>
          </a:p>
        </p:txBody>
      </p:sp>
      <p:sp>
        <p:nvSpPr>
          <p:cNvPr id="10" name="Oval 9"/>
          <p:cNvSpPr/>
          <p:nvPr/>
        </p:nvSpPr>
        <p:spPr>
          <a:xfrm>
            <a:off x="2181987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291715" y="6437376"/>
            <a:ext cx="1148429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Known that morning?</a:t>
            </a:r>
          </a:p>
        </p:txBody>
      </p:sp>
      <p:sp>
        <p:nvSpPr>
          <p:cNvPr id="12" name="Oval 11"/>
          <p:cNvSpPr/>
          <p:nvPr/>
        </p:nvSpPr>
        <p:spPr>
          <a:xfrm>
            <a:off x="3531584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41312" y="6437376"/>
            <a:ext cx="1102423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Keep, drop or fix?</a:t>
            </a:r>
          </a:p>
        </p:txBody>
      </p:sp>
      <p:sp>
        <p:nvSpPr>
          <p:cNvPr id="14" name="Oval 13"/>
          <p:cNvSpPr/>
          <p:nvPr/>
        </p:nvSpPr>
        <p:spPr>
          <a:xfrm>
            <a:off x="4835175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944903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Is it rank or cause?</a:t>
            </a:r>
          </a:p>
        </p:txBody>
      </p:sp>
      <p:sp>
        <p:nvSpPr>
          <p:cNvPr id="16" name="Oval 15"/>
          <p:cNvSpPr/>
          <p:nvPr/>
        </p:nvSpPr>
        <p:spPr>
          <a:xfrm>
            <a:off x="6230778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40506" y="6437376"/>
            <a:ext cx="101041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Why did it jump?</a:t>
            </a:r>
          </a:p>
        </p:txBody>
      </p:sp>
      <p:sp>
        <p:nvSpPr>
          <p:cNvPr id="18" name="Oval 17"/>
          <p:cNvSpPr/>
          <p:nvPr/>
        </p:nvSpPr>
        <p:spPr>
          <a:xfrm>
            <a:off x="7442358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52086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Known before the call?</a:t>
            </a:r>
          </a:p>
        </p:txBody>
      </p:sp>
      <p:sp>
        <p:nvSpPr>
          <p:cNvPr id="20" name="Oval 19"/>
          <p:cNvSpPr/>
          <p:nvPr/>
        </p:nvSpPr>
        <p:spPr>
          <a:xfrm>
            <a:off x="8929973" y="6492240"/>
            <a:ext cx="64008" cy="6400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39701" y="6437376"/>
            <a:ext cx="1148429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5B3FD6"/>
                </a:solidFill>
                <a:latin typeface="Calibri"/>
              </a:rPr>
              <a:t>What does it prove?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S53  ·  62 / 65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5  ·  WEDNESDAY  ·  WHAT THE MODEL IS ALLOWED TO KNOW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Four interview anchors, and the shape of a good answer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Answers as reasoning, never as paragraphs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30352" y="1956816"/>
          <a:ext cx="11130990" cy="2332736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914400"/>
                <a:gridCol w="5287581"/>
                <a:gridCol w="4929009"/>
              </a:tblGrid>
              <a:tr h="369824">
                <a:tc>
                  <a:txBody>
                    <a:bodyPr/>
                    <a:lstStyle/>
                    <a:p>
                      <a:r>
                        <a:rPr sz="1450" b="1" i="0">
                          <a:solidFill>
                            <a:srgbClr val="FFFFFF"/>
                          </a:solidFill>
                          <a:latin typeface="Calibri"/>
                        </a:rPr>
                        <a:t>Tag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1" i="0">
                          <a:solidFill>
                            <a:srgbClr val="FFFFFF"/>
                          </a:solidFill>
                          <a:latin typeface="Calibri"/>
                        </a:rPr>
                        <a:t>Question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1" i="0">
                          <a:solidFill>
                            <a:srgbClr val="FFFFFF"/>
                          </a:solidFill>
                          <a:latin typeface="Calibri"/>
                        </a:rPr>
                        <a:t>The shape of a good answer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</a:tr>
              <a:tr h="611632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[S]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What is data leakage, and how do you catch it before it ships?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definition by time; the question; the owner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  <a:tr h="369824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[F]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Which encoder for a forty-value categorical, and why?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ask the model family; one-hot; the flip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</a:tr>
              <a:tr h="369824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[F]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What does an importance chart prove, and what not?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reliance; twins; a fair test for cause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  <a:tr h="611632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[D]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A colleague's feature lifts the score to 0.99 tonight; what do you say?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ask when it is written; retrain; both scores in rupees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30352" y="6437376"/>
            <a:ext cx="25603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…</a:t>
            </a:r>
          </a:p>
        </p:txBody>
      </p:sp>
      <p:sp>
        <p:nvSpPr>
          <p:cNvPr id="8" name="Oval 7"/>
          <p:cNvSpPr/>
          <p:nvPr/>
        </p:nvSpPr>
        <p:spPr>
          <a:xfrm>
            <a:off x="786384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Is Surat twice Pune?</a:t>
            </a:r>
          </a:p>
        </p:txBody>
      </p:sp>
      <p:sp>
        <p:nvSpPr>
          <p:cNvPr id="10" name="Oval 9"/>
          <p:cNvSpPr/>
          <p:nvPr/>
        </p:nvSpPr>
        <p:spPr>
          <a:xfrm>
            <a:off x="2181987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291715" y="6437376"/>
            <a:ext cx="1148429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Known that morning?</a:t>
            </a:r>
          </a:p>
        </p:txBody>
      </p:sp>
      <p:sp>
        <p:nvSpPr>
          <p:cNvPr id="12" name="Oval 11"/>
          <p:cNvSpPr/>
          <p:nvPr/>
        </p:nvSpPr>
        <p:spPr>
          <a:xfrm>
            <a:off x="3531584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41312" y="6437376"/>
            <a:ext cx="1102423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Keep, drop or fix?</a:t>
            </a:r>
          </a:p>
        </p:txBody>
      </p:sp>
      <p:sp>
        <p:nvSpPr>
          <p:cNvPr id="14" name="Oval 13"/>
          <p:cNvSpPr/>
          <p:nvPr/>
        </p:nvSpPr>
        <p:spPr>
          <a:xfrm>
            <a:off x="4835175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944903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Is it rank or cause?</a:t>
            </a:r>
          </a:p>
        </p:txBody>
      </p:sp>
      <p:sp>
        <p:nvSpPr>
          <p:cNvPr id="16" name="Oval 15"/>
          <p:cNvSpPr/>
          <p:nvPr/>
        </p:nvSpPr>
        <p:spPr>
          <a:xfrm>
            <a:off x="6230778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40506" y="6437376"/>
            <a:ext cx="101041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Why did it jump?</a:t>
            </a:r>
          </a:p>
        </p:txBody>
      </p:sp>
      <p:sp>
        <p:nvSpPr>
          <p:cNvPr id="18" name="Oval 17"/>
          <p:cNvSpPr/>
          <p:nvPr/>
        </p:nvSpPr>
        <p:spPr>
          <a:xfrm>
            <a:off x="7442358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52086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Known before the call?</a:t>
            </a:r>
          </a:p>
        </p:txBody>
      </p:sp>
      <p:sp>
        <p:nvSpPr>
          <p:cNvPr id="20" name="Oval 19"/>
          <p:cNvSpPr/>
          <p:nvPr/>
        </p:nvSpPr>
        <p:spPr>
          <a:xfrm>
            <a:off x="8929973" y="6492240"/>
            <a:ext cx="64008" cy="6400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39701" y="6437376"/>
            <a:ext cx="1148429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5B3FD6"/>
                </a:solidFill>
                <a:latin typeface="Calibri"/>
              </a:rPr>
              <a:t>What does it prove?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S54  ·  63 / 65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5  ·  WEDNESDAY  ·  WHAT THE MODEL IS ALLOWED TO KNOW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Quiz: five questions and Tuesday's return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Kahoot, ungraded, keys in the trainer guide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30352" y="1956816"/>
          <a:ext cx="11130991" cy="2588768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914400"/>
                <a:gridCol w="10216591"/>
              </a:tblGrid>
              <a:tr h="369824">
                <a:tc>
                  <a:txBody>
                    <a:bodyPr/>
                    <a:lstStyle/>
                    <a:p>
                      <a:r>
                        <a:rPr sz="1450" b="1" i="0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1" i="0">
                          <a:solidFill>
                            <a:srgbClr val="FFFFFF"/>
                          </a:solidFill>
                          <a:latin typeface="Calibri"/>
                        </a:rPr>
                        <a:t>The question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</a:tr>
              <a:tr h="369824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The prediction-time question, completed from memory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  <a:tr h="369824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Validation hit 0.99 after one new column; your first suspicion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</a:tr>
              <a:tr h="369824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Which encoder for a forty-value categorical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  <a:tr h="369824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Which model family shrugs at unscaled features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</a:tr>
              <a:tr h="369824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A coefficient's sign flipped when a feature was added; the likeliest cause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  <a:tr h="369824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R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The same model in retail and lending: why the thresholds sit at opposite ends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30352" y="6437376"/>
            <a:ext cx="25603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…</a:t>
            </a:r>
          </a:p>
        </p:txBody>
      </p:sp>
      <p:sp>
        <p:nvSpPr>
          <p:cNvPr id="8" name="Oval 7"/>
          <p:cNvSpPr/>
          <p:nvPr/>
        </p:nvSpPr>
        <p:spPr>
          <a:xfrm>
            <a:off x="786384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Is Surat twice Pune?</a:t>
            </a:r>
          </a:p>
        </p:txBody>
      </p:sp>
      <p:sp>
        <p:nvSpPr>
          <p:cNvPr id="10" name="Oval 9"/>
          <p:cNvSpPr/>
          <p:nvPr/>
        </p:nvSpPr>
        <p:spPr>
          <a:xfrm>
            <a:off x="2181987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291715" y="6437376"/>
            <a:ext cx="1148429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Known that morning?</a:t>
            </a:r>
          </a:p>
        </p:txBody>
      </p:sp>
      <p:sp>
        <p:nvSpPr>
          <p:cNvPr id="12" name="Oval 11"/>
          <p:cNvSpPr/>
          <p:nvPr/>
        </p:nvSpPr>
        <p:spPr>
          <a:xfrm>
            <a:off x="3531584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41312" y="6437376"/>
            <a:ext cx="1102423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Keep, drop or fix?</a:t>
            </a:r>
          </a:p>
        </p:txBody>
      </p:sp>
      <p:sp>
        <p:nvSpPr>
          <p:cNvPr id="14" name="Oval 13"/>
          <p:cNvSpPr/>
          <p:nvPr/>
        </p:nvSpPr>
        <p:spPr>
          <a:xfrm>
            <a:off x="4835175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944903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Is it rank or cause?</a:t>
            </a:r>
          </a:p>
        </p:txBody>
      </p:sp>
      <p:sp>
        <p:nvSpPr>
          <p:cNvPr id="16" name="Oval 15"/>
          <p:cNvSpPr/>
          <p:nvPr/>
        </p:nvSpPr>
        <p:spPr>
          <a:xfrm>
            <a:off x="6230778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40506" y="6437376"/>
            <a:ext cx="101041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Why did it jump?</a:t>
            </a:r>
          </a:p>
        </p:txBody>
      </p:sp>
      <p:sp>
        <p:nvSpPr>
          <p:cNvPr id="18" name="Oval 17"/>
          <p:cNvSpPr/>
          <p:nvPr/>
        </p:nvSpPr>
        <p:spPr>
          <a:xfrm>
            <a:off x="7442358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52086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Known before the call?</a:t>
            </a:r>
          </a:p>
        </p:txBody>
      </p:sp>
      <p:sp>
        <p:nvSpPr>
          <p:cNvPr id="20" name="Oval 19"/>
          <p:cNvSpPr/>
          <p:nvPr/>
        </p:nvSpPr>
        <p:spPr>
          <a:xfrm>
            <a:off x="8929973" y="6492240"/>
            <a:ext cx="64008" cy="6400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39701" y="6437376"/>
            <a:ext cx="1148429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5B3FD6"/>
                </a:solidFill>
                <a:latin typeface="Calibri"/>
              </a:rPr>
              <a:t>What does it prove?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S55  ·  64 / 65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5  ·  WEDNESDAY  ·  WHAT THE MODEL IS ALLOWED TO KNOW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What you can now do, and what tonight holds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Practice set two to three hours; lab with the TAs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30352" y="1956816"/>
          <a:ext cx="11130990" cy="2090928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5269863"/>
                <a:gridCol w="5861127"/>
              </a:tblGrid>
              <a:tr h="369824">
                <a:tc>
                  <a:txBody>
                    <a:bodyPr/>
                    <a:lstStyle/>
                    <a:p>
                      <a:r>
                        <a:rPr sz="1450" b="1" i="0">
                          <a:solidFill>
                            <a:srgbClr val="FFFFFF"/>
                          </a:solidFill>
                          <a:latin typeface="Calibri"/>
                        </a:rPr>
                        <a:t>Now you can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1" i="0">
                          <a:solidFill>
                            <a:srgbClr val="FFFFFF"/>
                          </a:solidFill>
                          <a:latin typeface="Calibri"/>
                        </a:rPr>
                        <a:t>Tonight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</a:tr>
              <a:tr h="369824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engineer five kinds of feature, each with a reason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practice set: ten problems, eighteen self-check questions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  <a:tr h="369824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encode and scale for the model family in use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practice lab: Rohan's lending file, the same audit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</a:tr>
              <a:tr h="369824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audit every column with the prediction-time question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redraw the week's picture from memory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  <a:tr h="611632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say what an importance chart proves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Thursday's pre-read: overfitting, bias, variance, cross-validation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30352" y="6437376"/>
            <a:ext cx="25603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…</a:t>
            </a:r>
          </a:p>
        </p:txBody>
      </p:sp>
      <p:sp>
        <p:nvSpPr>
          <p:cNvPr id="8" name="Oval 7"/>
          <p:cNvSpPr/>
          <p:nvPr/>
        </p:nvSpPr>
        <p:spPr>
          <a:xfrm>
            <a:off x="786384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Is Surat twice Pune?</a:t>
            </a:r>
          </a:p>
        </p:txBody>
      </p:sp>
      <p:sp>
        <p:nvSpPr>
          <p:cNvPr id="10" name="Oval 9"/>
          <p:cNvSpPr/>
          <p:nvPr/>
        </p:nvSpPr>
        <p:spPr>
          <a:xfrm>
            <a:off x="2181987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291715" y="6437376"/>
            <a:ext cx="1148429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Known that morning?</a:t>
            </a:r>
          </a:p>
        </p:txBody>
      </p:sp>
      <p:sp>
        <p:nvSpPr>
          <p:cNvPr id="12" name="Oval 11"/>
          <p:cNvSpPr/>
          <p:nvPr/>
        </p:nvSpPr>
        <p:spPr>
          <a:xfrm>
            <a:off x="3531584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41312" y="6437376"/>
            <a:ext cx="1102423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Keep, drop or fix?</a:t>
            </a:r>
          </a:p>
        </p:txBody>
      </p:sp>
      <p:sp>
        <p:nvSpPr>
          <p:cNvPr id="14" name="Oval 13"/>
          <p:cNvSpPr/>
          <p:nvPr/>
        </p:nvSpPr>
        <p:spPr>
          <a:xfrm>
            <a:off x="4835175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944903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Is it rank or cause?</a:t>
            </a:r>
          </a:p>
        </p:txBody>
      </p:sp>
      <p:sp>
        <p:nvSpPr>
          <p:cNvPr id="16" name="Oval 15"/>
          <p:cNvSpPr/>
          <p:nvPr/>
        </p:nvSpPr>
        <p:spPr>
          <a:xfrm>
            <a:off x="6230778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40506" y="6437376"/>
            <a:ext cx="101041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Why did it jump?</a:t>
            </a:r>
          </a:p>
        </p:txBody>
      </p:sp>
      <p:sp>
        <p:nvSpPr>
          <p:cNvPr id="18" name="Oval 17"/>
          <p:cNvSpPr/>
          <p:nvPr/>
        </p:nvSpPr>
        <p:spPr>
          <a:xfrm>
            <a:off x="7442358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52086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Known before the call?</a:t>
            </a:r>
          </a:p>
        </p:txBody>
      </p:sp>
      <p:sp>
        <p:nvSpPr>
          <p:cNvPr id="20" name="Oval 19"/>
          <p:cNvSpPr/>
          <p:nvPr/>
        </p:nvSpPr>
        <p:spPr>
          <a:xfrm>
            <a:off x="8929973" y="6492240"/>
            <a:ext cx="64008" cy="6400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39701" y="6437376"/>
            <a:ext cx="1148429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5B3FD6"/>
                </a:solidFill>
                <a:latin typeface="Calibri"/>
              </a:rPr>
              <a:t>What does it prove?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S56  ·  65 / 65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