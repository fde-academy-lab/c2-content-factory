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quote and stop. Do not explain it yet; chapter 3 does. Today's whole day</a:t>
            </a:r>
          </a:p>
          <a:p>
            <a:r>
              <a:t>hangs on the gap between a score measured on a table built after the outcome and a model that has</a:t>
            </a:r>
          </a:p>
          <a:p>
            <a:r>
              <a:t>to run before it. Transition: the five topics and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Monday framed the call list and set the baseline of 0.887; Tuesday read the same</a:t>
            </a:r>
          </a:p>
          <a:p>
            <a:r>
              <a:t>model through recall and the Rs 40 against Rs 1,200 bill. Today decides what goes into the model.</a:t>
            </a:r>
          </a:p>
          <a:p>
            <a:r>
              <a:t>Thursday tunes on today's feature set; Build 2 moves the method to Rohan's lending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This is the picture the room redraws every night. Point at the thick line: the</a:t>
            </a:r>
          </a:p>
          <a:p>
            <a:r>
              <a:t>moment the call list is made. Today's question sits in the orange card. Ask the room to keep one</a:t>
            </a:r>
          </a:p>
          <a:p>
            <a:r>
              <a:t>hand on that line all day: every column is either left of it or right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Kalpa row aloud and take a prediction before anything else: what happens</a:t>
            </a:r>
          </a:p>
          <a:p>
            <a:r>
              <a:t>to the 0.99 once the platform lead's remark is taken seriously? Write the room's guesses on the</a:t>
            </a:r>
          </a:p>
          <a:p>
            <a:r>
              <a:t>board; chapter 3 settles them. The bank row is the same file as Monday; the jump is measured in</a:t>
            </a:r>
          </a:p>
          <a:p>
            <a:r>
              <a:t>case 1. Transition: the five topics that get us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second column once; these are the words to search later. Each concept</a:t>
            </a:r>
          </a:p>
          <a:p>
            <a:r>
              <a:t>chapter teaches on an invented Kalpa table, and each case chapter names the topics it applies.</a:t>
            </a:r>
          </a:p>
          <a:p>
            <a:r>
              <a:t>A 10-minute break follows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 2 gave recency, frequency and monetary; Week 4 gave cohorts and baskets;</a:t>
            </a:r>
          </a:p>
          <a:p>
            <a:r>
              <a:t>Monday gave prediction time. Today turns them into features, checks each against the clock, and</a:t>
            </a:r>
          </a:p>
          <a:p>
            <a:r>
              <a:t>reads what the model does with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1, 22 minutes, notebook ch01. Eight invented Kalpa members. Laptops</a:t>
            </a:r>
          </a:p>
          <a:p>
            <a:r>
              <a:t>stay shut until slide S8.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table is invented. Ask for a letter, then ask the follow-up: is the top</a:t>
            </a:r>
          </a:p>
          <a:p>
            <a:r>
              <a:t>spender the member most likely to buy in the next ninety days? Three other members (Esha, Farid,</a:t>
            </a:r>
          </a:p>
          <a:p>
            <a:r>
              <a:t>Gauri) are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Hari's bubble is the biggest and sits far right: ten months since the last</a:t>
            </a:r>
          </a:p>
          <a:p>
            <a:r>
              <a:t>order. A Rs 40 nudge to Hari reaches the member least likely to answer. Land: a raw total answers</a:t>
            </a:r>
          </a:p>
          <a:p>
            <a:r>
              <a:t>"who spent most", and Marketing asked "who buys next".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Count one by hand: Asha's average basket is Rs 16,800 over 24 orders, Rs 700.</a:t>
            </a:r>
          </a:p>
          <a:p>
            <a:r>
              <a:t>Dev's recency is 2 days. Ask: which of these would you have to recompute every morning? (Recency</a:t>
            </a:r>
          </a:p>
          <a:p>
            <a:r>
              <a:t>and cohort age.) Land: every feature is a sentence the business would say. Run notebook ch01 to</a:t>
            </a:r>
          </a:p>
          <a:p>
            <a:r>
              <a:t>cell 4: one line of pandas per signal, measured from NUDGE, never from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 first: does ringing a client more often this campaign raise the yes-rate?</a:t>
            </a:r>
          </a:p>
          <a:p>
            <a:r>
              <a:t>It falls from 13 percent at one call to 7 percent at four or more. Earlier contact helps sharply.</a:t>
            </a:r>
          </a:p>
          <a:p>
            <a:r>
              <a:t>pdays holds 999 for 96.3 percent of rows; case 2 splits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each rule with its flip. Interview line: "Engineer features from a customer</a:t>
            </a:r>
          </a:p>
          <a:p>
            <a:r>
              <a:t>table and justify each." The answer names the prediction moment first. Transition: chapter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2, 18 minutes, notebook ch02. Six invented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letters. Then ask who chose that order: nobody did, the alphabet or the</a:t>
            </a:r>
          </a:p>
          <a:p>
            <a:r>
              <a:t>order of signups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tree splits on city_code &lt;= 1.5 and &lt;= 2.5, so the made-up order costs it</a:t>
            </a:r>
          </a:p>
          <a:p>
            <a:r>
              <a:t>little. A linear model reads it as a straight line through the cities. Land: encoding is a model</a:t>
            </a:r>
          </a:p>
          <a:p>
            <a:r>
              <a:t>decision, never a ritual.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Airbnb's search team fed their first neural network the tree model's raw features</a:t>
            </a:r>
          </a:p>
          <a:p>
            <a:r>
              <a:t>and the loss stopped improving midway; normalising fixed it (Haldar and others, arXiv 1810.09591,</a:t>
            </a:r>
          </a:p>
          <a:p>
            <a:r>
              <a:t>facts in the sources file). Predict first: after standardising, is A's nearest neighbour still B? It becomes</a:t>
            </a:r>
          </a:p>
          <a:p>
            <a:r>
              <a:t>C, who also visits twice. The formula is named last: z = (value - mean) / standard deviation, with</a:t>
            </a:r>
          </a:p>
          <a:p>
            <a:r>
              <a:t>the mean and spread learned on training rows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Kahoot Q4 comes from this table: which family shrugs at unscaled features? A</a:t>
            </a:r>
          </a:p>
          <a:p>
            <a:r>
              <a:t>forty-value city is still one-hot for a logistic model; replacing a city with its average outcome</a:t>
            </a:r>
          </a:p>
          <a:p>
            <a:r>
              <a:t>comes later, because it can carry the target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minutes, the mid-session drill. Letters in the chat, then the answer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 the bank's file default has 3 yes rows and 8,597 unknown: the unknown level</a:t>
            </a:r>
          </a:p>
          <a:p>
            <a:r>
              <a:t>carries the signal. Transition: chapter 3, the question that catches the 0.99.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3, 20 minutes, notebook ch03, then the explorable. Twelve invented</a:t>
            </a:r>
          </a:p>
          <a:p>
            <a:r>
              <a:t>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answers the S3 prediction. Take letters. Hint only if stuck: on the nudge</a:t>
            </a:r>
          </a:p>
          <a:p>
            <a:r>
              <a:t>morning, has anyone paid yet for an order in the next ninety days?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column reads none for everyone on the nudge morning, so the rule says nobody</a:t>
            </a:r>
          </a:p>
          <a:p>
            <a:r>
              <a:t>buys. Land: the 0.99 was measured on a table built after the outcome; the model meets a table</a:t>
            </a:r>
          </a:p>
          <a:p>
            <a:r>
              <a:t>built before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first, then show it. Each column is pinned at the moment</a:t>
            </a:r>
          </a:p>
          <a:p>
            <a:r>
              <a:t>it is written. Settlement sits right of the line: the payments team writes the answer in its own</a:t>
            </a:r>
          </a:p>
          <a:p>
            <a:r>
              <a:t>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question aloud twice; Kahoot Q1 asks for it from memory, and tonight's</a:t>
            </a:r>
          </a:p>
          <a:p>
            <a:r>
              <a:t>recap asks for it verbatim. Leakage is any input unavailable at prediction time, however innocent</a:t>
            </a:r>
          </a:p>
          <a:p>
            <a:r>
              <a:t>it looks.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Before click 2, ask for a number: what will 30 of 30 become? Write it down. After</a:t>
            </a:r>
          </a:p>
          <a:p>
            <a:r>
              <a:t>the drag, land the day's line: the score fell and the model got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Narayanan, Shi and Rubinstein de-anonymised the challenge's test set with their own</a:t>
            </a:r>
          </a:p>
          <a:p>
            <a:r>
              <a:t>Flickr crawl (arXiv 1102.4374): the question that would have caught it is where each input comes</a:t>
            </a:r>
          </a:p>
          <a:p>
            <a:r>
              <a:t>from at prediction time. Interview anchor [S]: what is data leakage, and how do you catch it before it</a:t>
            </a:r>
          </a:p>
          <a:p>
            <a:r>
              <a:t>ships? 10-minute break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4, 15 minutes, notebook ch04. Nine invented candidate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solution architect's seat: is it there at prediction time? The</a:t>
            </a:r>
          </a:p>
          <a:p>
            <a:r>
              <a:t>implementation engineer's seat: can the scoring service read it the same way every night?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 with one reason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coupon_redeemed is the outcome itself. member_id is a key; if ids are issued in</a:t>
            </a:r>
          </a:p>
          <a:p>
            <a:r>
              <a:t>signup order it smuggles cohort age, which should be engineered openly. loyalty_tier is kept with</a:t>
            </a:r>
          </a:p>
          <a:p>
            <a:r>
              <a:t>a fix: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M07 bought, was upgraded, and today's table says Gold. A model trained on today's</a:t>
            </a:r>
          </a:p>
          <a:p>
            <a:r>
              <a:t>tier learns "Gold buys", which the purchase wrote. Fix: a snapshot, read as of the prediction</a:t>
            </a:r>
          </a:p>
          <a:p>
            <a:r>
              <a:t>morning. The question to the owner: is this field ever overwritten?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minutes, the mid-session drill. Ten seconds each, letters in the chat as L or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Number 5 is the one most of the room calls clean. Transition: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5, 15 minutes, notebook ch05. Twelve invented members, a rule, and a</a:t>
            </a:r>
          </a:p>
          <a:p>
            <a:r>
              <a:t>shuffle done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shuffle keeps the column's values and breaks their link to each member; a big</a:t>
            </a:r>
          </a:p>
          <a:p>
            <a:r>
              <a:t>fall means the model leans on that column, nothing more. Take letters, then run the notebook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Visits alone costs 2, searches alone 4, both together 8, more than 2 + 4. Land:</a:t>
            </a:r>
          </a:p>
          <a:p>
            <a:r>
              <a:t>twins share credit, so shuffle them as a group and read the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Marketing proposes pushing searches up. The chart cannot say whether that moves</a:t>
            </a:r>
          </a:p>
          <a:p>
            <a:r>
              <a:t>purchases. Week 1's fair comparison can: push a random half, compare. Interview anchor [F]: what</a:t>
            </a:r>
          </a:p>
          <a:p>
            <a:r>
              <a:t>does a feature importance chart prove, and what does it not?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Transition: the bank. Everything so far was invented; the case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1, 20 minutes. Every learner runs case01 from the top; the first cell</a:t>
            </a:r>
          </a:p>
          <a:p>
            <a:r>
              <a:t>downloads the bank's file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 learner writes a letter before running. This is the prediction the brief</a:t>
            </a:r>
          </a:p>
          <a:p>
            <a:r>
              <a:t>promises the room: the jump is shown only after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Calling nobody scores 0.887, so accuracy has no room to show the jump. Ask: a</a:t>
            </a:r>
          </a:p>
          <a:p>
            <a:r>
              <a:t>jump of 0.14 from one column; what is your first suspicion? Hold the answer for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Recall at 0.5 goes 0.23 to 0.42 and the bill falls from Rs 2.80 lakh to Rs 1.19</a:t>
            </a:r>
          </a:p>
          <a:p>
            <a:r>
              <a:t>lakh: a promise of Rs 1.61 lakh saved on 8,238 calls. That promise is what the junior would take</a:t>
            </a:r>
          </a:p>
          <a:p>
            <a:r>
              <a:t>to the campaign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implementation engineer's seat. Uber's feature store exists so a feature such as</a:t>
            </a:r>
          </a:p>
          <a:p>
            <a:r>
              <a:t>"average preparation time over the last hour" means one thing in training and in serving. On this file the means differ only in the</a:t>
            </a:r>
          </a:p>
          <a:p>
            <a:r>
              <a:t>third decimal, which is why the habit looks harmless; on a file where the future differs, it</a:t>
            </a:r>
          </a:p>
          <a:p>
            <a:r>
              <a:t>carries the future in. Then the guided notebook, 20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Pairs. Each pair says its reason aloud before typing. The worked answer sits</a:t>
            </a:r>
          </a:p>
          <a:p>
            <a:r>
              <a:t>below the line in the same notebook; the room opens it only after the check cell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2, 30 minutes. Never cut the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All four calls of 0 seconds ended in no. Open the UCI page and read the duration</a:t>
            </a:r>
          </a:p>
          <a:p>
            <a:r>
              <a:t>row aloud (the trainer guide holds the exact text): the authors say the length is unknown before</a:t>
            </a:r>
          </a:p>
          <a:p>
            <a:r>
              <a:t>dialling and the column belongs in benchmarks only. A long call is often the sale being made. Ask the prediction-time question of</a:t>
            </a:r>
          </a:p>
          <a:p>
            <a:r>
              <a:t>duration aloud: on the morning the list is made, do we know how long tomorrow's call will last?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quarterly and monthly indicators pass only if each figure was published</a:t>
            </a:r>
          </a:p>
          <a:p>
            <a:r>
              <a:t>before the call; that is a question for the data owner and is not verified here. The calendar flag</a:t>
            </a:r>
          </a:p>
          <a:p>
            <a:r>
              <a:t>is the next two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first. Most of the room says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emp.var.rate and nr.employed take 10 and 11 distinct values: a stamp for the</a:t>
            </a:r>
          </a:p>
          <a:p>
            <a:r>
              <a:t>quarter. On a random split every month sits in training and validation, so the model is scored</a:t>
            </a:r>
          </a:p>
          <a:p>
            <a:r>
              <a:t>partly on months it has seen. Next month's list is a month it has never seen.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Zech and others (PLOS Medicine 2018): the network identified the hospital system of</a:t>
            </a:r>
          </a:p>
          <a:p>
            <a:r>
              <a:t>99.95 percent of NIH images, partly from a metal token, and hospital prevalence alone ranked at 0.861.</a:t>
            </a:r>
          </a:p>
          <a:p>
            <a:r>
              <a:t>The hospital, like the month, is known when the prediction is made. Known that morning, and still borrowing each month's yes-rate through the split.</a:t>
            </a:r>
          </a:p>
          <a:p>
            <a:r>
              <a:t>Verdict: keep, flag, and write the caveat beside the score. Friday's split by time prices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Raw pdays has a mean of 962 days, which describes nobody. AUC barely moves after</a:t>
            </a:r>
          </a:p>
          <a:p>
            <a:r>
              <a:t>the split; the model now reads a sentence a person can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leaked model can never deliver its promise: on the morning of the call its</a:t>
            </a:r>
          </a:p>
          <a:p>
            <a:r>
              <a:t>best column does not exist. The honest bill sits near calling everyone at these costs (Tuesday's</a:t>
            </a:r>
          </a:p>
          <a:p>
            <a:r>
              <a:t>lesson); under a budget its top 1,000 hold 462 buyers against 113 at random.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the loop on S3: the 0.99 collapses because a payment can only settle for a</a:t>
            </a:r>
          </a:p>
          <a:p>
            <a:r>
              <a:t>member who already bought. The column is the target in another team's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Tonight's self-check is to redraw this from memory. Lunch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3, 20 minutes. Afternoon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Three desks, one signal: when columns move together this closely the data has</a:t>
            </a:r>
          </a:p>
          <a:p>
            <a:r>
              <a:t>almost no row where one is high and another low. Letters first. This is the row's second discovery; let the room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coefficient answers "holding the others fixed", and these partners are never</a:t>
            </a:r>
          </a:p>
          <a:p>
            <a:r>
              <a:t>held fixed in the data. Read a sign alone only when the column has no close partner. Kahoot Q5.</a:t>
            </a:r>
          </a:p>
          <a:p>
            <a:r>
              <a:t>The faculty block, tentative, takes multicollinearity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model's whole lift above a coin is 0.30. One column costing 0.34 is costing</a:t>
            </a:r>
          </a:p>
          <a:p>
            <a:r>
              <a:t>more than the model ever earned. Ask why before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 2010 employment rate beside a 2008 interbank rate: an impossible client. Shuffle</a:t>
            </a:r>
          </a:p>
          <a:p>
            <a:r>
              <a:t>the five economy columns together and the cost falls to 0.14. Land: permute partners as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first: would hiring more people in Portugal raise deposits? The same holds for contact: mobile against landline ranks third, and moving every</a:t>
            </a:r>
          </a:p>
          <a:p>
            <a:r>
              <a:t>client to mobile would not move the yes-rate by that gap. A lever needs a fair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Then the unguided task, 20 minutes: in a blank notebook, rebuild this set from</a:t>
            </a:r>
          </a:p>
          <a:p>
            <a:r>
              <a:t>the raw file, write the audit table with a reason per column, and report the honest score. Target:</a:t>
            </a:r>
          </a:p>
          <a:p>
            <a:r>
              <a:t>0.796 to the third decimal.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Pairs: one asks, one answers in 60 seconds, swap. The [D] answer opens with a</a:t>
            </a:r>
          </a:p>
          <a:p>
            <a:r>
              <a:t>clarifying question: which system writes the column, and when? The model answers with follow-ups</a:t>
            </a:r>
          </a:p>
          <a:p>
            <a:r>
              <a:t>are in the interview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Type the six into Kahoot from the trainer guide. Discuss Q2 and Q5 for a minute</a:t>
            </a:r>
          </a:p>
          <a:p>
            <a:r>
              <a:t>each; they carry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the ME1 scope aloud and no more. Tomorrow tunes on today's audited feature</a:t>
            </a:r>
          </a:p>
          <a:p>
            <a:r>
              <a:t>set, so every learner commits case03 with its outputs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5.xml"/><Relationship Id="rId4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7.xml"/><Relationship Id="rId4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1.xml"/><Relationship Id="rId4" Type="http://schemas.openxmlformats.org/officeDocument/2006/relationships/image" Target="../media/image2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2240280"/>
            <a:ext cx="196838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5  ·  DAY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Feature engineering and leakage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635756"/>
            <a:ext cx="10033711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“settlement_status is written after delivery, when the payment clears.”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088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Kalpa's data platform lead, reading the schema the night the score hit 0.99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39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375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7803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656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0616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023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0427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474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8791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39" y="5669280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18003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2051" y="5669280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9117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3165" y="5669280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sits between the analyst's craft and Build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weeks; today is the middle of the machine learning core</a:t>
            </a:r>
          </a:p>
        </p:txBody>
      </p:sp>
      <p:pic>
        <p:nvPicPr>
          <p:cNvPr id="6" name="mermaid diagram" descr="5e4b777c327a70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957029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as Tuesday left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Past rows, the cut, the prediction moment, the outcome window</a:t>
            </a:r>
          </a:p>
        </p:txBody>
      </p:sp>
      <p:pic>
        <p:nvPicPr>
          <p:cNvPr id="6" name="mermaid diagram" descr="C2_W05_D03_week_timeline_tuesda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82496"/>
            <a:ext cx="11130991" cy="4052229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7130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in Tuesday's state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Today's ticket: Kalpa's 0.99 and the bank's jump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ask, the data and the caveat, on one page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830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Kalpa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junior joins settlement_status from the payments feed; validation hits 0.99; Marketing wants it shipped tonight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bank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junior joins the economy feed and the call log to the customer table; AUC jumps from 0.76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Marketing, 41,188 calls, 20 inputs, 11.3 percent yes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feature set with a reason per column and the honest score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campaign head and Kavya Nair, Kalpa's senior analyst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caveat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rows run May 2008 to November 2010 in date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 in five chapters, then three case chapters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the chapter, the minutes and the notebook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426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131399"/>
                <a:gridCol w="3256391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Feature engineering from the customer table: ratios, recency, counts, cohort age, basket signals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 Turning raw columns into signals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Encoding categoricals; scaling numerics; which models care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 Teaching a model to read categories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Leakage and the prediction-time question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Answers from the future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 Interrogating every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Feature importance and its limits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 What the importance chart can't tell you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463905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Cases 6, 7 and 8 apply the topics to the bank's calls in notebooks case01 to case03.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topics, joined to what came before and 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one rests on and where it is applied</a:t>
            </a:r>
          </a:p>
        </p:txBody>
      </p:sp>
      <p:pic>
        <p:nvPicPr>
          <p:cNvPr id="6" name="mermaid diagram" descr="12ddf7822d0728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8412" y="1682496"/>
            <a:ext cx="7214870" cy="45171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Turning raw columns into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a row know?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Feature engineering from the customer table: ratios, recency, counts, cohort age, basket signals · also searched as: feature engineering for machine learning, RFM features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a row know?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member would total spend nudge first?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Eight invented Kalpa members on the nudge morning, 1 November 2026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349097"/>
                <a:gridCol w="3100730"/>
                <a:gridCol w="914400"/>
                <a:gridCol w="285236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First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Last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Spend, 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Asha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Nov 2024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 Oct 2026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16,800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Bilal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Aug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 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4,200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Chitra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May 2023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 Mar 2026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19,500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Dev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 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Hari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Feb 2022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 Dec 2025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422452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Asha (b) Hari (c) Dev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Hari, the coldest member on the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Total spend grows with time, so it ranks the oldest first</a:t>
            </a:r>
          </a:p>
        </p:txBody>
      </p:sp>
      <p:pic>
        <p:nvPicPr>
          <p:cNvPr id="6" name="mermaid diagram" descr="C2_W05_D03_ch1_member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4909" y="1682496"/>
            <a:ext cx="8041875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Recency against orders per month, bubble size is spend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signals, each with a reason Marketing can repeat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Measured from the nudge morning, never from today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38342"/>
                <a:gridCol w="5422999"/>
                <a:gridCol w="386964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Recency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nudge morning - last order, in days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warm buys again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in the last 90 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habit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Cohort age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nudge morning - first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new members are still deciding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/ months as a member; spend /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puts old and new on one scale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Basket signal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items /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weekly shop against top-up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bank's file already holds counts and a recency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campaign, previous, pdays and poutcome are the same five ideas</a:t>
            </a:r>
          </a:p>
        </p:txBody>
      </p:sp>
      <p:pic>
        <p:nvPicPr>
          <p:cNvPr id="6" name="mermaid diagram" descr="C2_W05_D03_ch1_bank_coun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221" y="1682496"/>
            <a:ext cx="983125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calls this campaign and by earlier calls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features, each with its flip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rule without the condition that flips it is a slogan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61841"/>
                <a:gridCol w="666915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Measure from the prediction moment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computed from today it leaks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ratio beats a total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everyone joined in the same window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over a fixed window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 is a loyalty tier, which wants lifetime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feature carries a reason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fair test shows signal the reasons missed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Teaching a model to read categories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Surat twice Pune?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Encoding categoricals; scaling numerics; which models care · also searched as: one-hot encoding, standard scaling, label encoding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Surat twice Pune?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Pune is 1, Surat 2, Indore 3: what does a line read?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logistic model multiplies the code by one weight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2182986"/>
                <a:gridCol w="2182986"/>
                <a:gridCol w="2373068"/>
                <a:gridCol w="256314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city_code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city_Pune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city_Surat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city_Indore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Pune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Surat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Indore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55396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nothing about the cities (b) Indore is as far from Surat as Surat from Pune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an order and a distance nobody chose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One-hot gives each city its own switch and its own weight</a:t>
            </a:r>
          </a:p>
        </p:txBody>
      </p:sp>
      <p:pic>
        <p:nvPicPr>
          <p:cNvPr id="6" name="mermaid diagram" descr="d55d9fb4e8fbbc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1240527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Rupees drown visits in a distance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to B by hand: square root of 200 squared plus 7 squared, about 200</a:t>
            </a:r>
          </a:p>
        </p:txBody>
      </p:sp>
      <p:pic>
        <p:nvPicPr>
          <p:cNvPr id="6" name="mermaid diagram" descr="C2_W05_D03_ch2_scaling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948" y="1664208"/>
            <a:ext cx="8189798" cy="37683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469128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Raw against standardised, A's nearest neighbour 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5795264"/>
            <a:ext cx="11130991" cy="404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Airbnb's first search network stalled until its features were standardised.</a:t>
            </a:r>
          </a:p>
        </p:txBody>
      </p:sp>
      <p:sp>
        <p:nvSpPr>
          <p:cNvPr id="9" name="Oval 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1" name="Oval 10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models care, and which shrug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cut-first table if the room runs late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20508"/>
                <a:gridCol w="2388562"/>
                <a:gridCol w="1973631"/>
                <a:gridCol w="404828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 family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Logistic, linear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standardise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weight per column; the penalty reads scale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Nearest neighbours, clustering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standardise, decisive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distance adds raw gaps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Tree, forest, boosting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 or an ordinal code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 need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thresholds ignore units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match the encoder to the column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column types, fifteen seconds each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958677"/>
                <a:gridCol w="717231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40 values, logistic model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one-hot (b) code 1 to 40 (c) drop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education, ordered levels,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an ordinal code (b) a random code (c) text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default, yes, no or unknown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one-hot with unknown kept (b) unknown as no (c) drop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a, a, a, and each one has a flip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flip is what an interviewer asks next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9113"/>
                <a:gridCol w="3092881"/>
                <a:gridCol w="55989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40 values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tree model, or rare cities grouped into "other"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education, ordered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ordinal code for a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logistic model, which wants one-hot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default with unknown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 unknown as a category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business confirms unknown is noise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Answers from the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Known that morning?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Leakage and the prediction-time question · also searched as: data leakage in machine learning, target leakage, train test contamination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Known that morning?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Settled scores 12 of 12: what on the nudge morning?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members; the rule says bought if settled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84019"/>
                <a:gridCol w="564697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Right, of 12, on the training table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if settlement_status is settled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if orders_90d &gt;= 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 nobody buys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nudge morning the settlement rule scores (a) 12 (b) 10 (c) 6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c, 6 of 12, the score of predicting nobody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 payment from the coming 90 days exists that morning</a:t>
            </a:r>
          </a:p>
        </p:txBody>
      </p:sp>
      <p:pic>
        <p:nvPicPr>
          <p:cNvPr id="6" name="mermaid diagram" descr="C2_W05_D03_ch3_rule_coun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888" y="1682496"/>
            <a:ext cx="908191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perfect rule collapses when it meets the morning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member's timeline: green known, red written 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nudge morning is the prediction moment</a:t>
            </a:r>
          </a:p>
        </p:txBody>
      </p:sp>
      <p:pic>
        <p:nvPicPr>
          <p:cNvPr id="6" name="mermaid diagram" descr="C2_W05_D03_ch3_member_timelin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21232"/>
            <a:ext cx="11130991" cy="3886095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4390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One invented member's timeline with settlement in red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prediction-time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Asked of every column, with the system that writes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56816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"On the morning the model is used, do we know this value for this customer?"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257048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57048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prediction-time question, asked of every column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184144"/>
          <a:ext cx="11130990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03498"/>
                <a:gridCol w="562749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Two more routes for the future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fix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encoder or scaler fitted on all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fit inside the pipeline, on training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from after the moment inside training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by the moment; Friday does it by time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explorable: slide the prediction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Open demos/C2_W05_D03_leakage_timeline_explorer_STUDENT.html</a:t>
            </a:r>
          </a:p>
        </p:txBody>
      </p:sp>
      <p:sp>
        <p:nvSpPr>
          <p:cNvPr id="6" name="Rectangle 5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1</a:t>
            </a:r>
          </a:p>
        </p:txBody>
      </p:sp>
      <p:sp>
        <p:nvSpPr>
          <p:cNvPr id="8" name="Oval 7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Start after delivery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payment flag is green and the score reads 30 of 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2</a:t>
            </a:r>
          </a:p>
        </p:txBody>
      </p:sp>
      <p:sp>
        <p:nvSpPr>
          <p:cNvPr id="13" name="Oval 12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Drag to the nudge morning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flag turns red, drops out, and the score falls.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3</a:t>
            </a:r>
          </a:p>
        </p:txBody>
      </p:sp>
      <p:sp>
        <p:nvSpPr>
          <p:cNvPr id="18" name="Oval 17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Add a green feature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feature known that morning earns its place with a reason.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26" name="Oval 2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28" name="Oval 27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30" name="Oval 29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32" name="Oval 31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34" name="Oval 33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36" name="Oval 35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leakage, each with its flip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"Too good" starts the question; it is never the verdict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675954"/>
                <a:gridCol w="545503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 a column written after the prediction moment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never, whatever it scores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Suspect a jump from one new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known, legitimate new source explains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strong column known in time stays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strength alone is no evidence of a 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honest score, which is lower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 ship a model that cannot run that morning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406196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Kaggle, 2011: the winners rebuilt the test answers from a public crawl and scored AUC 0.981.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Interrogating every column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Keep, drop or fix?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column audit · also searched as: feature audit, leakage checklist, point-in-time correct features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Keep, drop or fix?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asks of every column, written on 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reviewer argues with a line, never with a feeling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34456"/>
                <a:gridCol w="529653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system writes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owner knows when it changes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When, in days from the prediction moment?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negative means known in time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Is it overwritten later?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then read it as it stood that morning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its business reason?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reason, no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drop, or fix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of nine candidate columns are dropped?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candidates for Kalpa's nudge model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85772"/>
                <a:gridCol w="2099861"/>
                <a:gridCol w="29453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 by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days_since_last_order, orders_90d, avg_basket_rs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last 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member_id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signup form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at signup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app_visits_7d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 events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last 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loyalty_tier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 service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nightly, overwritten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coupon_redeemed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checkout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 days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settlement_status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payments feed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12 days after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480161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1 (b) 3 (c) 5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three dropped and one 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written after the nudge, one with no reason</a:t>
            </a:r>
          </a:p>
        </p:txBody>
      </p:sp>
      <p:pic>
        <p:nvPicPr>
          <p:cNvPr id="6" name="mermaid diagram" descr="C2_W05_D03_ch4_audit_timelin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0255" y="1682496"/>
            <a:ext cx="8131183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Nine candidate columns on the timeline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as-of trap: the purchase wrote today's 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warehouse keeps only the latest value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348249"/>
                <a:gridCol w="2145356"/>
                <a:gridCol w="47229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Bought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Tier today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Tier on the nudge morning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M07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leak or clean, six candidates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Kalpa's nudge, predicted on the nudge morning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7930961"/>
                <a:gridCol w="228563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Candidate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Your 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refund_requested in the 90 days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in the 30 days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delivery_rating of the order placed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 at signup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 tier read from today's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 visits in the 7 days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leak 1, 3, 5; clean 2, 4,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leak is written after the morning, or read from a table that was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93021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reason, in one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after the outcome window opens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exists only once an order was placed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today's value was overwritten after the purchase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2, 4, 6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before the nudge morning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the importance chart can't tell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it rank or cause?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Feature importance and its limits · also searched as: feature importance, permutation importance, correlation is not causation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it rank or cause?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With searches shuffled, how many of 12 stay right?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Visits and searches correlate at 0.94 in this table</a:t>
            </a:r>
          </a:p>
        </p:txBody>
      </p:sp>
      <p:pic>
        <p:nvPicPr>
          <p:cNvPr id="6" name="mermaid diagram" descr="395f4626cda422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7" y="1956816"/>
            <a:ext cx="106299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370332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about 11 (b) about 7 (c) 0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7; the twins together cost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twin alone costs little, because the other carries the signal</a:t>
            </a:r>
          </a:p>
        </p:txBody>
      </p:sp>
      <p:pic>
        <p:nvPicPr>
          <p:cNvPr id="6" name="mermaid diagram" descr="C2_W05_D03_ch5_twin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82496"/>
            <a:ext cx="11130991" cy="4171461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89053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Answers lost when each twin is shuffled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top bar is a reliance, never a lever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Searches are a symptom of intent</a:t>
            </a:r>
          </a:p>
        </p:txBody>
      </p:sp>
      <p:pic>
        <p:nvPicPr>
          <p:cNvPr id="6" name="mermaid diagram" descr="27d89eff646653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2497" y="1956816"/>
            <a:ext cx="7886700" cy="2771775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importance, each with its flip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Run the audit before the chart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20504"/>
                <a:gridCol w="571048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Importance ranks reliance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was changed in a fair 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Shuffle close partners as a group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has no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importance on validation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 on training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Audit before the chart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a leak tops every chart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junior's join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Why did it jump?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1 applies: Feature engineering from the customer table: ratios, recency, counts, cohort age, basket signals · Encoding categoricals; scaling numerics; which models care · notebook case01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Why did it jump?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will the economy and the call log add to 0.76?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Validation AUC of the customer table: 0.761, measured Monday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4933707"/>
                <a:gridCol w="528288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Economy adds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Call log adds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0.14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0.14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AUC 0.761, 0.795, then 0.932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Accuracy moves one point: 0.897 to 0.907</a:t>
            </a:r>
          </a:p>
        </p:txBody>
      </p:sp>
      <p:pic>
        <p:nvPicPr>
          <p:cNvPr id="6" name="mermaid diagram" descr="C2_W05_D03_case1_auc_accurac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5882" y="1682496"/>
            <a:ext cx="937993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Validation AUC jumps while accuracy barely moves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Read the jump in recall and rupees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40 a call, Rs 1,200 a missed buyer, threshold 0.032</a:t>
            </a:r>
          </a:p>
        </p:txBody>
      </p:sp>
      <p:pic>
        <p:nvPicPr>
          <p:cNvPr id="6" name="mermaid diagram" descr="C2_W05_D03_case1_recall_bill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7196" y="1682496"/>
            <a:ext cx="9697302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Recall at 0.5 and the bill on 8,238 calls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scaler saw 24,712 rows and nothing else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Encoders and scalers live inside the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scaler.n_samples_seen_          # 24712, the training rows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len(encoder.categories_[0])     # 12 job levels, unknown included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StandardScaler().fit(bank[num]) # the trap: all 41,188 rows, test included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33603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Uber's Michelangelo applies the same feature expressions at training and at prediction time.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4" name="Oval 1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8" name="Oval 17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20" name="Oval 19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2" name="Oval 21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4" name="Oval 23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6" name="Oval 25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two features and three columns,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guided: three TODO cells, reasons said aloud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room decides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line that turns pdays = 999 into a never-contacted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line that flags a previous success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known or not known that morning: duration, euribor3m, poutcome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Every column on the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Known before the call?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2 applies: Leakage and the prediction-time question · The column audit · Feature engineering from the customer table (the 999 sentinel) · notebook case02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Known before the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often does the shortest fifth of calls say yes?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Calls split into five equal groups by length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Yes-rate of the shortest fifth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11 percent, like everyone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0.5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33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0.5 percent; the longest fifth,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dataset's own note: the length is unknown before the call</a:t>
            </a:r>
          </a:p>
        </p:txBody>
      </p:sp>
      <p:pic>
        <p:nvPicPr>
          <p:cNvPr id="6" name="mermaid diagram" descr="C2_W05_D03_case2_duration_fifth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838" y="1682496"/>
            <a:ext cx="918201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call length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Twenty columns audited: one drop, three flags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case02, the audit table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09359"/>
                <a:gridCol w="4283488"/>
                <a:gridCol w="163814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profile, credit products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campaign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contact, campaign, previous, poutcome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month, day_of_week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day of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the last campaign closed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engineer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economy, five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published by the research desk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year and month alone score?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 client information at all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AUC from year and month alone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0.50, a coin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0.65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0.79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c, 0.79: the yes-rate moves with the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From 5 percent of calls in 2008 to 52 percent in 2010</a:t>
            </a:r>
          </a:p>
        </p:txBody>
      </p:sp>
      <p:pic>
        <p:nvPicPr>
          <p:cNvPr id="6" name="mermaid diagram" descr="C2_W05_D03_case2_calendar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612" y="1682496"/>
            <a:ext cx="1012247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month with euribor3m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Inside one month the honest model ranks at 0.57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calendar is a second leak that looks legal</a:t>
            </a:r>
          </a:p>
        </p:txBody>
      </p:sp>
      <p:pic>
        <p:nvPicPr>
          <p:cNvPr id="6" name="mermaid diagram" descr="C2_W05_D03_case2_within_month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9401" y="1664208"/>
            <a:ext cx="7952893" cy="37683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469128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AUC from the calendar, the honest model, and inside one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5795264"/>
            <a:ext cx="11130991" cy="404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A pneumonia model learned the hospital the same way: AUC 0.931 at home, 0.815 at a new site.</a:t>
            </a:r>
          </a:p>
        </p:txBody>
      </p:sp>
      <p:sp>
        <p:nvSpPr>
          <p:cNvPr id="9" name="Oval 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1" name="Oval 10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poutcome = success stays; pdays splits in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"Too good" starts the question and never ends it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41345"/>
                <a:gridCol w="4745101"/>
                <a:gridCol w="43445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poutcome = success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65 percent yes, closed months before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999 in 96.3 percent of rows, a sentinel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never_contacted flag + days_since_contact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leak promised Rs 1.19 lakh; honest is Rs 2.82 lakh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AUC 0.932 against 0.796 on the same 8,238 calls</a:t>
            </a:r>
          </a:p>
        </p:txBody>
      </p:sp>
      <p:pic>
        <p:nvPicPr>
          <p:cNvPr id="6" name="mermaid diagram" descr="C2_W05_D03_case2_bill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90320"/>
            <a:ext cx="11130991" cy="3747920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6748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bill promised, delivered, and calling everyone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Kalpa's settlement_status is the same leak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Written by the payments feed, after delivery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07795"/>
                <a:gridCol w="2394204"/>
                <a:gridCol w="4214591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Written by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orders_90d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nightly, before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days_since_last_order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nightly,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settlement_status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payments feed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when the payment clears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Wednesday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duration sits right of the prediction moment, in red</a:t>
            </a:r>
          </a:p>
        </p:txBody>
      </p:sp>
      <p:pic>
        <p:nvPicPr>
          <p:cNvPr id="6" name="mermaid diagram" descr="C2_W05_D03_week_timeline_wednesda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82496"/>
            <a:ext cx="11130991" cy="4052229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7130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duration in red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sign that flipped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it prove?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3 applies: Feature importance and its limits · Encoding categoricals; scaling numerics; which models care · notebook case03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it prove?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Alone, euribor3m is negative; with its partners?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three rate columns correlate above 0.9 on training rows</a:t>
            </a:r>
          </a:p>
        </p:txBody>
      </p:sp>
      <p:pic>
        <p:nvPicPr>
          <p:cNvPr id="6" name="mermaid diagram" descr="C2_W05_D03_case3_corr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256" y="1682496"/>
            <a:ext cx="445651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4786326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Correlation of the three rate columns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1917" y="1956816"/>
            <a:ext cx="5899425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stays negative and shrinks (b) turns positive (c) goes to exactly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0" name="Oval 9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2" name="Oval 11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Oval 13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6" name="Oval 15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8" name="Oval 17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0" name="Oval 19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from -0.92 to +0.77 beside both partners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Nothing about interest rates changed between the fits</a:t>
            </a:r>
          </a:p>
        </p:txBody>
      </p:sp>
      <p:pic>
        <p:nvPicPr>
          <p:cNvPr id="6" name="mermaid diagram" descr="C2_W05_D03_case3_fli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757" y="1682496"/>
            <a:ext cx="878818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euribor3m's coefficient in four neighbourhoods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emp.var.rate tops the importance chart at 0.34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 a column on validation rows; measure the AUC lost</a:t>
            </a:r>
          </a:p>
        </p:txBody>
      </p:sp>
      <p:pic>
        <p:nvPicPr>
          <p:cNvPr id="6" name="mermaid diagram" descr="C2_W05_D03_case3_permutation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0098" y="1682496"/>
            <a:ext cx="869149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Permutation importance of the honest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twin shuffled costs more than the model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Shuffled alone, it builds clients who never existed</a:t>
            </a:r>
          </a:p>
        </p:txBody>
      </p:sp>
      <p:pic>
        <p:nvPicPr>
          <p:cNvPr id="6" name="mermaid diagram" descr="C2_W05_D03_case3_grou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200" y="1682496"/>
            <a:ext cx="917929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Single shuffle against group shuffle against the model's lift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3" name="Oval 12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Oval 14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7" name="Oval 16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9" name="Oval 18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nr.employed ranks high and only stamps the 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chart ranks reliance and never proves cause</a:t>
            </a:r>
          </a:p>
        </p:txBody>
      </p:sp>
      <p:pic>
        <p:nvPicPr>
          <p:cNvPr id="6" name="mermaid diagram" descr="f0c4de102183f7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366" y="1956816"/>
            <a:ext cx="9986962" cy="1585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2" name="Oval 11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4" name="Oval 13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Oval 15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8" name="Oval 17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audited feature set goes to Thursday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20 columns, validation AUC 0.796, about 0.57 inside one month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34046"/>
                <a:gridCol w="1983847"/>
                <a:gridCol w="511309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profile, history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known before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never_contacted, days_since_contact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engineered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999 is a sentinel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economy, five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calendar on a random split; read as a group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2" name="Oval 11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4" name="Oval 13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Oval 15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8" name="Oval 17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interview anchors, and the shape of a good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Answers as reasoning, never as paragraphs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287581"/>
                <a:gridCol w="492900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shape of a good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data leakage, and how do you catch it before it ships?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definition by time; the question; the owner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encoder for a forty-value categorical, and why?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ask the model family; one-hot; the flip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an importance chart prove, and what not?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reliance; twins; a fair test for cause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colleague's feature lifts the score to 0.99 tonight; what do you say?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ask when it is written; retrain; both scores in rupees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2" name="Oval 11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4" name="Oval 13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Oval 15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8" name="Oval 17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Tuesday's return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ungraded, keys in the trainer guide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prediction-time question, completed from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 hit 0.99 after one new column; your first suspicion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encoder for a forty-value categorical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model family shrugs at unscaled features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coefficient's sign flipped when a feature was added; the likeliest cause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model in retail and lending: why the thresholds sit at opposite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2" name="Oval 11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4" name="Oval 13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Oval 15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8" name="Oval 17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now do, and what tonight 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Practice set two to three hours; lab with the TAs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69863"/>
                <a:gridCol w="586112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Now you can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Tonight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engineer five kinds of feature, each with a reason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set: ten problems, eighteen self-check questions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encode and scale for the model family in 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lab: Rohan's lending file, the same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audit every column with the prediction-time question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redraw the week's picture from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say what an importance chart proves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Thursday's pre-read: overfitting, bias, variance, cross-validation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2" name="Oval 11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4" name="Oval 13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Oval 15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18" name="Oval 17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S56  ·  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