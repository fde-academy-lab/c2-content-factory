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same as all week: the idea on numbers small enough to check by hand,</a:t>
            </a:r>
          </a:p>
          <a:p>
            <a:r>
              <a:t>the same idea on the bank's real file, and the decision Kalpa has to make with it. Ask: who</a:t>
            </a:r>
          </a:p>
          <a:p>
            <a:r>
              <a:t>remembers the do-nothing score from Monday? (88.7 percent.) Keep that number in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Point at Week 5. Every later week that trains a model, from deep learning to the</a:t>
            </a:r>
          </a:p>
          <a:p>
            <a:r>
              <a:t>capstone, meets today's question: does it work on rows it never saw? Build 2 next week reuses this</a:t>
            </a:r>
          </a:p>
          <a:p>
            <a:r>
              <a:t>exact pipeline on Kalpa Financial's lending book. Transition: the week's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same timeline every morning. Left: past rows we train and validate on, the</a:t>
            </a:r>
          </a:p>
          <a:p>
            <a:r>
              <a:t>prediction moment, the outcome window where duration lived. The right panel is empty on purpose:</a:t>
            </a:r>
          </a:p>
          <a:p>
            <a:r>
              <a:t>case 1 draws validation error against tree depth on the bank's file. Ask the room to sketch the</a:t>
            </a:r>
          </a:p>
          <a:p>
            <a:r>
              <a:t>shape they expect, with the dashed call-nobody line, and keep the sketches for case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destination; the topics come first. A teammate grew a decision tree</a:t>
            </a:r>
          </a:p>
          <a:p>
            <a:r>
              <a:t>with no depth limit on Wednesday's honest feature set and posted 99.6 percent. Ask: would you book</a:t>
            </a:r>
          </a:p>
          <a:p>
            <a:r>
              <a:t>Anand's one campaign on it? Take two answers, park them. Case 1 reveals the validation number (84.1,</a:t>
            </a:r>
          </a:p>
          <a:p>
            <a:r>
              <a:t>below the 88.7 baseline); do not say it now. The row's story said 100 and 61; our run on public data</a:t>
            </a:r>
          </a:p>
          <a:p>
            <a:r>
              <a:t>says 99.6 and 84.1, and we quote our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topics down the second column once; these are the words to search</a:t>
            </a:r>
          </a:p>
          <a:p>
            <a:r>
              <a:t>by. Each chapter has one short notebook with the same name. The explorable (depth and brake sliders)</a:t>
            </a:r>
          </a:p>
          <a:p>
            <a:r>
              <a:t>opens in chapters 1 to 3. Transition: how the five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1 gives the diagnosis. Chapters 2 and 3 are the two tools: a brake for the</a:t>
            </a:r>
          </a:p>
          <a:p>
            <a:r>
              <a:t>model, an honest average for the score. Chapter 4 brings the candidates; chapter 5 decides between</a:t>
            </a:r>
          </a:p>
          <a:p>
            <a:r>
              <a:t>them. Friday turns the decision into the committee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chapter. Notebook ch01. The misconception to stage: a perfect training</a:t>
            </a:r>
          </a:p>
          <a:p>
            <a:r>
              <a:t>score means a ready model. The prediction to ask for: who tops the new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a prediction in the chat or by raised fingers: 1, 2 or 3.</a:t>
            </a:r>
          </a:p>
          <a:p>
            <a:r>
              <a:t>Count them aloud. Most rooms vote for the memoriser, who topped practice. Do not reveal;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memoriser: 100 on practice, 61 on the exam. The learner: 84 and 81. The skimmer: 58 and 56. Land</a:t>
            </a:r>
          </a:p>
          <a:p>
            <a:r>
              <a:t>the line: practice scores reward memory; only the exam measures learning. These are the row's own</a:t>
            </a:r>
          </a:p>
          <a:p>
            <a:r>
              <a:t>100 and 61, kept as an invented story. Ask: which student is a tree with no depth limit? (The memoriser.)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Variance: the model changes a lot when the data changes, so new data surprises it.</a:t>
            </a:r>
          </a:p>
          <a:p>
            <a:r>
              <a:t>Bias: the model is too simple to be right anywhere. Say the order out loud: gap first, level second.</a:t>
            </a:r>
          </a:p>
          <a:p>
            <a:r>
              <a:t>Interview line: overfitting is a gap you can measure,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ch01, the tree cell. The pattern: opened three or more nudges, then</a:t>
            </a:r>
          </a:p>
          <a:p>
            <a:r>
              <a:t>bought. Three customers break it. The unlimited tree writes a private rule for each awkward one: 10</a:t>
            </a:r>
          </a:p>
          <a:p>
            <a:r>
              <a:t>of 10 on practice, 3 of 4 on new customers. One question: 8 of 10 on practice, 4 of 4 on new. Ask:</a:t>
            </a:r>
          </a:p>
          <a:p>
            <a:r>
              <a:t>which tree learned Kalpa's customers, and which learned these ten people?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learning curve is two lines against the amount of training. The memoriser's practice</a:t>
            </a:r>
          </a:p>
          <a:p>
            <a:r>
              <a:t>line stays at 100 while the exam line crawls: a gap that more papers barely close. The skimmer's two lines</a:t>
            </a:r>
          </a:p>
          <a:p>
            <a:r>
              <a:t>meet low; the learner's meet high. Explorable click: open the depth and brake explorer, default degree 12,</a:t>
            </a:r>
          </a:p>
          <a:p>
            <a:r>
              <a:t>read the two errors, and let the room name it: memorising.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flip column is the interview differentiator. More rows is the textbook cure for</a:t>
            </a:r>
          </a:p>
          <a:p>
            <a:r>
              <a:t>variance; case 1 shows it failing on the bank's file, where the brake works. Mid-session drill 1</a:t>
            </a:r>
          </a:p>
          <a:p>
            <a:r>
              <a:t>(15 minutes) runs after chapter 3 with four curve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Misconception to stage: regularisation improves</a:t>
            </a:r>
          </a:p>
          <a:p>
            <a:r>
              <a:t>accuracy. It trades fit on the teaching rows for stability on new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for a prediction: will the held-out error be smaller or larger than the</a:t>
            </a:r>
          </a:p>
          <a:p>
            <a:r>
              <a:t>teaching error, and by how much? Write two guesses on the board.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red curve passes near every black dot and swings past the hollow ones. The</a:t>
            </a:r>
          </a:p>
          <a:p>
            <a:r>
              <a:t>green curve has the same seven bends with a brake: teaching error 5.74, held-out 2.90. Land it: the</a:t>
            </a:r>
          </a:p>
          <a:p>
            <a:r>
              <a:t>brake made the fit worse where we can see and better where we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ch02, the sweep cell. Teaching error only rises as alpha grows; held-out</a:t>
            </a:r>
          </a:p>
          <a:p>
            <a:r>
              <a:t>error falls to 2.90 at alpha 10 and climbs to 5.70 at 100. Explorable click: back at degree 12, drag</a:t>
            </a:r>
          </a:p>
          <a:p>
            <a:r>
              <a:t>the brake up and watch validation settle near the degree-3 value. Choose alpha on held-out rows,</a:t>
            </a:r>
          </a:p>
          <a:p>
            <a:r>
              <a:t>never on the teaching rows, because the teaching error always votes for no brake.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the formula only now, as the shorthand for what the picture showed. Stage the</a:t>
            </a:r>
          </a:p>
          <a:p>
            <a:r>
              <a:t>trap: C looks like a strength and behaves like its opposite; a learner who sets C = 100 to brake</a:t>
            </a:r>
          </a:p>
          <a:p>
            <a:r>
              <a:t>harder has switched the brake off.</a:t>
            </a:r>
          </a:p>
          <a:p>
            <a:r>
              <a:t>The geometry of why L1 lands on zero belongs to the tentative IITGN faculty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 the footfall curve L1 kept 1 to 3 of the 7 bends. A tree has no coefficients,</a:t>
            </a:r>
          </a:p>
          <a:p>
            <a:r>
              <a:t>so its brakes have other names; case 1 turns max_depth on the bank's file. Interview line:</a:t>
            </a:r>
          </a:p>
          <a:p>
            <a:r>
              <a:t>regularisation trades a little bias for a lot less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ch03. Misconception to stage: one validation score is the</a:t>
            </a:r>
          </a:p>
          <a:p>
            <a:r>
              <a:t>model's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how far apart will five exam scores land? Ask for a number between 0</a:t>
            </a:r>
          </a:p>
          <a:p>
            <a:r>
              <a:t>and 100 points.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model, same customers, a 40-point swing. A five-customer exam is mostly luck.</a:t>
            </a:r>
          </a:p>
          <a:p>
            <a:r>
              <a:t>Ask: which of these would you have put on a slide? Whichever you picked, you picked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ch03, the fold grid. Each row is one turn; pink cells sit the exam. Every</a:t>
            </a:r>
          </a:p>
          <a:p>
            <a:r>
              <a:t>customer is examined exactly once and teaches four times. The mean is the score; the spread is the</a:t>
            </a:r>
          </a:p>
          <a:p>
            <a:r>
              <a:t>size of the luck. Explorable click: press reshuffle five times and watch the validation number jump</a:t>
            </a:r>
          </a:p>
          <a:p>
            <a:r>
              <a:t>while the mean of five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the notebook the mean visits of all 20 shoppers is 4.10; of the 16 teaching</a:t>
            </a:r>
          </a:p>
          <a:p>
            <a:r>
              <a:t>shoppers, 3.81. The first number has seen the exam. A scikit-learn Pipeline keeps the second, which</a:t>
            </a:r>
          </a:p>
          <a:p>
            <a:r>
              <a:t>is why every case notebook wraps the scaler and the encoder in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bank's file is sorted from May 2008 to November 2010. Today's folds shuffle, so</a:t>
            </a:r>
          </a:p>
          <a:p>
            <a:r>
              <a:t>every number carries the caveat "random folds, mixed periods". Search term for later: time series</a:t>
            </a:r>
          </a:p>
          <a:p>
            <a:r>
              <a:t>split. Do not run the time split today; Friday owns it. Then mid-session drill 1, 15 minutes: four</a:t>
            </a:r>
          </a:p>
          <a:p>
            <a:r>
              <a:t>curve pairs on the explorable's strip, the room names each in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ch04. Recognition depth only: what each does to a tree's</a:t>
            </a:r>
          </a:p>
          <a:p>
            <a:r>
              <a:t>weakness and what it costs to explain. Internals and boosting mathematics are out of scope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the first question before showing it. Anyone can read this</a:t>
            </a:r>
          </a:p>
          <a:p>
            <a:r>
              <a:t>tree aloud to Marketing, which is its strength. Its weakness is chapter 1: let it grow and it</a:t>
            </a:r>
          </a:p>
          <a:p>
            <a:r>
              <a:t>memorises.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Notebook ch04: five forest trees vote on a newcomer with 7 visits and a Rs 1,000</a:t>
            </a:r>
          </a:p>
          <a:p>
            <a:r>
              <a:t>basket; four say joins. Each tree saw a different resample of the twelve shoppers, so their wobbles</a:t>
            </a:r>
          </a:p>
          <a:p>
            <a:r>
              <a:t>differ and the vote averages them away: a forest lowers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booster's mistakes on the twelve shoppers fall from 1 to 0 after round two. It</a:t>
            </a:r>
          </a:p>
          <a:p>
            <a:r>
              <a:t>chips away at what is still wrong (bias). Neither ensemble is free to explain: 100 small trees mean</a:t>
            </a:r>
          </a:p>
          <a:p>
            <a:r>
              <a:t>200 to 280 leaves to read. Internals and boosting mathematics are for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CUT FIRST if late: this slide and its one notebook cell. Clustering needs no</a:t>
            </a:r>
          </a:p>
          <a:p>
            <a:r>
              <a:t>answer column; Marketing uses it to name segments. It never tells you who will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one row per tool. Interview line: a forest lowers a tree's variance by</a:t>
            </a:r>
          </a:p>
          <a:p>
            <a:r>
              <a:t>averaging, and it still has to beat the baseline and the simpler model on the same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ch05. Misconception to stage: the highest score ships.</a:t>
            </a:r>
          </a:p>
          <a:p>
            <a:r>
              <a:t>This is the recommendation the room resists and the interviewer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different questions. A lead can be real and still not worth having. Write both</a:t>
            </a:r>
          </a:p>
          <a:p>
            <a:r>
              <a:t>tests on the board; they stay up through case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Means 0.794 and 0.802. Comparing the two means alone hides how hard each fold was;</a:t>
            </a:r>
          </a:p>
          <a:p>
            <a:r>
              <a:t>joining each fold's two scores shows the complex model ahead on four folds, level on one. So test 1</a:t>
            </a:r>
          </a:p>
          <a:p>
            <a:r>
              <a:t>passes. Now ask: so it ships?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low end, never the best case, so a wide range cannot sneak a model</a:t>
            </a:r>
          </a:p>
          <a:p>
            <a:r>
              <a:t>through. The extra cost is what the complex model adds: a second pipeline to run and monitor,</a:t>
            </a:r>
          </a:p>
          <a:p>
            <a:r>
              <a:t>explanations a committee can check, a longer review when it drifts. Ask: who in Kalpa owns that</a:t>
            </a:r>
          </a:p>
          <a:p>
            <a:r>
              <a:t>number? (The platform team, with Anand.) If it fell to Rs 30,000, the complex model would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Caruana and others, KDD 2015, verified 28 October 2026. In the 1990s a neural net</a:t>
            </a:r>
          </a:p>
          <a:p>
            <a:r>
              <a:t>scored 0.86 against logistic regression's 0.77, and a rule learner on the same data found "asthma</a:t>
            </a:r>
          </a:p>
          <a:p>
            <a:r>
              <a:t>lowers risk", because asthmatics were sent straight to intensive care. The team went forward only</a:t>
            </a:r>
          </a:p>
          <a:p>
            <a:r>
              <a:t>with models it could read, even at lower AUC. On the 2015 data the readable GA2M sat within 0.02 of</a:t>
            </a:r>
          </a:p>
          <a:p>
            <a:r>
              <a:t>the black boxes, and the asthma term could be fixed by hand. Ask: what would the neural net have</a:t>
            </a:r>
          </a:p>
          <a:p>
            <a:r>
              <a:t>done to asthmatic patients?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both columns. Interview line: I recommend the simpler model and I name the gap,</a:t>
            </a:r>
          </a:p>
          <a:p>
            <a:r>
              <a:t>in rupees, at which I would switch. Transition: the bank's file, and the tree from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for the case chapter, including the guided read. Notebook case01. Everyone runs it;</a:t>
            </a:r>
          </a:p>
          <a:p>
            <a:r>
              <a:t>one notebook open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the first four cells: 41,188 calls, 11.27 percent said yes, 10 number columns</a:t>
            </a:r>
          </a:p>
          <a:p>
            <a:r>
              <a:t>and 10 category columns. The envelope stays on the wall. Call nobody: right for 7,310 of 8,238</a:t>
            </a:r>
          </a:p>
          <a:p>
            <a:r>
              <a:t>validation customers, 88.7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Everyone writes two numbers before running the cell. Ask three learners to read</a:t>
            </a:r>
          </a:p>
          <a:p>
            <a:r>
              <a:t>theirs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trap, shown exactly: 99.6 percent is the number a teammate posts, and a</a:t>
            </a:r>
          </a:p>
          <a:p>
            <a:r>
              <a:t>Marketing lead who sees it books the campaign. The check that catches it is the validation number</a:t>
            </a:r>
          </a:p>
          <a:p>
            <a:r>
              <a:t>beside the baseline. The fix is the brake. Land the line: this tree is the memoriser.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step 4. A leaf holding one customer is that customer's private rule. It</a:t>
            </a:r>
          </a:p>
          <a:p>
            <a:r>
              <a:t>will fire for next quarter's customer only by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step 5. Training error falls all the way to 0.4 percent. Validation error</a:t>
            </a:r>
          </a:p>
          <a:p>
            <a:r>
              <a:t>falls from 11.3 to about 10.1, stays flat to depth 8, then climbs past the dashed line by depth 15.</a:t>
            </a:r>
          </a:p>
          <a:p>
            <a:r>
              <a:t>The left arm is bias, the right arm is variance, the bottom is the brake setting. This is Thursday's</a:t>
            </a:r>
          </a:p>
          <a:p>
            <a:r>
              <a:t>addition to the week's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Stump: both lines at 11.3, the baseline, close together: bias. No limit: training</a:t>
            </a:r>
          </a:p>
          <a:p>
            <a:r>
              <a:t>near 0, held out near 16.5: a 16-point gap. Depth 6, leaf 50: 9.8 and 10.1, close and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flip of chapter 1's rule, on real data. Twenty times more customers moved the</a:t>
            </a:r>
          </a:p>
          <a:p>
            <a:r>
              <a:t>gap by half a point, because the tree memorises noise and more rows bring more noise. The brake</a:t>
            </a:r>
          </a:p>
          <a:p>
            <a:r>
              <a:t>closed it. Interview line: more data is the cure for variance only when the model is learning</a:t>
            </a:r>
          </a:p>
          <a:p>
            <a:r>
              <a:t>signal it lacked. Airbnb, under two minutes: a learned vector per listing sent training quality toward</a:t>
            </a:r>
          </a:p>
          <a:p>
            <a:r>
              <a:t>perfect while test quality stayed flat, because a listing can be booked at most 365 times a year, so</a:t>
            </a:r>
          </a:p>
          <a:p>
            <a:r>
              <a:t>each vector had a few hundred labels to learn from. Kalpa's twin: a store-ID column for stores with few</a:t>
            </a:r>
          </a:p>
          <a:p>
            <a:r>
              <a:t>rows. Source: Haldar and others, arXiv 1810.09591, verified 28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Guided notebook. YOUR TURN 1: each learner writes bias, variance or about right</a:t>
            </a:r>
          </a:p>
          <a:p>
            <a:r>
              <a:t>for A, B, C, plus one fix. YOUR TURN 2: run five-fold cross-validation, then k = 3 and k = 10. The</a:t>
            </a:r>
          </a:p>
          <a:p>
            <a:r>
              <a:t>answer cell is last: A variance whose gap is still closing (a tree capped at depth 12, so more rows</a:t>
            </a:r>
          </a:p>
          <a:p>
            <a:r>
              <a:t>help it, unlike the unlimited tree), B bias from a brake set far too hard (logistic at C = 0.0001), C</a:t>
            </a:r>
          </a:p>
          <a:p>
            <a:r>
              <a:t>about right (logistic at C = 0.1). End of block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case chapter. Notebook case02, building on case 1's honest set, now in the</a:t>
            </a:r>
          </a:p>
          <a:p>
            <a:r>
              <a:t>logistic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steps 1 and 2. Five re-deals of 8,238 validation customers move AUC</a:t>
            </a:r>
          </a:p>
          <a:p>
            <a:r>
              <a:t>between 0.786 and 0.790. Five folds of about 4,942 customers each run from 0.769 to 0.798: mean</a:t>
            </a:r>
          </a:p>
          <a:p>
            <a:r>
              <a:t>0.786, spread 0.014. The smaller the exam, the bigger the luck, which is why a score is quoted with</a:t>
            </a:r>
          </a:p>
          <a:p>
            <a:r>
              <a:t>its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lines. prep() holds the scaler and the one-hot encoder, so</a:t>
            </a:r>
          </a:p>
          <a:p>
            <a:r>
              <a:t>cross_val_score refits them inside every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bigger, smaller, or the same? By how much? Most rooms expect a visible</a:t>
            </a:r>
          </a:p>
          <a:p>
            <a:r>
              <a:t>jump.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Honest number: on this file, with 24,712 rows, the scaler leak is invisible. Say</a:t>
            </a:r>
          </a:p>
          <a:p>
            <a:r>
              <a:t>why the habit stays: the next step someone adds before the split may learn from the answers. Rule:</a:t>
            </a:r>
          </a:p>
          <a:p>
            <a:r>
              <a:t>everything that learns goes inside the Pipeline. Google Flu Trends, under two minutes: 50 million</a:t>
            </a:r>
          </a:p>
          <a:p>
            <a:r>
              <a:t>candidate terms ranked against 1,152 weekly flu counts let high school basketball terms in, because</a:t>
            </a:r>
          </a:p>
          <a:p>
            <a:r>
              <a:t>basketball season is flu season; a selection run inside folds cut by season would have caught it.</a:t>
            </a:r>
          </a:p>
          <a:p>
            <a:r>
              <a:t>Source: Lazer and others, Science 2014, Harvard open-access copy, verified 28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 = 0.0001: AUC 0.762, bias. From C = 0.01: about 0.786 cross-validated and 0.79</a:t>
            </a:r>
          </a:p>
          <a:p>
            <a:r>
              <a:t>on training, flat and close. With 24,712 rows and 63 columns the logistic model has little room to</a:t>
            </a:r>
          </a:p>
          <a:p>
            <a:r>
              <a:t>memorise, so little variance to brake. The tree had room for 3,662 leaves. The flip: the practice</a:t>
            </a:r>
          </a:p>
          <a:p>
            <a:r>
              <a:t>lab's 1,000 lending rows, where the brake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At C = 0.03, 20 columns survive with validation AUC 0.794, against 0.795 with 45</a:t>
            </a:r>
          </a:p>
          <a:p>
            <a:r>
              <a:t>columns at C = 1. A shorter model is cheaper to explain and to monitor, which is chapter 5's argument</a:t>
            </a:r>
          </a:p>
          <a:p>
            <a:r>
              <a:t>arriving early. Caveat: when columns move together, L1 keeps one of them almost by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case chapter, with mid-session drill 2 inside it. Notebook case03. This is</a:t>
            </a:r>
          </a:p>
          <a:p>
            <a:r>
              <a:t>also the row's unguided exercise: the room runs it and writes the provisional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tree was tuned with a plain loop over depth and leaf size on the same folds:</a:t>
            </a:r>
          </a:p>
          <a:p>
            <a:r>
              <a:t>depth 6, leaf 50. Ask the room to predict the order before showing. Every model's five dots</a:t>
            </a:r>
          </a:p>
          <a:p>
            <a:r>
              <a:t>overlap the others'. Validation AUC: logistic 0.796, tree 0.790, forest 0.803, boosting 0.804.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Test 1 passes: the lead is real, about 0.007 AUC. Now test 2, in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Tuesday's threshold: act when P(buy) beats 0.032. Logistic Rs 2.79 lakh, boosting</a:t>
            </a:r>
          </a:p>
          <a:p>
            <a:r>
              <a:t>Rs 2.82 lakh, nudge everyone Rs 2.92 lakh on 8,238 customers. At Rs 40 against Rs 1,200 a model</a:t>
            </a:r>
          </a:p>
          <a:p>
            <a:r>
              <a:t>barely matters; the budget is where ranking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model is four times better than random. Between models: 7 buyers per 1,000</a:t>
            </a:r>
          </a:p>
          <a:p>
            <a:r>
              <a:t>nudges between logistic and boosting on validation. Value = buyers x Rs 1,200 minus 1,000 x Rs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Mean 90 extra buyers, spread 48, low end 42 buyers, Rs 50,939 a campaign. The extra</a:t>
            </a:r>
          </a:p>
          <a:p>
            <a:r>
              <a:t>cost is invented at Rs 75,000 because Kalpa's platform team has not priced it; that is the</a:t>
            </a:r>
          </a:p>
          <a:p>
            <a:r>
              <a:t>clarifying question to ask. Break-even: Rs 75,000 / Rs 1,200 = 62.5, so 63 extra buyers at the low end. Mid-session drill 2 (15</a:t>
            </a:r>
          </a:p>
          <a:p>
            <a:r>
              <a:t>minutes): three score gaps, simpler or complex, defend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learner writes this in their own words in the case notebook's last cell. Say</a:t>
            </a:r>
          </a:p>
          <a:p>
            <a:r>
              <a:t>it to a room that saw 99.6: the 99.6 was the tree memorising last quarter's customers; the 84.1 is</a:t>
            </a:r>
          </a:p>
          <a:p>
            <a:r>
              <a:t>what next quarter would have seen; this model protects Anand's one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tester asks how to break the model, not whether it works. A shuffled-answer run</a:t>
            </a:r>
          </a:p>
          <a:p>
            <a:r>
              <a:t>that stays above 0.5 means something leaks. The time split and the segment table are Friday's</a:t>
            </a:r>
          </a:p>
          <a:p>
            <a:r>
              <a:t>checks; today, name them. The practice lab runs the shuffle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[S] staple asked everywhere, [F] frequent in GCC and product screens, [D] a</a:t>
            </a:r>
          </a:p>
          <a:p>
            <a:r>
              <a:t>differentiator. Pick one learner per question; 30 seconds each. The interview bank carries the model</a:t>
            </a:r>
          </a:p>
          <a:p>
            <a:r>
              <a:t>answers and the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and options are in the trainer guide. Question 4 is the trap: 0.4 points is</a:t>
            </a:r>
          </a:p>
          <a:p>
            <a:r>
              <a:t>inside the fold spread and is worth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Hold the room's sketches from the opening against the real U. Friday adds the last</a:t>
            </a:r>
          </a:p>
          <a:p>
            <a:r>
              <a:t>panel: what happens to the score in the later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on the week's picture: redraw the U from memory tonight.</a:t>
            </a:r>
          </a:p>
          <a:p>
            <a:r>
              <a:t>The tentative IITGN faculty session follows with the bias-variance decomposition and the penalty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0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Generalise or memorise, and the honest tuned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topics on tiny invented examples, then one real file, then one decision.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graduation-cap_be08922649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Three students, ten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papers, a twelve-week footfall curve and twenty shoppers carry the five topics by hand.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andmark_fde6256552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bank's 41,188 calls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UCI Bank Marketing, public data, Wednesday's honest columns.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tore_71a4685294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one-campaign nudge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Anand's budget covers one campaign: which model ships, and what gap would change it.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3" name="Oval 3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7" name="Oval 3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9" name="Oval 3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Thursday in the twenty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machine learning core sits between analyst craft and Kalpa Financial's build.</a:t>
            </a:r>
          </a:p>
        </p:txBody>
      </p:sp>
      <p:pic>
        <p:nvPicPr>
          <p:cNvPr id="9" name="mermaid diagram" descr="1b25bb4dc35900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4444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 split it, Tuesday set the line, Wednesday removed the leak. Today fills the last panel.</a:t>
            </a:r>
          </a:p>
        </p:txBody>
      </p:sp>
      <p:pic>
        <p:nvPicPr>
          <p:cNvPr id="9" name="mermaid diagram" descr="C2_W05_D04_fig_timeline_open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panel still empty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a tree that scored 99.6 on 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teammate's tree, the room's own honest columns, one campaign of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Marketing saw first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8,238 customers the tree never saw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do-nothing baseline from Monday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five chapters, then the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4525"/>
                <a:gridCol w="3159133"/>
                <a:gridCol w="914400"/>
                <a:gridCol w="100853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Overfitting; bias and variance through learning curves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Memorising against learning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Putting brakes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Five exams instead of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Trees, ensembles, clustering: used, compared, not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Trees, forests and groups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simpler model wins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Why the boring model often ships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1 to 3 then run every topic on the bank's file: notebooks case01, case02, case03.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five topics join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ways to be wrong, two tools against them, one decision.</a:t>
            </a:r>
          </a:p>
        </p:txBody>
      </p:sp>
      <p:pic>
        <p:nvPicPr>
          <p:cNvPr id="9" name="mermaid diagram" descr="bc8f391c6931a85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10186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Memorising against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100 percent good?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Overfitting; bias and variance through learning curves · also searched as: overfitting vs underfitting, bias variance tradeoff, learning curves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tops the new exam?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past papers. One student memorises, one learns the method, one skims. Invented.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memoriser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answer by heart. Past papers: perfect.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ightbulb_bd57308be5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learner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Works out each method. Past papers: good.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ye_6af225eae8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skimmer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Reads quickly. Past papers: weak.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3" name="Oval 3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7" name="Oval 3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9" name="Oval 3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student who learned the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memoriser's 39-point drop is the whole lesson.</a:t>
            </a:r>
          </a:p>
        </p:txBody>
      </p:sp>
      <p:pic>
        <p:nvPicPr>
          <p:cNvPr id="9" name="mermaid diagram" descr="C2_W05_D04_fig_studen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Practice against new exam for three invented students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ways to be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gap first, then the level.</a:t>
            </a:r>
          </a:p>
        </p:txBody>
      </p:sp>
      <p:pic>
        <p:nvPicPr>
          <p:cNvPr id="9" name="mermaid diagram" descr="fb5bdbf9b4b84e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462" y="1682496"/>
            <a:ext cx="10390769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that never stops asking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Ten invented customers, three who break the pattern.</a:t>
            </a:r>
          </a:p>
        </p:txBody>
      </p:sp>
      <p:pic>
        <p:nvPicPr>
          <p:cNvPr id="9" name="mermaid diagram" descr="C2_W05_D04_fig_tiny_tre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60" y="1682496"/>
            <a:ext cx="1092037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 unlimited tree against a one-question tree on ten invented customers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Learning curves from tiny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Add one past paper at a time; score practice and a fresh exam.</a:t>
            </a:r>
          </a:p>
        </p:txBody>
      </p:sp>
      <p:pic>
        <p:nvPicPr>
          <p:cNvPr id="9" name="mermaid diagram" descr="C2_W05_D04_fig_student_curv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59616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58955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pairs of learning curves for the invented students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rule, with the condition that flips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picture tells you to do next.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87967"/>
                <a:gridCol w="1532142"/>
                <a:gridCol w="3533110"/>
                <a:gridCol w="397777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You see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Wide 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variance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brake it, or add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new rows carry the same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low, close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more capacity, better columns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columns hold no signal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high, close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right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compare on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split only: check its luck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Putting brakes on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brake buy?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Regularisation · also searched as: L1 L2 regularization, ridge regression, lasso regression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will the seven-bend curve predict well?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weeks of footfall at one Kalpa store. Nine teach, three are held out. Invented.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TEACHING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curve may pass through all of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HELD-OUT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weeks 4, 7 and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BENDS ALLOWED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degree-7 polynomial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it threads the teaching weeks and misses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Error 0.95 on teaching weeks, 5.28 on held-out weeks, in hundreds of visitors.</a:t>
            </a:r>
          </a:p>
        </p:txBody>
      </p:sp>
      <p:pic>
        <p:nvPicPr>
          <p:cNvPr id="9" name="mermaid diagram" descr="C2_W05_D04_fig_brake_curv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2956" y="1682496"/>
            <a:ext cx="954578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seven-bend curve with and without a brake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Turn the brake slowly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Too soft: variance. Too hard: bias. The best brake sits in the middle.</a:t>
            </a:r>
          </a:p>
        </p:txBody>
      </p:sp>
      <p:pic>
        <p:nvPicPr>
          <p:cNvPr id="9" name="mermaid diagram" descr="C2_W05_D04_fig_brake_swee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Teaching and held-out error against brake strength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formula, named 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misfit plus a price on big coefficients.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ridge (L2):  minimise  misfit + alpha * (sum of squared coefficients)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lasso (L1):  minimise  misfit + alpha * (sum of absolute coefficients)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scikit-learn LogisticRegression:  C = 1 / alpha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 C  =  strong brake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8" name="Oval 1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0" name="Oval 1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2" name="Oval 2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4" name="Oval 2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6" name="Oval 2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 switches columns off; trees brake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idea, different knobs.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8432"/>
                <a:gridCol w="2618432"/>
                <a:gridCol w="589412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brake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L2 (ridge)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shrinks every coefficient a little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L1 (lasso)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sets weak coefficients to exactly zero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caps the questions in a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min_samples_leaf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answer must cover enough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instead of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one split enough?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Cross-validation · also searched as: k-fold cross validation, cross validation explained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a different deal change the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shoppers. Five sit the exam, fifteen teach. Re-deal five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SHOPPERS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visits last month, bought in the sale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IN EACH EXAM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dealt at random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same model every 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from 40 to 80 percent, on luck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Scores on five deals: 60, 60, 80, 40, 60.</a:t>
            </a:r>
          </a:p>
        </p:txBody>
      </p:sp>
      <p:pic>
        <p:nvPicPr>
          <p:cNvPr id="9" name="mermaid diagram" descr="d606bf5eff06fa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1569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folds: every customer sits the exam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Average the five scores; quote the spread beside the mean.</a:t>
            </a:r>
          </a:p>
        </p:txBody>
      </p:sp>
      <p:pic>
        <p:nvPicPr>
          <p:cNvPr id="9" name="mermaid diagram" descr="C2_W05_D04_fig_folds_grid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339297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33268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Five folds over twenty invented customers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Everything that learns stays inside the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scaler, the gap-filler, the encoder: fitted on the teaching folds only.</a:t>
            </a:r>
          </a:p>
        </p:txBody>
      </p:sp>
      <p:pic>
        <p:nvPicPr>
          <p:cNvPr id="9" name="mermaid diagram" descr="ecf9b5f263bc9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50436"/>
            <a:ext cx="11130991" cy="418125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Rows in time order: write the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folds mix early and late months. Friday tests what that hides.</a:t>
            </a:r>
          </a:p>
        </p:txBody>
      </p:sp>
      <p:pic>
        <p:nvPicPr>
          <p:cNvPr id="9" name="mermaid diagram" descr="181d1b9c725359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8004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Trees, forests and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tool, and when?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Trees, ensembles, clustering: used, compared, not derived · also searched as: decision tree, random forest, gradient boosting, k-means clustering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is twenty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shoppers; two questions decide who joins the loyalty plan.</a:t>
            </a:r>
          </a:p>
        </p:txBody>
      </p:sp>
      <p:pic>
        <p:nvPicPr>
          <p:cNvPr id="9" name="mermaid diagram" descr="2527b4f526cea0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760" y="1926526"/>
            <a:ext cx="10544175" cy="40290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forest votes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Many trees on resampled rows; the majority answers. Five of them, on a newcomer.</a:t>
            </a:r>
          </a:p>
        </p:txBody>
      </p:sp>
      <p:pic>
        <p:nvPicPr>
          <p:cNvPr id="9" name="mermaid diagram" descr="5260c98b08d60d7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0819" y="1682496"/>
            <a:ext cx="4390055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booster corrects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Small trees in a chain, each aimed at what is still wrong.</a:t>
            </a:r>
          </a:p>
        </p:txBody>
      </p:sp>
      <p:pic>
        <p:nvPicPr>
          <p:cNvPr id="9" name="mermaid diagram" descr="ca3823e29eded7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160020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S24a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Clustering: groups, no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k-means groups shoppers by distance. It predicts nothing.</a:t>
            </a:r>
          </a:p>
        </p:txBody>
      </p:sp>
      <p:pic>
        <p:nvPicPr>
          <p:cNvPr id="9" name="mermaid diagram" descr="C2_W05_D04_fig_kmea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710" y="1682496"/>
            <a:ext cx="800027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k-means with three groups on twelve invented shoppers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tool, and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Reach for the one whose weakness your decision can afford.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0070"/>
                <a:gridCol w="4283175"/>
                <a:gridCol w="43977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Watch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committee must read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deep trees memorise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 wobbles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still must beat the simple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last points of ranking pay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more to monitor and explain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cost rule needs probabilities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misses interactions you do not build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need segments, no answer column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groups, never predicts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the boring model often 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simple win?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When the simpler model wins · also searched as: model selection, Occam's razor machine learning, interpretable vs black box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tests a complex model must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gap real? Is it worth what it costs?</a:t>
            </a:r>
          </a:p>
        </p:txBody>
      </p:sp>
      <p:pic>
        <p:nvPicPr>
          <p:cNvPr id="9" name="mermaid diagram" descr="209ce4b9187e5f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44329"/>
            <a:ext cx="11130991" cy="41934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join each fold's two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the complex model wins four folds and ties one.</a:t>
            </a:r>
          </a:p>
        </p:txBody>
      </p:sp>
      <p:pic>
        <p:nvPicPr>
          <p:cNvPr id="9" name="mermaid diagram" descr="C2_W05_D04_fig_paired_invented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736" y="1682496"/>
            <a:ext cx="650022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scores for an invented simple and complex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gain at the low end against the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30 to 70 extra buyers, Rs 1,200 margin each, Rs 60,000 extra cost.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gain at the low end   = 30 buyers * Rs 1,200 = Rs 36,000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extra cost            = Rs 60,000 a campaign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break-even            = 60,000 / 1,200 = 50 extra buyers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ships?                  36,000 &gt; 60,000  -&gt; 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Pneumonia: the readable model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published models within 0.02 AUC; readability decided.</a:t>
            </a:r>
          </a:p>
        </p:txBody>
      </p:sp>
      <p:pic>
        <p:nvPicPr>
          <p:cNvPr id="9" name="mermaid diagram" descr="C2_W05_D04_fig_caruana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685" y="1682496"/>
            <a:ext cx="945032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Published AUCs of five models on pneumonia data, Caruana and others, KDD 2015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flip, said both 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rule today comes with the fact that reverses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66957"/>
                <a:gridCol w="52640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simpler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complex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its gap to the complex one is not real across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wins fold after fold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complex model's low-end gain is below its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that gain clears the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someone must read and repair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needs an interaction only it captures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tree that aced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it learn?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Overfitting; bias and variance through learning curves · Regularisation · Trees, ensembles, clustering · also searched as: overfitting decision tree, max_depth, learning curve scikit-learn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Wednesday's honest columns, the week's 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 table, economy, the never-contacted flag. No duration. Test sealed.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24,712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model learns 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 choose 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TEST, SEALED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opened once, on Friday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will the unlimited tree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the 24,712 it learned from, and on 8,238 it never saw.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line to beat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99.6 on practice, 84.1 on the exam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Below the 88.7 percent of calling nobody.</a:t>
            </a:r>
          </a:p>
        </p:txBody>
      </p:sp>
      <p:pic>
        <p:nvPicPr>
          <p:cNvPr id="9" name="mermaid diagram" descr="C2_W05_D04_fig_unlimited_scor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Unlimited tree accuracy on training and validation against the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tree memorised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37 questions deep, 3,662 leaves: one leaf per 6.7 customers.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3,662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final answers in the tree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1,709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private rule 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OR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2,323 of 3,662 leaves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depth curve: the U on real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Lowest validation error at depth 3; no limit ends at 15.9 percent.</a:t>
            </a:r>
          </a:p>
        </p:txBody>
      </p:sp>
      <p:pic>
        <p:nvPicPr>
          <p:cNvPr id="9" name="mermaid diagram" descr="C2_W05_D04_fig_depth_u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936" y="1682496"/>
            <a:ext cx="1004382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validation error against max_depth on the bank's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trees, three learning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Stump, no limit, depth 6 with leaf 50: five folds each.</a:t>
            </a:r>
          </a:p>
        </p:txBody>
      </p:sp>
      <p:pic>
        <p:nvPicPr>
          <p:cNvPr id="9" name="mermaid diagram" descr="C2_W05_D04_fig_learning_curves_bank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a stump, an unlimited tree and a braked tree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More rows did not close the gap; the brake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unlimited tree's gap at 988 rows and at 19,769 rows.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6649"/>
                <a:gridCol w="3228002"/>
                <a:gridCol w="354633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Unlimited tree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988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19,769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Training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Held-out error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16.8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16.2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115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Depth 6, leaf 50, at 19,769 rows: gap 0.2 points.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Airbnb saw the same with a vector per listing: at most 365 bookings a year each, so they memorised (arXiv 1810.09591).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three mystery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 each side and prescribe one fix. Then one cross-validation, together.</a:t>
            </a:r>
          </a:p>
        </p:txBody>
      </p:sp>
      <p:pic>
        <p:nvPicPr>
          <p:cNvPr id="9" name="mermaid diagram" descr="C2_W05_D04_fig_mystery_curv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three unnamed models A, B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on the bank's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Can we trust 0.79?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Regularisation · Cross-validation · also searched as: k-fold cross validation scikit-learn, Pipeline data leakage, logistic regression C regularization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deals against five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Bigger exams, smaller luck: deals swing 0.004 AUC, folds 0.03.</a:t>
            </a:r>
          </a:p>
        </p:txBody>
      </p:sp>
      <p:pic>
        <p:nvPicPr>
          <p:cNvPr id="9" name="mermaid diagram" descr="C2_W05_D04_fig_seed_swing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42845"/>
            <a:ext cx="11130991" cy="364286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2229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on five deals of 8,238 customers and on five folds of 4,942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goes inside the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fold learns its means from its own teaching folds.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model = Pipeline([("prep", prep()),          # scaler + one-hot, fitted per fold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("model", LogisticRegression(C=0.1, max_iter=3000))])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scores = cross_val_score(model, X_train, y_train, cv=folds, scoring="roc_auc")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did scaling first cost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Scale all 24,712 rows, then cross-validate.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0.78648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INSIDE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right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predict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0" name="Oval 1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2" name="Oval 2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6" name="Oval 2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8" name="Oval 2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30" name="Oval 2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0.00003, and the rule still binds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scaler learns two numbers per column. Target-aware steps leak far more.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45346"/>
                <a:gridCol w="2921211"/>
                <a:gridCol w="21644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 before the split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learns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Leak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Scaler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mean, spread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0.00003 AUC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Filling gaps with a 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Choosing columns by their link to 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Encoding a category by its yes 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61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Google Flu Trends chose from 50 million search terms to fit 1,152 points and kept basketball terms (Science, 2014).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Sweep C: the logistic model barely needs a brake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Strong brake underfits; from C = 0.01 up, nothing changes.</a:t>
            </a:r>
          </a:p>
        </p:txBody>
      </p:sp>
      <p:pic>
        <p:nvPicPr>
          <p:cNvPr id="9" name="mermaid diagram" descr="C2_W05_D04_fig_c_swee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cross-validated AUC against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L1: 20 of 63 columns, within 0.002 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brake that also chooses columns.</a:t>
            </a:r>
          </a:p>
        </p:txBody>
      </p:sp>
      <p:pic>
        <p:nvPicPr>
          <p:cNvPr id="9" name="mermaid diagram" descr="C2_W05_D04_fig_l1_colum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Columns kept and validation AUC under L1 at six 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three-way 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model ships?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Cross-validation · Trees, ensembles, clustering · When the simpler model wins · also searched as: random forest vs gradient boosting, model comparison cross validation, precision at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candidates on the same five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Boosting 0.793, forest 0.791, logistic 0.786, tuned tree 0.782.</a:t>
            </a:r>
          </a:p>
        </p:txBody>
      </p:sp>
      <p:pic>
        <p:nvPicPr>
          <p:cNvPr id="9" name="mermaid diagram" descr="C2_W05_D04_fig_race_fold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67" y="1682496"/>
            <a:ext cx="1050036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Fold AUCs and means for four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boosting wins every fold, by a little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Fold by fold: +0.007, +0.007, +0.003, +0.014, +0.003 AUC.</a:t>
            </a:r>
          </a:p>
        </p:txBody>
      </p:sp>
      <p:pic>
        <p:nvPicPr>
          <p:cNvPr id="9" name="mermaid diagram" descr="C2_W05_D04_fig_paired_ga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4823" y="1682496"/>
            <a:ext cx="668204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AUCs, logistic against 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the cost threshold, all four nudge nearly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Bills at 40 / 1,240 = 0.032 sit within about 2 percent.</a:t>
            </a:r>
          </a:p>
        </p:txBody>
      </p:sp>
      <p:pic>
        <p:nvPicPr>
          <p:cNvPr id="9" name="mermaid diagram" descr="C2_W05_D04_fig_bill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676" y="1682496"/>
            <a:ext cx="1000034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Error bills at the cost threshold for four models and for nudging everyone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Under the budget: buyers in the top 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5,000 nudges for 41,188 customers is the top 12 percent: 1,000 of 8,238.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0856"/>
                <a:gridCol w="3340891"/>
                <a:gridCol w="1785865"/>
                <a:gridCol w="25633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in top 1,000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Campaign 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braked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5.18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depth 6, leaf 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5.23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47.6%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5.31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47.2%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5.26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random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low end against the extra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Extra buyers per 5,000 nudges, fold by fold: 0, 133, 100, 92, 125.</a:t>
            </a:r>
          </a:p>
        </p:txBody>
      </p:sp>
      <p:pic>
        <p:nvPicPr>
          <p:cNvPr id="9" name="mermaid diagram" descr="C2_W05_D04_fig_budget_ga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41654"/>
            <a:ext cx="11130991" cy="384525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2348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Boosting's extra margin per campaign, fold by fold, against an invented extra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provisional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Friday turns it into the committee memo.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1057"/>
                <a:gridCol w="94999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With your numbers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braked logistic model for the first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boosting leads by 0.007 AUC; bills within 2 percent; low-end gain Rs 51k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mix 2008 to 2010; Friday scores the late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when the low end clears the priced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QA seat: what breaks it, which split,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spotlight. Three checks before anyone trusts 0.786.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5332"/>
                <a:gridCol w="4233186"/>
                <a:gridCol w="41024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pass looks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cross-validate with y shuffled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AUC falls to about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Change the 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cut by time (Friday)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score holds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 it by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each segment apart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segment below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Interview corner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four anchors, each with the shape of a good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86733"/>
                <a:gridCol w="46298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answer's 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Overfitting: what, detect, fix?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gap, curves, brake or rows, and when rows fail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Bias against variance, plain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simple anywhere; too sensitive to the draw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cross-validation, not one split?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luck, mean with spread, same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Tuned model wins by a point, ten times harder to explain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tests, rupees, the flip, the 99.6 named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the return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 99.6, validation 84.1, baseline 88.7: name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curve pair says high bias?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 averages away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tuned tree beats logistic by 0.4 points: recommend which?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 trades what for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the leak went, the score fell; why is the model better?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filled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Redraw it from memory tonight: the U, the baseline line, the depth you chose.</a:t>
            </a:r>
          </a:p>
        </p:txBody>
      </p:sp>
      <p:pic>
        <p:nvPicPr>
          <p:cNvPr id="9" name="mermaid diagram" descr="C2_W05_D04_fig_timeline_thursda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U of validation error against tree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S54a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tonight, tomorrow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to three hours of practice set; the lab runs with the 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check_5bfb0e0fcd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Diagnose, brake, cross-validate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two curves, choose a brake on held-out rows, quote a score with its spread, run both tests.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notebook-pen_5620508e40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Practice set and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Ten problems, eighteen self-checks; rerun the race with one column removed.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file-text_ab5ea58b22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FRIDAY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committee memo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Train early, score late; open the envelope once; reread Tuesday's metric memo.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2" name="Oval 3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4" name="Oval 3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6" name="Oval 3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8" name="Oval 3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0" name="Oval 3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