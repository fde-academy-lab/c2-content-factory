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Meera's brief aloud, slowly, once. Five questions, five chapters. The</a:t>
            </a:r>
          </a:p>
          <a:p>
            <a:r>
              <a:t>committee meets Monday: Meera, Anand, the marketing lead, and Rohan from Kalpa Financial. Ask the</a:t>
            </a:r>
          </a:p>
          <a:p>
            <a:r>
              <a:t>room to write down, in one word each, what each of the four will push on. Keep the papers; the</a:t>
            </a:r>
          </a:p>
          <a:p>
            <a:r>
              <a:t>pair challenge at the end uses them. Transition: what today builds.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Three worlds, one method. The gym is small enough to count by hand; the bank is</a:t>
            </a:r>
          </a:p>
          <a:p>
            <a:r>
              <a:t>the week's data; the lending book is where Build 2 starts next week. Transition: where Friday</a:t>
            </a:r>
          </a:p>
          <a:p>
            <a:r>
              <a:t>sits in the programme.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Week 5 lit. Build 2 next week is Rohan's business, which is why he sits on</a:t>
            </a:r>
          </a:p>
          <a:p>
            <a:r>
              <a:t>Monday's committee. Point at Week 14: drift detection and retraining pipelines are taught there;</a:t>
            </a:r>
          </a:p>
          <a:p>
            <a:r>
              <a:t>today names them and stops. Transition: the one picture the week has grown.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Ask the room to redraw Monday to Thursday on paper in one minute, from memory:</a:t>
            </a:r>
          </a:p>
          <a:p>
            <a:r>
              <a:t>that is the nightly self-check. Friday's panel stays a question mark until chapter 7, when the room</a:t>
            </a:r>
          </a:p>
          <a:p>
            <a:r>
              <a:t>trains on the early months and scores the late ones. Transition: the ticket.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Compare with the one-word lists from the cover. The product manager is today's</a:t>
            </a:r>
          </a:p>
          <a:p>
            <a:r>
              <a:t>spotlight seat: the person who reads the memo after the meeting and runs the list every month.</a:t>
            </a:r>
          </a:p>
          <a:p>
            <a:r>
              <a:t>Ask: what does the product manager do with the memo on Tuesday morning? (Runs the 1,000-call list</a:t>
            </a:r>
          </a:p>
          <a:p>
            <a:r>
              <a:t>and owns the monitoring rule.) Transition: the five topics that answer the four pushes.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second column once: these are the words to search later. Chapters 6, 7</a:t>
            </a:r>
          </a:p>
          <a:p>
            <a:r>
              <a:t>and 8 apply them to the bank's file (case01, case02, case03), then the guided memo and the pair</a:t>
            </a:r>
          </a:p>
          <a:p>
            <a:r>
              <a:t>challenge. Transition: how the five join.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memo is the module's closing artifact and Build 2's starting point. Every box</a:t>
            </a:r>
          </a:p>
          <a:p>
            <a:r>
              <a:t>feeds one part of it; chapter 5 is how it survives the room. Transition: chapter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for the chapter. Notebook ch01 at the end. Who needs the answer: the gym's owner,</a:t>
            </a:r>
          </a:p>
          <a:p>
            <a:r>
              <a:t>who pays for the calls and has never heard of AUC.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misconception first: most of the room picks a, because AUC is the number</a:t>
            </a:r>
          </a:p>
          <a:p>
            <a:r>
              <a:t>they were taught to report. Letter cards up, one minute with a neighbour, vote again. Do not open</a:t>
            </a:r>
          </a:p>
          <a:p>
            <a:r>
              <a:t>the notebook yet.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dots left to right. Both models put the same four returners in their</a:t>
            </a:r>
          </a:p>
          <a:p>
            <a:r>
              <a:t>top six, so the higher AUC buys nothing this week. Land: a model is justified in the reader's</a:t>
            </a:r>
          </a:p>
          <a:p>
            <a:r>
              <a:t>units. Transition: what AUC is,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StatQuest style: pick one returner and one non-returner; did the returner score</a:t>
            </a:r>
          </a:p>
          <a:p>
            <a:r>
              <a:t>higher? Do three pairs aloud from the ranking. AUC is that, over all 75. B ranks four more pairs</a:t>
            </a:r>
          </a:p>
          <a:p>
            <a:r>
              <a:t>right and still finds the same four people in six calls. Notebook ch01 counts it by hand and checks</a:t>
            </a:r>
          </a:p>
          <a:p>
            <a:r>
              <a:t>it against scikit-learn. Transition: the four parts.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Each box answers one of Meera's questions: which model (claim), why (evidence</a:t>
            </a:r>
          </a:p>
          <a:p>
            <a:r>
              <a:t>against a baseline, in rupees), when it is wrong (caveat: when it breaks, where it is weakest),</a:t>
            </a:r>
          </a:p>
          <a:p>
            <a:r>
              <a:t>what happens next (action, with the rule that stops it). Run notebook ch01 now, 3 minutes: the</a:t>
            </a:r>
          </a:p>
          <a:p>
            <a:r>
              <a:t>hand count, the rupee table, the memo with a check that every part carries a number.</a:t>
            </a:r>
          </a:p>
          <a:p>
            <a:r>
              <a:t>Transition: chapter 2 prices every mistake.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for the chapter. Notebook ch02 and the explorable's bill panel. Who needs the</a:t>
            </a:r>
          </a:p>
          <a:p>
            <a:r>
              <a:t>answer: Finance, who signs the calling budget.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Prediction first, written down. Most pick a: fewer calls feels cheaper.</a:t>
            </a:r>
          </a:p>
          <a:p>
            <a:r>
              <a:t>Transition: the sweep.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bars from the right: every cut to the right of the cheapest one adds a</a:t>
            </a:r>
          </a:p>
          <a:p>
            <a:r>
              <a:t>Rs 900 miss. The trap, exactly: "0.5 only makes 4 calls, so it is cheap"; the decision it misleads</a:t>
            </a:r>
          </a:p>
          <a:p>
            <a:r>
              <a:t>is a budget signed for Rs 120 of calls that loses Rs 1,800 of returners. The check: price both</a:t>
            </a:r>
          </a:p>
          <a:p>
            <a:r>
              <a:t>mistakes. Transition: what the bill counts.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Tuesday's four boxes with a price tag on two of them. The commonest slip in the</a:t>
            </a:r>
          </a:p>
          <a:p>
            <a:r>
              <a:t>take-home: counting the called returners as a cost. They are what the bill is set against.</a:t>
            </a:r>
          </a:p>
          <a:p>
            <a:r>
              <a:t>Transition: where the bill is smallest.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Krish Naik style: three lines, each read aloud. The formula and the sweep call the</a:t>
            </a:r>
          </a:p>
          <a:p>
            <a:r>
              <a:t>same 17 members (notebook ch02 checks it). Open the explorable now: it opens at 0.5 on the bank's</a:t>
            </a:r>
          </a:p>
          <a:p>
            <a:r>
              <a:t>real counts. Ask for a prediction of the bill, then drag to 0.03. Transition: what happens to the</a:t>
            </a:r>
          </a:p>
          <a:p>
            <a:r>
              <a:t>bill when the months change.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for the chapter. CUT FIRST if late: slide S17's band arithmetic. Who needs the</a:t>
            </a:r>
          </a:p>
          <a:p>
            <a:r>
              <a:t>answer: the gym's owner and the front-desk manager who runs the calls.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Invented numbers. Predict on paper.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July alone could be luck. The common wrong answer to "how will you know it is</a:t>
            </a:r>
          </a:p>
          <a:p>
            <a:r>
              <a:t>stale" is "retrain every month": a calendar fires when nothing changed and waits a month when</a:t>
            </a:r>
          </a:p>
          <a:p>
            <a:r>
              <a:t>something has. Transition: what a rule needs.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ceiling is Week 1's sample-size rule: luck moves a share by about two standard</a:t>
            </a:r>
          </a:p>
          <a:p>
            <a:r>
              <a:t>errors. CUT FIRST if late: skip the arithmetic and keep the four cards. Drift detection methods and</a:t>
            </a:r>
          </a:p>
          <a:p>
            <a:r>
              <a:t>retraining pipelines are named here and taught from Week 14. Transition: the weakest segment.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Student shows a wide gap on 20 calls; its band is 16 points, so it cannot be read.</a:t>
            </a:r>
          </a:p>
          <a:p>
            <a:r>
              <a:t>Family's gap clears its band on 80 calls. The Week 1 sample-size reason, again. Run notebook ch03,</a:t>
            </a:r>
          </a:p>
          <a:p>
            <a:r>
              <a:t>3 minutes. Transition: moving the machinery to a lender.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11 minutes for the chapter. Notebook ch04. Who needs the answer: a head of risk at a lender,</a:t>
            </a:r>
          </a:p>
          <a:p>
            <a:r>
              <a:t>which on Monday is Rohan.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Prediction on paper. The trap is b or d: copying the formula without asking</a:t>
            </a:r>
          </a:p>
          <a:p>
            <a:r>
              <a:t>which mistake is now the expensive one.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Say both on the same quantity: nudge when P(buy) is above 0.03; lend when</a:t>
            </a:r>
          </a:p>
          <a:p>
            <a:r>
              <a:t>P(repay) is above 0.95. Same formula: the cost of the cheap mistake over the sum. At 0.5 the</a:t>
            </a:r>
          </a:p>
          <a:p>
            <a:r>
              <a:t>invented lender approves 9 and two defaults cost Rs 80,000; at 0.952 it approves 3 and turns away</a:t>
            </a:r>
          </a:p>
          <a:p>
            <a:r>
              <a:t>4 good applicants for Rs 8,000. Transition: the three columns of the transfer.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week's interview move: same pipeline, the other side's costs, the opposite</a:t>
            </a:r>
          </a:p>
          <a:p>
            <a:r>
              <a:t>threshold, and the one feature that would leak. Transition: how to tell a leak.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Wednesday's prediction-time question, in a lender's data. Run notebook ch04 in</a:t>
            </a:r>
          </a:p>
          <a:p>
            <a:r>
              <a:t>the remaining minute or set it for the break. Transition: the memo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for the chapter. Notebook ch05. Who needs the answer: everyone in Monday's room,</a:t>
            </a:r>
          </a:p>
          <a:p>
            <a:r>
              <a:t>each with a reason to push.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with letter cards.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Option b explains the metric to someone who asked for a decision. The good answer</a:t>
            </a:r>
          </a:p>
          <a:p>
            <a:r>
              <a:t>carries three things: the number in the reader's units, the reason, and the condition that would</a:t>
            </a:r>
          </a:p>
          <a:p>
            <a:r>
              <a:t>flip the call. Transition: does it fit in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140 words a minute is an assumed pace; each learner times themselves once. The</a:t>
            </a:r>
          </a:p>
          <a:p>
            <a:r>
              <a:t>fifth part, "my choice", is the hiring manager's point: one decision you made differently from the</a:t>
            </a:r>
          </a:p>
          <a:p>
            <a:r>
              <a:t>class, with its reason. Transition: who pushes on what.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product manager is today's spotlight: the one who runs the list after the</a:t>
            </a:r>
          </a:p>
          <a:p>
            <a:r>
              <a:t>meeting and owns the rule's alarm. Ask the room: what does the PM need from the memo that Meera</a:t>
            </a:r>
          </a:p>
          <a:p>
            <a:r>
              <a:t>does not? (The operating point as one number, the monthly check, and who to call when it fires.)</a:t>
            </a:r>
          </a:p>
          <a:p>
            <a:r>
              <a:t>Run notebook ch05, 1 minute. Transition: the case.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for the chapter. Notebook case01 on the projector, the room following. The</a:t>
            </a:r>
          </a:p>
          <a:p>
            <a:r>
              <a:t>first cell downloads about 1 MB; if the network is slow, pair learners and project the executed</a:t>
            </a:r>
          </a:p>
          <a:p>
            <a:r>
              <a:t>outputs.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Run the first three cells: the pipeline, the checks, the three fits. Numbers are</a:t>
            </a:r>
          </a:p>
          <a:p>
            <a:r>
              <a:t>from this run on Wednesday's honest columns; Thursday's own run may differ in the third decimal.</a:t>
            </a:r>
          </a:p>
          <a:p>
            <a:r>
              <a:t>Predict on paper.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trap, exactly: "boosting has the best AUC, so it saves the most". At 0.032 its</a:t>
            </a:r>
          </a:p>
          <a:p>
            <a:r>
              <a:t>bill is the largest of the three (Rs 2.832 lakh against logistic's Rs 2.817 lakh). The decision it</a:t>
            </a:r>
          </a:p>
          <a:p>
            <a:r>
              <a:t>misleads: paying for a forty-step model for nothing. The check: price both mistakes for each model.</a:t>
            </a:r>
          </a:p>
          <a:p>
            <a:r>
              <a:t>Land: at this cost ratio the model barely matters; the budget is where it earns its keep.</a:t>
            </a:r>
          </a:p>
          <a:p>
            <a:r>
              <a:t>Transition: the budget.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budget binds: the cost cut would call about 7,400. Precision at k, Tuesday's</a:t>
            </a:r>
          </a:p>
          <a:p>
            <a:r>
              <a:t>idea, carries the decision. Boosting finds 13 more than logistic. Each extra buyer is worth</a:t>
            </a:r>
          </a:p>
          <a:p>
            <a:r>
              <a:t>Rs 1,240 on the bill (a call stops being wasted and a buyer stops being missed): Rs 16,120.</a:t>
            </a:r>
          </a:p>
          <a:p>
            <a:r>
              <a:t>Transition: is 13 real?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 paired bootstrap: Week 1's permutation idea run on a model comparison. The 95</a:t>
            </a:r>
          </a:p>
          <a:p>
            <a:r>
              <a:t>percent band runs from about -1 to 28, so it reaches zero: a tie on this slice. The flip, said out</a:t>
            </a:r>
          </a:p>
          <a:p>
            <a:r>
              <a:t>loud: boosting ships if a fresh month shows its lead clear of zero. Transition: the memo's first</a:t>
            </a:r>
          </a:p>
          <a:p>
            <a:r>
              <a:t>two parts.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simpler model is recommended when it ties, and the memo says why out loud.</a:t>
            </a:r>
          </a:p>
          <a:p>
            <a:r>
              <a:t>These two parts are what the guided notebook rebuilds in pairs. Transition: what the bill looks</a:t>
            </a:r>
          </a:p>
          <a:p>
            <a:r>
              <a:t>like next year.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for the chapter. Notebook case02. Who needs the answer: the product manager who</a:t>
            </a:r>
          </a:p>
          <a:p>
            <a:r>
              <a:t>runs the list after Monday, and Anand, whose budget assumed this month looks like last month.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file has a month and no year; the notebook rebuilds the year by counting each</a:t>
            </a:r>
          </a:p>
          <a:p>
            <a:r>
              <a:t>time the month goes backwards, and checks it. Deployment is always the second picture: trained on</a:t>
            </a:r>
          </a:p>
          <a:p>
            <a:r>
              <a:t>the past, used on the future. Transition: predict.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 cards. Run the time-split cell only after the vote.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AUC only asks whether buyers rank above non-buyers. The bill is computed from the</a:t>
            </a:r>
          </a:p>
          <a:p>
            <a:r>
              <a:t>promise, so the promise is what breaks: calibration. Many would still call 0.66 usable; that is the</a:t>
            </a:r>
          </a:p>
          <a:p>
            <a:r>
              <a:t>trap. Transition: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In the shaded months the lines sit on top of each other because the model learned</a:t>
            </a:r>
          </a:p>
          <a:p>
            <a:r>
              <a:t>them. Right of the shade the rose line stays low while the real line climbs. This is the panel the</a:t>
            </a:r>
          </a:p>
          <a:p>
            <a:r>
              <a:t>week's picture was waiting for. Explorable: the monitor panel replays these months. Transition: what</a:t>
            </a:r>
          </a:p>
          <a:p>
            <a:r>
              <a:t>it cost.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trap, exactly: "AUC 0.66 still beats random, keep it running". It costs about</a:t>
            </a:r>
          </a:p>
          <a:p>
            <a:r>
              <a:t>Rs 89,000 more than calling every customer. The 231 people it promised less than 1 in 31 bought at</a:t>
            </a:r>
          </a:p>
          <a:p>
            <a:r>
              <a:t>about one in three. The check that catches it: the promise against reality, month by month.</a:t>
            </a:r>
          </a:p>
          <a:p>
            <a:r>
              <a:t>Transition: the rule.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four parts on real data: the number (real against promised among the called),</a:t>
            </a:r>
          </a:p>
          <a:p>
            <a:r>
              <a:t>the ceiling (10 points, because 2 x sqrt(0.3 x 0.7 / 100) is about 9), the window (two months),</a:t>
            </a:r>
          </a:p>
          <a:p>
            <a:r>
              <a:t>the owner (Kavya pauses the list). CUT FIRST if late: the ceiling's arithmetic. Transition: where</a:t>
            </a:r>
          </a:p>
          <a:p>
            <a:r>
              <a:t>today's model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Entrepreneur reads lowest, 0.655, on 26 buyers with a band from about 0.54 to</a:t>
            </a:r>
          </a:p>
          <a:p>
            <a:r>
              <a:t>0.81: a small group talking. Blue-collar, 0.707 on 122 buyers, is the weakest reading we can trust;</a:t>
            </a:r>
          </a:p>
          <a:p>
            <a:r>
              <a:t>telephone contacts rank worse than mobile ones, 0.721 against 0.779. That sentence goes in the</a:t>
            </a:r>
          </a:p>
          <a:p>
            <a:r>
              <a:t>caveat. Transition: what a stale forecast cost a real company.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Zillow's letter: "We have been unable to accurately forecast future home prices at</a:t>
            </a:r>
          </a:p>
          <a:p>
            <a:r>
              <a:t>different times in both directions." The forecast had to be right three to six months out, and the</a:t>
            </a:r>
          </a:p>
          <a:p>
            <a:r>
              <a:t>world moved. Sources: the 8-K at https://www.sec.gov/Archives/edgar/data/1617640/000161764021000085/z-20211102.htm</a:t>
            </a:r>
          </a:p>
          <a:p>
            <a:r>
              <a:t>and Exhibit 99.3 at https://www.sec.gov/Archives/edgar/data/1617640/000161764021000085/exhibit993.htm</a:t>
            </a:r>
          </a:p>
          <a:p>
            <a:r>
              <a:t>(verified 28 October 2026). Bridge to Kalpa: the same rule, the promise against reality, catches it.</a:t>
            </a:r>
          </a:p>
          <a:p>
            <a:r>
              <a:t>Transition: Rohan.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22 minutes for the chapter. Notebook case03. Who needs the answer: Rohan, and the whole</a:t>
            </a:r>
          </a:p>
          <a:p>
            <a:r>
              <a:t>committee, which hears one number from data nobody has touched.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matrix as the dataset's documentation states it: a bad customer classed</a:t>
            </a:r>
          </a:p>
          <a:p>
            <a:r>
              <a:t>as good costs 5, a good one classed as bad costs 1. Prediction on paper; b is the slip of putting</a:t>
            </a:r>
          </a:p>
          <a:p>
            <a:r>
              <a:t>the ratio on the wrong side.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At 0.5 the model approves 226 and 47 bad loans cost 235 units; at 0.83 it</a:t>
            </a:r>
          </a:p>
          <a:p>
            <a:r>
              <a:t>approves 128, 13 bad loans and 95 good applicants turned away cost 160. About 40 percent cheaper.</a:t>
            </a:r>
          </a:p>
          <a:p>
            <a:r>
              <a:t>Rohan's 20 : 1 moves the line to 0.95. Same quantity on both sides: nudge when P(buy) is above</a:t>
            </a:r>
          </a:p>
          <a:p>
            <a:r>
              <a:t>0.03, lend when P(repay) is above 0.83 or 0.95. Transition: the name trap.</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prediction-time question decides, never the name. In Rohan's feed, the leak</a:t>
            </a:r>
          </a:p>
          <a:p>
            <a:r>
              <a:t>would be days past due or a collections flag, both written after approval. Transition: the envelope.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Take the card marked TEST SET down from the wall and open it in front of the room.</a:t>
            </a:r>
          </a:p>
          <a:p>
            <a:r>
              <a:t>Run the cell once. Test AUC 0.801 against 0.795 on validation; 482 buyers in the top 1,000. That</a:t>
            </a:r>
          </a:p>
          <a:p>
            <a:r>
              <a:t>number goes in the memo whatever it says. A second look, or a reselection after it, would make it a</a:t>
            </a:r>
          </a:p>
          <a:p>
            <a:r>
              <a:t>validation number. Transition: the whole memo.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Notebook case03's last cell prints the full memo and checks it is under 300 words.</a:t>
            </a:r>
          </a:p>
          <a:p>
            <a:r>
              <a:t>Tonight's WRITE task is the learner's own version, with their own numbers. Transition: your</a:t>
            </a:r>
          </a:p>
          <a:p>
            <a:r>
              <a:t>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inside the 65-minute practice block. Each learner rehearses with their own numbers and one</a:t>
            </a:r>
          </a:p>
          <a:p>
            <a:r>
              <a:t>choice they made differently from the class (a different budget, a different ceiling, a segment by</a:t>
            </a:r>
          </a:p>
          <a:p>
            <a:r>
              <a:t>contact instead of job). The partner plays one seat from S26 and pushes once. Never cut this.</a:t>
            </a:r>
          </a:p>
          <a:p>
            <a:r>
              <a:t>Transition: the interview corner.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each question aloud and ask one learner for the first sentence only. The</a:t>
            </a:r>
          </a:p>
          <a:p>
            <a:r>
              <a:t>interview bank carries model answers with the two follow-ups each one draws. Transition: the quiz.</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Kahoot 10 minutes for all six. Options and keys are in the trainer guide, ready to type.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Keys in the trainer guide.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Q5 is the trap: the 0.4-point gap means nothing until it is sized against its band and priced.</a:t>
            </a:r>
          </a:p>
          <a:p>
            <a:r>
              <a:t>Keys in the trainer guide.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left column as "I can". Transition: tonight and tomorrow.</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Say ME1's scope aloud and nothing more: no day, no slot, no scoring. ME1 runs this</a:t>
            </a:r>
          </a:p>
          <a:p>
            <a:r>
              <a:t>week as a continuous activity. RECAP task: the three questions Rohan would ask, and your answers.</a:t>
            </a:r>
          </a:p>
          <a:p>
            <a:r>
              <a:t>Close on the week's picture, complete (S35), and ask for it redrawn from memory tonight.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2.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 Id="rId5"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 Id="rId5"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1968388"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5  ·  DAY 5</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Model justification: the committee memo</a:t>
            </a:r>
          </a:p>
        </p:txBody>
      </p:sp>
      <p:sp>
        <p:nvSpPr>
          <p:cNvPr id="9" name="TextBox 8"/>
          <p:cNvSpPr txBox="1"/>
          <p:nvPr/>
        </p:nvSpPr>
        <p:spPr>
          <a:xfrm>
            <a:off x="621792" y="3635756"/>
            <a:ext cx="10033711" cy="977645"/>
          </a:xfrm>
          <a:prstGeom prst="rect">
            <a:avLst/>
          </a:prstGeom>
          <a:noFill/>
        </p:spPr>
        <p:txBody>
          <a:bodyPr wrap="square" anchor="t" lIns="0" rIns="0" tIns="0" bIns="0">
            <a:spAutoFit/>
          </a:bodyPr>
          <a:lstStyle/>
          <a:p>
            <a:pPr algn="l"/>
            <a:r>
              <a:rPr sz="1900" b="0" i="1">
                <a:solidFill>
                  <a:srgbClr val="D9A7FF"/>
                </a:solidFill>
                <a:latin typeface="Georgia"/>
              </a:rPr>
              <a:t>“Which model, why that one, what it will cost us when it is wrong, how we will know it is going stale, and what you would need to run it for Rohan instead.”</a:t>
            </a:r>
          </a:p>
        </p:txBody>
      </p:sp>
      <p:sp>
        <p:nvSpPr>
          <p:cNvPr id="10" name="TextBox 9"/>
          <p:cNvSpPr txBox="1"/>
          <p:nvPr/>
        </p:nvSpPr>
        <p:spPr>
          <a:xfrm>
            <a:off x="621792" y="466826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 Raghavan, CEO, Kalpa Retail</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602486" cy="185166"/>
          </a:xfrm>
          <a:prstGeom prst="rect">
            <a:avLst/>
          </a:prstGeom>
          <a:noFill/>
        </p:spPr>
        <p:txBody>
          <a:bodyPr wrap="square" anchor="t" lIns="0" rIns="0" tIns="0" bIns="0">
            <a:spAutoFit/>
          </a:bodyPr>
          <a:lstStyle/>
          <a:p>
            <a:pPr algn="l"/>
            <a:r>
              <a:rPr sz="900" b="0" i="0">
                <a:solidFill>
                  <a:srgbClr val="FFFFFF"/>
                </a:solidFill>
                <a:latin typeface="Calibri"/>
              </a:rPr>
              <a:t>What does the room hear?</a:t>
            </a:r>
          </a:p>
        </p:txBody>
      </p:sp>
      <p:sp>
        <p:nvSpPr>
          <p:cNvPr id="13" name="TextBox 12"/>
          <p:cNvSpPr txBox="1"/>
          <p:nvPr/>
        </p:nvSpPr>
        <p:spPr>
          <a:xfrm>
            <a:off x="279120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175254" y="5248656"/>
            <a:ext cx="1425035" cy="185166"/>
          </a:xfrm>
          <a:prstGeom prst="rect">
            <a:avLst/>
          </a:prstGeom>
          <a:noFill/>
        </p:spPr>
        <p:txBody>
          <a:bodyPr wrap="square" anchor="t" lIns="0" rIns="0" tIns="0" bIns="0">
            <a:spAutoFit/>
          </a:bodyPr>
          <a:lstStyle/>
          <a:p>
            <a:pPr algn="l"/>
            <a:r>
              <a:rPr sz="900" b="0" i="0">
                <a:solidFill>
                  <a:srgbClr val="FFFFFF"/>
                </a:solidFill>
                <a:latin typeface="Calibri"/>
              </a:rPr>
              <a:t>What does wrong cost?</a:t>
            </a:r>
          </a:p>
        </p:txBody>
      </p:sp>
      <p:sp>
        <p:nvSpPr>
          <p:cNvPr id="15" name="TextBox 14"/>
          <p:cNvSpPr txBox="1"/>
          <p:nvPr/>
        </p:nvSpPr>
        <p:spPr>
          <a:xfrm>
            <a:off x="478316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167217" y="5248656"/>
            <a:ext cx="1188434" cy="185166"/>
          </a:xfrm>
          <a:prstGeom prst="rect">
            <a:avLst/>
          </a:prstGeom>
          <a:noFill/>
        </p:spPr>
        <p:txBody>
          <a:bodyPr wrap="square" anchor="t" lIns="0" rIns="0" tIns="0" bIns="0">
            <a:spAutoFit/>
          </a:bodyPr>
          <a:lstStyle/>
          <a:p>
            <a:pPr algn="l"/>
            <a:r>
              <a:rPr sz="900" b="0" i="0">
                <a:solidFill>
                  <a:srgbClr val="FFFFFF"/>
                </a:solidFill>
                <a:latin typeface="Calibri"/>
              </a:rPr>
              <a:t>How will we know?</a:t>
            </a:r>
          </a:p>
        </p:txBody>
      </p:sp>
      <p:sp>
        <p:nvSpPr>
          <p:cNvPr id="17" name="TextBox 16"/>
          <p:cNvSpPr txBox="1"/>
          <p:nvPr/>
        </p:nvSpPr>
        <p:spPr>
          <a:xfrm>
            <a:off x="6538531"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6922579"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What carries over?</a:t>
            </a:r>
          </a:p>
        </p:txBody>
      </p:sp>
      <p:sp>
        <p:nvSpPr>
          <p:cNvPr id="19" name="TextBox 18"/>
          <p:cNvSpPr txBox="1"/>
          <p:nvPr/>
        </p:nvSpPr>
        <p:spPr>
          <a:xfrm>
            <a:off x="8353044"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8737092" y="5248656"/>
            <a:ext cx="1543335" cy="185166"/>
          </a:xfrm>
          <a:prstGeom prst="rect">
            <a:avLst/>
          </a:prstGeom>
          <a:noFill/>
        </p:spPr>
        <p:txBody>
          <a:bodyPr wrap="square" anchor="t" lIns="0" rIns="0" tIns="0" bIns="0">
            <a:spAutoFit/>
          </a:bodyPr>
          <a:lstStyle/>
          <a:p>
            <a:pPr algn="l"/>
            <a:r>
              <a:rPr sz="900" b="0" i="0">
                <a:solidFill>
                  <a:srgbClr val="FFFFFF"/>
                </a:solidFill>
                <a:latin typeface="Calibri"/>
              </a:rPr>
              <a:t>What will they push on?</a:t>
            </a:r>
          </a:p>
        </p:txBody>
      </p:sp>
      <p:sp>
        <p:nvSpPr>
          <p:cNvPr id="21" name="TextBox 20"/>
          <p:cNvSpPr txBox="1"/>
          <p:nvPr/>
        </p:nvSpPr>
        <p:spPr>
          <a:xfrm>
            <a:off x="621792"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22" name="TextBox 21"/>
          <p:cNvSpPr txBox="1"/>
          <p:nvPr/>
        </p:nvSpPr>
        <p:spPr>
          <a:xfrm>
            <a:off x="1005839" y="5669280"/>
            <a:ext cx="1543335" cy="185166"/>
          </a:xfrm>
          <a:prstGeom prst="rect">
            <a:avLst/>
          </a:prstGeom>
          <a:noFill/>
        </p:spPr>
        <p:txBody>
          <a:bodyPr wrap="square" anchor="t" lIns="0" rIns="0" tIns="0" bIns="0">
            <a:spAutoFit/>
          </a:bodyPr>
          <a:lstStyle/>
          <a:p>
            <a:pPr algn="l"/>
            <a:r>
              <a:rPr sz="900" b="0" i="0">
                <a:solidFill>
                  <a:srgbClr val="FFFFFF"/>
                </a:solidFill>
                <a:latin typeface="Calibri"/>
              </a:rPr>
              <a:t>Which model, what cost?</a:t>
            </a:r>
          </a:p>
        </p:txBody>
      </p:sp>
      <p:sp>
        <p:nvSpPr>
          <p:cNvPr id="23" name="TextBox 22"/>
          <p:cNvSpPr txBox="1"/>
          <p:nvPr/>
        </p:nvSpPr>
        <p:spPr>
          <a:xfrm>
            <a:off x="2732055"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24" name="TextBox 23"/>
          <p:cNvSpPr txBox="1"/>
          <p:nvPr/>
        </p:nvSpPr>
        <p:spPr>
          <a:xfrm>
            <a:off x="3116103" y="5669280"/>
            <a:ext cx="892683" cy="185166"/>
          </a:xfrm>
          <a:prstGeom prst="rect">
            <a:avLst/>
          </a:prstGeom>
          <a:noFill/>
        </p:spPr>
        <p:txBody>
          <a:bodyPr wrap="square" anchor="t" lIns="0" rIns="0" tIns="0" bIns="0">
            <a:spAutoFit/>
          </a:bodyPr>
          <a:lstStyle/>
          <a:p>
            <a:pPr algn="l"/>
            <a:r>
              <a:rPr sz="900" b="0" i="0">
                <a:solidFill>
                  <a:srgbClr val="FFFFFF"/>
                </a:solidFill>
                <a:latin typeface="Calibri"/>
              </a:rPr>
              <a:t>What breaks?</a:t>
            </a:r>
          </a:p>
        </p:txBody>
      </p:sp>
      <p:sp>
        <p:nvSpPr>
          <p:cNvPr id="25" name="TextBox 24"/>
          <p:cNvSpPr txBox="1"/>
          <p:nvPr/>
        </p:nvSpPr>
        <p:spPr>
          <a:xfrm>
            <a:off x="4191666"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26" name="TextBox 25"/>
          <p:cNvSpPr txBox="1"/>
          <p:nvPr/>
        </p:nvSpPr>
        <p:spPr>
          <a:xfrm>
            <a:off x="4575714" y="5669280"/>
            <a:ext cx="1070133" cy="185166"/>
          </a:xfrm>
          <a:prstGeom prst="rect">
            <a:avLst/>
          </a:prstGeom>
          <a:noFill/>
        </p:spPr>
        <p:txBody>
          <a:bodyPr wrap="square" anchor="t" lIns="0" rIns="0" tIns="0" bIns="0">
            <a:spAutoFit/>
          </a:bodyPr>
          <a:lstStyle/>
          <a:p>
            <a:pPr algn="l"/>
            <a:r>
              <a:rPr sz="900" b="0" i="0">
                <a:solidFill>
                  <a:srgbClr val="FFFFFF"/>
                </a:solidFill>
                <a:latin typeface="Calibri"/>
              </a:rPr>
              <a:t>What transfers?</a:t>
            </a:r>
          </a:p>
        </p:txBody>
      </p:sp>
      <p:sp>
        <p:nvSpPr>
          <p:cNvPr id="27" name="TextBox 2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Day 5. Model justification: the committee memo</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Friday turns the week's model into one memo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Topics on a gym's calls, the case on a bank's 41,188 calls, the lab on loans.</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dumbbell_e9a454c4888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TOPICS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A gym in Indore, invented</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Twenty lapsed members, two models, Rs 30 a call, Rs 900 a missed return.</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andmark_fde62565522c.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CASE</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UCI Bank Marketing</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week's file: three near-tie models, a time split, a sealed test slice.</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cale_e4d6117bdfb8.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LAB</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Rohan's loan book</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German Credit's documented 5 : 1 matrix, then Kalpa's 20 : 1.</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29" name="Oval 2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31" name="Oval 30"/>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33" name="Oval 32"/>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35" name="Oval 34"/>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37" name="Oval 36"/>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39" name="Oval 38"/>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41" name="Oval 40"/>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60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Week 5 of 20: the model meets its committee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Monday framed it, Tuesday priced it, Wednesday cleaned it, Thursday chose it.</a:t>
            </a:r>
          </a:p>
        </p:txBody>
      </p:sp>
      <p:pic>
        <p:nvPicPr>
          <p:cNvPr id="9" name="mermaid diagram" descr="d6478986587e0eeb.png"/>
          <p:cNvPicPr>
            <a:picLocks noChangeAspect="1"/>
          </p:cNvPicPr>
          <p:nvPr/>
        </p:nvPicPr>
        <p:blipFill>
          <a:blip r:embed="rId5"/>
          <a:stretch>
            <a:fillRect/>
          </a:stretch>
        </p:blipFill>
        <p:spPr>
          <a:xfrm>
            <a:off x="3178530" y="1682496"/>
            <a:ext cx="5834634"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3 / 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week's picture: Friday adds the last panel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day drew one more piece of the same timeline.</a:t>
            </a:r>
          </a:p>
        </p:txBody>
      </p:sp>
      <p:pic>
        <p:nvPicPr>
          <p:cNvPr id="9" name="mermaid diagram" descr="8eb6327c5704ad75.png"/>
          <p:cNvPicPr>
            <a:picLocks noChangeAspect="1"/>
          </p:cNvPicPr>
          <p:nvPr/>
        </p:nvPicPr>
        <p:blipFill>
          <a:blip r:embed="rId5"/>
          <a:stretch>
            <a:fillRect/>
          </a:stretch>
        </p:blipFill>
        <p:spPr>
          <a:xfrm>
            <a:off x="530352" y="1956816"/>
            <a:ext cx="11130991" cy="1545971"/>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4 / 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ticket: four people, four pushes, one memo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Due Monday: which model, its bill, its staleness rule, what transfers.</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5714364"/>
                <a:gridCol w="5416626"/>
              </a:tblGrid>
              <a:tr h="369824">
                <a:tc>
                  <a:txBody>
                    <a:bodyPr/>
                    <a:lstStyle/>
                    <a:p>
                      <a:r>
                        <a:rPr sz="1450" b="1" i="0">
                          <a:solidFill>
                            <a:srgbClr val="FFFFFF"/>
                          </a:solidFill>
                          <a:latin typeface="Calibri"/>
                        </a:rPr>
                        <a:t>Seat at the table</a:t>
                      </a:r>
                    </a:p>
                  </a:txBody>
                  <a:tcPr marL="101600" marR="101600" marT="38100" marB="38100" anchor="ctr">
                    <a:solidFill>
                      <a:srgbClr val="1A0F5C"/>
                    </a:solidFill>
                  </a:tcPr>
                </a:tc>
                <a:tc>
                  <a:txBody>
                    <a:bodyPr/>
                    <a:lstStyle/>
                    <a:p>
                      <a:r>
                        <a:rPr sz="1450" b="1" i="0">
                          <a:solidFill>
                            <a:srgbClr val="FFFFFF"/>
                          </a:solidFill>
                          <a:latin typeface="Calibri"/>
                        </a:rPr>
                        <a:t>What they push on</a:t>
                      </a:r>
                    </a:p>
                  </a:txBody>
                  <a:tcPr marL="101600" marR="101600" marT="38100" marB="38100" anchor="ctr">
                    <a:solidFill>
                      <a:srgbClr val="1A0F5C"/>
                    </a:solidFill>
                  </a:tcPr>
                </a:tc>
              </a:tr>
              <a:tr h="369824">
                <a:tc>
                  <a:txBody>
                    <a:bodyPr/>
                    <a:lstStyle/>
                    <a:p>
                      <a:r>
                        <a:rPr sz="1400" b="0" i="0">
                          <a:solidFill>
                            <a:srgbClr val="1A1440"/>
                          </a:solidFill>
                          <a:latin typeface="Calibri"/>
                        </a:rPr>
                        <a:t>Meera, CEO, Kalpa Retail</a:t>
                      </a:r>
                    </a:p>
                  </a:txBody>
                  <a:tcPr marL="101600" marR="101600" marT="38100" marB="38100" anchor="ctr">
                    <a:solidFill>
                      <a:srgbClr val="FFFFFF"/>
                    </a:solidFill>
                  </a:tcPr>
                </a:tc>
                <a:tc>
                  <a:txBody>
                    <a:bodyPr/>
                    <a:lstStyle/>
                    <a:p>
                      <a:r>
                        <a:rPr sz="1400" b="0" i="0">
                          <a:solidFill>
                            <a:srgbClr val="1A1440"/>
                          </a:solidFill>
                          <a:latin typeface="Calibri"/>
                        </a:rPr>
                        <a:t>One page: which model, and why</a:t>
                      </a:r>
                    </a:p>
                  </a:txBody>
                  <a:tcPr marL="101600" marR="101600" marT="38100" marB="38100" anchor="ctr">
                    <a:solidFill>
                      <a:srgbClr val="FFFFFF"/>
                    </a:solidFill>
                  </a:tcPr>
                </a:tc>
              </a:tr>
              <a:tr h="369824">
                <a:tc>
                  <a:txBody>
                    <a:bodyPr/>
                    <a:lstStyle/>
                    <a:p>
                      <a:r>
                        <a:rPr sz="1400" b="0" i="0">
                          <a:solidFill>
                            <a:srgbClr val="1A1440"/>
                          </a:solidFill>
                          <a:latin typeface="Calibri"/>
                        </a:rPr>
                        <a:t>Marketing lead</a:t>
                      </a:r>
                    </a:p>
                  </a:txBody>
                  <a:tcPr marL="101600" marR="101600" marT="38100" marB="38100" anchor="ctr">
                    <a:solidFill>
                      <a:srgbClr val="F4F2FA"/>
                    </a:solidFill>
                  </a:tcPr>
                </a:tc>
                <a:tc>
                  <a:txBody>
                    <a:bodyPr/>
                    <a:lstStyle/>
                    <a:p>
                      <a:r>
                        <a:rPr sz="1400" b="0" i="0">
                          <a:solidFill>
                            <a:srgbClr val="1A1440"/>
                          </a:solidFill>
                          <a:latin typeface="Calibri"/>
                        </a:rPr>
                        <a:t>"Use the higher-scoring model"</a:t>
                      </a:r>
                    </a:p>
                  </a:txBody>
                  <a:tcPr marL="101600" marR="101600" marT="38100" marB="38100" anchor="ctr">
                    <a:solidFill>
                      <a:srgbClr val="F4F2FA"/>
                    </a:solidFill>
                  </a:tcPr>
                </a:tc>
              </a:tr>
              <a:tr h="369824">
                <a:tc>
                  <a:txBody>
                    <a:bodyPr/>
                    <a:lstStyle/>
                    <a:p>
                      <a:r>
                        <a:rPr sz="1400" b="0" i="0">
                          <a:solidFill>
                            <a:srgbClr val="1A1440"/>
                          </a:solidFill>
                          <a:latin typeface="Calibri"/>
                        </a:rPr>
                        <a:t>Anand, Finance</a:t>
                      </a:r>
                    </a:p>
                  </a:txBody>
                  <a:tcPr marL="101600" marR="101600" marT="38100" marB="38100" anchor="ctr">
                    <a:solidFill>
                      <a:srgbClr val="FFFFFF"/>
                    </a:solidFill>
                  </a:tcPr>
                </a:tc>
                <a:tc>
                  <a:txBody>
                    <a:bodyPr/>
                    <a:lstStyle/>
                    <a:p>
                      <a:r>
                        <a:rPr sz="1400" b="0" i="0">
                          <a:solidFill>
                            <a:srgbClr val="1A1440"/>
                          </a:solidFill>
                          <a:latin typeface="Calibri"/>
                        </a:rPr>
                        <a:t>"What does wrong cost, in rupees?"</a:t>
                      </a:r>
                    </a:p>
                  </a:txBody>
                  <a:tcPr marL="101600" marR="101600" marT="38100" marB="38100" anchor="ctr">
                    <a:solidFill>
                      <a:srgbClr val="FFFFFF"/>
                    </a:solidFill>
                  </a:tcPr>
                </a:tc>
              </a:tr>
              <a:tr h="369824">
                <a:tc>
                  <a:txBody>
                    <a:bodyPr/>
                    <a:lstStyle/>
                    <a:p>
                      <a:r>
                        <a:rPr sz="1400" b="0" i="0">
                          <a:solidFill>
                            <a:srgbClr val="1A1440"/>
                          </a:solidFill>
                          <a:latin typeface="Calibri"/>
                        </a:rPr>
                        <a:t>Rohan, head of risk, Kalpa Financial</a:t>
                      </a:r>
                    </a:p>
                  </a:txBody>
                  <a:tcPr marL="101600" marR="101600" marT="38100" marB="38100" anchor="ctr">
                    <a:solidFill>
                      <a:srgbClr val="F4F2FA"/>
                    </a:solidFill>
                  </a:tcPr>
                </a:tc>
                <a:tc>
                  <a:txBody>
                    <a:bodyPr/>
                    <a:lstStyle/>
                    <a:p>
                      <a:r>
                        <a:rPr sz="1400" b="0" i="0">
                          <a:solidFill>
                            <a:srgbClr val="1A1440"/>
                          </a:solidFill>
                          <a:latin typeface="Calibri"/>
                        </a:rPr>
                        <a:t>"What carries over to my loans?"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5 / 60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topics, five chapters, then three case chapters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curriculum's words, in the curriculum's order.</a:t>
            </a:r>
          </a:p>
        </p:txBody>
      </p:sp>
      <p:graphicFrame>
        <p:nvGraphicFramePr>
          <p:cNvPr id="9" name="Table 8"/>
          <p:cNvGraphicFramePr>
            <a:graphicFrameLocks noGrp="1"/>
          </p:cNvGraphicFramePr>
          <p:nvPr/>
        </p:nvGraphicFramePr>
        <p:xfrm>
          <a:off x="530352" y="1956816"/>
          <a:ext cx="11130990" cy="2426208"/>
        </p:xfrm>
        <a:graphic>
          <a:graphicData uri="http://schemas.openxmlformats.org/drawingml/2006/table">
            <a:tbl>
              <a:tblPr firstRow="0" bandRow="0">
                <a:tableStyleId>{2D5ABB26-0587-4C30-8999-92F81FD0307C}</a:tableStyleId>
              </a:tblPr>
              <a:tblGrid>
                <a:gridCol w="914400"/>
                <a:gridCol w="4715674"/>
                <a:gridCol w="3672116"/>
                <a:gridCol w="914400"/>
                <a:gridCol w="914400"/>
              </a:tblGrid>
              <a:tr h="335280">
                <a:tc>
                  <a:txBody>
                    <a:bodyPr/>
                    <a:lstStyle/>
                    <a:p>
                      <a:r>
                        <a:rPr sz="1250" b="1" i="0">
                          <a:solidFill>
                            <a:srgbClr val="FFFFFF"/>
                          </a:solidFill>
                          <a:latin typeface="Calibri"/>
                        </a:rPr>
                        <a:t>#</a:t>
                      </a:r>
                    </a:p>
                  </a:txBody>
                  <a:tcPr marL="101600" marR="101600" marT="38100" marB="38100" anchor="ctr">
                    <a:solidFill>
                      <a:srgbClr val="1A0F5C"/>
                    </a:solidFill>
                  </a:tcPr>
                </a:tc>
                <a:tc>
                  <a:txBody>
                    <a:bodyPr/>
                    <a:lstStyle/>
                    <a:p>
                      <a:r>
                        <a:rPr sz="1250" b="1" i="0">
                          <a:solidFill>
                            <a:srgbClr val="FFFFFF"/>
                          </a:solidFill>
                          <a:latin typeface="Calibri"/>
                        </a:rPr>
                        <a:t>The topic</a:t>
                      </a:r>
                    </a:p>
                  </a:txBody>
                  <a:tcPr marL="101600" marR="101600" marT="38100" marB="38100" anchor="ctr">
                    <a:solidFill>
                      <a:srgbClr val="1A0F5C"/>
                    </a:solidFill>
                  </a:tcPr>
                </a:tc>
                <a:tc>
                  <a:txBody>
                    <a:bodyPr/>
                    <a:lstStyle/>
                    <a:p>
                      <a:r>
                        <a:rPr sz="1250" b="1" i="0">
                          <a:solidFill>
                            <a:srgbClr val="FFFFFF"/>
                          </a:solidFill>
                          <a:latin typeface="Calibri"/>
                        </a:rPr>
                        <a:t>Chapter</a:t>
                      </a:r>
                    </a:p>
                  </a:txBody>
                  <a:tcPr marL="101600" marR="101600" marT="38100" marB="38100" anchor="ctr">
                    <a:solidFill>
                      <a:srgbClr val="1A0F5C"/>
                    </a:solidFill>
                  </a:tcPr>
                </a:tc>
                <a:tc>
                  <a:txBody>
                    <a:bodyPr/>
                    <a:lstStyle/>
                    <a:p>
                      <a:r>
                        <a:rPr sz="1250" b="1" i="0">
                          <a:solidFill>
                            <a:srgbClr val="FFFFFF"/>
                          </a:solidFill>
                          <a:latin typeface="Calibri"/>
                        </a:rPr>
                        <a:t>Min</a:t>
                      </a:r>
                    </a:p>
                  </a:txBody>
                  <a:tcPr marL="101600" marR="101600" marT="38100" marB="38100" anchor="ctr">
                    <a:solidFill>
                      <a:srgbClr val="1A0F5C"/>
                    </a:solidFill>
                  </a:tcPr>
                </a:tc>
                <a:tc>
                  <a:txBody>
                    <a:bodyPr/>
                    <a:lstStyle/>
                    <a:p>
                      <a:r>
                        <a:rPr sz="1250" b="1" i="0">
                          <a:solidFill>
                            <a:srgbClr val="FFFFFF"/>
                          </a:solidFill>
                          <a:latin typeface="Calibri"/>
                        </a:rPr>
                        <a:t>Notebook</a:t>
                      </a:r>
                    </a:p>
                  </a:txBody>
                  <a:tcPr marL="101600" marR="101600" marT="38100" marB="38100" anchor="ctr">
                    <a:solidFill>
                      <a:srgbClr val="1A0F5C"/>
                    </a:solidFill>
                  </a:tcPr>
                </a:tc>
              </a:tr>
              <a:tr h="542544">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The model justification: claim, evidence, caveat, action</a:t>
                      </a:r>
                    </a:p>
                  </a:txBody>
                  <a:tcPr marL="101600" marR="101600" marT="38100" marB="38100" anchor="ctr">
                    <a:solidFill>
                      <a:srgbClr val="FFFFFF"/>
                    </a:solidFill>
                  </a:tcPr>
                </a:tc>
                <a:tc>
                  <a:txBody>
                    <a:bodyPr/>
                    <a:lstStyle/>
                    <a:p>
                      <a:r>
                        <a:rPr sz="1200" b="0" i="0">
                          <a:solidFill>
                            <a:srgbClr val="1A1440"/>
                          </a:solidFill>
                          <a:latin typeface="Calibri"/>
                        </a:rPr>
                        <a:t>Selling a model to people who don't care about AUC</a:t>
                      </a:r>
                    </a:p>
                  </a:txBody>
                  <a:tcPr marL="101600" marR="101600" marT="38100" marB="38100" anchor="ctr">
                    <a:solidFill>
                      <a:srgbClr val="FFFFFF"/>
                    </a:solidFill>
                  </a:tcPr>
                </a:tc>
                <a:tc>
                  <a:txBody>
                    <a:bodyPr/>
                    <a:lstStyle/>
                    <a:p>
                      <a:r>
                        <a:rPr sz="1200" b="0" i="0">
                          <a:solidFill>
                            <a:srgbClr val="1A1440"/>
                          </a:solidFill>
                          <a:latin typeface="Calibri"/>
                        </a:rPr>
                        <a:t>15</a:t>
                      </a:r>
                    </a:p>
                  </a:txBody>
                  <a:tcPr marL="101600" marR="101600" marT="38100" marB="38100" anchor="ctr">
                    <a:solidFill>
                      <a:srgbClr val="FFFFFF"/>
                    </a:solidFill>
                  </a:tcPr>
                </a:tc>
                <a:tc>
                  <a:txBody>
                    <a:bodyPr/>
                    <a:lstStyle/>
                    <a:p>
                      <a:r>
                        <a:rPr sz="1200" b="0" i="0">
                          <a:solidFill>
                            <a:srgbClr val="1A1440"/>
                          </a:solidFill>
                          <a:latin typeface="Calibri"/>
                        </a:rPr>
                        <a:t>ch01</a:t>
                      </a:r>
                    </a:p>
                  </a:txBody>
                  <a:tcPr marL="101600" marR="101600" marT="38100" marB="38100" anchor="ctr">
                    <a:solidFill>
                      <a:srgbClr val="FFFFFF"/>
                    </a:solidFill>
                  </a:tcPr>
                </a:tc>
              </a:tr>
              <a:tr h="335280">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The error bill in rupees under the chosen threshold</a:t>
                      </a:r>
                    </a:p>
                  </a:txBody>
                  <a:tcPr marL="101600" marR="101600" marT="38100" marB="38100" anchor="ctr">
                    <a:solidFill>
                      <a:srgbClr val="F4F2FA"/>
                    </a:solidFill>
                  </a:tcPr>
                </a:tc>
                <a:tc>
                  <a:txBody>
                    <a:bodyPr/>
                    <a:lstStyle/>
                    <a:p>
                      <a:r>
                        <a:rPr sz="1200" b="0" i="0">
                          <a:solidFill>
                            <a:srgbClr val="1A1440"/>
                          </a:solidFill>
                          <a:latin typeface="Calibri"/>
                        </a:rPr>
                        <a:t>What will mistakes cost us</a:t>
                      </a:r>
                    </a:p>
                  </a:txBody>
                  <a:tcPr marL="101600" marR="101600" marT="38100" marB="38100" anchor="ctr">
                    <a:solidFill>
                      <a:srgbClr val="F4F2FA"/>
                    </a:solidFill>
                  </a:tcPr>
                </a:tc>
                <a:tc>
                  <a:txBody>
                    <a:bodyPr/>
                    <a:lstStyle/>
                    <a:p>
                      <a:r>
                        <a:rPr sz="1200" b="0" i="0">
                          <a:solidFill>
                            <a:srgbClr val="1A1440"/>
                          </a:solidFill>
                          <a:latin typeface="Calibri"/>
                        </a:rPr>
                        <a:t>15</a:t>
                      </a:r>
                    </a:p>
                  </a:txBody>
                  <a:tcPr marL="101600" marR="101600" marT="38100" marB="38100" anchor="ctr">
                    <a:solidFill>
                      <a:srgbClr val="F4F2FA"/>
                    </a:solidFill>
                  </a:tcPr>
                </a:tc>
                <a:tc>
                  <a:txBody>
                    <a:bodyPr/>
                    <a:lstStyle/>
                    <a:p>
                      <a:r>
                        <a:rPr sz="1200" b="0" i="0">
                          <a:solidFill>
                            <a:srgbClr val="1A1440"/>
                          </a:solidFill>
                          <a:latin typeface="Calibri"/>
                        </a:rPr>
                        <a:t>ch02</a:t>
                      </a:r>
                    </a:p>
                  </a:txBody>
                  <a:tcPr marL="101600" marR="101600" marT="38100" marB="38100" anchor="ctr">
                    <a:solidFill>
                      <a:srgbClr val="F4F2FA"/>
                    </a:solidFill>
                  </a:tcPr>
                </a:tc>
              </a:tr>
              <a:tr h="335280">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Staleness: the monitoring rule and the weakest segment</a:t>
                      </a:r>
                    </a:p>
                  </a:txBody>
                  <a:tcPr marL="101600" marR="101600" marT="38100" marB="38100" anchor="ctr">
                    <a:solidFill>
                      <a:srgbClr val="FFFFFF"/>
                    </a:solidFill>
                  </a:tcPr>
                </a:tc>
                <a:tc>
                  <a:txBody>
                    <a:bodyPr/>
                    <a:lstStyle/>
                    <a:p>
                      <a:r>
                        <a:rPr sz="1200" b="0" i="0">
                          <a:solidFill>
                            <a:srgbClr val="1A1440"/>
                          </a:solidFill>
                          <a:latin typeface="Calibri"/>
                        </a:rPr>
                        <a:t>When the model goes stale</a:t>
                      </a:r>
                    </a:p>
                  </a:txBody>
                  <a:tcPr marL="101600" marR="101600" marT="38100" marB="38100" anchor="ctr">
                    <a:solidFill>
                      <a:srgbClr val="FFFFFF"/>
                    </a:solidFill>
                  </a:tcPr>
                </a:tc>
                <a:tc>
                  <a:txBody>
                    <a:bodyPr/>
                    <a:lstStyle/>
                    <a:p>
                      <a:r>
                        <a:rPr sz="1200" b="0" i="0">
                          <a:solidFill>
                            <a:srgbClr val="1A1440"/>
                          </a:solidFill>
                          <a:latin typeface="Calibri"/>
                        </a:rPr>
                        <a:t>15</a:t>
                      </a:r>
                    </a:p>
                  </a:txBody>
                  <a:tcPr marL="101600" marR="101600" marT="38100" marB="38100" anchor="ctr">
                    <a:solidFill>
                      <a:srgbClr val="FFFFFF"/>
                    </a:solidFill>
                  </a:tcPr>
                </a:tc>
                <a:tc>
                  <a:txBody>
                    <a:bodyPr/>
                    <a:lstStyle/>
                    <a:p>
                      <a:r>
                        <a:rPr sz="1200" b="0" i="0">
                          <a:solidFill>
                            <a:srgbClr val="1A1440"/>
                          </a:solidFill>
                          <a:latin typeface="Calibri"/>
                        </a:rPr>
                        <a:t>ch03</a:t>
                      </a:r>
                    </a:p>
                  </a:txBody>
                  <a:tcPr marL="101600" marR="101600" marT="38100" marB="38100" anchor="ctr">
                    <a:solidFill>
                      <a:srgbClr val="FFFFFF"/>
                    </a:solidFill>
                  </a:tcPr>
                </a:tc>
              </a:tr>
              <a:tr h="542544">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The transfer paragraph: what changes, what stays, what would leak</a:t>
                      </a:r>
                    </a:p>
                  </a:txBody>
                  <a:tcPr marL="101600" marR="101600" marT="38100" marB="38100" anchor="ctr">
                    <a:solidFill>
                      <a:srgbClr val="F4F2FA"/>
                    </a:solidFill>
                  </a:tcPr>
                </a:tc>
                <a:tc>
                  <a:txBody>
                    <a:bodyPr/>
                    <a:lstStyle/>
                    <a:p>
                      <a:r>
                        <a:rPr sz="1200" b="0" i="0">
                          <a:solidFill>
                            <a:srgbClr val="1A1440"/>
                          </a:solidFill>
                          <a:latin typeface="Calibri"/>
                        </a:rPr>
                        <a:t>Moving the model to lending</a:t>
                      </a:r>
                    </a:p>
                  </a:txBody>
                  <a:tcPr marL="101600" marR="101600" marT="38100" marB="38100" anchor="ctr">
                    <a:solidFill>
                      <a:srgbClr val="F4F2FA"/>
                    </a:solidFill>
                  </a:tcPr>
                </a:tc>
                <a:tc>
                  <a:txBody>
                    <a:bodyPr/>
                    <a:lstStyle/>
                    <a:p>
                      <a:r>
                        <a:rPr sz="1200" b="0" i="0">
                          <a:solidFill>
                            <a:srgbClr val="1A1440"/>
                          </a:solidFill>
                          <a:latin typeface="Calibri"/>
                        </a:rPr>
                        <a:t>11</a:t>
                      </a:r>
                    </a:p>
                  </a:txBody>
                  <a:tcPr marL="101600" marR="101600" marT="38100" marB="38100" anchor="ctr">
                    <a:solidFill>
                      <a:srgbClr val="F4F2FA"/>
                    </a:solidFill>
                  </a:tcPr>
                </a:tc>
                <a:tc>
                  <a:txBody>
                    <a:bodyPr/>
                    <a:lstStyle/>
                    <a:p>
                      <a:r>
                        <a:rPr sz="1200" b="0" i="0">
                          <a:solidFill>
                            <a:srgbClr val="1A1440"/>
                          </a:solidFill>
                          <a:latin typeface="Calibri"/>
                        </a:rPr>
                        <a:t>ch04</a:t>
                      </a:r>
                    </a:p>
                  </a:txBody>
                  <a:tcPr marL="101600" marR="101600" marT="38100" marB="38100" anchor="ctr">
                    <a:solidFill>
                      <a:srgbClr val="F4F2FA"/>
                    </a:solidFill>
                  </a:tcPr>
                </a:tc>
              </a:tr>
              <a:tr h="335280">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Reading the memo aloud under challenge</a:t>
                      </a:r>
                    </a:p>
                  </a:txBody>
                  <a:tcPr marL="101600" marR="101600" marT="38100" marB="38100" anchor="ctr">
                    <a:solidFill>
                      <a:srgbClr val="FFFFFF"/>
                    </a:solidFill>
                  </a:tcPr>
                </a:tc>
                <a:tc>
                  <a:txBody>
                    <a:bodyPr/>
                    <a:lstStyle/>
                    <a:p>
                      <a:r>
                        <a:rPr sz="1200" b="0" i="0">
                          <a:solidFill>
                            <a:srgbClr val="1A1440"/>
                          </a:solidFill>
                          <a:latin typeface="Calibri"/>
                        </a:rPr>
                        <a:t>Defending it in the room</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ch05</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6 / 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topics, one memo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topic writes one part of Monday's page.</a:t>
            </a:r>
          </a:p>
        </p:txBody>
      </p:sp>
      <p:pic>
        <p:nvPicPr>
          <p:cNvPr id="9" name="mermaid diagram" descr="52644a0485157a25.png"/>
          <p:cNvPicPr>
            <a:picLocks noChangeAspect="1"/>
          </p:cNvPicPr>
          <p:nvPr/>
        </p:nvPicPr>
        <p:blipFill>
          <a:blip r:embed="rId5"/>
          <a:stretch>
            <a:fillRect/>
          </a:stretch>
        </p:blipFill>
        <p:spPr>
          <a:xfrm>
            <a:off x="2882540" y="1682496"/>
            <a:ext cx="6426614"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Selling a model to people who don't care about AUC</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the room hear?</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model justification: claim, evidence, caveat, action · also searched as: presenting ML results to stakeholders, model justification</a:t>
            </a:r>
          </a:p>
        </p:txBody>
      </p:sp>
      <p:sp>
        <p:nvSpPr>
          <p:cNvPr id="11" name="Rounded Rectangle 10"/>
          <p:cNvSpPr/>
          <p:nvPr/>
        </p:nvSpPr>
        <p:spPr>
          <a:xfrm>
            <a:off x="731519" y="5074920"/>
            <a:ext cx="1504048"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8 / 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opening line gets the calls approved?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gym owner, 20 lapsed members, two models (invented). Pick one opening.</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option</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"Model B's AUC is 0.85 against A's 0.80."</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"A's top 6 bring back 4 of 5 returners for Rs 180."</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"Model A is a logistic regression on two columns."</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"Here is the confusion matrix at 0.5."</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owner hears members and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Model A's ranking of the 20 members; green came back.</a:t>
            </a:r>
          </a:p>
        </p:txBody>
      </p:sp>
      <p:pic>
        <p:nvPicPr>
          <p:cNvPr id="9" name="mermaid diagram" descr="C2_W05_D05_gym_ranking_STUDENT.png"/>
          <p:cNvPicPr>
            <a:picLocks noChangeAspect="1"/>
          </p:cNvPicPr>
          <p:nvPr/>
        </p:nvPicPr>
        <p:blipFill>
          <a:blip r:embed="rId4"/>
          <a:stretch>
            <a:fillRect/>
          </a:stretch>
        </p:blipFill>
        <p:spPr>
          <a:xfrm>
            <a:off x="530352" y="1956816"/>
            <a:ext cx="11130991" cy="2782747"/>
          </a:xfrm>
          <a:prstGeom prst="rect">
            <a:avLst/>
          </a:prstGeom>
        </p:spPr>
      </p:pic>
      <p:sp>
        <p:nvSpPr>
          <p:cNvPr id="10" name="picture caption"/>
          <p:cNvSpPr txBox="1"/>
          <p:nvPr/>
        </p:nvSpPr>
        <p:spPr>
          <a:xfrm>
            <a:off x="530352" y="4776139"/>
            <a:ext cx="11130991" cy="316992"/>
          </a:xfrm>
          <a:prstGeom prst="rect">
            <a:avLst/>
          </a:prstGeom>
          <a:noFill/>
        </p:spPr>
        <p:txBody>
          <a:bodyPr wrap="square" anchor="t" lIns="0" rIns="0" tIns="0" bIns="0">
            <a:spAutoFit/>
          </a:bodyPr>
          <a:lstStyle/>
          <a:p>
            <a:pPr algn="ctr"/>
            <a:r>
              <a:rPr sz="1200" b="0" i="0">
                <a:solidFill>
                  <a:srgbClr val="6B6690"/>
                </a:solidFill>
                <a:latin typeface="Calibri"/>
              </a:rPr>
              <a:t>Twenty invented gym members ranked by model A, returners in green, the cut after six</a:t>
            </a:r>
          </a:p>
        </p:txBody>
      </p:sp>
      <p:sp>
        <p:nvSpPr>
          <p:cNvPr id="11" name="TextBox 10"/>
          <p:cNvSpPr txBox="1"/>
          <p:nvPr/>
        </p:nvSpPr>
        <p:spPr>
          <a:xfrm>
            <a:off x="530352" y="5202859"/>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Calling nobody loses Rs 4,500. A's top 6 and B's top 6 each find 4 of 5: a bill of Rs 960 either way.</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room hear?</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6" name="Oval 15"/>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0" name="Oval 19"/>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2" name="Oval 21"/>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4" name="Oval 23"/>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6" name="Oval 25"/>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AUC is the share of pairs ranked the right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5 returners x 15 non-returners = 75 pairs to check.</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pairs = [(r, n) for r in returners for n in non_returners]</a:t>
            </a:r>
          </a:p>
          <a:p>
            <a:pPr>
              <a:spcAft>
                <a:spcPts val="200"/>
              </a:spcAft>
            </a:pPr>
            <a:r>
              <a:rPr sz="1400" b="0" i="0">
                <a:solidFill>
                  <a:srgbClr val="E4E1F1"/>
                </a:solidFill>
                <a:latin typeface="Consolas"/>
              </a:rPr>
              <a:t>right = sum(r.score &gt; n.score for r, n in pairs)</a:t>
            </a:r>
          </a:p>
          <a:p>
            <a:pPr>
              <a:spcAft>
                <a:spcPts val="200"/>
              </a:spcAft>
            </a:pPr>
            <a:r>
              <a:rPr sz="1400" b="0" i="0">
                <a:solidFill>
                  <a:srgbClr val="E4E1F1"/>
                </a:solidFill>
                <a:latin typeface="Consolas"/>
              </a:rPr>
              <a:t>print(right, "of", len(pairs))   # A: 60 of 75 = 0.80</a:t>
            </a:r>
          </a:p>
          <a:p>
            <a:pPr>
              <a:spcAft>
                <a:spcPts val="200"/>
              </a:spcAft>
            </a:pPr>
            <a:r>
              <a:rPr sz="1400" b="0" i="0">
                <a:solidFill>
                  <a:srgbClr val="A9A3D2"/>
                </a:solidFill>
                <a:latin typeface="Consolas"/>
              </a:rPr>
              <a:t>                                 # B: 64 of 75 = 0.85</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room hear?</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8" name="Oval 17"/>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20" name="Oval 19"/>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2" name="Oval 21"/>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4" name="Oval 23"/>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6" name="Oval 25"/>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8" name="Oval 27"/>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parts, each carrying a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Week 1's four-part note, at model scale.</a:t>
            </a:r>
          </a:p>
        </p:txBody>
      </p:sp>
      <p:pic>
        <p:nvPicPr>
          <p:cNvPr id="9" name="mermaid diagram" descr="f9e90197e724f4d7.png"/>
          <p:cNvPicPr>
            <a:picLocks noChangeAspect="1"/>
          </p:cNvPicPr>
          <p:nvPr/>
        </p:nvPicPr>
        <p:blipFill>
          <a:blip r:embed="rId6"/>
          <a:stretch>
            <a:fillRect/>
          </a:stretch>
        </p:blipFill>
        <p:spPr>
          <a:xfrm>
            <a:off x="780897" y="1956816"/>
            <a:ext cx="10629900" cy="1857375"/>
          </a:xfrm>
          <a:prstGeom prst="rect">
            <a:avLst/>
          </a:prstGeom>
        </p:spPr>
      </p:pic>
      <p:sp>
        <p:nvSpPr>
          <p:cNvPr id="10" name="Rounded Rectangle 9"/>
          <p:cNvSpPr/>
          <p:nvPr/>
        </p:nvSpPr>
        <p:spPr>
          <a:xfrm>
            <a:off x="530352" y="3960495"/>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16318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272915"/>
            <a:ext cx="237744" cy="237744"/>
          </a:xfrm>
          <a:prstGeom prst="rect">
            <a:avLst/>
          </a:prstGeom>
        </p:spPr>
      </p:pic>
      <p:sp>
        <p:nvSpPr>
          <p:cNvPr id="13" name="TextBox 12"/>
          <p:cNvSpPr txBox="1"/>
          <p:nvPr/>
        </p:nvSpPr>
        <p:spPr>
          <a:xfrm>
            <a:off x="1399031" y="410679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326255"/>
            <a:ext cx="9987991" cy="423672"/>
          </a:xfrm>
          <a:prstGeom prst="rect">
            <a:avLst/>
          </a:prstGeom>
          <a:noFill/>
        </p:spPr>
        <p:txBody>
          <a:bodyPr wrap="square" anchor="t" lIns="0" rIns="0" tIns="0" bIns="0">
            <a:spAutoFit/>
          </a:bodyPr>
          <a:lstStyle/>
          <a:p>
            <a:r>
              <a:rPr sz="1500" b="0" i="0">
                <a:solidFill>
                  <a:srgbClr val="1A1440"/>
                </a:solidFill>
                <a:latin typeface="Calibri"/>
              </a:rPr>
              <a:t>Lead with the decision and its rupees. </a:t>
            </a:r>
            <a:r>
              <a:rPr sz="1500" b="1" i="0">
                <a:solidFill>
                  <a:srgbClr val="1A1440"/>
                </a:solidFill>
                <a:latin typeface="Calibri"/>
              </a:rPr>
              <a:t>It flips</a:t>
            </a:r>
            <a:r>
              <a:rPr sz="1500" b="0" i="0">
                <a:solidFill>
                  <a:srgbClr val="1A1440"/>
                </a:solidFill>
                <a:latin typeface="Calibri"/>
              </a:rPr>
              <a:t> when the reader is the ML lead reviewing the method.</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room hear?</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9" name="Oval 18"/>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21" name="Oval 2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3" name="Oval 22"/>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5" name="Oval 24"/>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7" name="Oval 26"/>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9" name="Oval 28"/>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What will mistakes cost us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wrong cost?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error bill in rupees under the chosen threshold · also searched as: cost-benefit analysis of a model, expected cost</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13 / 60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At 0.5, model A calls 4. Cheaper or dearer?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wasted call costs Rs 30. A missed returner costs Rs 900.</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The bill is smaller at</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0.5, since it makes 16 fewer calls</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calling all 20</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neither: they are equal</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cannot tell without the AUC</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bill is smaller?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default costs five times more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Rs 1,830 at 0.5, Rs 450 calling everyone, Rs 360 at the cheapest cut.</a:t>
            </a:r>
          </a:p>
        </p:txBody>
      </p:sp>
      <p:pic>
        <p:nvPicPr>
          <p:cNvPr id="9" name="mermaid diagram" descr="C2_W05_D05_gym_bill_sweep_STUDENT.png"/>
          <p:cNvPicPr>
            <a:picLocks noChangeAspect="1"/>
          </p:cNvPicPr>
          <p:nvPr/>
        </p:nvPicPr>
        <p:blipFill>
          <a:blip r:embed="rId4"/>
          <a:stretch>
            <a:fillRect/>
          </a:stretch>
        </p:blipFill>
        <p:spPr>
          <a:xfrm>
            <a:off x="530352" y="1816357"/>
            <a:ext cx="11130991" cy="3895846"/>
          </a:xfrm>
          <a:prstGeom prst="rect">
            <a:avLst/>
          </a:prstGeom>
        </p:spPr>
      </p:pic>
      <p:sp>
        <p:nvSpPr>
          <p:cNvPr id="10" name="picture caption"/>
          <p:cNvSpPr txBox="1"/>
          <p:nvPr/>
        </p:nvSpPr>
        <p:spPr>
          <a:xfrm>
            <a:off x="530352" y="5748779"/>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invented gym's bill at every threshold, wasted calls in lilac and missed returners in rose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60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bill counts the two mistakes, never the hits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returner who is called pays for the call. That is the gain.</a:t>
            </a:r>
          </a:p>
        </p:txBody>
      </p:sp>
      <p:pic>
        <p:nvPicPr>
          <p:cNvPr id="9" name="mermaid diagram" descr="43c3dc6cbe45db8d.png"/>
          <p:cNvPicPr>
            <a:picLocks noChangeAspect="1"/>
          </p:cNvPicPr>
          <p:nvPr/>
        </p:nvPicPr>
        <p:blipFill>
          <a:blip r:embed="rId5"/>
          <a:stretch>
            <a:fillRect/>
          </a:stretch>
        </p:blipFill>
        <p:spPr>
          <a:xfrm>
            <a:off x="2838297" y="1799494"/>
            <a:ext cx="6515100" cy="3814762"/>
          </a:xfrm>
          <a:prstGeom prst="rect">
            <a:avLst/>
          </a:prstGeom>
        </p:spPr>
      </p:pic>
      <p:sp>
        <p:nvSpPr>
          <p:cNvPr id="10" name="TextBox 9"/>
          <p:cNvSpPr txBox="1"/>
          <p:nvPr/>
        </p:nvSpPr>
        <p:spPr>
          <a:xfrm>
            <a:off x="530352" y="5795264"/>
            <a:ext cx="11130991" cy="404367"/>
          </a:xfrm>
          <a:prstGeom prst="rect">
            <a:avLst/>
          </a:prstGeom>
          <a:noFill/>
        </p:spPr>
        <p:txBody>
          <a:bodyPr wrap="square" anchor="t" lIns="0" rIns="0" tIns="0" bIns="0">
            <a:spAutoFit/>
          </a:bodyPr>
          <a:lstStyle/>
          <a:p>
            <a:r>
              <a:rPr sz="1600" b="0" i="0">
                <a:solidFill>
                  <a:srgbClr val="1A1440"/>
                </a:solidFill>
                <a:latin typeface="Calibri"/>
              </a:rPr>
              <a:t>bill = wasted calls x Rs 30 + missed returners x Rs 900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cut, named last: 30 / (30 + 900) = 0.032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Call when the chance of a return beats the cost ratio.</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A9A3D2"/>
                </a:solidFill>
                <a:latin typeface="Consolas"/>
              </a:rPr>
              <a:t># one member with chance p of returning</a:t>
            </a:r>
          </a:p>
          <a:p>
            <a:pPr>
              <a:spcAft>
                <a:spcPts val="200"/>
              </a:spcAft>
            </a:pPr>
            <a:r>
              <a:rPr sz="1400" b="0" i="0">
                <a:solidFill>
                  <a:srgbClr val="E4E1F1"/>
                </a:solidFill>
                <a:latin typeface="Consolas"/>
              </a:rPr>
              <a:t>cost_if_skipped = p * 900</a:t>
            </a:r>
          </a:p>
          <a:p>
            <a:pPr>
              <a:spcAft>
                <a:spcPts val="200"/>
              </a:spcAft>
            </a:pPr>
            <a:r>
              <a:rPr sz="1400" b="0" i="0">
                <a:solidFill>
                  <a:srgbClr val="E4E1F1"/>
                </a:solidFill>
                <a:latin typeface="Consolas"/>
              </a:rPr>
              <a:t>cost_if_called  = (1 - p) * 30</a:t>
            </a:r>
          </a:p>
          <a:p>
            <a:pPr>
              <a:spcAft>
                <a:spcPts val="200"/>
              </a:spcAft>
            </a:pPr>
            <a:r>
              <a:rPr sz="1400" b="0" i="0">
                <a:solidFill>
                  <a:srgbClr val="E4E1F1"/>
                </a:solidFill>
                <a:latin typeface="Consolas"/>
              </a:rPr>
              <a:t>call = p * 900 &gt; (1 - p) * 30      # same as p &gt; 30 / 930 = 0.032</a:t>
            </a:r>
          </a:p>
        </p:txBody>
      </p:sp>
      <p:sp>
        <p:nvSpPr>
          <p:cNvPr id="14" name="TextBox 13"/>
          <p:cNvSpPr txBox="1"/>
          <p:nvPr/>
        </p:nvSpPr>
        <p:spPr>
          <a:xfrm>
            <a:off x="530352" y="3588512"/>
            <a:ext cx="11130991" cy="495807"/>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It flips</a:t>
            </a:r>
            <a:r>
              <a:rPr sz="1600" b="0" i="0">
                <a:solidFill>
                  <a:srgbClr val="1A1440"/>
                </a:solidFill>
                <a:latin typeface="Calibri"/>
              </a:rPr>
              <a:t> when scores are not honest probabilities, or a budget caps the calls.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does wrong cost?</a:t>
            </a:r>
          </a:p>
        </p:txBody>
      </p:sp>
      <p:sp>
        <p:nvSpPr>
          <p:cNvPr id="19" name="Oval 18"/>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21" name="Oval 2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3" name="Oval 22"/>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5" name="Oval 24"/>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7" name="Oval 26"/>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9" name="Oval 28"/>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When the model goes stale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will we know?</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Staleness: the monitoring rule and the weakest segment · also searched as: model drift, model monitoring</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18 / 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rival gym closed in July. When does the rule fire?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Rule: alarm when real sits over 5 points from promised, two months running.</a:t>
            </a:r>
          </a:p>
        </p:txBody>
      </p:sp>
      <p:graphicFrame>
        <p:nvGraphicFramePr>
          <p:cNvPr id="9" name="Table 8"/>
          <p:cNvGraphicFramePr>
            <a:graphicFrameLocks noGrp="1"/>
          </p:cNvGraphicFramePr>
          <p:nvPr/>
        </p:nvGraphicFramePr>
        <p:xfrm>
          <a:off x="530352" y="1956816"/>
          <a:ext cx="11130991" cy="100584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Month</a:t>
                      </a:r>
                    </a:p>
                  </a:txBody>
                  <a:tcPr marL="101600" marR="101600" marT="38100" marB="38100" anchor="ctr">
                    <a:solidFill>
                      <a:srgbClr val="1A0F5C"/>
                    </a:solidFill>
                  </a:tcPr>
                </a:tc>
                <a:tc>
                  <a:txBody>
                    <a:bodyPr/>
                    <a:lstStyle/>
                    <a:p>
                      <a:r>
                        <a:rPr sz="1250" b="1" i="0">
                          <a:solidFill>
                            <a:srgbClr val="FFFFFF"/>
                          </a:solidFill>
                          <a:latin typeface="Calibri"/>
                        </a:rPr>
                        <a:t>Apr</a:t>
                      </a:r>
                    </a:p>
                  </a:txBody>
                  <a:tcPr marL="101600" marR="101600" marT="38100" marB="38100" anchor="ctr">
                    <a:solidFill>
                      <a:srgbClr val="1A0F5C"/>
                    </a:solidFill>
                  </a:tcPr>
                </a:tc>
                <a:tc>
                  <a:txBody>
                    <a:bodyPr/>
                    <a:lstStyle/>
                    <a:p>
                      <a:r>
                        <a:rPr sz="1250" b="1" i="0">
                          <a:solidFill>
                            <a:srgbClr val="FFFFFF"/>
                          </a:solidFill>
                          <a:latin typeface="Calibri"/>
                        </a:rPr>
                        <a:t>May</a:t>
                      </a:r>
                    </a:p>
                  </a:txBody>
                  <a:tcPr marL="101600" marR="101600" marT="38100" marB="38100" anchor="ctr">
                    <a:solidFill>
                      <a:srgbClr val="1A0F5C"/>
                    </a:solidFill>
                  </a:tcPr>
                </a:tc>
                <a:tc>
                  <a:txBody>
                    <a:bodyPr/>
                    <a:lstStyle/>
                    <a:p>
                      <a:r>
                        <a:rPr sz="1250" b="1" i="0">
                          <a:solidFill>
                            <a:srgbClr val="FFFFFF"/>
                          </a:solidFill>
                          <a:latin typeface="Calibri"/>
                        </a:rPr>
                        <a:t>Jun</a:t>
                      </a:r>
                    </a:p>
                  </a:txBody>
                  <a:tcPr marL="101600" marR="101600" marT="38100" marB="38100" anchor="ctr">
                    <a:solidFill>
                      <a:srgbClr val="1A0F5C"/>
                    </a:solidFill>
                  </a:tcPr>
                </a:tc>
                <a:tc>
                  <a:txBody>
                    <a:bodyPr/>
                    <a:lstStyle/>
                    <a:p>
                      <a:r>
                        <a:rPr sz="1250" b="1" i="0">
                          <a:solidFill>
                            <a:srgbClr val="FFFFFF"/>
                          </a:solidFill>
                          <a:latin typeface="Calibri"/>
                        </a:rPr>
                        <a:t>Jul</a:t>
                      </a:r>
                    </a:p>
                  </a:txBody>
                  <a:tcPr marL="101600" marR="101600" marT="38100" marB="38100" anchor="ctr">
                    <a:solidFill>
                      <a:srgbClr val="1A0F5C"/>
                    </a:solidFill>
                  </a:tcPr>
                </a:tc>
                <a:tc>
                  <a:txBody>
                    <a:bodyPr/>
                    <a:lstStyle/>
                    <a:p>
                      <a:r>
                        <a:rPr sz="1250" b="1" i="0">
                          <a:solidFill>
                            <a:srgbClr val="FFFFFF"/>
                          </a:solidFill>
                          <a:latin typeface="Calibri"/>
                        </a:rPr>
                        <a:t>Aug</a:t>
                      </a:r>
                    </a:p>
                  </a:txBody>
                  <a:tcPr marL="101600" marR="101600" marT="38100" marB="38100" anchor="ctr">
                    <a:solidFill>
                      <a:srgbClr val="1A0F5C"/>
                    </a:solidFill>
                  </a:tcPr>
                </a:tc>
                <a:tc>
                  <a:txBody>
                    <a:bodyPr/>
                    <a:lstStyle/>
                    <a:p>
                      <a:r>
                        <a:rPr sz="1250" b="1" i="0">
                          <a:solidFill>
                            <a:srgbClr val="FFFFFF"/>
                          </a:solidFill>
                          <a:latin typeface="Calibri"/>
                        </a:rPr>
                        <a:t>Sep</a:t>
                      </a:r>
                    </a:p>
                  </a:txBody>
                  <a:tcPr marL="101600" marR="101600" marT="38100" marB="38100" anchor="ctr">
                    <a:solidFill>
                      <a:srgbClr val="1A0F5C"/>
                    </a:solidFill>
                  </a:tcPr>
                </a:tc>
              </a:tr>
              <a:tr h="335280">
                <a:tc>
                  <a:txBody>
                    <a:bodyPr/>
                    <a:lstStyle/>
                    <a:p>
                      <a:r>
                        <a:rPr sz="1200" b="0" i="0">
                          <a:solidFill>
                            <a:srgbClr val="1A1440"/>
                          </a:solidFill>
                          <a:latin typeface="Calibri"/>
                        </a:rPr>
                        <a:t>Promised</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c>
                  <a:txBody>
                    <a:bodyPr/>
                    <a:lstStyle/>
                    <a:p>
                      <a:r>
                        <a:rPr sz="1200" b="0" i="0">
                          <a:solidFill>
                            <a:srgbClr val="1A1440"/>
                          </a:solidFill>
                          <a:latin typeface="Calibri"/>
                        </a:rPr>
                        <a:t>13%</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c>
                  <a:txBody>
                    <a:bodyPr/>
                    <a:lstStyle/>
                    <a:p>
                      <a:r>
                        <a:rPr sz="1200" b="0" i="0">
                          <a:solidFill>
                            <a:srgbClr val="1A1440"/>
                          </a:solidFill>
                          <a:latin typeface="Calibri"/>
                        </a:rPr>
                        <a:t>13%</a:t>
                      </a:r>
                    </a:p>
                  </a:txBody>
                  <a:tcPr marL="101600" marR="101600" marT="38100" marB="38100" anchor="ctr">
                    <a:solidFill>
                      <a:srgbClr val="FFFFFF"/>
                    </a:solidFill>
                  </a:tcPr>
                </a:tc>
              </a:tr>
              <a:tr h="335280">
                <a:tc>
                  <a:txBody>
                    <a:bodyPr/>
                    <a:lstStyle/>
                    <a:p>
                      <a:r>
                        <a:rPr sz="1200" b="0" i="0">
                          <a:solidFill>
                            <a:srgbClr val="1A1440"/>
                          </a:solidFill>
                          <a:latin typeface="Calibri"/>
                        </a:rPr>
                        <a:t>Real, of 200 calls</a:t>
                      </a:r>
                    </a:p>
                  </a:txBody>
                  <a:tcPr marL="101600" marR="101600" marT="38100" marB="38100" anchor="ctr">
                    <a:solidFill>
                      <a:srgbClr val="F4F2FA"/>
                    </a:solidFill>
                  </a:tcPr>
                </a:tc>
                <a:tc>
                  <a:txBody>
                    <a:bodyPr/>
                    <a:lstStyle/>
                    <a:p>
                      <a:r>
                        <a:rPr sz="1200" b="0" i="0">
                          <a:solidFill>
                            <a:srgbClr val="1A1440"/>
                          </a:solidFill>
                          <a:latin typeface="Calibri"/>
                        </a:rPr>
                        <a:t>12%</a:t>
                      </a:r>
                    </a:p>
                  </a:txBody>
                  <a:tcPr marL="101600" marR="101600" marT="38100" marB="38100" anchor="ctr">
                    <a:solidFill>
                      <a:srgbClr val="F4F2FA"/>
                    </a:solidFill>
                  </a:tcPr>
                </a:tc>
                <a:tc>
                  <a:txBody>
                    <a:bodyPr/>
                    <a:lstStyle/>
                    <a:p>
                      <a:r>
                        <a:rPr sz="1200" b="0" i="0">
                          <a:solidFill>
                            <a:srgbClr val="1A1440"/>
                          </a:solidFill>
                          <a:latin typeface="Calibri"/>
                        </a:rPr>
                        <a:t>11%</a:t>
                      </a:r>
                    </a:p>
                  </a:txBody>
                  <a:tcPr marL="101600" marR="101600" marT="38100" marB="38100" anchor="ctr">
                    <a:solidFill>
                      <a:srgbClr val="F4F2FA"/>
                    </a:solidFill>
                  </a:tcPr>
                </a:tc>
                <a:tc>
                  <a:txBody>
                    <a:bodyPr/>
                    <a:lstStyle/>
                    <a:p>
                      <a:r>
                        <a:rPr sz="1200" b="0" i="0">
                          <a:solidFill>
                            <a:srgbClr val="1A1440"/>
                          </a:solidFill>
                          <a:latin typeface="Calibri"/>
                        </a:rPr>
                        <a:t>14%</a:t>
                      </a:r>
                    </a:p>
                  </a:txBody>
                  <a:tcPr marL="101600" marR="101600" marT="38100" marB="38100" anchor="ctr">
                    <a:solidFill>
                      <a:srgbClr val="F4F2FA"/>
                    </a:solidFill>
                  </a:tcPr>
                </a:tc>
                <a:tc>
                  <a:txBody>
                    <a:bodyPr/>
                    <a:lstStyle/>
                    <a:p>
                      <a:r>
                        <a:rPr sz="1200" b="0" i="0">
                          <a:solidFill>
                            <a:srgbClr val="1A1440"/>
                          </a:solidFill>
                          <a:latin typeface="Calibri"/>
                        </a:rPr>
                        <a:t>20%</a:t>
                      </a:r>
                    </a:p>
                  </a:txBody>
                  <a:tcPr marL="101600" marR="101600" marT="38100" marB="38100" anchor="ctr">
                    <a:solidFill>
                      <a:srgbClr val="F4F2FA"/>
                    </a:solidFill>
                  </a:tcPr>
                </a:tc>
                <a:tc>
                  <a:txBody>
                    <a:bodyPr/>
                    <a:lstStyle/>
                    <a:p>
                      <a:r>
                        <a:rPr sz="1200" b="0" i="0">
                          <a:solidFill>
                            <a:srgbClr val="1A1440"/>
                          </a:solidFill>
                          <a:latin typeface="Calibri"/>
                        </a:rPr>
                        <a:t>22%</a:t>
                      </a:r>
                    </a:p>
                  </a:txBody>
                  <a:tcPr marL="101600" marR="101600" marT="38100" marB="38100" anchor="ctr">
                    <a:solidFill>
                      <a:srgbClr val="F4F2FA"/>
                    </a:solidFill>
                  </a:tcPr>
                </a:tc>
                <a:tc>
                  <a:txBody>
                    <a:bodyPr/>
                    <a:lstStyle/>
                    <a:p>
                      <a:r>
                        <a:rPr sz="1200" b="0" i="0">
                          <a:solidFill>
                            <a:srgbClr val="1A1440"/>
                          </a:solidFill>
                          <a:latin typeface="Calibri"/>
                        </a:rPr>
                        <a:t>25%</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 April b) July c) August d) never, since the scores did not change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19 / 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August, the second month over the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month over is a warning. Two in a row is the rule.</a:t>
            </a:r>
          </a:p>
        </p:txBody>
      </p:sp>
      <p:pic>
        <p:nvPicPr>
          <p:cNvPr id="9" name="mermaid diagram" descr="C2_W05_D05_gym_monitor_STUDENT.png"/>
          <p:cNvPicPr>
            <a:picLocks noChangeAspect="1"/>
          </p:cNvPicPr>
          <p:nvPr/>
        </p:nvPicPr>
        <p:blipFill>
          <a:blip r:embed="rId4"/>
          <a:stretch>
            <a:fillRect/>
          </a:stretch>
        </p:blipFill>
        <p:spPr>
          <a:xfrm>
            <a:off x="530352" y="1682496"/>
            <a:ext cx="11130991" cy="4047633"/>
          </a:xfrm>
          <a:prstGeom prst="rect">
            <a:avLst/>
          </a:prstGeom>
        </p:spPr>
      </p:pic>
      <p:sp>
        <p:nvSpPr>
          <p:cNvPr id="10" name="picture caption"/>
          <p:cNvSpPr txBox="1"/>
          <p:nvPr/>
        </p:nvSpPr>
        <p:spPr>
          <a:xfrm>
            <a:off x="530352" y="5766705"/>
            <a:ext cx="11130991" cy="316992"/>
          </a:xfrm>
          <a:prstGeom prst="rect">
            <a:avLst/>
          </a:prstGeom>
          <a:noFill/>
        </p:spPr>
        <p:txBody>
          <a:bodyPr wrap="square" anchor="t" lIns="0" rIns="0" tIns="0" bIns="0">
            <a:spAutoFit/>
          </a:bodyPr>
          <a:lstStyle/>
          <a:p>
            <a:pPr algn="ctr"/>
            <a:r>
              <a:rPr sz="1200" b="0" i="0">
                <a:solidFill>
                  <a:srgbClr val="6B6690"/>
                </a:solidFill>
                <a:latin typeface="Calibri"/>
              </a:rPr>
              <a:t>Promised against real share by month for the invented gym, with the 5-point band and the alarm in August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20 / 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rule has four parts someone else can check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Number, ceiling, window, owner.</a:t>
            </a:r>
          </a:p>
        </p:txBody>
      </p:sp>
      <p:sp>
        <p:nvSpPr>
          <p:cNvPr id="9" name="Rounded Rectangle 8"/>
          <p:cNvSpPr/>
          <p:nvPr/>
        </p:nvSpPr>
        <p:spPr>
          <a:xfrm>
            <a:off x="530352"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gauge_9c6459c02a08.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NUMBER</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Real against promised</a:t>
            </a:r>
          </a:p>
        </p:txBody>
      </p:sp>
      <p:sp>
        <p:nvSpPr>
          <p:cNvPr id="14" name="TextBox 13"/>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The share of called members who return, against the model's promise.</a:t>
            </a:r>
          </a:p>
        </p:txBody>
      </p:sp>
      <p:sp>
        <p:nvSpPr>
          <p:cNvPr id="15" name="Rounded Rectangle 14"/>
          <p:cNvSpPr/>
          <p:nvPr/>
        </p:nvSpPr>
        <p:spPr>
          <a:xfrm>
            <a:off x="3358819"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ruler_ec66f5961a99.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CEILING</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5 points</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Just above luck: 2 x sqrt(0.12 x 0.88 / 200) = 4.6 points.</a:t>
            </a:r>
          </a:p>
        </p:txBody>
      </p:sp>
      <p:sp>
        <p:nvSpPr>
          <p:cNvPr id="21" name="Rounded Rectangle 20"/>
          <p:cNvSpPr/>
          <p:nvPr/>
        </p:nvSpPr>
        <p:spPr>
          <a:xfrm>
            <a:off x="6187287"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alendar_52de2a000930.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WINDOW</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Two months running</a:t>
            </a:r>
          </a:p>
        </p:txBody>
      </p:sp>
      <p:sp>
        <p:nvSpPr>
          <p:cNvPr id="26" name="TextBox 25"/>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One month can be luck.</a:t>
            </a:r>
          </a:p>
        </p:txBody>
      </p:sp>
      <p:sp>
        <p:nvSpPr>
          <p:cNvPr id="27" name="Rounded Rectangle 26"/>
          <p:cNvSpPr/>
          <p:nvPr/>
        </p:nvSpPr>
        <p:spPr>
          <a:xfrm>
            <a:off x="9015755" y="1956816"/>
            <a:ext cx="2645587"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user-check_718d2f88cdc9.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THE OWNER</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Front-desk manager</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CFC9EE"/>
                </a:solidFill>
                <a:latin typeface="Calibri"/>
              </a:rPr>
              <a:t>Pauses the list and sends it back.</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37" name="Oval 36"/>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661314"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will we know?</a:t>
            </a:r>
          </a:p>
        </p:txBody>
      </p:sp>
      <p:sp>
        <p:nvSpPr>
          <p:cNvPr id="39" name="Oval 3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41" name="Oval 4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43" name="Oval 4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45" name="Oval 4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47" name="Oval 4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21 / 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weakest segment needs its band beside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September by plan type (invented): a gap means nothing without its group size.</a:t>
            </a:r>
          </a:p>
        </p:txBody>
      </p:sp>
      <p:pic>
        <p:nvPicPr>
          <p:cNvPr id="9" name="mermaid diagram" descr="C2_W05_D05_gym_segments_STUDENT.png"/>
          <p:cNvPicPr>
            <a:picLocks noChangeAspect="1"/>
          </p:cNvPicPr>
          <p:nvPr/>
        </p:nvPicPr>
        <p:blipFill>
          <a:blip r:embed="rId4"/>
          <a:stretch>
            <a:fillRect/>
          </a:stretch>
        </p:blipFill>
        <p:spPr>
          <a:xfrm>
            <a:off x="530352" y="1682496"/>
            <a:ext cx="11130991" cy="4007156"/>
          </a:xfrm>
          <a:prstGeom prst="rect">
            <a:avLst/>
          </a:prstGeom>
        </p:spPr>
      </p:pic>
      <p:sp>
        <p:nvSpPr>
          <p:cNvPr id="10" name="picture caption"/>
          <p:cNvSpPr txBox="1"/>
          <p:nvPr/>
        </p:nvSpPr>
        <p:spPr>
          <a:xfrm>
            <a:off x="530352" y="5726228"/>
            <a:ext cx="11130991" cy="316992"/>
          </a:xfrm>
          <a:prstGeom prst="rect">
            <a:avLst/>
          </a:prstGeom>
          <a:noFill/>
        </p:spPr>
        <p:txBody>
          <a:bodyPr wrap="square" anchor="t" lIns="0" rIns="0" tIns="0" bIns="0">
            <a:spAutoFit/>
          </a:bodyPr>
          <a:lstStyle/>
          <a:p>
            <a:pPr algn="ctr"/>
            <a:r>
              <a:rPr sz="1200" b="0" i="0">
                <a:solidFill>
                  <a:srgbClr val="6B6690"/>
                </a:solidFill>
                <a:latin typeface="Calibri"/>
              </a:rPr>
              <a:t>Real minus promised share by plan type with luck bands: only family clears its band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22 / 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Moving the model to lending</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carries over?</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transfer paragraph: what changes, what stays, what would leak · also searched as: domain transfer, credit risk model</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23 / 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lender's two mistakes: Rs 40,000 or Rs 2,000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two-wheeler lender in Nagpur, invented: a default costs Rs 40,000, a good applicant turned away Rs 2,000.</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option</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0.50</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0.05</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0.95</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0.032, the gym's cut</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cut?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24 / 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The expensive mistake changed sides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40,000 / (40,000 + 2,000) = 0.952, on P(repay).</a:t>
            </a:r>
          </a:p>
        </p:txBody>
      </p:sp>
      <p:pic>
        <p:nvPicPr>
          <p:cNvPr id="9" name="mermaid diagram" descr="C2_W05_D05_two_cuts_STUDENT.png"/>
          <p:cNvPicPr>
            <a:picLocks noChangeAspect="1"/>
          </p:cNvPicPr>
          <p:nvPr/>
        </p:nvPicPr>
        <p:blipFill>
          <a:blip r:embed="rId4"/>
          <a:stretch>
            <a:fillRect/>
          </a:stretch>
        </p:blipFill>
        <p:spPr>
          <a:xfrm>
            <a:off x="530352" y="1956816"/>
            <a:ext cx="11130991" cy="2597231"/>
          </a:xfrm>
          <a:prstGeom prst="rect">
            <a:avLst/>
          </a:prstGeom>
        </p:spPr>
      </p:pic>
      <p:sp>
        <p:nvSpPr>
          <p:cNvPr id="10" name="picture caption"/>
          <p:cNvSpPr txBox="1"/>
          <p:nvPr/>
        </p:nvSpPr>
        <p:spPr>
          <a:xfrm>
            <a:off x="530352" y="4590623"/>
            <a:ext cx="11130991" cy="316992"/>
          </a:xfrm>
          <a:prstGeom prst="rect">
            <a:avLst/>
          </a:prstGeom>
          <a:noFill/>
        </p:spPr>
        <p:txBody>
          <a:bodyPr wrap="square" anchor="t" lIns="0" rIns="0" tIns="0" bIns="0">
            <a:spAutoFit/>
          </a:bodyPr>
          <a:lstStyle/>
          <a:p>
            <a:pPr algn="ctr"/>
            <a:r>
              <a:rPr sz="1200" b="0" i="0">
                <a:solidFill>
                  <a:srgbClr val="6B6690"/>
                </a:solidFill>
                <a:latin typeface="Calibri"/>
              </a:rPr>
              <a:t>One probability axis with the nudge cut at 0.03, German Credit's at 0.83 and Rohan's at 0.95</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25 / 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changes, what stays, what would leak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transfer paragraph is these three columns in sentences.</a:t>
            </a:r>
          </a:p>
        </p:txBody>
      </p:sp>
      <p:graphicFrame>
        <p:nvGraphicFramePr>
          <p:cNvPr id="9" name="Table 8"/>
          <p:cNvGraphicFramePr>
            <a:graphicFrameLocks noGrp="1"/>
          </p:cNvGraphicFramePr>
          <p:nvPr/>
        </p:nvGraphicFramePr>
        <p:xfrm>
          <a:off x="530352" y="1956816"/>
          <a:ext cx="11130989" cy="2332736"/>
        </p:xfrm>
        <a:graphic>
          <a:graphicData uri="http://schemas.openxmlformats.org/drawingml/2006/table">
            <a:tbl>
              <a:tblPr firstRow="0" bandRow="0">
                <a:tableStyleId>{2D5ABB26-0587-4C30-8999-92F81FD0307C}</a:tableStyleId>
              </a:tblPr>
              <a:tblGrid>
                <a:gridCol w="3953321"/>
                <a:gridCol w="4135564"/>
                <a:gridCol w="3042104"/>
              </a:tblGrid>
              <a:tr h="369824">
                <a:tc>
                  <a:txBody>
                    <a:bodyPr/>
                    <a:lstStyle/>
                    <a:p>
                      <a:r>
                        <a:rPr sz="1450" b="1" i="0">
                          <a:solidFill>
                            <a:srgbClr val="FFFFFF"/>
                          </a:solidFill>
                          <a:latin typeface="Calibri"/>
                        </a:rPr>
                        <a:t>Changes</a:t>
                      </a:r>
                    </a:p>
                  </a:txBody>
                  <a:tcPr marL="101600" marR="101600" marT="38100" marB="38100" anchor="ctr">
                    <a:solidFill>
                      <a:srgbClr val="1A0F5C"/>
                    </a:solidFill>
                  </a:tcPr>
                </a:tc>
                <a:tc>
                  <a:txBody>
                    <a:bodyPr/>
                    <a:lstStyle/>
                    <a:p>
                      <a:r>
                        <a:rPr sz="1450" b="1" i="0">
                          <a:solidFill>
                            <a:srgbClr val="FFFFFF"/>
                          </a:solidFill>
                          <a:latin typeface="Calibri"/>
                        </a:rPr>
                        <a:t>Stays</a:t>
                      </a:r>
                    </a:p>
                  </a:txBody>
                  <a:tcPr marL="101600" marR="101600" marT="38100" marB="38100" anchor="ctr">
                    <a:solidFill>
                      <a:srgbClr val="1A0F5C"/>
                    </a:solidFill>
                  </a:tcPr>
                </a:tc>
                <a:tc>
                  <a:txBody>
                    <a:bodyPr/>
                    <a:lstStyle/>
                    <a:p>
                      <a:r>
                        <a:rPr sz="1450" b="1" i="0">
                          <a:solidFill>
                            <a:srgbClr val="FFFFFF"/>
                          </a:solidFill>
                          <a:latin typeface="Calibri"/>
                        </a:rPr>
                        <a:t>Would leak</a:t>
                      </a:r>
                    </a:p>
                  </a:txBody>
                  <a:tcPr marL="101600" marR="101600" marT="38100" marB="38100" anchor="ctr">
                    <a:solidFill>
                      <a:srgbClr val="1A0F5C"/>
                    </a:solidFill>
                  </a:tcPr>
                </a:tc>
              </a:tr>
              <a:tr h="611632">
                <a:tc>
                  <a:txBody>
                    <a:bodyPr/>
                    <a:lstStyle/>
                    <a:p>
                      <a:r>
                        <a:rPr sz="1400" b="0" i="0">
                          <a:solidFill>
                            <a:srgbClr val="1A1440"/>
                          </a:solidFill>
                          <a:latin typeface="Calibri"/>
                        </a:rPr>
                        <a:t>The target: came back becomes repaid</a:t>
                      </a:r>
                    </a:p>
                  </a:txBody>
                  <a:tcPr marL="101600" marR="101600" marT="38100" marB="38100" anchor="ctr">
                    <a:solidFill>
                      <a:srgbClr val="FFFFFF"/>
                    </a:solidFill>
                  </a:tcPr>
                </a:tc>
                <a:tc>
                  <a:txBody>
                    <a:bodyPr/>
                    <a:lstStyle/>
                    <a:p>
                      <a:r>
                        <a:rPr sz="1400" b="0" i="0">
                          <a:solidFill>
                            <a:srgbClr val="1A1440"/>
                          </a:solidFill>
                          <a:latin typeface="Calibri"/>
                        </a:rPr>
                        <a:t>Split first, seal the test, beat a baseline</a:t>
                      </a:r>
                    </a:p>
                  </a:txBody>
                  <a:tcPr marL="101600" marR="101600" marT="38100" marB="38100" anchor="ctr">
                    <a:solidFill>
                      <a:srgbClr val="FFFFFF"/>
                    </a:solidFill>
                  </a:tcPr>
                </a:tc>
                <a:tc>
                  <a:txBody>
                    <a:bodyPr/>
                    <a:lstStyle/>
                    <a:p>
                      <a:r>
                        <a:rPr sz="1400" b="0" i="0">
                          <a:solidFill>
                            <a:srgbClr val="1A1440"/>
                          </a:solidFill>
                          <a:latin typeface="Calibri"/>
                        </a:rPr>
                        <a:t>Anything written after approval</a:t>
                      </a:r>
                    </a:p>
                  </a:txBody>
                  <a:tcPr marL="101600" marR="101600" marT="38100" marB="38100" anchor="ctr">
                    <a:solidFill>
                      <a:srgbClr val="FFFFFF"/>
                    </a:solidFill>
                  </a:tcPr>
                </a:tc>
              </a:tr>
              <a:tr h="369824">
                <a:tc>
                  <a:txBody>
                    <a:bodyPr/>
                    <a:lstStyle/>
                    <a:p>
                      <a:r>
                        <a:rPr sz="1400" b="0" i="0">
                          <a:solidFill>
                            <a:srgbClr val="1A1440"/>
                          </a:solidFill>
                          <a:latin typeface="Calibri"/>
                        </a:rPr>
                        <a:t>The costs, so the cut: 0.03 to 0.95</a:t>
                      </a:r>
                    </a:p>
                  </a:txBody>
                  <a:tcPr marL="101600" marR="101600" marT="38100" marB="38100" anchor="ctr">
                    <a:solidFill>
                      <a:srgbClr val="F4F2FA"/>
                    </a:solidFill>
                  </a:tcPr>
                </a:tc>
                <a:tc>
                  <a:txBody>
                    <a:bodyPr/>
                    <a:lstStyle/>
                    <a:p>
                      <a:r>
                        <a:rPr sz="1400" b="0" i="0">
                          <a:solidFill>
                            <a:srgbClr val="1A1440"/>
                          </a:solidFill>
                          <a:latin typeface="Calibri"/>
                        </a:rPr>
                        <a:t>The four boxes and the bill</a:t>
                      </a:r>
                    </a:p>
                  </a:txBody>
                  <a:tcPr marL="101600" marR="101600" marT="38100" marB="38100" anchor="ctr">
                    <a:solidFill>
                      <a:srgbClr val="F4F2FA"/>
                    </a:solidFill>
                  </a:tcPr>
                </a:tc>
                <a:tc>
                  <a:txBody>
                    <a:bodyPr/>
                    <a:lstStyle/>
                    <a:p>
                      <a:r>
                        <a:rPr sz="1400" b="0" i="0">
                          <a:solidFill>
                            <a:srgbClr val="1A1440"/>
                          </a:solidFill>
                          <a:latin typeface="Calibri"/>
                        </a:rPr>
                        <a:t>An EMI bounce in month two</a:t>
                      </a:r>
                    </a:p>
                  </a:txBody>
                  <a:tcPr marL="101600" marR="101600" marT="38100" marB="38100" anchor="ctr">
                    <a:solidFill>
                      <a:srgbClr val="F4F2FA"/>
                    </a:solidFill>
                  </a:tcPr>
                </a:tc>
              </a:tr>
              <a:tr h="611632">
                <a:tc>
                  <a:txBody>
                    <a:bodyPr/>
                    <a:lstStyle/>
                    <a:p>
                      <a:r>
                        <a:rPr sz="1400" b="0" i="0">
                          <a:solidFill>
                            <a:srgbClr val="1A1440"/>
                          </a:solidFill>
                          <a:latin typeface="Calibri"/>
                        </a:rPr>
                        <a:t>The moment: the call becomes the approval</a:t>
                      </a:r>
                    </a:p>
                  </a:txBody>
                  <a:tcPr marL="101600" marR="101600" marT="38100" marB="38100" anchor="ctr">
                    <a:solidFill>
                      <a:srgbClr val="FFFFFF"/>
                    </a:solidFill>
                  </a:tcPr>
                </a:tc>
                <a:tc>
                  <a:txBody>
                    <a:bodyPr/>
                    <a:lstStyle/>
                    <a:p>
                      <a:r>
                        <a:rPr sz="1400" b="0" i="0">
                          <a:solidFill>
                            <a:srgbClr val="1A1440"/>
                          </a:solidFill>
                          <a:latin typeface="Calibri"/>
                        </a:rPr>
                        <a:t>The four-part memo</a:t>
                      </a:r>
                    </a:p>
                  </a:txBody>
                  <a:tcPr marL="101600" marR="101600" marT="38100" marB="38100" anchor="ctr">
                    <a:solidFill>
                      <a:srgbClr val="FFFFFF"/>
                    </a:solidFill>
                  </a:tcPr>
                </a:tc>
                <a:tc>
                  <a:txBody>
                    <a:bodyPr/>
                    <a:lstStyle/>
                    <a:p>
                      <a:r>
                        <a:rPr sz="1400" b="0" i="0">
                          <a:solidFill>
                            <a:srgbClr val="1A1440"/>
                          </a:solidFill>
                          <a:latin typeface="Calibri"/>
                        </a:rPr>
                        <a:t>A collections flag</a:t>
                      </a:r>
                    </a:p>
                  </a:txBody>
                  <a:tcPr marL="101600" marR="101600" marT="38100" marB="38100" anchor="ctr">
                    <a:solidFill>
                      <a:srgbClr val="FFFFFF"/>
                    </a:solidFill>
                  </a:tcPr>
                </a:tc>
              </a:tr>
              <a:tr h="369824">
                <a:tc>
                  <a:txBody>
                    <a:bodyPr/>
                    <a:lstStyle/>
                    <a:p>
                      <a:r>
                        <a:rPr sz="1400" b="0" i="0">
                          <a:solidFill>
                            <a:srgbClr val="1A1440"/>
                          </a:solidFill>
                          <a:latin typeface="Calibri"/>
                        </a:rPr>
                        <a:t>The weakest segment, found again</a:t>
                      </a:r>
                    </a:p>
                  </a:txBody>
                  <a:tcPr marL="101600" marR="101600" marT="38100" marB="38100" anchor="ctr">
                    <a:solidFill>
                      <a:srgbClr val="F4F2FA"/>
                    </a:solidFill>
                  </a:tcPr>
                </a:tc>
                <a:tc>
                  <a:txBody>
                    <a:bodyPr/>
                    <a:lstStyle/>
                    <a:p>
                      <a:r>
                        <a:rPr sz="1400" b="0" i="0">
                          <a:solidFill>
                            <a:srgbClr val="1A1440"/>
                          </a:solidFill>
                          <a:latin typeface="Calibri"/>
                        </a:rPr>
                        <a:t>The rule's four parts</a:t>
                      </a:r>
                    </a:p>
                  </a:txBody>
                  <a:tcPr marL="101600" marR="101600" marT="38100" marB="38100" anchor="ctr">
                    <a:solidFill>
                      <a:srgbClr val="F4F2FA"/>
                    </a:solidFill>
                  </a:tcPr>
                </a:tc>
                <a:tc>
                  <a:txBody>
                    <a:bodyPr/>
                    <a:lstStyle/>
                    <a:p>
                      <a:r>
                        <a:rPr sz="1400" b="0" i="0">
                          <a:solidFill>
                            <a:srgbClr val="1A1440"/>
                          </a:solidFill>
                          <a:latin typeface="Calibri"/>
                        </a:rPr>
                        <a:t>Never judged by its name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26 / 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column's name is never the test; its time stamp is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column with the day it is written, counted from the approval.</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4856476"/>
                <a:gridCol w="2719069"/>
                <a:gridCol w="3555445"/>
              </a:tblGrid>
              <a:tr h="369824">
                <a:tc>
                  <a:txBody>
                    <a:bodyPr/>
                    <a:lstStyle/>
                    <a:p>
                      <a:r>
                        <a:rPr sz="1450" b="1" i="0">
                          <a:solidFill>
                            <a:srgbClr val="FFFFFF"/>
                          </a:solidFill>
                          <a:latin typeface="Calibri"/>
                        </a:rPr>
                        <a:t>Column (invented lender)</a:t>
                      </a:r>
                    </a:p>
                  </a:txBody>
                  <a:tcPr marL="101600" marR="101600" marT="38100" marB="38100" anchor="ctr">
                    <a:solidFill>
                      <a:srgbClr val="1A0F5C"/>
                    </a:solidFill>
                  </a:tcPr>
                </a:tc>
                <a:tc>
                  <a:txBody>
                    <a:bodyPr/>
                    <a:lstStyle/>
                    <a:p>
                      <a:r>
                        <a:rPr sz="1450" b="1" i="0">
                          <a:solidFill>
                            <a:srgbClr val="FFFFFF"/>
                          </a:solidFill>
                          <a:latin typeface="Calibri"/>
                        </a:rPr>
                        <a:t>Written</a:t>
                      </a:r>
                    </a:p>
                  </a:txBody>
                  <a:tcPr marL="101600" marR="101600" marT="38100" marB="38100" anchor="ctr">
                    <a:solidFill>
                      <a:srgbClr val="1A0F5C"/>
                    </a:solidFill>
                  </a:tcPr>
                </a:tc>
                <a:tc>
                  <a:txBody>
                    <a:bodyPr/>
                    <a:lstStyle/>
                    <a:p>
                      <a:r>
                        <a:rPr sz="1450" b="1" i="0">
                          <a:solidFill>
                            <a:srgbClr val="FFFFFF"/>
                          </a:solidFill>
                          <a:latin typeface="Calibri"/>
                        </a:rPr>
                        <a:t>Known at approval</a:t>
                      </a:r>
                    </a:p>
                  </a:txBody>
                  <a:tcPr marL="101600" marR="101600" marT="38100" marB="38100" anchor="ctr">
                    <a:solidFill>
                      <a:srgbClr val="1A0F5C"/>
                    </a:solidFill>
                  </a:tcPr>
                </a:tc>
              </a:tr>
              <a:tr h="369824">
                <a:tc>
                  <a:txBody>
                    <a:bodyPr/>
                    <a:lstStyle/>
                    <a:p>
                      <a:r>
                        <a:rPr sz="1400" b="0" i="0">
                          <a:solidFill>
                            <a:srgbClr val="1A1440"/>
                          </a:solidFill>
                          <a:latin typeface="Calibri"/>
                        </a:rPr>
                        <a:t>monthly_income</a:t>
                      </a:r>
                    </a:p>
                  </a:txBody>
                  <a:tcPr marL="101600" marR="101600" marT="38100" marB="38100" anchor="ctr">
                    <a:solidFill>
                      <a:srgbClr val="FFFFFF"/>
                    </a:solidFill>
                  </a:tcPr>
                </a:tc>
                <a:tc>
                  <a:txBody>
                    <a:bodyPr/>
                    <a:lstStyle/>
                    <a:p>
                      <a:r>
                        <a:rPr sz="1400" b="0" i="0">
                          <a:solidFill>
                            <a:srgbClr val="1A1440"/>
                          </a:solidFill>
                          <a:latin typeface="Calibri"/>
                        </a:rPr>
                        <a:t>30 days before</a:t>
                      </a:r>
                    </a:p>
                  </a:txBody>
                  <a:tcPr marL="101600" marR="101600" marT="38100" marB="38100" anchor="ctr">
                    <a:solidFill>
                      <a:srgbClr val="FFFFFF"/>
                    </a:solidFill>
                  </a:tcPr>
                </a:tc>
                <a:tc>
                  <a:txBody>
                    <a:bodyPr/>
                    <a:lstStyle/>
                    <a:p>
                      <a:r>
                        <a:rPr sz="1400" b="0" i="0">
                          <a:solidFill>
                            <a:srgbClr val="1A1440"/>
                          </a:solidFill>
                          <a:latin typeface="Calibri"/>
                        </a:rPr>
                        <a:t>yes</a:t>
                      </a:r>
                    </a:p>
                  </a:txBody>
                  <a:tcPr marL="101600" marR="101600" marT="38100" marB="38100" anchor="ctr">
                    <a:solidFill>
                      <a:srgbClr val="FFFFFF"/>
                    </a:solidFill>
                  </a:tcPr>
                </a:tc>
              </a:tr>
              <a:tr h="369824">
                <a:tc>
                  <a:txBody>
                    <a:bodyPr/>
                    <a:lstStyle/>
                    <a:p>
                      <a:r>
                        <a:rPr sz="1400" b="0" i="0">
                          <a:solidFill>
                            <a:srgbClr val="1A1440"/>
                          </a:solidFill>
                          <a:latin typeface="Calibri"/>
                        </a:rPr>
                        <a:t>bureau_score</a:t>
                      </a:r>
                    </a:p>
                  </a:txBody>
                  <a:tcPr marL="101600" marR="101600" marT="38100" marB="38100" anchor="ctr">
                    <a:solidFill>
                      <a:srgbClr val="F4F2FA"/>
                    </a:solidFill>
                  </a:tcPr>
                </a:tc>
                <a:tc>
                  <a:txBody>
                    <a:bodyPr/>
                    <a:lstStyle/>
                    <a:p>
                      <a:r>
                        <a:rPr sz="1400" b="0" i="0">
                          <a:solidFill>
                            <a:srgbClr val="1A1440"/>
                          </a:solidFill>
                          <a:latin typeface="Calibri"/>
                        </a:rPr>
                        <a:t>2 days before</a:t>
                      </a:r>
                    </a:p>
                  </a:txBody>
                  <a:tcPr marL="101600" marR="101600" marT="38100" marB="38100" anchor="ctr">
                    <a:solidFill>
                      <a:srgbClr val="F4F2FA"/>
                    </a:solidFill>
                  </a:tcPr>
                </a:tc>
                <a:tc>
                  <a:txBody>
                    <a:bodyPr/>
                    <a:lstStyle/>
                    <a:p>
                      <a:r>
                        <a:rPr sz="1400" b="0" i="0">
                          <a:solidFill>
                            <a:srgbClr val="1A1440"/>
                          </a:solidFill>
                          <a:latin typeface="Calibri"/>
                        </a:rPr>
                        <a:t>yes</a:t>
                      </a:r>
                    </a:p>
                  </a:txBody>
                  <a:tcPr marL="101600" marR="101600" marT="38100" marB="38100" anchor="ctr">
                    <a:solidFill>
                      <a:srgbClr val="F4F2FA"/>
                    </a:solidFill>
                  </a:tcPr>
                </a:tc>
              </a:tr>
              <a:tr h="369824">
                <a:tc>
                  <a:txBody>
                    <a:bodyPr/>
                    <a:lstStyle/>
                    <a:p>
                      <a:r>
                        <a:rPr sz="1400" b="0" i="0">
                          <a:solidFill>
                            <a:srgbClr val="1A1440"/>
                          </a:solidFill>
                          <a:latin typeface="Calibri"/>
                        </a:rPr>
                        <a:t>loan_term_months</a:t>
                      </a:r>
                    </a:p>
                  </a:txBody>
                  <a:tcPr marL="101600" marR="101600" marT="38100" marB="38100" anchor="ctr">
                    <a:solidFill>
                      <a:srgbClr val="FFFFFF"/>
                    </a:solidFill>
                  </a:tcPr>
                </a:tc>
                <a:tc>
                  <a:txBody>
                    <a:bodyPr/>
                    <a:lstStyle/>
                    <a:p>
                      <a:r>
                        <a:rPr sz="1400" b="0" i="0">
                          <a:solidFill>
                            <a:srgbClr val="1A1440"/>
                          </a:solidFill>
                          <a:latin typeface="Calibri"/>
                        </a:rPr>
                        <a:t>at approval</a:t>
                      </a:r>
                    </a:p>
                  </a:txBody>
                  <a:tcPr marL="101600" marR="101600" marT="38100" marB="38100" anchor="ctr">
                    <a:solidFill>
                      <a:srgbClr val="FFFFFF"/>
                    </a:solidFill>
                  </a:tcPr>
                </a:tc>
                <a:tc>
                  <a:txBody>
                    <a:bodyPr/>
                    <a:lstStyle/>
                    <a:p>
                      <a:r>
                        <a:rPr sz="1400" b="0" i="0">
                          <a:solidFill>
                            <a:srgbClr val="1A1440"/>
                          </a:solidFill>
                          <a:latin typeface="Calibri"/>
                        </a:rPr>
                        <a:t>yes</a:t>
                      </a:r>
                    </a:p>
                  </a:txBody>
                  <a:tcPr marL="101600" marR="101600" marT="38100" marB="38100" anchor="ctr">
                    <a:solidFill>
                      <a:srgbClr val="FFFFFF"/>
                    </a:solidFill>
                  </a:tcPr>
                </a:tc>
              </a:tr>
              <a:tr h="369824">
                <a:tc>
                  <a:txBody>
                    <a:bodyPr/>
                    <a:lstStyle/>
                    <a:p>
                      <a:r>
                        <a:rPr sz="1400" b="0" i="0">
                          <a:solidFill>
                            <a:srgbClr val="1A1440"/>
                          </a:solidFill>
                          <a:latin typeface="Calibri"/>
                        </a:rPr>
                        <a:t>emi_bounce_month2</a:t>
                      </a:r>
                    </a:p>
                  </a:txBody>
                  <a:tcPr marL="101600" marR="101600" marT="38100" marB="38100" anchor="ctr">
                    <a:solidFill>
                      <a:srgbClr val="F4F2FA"/>
                    </a:solidFill>
                  </a:tcPr>
                </a:tc>
                <a:tc>
                  <a:txBody>
                    <a:bodyPr/>
                    <a:lstStyle/>
                    <a:p>
                      <a:r>
                        <a:rPr sz="1400" b="0" i="0">
                          <a:solidFill>
                            <a:srgbClr val="1A1440"/>
                          </a:solidFill>
                          <a:latin typeface="Calibri"/>
                        </a:rPr>
                        <a:t>60 days after</a:t>
                      </a:r>
                    </a:p>
                  </a:txBody>
                  <a:tcPr marL="101600" marR="101600" marT="38100" marB="38100" anchor="ctr">
                    <a:solidFill>
                      <a:srgbClr val="F4F2FA"/>
                    </a:solidFill>
                  </a:tcPr>
                </a:tc>
                <a:tc>
                  <a:txBody>
                    <a:bodyPr/>
                    <a:lstStyle/>
                    <a:p>
                      <a:r>
                        <a:rPr sz="1400" b="0" i="0">
                          <a:solidFill>
                            <a:srgbClr val="1A1440"/>
                          </a:solidFill>
                          <a:latin typeface="Calibri"/>
                        </a:rPr>
                        <a:t>no: leaks</a:t>
                      </a:r>
                    </a:p>
                  </a:txBody>
                  <a:tcPr marL="101600" marR="101600" marT="38100" marB="38100" anchor="ctr">
                    <a:solidFill>
                      <a:srgbClr val="F4F2FA"/>
                    </a:solidFill>
                  </a:tcPr>
                </a:tc>
              </a:tr>
              <a:tr h="369824">
                <a:tc>
                  <a:txBody>
                    <a:bodyPr/>
                    <a:lstStyle/>
                    <a:p>
                      <a:r>
                        <a:rPr sz="1400" b="0" i="0">
                          <a:solidFill>
                            <a:srgbClr val="1A1440"/>
                          </a:solidFill>
                          <a:latin typeface="Calibri"/>
                        </a:rPr>
                        <a:t>collections_flag</a:t>
                      </a:r>
                    </a:p>
                  </a:txBody>
                  <a:tcPr marL="101600" marR="101600" marT="38100" marB="38100" anchor="ctr">
                    <a:solidFill>
                      <a:srgbClr val="FFFFFF"/>
                    </a:solidFill>
                  </a:tcPr>
                </a:tc>
                <a:tc>
                  <a:txBody>
                    <a:bodyPr/>
                    <a:lstStyle/>
                    <a:p>
                      <a:r>
                        <a:rPr sz="1400" b="0" i="0">
                          <a:solidFill>
                            <a:srgbClr val="1A1440"/>
                          </a:solidFill>
                          <a:latin typeface="Calibri"/>
                        </a:rPr>
                        <a:t>90 days after</a:t>
                      </a:r>
                    </a:p>
                  </a:txBody>
                  <a:tcPr marL="101600" marR="101600" marT="38100" marB="38100" anchor="ctr">
                    <a:solidFill>
                      <a:srgbClr val="FFFFFF"/>
                    </a:solidFill>
                  </a:tcPr>
                </a:tc>
                <a:tc>
                  <a:txBody>
                    <a:bodyPr/>
                    <a:lstStyle/>
                    <a:p>
                      <a:r>
                        <a:rPr sz="1400" b="0" i="0">
                          <a:solidFill>
                            <a:srgbClr val="1A1440"/>
                          </a:solidFill>
                          <a:latin typeface="Calibri"/>
                        </a:rPr>
                        <a:t>no: leaks</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27 / 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Defending it in the room</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will they push on?</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Reading the memo aloud under challenge · also searched as: ML case interview, stakeholder pushback</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28 / 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 scores 0.05 higher. Use B." Your one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gym again: same four returners in each model's top six.</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option</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"A is better, trust me."</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"AUC measures ranking quality across all pairs."</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"Both find the same 4 in 6 calls: worth Rs 0 this week; B ships if it finds more next month."</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"We can use both."</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answer?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29 / 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A number, the reason, the flip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 ranks 4 more pairs right of 75, and finds nobody extra.</a:t>
            </a:r>
          </a:p>
        </p:txBody>
      </p:sp>
      <p:graphicFrame>
        <p:nvGraphicFramePr>
          <p:cNvPr id="9" name="Table 8"/>
          <p:cNvGraphicFramePr>
            <a:graphicFrameLocks noGrp="1"/>
          </p:cNvGraphicFramePr>
          <p:nvPr/>
        </p:nvGraphicFramePr>
        <p:xfrm>
          <a:off x="530352" y="1956816"/>
          <a:ext cx="11130989" cy="1849120"/>
        </p:xfrm>
        <a:graphic>
          <a:graphicData uri="http://schemas.openxmlformats.org/drawingml/2006/table">
            <a:tbl>
              <a:tblPr firstRow="0" bandRow="0">
                <a:tableStyleId>{2D5ABB26-0587-4C30-8999-92F81FD0307C}</a:tableStyleId>
              </a:tblPr>
              <a:tblGrid>
                <a:gridCol w="6053943"/>
                <a:gridCol w="2538523"/>
                <a:gridCol w="2538523"/>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Model A</a:t>
                      </a:r>
                    </a:p>
                  </a:txBody>
                  <a:tcPr marL="101600" marR="101600" marT="38100" marB="38100" anchor="ctr">
                    <a:solidFill>
                      <a:srgbClr val="1A0F5C"/>
                    </a:solidFill>
                  </a:tcPr>
                </a:tc>
                <a:tc>
                  <a:txBody>
                    <a:bodyPr/>
                    <a:lstStyle/>
                    <a:p>
                      <a:r>
                        <a:rPr sz="1450" b="1" i="0">
                          <a:solidFill>
                            <a:srgbClr val="FFFFFF"/>
                          </a:solidFill>
                          <a:latin typeface="Calibri"/>
                        </a:rPr>
                        <a:t>Model B</a:t>
                      </a:r>
                    </a:p>
                  </a:txBody>
                  <a:tcPr marL="101600" marR="101600" marT="38100" marB="38100" anchor="ctr">
                    <a:solidFill>
                      <a:srgbClr val="1A0F5C"/>
                    </a:solidFill>
                  </a:tcPr>
                </a:tc>
              </a:tr>
              <a:tr h="369824">
                <a:tc>
                  <a:txBody>
                    <a:bodyPr/>
                    <a:lstStyle/>
                    <a:p>
                      <a:r>
                        <a:rPr sz="1400" b="0" i="0">
                          <a:solidFill>
                            <a:srgbClr val="1A1440"/>
                          </a:solidFill>
                          <a:latin typeface="Calibri"/>
                        </a:rPr>
                        <a:t>AUC</a:t>
                      </a:r>
                    </a:p>
                  </a:txBody>
                  <a:tcPr marL="101600" marR="101600" marT="38100" marB="38100" anchor="ctr">
                    <a:solidFill>
                      <a:srgbClr val="FFFFFF"/>
                    </a:solidFill>
                  </a:tcPr>
                </a:tc>
                <a:tc>
                  <a:txBody>
                    <a:bodyPr/>
                    <a:lstStyle/>
                    <a:p>
                      <a:r>
                        <a:rPr sz="1400" b="0" i="0">
                          <a:solidFill>
                            <a:srgbClr val="1A1440"/>
                          </a:solidFill>
                          <a:latin typeface="Calibri"/>
                        </a:rPr>
                        <a:t>0.80</a:t>
                      </a:r>
                    </a:p>
                  </a:txBody>
                  <a:tcPr marL="101600" marR="101600" marT="38100" marB="38100" anchor="ctr">
                    <a:solidFill>
                      <a:srgbClr val="FFFFFF"/>
                    </a:solidFill>
                  </a:tcPr>
                </a:tc>
                <a:tc>
                  <a:txBody>
                    <a:bodyPr/>
                    <a:lstStyle/>
                    <a:p>
                      <a:r>
                        <a:rPr sz="1400" b="0" i="0">
                          <a:solidFill>
                            <a:srgbClr val="1A1440"/>
                          </a:solidFill>
                          <a:latin typeface="Calibri"/>
                        </a:rPr>
                        <a:t>0.85</a:t>
                      </a:r>
                    </a:p>
                  </a:txBody>
                  <a:tcPr marL="101600" marR="101600" marT="38100" marB="38100" anchor="ctr">
                    <a:solidFill>
                      <a:srgbClr val="FFFFFF"/>
                    </a:solidFill>
                  </a:tcPr>
                </a:tc>
              </a:tr>
              <a:tr h="369824">
                <a:tc>
                  <a:txBody>
                    <a:bodyPr/>
                    <a:lstStyle/>
                    <a:p>
                      <a:r>
                        <a:rPr sz="1400" b="0" i="0">
                          <a:solidFill>
                            <a:srgbClr val="1A1440"/>
                          </a:solidFill>
                          <a:latin typeface="Calibri"/>
                        </a:rPr>
                        <a:t>Returners in the top 6</a:t>
                      </a:r>
                    </a:p>
                  </a:txBody>
                  <a:tcPr marL="101600" marR="101600" marT="38100" marB="38100" anchor="ctr">
                    <a:solidFill>
                      <a:srgbClr val="F4F2FA"/>
                    </a:solidFill>
                  </a:tcPr>
                </a:tc>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4</a:t>
                      </a:r>
                    </a:p>
                  </a:txBody>
                  <a:tcPr marL="101600" marR="101600" marT="38100" marB="38100" anchor="ctr">
                    <a:solidFill>
                      <a:srgbClr val="F4F2FA"/>
                    </a:solidFill>
                  </a:tcPr>
                </a:tc>
              </a:tr>
              <a:tr h="369824">
                <a:tc>
                  <a:txBody>
                    <a:bodyPr/>
                    <a:lstStyle/>
                    <a:p>
                      <a:r>
                        <a:rPr sz="1400" b="0" i="0">
                          <a:solidFill>
                            <a:srgbClr val="1A1440"/>
                          </a:solidFill>
                          <a:latin typeface="Calibri"/>
                        </a:rPr>
                        <a:t>Rupee gap this week</a:t>
                      </a:r>
                    </a:p>
                  </a:txBody>
                  <a:tcPr marL="101600" marR="101600" marT="38100" marB="38100" anchor="ctr">
                    <a:solidFill>
                      <a:srgbClr val="FFFFFF"/>
                    </a:solidFill>
                  </a:tcPr>
                </a:tc>
                <a:tc>
                  <a:txBody>
                    <a:bodyPr/>
                    <a:lstStyle/>
                    <a:p>
                      <a:r>
                        <a:rPr sz="1400" b="0" i="0">
                          <a:solidFill>
                            <a:srgbClr val="1A1440"/>
                          </a:solidFill>
                          <a:latin typeface="Calibri"/>
                        </a:rPr>
                        <a:t>Rs 0</a:t>
                      </a:r>
                    </a:p>
                  </a:txBody>
                  <a:tcPr marL="101600" marR="101600" marT="38100" marB="38100" anchor="ctr">
                    <a:solidFill>
                      <a:srgbClr val="FFFFFF"/>
                    </a:solidFill>
                  </a:tcPr>
                </a:tc>
                <a:tc>
                  <a:txBody>
                    <a:bodyPr/>
                    <a:lstStyle/>
                    <a:p>
                      <a:r>
                        <a:rPr sz="1400" b="0" i="0">
                          <a:solidFill>
                            <a:srgbClr val="1A1440"/>
                          </a:solidFill>
                          <a:latin typeface="Calibri"/>
                        </a:rPr>
                        <a:t>Rs 0</a:t>
                      </a:r>
                    </a:p>
                  </a:txBody>
                  <a:tcPr marL="101600" marR="101600" marT="38100" marB="38100" anchor="ctr">
                    <a:solidFill>
                      <a:srgbClr val="FFFFFF"/>
                    </a:solidFill>
                  </a:tcPr>
                </a:tc>
              </a:tr>
              <a:tr h="369824">
                <a:tc>
                  <a:txBody>
                    <a:bodyPr/>
                    <a:lstStyle/>
                    <a:p>
                      <a:r>
                        <a:rPr sz="1400" b="0" i="0">
                          <a:solidFill>
                            <a:srgbClr val="1A1440"/>
                          </a:solidFill>
                          <a:latin typeface="Calibri"/>
                        </a:rPr>
                        <a:t>Columns to maintain</a:t>
                      </a:r>
                    </a:p>
                  </a:txBody>
                  <a:tcPr marL="101600" marR="101600" marT="38100" marB="38100" anchor="ctr">
                    <a:solidFill>
                      <a:srgbClr val="F4F2FA"/>
                    </a:solidFill>
                  </a:tcPr>
                </a:tc>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40</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30 / 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Ninety seconds: the memo and one choice of yours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gym memo aloud at 140 words a minute.</a:t>
            </a:r>
          </a:p>
        </p:txBody>
      </p:sp>
      <p:pic>
        <p:nvPicPr>
          <p:cNvPr id="9" name="mermaid diagram" descr="C2_W05_D05_memo_seconds_STUDENT.png"/>
          <p:cNvPicPr>
            <a:picLocks noChangeAspect="1"/>
          </p:cNvPicPr>
          <p:nvPr/>
        </p:nvPicPr>
        <p:blipFill>
          <a:blip r:embed="rId4"/>
          <a:stretch>
            <a:fillRect/>
          </a:stretch>
        </p:blipFill>
        <p:spPr>
          <a:xfrm>
            <a:off x="530352" y="1956816"/>
            <a:ext cx="11130991" cy="2226198"/>
          </a:xfrm>
          <a:prstGeom prst="rect">
            <a:avLst/>
          </a:prstGeom>
        </p:spPr>
      </p:pic>
      <p:sp>
        <p:nvSpPr>
          <p:cNvPr id="10" name="picture caption"/>
          <p:cNvSpPr txBox="1"/>
          <p:nvPr/>
        </p:nvSpPr>
        <p:spPr>
          <a:xfrm>
            <a:off x="530352" y="4219590"/>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gym memo's five parts as seconds at 140 words a minute, 44 seconds against a 90-second line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31 / 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seat pushes on one thing; answer it with a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pushes to rehearse before Monday.</a:t>
            </a:r>
          </a:p>
        </p:txBody>
      </p:sp>
      <p:pic>
        <p:nvPicPr>
          <p:cNvPr id="9" name="mermaid diagram" descr="e70b66a6a7b14c24.png"/>
          <p:cNvPicPr>
            <a:picLocks noChangeAspect="1"/>
          </p:cNvPicPr>
          <p:nvPr/>
        </p:nvPicPr>
        <p:blipFill>
          <a:blip r:embed="rId5"/>
          <a:stretch>
            <a:fillRect/>
          </a:stretch>
        </p:blipFill>
        <p:spPr>
          <a:xfrm>
            <a:off x="4628743" y="1682496"/>
            <a:ext cx="2934208"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32 / 60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bill for the near-tie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model, what cost?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Applies the model justification and the error bill in rupees under the chosen threshold · notebook case01</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33 / 60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Thursday handed over three models within 0.02 of AUC</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Fitted on 24,712 rows, compared on 8,238; the test slice still sealed.</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5952825"/>
                <a:gridCol w="2955560"/>
                <a:gridCol w="2222605"/>
              </a:tblGrid>
              <a:tr h="369824">
                <a:tc>
                  <a:txBody>
                    <a:bodyPr/>
                    <a:lstStyle/>
                    <a:p>
                      <a:r>
                        <a:rPr sz="1450" b="1" i="0">
                          <a:solidFill>
                            <a:srgbClr val="FFFFFF"/>
                          </a:solidFill>
                          <a:latin typeface="Calibri"/>
                        </a:rPr>
                        <a:t>Model</a:t>
                      </a:r>
                    </a:p>
                  </a:txBody>
                  <a:tcPr marL="101600" marR="101600" marT="38100" marB="38100" anchor="ctr">
                    <a:solidFill>
                      <a:srgbClr val="1A0F5C"/>
                    </a:solidFill>
                  </a:tcPr>
                </a:tc>
                <a:tc>
                  <a:txBody>
                    <a:bodyPr/>
                    <a:lstStyle/>
                    <a:p>
                      <a:r>
                        <a:rPr sz="1450" b="1" i="0">
                          <a:solidFill>
                            <a:srgbClr val="FFFFFF"/>
                          </a:solidFill>
                          <a:latin typeface="Calibri"/>
                        </a:rPr>
                        <a:t>Validation AUC</a:t>
                      </a:r>
                    </a:p>
                  </a:txBody>
                  <a:tcPr marL="101600" marR="101600" marT="38100" marB="38100" anchor="ctr">
                    <a:solidFill>
                      <a:srgbClr val="1A0F5C"/>
                    </a:solidFill>
                  </a:tcPr>
                </a:tc>
                <a:tc>
                  <a:txBody>
                    <a:bodyPr/>
                    <a:lstStyle/>
                    <a:p>
                      <a:r>
                        <a:rPr sz="1450" b="1" i="0">
                          <a:solidFill>
                            <a:srgbClr val="FFFFFF"/>
                          </a:solidFill>
                          <a:latin typeface="Calibri"/>
                        </a:rPr>
                        <a:t>Mean score</a:t>
                      </a:r>
                    </a:p>
                  </a:txBody>
                  <a:tcPr marL="101600" marR="101600" marT="38100" marB="38100" anchor="ctr">
                    <a:solidFill>
                      <a:srgbClr val="1A0F5C"/>
                    </a:solidFill>
                  </a:tcPr>
                </a:tc>
              </a:tr>
              <a:tr h="369824">
                <a:tc>
                  <a:txBody>
                    <a:bodyPr/>
                    <a:lstStyle/>
                    <a:p>
                      <a:r>
                        <a:rPr sz="1400" b="0" i="0">
                          <a:solidFill>
                            <a:srgbClr val="1A1440"/>
                          </a:solidFill>
                          <a:latin typeface="Calibri"/>
                        </a:rPr>
                        <a:t>Logistic (regularised)</a:t>
                      </a:r>
                    </a:p>
                  </a:txBody>
                  <a:tcPr marL="101600" marR="101600" marT="38100" marB="38100" anchor="ctr">
                    <a:solidFill>
                      <a:srgbClr val="FFFFFF"/>
                    </a:solidFill>
                  </a:tcPr>
                </a:tc>
                <a:tc>
                  <a:txBody>
                    <a:bodyPr/>
                    <a:lstStyle/>
                    <a:p>
                      <a:r>
                        <a:rPr sz="1400" b="0" i="0">
                          <a:solidFill>
                            <a:srgbClr val="1A1440"/>
                          </a:solidFill>
                          <a:latin typeface="Calibri"/>
                        </a:rPr>
                        <a:t>0.795</a:t>
                      </a:r>
                    </a:p>
                  </a:txBody>
                  <a:tcPr marL="101600" marR="101600" marT="38100" marB="38100" anchor="ctr">
                    <a:solidFill>
                      <a:srgbClr val="FFFFFF"/>
                    </a:solidFill>
                  </a:tcPr>
                </a:tc>
                <a:tc>
                  <a:txBody>
                    <a:bodyPr/>
                    <a:lstStyle/>
                    <a:p>
                      <a:r>
                        <a:rPr sz="1400" b="0" i="0">
                          <a:solidFill>
                            <a:srgbClr val="1A1440"/>
                          </a:solidFill>
                          <a:latin typeface="Calibri"/>
                        </a:rPr>
                        <a:t>0.114</a:t>
                      </a:r>
                    </a:p>
                  </a:txBody>
                  <a:tcPr marL="101600" marR="101600" marT="38100" marB="38100" anchor="ctr">
                    <a:solidFill>
                      <a:srgbClr val="FFFFFF"/>
                    </a:solidFill>
                  </a:tcPr>
                </a:tc>
              </a:tr>
              <a:tr h="369824">
                <a:tc>
                  <a:txBody>
                    <a:bodyPr/>
                    <a:lstStyle/>
                    <a:p>
                      <a:r>
                        <a:rPr sz="1400" b="0" i="0">
                          <a:solidFill>
                            <a:srgbClr val="1A1440"/>
                          </a:solidFill>
                          <a:latin typeface="Calibri"/>
                        </a:rPr>
                        <a:t>Tuned tree (depth 7, leaves of 20)</a:t>
                      </a:r>
                    </a:p>
                  </a:txBody>
                  <a:tcPr marL="101600" marR="101600" marT="38100" marB="38100" anchor="ctr">
                    <a:solidFill>
                      <a:srgbClr val="F4F2FA"/>
                    </a:solidFill>
                  </a:tcPr>
                </a:tc>
                <a:tc>
                  <a:txBody>
                    <a:bodyPr/>
                    <a:lstStyle/>
                    <a:p>
                      <a:r>
                        <a:rPr sz="1400" b="0" i="0">
                          <a:solidFill>
                            <a:srgbClr val="1A1440"/>
                          </a:solidFill>
                          <a:latin typeface="Calibri"/>
                        </a:rPr>
                        <a:t>0.787</a:t>
                      </a:r>
                    </a:p>
                  </a:txBody>
                  <a:tcPr marL="101600" marR="101600" marT="38100" marB="38100" anchor="ctr">
                    <a:solidFill>
                      <a:srgbClr val="F4F2FA"/>
                    </a:solidFill>
                  </a:tcPr>
                </a:tc>
                <a:tc>
                  <a:txBody>
                    <a:bodyPr/>
                    <a:lstStyle/>
                    <a:p>
                      <a:r>
                        <a:rPr sz="1400" b="0" i="0">
                          <a:solidFill>
                            <a:srgbClr val="1A1440"/>
                          </a:solidFill>
                          <a:latin typeface="Calibri"/>
                        </a:rPr>
                        <a:t>0.114</a:t>
                      </a:r>
                    </a:p>
                  </a:txBody>
                  <a:tcPr marL="101600" marR="101600" marT="38100" marB="38100" anchor="ctr">
                    <a:solidFill>
                      <a:srgbClr val="F4F2FA"/>
                    </a:solidFill>
                  </a:tcPr>
                </a:tc>
              </a:tr>
              <a:tr h="369824">
                <a:tc>
                  <a:txBody>
                    <a:bodyPr/>
                    <a:lstStyle/>
                    <a:p>
                      <a:r>
                        <a:rPr sz="1400" b="0" i="0">
                          <a:solidFill>
                            <a:srgbClr val="1A1440"/>
                          </a:solidFill>
                          <a:latin typeface="Calibri"/>
                        </a:rPr>
                        <a:t>Boosting</a:t>
                      </a:r>
                    </a:p>
                  </a:txBody>
                  <a:tcPr marL="101600" marR="101600" marT="38100" marB="38100" anchor="ctr">
                    <a:solidFill>
                      <a:srgbClr val="FFFFFF"/>
                    </a:solidFill>
                  </a:tcPr>
                </a:tc>
                <a:tc>
                  <a:txBody>
                    <a:bodyPr/>
                    <a:lstStyle/>
                    <a:p>
                      <a:r>
                        <a:rPr sz="1400" b="0" i="0">
                          <a:solidFill>
                            <a:srgbClr val="1A1440"/>
                          </a:solidFill>
                          <a:latin typeface="Calibri"/>
                        </a:rPr>
                        <a:t>0.803</a:t>
                      </a:r>
                    </a:p>
                  </a:txBody>
                  <a:tcPr marL="101600" marR="101600" marT="38100" marB="38100" anchor="ctr">
                    <a:solidFill>
                      <a:srgbClr val="FFFFFF"/>
                    </a:solidFill>
                  </a:tcPr>
                </a:tc>
                <a:tc>
                  <a:txBody>
                    <a:bodyPr/>
                    <a:lstStyle/>
                    <a:p>
                      <a:r>
                        <a:rPr sz="1400" b="0" i="0">
                          <a:solidFill>
                            <a:srgbClr val="1A1440"/>
                          </a:solidFill>
                          <a:latin typeface="Calibri"/>
                        </a:rPr>
                        <a:t>0.113</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At the cost cut of 0.032, which has the smallest bill? a) boosting b) the tree c) logistic d) all within 1 percent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34 / 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 All three tie with calling everyone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Rs 40 against Rs 1,200 makes every model call nine in ten.</a:t>
            </a:r>
          </a:p>
        </p:txBody>
      </p:sp>
      <p:pic>
        <p:nvPicPr>
          <p:cNvPr id="9" name="mermaid diagram" descr="C2_W05_D05_bank_bills_STUDENT.png"/>
          <p:cNvPicPr>
            <a:picLocks noChangeAspect="1"/>
          </p:cNvPicPr>
          <p:nvPr/>
        </p:nvPicPr>
        <p:blipFill>
          <a:blip r:embed="rId4"/>
          <a:stretch>
            <a:fillRect/>
          </a:stretch>
        </p:blipFill>
        <p:spPr>
          <a:xfrm>
            <a:off x="530352" y="1682496"/>
            <a:ext cx="11130991" cy="4081363"/>
          </a:xfrm>
          <a:prstGeom prst="rect">
            <a:avLst/>
          </a:prstGeom>
        </p:spPr>
      </p:pic>
      <p:sp>
        <p:nvSpPr>
          <p:cNvPr id="10" name="picture caption"/>
          <p:cNvSpPr txBox="1"/>
          <p:nvPr/>
        </p:nvSpPr>
        <p:spPr>
          <a:xfrm>
            <a:off x="530352" y="5800435"/>
            <a:ext cx="11130991" cy="316992"/>
          </a:xfrm>
          <a:prstGeom prst="rect">
            <a:avLst/>
          </a:prstGeom>
          <a:noFill/>
        </p:spPr>
        <p:txBody>
          <a:bodyPr wrap="square" anchor="t" lIns="0" rIns="0" tIns="0" bIns="0">
            <a:spAutoFit/>
          </a:bodyPr>
          <a:lstStyle/>
          <a:p>
            <a:pPr algn="ctr"/>
            <a:r>
              <a:rPr sz="1200" b="0" i="0">
                <a:solidFill>
                  <a:srgbClr val="6B6690"/>
                </a:solidFill>
                <a:latin typeface="Calibri"/>
              </a:rPr>
              <a:t>Error bills on the validation slice: the three models near Rs 2.8 lakh, calling everyone Rs 2.92 lakh, the 0.5 default Rs 8.6 lakh</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35 / 60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Under 1,000 calls the model finds 4x random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Rank the 8,238, call the top 1,000.</a:t>
            </a:r>
          </a:p>
        </p:txBody>
      </p:sp>
      <p:pic>
        <p:nvPicPr>
          <p:cNvPr id="9" name="mermaid diagram" descr="C2_W05_D05_bank_topk_STUDENT.png"/>
          <p:cNvPicPr>
            <a:picLocks noChangeAspect="1"/>
          </p:cNvPicPr>
          <p:nvPr/>
        </p:nvPicPr>
        <p:blipFill>
          <a:blip r:embed="rId4"/>
          <a:stretch>
            <a:fillRect/>
          </a:stretch>
        </p:blipFill>
        <p:spPr>
          <a:xfrm>
            <a:off x="845667" y="1682496"/>
            <a:ext cx="10500360" cy="4200144"/>
          </a:xfrm>
          <a:prstGeom prst="rect">
            <a:avLst/>
          </a:prstGeom>
        </p:spPr>
      </p:pic>
      <p:sp>
        <p:nvSpPr>
          <p:cNvPr id="10" name="picture caption"/>
          <p:cNvSpPr txBox="1"/>
          <p:nvPr/>
        </p:nvSpPr>
        <p:spPr>
          <a:xfrm>
            <a:off x="530352" y="5919216"/>
            <a:ext cx="11130991" cy="316992"/>
          </a:xfrm>
          <a:prstGeom prst="rect">
            <a:avLst/>
          </a:prstGeom>
          <a:noFill/>
        </p:spPr>
        <p:txBody>
          <a:bodyPr wrap="square" anchor="t" lIns="0" rIns="0" tIns="0" bIns="0">
            <a:spAutoFit/>
          </a:bodyPr>
          <a:lstStyle/>
          <a:p>
            <a:pPr algn="ctr"/>
            <a:r>
              <a:rPr sz="1200" b="0" i="0">
                <a:solidFill>
                  <a:srgbClr val="6B6690"/>
                </a:solidFill>
                <a:latin typeface="Calibri"/>
              </a:rPr>
              <a:t>Buyers in the top 1,000 calls: 113 at random, 462 logistic, 469 tuned tree, 475 boosting</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36 / 60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Is 13 more buyers real? Resample and count again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300 resamples of the validation customers, the gap recounted each time.</a:t>
            </a:r>
          </a:p>
        </p:txBody>
      </p:sp>
      <p:pic>
        <p:nvPicPr>
          <p:cNvPr id="9" name="mermaid diagram" descr="C2_W05_D05_bank_gap_STUDENT.png"/>
          <p:cNvPicPr>
            <a:picLocks noChangeAspect="1"/>
          </p:cNvPicPr>
          <p:nvPr/>
        </p:nvPicPr>
        <p:blipFill>
          <a:blip r:embed="rId4"/>
          <a:stretch>
            <a:fillRect/>
          </a:stretch>
        </p:blipFill>
        <p:spPr>
          <a:xfrm>
            <a:off x="530352" y="1682496"/>
            <a:ext cx="11130991" cy="4047633"/>
          </a:xfrm>
          <a:prstGeom prst="rect">
            <a:avLst/>
          </a:prstGeom>
        </p:spPr>
      </p:pic>
      <p:sp>
        <p:nvSpPr>
          <p:cNvPr id="10" name="picture caption"/>
          <p:cNvSpPr txBox="1"/>
          <p:nvPr/>
        </p:nvSpPr>
        <p:spPr>
          <a:xfrm>
            <a:off x="530352" y="5766705"/>
            <a:ext cx="11130991" cy="316992"/>
          </a:xfrm>
          <a:prstGeom prst="rect">
            <a:avLst/>
          </a:prstGeom>
          <a:noFill/>
        </p:spPr>
        <p:txBody>
          <a:bodyPr wrap="square" anchor="t" lIns="0" rIns="0" tIns="0" bIns="0">
            <a:spAutoFit/>
          </a:bodyPr>
          <a:lstStyle/>
          <a:p>
            <a:pPr algn="ctr"/>
            <a:r>
              <a:rPr sz="1200" b="0" i="0">
                <a:solidFill>
                  <a:srgbClr val="6B6690"/>
                </a:solidFill>
                <a:latin typeface="Calibri"/>
              </a:rPr>
              <a:t>Histogram of the extra buyers boosting finds over 300 resamples, its band reaching zero</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37 / 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claim and the evidence, from your own run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number traces to case01.</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1631057"/>
                <a:gridCol w="9499933"/>
              </a:tblGrid>
              <a:tr h="369824">
                <a:tc>
                  <a:txBody>
                    <a:bodyPr/>
                    <a:lstStyle/>
                    <a:p>
                      <a:r>
                        <a:rPr sz="1450" b="1" i="0">
                          <a:solidFill>
                            <a:srgbClr val="FFFFFF"/>
                          </a:solidFill>
                          <a:latin typeface="Calibri"/>
                        </a:rPr>
                        <a:t>Part</a:t>
                      </a:r>
                    </a:p>
                  </a:txBody>
                  <a:tcPr marL="101600" marR="101600" marT="38100" marB="38100" anchor="ctr">
                    <a:solidFill>
                      <a:srgbClr val="1A0F5C"/>
                    </a:solidFill>
                  </a:tcPr>
                </a:tc>
                <a:tc>
                  <a:txBody>
                    <a:bodyPr/>
                    <a:lstStyle/>
                    <a:p>
                      <a:r>
                        <a:rPr sz="1450" b="1" i="0">
                          <a:solidFill>
                            <a:srgbClr val="FFFFFF"/>
                          </a:solidFill>
                          <a:latin typeface="Calibri"/>
                        </a:rPr>
                        <a:t>The line</a:t>
                      </a:r>
                    </a:p>
                  </a:txBody>
                  <a:tcPr marL="101600" marR="101600" marT="38100" marB="38100" anchor="ctr">
                    <a:solidFill>
                      <a:srgbClr val="1A0F5C"/>
                    </a:solidFill>
                  </a:tcPr>
                </a:tc>
              </a:tr>
              <a:tr h="369824">
                <a:tc>
                  <a:txBody>
                    <a:bodyPr/>
                    <a:lstStyle/>
                    <a:p>
                      <a:r>
                        <a:rPr sz="1400" b="0" i="0">
                          <a:solidFill>
                            <a:srgbClr val="1A1440"/>
                          </a:solidFill>
                          <a:latin typeface="Calibri"/>
                        </a:rPr>
                        <a:t>Claim</a:t>
                      </a:r>
                    </a:p>
                  </a:txBody>
                  <a:tcPr marL="101600" marR="101600" marT="38100" marB="38100" anchor="ctr">
                    <a:solidFill>
                      <a:srgbClr val="FFFFFF"/>
                    </a:solidFill>
                  </a:tcPr>
                </a:tc>
                <a:tc>
                  <a:txBody>
                    <a:bodyPr/>
                    <a:lstStyle/>
                    <a:p>
                      <a:r>
                        <a:rPr sz="1400" b="0" i="0">
                          <a:solidFill>
                            <a:srgbClr val="1A1440"/>
                          </a:solidFill>
                          <a:latin typeface="Calibri"/>
                        </a:rPr>
                        <a:t>Call the 1,000 customers the logistic model ranks highest (score above 0.245)</a:t>
                      </a:r>
                    </a:p>
                  </a:txBody>
                  <a:tcPr marL="101600" marR="101600" marT="38100" marB="38100" anchor="ctr">
                    <a:solidFill>
                      <a:srgbClr val="FFFFFF"/>
                    </a:solidFill>
                  </a:tcPr>
                </a:tc>
              </a:tr>
              <a:tr h="369824">
                <a:tc>
                  <a:txBody>
                    <a:bodyPr/>
                    <a:lstStyle/>
                    <a:p>
                      <a:r>
                        <a:rPr sz="1400" b="0" i="0">
                          <a:solidFill>
                            <a:srgbClr val="1A1440"/>
                          </a:solidFill>
                          <a:latin typeface="Calibri"/>
                        </a:rPr>
                        <a:t>Evidence</a:t>
                      </a:r>
                    </a:p>
                  </a:txBody>
                  <a:tcPr marL="101600" marR="101600" marT="38100" marB="38100" anchor="ctr">
                    <a:solidFill>
                      <a:srgbClr val="F4F2FA"/>
                    </a:solidFill>
                  </a:tcPr>
                </a:tc>
                <a:tc>
                  <a:txBody>
                    <a:bodyPr/>
                    <a:lstStyle/>
                    <a:p>
                      <a:r>
                        <a:rPr sz="1400" b="0" i="0">
                          <a:solidFill>
                            <a:srgbClr val="1A1440"/>
                          </a:solidFill>
                          <a:latin typeface="Calibri"/>
                        </a:rPr>
                        <a:t>462 buyers in 1,000 calls against about 113 at random</a:t>
                      </a:r>
                    </a:p>
                  </a:txBody>
                  <a:tcPr marL="101600" marR="101600" marT="38100" marB="38100" anchor="ctr">
                    <a:solidFill>
                      <a:srgbClr val="F4F2FA"/>
                    </a:solidFill>
                  </a:tcPr>
                </a:tc>
              </a:tr>
              <a:tr h="369824">
                <a:tc>
                  <a:txBody>
                    <a:bodyPr/>
                    <a:lstStyle/>
                    <a:p>
                      <a:r>
                        <a:rPr sz="1400" b="0" i="0">
                          <a:solidFill>
                            <a:srgbClr val="1A1440"/>
                          </a:solidFill>
                          <a:latin typeface="Calibri"/>
                        </a:rPr>
                        <a:t>Evidence</a:t>
                      </a:r>
                    </a:p>
                  </a:txBody>
                  <a:tcPr marL="101600" marR="101600" marT="38100" marB="38100" anchor="ctr">
                    <a:solidFill>
                      <a:srgbClr val="FFFFFF"/>
                    </a:solidFill>
                  </a:tcPr>
                </a:tc>
                <a:tc>
                  <a:txBody>
                    <a:bodyPr/>
                    <a:lstStyle/>
                    <a:p>
                      <a:r>
                        <a:rPr sz="1400" b="0" i="0">
                          <a:solidFill>
                            <a:srgbClr val="1A1440"/>
                          </a:solidFill>
                          <a:latin typeface="Calibri"/>
                        </a:rPr>
                        <a:t>Boosting finds 13 more; the band reaches zero, so the simpler model is recommended</a:t>
                      </a:r>
                    </a:p>
                  </a:txBody>
                  <a:tcPr marL="101600" marR="101600" marT="38100" marB="38100" anchor="ctr">
                    <a:solidFill>
                      <a:srgbClr val="FFFFFF"/>
                    </a:solidFill>
                  </a:tcPr>
                </a:tc>
              </a:tr>
              <a:tr h="369824">
                <a:tc>
                  <a:txBody>
                    <a:bodyPr/>
                    <a:lstStyle/>
                    <a:p>
                      <a:r>
                        <a:rPr sz="1400" b="0" i="0">
                          <a:solidFill>
                            <a:srgbClr val="1A1440"/>
                          </a:solidFill>
                          <a:latin typeface="Calibri"/>
                        </a:rPr>
                        <a:t>Evidence</a:t>
                      </a:r>
                    </a:p>
                  </a:txBody>
                  <a:tcPr marL="101600" marR="101600" marT="38100" marB="38100" anchor="ctr">
                    <a:solidFill>
                      <a:srgbClr val="F4F2FA"/>
                    </a:solidFill>
                  </a:tcPr>
                </a:tc>
                <a:tc>
                  <a:txBody>
                    <a:bodyPr/>
                    <a:lstStyle/>
                    <a:p>
                      <a:r>
                        <a:rPr sz="1400" b="0" i="0">
                          <a:solidFill>
                            <a:srgbClr val="1A1440"/>
                          </a:solidFill>
                          <a:latin typeface="Calibri"/>
                        </a:rPr>
                        <a:t>Without the budget, any model's bill sits within 4 percent of calling everyone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38 / 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Train early, score late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breaks?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Applies the error bill under the chosen threshold, and staleness: the monitoring rule and the weakest segment · notebook case02</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39 / 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ways to hold rows out; one asks about next year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file runs in date order, May 2008 to November 2010.</a:t>
            </a:r>
          </a:p>
        </p:txBody>
      </p:sp>
      <p:pic>
        <p:nvPicPr>
          <p:cNvPr id="9" name="mermaid diagram" descr="62d8094e0a4196ac.png"/>
          <p:cNvPicPr>
            <a:picLocks noChangeAspect="1"/>
          </p:cNvPicPr>
          <p:nvPr/>
        </p:nvPicPr>
        <p:blipFill>
          <a:blip r:embed="rId5"/>
          <a:stretch>
            <a:fillRect/>
          </a:stretch>
        </p:blipFill>
        <p:spPr>
          <a:xfrm>
            <a:off x="1252385" y="1956816"/>
            <a:ext cx="9686925" cy="2857500"/>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40 / 60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Trained early: what happens on the late months?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Predict before the cell runs.</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option</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AUC holds near 0.80 and nothing else moves</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AUC dips; the promise stays near the old rate while the real rate climbs</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the model refuses to score new months</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the promise climbs with the real rate</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one?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7" name="Oval 26"/>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41 / 60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Real 25 in 100; the promise stays 16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real rate went from 6 to 25 in 100. AUC fell from 0.80 to 0.66, and never mentions the promise.</a:t>
            </a:r>
          </a:p>
        </p:txBody>
      </p:sp>
      <p:graphicFrame>
        <p:nvGraphicFramePr>
          <p:cNvPr id="9" name="Table 8"/>
          <p:cNvGraphicFramePr>
            <a:graphicFrameLocks noGrp="1"/>
          </p:cNvGraphicFramePr>
          <p:nvPr/>
        </p:nvGraphicFramePr>
        <p:xfrm>
          <a:off x="530352" y="1956816"/>
          <a:ext cx="11130990" cy="1005840"/>
        </p:xfrm>
        <a:graphic>
          <a:graphicData uri="http://schemas.openxmlformats.org/drawingml/2006/table">
            <a:tbl>
              <a:tblPr firstRow="0" bandRow="0">
                <a:tableStyleId>{2D5ABB26-0587-4C30-8999-92F81FD0307C}</a:tableStyleId>
              </a:tblPr>
              <a:tblGrid>
                <a:gridCol w="4733848"/>
                <a:gridCol w="914400"/>
                <a:gridCol w="2817586"/>
                <a:gridCol w="2665156"/>
              </a:tblGrid>
              <a:tr h="335280">
                <a:tc>
                  <a:txBody>
                    <a:bodyPr/>
                    <a:lstStyle/>
                    <a:p/>
                  </a:txBody>
                  <a:tcPr marL="101600" marR="101600" marT="38100" marB="38100" anchor="ctr">
                    <a:solidFill>
                      <a:srgbClr val="1A0F5C"/>
                    </a:solidFill>
                  </a:tcPr>
                </a:tc>
                <a:tc>
                  <a:txBody>
                    <a:bodyPr/>
                    <a:lstStyle/>
                    <a:p>
                      <a:r>
                        <a:rPr sz="1250" b="1" i="0">
                          <a:solidFill>
                            <a:srgbClr val="FFFFFF"/>
                          </a:solidFill>
                          <a:latin typeface="Calibri"/>
                        </a:rPr>
                        <a:t>Rows</a:t>
                      </a:r>
                    </a:p>
                  </a:txBody>
                  <a:tcPr marL="101600" marR="101600" marT="38100" marB="38100" anchor="ctr">
                    <a:solidFill>
                      <a:srgbClr val="1A0F5C"/>
                    </a:solidFill>
                  </a:tcPr>
                </a:tc>
                <a:tc>
                  <a:txBody>
                    <a:bodyPr/>
                    <a:lstStyle/>
                    <a:p>
                      <a:r>
                        <a:rPr sz="1250" b="1" i="0">
                          <a:solidFill>
                            <a:srgbClr val="FFFFFF"/>
                          </a:solidFill>
                          <a:latin typeface="Calibri"/>
                        </a:rPr>
                        <a:t>Real buying rate</a:t>
                      </a:r>
                    </a:p>
                  </a:txBody>
                  <a:tcPr marL="101600" marR="101600" marT="38100" marB="38100" anchor="ctr">
                    <a:solidFill>
                      <a:srgbClr val="1A0F5C"/>
                    </a:solidFill>
                  </a:tcPr>
                </a:tc>
                <a:tc>
                  <a:txBody>
                    <a:bodyPr/>
                    <a:lstStyle/>
                    <a:p>
                      <a:r>
                        <a:rPr sz="1250" b="1" i="0">
                          <a:solidFill>
                            <a:srgbClr val="FFFFFF"/>
                          </a:solidFill>
                          <a:latin typeface="Calibri"/>
                        </a:rPr>
                        <a:t>Model's promise</a:t>
                      </a:r>
                    </a:p>
                  </a:txBody>
                  <a:tcPr marL="101600" marR="101600" marT="38100" marB="38100" anchor="ctr">
                    <a:solidFill>
                      <a:srgbClr val="1A0F5C"/>
                    </a:solidFill>
                  </a:tcPr>
                </a:tc>
              </a:tr>
              <a:tr h="335280">
                <a:tc>
                  <a:txBody>
                    <a:bodyPr/>
                    <a:lstStyle/>
                    <a:p>
                      <a:r>
                        <a:rPr sz="1200" b="0" i="0">
                          <a:solidFill>
                            <a:srgbClr val="1A1440"/>
                          </a:solidFill>
                          <a:latin typeface="Calibri"/>
                        </a:rPr>
                        <a:t>Trained on, May 2008 to Apr 2009</a:t>
                      </a:r>
                    </a:p>
                  </a:txBody>
                  <a:tcPr marL="101600" marR="101600" marT="38100" marB="38100" anchor="ctr">
                    <a:solidFill>
                      <a:srgbClr val="FFFFFF"/>
                    </a:solidFill>
                  </a:tcPr>
                </a:tc>
                <a:tc>
                  <a:txBody>
                    <a:bodyPr/>
                    <a:lstStyle/>
                    <a:p>
                      <a:r>
                        <a:rPr sz="1200" b="0" i="0">
                          <a:solidFill>
                            <a:srgbClr val="1A1440"/>
                          </a:solidFill>
                          <a:latin typeface="Calibri"/>
                        </a:rPr>
                        <a:t>28,831</a:t>
                      </a:r>
                    </a:p>
                  </a:txBody>
                  <a:tcPr marL="101600" marR="101600" marT="38100" marB="38100" anchor="ctr">
                    <a:solidFill>
                      <a:srgbClr val="FFFFFF"/>
                    </a:solidFill>
                  </a:tcPr>
                </a:tc>
                <a:tc>
                  <a:txBody>
                    <a:bodyPr/>
                    <a:lstStyle/>
                    <a:p>
                      <a:r>
                        <a:rPr sz="1200" b="0" i="0">
                          <a:solidFill>
                            <a:srgbClr val="1A1440"/>
                          </a:solidFill>
                          <a:latin typeface="Calibri"/>
                        </a:rPr>
                        <a:t>5.6%</a:t>
                      </a:r>
                    </a:p>
                  </a:txBody>
                  <a:tcPr marL="101600" marR="101600" marT="38100" marB="38100" anchor="ctr">
                    <a:solidFill>
                      <a:srgbClr val="FFFFFF"/>
                    </a:solidFill>
                  </a:tcPr>
                </a:tc>
                <a:tc>
                  <a:txBody>
                    <a:bodyPr/>
                    <a:lstStyle/>
                    <a:p>
                      <a:r>
                        <a:rPr sz="1200" b="0" i="0">
                          <a:solidFill>
                            <a:srgbClr val="1A1440"/>
                          </a:solidFill>
                          <a:latin typeface="Calibri"/>
                        </a:rPr>
                        <a:t>5.6%</a:t>
                      </a:r>
                    </a:p>
                  </a:txBody>
                  <a:tcPr marL="101600" marR="101600" marT="38100" marB="38100" anchor="ctr">
                    <a:solidFill>
                      <a:srgbClr val="FFFFFF"/>
                    </a:solidFill>
                  </a:tcPr>
                </a:tc>
              </a:tr>
              <a:tr h="335280">
                <a:tc>
                  <a:txBody>
                    <a:bodyPr/>
                    <a:lstStyle/>
                    <a:p>
                      <a:r>
                        <a:rPr sz="1200" b="0" i="0">
                          <a:solidFill>
                            <a:srgbClr val="1A1440"/>
                          </a:solidFill>
                          <a:latin typeface="Calibri"/>
                        </a:rPr>
                        <a:t>Scored on, Apr 2009 to Nov 2010</a:t>
                      </a:r>
                    </a:p>
                  </a:txBody>
                  <a:tcPr marL="101600" marR="101600" marT="38100" marB="38100" anchor="ctr">
                    <a:solidFill>
                      <a:srgbClr val="F4F2FA"/>
                    </a:solidFill>
                  </a:tcPr>
                </a:tc>
                <a:tc>
                  <a:txBody>
                    <a:bodyPr/>
                    <a:lstStyle/>
                    <a:p>
                      <a:r>
                        <a:rPr sz="1200" b="0" i="0">
                          <a:solidFill>
                            <a:srgbClr val="1A1440"/>
                          </a:solidFill>
                          <a:latin typeface="Calibri"/>
                        </a:rPr>
                        <a:t>12,357</a:t>
                      </a:r>
                    </a:p>
                  </a:txBody>
                  <a:tcPr marL="101600" marR="101600" marT="38100" marB="38100" anchor="ctr">
                    <a:solidFill>
                      <a:srgbClr val="F4F2FA"/>
                    </a:solidFill>
                  </a:tcPr>
                </a:tc>
                <a:tc>
                  <a:txBody>
                    <a:bodyPr/>
                    <a:lstStyle/>
                    <a:p>
                      <a:r>
                        <a:rPr sz="1200" b="0" i="0">
                          <a:solidFill>
                            <a:srgbClr val="1A1440"/>
                          </a:solidFill>
                          <a:latin typeface="Calibri"/>
                        </a:rPr>
                        <a:t>24.6%</a:t>
                      </a:r>
                    </a:p>
                  </a:txBody>
                  <a:tcPr marL="101600" marR="101600" marT="38100" marB="38100" anchor="ctr">
                    <a:solidFill>
                      <a:srgbClr val="F4F2FA"/>
                    </a:solidFill>
                  </a:tcPr>
                </a:tc>
                <a:tc>
                  <a:txBody>
                    <a:bodyPr/>
                    <a:lstStyle/>
                    <a:p>
                      <a:r>
                        <a:rPr sz="1200" b="0" i="0">
                          <a:solidFill>
                            <a:srgbClr val="1A1440"/>
                          </a:solidFill>
                          <a:latin typeface="Calibri"/>
                        </a:rPr>
                        <a:t>15.9%</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42 / 60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promise sags below reality after training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Friday's panel of the week's picture.</a:t>
            </a:r>
          </a:p>
        </p:txBody>
      </p:sp>
      <p:pic>
        <p:nvPicPr>
          <p:cNvPr id="9" name="mermaid diagram" descr="C2_W05_D05_bank_sag_STUDENT.png"/>
          <p:cNvPicPr>
            <a:picLocks noChangeAspect="1"/>
          </p:cNvPicPr>
          <p:nvPr/>
        </p:nvPicPr>
        <p:blipFill>
          <a:blip r:embed="rId4"/>
          <a:stretch>
            <a:fillRect/>
          </a:stretch>
        </p:blipFill>
        <p:spPr>
          <a:xfrm>
            <a:off x="530352" y="1794951"/>
            <a:ext cx="11130991" cy="3938658"/>
          </a:xfrm>
          <a:prstGeom prst="rect">
            <a:avLst/>
          </a:prstGeom>
        </p:spPr>
      </p:pic>
      <p:sp>
        <p:nvSpPr>
          <p:cNvPr id="10" name="picture caption"/>
          <p:cNvSpPr txBox="1"/>
          <p:nvPr/>
        </p:nvSpPr>
        <p:spPr>
          <a:xfrm>
            <a:off x="530352" y="5770185"/>
            <a:ext cx="11130991" cy="316992"/>
          </a:xfrm>
          <a:prstGeom prst="rect">
            <a:avLst/>
          </a:prstGeom>
          <a:noFill/>
        </p:spPr>
        <p:txBody>
          <a:bodyPr wrap="square" anchor="t" lIns="0" rIns="0" tIns="0" bIns="0">
            <a:spAutoFit/>
          </a:bodyPr>
          <a:lstStyle/>
          <a:p>
            <a:pPr algn="ctr"/>
            <a:r>
              <a:rPr sz="1200" b="0" i="0">
                <a:solidFill>
                  <a:srgbClr val="6B6690"/>
                </a:solidFill>
                <a:latin typeface="Calibri"/>
              </a:rPr>
              <a:t>Monthly real subscription share against the model's promise, May 2008 to November 2010, training months shaded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43 / 60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stale model costs more than no model at 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12,357 late customers at the cost cut of 0.032.</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8836796"/>
                <a:gridCol w="2294194"/>
              </a:tblGrid>
              <a:tr h="369824">
                <a:tc>
                  <a:txBody>
                    <a:bodyPr/>
                    <a:lstStyle/>
                    <a:p>
                      <a:r>
                        <a:rPr sz="1450" b="1" i="0">
                          <a:solidFill>
                            <a:srgbClr val="FFFFFF"/>
                          </a:solidFill>
                          <a:latin typeface="Calibri"/>
                        </a:rPr>
                        <a:t>Bill on the late customers</a:t>
                      </a:r>
                    </a:p>
                  </a:txBody>
                  <a:tcPr marL="101600" marR="101600" marT="38100" marB="38100" anchor="ctr">
                    <a:solidFill>
                      <a:srgbClr val="1A0F5C"/>
                    </a:solidFill>
                  </a:tcPr>
                </a:tc>
                <a:tc>
                  <a:txBody>
                    <a:bodyPr/>
                    <a:lstStyle/>
                    <a:p>
                      <a:r>
                        <a:rPr sz="1450" b="1" i="0">
                          <a:solidFill>
                            <a:srgbClr val="FFFFFF"/>
                          </a:solidFill>
                          <a:latin typeface="Calibri"/>
                        </a:rPr>
                        <a:t>Rs lakh</a:t>
                      </a:r>
                    </a:p>
                  </a:txBody>
                  <a:tcPr marL="101600" marR="101600" marT="38100" marB="38100" anchor="ctr">
                    <a:solidFill>
                      <a:srgbClr val="1A0F5C"/>
                    </a:solidFill>
                  </a:tcPr>
                </a:tc>
              </a:tr>
              <a:tr h="369824">
                <a:tc>
                  <a:txBody>
                    <a:bodyPr/>
                    <a:lstStyle/>
                    <a:p>
                      <a:r>
                        <a:rPr sz="1400" b="0" i="0">
                          <a:solidFill>
                            <a:srgbClr val="1A1440"/>
                          </a:solidFill>
                          <a:latin typeface="Calibri"/>
                        </a:rPr>
                        <a:t>Planned, from validation per customer</a:t>
                      </a:r>
                    </a:p>
                  </a:txBody>
                  <a:tcPr marL="101600" marR="101600" marT="38100" marB="38100" anchor="ctr">
                    <a:solidFill>
                      <a:srgbClr val="FFFFFF"/>
                    </a:solidFill>
                  </a:tcPr>
                </a:tc>
                <a:tc>
                  <a:txBody>
                    <a:bodyPr/>
                    <a:lstStyle/>
                    <a:p>
                      <a:r>
                        <a:rPr sz="1400" b="0" i="0">
                          <a:solidFill>
                            <a:srgbClr val="1A1440"/>
                          </a:solidFill>
                          <a:latin typeface="Calibri"/>
                        </a:rPr>
                        <a:t>4.23</a:t>
                      </a:r>
                    </a:p>
                  </a:txBody>
                  <a:tcPr marL="101600" marR="101600" marT="38100" marB="38100" anchor="ctr">
                    <a:solidFill>
                      <a:srgbClr val="FFFFFF"/>
                    </a:solidFill>
                  </a:tcPr>
                </a:tc>
              </a:tr>
              <a:tr h="369824">
                <a:tc>
                  <a:txBody>
                    <a:bodyPr/>
                    <a:lstStyle/>
                    <a:p>
                      <a:r>
                        <a:rPr sz="1400" b="0" i="0">
                          <a:solidFill>
                            <a:srgbClr val="1A1440"/>
                          </a:solidFill>
                          <a:latin typeface="Calibri"/>
                        </a:rPr>
                        <a:t>Ran up by the stale model</a:t>
                      </a:r>
                    </a:p>
                  </a:txBody>
                  <a:tcPr marL="101600" marR="101600" marT="38100" marB="38100" anchor="ctr">
                    <a:solidFill>
                      <a:srgbClr val="F4F2FA"/>
                    </a:solidFill>
                  </a:tcPr>
                </a:tc>
                <a:tc>
                  <a:txBody>
                    <a:bodyPr/>
                    <a:lstStyle/>
                    <a:p>
                      <a:r>
                        <a:rPr sz="1400" b="0" i="0">
                          <a:solidFill>
                            <a:srgbClr val="1A1440"/>
                          </a:solidFill>
                          <a:latin typeface="Calibri"/>
                        </a:rPr>
                        <a:t>4.62</a:t>
                      </a:r>
                    </a:p>
                  </a:txBody>
                  <a:tcPr marL="101600" marR="101600" marT="38100" marB="38100" anchor="ctr">
                    <a:solidFill>
                      <a:srgbClr val="F4F2FA"/>
                    </a:solidFill>
                  </a:tcPr>
                </a:tc>
              </a:tr>
              <a:tr h="369824">
                <a:tc>
                  <a:txBody>
                    <a:bodyPr/>
                    <a:lstStyle/>
                    <a:p>
                      <a:r>
                        <a:rPr sz="1400" b="0" i="0">
                          <a:solidFill>
                            <a:srgbClr val="1A1440"/>
                          </a:solidFill>
                          <a:latin typeface="Calibri"/>
                        </a:rPr>
                        <a:t>Calling everyone, no model</a:t>
                      </a:r>
                    </a:p>
                  </a:txBody>
                  <a:tcPr marL="101600" marR="101600" marT="38100" marB="38100" anchor="ctr">
                    <a:solidFill>
                      <a:srgbClr val="FFFFFF"/>
                    </a:solidFill>
                  </a:tcPr>
                </a:tc>
                <a:tc>
                  <a:txBody>
                    <a:bodyPr/>
                    <a:lstStyle/>
                    <a:p>
                      <a:r>
                        <a:rPr sz="1400" b="0" i="0">
                          <a:solidFill>
                            <a:srgbClr val="1A1440"/>
                          </a:solidFill>
                          <a:latin typeface="Calibri"/>
                        </a:rPr>
                        <a:t>3.73</a:t>
                      </a:r>
                    </a:p>
                  </a:txBody>
                  <a:tcPr marL="101600" marR="101600" marT="38100" marB="38100" anchor="ctr">
                    <a:solidFill>
                      <a:srgbClr val="FFFFFF"/>
                    </a:solidFill>
                  </a:tcPr>
                </a:tc>
              </a:tr>
            </a:tbl>
          </a:graphicData>
        </a:graphic>
      </p:graphicFrame>
      <p:sp>
        <p:nvSpPr>
          <p:cNvPr id="10" name="TextBox 9"/>
          <p:cNvSpPr txBox="1"/>
          <p:nvPr/>
        </p:nvSpPr>
        <p:spPr>
          <a:xfrm>
            <a:off x="530352" y="369214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231 customers scored below 0.032; 79 of them bought.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44 / 60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rule would have fired in August 2009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Top 12 percent each month; ceiling 10 points, since ~100 calls swing ~9.</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914400"/>
                <a:gridCol w="914400"/>
                <a:gridCol w="3260845"/>
                <a:gridCol w="914400"/>
                <a:gridCol w="5126945"/>
              </a:tblGrid>
              <a:tr h="335280">
                <a:tc>
                  <a:txBody>
                    <a:bodyPr/>
                    <a:lstStyle/>
                    <a:p>
                      <a:r>
                        <a:rPr sz="1250" b="1" i="0">
                          <a:solidFill>
                            <a:srgbClr val="FFFFFF"/>
                          </a:solidFill>
                          <a:latin typeface="Calibri"/>
                        </a:rPr>
                        <a:t>Month</a:t>
                      </a:r>
                    </a:p>
                  </a:txBody>
                  <a:tcPr marL="101600" marR="101600" marT="38100" marB="38100" anchor="ctr">
                    <a:solidFill>
                      <a:srgbClr val="1A0F5C"/>
                    </a:solidFill>
                  </a:tcPr>
                </a:tc>
                <a:tc>
                  <a:txBody>
                    <a:bodyPr/>
                    <a:lstStyle/>
                    <a:p>
                      <a:r>
                        <a:rPr sz="1250" b="1" i="0">
                          <a:solidFill>
                            <a:srgbClr val="FFFFFF"/>
                          </a:solidFill>
                          <a:latin typeface="Calibri"/>
                        </a:rPr>
                        <a:t>Called</a:t>
                      </a:r>
                    </a:p>
                  </a:txBody>
                  <a:tcPr marL="101600" marR="101600" marT="38100" marB="38100" anchor="ctr">
                    <a:solidFill>
                      <a:srgbClr val="1A0F5C"/>
                    </a:solidFill>
                  </a:tcPr>
                </a:tc>
                <a:tc>
                  <a:txBody>
                    <a:bodyPr/>
                    <a:lstStyle/>
                    <a:p>
                      <a:r>
                        <a:rPr sz="1250" b="1" i="0">
                          <a:solidFill>
                            <a:srgbClr val="FFFFFF"/>
                          </a:solidFill>
                          <a:latin typeface="Calibri"/>
                        </a:rPr>
                        <a:t>Promised</a:t>
                      </a:r>
                    </a:p>
                  </a:txBody>
                  <a:tcPr marL="101600" marR="101600" marT="38100" marB="38100" anchor="ctr">
                    <a:solidFill>
                      <a:srgbClr val="1A0F5C"/>
                    </a:solidFill>
                  </a:tcPr>
                </a:tc>
                <a:tc>
                  <a:txBody>
                    <a:bodyPr/>
                    <a:lstStyle/>
                    <a:p>
                      <a:r>
                        <a:rPr sz="1250" b="1" i="0">
                          <a:solidFill>
                            <a:srgbClr val="FFFFFF"/>
                          </a:solidFill>
                          <a:latin typeface="Calibri"/>
                        </a:rPr>
                        <a:t>Real</a:t>
                      </a:r>
                    </a:p>
                  </a:txBody>
                  <a:tcPr marL="101600" marR="101600" marT="38100" marB="38100" anchor="ctr">
                    <a:solidFill>
                      <a:srgbClr val="1A0F5C"/>
                    </a:solidFill>
                  </a:tcPr>
                </a:tc>
                <a:tc>
                  <a:txBody>
                    <a:bodyPr/>
                    <a:lstStyle/>
                    <a:p>
                      <a:r>
                        <a:rPr sz="1250" b="1" i="0">
                          <a:solidFill>
                            <a:srgbClr val="FFFFFF"/>
                          </a:solidFill>
                          <a:latin typeface="Calibri"/>
                        </a:rPr>
                        <a:t>Over 10 points</a:t>
                      </a:r>
                    </a:p>
                  </a:txBody>
                  <a:tcPr marL="101600" marR="101600" marT="38100" marB="38100" anchor="ctr">
                    <a:solidFill>
                      <a:srgbClr val="1A0F5C"/>
                    </a:solidFill>
                  </a:tcPr>
                </a:tc>
              </a:tr>
              <a:tr h="335280">
                <a:tc>
                  <a:txBody>
                    <a:bodyPr/>
                    <a:lstStyle/>
                    <a:p>
                      <a:r>
                        <a:rPr sz="1200" b="0" i="0">
                          <a:solidFill>
                            <a:srgbClr val="1A1440"/>
                          </a:solidFill>
                          <a:latin typeface="Calibri"/>
                        </a:rPr>
                        <a:t>2009-05</a:t>
                      </a:r>
                    </a:p>
                  </a:txBody>
                  <a:tcPr marL="101600" marR="101600" marT="38100" marB="38100" anchor="ctr">
                    <a:solidFill>
                      <a:srgbClr val="FFFFFF"/>
                    </a:solidFill>
                  </a:tcPr>
                </a:tc>
                <a:tc>
                  <a:txBody>
                    <a:bodyPr/>
                    <a:lstStyle/>
                    <a:p>
                      <a:r>
                        <a:rPr sz="1200" b="0" i="0">
                          <a:solidFill>
                            <a:srgbClr val="1A1440"/>
                          </a:solidFill>
                          <a:latin typeface="Calibri"/>
                        </a:rPr>
                        <a:t>703</a:t>
                      </a:r>
                    </a:p>
                  </a:txBody>
                  <a:tcPr marL="101600" marR="101600" marT="38100" marB="38100" anchor="ctr">
                    <a:solidFill>
                      <a:srgbClr val="FFFFFF"/>
                    </a:solidFill>
                  </a:tcPr>
                </a:tc>
                <a:tc>
                  <a:txBody>
                    <a:bodyPr/>
                    <a:lstStyle/>
                    <a:p>
                      <a:r>
                        <a:rPr sz="1200" b="0" i="0">
                          <a:solidFill>
                            <a:srgbClr val="1A1440"/>
                          </a:solidFill>
                          <a:latin typeface="Calibri"/>
                        </a:rPr>
                        <a:t>13.6%</a:t>
                      </a:r>
                    </a:p>
                  </a:txBody>
                  <a:tcPr marL="101600" marR="101600" marT="38100" marB="38100" anchor="ctr">
                    <a:solidFill>
                      <a:srgbClr val="FFFFFF"/>
                    </a:solidFill>
                  </a:tcPr>
                </a:tc>
                <a:tc>
                  <a:txBody>
                    <a:bodyPr/>
                    <a:lstStyle/>
                    <a:p>
                      <a:r>
                        <a:rPr sz="1200" b="0" i="0">
                          <a:solidFill>
                            <a:srgbClr val="1A1440"/>
                          </a:solidFill>
                          <a:latin typeface="Calibri"/>
                        </a:rPr>
                        <a:t>14.2%</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r>
              <a:tr h="335280">
                <a:tc>
                  <a:txBody>
                    <a:bodyPr/>
                    <a:lstStyle/>
                    <a:p>
                      <a:r>
                        <a:rPr sz="1200" b="0" i="0">
                          <a:solidFill>
                            <a:srgbClr val="1A1440"/>
                          </a:solidFill>
                          <a:latin typeface="Calibri"/>
                        </a:rPr>
                        <a:t>2009-06</a:t>
                      </a:r>
                    </a:p>
                  </a:txBody>
                  <a:tcPr marL="101600" marR="101600" marT="38100" marB="38100" anchor="ctr">
                    <a:solidFill>
                      <a:srgbClr val="F4F2FA"/>
                    </a:solidFill>
                  </a:tcPr>
                </a:tc>
                <a:tc>
                  <a:txBody>
                    <a:bodyPr/>
                    <a:lstStyle/>
                    <a:p>
                      <a:r>
                        <a:rPr sz="1200" b="0" i="0">
                          <a:solidFill>
                            <a:srgbClr val="1A1440"/>
                          </a:solidFill>
                          <a:latin typeface="Calibri"/>
                        </a:rPr>
                        <a:t>87</a:t>
                      </a:r>
                    </a:p>
                  </a:txBody>
                  <a:tcPr marL="101600" marR="101600" marT="38100" marB="38100" anchor="ctr">
                    <a:solidFill>
                      <a:srgbClr val="F4F2FA"/>
                    </a:solidFill>
                  </a:tcPr>
                </a:tc>
                <a:tc>
                  <a:txBody>
                    <a:bodyPr/>
                    <a:lstStyle/>
                    <a:p>
                      <a:r>
                        <a:rPr sz="1200" b="0" i="0">
                          <a:solidFill>
                            <a:srgbClr val="1A1440"/>
                          </a:solidFill>
                          <a:latin typeface="Calibri"/>
                        </a:rPr>
                        <a:t>45.1%</a:t>
                      </a:r>
                    </a:p>
                  </a:txBody>
                  <a:tcPr marL="101600" marR="101600" marT="38100" marB="38100" anchor="ctr">
                    <a:solidFill>
                      <a:srgbClr val="F4F2FA"/>
                    </a:solidFill>
                  </a:tcPr>
                </a:tc>
                <a:tc>
                  <a:txBody>
                    <a:bodyPr/>
                    <a:lstStyle/>
                    <a:p>
                      <a:r>
                        <a:rPr sz="1200" b="0" i="0">
                          <a:solidFill>
                            <a:srgbClr val="1A1440"/>
                          </a:solidFill>
                          <a:latin typeface="Calibri"/>
                        </a:rPr>
                        <a:t>46.0%</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r>
              <a:tr h="335280">
                <a:tc>
                  <a:txBody>
                    <a:bodyPr/>
                    <a:lstStyle/>
                    <a:p>
                      <a:r>
                        <a:rPr sz="1200" b="0" i="0">
                          <a:solidFill>
                            <a:srgbClr val="1A1440"/>
                          </a:solidFill>
                          <a:latin typeface="Calibri"/>
                        </a:rPr>
                        <a:t>2009-07</a:t>
                      </a:r>
                    </a:p>
                  </a:txBody>
                  <a:tcPr marL="101600" marR="101600" marT="38100" marB="38100" anchor="ctr">
                    <a:solidFill>
                      <a:srgbClr val="FFFFFF"/>
                    </a:solidFill>
                  </a:tcPr>
                </a:tc>
                <a:tc>
                  <a:txBody>
                    <a:bodyPr/>
                    <a:lstStyle/>
                    <a:p>
                      <a:r>
                        <a:rPr sz="1200" b="0" i="0">
                          <a:solidFill>
                            <a:srgbClr val="1A1440"/>
                          </a:solidFill>
                          <a:latin typeface="Calibri"/>
                        </a:rPr>
                        <a:t>22</a:t>
                      </a:r>
                    </a:p>
                  </a:txBody>
                  <a:tcPr marL="101600" marR="101600" marT="38100" marB="38100" anchor="ctr">
                    <a:solidFill>
                      <a:srgbClr val="FFFFFF"/>
                    </a:solidFill>
                  </a:tcPr>
                </a:tc>
                <a:tc>
                  <a:txBody>
                    <a:bodyPr/>
                    <a:lstStyle/>
                    <a:p>
                      <a:r>
                        <a:rPr sz="1200" b="0" i="0">
                          <a:solidFill>
                            <a:srgbClr val="1A1440"/>
                          </a:solidFill>
                          <a:latin typeface="Calibri"/>
                        </a:rPr>
                        <a:t>32.4%</a:t>
                      </a:r>
                    </a:p>
                  </a:txBody>
                  <a:tcPr marL="101600" marR="101600" marT="38100" marB="38100" anchor="ctr">
                    <a:solidFill>
                      <a:srgbClr val="FFFFFF"/>
                    </a:solidFill>
                  </a:tcPr>
                </a:tc>
                <a:tc>
                  <a:txBody>
                    <a:bodyPr/>
                    <a:lstStyle/>
                    <a:p>
                      <a:r>
                        <a:rPr sz="1200" b="0" i="0">
                          <a:solidFill>
                            <a:srgbClr val="1A1440"/>
                          </a:solidFill>
                          <a:latin typeface="Calibri"/>
                        </a:rPr>
                        <a:t>54.5%</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r>
              <a:tr h="335280">
                <a:tc>
                  <a:txBody>
                    <a:bodyPr/>
                    <a:lstStyle/>
                    <a:p>
                      <a:r>
                        <a:rPr sz="1200" b="0" i="0">
                          <a:solidFill>
                            <a:srgbClr val="1A1440"/>
                          </a:solidFill>
                          <a:latin typeface="Calibri"/>
                        </a:rPr>
                        <a:t>2009-08</a:t>
                      </a:r>
                    </a:p>
                  </a:txBody>
                  <a:tcPr marL="101600" marR="101600" marT="38100" marB="38100" anchor="ctr">
                    <a:solidFill>
                      <a:srgbClr val="F4F2FA"/>
                    </a:solidFill>
                  </a:tcPr>
                </a:tc>
                <a:tc>
                  <a:txBody>
                    <a:bodyPr/>
                    <a:lstStyle/>
                    <a:p>
                      <a:r>
                        <a:rPr sz="1200" b="0" i="0">
                          <a:solidFill>
                            <a:srgbClr val="1A1440"/>
                          </a:solidFill>
                          <a:latin typeface="Calibri"/>
                        </a:rPr>
                        <a:t>93</a:t>
                      </a:r>
                    </a:p>
                  </a:txBody>
                  <a:tcPr marL="101600" marR="101600" marT="38100" marB="38100" anchor="ctr">
                    <a:solidFill>
                      <a:srgbClr val="F4F2FA"/>
                    </a:solidFill>
                  </a:tcPr>
                </a:tc>
                <a:tc>
                  <a:txBody>
                    <a:bodyPr/>
                    <a:lstStyle/>
                    <a:p>
                      <a:r>
                        <a:rPr sz="1200" b="0" i="0">
                          <a:solidFill>
                            <a:srgbClr val="1A1440"/>
                          </a:solidFill>
                          <a:latin typeface="Calibri"/>
                        </a:rPr>
                        <a:t>31.6%</a:t>
                      </a:r>
                    </a:p>
                  </a:txBody>
                  <a:tcPr marL="101600" marR="101600" marT="38100" marB="38100" anchor="ctr">
                    <a:solidFill>
                      <a:srgbClr val="F4F2FA"/>
                    </a:solidFill>
                  </a:tcPr>
                </a:tc>
                <a:tc>
                  <a:txBody>
                    <a:bodyPr/>
                    <a:lstStyle/>
                    <a:p>
                      <a:r>
                        <a:rPr sz="1200" b="0" i="0">
                          <a:solidFill>
                            <a:srgbClr val="1A1440"/>
                          </a:solidFill>
                          <a:latin typeface="Calibri"/>
                        </a:rPr>
                        <a:t>44.1%</a:t>
                      </a:r>
                    </a:p>
                  </a:txBody>
                  <a:tcPr marL="101600" marR="101600" marT="38100" marB="38100" anchor="ctr">
                    <a:solidFill>
                      <a:srgbClr val="F4F2FA"/>
                    </a:solidFill>
                  </a:tcPr>
                </a:tc>
                <a:tc>
                  <a:txBody>
                    <a:bodyPr/>
                    <a:lstStyle/>
                    <a:p>
                      <a:r>
                        <a:rPr sz="1200" b="0" i="0">
                          <a:solidFill>
                            <a:srgbClr val="1A1440"/>
                          </a:solidFill>
                          <a:latin typeface="Calibri"/>
                        </a:rPr>
                        <a:t>yes: alarm</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4" name="Oval 23"/>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45 / 60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Weakest where the band is narrow enough to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AUC inside each job group, with 200 resamples' band.</a:t>
            </a:r>
          </a:p>
        </p:txBody>
      </p:sp>
      <p:pic>
        <p:nvPicPr>
          <p:cNvPr id="9" name="mermaid diagram" descr="C2_W05_D05_bank_segments_STUDENT.png"/>
          <p:cNvPicPr>
            <a:picLocks noChangeAspect="1"/>
          </p:cNvPicPr>
          <p:nvPr/>
        </p:nvPicPr>
        <p:blipFill>
          <a:blip r:embed="rId4"/>
          <a:stretch>
            <a:fillRect/>
          </a:stretch>
        </p:blipFill>
        <p:spPr>
          <a:xfrm>
            <a:off x="1249527" y="1682496"/>
            <a:ext cx="9692640" cy="4200144"/>
          </a:xfrm>
          <a:prstGeom prst="rect">
            <a:avLst/>
          </a:prstGeom>
        </p:spPr>
      </p:pic>
      <p:sp>
        <p:nvSpPr>
          <p:cNvPr id="10" name="picture caption"/>
          <p:cNvSpPr txBox="1"/>
          <p:nvPr/>
        </p:nvSpPr>
        <p:spPr>
          <a:xfrm>
            <a:off x="530352" y="5919216"/>
            <a:ext cx="11130991" cy="316992"/>
          </a:xfrm>
          <a:prstGeom prst="rect">
            <a:avLst/>
          </a:prstGeom>
          <a:noFill/>
        </p:spPr>
        <p:txBody>
          <a:bodyPr wrap="square" anchor="t" lIns="0" rIns="0" tIns="0" bIns="0">
            <a:spAutoFit/>
          </a:bodyPr>
          <a:lstStyle/>
          <a:p>
            <a:pPr algn="ctr"/>
            <a:r>
              <a:rPr sz="1200" b="0" i="0">
                <a:solidFill>
                  <a:srgbClr val="6B6690"/>
                </a:solidFill>
                <a:latin typeface="Calibri"/>
              </a:rPr>
              <a:t>AUC by job on the validation slice with bands; entrepreneur lowest on 26 buyers, blue-collar lowest of the large groups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25" name="Oval 2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46 / 60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Zillow Offers: the bill for a stale forecast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Its 8-K and shareholder letter, 2 November 2021.</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$304.4M</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INVENTORY WRITE-DOWN</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recorded for Q3 2021</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25%</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OF THE WORKFORCE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expected reduction from the wind-down</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 to 6</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MONTHS AHEAD</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how far the home price forecast had to reach</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23" name="Oval 2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25" name="Oval 2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27" name="Oval 2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9" name="Oval 2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31" name="Oval 3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33" name="Oval 32"/>
          <p:cNvSpPr/>
          <p:nvPr/>
        </p:nvSpPr>
        <p:spPr>
          <a:xfrm>
            <a:off x="918000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289732" y="6437376"/>
            <a:ext cx="826389" cy="152146"/>
          </a:xfrm>
          <a:prstGeom prst="rect">
            <a:avLst/>
          </a:prstGeom>
          <a:noFill/>
        </p:spPr>
        <p:txBody>
          <a:bodyPr wrap="square" anchor="t" lIns="0" rIns="0" tIns="0" bIns="0">
            <a:spAutoFit/>
          </a:bodyPr>
          <a:lstStyle/>
          <a:p>
            <a:pPr algn="l"/>
            <a:r>
              <a:rPr sz="700" b="1" i="0">
                <a:solidFill>
                  <a:srgbClr val="5B3FD6"/>
                </a:solidFill>
                <a:latin typeface="Calibri"/>
              </a:rPr>
              <a:t>What breaks?</a:t>
            </a:r>
          </a:p>
        </p:txBody>
      </p:sp>
      <p:sp>
        <p:nvSpPr>
          <p:cNvPr id="35" name="Oval 34"/>
          <p:cNvSpPr/>
          <p:nvPr/>
        </p:nvSpPr>
        <p:spPr>
          <a:xfrm>
            <a:off x="102075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17289"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What transfers?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47 / 60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Lending, and the envelope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transfers?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Applies the transfer paragraph, the model justification, and reading the memo aloud under challenge · notebook case03</a:t>
            </a:r>
          </a:p>
        </p:txBody>
      </p:sp>
      <p:sp>
        <p:nvSpPr>
          <p:cNvPr id="11" name="Rounded Rectangle 10"/>
          <p:cNvSpPr/>
          <p:nvPr/>
        </p:nvSpPr>
        <p:spPr>
          <a:xfrm>
            <a:off x="731519" y="5074920"/>
            <a:ext cx="150404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hear?</a:t>
            </a:r>
          </a:p>
        </p:txBody>
      </p:sp>
      <p:sp>
        <p:nvSpPr>
          <p:cNvPr id="12" name="Rounded Rectangle 11"/>
          <p:cNvSpPr/>
          <p:nvPr/>
        </p:nvSpPr>
        <p:spPr>
          <a:xfrm>
            <a:off x="2345296" y="5074920"/>
            <a:ext cx="135452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wrong cost?</a:t>
            </a:r>
          </a:p>
        </p:txBody>
      </p:sp>
      <p:sp>
        <p:nvSpPr>
          <p:cNvPr id="13" name="Rounded Rectangle 12"/>
          <p:cNvSpPr/>
          <p:nvPr/>
        </p:nvSpPr>
        <p:spPr>
          <a:xfrm>
            <a:off x="3809549" y="5074920"/>
            <a:ext cx="115515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will we know?</a:t>
            </a:r>
          </a:p>
        </p:txBody>
      </p:sp>
      <p:sp>
        <p:nvSpPr>
          <p:cNvPr id="14" name="Rounded Rectangle 13"/>
          <p:cNvSpPr/>
          <p:nvPr/>
        </p:nvSpPr>
        <p:spPr>
          <a:xfrm>
            <a:off x="5074436" y="5074920"/>
            <a:ext cx="12050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carries over?</a:t>
            </a:r>
          </a:p>
        </p:txBody>
      </p:sp>
      <p:sp>
        <p:nvSpPr>
          <p:cNvPr id="15" name="Rounded Rectangle 14"/>
          <p:cNvSpPr/>
          <p:nvPr/>
        </p:nvSpPr>
        <p:spPr>
          <a:xfrm>
            <a:off x="6389164"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they push on?</a:t>
            </a:r>
          </a:p>
        </p:txBody>
      </p:sp>
      <p:sp>
        <p:nvSpPr>
          <p:cNvPr id="16" name="Rounded Rectangle 15"/>
          <p:cNvSpPr/>
          <p:nvPr/>
        </p:nvSpPr>
        <p:spPr>
          <a:xfrm>
            <a:off x="7953099" y="5074920"/>
            <a:ext cx="14542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model, what cost?</a:t>
            </a:r>
          </a:p>
        </p:txBody>
      </p:sp>
      <p:sp>
        <p:nvSpPr>
          <p:cNvPr id="17" name="Rounded Rectangle 16"/>
          <p:cNvSpPr/>
          <p:nvPr/>
        </p:nvSpPr>
        <p:spPr>
          <a:xfrm>
            <a:off x="9517034" y="5074920"/>
            <a:ext cx="90595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breaks?</a:t>
            </a:r>
          </a:p>
        </p:txBody>
      </p:sp>
      <p:sp>
        <p:nvSpPr>
          <p:cNvPr id="18" name="Rounded Rectangle 17"/>
          <p:cNvSpPr/>
          <p:nvPr/>
        </p:nvSpPr>
        <p:spPr>
          <a:xfrm>
            <a:off x="10532714" y="5074920"/>
            <a:ext cx="1055476"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transfers?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5 Friday: model justification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48 / 60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German Credit documents its own cost matrix</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1,000 applicants, Hamburg 1994: 700 good, 300 bad.</a:t>
            </a:r>
          </a:p>
        </p:txBody>
      </p:sp>
      <p:graphicFrame>
        <p:nvGraphicFramePr>
          <p:cNvPr id="9" name="Table 8"/>
          <p:cNvGraphicFramePr>
            <a:graphicFrameLocks noGrp="1"/>
          </p:cNvGraphicFramePr>
          <p:nvPr/>
        </p:nvGraphicFramePr>
        <p:xfrm>
          <a:off x="530352" y="1956816"/>
          <a:ext cx="11130989" cy="1109472"/>
        </p:xfrm>
        <a:graphic>
          <a:graphicData uri="http://schemas.openxmlformats.org/drawingml/2006/table">
            <a:tbl>
              <a:tblPr firstRow="0" bandRow="0">
                <a:tableStyleId>{2D5ABB26-0587-4C30-8999-92F81FD0307C}</a:tableStyleId>
              </a:tblPr>
              <a:tblGrid>
                <a:gridCol w="4849112"/>
                <a:gridCol w="3241419"/>
                <a:gridCol w="3040458"/>
              </a:tblGrid>
              <a:tr h="369824">
                <a:tc>
                  <a:txBody>
                    <a:bodyPr/>
                    <a:lstStyle/>
                    <a:p>
                      <a:r>
                        <a:rPr sz="1450" b="1" i="0">
                          <a:solidFill>
                            <a:srgbClr val="FFFFFF"/>
                          </a:solidFill>
                          <a:latin typeface="Calibri"/>
                        </a:rPr>
                        <a:t>Actual, then predicted</a:t>
                      </a:r>
                    </a:p>
                  </a:txBody>
                  <a:tcPr marL="101600" marR="101600" marT="38100" marB="38100" anchor="ctr">
                    <a:solidFill>
                      <a:srgbClr val="1A0F5C"/>
                    </a:solidFill>
                  </a:tcPr>
                </a:tc>
                <a:tc>
                  <a:txBody>
                    <a:bodyPr/>
                    <a:lstStyle/>
                    <a:p>
                      <a:r>
                        <a:rPr sz="1450" b="1" i="0">
                          <a:solidFill>
                            <a:srgbClr val="FFFFFF"/>
                          </a:solidFill>
                          <a:latin typeface="Calibri"/>
                        </a:rPr>
                        <a:t>Predicted good</a:t>
                      </a:r>
                    </a:p>
                  </a:txBody>
                  <a:tcPr marL="101600" marR="101600" marT="38100" marB="38100" anchor="ctr">
                    <a:solidFill>
                      <a:srgbClr val="1A0F5C"/>
                    </a:solidFill>
                  </a:tcPr>
                </a:tc>
                <a:tc>
                  <a:txBody>
                    <a:bodyPr/>
                    <a:lstStyle/>
                    <a:p>
                      <a:r>
                        <a:rPr sz="1450" b="1" i="0">
                          <a:solidFill>
                            <a:srgbClr val="FFFFFF"/>
                          </a:solidFill>
                          <a:latin typeface="Calibri"/>
                        </a:rPr>
                        <a:t>Predicted bad</a:t>
                      </a:r>
                    </a:p>
                  </a:txBody>
                  <a:tcPr marL="101600" marR="101600" marT="38100" marB="38100" anchor="ctr">
                    <a:solidFill>
                      <a:srgbClr val="1A0F5C"/>
                    </a:solidFill>
                  </a:tcPr>
                </a:tc>
              </a:tr>
              <a:tr h="369824">
                <a:tc>
                  <a:txBody>
                    <a:bodyPr/>
                    <a:lstStyle/>
                    <a:p>
                      <a:r>
                        <a:rPr sz="1400" b="0" i="0">
                          <a:solidFill>
                            <a:srgbClr val="1A1440"/>
                          </a:solidFill>
                          <a:latin typeface="Calibri"/>
                        </a:rPr>
                        <a:t>Good</a:t>
                      </a:r>
                    </a:p>
                  </a:txBody>
                  <a:tcPr marL="101600" marR="101600" marT="38100" marB="38100" anchor="ctr">
                    <a:solidFill>
                      <a:srgbClr val="FFFFFF"/>
                    </a:solidFill>
                  </a:tcPr>
                </a:tc>
                <a:tc>
                  <a:txBody>
                    <a:bodyPr/>
                    <a:lstStyle/>
                    <a:p>
                      <a:r>
                        <a:rPr sz="1400" b="0" i="0">
                          <a:solidFill>
                            <a:srgbClr val="1A1440"/>
                          </a:solidFill>
                          <a:latin typeface="Calibri"/>
                        </a:rPr>
                        <a:t>0</a:t>
                      </a:r>
                    </a:p>
                  </a:txBody>
                  <a:tcPr marL="101600" marR="101600" marT="38100" marB="38100" anchor="ctr">
                    <a:solidFill>
                      <a:srgbClr val="FFFFFF"/>
                    </a:solidFill>
                  </a:tcPr>
                </a:tc>
                <a:tc>
                  <a:txBody>
                    <a:bodyPr/>
                    <a:lstStyle/>
                    <a:p>
                      <a:r>
                        <a:rPr sz="1400" b="0" i="0">
                          <a:solidFill>
                            <a:srgbClr val="1A1440"/>
                          </a:solidFill>
                          <a:latin typeface="Calibri"/>
                        </a:rPr>
                        <a:t>1</a:t>
                      </a:r>
                    </a:p>
                  </a:txBody>
                  <a:tcPr marL="101600" marR="101600" marT="38100" marB="38100" anchor="ctr">
                    <a:solidFill>
                      <a:srgbClr val="FFFFFF"/>
                    </a:solidFill>
                  </a:tcPr>
                </a:tc>
              </a:tr>
              <a:tr h="369824">
                <a:tc>
                  <a:txBody>
                    <a:bodyPr/>
                    <a:lstStyle/>
                    <a:p>
                      <a:r>
                        <a:rPr sz="1400" b="0" i="0">
                          <a:solidFill>
                            <a:srgbClr val="1A1440"/>
                          </a:solidFill>
                          <a:latin typeface="Calibri"/>
                        </a:rPr>
                        <a:t>Bad</a:t>
                      </a:r>
                    </a:p>
                  </a:txBody>
                  <a:tcPr marL="101600" marR="101600" marT="38100" marB="38100" anchor="ctr">
                    <a:solidFill>
                      <a:srgbClr val="F4F2FA"/>
                    </a:solidFill>
                  </a:tcPr>
                </a:tc>
                <a:tc>
                  <a:txBody>
                    <a:bodyPr/>
                    <a:lstStyle/>
                    <a:p>
                      <a:r>
                        <a:rPr sz="1400" b="0" i="0">
                          <a:solidFill>
                            <a:srgbClr val="1A1440"/>
                          </a:solidFill>
                          <a:latin typeface="Calibri"/>
                        </a:rPr>
                        <a:t>5</a:t>
                      </a:r>
                    </a:p>
                  </a:txBody>
                  <a:tcPr marL="101600" marR="101600" marT="38100" marB="38100" anchor="ctr">
                    <a:solidFill>
                      <a:srgbClr val="F4F2FA"/>
                    </a:solidFill>
                  </a:tcPr>
                </a:tc>
                <a:tc>
                  <a:txBody>
                    <a:bodyPr/>
                    <a:lstStyle/>
                    <a:p>
                      <a:r>
                        <a:rPr sz="1400" b="0" i="0">
                          <a:solidFill>
                            <a:srgbClr val="1A1440"/>
                          </a:solidFill>
                          <a:latin typeface="Calibri"/>
                        </a:rPr>
                        <a:t>0</a:t>
                      </a:r>
                    </a:p>
                  </a:txBody>
                  <a:tcPr marL="101600" marR="101600" marT="38100" marB="38100" anchor="ctr">
                    <a:solidFill>
                      <a:srgbClr val="F4F2FA"/>
                    </a:solidFill>
                  </a:tcPr>
                </a:tc>
              </a:tr>
            </a:tbl>
          </a:graphicData>
        </a:graphic>
      </p:graphicFrame>
      <p:sp>
        <p:nvSpPr>
          <p:cNvPr id="10" name="Rounded Rectangle 9"/>
          <p:cNvSpPr/>
          <p:nvPr/>
        </p:nvSpPr>
        <p:spPr>
          <a:xfrm>
            <a:off x="530352" y="33223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4503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441192"/>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Approve when P(repay) is above: a) 0.50 b) 0.17 c) 0.83 d) 0.03</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21" name="Oval 20"/>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3" name="Oval 22"/>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5" name="Oval 24"/>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7" name="Oval 26"/>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49 / 60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Lend above 0.83; Rohan's line is 0.95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300 validation applicants: cost 266 at 0.5, 160 at 0.83. Rohan's 20 : 1 moves the line to 0.95.</a:t>
            </a:r>
          </a:p>
        </p:txBody>
      </p:sp>
      <p:pic>
        <p:nvPicPr>
          <p:cNvPr id="9" name="mermaid diagram" descr="C2_W05_D05_credit_threshold_STUDENT.png"/>
          <p:cNvPicPr>
            <a:picLocks noChangeAspect="1"/>
          </p:cNvPicPr>
          <p:nvPr/>
        </p:nvPicPr>
        <p:blipFill>
          <a:blip r:embed="rId4"/>
          <a:stretch>
            <a:fillRect/>
          </a:stretch>
        </p:blipFill>
        <p:spPr>
          <a:xfrm>
            <a:off x="530352" y="1880574"/>
            <a:ext cx="11130991" cy="3767412"/>
          </a:xfrm>
          <a:prstGeom prst="rect">
            <a:avLst/>
          </a:prstGeom>
        </p:spPr>
      </p:pic>
      <p:sp>
        <p:nvSpPr>
          <p:cNvPr id="10" name="picture caption"/>
          <p:cNvSpPr txBox="1"/>
          <p:nvPr/>
        </p:nvSpPr>
        <p:spPr>
          <a:xfrm>
            <a:off x="530352" y="5684562"/>
            <a:ext cx="11130991" cy="316992"/>
          </a:xfrm>
          <a:prstGeom prst="rect">
            <a:avLst/>
          </a:prstGeom>
          <a:noFill/>
        </p:spPr>
        <p:txBody>
          <a:bodyPr wrap="square" anchor="t" lIns="0" rIns="0" tIns="0" bIns="0">
            <a:spAutoFit/>
          </a:bodyPr>
          <a:lstStyle/>
          <a:p>
            <a:pPr algn="ctr"/>
            <a:r>
              <a:rPr sz="1200" b="0" i="0">
                <a:solidFill>
                  <a:srgbClr val="6B6690"/>
                </a:solidFill>
                <a:latin typeface="Calibri"/>
              </a:rPr>
              <a:t>Lending cost against threshold for German Credit at 5 to 1 and for Rohan's Rs 60,000 to Rs 3,000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50 / 60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German Credit's duration is a loan term: keep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Wednesday dropped the bank's duration. This one stays.</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2658795"/>
                <a:gridCol w="3893206"/>
                <a:gridCol w="4578989"/>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Bank Marketing duration</a:t>
                      </a:r>
                    </a:p>
                  </a:txBody>
                  <a:tcPr marL="101600" marR="101600" marT="38100" marB="38100" anchor="ctr">
                    <a:solidFill>
                      <a:srgbClr val="1A0F5C"/>
                    </a:solidFill>
                  </a:tcPr>
                </a:tc>
                <a:tc>
                  <a:txBody>
                    <a:bodyPr/>
                    <a:lstStyle/>
                    <a:p>
                      <a:r>
                        <a:rPr sz="1450" b="1" i="0">
                          <a:solidFill>
                            <a:srgbClr val="FFFFFF"/>
                          </a:solidFill>
                          <a:latin typeface="Calibri"/>
                        </a:rPr>
                        <a:t>German Credit duration</a:t>
                      </a:r>
                    </a:p>
                  </a:txBody>
                  <a:tcPr marL="101600" marR="101600" marT="38100" marB="38100" anchor="ctr">
                    <a:solidFill>
                      <a:srgbClr val="1A0F5C"/>
                    </a:solidFill>
                  </a:tcPr>
                </a:tc>
              </a:tr>
              <a:tr h="369824">
                <a:tc>
                  <a:txBody>
                    <a:bodyPr/>
                    <a:lstStyle/>
                    <a:p>
                      <a:r>
                        <a:rPr sz="1400" b="0" i="0">
                          <a:solidFill>
                            <a:srgbClr val="1A1440"/>
                          </a:solidFill>
                          <a:latin typeface="Calibri"/>
                        </a:rPr>
                        <a:t>What it measures</a:t>
                      </a:r>
                    </a:p>
                  </a:txBody>
                  <a:tcPr marL="101600" marR="101600" marT="38100" marB="38100" anchor="ctr">
                    <a:solidFill>
                      <a:srgbClr val="FFFFFF"/>
                    </a:solidFill>
                  </a:tcPr>
                </a:tc>
                <a:tc>
                  <a:txBody>
                    <a:bodyPr/>
                    <a:lstStyle/>
                    <a:p>
                      <a:r>
                        <a:rPr sz="1400" b="0" i="0">
                          <a:solidFill>
                            <a:srgbClr val="1A1440"/>
                          </a:solidFill>
                          <a:latin typeface="Calibri"/>
                        </a:rPr>
                        <a:t>the call's length, seconds</a:t>
                      </a:r>
                    </a:p>
                  </a:txBody>
                  <a:tcPr marL="101600" marR="101600" marT="38100" marB="38100" anchor="ctr">
                    <a:solidFill>
                      <a:srgbClr val="FFFFFF"/>
                    </a:solidFill>
                  </a:tcPr>
                </a:tc>
                <a:tc>
                  <a:txBody>
                    <a:bodyPr/>
                    <a:lstStyle/>
                    <a:p>
                      <a:r>
                        <a:rPr sz="1400" b="0" i="0">
                          <a:solidFill>
                            <a:srgbClr val="1A1440"/>
                          </a:solidFill>
                          <a:latin typeface="Calibri"/>
                        </a:rPr>
                        <a:t>the loan's term, 4 to 72 months</a:t>
                      </a:r>
                    </a:p>
                  </a:txBody>
                  <a:tcPr marL="101600" marR="101600" marT="38100" marB="38100" anchor="ctr">
                    <a:solidFill>
                      <a:srgbClr val="FFFFFF"/>
                    </a:solidFill>
                  </a:tcPr>
                </a:tc>
              </a:tr>
              <a:tr h="369824">
                <a:tc>
                  <a:txBody>
                    <a:bodyPr/>
                    <a:lstStyle/>
                    <a:p>
                      <a:r>
                        <a:rPr sz="1400" b="0" i="0">
                          <a:solidFill>
                            <a:srgbClr val="1A1440"/>
                          </a:solidFill>
                          <a:latin typeface="Calibri"/>
                        </a:rPr>
                        <a:t>Written</a:t>
                      </a:r>
                    </a:p>
                  </a:txBody>
                  <a:tcPr marL="101600" marR="101600" marT="38100" marB="38100" anchor="ctr">
                    <a:solidFill>
                      <a:srgbClr val="F4F2FA"/>
                    </a:solidFill>
                  </a:tcPr>
                </a:tc>
                <a:tc>
                  <a:txBody>
                    <a:bodyPr/>
                    <a:lstStyle/>
                    <a:p>
                      <a:r>
                        <a:rPr sz="1400" b="0" i="0">
                          <a:solidFill>
                            <a:srgbClr val="1A1440"/>
                          </a:solidFill>
                          <a:latin typeface="Calibri"/>
                        </a:rPr>
                        <a:t>after the call ends</a:t>
                      </a:r>
                    </a:p>
                  </a:txBody>
                  <a:tcPr marL="101600" marR="101600" marT="38100" marB="38100" anchor="ctr">
                    <a:solidFill>
                      <a:srgbClr val="F4F2FA"/>
                    </a:solidFill>
                  </a:tcPr>
                </a:tc>
                <a:tc>
                  <a:txBody>
                    <a:bodyPr/>
                    <a:lstStyle/>
                    <a:p>
                      <a:r>
                        <a:rPr sz="1400" b="0" i="0">
                          <a:solidFill>
                            <a:srgbClr val="1A1440"/>
                          </a:solidFill>
                          <a:latin typeface="Calibri"/>
                        </a:rPr>
                        <a:t>on the application form</a:t>
                      </a:r>
                    </a:p>
                  </a:txBody>
                  <a:tcPr marL="101600" marR="101600" marT="38100" marB="38100" anchor="ctr">
                    <a:solidFill>
                      <a:srgbClr val="F4F2FA"/>
                    </a:solidFill>
                  </a:tcPr>
                </a:tc>
              </a:tr>
              <a:tr h="369824">
                <a:tc>
                  <a:txBody>
                    <a:bodyPr/>
                    <a:lstStyle/>
                    <a:p>
                      <a:r>
                        <a:rPr sz="1400" b="0" i="0">
                          <a:solidFill>
                            <a:srgbClr val="1A1440"/>
                          </a:solidFill>
                          <a:latin typeface="Calibri"/>
                        </a:rPr>
                        <a:t>Known at decision</a:t>
                      </a:r>
                    </a:p>
                  </a:txBody>
                  <a:tcPr marL="101600" marR="101600" marT="38100" marB="38100" anchor="ctr">
                    <a:solidFill>
                      <a:srgbClr val="FFFFFF"/>
                    </a:solidFill>
                  </a:tcPr>
                </a:tc>
                <a:tc>
                  <a:txBody>
                    <a:bodyPr/>
                    <a:lstStyle/>
                    <a:p>
                      <a:r>
                        <a:rPr sz="1400" b="0" i="0">
                          <a:solidFill>
                            <a:srgbClr val="1A1440"/>
                          </a:solidFill>
                          <a:latin typeface="Calibri"/>
                        </a:rPr>
                        <a:t>no: leaks</a:t>
                      </a:r>
                    </a:p>
                  </a:txBody>
                  <a:tcPr marL="101600" marR="101600" marT="38100" marB="38100" anchor="ctr">
                    <a:solidFill>
                      <a:srgbClr val="FFFFFF"/>
                    </a:solidFill>
                  </a:tcPr>
                </a:tc>
                <a:tc>
                  <a:txBody>
                    <a:bodyPr/>
                    <a:lstStyle/>
                    <a:p>
                      <a:r>
                        <a:rPr sz="1400" b="0" i="0">
                          <a:solidFill>
                            <a:srgbClr val="1A1440"/>
                          </a:solidFill>
                          <a:latin typeface="Calibri"/>
                        </a:rPr>
                        <a:t>yes: keep</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51 / 60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envelope, opened once: the sealed number agrees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Chosen on validation, scored once on 8,238 untouched customers.</a:t>
            </a:r>
          </a:p>
        </p:txBody>
      </p:sp>
      <p:pic>
        <p:nvPicPr>
          <p:cNvPr id="9" name="mermaid diagram" descr="C2_W05_D05_envelope_STUDENT.png"/>
          <p:cNvPicPr>
            <a:picLocks noChangeAspect="1"/>
          </p:cNvPicPr>
          <p:nvPr/>
        </p:nvPicPr>
        <p:blipFill>
          <a:blip r:embed="rId4"/>
          <a:stretch>
            <a:fillRect/>
          </a:stretch>
        </p:blipFill>
        <p:spPr>
          <a:xfrm>
            <a:off x="845667" y="1682496"/>
            <a:ext cx="10500360" cy="4200144"/>
          </a:xfrm>
          <a:prstGeom prst="rect">
            <a:avLst/>
          </a:prstGeom>
        </p:spPr>
      </p:pic>
      <p:sp>
        <p:nvSpPr>
          <p:cNvPr id="10" name="picture caption"/>
          <p:cNvSpPr txBox="1"/>
          <p:nvPr/>
        </p:nvSpPr>
        <p:spPr>
          <a:xfrm>
            <a:off x="530352" y="5919216"/>
            <a:ext cx="11130991" cy="316992"/>
          </a:xfrm>
          <a:prstGeom prst="rect">
            <a:avLst/>
          </a:prstGeom>
          <a:noFill/>
        </p:spPr>
        <p:txBody>
          <a:bodyPr wrap="square" anchor="t" lIns="0" rIns="0" tIns="0" bIns="0">
            <a:spAutoFit/>
          </a:bodyPr>
          <a:lstStyle/>
          <a:p>
            <a:pPr algn="ctr"/>
            <a:r>
              <a:rPr sz="1200" b="0" i="0">
                <a:solidFill>
                  <a:srgbClr val="6B6690"/>
                </a:solidFill>
                <a:latin typeface="Calibri"/>
              </a:rPr>
              <a:t>Buyers in 1,000 calls: 113 at random, 462 on validation, 482 on the sealed test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52 / 60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memo, 206 words, every line from a run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Claim, evidence, caveat, action, transfer.</a:t>
            </a:r>
          </a:p>
        </p:txBody>
      </p:sp>
      <p:graphicFrame>
        <p:nvGraphicFramePr>
          <p:cNvPr id="9" name="Table 8"/>
          <p:cNvGraphicFramePr>
            <a:graphicFrameLocks noGrp="1"/>
          </p:cNvGraphicFramePr>
          <p:nvPr/>
        </p:nvGraphicFramePr>
        <p:xfrm>
          <a:off x="530352" y="1956816"/>
          <a:ext cx="11130990" cy="2460752"/>
        </p:xfrm>
        <a:graphic>
          <a:graphicData uri="http://schemas.openxmlformats.org/drawingml/2006/table">
            <a:tbl>
              <a:tblPr firstRow="0" bandRow="0">
                <a:tableStyleId>{2D5ABB26-0587-4C30-8999-92F81FD0307C}</a:tableStyleId>
              </a:tblPr>
              <a:tblGrid>
                <a:gridCol w="1631057"/>
                <a:gridCol w="9499933"/>
              </a:tblGrid>
              <a:tr h="369824">
                <a:tc>
                  <a:txBody>
                    <a:bodyPr/>
                    <a:lstStyle/>
                    <a:p>
                      <a:r>
                        <a:rPr sz="1450" b="1" i="0">
                          <a:solidFill>
                            <a:srgbClr val="FFFFFF"/>
                          </a:solidFill>
                          <a:latin typeface="Calibri"/>
                        </a:rPr>
                        <a:t>Part</a:t>
                      </a:r>
                    </a:p>
                  </a:txBody>
                  <a:tcPr marL="101600" marR="101600" marT="38100" marB="38100" anchor="ctr">
                    <a:solidFill>
                      <a:srgbClr val="1A0F5C"/>
                    </a:solidFill>
                  </a:tcPr>
                </a:tc>
                <a:tc>
                  <a:txBody>
                    <a:bodyPr/>
                    <a:lstStyle/>
                    <a:p>
                      <a:r>
                        <a:rPr sz="1450" b="1" i="0">
                          <a:solidFill>
                            <a:srgbClr val="FFFFFF"/>
                          </a:solidFill>
                          <a:latin typeface="Calibri"/>
                        </a:rPr>
                        <a:t>The line, shortened</a:t>
                      </a:r>
                    </a:p>
                  </a:txBody>
                  <a:tcPr marL="101600" marR="101600" marT="38100" marB="38100" anchor="ctr">
                    <a:solidFill>
                      <a:srgbClr val="1A0F5C"/>
                    </a:solidFill>
                  </a:tcPr>
                </a:tc>
              </a:tr>
              <a:tr h="369824">
                <a:tc>
                  <a:txBody>
                    <a:bodyPr/>
                    <a:lstStyle/>
                    <a:p>
                      <a:r>
                        <a:rPr sz="1400" b="0" i="0">
                          <a:solidFill>
                            <a:srgbClr val="1A1440"/>
                          </a:solidFill>
                          <a:latin typeface="Calibri"/>
                        </a:rPr>
                        <a:t>Claim</a:t>
                      </a:r>
                    </a:p>
                  </a:txBody>
                  <a:tcPr marL="101600" marR="101600" marT="38100" marB="38100" anchor="ctr">
                    <a:solidFill>
                      <a:srgbClr val="FFFFFF"/>
                    </a:solidFill>
                  </a:tcPr>
                </a:tc>
                <a:tc>
                  <a:txBody>
                    <a:bodyPr/>
                    <a:lstStyle/>
                    <a:p>
                      <a:r>
                        <a:rPr sz="1400" b="0" i="0">
                          <a:solidFill>
                            <a:srgbClr val="1A1440"/>
                          </a:solidFill>
                          <a:latin typeface="Calibri"/>
                        </a:rPr>
                        <a:t>Call the top 1,000 by the logistic score in each list of about 8,000</a:t>
                      </a:r>
                    </a:p>
                  </a:txBody>
                  <a:tcPr marL="101600" marR="101600" marT="38100" marB="38100" anchor="ctr">
                    <a:solidFill>
                      <a:srgbClr val="FFFFFF"/>
                    </a:solidFill>
                  </a:tcPr>
                </a:tc>
              </a:tr>
              <a:tr h="369824">
                <a:tc>
                  <a:txBody>
                    <a:bodyPr/>
                    <a:lstStyle/>
                    <a:p>
                      <a:r>
                        <a:rPr sz="1400" b="0" i="0">
                          <a:solidFill>
                            <a:srgbClr val="1A1440"/>
                          </a:solidFill>
                          <a:latin typeface="Calibri"/>
                        </a:rPr>
                        <a:t>Evidence</a:t>
                      </a:r>
                    </a:p>
                  </a:txBody>
                  <a:tcPr marL="101600" marR="101600" marT="38100" marB="38100" anchor="ctr">
                    <a:solidFill>
                      <a:srgbClr val="F4F2FA"/>
                    </a:solidFill>
                  </a:tcPr>
                </a:tc>
                <a:tc>
                  <a:txBody>
                    <a:bodyPr/>
                    <a:lstStyle/>
                    <a:p>
                      <a:r>
                        <a:rPr sz="1400" b="0" i="0">
                          <a:solidFill>
                            <a:srgbClr val="1A1440"/>
                          </a:solidFill>
                          <a:latin typeface="Calibri"/>
                        </a:rPr>
                        <a:t>482 buyers in 1,000 on the sealed test, against 113 at random; boosting's lead is a tie</a:t>
                      </a:r>
                    </a:p>
                  </a:txBody>
                  <a:tcPr marL="101600" marR="101600" marT="38100" marB="38100" anchor="ctr">
                    <a:solidFill>
                      <a:srgbClr val="F4F2FA"/>
                    </a:solidFill>
                  </a:tcPr>
                </a:tc>
              </a:tr>
              <a:tr h="369824">
                <a:tc>
                  <a:txBody>
                    <a:bodyPr/>
                    <a:lstStyle/>
                    <a:p>
                      <a:r>
                        <a:rPr sz="1400" b="0" i="0">
                          <a:solidFill>
                            <a:srgbClr val="1A1440"/>
                          </a:solidFill>
                          <a:latin typeface="Calibri"/>
                        </a:rPr>
                        <a:t>Caveat</a:t>
                      </a:r>
                    </a:p>
                  </a:txBody>
                  <a:tcPr marL="101600" marR="101600" marT="38100" marB="38100" anchor="ctr">
                    <a:solidFill>
                      <a:srgbClr val="FFFFFF"/>
                    </a:solidFill>
                  </a:tcPr>
                </a:tc>
                <a:tc>
                  <a:txBody>
                    <a:bodyPr/>
                    <a:lstStyle/>
                    <a:p>
                      <a:r>
                        <a:rPr sz="1400" b="0" i="0">
                          <a:solidFill>
                            <a:srgbClr val="1A1440"/>
                          </a:solidFill>
                          <a:latin typeface="Calibri"/>
                        </a:rPr>
                        <a:t>Trained to April 2009, it promised 16 in 100 when 25 bought; weakest on blue-collar and telephone</a:t>
                      </a:r>
                    </a:p>
                  </a:txBody>
                  <a:tcPr marL="101600" marR="101600" marT="38100" marB="38100" anchor="ctr">
                    <a:solidFill>
                      <a:srgbClr val="FFFFFF"/>
                    </a:solidFill>
                  </a:tcPr>
                </a:tc>
              </a:tr>
              <a:tr h="369824">
                <a:tc>
                  <a:txBody>
                    <a:bodyPr/>
                    <a:lstStyle/>
                    <a:p>
                      <a:r>
                        <a:rPr sz="1400" b="0" i="0">
                          <a:solidFill>
                            <a:srgbClr val="1A1440"/>
                          </a:solidFill>
                          <a:latin typeface="Calibri"/>
                        </a:rPr>
                        <a:t>Action</a:t>
                      </a:r>
                    </a:p>
                  </a:txBody>
                  <a:tcPr marL="101600" marR="101600" marT="38100" marB="38100" anchor="ctr">
                    <a:solidFill>
                      <a:srgbClr val="F4F2FA"/>
                    </a:solidFill>
                  </a:tcPr>
                </a:tc>
                <a:tc>
                  <a:txBody>
                    <a:bodyPr/>
                    <a:lstStyle/>
                    <a:p>
                      <a:r>
                        <a:rPr sz="1400" b="0" i="0">
                          <a:solidFill>
                            <a:srgbClr val="1A1440"/>
                          </a:solidFill>
                          <a:latin typeface="Calibri"/>
                        </a:rPr>
                        <a:t>Monthly list; over 10 points from the promise two months running, Kavya pauses it</a:t>
                      </a:r>
                    </a:p>
                  </a:txBody>
                  <a:tcPr marL="101600" marR="101600" marT="38100" marB="38100" anchor="ctr">
                    <a:solidFill>
                      <a:srgbClr val="F4F2FA"/>
                    </a:solidFill>
                  </a:tcPr>
                </a:tc>
              </a:tr>
              <a:tr h="611632">
                <a:tc>
                  <a:txBody>
                    <a:bodyPr/>
                    <a:lstStyle/>
                    <a:p>
                      <a:r>
                        <a:rPr sz="1400" b="0" i="0">
                          <a:solidFill>
                            <a:srgbClr val="1A1440"/>
                          </a:solidFill>
                          <a:latin typeface="Calibri"/>
                        </a:rPr>
                        <a:t>Transfer</a:t>
                      </a:r>
                    </a:p>
                  </a:txBody>
                  <a:tcPr marL="101600" marR="101600" marT="38100" marB="38100" anchor="ctr">
                    <a:solidFill>
                      <a:srgbClr val="FFFFFF"/>
                    </a:solidFill>
                  </a:tcPr>
                </a:tc>
                <a:tc>
                  <a:txBody>
                    <a:bodyPr/>
                    <a:lstStyle/>
                    <a:p>
                      <a:r>
                        <a:rPr sz="1400" b="0" i="0">
                          <a:solidFill>
                            <a:srgbClr val="1A1440"/>
                          </a:solidFill>
                          <a:latin typeface="Calibri"/>
                        </a:rPr>
                        <a:t>Pipeline, test, baseline, bill stay; target, costs, cut change: lend above 0.95; post-approval columns leak</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53 / 60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ninety seconds: walk me through a model you built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Rehearse in pairs; your partner times and pushes once.</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10 S</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Claim</a:t>
            </a:r>
          </a:p>
        </p:txBody>
      </p:sp>
      <p:sp>
        <p:nvSpPr>
          <p:cNvPr id="14" name="TextBox 13"/>
          <p:cNvSpPr txBox="1"/>
          <p:nvPr/>
        </p:nvSpPr>
        <p:spPr>
          <a:xfrm>
            <a:off x="694944"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The model, the operating point.</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25 S</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Evidence</a:t>
            </a:r>
          </a:p>
        </p:txBody>
      </p:sp>
      <p:sp>
        <p:nvSpPr>
          <p:cNvPr id="19" name="TextBox 18"/>
          <p:cNvSpPr txBox="1"/>
          <p:nvPr/>
        </p:nvSpPr>
        <p:spPr>
          <a:xfrm>
            <a:off x="2957718"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Against a baseline, in buyers or rupees.</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20 S</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Caveat</a:t>
            </a:r>
          </a:p>
        </p:txBody>
      </p:sp>
      <p:sp>
        <p:nvSpPr>
          <p:cNvPr id="24" name="TextBox 23"/>
          <p:cNvSpPr txBox="1"/>
          <p:nvPr/>
        </p:nvSpPr>
        <p:spPr>
          <a:xfrm>
            <a:off x="5220492"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When it goes stale; where it is weakest.</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15 S</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Action</a:t>
            </a:r>
          </a:p>
        </p:txBody>
      </p:sp>
      <p:sp>
        <p:nvSpPr>
          <p:cNvPr id="29" name="TextBox 28"/>
          <p:cNvSpPr txBox="1"/>
          <p:nvPr/>
        </p:nvSpPr>
        <p:spPr>
          <a:xfrm>
            <a:off x="7483266" y="3277870"/>
            <a:ext cx="1750710" cy="201676"/>
          </a:xfrm>
          <a:prstGeom prst="rect">
            <a:avLst/>
          </a:prstGeom>
          <a:noFill/>
        </p:spPr>
        <p:txBody>
          <a:bodyPr wrap="square" anchor="t" lIns="0" rIns="0" tIns="0" bIns="0">
            <a:spAutoFit/>
          </a:bodyPr>
          <a:lstStyle/>
          <a:p>
            <a:pPr algn="l"/>
            <a:r>
              <a:rPr sz="1000" b="0" i="0">
                <a:solidFill>
                  <a:srgbClr val="6B6690"/>
                </a:solidFill>
                <a:latin typeface="Calibri"/>
              </a:rPr>
              <a:t>Who runs it, and the rule.</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20 S</a:t>
            </a:r>
          </a:p>
        </p:txBody>
      </p:sp>
      <p:sp>
        <p:nvSpPr>
          <p:cNvPr id="31" name="Oval 30"/>
          <p:cNvSpPr/>
          <p:nvPr/>
        </p:nvSpPr>
        <p:spPr>
          <a:xfrm>
            <a:off x="10520812"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My choice</a:t>
            </a:r>
          </a:p>
        </p:txBody>
      </p:sp>
      <p:sp>
        <p:nvSpPr>
          <p:cNvPr id="34" name="TextBox 33"/>
          <p:cNvSpPr txBox="1"/>
          <p:nvPr/>
        </p:nvSpPr>
        <p:spPr>
          <a:xfrm>
            <a:off x="9746040"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One thing you did differently, and why.</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37" name="Oval 3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39" name="Oval 38"/>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41" name="Oval 4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43" name="Oval 42"/>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45" name="Oval 44"/>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47" name="Oval 46"/>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49" name="Oval 48"/>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54 / 60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Interview corner: four questions, four answer shapes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Tags: [S] staple, [F] frequent in product screens, [D] differentiator.</a:t>
            </a:r>
          </a:p>
        </p:txBody>
      </p:sp>
      <p:graphicFrame>
        <p:nvGraphicFramePr>
          <p:cNvPr id="9" name="Table 8"/>
          <p:cNvGraphicFramePr>
            <a:graphicFrameLocks noGrp="1"/>
          </p:cNvGraphicFramePr>
          <p:nvPr/>
        </p:nvGraphicFramePr>
        <p:xfrm>
          <a:off x="530352" y="1956816"/>
          <a:ext cx="11130990" cy="2816352"/>
        </p:xfrm>
        <a:graphic>
          <a:graphicData uri="http://schemas.openxmlformats.org/drawingml/2006/table">
            <a:tbl>
              <a:tblPr firstRow="0" bandRow="0">
                <a:tableStyleId>{2D5ABB26-0587-4C30-8999-92F81FD0307C}</a:tableStyleId>
              </a:tblPr>
              <a:tblGrid>
                <a:gridCol w="914400"/>
                <a:gridCol w="5108295"/>
                <a:gridCol w="5108295"/>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c>
                  <a:txBody>
                    <a:bodyPr/>
                    <a:lstStyle/>
                    <a:p>
                      <a:r>
                        <a:rPr sz="1450" b="1" i="0">
                          <a:solidFill>
                            <a:srgbClr val="FFFFFF"/>
                          </a:solidFill>
                          <a:latin typeface="Calibri"/>
                        </a:rPr>
                        <a:t>The shape of a good answer</a:t>
                      </a:r>
                    </a:p>
                  </a:txBody>
                  <a:tcPr marL="101600" marR="101600" marT="38100" marB="38100" anchor="ctr">
                    <a:solidFill>
                      <a:srgbClr val="1A0F5C"/>
                    </a:solidFill>
                  </a:tcPr>
                </a:tc>
              </a:tr>
              <a:tr h="611632">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Walk me through a model you built and why you chose it</a:t>
                      </a:r>
                    </a:p>
                  </a:txBody>
                  <a:tcPr marL="101600" marR="101600" marT="38100" marB="38100" anchor="ctr">
                    <a:solidFill>
                      <a:srgbClr val="FFFFFF"/>
                    </a:solidFill>
                  </a:tcPr>
                </a:tc>
                <a:tc>
                  <a:txBody>
                    <a:bodyPr/>
                    <a:lstStyle/>
                    <a:p>
                      <a:r>
                        <a:rPr sz="1400" b="0" i="0">
                          <a:solidFill>
                            <a:srgbClr val="1A1440"/>
                          </a:solidFill>
                          <a:latin typeface="Calibri"/>
                        </a:rPr>
                        <a:t>Claim, evidence against a baseline, caveat, action, one choice of yours</a:t>
                      </a:r>
                    </a:p>
                  </a:txBody>
                  <a:tcPr marL="101600" marR="101600" marT="38100" marB="38100" anchor="ctr">
                    <a:solidFill>
                      <a:srgbClr val="FFFFFF"/>
                    </a:solidFill>
                  </a:tcPr>
                </a:tc>
              </a:tr>
              <a:tr h="611632">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How would you know your model has gone stale?</a:t>
                      </a:r>
                    </a:p>
                  </a:txBody>
                  <a:tcPr marL="101600" marR="101600" marT="38100" marB="38100" anchor="ctr">
                    <a:solidFill>
                      <a:srgbClr val="F4F2FA"/>
                    </a:solidFill>
                  </a:tcPr>
                </a:tc>
                <a:tc>
                  <a:txBody>
                    <a:bodyPr/>
                    <a:lstStyle/>
                    <a:p>
                      <a:r>
                        <a:rPr sz="1400" b="0" i="0">
                          <a:solidFill>
                            <a:srgbClr val="1A1440"/>
                          </a:solidFill>
                          <a:latin typeface="Calibri"/>
                        </a:rPr>
                        <a:t>Number, ceiling, window, owner; promise against reality</a:t>
                      </a:r>
                    </a:p>
                  </a:txBody>
                  <a:tcPr marL="101600" marR="101600" marT="38100" marB="38100" anchor="ctr">
                    <a:solidFill>
                      <a:srgbClr val="F4F2FA"/>
                    </a:solidFill>
                  </a:tcPr>
                </a:tc>
              </a:tr>
              <a:tr h="611632">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What would change if this moved to a lending business?</a:t>
                      </a:r>
                    </a:p>
                  </a:txBody>
                  <a:tcPr marL="101600" marR="101600" marT="38100" marB="38100" anchor="ctr">
                    <a:solidFill>
                      <a:srgbClr val="FFFFFF"/>
                    </a:solidFill>
                  </a:tcPr>
                </a:tc>
                <a:tc>
                  <a:txBody>
                    <a:bodyPr/>
                    <a:lstStyle/>
                    <a:p>
                      <a:r>
                        <a:rPr sz="1400" b="0" i="0">
                          <a:solidFill>
                            <a:srgbClr val="1A1440"/>
                          </a:solidFill>
                          <a:latin typeface="Calibri"/>
                        </a:rPr>
                        <a:t>Target, costs, cut change; split and bill stay; post-decision columns leak</a:t>
                      </a:r>
                    </a:p>
                  </a:txBody>
                  <a:tcPr marL="101600" marR="101600" marT="38100" marB="38100" anchor="ctr">
                    <a:solidFill>
                      <a:srgbClr val="FFFFFF"/>
                    </a:solidFill>
                  </a:tcPr>
                </a:tc>
              </a:tr>
              <a:tr h="611632">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The committee wants the higher score; you recommend the simpler one</a:t>
                      </a:r>
                    </a:p>
                  </a:txBody>
                  <a:tcPr marL="101600" marR="101600" marT="38100" marB="38100" anchor="ctr">
                    <a:solidFill>
                      <a:srgbClr val="F4F2FA"/>
                    </a:solidFill>
                  </a:tcPr>
                </a:tc>
                <a:tc>
                  <a:txBody>
                    <a:bodyPr/>
                    <a:lstStyle/>
                    <a:p>
                      <a:r>
                        <a:rPr sz="1400" b="0" i="0">
                          <a:solidFill>
                            <a:srgbClr val="1A1440"/>
                          </a:solidFill>
                          <a:latin typeface="Calibri"/>
                        </a:rPr>
                        <a:t>The gap in buyers and rupees, its band, the condition that flips it</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55 / 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Quiz 1 and 2: the parts, and the bill's two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Kahoot, ungraded.</a:t>
            </a:r>
          </a:p>
        </p:txBody>
      </p:sp>
      <p:graphicFrame>
        <p:nvGraphicFramePr>
          <p:cNvPr id="9" name="Table 8"/>
          <p:cNvGraphicFramePr>
            <a:graphicFrameLocks noGrp="1"/>
          </p:cNvGraphicFramePr>
          <p:nvPr/>
        </p:nvGraphicFramePr>
        <p:xfrm>
          <a:off x="530352" y="1956816"/>
          <a:ext cx="11130991" cy="1109472"/>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Q</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Which list gives the four parts of a model justification, in order?</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The error bill under the chosen threshold is computed from which two counts?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56 / 60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Quiz 3 and 4: the rule, and the leak in lending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Kahoot, ungraded.</a:t>
            </a:r>
          </a:p>
        </p:txBody>
      </p:sp>
      <p:graphicFrame>
        <p:nvGraphicFramePr>
          <p:cNvPr id="9" name="Table 8"/>
          <p:cNvGraphicFramePr>
            <a:graphicFrameLocks noGrp="1"/>
          </p:cNvGraphicFramePr>
          <p:nvPr/>
        </p:nvGraphicFramePr>
        <p:xfrm>
          <a:off x="530352" y="1956816"/>
          <a:ext cx="11130991" cy="1109472"/>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Q</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Which sentence is a staleness rule someone else could check?</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Which column would leak in the lending version, and why?</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57 / 60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Quiz 5 and the return question from Thursday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Kahoot, ungraded.</a:t>
            </a:r>
          </a:p>
        </p:txBody>
      </p:sp>
      <p:graphicFrame>
        <p:nvGraphicFramePr>
          <p:cNvPr id="9" name="Table 8"/>
          <p:cNvGraphicFramePr>
            <a:graphicFrameLocks noGrp="1"/>
          </p:cNvGraphicFramePr>
          <p:nvPr/>
        </p:nvGraphicFramePr>
        <p:xfrm>
          <a:off x="530352" y="1956816"/>
          <a:ext cx="11130991" cy="1109472"/>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Q</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The committee wants the 0.4-point winner. Your one-line answer?</a:t>
                      </a:r>
                    </a:p>
                  </a:txBody>
                  <a:tcPr marL="101600" marR="101600" marT="38100" marB="38100" anchor="ctr">
                    <a:solidFill>
                      <a:srgbClr val="FFFFFF"/>
                    </a:solidFill>
                  </a:tcPr>
                </a:tc>
              </a:tr>
              <a:tr h="369824">
                <a:tc>
                  <a:txBody>
                    <a:bodyPr/>
                    <a:lstStyle/>
                    <a:p>
                      <a:r>
                        <a:rPr sz="1400" b="0" i="0">
                          <a:solidFill>
                            <a:srgbClr val="1A1440"/>
                          </a:solidFill>
                          <a:latin typeface="Calibri"/>
                        </a:rPr>
                        <a:t>Return</a:t>
                      </a:r>
                    </a:p>
                  </a:txBody>
                  <a:tcPr marL="101600" marR="101600" marT="38100" marB="38100" anchor="ctr">
                    <a:solidFill>
                      <a:srgbClr val="F4F2FA"/>
                    </a:solidFill>
                  </a:tcPr>
                </a:tc>
                <a:tc>
                  <a:txBody>
                    <a:bodyPr/>
                    <a:lstStyle/>
                    <a:p>
                      <a:r>
                        <a:rPr sz="1400" b="0" i="0">
                          <a:solidFill>
                            <a:srgbClr val="1A1440"/>
                          </a:solidFill>
                          <a:latin typeface="Calibri"/>
                        </a:rPr>
                        <a:t>Train 100, validation 61: name it and prescribe.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58 / 60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you can now do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things, each with a number you own.</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7328450"/>
                <a:gridCol w="3802540"/>
              </a:tblGrid>
              <a:tr h="369824">
                <a:tc>
                  <a:txBody>
                    <a:bodyPr/>
                    <a:lstStyle/>
                    <a:p>
                      <a:r>
                        <a:rPr sz="1450" b="1" i="0">
                          <a:solidFill>
                            <a:srgbClr val="FFFFFF"/>
                          </a:solidFill>
                          <a:latin typeface="Calibri"/>
                        </a:rPr>
                        <a:t>You can</a:t>
                      </a:r>
                    </a:p>
                  </a:txBody>
                  <a:tcPr marL="101600" marR="101600" marT="38100" marB="38100" anchor="ctr">
                    <a:solidFill>
                      <a:srgbClr val="1A0F5C"/>
                    </a:solidFill>
                  </a:tcPr>
                </a:tc>
                <a:tc>
                  <a:txBody>
                    <a:bodyPr/>
                    <a:lstStyle/>
                    <a:p>
                      <a:r>
                        <a:rPr sz="1450" b="1" i="0">
                          <a:solidFill>
                            <a:srgbClr val="FFFFFF"/>
                          </a:solidFill>
                          <a:latin typeface="Calibri"/>
                        </a:rPr>
                        <a:t>From</a:t>
                      </a:r>
                    </a:p>
                  </a:txBody>
                  <a:tcPr marL="101600" marR="101600" marT="38100" marB="38100" anchor="ctr">
                    <a:solidFill>
                      <a:srgbClr val="1A0F5C"/>
                    </a:solidFill>
                  </a:tcPr>
                </a:tc>
              </a:tr>
              <a:tr h="369824">
                <a:tc>
                  <a:txBody>
                    <a:bodyPr/>
                    <a:lstStyle/>
                    <a:p>
                      <a:r>
                        <a:rPr sz="1400" b="0" i="0">
                          <a:solidFill>
                            <a:srgbClr val="1A1440"/>
                          </a:solidFill>
                          <a:latin typeface="Calibri"/>
                        </a:rPr>
                        <a:t>Write a model justification in four parts, every part with a number</a:t>
                      </a:r>
                    </a:p>
                  </a:txBody>
                  <a:tcPr marL="101600" marR="101600" marT="38100" marB="38100" anchor="ctr">
                    <a:solidFill>
                      <a:srgbClr val="FFFFFF"/>
                    </a:solidFill>
                  </a:tcPr>
                </a:tc>
                <a:tc>
                  <a:txBody>
                    <a:bodyPr/>
                    <a:lstStyle/>
                    <a:p>
                      <a:r>
                        <a:rPr sz="1400" b="0" i="0">
                          <a:solidFill>
                            <a:srgbClr val="1A1440"/>
                          </a:solidFill>
                          <a:latin typeface="Calibri"/>
                        </a:rPr>
                        <a:t>Chapter 1, case01</a:t>
                      </a:r>
                    </a:p>
                  </a:txBody>
                  <a:tcPr marL="101600" marR="101600" marT="38100" marB="38100" anchor="ctr">
                    <a:solidFill>
                      <a:srgbClr val="FFFFFF"/>
                    </a:solidFill>
                  </a:tcPr>
                </a:tc>
              </a:tr>
              <a:tr h="369824">
                <a:tc>
                  <a:txBody>
                    <a:bodyPr/>
                    <a:lstStyle/>
                    <a:p>
                      <a:r>
                        <a:rPr sz="1400" b="0" i="0">
                          <a:solidFill>
                            <a:srgbClr val="1A1440"/>
                          </a:solidFill>
                          <a:latin typeface="Calibri"/>
                        </a:rPr>
                        <a:t>Compute the error bill at any cut and under a budget</a:t>
                      </a:r>
                    </a:p>
                  </a:txBody>
                  <a:tcPr marL="101600" marR="101600" marT="38100" marB="38100" anchor="ctr">
                    <a:solidFill>
                      <a:srgbClr val="F4F2FA"/>
                    </a:solidFill>
                  </a:tcPr>
                </a:tc>
                <a:tc>
                  <a:txBody>
                    <a:bodyPr/>
                    <a:lstStyle/>
                    <a:p>
                      <a:r>
                        <a:rPr sz="1400" b="0" i="0">
                          <a:solidFill>
                            <a:srgbClr val="1A1440"/>
                          </a:solidFill>
                          <a:latin typeface="Calibri"/>
                        </a:rPr>
                        <a:t>Chapter 2, case01</a:t>
                      </a:r>
                    </a:p>
                  </a:txBody>
                  <a:tcPr marL="101600" marR="101600" marT="38100" marB="38100" anchor="ctr">
                    <a:solidFill>
                      <a:srgbClr val="F4F2FA"/>
                    </a:solidFill>
                  </a:tcPr>
                </a:tc>
              </a:tr>
              <a:tr h="369824">
                <a:tc>
                  <a:txBody>
                    <a:bodyPr/>
                    <a:lstStyle/>
                    <a:p>
                      <a:r>
                        <a:rPr sz="1400" b="0" i="0">
                          <a:solidFill>
                            <a:srgbClr val="1A1440"/>
                          </a:solidFill>
                          <a:latin typeface="Calibri"/>
                        </a:rPr>
                        <a:t>Write a staleness rule with its ceiling, window and owner</a:t>
                      </a:r>
                    </a:p>
                  </a:txBody>
                  <a:tcPr marL="101600" marR="101600" marT="38100" marB="38100" anchor="ctr">
                    <a:solidFill>
                      <a:srgbClr val="FFFFFF"/>
                    </a:solidFill>
                  </a:tcPr>
                </a:tc>
                <a:tc>
                  <a:txBody>
                    <a:bodyPr/>
                    <a:lstStyle/>
                    <a:p>
                      <a:r>
                        <a:rPr sz="1400" b="0" i="0">
                          <a:solidFill>
                            <a:srgbClr val="1A1440"/>
                          </a:solidFill>
                          <a:latin typeface="Calibri"/>
                        </a:rPr>
                        <a:t>Chapter 3, case02</a:t>
                      </a:r>
                    </a:p>
                  </a:txBody>
                  <a:tcPr marL="101600" marR="101600" marT="38100" marB="38100" anchor="ctr">
                    <a:solidFill>
                      <a:srgbClr val="FFFFFF"/>
                    </a:solidFill>
                  </a:tcPr>
                </a:tc>
              </a:tr>
              <a:tr h="369824">
                <a:tc>
                  <a:txBody>
                    <a:bodyPr/>
                    <a:lstStyle/>
                    <a:p>
                      <a:r>
                        <a:rPr sz="1400" b="0" i="0">
                          <a:solidFill>
                            <a:srgbClr val="1A1440"/>
                          </a:solidFill>
                          <a:latin typeface="Calibri"/>
                        </a:rPr>
                        <a:t>Write the transfer paragraph for a lending business</a:t>
                      </a:r>
                    </a:p>
                  </a:txBody>
                  <a:tcPr marL="101600" marR="101600" marT="38100" marB="38100" anchor="ctr">
                    <a:solidFill>
                      <a:srgbClr val="F4F2FA"/>
                    </a:solidFill>
                  </a:tcPr>
                </a:tc>
                <a:tc>
                  <a:txBody>
                    <a:bodyPr/>
                    <a:lstStyle/>
                    <a:p>
                      <a:r>
                        <a:rPr sz="1400" b="0" i="0">
                          <a:solidFill>
                            <a:srgbClr val="1A1440"/>
                          </a:solidFill>
                          <a:latin typeface="Calibri"/>
                        </a:rPr>
                        <a:t>Chapter 4, case03</a:t>
                      </a:r>
                    </a:p>
                  </a:txBody>
                  <a:tcPr marL="101600" marR="101600" marT="38100" marB="38100" anchor="ctr">
                    <a:solidFill>
                      <a:srgbClr val="F4F2FA"/>
                    </a:solidFill>
                  </a:tcPr>
                </a:tc>
              </a:tr>
              <a:tr h="369824">
                <a:tc>
                  <a:txBody>
                    <a:bodyPr/>
                    <a:lstStyle/>
                    <a:p>
                      <a:r>
                        <a:rPr sz="1400" b="0" i="0">
                          <a:solidFill>
                            <a:srgbClr val="1A1440"/>
                          </a:solidFill>
                          <a:latin typeface="Calibri"/>
                        </a:rPr>
                        <a:t>Defend the memo in ninety seconds under one push</a:t>
                      </a:r>
                    </a:p>
                  </a:txBody>
                  <a:tcPr marL="101600" marR="101600" marT="38100" marB="38100" anchor="ctr">
                    <a:solidFill>
                      <a:srgbClr val="FFFFFF"/>
                    </a:solidFill>
                  </a:tcPr>
                </a:tc>
                <a:tc>
                  <a:txBody>
                    <a:bodyPr/>
                    <a:lstStyle/>
                    <a:p>
                      <a:r>
                        <a:rPr sz="1400" b="0" i="0">
                          <a:solidFill>
                            <a:srgbClr val="1A1440"/>
                          </a:solidFill>
                          <a:latin typeface="Calibri"/>
                        </a:rPr>
                        <a:t>Chapter 5, the pair challenge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8" name="Oval 17"/>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0" name="Oval 19"/>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2" name="Oval 21"/>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4" name="Oval 23"/>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59 / 60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5  ·  FRIDAY  ·  MODEL JUSTIFICATION</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Tonight, and tomorrow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Saturday is revision, the recap paper and the ME1 window.</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1324778"/>
                <a:gridCol w="7716042"/>
                <a:gridCol w="2090170"/>
              </a:tblGrid>
              <a:tr h="369824">
                <a:tc>
                  <a:txBody>
                    <a:bodyPr/>
                    <a:lstStyle/>
                    <a:p>
                      <a:r>
                        <a:rPr sz="1450" b="1" i="0">
                          <a:solidFill>
                            <a:srgbClr val="FFFFFF"/>
                          </a:solidFill>
                          <a:latin typeface="Calibri"/>
                        </a:rPr>
                        <a:t>When</a:t>
                      </a:r>
                    </a:p>
                  </a:txBody>
                  <a:tcPr marL="101600" marR="101600" marT="38100" marB="38100" anchor="ctr">
                    <a:solidFill>
                      <a:srgbClr val="1A0F5C"/>
                    </a:solidFill>
                  </a:tcPr>
                </a:tc>
                <a:tc>
                  <a:txBody>
                    <a:bodyPr/>
                    <a:lstStyle/>
                    <a:p>
                      <a:r>
                        <a:rPr sz="1450" b="1" i="0">
                          <a:solidFill>
                            <a:srgbClr val="FFFFFF"/>
                          </a:solidFill>
                          <a:latin typeface="Calibri"/>
                        </a:rPr>
                        <a:t>What</a:t>
                      </a:r>
                    </a:p>
                  </a:txBody>
                  <a:tcPr marL="101600" marR="101600" marT="38100" marB="38100" anchor="ctr">
                    <a:solidFill>
                      <a:srgbClr val="1A0F5C"/>
                    </a:solidFill>
                  </a:tcPr>
                </a:tc>
                <a:tc>
                  <a:txBody>
                    <a:bodyPr/>
                    <a:lstStyle/>
                    <a:p>
                      <a:r>
                        <a:rPr sz="1450" b="1" i="0">
                          <a:solidFill>
                            <a:srgbClr val="FFFFFF"/>
                          </a:solidFill>
                          <a:latin typeface="Calibri"/>
                        </a:rPr>
                        <a:t>Minutes</a:t>
                      </a:r>
                    </a:p>
                  </a:txBody>
                  <a:tcPr marL="101600" marR="101600" marT="38100" marB="38100" anchor="ctr">
                    <a:solidFill>
                      <a:srgbClr val="1A0F5C"/>
                    </a:solidFill>
                  </a:tcPr>
                </a:tc>
              </a:tr>
              <a:tr h="369824">
                <a:tc>
                  <a:txBody>
                    <a:bodyPr/>
                    <a:lstStyle/>
                    <a:p>
                      <a:r>
                        <a:rPr sz="1400" b="0" i="0">
                          <a:solidFill>
                            <a:srgbClr val="1A1440"/>
                          </a:solidFill>
                          <a:latin typeface="Calibri"/>
                        </a:rPr>
                        <a:t>Tonight</a:t>
                      </a:r>
                    </a:p>
                  </a:txBody>
                  <a:tcPr marL="101600" marR="101600" marT="38100" marB="38100" anchor="ctr">
                    <a:solidFill>
                      <a:srgbClr val="FFFFFF"/>
                    </a:solidFill>
                  </a:tcPr>
                </a:tc>
                <a:tc>
                  <a:txBody>
                    <a:bodyPr/>
                    <a:lstStyle/>
                    <a:p>
                      <a:r>
                        <a:rPr sz="1400" b="0" i="0">
                          <a:solidFill>
                            <a:srgbClr val="1A1440"/>
                          </a:solidFill>
                          <a:latin typeface="Calibri"/>
                        </a:rPr>
                        <a:t>The practice set, ten problems and the MCQs, self-checked</a:t>
                      </a:r>
                    </a:p>
                  </a:txBody>
                  <a:tcPr marL="101600" marR="101600" marT="38100" marB="38100" anchor="ctr">
                    <a:solidFill>
                      <a:srgbClr val="FFFFFF"/>
                    </a:solidFill>
                  </a:tcPr>
                </a:tc>
                <a:tc>
                  <a:txBody>
                    <a:bodyPr/>
                    <a:lstStyle/>
                    <a:p>
                      <a:r>
                        <a:rPr sz="1400" b="0" i="0">
                          <a:solidFill>
                            <a:srgbClr val="1A1440"/>
                          </a:solidFill>
                          <a:latin typeface="Calibri"/>
                        </a:rPr>
                        <a:t>150</a:t>
                      </a:r>
                    </a:p>
                  </a:txBody>
                  <a:tcPr marL="101600" marR="101600" marT="38100" marB="38100" anchor="ctr">
                    <a:solidFill>
                      <a:srgbClr val="FFFFFF"/>
                    </a:solidFill>
                  </a:tcPr>
                </a:tc>
              </a:tr>
              <a:tr h="369824">
                <a:tc>
                  <a:txBody>
                    <a:bodyPr/>
                    <a:lstStyle/>
                    <a:p>
                      <a:r>
                        <a:rPr sz="1400" b="0" i="0">
                          <a:solidFill>
                            <a:srgbClr val="1A1440"/>
                          </a:solidFill>
                          <a:latin typeface="Calibri"/>
                        </a:rPr>
                        <a:t>Tonight</a:t>
                      </a:r>
                    </a:p>
                  </a:txBody>
                  <a:tcPr marL="101600" marR="101600" marT="38100" marB="38100" anchor="ctr">
                    <a:solidFill>
                      <a:srgbClr val="F4F2FA"/>
                    </a:solidFill>
                  </a:tcPr>
                </a:tc>
                <a:tc>
                  <a:txBody>
                    <a:bodyPr/>
                    <a:lstStyle/>
                    <a:p>
                      <a:r>
                        <a:rPr sz="1400" b="0" i="0">
                          <a:solidFill>
                            <a:srgbClr val="1A1440"/>
                          </a:solidFill>
                          <a:latin typeface="Calibri"/>
                        </a:rPr>
                        <a:t>WRITE: your memo, final, under 300 words</a:t>
                      </a:r>
                    </a:p>
                  </a:txBody>
                  <a:tcPr marL="101600" marR="101600" marT="38100" marB="38100" anchor="ctr">
                    <a:solidFill>
                      <a:srgbClr val="F4F2FA"/>
                    </a:solidFill>
                  </a:tcPr>
                </a:tc>
                <a:tc>
                  <a:txBody>
                    <a:bodyPr/>
                    <a:lstStyle/>
                    <a:p>
                      <a:r>
                        <a:rPr sz="1400" b="0" i="0">
                          <a:solidFill>
                            <a:srgbClr val="1A1440"/>
                          </a:solidFill>
                          <a:latin typeface="Calibri"/>
                        </a:rPr>
                        <a:t>inside the set</a:t>
                      </a:r>
                    </a:p>
                  </a:txBody>
                  <a:tcPr marL="101600" marR="101600" marT="38100" marB="38100" anchor="ctr">
                    <a:solidFill>
                      <a:srgbClr val="F4F2FA"/>
                    </a:solidFill>
                  </a:tcPr>
                </a:tc>
              </a:tr>
              <a:tr h="369824">
                <a:tc>
                  <a:txBody>
                    <a:bodyPr/>
                    <a:lstStyle/>
                    <a:p>
                      <a:r>
                        <a:rPr sz="1400" b="0" i="0">
                          <a:solidFill>
                            <a:srgbClr val="1A1440"/>
                          </a:solidFill>
                          <a:latin typeface="Calibri"/>
                        </a:rPr>
                        <a:t>Lab</a:t>
                      </a:r>
                    </a:p>
                  </a:txBody>
                  <a:tcPr marL="101600" marR="101600" marT="38100" marB="38100" anchor="ctr">
                    <a:solidFill>
                      <a:srgbClr val="FFFFFF"/>
                    </a:solidFill>
                  </a:tcPr>
                </a:tc>
                <a:tc>
                  <a:txBody>
                    <a:bodyPr/>
                    <a:lstStyle/>
                    <a:p>
                      <a:r>
                        <a:rPr sz="1400" b="0" i="0">
                          <a:solidFill>
                            <a:srgbClr val="1A1440"/>
                          </a:solidFill>
                          <a:latin typeface="Calibri"/>
                        </a:rPr>
                        <a:t>The practice lab with the TAs: Rohan's memo on German Credit</a:t>
                      </a:r>
                    </a:p>
                  </a:txBody>
                  <a:tcPr marL="101600" marR="101600" marT="38100" marB="38100" anchor="ctr">
                    <a:solidFill>
                      <a:srgbClr val="FFFFFF"/>
                    </a:solidFill>
                  </a:tcPr>
                </a:tc>
                <a:tc>
                  <a:txBody>
                    <a:bodyPr/>
                    <a:lstStyle/>
                    <a:p>
                      <a:r>
                        <a:rPr sz="1400" b="0" i="0">
                          <a:solidFill>
                            <a:srgbClr val="1A1440"/>
                          </a:solidFill>
                          <a:latin typeface="Calibri"/>
                        </a:rPr>
                        <a:t>lab</a:t>
                      </a:r>
                    </a:p>
                  </a:txBody>
                  <a:tcPr marL="101600" marR="101600" marT="38100" marB="38100" anchor="ctr">
                    <a:solidFill>
                      <a:srgbClr val="FFFFFF"/>
                    </a:solidFill>
                  </a:tcPr>
                </a:tc>
              </a:tr>
              <a:tr h="369824">
                <a:tc>
                  <a:txBody>
                    <a:bodyPr/>
                    <a:lstStyle/>
                    <a:p>
                      <a:r>
                        <a:rPr sz="1400" b="0" i="0">
                          <a:solidFill>
                            <a:srgbClr val="1A1440"/>
                          </a:solidFill>
                          <a:latin typeface="Calibri"/>
                        </a:rPr>
                        <a:t>Saturday</a:t>
                      </a:r>
                    </a:p>
                  </a:txBody>
                  <a:tcPr marL="101600" marR="101600" marT="38100" marB="38100" anchor="ctr">
                    <a:solidFill>
                      <a:srgbClr val="F4F2FA"/>
                    </a:solidFill>
                  </a:tcPr>
                </a:tc>
                <a:tc>
                  <a:txBody>
                    <a:bodyPr/>
                    <a:lstStyle/>
                    <a:p>
                      <a:r>
                        <a:rPr sz="1400" b="0" i="0">
                          <a:solidFill>
                            <a:srgbClr val="1A1440"/>
                          </a:solidFill>
                          <a:latin typeface="Calibri"/>
                        </a:rPr>
                        <a:t>Revision and the recap paper; reread the week's five artifacts</a:t>
                      </a:r>
                    </a:p>
                  </a:txBody>
                  <a:tcPr marL="101600" marR="101600" marT="38100" marB="38100" anchor="ctr">
                    <a:solidFill>
                      <a:srgbClr val="F4F2FA"/>
                    </a:solidFill>
                  </a:tcPr>
                </a:tc>
                <a:tc>
                  <a:txBody>
                    <a:bodyPr/>
                    <a:lstStyle/>
                    <a:p>
                      <a:r>
                        <a:rPr sz="1400" b="0" i="0">
                          <a:solidFill>
                            <a:srgbClr val="1A1440"/>
                          </a:solidFill>
                          <a:latin typeface="Calibri"/>
                        </a:rPr>
                        <a:t>the day</a:t>
                      </a:r>
                    </a:p>
                  </a:txBody>
                  <a:tcPr marL="101600" marR="101600" marT="38100" marB="38100" anchor="ctr">
                    <a:solidFill>
                      <a:srgbClr val="F4F2FA"/>
                    </a:solidFill>
                  </a:tcPr>
                </a:tc>
              </a:tr>
            </a:tbl>
          </a:graphicData>
        </a:graphic>
      </p:graphicFrame>
      <p:sp>
        <p:nvSpPr>
          <p:cNvPr id="10" name="TextBox 9"/>
          <p:cNvSpPr txBox="1"/>
          <p:nvPr/>
        </p:nvSpPr>
        <p:spPr>
          <a:xfrm>
            <a:off x="530352" y="406196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ME1 covers statistics, data manipulation, analyst technique and the ML core.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room hear?</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does wrong cost?</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will we know?</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carries over?</a:t>
            </a:r>
          </a:p>
        </p:txBody>
      </p:sp>
      <p:sp>
        <p:nvSpPr>
          <p:cNvPr id="19" name="Oval 18"/>
          <p:cNvSpPr/>
          <p:nvPr/>
        </p:nvSpPr>
        <p:spPr>
          <a:xfrm>
            <a:off x="611276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2249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will they push on?</a:t>
            </a:r>
          </a:p>
        </p:txBody>
      </p:sp>
      <p:sp>
        <p:nvSpPr>
          <p:cNvPr id="21" name="Oval 20"/>
          <p:cNvSpPr/>
          <p:nvPr/>
        </p:nvSpPr>
        <p:spPr>
          <a:xfrm>
            <a:off x="764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5611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model, what cost?</a:t>
            </a:r>
          </a:p>
        </p:txBody>
      </p:sp>
      <p:sp>
        <p:nvSpPr>
          <p:cNvPr id="23" name="Oval 22"/>
          <p:cNvSpPr/>
          <p:nvPr/>
        </p:nvSpPr>
        <p:spPr>
          <a:xfrm>
            <a:off x="918000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9732" y="6437376"/>
            <a:ext cx="826389" cy="152146"/>
          </a:xfrm>
          <a:prstGeom prst="rect">
            <a:avLst/>
          </a:prstGeom>
          <a:noFill/>
        </p:spPr>
        <p:txBody>
          <a:bodyPr wrap="square" anchor="t" lIns="0" rIns="0" tIns="0" bIns="0">
            <a:spAutoFit/>
          </a:bodyPr>
          <a:lstStyle/>
          <a:p>
            <a:pPr algn="l"/>
            <a:r>
              <a:rPr sz="700" b="0" i="0">
                <a:solidFill>
                  <a:srgbClr val="6B6690"/>
                </a:solidFill>
                <a:latin typeface="Calibri"/>
              </a:rPr>
              <a:t>What breaks?</a:t>
            </a:r>
          </a:p>
        </p:txBody>
      </p:sp>
      <p:sp>
        <p:nvSpPr>
          <p:cNvPr id="25" name="Oval 24"/>
          <p:cNvSpPr/>
          <p:nvPr/>
        </p:nvSpPr>
        <p:spPr>
          <a:xfrm>
            <a:off x="102075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17289"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What transfers?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60 /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