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Kavya's question aloud and leave it on screen. Do not answer it: the whole</a:t>
            </a:r>
          </a:p>
          <a:p>
            <a:r>
              <a:t>morning is the answer. Ask the room for a guess: of 928 real buyers, how many did Monday's model</a:t>
            </a:r>
          </a:p>
          <a:p>
            <a:r>
              <a:t>find at its default setting? Write three guesses on the board; chapter 7 reveals 174.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problem and scored a baseline. Today asks what the score is</a:t>
            </a:r>
          </a:p>
          <a:p>
            <a:r>
              <a:t>worth in rupees. Next week, Build 2 hands the room Rohan Desai's lending brief with exactly</a:t>
            </a:r>
          </a:p>
          <a:p>
            <a:r>
              <a:t>today's constraint written in. Point at W6 and say: what you learn today is graded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Monday drew the top strip: past rows, the cut, the prediction moment, the outcome</a:t>
            </a:r>
          </a:p>
          <a:p>
            <a:r>
              <a:t>window. Tuesday adds the bottom: every client gets a score, buyers and non-buyers form two humps,</a:t>
            </a:r>
          </a:p>
          <a:p>
            <a:r>
              <a:t>and the threshold is a vertical line. Everything right of the line is called. The four boxes are</a:t>
            </a:r>
          </a:p>
          <a:p>
            <a:r>
              <a:t>what the line produces. Ask: if I slide the red line left, which boxes grow?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bank's call is Kalpa's nudge: same decision, whom to contact. Kalpa's prices</a:t>
            </a:r>
          </a:p>
          <a:p>
            <a:r>
              <a:t>come from Anand Iyer in Finance and are applied to the bank's calls. Rohan Desai, head of risk at</a:t>
            </a:r>
          </a:p>
          <a:p>
            <a:r>
              <a:t>Kalpa Financial Services, will ask in the afternoon whether the same model can score loans.</a:t>
            </a:r>
          </a:p>
          <a:p>
            <a:r>
              <a:t>Ask: what single number would you ask for before believing 89.7 percent?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once: these are the words to search for later. The six</a:t>
            </a:r>
          </a:p>
          <a:p>
            <a:r>
              <a:t>concept chapters use tiny invented tables you can count by hand. Then three case chapters run the</a:t>
            </a:r>
          </a:p>
          <a:p>
            <a:r>
              <a:t>same ideas on the bank's 8,238 validation clients: case01, case02, case03. Chapter 6 opens the</a:t>
            </a:r>
          </a:p>
          <a:p>
            <a:r>
              <a:t>afternoon, after the financial services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Walk it left to right. Monday gave a probability per client. The matrix counts</a:t>
            </a:r>
          </a:p>
          <a:p>
            <a:r>
              <a:t>outcomes at one line; the two ratios read the matrix; accuracy is the ratio that lies here; the</a:t>
            </a:r>
          </a:p>
          <a:p>
            <a:r>
              <a:t>prices pick the ratio and the line; Rohan's prices flip the line. The cases apply all six to the</a:t>
            </a:r>
          </a:p>
          <a:p>
            <a:r>
              <a:t>bank's real file. Wednesday asks whether the columns behind the score were known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Open notebook ch01 and run the first cell: twenty invented Kalpa</a:t>
            </a:r>
          </a:p>
          <a:p>
            <a:r>
              <a:t>customers. Prediction before anything: how many sit in "nudged and came back"? Take three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Count three boxes aloud with the room before showing the picture: C02, C05 and C14</a:t>
            </a:r>
          </a:p>
          <a:p>
            <a:r>
              <a:t>were nudged and came back. The misconception to stage: "the model was right 15 times, so it is</a:t>
            </a:r>
          </a:p>
          <a:p>
            <a:r>
              <a:t>good". Ask which 5 it got wrong and what each wrong one cost. Click: notebook ch01, the loop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Have two learners read one row each aloud as a sentence about a person. The line</a:t>
            </a:r>
          </a:p>
          <a:p>
            <a:r>
              <a:t>to land: every metric today is a ratio of these four cells, and the bill is two of them priced.</a:t>
            </a:r>
          </a:p>
          <a:p>
            <a:r>
              <a:t>Interview line: "Read this matrix aloud in the business's words."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Show the printout first and ask which number is the true positives. Most of the</a:t>
            </a:r>
          </a:p>
          <a:p>
            <a:r>
              <a:t>room says 12. Then run the notebook's labelled DataFrame cell. Fix: always print the matrix with</a:t>
            </a:r>
          </a:p>
          <a:p>
            <a:r>
              <a:t>row and column labels. This is a two-minute trap; do not let it become a syntax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Prediction: which is bigger here, the share of</a:t>
            </a:r>
          </a:p>
          <a:p>
            <a:r>
              <a:t>flags that landed or the share of repeaters found?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Draw the 2 by 2 on the board, shade the column, then the row. Say each as a</a:t>
            </a:r>
          </a:p>
          <a:p>
            <a:r>
              <a:t>sentence first: "of those we flagged, 3 of 6 came back" and "of those who came back, 3 of 5 were</a:t>
            </a:r>
          </a:p>
          <a:p>
            <a:r>
              <a:t>flagged". The formula comes after the sentence. Interview anchor [S], asked aloud here: precision,</a:t>
            </a:r>
          </a:p>
          <a:p>
            <a:r>
              <a:t>recall and F1 from a confusion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Marketing reading 0.15 would cut a campaign whose nudges land half the time. The</a:t>
            </a:r>
          </a:p>
          <a:p>
            <a:r>
              <a:t>check: precision's denominator equals the number flagged. Fix: say "of those we flagged" before</a:t>
            </a:r>
          </a:p>
          <a:p>
            <a:r>
              <a:t>writing any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minutes; CUT FIRST if the room is late (keep one sentence: F1 stays low when either ratio</a:t>
            </a:r>
          </a:p>
          <a:p>
            <a:r>
              <a:t>is low). The harmonic mean is pulled to the smaller number. Ask: when would one number be the wrong</a:t>
            </a:r>
          </a:p>
          <a:p>
            <a:r>
              <a:t>thing to report? Answer: when the two errors cost different amounts, which chapter 4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Rule with its flip: F1 is a fair single number only while the two errors cost</a:t>
            </a:r>
          </a:p>
          <a:p>
            <a:r>
              <a:t>about the same. Kalpa's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ch03. Prediction: the rule "say no to everyone" is right</a:t>
            </a:r>
          </a:p>
          <a:p>
            <a:r>
              <a:t>on how many of these hundred customers?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Point at the grey dots: accuracy counts every one of them as a win. The model</a:t>
            </a:r>
          </a:p>
          <a:p>
            <a:r>
              <a:t>learned the base rate and nothing else. Interview anchor [S], asked aloud here: accuracy is 96</a:t>
            </a:r>
          </a:p>
          <a:p>
            <a:r>
              <a:t>percent on a 96 to 4 split; good model? The shape of a good answer: ask for the base rate and the</a:t>
            </a:r>
          </a:p>
          <a:p>
            <a:r>
              <a:t>true-positive cell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"ship the say-no rule, it is more accurate". Check: recall and the bill</a:t>
            </a:r>
          </a:p>
          <a:p>
            <a:r>
              <a:t>beside accuracy. Ask the business owner's question: which rule would you pay for?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rule with its flip: accuracy misleads when one class dominates; near 50:50,</a:t>
            </a:r>
          </a:p>
          <a:p>
            <a:r>
              <a:t>and when both errors cost the same, it becomes a fair summary again. German Credit's 30 percent bad</a:t>
            </a:r>
          </a:p>
          <a:p>
            <a:r>
              <a:t>rate, tonight's lab, sits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 (the row's first mid-session drill, trimmed from 15). Answers: A precision 0.20,</a:t>
            </a:r>
          </a:p>
          <a:p>
            <a:r>
              <a:t>recall 0.80; B 0.75 and 0.50; C 0.875 and 0.90; D 0.649 and 0.188. Ask one pair per matrix to say</a:t>
            </a:r>
          </a:p>
          <a:p>
            <a:r>
              <a:t>it as a sentence about people. D is the bank's real matrix; chapter 7 returns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 for the chapter. Spotlight seat today: the business owner. Every slide in this</a:t>
            </a:r>
          </a:p>
          <a:p>
            <a:r>
              <a:t>chapter asks the owner's question: what does each mistake cost, in rupees? Notebook ch04.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before the picture: above what chance of coming back does a nudge pay,</a:t>
            </a:r>
          </a:p>
          <a:p>
            <a:r>
              <a:t>1 in 2, 1 in 10, 1 in 31 or 1 in 100? Then count the coins. The line to land: one buyer pays for</a:t>
            </a:r>
          </a:p>
          <a:p>
            <a:r>
              <a:t>thirty wasted nudges, so act above about 1 in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both lines on the board, on the same quantity: the chance of the good</a:t>
            </a:r>
          </a:p>
          <a:p>
            <a:r>
              <a:t>outcome. The 1-in-N name is this course's own; outside, search "expected cost threshold" or</a:t>
            </a:r>
          </a:p>
          <a:p>
            <a:r>
              <a:t>"cost-sensitive threshold". The formula assumes honest probabilities; case 2 checks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 (the row's second drill, folded in). Stripe's own guide: one missed fraud wipes</a:t>
            </a:r>
          </a:p>
          <a:p>
            <a:r>
              <a:t>out 18.71 good sales and its break-even precision is 5.07 percent (Stripe, verified 28 October</a:t>
            </a:r>
          </a:p>
          <a:p>
            <a:r>
              <a:t>2026). Interview anchor [S], asked aloud here: precision or recall for fraud,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choosing the metric by habit. Accuracy calls these three equal; Anand's</a:t>
            </a:r>
          </a:p>
          <a:p>
            <a:r>
              <a:t>prices separate them. Ask the owner's question: which one do you fund?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ch05, then the explorable.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first: 0.5, 0.2, 0.032 or nudge everyone? The default 0.5 costs Rs</a:t>
            </a:r>
          </a:p>
          <a:p>
            <a:r>
              <a:t>3,640, ten times the bill at 0.032. Point at the dashed accuracy line: it peaks at 0.31 to 0.55,</a:t>
            </a:r>
          </a:p>
          <a:p>
            <a:r>
              <a:t>far from the cheapest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"0.5 is the best threshold, 80 percent accurate". Check: the bill at the</a:t>
            </a:r>
          </a:p>
          <a:p>
            <a:r>
              <a:t>chosen line. Fix: choose from the prices; report accuracy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Rs 40 SMS gives 0.032; a Rs 400 hamper 0.25; equal costs 0.5; Rohan's loan 0.952.</a:t>
            </a:r>
          </a:p>
          <a:p>
            <a:r>
              <a:t>Rule with its flip: the line falls when missing is dearer, rises when acting is dearer.</a:t>
            </a:r>
          </a:p>
          <a:p>
            <a:r>
              <a:t>Interview anchor [F], asked aloud here: how do you set a threshold when the two errors cost</a:t>
            </a:r>
          </a:p>
          <a:p>
            <a:r>
              <a:t>differently?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Open demos/C2_W05_D02_threshold_explorer_STUDENT.html. Before any click, each</a:t>
            </a:r>
          </a:p>
          <a:p>
            <a:r>
              <a:t>learner types a guess of the cheapest line and locks it. Click 1: read the default aloud, 174 found</a:t>
            </a:r>
          </a:p>
          <a:p>
            <a:r>
              <a:t>and Rs 904,800 of missed margin. Click 2: drag the line left and watch the bill fall until about</a:t>
            </a:r>
          </a:p>
          <a:p>
            <a:r>
              <a:t>0.03. Click 3 waits for case 2: tighten the ratio from 30:1 to 8:1. Keep the loan switch for</a:t>
            </a:r>
          </a:p>
          <a:p>
            <a:r>
              <a:t>chapter 6. If the projector fails, show the case02 notebook's bill chart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Run the domain story from 4_trainer_only/C2_W05_D02_domain_story_TRAINER.md</a:t>
            </a:r>
          </a:p>
          <a:p>
            <a:r>
              <a:t>(built by a separate session); the learner files are C2_W05_D02_domain_financial_services_STUDENT</a:t>
            </a:r>
          </a:p>
          <a:p>
            <a:r>
              <a:t>and C2_W05_D02_financial_services_card_STUDENT. End on Rohan's two prices: Rs 60,000 for a false</a:t>
            </a:r>
          </a:p>
          <a:p>
            <a:r>
              <a:t>approval, Rs 3,000 for a wrongful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ten of them a hand count. Notebook ch06. Prediction: lend when</a:t>
            </a:r>
          </a:p>
          <a:p>
            <a:r>
              <a:t>P(repay) is above 0.05, 0.50, 0.83 or 0.95?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Hand count on the board: 20 x 3,000 = 60,000. So Rohan needs at least 20 repayers</a:t>
            </a:r>
          </a:p>
          <a:p>
            <a:r>
              <a:t>in every 21 approvals. The dearer mistake changed sides: in Retail it was the miss, here it is the</a:t>
            </a:r>
          </a:p>
          <a:p>
            <a:r>
              <a:t>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exactly: nudge when P(buy) is above 0.03; lend when P(repay) is above</a:t>
            </a:r>
          </a:p>
          <a:p>
            <a:r>
              <a:t>0.95. Never compare 0.03 on P(buy) with 0.05 on P(default): that is two quantities. Explorable:</a:t>
            </a:r>
          </a:p>
          <a:p>
            <a:r>
              <a:t>flip the switch to the loan and drag the line to the right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reusing Marketing's code and threshold. The model is fine; the line was</a:t>
            </a:r>
          </a:p>
          <a:p>
            <a:r>
              <a:t>set for the wrong business. Interview anchor [D], asked aloud here: the same model in retail and in</a:t>
            </a:r>
          </a:p>
          <a:p>
            <a:r>
              <a:t>lending, why are the thresholds opposite, and how do you explain that to each business?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to say it to a neighbour playing Rohan. The flip: if Rohan's loss</a:t>
            </a:r>
          </a:p>
          <a:p>
            <a:r>
              <a:t>on a default halves to Rs 30,000, his line falls to 10 in 11, about 0.91.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case01: run the first cell (the bank's file downloads</a:t>
            </a:r>
          </a:p>
          <a:p>
            <a:r>
              <a:t>once, then reads from the cache) and read the row count, 41,188.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 slice stays sealed in Monday's envelope until Friday. Everything today is</a:t>
            </a:r>
          </a:p>
          <a:p>
            <a:r>
              <a:t>on validation. Kalpa's prices are applied to the bank's calls; the bank's own prices are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Prediction first: how accurate is calling nobody? Then the reveal: 88.74. The</a:t>
            </a:r>
          </a:p>
          <a:p>
            <a:r>
              <a:t>empty column is the day's picture. Monday's model: precision 0.649 (its calls are good), recall</a:t>
            </a:r>
          </a:p>
          <a:p>
            <a:r>
              <a:t>0.188 (it misses four buyers in five). Accuracy moved by one point and told you none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two humps overlap heavily; the 0.5 line cuts off almost all of the green.</a:t>
            </a:r>
          </a:p>
          <a:p>
            <a:r>
              <a:t>Ask: where would you move the line, and what would it cost? That is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Have the room write the corrected sentence to Marketing in one line. Kavya's</a:t>
            </a:r>
          </a:p>
          <a:p>
            <a:r>
              <a:t>review: a matrix, a recall, and the do-nothing number beside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case02. Prediction: which of four lines has the lowest</a:t>
            </a:r>
          </a:p>
          <a:p>
            <a:r>
              <a:t>bill on the bank's clients?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cost line calls nine clients in ten. F1's line sits far higher because F1</a:t>
            </a:r>
          </a:p>
          <a:p>
            <a:r>
              <a:t>treats a Rs 40 waste and a Rs 1,200 miss as equal. The call: ship the cost line; the price ratio</a:t>
            </a:r>
          </a:p>
          <a:p>
            <a:r>
              <a:t>is the fact that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how close the violet minimum sits to the green call-everyone line. Ask:</a:t>
            </a:r>
          </a:p>
          <a:p>
            <a:r>
              <a:t>how much is the model saving us here, really?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the arithmetic is right, the comparison is wrong. If Kalpa funded a</a:t>
            </a:r>
          </a:p>
          <a:p>
            <a:r>
              <a:t>model on the Rs 6.3 lakh, it would pay for a saving a spreadsheet rule already gets. Fix: report</a:t>
            </a:r>
          </a:p>
          <a:p>
            <a:r>
              <a:t>the saving against the cheaper of call-nobody and call-everyone.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Explorable: drag the ratio slider from 30:1 to 8:1 and watch the gap open. The</a:t>
            </a:r>
          </a:p>
          <a:p>
            <a:r>
              <a:t>rule with its flip: at an extreme ratio the cheap action wins almost everywhere; the model earns</a:t>
            </a:r>
          </a:p>
          <a:p>
            <a:r>
              <a:t>its keep when the ratio tightens or a budget binds.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arithmetic as Anand's, in dollars. Stripe's own words: "The model controls</a:t>
            </a:r>
          </a:p>
          <a:p>
            <a:r>
              <a:t>the shape of the precision-recall curve. The policy controls where on the curve we're operating."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Notebook case03. Marketing can afford 1,000 calls in this slice.</a:t>
            </a:r>
          </a:p>
          <a:p>
            <a:r>
              <a:t>Prediction: how many buyers sit in the top 1,000 by score?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cost rule says act above 0.032 and asks for 7,438 calls; the budget allows</a:t>
            </a:r>
          </a:p>
          <a:p>
            <a:r>
              <a:t>1,000, which is the line at 0.182. When both hold, the stricter binds: here,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About 3.6 times a random list, and about Rs 3.6 lakh off the bill in this slice.</a:t>
            </a:r>
          </a:p>
          <a:p>
            <a:r>
              <a:t>The line to land: under a budget the ranking carries the decision, and this is where the model</a:t>
            </a:r>
          </a:p>
          <a:p>
            <a:r>
              <a:t>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the left chart at 500 calls (0.540) and 1,000 (0.404). On the right, the</a:t>
            </a:r>
          </a:p>
          <a:p>
            <a:r>
              <a:t>violet curve above the dashed diagonal is everything the model adds over a random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colleague claims "35 percent more buyers". It is the same model with a lower</a:t>
            </a:r>
          </a:p>
          <a:p>
            <a:r>
              <a:t>line. Razorpay's fraud team compares models at the same alert volume for exactly this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team could investigate 250 accounts, so the paper reports precision at 250.</a:t>
            </a:r>
          </a:p>
          <a:p>
            <a:r>
              <a:t>Same shape as Marketing's 1,000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minutes: 12 guided (steps 1 to 3 on the projector), 8 unguided (step 4 and the two</a:t>
            </a:r>
          </a:p>
          <a:p>
            <a:r>
              <a:t>paragraphs). Collect two memos and read their caveat lines aloud: the best ones say that at 30:1</a:t>
            </a:r>
          </a:p>
          <a:p>
            <a:r>
              <a:t>calling almost everyone is nearly as cheap, so the model's value shows under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Tags: [S] staple, [F] frequent in product and GCC screens, [D] differentiator.</a:t>
            </a:r>
          </a:p>
          <a:p>
            <a:r>
              <a:t>The bank carries full model answers with the interviewer's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good interview answer names the one or two seats that decide and says why the</a:t>
            </a:r>
          </a:p>
          <a:p>
            <a:r>
              <a:t>others do not bind. Today the business owner decides the line; the senior ML engineer decides</a:t>
            </a:r>
          </a:p>
          <a:p>
            <a:r>
              <a:t>whether the formula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D. B is everyone called; C is every buyer; A is the true negatives.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30 of 100 real positives. A is precision (30 of 50); C divides by everyone; D is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A. Saying no to everyone scores 96 on a 96 to 4 outcome, so the accuracy alone shows nothing</a:t>
            </a:r>
          </a:p>
          <a:p>
            <a:r>
              <a:t>learned beyond the base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40 / 1,240 = 0.032. A has the ratio upside down; D treats the errors as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C: 60,000 / 63,000 = 0.952. A states the default-risk line (0.048) on the wrong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B. A tie costs maintenance and trust for no gain; offer the rule with its cost and name the</a:t>
            </a:r>
          </a:p>
          <a:p>
            <a:r>
              <a:t>date of the next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Ask each learner to redraw the week's picture with today's two humps 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IITGN faculty session W5-2 (tentative) on ROC curves, precision-recall curves</a:t>
            </a:r>
          </a:p>
          <a:p>
            <a:r>
              <a:t>and expected cost follows; today named ROC and AUC and stopped before them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8.png"/><Relationship Id="rId4" Type="http://schemas.openxmlformats.org/officeDocument/2006/relationships/image" Target="../media/image17.png"/><Relationship Id="rId5" Type="http://schemas.openxmlformats.org/officeDocument/2006/relationships/image" Target="../media/image29.png"/><Relationship Id="rId6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metric 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model is about 90 percent accurate. How many repeat buyers did it actually find?”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8653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5978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304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7092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290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6953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3165" y="5669280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9381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3429" y="5669280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of 20: the machine learning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 turns Monday's score into a decision someone pays for.</a:t>
            </a:r>
          </a:p>
        </p:txBody>
      </p:sp>
      <p:pic>
        <p:nvPicPr>
          <p:cNvPr id="6" name="mermaid diagram" descr="C2_W05_D02_roadm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349875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343267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Week 5 lit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 gains two humps and a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Draw this from memory tonight: past rows, the cut, the call, the outcome, then the humps.</a:t>
            </a:r>
          </a:p>
        </p:txBody>
      </p:sp>
      <p:pic>
        <p:nvPicPr>
          <p:cNvPr id="6" name="mermaid diagram" descr="C2_W05_D02_timeline_tu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489" y="1682496"/>
            <a:ext cx="80007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 5 timeline in its Tuesday state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89.7 percent, and the buyers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question for the day, priced in rupees.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bank's phone campaign: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Monday's model is 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wasted nudge Rs 40; a missed buyer about Rs 1,200 (Anand, Finance)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 the metric, set the threshold, explain Rohan's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three case chapters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order, each with the chapter and notebook that teach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968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68418"/>
                <a:gridCol w="3119372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confusion matrix, cell by cell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Four boxes that tell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of those we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Class imbalance against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 89 percent can mean zero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Choosing the metric from business cost; the 1-in-N test (course construction)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selection as a business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to draw the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transfer: the same model, a lending business, the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Same model,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join, and where they are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box rests on the one before it.</a:t>
            </a:r>
          </a:p>
        </p:txBody>
      </p:sp>
      <p:pic>
        <p:nvPicPr>
          <p:cNvPr id="6" name="mermaid diagram" descr="08d41e69b385a4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207" y="1682496"/>
            <a:ext cx="8823280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Four boxes that tell the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did each land?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confusion matrix, cell by cell · also searched as: confusion matrix explained, true positive false positive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labels per customer make four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model said, against what happened: twenty invented customers.</a:t>
            </a:r>
          </a:p>
        </p:txBody>
      </p:sp>
      <p:pic>
        <p:nvPicPr>
          <p:cNvPr id="6" name="mermaid diagram" descr="C2_W05_D02_ch1_four_box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669" y="1682496"/>
            <a:ext cx="713035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invented customers sorted into four boxes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box is a sentence about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boxes are free; two carry Anand's prices.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622162"/>
                <a:gridCol w="914400"/>
                <a:gridCol w="268002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Kalpa's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Cost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 and came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a repeater missed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88924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bill of mistakes: 3 x Rs 40 + 2 x Rs 1,200 = Rs 2,520.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scikit-learn prints the true negatives top-left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are the truth, columns the prediction, sorted 0 then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confusion_matrix(came_back, model_says_nudge)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[[12  3]     top-left 12 is TN, not TP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 [ 2  3]]    bottom-right 3 is 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ug_39ada6eff4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Reading 12 as the true positives tells Marketing the model found twelve repeaters. The check: the bottom row must sum to the five real repeaters.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4" name="Oval 23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6" name="Oval 25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8" name="Oval 27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Of those we flagged, of those we missed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denominator?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Precision, recall and F1 derived · also searched as: precision vs recall, F1 score, harmonic mean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numerator, two denominators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divides by the column of flags; recall by the row of real repeaters.</a:t>
            </a:r>
          </a:p>
        </p:txBody>
      </p:sp>
      <p:pic>
        <p:nvPicPr>
          <p:cNvPr id="6" name="mermaid diagram" descr="C2_W05_D02_ch2_denominato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74" y="1682496"/>
            <a:ext cx="102207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lights the nudge column, recall lights the came-back row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denominator divides by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most common slip, shown exactly.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WRONG: 3 OF 20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everyone flagged and right, which nobody asked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RIGHT: 3 OF 6 FLAGGED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nudges that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8" name="Oval 1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F1 punishes the weaker of the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model that flags one customer and is right: plain mean 0.60, F1 0.33.</a:t>
            </a:r>
          </a:p>
        </p:txBody>
      </p:sp>
      <p:pic>
        <p:nvPicPr>
          <p:cNvPr id="6" name="mermaid diagram" descr="C2_W05_D02_ch2_f1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408" y="1682496"/>
            <a:ext cx="886487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F1 against the plain mean as recall falls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ratios,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answers one business question.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76706"/>
                <a:gridCol w="6394096"/>
                <a:gridCol w="224578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how many were right?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FP)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who were real, how many did we flag?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grade, low if either is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2PR / (P + R)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89 percent can mean zero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reward?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Class imbalance against accuracy · also searched as: accuracy paradox, imbalanced classification, base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no to everyone is right 89 times in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Eleven green repeaters, all missed; 89 grey customers, all "correct".</a:t>
            </a:r>
          </a:p>
        </p:txBody>
      </p:sp>
      <p:pic>
        <p:nvPicPr>
          <p:cNvPr id="6" name="mermaid diagram" descr="C2_W05_D02_ch3_do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652" y="1682496"/>
            <a:ext cx="402839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hundred invented customers, eleven repeaters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more accurate rule has the bigger bill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Ranked by accuracy, the useless rule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SAY NO TO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0 of 11 repeaters found; bill Rs 13,200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MODEL THAT FLAGS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 of 11 repeaters found; bill Rs 4,080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8" name="Oval 1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accuracy you get for doing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stops lying as the outcome nears 50:50.</a:t>
            </a:r>
          </a:p>
        </p:txBody>
      </p:sp>
      <p:pic>
        <p:nvPicPr>
          <p:cNvPr id="6" name="mermaid diagram" descr="C2_W05_D02_ch3_free_accurac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14" y="1682496"/>
            <a:ext cx="1005146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Free accuracy against the base rate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four matrices, precision and recall,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minutes in pairs: precision, recall, and one sentence each.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473391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Matrix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A, a fraud screen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B, a churn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C, a loan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D, Monday's model at 0.5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does each mistake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a nudge pay?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Choosing the metric from business cost; the 1-in-N test (course construction) · also searched as: cost-sensitive evaluation, choosing a metric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Thirty Rs 40 nudges equal one Rs 1,200 buyer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Nudge 31 lookalikes; if one comes back, Kalpa breaks even.</a:t>
            </a:r>
          </a:p>
        </p:txBody>
      </p:sp>
      <p:pic>
        <p:nvPicPr>
          <p:cNvPr id="6" name="mermaid diagram" descr="C2_W05_D02_ch4_co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203083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19647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Thirty Rs 40 coins balance one Rs 1,200 margin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1-in-N test,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Rights per wrong equals damage over saving.</a:t>
            </a:r>
          </a:p>
        </p:txBody>
      </p:sp>
      <p:pic>
        <p:nvPicPr>
          <p:cNvPr id="6" name="mermaid diagram" descr="aeec015d4da4cd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38004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businesses, three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metric follows the dearer mistake.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8399"/>
                <a:gridCol w="2251564"/>
                <a:gridCol w="2251564"/>
                <a:gridCol w="2046683"/>
                <a:gridCol w="18027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Acting wrongly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Failing to 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P(buy)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Stripe fraud block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2.08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P(fraud) 0.051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fraud 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Financial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P(repay) 0.952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accuracy, bills Rs 5,800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invented models on chapter 1's twenty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CHAPTER 1'S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4" name="Oval 2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26" name="Oval 2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8" name="Oval 2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0" name="Oval 2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Where to draw the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cheapest?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Threshold selection as a business decision · also searched as: classification threshold tuning, decision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Slide the line, watch the bill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scores: the bill is lowest at 0.032, Rs 360.</a:t>
            </a:r>
          </a:p>
        </p:txBody>
      </p:sp>
      <p:pic>
        <p:nvPicPr>
          <p:cNvPr id="6" name="mermaid diagram" descr="C2_W05_D02_ch5_bill_step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380" y="1682496"/>
            <a:ext cx="10026933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Bill and accuracy as the line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Accuracy peaks where the bill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threshold, shown exactly.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8329"/>
                <a:gridCol w="914400"/>
                <a:gridCol w="3365139"/>
                <a:gridCol w="190872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Repeaters caught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best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of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0.032, from the prices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 of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Oval 9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2" name="Oval 11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4" name="Oval 13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8" name="Oval 17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0" name="Oval 19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 climbs as acting gets dearer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curve turns a price ratio into a threshold.</a:t>
            </a:r>
          </a:p>
        </p:txBody>
      </p:sp>
      <p:pic>
        <p:nvPicPr>
          <p:cNvPr id="6" name="mermaid diagram" descr="C2_W05_D02_ch5_line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838" y="1682496"/>
            <a:ext cx="909601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Threshold against the price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drag the line on the bank's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opens on the wrong default: 0.5, and 754 buyers left alone.</a:t>
            </a:r>
          </a:p>
        </p:txBody>
      </p:sp>
      <p:pic>
        <p:nvPicPr>
          <p:cNvPr id="6" name="mermaid diagram" descr="C2_W05_D02_explore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165810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159202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threshold explorer in its opening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Financial services enters: Rohan's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Fifteen minutes on how a lender makes and loses money, before chapter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landmark_fde625655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Lending and 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Interest earned, defaults lost, regulation on every decision.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DECIDER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Rohan Desai, head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Financial Services; returns as Build 2's stakeholder.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book-open_313360a54d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READ AFTER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dossier and its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3_study_material_for_students.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7" name="Oval 26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9" name="Oval 28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1" name="Oval 30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5" name="Oval 34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7" name="Oval 36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Same model, opposite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is Rohan's line?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transfer: the same model, a lending business, the opposite threshold · also searched as: credit risk threshold, cost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default wipes out twenty good loans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60,000 lost on one default; Rs 3,000 of interest earned on each good loan.</a:t>
            </a:r>
          </a:p>
        </p:txBody>
      </p:sp>
      <p:pic>
        <p:nvPicPr>
          <p:cNvPr id="6" name="mermaid diagram" descr="C2_W05_D02_ch6_loan_co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83150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82489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Rs 3,000 coins balance one Rs 60,000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lines at opposite ends of one 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Said on the same quantity: the chance of the good outcome.</a:t>
            </a:r>
          </a:p>
        </p:txBody>
      </p:sp>
      <p:pic>
        <p:nvPicPr>
          <p:cNvPr id="6" name="mermaid diagram" descr="C2_W05_D02_ch6_two_lin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2504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24384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Retail's line near 0 and Rohan's line near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Copying Retail's line approves every defaulter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applicants, five lines.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1348"/>
                <a:gridCol w="914400"/>
                <a:gridCol w="2783761"/>
                <a:gridCol w="2640890"/>
                <a:gridCol w="163059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Defaults approved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Good turned away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Retail's 0.032, copied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the default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0.952, Rohan's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Reject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 it to Rohan 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transfer note's 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lend only when at least 20 in 21 applicants like this one repay, because one default costs the interest on twenty good loans."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model is the same; your prices move the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do-nothing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it find?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1 · applies chapters 1, 2 and 3 · also searched as: confusion matrix sklearn, accuracy paradox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bank's 41,188 calls stand in for Kalpa's nudge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decision: whom to contact, from what is known that morning.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7430"/>
                <a:gridCol w="82235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CC BY 4.0, Moro, Rita and Cortez (2014)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41,188,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(subscribed)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11.27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8,238 validation clients, 928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Call nobody: 88.74 percent right, 0 buyers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model at 0.5: 89.71 percent right, 174 of 928 found.</a:t>
            </a:r>
          </a:p>
        </p:txBody>
      </p:sp>
      <p:pic>
        <p:nvPicPr>
          <p:cNvPr id="6" name="mermaid diagram" descr="C2_W05_D02_case1_matric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478" y="1682496"/>
            <a:ext cx="990073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Two confusion matrices on the bank's validation 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Most buyers score below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754 of 928 buyers sit left of the default line.</a:t>
            </a:r>
          </a:p>
        </p:txBody>
      </p:sp>
      <p:pic>
        <p:nvPicPr>
          <p:cNvPr id="6" name="mermaid diagram" descr="C2_W05_D02_case1_hump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Score humps for buyers and non-buyers with the 0.5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"89.7 percent accurate, ready to ship"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True and misleading, on the bank's real numbers.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60141"/>
                <a:gridCol w="887084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it hides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754 of 928 buyers left alone, about Rs 9.05 lakh of margin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recall, 0.188, beside the do-nothing 88.74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report the matrix and recall with every accuracy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cost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1 in 31 call?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2 · applies chapters 4 and 5 · also searched as: cost-sensitive evaluation, expected cost 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set the line, sized in rupees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8,238 clients at Rs 40 and Rs 1,200.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02902"/>
                <a:gridCol w="914400"/>
                <a:gridCol w="3139734"/>
                <a:gridCol w="24739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908,560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 threshold, 0.154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599,680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Cost threshold,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7,438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279,000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8,238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292,400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bill bottoms out at 0.032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279,000 at the cost line; Rs 292,400 for calling everyone.</a:t>
            </a:r>
          </a:p>
        </p:txBody>
      </p:sp>
      <p:pic>
        <p:nvPicPr>
          <p:cNvPr id="6" name="mermaid diagram" descr="C2_W05_D02_case2_bill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965" y="1682496"/>
            <a:ext cx="973776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of mistakes against the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Rs 6.3 lakh saved against the wrong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Price the free rules before crediting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629,560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THE DEFAULT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misleading: nobody ships 0.5 once the prices are known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13,400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CALLING EVERYONE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4.6 percent of that rule's bill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 BUYER MARGIN AT STAKE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13,400 of Rs 11.1 lakh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1" name="Oval 2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5" name="Oval 2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7" name="Oval 2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31" name="Oval 3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30 to 1 the model barely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Tighten the ratio and the model's saving climbs to 38 percent.</a:t>
            </a:r>
          </a:p>
        </p:txBody>
      </p:sp>
      <p:pic>
        <p:nvPicPr>
          <p:cNvPr id="6" name="mermaid diagram" descr="C2_W05_D02_case2_ratio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661" y="1682496"/>
            <a:ext cx="95303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Saving over the best free rule as the cost ratio tightens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Stripe sets its line the same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model shapes the curve; the policy picks the point.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3434"/>
                <a:gridCol w="69275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Stripe's worked example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Sale,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 dollars at 8 percent: 2.08 dollars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fraud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dollars, which is 18.71 good sales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Break-even 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/ (1 + 18.71) = 5.07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Stripe, primer on machine learning for fraud protection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1,000 to call?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3 · applies chapters 2, 4 and 5 · also searched as: precision at k, lift chart, cumulative gains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1,000 to call?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budget is a line in disguise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1,000 calls means calling everyone above the 1,000th score, 0.182.</a:t>
            </a:r>
          </a:p>
        </p:txBody>
      </p:sp>
      <p:pic>
        <p:nvPicPr>
          <p:cNvPr id="6" name="mermaid diagram" descr="C2_W05_D02_case_humps_lin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lines on the score humps: cost, budget and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top 1,000 hold 404 buyers; a random 1,000, 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at 1,000 is 0.404 against a 0.113 base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THE TOP 1,000 BY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precision at 1,000 is 0.404; bill Rs 652,640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A RANDOM 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rate; bill Rs 1,014,264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Oval 2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7" name="Oval 26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Precision at k is where the model earns its keep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curve falls as the list grows; the gap to random is the model's value.</a:t>
            </a:r>
          </a:p>
        </p:txBody>
      </p:sp>
      <p:pic>
        <p:nvPicPr>
          <p:cNvPr id="6" name="mermaid diagram" descr="C2_W05_D02_case3_prec_at_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523" y="1682496"/>
            <a:ext cx="98226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at k and buyers found against calls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544 buyers from twice the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two lists only at the same number of calls.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2771"/>
                <a:gridCol w="914400"/>
                <a:gridCol w="2579344"/>
                <a:gridCol w="527447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Nudge spend per buyer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544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147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Razorpay: catching more by reviewing more "is a threshold change, not proof that the model improved"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Flipkart's trust team read the top 250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 budget is a precision at 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1965"/>
                <a:gridCol w="56190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Flipkart and CMU, ratings fraud (BIRDNEST)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Ratings scanned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3.3 million, from 1.1 million users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Accounts sent for review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250 by suspicion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Found to be fraud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211 of 250, over 84 percent; all of the first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Hooi and others, arXiv 1511.06030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guided memo: claim, evidence, caveat,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steps 1 to 3 together, steps 4 and 5 on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le-text_5c86fecc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KAVYA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memo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metric, the line, the matrix, what it hides.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ROHAN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transfer note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His line on P(repay), and why it sits high.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check-check_78b4884d20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PASS 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Each step prints PASS when your number is right.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7" name="Oval 26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9" name="Oval 2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31" name="Oval 30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3" name="Oval 32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7" name="Oval 36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anchors from today's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with the shape of a good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87774"/>
                <a:gridCol w="522881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from a matrix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two sentences, then the fractions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96 percent on a 96 to 4 split: good?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the TP cell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 or recall for fraud?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each mistake costs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when errors cost differently?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cost ratio, then the line, then the check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 and lending: why opposite?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dearer mistake changed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 ask six questions of one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spotlight: the business owner.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2191"/>
                <a:gridCol w="75888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question about 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cost, in rupees?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Product manager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the customer see when we are wrong?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Solution architect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threshold live, and who changes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Senior ML 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Are the probabilities honest enough for the formula?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Implementation engineer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is it configured and logged?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test proves the right line is in force?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1 of 5: buyers found at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174, FP 94, FN 754, TN 7,216.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2 of 5: recall from four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30, FP 20, FN 70, TN 880.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3 of 5: 96 percent on a 96 to 4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model learn?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 learned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nothing else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signal for repeat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rank the top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 missed buyer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4 of 5: a miss Rs 1,200, a false nudge Rs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metric leads, and roughly where is the line?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Metric and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precision; near 0.97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recall; near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accuracy; at 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F1; near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5 of 5: Rs 60,000 against Rs 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false approval against a wrongful rejection: which way does the line move?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 on P(repay)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falls to about 0.05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stays at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rises toward 0.95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depends only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return question: the model tied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tell Marketing?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it, since it is no worse than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has not earned its keep; ship the rule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scores 89 percent, so it is ready to 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retrain it until accuracy passes 95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moves, each with a number from today.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50928"/>
                <a:gridCol w="58800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Today's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matrix in business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 of 928 buyers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Expose accuracy on imbalance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88.74% for calling nobody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 the line from two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in 31,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when the model matters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under a budget: 0.404 against 0.113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Move the line to lending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in 21, 0.952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practice set is two to three hours; the lab runs with the TAs.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19274"/>
                <a:gridCol w="4900853"/>
                <a:gridCol w="12108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2_take_home_mandatory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lab, German Credit's 5:1 matrix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with the TAs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Financial services dossier and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3_study_material_for_students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are the columns honest?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pre-read at the end of the practice set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