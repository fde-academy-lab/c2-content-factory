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Kavya's question aloud and leave it on screen. Do not answer it: the whole</a:t>
            </a:r>
          </a:p>
          <a:p>
            <a:r>
              <a:t>morning is the answer. Ask the room for a guess: of 928 real buyers, how many did Monday's model</a:t>
            </a:r>
          </a:p>
          <a:p>
            <a:r>
              <a:t>find at its default setting? Write three guesses on the board; chapter 7 reveals 174.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Monday framed the problem and scored a baseline. Today asks what the score is</a:t>
            </a:r>
          </a:p>
          <a:p>
            <a:r>
              <a:t>worth in rupees. Next week, Build 2 hands the room Rohan Desai's lending brief with exactly</a:t>
            </a:r>
          </a:p>
          <a:p>
            <a:r>
              <a:t>today's constraint written in. Point at W6 and say: what you learn today is graded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Monday drew the top strip: past rows, the cut, the prediction moment, the outcome</a:t>
            </a:r>
          </a:p>
          <a:p>
            <a:r>
              <a:t>window. Tuesday adds the bottom: every client gets a score, buyers and non-buyers form two humps,</a:t>
            </a:r>
          </a:p>
          <a:p>
            <a:r>
              <a:t>and the threshold is a vertical line. Everything right of the line is called. The four boxes are</a:t>
            </a:r>
          </a:p>
          <a:p>
            <a:r>
              <a:t>what the line produces. Ask: if I slide the red line left, which boxes grow?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The bank's call is Kalpa's nudge: same decision, whom to contact. Kalpa's prices</a:t>
            </a:r>
          </a:p>
          <a:p>
            <a:r>
              <a:t>come from Anand Iyer in Finance and are applied to the bank's calls. Rohan Desai, head of risk at</a:t>
            </a:r>
          </a:p>
          <a:p>
            <a:r>
              <a:t>Kalpa Financial Services, will ask in the afternoon whether the same model can score loans.</a:t>
            </a:r>
          </a:p>
          <a:p>
            <a:r>
              <a:t>Ask: what single number would you ask for before believing 89.7 percent?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Read the second column once: these are the words to search for later. The six</a:t>
            </a:r>
          </a:p>
          <a:p>
            <a:r>
              <a:t>concept chapters use tiny invented tables you can count by hand. Then three case chapters run the</a:t>
            </a:r>
          </a:p>
          <a:p>
            <a:r>
              <a:t>same ideas on the bank's 8,238 validation clients: case01, case02, case03. Chapter 6 opens the</a:t>
            </a:r>
          </a:p>
          <a:p>
            <a:r>
              <a:t>afternoon, after the financial services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Walk it left to right. Monday gave a probability per client. The matrix counts</a:t>
            </a:r>
          </a:p>
          <a:p>
            <a:r>
              <a:t>outcomes at one line; the two ratios read the matrix; accuracy is the ratio that lies here; the</a:t>
            </a:r>
          </a:p>
          <a:p>
            <a:r>
              <a:t>prices pick the ratio and the line; Rohan's prices flip the line. The cases apply all six to the</a:t>
            </a:r>
          </a:p>
          <a:p>
            <a:r>
              <a:t>bank's real file. Wednesday asks whether the columns behind the score were known in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18 minutes for the chapter. Open notebook ch01 and run the first cell: twenty invented Kalpa</a:t>
            </a:r>
          </a:p>
          <a:p>
            <a:r>
              <a:t>customers. Prediction before anything: how many sit in "nudged and came back"? Take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Count three boxes aloud with the room before showing the picture: C02, C05 and C14</a:t>
            </a:r>
          </a:p>
          <a:p>
            <a:r>
              <a:t>were nudged and came back. The misconception to stage: "the model was right 15 times, so it is</a:t>
            </a:r>
          </a:p>
          <a:p>
            <a:r>
              <a:t>good". Ask which 5 it got wrong and what each wrong one cost. Click: notebook ch01, the loop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Have two learners read one row each aloud as a sentence about a person. The line</a:t>
            </a:r>
          </a:p>
          <a:p>
            <a:r>
              <a:t>to land: every metric today is a ratio of these four cells, and the bill is two of them priced.</a:t>
            </a:r>
          </a:p>
          <a:p>
            <a:r>
              <a:t>Interview line: "Read this matrix aloud in the business's words."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Show the printout first and ask which number is the true positives. Most of the</a:t>
            </a:r>
          </a:p>
          <a:p>
            <a:r>
              <a:t>room says 12. Then run the notebook's labelled DataFrame cell. Fix: always print the matrix with</a:t>
            </a:r>
          </a:p>
          <a:p>
            <a:r>
              <a:t>row and column labels. This is a two-minute trap; do not let it become a syntax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ch02. Prediction: which is bigger here, the share of</a:t>
            </a:r>
          </a:p>
          <a:p>
            <a:r>
              <a:t>flags that landed or the share of repeaters found?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7 minutes. Draw the 2 by 2 on the board, shade the column, then the row. Say each as a</a:t>
            </a:r>
          </a:p>
          <a:p>
            <a:r>
              <a:t>sentence first: "of those we flagged, 3 of 6 came back" and "of those who came back, 3 of 5 were</a:t>
            </a:r>
          </a:p>
          <a:p>
            <a:r>
              <a:t>flagged". The formula comes after the sentence. Interview anchor [S], asked aloud here: precision,</a:t>
            </a:r>
          </a:p>
          <a:p>
            <a:r>
              <a:t>recall and F1 from a confusion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Marketing reading 0.15 would cut a campaign whose nudges land half the time. The</a:t>
            </a:r>
          </a:p>
          <a:p>
            <a:r>
              <a:t>check: precision's denominator equals the number flagged. Fix: say "of those we flagged" before</a:t>
            </a:r>
          </a:p>
          <a:p>
            <a:r>
              <a:t>writing any fraction.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minutes; CUT FIRST if the room is late (keep one sentence: F1 stays low when either ratio</a:t>
            </a:r>
          </a:p>
          <a:p>
            <a:r>
              <a:t>is low). The harmonic mean is pulled to the smaller number. Ask: when would one number be the wrong</a:t>
            </a:r>
          </a:p>
          <a:p>
            <a:r>
              <a:t>thing to report? Answer: when the two errors cost different amounts, which chapter 4 prices.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Rule with its flip: F1 is a fair single number only while the two errors cost</a:t>
            </a:r>
          </a:p>
          <a:p>
            <a:r>
              <a:t>about the same. Kalpa's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 for the chapter. Notebook ch03. Prediction: the rule "say no to everyone" is right</a:t>
            </a:r>
          </a:p>
          <a:p>
            <a:r>
              <a:t>on how many of these hundred customers?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Point at the grey dots: accuracy counts every one of them as a win. The model</a:t>
            </a:r>
          </a:p>
          <a:p>
            <a:r>
              <a:t>learned the base rate and nothing else. Interview anchor [S], asked aloud here: accuracy is 96</a:t>
            </a:r>
          </a:p>
          <a:p>
            <a:r>
              <a:t>percent on a 96 to 4 split; good model? The shape of a good answer: ask for the base rate and the</a:t>
            </a:r>
          </a:p>
          <a:p>
            <a:r>
              <a:t>true-positive cell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trap: "ship the say-no rule, it is more accurate". Check: recall and the bill</a:t>
            </a:r>
          </a:p>
          <a:p>
            <a:r>
              <a:t>beside accuracy. Ask the business owner's question: which rule would you pay for?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rule with its flip: accuracy misleads when one class dominates; near 50:50,</a:t>
            </a:r>
          </a:p>
          <a:p>
            <a:r>
              <a:t>and when both errors cost the same, it becomes a fair summary again. German Credit's 30 percent bad</a:t>
            </a:r>
          </a:p>
          <a:p>
            <a:r>
              <a:t>rate, tonight's lab, sits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12 minutes (the row's first mid-session drill, trimmed from 15). Answers: A precision 0.20,</a:t>
            </a:r>
          </a:p>
          <a:p>
            <a:r>
              <a:t>recall 0.80; B 0.75 and 0.50; C 0.875 and 0.90; D 0.649 and 0.188. Ask one pair per matrix to say</a:t>
            </a:r>
          </a:p>
          <a:p>
            <a:r>
              <a:t>it as a sentence about people. D is the bank's real matrix; chapter 7 returns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22 minutes for the chapter. Spotlight seat today: the business owner. Every slide in this</a:t>
            </a:r>
          </a:p>
          <a:p>
            <a:r>
              <a:t>chapter asks the owner's question: what does each mistake cost, in rupees? Notebook ch04.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Prediction before the picture: above what chance of coming back does a nudge pay,</a:t>
            </a:r>
          </a:p>
          <a:p>
            <a:r>
              <a:t>1 in 2, 1 in 10, 1 in 31 or 1 in 100? Then count the coins. The line to land: one buyer pays for</a:t>
            </a:r>
          </a:p>
          <a:p>
            <a:r>
              <a:t>thirty wasted nudges, so act above about 1 in 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Write both lines on the board, on the same quantity: the chance of the good</a:t>
            </a:r>
          </a:p>
          <a:p>
            <a:r>
              <a:t>outcome. The 1-in-N name is this course's own; outside, search "expected cost threshold" or</a:t>
            </a:r>
          </a:p>
          <a:p>
            <a:r>
              <a:t>"cost-sensitive threshold". The formula assumes honest probabilities; case 2 checks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 (the row's second drill, folded in). Stripe's own guide: one missed fraud wipes</a:t>
            </a:r>
          </a:p>
          <a:p>
            <a:r>
              <a:t>out 18.71 good sales and its break-even precision is 5.07 percent (Stripe, verified 28 October</a:t>
            </a:r>
          </a:p>
          <a:p>
            <a:r>
              <a:t>2026). Interview anchor [S], asked aloud here: precision or recall for fraud, and why?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trap: choosing the metric by habit. Accuracy calls these three equal; Anand's</a:t>
            </a:r>
          </a:p>
          <a:p>
            <a:r>
              <a:t>prices separate them. Ask the owner's question: which one do you fund?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ch05, then the explorable.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Prediction first: 0.5, 0.2, 0.032 or nudge everyone? The default 0.5 costs Rs</a:t>
            </a:r>
          </a:p>
          <a:p>
            <a:r>
              <a:t>3,640, ten times the bill at 0.032. Point at the dashed accuracy line: it peaks at 0.31 to 0.55,</a:t>
            </a:r>
          </a:p>
          <a:p>
            <a:r>
              <a:t>far from the cheapest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trap: "0.5 is the best threshold, 80 percent accurate". Check: the bill at the</a:t>
            </a:r>
          </a:p>
          <a:p>
            <a:r>
              <a:t>chosen line. Fix: choose from the prices; report accuracy only as a by-product.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Rs 40 SMS gives 0.032; a Rs 400 hamper 0.25; equal costs 0.5; Rohan's loan 0.952.</a:t>
            </a:r>
          </a:p>
          <a:p>
            <a:r>
              <a:t>Rule with its flip: the line falls when missing is dearer, rises when acting is dearer.</a:t>
            </a:r>
          </a:p>
          <a:p>
            <a:r>
              <a:t>Interview anchor [F], asked aloud here: how do you set a threshold when the two errors cost</a:t>
            </a:r>
          </a:p>
          <a:p>
            <a:r>
              <a:t>differently?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6 minutes. Open demos/C2_W05_D02_threshold_explorer_STUDENT.html. Before any click, each</a:t>
            </a:r>
          </a:p>
          <a:p>
            <a:r>
              <a:t>learner types a guess of the cheapest line and locks it. Click 1: read the default aloud, 174 found</a:t>
            </a:r>
          </a:p>
          <a:p>
            <a:r>
              <a:t>and Rs 904,800 of missed margin. Click 2: drag the line left and watch the bill fall until about</a:t>
            </a:r>
          </a:p>
          <a:p>
            <a:r>
              <a:t>0.03. Click 3 waits for case 2: tighten the ratio from 30:1 to 8:1. Keep the loan switch for</a:t>
            </a:r>
          </a:p>
          <a:p>
            <a:r>
              <a:t>chapter 6. If the projector fails, show the case02 notebook's bill chart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minutes. Run the domain story from 4_trainer_only/C2_W05_D02_domain_story_TRAINER.md</a:t>
            </a:r>
          </a:p>
          <a:p>
            <a:r>
              <a:t>(built by a separate session); the learner files are C2_W05_D02_domain_financial_services_STUDENT</a:t>
            </a:r>
          </a:p>
          <a:p>
            <a:r>
              <a:t>and C2_W05_D02_financial_services_card_STUDENT. End on Rohan's two prices: Rs 60,000 for a false</a:t>
            </a:r>
          </a:p>
          <a:p>
            <a:r>
              <a:t>approval, Rs 3,000 for a wrongful rejection.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 for the chapter, ten of them a hand count. Notebook ch06. Prediction: lend when</a:t>
            </a:r>
          </a:p>
          <a:p>
            <a:r>
              <a:t>P(repay) is above 0.05, 0.50, 0.83 or 0.95?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Hand count on the board: 20 x 3,000 = 60,000. So Rohan needs at least 20 repayers</a:t>
            </a:r>
          </a:p>
          <a:p>
            <a:r>
              <a:t>in every 21 approvals. The dearer mistake changed sides: in Retail it was the miss, here it is the</a:t>
            </a:r>
          </a:p>
          <a:p>
            <a:r>
              <a:t>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Say it exactly: nudge when P(buy) is above 0.03; lend when P(repay) is above</a:t>
            </a:r>
          </a:p>
          <a:p>
            <a:r>
              <a:t>0.95. Never compare 0.03 on P(buy) with 0.05 on P(default): that is two quantities. Explorable:</a:t>
            </a:r>
          </a:p>
          <a:p>
            <a:r>
              <a:t>flip the switch to the loan and drag the line to the right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trap: reusing Marketing's code and threshold. The model is fine; the line was</a:t>
            </a:r>
          </a:p>
          <a:p>
            <a:r>
              <a:t>set for the wrong business. Interview anchor [D], asked aloud here: the same model in retail and in</a:t>
            </a:r>
          </a:p>
          <a:p>
            <a:r>
              <a:t>lending, why are the thresholds opposite, and how do you explain that to each business?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Ask two learners to say it to a neighbour playing Rohan. The flip: if Rohan's loss</a:t>
            </a:r>
          </a:p>
          <a:p>
            <a:r>
              <a:t>on a default halves to Rs 30,000, his line falls to 10 in 11, about 0.91.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15 minutes for the chapter. Notebook case01: run the first cell (the bank's file downloads</a:t>
            </a:r>
          </a:p>
          <a:p>
            <a:r>
              <a:t>once, then reads from the cache) and read the row count, 41,188.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test slice stays sealed in Monday's envelope until Friday. Everything today is</a:t>
            </a:r>
          </a:p>
          <a:p>
            <a:r>
              <a:t>on validation. Kalpa's prices are applied to the bank's calls; the bank's own prices are unknown.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Prediction first: how accurate is calling nobody? Then the reveal: 88.74. The</a:t>
            </a:r>
          </a:p>
          <a:p>
            <a:r>
              <a:t>empty column is the day's picture. Monday's model: precision 0.649 (its calls are good), recall</a:t>
            </a:r>
          </a:p>
          <a:p>
            <a:r>
              <a:t>0.188 (it misses four buyers in five). Accuracy moved by one point and told you none of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two humps overlap heavily; the 0.5 line cuts off almost all of the green.</a:t>
            </a:r>
          </a:p>
          <a:p>
            <a:r>
              <a:t>Ask: where would you move the line, and what would it cost? That is case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Have the room write the corrected sentence to Marketing in one line. Kavya's</a:t>
            </a:r>
          </a:p>
          <a:p>
            <a:r>
              <a:t>review: a matrix, a recall, and the do-nothing number beside the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 for the chapter. Notebook case02. Prediction: which of four lines has the lowest</a:t>
            </a:r>
          </a:p>
          <a:p>
            <a:r>
              <a:t>bill on the bank's clients?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5 minutes. The cost line calls nine clients in ten. F1's line sits far higher because F1</a:t>
            </a:r>
          </a:p>
          <a:p>
            <a:r>
              <a:t>treats a Rs 40 waste and a Rs 1,200 miss as equal. The call: ship the cost line; the price ratio</a:t>
            </a:r>
          </a:p>
          <a:p>
            <a:r>
              <a:t>is the fact that would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Point at how close the violet minimum sits to the green call-everyone line. Ask:</a:t>
            </a:r>
          </a:p>
          <a:p>
            <a:r>
              <a:t>how much is the model saving us here, really?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The trap: the arithmetic is right, the comparison is wrong. If Kalpa funded a</a:t>
            </a:r>
          </a:p>
          <a:p>
            <a:r>
              <a:t>model on the Rs 6.3 lakh, it would pay for a saving a spreadsheet rule already gets. Fix: report</a:t>
            </a:r>
          </a:p>
          <a:p>
            <a:r>
              <a:t>the saving against the cheaper of call-nobody and call-everyone.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Explorable: drag the ratio slider from 30:1 to 8:1 and watch the gap open. The</a:t>
            </a:r>
          </a:p>
          <a:p>
            <a:r>
              <a:t>rule with its flip: at an extreme ratio the cheap action wins almost everywhere; the model earns</a:t>
            </a:r>
          </a:p>
          <a:p>
            <a:r>
              <a:t>its keep when the ratio tightens or a budget binds.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Same arithmetic as Anand's, in dollars. Stripe's own words: "The model controls</a:t>
            </a:r>
          </a:p>
          <a:p>
            <a:r>
              <a:t>the shape of the precision-recall curve. The policy controls where on the curve we're operating."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18 minutes for the chapter. Notebook case03. Marketing can afford 1,000 calls in this slice.</a:t>
            </a:r>
          </a:p>
          <a:p>
            <a:r>
              <a:t>Prediction: how many buyers sit in the top 1,000 by score?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cost rule says act above 0.032 and asks for 7,438 calls; the budget allows</a:t>
            </a:r>
          </a:p>
          <a:p>
            <a:r>
              <a:t>1,000, which is the line at 0.182. When both hold, the stricter binds: here,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About 3.6 times a random list, and about Rs 3.6 lakh off the bill in this slice.</a:t>
            </a:r>
          </a:p>
          <a:p>
            <a:r>
              <a:t>The line to land: under a budget the ranking carries the decision, and this is where the model</a:t>
            </a:r>
          </a:p>
          <a:p>
            <a:r>
              <a:t>earns its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Read the left chart at 500 calls (0.540) and 1,000 (0.404). On the right, the</a:t>
            </a:r>
          </a:p>
          <a:p>
            <a:r>
              <a:t>violet curve above the dashed diagonal is everything the model adds over a random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4 minutes. A colleague claims "35 percent more buyers". It is the same model with a lower</a:t>
            </a:r>
          </a:p>
          <a:p>
            <a:r>
              <a:t>line. Razorpay's fraud team compares models at the same alert volume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The team could investigate 250 accounts, so the paper reports precision at 250.</a:t>
            </a:r>
          </a:p>
          <a:p>
            <a:r>
              <a:t>Same shape as Marketing's 1,000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20 minutes: 12 guided (steps 1 to 3 on the projector), 8 unguided (step 4 and the two</a:t>
            </a:r>
          </a:p>
          <a:p>
            <a:r>
              <a:t>paragraphs). Collect two memos and read their caveat lines aloud: the best ones say that at 30:1</a:t>
            </a:r>
          </a:p>
          <a:p>
            <a:r>
              <a:t>calling almost everyone is nearly as cheap, so the model's value shows under the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3 minutes. Tags: [S] staple, [F] frequent in product and GCC screens, [D] differentiator.</a:t>
            </a:r>
          </a:p>
          <a:p>
            <a:r>
              <a:t>The bank carries full model answers with the interviewer's two follow-ups.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2 minutes. A good interview answer names the one or two seats that decide and says why the</a:t>
            </a:r>
          </a:p>
          <a:p>
            <a:r>
              <a:t>others do not bind. Today the business owner decides the line; the senior ML engineer decides</a:t>
            </a:r>
          </a:p>
          <a:p>
            <a:r>
              <a:t>whether the formula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D. B is everyone called; C is every buyer; A is the true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B: 30 of 100 real positives. A is precision (30 of 50); C divides by everyone; D is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A. Saying no to everyone scores 96 on a 96 to 4 outcome, so the accuracy alone shows nothing</a:t>
            </a:r>
          </a:p>
          <a:p>
            <a:r>
              <a:t>learned beyond the base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B: 40 / 1,240 = 0.032. A has the ratio upside down; D treats the errors as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C: 60,000 / 63,000 = 0.952. A states the default-risk line (0.048) on the wrong quantity.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B. A tie costs maintenance and trust for no gain; offer the rule with its cost and name the</a:t>
            </a:r>
          </a:p>
          <a:p>
            <a:r>
              <a:t>date of the next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Ask each learner to redraw the week's picture with today's two humps and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LIVE, 1 minute. The IITGN faculty session W5-2 (tentative) on ROC curves, precision-recall curves</a:t>
            </a:r>
          </a:p>
          <a:p>
            <a:r>
              <a:t>and expected cost follows; today named ROC and AUC and stopped before them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9.png"/><Relationship Id="rId7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" y="1938528"/>
            <a:ext cx="10948111" cy="10972"/>
          </a:xfrm>
          <a:prstGeom prst="rect">
            <a:avLst/>
          </a:prstGeom>
          <a:solidFill>
            <a:srgbClr val="A9A3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" y="2240280"/>
            <a:ext cx="1968388" cy="329184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900" b="1" spc="250">
                <a:solidFill>
                  <a:srgbClr val="FFFFFF"/>
                </a:solidFill>
                <a:latin typeface="Calibri"/>
              </a:rPr>
              <a:t>WEEK 5  ·  DAY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807208"/>
            <a:ext cx="10582351" cy="66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Georgia"/>
              </a:rPr>
              <a:t>The metric trap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635756"/>
            <a:ext cx="10033711" cy="66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1">
                <a:solidFill>
                  <a:srgbClr val="D9A7FF"/>
                </a:solidFill>
                <a:latin typeface="Georgia"/>
              </a:rPr>
              <a:t>“The model is about 90 percent accurate. How many repeat buyers did it actually find?”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354576"/>
            <a:ext cx="10033711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Kavya Nair, senior analyst, Kalpa Retail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39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4605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8653" y="5248656"/>
            <a:ext cx="124758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9117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3165" y="5248656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930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5978" y="5248656"/>
            <a:ext cx="14841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044" y="5212080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7092" y="5248656"/>
            <a:ext cx="15433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39" y="5669280"/>
            <a:ext cx="14841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2905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56953" y="5669280"/>
            <a:ext cx="1129284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9117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3165" y="5669280"/>
            <a:ext cx="154333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What does 1 in 31 call?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9381" y="5632704"/>
            <a:ext cx="365760" cy="251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D9A7FF"/>
                </a:solidFill>
                <a:latin typeface="Georgia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3429" y="5669280"/>
            <a:ext cx="1365885" cy="1851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Which 1,000 to call?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5, Day 2. The metric trap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 / 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Week 5 of 20: the machine learning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Today turns Monday's score into a decision someone pays for.</a:t>
            </a:r>
          </a:p>
        </p:txBody>
      </p:sp>
      <p:pic>
        <p:nvPicPr>
          <p:cNvPr id="9" name="mermaid diagram" descr="C2_W05_D02_roadmap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2349875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4343267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programme's twenty weeks, Week 5 lit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  ·  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week's picture gains two humps and a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Draw this from memory tonight: past rows, the cut, the call, the outcome, then the humps.</a:t>
            </a:r>
          </a:p>
        </p:txBody>
      </p:sp>
      <p:pic>
        <p:nvPicPr>
          <p:cNvPr id="9" name="mermaid diagram" descr="C2_W05_D02_timeline_tuesday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489" y="1682496"/>
            <a:ext cx="8000716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Week 5 timeline in its Tuesday state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  ·  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Today's ticket: 89.7 percent, and the buyers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question for the day, priced in rupees.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35886"/>
                <a:gridCol w="8695104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On the ticket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says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data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Portuguese bank's phone campaign: 41,188 calls, May 2008 to November 2010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claim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Monday's model is 89.7 percent accurate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prices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wasted nudge Rs 40; a missed buyer about Rs 1,200 (Anand, Finance)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ask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Pick the metric, set the threshold, explain Rohan's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  ·  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topics, six chapters, then three case chapters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curriculum's words, in its order, each with the chapter and notebook that teach it.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968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5268418"/>
                <a:gridCol w="3119372"/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topic, in the curriculum's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Notebook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confusion matrix, cell by cell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Four boxes that tell the truth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Precision, recall and F1 derived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Of those we flagged, of those we missed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Class imbalance against accuracy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Why 89 percent can mean zero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Choosing the metric from business cost; the 1-in-N test (course construction)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each mistake cost?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Threshold selection as a business decision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Where to draw the line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The transfer: the same model, a lending business, the opposite threshold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Same model, opposite threshold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ch06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  ·  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How the six topics join, and where they are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box rests on the one before it.</a:t>
            </a:r>
          </a:p>
        </p:txBody>
      </p:sp>
      <p:pic>
        <p:nvPicPr>
          <p:cNvPr id="9" name="mermaid diagram" descr="08d41e69b385a4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4207" y="1682496"/>
            <a:ext cx="8823280" cy="4517136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  ·  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Four boxes that tell the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Where did each land?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The confusion matrix, cell by cell · also searched as: confusion matrix explained, true positive false positive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 labels per customer make four boxes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the model said, against what happened: twenty invented customers.</a:t>
            </a:r>
          </a:p>
        </p:txBody>
      </p:sp>
      <p:pic>
        <p:nvPicPr>
          <p:cNvPr id="9" name="mermaid diagram" descr="C2_W05_D02_ch1_four_box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0669" y="1682496"/>
            <a:ext cx="7130355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Twenty invented customers sorted into four boxes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S6  ·  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Each box is a sentence about a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Two boxes are free; two carry Anand's prices.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6622162"/>
                <a:gridCol w="914400"/>
                <a:gridCol w="2680028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Box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In Kalpa's words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Cost each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nudged and came back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nudged, did not come back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left alone, a repeater missed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1,200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left alone, did not come back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889248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The bill of mistakes: 3 x Rs 40 + 2 x Rs 1,200 = Rs 2,520.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S7  ·  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scikit-learn prints the true negatives top-left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Rows are the truth, columns the prediction, sorted 0 then 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11130991" cy="1214627"/>
          </a:xfrm>
          <a:prstGeom prst="roundRect">
            <a:avLst>
              <a:gd name="adj" fmla="val 3500"/>
            </a:avLst>
          </a:prstGeom>
          <a:solidFill>
            <a:srgbClr val="1A1440"/>
          </a:soli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084832"/>
            <a:ext cx="91440" cy="91440"/>
          </a:xfrm>
          <a:prstGeom prst="ellipse">
            <a:avLst/>
          </a:prstGeom>
          <a:solidFill>
            <a:srgbClr val="D6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2084832"/>
            <a:ext cx="91440" cy="91440"/>
          </a:xfrm>
          <a:prstGeom prst="ellipse">
            <a:avLst/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" y="2084832"/>
            <a:ext cx="91440" cy="91440"/>
          </a:xfrm>
          <a:prstGeom prst="ellipse">
            <a:avLst/>
          </a:prstGeom>
          <a:solidFill>
            <a:srgbClr val="1F8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2286000"/>
            <a:ext cx="10673791" cy="8122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E4E1F1"/>
                </a:solidFill>
                <a:latin typeface="Consolas"/>
              </a:rPr>
              <a:t>confusion_matrix(came_back, model_says_nudge)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[[12  3]     top-left 12 is TN, not TP</a:t>
            </a:r>
          </a:p>
          <a:p>
            <a:pPr>
              <a:spcAft>
                <a:spcPts val="200"/>
              </a:spcAft>
            </a:pPr>
            <a:r>
              <a:rPr sz="1400" b="0" i="0">
                <a:solidFill>
                  <a:srgbClr val="A9A3D2"/>
                </a:solidFill>
                <a:latin typeface="Consolas"/>
              </a:rPr>
              <a:t>#  [ 2  3]]    bottom-right 3 is 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3336036"/>
            <a:ext cx="11130991" cy="1121664"/>
          </a:xfrm>
          <a:prstGeom prst="roundRect">
            <a:avLst>
              <a:gd name="adj" fmla="val 5000"/>
            </a:avLst>
          </a:prstGeom>
          <a:solidFill>
            <a:srgbClr val="F7F5FD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8952" y="3668268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Picture 15" descr="bug_39ada6eff4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77996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99031" y="3482340"/>
            <a:ext cx="998799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WHAT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1" y="3701795"/>
            <a:ext cx="9987991" cy="682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0" i="0">
                <a:solidFill>
                  <a:srgbClr val="1A1440"/>
                </a:solidFill>
                <a:latin typeface="Calibri"/>
              </a:rPr>
              <a:t>Reading 12 as the true positives tells Marketing the model found twelve repeaters. The check: the bottom row must sum to the five real repeaters.</a:t>
            </a:r>
          </a:p>
        </p:txBody>
      </p:sp>
      <p:sp>
        <p:nvSpPr>
          <p:cNvPr id="19" name="Oval 18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did each land?</a:t>
            </a:r>
          </a:p>
        </p:txBody>
      </p:sp>
      <p:sp>
        <p:nvSpPr>
          <p:cNvPr id="21" name="Oval 20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23" name="Oval 22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25" name="Oval 24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27" name="Oval 26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9" name="Oval 28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31" name="Oval 30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S8  ·  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Of those we flagged, of those we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denominator?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Precision, recall and F1 derived · also searched as: precision vs recall, F1 score, harmonic mean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Same numerator, two denominators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Precision divides by the column of flags; recall by the row of real repeaters.</a:t>
            </a:r>
          </a:p>
        </p:txBody>
      </p:sp>
      <p:pic>
        <p:nvPicPr>
          <p:cNvPr id="9" name="mermaid diagram" descr="C2_W05_D02_ch2_denominator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474" y="1682496"/>
            <a:ext cx="1022074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Precision lights the nudge column, recall lights the came-back row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S9  ·  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wrong denominator divides by everyone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most common slip, shown exactly.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109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45666"/>
                <a:gridCol w="2279109"/>
                <a:gridCol w="580621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Reported as precision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it really measures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0.15 (wrong)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 of 20 customers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share of everyone who was flagged and came back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0.50 (right)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 of 6 flagged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share of nudges that landed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S10  ·  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F1 punishes the weaker of the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model that flags one customer and is right: plain mean 0.60, F1 0.33.</a:t>
            </a:r>
          </a:p>
        </p:txBody>
      </p:sp>
      <p:pic>
        <p:nvPicPr>
          <p:cNvPr id="9" name="mermaid diagram" descr="C2_W05_D02_ch2_f1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408" y="1682496"/>
            <a:ext cx="886487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F1 against the plain mean as recall falls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S11  ·  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ratios, named 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answers one business question.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76706"/>
                <a:gridCol w="6394096"/>
                <a:gridCol w="2245788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The 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Here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Of those we flagged, how many were right?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TP / (TP + FP)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Of those who were real, how many did we flag?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TP / (TP + FN)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One grade, low if either is low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2PR / (P + R)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S12  ·  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Why 89 percent can mean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it reward?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Class imbalance against accuracy · also searched as: accuracy paradox, imbalanced classification, base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Saying no to everyone is right 89 times in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Eleven green repeaters, all missed; 89 grey customers, all "correct".</a:t>
            </a:r>
          </a:p>
        </p:txBody>
      </p:sp>
      <p:pic>
        <p:nvPicPr>
          <p:cNvPr id="9" name="mermaid diagram" descr="C2_W05_D02_ch3_dot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1652" y="1682496"/>
            <a:ext cx="4028390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One hundred invented customers, eleven repeaters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S13  ·  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more accurate rule has the bigger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Ranked by accuracy, the useless rule wins.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957576"/>
                <a:gridCol w="1954044"/>
                <a:gridCol w="3258669"/>
                <a:gridCol w="19607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Repeaters found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Say no to everyone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 of 11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13,200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 model that flags 20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 of 11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4,080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S14  ·  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accuracy you get for doing 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Accuracy stops lying as the outcome nears 50:50.</a:t>
            </a:r>
          </a:p>
        </p:txBody>
      </p:sp>
      <p:pic>
        <p:nvPicPr>
          <p:cNvPr id="9" name="mermaid diagram" descr="C2_W05_D02_ch3_free_accuracy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114" y="1682496"/>
            <a:ext cx="10051465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Free accuracy against the base rate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S15  ·  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Drill: four matrices, precision and recall, fast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Twelve minutes in pairs: precision, recall, and one sentence each.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7473391"/>
                <a:gridCol w="914400"/>
                <a:gridCol w="914400"/>
                <a:gridCol w="914400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Matrix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TN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A, a fraud screen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9,790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B, a churn list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4,300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C, a loan book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630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D, Monday's model at 0.5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754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7,216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S16  ·  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What does each mistake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When does a nudge pay?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Choosing the metric from business cost; the 1-in-N test (course construction) · also searched as: cost-sensitive evaluation, choosing a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Thirty Rs 40 nudges equal one Rs 1,200 buyer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Nudge 31 lookalikes; if one comes back, Kalpa breaks even.</a:t>
            </a:r>
          </a:p>
        </p:txBody>
      </p:sp>
      <p:pic>
        <p:nvPicPr>
          <p:cNvPr id="9" name="mermaid diagram" descr="C2_W05_D02_ch4_coin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2203083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4196475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Thirty Rs 40 coins balance one Rs 1,200 margin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3" name="Oval 12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5" name="Oval 14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7" name="Oval 16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a nudge pay?</a:t>
            </a:r>
          </a:p>
        </p:txBody>
      </p:sp>
      <p:sp>
        <p:nvSpPr>
          <p:cNvPr id="19" name="Oval 18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1" name="Oval 20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3" name="Oval 22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S17  ·  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1-in-N test, named 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Rights per wrong equals damage over saving.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56816"/>
            <a:ext cx="11130991" cy="1267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threshold = cost of acting wrongly / (cost of acting wrongly + cost of failing to act)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nudge: 40 / (40 + 1,200) = 0.032, act when P(buy) is above 1 in 31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loan: 60,000 / (60,000 + 3,000) = 0.952, lend when P(repay) is above 20 in 21</a:t>
            </a:r>
          </a:p>
        </p:txBody>
      </p:sp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S18  ·  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Three businesses, three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metric follows the dearer mistake.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8" cy="1341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78399"/>
                <a:gridCol w="2251564"/>
                <a:gridCol w="2251564"/>
                <a:gridCol w="2046683"/>
                <a:gridCol w="1802778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Business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Acting wrongly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Failing to act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Act above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Leads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Kalpa nudge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1,200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P(buy) 0.032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Stripe fraud block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2.08 dollars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38.92 dollars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P(fraud) 0.051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fraud recall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Kalpa Financial loan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60,000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P(repay) 0.952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S19  ·  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Same accuracy, bills Rs 5,800 apart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Three invented models on chapter 1's twenty customers.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48056"/>
                <a:gridCol w="3071416"/>
                <a:gridCol w="2811518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Flags nobody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6,000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Chapter 1's model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2,520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Flags ten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200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Oval 9"/>
          <p:cNvSpPr/>
          <p:nvPr/>
        </p:nvSpPr>
        <p:spPr>
          <a:xfrm>
            <a:off x="530352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Oval 11"/>
          <p:cNvSpPr/>
          <p:nvPr/>
        </p:nvSpPr>
        <p:spPr>
          <a:xfrm>
            <a:off x="192595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568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322954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927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4625149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4877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611276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22492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764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6112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913399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43726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557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S20  ·  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Where to draw the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line is cheapest?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Threshold selection as a business decision · also searched as: classification threshold tuning, decision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Slide the line, watch the bill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Twenty invented scores: the bill is lowest at 0.032, Rs 360.</a:t>
            </a:r>
          </a:p>
        </p:txBody>
      </p:sp>
      <p:pic>
        <p:nvPicPr>
          <p:cNvPr id="9" name="mermaid diagram" descr="C2_W05_D02_ch5_bill_step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380" y="1682496"/>
            <a:ext cx="10026933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Bill and accuracy as the line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20899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97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34855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530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497319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2921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799442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4155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Oval 23"/>
          <p:cNvSpPr/>
          <p:nvPr/>
        </p:nvSpPr>
        <p:spPr>
          <a:xfrm>
            <a:off x="920600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5735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3962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S21  ·  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Accuracy peaks where the bill does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plausible wrong threshold, shown exactly.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8329"/>
                <a:gridCol w="914400"/>
                <a:gridCol w="3365139"/>
                <a:gridCol w="1908721"/>
                <a:gridCol w="91440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Repeaters caught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0.5, best accuracy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3 of 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3,640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0.032, from the prices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 of 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360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Oval 12"/>
          <p:cNvSpPr/>
          <p:nvPr/>
        </p:nvSpPr>
        <p:spPr>
          <a:xfrm>
            <a:off x="20899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97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5" name="Oval 14"/>
          <p:cNvSpPr/>
          <p:nvPr/>
        </p:nvSpPr>
        <p:spPr>
          <a:xfrm>
            <a:off x="34855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530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7" name="Oval 16"/>
          <p:cNvSpPr/>
          <p:nvPr/>
        </p:nvSpPr>
        <p:spPr>
          <a:xfrm>
            <a:off x="497319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2921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cheapest?</a:t>
            </a:r>
          </a:p>
        </p:txBody>
      </p:sp>
      <p:sp>
        <p:nvSpPr>
          <p:cNvPr id="19" name="Oval 18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541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1" name="Oval 20"/>
          <p:cNvSpPr/>
          <p:nvPr/>
        </p:nvSpPr>
        <p:spPr>
          <a:xfrm>
            <a:off x="799442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04155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3" name="Oval 22"/>
          <p:cNvSpPr/>
          <p:nvPr/>
        </p:nvSpPr>
        <p:spPr>
          <a:xfrm>
            <a:off x="920600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15735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962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S22  ·  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line climbs as acting gets dearer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One curve turns a price ratio into a threshold.</a:t>
            </a:r>
          </a:p>
        </p:txBody>
      </p:sp>
      <p:pic>
        <p:nvPicPr>
          <p:cNvPr id="9" name="mermaid diagram" descr="C2_W05_D02_ch5_line_curv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790" y="1682496"/>
            <a:ext cx="9418114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Threshold against the price ratio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20899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97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34855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530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497319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2921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799442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4155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Oval 23"/>
          <p:cNvSpPr/>
          <p:nvPr/>
        </p:nvSpPr>
        <p:spPr>
          <a:xfrm>
            <a:off x="920600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5735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3962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S23  ·  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explorable: drag the line on the bank's scores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It opens on the wrong default: 0.5, and 754 buyers left alone.</a:t>
            </a:r>
          </a:p>
        </p:txBody>
      </p:sp>
      <p:pic>
        <p:nvPicPr>
          <p:cNvPr id="9" name="mermaid diagram" descr="C2_W05_D02_explorer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165810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159202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threshold explorer in its opening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14" name="Oval 13"/>
          <p:cNvSpPr/>
          <p:nvPr/>
        </p:nvSpPr>
        <p:spPr>
          <a:xfrm>
            <a:off x="20899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97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34855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530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497319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2921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6541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799442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4155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Oval 23"/>
          <p:cNvSpPr/>
          <p:nvPr/>
        </p:nvSpPr>
        <p:spPr>
          <a:xfrm>
            <a:off x="920600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5735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3962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S24  ·  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Financial services enters: Rohan's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Fifteen minutes on how a lender makes and loses money, before chapter 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landmark_fde62565522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Lending and payments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Interest earned, defaults lost, regulation on every decision.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user_c13406686c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THE DECIDER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Rohan Desai, head of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Kalpa Financial Services; returns as Build 2's stakeholder.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book-open_313360a54d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READ AFTER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The dossier and its card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In 3_study_material_for_students.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102423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denominator?</a:t>
            </a:r>
          </a:p>
        </p:txBody>
      </p:sp>
      <p:sp>
        <p:nvSpPr>
          <p:cNvPr id="30" name="Oval 29"/>
          <p:cNvSpPr/>
          <p:nvPr/>
        </p:nvSpPr>
        <p:spPr>
          <a:xfrm>
            <a:off x="2089975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9703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32" name="Oval 31"/>
          <p:cNvSpPr/>
          <p:nvPr/>
        </p:nvSpPr>
        <p:spPr>
          <a:xfrm>
            <a:off x="3485578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5306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34" name="Oval 33"/>
          <p:cNvSpPr/>
          <p:nvPr/>
        </p:nvSpPr>
        <p:spPr>
          <a:xfrm>
            <a:off x="4973193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2921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line is cheapest?</a:t>
            </a:r>
          </a:p>
        </p:txBody>
      </p:sp>
      <p:sp>
        <p:nvSpPr>
          <p:cNvPr id="36" name="Oval 35"/>
          <p:cNvSpPr/>
          <p:nvPr/>
        </p:nvSpPr>
        <p:spPr>
          <a:xfrm>
            <a:off x="6506813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16541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38" name="Oval 37"/>
          <p:cNvSpPr/>
          <p:nvPr/>
        </p:nvSpPr>
        <p:spPr>
          <a:xfrm>
            <a:off x="799442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4155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40" name="Oval 39"/>
          <p:cNvSpPr/>
          <p:nvPr/>
        </p:nvSpPr>
        <p:spPr>
          <a:xfrm>
            <a:off x="920600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15735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39628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S25  ·  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Same model, opposite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Where is Rohan's line?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The transfer: the same model, a lending business, the opposite threshold · also searched as: credit risk threshold, cost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One default wipes out twenty good loans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Rs 60,000 lost on one default; Rs 3,000 of interest earned on each good loan.</a:t>
            </a:r>
          </a:p>
        </p:txBody>
      </p:sp>
      <p:pic>
        <p:nvPicPr>
          <p:cNvPr id="9" name="mermaid diagram" descr="C2_W05_D02_ch6_loan_coin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283150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482489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Twenty Rs 3,000 coins balance one Rs 60,000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S26  ·  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Two lines at opposite ends of one axis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Said on the same quantity: the chance of the good outcome.</a:t>
            </a:r>
          </a:p>
        </p:txBody>
      </p:sp>
      <p:pic>
        <p:nvPicPr>
          <p:cNvPr id="9" name="mermaid diagram" descr="C2_W05_D02_ch6_two_lin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56816"/>
            <a:ext cx="11130991" cy="3250451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243843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Retail's line near 0 and Rohan's line near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S27  ·  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Copying Retail's line approves every defaulter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Twenty invented applicants, five lines.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61348"/>
                <a:gridCol w="914400"/>
                <a:gridCol w="2783761"/>
                <a:gridCol w="2640890"/>
                <a:gridCol w="1630590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Lends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Defaults approved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Good turned away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Retail's 0.032, copied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360,000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0.5, the default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240,000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0.952, Rohan's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18,000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Reject everyone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42,000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S28  ·  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Say it to Rohan in one sentence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transfer note's 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45720" cy="751840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56816"/>
            <a:ext cx="10820095" cy="75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1A0F5C"/>
                </a:solidFill>
                <a:latin typeface="Georgia"/>
              </a:rPr>
              <a:t>"We lend only when at least 20 in 21 applicants like this one repay, because one default costs the interest on twenty good loans."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854960"/>
            <a:ext cx="45720" cy="467359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854960"/>
            <a:ext cx="10820095" cy="467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1A0F5C"/>
                </a:solidFill>
                <a:latin typeface="Georgia"/>
              </a:rPr>
              <a:t>The model is the same; your prices move the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6" name="Oval 15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8" name="Oval 17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20" name="Oval 19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Where is Rohan's line?</a:t>
            </a:r>
          </a:p>
        </p:txBody>
      </p:sp>
      <p:sp>
        <p:nvSpPr>
          <p:cNvPr id="22" name="Oval 21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4" name="Oval 23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6" name="Oval 25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S29  ·  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do-nothing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Who did it find?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step 1 · applies chapters 1, 2 and 3 · also searched as: confusion matrix sklearn, accuracy paradox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37 / 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bank's 41,188 calls stand in for Kalpa's nudge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Same decision: whom to contact, from what is known that morning.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907430"/>
                <a:gridCol w="822356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Fact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UCI Bank Marketing, CC BY 4.0, Moro, Rita and Cortez (2014)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Calls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41,188, May 2008 to November 2010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Bought (subscribed)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11.27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Scored today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8,238 validation clients, 928 buyers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S30  ·  38 / 64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Call nobody: 88.74 percent right, 0 buyers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Monday's model at 0.5: 89.71 percent right, 174 of 928 found.</a:t>
            </a:r>
          </a:p>
        </p:txBody>
      </p:sp>
      <p:pic>
        <p:nvPicPr>
          <p:cNvPr id="9" name="mermaid diagram" descr="C2_W05_D02_case1_matric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78" y="1682496"/>
            <a:ext cx="990073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Two confusion matrices on the bank's validation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S31  ·  39 / 64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Most buyers score below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754 of 928 buyers sit left of the default line.</a:t>
            </a:r>
          </a:p>
        </p:txBody>
      </p:sp>
      <p:pic>
        <p:nvPicPr>
          <p:cNvPr id="9" name="mermaid diagram" descr="C2_W05_D02_case1_hump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776" y="1682496"/>
            <a:ext cx="965214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Score humps for buyers and non-buyers with the 0.5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S32  ·  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trap: "89.7 percent accurate, ready to ship"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True and misleading, on the bank's real numbers.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60141"/>
                <a:gridCol w="8870849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On this file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claim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89.7 percent accurate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it hides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754 of 928 buyers left alone, about Rs 9.05 lakh of margin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check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recall, 0.188, beside the do-nothing 88.74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fix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report the matrix and recall with every accuracy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S33  ·  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cost threshold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What does 1 in 31 call?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step 2 · applies chapters 4 and 5 · also searched as: cost-sensitive evaluation, expected cost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Four ways to set the line, sized in rupees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On 8,238 clients at Rs 40 and Rs 1,200.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676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602902"/>
                <a:gridCol w="914400"/>
                <a:gridCol w="3139734"/>
                <a:gridCol w="247395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Called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Buyers found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Keep 0.5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908,560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F1 threshold, 0.154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1,226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454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599,680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Cost threshold, 0.032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7,438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913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279,000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Call everyone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8,238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928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292,400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S34  ·  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bill bottoms out at 0.032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Rs 279,000 at the cost line; Rs 292,400 for calling everyone.</a:t>
            </a:r>
          </a:p>
        </p:txBody>
      </p:sp>
      <p:pic>
        <p:nvPicPr>
          <p:cNvPr id="9" name="mermaid diagram" descr="C2_W05_D02_case2_bill_curve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965" y="1682496"/>
            <a:ext cx="9737764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The bill of mistakes against the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S35  ·  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trap: Rs 6.3 lakh saved against the wrong rival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Price the free rules before crediting the model.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40870"/>
                <a:gridCol w="2115843"/>
                <a:gridCol w="5874277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Compared with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default 0.5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629,560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misleading: nobody ships 0.5 now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Calling everyone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13,400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4.6% of its bill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Margin at stake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Rs 13,400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1.2% of Rs 11.1 lakh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S36  ·  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At 30 to 1 the model barely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Tighten the ratio and the model's saving climbs to 38 percent.</a:t>
            </a:r>
          </a:p>
        </p:txBody>
      </p:sp>
      <p:pic>
        <p:nvPicPr>
          <p:cNvPr id="9" name="mermaid diagram" descr="C2_W05_D02_case2_ratio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661" y="1682496"/>
            <a:ext cx="953037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Saving over the best free rule as the cost ratio tightens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S37  ·  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Stripe sets its line the same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model shapes the curve; the policy picks the point.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3434"/>
                <a:gridCol w="692755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Stripe's worked example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Sale, margin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26 dollars at 8 percent: 2.08 dollars profit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missed fraud costs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38.92 dollars, which is 18.71 good sales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Break-even precision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 / (1 + 18.71) = 5.07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692144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Source: Stripe, primer on machine learning for fraud protection (verified 28 October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S38  ·  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19" y="114300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0" i="0">
                <a:solidFill>
                  <a:srgbClr val="D9A7FF"/>
                </a:solidFill>
                <a:latin typeface="Georgia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542032"/>
            <a:ext cx="10673791" cy="366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A7FF"/>
                </a:solidFill>
                <a:latin typeface="Calibri"/>
              </a:rPr>
              <a:t>The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017520"/>
            <a:ext cx="106737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Georgia"/>
              </a:rPr>
              <a:t>Which 1,000 to call?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931920"/>
            <a:ext cx="9509760" cy="531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4E1F1"/>
                </a:solidFill>
                <a:latin typeface="Calibri"/>
              </a:rPr>
              <a:t>Case step 3 · applies chapters 2, 4 and 5 · also searched as: precision at k, lift chart, cumulative gains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did each land?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31497" y="5074920"/>
            <a:ext cx="100695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denominator?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48176" y="5074920"/>
            <a:ext cx="10902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4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1431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Which line is cheapest?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6358" y="5074920"/>
            <a:ext cx="117354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Where is Rohan's line?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9635" y="5074920"/>
            <a:ext cx="92365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Who did it find?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73014" y="5074920"/>
            <a:ext cx="1215198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FC9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0">
                <a:solidFill>
                  <a:srgbClr val="CFC9EE"/>
                </a:solidFill>
                <a:latin typeface="Calibri"/>
              </a:rPr>
              <a:t>What does 1 in 31 call?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97941" y="5074920"/>
            <a:ext cx="1090249" cy="310896"/>
          </a:xfrm>
          <a:prstGeom prst="roundRect">
            <a:avLst>
              <a:gd name="adj" fmla="val 50000"/>
            </a:avLst>
          </a:prstGeom>
          <a:solidFill>
            <a:srgbClr val="D9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 tIns="0" bIns="0"/>
          <a:lstStyle/>
          <a:p>
            <a:pPr algn="ctr"/>
            <a:r>
              <a:rPr sz="850" b="1">
                <a:solidFill>
                  <a:srgbClr val="1A0F5C"/>
                </a:solidFill>
                <a:latin typeface="Calibri"/>
              </a:rPr>
              <a:t>Which 1,000 to call?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37376"/>
            <a:ext cx="9667951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CFC9EE"/>
                </a:solidFill>
                <a:latin typeface="Calibri"/>
              </a:rPr>
              <a:t>Week 5 Day 2: the metric 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CFC9EE"/>
                </a:solidFill>
                <a:latin typeface="Calibri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A budget is a line in disguise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1,000 calls means calling everyone above the 1,000th score, 0.182.</a:t>
            </a:r>
          </a:p>
        </p:txBody>
      </p:sp>
      <p:pic>
        <p:nvPicPr>
          <p:cNvPr id="9" name="mermaid diagram" descr="C2_W05_D02_case_humps_lines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776" y="1682496"/>
            <a:ext cx="9652141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Three lines on the score humps: cost, budget and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S39  ·  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top 1,000 hold 404 buyers; a random 1,000, 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Precision at 1,000 is 0.404 against a 0.113 base rate.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95539"/>
                <a:gridCol w="2416334"/>
                <a:gridCol w="3417268"/>
                <a:gridCol w="2201848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Buyers found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Precision at 1,000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Bill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Random 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0.112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1,014,264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Top 1,000 by score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652,640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S40  ·  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Precision at k is where the model earns its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curve falls as the list grows; the gap to random is the model's value.</a:t>
            </a:r>
          </a:p>
        </p:txBody>
      </p:sp>
      <p:pic>
        <p:nvPicPr>
          <p:cNvPr id="9" name="mermaid diagram" descr="C2_W05_D02_case3_prec_at_k_STUD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523" y="1682496"/>
            <a:ext cx="9822647" cy="4200144"/>
          </a:xfrm>
          <a:prstGeom prst="rect">
            <a:avLst/>
          </a:prstGeom>
        </p:spPr>
      </p:pic>
      <p:sp>
        <p:nvSpPr>
          <p:cNvPr id="10" name="picture caption"/>
          <p:cNvSpPr txBox="1"/>
          <p:nvPr/>
        </p:nvSpPr>
        <p:spPr>
          <a:xfrm>
            <a:off x="530352" y="5919216"/>
            <a:ext cx="11130991" cy="316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6690"/>
                </a:solidFill>
                <a:latin typeface="Calibri"/>
              </a:rPr>
              <a:t>Precision at k and buyers found against calls made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S41  ·  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trap: 544 buyers from twice the calls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Compare two lists only at the same number of calls.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89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62771"/>
                <a:gridCol w="914400"/>
                <a:gridCol w="2579344"/>
                <a:gridCol w="5274474"/>
              </a:tblGrid>
              <a:tr h="33528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List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Buyers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Nudge spend per buyer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Top 1,000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99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Top 2,000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544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0.272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A1440"/>
                          </a:solidFill>
                          <a:latin typeface="Calibri"/>
                        </a:rPr>
                        <a:t>Rs 147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218688"/>
            <a:ext cx="11130991" cy="772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Razorpay: catching more by reviewing more "is a threshold change, not proof that the model improved" (verified 28 October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S42  ·  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Flipkart's trust team read the top 250 by hand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review budget is a precision at k.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4792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511965"/>
                <a:gridCol w="561902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Flipkart and CMU, ratings fraud (BIRDNEST)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Ratings scanned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3.3 million, from 1.1 million users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Accounts sent for review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top 250 by suspicion score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Found to be fraud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211 of 250, over 84 percent; all of the first 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692144"/>
            <a:ext cx="11130991" cy="4958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1A1440"/>
                </a:solidFill>
                <a:latin typeface="Calibri"/>
              </a:rPr>
              <a:t>Source: Hooi and others, arXiv 1511.06030 (verified 28 October 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4" name="Oval 13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6" name="Oval 15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8" name="Oval 17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20" name="Oval 19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2" name="Oval 21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4" name="Oval 23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S43  ·  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The guided memo: claim, evidence, caveat,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Notebook guided: steps 1 to 3 together, steps 4 and 5 on your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19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file-text_5c86fecc28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7" y="226771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19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TO KAVYA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metric memo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The metric, the line, the matrix, what it hides.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1642" y="1956816"/>
            <a:ext cx="3588410" cy="19644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1F1"/>
            </a:solidFill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02810" y="2157984"/>
            <a:ext cx="457200" cy="457200"/>
          </a:xfrm>
          <a:prstGeom prst="ellipse">
            <a:avLst/>
          </a:prstGeom>
          <a:solidFill>
            <a:srgbClr val="EE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Picture 16" descr="landmark_fde6256552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538" y="2267712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0281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5B3FD6"/>
                </a:solidFill>
                <a:latin typeface="Calibri"/>
              </a:rPr>
              <a:t>TO ROHAN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281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0F5C"/>
                </a:solidFill>
                <a:latin typeface="Calibri"/>
              </a:rPr>
              <a:t>The transfer note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2810" y="3303524"/>
            <a:ext cx="3186074" cy="2181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B6690"/>
                </a:solidFill>
                <a:latin typeface="Calibri"/>
              </a:rPr>
              <a:t>His line on P(repay), and why it sits high.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2932" y="1956816"/>
            <a:ext cx="3588410" cy="1964436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2C1A86"/>
              </a:gs>
              <a:gs pos="100000">
                <a:srgbClr val="1A0F5C"/>
              </a:gs>
            </a:gsLst>
            <a:lin scaled="0" ang="16200000"/>
          </a:gradFill>
          <a:ln>
            <a:noFill/>
          </a:ln>
          <a:effectLst>
            <a:outerShdw blurRad="76200" dist="19050" dir="5400000" algn="bl" rotWithShape="0">
              <a:srgbClr val="1A0F5C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4100" y="2157984"/>
            <a:ext cx="457200" cy="457200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check-check_78b4884d20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828" y="226771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4100" y="2724912"/>
            <a:ext cx="3186074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 spc="250">
                <a:solidFill>
                  <a:srgbClr val="D9A7FF"/>
                </a:solidFill>
                <a:latin typeface="Calibri"/>
              </a:rPr>
              <a:t>THE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4100" y="2962656"/>
            <a:ext cx="3186074" cy="2677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PASS lines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4100" y="3303524"/>
            <a:ext cx="3186074" cy="399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C9EE"/>
                </a:solidFill>
                <a:latin typeface="Calibri"/>
              </a:rPr>
              <a:t>Each step prints PASS when your number is right.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28" name="Oval 27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30" name="Oval 29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32" name="Oval 31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34" name="Oval 33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36" name="Oval 35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38" name="Oval 37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40" name="Oval 39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S44  ·  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Five interview anchors from today's 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Each with the shape of a good answer.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4987774"/>
                <a:gridCol w="5228816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Tag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 good answer opens with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Precision, recall and F1 from a matrix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two sentences, then the fractions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96 percent on a 96 to 4 split: good?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base rate and the TP cell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Precision or recall for fraud?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each mistake costs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[F]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Threshold when errors cost differently?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cost ratio, then the line, then the check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[D]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Retail and lending: why opposite?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dearer mistake changed sides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S45  ·  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Six seats ask six questions of one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Today's spotlight: the business owner.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25887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2191"/>
                <a:gridCol w="7588800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Seat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Their question about the 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Business owner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each mistake cost, in rupees?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Product manager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What does the customer see when we are wrong?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Solution architect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Where does the threshold live, and who changes it?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Senior ML engineer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Are the probabilities honest enough for the formula?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Implementation engineer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is it configured and logged?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QA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Which test proves the right line is in force?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S46  ·  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 1 of 5: buyers found at 0.5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TP 174, FP 94, FN 754, TN 7,216.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Buyers found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7,216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268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928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174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S47  ·  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 2 of 5: recall from four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TP 30, FP 20, FN 70, TN 880.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565495"/>
                <a:gridCol w="5565495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S48  ·  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 3 of 5: 96 percent on a 96 to 4 outcome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did the model learn?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It learned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base rate and nothing else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 strong signal for repeat buyers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how to rank the top 4 percent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the cost of a missed buyer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S49  ·  59 / 64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 4 of 5: a miss Rs 1,200, a false nudge Rs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Which metric leads, and roughly where is the line?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Metric and line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precision; near 0.97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recall; near 0.03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accuracy; at 0.50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F1; near 0.50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S50  ·  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Quiz 5 of 5: Rs 60,000 against Rs 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A false approval against a wrongful rejection: which way does the line move?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line on P(repay)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falls to about 0.05 on P(repay)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stays at 0.50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rises toward 0.95 on P(repay)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depends only on the model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S51  ·  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Monday's return question: the model tied the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What do you tell Marketing?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1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10216591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 you say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ship it, since it is no worse than the rule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has not earned its keep; ship the rule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it scores 89 percent, so it is ready to use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retrain it until accuracy passes 95 percent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S52  ·  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What you can now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Five moves, each with a number from today.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2218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250928"/>
                <a:gridCol w="5880062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You can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Today's number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Read a matrix in business words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174 of 928 buyers found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Expose accuracy on imbalance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88.74% for calling nobody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Set the line from two prices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 in 31, 0.032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Say when the model matters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under a budget: 0.404 against 0.113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Move the line to lending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20 in 21, 0.952 on P(repay)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S53  ·  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92063" y="310896"/>
            <a:ext cx="5669280" cy="127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550" b="1" i="0" spc="300">
                <a:solidFill>
                  <a:srgbClr val="6B6690"/>
                </a:solidFill>
                <a:latin typeface="Calibri"/>
              </a:rPr>
              <a:t>WEEK 5  ·  TUESDAY  ·  THE METRIC 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76656"/>
            <a:ext cx="11130991" cy="51206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A0F5C"/>
                </a:solidFill>
                <a:latin typeface="Georgia"/>
              </a:rPr>
              <a:t>Tonight, and tomorrow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43584"/>
            <a:ext cx="11130991" cy="234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6690"/>
                </a:solidFill>
                <a:latin typeface="Calibri"/>
              </a:rPr>
              <a:t>The practice set is two to three hours; the lab runs with the TAs.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956816"/>
          <a:ext cx="11130990" cy="184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019274"/>
                <a:gridCol w="4900853"/>
                <a:gridCol w="1210863"/>
              </a:tblGrid>
              <a:tr h="369824"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Minutes</a:t>
                      </a:r>
                    </a:p>
                  </a:txBody>
                  <a:tcPr marL="101600" marR="101600" marT="38100" marB="38100" anchor="ctr">
                    <a:solidFill>
                      <a:srgbClr val="1A0F5C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Practice set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2_take_home_mandatory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Practice lab, German Credit's 5:1 matrix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with the TAs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extra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Financial services dossier and card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3_study_material_for_students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Wednesday: are the columns honest?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pre-read at the end of the practice set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A144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101600" marR="101600" marT="38100" marB="38100" anchor="ctr">
                    <a:solidFill>
                      <a:srgbClr val="F4F2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6437376"/>
            <a:ext cx="25603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…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it reward?</a:t>
            </a:r>
          </a:p>
        </p:txBody>
      </p:sp>
      <p:sp>
        <p:nvSpPr>
          <p:cNvPr id="13" name="Oval 12"/>
          <p:cNvSpPr/>
          <p:nvPr/>
        </p:nvSpPr>
        <p:spPr>
          <a:xfrm>
            <a:off x="2181987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91715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When does a nudge pay?</a:t>
            </a:r>
          </a:p>
        </p:txBody>
      </p:sp>
      <p:sp>
        <p:nvSpPr>
          <p:cNvPr id="15" name="Oval 14"/>
          <p:cNvSpPr/>
          <p:nvPr/>
        </p:nvSpPr>
        <p:spPr>
          <a:xfrm>
            <a:off x="366960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9329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Which line is cheapest?</a:t>
            </a:r>
          </a:p>
        </p:txBody>
      </p:sp>
      <p:sp>
        <p:nvSpPr>
          <p:cNvPr id="17" name="Oval 16"/>
          <p:cNvSpPr/>
          <p:nvPr/>
        </p:nvSpPr>
        <p:spPr>
          <a:xfrm>
            <a:off x="5203221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949" y="6437376"/>
            <a:ext cx="1286446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Where is Rohan's line?</a:t>
            </a:r>
          </a:p>
        </p:txBody>
      </p:sp>
      <p:sp>
        <p:nvSpPr>
          <p:cNvPr id="19" name="Oval 18"/>
          <p:cNvSpPr/>
          <p:nvPr/>
        </p:nvSpPr>
        <p:spPr>
          <a:xfrm>
            <a:off x="669083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00564" y="6437376"/>
            <a:ext cx="101041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Who did it find?</a:t>
            </a:r>
          </a:p>
        </p:txBody>
      </p:sp>
      <p:sp>
        <p:nvSpPr>
          <p:cNvPr id="21" name="Oval 20"/>
          <p:cNvSpPr/>
          <p:nvPr/>
        </p:nvSpPr>
        <p:spPr>
          <a:xfrm>
            <a:off x="7902416" y="6492240"/>
            <a:ext cx="64008" cy="64008"/>
          </a:xfrm>
          <a:prstGeom prst="ellipse">
            <a:avLst/>
          </a:prstGeom>
          <a:solidFill>
            <a:srgbClr val="CFC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2144" y="6437376"/>
            <a:ext cx="1332452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6B6690"/>
                </a:solidFill>
                <a:latin typeface="Calibri"/>
              </a:rPr>
              <a:t>What does 1 in 31 call?</a:t>
            </a:r>
          </a:p>
        </p:txBody>
      </p:sp>
      <p:sp>
        <p:nvSpPr>
          <p:cNvPr id="23" name="Oval 22"/>
          <p:cNvSpPr/>
          <p:nvPr/>
        </p:nvSpPr>
        <p:spPr>
          <a:xfrm>
            <a:off x="9436036" y="6492240"/>
            <a:ext cx="64008" cy="64008"/>
          </a:xfrm>
          <a:prstGeom prst="ellipse">
            <a:avLst/>
          </a:prstGeom>
          <a:solidFill>
            <a:srgbClr val="5B3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45764" y="6437376"/>
            <a:ext cx="1194435" cy="152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i="0">
                <a:solidFill>
                  <a:srgbClr val="5B3FD6"/>
                </a:solidFill>
                <a:latin typeface="Calibri"/>
              </a:rPr>
              <a:t>Which 1,000 to call?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8303" y="6437376"/>
            <a:ext cx="1463040" cy="1604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6B6690"/>
                </a:solidFill>
                <a:latin typeface="Calibri"/>
              </a:rPr>
              <a:t>S54  ·  64 /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