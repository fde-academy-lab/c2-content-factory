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always in this order: the idea on numbers you can count, the idea on</a:t>
            </a:r>
          </a:p>
          <a:p>
            <a:r>
              <a:t>real data, the idea as a Kalpa decision. Line to land: the business question decides whether a</a:t>
            </a:r>
          </a:p>
          <a:p>
            <a:r>
              <a:t>model exists at all. Transition: where the week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Weeks 0 to 4 built the analyst: Python, SQL, statistics, metrics, forecasting with</a:t>
            </a:r>
          </a:p>
          <a:p>
            <a:r>
              <a:t>a naive baseline (Week 4 Friday). Week 5 turns that analyst into someone who can frame, build and</a:t>
            </a:r>
          </a:p>
          <a:p>
            <a:r>
              <a:t>defend a model. Week 6 is Build 2: the same machinery in Rohan's lending book at Kalpa Financial.</a:t>
            </a:r>
          </a:p>
          <a:p>
            <a:r>
              <a:t>ME1 runs this week as a continuous activity; say its scope aloud and nothing more. Transition: the</a:t>
            </a:r>
          </a:p>
          <a:p>
            <a:r>
              <a:t>one picture the week grows.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this on the board and leave it up all week. Left of the purple line: what is</a:t>
            </a:r>
          </a:p>
          <a:p>
            <a:r>
              <a:t>known. The line itself: the moment the prediction is made. Right of it: where the answer lives.</a:t>
            </a:r>
          </a:p>
          <a:p>
            <a:r>
              <a:t>Tuesday adds the threshold, Wednesday drops a column to the wrong side, Thursday adds the error</a:t>
            </a:r>
          </a:p>
          <a:p>
            <a:r>
              <a:t>curve, Friday the drift. Nightly self-check: redraw it from memory. Question to ask: where does a</a:t>
            </a:r>
          </a:p>
          <a:p>
            <a:r>
              <a:t>customer's next order sit on this picture? Transition: today's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Real bank, real public data, CC BY 4.0. Kalpa is the decision layer: same shape,</a:t>
            </a:r>
          </a:p>
          <a:p>
            <a:r>
              <a:t>our costs. Read Kavya's line twice. Question to ask: what would the dumbest possible model do here?</a:t>
            </a:r>
          </a:p>
          <a:p>
            <a:r>
              <a:t>Take two answers, write them on the board, do not settle it; case 2 does. Transition: the six</a:t>
            </a:r>
          </a:p>
          <a:p>
            <a:r>
              <a:t>topics that get us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column two once: these are the words to search later. The chapter names are</a:t>
            </a:r>
          </a:p>
          <a:p>
            <a:r>
              <a:t>the ones learners remember. Case chapters 7, 8 and 9 apply them to the bank. Break after chapter 4.</a:t>
            </a:r>
          </a:p>
          <a:p>
            <a:r>
              <a:t>Transition: how they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Framing (1, 2, 3) comes before any fitting. Both model families rest on the split</a:t>
            </a:r>
          </a:p>
          <a:p>
            <a:r>
              <a:t>and the baseline. Chapter 6 is where both fail. Week 4 Friday's naive forecast was already a</a:t>
            </a:r>
          </a:p>
          <a:p>
            <a:r>
              <a:t>baseline; today it gets its name. Transition: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chapter, including the six-question sort. Notebook ch01. The</a:t>
            </a:r>
          </a:p>
          <a:p>
            <a:r>
              <a:t>misconception to stage: "we have data, so it is an ML problem". Transition: six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Pairs sort the six into query, rule or prediction in two minutes, on paper.</a:t>
            </a:r>
          </a:p>
          <a:p>
            <a:r>
              <a:t>Prediction to ask for first: how many of the six need a trained model? Collect the count from five</a:t>
            </a:r>
          </a:p>
          <a:p>
            <a:r>
              <a:t>pairs. Click: notebook ch01, cell 4 prints the table. Transition: the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up per option. Most rooms pick 4 or 6. Transition: the three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Walk the six through the tests aloud. 1 and 4: query. 3 and 6: rule. 2 and 5:</a:t>
            </a:r>
          </a:p>
          <a:p>
            <a:r>
              <a:t>prediction; 2 asks "will they" (classification), 5 asks "how much" (regression). Line to land: the</a:t>
            </a:r>
          </a:p>
          <a:p>
            <a:r>
              <a:t>decision makes the problem, the data only makes a dataset. Interview line [S]: when is a business</a:t>
            </a:r>
          </a:p>
          <a:p>
            <a:r>
              <a:t>problem an ML problem? Transition: when a rule stops being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Google Rules of ML, rule 1: "Don't be afraid to launch a product without machine</a:t>
            </a:r>
          </a:p>
          <a:p>
            <a:r>
              <a:t>learning" (developers.google.com/machine-learning/guides/rules-of-ml, verified 28 October 2026).</a:t>
            </a:r>
          </a:p>
          <a:p>
            <a:r>
              <a:t>Uber DeepETA (uber.com/blog/deepeta-how-uber-predicts-arrival-times, verified 28 October 2026):</a:t>
            </a:r>
          </a:p>
          <a:p>
            <a:r>
              <a:t>the model predicts the residual of the routing engine, which had to be beaten first. Kalpa's Rs</a:t>
            </a:r>
          </a:p>
          <a:p>
            <a:r>
              <a:t>40 and Rs 1,200 are the row's invented numbers. Question to ask: which of Kalpa's two rules would</a:t>
            </a:r>
          </a:p>
          <a:p>
            <a:r>
              <a:t>you replace with a model first, and what would have to be true? Transition: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ch02. The misconception to stage: "use the latest table, it is the</a:t>
            </a:r>
          </a:p>
          <a:p>
            <a:r>
              <a:t>freshest". Transition: four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Draw the line at 30 June on the board first, then place the eight dots. The</a:t>
            </a:r>
          </a:p>
          <a:p>
            <a:r>
              <a:t>prediction time is the morning Marketing sends the nudge. The window is 90 days because that is</a:t>
            </a:r>
          </a:p>
          <a:p>
            <a:r>
              <a:t>what Marketing's budget covers. Click: notebook ch02, the timeline cell. Transition: who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Pairs answer. Trap to watch: M4 bought again, so many say two. Transition: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target is a definition: "buys again" means inside these ninety days. Every</a:t>
            </a:r>
          </a:p>
          <a:p>
            <a:r>
              <a:t>input column is computed only from orders on or before the cutoff. Line to land: freeze the</a:t>
            </a:r>
          </a:p>
          <a:p>
            <a:r>
              <a:t>reference date, then build both sides from it. Transition: the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all-time count includes 20 July, the very purchase we predict. Offline the</a:t>
            </a:r>
          </a:p>
          <a:p>
            <a:r>
              <a:t>model looks brilliant; the first real morning it collapses. Fix: inputs from history only, target</a:t>
            </a:r>
          </a:p>
          <a:p>
            <a:r>
              <a:t>from the window only. This is the same question Wednesday asks of every column. Interview line [F]:</a:t>
            </a:r>
          </a:p>
          <a:p>
            <a:r>
              <a:t>where is the 90-day flag computed, and as of which date? Transition: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Notebook ch03. The misconception to stage: "the test set is just more validation</a:t>
            </a:r>
          </a:p>
          <a:p>
            <a:r>
              <a:t>data". Transition: three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school story lands with this room. Stress "sat once": a board paper seen in</a:t>
            </a:r>
          </a:p>
          <a:p>
            <a:r>
              <a:t>advance proves nothing about the student. Interview line [S]: which slice is spent once, and why?</a:t>
            </a:r>
          </a:p>
          <a:p>
            <a:r>
              <a:t>Transition: what the seed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Purple train, lilac validation, amber test; Y is a member who came back. Same</a:t>
            </a:r>
          </a:p>
          <a:p>
            <a:r>
              <a:t>rule, different seed, different members in each slice. Writing random_state=42 is what lets a</a:t>
            </a:r>
          </a:p>
          <a:p>
            <a:r>
              <a:t>teammate get your slices and your baseline. Stratify keeps one Y in every test of four. Click:</a:t>
            </a:r>
          </a:p>
          <a:p>
            <a:r>
              <a:t>notebook ch03, the two-seed cell. Transition: the dumbest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Pairs commit.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model that scores 75 here learned the share who came back and nothing else.</a:t>
            </a:r>
          </a:p>
          <a:p>
            <a:r>
              <a:t>Baselines: majority class for classification, the mean for regression, and a simple rule when one</a:t>
            </a:r>
          </a:p>
          <a:p>
            <a:r>
              <a:t>is available. Interview line [F]: why start with a baseline, and what does beating it prove?</a:t>
            </a:r>
          </a:p>
          <a:p>
            <a:r>
              <a:t>Transition: chapter 4. Break after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ch04. The misconception to stage: "the best line joins the first and</a:t>
            </a:r>
          </a:p>
          <a:p>
            <a:r>
              <a:t>last points". Transition: six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Everyone draws a line by eye on paper. Most join the first and last points:</a:t>
            </a:r>
          </a:p>
          <a:p>
            <a:r>
              <a:t>slope (910 minus 290) / 5 = Rs 124 per visit. Write 124 on the board. Transition: which line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 first. Then explain "squared": each miss drawn as a square, so big</a:t>
            </a:r>
          </a:p>
          <a:p>
            <a:r>
              <a:t>misses count far more than small ones. Click: open the explorable (demos/), whose line starts flat</a:t>
            </a:r>
          </a:p>
          <a:p>
            <a:r>
              <a:t>at the mean; let one learner drag it, then press least squares.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Least squares: spend = Rs 180 + Rs 120 x visits. Squares: 257,200 for the mean,</a:t>
            </a:r>
          </a:p>
          <a:p>
            <a:r>
              <a:t>5,480 by eye, 5,200 for least squares. The formula, named last: slope = sum of dx times dy / sum</a:t>
            </a:r>
          </a:p>
          <a:p>
            <a:r>
              <a:t>of dx squared = 2,100 / 17.5 = 120. Click: notebook ch04, the hand calculation, then scikit-learn</a:t>
            </a:r>
          </a:p>
          <a:p>
            <a:r>
              <a:t>agreeing. Transition: reading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for Marketing: "members who visit once more spend about Rs 120 more, in</a:t>
            </a:r>
          </a:p>
          <a:p>
            <a:r>
              <a:t>this data". Whether a nudge that causes a visit adds Rs 120 needs an experiment (Week 1 Thursday).</a:t>
            </a:r>
          </a:p>
          <a:p>
            <a:r>
              <a:t>Kahoot Q5 previews this sentence. Transition: the code, three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it in ch04 on the projector. The check cell asserts hand and code agree. The</a:t>
            </a:r>
          </a:p>
          <a:p>
            <a:r>
              <a:t>bridge course met fitting; spend no more time on mechanics. Break now, 10 minutes. Transition:</a:t>
            </a:r>
          </a:p>
          <a:p>
            <a:r>
              <a:t>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ch05. The misconception to stage: "a line on 0s and 1s gives a</a:t>
            </a:r>
          </a:p>
          <a:p>
            <a:r>
              <a:t>probability". Transition: twelve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Dots sit at 0 or 1 only. The dashed line is ordinary least squares on them.</a:t>
            </a:r>
          </a:p>
          <a:p>
            <a:r>
              <a:t>Question to ask: what will this line predict for a member with 8 visits? Transition: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per option. Transition: the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line says 1.28 at 8 visits and -0.01 at 0: impossible probabilities. Logistic</a:t>
            </a:r>
          </a:p>
          <a:p>
            <a:r>
              <a:t>regression keeps a line underneath, z = a + b x visits, and squeezes it: p = 1 / (1 + exp(-z)).</a:t>
            </a:r>
          </a:p>
          <a:p>
            <a:r>
              <a:t>Here z = -3.20 + 1.05 x visits. Click: ch05, the fit cell, model and formula agree at 0.73; then</a:t>
            </a:r>
          </a:p>
          <a:p>
            <a:r>
              <a:t>the explorable's right panel, slide the member past 130 days and switch to the S.</a:t>
            </a:r>
          </a:p>
          <a:p>
            <a:r>
              <a:t>Transition: what 0.73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Interview line [F]: what does a logistic output of 0.71 mean? Model answer: among</a:t>
            </a:r>
          </a:p>
          <a:p>
            <a:r>
              <a:t>customers who look like this one, about 71 in 100 do the thing, if the model is calibrated; it is</a:t>
            </a:r>
          </a:p>
          <a:p>
            <a:r>
              <a:t>never "this customer is 71 percent likely" as a promise. Transition: direction and strength.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 = 1.05 is positive: more visits, more likely. exp(1.05) = 2.85: the odds</a:t>
            </a:r>
          </a:p>
          <a:p>
            <a:r>
              <a:t>multiply by 2.85 per visit, at every step. The probability step is not constant: 0.25 to 0.49,</a:t>
            </a:r>
          </a:p>
          <a:p>
            <a:r>
              <a:t>then 0.88 to 0.96. Click: ch05, the odds-ratio check. Transition: chapter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minutes, including the four-plot match drill if time allows. Notebook ch06, the one</a:t>
            </a:r>
          </a:p>
          <a:p>
            <a:r>
              <a:t>concept chapter on real data: UCI Auto MPG. The misconception: "a line that looks close is right".</a:t>
            </a:r>
          </a:p>
          <a:p>
            <a:r>
              <a:t>Transition: 392 cars.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398 cars; six have "?" for horsepower and are dropped, a decision recorded in the</a:t>
            </a:r>
          </a:p>
          <a:p>
            <a:r>
              <a:t>notebook. The line: mpg = 39.94 minus 0.158 x horsepower. From a distance it looks fine. Question:</a:t>
            </a:r>
          </a:p>
          <a:p>
            <a:r>
              <a:t>if the truth bends, what will the misses look like? Transition: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per option.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Low-power cars beat the line by 2.7 mpg on average, the middle band sits 2.2 below</a:t>
            </a:r>
          </a:p>
          <a:p>
            <a:r>
              <a:t>it, the top band climbs back to +0.8. A pattern in residuals is a shape the model missed; random</a:t>
            </a:r>
          </a:p>
          <a:p>
            <a:r>
              <a:t>scatter is what a good fit leaves. Click: ch06, the bow cell. Transition: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extra column, horsepower squared, lets the line bend. Band means now 0.44,</a:t>
            </a:r>
          </a:p>
          <a:p>
            <a:r>
              <a:t>0.05, -0.99, 0.36, 0.10. Wednesday turns this move into feature engineering; today it is only the</a:t>
            </a:r>
          </a:p>
          <a:p>
            <a:r>
              <a:t>cure the residuals asked for. Transition: where the cure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At 300 hp the curve says 27.8 mpg, the line says minus 7.4. Both are nonsense,</a:t>
            </a:r>
          </a:p>
          <a:p>
            <a:r>
              <a:t>because no car in the data has 300 hp. Rule: never quote a fit outside the range it was fitted on.</a:t>
            </a:r>
          </a:p>
          <a:p>
            <a:r>
              <a:t>Transition: the failure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Mid-session drill if minutes allow: match four residual plots (bow, fan, bands,</a:t>
            </a:r>
          </a:p>
          <a:p>
            <a:r>
              <a:t>flat) to their diagnoses; the practice set carries the plots. Interview line: what does a pattern</a:t>
            </a:r>
          </a:p>
          <a:p>
            <a:r>
              <a:t>in the residuals tell you? Transition: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mid-session drill from the row, 8 minutes if time allows, otherwise it stays in the</a:t>
            </a:r>
          </a:p>
          <a:p>
            <a:r>
              <a:t>practice set as problem A6. Pairs post P?, Q?, R?, S?. Key: P c (the bow), Q b (the fan against</a:t>
            </a:r>
          </a:p>
          <a:p>
            <a:r>
              <a:t>predicted mpg), R a (residuals climb with model year, newer cars beat the model), S e (flat once</a:t>
            </a:r>
          </a:p>
          <a:p>
            <a:r>
              <a:t>horsepower squared is in). d is spare: a peek never shows in a residual plot. Transition: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43 minutes, including the guided notebook, 20 of them. Notebook case01, then guided.</a:t>
            </a:r>
          </a:p>
          <a:p>
            <a:r>
              <a:t>Transition: the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Prediction first: what share said yes? Options half, a quarter, one in nine, one</a:t>
            </a:r>
          </a:p>
          <a:p>
            <a:r>
              <a:t>in thirty. Answer 4,640 of 41,188, 0.1127. Source: UCI Bank Marketing, Moro, Rita and Cortez,</a:t>
            </a:r>
          </a:p>
          <a:p>
            <a:r>
              <a:t>CC BY 4.0, archive.ics.uci.edu/dataset/222/bank+marketing (verified 28 October 2026). Click:</a:t>
            </a:r>
          </a:p>
          <a:p>
            <a:r>
              <a:t>case01, the count cell. Transition: the same question at Kalpa.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three tests of chapter 1 pass for both: input now, target later, a list</a:t>
            </a:r>
          </a:p>
          <a:p>
            <a:r>
              <a:t>that changes with the score. Transition: which columns are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Do not explain the seven other columns today; if asked, point at the timeline and</a:t>
            </a:r>
          </a:p>
          <a:p>
            <a:r>
              <a:t>say Wednesday asks the prediction-time question of each one. Click: case01, the groups cell, two</a:t>
            </a:r>
          </a:p>
          <a:p>
            <a:r>
              <a:t>PASS lines. Transition: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Test is cut first, 20 percent, and sealed. The rest splits 75 to 25. Show the</a:t>
            </a:r>
          </a:p>
          <a:p>
            <a:r>
              <a:t>trap from case01: five unseeded splits give held-out yes shares between about 0.114 and 0.119, so</a:t>
            </a:r>
          </a:p>
          <a:p>
            <a:r>
              <a:t>two teammates quote baselines on different rows. Transition: the envelope.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at the card taped to the wall since the start of the day. Line to land: the</a:t>
            </a:r>
          </a:p>
          <a:p>
            <a:r>
              <a:t>test set is spent once. Every time someone asks "can we just check it on test?" this week, point at</a:t>
            </a:r>
          </a:p>
          <a:p>
            <a:r>
              <a:t>the envelope. Transition: the guided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Notebook guided_frame_and_split. Trainer types, room mirrors. The progress cell</a:t>
            </a:r>
          </a:p>
          <a:p>
            <a:r>
              <a:t>prints TODO until each step is filled, then PASS. Expected: 4,640 ones; 24,712 / 8,238 / 8,238;</a:t>
            </a:r>
          </a:p>
          <a:p>
            <a:r>
              <a:t>baseline 0.8874. Do not open the answer cell until every pair has tried step 5. Transition: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minutes. Notebook case02. Transition: the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Pairs commit.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By hand (share of no) and by DummyClassifier: the same 0.8874, a PASS line. The</a:t>
            </a:r>
          </a:p>
          <a:p>
            <a:r>
              <a:t>logistic model on the 13 columns: 0.8971. Line to land: one point above doing nothing. Click:</a:t>
            </a:r>
          </a:p>
          <a:p>
            <a:r>
              <a:t>case02, cells 5 and 7. Transition: the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Left: full height, identical-looking bars. Right: only the gap. Tuesday asks how</a:t>
            </a:r>
          </a:p>
          <a:p>
            <a:r>
              <a:t>many of the 928 clients who said yes this model put on the call list; do not answer it today.</a:t>
            </a:r>
          </a:p>
          <a:p>
            <a:r>
              <a:t>Kahoot Q4 and the return question set it up. Transition: what the model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Most clients score low, a few high. The 0.5 line is where today's accuracy reads</a:t>
            </a:r>
          </a:p>
          <a:p>
            <a:r>
              <a:t>the probability as yes; Tuesday moves that line. Transition: one coefficient.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Coefficient -0.069 per call after undoing the scaling; exp gives 0.933. Second</a:t>
            </a:r>
          </a:p>
          <a:p>
            <a:r>
              <a:t>route: add one call to every validation client and measure the odds ratio: 0.9334 for every row,</a:t>
            </a:r>
          </a:p>
          <a:p>
            <a:r>
              <a:t>a PASS. Say "association, other columns held"; causation needs an experiment. Interview [F]:</a:t>
            </a:r>
          </a:p>
          <a:p>
            <a:r>
              <a:t>explain one coefficient in the business's words. Transition: the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2008: 4.8 percent yes of 27,690 calls; 2009: 19.5 percent of 11,440; 2010: 52.1</a:t>
            </a:r>
          </a:p>
          <a:p>
            <a:r>
              <a:t>percent of 2,058. The month column is in our 13, so the model partly learns "when". Friday splits</a:t>
            </a:r>
          </a:p>
          <a:p>
            <a:r>
              <a:t>by time and shows what that costs. The trap sentence: "our model is 89.7 percent accurate", true</a:t>
            </a:r>
          </a:p>
          <a:p>
            <a:r>
              <a:t>and misleading. The fix: "under one point above calling nobody, on a random split". Transition:</a:t>
            </a:r>
          </a:p>
          <a:p>
            <a:r>
              <a:t>the peek.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Notebook case03. Never cut this chapter (the row says so). Transition: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real envelope stays sealed: 2,000 validation rows play the test's part and</a:t>
            </a:r>
          </a:p>
          <a:p>
            <a:r>
              <a:t>the other 6,238 are a fresh slice. Prediction: on fresh rows, the chosen version scores 0.906</a:t>
            </a:r>
          </a:p>
          <a:p>
            <a:r>
              <a:t>again, about 0.897, about 0.887, or 0.80?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chosen version: 0.9055 on the peeked slice (doing nothing there 0.8875), 0.8971</a:t>
            </a:r>
          </a:p>
          <a:p>
            <a:r>
              <a:t>on fresh rows (doing nothing 0.8873). Reported edge 1.80 points, real edge 0.98. Line to land: a</a:t>
            </a:r>
          </a:p>
          <a:p>
            <a:r>
              <a:t>test score used to choose anything becomes a validation score. Kahoot Q3 is this slide. Click:</a:t>
            </a:r>
          </a:p>
          <a:p>
            <a:r>
              <a:t>case03, the scatter. Transition: the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Interview [S]: train, validation, test, what is each for and which is spent once?</a:t>
            </a:r>
          </a:p>
          <a:p>
            <a:r>
              <a:t>The full answer opens on the job of each slice and ends on what to do after a peek. Transition: the</a:t>
            </a:r>
          </a:p>
          <a:p>
            <a:r>
              <a:t>interview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Cold-call three people for the 30-second version of one each. The [D] answer</a:t>
            </a:r>
          </a:p>
          <a:p>
            <a:r>
              <a:t>opens with a question: tie on what metric, on which slice? Then: show both numbers, ship the</a:t>
            </a:r>
          </a:p>
          <a:p>
            <a:r>
              <a:t>baseline rule with its cost, ask for time for features, name the next check date. Tags: [S] staple,</a:t>
            </a:r>
          </a:p>
          <a:p>
            <a:r>
              <a:t>[F] frequent in GCC and product screens, [D] differentiator. Transition: the seat.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Each day this week lights one seat. Today's questions are the senior ML</a:t>
            </a:r>
          </a:p>
          <a:p>
            <a:r>
              <a:t>engineer's: what exactly is predicted, from what, known when; what is the bar; which rows score</a:t>
            </a:r>
          </a:p>
          <a:p>
            <a:r>
              <a:t>it. Ask: which of today's mistakes would this seat have caught? (the all-time count, the unseeded</a:t>
            </a:r>
          </a:p>
          <a:p>
            <a:r>
              <a:t>split, the peek). Transition: the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in the trainer guide. The return question first, as a warm-up. Q4's 96 to</a:t>
            </a:r>
          </a:p>
          <a:p>
            <a:r>
              <a:t>4 is the row's invented Kalpa flag: the answer is 96 percent. 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take-home is mandatory; the practice lab with the TAs follows the faculty</a:t>
            </a:r>
          </a:p>
          <a:p>
            <a:r>
              <a:t>block (tentative). Return question for tomorrow: your model only tied the baseline; what do you tell</a:t>
            </a:r>
          </a:p>
          <a:p>
            <a:r>
              <a:t>Marketing? Point at the envelope once more on the way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Relationship Id="rId5" Type="http://schemas.openxmlformats.org/officeDocument/2006/relationships/image" Target="../media/image3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Relationship Id="rId5" Type="http://schemas.openxmlformats.org/officeDocument/2006/relationships/image" Target="../media/image4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2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Regression and classification, framed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Six topics on tiny invented tables, then one real bank's 41,188 calls.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uler_ec66f5961a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Six chapters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Tiny invented tables, counted by hand.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phone_7ed97f81441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41,188 real calls: whom to call first?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tore_71a4685294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Rs 40 nudge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90-day repeat score, baseline first.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31" name="Oval 3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3" name="Oval 3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5" name="Oval 3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7" name="Oval 3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9" name="Oval 3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is where the models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programme's twenty weeks, this week lit.</a:t>
            </a:r>
          </a:p>
        </p:txBody>
      </p:sp>
      <p:pic>
        <p:nvPicPr>
          <p:cNvPr id="9" name="mermaid diagram" descr="acf0f732ab2def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45058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picture grows all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Monday's state: what is known, the cut, the outcome.</a:t>
            </a:r>
          </a:p>
        </p:txBody>
      </p:sp>
      <p:pic>
        <p:nvPicPr>
          <p:cNvPr id="9" name="mermaid diagram" descr="C2_W05_D01_fig_timeline_monda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395462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388854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timeline: past rows, the prediction moment, the outcome window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whom the bank should call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slide, the destination the six topics lead to.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Portuguese retail bank, phone campaigns for a term deposit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Marketing: 41,188 calls,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rank clients by chance of a yes, so agents call the best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Kalpa's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Marketing's Rs 40 nudge: who buys again within 90 days?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Kavya: "show me the dumbest possible baseline first"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topics, six chapters, then the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542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804392"/>
                <a:gridCol w="2531941"/>
                <a:gridCol w="914400"/>
                <a:gridCol w="9658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Prediction, rule or query: when a business question is a modelling problem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Is this an ML problem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Input, target, prediction time; the repeat-purchase 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do we know, and when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Train, validation, test; the seed;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Don't peek at the exam paper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Linear regression: fit, coefficients in units, residuals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Drawing the best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regression: probability, direction, strength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From a line to a probability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each model fails; the residual tells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the leftovers confess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six topics join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rests on, what it feeds.</a:t>
            </a:r>
          </a:p>
        </p:txBody>
      </p:sp>
      <p:pic>
        <p:nvPicPr>
          <p:cNvPr id="9" name="mermaid diagram" descr="c7cdab33a8610b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5621" y="1682496"/>
            <a:ext cx="6840452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Is this an ML problem at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it need a model?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Prediction, rule or query: when a business question is a modelling problem · also searched as: machine learning problem framing, when to use 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questions Marketing brought, invented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one arrived with the word "AI" attached.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Kalpa's question (invented)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members bought in September?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members will buy again in the next 90 days?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Remind every member whose cart was abandoned yesterday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was the average basket in Pune last quarter?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much will each member spend next quarter?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 any order above Rs 50,000 from a member who joined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of the six need a model?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Commit to a number before the next slide.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ALL OF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"it is all data"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anything about members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only the future 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rules do everything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27" name="Oval 2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9" name="Oval 28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1" name="Oval 30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3" name="Oval 32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5" name="Oval 34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7" name="Oval 36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two of six, after three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 them in order; only the last needs learning.</a:t>
            </a:r>
          </a:p>
        </p:txBody>
      </p:sp>
      <p:pic>
        <p:nvPicPr>
          <p:cNvPr id="9" name="mermaid diagram" descr="C2_W05_D01_fig_ch1_three_tes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162" y="1664208"/>
            <a:ext cx="8791369" cy="314553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8463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tests in order: query, rule, prediction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Input known now, target known later, a decision that moves with the score: then a model.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18" name="Oval 1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0" name="Oval 19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2" name="Oval 21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4" name="Oval 23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6" name="Oval 25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8" name="Oval 27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rule wins until its misses cost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Google's first rule, and Uber's 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GOOGLE, RULES OF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Launch without ML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heuristic gets about half the gain.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r_2853f22980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UBER, DEEPETA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the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model predicts only the rule's error.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cale_e4d6117bdf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FLIP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Rs 1,200 against Rs 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costly miss makes ranking pay.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31" name="Oval 3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3" name="Oval 3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5" name="Oval 3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7" name="Oval 3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9" name="Oval 3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do we know, and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may the model read?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Input, target, prediction time; the repeat-purchase target · also searched as: features and labels, supervised learning setup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Eight orders, four members, one cutoff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Invented. Purple is history; amber decides the target; grey is too late.</a:t>
            </a:r>
          </a:p>
        </p:txBody>
      </p:sp>
      <p:pic>
        <p:nvPicPr>
          <p:cNvPr id="9" name="mermaid diagram" descr="C2_W05_D01_fig_ch2_four_member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398175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0082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members' orders against a 30 June cutoff and a 90-day window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members buy again inside the window?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 before the next slide: none, one, two or four?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6701962"/>
                <a:gridCol w="35146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 30 June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Next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 April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 July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 May, 15 June, 28 June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June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 April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 October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member,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M4 bought again, after the window closed.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230099"/>
                <a:gridCol w="2518142"/>
                <a:gridCol w="2662164"/>
                <a:gridCol w="28061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Days since last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 before,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1,900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count orders on the whole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M1 shows two orders. One of them is the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863775"/>
                <a:gridCol w="3004565"/>
                <a:gridCol w="33482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 cutoff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all 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21868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346704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37560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Ask of every column: would I know this value on 30 June?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7" name="Oval 1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1" name="Oval 20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3" name="Oval 22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5" name="Oval 24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Don't peek at the exam paper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slice, and when?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Train, validation, test; the seed; the baseline · also searched as: train validation test split, baseline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slices, three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Practice papers, mock exams, the board exam.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46272"/>
                <a:gridCol w="4292961"/>
                <a:gridCol w="52917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At school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 a 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papers you study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the model learns from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mock exams, as often as you like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you compare models 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board exam, sat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you score the chosen model on,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seed is the shuffle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members, two seeds, two different exam papers.</a:t>
            </a:r>
          </a:p>
        </p:txBody>
      </p:sp>
      <p:pic>
        <p:nvPicPr>
          <p:cNvPr id="9" name="mermaid diagram" descr="C2_W05_D01_fig_ch3_two_seed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335893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32928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members split by seed 42 and by seed 7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Saying "no" to all twenty scores how much?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 of 20 came back. Commit: 25, 50, 75 or 95 percent?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782747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5 members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3099" y="1956816"/>
            <a:ext cx="8348243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did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3099" y="2487168"/>
            <a:ext cx="8348243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15 members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7" name="Oval 1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1" name="Oval 20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3" name="Oval 22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5" name="Oval 24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75 percent, knowing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15 of 20 right by saying "no" to everyone.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MAJORITY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bar for "will they"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mean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bar for "how much"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RULE TO BEAT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cheap rule, where one exists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flip.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Where a cheap rule exists, it replaces the majority class as the bar.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8" name="Oval 27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Drawing the best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is best?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Linear regression: fit, coefficients in units, residuals · also searched as: linear regression explained, least squares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members of one Kalpa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Invented. Visits last month against spend this month.</a:t>
            </a:r>
          </a:p>
        </p:txBody>
      </p:sp>
      <p:pic>
        <p:nvPicPr>
          <p:cNvPr id="9" name="mermaid diagram" descr="C2_W05_D01_fig_ch4_six_poin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5273" y="1682496"/>
            <a:ext cx="698114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Six invented members: visits and spend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line leaves the smallest squares?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line, first-to-last by eye, or a third line?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05771"/>
                <a:gridCol w="662521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Equation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 = Rs 600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eye, first to last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 = Rs 166 + Rs 124 x visits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third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 be found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least squares, 5,200 against 5,480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red squares are the misses, drawn as area.</a:t>
            </a:r>
          </a:p>
        </p:txBody>
      </p:sp>
      <p:pic>
        <p:nvPicPr>
          <p:cNvPr id="9" name="mermaid diagram" descr="C2_W05_D01_fig_ch4_squar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799616"/>
            <a:ext cx="11130991" cy="3929328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655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 squares under the mean line and the least-squares line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120 per visit, read with 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coefficient in the target's own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PER EXTRA VISIT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 association, across members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AT ZERO VISITS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beyond the data; quote carefully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-10 to +40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RESIDUALS, 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small, mixed signs, no pattern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3" name="Oval 2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5" name="Oval 2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line in three lines of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scikit-learn agrees with the hand count to the rupee.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lin = LinearRegression().fit(store[["visits"]], store["spend_rs"])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lin.coef_[0], lin.intercept_        # (120.0, 180.0)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6" name="Oval 1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8" name="Oval 17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0" name="Oval 1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22" name="Oval 2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4" name="Oval 23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6" name="Oval 25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From a line to a probability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0.73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Logistic regression: probability, direction, strength · also searched as: logistic regression, sigmoid, odds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straight line through yes and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members: visits, and whether they came back.</a:t>
            </a:r>
          </a:p>
        </p:txBody>
      </p:sp>
      <p:pic>
        <p:nvPicPr>
          <p:cNvPr id="9" name="mermaid diagram" descr="C2_W05_D01_fig_ch5_line_onl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818" y="1682496"/>
            <a:ext cx="903605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 straight line fitted to 0 and 1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the line say at 8 visits?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About 0.9, exactly 1, or more than 1?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"nearly certain"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"certain"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&gt;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"more than certain"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Oval 3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4" name="Oval 3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1.28, so bend the line into an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 stays between 0 and 1 wherever you ask it.</a:t>
            </a:r>
          </a:p>
        </p:txBody>
      </p:sp>
      <p:pic>
        <p:nvPicPr>
          <p:cNvPr id="9" name="mermaid diagram" descr="C2_W05_D01_fig_ch5_line_vs_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818" y="1682496"/>
            <a:ext cx="903605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straight line runs past 1; the logistic S stays inside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0.73 means 73 of 100 members like this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statement about a group, never a promise about one member.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4 VISITS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73 in 100 come back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3 VISITS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a coin flip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0 VISITS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4 in 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Oval 3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4" name="Oval 3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Direction is the sign; strength is exp(b)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extra visit multiplies the odds by 2.85.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4001636"/>
                <a:gridCol w="530055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Visits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Odds p / (1 - p)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Ratio to the row above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7.67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trap.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"Each visit adds 1.05 to the probability" reads a log-odds coefficient as a slope.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6" name="Oval 25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the leftovers confess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fit miss?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Where each model fails; the residual tells · also searched as: residual plot, regression diagnostics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392 cars, one straight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Real data: UCI Auto MPG, 1970s and early 1980s cars.</a:t>
            </a:r>
          </a:p>
        </p:txBody>
      </p:sp>
      <p:pic>
        <p:nvPicPr>
          <p:cNvPr id="9" name="mermaid diagram" descr="C2_W05_D01_fig_ch6_scatter_lin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434" y="1682496"/>
            <a:ext cx="816482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Miles per gallon against horsepower with a straight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shape will the residuals take?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Even scatter, a bow, or below zero everywhere?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huffle_1f5f2f56d5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Even scatter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Misses spread evenly above and below zero.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mile_489e936ff2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bow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Above at both ends, below in the middle.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arrow-down_65fcb801dc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Below everywhere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line overshoots every car.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Oval 3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0" name="Oval 3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bow, +2.7 at one end, -2.2 in the middle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residual in five horsepower bands.</a:t>
            </a:r>
          </a:p>
        </p:txBody>
      </p:sp>
      <p:pic>
        <p:nvPicPr>
          <p:cNvPr id="9" name="mermaid diagram" descr="C2_W05_D01_fig_ch6_resid_lin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611" y="1682496"/>
            <a:ext cx="862447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Residuals of the straight line bow across horsepower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Add horsepower squared, and the bow flattens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band within 1 mpg; typical miss 4.89 to 4.36.</a:t>
            </a:r>
          </a:p>
        </p:txBody>
      </p:sp>
      <p:pic>
        <p:nvPicPr>
          <p:cNvPr id="9" name="mermaid diagram" descr="C2_W05_D01_fig_ch6_resid_curv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611" y="1682496"/>
            <a:ext cx="862447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Residuals after adding horsepower squared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cure fails outside the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Past about 190 horsepower the curve predicts mileage rising.</a:t>
            </a:r>
          </a:p>
        </p:txBody>
      </p:sp>
      <p:pic>
        <p:nvPicPr>
          <p:cNvPr id="9" name="mermaid diagram" descr="C2_W05_D01_fig_ch6_extrapolat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6032" y="1682496"/>
            <a:ext cx="845963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squared-term curve turns upward beyond the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each model fails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residuals, and know the range.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74958"/>
                <a:gridCol w="4727304"/>
                <a:gridCol w="35287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Fails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see it as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straight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truth bends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bow in the residuals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 plus a squared term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leave the data's range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predictions turn the wrong way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chance rises at both ends of an 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S cannot hold both ends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any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inputs are missing or wrong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six cars with "?" horsepower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match four residual plots to their causes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392 cars. One cause is spare.</a:t>
            </a:r>
          </a:p>
        </p:txBody>
      </p:sp>
      <p:pic>
        <p:nvPicPr>
          <p:cNvPr id="9" name="mermaid diagram" descr="C2_W05_D01_fig_drill_residual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4125" y="1682496"/>
            <a:ext cx="918344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residual plots P, Q, R and S beside five causes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S34a  ·  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Whom should the bank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is worth a call?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Prediction, rule or query; Input, target, prediction time; Train, validation, test; the seed; the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41,188 calls; one in nine said 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Portuguese bank's term-deposit campaigns, 2008 to 2010.</a:t>
            </a:r>
          </a:p>
        </p:txBody>
      </p:sp>
      <p:pic>
        <p:nvPicPr>
          <p:cNvPr id="9" name="mermaid diagram" descr="C2_W05_D01_fig_case1_yes_no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3" y="1682496"/>
            <a:ext cx="1095348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41,188 calls: 36,548 no and 4,640 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bank and Kalpa ask the same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Different action, same shape.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2155"/>
                <a:gridCol w="4913851"/>
                <a:gridCol w="4774983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bank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agent's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Rs 40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y, known 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repeat within 90 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client table, morning of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customer table, day of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whom to call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whom to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13 columns known on the morning of the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about the client, six about campaigns so far.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49466"/>
                <a:gridCol w="6874452"/>
                <a:gridCol w="27070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age, job, marital, education, default, housing, loan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history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contact, month, day_of_week, campaign, previous, poutcome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other feeds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seven more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audits them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split, test sealed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Seed 42, stratified: 11.3 percent yes in every slice.</a:t>
            </a:r>
          </a:p>
        </p:txBody>
      </p:sp>
      <p:pic>
        <p:nvPicPr>
          <p:cNvPr id="9" name="mermaid diagram" descr="C2_W05_D01_fig_case1_split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427" y="1682496"/>
            <a:ext cx="1007884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 24,712, validation 8,238, test 8,238 sealed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envelope stays sealed until Friday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TEST SET. DO NOT OPEN UNTIL FRIDAY.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ail_8976924cfc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MONDAY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Sealed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8,238 rows, untouched all week.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hand_5e0f10d709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TUESDAY TO THURSDAY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Every peek points 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Choose on validation instead.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ail-open_0062a2bfce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FRIDAY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Opened once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score, into the memo.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Oval 3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0" name="Oval 3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frame it, split it, score the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TODO cells, built together; the answer sits last.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input, target, prediction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Columns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13 known that morning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y as 0 and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Split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seed 42, test sealed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Baseline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accuracy on 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Oval 35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8" name="Oval 37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40" name="Oval 39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42" name="Oval 41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44" name="Oval 43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46" name="Oval 45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8" name="Oval 47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Beat the dumbest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it beat nothing?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Train, validation, test; the seed; the baseline; Logistic regression: probability, direction, strength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calling nobody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Commit: 0.50, 0.75, 0.887 or 1.00?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coin flip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toy table's number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minus the share of yes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never wrong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0" name="Oval 29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2" name="Oval 31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4" name="Oval 33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6" name="Oval 35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8" name="Oval 37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0.8874, right 7,310 times in 8,238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bar every model this week has to clear.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0.8874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7,310 right of 8,238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0.8971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LOGISTIC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7,390 right of 8,238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under one point of accuracy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Oval 3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4" name="Oval 3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80 more right answers, drawn honestly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Side by side they look the same; the gap is what the model adds.</a:t>
            </a:r>
          </a:p>
        </p:txBody>
      </p:sp>
      <p:pic>
        <p:nvPicPr>
          <p:cNvPr id="9" name="mermaid diagram" descr="C2_W05_D01_fig_case2_edg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799616"/>
            <a:ext cx="11130991" cy="3929328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655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Baseline and model right answers, and the 80-answer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Probabilities centred on the base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0.114 against a share of yes of 0.113.</a:t>
            </a:r>
          </a:p>
        </p:txBody>
      </p:sp>
      <p:pic>
        <p:nvPicPr>
          <p:cNvPr id="9" name="mermaid diagram" descr="C2_W05_D01_fig_case2_prob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469" y="1682496"/>
            <a:ext cx="915275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Histogram of predicted probabilities of 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coefficient for the campaign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campaign: calls already made to this client this campaign.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0.93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ODDS PER EXTRA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7 percent lower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negative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DIRECTION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more calls, fewer yeses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0.9334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all 8,238 clients, a second route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For Marketing.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Calling the same client again and again goes with a falling chance of a yes.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caveat: three very different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random split mixes them, so part of the score is the calendar.</a:t>
            </a:r>
          </a:p>
        </p:txBody>
      </p:sp>
      <p:pic>
        <p:nvPicPr>
          <p:cNvPr id="9" name="mermaid diagram" descr="C2_W05_D01_fig_case2_year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9889" y="1682496"/>
            <a:ext cx="885191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Share of yes by year: 5, 19 and 52 percent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peek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peek buy?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Train, validation, test; the seed; the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junior's loop: 60 versions, one slice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Keep whichever scores best on the held-out rows.</a:t>
            </a:r>
          </a:p>
        </p:txBody>
      </p:sp>
      <p:pic>
        <p:nvPicPr>
          <p:cNvPr id="9" name="mermaid diagram" descr="3a14664ccb8542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8573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0.897 on fresh rows, the honest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extra 0.8 points were luck the loop picked.</a:t>
            </a:r>
          </a:p>
        </p:txBody>
      </p:sp>
      <p:pic>
        <p:nvPicPr>
          <p:cNvPr id="9" name="mermaid diagram" descr="C2_W05_D01_fig_case3_peek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0468" y="1682496"/>
            <a:ext cx="943075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60 versions: peeked scores against fresh-row scores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test slice is spent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Choose on validation as often as you like; score the test at the 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epeat_e3d62ee72e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Choose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As often as needed.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ock_560553748e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Score once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chosen model, with its seed.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triangle-alert_5ac49fc6ab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PEEKED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Cut a fresh slice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peeked test is validation now.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Oval 3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0" name="Oval 3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interview questions from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shape of a good answer, never a script.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453566"/>
                <a:gridCol w="476302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 opens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is a business problem an ML problem?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 now, target later, decision moves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Train, validation, test: which is spent once?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slice's job, then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logistic output of 0.71 mean?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71 in 100 similar 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start with a baseline?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score means nothing without its bar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Your model ties the baseline by Friday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clarifying question, then the offer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seats; today the senior ML engineer decides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target, the baseline, the split, the validation.</a:t>
            </a:r>
          </a:p>
        </p:txBody>
      </p:sp>
      <p:pic>
        <p:nvPicPr>
          <p:cNvPr id="9" name="mermaid diagram" descr="46ac46333dd8d5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543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one return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Prediction, rule or query: five Kalpa questions, fast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split tunes, which is spent once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 rose after peeking at test: what is now broken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baseline on a 96 to 4 flag scores what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240 per unit of recency: finish the sentence for Marketing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Week 4 Friday: the vendor curve fit two years perfectly; good forecast?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and what comes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Tonight: the practice set. Tomorrow: what accuracy hides.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check_5bfb0e0fcd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Frame, split, beat a bar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Then read both models and their residuals.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book-open_313360a54d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TONIGHT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Practice 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Ten problems, eighteen checks.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endar_52de2a0009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TOMORROW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metric trap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How many of the 928 yeses did it find?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Oval 3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0" name="Oval 3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63 /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