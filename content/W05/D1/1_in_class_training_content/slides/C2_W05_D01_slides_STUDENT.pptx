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Relationship Id="rId69" Type="http://schemas.openxmlformats.org/officeDocument/2006/relationships/slide" Target="slides/slide6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LIVE, 1 minute. Three layers, always in this order: the idea on numbers you can count, the idea on</a:t>
            </a:r>
          </a:p>
          <a:p>
            <a:r>
              <a:t>real data, the idea as a Kalpa decision. Line to land: the business question decides whether a</a:t>
            </a:r>
          </a:p>
          <a:p>
            <a:r>
              <a:t>model exists at all. Transition: where the week sits.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LIVE, 1 minute. Weeks 0 to 4 built the analyst: Python, SQL, statistics, metrics, forecasting with</a:t>
            </a:r>
          </a:p>
          <a:p>
            <a:r>
              <a:t>a naive baseline (Week 4 Friday). Week 5 turns that analyst into someone who can frame, build and</a:t>
            </a:r>
          </a:p>
          <a:p>
            <a:r>
              <a:t>defend a model. Week 6 is Build 2: the same machinery in Rohan's lending book at Kalpa Financial.</a:t>
            </a:r>
          </a:p>
          <a:p>
            <a:r>
              <a:t>ME1 runs this week as a continuous activity; say its scope aloud and nothing more. Transition: the</a:t>
            </a:r>
          </a:p>
          <a:p>
            <a:r>
              <a:t>one picture the week grows.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LIVE, 2 minutes. Draw this on the board and leave it up all week. Left of the purple line: what is</a:t>
            </a:r>
          </a:p>
          <a:p>
            <a:r>
              <a:t>known. The line itself: the moment the prediction is made. Right of it: where the answer lives.</a:t>
            </a:r>
          </a:p>
          <a:p>
            <a:r>
              <a:t>Tuesday adds the threshold, Wednesday drops a column to the wrong side, Thursday adds the error</a:t>
            </a:r>
          </a:p>
          <a:p>
            <a:r>
              <a:t>curve, Friday the drift. Nightly self-check: redraw it from memory. Question to ask: where does a</a:t>
            </a:r>
          </a:p>
          <a:p>
            <a:r>
              <a:t>customer's next order sit on this picture? Transition: today's ticket.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LIVE, 2 minutes. Real bank, real public data, CC BY 4.0. Kalpa is the decision layer: same shape,</a:t>
            </a:r>
          </a:p>
          <a:p>
            <a:r>
              <a:t>our costs. Read Kavya's line twice. Question to ask: what would the dumbest possible model do here?</a:t>
            </a:r>
          </a:p>
          <a:p>
            <a:r>
              <a:t>Take two answers, write them on the board, do not settle it; case 2 does. Transition: the six</a:t>
            </a:r>
          </a:p>
          <a:p>
            <a:r>
              <a:t>topics that get us there.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LIVE, 1 minute. Read column two once: these are the words to search later. The chapter names are</a:t>
            </a:r>
          </a:p>
          <a:p>
            <a:r>
              <a:t>the ones learners remember. Case chapters 7, 8 and 9 apply them to the bank. Break after chapter 4.</a:t>
            </a:r>
          </a:p>
          <a:p>
            <a:r>
              <a:t>Transition: how they join.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LIVE, 1 minute. Framing (1, 2, 3) comes before any fitting. Both model families rest on the split</a:t>
            </a:r>
          </a:p>
          <a:p>
            <a:r>
              <a:t>and the baseline. Chapter 6 is where both fail. Week 4 Friday's naive forecast was already a</a:t>
            </a:r>
          </a:p>
          <a:p>
            <a:r>
              <a:t>baseline; today it gets its name. Transition: chapter 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LIVE, 15 minutes for the chapter, including the six-question sort. Notebook ch01. The</a:t>
            </a:r>
          </a:p>
          <a:p>
            <a:r>
              <a:t>misconception to stage: "we have data, so it is an ML problem". Transition: six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LIVE, 3 minutes. Pairs sort the six into query, rule or prediction in two minutes, on paper.</a:t>
            </a:r>
          </a:p>
          <a:p>
            <a:r>
              <a:t>Prediction to ask for first: how many of the six need a trained model? Collect the count from five</a:t>
            </a:r>
          </a:p>
          <a:p>
            <a:r>
              <a:t>pairs. Click: notebook ch01, cell 4 prints the table. Transition: the count.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LIVE, 1 minute. Hands up per option. Most rooms pick 4 or 6. Transition: the three tests.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LIVE, 4 minutes. Walk the six through the tests aloud. 1 and 4: query. 3 and 6: rule. 2 and 5:</a:t>
            </a:r>
          </a:p>
          <a:p>
            <a:r>
              <a:t>prediction; 2 asks "will they" (classification), 5 asks "how much" (regression). Line to land: the</a:t>
            </a:r>
          </a:p>
          <a:p>
            <a:r>
              <a:t>decision makes the problem, the data only makes a dataset. Interview line [S]: when is a business</a:t>
            </a:r>
          </a:p>
          <a:p>
            <a:r>
              <a:t>problem an ML problem? Transition: when a rule stops being enough.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LIVE, 3 minutes. Google Rules of ML, rule 1: "Don't be afraid to launch a product without machine</a:t>
            </a:r>
          </a:p>
          <a:p>
            <a:r>
              <a:t>learning" (developers.google.com/machine-learning/guides/rules-of-ml, verified 28 October 2026).</a:t>
            </a:r>
          </a:p>
          <a:p>
            <a:r>
              <a:t>Uber DeepETA (uber.com/blog/deepeta-how-uber-predicts-arrival-times, verified 28 October 2026):</a:t>
            </a:r>
          </a:p>
          <a:p>
            <a:r>
              <a:t>the model predicts the residual of the routing engine, which had to be beaten first. Kalpa's Rs</a:t>
            </a:r>
          </a:p>
          <a:p>
            <a:r>
              <a:t>40 and Rs 1,200 are the row's invented numbers. Question to ask: which of Kalpa's two rules would</a:t>
            </a:r>
          </a:p>
          <a:p>
            <a:r>
              <a:t>you replace with a model first, and what would have to be true? Transition: chapter 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LIVE, 22 minutes. Notebook ch02. The misconception to stage: "use the latest table, it is the</a:t>
            </a:r>
          </a:p>
          <a:p>
            <a:r>
              <a:t>freshest". Transition: four members.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LIVE, 4 minutes. Draw the line at 30 June on the board first, then place the eight dots. The</a:t>
            </a:r>
          </a:p>
          <a:p>
            <a:r>
              <a:t>prediction time is the morning Marketing sends the nudge. The window is 90 days because that is</a:t>
            </a:r>
          </a:p>
          <a:p>
            <a:r>
              <a:t>what Marketing's budget covers. Click: notebook ch02, the timeline cell. Transition: who counts.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LIVE, 2 minutes. Pairs answer. Trap to watch: M4 bought again, so many say two. Transition: answer.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LIVE, 4 minutes. The target is a definition: "buys again" means inside these ninety days. Every</a:t>
            </a:r>
          </a:p>
          <a:p>
            <a:r>
              <a:t>input column is computed only from orders on or before the cutoff. Line to land: freeze the</a:t>
            </a:r>
          </a:p>
          <a:p>
            <a:r>
              <a:t>reference date, then build both sides from it. Transition: the trap.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LIVE, 4 minutes. The all-time count includes 20 July, the very purchase we predict. Offline the</a:t>
            </a:r>
          </a:p>
          <a:p>
            <a:r>
              <a:t>model looks brilliant; the first real morning it collapses. Fix: inputs from history only, target</a:t>
            </a:r>
          </a:p>
          <a:p>
            <a:r>
              <a:t>from the window only. This is the same question Wednesday asks of every column. Interview line [F]:</a:t>
            </a:r>
          </a:p>
          <a:p>
            <a:r>
              <a:t>where is the 90-day flag computed, and as of which date? Transition: chapter 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LIVE, 20 minutes. Notebook ch03. The misconception to stage: "the test set is just more validation</a:t>
            </a:r>
          </a:p>
          <a:p>
            <a:r>
              <a:t>data". Transition: three slices.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LIVE, 3 minutes. The school story lands with this room. Stress "sat once": a board paper seen in</a:t>
            </a:r>
          </a:p>
          <a:p>
            <a:r>
              <a:t>advance proves nothing about the student. Interview line [S]: which slice is spent once, and why?</a:t>
            </a:r>
          </a:p>
          <a:p>
            <a:r>
              <a:t>Transition: what the seed does.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LIVE, 4 minutes. Purple train, lilac validation, amber test; Y is a member who came back. Same</a:t>
            </a:r>
          </a:p>
          <a:p>
            <a:r>
              <a:t>rule, different seed, different members in each slice. Writing random_state=42 is what lets a</a:t>
            </a:r>
          </a:p>
          <a:p>
            <a:r>
              <a:t>teammate get your slices and your baseline. Stratify keeps one Y in every test of four. Click:</a:t>
            </a:r>
          </a:p>
          <a:p>
            <a:r>
              <a:t>notebook ch03, the two-seed cell. Transition: the dumbest model.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LIVE, 1 minute. Pairs commit. Transition: the answer.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LIVE, 4 minutes. A model that scores 75 here learned the share who came back and nothing else.</a:t>
            </a:r>
          </a:p>
          <a:p>
            <a:r>
              <a:t>Baselines: majority class for classification, the mean for regression, and a simple rule when one</a:t>
            </a:r>
          </a:p>
          <a:p>
            <a:r>
              <a:t>is available. Interview line [F]: why start with a baseline, and what does beating it prove?</a:t>
            </a:r>
          </a:p>
          <a:p>
            <a:r>
              <a:t>Transition: chapter 4. Break after chapter 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LIVE, 22 minutes. Notebook ch04. The misconception to stage: "the best line joins the first and</a:t>
            </a:r>
          </a:p>
          <a:p>
            <a:r>
              <a:t>last points". Transition: six members.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LIVE, 3 minutes. Everyone draws a line by eye on paper. Most join the first and last points:</a:t>
            </a:r>
          </a:p>
          <a:p>
            <a:r>
              <a:t>slope (910 minus 290) / 5 = Rs 124 per visit. Write 124 on the board. Transition: which line wins.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LIVE, 2 minutes. Prediction first. Then explain "squared": each miss drawn as a square, so big</a:t>
            </a:r>
          </a:p>
          <a:p>
            <a:r>
              <a:t>misses count far more than small ones. Transition: the answer.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LIVE, 5 minutes. Least squares: spend = Rs 180 + Rs 120 x visits. Squares: 257,200 for the mean,</a:t>
            </a:r>
          </a:p>
          <a:p>
            <a:r>
              <a:t>5,480 by eye, 5,200 for least squares. The formula, named last: slope = sum of dx times dy / sum</a:t>
            </a:r>
          </a:p>
          <a:p>
            <a:r>
              <a:t>of dx squared = 2,100 / 17.5 = 120. Click: notebook ch04, the hand calculation, then scikit-learn</a:t>
            </a:r>
          </a:p>
          <a:p>
            <a:r>
              <a:t>agreeing. Transition: reading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LIVE, 4 minutes. Say it for Marketing: "members who visit once more spend about Rs 120 more, in</a:t>
            </a:r>
          </a:p>
          <a:p>
            <a:r>
              <a:t>this data". Whether a nudge that causes a visit adds Rs 120 needs an experiment (Week 1 Thursday).</a:t>
            </a:r>
          </a:p>
          <a:p>
            <a:r>
              <a:t>Kahoot Q5 previews this sentence. Transition: the code, three lines.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LIVE, 2 minutes. Run it in ch04 on the projector. The check cell asserts hand and code agree. The</a:t>
            </a:r>
          </a:p>
          <a:p>
            <a:r>
              <a:t>bridge course met fitting; spend no more time on mechanics. Break now, 10 minutes. Transition:</a:t>
            </a:r>
          </a:p>
          <a:p>
            <a:r>
              <a:t>chapter 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LIVE, 22 minutes. Notebook ch05. The misconception to stage: "a line on 0s and 1s gives a</a:t>
            </a:r>
          </a:p>
          <a:p>
            <a:r>
              <a:t>probability". Transition: twelve members.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LIVE, 3 minutes. Dots sit at 0 or 1 only. The dashed line is ordinary least squares on them.</a:t>
            </a:r>
          </a:p>
          <a:p>
            <a:r>
              <a:t>Question to ask: what will this line predict for a member with 8 visits? Transition: commit.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LIVE, 1 minute. Hands per option. Transition: the 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LIVE, 5 minutes. The line says 1.28 at 8 visits and -0.01 at 0: impossible probabilities. Logistic</a:t>
            </a:r>
          </a:p>
          <a:p>
            <a:r>
              <a:t>regression keeps a line underneath, z = a + b x visits, and squeezes it: p = 1 / (1 + exp(-z)).</a:t>
            </a:r>
          </a:p>
          <a:p>
            <a:r>
              <a:t>Here z = -3.20 + 1.05 x visits. Click: ch05, the fit cell, model and formula agree at 0.73.</a:t>
            </a:r>
          </a:p>
          <a:p>
            <a:r>
              <a:t>Transition: what 0.73 means.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LIVE, 3 minutes. Interview line [F]: what does a logistic output of 0.71 mean? Model answer: among</a:t>
            </a:r>
          </a:p>
          <a:p>
            <a:r>
              <a:t>customers who look like this one, about 71 in 100 do the thing, if the model is calibrated; it is</a:t>
            </a:r>
          </a:p>
          <a:p>
            <a:r>
              <a:t>never "this customer is 71 percent likely" as a promise. Transition: direction and strength.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LIVE, 5 minutes. b = 1.05 is positive: more visits, more likely. exp(1.05) = 2.85: the odds</a:t>
            </a:r>
          </a:p>
          <a:p>
            <a:r>
              <a:t>multiply by 2.85 per visit, at every step. The probability step is not constant: 0.25 to 0.49,</a:t>
            </a:r>
          </a:p>
          <a:p>
            <a:r>
              <a:t>then 0.88 to 0.96. Click: ch05, the odds-ratio check. Transition: chapter 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LIVE, 18 minutes, including the four-plot match drill if time allows. Notebook ch06, the one</a:t>
            </a:r>
          </a:p>
          <a:p>
            <a:r>
              <a:t>concept chapter on real data: UCI Auto MPG. The misconception: "a line that looks close is right".</a:t>
            </a:r>
          </a:p>
          <a:p>
            <a:r>
              <a:t>Transition: 392 cars.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LIVE, 3 minutes. 398 cars; six have "?" for horsepower and are dropped, a decision recorded in the</a:t>
            </a:r>
          </a:p>
          <a:p>
            <a:r>
              <a:t>notebook. The line: mpg = 39.94 minus 0.158 x horsepower. From a distance it looks fine. Question:</a:t>
            </a:r>
          </a:p>
          <a:p>
            <a:r>
              <a:t>if the truth bends, what will the misses look like? Transition: commit.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LIVE, 1 minute. Hands per option. Transition: the answer.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LIVE, 4 minutes. Low-power cars beat the line by 2.7 mpg on average, the middle band sits 2.2 below</a:t>
            </a:r>
          </a:p>
          <a:p>
            <a:r>
              <a:t>it, the top band climbs back to +0.8. A pattern in residuals is a shape the model missed; random</a:t>
            </a:r>
          </a:p>
          <a:p>
            <a:r>
              <a:t>scatter is what a good fit leaves. Click: ch06, the bow cell. Transition: the fix.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LIVE, 3 minutes. One extra column, horsepower squared, lets the line bend. Band means now 0.44,</a:t>
            </a:r>
          </a:p>
          <a:p>
            <a:r>
              <a:t>0.05, -0.99, 0.36, 0.10. Wednesday turns this move into feature engineering; today it is only the</a:t>
            </a:r>
          </a:p>
          <a:p>
            <a:r>
              <a:t>cure the residuals asked for. Transition: where the cure fails.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LIVE, 3 minutes. At 300 hp the curve says 27.8 mpg, the line says minus 7.4. Both are nonsense,</a:t>
            </a:r>
          </a:p>
          <a:p>
            <a:r>
              <a:t>because no car in the data has 300 hp. Rule: never quote a fit outside the range it was fitted on.</a:t>
            </a:r>
          </a:p>
          <a:p>
            <a:r>
              <a:t>Transition: the failure table.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LIVE, 3 minutes. Mid-session drill if minutes allow: match four residual plots (bow, fan, bands,</a:t>
            </a:r>
          </a:p>
          <a:p>
            <a:r>
              <a:t>flat) to their diagnoses; the practice set carries the plots. Interview line: what does a pattern</a:t>
            </a:r>
          </a:p>
          <a:p>
            <a:r>
              <a:t>in the residuals tell you? Transition: the case.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LIVE, 43 minutes, including the guided notebook, 20 of them. Notebook case01, then guided.</a:t>
            </a:r>
          </a:p>
          <a:p>
            <a:r>
              <a:t>Transition: the bank.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LIVE, 4 minutes. Prediction first: what share said yes? Options half, a quarter, one in nine, one</a:t>
            </a:r>
          </a:p>
          <a:p>
            <a:r>
              <a:t>in thirty. Answer 4,640 of 41,188, 0.1127. Source: UCI Bank Marketing, Moro, Rita and Cortez,</a:t>
            </a:r>
          </a:p>
          <a:p>
            <a:r>
              <a:t>CC BY 4.0, archive.ics.uci.edu/dataset/222/bank+marketing (verified 28 October 2026). Click:</a:t>
            </a:r>
          </a:p>
          <a:p>
            <a:r>
              <a:t>case01, the count cell. Transition: the same question at Kalpa.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LIVE, 3 minutes. The three tests of chapter 1 pass for both: input now, target later, a list</a:t>
            </a:r>
          </a:p>
          <a:p>
            <a:r>
              <a:t>that changes with the score. Transition: which columns are allowed.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LIVE, 4 minutes. Do not explain the seven other columns today; if asked, point at the timeline and</a:t>
            </a:r>
          </a:p>
          <a:p>
            <a:r>
              <a:t>say Wednesday asks the prediction-time question of each one. Click: case01, the groups cell, two</a:t>
            </a:r>
          </a:p>
          <a:p>
            <a:r>
              <a:t>PASS lines. Transition: the split.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LIVE, 4 minutes. Test is cut first, 20 percent, and sealed. The rest splits 75 to 25. Show the</a:t>
            </a:r>
          </a:p>
          <a:p>
            <a:r>
              <a:t>trap from case01: five unseeded splits give held-out yes shares between about 0.114 and 0.119, so</a:t>
            </a:r>
          </a:p>
          <a:p>
            <a:r>
              <a:t>two teammates quote baselines on different rows. Transition: the envelope.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LIVE, 2 minutes. Point at the card taped to the wall since the start of the day. Line to land: the</a:t>
            </a:r>
          </a:p>
          <a:p>
            <a:r>
              <a:t>test set is spent once. Every time someone asks "can we just check it on test?" this week, point at</a:t>
            </a:r>
          </a:p>
          <a:p>
            <a:r>
              <a:t>the envelope. Transition: the guided notebook.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LIVE, 20 minutes. Notebook guided_frame_and_split. Trainer types, room mirrors. The progress cell</a:t>
            </a:r>
          </a:p>
          <a:p>
            <a:r>
              <a:t>prints TODO until each step is filled, then PASS. Expected: 4,640 ones; 24,712 / 8,238 / 8,238;</a:t>
            </a:r>
          </a:p>
          <a:p>
            <a:r>
              <a:t>baseline 0.8874. Do not open the answer cell until every pair has tried step 5. Transition: case 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LIVE, 25 minutes. Notebook case02. Transition: the baseline.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LIVE, 1 minute. Pairs commit. Transition: the answer.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LIVE, 4 minutes. By hand (share of no) and by DummyClassifier: the same 0.8874, a PASS line. The</a:t>
            </a:r>
          </a:p>
          <a:p>
            <a:r>
              <a:t>logistic model on the 13 columns: 0.8971. Line to land: one point above doing nothing. Click:</a:t>
            </a:r>
          </a:p>
          <a:p>
            <a:r>
              <a:t>case02, cells 5 and 7. Transition: the picture.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LIVE, 3 minutes. Left: full height, identical-looking bars. Right: only the gap. Tuesday asks how</a:t>
            </a:r>
          </a:p>
          <a:p>
            <a:r>
              <a:t>many of the 928 clients who said yes this model put on the call list; do not answer it today.</a:t>
            </a:r>
          </a:p>
          <a:p>
            <a:r>
              <a:t>Kahoot Q4 and the return question set it up. Transition: what the model outputs.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LIVE, 3 minutes. Most clients score low, a few high. The 0.5 line is where today's accuracy reads</a:t>
            </a:r>
          </a:p>
          <a:p>
            <a:r>
              <a:t>the probability as yes; Tuesday moves that line. Transition: one coefficient.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LIVE, 5 minutes. Coefficient -0.069 per call after undoing the scaling; exp gives 0.933. Second</a:t>
            </a:r>
          </a:p>
          <a:p>
            <a:r>
              <a:t>route: add one call to every validation client and measure the odds ratio: 0.9334 for every row,</a:t>
            </a:r>
          </a:p>
          <a:p>
            <a:r>
              <a:t>a PASS. Say "association, other columns held"; causation needs an experiment. Interview [F]:</a:t>
            </a:r>
          </a:p>
          <a:p>
            <a:r>
              <a:t>explain one coefficient in the business's words. Transition: the caveat.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LIVE, 4 minutes. 2008: 4.8 percent yes of 27,690 calls; 2009: 19.5 percent of 11,440; 2010: 52.1</a:t>
            </a:r>
          </a:p>
          <a:p>
            <a:r>
              <a:t>percent of 2,058. The month column is in our 13, so the model partly learns "when". Friday splits</a:t>
            </a:r>
          </a:p>
          <a:p>
            <a:r>
              <a:t>by time and shows what that costs. The trap sentence: "our model is 89.7 percent accurate", true</a:t>
            </a:r>
          </a:p>
          <a:p>
            <a:r>
              <a:t>and misleading. The fix: "under one point above calling nobody, on a random split". Transition:</a:t>
            </a:r>
          </a:p>
          <a:p>
            <a:r>
              <a:t>the peek.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LIVE, 15 minutes. Notebook case03. Never cut this chapter (the row says so). Transition: the loop.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LIVE, 3 minutes. The real envelope stays sealed: 2,000 validation rows play the test's part and</a:t>
            </a:r>
          </a:p>
          <a:p>
            <a:r>
              <a:t>the other 6,238 are a fresh slice. Prediction: on fresh rows, the chosen version scores 0.906</a:t>
            </a:r>
          </a:p>
          <a:p>
            <a:r>
              <a:t>again, about 0.897, about 0.887, or 0.80? Transition: the answer.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LIVE, 5 minutes. The chosen version: 0.9055 on the peeked slice (doing nothing there 0.8875), 0.8971</a:t>
            </a:r>
          </a:p>
          <a:p>
            <a:r>
              <a:t>on fresh rows (doing nothing 0.8873). Reported edge 1.80 points, real edge 0.98. Line to land: a</a:t>
            </a:r>
          </a:p>
          <a:p>
            <a:r>
              <a:t>test score used to choose anything becomes a validation score. Kahoot Q3 is this slide. Click:</a:t>
            </a:r>
          </a:p>
          <a:p>
            <a:r>
              <a:t>case03, the scatter. Transition: the rule.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LIVE, 3 minutes. Interview [S]: train, validation, test, what is each for and which is spent once?</a:t>
            </a:r>
          </a:p>
          <a:p>
            <a:r>
              <a:t>The full answer opens on the job of each slice and ends on what to do after a peek. Transition: the</a:t>
            </a:r>
          </a:p>
          <a:p>
            <a:r>
              <a:t>interview corner.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LIVE, 5 minutes. Cold-call three people for the 30-second version of one each. The [D] answer</a:t>
            </a:r>
          </a:p>
          <a:p>
            <a:r>
              <a:t>opens with a question: tie on what metric, on which slice? Then: show both numbers, ship the</a:t>
            </a:r>
          </a:p>
          <a:p>
            <a:r>
              <a:t>baseline rule with its cost, ask for time for features, name the next check date. Tags: [S] staple,</a:t>
            </a:r>
          </a:p>
          <a:p>
            <a:r>
              <a:t>[F] frequent in GCC and product screens, [D] differentiator. Transition: the seat.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LIVE, 2 minutes. Each day this week lights one seat. Today's questions are the senior ML</a:t>
            </a:r>
          </a:p>
          <a:p>
            <a:r>
              <a:t>engineer's: what exactly is predicted, from what, known when; what is the bar; which rows score</a:t>
            </a:r>
          </a:p>
          <a:p>
            <a:r>
              <a:t>it. Ask: which of today's mistakes would this seat have caught? (the all-time count, the unseeded</a:t>
            </a:r>
          </a:p>
          <a:p>
            <a:r>
              <a:t>split, the peek). Transition: the quiz.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LIVE, 8 minutes. Keys in the trainer guide. The return question first, as a warm-up. Q4's 96 to</a:t>
            </a:r>
          </a:p>
          <a:p>
            <a:r>
              <a:t>4 is the row's invented Kalpa flag: the answer is 96 percent. Transition: the close.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LIVE, 5 minutes. The take-home is mandatory; the practice lab with the TAs follows the faculty</a:t>
            </a:r>
          </a:p>
          <a:p>
            <a:r>
              <a:t>block (tentative). Return question for tomorrow: your model only tied the baseline; what do you tell</a:t>
            </a:r>
          </a:p>
          <a:p>
            <a:r>
              <a:t>Marketing? Point at the envelope once more on the way out.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2.xml"/><Relationship Id="rId5" Type="http://schemas.openxmlformats.org/officeDocument/2006/relationships/image" Target="../media/image7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6.png"/><Relationship Id="rId5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6.xml"/><Relationship Id="rId5" Type="http://schemas.openxmlformats.org/officeDocument/2006/relationships/image" Target="../media/image9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Relationship Id="rId6" Type="http://schemas.openxmlformats.org/officeDocument/2006/relationships/image" Target="../media/image14.png"/><Relationship Id="rId7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15.png"/><Relationship Id="rId5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16.png"/><Relationship Id="rId5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17.png"/><Relationship Id="rId5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18.png"/><Relationship Id="rId5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19.png"/><Relationship Id="rId5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20.png"/><Relationship Id="rId5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21.png"/><Relationship Id="rId5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22.png"/><Relationship Id="rId5" Type="http://schemas.openxmlformats.org/officeDocument/2006/relationships/image" Target="../media/image23.png"/><Relationship Id="rId6" Type="http://schemas.openxmlformats.org/officeDocument/2006/relationships/image" Target="../media/image24.png"/><Relationship Id="rId7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25.png"/><Relationship Id="rId5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26.png"/><Relationship Id="rId5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27.png"/><Relationship Id="rId5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28.png"/><Relationship Id="rId5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4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29.png"/><Relationship Id="rId5" Type="http://schemas.openxmlformats.org/officeDocument/2006/relationships/notesSlide" Target="../notesSlides/notesSlide4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0.png"/><Relationship Id="rId5" Type="http://schemas.openxmlformats.org/officeDocument/2006/relationships/image" Target="../media/image31.png"/><Relationship Id="rId6" Type="http://schemas.openxmlformats.org/officeDocument/2006/relationships/image" Target="../media/image32.png"/><Relationship Id="rId7" Type="http://schemas.openxmlformats.org/officeDocument/2006/relationships/notesSlide" Target="../notesSlides/notesSlide46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4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48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49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50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3.png"/><Relationship Id="rId5" Type="http://schemas.openxmlformats.org/officeDocument/2006/relationships/notesSlide" Target="../notesSlides/notesSlide51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4.png"/><Relationship Id="rId5" Type="http://schemas.openxmlformats.org/officeDocument/2006/relationships/notesSlide" Target="../notesSlides/notesSlide52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53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5.png"/><Relationship Id="rId5" Type="http://schemas.openxmlformats.org/officeDocument/2006/relationships/notesSlide" Target="../notesSlides/notesSlide54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55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56.xml"/><Relationship Id="rId5" Type="http://schemas.openxmlformats.org/officeDocument/2006/relationships/image" Target="../media/image37.pn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6.png"/><Relationship Id="rId5" Type="http://schemas.openxmlformats.org/officeDocument/2006/relationships/notesSlide" Target="../notesSlides/notesSlide5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8.png"/><Relationship Id="rId5" Type="http://schemas.openxmlformats.org/officeDocument/2006/relationships/image" Target="../media/image39.png"/><Relationship Id="rId6" Type="http://schemas.openxmlformats.org/officeDocument/2006/relationships/image" Target="../media/image40.png"/><Relationship Id="rId7" Type="http://schemas.openxmlformats.org/officeDocument/2006/relationships/notesSlide" Target="../notesSlides/notesSlide58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59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60.xml"/><Relationship Id="rId5" Type="http://schemas.openxmlformats.org/officeDocument/2006/relationships/image" Target="../media/image42.pn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61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41.png"/><Relationship Id="rId5" Type="http://schemas.openxmlformats.org/officeDocument/2006/relationships/image" Target="../media/image43.png"/><Relationship Id="rId6" Type="http://schemas.openxmlformats.org/officeDocument/2006/relationships/image" Target="../media/image44.png"/><Relationship Id="rId7" Type="http://schemas.openxmlformats.org/officeDocument/2006/relationships/notesSlide" Target="../notesSlides/notesSlide6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ligh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92063" y="310896"/>
            <a:ext cx="566928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550" b="1" i="0" spc="300">
                <a:solidFill>
                  <a:srgbClr val="6B6690"/>
                </a:solidFill>
                <a:latin typeface="Calibri"/>
              </a:rPr>
              <a:t>WEEK 5  ·  MONDAY  ·  REGRESSION AND CLASSIFICATION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76656"/>
            <a:ext cx="11130991" cy="512064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1A0F5C"/>
                </a:solidFill>
                <a:latin typeface="Georgia"/>
              </a:rPr>
              <a:t>Regression and classification, framed first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1243584"/>
            <a:ext cx="11130991" cy="234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B6690"/>
                </a:solidFill>
                <a:latin typeface="Calibri"/>
              </a:rPr>
              <a:t>Six topics on tiny invented tables, then one real bank's 41,188 calls.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30352" y="1956816"/>
            <a:ext cx="3588410" cy="196443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4E1F1"/>
            </a:solidFill>
          </a:ln>
          <a:effectLst>
            <a:outerShdw blurRad="76200" dist="19050" dir="5400000" algn="bl" rotWithShape="0">
              <a:srgbClr val="1A0F5C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31519" y="2157984"/>
            <a:ext cx="457200" cy="457200"/>
          </a:xfrm>
          <a:prstGeom prst="ellipse">
            <a:avLst/>
          </a:prstGeom>
          <a:solidFill>
            <a:srgbClr val="EEE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11" name="Picture 10" descr="ruler_ec66f5961a9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247" y="2267712"/>
            <a:ext cx="237744" cy="23774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31519" y="2724912"/>
            <a:ext cx="3186074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1" i="0" spc="250">
                <a:solidFill>
                  <a:srgbClr val="5B3FD6"/>
                </a:solidFill>
                <a:latin typeface="Calibri"/>
              </a:rPr>
              <a:t>THE TOPICS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19" y="2962656"/>
            <a:ext cx="3186074" cy="2677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A0F5C"/>
                </a:solidFill>
                <a:latin typeface="Calibri"/>
              </a:rPr>
              <a:t>Six chapters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19" y="3303524"/>
            <a:ext cx="3186074" cy="3997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6B6690"/>
                </a:solidFill>
                <a:latin typeface="Calibri"/>
              </a:rPr>
              <a:t>Each taught on a table small enough to count by hand, invented for teaching.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01642" y="1956816"/>
            <a:ext cx="3588410" cy="196443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4E1F1"/>
            </a:solidFill>
          </a:ln>
          <a:effectLst>
            <a:outerShdw blurRad="76200" dist="19050" dir="5400000" algn="bl" rotWithShape="0">
              <a:srgbClr val="1A0F5C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502810" y="2157984"/>
            <a:ext cx="457200" cy="457200"/>
          </a:xfrm>
          <a:prstGeom prst="ellipse">
            <a:avLst/>
          </a:prstGeom>
          <a:solidFill>
            <a:srgbClr val="EEE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17" name="Picture 16" descr="phone_7ed97f81441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12538" y="2267712"/>
            <a:ext cx="237744" cy="237744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4502810" y="2724912"/>
            <a:ext cx="3186074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1" i="0" spc="250">
                <a:solidFill>
                  <a:srgbClr val="5B3FD6"/>
                </a:solidFill>
                <a:latin typeface="Calibri"/>
              </a:rPr>
              <a:t>THE CASE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02810" y="2962656"/>
            <a:ext cx="3186074" cy="2677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A0F5C"/>
                </a:solidFill>
                <a:latin typeface="Calibri"/>
              </a:rPr>
              <a:t>A Portuguese bank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02810" y="3303524"/>
            <a:ext cx="3186074" cy="3997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6B6690"/>
                </a:solidFill>
                <a:latin typeface="Calibri"/>
              </a:rPr>
              <a:t>Whom should the campaign call? UCI Bank Marketing, real public data.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72932" y="1956816"/>
            <a:ext cx="3588410" cy="1964436"/>
          </a:xfrm>
          <a:prstGeom prst="roundRect">
            <a:avLst>
              <a:gd name="adj" fmla="val 5000"/>
            </a:avLst>
          </a:prstGeom>
          <a:gradFill rotWithShape="1">
            <a:gsLst>
              <a:gs pos="0">
                <a:srgbClr val="2C1A86"/>
              </a:gs>
              <a:gs pos="100000">
                <a:srgbClr val="1A0F5C"/>
              </a:gs>
            </a:gsLst>
            <a:lin scaled="0" ang="16200000"/>
          </a:gradFill>
          <a:ln>
            <a:noFill/>
          </a:ln>
          <a:effectLst>
            <a:outerShdw blurRad="76200" dist="19050" dir="5400000" algn="bl" rotWithShape="0">
              <a:srgbClr val="1A0F5C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274100" y="2157984"/>
            <a:ext cx="457200" cy="457200"/>
          </a:xfrm>
          <a:prstGeom prst="ellipse">
            <a:avLst/>
          </a:prstGeom>
          <a:solidFill>
            <a:srgbClr val="5B3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23" name="Picture 22" descr="store_71a4685294d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83828" y="2267712"/>
            <a:ext cx="237744" cy="237744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8274100" y="2724912"/>
            <a:ext cx="3186074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1" i="0" spc="250">
                <a:solidFill>
                  <a:srgbClr val="D9A7FF"/>
                </a:solidFill>
                <a:latin typeface="Calibri"/>
              </a:rPr>
              <a:t>THE DECISION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74100" y="2962656"/>
            <a:ext cx="3186074" cy="2677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Kalpa's Rs 40 nudge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74100" y="3303524"/>
            <a:ext cx="3186074" cy="3997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CFC9EE"/>
                </a:solidFill>
                <a:latin typeface="Calibri"/>
              </a:rPr>
              <a:t>Marketing wants a 90-day repeat score; Kavya wants the baseline first.</a:t>
            </a:r>
          </a:p>
        </p:txBody>
      </p:sp>
      <p:sp>
        <p:nvSpPr>
          <p:cNvPr id="27" name="Oval 26"/>
          <p:cNvSpPr/>
          <p:nvPr/>
        </p:nvSpPr>
        <p:spPr>
          <a:xfrm>
            <a:off x="530352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" y="6437376"/>
            <a:ext cx="1240440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Does it need a model?</a:t>
            </a:r>
          </a:p>
        </p:txBody>
      </p:sp>
      <p:sp>
        <p:nvSpPr>
          <p:cNvPr id="29" name="Oval 28"/>
          <p:cNvSpPr/>
          <p:nvPr/>
        </p:nvSpPr>
        <p:spPr>
          <a:xfrm>
            <a:off x="1971960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081688" y="6437376"/>
            <a:ext cx="1378457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What may the model read?</a:t>
            </a:r>
          </a:p>
        </p:txBody>
      </p:sp>
      <p:sp>
        <p:nvSpPr>
          <p:cNvPr id="31" name="Oval 30"/>
          <p:cNvSpPr/>
          <p:nvPr/>
        </p:nvSpPr>
        <p:spPr>
          <a:xfrm>
            <a:off x="3551586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661314" y="6437376"/>
            <a:ext cx="1286446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Which slice, and when?</a:t>
            </a:r>
          </a:p>
        </p:txBody>
      </p:sp>
      <p:sp>
        <p:nvSpPr>
          <p:cNvPr id="33" name="Oval 32"/>
          <p:cNvSpPr/>
          <p:nvPr/>
        </p:nvSpPr>
        <p:spPr>
          <a:xfrm>
            <a:off x="5039201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148929" y="6437376"/>
            <a:ext cx="1148429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Which line is best?</a:t>
            </a:r>
          </a:p>
        </p:txBody>
      </p:sp>
      <p:sp>
        <p:nvSpPr>
          <p:cNvPr id="35" name="Oval 34"/>
          <p:cNvSpPr/>
          <p:nvPr/>
        </p:nvSpPr>
        <p:spPr>
          <a:xfrm>
            <a:off x="6388798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98526" y="6437376"/>
            <a:ext cx="1194435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What does 0.73 mean?</a:t>
            </a:r>
          </a:p>
        </p:txBody>
      </p:sp>
      <p:sp>
        <p:nvSpPr>
          <p:cNvPr id="37" name="Oval 36"/>
          <p:cNvSpPr/>
          <p:nvPr/>
        </p:nvSpPr>
        <p:spPr>
          <a:xfrm>
            <a:off x="7784401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894129" y="6437376"/>
            <a:ext cx="1286446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What did the fit miss?</a:t>
            </a:r>
          </a:p>
        </p:txBody>
      </p:sp>
      <p:sp>
        <p:nvSpPr>
          <p:cNvPr id="39" name="Oval 38"/>
          <p:cNvSpPr/>
          <p:nvPr/>
        </p:nvSpPr>
        <p:spPr>
          <a:xfrm>
            <a:off x="9272015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381743" y="6437376"/>
            <a:ext cx="1194435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Who is worth a call?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667618" y="6437376"/>
            <a:ext cx="256032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…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198303" y="6437376"/>
            <a:ext cx="1463040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50" b="0" i="0">
                <a:solidFill>
                  <a:srgbClr val="6B6690"/>
                </a:solidFill>
                <a:latin typeface="Calibri"/>
              </a:rPr>
              <a:t>S1  ·  1 / 62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ligh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92063" y="310896"/>
            <a:ext cx="566928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550" b="1" i="0" spc="300">
                <a:solidFill>
                  <a:srgbClr val="6B6690"/>
                </a:solidFill>
                <a:latin typeface="Calibri"/>
              </a:rPr>
              <a:t>WEEK 5  ·  MONDAY  ·  REGRESSION AND CLASSIFICATION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76656"/>
            <a:ext cx="11130991" cy="512064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1A0F5C"/>
                </a:solidFill>
                <a:latin typeface="Georgia"/>
              </a:rPr>
              <a:t>Week 5 is where the models start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1243584"/>
            <a:ext cx="11130991" cy="234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B6690"/>
                </a:solidFill>
                <a:latin typeface="Calibri"/>
              </a:rPr>
              <a:t>The programme's twenty weeks, this week lit.</a:t>
            </a:r>
          </a:p>
        </p:txBody>
      </p:sp>
      <p:pic>
        <p:nvPicPr>
          <p:cNvPr id="9" name="mermaid diagram" descr="acf0f732ab2def2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0352" y="1956816"/>
            <a:ext cx="11130991" cy="1450581"/>
          </a:xfrm>
          <a:prstGeom prst="rect">
            <a:avLst/>
          </a:prstGeom>
        </p:spPr>
      </p:pic>
      <p:sp>
        <p:nvSpPr>
          <p:cNvPr id="10" name="Oval 9"/>
          <p:cNvSpPr/>
          <p:nvPr/>
        </p:nvSpPr>
        <p:spPr>
          <a:xfrm>
            <a:off x="530352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6437376"/>
            <a:ext cx="1240440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Does it need a model?</a:t>
            </a:r>
          </a:p>
        </p:txBody>
      </p:sp>
      <p:sp>
        <p:nvSpPr>
          <p:cNvPr id="12" name="Oval 11"/>
          <p:cNvSpPr/>
          <p:nvPr/>
        </p:nvSpPr>
        <p:spPr>
          <a:xfrm>
            <a:off x="1971960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081688" y="6437376"/>
            <a:ext cx="1378457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What may the model read?</a:t>
            </a:r>
          </a:p>
        </p:txBody>
      </p:sp>
      <p:sp>
        <p:nvSpPr>
          <p:cNvPr id="14" name="Oval 13"/>
          <p:cNvSpPr/>
          <p:nvPr/>
        </p:nvSpPr>
        <p:spPr>
          <a:xfrm>
            <a:off x="3551586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61314" y="6437376"/>
            <a:ext cx="1286446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Which slice, and when?</a:t>
            </a:r>
          </a:p>
        </p:txBody>
      </p:sp>
      <p:sp>
        <p:nvSpPr>
          <p:cNvPr id="16" name="Oval 15"/>
          <p:cNvSpPr/>
          <p:nvPr/>
        </p:nvSpPr>
        <p:spPr>
          <a:xfrm>
            <a:off x="5039201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48929" y="6437376"/>
            <a:ext cx="1148429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Which line is best?</a:t>
            </a:r>
          </a:p>
        </p:txBody>
      </p:sp>
      <p:sp>
        <p:nvSpPr>
          <p:cNvPr id="18" name="Oval 17"/>
          <p:cNvSpPr/>
          <p:nvPr/>
        </p:nvSpPr>
        <p:spPr>
          <a:xfrm>
            <a:off x="6388798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8526" y="6437376"/>
            <a:ext cx="1194435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What does 0.73 mean?</a:t>
            </a:r>
          </a:p>
        </p:txBody>
      </p:sp>
      <p:sp>
        <p:nvSpPr>
          <p:cNvPr id="20" name="Oval 19"/>
          <p:cNvSpPr/>
          <p:nvPr/>
        </p:nvSpPr>
        <p:spPr>
          <a:xfrm>
            <a:off x="7784401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894129" y="6437376"/>
            <a:ext cx="1286446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What did the fit miss?</a:t>
            </a:r>
          </a:p>
        </p:txBody>
      </p:sp>
      <p:sp>
        <p:nvSpPr>
          <p:cNvPr id="22" name="Oval 21"/>
          <p:cNvSpPr/>
          <p:nvPr/>
        </p:nvSpPr>
        <p:spPr>
          <a:xfrm>
            <a:off x="9272015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381743" y="6437376"/>
            <a:ext cx="1194435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Who is worth a call?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67618" y="6437376"/>
            <a:ext cx="256032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…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198303" y="6437376"/>
            <a:ext cx="1463040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50" b="0" i="0">
                <a:solidFill>
                  <a:srgbClr val="6B6690"/>
                </a:solidFill>
                <a:latin typeface="Calibri"/>
              </a:rPr>
              <a:t>S2  ·  2 / 62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ligh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92063" y="310896"/>
            <a:ext cx="566928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550" b="1" i="0" spc="300">
                <a:solidFill>
                  <a:srgbClr val="6B6690"/>
                </a:solidFill>
                <a:latin typeface="Calibri"/>
              </a:rPr>
              <a:t>WEEK 5  ·  MONDAY  ·  REGRESSION AND CLASSIFICATION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76656"/>
            <a:ext cx="11130991" cy="512064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1A0F5C"/>
                </a:solidFill>
                <a:latin typeface="Georgia"/>
              </a:rPr>
              <a:t>One picture grows all week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1243584"/>
            <a:ext cx="11130991" cy="234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B6690"/>
                </a:solidFill>
                <a:latin typeface="Calibri"/>
              </a:rPr>
              <a:t>Monday's state: what is known, the cut, the outcome.</a:t>
            </a:r>
          </a:p>
        </p:txBody>
      </p:sp>
      <p:pic>
        <p:nvPicPr>
          <p:cNvPr id="9" name="mermaid diagram" descr="C2_W05_D01_fig_timeline_monday_STUDE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352" y="1956816"/>
            <a:ext cx="11130991" cy="3395462"/>
          </a:xfrm>
          <a:prstGeom prst="rect">
            <a:avLst/>
          </a:prstGeom>
        </p:spPr>
      </p:pic>
      <p:sp>
        <p:nvSpPr>
          <p:cNvPr id="10" name="picture caption"/>
          <p:cNvSpPr txBox="1"/>
          <p:nvPr/>
        </p:nvSpPr>
        <p:spPr>
          <a:xfrm>
            <a:off x="530352" y="5388854"/>
            <a:ext cx="11130991" cy="3169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6B6690"/>
                </a:solidFill>
                <a:latin typeface="Calibri"/>
              </a:rPr>
              <a:t>The week's timeline: past rows, the prediction moment, the outcome window</a:t>
            </a:r>
          </a:p>
        </p:txBody>
      </p:sp>
      <p:sp>
        <p:nvSpPr>
          <p:cNvPr id="11" name="Oval 10"/>
          <p:cNvSpPr/>
          <p:nvPr/>
        </p:nvSpPr>
        <p:spPr>
          <a:xfrm>
            <a:off x="530352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6437376"/>
            <a:ext cx="1240440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Does it need a model?</a:t>
            </a:r>
          </a:p>
        </p:txBody>
      </p:sp>
      <p:sp>
        <p:nvSpPr>
          <p:cNvPr id="13" name="Oval 12"/>
          <p:cNvSpPr/>
          <p:nvPr/>
        </p:nvSpPr>
        <p:spPr>
          <a:xfrm>
            <a:off x="1971960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081688" y="6437376"/>
            <a:ext cx="1378457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What may the model read?</a:t>
            </a:r>
          </a:p>
        </p:txBody>
      </p:sp>
      <p:sp>
        <p:nvSpPr>
          <p:cNvPr id="15" name="Oval 14"/>
          <p:cNvSpPr/>
          <p:nvPr/>
        </p:nvSpPr>
        <p:spPr>
          <a:xfrm>
            <a:off x="3551586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61314" y="6437376"/>
            <a:ext cx="1286446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Which slice, and when?</a:t>
            </a:r>
          </a:p>
        </p:txBody>
      </p:sp>
      <p:sp>
        <p:nvSpPr>
          <p:cNvPr id="17" name="Oval 16"/>
          <p:cNvSpPr/>
          <p:nvPr/>
        </p:nvSpPr>
        <p:spPr>
          <a:xfrm>
            <a:off x="5039201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148929" y="6437376"/>
            <a:ext cx="1148429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Which line is best?</a:t>
            </a:r>
          </a:p>
        </p:txBody>
      </p:sp>
      <p:sp>
        <p:nvSpPr>
          <p:cNvPr id="19" name="Oval 18"/>
          <p:cNvSpPr/>
          <p:nvPr/>
        </p:nvSpPr>
        <p:spPr>
          <a:xfrm>
            <a:off x="6388798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98526" y="6437376"/>
            <a:ext cx="1194435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What does 0.73 mean?</a:t>
            </a:r>
          </a:p>
        </p:txBody>
      </p:sp>
      <p:sp>
        <p:nvSpPr>
          <p:cNvPr id="21" name="Oval 20"/>
          <p:cNvSpPr/>
          <p:nvPr/>
        </p:nvSpPr>
        <p:spPr>
          <a:xfrm>
            <a:off x="7784401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894129" y="6437376"/>
            <a:ext cx="1286446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What did the fit miss?</a:t>
            </a:r>
          </a:p>
        </p:txBody>
      </p:sp>
      <p:sp>
        <p:nvSpPr>
          <p:cNvPr id="23" name="Oval 22"/>
          <p:cNvSpPr/>
          <p:nvPr/>
        </p:nvSpPr>
        <p:spPr>
          <a:xfrm>
            <a:off x="9272015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381743" y="6437376"/>
            <a:ext cx="1194435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Who is worth a call?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67618" y="6437376"/>
            <a:ext cx="256032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…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198303" y="6437376"/>
            <a:ext cx="1463040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50" b="0" i="0">
                <a:solidFill>
                  <a:srgbClr val="6B6690"/>
                </a:solidFill>
                <a:latin typeface="Calibri"/>
              </a:rPr>
              <a:t>S3  ·  3 / 62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ligh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92063" y="310896"/>
            <a:ext cx="566928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550" b="1" i="0" spc="300">
                <a:solidFill>
                  <a:srgbClr val="6B6690"/>
                </a:solidFill>
                <a:latin typeface="Calibri"/>
              </a:rPr>
              <a:t>WEEK 5  ·  MONDAY  ·  REGRESSION AND CLASSIFICATION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76656"/>
            <a:ext cx="11130991" cy="512064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1A0F5C"/>
                </a:solidFill>
                <a:latin typeface="Georgia"/>
              </a:rPr>
              <a:t>The ticket: whom the bank should call first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1243584"/>
            <a:ext cx="11130991" cy="234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B6690"/>
                </a:solidFill>
                <a:latin typeface="Calibri"/>
              </a:rPr>
              <a:t>One slide, the destination the six topics lead to.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30352" y="1956816"/>
          <a:ext cx="11130990" cy="2218944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2435886"/>
                <a:gridCol w="8695104"/>
              </a:tblGrid>
              <a:tr h="369824">
                <a:tc>
                  <a:txBody>
                    <a:bodyPr/>
                    <a:lstStyle/>
                    <a:p>
                      <a:r>
                        <a:rPr sz="1450" b="1" i="0">
                          <a:solidFill>
                            <a:srgbClr val="FFFFFF"/>
                          </a:solidFill>
                          <a:latin typeface="Calibri"/>
                        </a:rPr>
                        <a:t>On the ticket</a:t>
                      </a:r>
                    </a:p>
                  </a:txBody>
                  <a:tcPr marL="101600" marR="101600" marT="38100" marB="38100" anchor="ctr">
                    <a:solidFill>
                      <a:srgbClr val="1A0F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50" b="1" i="0">
                          <a:solidFill>
                            <a:srgbClr val="FFFFFF"/>
                          </a:solidFill>
                          <a:latin typeface="Calibri"/>
                        </a:rPr>
                        <a:t>What it says</a:t>
                      </a:r>
                    </a:p>
                  </a:txBody>
                  <a:tcPr marL="101600" marR="101600" marT="38100" marB="38100" anchor="ctr">
                    <a:solidFill>
                      <a:srgbClr val="1A0F5C"/>
                    </a:solidFill>
                  </a:tcPr>
                </a:tc>
              </a:tr>
              <a:tr h="369824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Company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a Portuguese retail bank, phone campaigns for a term deposit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</a:tr>
              <a:tr h="369824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Data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UCI Bank Marketing: 41,188 calls, May 2008 to November 2010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</a:tr>
              <a:tr h="369824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The ask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rank clients by chance of a yes, so agents call the best first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</a:tr>
              <a:tr h="369824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Kalpa's twin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Marketing's Rs 40 nudge: who buys again within 90 days?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</a:tr>
              <a:tr h="369824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The condition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Kavya: "show me the dumbest possible baseline first"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Oval 9"/>
          <p:cNvSpPr/>
          <p:nvPr/>
        </p:nvSpPr>
        <p:spPr>
          <a:xfrm>
            <a:off x="530352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6437376"/>
            <a:ext cx="1240440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Does it need a model?</a:t>
            </a:r>
          </a:p>
        </p:txBody>
      </p:sp>
      <p:sp>
        <p:nvSpPr>
          <p:cNvPr id="12" name="Oval 11"/>
          <p:cNvSpPr/>
          <p:nvPr/>
        </p:nvSpPr>
        <p:spPr>
          <a:xfrm>
            <a:off x="1971960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081688" y="6437376"/>
            <a:ext cx="1378457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What may the model read?</a:t>
            </a:r>
          </a:p>
        </p:txBody>
      </p:sp>
      <p:sp>
        <p:nvSpPr>
          <p:cNvPr id="14" name="Oval 13"/>
          <p:cNvSpPr/>
          <p:nvPr/>
        </p:nvSpPr>
        <p:spPr>
          <a:xfrm>
            <a:off x="3551586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61314" y="6437376"/>
            <a:ext cx="1286446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Which slice, and when?</a:t>
            </a:r>
          </a:p>
        </p:txBody>
      </p:sp>
      <p:sp>
        <p:nvSpPr>
          <p:cNvPr id="16" name="Oval 15"/>
          <p:cNvSpPr/>
          <p:nvPr/>
        </p:nvSpPr>
        <p:spPr>
          <a:xfrm>
            <a:off x="5039201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48929" y="6437376"/>
            <a:ext cx="1148429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Which line is best?</a:t>
            </a:r>
          </a:p>
        </p:txBody>
      </p:sp>
      <p:sp>
        <p:nvSpPr>
          <p:cNvPr id="18" name="Oval 17"/>
          <p:cNvSpPr/>
          <p:nvPr/>
        </p:nvSpPr>
        <p:spPr>
          <a:xfrm>
            <a:off x="6388798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8526" y="6437376"/>
            <a:ext cx="1194435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What does 0.73 mean?</a:t>
            </a:r>
          </a:p>
        </p:txBody>
      </p:sp>
      <p:sp>
        <p:nvSpPr>
          <p:cNvPr id="20" name="Oval 19"/>
          <p:cNvSpPr/>
          <p:nvPr/>
        </p:nvSpPr>
        <p:spPr>
          <a:xfrm>
            <a:off x="7784401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894129" y="6437376"/>
            <a:ext cx="1286446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What did the fit miss?</a:t>
            </a:r>
          </a:p>
        </p:txBody>
      </p:sp>
      <p:sp>
        <p:nvSpPr>
          <p:cNvPr id="22" name="Oval 21"/>
          <p:cNvSpPr/>
          <p:nvPr/>
        </p:nvSpPr>
        <p:spPr>
          <a:xfrm>
            <a:off x="9272015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381743" y="6437376"/>
            <a:ext cx="1194435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Who is worth a call?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67618" y="6437376"/>
            <a:ext cx="256032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…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198303" y="6437376"/>
            <a:ext cx="1463040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50" b="0" i="0">
                <a:solidFill>
                  <a:srgbClr val="6B6690"/>
                </a:solidFill>
                <a:latin typeface="Calibri"/>
              </a:rPr>
              <a:t>S4  ·  4 / 62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ligh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92063" y="310896"/>
            <a:ext cx="566928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550" b="1" i="0" spc="300">
                <a:solidFill>
                  <a:srgbClr val="6B6690"/>
                </a:solidFill>
                <a:latin typeface="Calibri"/>
              </a:rPr>
              <a:t>WEEK 5  ·  MONDAY  ·  REGRESSION AND CLASSIFICATION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76656"/>
            <a:ext cx="11130991" cy="512064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1A0F5C"/>
                </a:solidFill>
                <a:latin typeface="Georgia"/>
              </a:rPr>
              <a:t>Six topics, six chapters, then the 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1243584"/>
            <a:ext cx="11130991" cy="234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B6690"/>
                </a:solidFill>
                <a:latin typeface="Calibri"/>
              </a:rPr>
              <a:t>The curriculum's words, in its order.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30352" y="1956816"/>
          <a:ext cx="11130990" cy="2554224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914400"/>
                <a:gridCol w="5804392"/>
                <a:gridCol w="2531941"/>
                <a:gridCol w="914400"/>
                <a:gridCol w="965857"/>
              </a:tblGrid>
              <a:tr h="335280">
                <a:tc>
                  <a:txBody>
                    <a:bodyPr/>
                    <a:lstStyle/>
                    <a:p>
                      <a:r>
                        <a:rPr sz="1250" b="1" i="0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 marL="101600" marR="101600" marT="38100" marB="38100" anchor="ctr">
                    <a:solidFill>
                      <a:srgbClr val="1A0F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 i="0">
                          <a:solidFill>
                            <a:srgbClr val="FFFFFF"/>
                          </a:solidFill>
                          <a:latin typeface="Calibri"/>
                        </a:rPr>
                        <a:t>The topic, in the curriculum's words</a:t>
                      </a:r>
                    </a:p>
                  </a:txBody>
                  <a:tcPr marL="101600" marR="101600" marT="38100" marB="38100" anchor="ctr">
                    <a:solidFill>
                      <a:srgbClr val="1A0F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 i="0">
                          <a:solidFill>
                            <a:srgbClr val="FFFFFF"/>
                          </a:solidFill>
                          <a:latin typeface="Calibri"/>
                        </a:rPr>
                        <a:t>Chapter</a:t>
                      </a:r>
                    </a:p>
                  </a:txBody>
                  <a:tcPr marL="101600" marR="101600" marT="38100" marB="38100" anchor="ctr">
                    <a:solidFill>
                      <a:srgbClr val="1A0F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 i="0">
                          <a:solidFill>
                            <a:srgbClr val="FFFFFF"/>
                          </a:solidFill>
                          <a:latin typeface="Calibri"/>
                        </a:rPr>
                        <a:t>Min</a:t>
                      </a:r>
                    </a:p>
                  </a:txBody>
                  <a:tcPr marL="101600" marR="101600" marT="38100" marB="38100" anchor="ctr">
                    <a:solidFill>
                      <a:srgbClr val="1A0F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 i="0">
                          <a:solidFill>
                            <a:srgbClr val="FFFFFF"/>
                          </a:solidFill>
                          <a:latin typeface="Calibri"/>
                        </a:rPr>
                        <a:t>Notebook</a:t>
                      </a:r>
                    </a:p>
                  </a:txBody>
                  <a:tcPr marL="101600" marR="101600" marT="38100" marB="38100" anchor="ctr">
                    <a:solidFill>
                      <a:srgbClr val="1A0F5C"/>
                    </a:solidFill>
                  </a:tcPr>
                </a:tc>
              </a:tr>
              <a:tr h="542544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440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440"/>
                          </a:solidFill>
                          <a:latin typeface="Calibri"/>
                        </a:rPr>
                        <a:t>Prediction, rule or query: when a business question is a modelling problem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440"/>
                          </a:solidFill>
                          <a:latin typeface="Calibri"/>
                        </a:rPr>
                        <a:t>Is this an ML problem at all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440"/>
                          </a:solidFill>
                          <a:latin typeface="Calibri"/>
                        </a:rPr>
                        <a:t>15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440"/>
                          </a:solidFill>
                          <a:latin typeface="Calibri"/>
                        </a:rPr>
                        <a:t>ch01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440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440"/>
                          </a:solidFill>
                          <a:latin typeface="Calibri"/>
                        </a:rPr>
                        <a:t>Input, target, prediction time; the repeat-purchase target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440"/>
                          </a:solidFill>
                          <a:latin typeface="Calibri"/>
                        </a:rPr>
                        <a:t>What do we know, and when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440"/>
                          </a:solidFill>
                          <a:latin typeface="Calibri"/>
                        </a:rPr>
                        <a:t>22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440"/>
                          </a:solidFill>
                          <a:latin typeface="Calibri"/>
                        </a:rPr>
                        <a:t>ch02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440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440"/>
                          </a:solidFill>
                          <a:latin typeface="Calibri"/>
                        </a:rPr>
                        <a:t>Train, validation, test; the seed; the baseline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440"/>
                          </a:solidFill>
                          <a:latin typeface="Calibri"/>
                        </a:rPr>
                        <a:t>Don't peek at the exam paper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440"/>
                          </a:solidFill>
                          <a:latin typeface="Calibri"/>
                        </a:rPr>
                        <a:t>20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440"/>
                          </a:solidFill>
                          <a:latin typeface="Calibri"/>
                        </a:rPr>
                        <a:t>ch03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440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440"/>
                          </a:solidFill>
                          <a:latin typeface="Calibri"/>
                        </a:rPr>
                        <a:t>Linear regression: fit, coefficients in units, residuals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440"/>
                          </a:solidFill>
                          <a:latin typeface="Calibri"/>
                        </a:rPr>
                        <a:t>Drawing the best line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440"/>
                          </a:solidFill>
                          <a:latin typeface="Calibri"/>
                        </a:rPr>
                        <a:t>22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440"/>
                          </a:solidFill>
                          <a:latin typeface="Calibri"/>
                        </a:rPr>
                        <a:t>ch04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440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440"/>
                          </a:solidFill>
                          <a:latin typeface="Calibri"/>
                        </a:rPr>
                        <a:t>Logistic regression: probability, direction, strength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440"/>
                          </a:solidFill>
                          <a:latin typeface="Calibri"/>
                        </a:rPr>
                        <a:t>From a line to a probability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440"/>
                          </a:solidFill>
                          <a:latin typeface="Calibri"/>
                        </a:rPr>
                        <a:t>22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440"/>
                          </a:solidFill>
                          <a:latin typeface="Calibri"/>
                        </a:rPr>
                        <a:t>ch05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440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440"/>
                          </a:solidFill>
                          <a:latin typeface="Calibri"/>
                        </a:rPr>
                        <a:t>Where each model fails; the residual tells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440"/>
                          </a:solidFill>
                          <a:latin typeface="Calibri"/>
                        </a:rPr>
                        <a:t>What the leftovers confess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440"/>
                          </a:solidFill>
                          <a:latin typeface="Calibri"/>
                        </a:rPr>
                        <a:t>18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440"/>
                          </a:solidFill>
                          <a:latin typeface="Calibri"/>
                        </a:rPr>
                        <a:t>ch06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</a:tr>
            </a:tbl>
          </a:graphicData>
        </a:graphic>
      </p:graphicFrame>
      <p:sp>
        <p:nvSpPr>
          <p:cNvPr id="10" name="Oval 9"/>
          <p:cNvSpPr/>
          <p:nvPr/>
        </p:nvSpPr>
        <p:spPr>
          <a:xfrm>
            <a:off x="530352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6437376"/>
            <a:ext cx="1240440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Does it need a model?</a:t>
            </a:r>
          </a:p>
        </p:txBody>
      </p:sp>
      <p:sp>
        <p:nvSpPr>
          <p:cNvPr id="12" name="Oval 11"/>
          <p:cNvSpPr/>
          <p:nvPr/>
        </p:nvSpPr>
        <p:spPr>
          <a:xfrm>
            <a:off x="1971960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081688" y="6437376"/>
            <a:ext cx="1378457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What may the model read?</a:t>
            </a:r>
          </a:p>
        </p:txBody>
      </p:sp>
      <p:sp>
        <p:nvSpPr>
          <p:cNvPr id="14" name="Oval 13"/>
          <p:cNvSpPr/>
          <p:nvPr/>
        </p:nvSpPr>
        <p:spPr>
          <a:xfrm>
            <a:off x="3551586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61314" y="6437376"/>
            <a:ext cx="1286446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Which slice, and when?</a:t>
            </a:r>
          </a:p>
        </p:txBody>
      </p:sp>
      <p:sp>
        <p:nvSpPr>
          <p:cNvPr id="16" name="Oval 15"/>
          <p:cNvSpPr/>
          <p:nvPr/>
        </p:nvSpPr>
        <p:spPr>
          <a:xfrm>
            <a:off x="5039201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48929" y="6437376"/>
            <a:ext cx="1148429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Which line is best?</a:t>
            </a:r>
          </a:p>
        </p:txBody>
      </p:sp>
      <p:sp>
        <p:nvSpPr>
          <p:cNvPr id="18" name="Oval 17"/>
          <p:cNvSpPr/>
          <p:nvPr/>
        </p:nvSpPr>
        <p:spPr>
          <a:xfrm>
            <a:off x="6388798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8526" y="6437376"/>
            <a:ext cx="1194435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What does 0.73 mean?</a:t>
            </a:r>
          </a:p>
        </p:txBody>
      </p:sp>
      <p:sp>
        <p:nvSpPr>
          <p:cNvPr id="20" name="Oval 19"/>
          <p:cNvSpPr/>
          <p:nvPr/>
        </p:nvSpPr>
        <p:spPr>
          <a:xfrm>
            <a:off x="7784401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894129" y="6437376"/>
            <a:ext cx="1286446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What did the fit miss?</a:t>
            </a:r>
          </a:p>
        </p:txBody>
      </p:sp>
      <p:sp>
        <p:nvSpPr>
          <p:cNvPr id="22" name="Oval 21"/>
          <p:cNvSpPr/>
          <p:nvPr/>
        </p:nvSpPr>
        <p:spPr>
          <a:xfrm>
            <a:off x="9272015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381743" y="6437376"/>
            <a:ext cx="1194435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Who is worth a call?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67618" y="6437376"/>
            <a:ext cx="256032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…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198303" y="6437376"/>
            <a:ext cx="1463040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50" b="0" i="0">
                <a:solidFill>
                  <a:srgbClr val="6B6690"/>
                </a:solidFill>
                <a:latin typeface="Calibri"/>
              </a:rPr>
              <a:t>S5  ·  5 / 62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ligh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92063" y="310896"/>
            <a:ext cx="566928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550" b="1" i="0" spc="300">
                <a:solidFill>
                  <a:srgbClr val="6B6690"/>
                </a:solidFill>
                <a:latin typeface="Calibri"/>
              </a:rPr>
              <a:t>WEEK 5  ·  MONDAY  ·  REGRESSION AND CLASSIFICATION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76656"/>
            <a:ext cx="11130991" cy="512064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1A0F5C"/>
                </a:solidFill>
                <a:latin typeface="Georgia"/>
              </a:rPr>
              <a:t>How the six topics join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1243584"/>
            <a:ext cx="11130991" cy="234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B6690"/>
                </a:solidFill>
                <a:latin typeface="Calibri"/>
              </a:rPr>
              <a:t>What each rests on, what it feeds.</a:t>
            </a:r>
          </a:p>
        </p:txBody>
      </p:sp>
      <p:pic>
        <p:nvPicPr>
          <p:cNvPr id="9" name="mermaid diagram" descr="c7cdab33a8610bab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75621" y="1682496"/>
            <a:ext cx="6840452" cy="4517136"/>
          </a:xfrm>
          <a:prstGeom prst="rect">
            <a:avLst/>
          </a:prstGeom>
        </p:spPr>
      </p:pic>
      <p:sp>
        <p:nvSpPr>
          <p:cNvPr id="10" name="Oval 9"/>
          <p:cNvSpPr/>
          <p:nvPr/>
        </p:nvSpPr>
        <p:spPr>
          <a:xfrm>
            <a:off x="530352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6437376"/>
            <a:ext cx="1240440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Does it need a model?</a:t>
            </a:r>
          </a:p>
        </p:txBody>
      </p:sp>
      <p:sp>
        <p:nvSpPr>
          <p:cNvPr id="12" name="Oval 11"/>
          <p:cNvSpPr/>
          <p:nvPr/>
        </p:nvSpPr>
        <p:spPr>
          <a:xfrm>
            <a:off x="1971960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081688" y="6437376"/>
            <a:ext cx="1378457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What may the model read?</a:t>
            </a:r>
          </a:p>
        </p:txBody>
      </p:sp>
      <p:sp>
        <p:nvSpPr>
          <p:cNvPr id="14" name="Oval 13"/>
          <p:cNvSpPr/>
          <p:nvPr/>
        </p:nvSpPr>
        <p:spPr>
          <a:xfrm>
            <a:off x="3551586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61314" y="6437376"/>
            <a:ext cx="1286446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Which slice, and when?</a:t>
            </a:r>
          </a:p>
        </p:txBody>
      </p:sp>
      <p:sp>
        <p:nvSpPr>
          <p:cNvPr id="16" name="Oval 15"/>
          <p:cNvSpPr/>
          <p:nvPr/>
        </p:nvSpPr>
        <p:spPr>
          <a:xfrm>
            <a:off x="5039201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48929" y="6437376"/>
            <a:ext cx="1148429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Which line is best?</a:t>
            </a:r>
          </a:p>
        </p:txBody>
      </p:sp>
      <p:sp>
        <p:nvSpPr>
          <p:cNvPr id="18" name="Oval 17"/>
          <p:cNvSpPr/>
          <p:nvPr/>
        </p:nvSpPr>
        <p:spPr>
          <a:xfrm>
            <a:off x="6388798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8526" y="6437376"/>
            <a:ext cx="1194435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What does 0.73 mean?</a:t>
            </a:r>
          </a:p>
        </p:txBody>
      </p:sp>
      <p:sp>
        <p:nvSpPr>
          <p:cNvPr id="20" name="Oval 19"/>
          <p:cNvSpPr/>
          <p:nvPr/>
        </p:nvSpPr>
        <p:spPr>
          <a:xfrm>
            <a:off x="7784401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894129" y="6437376"/>
            <a:ext cx="1286446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What did the fit miss?</a:t>
            </a:r>
          </a:p>
        </p:txBody>
      </p:sp>
      <p:sp>
        <p:nvSpPr>
          <p:cNvPr id="22" name="Oval 21"/>
          <p:cNvSpPr/>
          <p:nvPr/>
        </p:nvSpPr>
        <p:spPr>
          <a:xfrm>
            <a:off x="9272015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381743" y="6437376"/>
            <a:ext cx="1194435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Who is worth a call?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67618" y="6437376"/>
            <a:ext cx="256032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…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198303" y="6437376"/>
            <a:ext cx="1463040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50" b="0" i="0">
                <a:solidFill>
                  <a:srgbClr val="6B6690"/>
                </a:solidFill>
                <a:latin typeface="Calibri"/>
              </a:rPr>
              <a:t>S6  ·  6 / 62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dar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92063" y="310896"/>
            <a:ext cx="566928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550" b="1" i="0" spc="300">
                <a:solidFill>
                  <a:srgbClr val="CFC9EE"/>
                </a:solidFill>
                <a:latin typeface="Calibri"/>
              </a:rPr>
              <a:t>PG DIPLOMA IN AI-ML AND AGENTIC AI ENGINEERING  ·  COHORT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19" y="1143000"/>
            <a:ext cx="36576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600" b="0" i="0">
                <a:solidFill>
                  <a:srgbClr val="D9A7FF"/>
                </a:solidFill>
                <a:latin typeface="Georgia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19" y="2542032"/>
            <a:ext cx="10673791" cy="366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D9A7FF"/>
                </a:solidFill>
                <a:latin typeface="Calibri"/>
              </a:rPr>
              <a:t>Is this an ML problem at all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19" y="3017520"/>
            <a:ext cx="10673791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0" i="0">
                <a:solidFill>
                  <a:srgbClr val="FFFFFF"/>
                </a:solidFill>
                <a:latin typeface="Georgia"/>
              </a:rPr>
              <a:t>Does it need a model?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19" y="3931920"/>
            <a:ext cx="9509760" cy="5318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E4E1F1"/>
                </a:solidFill>
                <a:latin typeface="Calibri"/>
              </a:rPr>
              <a:t>Prediction, rule or query: when a business question is a modelling problem · also searched as: machine learning problem framing, when to use ML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19" y="5074920"/>
            <a:ext cx="1099768" cy="310896"/>
          </a:xfrm>
          <a:prstGeom prst="roundRect">
            <a:avLst>
              <a:gd name="adj" fmla="val 50000"/>
            </a:avLst>
          </a:prstGeom>
          <a:solidFill>
            <a:srgbClr val="D9A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400" rIns="25400" tIns="0" bIns="0"/>
          <a:lstStyle/>
          <a:p>
            <a:pPr algn="ctr"/>
            <a:r>
              <a:rPr sz="850" b="1">
                <a:solidFill>
                  <a:srgbClr val="1A0F5C"/>
                </a:solidFill>
                <a:latin typeface="Calibri"/>
              </a:rPr>
              <a:t>Does it need a model?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941016" y="5074920"/>
            <a:ext cx="1221169" cy="310896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CFC9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400" rIns="25400" tIns="0" bIns="0"/>
          <a:lstStyle/>
          <a:p>
            <a:pPr algn="ctr"/>
            <a:r>
              <a:rPr sz="850" b="0">
                <a:solidFill>
                  <a:srgbClr val="CFC9EE"/>
                </a:solidFill>
                <a:latin typeface="Calibri"/>
              </a:rPr>
              <a:t>What may the model read?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71914" y="5074920"/>
            <a:ext cx="1140235" cy="310896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CFC9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400" rIns="25400" tIns="0" bIns="0"/>
          <a:lstStyle/>
          <a:p>
            <a:pPr algn="ctr"/>
            <a:r>
              <a:rPr sz="850" b="0">
                <a:solidFill>
                  <a:srgbClr val="CFC9EE"/>
                </a:solidFill>
                <a:latin typeface="Calibri"/>
              </a:rPr>
              <a:t>Which slice, and when?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21877" y="5074920"/>
            <a:ext cx="1018833" cy="310896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CFC9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400" rIns="25400" tIns="0" bIns="0"/>
          <a:lstStyle/>
          <a:p>
            <a:pPr algn="ctr"/>
            <a:r>
              <a:rPr sz="850" b="0">
                <a:solidFill>
                  <a:srgbClr val="CFC9EE"/>
                </a:solidFill>
                <a:latin typeface="Calibri"/>
              </a:rPr>
              <a:t>Which line is best?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50438" y="5074920"/>
            <a:ext cx="1059300" cy="310896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CFC9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400" rIns="25400" tIns="0" bIns="0"/>
          <a:lstStyle/>
          <a:p>
            <a:pPr algn="ctr"/>
            <a:r>
              <a:rPr sz="850" b="0">
                <a:solidFill>
                  <a:srgbClr val="CFC9EE"/>
                </a:solidFill>
                <a:latin typeface="Calibri"/>
              </a:rPr>
              <a:t>What does 0.73 mean?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19467" y="5074920"/>
            <a:ext cx="1140235" cy="310896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CFC9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400" rIns="25400" tIns="0" bIns="0"/>
          <a:lstStyle/>
          <a:p>
            <a:pPr algn="ctr"/>
            <a:r>
              <a:rPr sz="850" b="0">
                <a:solidFill>
                  <a:srgbClr val="CFC9EE"/>
                </a:solidFill>
                <a:latin typeface="Calibri"/>
              </a:rPr>
              <a:t>What did the fit miss?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69430" y="5074920"/>
            <a:ext cx="1059300" cy="310896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CFC9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400" rIns="25400" tIns="0" bIns="0"/>
          <a:lstStyle/>
          <a:p>
            <a:pPr algn="ctr"/>
            <a:r>
              <a:rPr sz="850" b="0">
                <a:solidFill>
                  <a:srgbClr val="CFC9EE"/>
                </a:solidFill>
                <a:latin typeface="Calibri"/>
              </a:rPr>
              <a:t>Who is worth a call?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238459" y="5074920"/>
            <a:ext cx="1099768" cy="310896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CFC9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400" rIns="25400" tIns="0" bIns="0"/>
          <a:lstStyle/>
          <a:p>
            <a:pPr algn="ctr"/>
            <a:r>
              <a:rPr sz="850" b="0">
                <a:solidFill>
                  <a:srgbClr val="CFC9EE"/>
                </a:solidFill>
                <a:latin typeface="Calibri"/>
              </a:rPr>
              <a:t>Does it beat nothing?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47955" y="5074920"/>
            <a:ext cx="1140235" cy="310896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CFC9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400" rIns="25400" tIns="0" bIns="0"/>
          <a:lstStyle/>
          <a:p>
            <a:pPr algn="ctr"/>
            <a:r>
              <a:rPr sz="850" b="0">
                <a:solidFill>
                  <a:srgbClr val="CFC9EE"/>
                </a:solidFill>
                <a:latin typeface="Calibri"/>
              </a:rPr>
              <a:t>What did the peek buy?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0352" y="6437376"/>
            <a:ext cx="9667951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 i="0">
                <a:solidFill>
                  <a:srgbClr val="CFC9EE"/>
                </a:solidFill>
                <a:latin typeface="Calibri"/>
              </a:rPr>
              <a:t>Week 5 Monday: regression and classification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198303" y="6437376"/>
            <a:ext cx="1463040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50" b="0" i="0">
                <a:solidFill>
                  <a:srgbClr val="CFC9EE"/>
                </a:solidFill>
                <a:latin typeface="Calibri"/>
              </a:rPr>
              <a:t>7 / 62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ligh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92063" y="310896"/>
            <a:ext cx="566928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550" b="1" i="0" spc="300">
                <a:solidFill>
                  <a:srgbClr val="6B6690"/>
                </a:solidFill>
                <a:latin typeface="Calibri"/>
              </a:rPr>
              <a:t>WEEK 5  ·  MONDAY  ·  REGRESSION AND CLASSIFICATION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76656"/>
            <a:ext cx="11130991" cy="512064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1A0F5C"/>
                </a:solidFill>
                <a:latin typeface="Georgia"/>
              </a:rPr>
              <a:t>Six questions Marketing brought, invented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1243584"/>
            <a:ext cx="11130991" cy="234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B6690"/>
                </a:solidFill>
                <a:latin typeface="Calibri"/>
              </a:rPr>
              <a:t>Each one arrived with the word "AI" attached.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30352" y="1956816"/>
          <a:ext cx="11130991" cy="2588768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914400"/>
                <a:gridCol w="10216591"/>
              </a:tblGrid>
              <a:tr h="369824">
                <a:tc>
                  <a:txBody>
                    <a:bodyPr/>
                    <a:lstStyle/>
                    <a:p>
                      <a:r>
                        <a:rPr sz="1450" b="1" i="0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 marL="101600" marR="101600" marT="38100" marB="38100" anchor="ctr">
                    <a:solidFill>
                      <a:srgbClr val="1A0F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50" b="1" i="0">
                          <a:solidFill>
                            <a:srgbClr val="FFFFFF"/>
                          </a:solidFill>
                          <a:latin typeface="Calibri"/>
                        </a:rPr>
                        <a:t>Kalpa's question (invented)</a:t>
                      </a:r>
                    </a:p>
                  </a:txBody>
                  <a:tcPr marL="101600" marR="101600" marT="38100" marB="38100" anchor="ctr">
                    <a:solidFill>
                      <a:srgbClr val="1A0F5C"/>
                    </a:solidFill>
                  </a:tcPr>
                </a:tc>
              </a:tr>
              <a:tr h="369824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How many members bought in September?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</a:tr>
              <a:tr h="369824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Which members will buy again in the next 90 days?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</a:tr>
              <a:tr h="369824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Remind every member whose cart was abandoned yesterday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</a:tr>
              <a:tr h="369824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What was the average basket in Pune last quarter?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</a:tr>
              <a:tr h="369824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How much will each member spend next quarter?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</a:tr>
              <a:tr h="369824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Hold any order above Rs 50,000 from a member who joined this week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</a:tr>
            </a:tbl>
          </a:graphicData>
        </a:graphic>
      </p:graphicFrame>
      <p:sp>
        <p:nvSpPr>
          <p:cNvPr id="10" name="Oval 9"/>
          <p:cNvSpPr/>
          <p:nvPr/>
        </p:nvSpPr>
        <p:spPr>
          <a:xfrm>
            <a:off x="530352" y="6492240"/>
            <a:ext cx="64008" cy="64008"/>
          </a:xfrm>
          <a:prstGeom prst="ellipse">
            <a:avLst/>
          </a:prstGeom>
          <a:solidFill>
            <a:srgbClr val="5B3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6437376"/>
            <a:ext cx="1240440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 i="0">
                <a:solidFill>
                  <a:srgbClr val="5B3FD6"/>
                </a:solidFill>
                <a:latin typeface="Calibri"/>
              </a:rPr>
              <a:t>Does it need a model?</a:t>
            </a:r>
          </a:p>
        </p:txBody>
      </p:sp>
      <p:sp>
        <p:nvSpPr>
          <p:cNvPr id="12" name="Oval 11"/>
          <p:cNvSpPr/>
          <p:nvPr/>
        </p:nvSpPr>
        <p:spPr>
          <a:xfrm>
            <a:off x="1971960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081688" y="6437376"/>
            <a:ext cx="1378457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What may the model read?</a:t>
            </a:r>
          </a:p>
        </p:txBody>
      </p:sp>
      <p:sp>
        <p:nvSpPr>
          <p:cNvPr id="14" name="Oval 13"/>
          <p:cNvSpPr/>
          <p:nvPr/>
        </p:nvSpPr>
        <p:spPr>
          <a:xfrm>
            <a:off x="3551586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61314" y="6437376"/>
            <a:ext cx="1286446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Which slice, and when?</a:t>
            </a:r>
          </a:p>
        </p:txBody>
      </p:sp>
      <p:sp>
        <p:nvSpPr>
          <p:cNvPr id="16" name="Oval 15"/>
          <p:cNvSpPr/>
          <p:nvPr/>
        </p:nvSpPr>
        <p:spPr>
          <a:xfrm>
            <a:off x="5039201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48929" y="6437376"/>
            <a:ext cx="1148429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Which line is best?</a:t>
            </a:r>
          </a:p>
        </p:txBody>
      </p:sp>
      <p:sp>
        <p:nvSpPr>
          <p:cNvPr id="18" name="Oval 17"/>
          <p:cNvSpPr/>
          <p:nvPr/>
        </p:nvSpPr>
        <p:spPr>
          <a:xfrm>
            <a:off x="6388798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8526" y="6437376"/>
            <a:ext cx="1194435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What does 0.73 mean?</a:t>
            </a:r>
          </a:p>
        </p:txBody>
      </p:sp>
      <p:sp>
        <p:nvSpPr>
          <p:cNvPr id="20" name="Oval 19"/>
          <p:cNvSpPr/>
          <p:nvPr/>
        </p:nvSpPr>
        <p:spPr>
          <a:xfrm>
            <a:off x="7784401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894129" y="6437376"/>
            <a:ext cx="1286446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What did the fit miss?</a:t>
            </a:r>
          </a:p>
        </p:txBody>
      </p:sp>
      <p:sp>
        <p:nvSpPr>
          <p:cNvPr id="22" name="Oval 21"/>
          <p:cNvSpPr/>
          <p:nvPr/>
        </p:nvSpPr>
        <p:spPr>
          <a:xfrm>
            <a:off x="9272015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381743" y="6437376"/>
            <a:ext cx="1194435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Who is worth a call?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67618" y="6437376"/>
            <a:ext cx="256032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…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198303" y="6437376"/>
            <a:ext cx="1463040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50" b="0" i="0">
                <a:solidFill>
                  <a:srgbClr val="6B6690"/>
                </a:solidFill>
                <a:latin typeface="Calibri"/>
              </a:rPr>
              <a:t>S7  ·  8 / 62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ligh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92063" y="310896"/>
            <a:ext cx="566928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550" b="1" i="0" spc="300">
                <a:solidFill>
                  <a:srgbClr val="6B6690"/>
                </a:solidFill>
                <a:latin typeface="Calibri"/>
              </a:rPr>
              <a:t>WEEK 5  ·  MONDAY  ·  REGRESSION AND CLASSIFICATION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76656"/>
            <a:ext cx="11130991" cy="512064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1A0F5C"/>
                </a:solidFill>
                <a:latin typeface="Georgia"/>
              </a:rPr>
              <a:t>How many of the six need a model?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1243584"/>
            <a:ext cx="11130991" cy="234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B6690"/>
                </a:solidFill>
                <a:latin typeface="Calibri"/>
              </a:rPr>
              <a:t>Commit to a number before the next slide.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" y="1956816"/>
            <a:ext cx="2577007" cy="698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0" i="0">
                <a:solidFill>
                  <a:srgbClr val="5B3FD6"/>
                </a:solidFill>
                <a:latin typeface="Georgia"/>
              </a:rPr>
              <a:t>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352" y="2691892"/>
            <a:ext cx="2577007" cy="168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 i="0" spc="250">
                <a:solidFill>
                  <a:srgbClr val="1A0F5C"/>
                </a:solidFill>
                <a:latin typeface="Calibri"/>
              </a:rPr>
              <a:t>ALL OF THEM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" y="2893060"/>
            <a:ext cx="2577007" cy="19342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6B6690"/>
                </a:solidFill>
                <a:latin typeface="Calibri"/>
              </a:rPr>
              <a:t>"it is all data"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30352" y="3145536"/>
            <a:ext cx="2577007" cy="10972"/>
          </a:xfrm>
          <a:prstGeom prst="rect">
            <a:avLst/>
          </a:prstGeom>
          <a:solidFill>
            <a:srgbClr val="E4E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81679" y="1956816"/>
            <a:ext cx="2577007" cy="698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0" i="0">
                <a:solidFill>
                  <a:srgbClr val="5B3FD6"/>
                </a:solidFill>
                <a:latin typeface="Georgia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1679" y="2691892"/>
            <a:ext cx="2577007" cy="168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 i="0" spc="250">
                <a:solidFill>
                  <a:srgbClr val="1A0F5C"/>
                </a:solidFill>
                <a:latin typeface="Calibri"/>
              </a:rPr>
              <a:t>MOST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81679" y="2893060"/>
            <a:ext cx="2577007" cy="19342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6B6690"/>
                </a:solidFill>
                <a:latin typeface="Calibri"/>
              </a:rPr>
              <a:t>anything about members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381679" y="3145536"/>
            <a:ext cx="2577007" cy="10972"/>
          </a:xfrm>
          <a:prstGeom prst="rect">
            <a:avLst/>
          </a:prstGeom>
          <a:solidFill>
            <a:srgbClr val="E4E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33007" y="1956816"/>
            <a:ext cx="2577007" cy="698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0" i="0">
                <a:solidFill>
                  <a:srgbClr val="5B3FD6"/>
                </a:solidFill>
                <a:latin typeface="Georgia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33007" y="2691892"/>
            <a:ext cx="2577007" cy="168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 i="0" spc="250">
                <a:solidFill>
                  <a:srgbClr val="1A0F5C"/>
                </a:solidFill>
                <a:latin typeface="Calibri"/>
              </a:rPr>
              <a:t>TWO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33007" y="2893060"/>
            <a:ext cx="2577007" cy="19342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6B6690"/>
                </a:solidFill>
                <a:latin typeface="Calibri"/>
              </a:rPr>
              <a:t>only the future ones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33007" y="3145536"/>
            <a:ext cx="2577007" cy="10972"/>
          </a:xfrm>
          <a:prstGeom prst="rect">
            <a:avLst/>
          </a:prstGeom>
          <a:solidFill>
            <a:srgbClr val="E4E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084335" y="1956816"/>
            <a:ext cx="2577007" cy="698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0" i="0">
                <a:solidFill>
                  <a:srgbClr val="5B3FD6"/>
                </a:solidFill>
                <a:latin typeface="Georgia"/>
              </a:rPr>
              <a:t>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84335" y="2691892"/>
            <a:ext cx="2577007" cy="168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 i="0" spc="250">
                <a:solidFill>
                  <a:srgbClr val="1A0F5C"/>
                </a:solidFill>
                <a:latin typeface="Calibri"/>
              </a:rPr>
              <a:t>NONE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84335" y="2893060"/>
            <a:ext cx="2577007" cy="19342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6B6690"/>
                </a:solidFill>
                <a:latin typeface="Calibri"/>
              </a:rPr>
              <a:t>rules do everything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084335" y="3145536"/>
            <a:ext cx="2577007" cy="10972"/>
          </a:xfrm>
          <a:prstGeom prst="rect">
            <a:avLst/>
          </a:prstGeom>
          <a:solidFill>
            <a:srgbClr val="E4E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530352" y="6492240"/>
            <a:ext cx="64008" cy="64008"/>
          </a:xfrm>
          <a:prstGeom prst="ellipse">
            <a:avLst/>
          </a:prstGeom>
          <a:solidFill>
            <a:srgbClr val="5B3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6437376"/>
            <a:ext cx="1240440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 i="0">
                <a:solidFill>
                  <a:srgbClr val="5B3FD6"/>
                </a:solidFill>
                <a:latin typeface="Calibri"/>
              </a:rPr>
              <a:t>Does it need a model?</a:t>
            </a:r>
          </a:p>
        </p:txBody>
      </p:sp>
      <p:sp>
        <p:nvSpPr>
          <p:cNvPr id="27" name="Oval 26"/>
          <p:cNvSpPr/>
          <p:nvPr/>
        </p:nvSpPr>
        <p:spPr>
          <a:xfrm>
            <a:off x="1971960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081688" y="6437376"/>
            <a:ext cx="1378457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What may the model read?</a:t>
            </a:r>
          </a:p>
        </p:txBody>
      </p:sp>
      <p:sp>
        <p:nvSpPr>
          <p:cNvPr id="29" name="Oval 28"/>
          <p:cNvSpPr/>
          <p:nvPr/>
        </p:nvSpPr>
        <p:spPr>
          <a:xfrm>
            <a:off x="3551586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661314" y="6437376"/>
            <a:ext cx="1286446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Which slice, and when?</a:t>
            </a:r>
          </a:p>
        </p:txBody>
      </p:sp>
      <p:sp>
        <p:nvSpPr>
          <p:cNvPr id="31" name="Oval 30"/>
          <p:cNvSpPr/>
          <p:nvPr/>
        </p:nvSpPr>
        <p:spPr>
          <a:xfrm>
            <a:off x="5039201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148929" y="6437376"/>
            <a:ext cx="1148429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Which line is best?</a:t>
            </a:r>
          </a:p>
        </p:txBody>
      </p:sp>
      <p:sp>
        <p:nvSpPr>
          <p:cNvPr id="33" name="Oval 32"/>
          <p:cNvSpPr/>
          <p:nvPr/>
        </p:nvSpPr>
        <p:spPr>
          <a:xfrm>
            <a:off x="6388798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98526" y="6437376"/>
            <a:ext cx="1194435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What does 0.73 mean?</a:t>
            </a:r>
          </a:p>
        </p:txBody>
      </p:sp>
      <p:sp>
        <p:nvSpPr>
          <p:cNvPr id="35" name="Oval 34"/>
          <p:cNvSpPr/>
          <p:nvPr/>
        </p:nvSpPr>
        <p:spPr>
          <a:xfrm>
            <a:off x="7784401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894129" y="6437376"/>
            <a:ext cx="1286446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What did the fit miss?</a:t>
            </a:r>
          </a:p>
        </p:txBody>
      </p:sp>
      <p:sp>
        <p:nvSpPr>
          <p:cNvPr id="37" name="Oval 36"/>
          <p:cNvSpPr/>
          <p:nvPr/>
        </p:nvSpPr>
        <p:spPr>
          <a:xfrm>
            <a:off x="9272015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381743" y="6437376"/>
            <a:ext cx="1194435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Who is worth a call?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667618" y="6437376"/>
            <a:ext cx="256032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…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198303" y="6437376"/>
            <a:ext cx="1463040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50" b="0" i="0">
                <a:solidFill>
                  <a:srgbClr val="6B6690"/>
                </a:solidFill>
                <a:latin typeface="Calibri"/>
              </a:rPr>
              <a:t>S8  ·  9 / 62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ligh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92063" y="310896"/>
            <a:ext cx="566928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550" b="1" i="0" spc="300">
                <a:solidFill>
                  <a:srgbClr val="6B6690"/>
                </a:solidFill>
                <a:latin typeface="Calibri"/>
              </a:rPr>
              <a:t>WEEK 5  ·  MONDAY  ·  REGRESSION AND CLASSIFICATION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76656"/>
            <a:ext cx="11130991" cy="512064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1A0F5C"/>
                </a:solidFill>
                <a:latin typeface="Georgia"/>
              </a:rPr>
              <a:t>Answer: two of six, after three tests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1243584"/>
            <a:ext cx="11130991" cy="234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B6690"/>
                </a:solidFill>
                <a:latin typeface="Calibri"/>
              </a:rPr>
              <a:t>Ask them in order; only the last needs learning.</a:t>
            </a:r>
          </a:p>
        </p:txBody>
      </p:sp>
      <p:pic>
        <p:nvPicPr>
          <p:cNvPr id="9" name="mermaid diagram" descr="C2_W05_D01_fig_ch1_three_tests_STUDE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00162" y="1664208"/>
            <a:ext cx="8791369" cy="3145536"/>
          </a:xfrm>
          <a:prstGeom prst="rect">
            <a:avLst/>
          </a:prstGeom>
        </p:spPr>
      </p:pic>
      <p:sp>
        <p:nvSpPr>
          <p:cNvPr id="10" name="picture caption"/>
          <p:cNvSpPr txBox="1"/>
          <p:nvPr/>
        </p:nvSpPr>
        <p:spPr>
          <a:xfrm>
            <a:off x="530352" y="4846320"/>
            <a:ext cx="11130991" cy="3169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6B6690"/>
                </a:solidFill>
                <a:latin typeface="Calibri"/>
              </a:rPr>
              <a:t>Three tests in order: query, rule, prediction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0352" y="5172456"/>
            <a:ext cx="11130991" cy="862584"/>
          </a:xfrm>
          <a:prstGeom prst="roundRect">
            <a:avLst>
              <a:gd name="adj" fmla="val 5000"/>
            </a:avLst>
          </a:prstGeom>
          <a:solidFill>
            <a:srgbClr val="F7F5FD"/>
          </a:solidFill>
          <a:ln w="9525">
            <a:solidFill>
              <a:srgbClr val="E4E1F1"/>
            </a:solidFill>
          </a:ln>
          <a:effectLst>
            <a:outerShdw blurRad="76200" dist="19050" dir="5400000" algn="bl" rotWithShape="0">
              <a:srgbClr val="1A0F5C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58952" y="5375148"/>
            <a:ext cx="457200" cy="457200"/>
          </a:xfrm>
          <a:prstGeom prst="ellipse">
            <a:avLst/>
          </a:prstGeom>
          <a:solidFill>
            <a:srgbClr val="5B3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13" name="Picture 12" descr="list-checks_bd88901d2a37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680" y="5484876"/>
            <a:ext cx="237744" cy="23774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399031" y="5318760"/>
            <a:ext cx="9987991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1" i="0" spc="250">
                <a:solidFill>
                  <a:srgbClr val="5B3FD6"/>
                </a:solidFill>
                <a:latin typeface="Calibri"/>
              </a:rPr>
              <a:t>THE RULE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99031" y="5538216"/>
            <a:ext cx="9987991" cy="4236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00" b="0" i="0">
                <a:solidFill>
                  <a:srgbClr val="1A1440"/>
                </a:solidFill>
                <a:latin typeface="Calibri"/>
              </a:rPr>
              <a:t>Input known now, target known later, a decision that moves with the score: then a model.</a:t>
            </a:r>
          </a:p>
        </p:txBody>
      </p:sp>
      <p:sp>
        <p:nvSpPr>
          <p:cNvPr id="16" name="Oval 15"/>
          <p:cNvSpPr/>
          <p:nvPr/>
        </p:nvSpPr>
        <p:spPr>
          <a:xfrm>
            <a:off x="530352" y="6492240"/>
            <a:ext cx="64008" cy="64008"/>
          </a:xfrm>
          <a:prstGeom prst="ellipse">
            <a:avLst/>
          </a:prstGeom>
          <a:solidFill>
            <a:srgbClr val="5B3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6437376"/>
            <a:ext cx="1240440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 i="0">
                <a:solidFill>
                  <a:srgbClr val="5B3FD6"/>
                </a:solidFill>
                <a:latin typeface="Calibri"/>
              </a:rPr>
              <a:t>Does it need a model?</a:t>
            </a:r>
          </a:p>
        </p:txBody>
      </p:sp>
      <p:sp>
        <p:nvSpPr>
          <p:cNvPr id="18" name="Oval 17"/>
          <p:cNvSpPr/>
          <p:nvPr/>
        </p:nvSpPr>
        <p:spPr>
          <a:xfrm>
            <a:off x="1971960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081688" y="6437376"/>
            <a:ext cx="1378457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What may the model read?</a:t>
            </a:r>
          </a:p>
        </p:txBody>
      </p:sp>
      <p:sp>
        <p:nvSpPr>
          <p:cNvPr id="20" name="Oval 19"/>
          <p:cNvSpPr/>
          <p:nvPr/>
        </p:nvSpPr>
        <p:spPr>
          <a:xfrm>
            <a:off x="3551586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61314" y="6437376"/>
            <a:ext cx="1286446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Which slice, and when?</a:t>
            </a:r>
          </a:p>
        </p:txBody>
      </p:sp>
      <p:sp>
        <p:nvSpPr>
          <p:cNvPr id="22" name="Oval 21"/>
          <p:cNvSpPr/>
          <p:nvPr/>
        </p:nvSpPr>
        <p:spPr>
          <a:xfrm>
            <a:off x="5039201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148929" y="6437376"/>
            <a:ext cx="1148429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Which line is best?</a:t>
            </a:r>
          </a:p>
        </p:txBody>
      </p:sp>
      <p:sp>
        <p:nvSpPr>
          <p:cNvPr id="24" name="Oval 23"/>
          <p:cNvSpPr/>
          <p:nvPr/>
        </p:nvSpPr>
        <p:spPr>
          <a:xfrm>
            <a:off x="6388798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98526" y="6437376"/>
            <a:ext cx="1194435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What does 0.73 mean?</a:t>
            </a:r>
          </a:p>
        </p:txBody>
      </p:sp>
      <p:sp>
        <p:nvSpPr>
          <p:cNvPr id="26" name="Oval 25"/>
          <p:cNvSpPr/>
          <p:nvPr/>
        </p:nvSpPr>
        <p:spPr>
          <a:xfrm>
            <a:off x="7784401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894129" y="6437376"/>
            <a:ext cx="1286446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What did the fit miss?</a:t>
            </a:r>
          </a:p>
        </p:txBody>
      </p:sp>
      <p:sp>
        <p:nvSpPr>
          <p:cNvPr id="28" name="Oval 27"/>
          <p:cNvSpPr/>
          <p:nvPr/>
        </p:nvSpPr>
        <p:spPr>
          <a:xfrm>
            <a:off x="9272015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381743" y="6437376"/>
            <a:ext cx="1194435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Who is worth a call?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667618" y="6437376"/>
            <a:ext cx="256032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…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198303" y="6437376"/>
            <a:ext cx="1463040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50" b="0" i="0">
                <a:solidFill>
                  <a:srgbClr val="6B6690"/>
                </a:solidFill>
                <a:latin typeface="Calibri"/>
              </a:rPr>
              <a:t>S9  ·  10 / 62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ligh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92063" y="310896"/>
            <a:ext cx="566928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550" b="1" i="0" spc="300">
                <a:solidFill>
                  <a:srgbClr val="6B6690"/>
                </a:solidFill>
                <a:latin typeface="Calibri"/>
              </a:rPr>
              <a:t>WEEK 5  ·  MONDAY  ·  REGRESSION AND CLASSIFICATION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76656"/>
            <a:ext cx="11130991" cy="512064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1A0F5C"/>
                </a:solidFill>
                <a:latin typeface="Georgia"/>
              </a:rPr>
              <a:t>A rule wins until its misses cost money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1243584"/>
            <a:ext cx="11130991" cy="234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B6690"/>
                </a:solidFill>
                <a:latin typeface="Calibri"/>
              </a:rPr>
              <a:t>Google's first rule, and Uber's ETA.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30352" y="1956816"/>
            <a:ext cx="3588410" cy="196443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4E1F1"/>
            </a:solidFill>
          </a:ln>
          <a:effectLst>
            <a:outerShdw blurRad="76200" dist="19050" dir="5400000" algn="bl" rotWithShape="0">
              <a:srgbClr val="1A0F5C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31519" y="2157984"/>
            <a:ext cx="457200" cy="457200"/>
          </a:xfrm>
          <a:prstGeom prst="ellipse">
            <a:avLst/>
          </a:prstGeom>
          <a:solidFill>
            <a:srgbClr val="EEE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11" name="Picture 10" descr="book-open_a730d506939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247" y="2267712"/>
            <a:ext cx="237744" cy="23774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31519" y="2724912"/>
            <a:ext cx="3186074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1" i="0" spc="250">
                <a:solidFill>
                  <a:srgbClr val="5B3FD6"/>
                </a:solidFill>
                <a:latin typeface="Calibri"/>
              </a:rPr>
              <a:t>GOOGLE, RULES OF ML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19" y="2962656"/>
            <a:ext cx="3186074" cy="2677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A0F5C"/>
                </a:solidFill>
                <a:latin typeface="Calibri"/>
              </a:rPr>
              <a:t>Launch without ML first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19" y="3303524"/>
            <a:ext cx="3186074" cy="3997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6B6690"/>
                </a:solidFill>
                <a:latin typeface="Calibri"/>
              </a:rPr>
              <a:t>A heuristic gets you about half the gain, Zinkevich estimates.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01642" y="1956816"/>
            <a:ext cx="3588410" cy="196443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4E1F1"/>
            </a:solidFill>
          </a:ln>
          <a:effectLst>
            <a:outerShdw blurRad="76200" dist="19050" dir="5400000" algn="bl" rotWithShape="0">
              <a:srgbClr val="1A0F5C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502810" y="2157984"/>
            <a:ext cx="457200" cy="457200"/>
          </a:xfrm>
          <a:prstGeom prst="ellipse">
            <a:avLst/>
          </a:prstGeom>
          <a:solidFill>
            <a:srgbClr val="EEE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17" name="Picture 16" descr="car_2853f22980e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12538" y="2267712"/>
            <a:ext cx="237744" cy="237744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4502810" y="2724912"/>
            <a:ext cx="3186074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1" i="0" spc="250">
                <a:solidFill>
                  <a:srgbClr val="5B3FD6"/>
                </a:solidFill>
                <a:latin typeface="Calibri"/>
              </a:rPr>
              <a:t>UBER, DEEPETA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02810" y="2962656"/>
            <a:ext cx="3186074" cy="2677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A0F5C"/>
                </a:solidFill>
                <a:latin typeface="Calibri"/>
              </a:rPr>
              <a:t>Keep the rule, predict its error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02810" y="3303524"/>
            <a:ext cx="3186074" cy="3997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6B6690"/>
                </a:solidFill>
                <a:latin typeface="Calibri"/>
              </a:rPr>
              <a:t>The routing engine's ETA stays; the model predicts how wrong it will be.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72932" y="1956816"/>
            <a:ext cx="3588410" cy="1964436"/>
          </a:xfrm>
          <a:prstGeom prst="roundRect">
            <a:avLst>
              <a:gd name="adj" fmla="val 5000"/>
            </a:avLst>
          </a:prstGeom>
          <a:gradFill rotWithShape="1">
            <a:gsLst>
              <a:gs pos="0">
                <a:srgbClr val="2C1A86"/>
              </a:gs>
              <a:gs pos="100000">
                <a:srgbClr val="1A0F5C"/>
              </a:gs>
            </a:gsLst>
            <a:lin scaled="0" ang="16200000"/>
          </a:gradFill>
          <a:ln>
            <a:noFill/>
          </a:ln>
          <a:effectLst>
            <a:outerShdw blurRad="76200" dist="19050" dir="5400000" algn="bl" rotWithShape="0">
              <a:srgbClr val="1A0F5C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274100" y="2157984"/>
            <a:ext cx="457200" cy="457200"/>
          </a:xfrm>
          <a:prstGeom prst="ellipse">
            <a:avLst/>
          </a:prstGeom>
          <a:solidFill>
            <a:srgbClr val="5B3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23" name="Picture 22" descr="scale_e4d6117bdfb8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83828" y="2267712"/>
            <a:ext cx="237744" cy="237744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8274100" y="2724912"/>
            <a:ext cx="3186074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1" i="0" spc="250">
                <a:solidFill>
                  <a:srgbClr val="D9A7FF"/>
                </a:solidFill>
                <a:latin typeface="Calibri"/>
              </a:rPr>
              <a:t>THE FLIP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74100" y="2962656"/>
            <a:ext cx="3186074" cy="2677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Kalpa's numbers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74100" y="3303524"/>
            <a:ext cx="3186074" cy="3997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CFC9EE"/>
                </a:solidFill>
                <a:latin typeface="Calibri"/>
              </a:rPr>
              <a:t>A Rs 1,200 missed buyer against a Rs 40 nudge makes ranking pay.</a:t>
            </a:r>
          </a:p>
        </p:txBody>
      </p:sp>
      <p:sp>
        <p:nvSpPr>
          <p:cNvPr id="27" name="Oval 26"/>
          <p:cNvSpPr/>
          <p:nvPr/>
        </p:nvSpPr>
        <p:spPr>
          <a:xfrm>
            <a:off x="530352" y="6492240"/>
            <a:ext cx="64008" cy="64008"/>
          </a:xfrm>
          <a:prstGeom prst="ellipse">
            <a:avLst/>
          </a:prstGeom>
          <a:solidFill>
            <a:srgbClr val="5B3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" y="6437376"/>
            <a:ext cx="1240440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 i="0">
                <a:solidFill>
                  <a:srgbClr val="5B3FD6"/>
                </a:solidFill>
                <a:latin typeface="Calibri"/>
              </a:rPr>
              <a:t>Does it need a model?</a:t>
            </a:r>
          </a:p>
        </p:txBody>
      </p:sp>
      <p:sp>
        <p:nvSpPr>
          <p:cNvPr id="29" name="Oval 28"/>
          <p:cNvSpPr/>
          <p:nvPr/>
        </p:nvSpPr>
        <p:spPr>
          <a:xfrm>
            <a:off x="1971960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081688" y="6437376"/>
            <a:ext cx="1378457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What may the model read?</a:t>
            </a:r>
          </a:p>
        </p:txBody>
      </p:sp>
      <p:sp>
        <p:nvSpPr>
          <p:cNvPr id="31" name="Oval 30"/>
          <p:cNvSpPr/>
          <p:nvPr/>
        </p:nvSpPr>
        <p:spPr>
          <a:xfrm>
            <a:off x="3551586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661314" y="6437376"/>
            <a:ext cx="1286446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Which slice, and when?</a:t>
            </a:r>
          </a:p>
        </p:txBody>
      </p:sp>
      <p:sp>
        <p:nvSpPr>
          <p:cNvPr id="33" name="Oval 32"/>
          <p:cNvSpPr/>
          <p:nvPr/>
        </p:nvSpPr>
        <p:spPr>
          <a:xfrm>
            <a:off x="5039201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148929" y="6437376"/>
            <a:ext cx="1148429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Which line is best?</a:t>
            </a:r>
          </a:p>
        </p:txBody>
      </p:sp>
      <p:sp>
        <p:nvSpPr>
          <p:cNvPr id="35" name="Oval 34"/>
          <p:cNvSpPr/>
          <p:nvPr/>
        </p:nvSpPr>
        <p:spPr>
          <a:xfrm>
            <a:off x="6388798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98526" y="6437376"/>
            <a:ext cx="1194435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What does 0.73 mean?</a:t>
            </a:r>
          </a:p>
        </p:txBody>
      </p:sp>
      <p:sp>
        <p:nvSpPr>
          <p:cNvPr id="37" name="Oval 36"/>
          <p:cNvSpPr/>
          <p:nvPr/>
        </p:nvSpPr>
        <p:spPr>
          <a:xfrm>
            <a:off x="7784401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894129" y="6437376"/>
            <a:ext cx="1286446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What did the fit miss?</a:t>
            </a:r>
          </a:p>
        </p:txBody>
      </p:sp>
      <p:sp>
        <p:nvSpPr>
          <p:cNvPr id="39" name="Oval 38"/>
          <p:cNvSpPr/>
          <p:nvPr/>
        </p:nvSpPr>
        <p:spPr>
          <a:xfrm>
            <a:off x="9272015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381743" y="6437376"/>
            <a:ext cx="1194435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Who is worth a call?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667618" y="6437376"/>
            <a:ext cx="256032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…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198303" y="6437376"/>
            <a:ext cx="1463040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50" b="0" i="0">
                <a:solidFill>
                  <a:srgbClr val="6B6690"/>
                </a:solidFill>
                <a:latin typeface="Calibri"/>
              </a:rPr>
              <a:t>S10  ·  11 / 62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dar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92063" y="310896"/>
            <a:ext cx="566928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550" b="1" i="0" spc="300">
                <a:solidFill>
                  <a:srgbClr val="CFC9EE"/>
                </a:solidFill>
                <a:latin typeface="Calibri"/>
              </a:rPr>
              <a:t>PG DIPLOMA IN AI-ML AND AGENTIC AI ENGINEERING  ·  COHORT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19" y="1143000"/>
            <a:ext cx="36576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600" b="0" i="0">
                <a:solidFill>
                  <a:srgbClr val="D9A7FF"/>
                </a:solidFill>
                <a:latin typeface="Georgia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19" y="2542032"/>
            <a:ext cx="10673791" cy="366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D9A7FF"/>
                </a:solidFill>
                <a:latin typeface="Calibri"/>
              </a:rPr>
              <a:t>What do we know, and when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19" y="3017520"/>
            <a:ext cx="10673791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0" i="0">
                <a:solidFill>
                  <a:srgbClr val="FFFFFF"/>
                </a:solidFill>
                <a:latin typeface="Georgia"/>
              </a:rPr>
              <a:t>What may the model read?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19" y="3931920"/>
            <a:ext cx="9509760" cy="5318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E4E1F1"/>
                </a:solidFill>
                <a:latin typeface="Calibri"/>
              </a:rPr>
              <a:t>Input, target, prediction time; the repeat-purchase target · also searched as: features and labels, supervised learning setup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19" y="5074920"/>
            <a:ext cx="1099768" cy="310896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CFC9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400" rIns="25400" tIns="0" bIns="0"/>
          <a:lstStyle/>
          <a:p>
            <a:pPr algn="ctr"/>
            <a:r>
              <a:rPr sz="850" b="0">
                <a:solidFill>
                  <a:srgbClr val="CFC9EE"/>
                </a:solidFill>
                <a:latin typeface="Calibri"/>
              </a:rPr>
              <a:t>Does it need a model?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941016" y="5074920"/>
            <a:ext cx="1221169" cy="310896"/>
          </a:xfrm>
          <a:prstGeom prst="roundRect">
            <a:avLst>
              <a:gd name="adj" fmla="val 50000"/>
            </a:avLst>
          </a:prstGeom>
          <a:solidFill>
            <a:srgbClr val="D9A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400" rIns="25400" tIns="0" bIns="0"/>
          <a:lstStyle/>
          <a:p>
            <a:pPr algn="ctr"/>
            <a:r>
              <a:rPr sz="850" b="1">
                <a:solidFill>
                  <a:srgbClr val="1A0F5C"/>
                </a:solidFill>
                <a:latin typeface="Calibri"/>
              </a:rPr>
              <a:t>What may the model read?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71914" y="5074920"/>
            <a:ext cx="1140235" cy="310896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CFC9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400" rIns="25400" tIns="0" bIns="0"/>
          <a:lstStyle/>
          <a:p>
            <a:pPr algn="ctr"/>
            <a:r>
              <a:rPr sz="850" b="0">
                <a:solidFill>
                  <a:srgbClr val="CFC9EE"/>
                </a:solidFill>
                <a:latin typeface="Calibri"/>
              </a:rPr>
              <a:t>Which slice, and when?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21877" y="5074920"/>
            <a:ext cx="1018833" cy="310896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CFC9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400" rIns="25400" tIns="0" bIns="0"/>
          <a:lstStyle/>
          <a:p>
            <a:pPr algn="ctr"/>
            <a:r>
              <a:rPr sz="850" b="0">
                <a:solidFill>
                  <a:srgbClr val="CFC9EE"/>
                </a:solidFill>
                <a:latin typeface="Calibri"/>
              </a:rPr>
              <a:t>Which line is best?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50438" y="5074920"/>
            <a:ext cx="1059300" cy="310896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CFC9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400" rIns="25400" tIns="0" bIns="0"/>
          <a:lstStyle/>
          <a:p>
            <a:pPr algn="ctr"/>
            <a:r>
              <a:rPr sz="850" b="0">
                <a:solidFill>
                  <a:srgbClr val="CFC9EE"/>
                </a:solidFill>
                <a:latin typeface="Calibri"/>
              </a:rPr>
              <a:t>What does 0.73 mean?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19467" y="5074920"/>
            <a:ext cx="1140235" cy="310896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CFC9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400" rIns="25400" tIns="0" bIns="0"/>
          <a:lstStyle/>
          <a:p>
            <a:pPr algn="ctr"/>
            <a:r>
              <a:rPr sz="850" b="0">
                <a:solidFill>
                  <a:srgbClr val="CFC9EE"/>
                </a:solidFill>
                <a:latin typeface="Calibri"/>
              </a:rPr>
              <a:t>What did the fit miss?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69430" y="5074920"/>
            <a:ext cx="1059300" cy="310896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CFC9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400" rIns="25400" tIns="0" bIns="0"/>
          <a:lstStyle/>
          <a:p>
            <a:pPr algn="ctr"/>
            <a:r>
              <a:rPr sz="850" b="0">
                <a:solidFill>
                  <a:srgbClr val="CFC9EE"/>
                </a:solidFill>
                <a:latin typeface="Calibri"/>
              </a:rPr>
              <a:t>Who is worth a call?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238459" y="5074920"/>
            <a:ext cx="1099768" cy="310896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CFC9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400" rIns="25400" tIns="0" bIns="0"/>
          <a:lstStyle/>
          <a:p>
            <a:pPr algn="ctr"/>
            <a:r>
              <a:rPr sz="850" b="0">
                <a:solidFill>
                  <a:srgbClr val="CFC9EE"/>
                </a:solidFill>
                <a:latin typeface="Calibri"/>
              </a:rPr>
              <a:t>Does it beat nothing?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47955" y="5074920"/>
            <a:ext cx="1140235" cy="310896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CFC9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400" rIns="25400" tIns="0" bIns="0"/>
          <a:lstStyle/>
          <a:p>
            <a:pPr algn="ctr"/>
            <a:r>
              <a:rPr sz="850" b="0">
                <a:solidFill>
                  <a:srgbClr val="CFC9EE"/>
                </a:solidFill>
                <a:latin typeface="Calibri"/>
              </a:rPr>
              <a:t>What did the peek buy?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0352" y="6437376"/>
            <a:ext cx="9667951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 i="0">
                <a:solidFill>
                  <a:srgbClr val="CFC9EE"/>
                </a:solidFill>
                <a:latin typeface="Calibri"/>
              </a:rPr>
              <a:t>Week 5 Monday: regression and classification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198303" y="6437376"/>
            <a:ext cx="1463040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50" b="0" i="0">
                <a:solidFill>
                  <a:srgbClr val="CFC9EE"/>
                </a:solidFill>
                <a:latin typeface="Calibri"/>
              </a:rPr>
              <a:t>12 / 62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ligh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92063" y="310896"/>
            <a:ext cx="566928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550" b="1" i="0" spc="300">
                <a:solidFill>
                  <a:srgbClr val="6B6690"/>
                </a:solidFill>
                <a:latin typeface="Calibri"/>
              </a:rPr>
              <a:t>WEEK 5  ·  MONDAY  ·  REGRESSION AND CLASSIFICATION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76656"/>
            <a:ext cx="11130991" cy="512064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1A0F5C"/>
                </a:solidFill>
                <a:latin typeface="Georgia"/>
              </a:rPr>
              <a:t>Eight orders, four members, one cutoff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1243584"/>
            <a:ext cx="11130991" cy="234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B6690"/>
                </a:solidFill>
                <a:latin typeface="Calibri"/>
              </a:rPr>
              <a:t>Invented. Purple is history; amber decides the target; grey is too late.</a:t>
            </a:r>
          </a:p>
        </p:txBody>
      </p:sp>
      <p:pic>
        <p:nvPicPr>
          <p:cNvPr id="9" name="mermaid diagram" descr="C2_W05_D01_fig_ch2_four_members_STUDE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352" y="1682496"/>
            <a:ext cx="11130991" cy="3981751"/>
          </a:xfrm>
          <a:prstGeom prst="rect">
            <a:avLst/>
          </a:prstGeom>
        </p:spPr>
      </p:pic>
      <p:sp>
        <p:nvSpPr>
          <p:cNvPr id="10" name="picture caption"/>
          <p:cNvSpPr txBox="1"/>
          <p:nvPr/>
        </p:nvSpPr>
        <p:spPr>
          <a:xfrm>
            <a:off x="530352" y="5700823"/>
            <a:ext cx="11130991" cy="3169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6B6690"/>
                </a:solidFill>
                <a:latin typeface="Calibri"/>
              </a:rPr>
              <a:t>Four members' orders against a 30 June cutoff and a 90-day window</a:t>
            </a:r>
          </a:p>
        </p:txBody>
      </p:sp>
      <p:sp>
        <p:nvSpPr>
          <p:cNvPr id="11" name="Oval 10"/>
          <p:cNvSpPr/>
          <p:nvPr/>
        </p:nvSpPr>
        <p:spPr>
          <a:xfrm>
            <a:off x="530352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6437376"/>
            <a:ext cx="1240440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Does it need a model?</a:t>
            </a:r>
          </a:p>
        </p:txBody>
      </p:sp>
      <p:sp>
        <p:nvSpPr>
          <p:cNvPr id="13" name="Oval 12"/>
          <p:cNvSpPr/>
          <p:nvPr/>
        </p:nvSpPr>
        <p:spPr>
          <a:xfrm>
            <a:off x="1971960" y="6492240"/>
            <a:ext cx="64008" cy="64008"/>
          </a:xfrm>
          <a:prstGeom prst="ellipse">
            <a:avLst/>
          </a:prstGeom>
          <a:solidFill>
            <a:srgbClr val="5B3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081688" y="6437376"/>
            <a:ext cx="1378457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 i="0">
                <a:solidFill>
                  <a:srgbClr val="5B3FD6"/>
                </a:solidFill>
                <a:latin typeface="Calibri"/>
              </a:rPr>
              <a:t>What may the model read?</a:t>
            </a:r>
          </a:p>
        </p:txBody>
      </p:sp>
      <p:sp>
        <p:nvSpPr>
          <p:cNvPr id="15" name="Oval 14"/>
          <p:cNvSpPr/>
          <p:nvPr/>
        </p:nvSpPr>
        <p:spPr>
          <a:xfrm>
            <a:off x="3551586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61314" y="6437376"/>
            <a:ext cx="1286446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Which slice, and when?</a:t>
            </a:r>
          </a:p>
        </p:txBody>
      </p:sp>
      <p:sp>
        <p:nvSpPr>
          <p:cNvPr id="17" name="Oval 16"/>
          <p:cNvSpPr/>
          <p:nvPr/>
        </p:nvSpPr>
        <p:spPr>
          <a:xfrm>
            <a:off x="5039201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148929" y="6437376"/>
            <a:ext cx="1148429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Which line is best?</a:t>
            </a:r>
          </a:p>
        </p:txBody>
      </p:sp>
      <p:sp>
        <p:nvSpPr>
          <p:cNvPr id="19" name="Oval 18"/>
          <p:cNvSpPr/>
          <p:nvPr/>
        </p:nvSpPr>
        <p:spPr>
          <a:xfrm>
            <a:off x="6388798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98526" y="6437376"/>
            <a:ext cx="1194435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What does 0.73 mean?</a:t>
            </a:r>
          </a:p>
        </p:txBody>
      </p:sp>
      <p:sp>
        <p:nvSpPr>
          <p:cNvPr id="21" name="Oval 20"/>
          <p:cNvSpPr/>
          <p:nvPr/>
        </p:nvSpPr>
        <p:spPr>
          <a:xfrm>
            <a:off x="7784401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894129" y="6437376"/>
            <a:ext cx="1286446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What did the fit miss?</a:t>
            </a:r>
          </a:p>
        </p:txBody>
      </p:sp>
      <p:sp>
        <p:nvSpPr>
          <p:cNvPr id="23" name="Oval 22"/>
          <p:cNvSpPr/>
          <p:nvPr/>
        </p:nvSpPr>
        <p:spPr>
          <a:xfrm>
            <a:off x="9272015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381743" y="6437376"/>
            <a:ext cx="1194435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Who is worth a call?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67618" y="6437376"/>
            <a:ext cx="256032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…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198303" y="6437376"/>
            <a:ext cx="1463040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50" b="0" i="0">
                <a:solidFill>
                  <a:srgbClr val="6B6690"/>
                </a:solidFill>
                <a:latin typeface="Calibri"/>
              </a:rPr>
              <a:t>S11  ·  13 / 62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ligh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92063" y="310896"/>
            <a:ext cx="566928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550" b="1" i="0" spc="300">
                <a:solidFill>
                  <a:srgbClr val="6B6690"/>
                </a:solidFill>
                <a:latin typeface="Calibri"/>
              </a:rPr>
              <a:t>WEEK 5  ·  MONDAY  ·  REGRESSION AND CLASSIFICATION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76656"/>
            <a:ext cx="11130991" cy="512064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1A0F5C"/>
                </a:solidFill>
                <a:latin typeface="Georgia"/>
              </a:rPr>
              <a:t>Which members buy again inside the window?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1243584"/>
            <a:ext cx="11130991" cy="234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B6690"/>
                </a:solidFill>
                <a:latin typeface="Calibri"/>
              </a:rPr>
              <a:t>Count before the next slide: none, one, two or four?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30352" y="1956816"/>
          <a:ext cx="11130990" cy="1849120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914400"/>
                <a:gridCol w="6701962"/>
                <a:gridCol w="3514628"/>
              </a:tblGrid>
              <a:tr h="369824">
                <a:tc>
                  <a:txBody>
                    <a:bodyPr/>
                    <a:lstStyle/>
                    <a:p>
                      <a:r>
                        <a:rPr sz="1450" b="1" i="0">
                          <a:solidFill>
                            <a:srgbClr val="FFFFFF"/>
                          </a:solidFill>
                          <a:latin typeface="Calibri"/>
                        </a:rPr>
                        <a:t>Member</a:t>
                      </a:r>
                    </a:p>
                  </a:txBody>
                  <a:tcPr marL="101600" marR="101600" marT="38100" marB="38100" anchor="ctr">
                    <a:solidFill>
                      <a:srgbClr val="1A0F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50" b="1" i="0">
                          <a:solidFill>
                            <a:srgbClr val="FFFFFF"/>
                          </a:solidFill>
                          <a:latin typeface="Calibri"/>
                        </a:rPr>
                        <a:t>Orders before 30 June</a:t>
                      </a:r>
                    </a:p>
                  </a:txBody>
                  <a:tcPr marL="101600" marR="101600" marT="38100" marB="38100" anchor="ctr">
                    <a:solidFill>
                      <a:srgbClr val="1A0F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50" b="1" i="0">
                          <a:solidFill>
                            <a:srgbClr val="FFFFFF"/>
                          </a:solidFill>
                          <a:latin typeface="Calibri"/>
                        </a:rPr>
                        <a:t>Next order</a:t>
                      </a:r>
                    </a:p>
                  </a:txBody>
                  <a:tcPr marL="101600" marR="101600" marT="38100" marB="38100" anchor="ctr">
                    <a:solidFill>
                      <a:srgbClr val="1A0F5C"/>
                    </a:solidFill>
                  </a:tcPr>
                </a:tc>
              </a:tr>
              <a:tr h="369824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M1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10 April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20 July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</a:tr>
              <a:tr h="369824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M2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2 May, 15 June, 28 June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none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</a:tr>
              <a:tr h="369824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M3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1 June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none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</a:tr>
              <a:tr h="369824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M4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25 April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15 October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</a:tr>
            </a:tbl>
          </a:graphicData>
        </a:graphic>
      </p:graphicFrame>
      <p:sp>
        <p:nvSpPr>
          <p:cNvPr id="10" name="Oval 9"/>
          <p:cNvSpPr/>
          <p:nvPr/>
        </p:nvSpPr>
        <p:spPr>
          <a:xfrm>
            <a:off x="530352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6437376"/>
            <a:ext cx="1240440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Does it need a model?</a:t>
            </a:r>
          </a:p>
        </p:txBody>
      </p:sp>
      <p:sp>
        <p:nvSpPr>
          <p:cNvPr id="12" name="Oval 11"/>
          <p:cNvSpPr/>
          <p:nvPr/>
        </p:nvSpPr>
        <p:spPr>
          <a:xfrm>
            <a:off x="1971960" y="6492240"/>
            <a:ext cx="64008" cy="64008"/>
          </a:xfrm>
          <a:prstGeom prst="ellipse">
            <a:avLst/>
          </a:prstGeom>
          <a:solidFill>
            <a:srgbClr val="5B3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081688" y="6437376"/>
            <a:ext cx="1378457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 i="0">
                <a:solidFill>
                  <a:srgbClr val="5B3FD6"/>
                </a:solidFill>
                <a:latin typeface="Calibri"/>
              </a:rPr>
              <a:t>What may the model read?</a:t>
            </a:r>
          </a:p>
        </p:txBody>
      </p:sp>
      <p:sp>
        <p:nvSpPr>
          <p:cNvPr id="14" name="Oval 13"/>
          <p:cNvSpPr/>
          <p:nvPr/>
        </p:nvSpPr>
        <p:spPr>
          <a:xfrm>
            <a:off x="3551586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61314" y="6437376"/>
            <a:ext cx="1286446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Which slice, and when?</a:t>
            </a:r>
          </a:p>
        </p:txBody>
      </p:sp>
      <p:sp>
        <p:nvSpPr>
          <p:cNvPr id="16" name="Oval 15"/>
          <p:cNvSpPr/>
          <p:nvPr/>
        </p:nvSpPr>
        <p:spPr>
          <a:xfrm>
            <a:off x="5039201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48929" y="6437376"/>
            <a:ext cx="1148429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Which line is best?</a:t>
            </a:r>
          </a:p>
        </p:txBody>
      </p:sp>
      <p:sp>
        <p:nvSpPr>
          <p:cNvPr id="18" name="Oval 17"/>
          <p:cNvSpPr/>
          <p:nvPr/>
        </p:nvSpPr>
        <p:spPr>
          <a:xfrm>
            <a:off x="6388798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8526" y="6437376"/>
            <a:ext cx="1194435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What does 0.73 mean?</a:t>
            </a:r>
          </a:p>
        </p:txBody>
      </p:sp>
      <p:sp>
        <p:nvSpPr>
          <p:cNvPr id="20" name="Oval 19"/>
          <p:cNvSpPr/>
          <p:nvPr/>
        </p:nvSpPr>
        <p:spPr>
          <a:xfrm>
            <a:off x="7784401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894129" y="6437376"/>
            <a:ext cx="1286446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What did the fit miss?</a:t>
            </a:r>
          </a:p>
        </p:txBody>
      </p:sp>
      <p:sp>
        <p:nvSpPr>
          <p:cNvPr id="22" name="Oval 21"/>
          <p:cNvSpPr/>
          <p:nvPr/>
        </p:nvSpPr>
        <p:spPr>
          <a:xfrm>
            <a:off x="9272015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381743" y="6437376"/>
            <a:ext cx="1194435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Who is worth a call?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67618" y="6437376"/>
            <a:ext cx="256032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…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198303" y="6437376"/>
            <a:ext cx="1463040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50" b="0" i="0">
                <a:solidFill>
                  <a:srgbClr val="6B6690"/>
                </a:solidFill>
                <a:latin typeface="Calibri"/>
              </a:rPr>
              <a:t>S12  ·  14 / 62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ligh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92063" y="310896"/>
            <a:ext cx="566928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550" b="1" i="0" spc="300">
                <a:solidFill>
                  <a:srgbClr val="6B6690"/>
                </a:solidFill>
                <a:latin typeface="Calibri"/>
              </a:rPr>
              <a:t>WEEK 5  ·  MONDAY  ·  REGRESSION AND CLASSIFICATION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76656"/>
            <a:ext cx="11130991" cy="512064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1A0F5C"/>
                </a:solidFill>
                <a:latin typeface="Georgia"/>
              </a:rPr>
              <a:t>Answer: one member, M1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1243584"/>
            <a:ext cx="11130991" cy="234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B6690"/>
                </a:solidFill>
                <a:latin typeface="Calibri"/>
              </a:rPr>
              <a:t>M4 bought again, after the window closed.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30352" y="1956816"/>
          <a:ext cx="11130990" cy="1676400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914400"/>
                <a:gridCol w="2230099"/>
                <a:gridCol w="2518142"/>
                <a:gridCol w="2662164"/>
                <a:gridCol w="2806185"/>
              </a:tblGrid>
              <a:tr h="335280">
                <a:tc>
                  <a:txBody>
                    <a:bodyPr/>
                    <a:lstStyle/>
                    <a:p>
                      <a:r>
                        <a:rPr sz="1250" b="1" i="0">
                          <a:solidFill>
                            <a:srgbClr val="FFFFFF"/>
                          </a:solidFill>
                          <a:latin typeface="Calibri"/>
                        </a:rPr>
                        <a:t>Member</a:t>
                      </a:r>
                    </a:p>
                  </a:txBody>
                  <a:tcPr marL="101600" marR="101600" marT="38100" marB="38100" anchor="ctr">
                    <a:solidFill>
                      <a:srgbClr val="1A0F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 i="0">
                          <a:solidFill>
                            <a:srgbClr val="FFFFFF"/>
                          </a:solidFill>
                          <a:latin typeface="Calibri"/>
                        </a:rPr>
                        <a:t>Orders before</a:t>
                      </a:r>
                    </a:p>
                  </a:txBody>
                  <a:tcPr marL="101600" marR="101600" marT="38100" marB="38100" anchor="ctr">
                    <a:solidFill>
                      <a:srgbClr val="1A0F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 i="0">
                          <a:solidFill>
                            <a:srgbClr val="FFFFFF"/>
                          </a:solidFill>
                          <a:latin typeface="Calibri"/>
                        </a:rPr>
                        <a:t>Days since last</a:t>
                      </a:r>
                    </a:p>
                  </a:txBody>
                  <a:tcPr marL="101600" marR="101600" marT="38100" marB="38100" anchor="ctr">
                    <a:solidFill>
                      <a:srgbClr val="1A0F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 i="0">
                          <a:solidFill>
                            <a:srgbClr val="FFFFFF"/>
                          </a:solidFill>
                          <a:latin typeface="Calibri"/>
                        </a:rPr>
                        <a:t>Spend before, Rs</a:t>
                      </a:r>
                    </a:p>
                  </a:txBody>
                  <a:tcPr marL="101600" marR="101600" marT="38100" marB="38100" anchor="ctr">
                    <a:solidFill>
                      <a:srgbClr val="1A0F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 i="0">
                          <a:solidFill>
                            <a:srgbClr val="FFFFFF"/>
                          </a:solidFill>
                          <a:latin typeface="Calibri"/>
                        </a:rPr>
                        <a:t>Repeat in 90 days</a:t>
                      </a:r>
                    </a:p>
                  </a:txBody>
                  <a:tcPr marL="101600" marR="101600" marT="38100" marB="38100" anchor="ctr">
                    <a:solidFill>
                      <a:srgbClr val="1A0F5C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440"/>
                          </a:solidFill>
                          <a:latin typeface="Calibri"/>
                        </a:rPr>
                        <a:t>M1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440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440"/>
                          </a:solidFill>
                          <a:latin typeface="Calibri"/>
                        </a:rPr>
                        <a:t>81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440"/>
                          </a:solidFill>
                          <a:latin typeface="Calibri"/>
                        </a:rPr>
                        <a:t>800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440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440"/>
                          </a:solidFill>
                          <a:latin typeface="Calibri"/>
                        </a:rPr>
                        <a:t>M2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440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440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440"/>
                          </a:solidFill>
                          <a:latin typeface="Calibri"/>
                        </a:rPr>
                        <a:t>1,900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440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440"/>
                          </a:solidFill>
                          <a:latin typeface="Calibri"/>
                        </a:rPr>
                        <a:t>M3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440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440"/>
                          </a:solidFill>
                          <a:latin typeface="Calibri"/>
                        </a:rPr>
                        <a:t>29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440"/>
                          </a:solidFill>
                          <a:latin typeface="Calibri"/>
                        </a:rPr>
                        <a:t>950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440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440"/>
                          </a:solidFill>
                          <a:latin typeface="Calibri"/>
                        </a:rPr>
                        <a:t>M4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440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440"/>
                          </a:solidFill>
                          <a:latin typeface="Calibri"/>
                        </a:rPr>
                        <a:t>66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440"/>
                          </a:solidFill>
                          <a:latin typeface="Calibri"/>
                        </a:rPr>
                        <a:t>500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440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</a:tr>
            </a:tbl>
          </a:graphicData>
        </a:graphic>
      </p:graphicFrame>
      <p:sp>
        <p:nvSpPr>
          <p:cNvPr id="10" name="Oval 9"/>
          <p:cNvSpPr/>
          <p:nvPr/>
        </p:nvSpPr>
        <p:spPr>
          <a:xfrm>
            <a:off x="530352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6437376"/>
            <a:ext cx="1240440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Does it need a model?</a:t>
            </a:r>
          </a:p>
        </p:txBody>
      </p:sp>
      <p:sp>
        <p:nvSpPr>
          <p:cNvPr id="12" name="Oval 11"/>
          <p:cNvSpPr/>
          <p:nvPr/>
        </p:nvSpPr>
        <p:spPr>
          <a:xfrm>
            <a:off x="1971960" y="6492240"/>
            <a:ext cx="64008" cy="64008"/>
          </a:xfrm>
          <a:prstGeom prst="ellipse">
            <a:avLst/>
          </a:prstGeom>
          <a:solidFill>
            <a:srgbClr val="5B3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081688" y="6437376"/>
            <a:ext cx="1378457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 i="0">
                <a:solidFill>
                  <a:srgbClr val="5B3FD6"/>
                </a:solidFill>
                <a:latin typeface="Calibri"/>
              </a:rPr>
              <a:t>What may the model read?</a:t>
            </a:r>
          </a:p>
        </p:txBody>
      </p:sp>
      <p:sp>
        <p:nvSpPr>
          <p:cNvPr id="14" name="Oval 13"/>
          <p:cNvSpPr/>
          <p:nvPr/>
        </p:nvSpPr>
        <p:spPr>
          <a:xfrm>
            <a:off x="3551586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61314" y="6437376"/>
            <a:ext cx="1286446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Which slice, and when?</a:t>
            </a:r>
          </a:p>
        </p:txBody>
      </p:sp>
      <p:sp>
        <p:nvSpPr>
          <p:cNvPr id="16" name="Oval 15"/>
          <p:cNvSpPr/>
          <p:nvPr/>
        </p:nvSpPr>
        <p:spPr>
          <a:xfrm>
            <a:off x="5039201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48929" y="6437376"/>
            <a:ext cx="1148429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Which line is best?</a:t>
            </a:r>
          </a:p>
        </p:txBody>
      </p:sp>
      <p:sp>
        <p:nvSpPr>
          <p:cNvPr id="18" name="Oval 17"/>
          <p:cNvSpPr/>
          <p:nvPr/>
        </p:nvSpPr>
        <p:spPr>
          <a:xfrm>
            <a:off x="6388798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8526" y="6437376"/>
            <a:ext cx="1194435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What does 0.73 mean?</a:t>
            </a:r>
          </a:p>
        </p:txBody>
      </p:sp>
      <p:sp>
        <p:nvSpPr>
          <p:cNvPr id="20" name="Oval 19"/>
          <p:cNvSpPr/>
          <p:nvPr/>
        </p:nvSpPr>
        <p:spPr>
          <a:xfrm>
            <a:off x="7784401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894129" y="6437376"/>
            <a:ext cx="1286446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What did the fit miss?</a:t>
            </a:r>
          </a:p>
        </p:txBody>
      </p:sp>
      <p:sp>
        <p:nvSpPr>
          <p:cNvPr id="22" name="Oval 21"/>
          <p:cNvSpPr/>
          <p:nvPr/>
        </p:nvSpPr>
        <p:spPr>
          <a:xfrm>
            <a:off x="9272015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381743" y="6437376"/>
            <a:ext cx="1194435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Who is worth a call?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67618" y="6437376"/>
            <a:ext cx="256032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…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198303" y="6437376"/>
            <a:ext cx="1463040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50" b="0" i="0">
                <a:solidFill>
                  <a:srgbClr val="6B6690"/>
                </a:solidFill>
                <a:latin typeface="Calibri"/>
              </a:rPr>
              <a:t>S13  ·  15 / 62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ligh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92063" y="310896"/>
            <a:ext cx="566928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550" b="1" i="0" spc="300">
                <a:solidFill>
                  <a:srgbClr val="6B6690"/>
                </a:solidFill>
                <a:latin typeface="Calibri"/>
              </a:rPr>
              <a:t>WEEK 5  ·  MONDAY  ·  REGRESSION AND CLASSIFICATION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76656"/>
            <a:ext cx="11130991" cy="512064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1A0F5C"/>
                </a:solidFill>
                <a:latin typeface="Georgia"/>
              </a:rPr>
              <a:t>The trap: count orders on the whole log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1243584"/>
            <a:ext cx="11130991" cy="234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B6690"/>
                </a:solidFill>
                <a:latin typeface="Calibri"/>
              </a:rPr>
              <a:t>M1 shows two orders. One of them is the answer.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30352" y="1956816"/>
          <a:ext cx="11130989" cy="1005840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914400"/>
                <a:gridCol w="3863775"/>
                <a:gridCol w="3004565"/>
                <a:gridCol w="3348249"/>
              </a:tblGrid>
              <a:tr h="335280">
                <a:tc>
                  <a:txBody>
                    <a:bodyPr/>
                    <a:lstStyle/>
                    <a:p>
                      <a:r>
                        <a:rPr sz="1250" b="1" i="0">
                          <a:solidFill>
                            <a:srgbClr val="FFFFFF"/>
                          </a:solidFill>
                          <a:latin typeface="Calibri"/>
                        </a:rPr>
                        <a:t>Member</a:t>
                      </a:r>
                    </a:p>
                  </a:txBody>
                  <a:tcPr marL="101600" marR="101600" marT="38100" marB="38100" anchor="ctr">
                    <a:solidFill>
                      <a:srgbClr val="1A0F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 i="0">
                          <a:solidFill>
                            <a:srgbClr val="FFFFFF"/>
                          </a:solidFill>
                          <a:latin typeface="Calibri"/>
                        </a:rPr>
                        <a:t>Orders before cutoff</a:t>
                      </a:r>
                    </a:p>
                  </a:txBody>
                  <a:tcPr marL="101600" marR="101600" marT="38100" marB="38100" anchor="ctr">
                    <a:solidFill>
                      <a:srgbClr val="1A0F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 i="0">
                          <a:solidFill>
                            <a:srgbClr val="FFFFFF"/>
                          </a:solidFill>
                          <a:latin typeface="Calibri"/>
                        </a:rPr>
                        <a:t>Orders all time</a:t>
                      </a:r>
                    </a:p>
                  </a:txBody>
                  <a:tcPr marL="101600" marR="101600" marT="38100" marB="38100" anchor="ctr">
                    <a:solidFill>
                      <a:srgbClr val="1A0F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 i="0">
                          <a:solidFill>
                            <a:srgbClr val="FFFFFF"/>
                          </a:solidFill>
                          <a:latin typeface="Calibri"/>
                        </a:rPr>
                        <a:t>Repeat in 90 days</a:t>
                      </a:r>
                    </a:p>
                  </a:txBody>
                  <a:tcPr marL="101600" marR="101600" marT="38100" marB="38100" anchor="ctr">
                    <a:solidFill>
                      <a:srgbClr val="1A0F5C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440"/>
                          </a:solidFill>
                          <a:latin typeface="Calibri"/>
                        </a:rPr>
                        <a:t>M1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440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1A1440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440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440"/>
                          </a:solidFill>
                          <a:latin typeface="Calibri"/>
                        </a:rPr>
                        <a:t>M4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440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1A1440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440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530352" y="3218688"/>
            <a:ext cx="11130991" cy="541020"/>
          </a:xfrm>
          <a:prstGeom prst="roundRect">
            <a:avLst>
              <a:gd name="adj" fmla="val 8000"/>
            </a:avLst>
          </a:prstGeom>
          <a:solidFill>
            <a:srgbClr val="F7F5FD"/>
          </a:solidFill>
          <a:ln w="9525">
            <a:solidFill>
              <a:srgbClr val="E4E1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76656" y="3346704"/>
            <a:ext cx="45720" cy="284988"/>
          </a:xfrm>
          <a:prstGeom prst="roundRect">
            <a:avLst>
              <a:gd name="adj" fmla="val 50000"/>
            </a:avLst>
          </a:prstGeom>
          <a:solidFill>
            <a:srgbClr val="5B3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4" y="3337560"/>
            <a:ext cx="10564063" cy="3581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500" b="1">
                <a:solidFill>
                  <a:srgbClr val="5B3FD6"/>
                </a:solidFill>
                <a:latin typeface="Calibri"/>
              </a:rPr>
              <a:t>The check. </a:t>
            </a:r>
            <a:r>
              <a:rPr sz="1500" b="0" i="0">
                <a:solidFill>
                  <a:srgbClr val="1A1440"/>
                </a:solidFill>
                <a:latin typeface="Calibri"/>
              </a:rPr>
              <a:t>Ask of every column: would I know this value on 30 June?</a:t>
            </a:r>
          </a:p>
        </p:txBody>
      </p:sp>
      <p:sp>
        <p:nvSpPr>
          <p:cNvPr id="13" name="Oval 12"/>
          <p:cNvSpPr/>
          <p:nvPr/>
        </p:nvSpPr>
        <p:spPr>
          <a:xfrm>
            <a:off x="530352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6437376"/>
            <a:ext cx="1240440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Does it need a model?</a:t>
            </a:r>
          </a:p>
        </p:txBody>
      </p:sp>
      <p:sp>
        <p:nvSpPr>
          <p:cNvPr id="15" name="Oval 14"/>
          <p:cNvSpPr/>
          <p:nvPr/>
        </p:nvSpPr>
        <p:spPr>
          <a:xfrm>
            <a:off x="1971960" y="6492240"/>
            <a:ext cx="64008" cy="64008"/>
          </a:xfrm>
          <a:prstGeom prst="ellipse">
            <a:avLst/>
          </a:prstGeom>
          <a:solidFill>
            <a:srgbClr val="5B3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081688" y="6437376"/>
            <a:ext cx="1378457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 i="0">
                <a:solidFill>
                  <a:srgbClr val="5B3FD6"/>
                </a:solidFill>
                <a:latin typeface="Calibri"/>
              </a:rPr>
              <a:t>What may the model read?</a:t>
            </a:r>
          </a:p>
        </p:txBody>
      </p:sp>
      <p:sp>
        <p:nvSpPr>
          <p:cNvPr id="17" name="Oval 16"/>
          <p:cNvSpPr/>
          <p:nvPr/>
        </p:nvSpPr>
        <p:spPr>
          <a:xfrm>
            <a:off x="3551586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61314" y="6437376"/>
            <a:ext cx="1286446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Which slice, and when?</a:t>
            </a:r>
          </a:p>
        </p:txBody>
      </p:sp>
      <p:sp>
        <p:nvSpPr>
          <p:cNvPr id="19" name="Oval 18"/>
          <p:cNvSpPr/>
          <p:nvPr/>
        </p:nvSpPr>
        <p:spPr>
          <a:xfrm>
            <a:off x="5039201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148929" y="6437376"/>
            <a:ext cx="1148429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Which line is best?</a:t>
            </a:r>
          </a:p>
        </p:txBody>
      </p:sp>
      <p:sp>
        <p:nvSpPr>
          <p:cNvPr id="21" name="Oval 20"/>
          <p:cNvSpPr/>
          <p:nvPr/>
        </p:nvSpPr>
        <p:spPr>
          <a:xfrm>
            <a:off x="6388798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98526" y="6437376"/>
            <a:ext cx="1194435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What does 0.73 mean?</a:t>
            </a:r>
          </a:p>
        </p:txBody>
      </p:sp>
      <p:sp>
        <p:nvSpPr>
          <p:cNvPr id="23" name="Oval 22"/>
          <p:cNvSpPr/>
          <p:nvPr/>
        </p:nvSpPr>
        <p:spPr>
          <a:xfrm>
            <a:off x="7784401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894129" y="6437376"/>
            <a:ext cx="1286446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What did the fit miss?</a:t>
            </a:r>
          </a:p>
        </p:txBody>
      </p:sp>
      <p:sp>
        <p:nvSpPr>
          <p:cNvPr id="25" name="Oval 24"/>
          <p:cNvSpPr/>
          <p:nvPr/>
        </p:nvSpPr>
        <p:spPr>
          <a:xfrm>
            <a:off x="9272015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381743" y="6437376"/>
            <a:ext cx="1194435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Who is worth a call?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67618" y="6437376"/>
            <a:ext cx="256032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…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198303" y="6437376"/>
            <a:ext cx="1463040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50" b="0" i="0">
                <a:solidFill>
                  <a:srgbClr val="6B6690"/>
                </a:solidFill>
                <a:latin typeface="Calibri"/>
              </a:rPr>
              <a:t>S14  ·  16 / 62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dar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92063" y="310896"/>
            <a:ext cx="566928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550" b="1" i="0" spc="300">
                <a:solidFill>
                  <a:srgbClr val="CFC9EE"/>
                </a:solidFill>
                <a:latin typeface="Calibri"/>
              </a:rPr>
              <a:t>PG DIPLOMA IN AI-ML AND AGENTIC AI ENGINEERING  ·  COHORT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19" y="1143000"/>
            <a:ext cx="36576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600" b="0" i="0">
                <a:solidFill>
                  <a:srgbClr val="D9A7FF"/>
                </a:solidFill>
                <a:latin typeface="Georgia"/>
              </a:rPr>
              <a:t>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19" y="2542032"/>
            <a:ext cx="10673791" cy="366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D9A7FF"/>
                </a:solidFill>
                <a:latin typeface="Calibri"/>
              </a:rPr>
              <a:t>Don't peek at the exam paper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19" y="3017520"/>
            <a:ext cx="10673791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0" i="0">
                <a:solidFill>
                  <a:srgbClr val="FFFFFF"/>
                </a:solidFill>
                <a:latin typeface="Georgia"/>
              </a:rPr>
              <a:t>Which slice, and when?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19" y="3931920"/>
            <a:ext cx="9509760" cy="5318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E4E1F1"/>
                </a:solidFill>
                <a:latin typeface="Calibri"/>
              </a:rPr>
              <a:t>Train, validation, test; the seed; the baseline · also searched as: train validation test split, baseline model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19" y="5074920"/>
            <a:ext cx="1099768" cy="310896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CFC9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400" rIns="25400" tIns="0" bIns="0"/>
          <a:lstStyle/>
          <a:p>
            <a:pPr algn="ctr"/>
            <a:r>
              <a:rPr sz="850" b="0">
                <a:solidFill>
                  <a:srgbClr val="CFC9EE"/>
                </a:solidFill>
                <a:latin typeface="Calibri"/>
              </a:rPr>
              <a:t>Does it need a model?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941016" y="5074920"/>
            <a:ext cx="1221169" cy="310896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CFC9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400" rIns="25400" tIns="0" bIns="0"/>
          <a:lstStyle/>
          <a:p>
            <a:pPr algn="ctr"/>
            <a:r>
              <a:rPr sz="850" b="0">
                <a:solidFill>
                  <a:srgbClr val="CFC9EE"/>
                </a:solidFill>
                <a:latin typeface="Calibri"/>
              </a:rPr>
              <a:t>What may the model read?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71914" y="5074920"/>
            <a:ext cx="1140235" cy="310896"/>
          </a:xfrm>
          <a:prstGeom prst="roundRect">
            <a:avLst>
              <a:gd name="adj" fmla="val 50000"/>
            </a:avLst>
          </a:prstGeom>
          <a:solidFill>
            <a:srgbClr val="D9A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400" rIns="25400" tIns="0" bIns="0"/>
          <a:lstStyle/>
          <a:p>
            <a:pPr algn="ctr"/>
            <a:r>
              <a:rPr sz="850" b="1">
                <a:solidFill>
                  <a:srgbClr val="1A0F5C"/>
                </a:solidFill>
                <a:latin typeface="Calibri"/>
              </a:rPr>
              <a:t>Which slice, and when?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21877" y="5074920"/>
            <a:ext cx="1018833" cy="310896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CFC9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400" rIns="25400" tIns="0" bIns="0"/>
          <a:lstStyle/>
          <a:p>
            <a:pPr algn="ctr"/>
            <a:r>
              <a:rPr sz="850" b="0">
                <a:solidFill>
                  <a:srgbClr val="CFC9EE"/>
                </a:solidFill>
                <a:latin typeface="Calibri"/>
              </a:rPr>
              <a:t>Which line is best?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50438" y="5074920"/>
            <a:ext cx="1059300" cy="310896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CFC9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400" rIns="25400" tIns="0" bIns="0"/>
          <a:lstStyle/>
          <a:p>
            <a:pPr algn="ctr"/>
            <a:r>
              <a:rPr sz="850" b="0">
                <a:solidFill>
                  <a:srgbClr val="CFC9EE"/>
                </a:solidFill>
                <a:latin typeface="Calibri"/>
              </a:rPr>
              <a:t>What does 0.73 mean?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19467" y="5074920"/>
            <a:ext cx="1140235" cy="310896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CFC9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400" rIns="25400" tIns="0" bIns="0"/>
          <a:lstStyle/>
          <a:p>
            <a:pPr algn="ctr"/>
            <a:r>
              <a:rPr sz="850" b="0">
                <a:solidFill>
                  <a:srgbClr val="CFC9EE"/>
                </a:solidFill>
                <a:latin typeface="Calibri"/>
              </a:rPr>
              <a:t>What did the fit miss?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69430" y="5074920"/>
            <a:ext cx="1059300" cy="310896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CFC9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400" rIns="25400" tIns="0" bIns="0"/>
          <a:lstStyle/>
          <a:p>
            <a:pPr algn="ctr"/>
            <a:r>
              <a:rPr sz="850" b="0">
                <a:solidFill>
                  <a:srgbClr val="CFC9EE"/>
                </a:solidFill>
                <a:latin typeface="Calibri"/>
              </a:rPr>
              <a:t>Who is worth a call?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238459" y="5074920"/>
            <a:ext cx="1099768" cy="310896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CFC9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400" rIns="25400" tIns="0" bIns="0"/>
          <a:lstStyle/>
          <a:p>
            <a:pPr algn="ctr"/>
            <a:r>
              <a:rPr sz="850" b="0">
                <a:solidFill>
                  <a:srgbClr val="CFC9EE"/>
                </a:solidFill>
                <a:latin typeface="Calibri"/>
              </a:rPr>
              <a:t>Does it beat nothing?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47955" y="5074920"/>
            <a:ext cx="1140235" cy="310896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CFC9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400" rIns="25400" tIns="0" bIns="0"/>
          <a:lstStyle/>
          <a:p>
            <a:pPr algn="ctr"/>
            <a:r>
              <a:rPr sz="850" b="0">
                <a:solidFill>
                  <a:srgbClr val="CFC9EE"/>
                </a:solidFill>
                <a:latin typeface="Calibri"/>
              </a:rPr>
              <a:t>What did the peek buy?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0352" y="6437376"/>
            <a:ext cx="9667951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 i="0">
                <a:solidFill>
                  <a:srgbClr val="CFC9EE"/>
                </a:solidFill>
                <a:latin typeface="Calibri"/>
              </a:rPr>
              <a:t>Week 5 Monday: regression and classification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198303" y="6437376"/>
            <a:ext cx="1463040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50" b="0" i="0">
                <a:solidFill>
                  <a:srgbClr val="CFC9EE"/>
                </a:solidFill>
                <a:latin typeface="Calibri"/>
              </a:rPr>
              <a:t>17 / 62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ligh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92063" y="310896"/>
            <a:ext cx="566928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550" b="1" i="0" spc="300">
                <a:solidFill>
                  <a:srgbClr val="6B6690"/>
                </a:solidFill>
                <a:latin typeface="Calibri"/>
              </a:rPr>
              <a:t>WEEK 5  ·  MONDAY  ·  REGRESSION AND CLASSIFICATION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76656"/>
            <a:ext cx="11130991" cy="512064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1A0F5C"/>
                </a:solidFill>
                <a:latin typeface="Georgia"/>
              </a:rPr>
              <a:t>Three slices, three jobs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1243584"/>
            <a:ext cx="11130991" cy="234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B6690"/>
                </a:solidFill>
                <a:latin typeface="Calibri"/>
              </a:rPr>
              <a:t>Practice papers, mock exams, the board exam.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30352" y="1956816"/>
          <a:ext cx="11130990" cy="1479296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1546272"/>
                <a:gridCol w="4292961"/>
                <a:gridCol w="5291757"/>
              </a:tblGrid>
              <a:tr h="369824">
                <a:tc>
                  <a:txBody>
                    <a:bodyPr/>
                    <a:lstStyle/>
                    <a:p>
                      <a:r>
                        <a:rPr sz="1450" b="1" i="0">
                          <a:solidFill>
                            <a:srgbClr val="FFFFFF"/>
                          </a:solidFill>
                          <a:latin typeface="Calibri"/>
                        </a:rPr>
                        <a:t>Slice</a:t>
                      </a:r>
                    </a:p>
                  </a:txBody>
                  <a:tcPr marL="101600" marR="101600" marT="38100" marB="38100" anchor="ctr">
                    <a:solidFill>
                      <a:srgbClr val="1A0F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50" b="1" i="0">
                          <a:solidFill>
                            <a:srgbClr val="FFFFFF"/>
                          </a:solidFill>
                          <a:latin typeface="Calibri"/>
                        </a:rPr>
                        <a:t>At school</a:t>
                      </a:r>
                    </a:p>
                  </a:txBody>
                  <a:tcPr marL="101600" marR="101600" marT="38100" marB="38100" anchor="ctr">
                    <a:solidFill>
                      <a:srgbClr val="1A0F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50" b="1" i="0">
                          <a:solidFill>
                            <a:srgbClr val="FFFFFF"/>
                          </a:solidFill>
                          <a:latin typeface="Calibri"/>
                        </a:rPr>
                        <a:t>For a model</a:t>
                      </a:r>
                    </a:p>
                  </a:txBody>
                  <a:tcPr marL="101600" marR="101600" marT="38100" marB="38100" anchor="ctr">
                    <a:solidFill>
                      <a:srgbClr val="1A0F5C"/>
                    </a:solidFill>
                  </a:tcPr>
                </a:tc>
              </a:tr>
              <a:tr h="369824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train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practice papers you study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rows the model learns from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</a:tr>
              <a:tr h="369824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validation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mock exams, as often as you like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rows you compare models on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</a:tr>
              <a:tr h="369824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test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the board exam, sat once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rows you score the chosen model on, once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Oval 9"/>
          <p:cNvSpPr/>
          <p:nvPr/>
        </p:nvSpPr>
        <p:spPr>
          <a:xfrm>
            <a:off x="530352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6437376"/>
            <a:ext cx="1240440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Does it need a model?</a:t>
            </a:r>
          </a:p>
        </p:txBody>
      </p:sp>
      <p:sp>
        <p:nvSpPr>
          <p:cNvPr id="12" name="Oval 11"/>
          <p:cNvSpPr/>
          <p:nvPr/>
        </p:nvSpPr>
        <p:spPr>
          <a:xfrm>
            <a:off x="1971960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081688" y="6437376"/>
            <a:ext cx="1378457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What may the model read?</a:t>
            </a:r>
          </a:p>
        </p:txBody>
      </p:sp>
      <p:sp>
        <p:nvSpPr>
          <p:cNvPr id="14" name="Oval 13"/>
          <p:cNvSpPr/>
          <p:nvPr/>
        </p:nvSpPr>
        <p:spPr>
          <a:xfrm>
            <a:off x="3551586" y="6492240"/>
            <a:ext cx="64008" cy="64008"/>
          </a:xfrm>
          <a:prstGeom prst="ellipse">
            <a:avLst/>
          </a:prstGeom>
          <a:solidFill>
            <a:srgbClr val="5B3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61314" y="6437376"/>
            <a:ext cx="1286446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 i="0">
                <a:solidFill>
                  <a:srgbClr val="5B3FD6"/>
                </a:solidFill>
                <a:latin typeface="Calibri"/>
              </a:rPr>
              <a:t>Which slice, and when?</a:t>
            </a:r>
          </a:p>
        </p:txBody>
      </p:sp>
      <p:sp>
        <p:nvSpPr>
          <p:cNvPr id="16" name="Oval 15"/>
          <p:cNvSpPr/>
          <p:nvPr/>
        </p:nvSpPr>
        <p:spPr>
          <a:xfrm>
            <a:off x="5039201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48929" y="6437376"/>
            <a:ext cx="1148429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Which line is best?</a:t>
            </a:r>
          </a:p>
        </p:txBody>
      </p:sp>
      <p:sp>
        <p:nvSpPr>
          <p:cNvPr id="18" name="Oval 17"/>
          <p:cNvSpPr/>
          <p:nvPr/>
        </p:nvSpPr>
        <p:spPr>
          <a:xfrm>
            <a:off x="6388798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8526" y="6437376"/>
            <a:ext cx="1194435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What does 0.73 mean?</a:t>
            </a:r>
          </a:p>
        </p:txBody>
      </p:sp>
      <p:sp>
        <p:nvSpPr>
          <p:cNvPr id="20" name="Oval 19"/>
          <p:cNvSpPr/>
          <p:nvPr/>
        </p:nvSpPr>
        <p:spPr>
          <a:xfrm>
            <a:off x="7784401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894129" y="6437376"/>
            <a:ext cx="1286446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What did the fit miss?</a:t>
            </a:r>
          </a:p>
        </p:txBody>
      </p:sp>
      <p:sp>
        <p:nvSpPr>
          <p:cNvPr id="22" name="Oval 21"/>
          <p:cNvSpPr/>
          <p:nvPr/>
        </p:nvSpPr>
        <p:spPr>
          <a:xfrm>
            <a:off x="9272015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381743" y="6437376"/>
            <a:ext cx="1194435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Who is worth a call?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67618" y="6437376"/>
            <a:ext cx="256032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…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198303" y="6437376"/>
            <a:ext cx="1463040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50" b="0" i="0">
                <a:solidFill>
                  <a:srgbClr val="6B6690"/>
                </a:solidFill>
                <a:latin typeface="Calibri"/>
              </a:rPr>
              <a:t>S15  ·  18 / 62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ligh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92063" y="310896"/>
            <a:ext cx="566928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550" b="1" i="0" spc="300">
                <a:solidFill>
                  <a:srgbClr val="6B6690"/>
                </a:solidFill>
                <a:latin typeface="Calibri"/>
              </a:rPr>
              <a:t>WEEK 5  ·  MONDAY  ·  REGRESSION AND CLASSIFICATION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76656"/>
            <a:ext cx="11130991" cy="512064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1A0F5C"/>
                </a:solidFill>
                <a:latin typeface="Georgia"/>
              </a:rPr>
              <a:t>The seed is the shuffle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1243584"/>
            <a:ext cx="11130991" cy="234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B6690"/>
                </a:solidFill>
                <a:latin typeface="Calibri"/>
              </a:rPr>
              <a:t>Twenty invented members, two seeds, two different exam papers.</a:t>
            </a:r>
          </a:p>
        </p:txBody>
      </p:sp>
      <p:pic>
        <p:nvPicPr>
          <p:cNvPr id="9" name="mermaid diagram" descr="C2_W05_D01_fig_ch3_two_seeds_STUDE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352" y="1956816"/>
            <a:ext cx="11130991" cy="3335893"/>
          </a:xfrm>
          <a:prstGeom prst="rect">
            <a:avLst/>
          </a:prstGeom>
        </p:spPr>
      </p:pic>
      <p:sp>
        <p:nvSpPr>
          <p:cNvPr id="10" name="picture caption"/>
          <p:cNvSpPr txBox="1"/>
          <p:nvPr/>
        </p:nvSpPr>
        <p:spPr>
          <a:xfrm>
            <a:off x="530352" y="5329285"/>
            <a:ext cx="11130991" cy="3169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6B6690"/>
                </a:solidFill>
                <a:latin typeface="Calibri"/>
              </a:rPr>
              <a:t>Twenty members split by seed 42 and by seed 7</a:t>
            </a:r>
          </a:p>
        </p:txBody>
      </p:sp>
      <p:sp>
        <p:nvSpPr>
          <p:cNvPr id="11" name="Oval 10"/>
          <p:cNvSpPr/>
          <p:nvPr/>
        </p:nvSpPr>
        <p:spPr>
          <a:xfrm>
            <a:off x="530352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6437376"/>
            <a:ext cx="1240440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Does it need a model?</a:t>
            </a:r>
          </a:p>
        </p:txBody>
      </p:sp>
      <p:sp>
        <p:nvSpPr>
          <p:cNvPr id="13" name="Oval 12"/>
          <p:cNvSpPr/>
          <p:nvPr/>
        </p:nvSpPr>
        <p:spPr>
          <a:xfrm>
            <a:off x="1971960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081688" y="6437376"/>
            <a:ext cx="1378457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What may the model read?</a:t>
            </a:r>
          </a:p>
        </p:txBody>
      </p:sp>
      <p:sp>
        <p:nvSpPr>
          <p:cNvPr id="15" name="Oval 14"/>
          <p:cNvSpPr/>
          <p:nvPr/>
        </p:nvSpPr>
        <p:spPr>
          <a:xfrm>
            <a:off x="3551586" y="6492240"/>
            <a:ext cx="64008" cy="64008"/>
          </a:xfrm>
          <a:prstGeom prst="ellipse">
            <a:avLst/>
          </a:prstGeom>
          <a:solidFill>
            <a:srgbClr val="5B3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61314" y="6437376"/>
            <a:ext cx="1286446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 i="0">
                <a:solidFill>
                  <a:srgbClr val="5B3FD6"/>
                </a:solidFill>
                <a:latin typeface="Calibri"/>
              </a:rPr>
              <a:t>Which slice, and when?</a:t>
            </a:r>
          </a:p>
        </p:txBody>
      </p:sp>
      <p:sp>
        <p:nvSpPr>
          <p:cNvPr id="17" name="Oval 16"/>
          <p:cNvSpPr/>
          <p:nvPr/>
        </p:nvSpPr>
        <p:spPr>
          <a:xfrm>
            <a:off x="5039201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148929" y="6437376"/>
            <a:ext cx="1148429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Which line is best?</a:t>
            </a:r>
          </a:p>
        </p:txBody>
      </p:sp>
      <p:sp>
        <p:nvSpPr>
          <p:cNvPr id="19" name="Oval 18"/>
          <p:cNvSpPr/>
          <p:nvPr/>
        </p:nvSpPr>
        <p:spPr>
          <a:xfrm>
            <a:off x="6388798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98526" y="6437376"/>
            <a:ext cx="1194435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What does 0.73 mean?</a:t>
            </a:r>
          </a:p>
        </p:txBody>
      </p:sp>
      <p:sp>
        <p:nvSpPr>
          <p:cNvPr id="21" name="Oval 20"/>
          <p:cNvSpPr/>
          <p:nvPr/>
        </p:nvSpPr>
        <p:spPr>
          <a:xfrm>
            <a:off x="7784401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894129" y="6437376"/>
            <a:ext cx="1286446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What did the fit miss?</a:t>
            </a:r>
          </a:p>
        </p:txBody>
      </p:sp>
      <p:sp>
        <p:nvSpPr>
          <p:cNvPr id="23" name="Oval 22"/>
          <p:cNvSpPr/>
          <p:nvPr/>
        </p:nvSpPr>
        <p:spPr>
          <a:xfrm>
            <a:off x="9272015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381743" y="6437376"/>
            <a:ext cx="1194435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Who is worth a call?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67618" y="6437376"/>
            <a:ext cx="256032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…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198303" y="6437376"/>
            <a:ext cx="1463040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50" b="0" i="0">
                <a:solidFill>
                  <a:srgbClr val="6B6690"/>
                </a:solidFill>
                <a:latin typeface="Calibri"/>
              </a:rPr>
              <a:t>S16  ·  19 / 62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ligh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92063" y="310896"/>
            <a:ext cx="566928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550" b="1" i="0" spc="300">
                <a:solidFill>
                  <a:srgbClr val="6B6690"/>
                </a:solidFill>
                <a:latin typeface="Calibri"/>
              </a:rPr>
              <a:t>WEEK 5  ·  MONDAY  ·  REGRESSION AND CLASSIFICATION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76656"/>
            <a:ext cx="11130991" cy="512064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1A0F5C"/>
                </a:solidFill>
                <a:latin typeface="Georgia"/>
              </a:rPr>
              <a:t>Saying "no" to all twenty scores how much?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1243584"/>
            <a:ext cx="11130991" cy="234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B6690"/>
                </a:solidFill>
                <a:latin typeface="Calibri"/>
              </a:rPr>
              <a:t>5 of 20 came back. Commit: 25, 50, 75 or 95 percent?</a:t>
            </a:r>
          </a:p>
        </p:txBody>
      </p:sp>
      <p:sp>
        <p:nvSpPr>
          <p:cNvPr id="9" name="Rectangle 8"/>
          <p:cNvSpPr/>
          <p:nvPr/>
        </p:nvSpPr>
        <p:spPr>
          <a:xfrm>
            <a:off x="530352" y="1956816"/>
            <a:ext cx="2782747" cy="457200"/>
          </a:xfrm>
          <a:prstGeom prst="rect">
            <a:avLst/>
          </a:prstGeom>
          <a:solidFill>
            <a:srgbClr val="EEE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 i="0">
                <a:solidFill>
                  <a:srgbClr val="1A0F5C"/>
                </a:solidFill>
                <a:latin typeface="Calibri"/>
              </a:rPr>
              <a:t>came back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352" y="2487168"/>
            <a:ext cx="2782747" cy="17691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 i="0">
                <a:solidFill>
                  <a:srgbClr val="6B6690"/>
                </a:solidFill>
                <a:latin typeface="Calibri"/>
              </a:rPr>
              <a:t>5 members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13099" y="1956816"/>
            <a:ext cx="8348243" cy="457200"/>
          </a:xfrm>
          <a:prstGeom prst="rect">
            <a:avLst/>
          </a:prstGeom>
          <a:solidFill>
            <a:srgbClr val="5B3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did not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13099" y="2487168"/>
            <a:ext cx="8348243" cy="17691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 i="0">
                <a:solidFill>
                  <a:srgbClr val="6B6690"/>
                </a:solidFill>
                <a:latin typeface="Calibri"/>
              </a:rPr>
              <a:t>15 members</a:t>
            </a:r>
          </a:p>
        </p:txBody>
      </p:sp>
      <p:sp>
        <p:nvSpPr>
          <p:cNvPr id="13" name="Oval 12"/>
          <p:cNvSpPr/>
          <p:nvPr/>
        </p:nvSpPr>
        <p:spPr>
          <a:xfrm>
            <a:off x="530352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6437376"/>
            <a:ext cx="1240440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Does it need a model?</a:t>
            </a:r>
          </a:p>
        </p:txBody>
      </p:sp>
      <p:sp>
        <p:nvSpPr>
          <p:cNvPr id="15" name="Oval 14"/>
          <p:cNvSpPr/>
          <p:nvPr/>
        </p:nvSpPr>
        <p:spPr>
          <a:xfrm>
            <a:off x="1971960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081688" y="6437376"/>
            <a:ext cx="1378457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What may the model read?</a:t>
            </a:r>
          </a:p>
        </p:txBody>
      </p:sp>
      <p:sp>
        <p:nvSpPr>
          <p:cNvPr id="17" name="Oval 16"/>
          <p:cNvSpPr/>
          <p:nvPr/>
        </p:nvSpPr>
        <p:spPr>
          <a:xfrm>
            <a:off x="3551586" y="6492240"/>
            <a:ext cx="64008" cy="64008"/>
          </a:xfrm>
          <a:prstGeom prst="ellipse">
            <a:avLst/>
          </a:prstGeom>
          <a:solidFill>
            <a:srgbClr val="5B3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61314" y="6437376"/>
            <a:ext cx="1286446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 i="0">
                <a:solidFill>
                  <a:srgbClr val="5B3FD6"/>
                </a:solidFill>
                <a:latin typeface="Calibri"/>
              </a:rPr>
              <a:t>Which slice, and when?</a:t>
            </a:r>
          </a:p>
        </p:txBody>
      </p:sp>
      <p:sp>
        <p:nvSpPr>
          <p:cNvPr id="19" name="Oval 18"/>
          <p:cNvSpPr/>
          <p:nvPr/>
        </p:nvSpPr>
        <p:spPr>
          <a:xfrm>
            <a:off x="5039201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148929" y="6437376"/>
            <a:ext cx="1148429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Which line is best?</a:t>
            </a:r>
          </a:p>
        </p:txBody>
      </p:sp>
      <p:sp>
        <p:nvSpPr>
          <p:cNvPr id="21" name="Oval 20"/>
          <p:cNvSpPr/>
          <p:nvPr/>
        </p:nvSpPr>
        <p:spPr>
          <a:xfrm>
            <a:off x="6388798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98526" y="6437376"/>
            <a:ext cx="1194435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What does 0.73 mean?</a:t>
            </a:r>
          </a:p>
        </p:txBody>
      </p:sp>
      <p:sp>
        <p:nvSpPr>
          <p:cNvPr id="23" name="Oval 22"/>
          <p:cNvSpPr/>
          <p:nvPr/>
        </p:nvSpPr>
        <p:spPr>
          <a:xfrm>
            <a:off x="7784401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894129" y="6437376"/>
            <a:ext cx="1286446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What did the fit miss?</a:t>
            </a:r>
          </a:p>
        </p:txBody>
      </p:sp>
      <p:sp>
        <p:nvSpPr>
          <p:cNvPr id="25" name="Oval 24"/>
          <p:cNvSpPr/>
          <p:nvPr/>
        </p:nvSpPr>
        <p:spPr>
          <a:xfrm>
            <a:off x="9272015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381743" y="6437376"/>
            <a:ext cx="1194435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Who is worth a call?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67618" y="6437376"/>
            <a:ext cx="256032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…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198303" y="6437376"/>
            <a:ext cx="1463040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50" b="0" i="0">
                <a:solidFill>
                  <a:srgbClr val="6B6690"/>
                </a:solidFill>
                <a:latin typeface="Calibri"/>
              </a:rPr>
              <a:t>S17  ·  20 / 62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ligh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92063" y="310896"/>
            <a:ext cx="566928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550" b="1" i="0" spc="300">
                <a:solidFill>
                  <a:srgbClr val="6B6690"/>
                </a:solidFill>
                <a:latin typeface="Calibri"/>
              </a:rPr>
              <a:t>WEEK 5  ·  MONDAY  ·  REGRESSION AND CLASSIFICATION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76656"/>
            <a:ext cx="11130991" cy="512064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1A0F5C"/>
                </a:solidFill>
                <a:latin typeface="Georgia"/>
              </a:rPr>
              <a:t>Answer: 75 percent, knowing nothing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1243584"/>
            <a:ext cx="11130991" cy="234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B6690"/>
                </a:solidFill>
                <a:latin typeface="Calibri"/>
              </a:rPr>
              <a:t>15 of 20 right by saying "no" to everyone.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" y="1956816"/>
            <a:ext cx="3527450" cy="698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0" i="0">
                <a:solidFill>
                  <a:srgbClr val="5B3FD6"/>
                </a:solidFill>
                <a:latin typeface="Georgia"/>
              </a:rPr>
              <a:t>75%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352" y="2691892"/>
            <a:ext cx="3527450" cy="168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 i="0" spc="250">
                <a:solidFill>
                  <a:srgbClr val="1A0F5C"/>
                </a:solidFill>
                <a:latin typeface="Calibri"/>
              </a:rPr>
              <a:t>MAJORITY CLASS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" y="2893060"/>
            <a:ext cx="3527450" cy="19342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6B6690"/>
                </a:solidFill>
                <a:latin typeface="Calibri"/>
              </a:rPr>
              <a:t>the bar for "will they"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30352" y="3145536"/>
            <a:ext cx="3527450" cy="10972"/>
          </a:xfrm>
          <a:prstGeom prst="rect">
            <a:avLst/>
          </a:prstGeom>
          <a:solidFill>
            <a:srgbClr val="E4E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32122" y="1956816"/>
            <a:ext cx="3527450" cy="698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0" i="0">
                <a:solidFill>
                  <a:srgbClr val="5B3FD6"/>
                </a:solidFill>
                <a:latin typeface="Georgia"/>
              </a:rPr>
              <a:t>mean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32122" y="2691892"/>
            <a:ext cx="3527450" cy="168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 i="0" spc="250">
                <a:solidFill>
                  <a:srgbClr val="1A0F5C"/>
                </a:solidFill>
                <a:latin typeface="Calibri"/>
              </a:rPr>
              <a:t>THE AVERAGE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32122" y="2893060"/>
            <a:ext cx="3527450" cy="19342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6B6690"/>
                </a:solidFill>
                <a:latin typeface="Calibri"/>
              </a:rPr>
              <a:t>the bar for "how much"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32122" y="3145536"/>
            <a:ext cx="3527450" cy="10972"/>
          </a:xfrm>
          <a:prstGeom prst="rect">
            <a:avLst/>
          </a:prstGeom>
          <a:solidFill>
            <a:srgbClr val="E4E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33892" y="1956816"/>
            <a:ext cx="3527450" cy="698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0" i="0">
                <a:solidFill>
                  <a:srgbClr val="5B3FD6"/>
                </a:solidFill>
                <a:latin typeface="Georgia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33892" y="2691892"/>
            <a:ext cx="3527450" cy="168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 i="0" spc="250">
                <a:solidFill>
                  <a:srgbClr val="1A0F5C"/>
                </a:solidFill>
                <a:latin typeface="Calibri"/>
              </a:rPr>
              <a:t>RULE TO BEAT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33892" y="2893060"/>
            <a:ext cx="3527450" cy="19342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6B6690"/>
                </a:solidFill>
                <a:latin typeface="Calibri"/>
              </a:rPr>
              <a:t>a cheap rule, where one exists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133892" y="3145536"/>
            <a:ext cx="3527450" cy="10972"/>
          </a:xfrm>
          <a:prstGeom prst="rect">
            <a:avLst/>
          </a:prstGeom>
          <a:solidFill>
            <a:srgbClr val="E4E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30352" y="3419856"/>
            <a:ext cx="11130991" cy="541020"/>
          </a:xfrm>
          <a:prstGeom prst="roundRect">
            <a:avLst>
              <a:gd name="adj" fmla="val 8000"/>
            </a:avLst>
          </a:prstGeom>
          <a:solidFill>
            <a:srgbClr val="F7F5FD"/>
          </a:solidFill>
          <a:ln w="9525">
            <a:solidFill>
              <a:srgbClr val="E4E1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76656" y="3547872"/>
            <a:ext cx="45720" cy="284988"/>
          </a:xfrm>
          <a:prstGeom prst="roundRect">
            <a:avLst>
              <a:gd name="adj" fmla="val 50000"/>
            </a:avLst>
          </a:prstGeom>
          <a:solidFill>
            <a:srgbClr val="5B3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77824" y="3538728"/>
            <a:ext cx="10564063" cy="3581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500" b="1">
                <a:solidFill>
                  <a:srgbClr val="5B3FD6"/>
                </a:solidFill>
                <a:latin typeface="Calibri"/>
              </a:rPr>
              <a:t>The flip. </a:t>
            </a:r>
            <a:r>
              <a:rPr sz="1500" b="0" i="0">
                <a:solidFill>
                  <a:srgbClr val="1A1440"/>
                </a:solidFill>
                <a:latin typeface="Calibri"/>
              </a:rPr>
              <a:t>Where a cheap rule exists, it replaces the majority class as the bar.</a:t>
            </a:r>
          </a:p>
        </p:txBody>
      </p:sp>
      <p:sp>
        <p:nvSpPr>
          <p:cNvPr id="24" name="Oval 23"/>
          <p:cNvSpPr/>
          <p:nvPr/>
        </p:nvSpPr>
        <p:spPr>
          <a:xfrm>
            <a:off x="530352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6437376"/>
            <a:ext cx="1240440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Does it need a model?</a:t>
            </a:r>
          </a:p>
        </p:txBody>
      </p:sp>
      <p:sp>
        <p:nvSpPr>
          <p:cNvPr id="26" name="Oval 25"/>
          <p:cNvSpPr/>
          <p:nvPr/>
        </p:nvSpPr>
        <p:spPr>
          <a:xfrm>
            <a:off x="1971960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081688" y="6437376"/>
            <a:ext cx="1378457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What may the model read?</a:t>
            </a:r>
          </a:p>
        </p:txBody>
      </p:sp>
      <p:sp>
        <p:nvSpPr>
          <p:cNvPr id="28" name="Oval 27"/>
          <p:cNvSpPr/>
          <p:nvPr/>
        </p:nvSpPr>
        <p:spPr>
          <a:xfrm>
            <a:off x="3551586" y="6492240"/>
            <a:ext cx="64008" cy="64008"/>
          </a:xfrm>
          <a:prstGeom prst="ellipse">
            <a:avLst/>
          </a:prstGeom>
          <a:solidFill>
            <a:srgbClr val="5B3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661314" y="6437376"/>
            <a:ext cx="1286446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 i="0">
                <a:solidFill>
                  <a:srgbClr val="5B3FD6"/>
                </a:solidFill>
                <a:latin typeface="Calibri"/>
              </a:rPr>
              <a:t>Which slice, and when?</a:t>
            </a:r>
          </a:p>
        </p:txBody>
      </p:sp>
      <p:sp>
        <p:nvSpPr>
          <p:cNvPr id="30" name="Oval 29"/>
          <p:cNvSpPr/>
          <p:nvPr/>
        </p:nvSpPr>
        <p:spPr>
          <a:xfrm>
            <a:off x="5039201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148929" y="6437376"/>
            <a:ext cx="1148429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Which line is best?</a:t>
            </a:r>
          </a:p>
        </p:txBody>
      </p:sp>
      <p:sp>
        <p:nvSpPr>
          <p:cNvPr id="32" name="Oval 31"/>
          <p:cNvSpPr/>
          <p:nvPr/>
        </p:nvSpPr>
        <p:spPr>
          <a:xfrm>
            <a:off x="6388798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98526" y="6437376"/>
            <a:ext cx="1194435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What does 0.73 mean?</a:t>
            </a:r>
          </a:p>
        </p:txBody>
      </p:sp>
      <p:sp>
        <p:nvSpPr>
          <p:cNvPr id="34" name="Oval 33"/>
          <p:cNvSpPr/>
          <p:nvPr/>
        </p:nvSpPr>
        <p:spPr>
          <a:xfrm>
            <a:off x="7784401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894129" y="6437376"/>
            <a:ext cx="1286446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What did the fit miss?</a:t>
            </a:r>
          </a:p>
        </p:txBody>
      </p:sp>
      <p:sp>
        <p:nvSpPr>
          <p:cNvPr id="36" name="Oval 35"/>
          <p:cNvSpPr/>
          <p:nvPr/>
        </p:nvSpPr>
        <p:spPr>
          <a:xfrm>
            <a:off x="9272015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381743" y="6437376"/>
            <a:ext cx="1194435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Who is worth a call?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67618" y="6437376"/>
            <a:ext cx="256032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…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198303" y="6437376"/>
            <a:ext cx="1463040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50" b="0" i="0">
                <a:solidFill>
                  <a:srgbClr val="6B6690"/>
                </a:solidFill>
                <a:latin typeface="Calibri"/>
              </a:rPr>
              <a:t>S18  ·  21 / 62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dar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92063" y="310896"/>
            <a:ext cx="566928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550" b="1" i="0" spc="300">
                <a:solidFill>
                  <a:srgbClr val="CFC9EE"/>
                </a:solidFill>
                <a:latin typeface="Calibri"/>
              </a:rPr>
              <a:t>PG DIPLOMA IN AI-ML AND AGENTIC AI ENGINEERING  ·  COHORT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19" y="1143000"/>
            <a:ext cx="36576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600" b="0" i="0">
                <a:solidFill>
                  <a:srgbClr val="D9A7FF"/>
                </a:solidFill>
                <a:latin typeface="Georgia"/>
              </a:rPr>
              <a:t>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19" y="2542032"/>
            <a:ext cx="10673791" cy="366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D9A7FF"/>
                </a:solidFill>
                <a:latin typeface="Calibri"/>
              </a:rPr>
              <a:t>Drawing the best line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19" y="3017520"/>
            <a:ext cx="10673791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0" i="0">
                <a:solidFill>
                  <a:srgbClr val="FFFFFF"/>
                </a:solidFill>
                <a:latin typeface="Georgia"/>
              </a:rPr>
              <a:t>Which line is best?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19" y="3931920"/>
            <a:ext cx="9509760" cy="5318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E4E1F1"/>
                </a:solidFill>
                <a:latin typeface="Calibri"/>
              </a:rPr>
              <a:t>Linear regression: fit, coefficients in units, residuals · also searched as: linear regression explained, least squares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19" y="5074920"/>
            <a:ext cx="1099768" cy="310896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CFC9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400" rIns="25400" tIns="0" bIns="0"/>
          <a:lstStyle/>
          <a:p>
            <a:pPr algn="ctr"/>
            <a:r>
              <a:rPr sz="850" b="0">
                <a:solidFill>
                  <a:srgbClr val="CFC9EE"/>
                </a:solidFill>
                <a:latin typeface="Calibri"/>
              </a:rPr>
              <a:t>Does it need a model?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941016" y="5074920"/>
            <a:ext cx="1221169" cy="310896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CFC9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400" rIns="25400" tIns="0" bIns="0"/>
          <a:lstStyle/>
          <a:p>
            <a:pPr algn="ctr"/>
            <a:r>
              <a:rPr sz="850" b="0">
                <a:solidFill>
                  <a:srgbClr val="CFC9EE"/>
                </a:solidFill>
                <a:latin typeface="Calibri"/>
              </a:rPr>
              <a:t>What may the model read?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71914" y="5074920"/>
            <a:ext cx="1140235" cy="310896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CFC9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400" rIns="25400" tIns="0" bIns="0"/>
          <a:lstStyle/>
          <a:p>
            <a:pPr algn="ctr"/>
            <a:r>
              <a:rPr sz="850" b="0">
                <a:solidFill>
                  <a:srgbClr val="CFC9EE"/>
                </a:solidFill>
                <a:latin typeface="Calibri"/>
              </a:rPr>
              <a:t>Which slice, and when?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21877" y="5074920"/>
            <a:ext cx="1018833" cy="310896"/>
          </a:xfrm>
          <a:prstGeom prst="roundRect">
            <a:avLst>
              <a:gd name="adj" fmla="val 50000"/>
            </a:avLst>
          </a:prstGeom>
          <a:solidFill>
            <a:srgbClr val="D9A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400" rIns="25400" tIns="0" bIns="0"/>
          <a:lstStyle/>
          <a:p>
            <a:pPr algn="ctr"/>
            <a:r>
              <a:rPr sz="850" b="1">
                <a:solidFill>
                  <a:srgbClr val="1A0F5C"/>
                </a:solidFill>
                <a:latin typeface="Calibri"/>
              </a:rPr>
              <a:t>Which line is best?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50438" y="5074920"/>
            <a:ext cx="1059300" cy="310896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CFC9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400" rIns="25400" tIns="0" bIns="0"/>
          <a:lstStyle/>
          <a:p>
            <a:pPr algn="ctr"/>
            <a:r>
              <a:rPr sz="850" b="0">
                <a:solidFill>
                  <a:srgbClr val="CFC9EE"/>
                </a:solidFill>
                <a:latin typeface="Calibri"/>
              </a:rPr>
              <a:t>What does 0.73 mean?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19467" y="5074920"/>
            <a:ext cx="1140235" cy="310896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CFC9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400" rIns="25400" tIns="0" bIns="0"/>
          <a:lstStyle/>
          <a:p>
            <a:pPr algn="ctr"/>
            <a:r>
              <a:rPr sz="850" b="0">
                <a:solidFill>
                  <a:srgbClr val="CFC9EE"/>
                </a:solidFill>
                <a:latin typeface="Calibri"/>
              </a:rPr>
              <a:t>What did the fit miss?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69430" y="5074920"/>
            <a:ext cx="1059300" cy="310896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CFC9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400" rIns="25400" tIns="0" bIns="0"/>
          <a:lstStyle/>
          <a:p>
            <a:pPr algn="ctr"/>
            <a:r>
              <a:rPr sz="850" b="0">
                <a:solidFill>
                  <a:srgbClr val="CFC9EE"/>
                </a:solidFill>
                <a:latin typeface="Calibri"/>
              </a:rPr>
              <a:t>Who is worth a call?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238459" y="5074920"/>
            <a:ext cx="1099768" cy="310896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CFC9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400" rIns="25400" tIns="0" bIns="0"/>
          <a:lstStyle/>
          <a:p>
            <a:pPr algn="ctr"/>
            <a:r>
              <a:rPr sz="850" b="0">
                <a:solidFill>
                  <a:srgbClr val="CFC9EE"/>
                </a:solidFill>
                <a:latin typeface="Calibri"/>
              </a:rPr>
              <a:t>Does it beat nothing?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47955" y="5074920"/>
            <a:ext cx="1140235" cy="310896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CFC9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400" rIns="25400" tIns="0" bIns="0"/>
          <a:lstStyle/>
          <a:p>
            <a:pPr algn="ctr"/>
            <a:r>
              <a:rPr sz="850" b="0">
                <a:solidFill>
                  <a:srgbClr val="CFC9EE"/>
                </a:solidFill>
                <a:latin typeface="Calibri"/>
              </a:rPr>
              <a:t>What did the peek buy?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0352" y="6437376"/>
            <a:ext cx="9667951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 i="0">
                <a:solidFill>
                  <a:srgbClr val="CFC9EE"/>
                </a:solidFill>
                <a:latin typeface="Calibri"/>
              </a:rPr>
              <a:t>Week 5 Monday: regression and classification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198303" y="6437376"/>
            <a:ext cx="1463040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50" b="0" i="0">
                <a:solidFill>
                  <a:srgbClr val="CFC9EE"/>
                </a:solidFill>
                <a:latin typeface="Calibri"/>
              </a:rPr>
              <a:t>22 / 62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ligh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92063" y="310896"/>
            <a:ext cx="566928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550" b="1" i="0" spc="300">
                <a:solidFill>
                  <a:srgbClr val="6B6690"/>
                </a:solidFill>
                <a:latin typeface="Calibri"/>
              </a:rPr>
              <a:t>WEEK 5  ·  MONDAY  ·  REGRESSION AND CLASSIFICATION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76656"/>
            <a:ext cx="11130991" cy="512064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1A0F5C"/>
                </a:solidFill>
                <a:latin typeface="Georgia"/>
              </a:rPr>
              <a:t>Six members of one Kalpa store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1243584"/>
            <a:ext cx="11130991" cy="234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B6690"/>
                </a:solidFill>
                <a:latin typeface="Calibri"/>
              </a:rPr>
              <a:t>Invented. Visits last month against spend this month.</a:t>
            </a:r>
          </a:p>
        </p:txBody>
      </p:sp>
      <p:pic>
        <p:nvPicPr>
          <p:cNvPr id="9" name="mermaid diagram" descr="C2_W05_D01_fig_ch4_six_points_STUDE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05273" y="1682496"/>
            <a:ext cx="6981148" cy="4200144"/>
          </a:xfrm>
          <a:prstGeom prst="rect">
            <a:avLst/>
          </a:prstGeom>
        </p:spPr>
      </p:pic>
      <p:sp>
        <p:nvSpPr>
          <p:cNvPr id="10" name="picture caption"/>
          <p:cNvSpPr txBox="1"/>
          <p:nvPr/>
        </p:nvSpPr>
        <p:spPr>
          <a:xfrm>
            <a:off x="530352" y="5919216"/>
            <a:ext cx="11130991" cy="3169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6B6690"/>
                </a:solidFill>
                <a:latin typeface="Calibri"/>
              </a:rPr>
              <a:t>Six invented members: visits and spend</a:t>
            </a:r>
          </a:p>
        </p:txBody>
      </p:sp>
      <p:sp>
        <p:nvSpPr>
          <p:cNvPr id="11" name="Oval 10"/>
          <p:cNvSpPr/>
          <p:nvPr/>
        </p:nvSpPr>
        <p:spPr>
          <a:xfrm>
            <a:off x="530352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6437376"/>
            <a:ext cx="1240440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Does it need a model?</a:t>
            </a:r>
          </a:p>
        </p:txBody>
      </p:sp>
      <p:sp>
        <p:nvSpPr>
          <p:cNvPr id="13" name="Oval 12"/>
          <p:cNvSpPr/>
          <p:nvPr/>
        </p:nvSpPr>
        <p:spPr>
          <a:xfrm>
            <a:off x="1971960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081688" y="6437376"/>
            <a:ext cx="1378457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What may the model read?</a:t>
            </a:r>
          </a:p>
        </p:txBody>
      </p:sp>
      <p:sp>
        <p:nvSpPr>
          <p:cNvPr id="15" name="Oval 14"/>
          <p:cNvSpPr/>
          <p:nvPr/>
        </p:nvSpPr>
        <p:spPr>
          <a:xfrm>
            <a:off x="3551586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61314" y="6437376"/>
            <a:ext cx="1286446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Which slice, and when?</a:t>
            </a:r>
          </a:p>
        </p:txBody>
      </p:sp>
      <p:sp>
        <p:nvSpPr>
          <p:cNvPr id="17" name="Oval 16"/>
          <p:cNvSpPr/>
          <p:nvPr/>
        </p:nvSpPr>
        <p:spPr>
          <a:xfrm>
            <a:off x="5039201" y="6492240"/>
            <a:ext cx="64008" cy="64008"/>
          </a:xfrm>
          <a:prstGeom prst="ellipse">
            <a:avLst/>
          </a:prstGeom>
          <a:solidFill>
            <a:srgbClr val="5B3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148929" y="6437376"/>
            <a:ext cx="1148429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 i="0">
                <a:solidFill>
                  <a:srgbClr val="5B3FD6"/>
                </a:solidFill>
                <a:latin typeface="Calibri"/>
              </a:rPr>
              <a:t>Which line is best?</a:t>
            </a:r>
          </a:p>
        </p:txBody>
      </p:sp>
      <p:sp>
        <p:nvSpPr>
          <p:cNvPr id="19" name="Oval 18"/>
          <p:cNvSpPr/>
          <p:nvPr/>
        </p:nvSpPr>
        <p:spPr>
          <a:xfrm>
            <a:off x="6388798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98526" y="6437376"/>
            <a:ext cx="1194435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What does 0.73 mean?</a:t>
            </a:r>
          </a:p>
        </p:txBody>
      </p:sp>
      <p:sp>
        <p:nvSpPr>
          <p:cNvPr id="21" name="Oval 20"/>
          <p:cNvSpPr/>
          <p:nvPr/>
        </p:nvSpPr>
        <p:spPr>
          <a:xfrm>
            <a:off x="7784401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894129" y="6437376"/>
            <a:ext cx="1286446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What did the fit miss?</a:t>
            </a:r>
          </a:p>
        </p:txBody>
      </p:sp>
      <p:sp>
        <p:nvSpPr>
          <p:cNvPr id="23" name="Oval 22"/>
          <p:cNvSpPr/>
          <p:nvPr/>
        </p:nvSpPr>
        <p:spPr>
          <a:xfrm>
            <a:off x="9272015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381743" y="6437376"/>
            <a:ext cx="1194435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Who is worth a call?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67618" y="6437376"/>
            <a:ext cx="256032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…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198303" y="6437376"/>
            <a:ext cx="1463040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50" b="0" i="0">
                <a:solidFill>
                  <a:srgbClr val="6B6690"/>
                </a:solidFill>
                <a:latin typeface="Calibri"/>
              </a:rPr>
              <a:t>S19  ·  23 / 62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ligh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92063" y="310896"/>
            <a:ext cx="566928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550" b="1" i="0" spc="300">
                <a:solidFill>
                  <a:srgbClr val="6B6690"/>
                </a:solidFill>
                <a:latin typeface="Calibri"/>
              </a:rPr>
              <a:t>WEEK 5  ·  MONDAY  ·  REGRESSION AND CLASSIFICATION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76656"/>
            <a:ext cx="11130991" cy="512064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1A0F5C"/>
                </a:solidFill>
                <a:latin typeface="Georgia"/>
              </a:rPr>
              <a:t>Which line leaves the smallest squares?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1243584"/>
            <a:ext cx="11130991" cy="234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B6690"/>
                </a:solidFill>
                <a:latin typeface="Calibri"/>
              </a:rPr>
              <a:t>Mean line, first-to-last by eye, or a third line?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30352" y="1956816"/>
          <a:ext cx="11130990" cy="1479296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4505771"/>
                <a:gridCol w="6625219"/>
              </a:tblGrid>
              <a:tr h="369824">
                <a:tc>
                  <a:txBody>
                    <a:bodyPr/>
                    <a:lstStyle/>
                    <a:p>
                      <a:r>
                        <a:rPr sz="1450" b="1" i="0">
                          <a:solidFill>
                            <a:srgbClr val="FFFFFF"/>
                          </a:solidFill>
                          <a:latin typeface="Calibri"/>
                        </a:rPr>
                        <a:t>Line</a:t>
                      </a:r>
                    </a:p>
                  </a:txBody>
                  <a:tcPr marL="101600" marR="101600" marT="38100" marB="38100" anchor="ctr">
                    <a:solidFill>
                      <a:srgbClr val="1A0F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50" b="1" i="0">
                          <a:solidFill>
                            <a:srgbClr val="FFFFFF"/>
                          </a:solidFill>
                          <a:latin typeface="Calibri"/>
                        </a:rPr>
                        <a:t>Equation</a:t>
                      </a:r>
                    </a:p>
                  </a:txBody>
                  <a:tcPr marL="101600" marR="101600" marT="38100" marB="38100" anchor="ctr">
                    <a:solidFill>
                      <a:srgbClr val="1A0F5C"/>
                    </a:solidFill>
                  </a:tcPr>
                </a:tc>
              </a:tr>
              <a:tr h="369824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the mean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spend = Rs 600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</a:tr>
              <a:tr h="369824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by eye, first to last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spend = Rs 166 + Rs 124 x visits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</a:tr>
              <a:tr h="369824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a third line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to be found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Oval 9"/>
          <p:cNvSpPr/>
          <p:nvPr/>
        </p:nvSpPr>
        <p:spPr>
          <a:xfrm>
            <a:off x="530352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6437376"/>
            <a:ext cx="1240440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Does it need a model?</a:t>
            </a:r>
          </a:p>
        </p:txBody>
      </p:sp>
      <p:sp>
        <p:nvSpPr>
          <p:cNvPr id="12" name="Oval 11"/>
          <p:cNvSpPr/>
          <p:nvPr/>
        </p:nvSpPr>
        <p:spPr>
          <a:xfrm>
            <a:off x="1971960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081688" y="6437376"/>
            <a:ext cx="1378457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What may the model read?</a:t>
            </a:r>
          </a:p>
        </p:txBody>
      </p:sp>
      <p:sp>
        <p:nvSpPr>
          <p:cNvPr id="14" name="Oval 13"/>
          <p:cNvSpPr/>
          <p:nvPr/>
        </p:nvSpPr>
        <p:spPr>
          <a:xfrm>
            <a:off x="3551586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61314" y="6437376"/>
            <a:ext cx="1286446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Which slice, and when?</a:t>
            </a:r>
          </a:p>
        </p:txBody>
      </p:sp>
      <p:sp>
        <p:nvSpPr>
          <p:cNvPr id="16" name="Oval 15"/>
          <p:cNvSpPr/>
          <p:nvPr/>
        </p:nvSpPr>
        <p:spPr>
          <a:xfrm>
            <a:off x="5039201" y="6492240"/>
            <a:ext cx="64008" cy="64008"/>
          </a:xfrm>
          <a:prstGeom prst="ellipse">
            <a:avLst/>
          </a:prstGeom>
          <a:solidFill>
            <a:srgbClr val="5B3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48929" y="6437376"/>
            <a:ext cx="1148429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 i="0">
                <a:solidFill>
                  <a:srgbClr val="5B3FD6"/>
                </a:solidFill>
                <a:latin typeface="Calibri"/>
              </a:rPr>
              <a:t>Which line is best?</a:t>
            </a:r>
          </a:p>
        </p:txBody>
      </p:sp>
      <p:sp>
        <p:nvSpPr>
          <p:cNvPr id="18" name="Oval 17"/>
          <p:cNvSpPr/>
          <p:nvPr/>
        </p:nvSpPr>
        <p:spPr>
          <a:xfrm>
            <a:off x="6388798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8526" y="6437376"/>
            <a:ext cx="1194435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What does 0.73 mean?</a:t>
            </a:r>
          </a:p>
        </p:txBody>
      </p:sp>
      <p:sp>
        <p:nvSpPr>
          <p:cNvPr id="20" name="Oval 19"/>
          <p:cNvSpPr/>
          <p:nvPr/>
        </p:nvSpPr>
        <p:spPr>
          <a:xfrm>
            <a:off x="7784401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894129" y="6437376"/>
            <a:ext cx="1286446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What did the fit miss?</a:t>
            </a:r>
          </a:p>
        </p:txBody>
      </p:sp>
      <p:sp>
        <p:nvSpPr>
          <p:cNvPr id="22" name="Oval 21"/>
          <p:cNvSpPr/>
          <p:nvPr/>
        </p:nvSpPr>
        <p:spPr>
          <a:xfrm>
            <a:off x="9272015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381743" y="6437376"/>
            <a:ext cx="1194435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Who is worth a call?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67618" y="6437376"/>
            <a:ext cx="256032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…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198303" y="6437376"/>
            <a:ext cx="1463040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50" b="0" i="0">
                <a:solidFill>
                  <a:srgbClr val="6B6690"/>
                </a:solidFill>
                <a:latin typeface="Calibri"/>
              </a:rPr>
              <a:t>S20  ·  24 / 62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ligh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92063" y="310896"/>
            <a:ext cx="566928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550" b="1" i="0" spc="300">
                <a:solidFill>
                  <a:srgbClr val="6B6690"/>
                </a:solidFill>
                <a:latin typeface="Calibri"/>
              </a:rPr>
              <a:t>WEEK 5  ·  MONDAY  ·  REGRESSION AND CLASSIFICATION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76656"/>
            <a:ext cx="11130991" cy="512064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1A0F5C"/>
                </a:solidFill>
                <a:latin typeface="Georgia"/>
              </a:rPr>
              <a:t>Answer: least squares, 5,200 against 5,480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1243584"/>
            <a:ext cx="11130991" cy="234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B6690"/>
                </a:solidFill>
                <a:latin typeface="Calibri"/>
              </a:rPr>
              <a:t>The red squares are the misses, drawn as area.</a:t>
            </a:r>
          </a:p>
        </p:txBody>
      </p:sp>
      <p:pic>
        <p:nvPicPr>
          <p:cNvPr id="9" name="mermaid diagram" descr="C2_W05_D01_fig_ch4_squares_STUDE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352" y="1799616"/>
            <a:ext cx="11130991" cy="3929328"/>
          </a:xfrm>
          <a:prstGeom prst="rect">
            <a:avLst/>
          </a:prstGeom>
        </p:spPr>
      </p:pic>
      <p:sp>
        <p:nvSpPr>
          <p:cNvPr id="10" name="picture caption"/>
          <p:cNvSpPr txBox="1"/>
          <p:nvPr/>
        </p:nvSpPr>
        <p:spPr>
          <a:xfrm>
            <a:off x="530352" y="5765520"/>
            <a:ext cx="11130991" cy="3169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6B6690"/>
                </a:solidFill>
                <a:latin typeface="Calibri"/>
              </a:rPr>
              <a:t>Residual squares under the mean line and the least-squares line</a:t>
            </a:r>
          </a:p>
        </p:txBody>
      </p:sp>
      <p:sp>
        <p:nvSpPr>
          <p:cNvPr id="11" name="Oval 10"/>
          <p:cNvSpPr/>
          <p:nvPr/>
        </p:nvSpPr>
        <p:spPr>
          <a:xfrm>
            <a:off x="530352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6437376"/>
            <a:ext cx="1240440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Does it need a model?</a:t>
            </a:r>
          </a:p>
        </p:txBody>
      </p:sp>
      <p:sp>
        <p:nvSpPr>
          <p:cNvPr id="13" name="Oval 12"/>
          <p:cNvSpPr/>
          <p:nvPr/>
        </p:nvSpPr>
        <p:spPr>
          <a:xfrm>
            <a:off x="1971960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081688" y="6437376"/>
            <a:ext cx="1378457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What may the model read?</a:t>
            </a:r>
          </a:p>
        </p:txBody>
      </p:sp>
      <p:sp>
        <p:nvSpPr>
          <p:cNvPr id="15" name="Oval 14"/>
          <p:cNvSpPr/>
          <p:nvPr/>
        </p:nvSpPr>
        <p:spPr>
          <a:xfrm>
            <a:off x="3551586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61314" y="6437376"/>
            <a:ext cx="1286446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Which slice, and when?</a:t>
            </a:r>
          </a:p>
        </p:txBody>
      </p:sp>
      <p:sp>
        <p:nvSpPr>
          <p:cNvPr id="17" name="Oval 16"/>
          <p:cNvSpPr/>
          <p:nvPr/>
        </p:nvSpPr>
        <p:spPr>
          <a:xfrm>
            <a:off x="5039201" y="6492240"/>
            <a:ext cx="64008" cy="64008"/>
          </a:xfrm>
          <a:prstGeom prst="ellipse">
            <a:avLst/>
          </a:prstGeom>
          <a:solidFill>
            <a:srgbClr val="5B3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148929" y="6437376"/>
            <a:ext cx="1148429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 i="0">
                <a:solidFill>
                  <a:srgbClr val="5B3FD6"/>
                </a:solidFill>
                <a:latin typeface="Calibri"/>
              </a:rPr>
              <a:t>Which line is best?</a:t>
            </a:r>
          </a:p>
        </p:txBody>
      </p:sp>
      <p:sp>
        <p:nvSpPr>
          <p:cNvPr id="19" name="Oval 18"/>
          <p:cNvSpPr/>
          <p:nvPr/>
        </p:nvSpPr>
        <p:spPr>
          <a:xfrm>
            <a:off x="6388798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98526" y="6437376"/>
            <a:ext cx="1194435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What does 0.73 mean?</a:t>
            </a:r>
          </a:p>
        </p:txBody>
      </p:sp>
      <p:sp>
        <p:nvSpPr>
          <p:cNvPr id="21" name="Oval 20"/>
          <p:cNvSpPr/>
          <p:nvPr/>
        </p:nvSpPr>
        <p:spPr>
          <a:xfrm>
            <a:off x="7784401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894129" y="6437376"/>
            <a:ext cx="1286446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What did the fit miss?</a:t>
            </a:r>
          </a:p>
        </p:txBody>
      </p:sp>
      <p:sp>
        <p:nvSpPr>
          <p:cNvPr id="23" name="Oval 22"/>
          <p:cNvSpPr/>
          <p:nvPr/>
        </p:nvSpPr>
        <p:spPr>
          <a:xfrm>
            <a:off x="9272015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381743" y="6437376"/>
            <a:ext cx="1194435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Who is worth a call?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67618" y="6437376"/>
            <a:ext cx="256032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…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198303" y="6437376"/>
            <a:ext cx="1463040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50" b="0" i="0">
                <a:solidFill>
                  <a:srgbClr val="6B6690"/>
                </a:solidFill>
                <a:latin typeface="Calibri"/>
              </a:rPr>
              <a:t>S21  ·  25 / 62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ligh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92063" y="310896"/>
            <a:ext cx="566928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550" b="1" i="0" spc="300">
                <a:solidFill>
                  <a:srgbClr val="6B6690"/>
                </a:solidFill>
                <a:latin typeface="Calibri"/>
              </a:rPr>
              <a:t>WEEK 5  ·  MONDAY  ·  REGRESSION AND CLASSIFICATION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76656"/>
            <a:ext cx="11130991" cy="512064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1A0F5C"/>
                </a:solidFill>
                <a:latin typeface="Georgia"/>
              </a:rPr>
              <a:t>Rs 120 per visit, read with care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1243584"/>
            <a:ext cx="11130991" cy="234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B6690"/>
                </a:solidFill>
                <a:latin typeface="Calibri"/>
              </a:rPr>
              <a:t>The coefficient in the target's own units.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" y="1956816"/>
            <a:ext cx="3527450" cy="698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0" i="0">
                <a:solidFill>
                  <a:srgbClr val="5B3FD6"/>
                </a:solidFill>
                <a:latin typeface="Georgia"/>
              </a:rPr>
              <a:t>Rs 120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352" y="2691892"/>
            <a:ext cx="3527450" cy="168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 i="0" spc="250">
                <a:solidFill>
                  <a:srgbClr val="1A0F5C"/>
                </a:solidFill>
                <a:latin typeface="Calibri"/>
              </a:rPr>
              <a:t>PER EXTRA VISIT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" y="2893060"/>
            <a:ext cx="3527450" cy="19342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6B6690"/>
                </a:solidFill>
                <a:latin typeface="Calibri"/>
              </a:rPr>
              <a:t>an association, across members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30352" y="3145536"/>
            <a:ext cx="3527450" cy="10972"/>
          </a:xfrm>
          <a:prstGeom prst="rect">
            <a:avLst/>
          </a:prstGeom>
          <a:solidFill>
            <a:srgbClr val="E4E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32122" y="1956816"/>
            <a:ext cx="3527450" cy="698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0" i="0">
                <a:solidFill>
                  <a:srgbClr val="5B3FD6"/>
                </a:solidFill>
                <a:latin typeface="Georgia"/>
              </a:rPr>
              <a:t>Rs 180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32122" y="2691892"/>
            <a:ext cx="3527450" cy="168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 i="0" spc="250">
                <a:solidFill>
                  <a:srgbClr val="1A0F5C"/>
                </a:solidFill>
                <a:latin typeface="Calibri"/>
              </a:rPr>
              <a:t>AT ZERO VISITS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32122" y="2893060"/>
            <a:ext cx="3527450" cy="19342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6B6690"/>
                </a:solidFill>
                <a:latin typeface="Calibri"/>
              </a:rPr>
              <a:t>beyond the data; quote carefully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32122" y="3145536"/>
            <a:ext cx="3527450" cy="10972"/>
          </a:xfrm>
          <a:prstGeom prst="rect">
            <a:avLst/>
          </a:prstGeom>
          <a:solidFill>
            <a:srgbClr val="E4E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33892" y="1956816"/>
            <a:ext cx="3527450" cy="698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0" i="0">
                <a:solidFill>
                  <a:srgbClr val="5B3FD6"/>
                </a:solidFill>
                <a:latin typeface="Georgia"/>
              </a:rPr>
              <a:t>-10 to +40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33892" y="2691892"/>
            <a:ext cx="3527450" cy="168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 i="0" spc="250">
                <a:solidFill>
                  <a:srgbClr val="1A0F5C"/>
                </a:solidFill>
                <a:latin typeface="Calibri"/>
              </a:rPr>
              <a:t>RESIDUALS, 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33892" y="2893060"/>
            <a:ext cx="3527450" cy="19342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6B6690"/>
                </a:solidFill>
                <a:latin typeface="Calibri"/>
              </a:rPr>
              <a:t>small, mixed signs, no pattern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133892" y="3145536"/>
            <a:ext cx="3527450" cy="10972"/>
          </a:xfrm>
          <a:prstGeom prst="rect">
            <a:avLst/>
          </a:prstGeom>
          <a:solidFill>
            <a:srgbClr val="E4E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30352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6437376"/>
            <a:ext cx="1240440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Does it need a model?</a:t>
            </a:r>
          </a:p>
        </p:txBody>
      </p:sp>
      <p:sp>
        <p:nvSpPr>
          <p:cNvPr id="23" name="Oval 22"/>
          <p:cNvSpPr/>
          <p:nvPr/>
        </p:nvSpPr>
        <p:spPr>
          <a:xfrm>
            <a:off x="1971960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081688" y="6437376"/>
            <a:ext cx="1378457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What may the model read?</a:t>
            </a:r>
          </a:p>
        </p:txBody>
      </p:sp>
      <p:sp>
        <p:nvSpPr>
          <p:cNvPr id="25" name="Oval 24"/>
          <p:cNvSpPr/>
          <p:nvPr/>
        </p:nvSpPr>
        <p:spPr>
          <a:xfrm>
            <a:off x="3551586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61314" y="6437376"/>
            <a:ext cx="1286446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Which slice, and when?</a:t>
            </a:r>
          </a:p>
        </p:txBody>
      </p:sp>
      <p:sp>
        <p:nvSpPr>
          <p:cNvPr id="27" name="Oval 26"/>
          <p:cNvSpPr/>
          <p:nvPr/>
        </p:nvSpPr>
        <p:spPr>
          <a:xfrm>
            <a:off x="5039201" y="6492240"/>
            <a:ext cx="64008" cy="64008"/>
          </a:xfrm>
          <a:prstGeom prst="ellipse">
            <a:avLst/>
          </a:prstGeom>
          <a:solidFill>
            <a:srgbClr val="5B3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148929" y="6437376"/>
            <a:ext cx="1148429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 i="0">
                <a:solidFill>
                  <a:srgbClr val="5B3FD6"/>
                </a:solidFill>
                <a:latin typeface="Calibri"/>
              </a:rPr>
              <a:t>Which line is best?</a:t>
            </a:r>
          </a:p>
        </p:txBody>
      </p:sp>
      <p:sp>
        <p:nvSpPr>
          <p:cNvPr id="29" name="Oval 28"/>
          <p:cNvSpPr/>
          <p:nvPr/>
        </p:nvSpPr>
        <p:spPr>
          <a:xfrm>
            <a:off x="6388798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98526" y="6437376"/>
            <a:ext cx="1194435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What does 0.73 mean?</a:t>
            </a:r>
          </a:p>
        </p:txBody>
      </p:sp>
      <p:sp>
        <p:nvSpPr>
          <p:cNvPr id="31" name="Oval 30"/>
          <p:cNvSpPr/>
          <p:nvPr/>
        </p:nvSpPr>
        <p:spPr>
          <a:xfrm>
            <a:off x="7784401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894129" y="6437376"/>
            <a:ext cx="1286446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What did the fit miss?</a:t>
            </a:r>
          </a:p>
        </p:txBody>
      </p:sp>
      <p:sp>
        <p:nvSpPr>
          <p:cNvPr id="33" name="Oval 32"/>
          <p:cNvSpPr/>
          <p:nvPr/>
        </p:nvSpPr>
        <p:spPr>
          <a:xfrm>
            <a:off x="9272015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381743" y="6437376"/>
            <a:ext cx="1194435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Who is worth a call?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667618" y="6437376"/>
            <a:ext cx="256032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…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198303" y="6437376"/>
            <a:ext cx="1463040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50" b="0" i="0">
                <a:solidFill>
                  <a:srgbClr val="6B6690"/>
                </a:solidFill>
                <a:latin typeface="Calibri"/>
              </a:rPr>
              <a:t>S22  ·  26 / 62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ligh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92063" y="310896"/>
            <a:ext cx="566928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550" b="1" i="0" spc="300">
                <a:solidFill>
                  <a:srgbClr val="6B6690"/>
                </a:solidFill>
                <a:latin typeface="Calibri"/>
              </a:rPr>
              <a:t>WEEK 5  ·  MONDAY  ·  REGRESSION AND CLASSIFICATION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76656"/>
            <a:ext cx="11130991" cy="512064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1A0F5C"/>
                </a:solidFill>
                <a:latin typeface="Georgia"/>
              </a:rPr>
              <a:t>The same line in three lines of code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1243584"/>
            <a:ext cx="11130991" cy="234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B6690"/>
                </a:solidFill>
                <a:latin typeface="Calibri"/>
              </a:rPr>
              <a:t>scikit-learn agrees with the hand count to the rupee.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30352" y="1956816"/>
            <a:ext cx="11130991" cy="1214627"/>
          </a:xfrm>
          <a:prstGeom prst="roundRect">
            <a:avLst>
              <a:gd name="adj" fmla="val 3500"/>
            </a:avLst>
          </a:prstGeom>
          <a:solidFill>
            <a:srgbClr val="1A1440"/>
          </a:solidFill>
          <a:ln>
            <a:noFill/>
          </a:ln>
          <a:effectLst>
            <a:outerShdw blurRad="76200" dist="19050" dir="5400000" algn="bl" rotWithShape="0">
              <a:srgbClr val="1A0F5C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13232" y="2084832"/>
            <a:ext cx="91440" cy="91440"/>
          </a:xfrm>
          <a:prstGeom prst="ellipse">
            <a:avLst/>
          </a:prstGeom>
          <a:solidFill>
            <a:srgbClr val="D63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68680" y="2084832"/>
            <a:ext cx="91440" cy="91440"/>
          </a:xfrm>
          <a:prstGeom prst="ellipse">
            <a:avLst/>
          </a:prstGeom>
          <a:solidFill>
            <a:srgbClr val="D9A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24128" y="2084832"/>
            <a:ext cx="91440" cy="91440"/>
          </a:xfrm>
          <a:prstGeom prst="ellipse">
            <a:avLst/>
          </a:prstGeom>
          <a:solidFill>
            <a:srgbClr val="1F8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1" y="2286000"/>
            <a:ext cx="10673791" cy="81229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400" b="0" i="0">
                <a:solidFill>
                  <a:srgbClr val="E4E1F1"/>
                </a:solidFill>
                <a:latin typeface="Consolas"/>
              </a:rPr>
              <a:t>from sklearn.linear_model import LinearRegression</a:t>
            </a:r>
          </a:p>
          <a:p>
            <a:pPr>
              <a:spcAft>
                <a:spcPts val="200"/>
              </a:spcAft>
            </a:pPr>
            <a:r>
              <a:rPr sz="1400" b="0" i="0">
                <a:solidFill>
                  <a:srgbClr val="E4E1F1"/>
                </a:solidFill>
                <a:latin typeface="Consolas"/>
              </a:rPr>
              <a:t>lin = LinearRegression().fit(store[["visits"]], store["spend_rs"])</a:t>
            </a:r>
          </a:p>
          <a:p>
            <a:pPr>
              <a:spcAft>
                <a:spcPts val="200"/>
              </a:spcAft>
            </a:pPr>
            <a:r>
              <a:rPr sz="1400" b="0" i="0">
                <a:solidFill>
                  <a:srgbClr val="E4E1F1"/>
                </a:solidFill>
                <a:latin typeface="Consolas"/>
              </a:rPr>
              <a:t>lin.coef_[0], lin.intercept_        # (120.0, 180.0)</a:t>
            </a:r>
          </a:p>
        </p:txBody>
      </p:sp>
      <p:sp>
        <p:nvSpPr>
          <p:cNvPr id="14" name="Oval 13"/>
          <p:cNvSpPr/>
          <p:nvPr/>
        </p:nvSpPr>
        <p:spPr>
          <a:xfrm>
            <a:off x="530352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6437376"/>
            <a:ext cx="1240440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Does it need a model?</a:t>
            </a:r>
          </a:p>
        </p:txBody>
      </p:sp>
      <p:sp>
        <p:nvSpPr>
          <p:cNvPr id="16" name="Oval 15"/>
          <p:cNvSpPr/>
          <p:nvPr/>
        </p:nvSpPr>
        <p:spPr>
          <a:xfrm>
            <a:off x="1971960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081688" y="6437376"/>
            <a:ext cx="1378457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What may the model read?</a:t>
            </a:r>
          </a:p>
        </p:txBody>
      </p:sp>
      <p:sp>
        <p:nvSpPr>
          <p:cNvPr id="18" name="Oval 17"/>
          <p:cNvSpPr/>
          <p:nvPr/>
        </p:nvSpPr>
        <p:spPr>
          <a:xfrm>
            <a:off x="3551586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61314" y="6437376"/>
            <a:ext cx="1286446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Which slice, and when?</a:t>
            </a:r>
          </a:p>
        </p:txBody>
      </p:sp>
      <p:sp>
        <p:nvSpPr>
          <p:cNvPr id="20" name="Oval 19"/>
          <p:cNvSpPr/>
          <p:nvPr/>
        </p:nvSpPr>
        <p:spPr>
          <a:xfrm>
            <a:off x="5039201" y="6492240"/>
            <a:ext cx="64008" cy="64008"/>
          </a:xfrm>
          <a:prstGeom prst="ellipse">
            <a:avLst/>
          </a:prstGeom>
          <a:solidFill>
            <a:srgbClr val="5B3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148929" y="6437376"/>
            <a:ext cx="1148429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 i="0">
                <a:solidFill>
                  <a:srgbClr val="5B3FD6"/>
                </a:solidFill>
                <a:latin typeface="Calibri"/>
              </a:rPr>
              <a:t>Which line is best?</a:t>
            </a:r>
          </a:p>
        </p:txBody>
      </p:sp>
      <p:sp>
        <p:nvSpPr>
          <p:cNvPr id="22" name="Oval 21"/>
          <p:cNvSpPr/>
          <p:nvPr/>
        </p:nvSpPr>
        <p:spPr>
          <a:xfrm>
            <a:off x="6388798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98526" y="6437376"/>
            <a:ext cx="1194435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What does 0.73 mean?</a:t>
            </a:r>
          </a:p>
        </p:txBody>
      </p:sp>
      <p:sp>
        <p:nvSpPr>
          <p:cNvPr id="24" name="Oval 23"/>
          <p:cNvSpPr/>
          <p:nvPr/>
        </p:nvSpPr>
        <p:spPr>
          <a:xfrm>
            <a:off x="7784401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894129" y="6437376"/>
            <a:ext cx="1286446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What did the fit miss?</a:t>
            </a:r>
          </a:p>
        </p:txBody>
      </p:sp>
      <p:sp>
        <p:nvSpPr>
          <p:cNvPr id="26" name="Oval 25"/>
          <p:cNvSpPr/>
          <p:nvPr/>
        </p:nvSpPr>
        <p:spPr>
          <a:xfrm>
            <a:off x="9272015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381743" y="6437376"/>
            <a:ext cx="1194435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Who is worth a call?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667618" y="6437376"/>
            <a:ext cx="256032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…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198303" y="6437376"/>
            <a:ext cx="1463040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50" b="0" i="0">
                <a:solidFill>
                  <a:srgbClr val="6B6690"/>
                </a:solidFill>
                <a:latin typeface="Calibri"/>
              </a:rPr>
              <a:t>S23  ·  27 / 62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dar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92063" y="310896"/>
            <a:ext cx="566928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550" b="1" i="0" spc="300">
                <a:solidFill>
                  <a:srgbClr val="CFC9EE"/>
                </a:solidFill>
                <a:latin typeface="Calibri"/>
              </a:rPr>
              <a:t>PG DIPLOMA IN AI-ML AND AGENTIC AI ENGINEERING  ·  COHORT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19" y="1143000"/>
            <a:ext cx="36576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600" b="0" i="0">
                <a:solidFill>
                  <a:srgbClr val="D9A7FF"/>
                </a:solidFill>
                <a:latin typeface="Georgia"/>
              </a:rPr>
              <a:t>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19" y="2542032"/>
            <a:ext cx="10673791" cy="366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D9A7FF"/>
                </a:solidFill>
                <a:latin typeface="Calibri"/>
              </a:rPr>
              <a:t>From a line to a probability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19" y="3017520"/>
            <a:ext cx="10673791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0" i="0">
                <a:solidFill>
                  <a:srgbClr val="FFFFFF"/>
                </a:solidFill>
                <a:latin typeface="Georgia"/>
              </a:rPr>
              <a:t>What does 0.73 mean?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19" y="3931920"/>
            <a:ext cx="9509760" cy="5318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E4E1F1"/>
                </a:solidFill>
                <a:latin typeface="Calibri"/>
              </a:rPr>
              <a:t>Logistic regression: probability, direction, strength · also searched as: logistic regression, sigmoid, odds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19" y="5074920"/>
            <a:ext cx="1099768" cy="310896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CFC9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400" rIns="25400" tIns="0" bIns="0"/>
          <a:lstStyle/>
          <a:p>
            <a:pPr algn="ctr"/>
            <a:r>
              <a:rPr sz="850" b="0">
                <a:solidFill>
                  <a:srgbClr val="CFC9EE"/>
                </a:solidFill>
                <a:latin typeface="Calibri"/>
              </a:rPr>
              <a:t>Does it need a model?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941016" y="5074920"/>
            <a:ext cx="1221169" cy="310896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CFC9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400" rIns="25400" tIns="0" bIns="0"/>
          <a:lstStyle/>
          <a:p>
            <a:pPr algn="ctr"/>
            <a:r>
              <a:rPr sz="850" b="0">
                <a:solidFill>
                  <a:srgbClr val="CFC9EE"/>
                </a:solidFill>
                <a:latin typeface="Calibri"/>
              </a:rPr>
              <a:t>What may the model read?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71914" y="5074920"/>
            <a:ext cx="1140235" cy="310896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CFC9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400" rIns="25400" tIns="0" bIns="0"/>
          <a:lstStyle/>
          <a:p>
            <a:pPr algn="ctr"/>
            <a:r>
              <a:rPr sz="850" b="0">
                <a:solidFill>
                  <a:srgbClr val="CFC9EE"/>
                </a:solidFill>
                <a:latin typeface="Calibri"/>
              </a:rPr>
              <a:t>Which slice, and when?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21877" y="5074920"/>
            <a:ext cx="1018833" cy="310896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CFC9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400" rIns="25400" tIns="0" bIns="0"/>
          <a:lstStyle/>
          <a:p>
            <a:pPr algn="ctr"/>
            <a:r>
              <a:rPr sz="850" b="0">
                <a:solidFill>
                  <a:srgbClr val="CFC9EE"/>
                </a:solidFill>
                <a:latin typeface="Calibri"/>
              </a:rPr>
              <a:t>Which line is best?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50438" y="5074920"/>
            <a:ext cx="1059300" cy="310896"/>
          </a:xfrm>
          <a:prstGeom prst="roundRect">
            <a:avLst>
              <a:gd name="adj" fmla="val 50000"/>
            </a:avLst>
          </a:prstGeom>
          <a:solidFill>
            <a:srgbClr val="D9A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400" rIns="25400" tIns="0" bIns="0"/>
          <a:lstStyle/>
          <a:p>
            <a:pPr algn="ctr"/>
            <a:r>
              <a:rPr sz="850" b="1">
                <a:solidFill>
                  <a:srgbClr val="1A0F5C"/>
                </a:solidFill>
                <a:latin typeface="Calibri"/>
              </a:rPr>
              <a:t>What does 0.73 mean?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19467" y="5074920"/>
            <a:ext cx="1140235" cy="310896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CFC9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400" rIns="25400" tIns="0" bIns="0"/>
          <a:lstStyle/>
          <a:p>
            <a:pPr algn="ctr"/>
            <a:r>
              <a:rPr sz="850" b="0">
                <a:solidFill>
                  <a:srgbClr val="CFC9EE"/>
                </a:solidFill>
                <a:latin typeface="Calibri"/>
              </a:rPr>
              <a:t>What did the fit miss?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69430" y="5074920"/>
            <a:ext cx="1059300" cy="310896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CFC9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400" rIns="25400" tIns="0" bIns="0"/>
          <a:lstStyle/>
          <a:p>
            <a:pPr algn="ctr"/>
            <a:r>
              <a:rPr sz="850" b="0">
                <a:solidFill>
                  <a:srgbClr val="CFC9EE"/>
                </a:solidFill>
                <a:latin typeface="Calibri"/>
              </a:rPr>
              <a:t>Who is worth a call?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238459" y="5074920"/>
            <a:ext cx="1099768" cy="310896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CFC9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400" rIns="25400" tIns="0" bIns="0"/>
          <a:lstStyle/>
          <a:p>
            <a:pPr algn="ctr"/>
            <a:r>
              <a:rPr sz="850" b="0">
                <a:solidFill>
                  <a:srgbClr val="CFC9EE"/>
                </a:solidFill>
                <a:latin typeface="Calibri"/>
              </a:rPr>
              <a:t>Does it beat nothing?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47955" y="5074920"/>
            <a:ext cx="1140235" cy="310896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CFC9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400" rIns="25400" tIns="0" bIns="0"/>
          <a:lstStyle/>
          <a:p>
            <a:pPr algn="ctr"/>
            <a:r>
              <a:rPr sz="850" b="0">
                <a:solidFill>
                  <a:srgbClr val="CFC9EE"/>
                </a:solidFill>
                <a:latin typeface="Calibri"/>
              </a:rPr>
              <a:t>What did the peek buy?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0352" y="6437376"/>
            <a:ext cx="9667951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 i="0">
                <a:solidFill>
                  <a:srgbClr val="CFC9EE"/>
                </a:solidFill>
                <a:latin typeface="Calibri"/>
              </a:rPr>
              <a:t>Week 5 Monday: regression and classification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198303" y="6437376"/>
            <a:ext cx="1463040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50" b="0" i="0">
                <a:solidFill>
                  <a:srgbClr val="CFC9EE"/>
                </a:solidFill>
                <a:latin typeface="Calibri"/>
              </a:rPr>
              <a:t>28 / 62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ligh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92063" y="310896"/>
            <a:ext cx="566928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550" b="1" i="0" spc="300">
                <a:solidFill>
                  <a:srgbClr val="6B6690"/>
                </a:solidFill>
                <a:latin typeface="Calibri"/>
              </a:rPr>
              <a:t>WEEK 5  ·  MONDAY  ·  REGRESSION AND CLASSIFICATION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76656"/>
            <a:ext cx="11130991" cy="512064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1A0F5C"/>
                </a:solidFill>
                <a:latin typeface="Georgia"/>
              </a:rPr>
              <a:t>A straight line through yes and no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1243584"/>
            <a:ext cx="11130991" cy="234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B6690"/>
                </a:solidFill>
                <a:latin typeface="Calibri"/>
              </a:rPr>
              <a:t>Twelve invented members: visits, and whether they came back.</a:t>
            </a:r>
          </a:p>
        </p:txBody>
      </p:sp>
      <p:pic>
        <p:nvPicPr>
          <p:cNvPr id="9" name="mermaid diagram" descr="C2_W05_D01_fig_ch5_line_only_STUDE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77818" y="1682496"/>
            <a:ext cx="9036058" cy="4200144"/>
          </a:xfrm>
          <a:prstGeom prst="rect">
            <a:avLst/>
          </a:prstGeom>
        </p:spPr>
      </p:pic>
      <p:sp>
        <p:nvSpPr>
          <p:cNvPr id="10" name="picture caption"/>
          <p:cNvSpPr txBox="1"/>
          <p:nvPr/>
        </p:nvSpPr>
        <p:spPr>
          <a:xfrm>
            <a:off x="530352" y="5919216"/>
            <a:ext cx="11130991" cy="3169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6B6690"/>
                </a:solidFill>
                <a:latin typeface="Calibri"/>
              </a:rPr>
              <a:t>A straight line fitted to 0 and 1 outcomes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" y="6437376"/>
            <a:ext cx="256032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…</a:t>
            </a:r>
          </a:p>
        </p:txBody>
      </p:sp>
      <p:sp>
        <p:nvSpPr>
          <p:cNvPr id="12" name="Oval 11"/>
          <p:cNvSpPr/>
          <p:nvPr/>
        </p:nvSpPr>
        <p:spPr>
          <a:xfrm>
            <a:off x="786384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6437376"/>
            <a:ext cx="1286446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Which slice, and when?</a:t>
            </a:r>
          </a:p>
        </p:txBody>
      </p:sp>
      <p:sp>
        <p:nvSpPr>
          <p:cNvPr id="14" name="Oval 13"/>
          <p:cNvSpPr/>
          <p:nvPr/>
        </p:nvSpPr>
        <p:spPr>
          <a:xfrm>
            <a:off x="2273998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383726" y="6437376"/>
            <a:ext cx="1148429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Which line is best?</a:t>
            </a:r>
          </a:p>
        </p:txBody>
      </p:sp>
      <p:sp>
        <p:nvSpPr>
          <p:cNvPr id="16" name="Oval 15"/>
          <p:cNvSpPr/>
          <p:nvPr/>
        </p:nvSpPr>
        <p:spPr>
          <a:xfrm>
            <a:off x="3623595" y="6492240"/>
            <a:ext cx="64008" cy="64008"/>
          </a:xfrm>
          <a:prstGeom prst="ellipse">
            <a:avLst/>
          </a:prstGeom>
          <a:solidFill>
            <a:srgbClr val="5B3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33323" y="6437376"/>
            <a:ext cx="1194435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 i="0">
                <a:solidFill>
                  <a:srgbClr val="5B3FD6"/>
                </a:solidFill>
                <a:latin typeface="Calibri"/>
              </a:rPr>
              <a:t>What does 0.73 mean?</a:t>
            </a:r>
          </a:p>
        </p:txBody>
      </p:sp>
      <p:sp>
        <p:nvSpPr>
          <p:cNvPr id="18" name="Oval 17"/>
          <p:cNvSpPr/>
          <p:nvPr/>
        </p:nvSpPr>
        <p:spPr>
          <a:xfrm>
            <a:off x="5019198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28926" y="6437376"/>
            <a:ext cx="1286446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What did the fit miss?</a:t>
            </a:r>
          </a:p>
        </p:txBody>
      </p:sp>
      <p:sp>
        <p:nvSpPr>
          <p:cNvPr id="20" name="Oval 19"/>
          <p:cNvSpPr/>
          <p:nvPr/>
        </p:nvSpPr>
        <p:spPr>
          <a:xfrm>
            <a:off x="6506813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16541" y="6437376"/>
            <a:ext cx="1194435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Who is worth a call?</a:t>
            </a:r>
          </a:p>
        </p:txBody>
      </p:sp>
      <p:sp>
        <p:nvSpPr>
          <p:cNvPr id="22" name="Oval 21"/>
          <p:cNvSpPr/>
          <p:nvPr/>
        </p:nvSpPr>
        <p:spPr>
          <a:xfrm>
            <a:off x="7902416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12144" y="6437376"/>
            <a:ext cx="1240440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Does it beat nothing?</a:t>
            </a:r>
          </a:p>
        </p:txBody>
      </p:sp>
      <p:sp>
        <p:nvSpPr>
          <p:cNvPr id="24" name="Oval 23"/>
          <p:cNvSpPr/>
          <p:nvPr/>
        </p:nvSpPr>
        <p:spPr>
          <a:xfrm>
            <a:off x="9344025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453753" y="6437376"/>
            <a:ext cx="1286446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What did the peek buy?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198303" y="6437376"/>
            <a:ext cx="1463040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50" b="0" i="0">
                <a:solidFill>
                  <a:srgbClr val="6B6690"/>
                </a:solidFill>
                <a:latin typeface="Calibri"/>
              </a:rPr>
              <a:t>S24  ·  29 / 62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ligh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92063" y="310896"/>
            <a:ext cx="566928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550" b="1" i="0" spc="300">
                <a:solidFill>
                  <a:srgbClr val="6B6690"/>
                </a:solidFill>
                <a:latin typeface="Calibri"/>
              </a:rPr>
              <a:t>WEEK 5  ·  MONDAY  ·  REGRESSION AND CLASSIFICATION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76656"/>
            <a:ext cx="11130991" cy="512064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1A0F5C"/>
                </a:solidFill>
                <a:latin typeface="Georgia"/>
              </a:rPr>
              <a:t>What does the line say at 8 visits?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1243584"/>
            <a:ext cx="11130991" cy="234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B6690"/>
                </a:solidFill>
                <a:latin typeface="Calibri"/>
              </a:rPr>
              <a:t>About 0.9, exactly 1, or more than 1?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" y="1956816"/>
            <a:ext cx="3527450" cy="698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0" i="0">
                <a:solidFill>
                  <a:srgbClr val="5B3FD6"/>
                </a:solidFill>
                <a:latin typeface="Georgia"/>
              </a:rPr>
              <a:t>0.9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352" y="2691892"/>
            <a:ext cx="3527450" cy="168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 i="0" spc="250">
                <a:solidFill>
                  <a:srgbClr val="1A0F5C"/>
                </a:solidFill>
                <a:latin typeface="Calibri"/>
              </a:rPr>
              <a:t>OPTION 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" y="2893060"/>
            <a:ext cx="3527450" cy="19342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6B6690"/>
                </a:solidFill>
                <a:latin typeface="Calibri"/>
              </a:rPr>
              <a:t>"nearly certain"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30352" y="3145536"/>
            <a:ext cx="3527450" cy="10972"/>
          </a:xfrm>
          <a:prstGeom prst="rect">
            <a:avLst/>
          </a:prstGeom>
          <a:solidFill>
            <a:srgbClr val="E4E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32122" y="1956816"/>
            <a:ext cx="3527450" cy="698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0" i="0">
                <a:solidFill>
                  <a:srgbClr val="5B3FD6"/>
                </a:solidFill>
                <a:latin typeface="Georgia"/>
              </a:rPr>
              <a:t>1.0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32122" y="2691892"/>
            <a:ext cx="3527450" cy="168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 i="0" spc="250">
                <a:solidFill>
                  <a:srgbClr val="1A0F5C"/>
                </a:solidFill>
                <a:latin typeface="Calibri"/>
              </a:rPr>
              <a:t>OPTION 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32122" y="2893060"/>
            <a:ext cx="3527450" cy="19342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6B6690"/>
                </a:solidFill>
                <a:latin typeface="Calibri"/>
              </a:rPr>
              <a:t>"certain"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32122" y="3145536"/>
            <a:ext cx="3527450" cy="10972"/>
          </a:xfrm>
          <a:prstGeom prst="rect">
            <a:avLst/>
          </a:prstGeom>
          <a:solidFill>
            <a:srgbClr val="E4E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33892" y="1956816"/>
            <a:ext cx="3527450" cy="698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0" i="0">
                <a:solidFill>
                  <a:srgbClr val="5B3FD6"/>
                </a:solidFill>
                <a:latin typeface="Georgia"/>
              </a:rPr>
              <a:t>&gt; 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33892" y="2691892"/>
            <a:ext cx="3527450" cy="168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 i="0" spc="250">
                <a:solidFill>
                  <a:srgbClr val="1A0F5C"/>
                </a:solidFill>
                <a:latin typeface="Calibri"/>
              </a:rPr>
              <a:t>OPTION 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33892" y="2893060"/>
            <a:ext cx="3527450" cy="19342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6B6690"/>
                </a:solidFill>
                <a:latin typeface="Calibri"/>
              </a:rPr>
              <a:t>"more than certain"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133892" y="3145536"/>
            <a:ext cx="3527450" cy="10972"/>
          </a:xfrm>
          <a:prstGeom prst="rect">
            <a:avLst/>
          </a:prstGeom>
          <a:solidFill>
            <a:srgbClr val="E4E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30352" y="6437376"/>
            <a:ext cx="256032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…</a:t>
            </a:r>
          </a:p>
        </p:txBody>
      </p:sp>
      <p:sp>
        <p:nvSpPr>
          <p:cNvPr id="22" name="Oval 21"/>
          <p:cNvSpPr/>
          <p:nvPr/>
        </p:nvSpPr>
        <p:spPr>
          <a:xfrm>
            <a:off x="786384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96112" y="6437376"/>
            <a:ext cx="1286446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Which slice, and when?</a:t>
            </a:r>
          </a:p>
        </p:txBody>
      </p:sp>
      <p:sp>
        <p:nvSpPr>
          <p:cNvPr id="24" name="Oval 23"/>
          <p:cNvSpPr/>
          <p:nvPr/>
        </p:nvSpPr>
        <p:spPr>
          <a:xfrm>
            <a:off x="2273998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383726" y="6437376"/>
            <a:ext cx="1148429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Which line is best?</a:t>
            </a:r>
          </a:p>
        </p:txBody>
      </p:sp>
      <p:sp>
        <p:nvSpPr>
          <p:cNvPr id="26" name="Oval 25"/>
          <p:cNvSpPr/>
          <p:nvPr/>
        </p:nvSpPr>
        <p:spPr>
          <a:xfrm>
            <a:off x="3623595" y="6492240"/>
            <a:ext cx="64008" cy="64008"/>
          </a:xfrm>
          <a:prstGeom prst="ellipse">
            <a:avLst/>
          </a:prstGeom>
          <a:solidFill>
            <a:srgbClr val="5B3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733323" y="6437376"/>
            <a:ext cx="1194435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 i="0">
                <a:solidFill>
                  <a:srgbClr val="5B3FD6"/>
                </a:solidFill>
                <a:latin typeface="Calibri"/>
              </a:rPr>
              <a:t>What does 0.73 mean?</a:t>
            </a:r>
          </a:p>
        </p:txBody>
      </p:sp>
      <p:sp>
        <p:nvSpPr>
          <p:cNvPr id="28" name="Oval 27"/>
          <p:cNvSpPr/>
          <p:nvPr/>
        </p:nvSpPr>
        <p:spPr>
          <a:xfrm>
            <a:off x="5019198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128926" y="6437376"/>
            <a:ext cx="1286446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What did the fit miss?</a:t>
            </a:r>
          </a:p>
        </p:txBody>
      </p:sp>
      <p:sp>
        <p:nvSpPr>
          <p:cNvPr id="30" name="Oval 29"/>
          <p:cNvSpPr/>
          <p:nvPr/>
        </p:nvSpPr>
        <p:spPr>
          <a:xfrm>
            <a:off x="6506813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616541" y="6437376"/>
            <a:ext cx="1194435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Who is worth a call?</a:t>
            </a:r>
          </a:p>
        </p:txBody>
      </p:sp>
      <p:sp>
        <p:nvSpPr>
          <p:cNvPr id="32" name="Oval 31"/>
          <p:cNvSpPr/>
          <p:nvPr/>
        </p:nvSpPr>
        <p:spPr>
          <a:xfrm>
            <a:off x="7902416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012144" y="6437376"/>
            <a:ext cx="1240440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Does it beat nothing?</a:t>
            </a:r>
          </a:p>
        </p:txBody>
      </p:sp>
      <p:sp>
        <p:nvSpPr>
          <p:cNvPr id="34" name="Oval 33"/>
          <p:cNvSpPr/>
          <p:nvPr/>
        </p:nvSpPr>
        <p:spPr>
          <a:xfrm>
            <a:off x="9344025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453753" y="6437376"/>
            <a:ext cx="1286446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What did the peek buy?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198303" y="6437376"/>
            <a:ext cx="1463040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50" b="0" i="0">
                <a:solidFill>
                  <a:srgbClr val="6B6690"/>
                </a:solidFill>
                <a:latin typeface="Calibri"/>
              </a:rPr>
              <a:t>S25  ·  30 / 62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ligh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92063" y="310896"/>
            <a:ext cx="566928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550" b="1" i="0" spc="300">
                <a:solidFill>
                  <a:srgbClr val="6B6690"/>
                </a:solidFill>
                <a:latin typeface="Calibri"/>
              </a:rPr>
              <a:t>WEEK 5  ·  MONDAY  ·  REGRESSION AND CLASSIFICATION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76656"/>
            <a:ext cx="11130991" cy="512064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1A0F5C"/>
                </a:solidFill>
                <a:latin typeface="Georgia"/>
              </a:rPr>
              <a:t>Answer: 1.28, so bend the line into an 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1243584"/>
            <a:ext cx="11130991" cy="234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B6690"/>
                </a:solidFill>
                <a:latin typeface="Calibri"/>
              </a:rPr>
              <a:t>The S stays between 0 and 1 wherever you ask it.</a:t>
            </a:r>
          </a:p>
        </p:txBody>
      </p:sp>
      <p:pic>
        <p:nvPicPr>
          <p:cNvPr id="9" name="mermaid diagram" descr="C2_W05_D01_fig_ch5_line_vs_s_STUDE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77818" y="1682496"/>
            <a:ext cx="9036058" cy="4200144"/>
          </a:xfrm>
          <a:prstGeom prst="rect">
            <a:avLst/>
          </a:prstGeom>
        </p:spPr>
      </p:pic>
      <p:sp>
        <p:nvSpPr>
          <p:cNvPr id="10" name="picture caption"/>
          <p:cNvSpPr txBox="1"/>
          <p:nvPr/>
        </p:nvSpPr>
        <p:spPr>
          <a:xfrm>
            <a:off x="530352" y="5919216"/>
            <a:ext cx="11130991" cy="3169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6B6690"/>
                </a:solidFill>
                <a:latin typeface="Calibri"/>
              </a:rPr>
              <a:t>The straight line runs past 1; the logistic S stays inside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" y="6437376"/>
            <a:ext cx="256032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…</a:t>
            </a:r>
          </a:p>
        </p:txBody>
      </p:sp>
      <p:sp>
        <p:nvSpPr>
          <p:cNvPr id="12" name="Oval 11"/>
          <p:cNvSpPr/>
          <p:nvPr/>
        </p:nvSpPr>
        <p:spPr>
          <a:xfrm>
            <a:off x="786384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6437376"/>
            <a:ext cx="1286446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Which slice, and when?</a:t>
            </a:r>
          </a:p>
        </p:txBody>
      </p:sp>
      <p:sp>
        <p:nvSpPr>
          <p:cNvPr id="14" name="Oval 13"/>
          <p:cNvSpPr/>
          <p:nvPr/>
        </p:nvSpPr>
        <p:spPr>
          <a:xfrm>
            <a:off x="2273998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383726" y="6437376"/>
            <a:ext cx="1148429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Which line is best?</a:t>
            </a:r>
          </a:p>
        </p:txBody>
      </p:sp>
      <p:sp>
        <p:nvSpPr>
          <p:cNvPr id="16" name="Oval 15"/>
          <p:cNvSpPr/>
          <p:nvPr/>
        </p:nvSpPr>
        <p:spPr>
          <a:xfrm>
            <a:off x="3623595" y="6492240"/>
            <a:ext cx="64008" cy="64008"/>
          </a:xfrm>
          <a:prstGeom prst="ellipse">
            <a:avLst/>
          </a:prstGeom>
          <a:solidFill>
            <a:srgbClr val="5B3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33323" y="6437376"/>
            <a:ext cx="1194435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 i="0">
                <a:solidFill>
                  <a:srgbClr val="5B3FD6"/>
                </a:solidFill>
                <a:latin typeface="Calibri"/>
              </a:rPr>
              <a:t>What does 0.73 mean?</a:t>
            </a:r>
          </a:p>
        </p:txBody>
      </p:sp>
      <p:sp>
        <p:nvSpPr>
          <p:cNvPr id="18" name="Oval 17"/>
          <p:cNvSpPr/>
          <p:nvPr/>
        </p:nvSpPr>
        <p:spPr>
          <a:xfrm>
            <a:off x="5019198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28926" y="6437376"/>
            <a:ext cx="1286446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What did the fit miss?</a:t>
            </a:r>
          </a:p>
        </p:txBody>
      </p:sp>
      <p:sp>
        <p:nvSpPr>
          <p:cNvPr id="20" name="Oval 19"/>
          <p:cNvSpPr/>
          <p:nvPr/>
        </p:nvSpPr>
        <p:spPr>
          <a:xfrm>
            <a:off x="6506813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16541" y="6437376"/>
            <a:ext cx="1194435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Who is worth a call?</a:t>
            </a:r>
          </a:p>
        </p:txBody>
      </p:sp>
      <p:sp>
        <p:nvSpPr>
          <p:cNvPr id="22" name="Oval 21"/>
          <p:cNvSpPr/>
          <p:nvPr/>
        </p:nvSpPr>
        <p:spPr>
          <a:xfrm>
            <a:off x="7902416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12144" y="6437376"/>
            <a:ext cx="1240440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Does it beat nothing?</a:t>
            </a:r>
          </a:p>
        </p:txBody>
      </p:sp>
      <p:sp>
        <p:nvSpPr>
          <p:cNvPr id="24" name="Oval 23"/>
          <p:cNvSpPr/>
          <p:nvPr/>
        </p:nvSpPr>
        <p:spPr>
          <a:xfrm>
            <a:off x="9344025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453753" y="6437376"/>
            <a:ext cx="1286446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What did the peek buy?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198303" y="6437376"/>
            <a:ext cx="1463040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50" b="0" i="0">
                <a:solidFill>
                  <a:srgbClr val="6B6690"/>
                </a:solidFill>
                <a:latin typeface="Calibri"/>
              </a:rPr>
              <a:t>S26  ·  31 / 62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ligh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92063" y="310896"/>
            <a:ext cx="566928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550" b="1" i="0" spc="300">
                <a:solidFill>
                  <a:srgbClr val="6B6690"/>
                </a:solidFill>
                <a:latin typeface="Calibri"/>
              </a:rPr>
              <a:t>WEEK 5  ·  MONDAY  ·  REGRESSION AND CLASSIFICATION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76656"/>
            <a:ext cx="11130991" cy="512064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1A0F5C"/>
                </a:solidFill>
                <a:latin typeface="Georgia"/>
              </a:rPr>
              <a:t>0.73 means 73 of 100 members like this one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1243584"/>
            <a:ext cx="11130991" cy="234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B6690"/>
                </a:solidFill>
                <a:latin typeface="Calibri"/>
              </a:rPr>
              <a:t>A statement about a group, never a promise about one member.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" y="1956816"/>
            <a:ext cx="3527450" cy="698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0" i="0">
                <a:solidFill>
                  <a:srgbClr val="5B3FD6"/>
                </a:solidFill>
                <a:latin typeface="Georgia"/>
              </a:rPr>
              <a:t>0.73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352" y="2691892"/>
            <a:ext cx="3527450" cy="168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 i="0" spc="250">
                <a:solidFill>
                  <a:srgbClr val="1A0F5C"/>
                </a:solidFill>
                <a:latin typeface="Calibri"/>
              </a:rPr>
              <a:t>4 VISITS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" y="2893060"/>
            <a:ext cx="3527450" cy="19342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6B6690"/>
                </a:solidFill>
                <a:latin typeface="Calibri"/>
              </a:rPr>
              <a:t>about 73 in 100 come back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30352" y="3145536"/>
            <a:ext cx="3527450" cy="10972"/>
          </a:xfrm>
          <a:prstGeom prst="rect">
            <a:avLst/>
          </a:prstGeom>
          <a:solidFill>
            <a:srgbClr val="E4E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32122" y="1956816"/>
            <a:ext cx="3527450" cy="698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0" i="0">
                <a:solidFill>
                  <a:srgbClr val="5B3FD6"/>
                </a:solidFill>
                <a:latin typeface="Georgia"/>
              </a:rPr>
              <a:t>0.49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32122" y="2691892"/>
            <a:ext cx="3527450" cy="168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 i="0" spc="250">
                <a:solidFill>
                  <a:srgbClr val="1A0F5C"/>
                </a:solidFill>
                <a:latin typeface="Calibri"/>
              </a:rPr>
              <a:t>3 VISITS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32122" y="2893060"/>
            <a:ext cx="3527450" cy="19342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6B6690"/>
                </a:solidFill>
                <a:latin typeface="Calibri"/>
              </a:rPr>
              <a:t>about a coin flip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32122" y="3145536"/>
            <a:ext cx="3527450" cy="10972"/>
          </a:xfrm>
          <a:prstGeom prst="rect">
            <a:avLst/>
          </a:prstGeom>
          <a:solidFill>
            <a:srgbClr val="E4E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33892" y="1956816"/>
            <a:ext cx="3527450" cy="698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0" i="0">
                <a:solidFill>
                  <a:srgbClr val="5B3FD6"/>
                </a:solidFill>
                <a:latin typeface="Georgia"/>
              </a:rPr>
              <a:t>0.04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33892" y="2691892"/>
            <a:ext cx="3527450" cy="168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 i="0" spc="250">
                <a:solidFill>
                  <a:srgbClr val="1A0F5C"/>
                </a:solidFill>
                <a:latin typeface="Calibri"/>
              </a:rPr>
              <a:t>0 VISITS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33892" y="2893060"/>
            <a:ext cx="3527450" cy="19342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6B6690"/>
                </a:solidFill>
                <a:latin typeface="Calibri"/>
              </a:rPr>
              <a:t>about 4 in 100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133892" y="3145536"/>
            <a:ext cx="3527450" cy="10972"/>
          </a:xfrm>
          <a:prstGeom prst="rect">
            <a:avLst/>
          </a:prstGeom>
          <a:solidFill>
            <a:srgbClr val="E4E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30352" y="6437376"/>
            <a:ext cx="256032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…</a:t>
            </a:r>
          </a:p>
        </p:txBody>
      </p:sp>
      <p:sp>
        <p:nvSpPr>
          <p:cNvPr id="22" name="Oval 21"/>
          <p:cNvSpPr/>
          <p:nvPr/>
        </p:nvSpPr>
        <p:spPr>
          <a:xfrm>
            <a:off x="786384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96112" y="6437376"/>
            <a:ext cx="1286446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Which slice, and when?</a:t>
            </a:r>
          </a:p>
        </p:txBody>
      </p:sp>
      <p:sp>
        <p:nvSpPr>
          <p:cNvPr id="24" name="Oval 23"/>
          <p:cNvSpPr/>
          <p:nvPr/>
        </p:nvSpPr>
        <p:spPr>
          <a:xfrm>
            <a:off x="2273998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383726" y="6437376"/>
            <a:ext cx="1148429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Which line is best?</a:t>
            </a:r>
          </a:p>
        </p:txBody>
      </p:sp>
      <p:sp>
        <p:nvSpPr>
          <p:cNvPr id="26" name="Oval 25"/>
          <p:cNvSpPr/>
          <p:nvPr/>
        </p:nvSpPr>
        <p:spPr>
          <a:xfrm>
            <a:off x="3623595" y="6492240"/>
            <a:ext cx="64008" cy="64008"/>
          </a:xfrm>
          <a:prstGeom prst="ellipse">
            <a:avLst/>
          </a:prstGeom>
          <a:solidFill>
            <a:srgbClr val="5B3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733323" y="6437376"/>
            <a:ext cx="1194435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 i="0">
                <a:solidFill>
                  <a:srgbClr val="5B3FD6"/>
                </a:solidFill>
                <a:latin typeface="Calibri"/>
              </a:rPr>
              <a:t>What does 0.73 mean?</a:t>
            </a:r>
          </a:p>
        </p:txBody>
      </p:sp>
      <p:sp>
        <p:nvSpPr>
          <p:cNvPr id="28" name="Oval 27"/>
          <p:cNvSpPr/>
          <p:nvPr/>
        </p:nvSpPr>
        <p:spPr>
          <a:xfrm>
            <a:off x="5019198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128926" y="6437376"/>
            <a:ext cx="1286446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What did the fit miss?</a:t>
            </a:r>
          </a:p>
        </p:txBody>
      </p:sp>
      <p:sp>
        <p:nvSpPr>
          <p:cNvPr id="30" name="Oval 29"/>
          <p:cNvSpPr/>
          <p:nvPr/>
        </p:nvSpPr>
        <p:spPr>
          <a:xfrm>
            <a:off x="6506813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616541" y="6437376"/>
            <a:ext cx="1194435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Who is worth a call?</a:t>
            </a:r>
          </a:p>
        </p:txBody>
      </p:sp>
      <p:sp>
        <p:nvSpPr>
          <p:cNvPr id="32" name="Oval 31"/>
          <p:cNvSpPr/>
          <p:nvPr/>
        </p:nvSpPr>
        <p:spPr>
          <a:xfrm>
            <a:off x="7902416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012144" y="6437376"/>
            <a:ext cx="1240440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Does it beat nothing?</a:t>
            </a:r>
          </a:p>
        </p:txBody>
      </p:sp>
      <p:sp>
        <p:nvSpPr>
          <p:cNvPr id="34" name="Oval 33"/>
          <p:cNvSpPr/>
          <p:nvPr/>
        </p:nvSpPr>
        <p:spPr>
          <a:xfrm>
            <a:off x="9344025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453753" y="6437376"/>
            <a:ext cx="1286446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What did the peek buy?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198303" y="6437376"/>
            <a:ext cx="1463040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50" b="0" i="0">
                <a:solidFill>
                  <a:srgbClr val="6B6690"/>
                </a:solidFill>
                <a:latin typeface="Calibri"/>
              </a:rPr>
              <a:t>S27  ·  32 / 62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ligh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92063" y="310896"/>
            <a:ext cx="566928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550" b="1" i="0" spc="300">
                <a:solidFill>
                  <a:srgbClr val="6B6690"/>
                </a:solidFill>
                <a:latin typeface="Calibri"/>
              </a:rPr>
              <a:t>WEEK 5  ·  MONDAY  ·  REGRESSION AND CLASSIFICATION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76656"/>
            <a:ext cx="11130991" cy="512064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1A0F5C"/>
                </a:solidFill>
                <a:latin typeface="Georgia"/>
              </a:rPr>
              <a:t>Direction is the sign; strength is exp(b)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1243584"/>
            <a:ext cx="11130991" cy="234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B6690"/>
                </a:solidFill>
                <a:latin typeface="Calibri"/>
              </a:rPr>
              <a:t>Each extra visit multiplies the odds by 2.85.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30352" y="1956816"/>
          <a:ext cx="11130990" cy="1676400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914400"/>
                <a:gridCol w="914400"/>
                <a:gridCol w="4001636"/>
                <a:gridCol w="5300554"/>
              </a:tblGrid>
              <a:tr h="335280">
                <a:tc>
                  <a:txBody>
                    <a:bodyPr/>
                    <a:lstStyle/>
                    <a:p>
                      <a:r>
                        <a:rPr sz="1250" b="1" i="0">
                          <a:solidFill>
                            <a:srgbClr val="FFFFFF"/>
                          </a:solidFill>
                          <a:latin typeface="Calibri"/>
                        </a:rPr>
                        <a:t>Visits</a:t>
                      </a:r>
                    </a:p>
                  </a:txBody>
                  <a:tcPr marL="101600" marR="101600" marT="38100" marB="38100" anchor="ctr">
                    <a:solidFill>
                      <a:srgbClr val="1A0F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 i="0">
                          <a:solidFill>
                            <a:srgbClr val="FFFFFF"/>
                          </a:solidFill>
                          <a:latin typeface="Calibri"/>
                        </a:rPr>
                        <a:t>p</a:t>
                      </a:r>
                    </a:p>
                  </a:txBody>
                  <a:tcPr marL="101600" marR="101600" marT="38100" marB="38100" anchor="ctr">
                    <a:solidFill>
                      <a:srgbClr val="1A0F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 i="0">
                          <a:solidFill>
                            <a:srgbClr val="FFFFFF"/>
                          </a:solidFill>
                          <a:latin typeface="Calibri"/>
                        </a:rPr>
                        <a:t>Odds p / (1 - p)</a:t>
                      </a:r>
                    </a:p>
                  </a:txBody>
                  <a:tcPr marL="101600" marR="101600" marT="38100" marB="38100" anchor="ctr">
                    <a:solidFill>
                      <a:srgbClr val="1A0F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 i="0">
                          <a:solidFill>
                            <a:srgbClr val="FFFFFF"/>
                          </a:solidFill>
                          <a:latin typeface="Calibri"/>
                        </a:rPr>
                        <a:t>Ratio to the row above</a:t>
                      </a:r>
                    </a:p>
                  </a:txBody>
                  <a:tcPr marL="101600" marR="101600" marT="38100" marB="38100" anchor="ctr">
                    <a:solidFill>
                      <a:srgbClr val="1A0F5C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440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440"/>
                          </a:solidFill>
                          <a:latin typeface="Calibri"/>
                        </a:rPr>
                        <a:t>0.25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440"/>
                          </a:solidFill>
                          <a:latin typeface="Calibri"/>
                        </a:rPr>
                        <a:t>0.33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440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440"/>
                          </a:solidFill>
                          <a:latin typeface="Calibri"/>
                        </a:rPr>
                        <a:t>0.49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440"/>
                          </a:solidFill>
                          <a:latin typeface="Calibri"/>
                        </a:rPr>
                        <a:t>0.94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440"/>
                          </a:solidFill>
                          <a:latin typeface="Calibri"/>
                        </a:rPr>
                        <a:t>2.85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440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440"/>
                          </a:solidFill>
                          <a:latin typeface="Calibri"/>
                        </a:rPr>
                        <a:t>0.73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440"/>
                          </a:solidFill>
                          <a:latin typeface="Calibri"/>
                        </a:rPr>
                        <a:t>2.69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440"/>
                          </a:solidFill>
                          <a:latin typeface="Calibri"/>
                        </a:rPr>
                        <a:t>2.85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440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440"/>
                          </a:solidFill>
                          <a:latin typeface="Calibri"/>
                        </a:rPr>
                        <a:t>0.88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440"/>
                          </a:solidFill>
                          <a:latin typeface="Calibri"/>
                        </a:rPr>
                        <a:t>7.67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440"/>
                          </a:solidFill>
                          <a:latin typeface="Calibri"/>
                        </a:rPr>
                        <a:t>2.85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530352" y="3889248"/>
            <a:ext cx="11130991" cy="541020"/>
          </a:xfrm>
          <a:prstGeom prst="roundRect">
            <a:avLst>
              <a:gd name="adj" fmla="val 8000"/>
            </a:avLst>
          </a:prstGeom>
          <a:solidFill>
            <a:srgbClr val="F7F5FD"/>
          </a:solidFill>
          <a:ln w="9525">
            <a:solidFill>
              <a:srgbClr val="E4E1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76656" y="4017263"/>
            <a:ext cx="45720" cy="284988"/>
          </a:xfrm>
          <a:prstGeom prst="roundRect">
            <a:avLst>
              <a:gd name="adj" fmla="val 50000"/>
            </a:avLst>
          </a:prstGeom>
          <a:solidFill>
            <a:srgbClr val="5B3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4" y="4008119"/>
            <a:ext cx="10564063" cy="3581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500" b="1">
                <a:solidFill>
                  <a:srgbClr val="5B3FD6"/>
                </a:solidFill>
                <a:latin typeface="Calibri"/>
              </a:rPr>
              <a:t>The trap. </a:t>
            </a:r>
            <a:r>
              <a:rPr sz="1500" b="0" i="0">
                <a:solidFill>
                  <a:srgbClr val="1A1440"/>
                </a:solidFill>
                <a:latin typeface="Calibri"/>
              </a:rPr>
              <a:t>"Each visit adds 1.05 to the probability" reads a log-odds coefficient as a slope.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" y="6437376"/>
            <a:ext cx="256032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…</a:t>
            </a:r>
          </a:p>
        </p:txBody>
      </p:sp>
      <p:sp>
        <p:nvSpPr>
          <p:cNvPr id="14" name="Oval 13"/>
          <p:cNvSpPr/>
          <p:nvPr/>
        </p:nvSpPr>
        <p:spPr>
          <a:xfrm>
            <a:off x="786384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6437376"/>
            <a:ext cx="1286446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Which slice, and when?</a:t>
            </a:r>
          </a:p>
        </p:txBody>
      </p:sp>
      <p:sp>
        <p:nvSpPr>
          <p:cNvPr id="16" name="Oval 15"/>
          <p:cNvSpPr/>
          <p:nvPr/>
        </p:nvSpPr>
        <p:spPr>
          <a:xfrm>
            <a:off x="2273998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383726" y="6437376"/>
            <a:ext cx="1148429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Which line is best?</a:t>
            </a:r>
          </a:p>
        </p:txBody>
      </p:sp>
      <p:sp>
        <p:nvSpPr>
          <p:cNvPr id="18" name="Oval 17"/>
          <p:cNvSpPr/>
          <p:nvPr/>
        </p:nvSpPr>
        <p:spPr>
          <a:xfrm>
            <a:off x="3623595" y="6492240"/>
            <a:ext cx="64008" cy="64008"/>
          </a:xfrm>
          <a:prstGeom prst="ellipse">
            <a:avLst/>
          </a:prstGeom>
          <a:solidFill>
            <a:srgbClr val="5B3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733323" y="6437376"/>
            <a:ext cx="1194435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 i="0">
                <a:solidFill>
                  <a:srgbClr val="5B3FD6"/>
                </a:solidFill>
                <a:latin typeface="Calibri"/>
              </a:rPr>
              <a:t>What does 0.73 mean?</a:t>
            </a:r>
          </a:p>
        </p:txBody>
      </p:sp>
      <p:sp>
        <p:nvSpPr>
          <p:cNvPr id="20" name="Oval 19"/>
          <p:cNvSpPr/>
          <p:nvPr/>
        </p:nvSpPr>
        <p:spPr>
          <a:xfrm>
            <a:off x="5019198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128926" y="6437376"/>
            <a:ext cx="1286446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What did the fit miss?</a:t>
            </a:r>
          </a:p>
        </p:txBody>
      </p:sp>
      <p:sp>
        <p:nvSpPr>
          <p:cNvPr id="22" name="Oval 21"/>
          <p:cNvSpPr/>
          <p:nvPr/>
        </p:nvSpPr>
        <p:spPr>
          <a:xfrm>
            <a:off x="6506813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16541" y="6437376"/>
            <a:ext cx="1194435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Who is worth a call?</a:t>
            </a:r>
          </a:p>
        </p:txBody>
      </p:sp>
      <p:sp>
        <p:nvSpPr>
          <p:cNvPr id="24" name="Oval 23"/>
          <p:cNvSpPr/>
          <p:nvPr/>
        </p:nvSpPr>
        <p:spPr>
          <a:xfrm>
            <a:off x="7902416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12144" y="6437376"/>
            <a:ext cx="1240440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Does it beat nothing?</a:t>
            </a:r>
          </a:p>
        </p:txBody>
      </p:sp>
      <p:sp>
        <p:nvSpPr>
          <p:cNvPr id="26" name="Oval 25"/>
          <p:cNvSpPr/>
          <p:nvPr/>
        </p:nvSpPr>
        <p:spPr>
          <a:xfrm>
            <a:off x="9344025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453753" y="6437376"/>
            <a:ext cx="1286446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What did the peek buy?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198303" y="6437376"/>
            <a:ext cx="1463040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50" b="0" i="0">
                <a:solidFill>
                  <a:srgbClr val="6B6690"/>
                </a:solidFill>
                <a:latin typeface="Calibri"/>
              </a:rPr>
              <a:t>S28  ·  33 / 62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dar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92063" y="310896"/>
            <a:ext cx="566928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550" b="1" i="0" spc="300">
                <a:solidFill>
                  <a:srgbClr val="CFC9EE"/>
                </a:solidFill>
                <a:latin typeface="Calibri"/>
              </a:rPr>
              <a:t>PG DIPLOMA IN AI-ML AND AGENTIC AI ENGINEERING  ·  COHORT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19" y="1143000"/>
            <a:ext cx="36576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600" b="0" i="0">
                <a:solidFill>
                  <a:srgbClr val="D9A7FF"/>
                </a:solidFill>
                <a:latin typeface="Georgia"/>
              </a:rPr>
              <a:t>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19" y="2542032"/>
            <a:ext cx="10673791" cy="366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D9A7FF"/>
                </a:solidFill>
                <a:latin typeface="Calibri"/>
              </a:rPr>
              <a:t>What the leftovers confess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19" y="3017520"/>
            <a:ext cx="10673791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0" i="0">
                <a:solidFill>
                  <a:srgbClr val="FFFFFF"/>
                </a:solidFill>
                <a:latin typeface="Georgia"/>
              </a:rPr>
              <a:t>What did the fit miss?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19" y="3931920"/>
            <a:ext cx="9509760" cy="5318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E4E1F1"/>
                </a:solidFill>
                <a:latin typeface="Calibri"/>
              </a:rPr>
              <a:t>Where each model fails; the residual tells · also searched as: residual plot, regression diagnostics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19" y="5074920"/>
            <a:ext cx="1099768" cy="310896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CFC9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400" rIns="25400" tIns="0" bIns="0"/>
          <a:lstStyle/>
          <a:p>
            <a:pPr algn="ctr"/>
            <a:r>
              <a:rPr sz="850" b="0">
                <a:solidFill>
                  <a:srgbClr val="CFC9EE"/>
                </a:solidFill>
                <a:latin typeface="Calibri"/>
              </a:rPr>
              <a:t>Does it need a model?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941016" y="5074920"/>
            <a:ext cx="1221169" cy="310896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CFC9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400" rIns="25400" tIns="0" bIns="0"/>
          <a:lstStyle/>
          <a:p>
            <a:pPr algn="ctr"/>
            <a:r>
              <a:rPr sz="850" b="0">
                <a:solidFill>
                  <a:srgbClr val="CFC9EE"/>
                </a:solidFill>
                <a:latin typeface="Calibri"/>
              </a:rPr>
              <a:t>What may the model read?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71914" y="5074920"/>
            <a:ext cx="1140235" cy="310896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CFC9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400" rIns="25400" tIns="0" bIns="0"/>
          <a:lstStyle/>
          <a:p>
            <a:pPr algn="ctr"/>
            <a:r>
              <a:rPr sz="850" b="0">
                <a:solidFill>
                  <a:srgbClr val="CFC9EE"/>
                </a:solidFill>
                <a:latin typeface="Calibri"/>
              </a:rPr>
              <a:t>Which slice, and when?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21877" y="5074920"/>
            <a:ext cx="1018833" cy="310896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CFC9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400" rIns="25400" tIns="0" bIns="0"/>
          <a:lstStyle/>
          <a:p>
            <a:pPr algn="ctr"/>
            <a:r>
              <a:rPr sz="850" b="0">
                <a:solidFill>
                  <a:srgbClr val="CFC9EE"/>
                </a:solidFill>
                <a:latin typeface="Calibri"/>
              </a:rPr>
              <a:t>Which line is best?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50438" y="5074920"/>
            <a:ext cx="1059300" cy="310896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CFC9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400" rIns="25400" tIns="0" bIns="0"/>
          <a:lstStyle/>
          <a:p>
            <a:pPr algn="ctr"/>
            <a:r>
              <a:rPr sz="850" b="0">
                <a:solidFill>
                  <a:srgbClr val="CFC9EE"/>
                </a:solidFill>
                <a:latin typeface="Calibri"/>
              </a:rPr>
              <a:t>What does 0.73 mean?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19467" y="5074920"/>
            <a:ext cx="1140235" cy="310896"/>
          </a:xfrm>
          <a:prstGeom prst="roundRect">
            <a:avLst>
              <a:gd name="adj" fmla="val 50000"/>
            </a:avLst>
          </a:prstGeom>
          <a:solidFill>
            <a:srgbClr val="D9A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400" rIns="25400" tIns="0" bIns="0"/>
          <a:lstStyle/>
          <a:p>
            <a:pPr algn="ctr"/>
            <a:r>
              <a:rPr sz="850" b="1">
                <a:solidFill>
                  <a:srgbClr val="1A0F5C"/>
                </a:solidFill>
                <a:latin typeface="Calibri"/>
              </a:rPr>
              <a:t>What did the fit miss?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69430" y="5074920"/>
            <a:ext cx="1059300" cy="310896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CFC9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400" rIns="25400" tIns="0" bIns="0"/>
          <a:lstStyle/>
          <a:p>
            <a:pPr algn="ctr"/>
            <a:r>
              <a:rPr sz="850" b="0">
                <a:solidFill>
                  <a:srgbClr val="CFC9EE"/>
                </a:solidFill>
                <a:latin typeface="Calibri"/>
              </a:rPr>
              <a:t>Who is worth a call?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238459" y="5074920"/>
            <a:ext cx="1099768" cy="310896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CFC9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400" rIns="25400" tIns="0" bIns="0"/>
          <a:lstStyle/>
          <a:p>
            <a:pPr algn="ctr"/>
            <a:r>
              <a:rPr sz="850" b="0">
                <a:solidFill>
                  <a:srgbClr val="CFC9EE"/>
                </a:solidFill>
                <a:latin typeface="Calibri"/>
              </a:rPr>
              <a:t>Does it beat nothing?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47955" y="5074920"/>
            <a:ext cx="1140235" cy="310896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CFC9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400" rIns="25400" tIns="0" bIns="0"/>
          <a:lstStyle/>
          <a:p>
            <a:pPr algn="ctr"/>
            <a:r>
              <a:rPr sz="850" b="0">
                <a:solidFill>
                  <a:srgbClr val="CFC9EE"/>
                </a:solidFill>
                <a:latin typeface="Calibri"/>
              </a:rPr>
              <a:t>What did the peek buy?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0352" y="6437376"/>
            <a:ext cx="9667951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 i="0">
                <a:solidFill>
                  <a:srgbClr val="CFC9EE"/>
                </a:solidFill>
                <a:latin typeface="Calibri"/>
              </a:rPr>
              <a:t>Week 5 Monday: regression and classification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198303" y="6437376"/>
            <a:ext cx="1463040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50" b="0" i="0">
                <a:solidFill>
                  <a:srgbClr val="CFC9EE"/>
                </a:solidFill>
                <a:latin typeface="Calibri"/>
              </a:rPr>
              <a:t>34 / 62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ligh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92063" y="310896"/>
            <a:ext cx="566928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550" b="1" i="0" spc="300">
                <a:solidFill>
                  <a:srgbClr val="6B6690"/>
                </a:solidFill>
                <a:latin typeface="Calibri"/>
              </a:rPr>
              <a:t>WEEK 5  ·  MONDAY  ·  REGRESSION AND CLASSIFICATION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76656"/>
            <a:ext cx="11130991" cy="512064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1A0F5C"/>
                </a:solidFill>
                <a:latin typeface="Georgia"/>
              </a:rPr>
              <a:t>392 cars, one straight line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1243584"/>
            <a:ext cx="11130991" cy="234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B6690"/>
                </a:solidFill>
                <a:latin typeface="Calibri"/>
              </a:rPr>
              <a:t>Real data: UCI Auto MPG, 1970s and early 1980s cars.</a:t>
            </a:r>
          </a:p>
        </p:txBody>
      </p:sp>
      <p:pic>
        <p:nvPicPr>
          <p:cNvPr id="9" name="mermaid diagram" descr="C2_W05_D01_fig_ch6_scatter_line_STUDE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13434" y="1682496"/>
            <a:ext cx="8164825" cy="4200144"/>
          </a:xfrm>
          <a:prstGeom prst="rect">
            <a:avLst/>
          </a:prstGeom>
        </p:spPr>
      </p:pic>
      <p:sp>
        <p:nvSpPr>
          <p:cNvPr id="10" name="picture caption"/>
          <p:cNvSpPr txBox="1"/>
          <p:nvPr/>
        </p:nvSpPr>
        <p:spPr>
          <a:xfrm>
            <a:off x="530352" y="5919216"/>
            <a:ext cx="11130991" cy="3169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6B6690"/>
                </a:solidFill>
                <a:latin typeface="Calibri"/>
              </a:rPr>
              <a:t>Miles per gallon against horsepower with a straight line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" y="6437376"/>
            <a:ext cx="256032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…</a:t>
            </a:r>
          </a:p>
        </p:txBody>
      </p:sp>
      <p:sp>
        <p:nvSpPr>
          <p:cNvPr id="12" name="Oval 11"/>
          <p:cNvSpPr/>
          <p:nvPr/>
        </p:nvSpPr>
        <p:spPr>
          <a:xfrm>
            <a:off x="786384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6437376"/>
            <a:ext cx="1286446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Which slice, and when?</a:t>
            </a:r>
          </a:p>
        </p:txBody>
      </p:sp>
      <p:sp>
        <p:nvSpPr>
          <p:cNvPr id="14" name="Oval 13"/>
          <p:cNvSpPr/>
          <p:nvPr/>
        </p:nvSpPr>
        <p:spPr>
          <a:xfrm>
            <a:off x="2273998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383726" y="6437376"/>
            <a:ext cx="1148429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Which line is best?</a:t>
            </a:r>
          </a:p>
        </p:txBody>
      </p:sp>
      <p:sp>
        <p:nvSpPr>
          <p:cNvPr id="16" name="Oval 15"/>
          <p:cNvSpPr/>
          <p:nvPr/>
        </p:nvSpPr>
        <p:spPr>
          <a:xfrm>
            <a:off x="3623595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33323" y="6437376"/>
            <a:ext cx="1194435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What does 0.73 mean?</a:t>
            </a:r>
          </a:p>
        </p:txBody>
      </p:sp>
      <p:sp>
        <p:nvSpPr>
          <p:cNvPr id="18" name="Oval 17"/>
          <p:cNvSpPr/>
          <p:nvPr/>
        </p:nvSpPr>
        <p:spPr>
          <a:xfrm>
            <a:off x="5019198" y="6492240"/>
            <a:ext cx="64008" cy="64008"/>
          </a:xfrm>
          <a:prstGeom prst="ellipse">
            <a:avLst/>
          </a:prstGeom>
          <a:solidFill>
            <a:srgbClr val="5B3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28926" y="6437376"/>
            <a:ext cx="1286446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 i="0">
                <a:solidFill>
                  <a:srgbClr val="5B3FD6"/>
                </a:solidFill>
                <a:latin typeface="Calibri"/>
              </a:rPr>
              <a:t>What did the fit miss?</a:t>
            </a:r>
          </a:p>
        </p:txBody>
      </p:sp>
      <p:sp>
        <p:nvSpPr>
          <p:cNvPr id="20" name="Oval 19"/>
          <p:cNvSpPr/>
          <p:nvPr/>
        </p:nvSpPr>
        <p:spPr>
          <a:xfrm>
            <a:off x="6506813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16541" y="6437376"/>
            <a:ext cx="1194435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Who is worth a call?</a:t>
            </a:r>
          </a:p>
        </p:txBody>
      </p:sp>
      <p:sp>
        <p:nvSpPr>
          <p:cNvPr id="22" name="Oval 21"/>
          <p:cNvSpPr/>
          <p:nvPr/>
        </p:nvSpPr>
        <p:spPr>
          <a:xfrm>
            <a:off x="7902416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12144" y="6437376"/>
            <a:ext cx="1240440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Does it beat nothing?</a:t>
            </a:r>
          </a:p>
        </p:txBody>
      </p:sp>
      <p:sp>
        <p:nvSpPr>
          <p:cNvPr id="24" name="Oval 23"/>
          <p:cNvSpPr/>
          <p:nvPr/>
        </p:nvSpPr>
        <p:spPr>
          <a:xfrm>
            <a:off x="9344025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453753" y="6437376"/>
            <a:ext cx="1286446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What did the peek buy?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198303" y="6437376"/>
            <a:ext cx="1463040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50" b="0" i="0">
                <a:solidFill>
                  <a:srgbClr val="6B6690"/>
                </a:solidFill>
                <a:latin typeface="Calibri"/>
              </a:rPr>
              <a:t>S29  ·  35 / 62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ligh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92063" y="310896"/>
            <a:ext cx="566928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550" b="1" i="0" spc="300">
                <a:solidFill>
                  <a:srgbClr val="6B6690"/>
                </a:solidFill>
                <a:latin typeface="Calibri"/>
              </a:rPr>
              <a:t>WEEK 5  ·  MONDAY  ·  REGRESSION AND CLASSIFICATION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76656"/>
            <a:ext cx="11130991" cy="512064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1A0F5C"/>
                </a:solidFill>
                <a:latin typeface="Georgia"/>
              </a:rPr>
              <a:t>What shape will the residuals take?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1243584"/>
            <a:ext cx="11130991" cy="234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B6690"/>
                </a:solidFill>
                <a:latin typeface="Calibri"/>
              </a:rPr>
              <a:t>Even scatter, a bow, or below zero everywhere?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30352" y="1956816"/>
            <a:ext cx="3588410" cy="177444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4E1F1"/>
            </a:solidFill>
          </a:ln>
          <a:effectLst>
            <a:outerShdw blurRad="76200" dist="19050" dir="5400000" algn="bl" rotWithShape="0">
              <a:srgbClr val="1A0F5C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31519" y="2157984"/>
            <a:ext cx="457200" cy="457200"/>
          </a:xfrm>
          <a:prstGeom prst="ellipse">
            <a:avLst/>
          </a:prstGeom>
          <a:solidFill>
            <a:srgbClr val="EEE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11" name="Picture 10" descr="shuffle_1f5f2f56d50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247" y="2267712"/>
            <a:ext cx="237744" cy="23774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31519" y="2724912"/>
            <a:ext cx="3186074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1" i="0" spc="250">
                <a:solidFill>
                  <a:srgbClr val="5B3FD6"/>
                </a:solidFill>
                <a:latin typeface="Calibri"/>
              </a:rPr>
              <a:t>OPTION 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19" y="2962656"/>
            <a:ext cx="3186074" cy="2677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A0F5C"/>
                </a:solidFill>
                <a:latin typeface="Calibri"/>
              </a:rPr>
              <a:t>Even scatter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19" y="3303524"/>
            <a:ext cx="3186074" cy="21818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6B6690"/>
                </a:solidFill>
                <a:latin typeface="Calibri"/>
              </a:rPr>
              <a:t>Misses spread evenly above and below zero.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01642" y="1956816"/>
            <a:ext cx="3588410" cy="177444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4E1F1"/>
            </a:solidFill>
          </a:ln>
          <a:effectLst>
            <a:outerShdw blurRad="76200" dist="19050" dir="5400000" algn="bl" rotWithShape="0">
              <a:srgbClr val="1A0F5C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502810" y="2157984"/>
            <a:ext cx="457200" cy="457200"/>
          </a:xfrm>
          <a:prstGeom prst="ellipse">
            <a:avLst/>
          </a:prstGeom>
          <a:solidFill>
            <a:srgbClr val="EEE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17" name="Picture 16" descr="smile_489e936ff24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12538" y="2267712"/>
            <a:ext cx="237744" cy="237744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4502810" y="2724912"/>
            <a:ext cx="3186074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1" i="0" spc="250">
                <a:solidFill>
                  <a:srgbClr val="5B3FD6"/>
                </a:solidFill>
                <a:latin typeface="Calibri"/>
              </a:rPr>
              <a:t>OPTION 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02810" y="2962656"/>
            <a:ext cx="3186074" cy="2677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A0F5C"/>
                </a:solidFill>
                <a:latin typeface="Calibri"/>
              </a:rPr>
              <a:t>A bow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02810" y="3303524"/>
            <a:ext cx="3186074" cy="21818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6B6690"/>
                </a:solidFill>
                <a:latin typeface="Calibri"/>
              </a:rPr>
              <a:t>Above at both ends, below in the middle.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72932" y="1956816"/>
            <a:ext cx="3588410" cy="177444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4E1F1"/>
            </a:solidFill>
          </a:ln>
          <a:effectLst>
            <a:outerShdw blurRad="76200" dist="19050" dir="5400000" algn="bl" rotWithShape="0">
              <a:srgbClr val="1A0F5C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274100" y="2157984"/>
            <a:ext cx="457200" cy="457200"/>
          </a:xfrm>
          <a:prstGeom prst="ellipse">
            <a:avLst/>
          </a:prstGeom>
          <a:solidFill>
            <a:srgbClr val="EEE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23" name="Picture 22" descr="arrow-down_65fcb801dc4c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83828" y="2267712"/>
            <a:ext cx="237744" cy="237744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8274100" y="2724912"/>
            <a:ext cx="3186074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1" i="0" spc="250">
                <a:solidFill>
                  <a:srgbClr val="5B3FD6"/>
                </a:solidFill>
                <a:latin typeface="Calibri"/>
              </a:rPr>
              <a:t>OPTION 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74100" y="2962656"/>
            <a:ext cx="3186074" cy="2677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A0F5C"/>
                </a:solidFill>
                <a:latin typeface="Calibri"/>
              </a:rPr>
              <a:t>Below everywhere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74100" y="3303524"/>
            <a:ext cx="3186074" cy="21818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6B6690"/>
                </a:solidFill>
                <a:latin typeface="Calibri"/>
              </a:rPr>
              <a:t>The line overshoots every car.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0352" y="6437376"/>
            <a:ext cx="256032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…</a:t>
            </a:r>
          </a:p>
        </p:txBody>
      </p:sp>
      <p:sp>
        <p:nvSpPr>
          <p:cNvPr id="28" name="Oval 27"/>
          <p:cNvSpPr/>
          <p:nvPr/>
        </p:nvSpPr>
        <p:spPr>
          <a:xfrm>
            <a:off x="786384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96112" y="6437376"/>
            <a:ext cx="1286446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Which slice, and when?</a:t>
            </a:r>
          </a:p>
        </p:txBody>
      </p:sp>
      <p:sp>
        <p:nvSpPr>
          <p:cNvPr id="30" name="Oval 29"/>
          <p:cNvSpPr/>
          <p:nvPr/>
        </p:nvSpPr>
        <p:spPr>
          <a:xfrm>
            <a:off x="2273998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383726" y="6437376"/>
            <a:ext cx="1148429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Which line is best?</a:t>
            </a:r>
          </a:p>
        </p:txBody>
      </p:sp>
      <p:sp>
        <p:nvSpPr>
          <p:cNvPr id="32" name="Oval 31"/>
          <p:cNvSpPr/>
          <p:nvPr/>
        </p:nvSpPr>
        <p:spPr>
          <a:xfrm>
            <a:off x="3623595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733323" y="6437376"/>
            <a:ext cx="1194435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What does 0.73 mean?</a:t>
            </a:r>
          </a:p>
        </p:txBody>
      </p:sp>
      <p:sp>
        <p:nvSpPr>
          <p:cNvPr id="34" name="Oval 33"/>
          <p:cNvSpPr/>
          <p:nvPr/>
        </p:nvSpPr>
        <p:spPr>
          <a:xfrm>
            <a:off x="5019198" y="6492240"/>
            <a:ext cx="64008" cy="64008"/>
          </a:xfrm>
          <a:prstGeom prst="ellipse">
            <a:avLst/>
          </a:prstGeom>
          <a:solidFill>
            <a:srgbClr val="5B3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128926" y="6437376"/>
            <a:ext cx="1286446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 i="0">
                <a:solidFill>
                  <a:srgbClr val="5B3FD6"/>
                </a:solidFill>
                <a:latin typeface="Calibri"/>
              </a:rPr>
              <a:t>What did the fit miss?</a:t>
            </a:r>
          </a:p>
        </p:txBody>
      </p:sp>
      <p:sp>
        <p:nvSpPr>
          <p:cNvPr id="36" name="Oval 35"/>
          <p:cNvSpPr/>
          <p:nvPr/>
        </p:nvSpPr>
        <p:spPr>
          <a:xfrm>
            <a:off x="6506813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616541" y="6437376"/>
            <a:ext cx="1194435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Who is worth a call?</a:t>
            </a:r>
          </a:p>
        </p:txBody>
      </p:sp>
      <p:sp>
        <p:nvSpPr>
          <p:cNvPr id="38" name="Oval 37"/>
          <p:cNvSpPr/>
          <p:nvPr/>
        </p:nvSpPr>
        <p:spPr>
          <a:xfrm>
            <a:off x="7902416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012144" y="6437376"/>
            <a:ext cx="1240440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Does it beat nothing?</a:t>
            </a:r>
          </a:p>
        </p:txBody>
      </p:sp>
      <p:sp>
        <p:nvSpPr>
          <p:cNvPr id="40" name="Oval 39"/>
          <p:cNvSpPr/>
          <p:nvPr/>
        </p:nvSpPr>
        <p:spPr>
          <a:xfrm>
            <a:off x="9344025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453753" y="6437376"/>
            <a:ext cx="1286446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What did the peek buy?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198303" y="6437376"/>
            <a:ext cx="1463040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50" b="0" i="0">
                <a:solidFill>
                  <a:srgbClr val="6B6690"/>
                </a:solidFill>
                <a:latin typeface="Calibri"/>
              </a:rPr>
              <a:t>S30  ·  36 / 62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ligh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92063" y="310896"/>
            <a:ext cx="566928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550" b="1" i="0" spc="300">
                <a:solidFill>
                  <a:srgbClr val="6B6690"/>
                </a:solidFill>
                <a:latin typeface="Calibri"/>
              </a:rPr>
              <a:t>WEEK 5  ·  MONDAY  ·  REGRESSION AND CLASSIFICATION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76656"/>
            <a:ext cx="11130991" cy="512064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1A0F5C"/>
                </a:solidFill>
                <a:latin typeface="Georgia"/>
              </a:rPr>
              <a:t>Answer: a bow, +2.7 at one end, -2.2 in the middle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1243584"/>
            <a:ext cx="11130991" cy="234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B6690"/>
                </a:solidFill>
                <a:latin typeface="Calibri"/>
              </a:rPr>
              <a:t>Mean residual in five horsepower bands.</a:t>
            </a:r>
          </a:p>
        </p:txBody>
      </p:sp>
      <p:pic>
        <p:nvPicPr>
          <p:cNvPr id="9" name="mermaid diagram" descr="C2_W05_D01_fig_ch6_resid_line_STUDE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83611" y="1682496"/>
            <a:ext cx="8624471" cy="4200144"/>
          </a:xfrm>
          <a:prstGeom prst="rect">
            <a:avLst/>
          </a:prstGeom>
        </p:spPr>
      </p:pic>
      <p:sp>
        <p:nvSpPr>
          <p:cNvPr id="10" name="picture caption"/>
          <p:cNvSpPr txBox="1"/>
          <p:nvPr/>
        </p:nvSpPr>
        <p:spPr>
          <a:xfrm>
            <a:off x="530352" y="5919216"/>
            <a:ext cx="11130991" cy="3169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6B6690"/>
                </a:solidFill>
                <a:latin typeface="Calibri"/>
              </a:rPr>
              <a:t>Residuals of the straight line bow across horsepower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" y="6437376"/>
            <a:ext cx="256032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…</a:t>
            </a:r>
          </a:p>
        </p:txBody>
      </p:sp>
      <p:sp>
        <p:nvSpPr>
          <p:cNvPr id="12" name="Oval 11"/>
          <p:cNvSpPr/>
          <p:nvPr/>
        </p:nvSpPr>
        <p:spPr>
          <a:xfrm>
            <a:off x="786384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6437376"/>
            <a:ext cx="1286446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Which slice, and when?</a:t>
            </a:r>
          </a:p>
        </p:txBody>
      </p:sp>
      <p:sp>
        <p:nvSpPr>
          <p:cNvPr id="14" name="Oval 13"/>
          <p:cNvSpPr/>
          <p:nvPr/>
        </p:nvSpPr>
        <p:spPr>
          <a:xfrm>
            <a:off x="2273998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383726" y="6437376"/>
            <a:ext cx="1148429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Which line is best?</a:t>
            </a:r>
          </a:p>
        </p:txBody>
      </p:sp>
      <p:sp>
        <p:nvSpPr>
          <p:cNvPr id="16" name="Oval 15"/>
          <p:cNvSpPr/>
          <p:nvPr/>
        </p:nvSpPr>
        <p:spPr>
          <a:xfrm>
            <a:off x="3623595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33323" y="6437376"/>
            <a:ext cx="1194435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What does 0.73 mean?</a:t>
            </a:r>
          </a:p>
        </p:txBody>
      </p:sp>
      <p:sp>
        <p:nvSpPr>
          <p:cNvPr id="18" name="Oval 17"/>
          <p:cNvSpPr/>
          <p:nvPr/>
        </p:nvSpPr>
        <p:spPr>
          <a:xfrm>
            <a:off x="5019198" y="6492240"/>
            <a:ext cx="64008" cy="64008"/>
          </a:xfrm>
          <a:prstGeom prst="ellipse">
            <a:avLst/>
          </a:prstGeom>
          <a:solidFill>
            <a:srgbClr val="5B3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28926" y="6437376"/>
            <a:ext cx="1286446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 i="0">
                <a:solidFill>
                  <a:srgbClr val="5B3FD6"/>
                </a:solidFill>
                <a:latin typeface="Calibri"/>
              </a:rPr>
              <a:t>What did the fit miss?</a:t>
            </a:r>
          </a:p>
        </p:txBody>
      </p:sp>
      <p:sp>
        <p:nvSpPr>
          <p:cNvPr id="20" name="Oval 19"/>
          <p:cNvSpPr/>
          <p:nvPr/>
        </p:nvSpPr>
        <p:spPr>
          <a:xfrm>
            <a:off x="6506813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16541" y="6437376"/>
            <a:ext cx="1194435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Who is worth a call?</a:t>
            </a:r>
          </a:p>
        </p:txBody>
      </p:sp>
      <p:sp>
        <p:nvSpPr>
          <p:cNvPr id="22" name="Oval 21"/>
          <p:cNvSpPr/>
          <p:nvPr/>
        </p:nvSpPr>
        <p:spPr>
          <a:xfrm>
            <a:off x="7902416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12144" y="6437376"/>
            <a:ext cx="1240440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Does it beat nothing?</a:t>
            </a:r>
          </a:p>
        </p:txBody>
      </p:sp>
      <p:sp>
        <p:nvSpPr>
          <p:cNvPr id="24" name="Oval 23"/>
          <p:cNvSpPr/>
          <p:nvPr/>
        </p:nvSpPr>
        <p:spPr>
          <a:xfrm>
            <a:off x="9344025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453753" y="6437376"/>
            <a:ext cx="1286446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What did the peek buy?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198303" y="6437376"/>
            <a:ext cx="1463040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50" b="0" i="0">
                <a:solidFill>
                  <a:srgbClr val="6B6690"/>
                </a:solidFill>
                <a:latin typeface="Calibri"/>
              </a:rPr>
              <a:t>S31  ·  37 / 62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ligh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92063" y="310896"/>
            <a:ext cx="566928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550" b="1" i="0" spc="300">
                <a:solidFill>
                  <a:srgbClr val="6B6690"/>
                </a:solidFill>
                <a:latin typeface="Calibri"/>
              </a:rPr>
              <a:t>WEEK 5  ·  MONDAY  ·  REGRESSION AND CLASSIFICATION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76656"/>
            <a:ext cx="11130991" cy="512064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1A0F5C"/>
                </a:solidFill>
                <a:latin typeface="Georgia"/>
              </a:rPr>
              <a:t>Add horsepower squared, and the bow flattens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1243584"/>
            <a:ext cx="11130991" cy="234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B6690"/>
                </a:solidFill>
                <a:latin typeface="Calibri"/>
              </a:rPr>
              <a:t>Every band within 1 mpg; typical miss 4.89 to 4.36.</a:t>
            </a:r>
          </a:p>
        </p:txBody>
      </p:sp>
      <p:pic>
        <p:nvPicPr>
          <p:cNvPr id="9" name="mermaid diagram" descr="C2_W05_D01_fig_ch6_resid_curve_STUDE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83611" y="1682496"/>
            <a:ext cx="8624471" cy="4200144"/>
          </a:xfrm>
          <a:prstGeom prst="rect">
            <a:avLst/>
          </a:prstGeom>
        </p:spPr>
      </p:pic>
      <p:sp>
        <p:nvSpPr>
          <p:cNvPr id="10" name="picture caption"/>
          <p:cNvSpPr txBox="1"/>
          <p:nvPr/>
        </p:nvSpPr>
        <p:spPr>
          <a:xfrm>
            <a:off x="530352" y="5919216"/>
            <a:ext cx="11130991" cy="3169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6B6690"/>
                </a:solidFill>
                <a:latin typeface="Calibri"/>
              </a:rPr>
              <a:t>Residuals after adding horsepower squared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" y="6437376"/>
            <a:ext cx="256032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…</a:t>
            </a:r>
          </a:p>
        </p:txBody>
      </p:sp>
      <p:sp>
        <p:nvSpPr>
          <p:cNvPr id="12" name="Oval 11"/>
          <p:cNvSpPr/>
          <p:nvPr/>
        </p:nvSpPr>
        <p:spPr>
          <a:xfrm>
            <a:off x="786384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6437376"/>
            <a:ext cx="1286446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Which slice, and when?</a:t>
            </a:r>
          </a:p>
        </p:txBody>
      </p:sp>
      <p:sp>
        <p:nvSpPr>
          <p:cNvPr id="14" name="Oval 13"/>
          <p:cNvSpPr/>
          <p:nvPr/>
        </p:nvSpPr>
        <p:spPr>
          <a:xfrm>
            <a:off x="2273998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383726" y="6437376"/>
            <a:ext cx="1148429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Which line is best?</a:t>
            </a:r>
          </a:p>
        </p:txBody>
      </p:sp>
      <p:sp>
        <p:nvSpPr>
          <p:cNvPr id="16" name="Oval 15"/>
          <p:cNvSpPr/>
          <p:nvPr/>
        </p:nvSpPr>
        <p:spPr>
          <a:xfrm>
            <a:off x="3623595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33323" y="6437376"/>
            <a:ext cx="1194435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What does 0.73 mean?</a:t>
            </a:r>
          </a:p>
        </p:txBody>
      </p:sp>
      <p:sp>
        <p:nvSpPr>
          <p:cNvPr id="18" name="Oval 17"/>
          <p:cNvSpPr/>
          <p:nvPr/>
        </p:nvSpPr>
        <p:spPr>
          <a:xfrm>
            <a:off x="5019198" y="6492240"/>
            <a:ext cx="64008" cy="64008"/>
          </a:xfrm>
          <a:prstGeom prst="ellipse">
            <a:avLst/>
          </a:prstGeom>
          <a:solidFill>
            <a:srgbClr val="5B3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28926" y="6437376"/>
            <a:ext cx="1286446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 i="0">
                <a:solidFill>
                  <a:srgbClr val="5B3FD6"/>
                </a:solidFill>
                <a:latin typeface="Calibri"/>
              </a:rPr>
              <a:t>What did the fit miss?</a:t>
            </a:r>
          </a:p>
        </p:txBody>
      </p:sp>
      <p:sp>
        <p:nvSpPr>
          <p:cNvPr id="20" name="Oval 19"/>
          <p:cNvSpPr/>
          <p:nvPr/>
        </p:nvSpPr>
        <p:spPr>
          <a:xfrm>
            <a:off x="6506813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16541" y="6437376"/>
            <a:ext cx="1194435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Who is worth a call?</a:t>
            </a:r>
          </a:p>
        </p:txBody>
      </p:sp>
      <p:sp>
        <p:nvSpPr>
          <p:cNvPr id="22" name="Oval 21"/>
          <p:cNvSpPr/>
          <p:nvPr/>
        </p:nvSpPr>
        <p:spPr>
          <a:xfrm>
            <a:off x="7902416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12144" y="6437376"/>
            <a:ext cx="1240440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Does it beat nothing?</a:t>
            </a:r>
          </a:p>
        </p:txBody>
      </p:sp>
      <p:sp>
        <p:nvSpPr>
          <p:cNvPr id="24" name="Oval 23"/>
          <p:cNvSpPr/>
          <p:nvPr/>
        </p:nvSpPr>
        <p:spPr>
          <a:xfrm>
            <a:off x="9344025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453753" y="6437376"/>
            <a:ext cx="1286446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What did the peek buy?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198303" y="6437376"/>
            <a:ext cx="1463040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50" b="0" i="0">
                <a:solidFill>
                  <a:srgbClr val="6B6690"/>
                </a:solidFill>
                <a:latin typeface="Calibri"/>
              </a:rPr>
              <a:t>S32  ·  38 / 62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ligh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92063" y="310896"/>
            <a:ext cx="566928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550" b="1" i="0" spc="300">
                <a:solidFill>
                  <a:srgbClr val="6B6690"/>
                </a:solidFill>
                <a:latin typeface="Calibri"/>
              </a:rPr>
              <a:t>WEEK 5  ·  MONDAY  ·  REGRESSION AND CLASSIFICATION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76656"/>
            <a:ext cx="11130991" cy="512064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1A0F5C"/>
                </a:solidFill>
                <a:latin typeface="Georgia"/>
              </a:rPr>
              <a:t>The cure fails outside the data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1243584"/>
            <a:ext cx="11130991" cy="234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B6690"/>
                </a:solidFill>
                <a:latin typeface="Calibri"/>
              </a:rPr>
              <a:t>Past about 190 horsepower the curve predicts mileage rising.</a:t>
            </a:r>
          </a:p>
        </p:txBody>
      </p:sp>
      <p:pic>
        <p:nvPicPr>
          <p:cNvPr id="9" name="mermaid diagram" descr="C2_W05_D01_fig_ch6_extrapolate_STUDE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66032" y="1682496"/>
            <a:ext cx="8459630" cy="4200144"/>
          </a:xfrm>
          <a:prstGeom prst="rect">
            <a:avLst/>
          </a:prstGeom>
        </p:spPr>
      </p:pic>
      <p:sp>
        <p:nvSpPr>
          <p:cNvPr id="10" name="picture caption"/>
          <p:cNvSpPr txBox="1"/>
          <p:nvPr/>
        </p:nvSpPr>
        <p:spPr>
          <a:xfrm>
            <a:off x="530352" y="5919216"/>
            <a:ext cx="11130991" cy="3169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6B6690"/>
                </a:solidFill>
                <a:latin typeface="Calibri"/>
              </a:rPr>
              <a:t>The squared-term curve turns upward beyond the data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" y="6437376"/>
            <a:ext cx="256032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…</a:t>
            </a:r>
          </a:p>
        </p:txBody>
      </p:sp>
      <p:sp>
        <p:nvSpPr>
          <p:cNvPr id="12" name="Oval 11"/>
          <p:cNvSpPr/>
          <p:nvPr/>
        </p:nvSpPr>
        <p:spPr>
          <a:xfrm>
            <a:off x="786384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6437376"/>
            <a:ext cx="1286446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Which slice, and when?</a:t>
            </a:r>
          </a:p>
        </p:txBody>
      </p:sp>
      <p:sp>
        <p:nvSpPr>
          <p:cNvPr id="14" name="Oval 13"/>
          <p:cNvSpPr/>
          <p:nvPr/>
        </p:nvSpPr>
        <p:spPr>
          <a:xfrm>
            <a:off x="2273998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383726" y="6437376"/>
            <a:ext cx="1148429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Which line is best?</a:t>
            </a:r>
          </a:p>
        </p:txBody>
      </p:sp>
      <p:sp>
        <p:nvSpPr>
          <p:cNvPr id="16" name="Oval 15"/>
          <p:cNvSpPr/>
          <p:nvPr/>
        </p:nvSpPr>
        <p:spPr>
          <a:xfrm>
            <a:off x="3623595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33323" y="6437376"/>
            <a:ext cx="1194435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What does 0.73 mean?</a:t>
            </a:r>
          </a:p>
        </p:txBody>
      </p:sp>
      <p:sp>
        <p:nvSpPr>
          <p:cNvPr id="18" name="Oval 17"/>
          <p:cNvSpPr/>
          <p:nvPr/>
        </p:nvSpPr>
        <p:spPr>
          <a:xfrm>
            <a:off x="5019198" y="6492240"/>
            <a:ext cx="64008" cy="64008"/>
          </a:xfrm>
          <a:prstGeom prst="ellipse">
            <a:avLst/>
          </a:prstGeom>
          <a:solidFill>
            <a:srgbClr val="5B3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28926" y="6437376"/>
            <a:ext cx="1286446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 i="0">
                <a:solidFill>
                  <a:srgbClr val="5B3FD6"/>
                </a:solidFill>
                <a:latin typeface="Calibri"/>
              </a:rPr>
              <a:t>What did the fit miss?</a:t>
            </a:r>
          </a:p>
        </p:txBody>
      </p:sp>
      <p:sp>
        <p:nvSpPr>
          <p:cNvPr id="20" name="Oval 19"/>
          <p:cNvSpPr/>
          <p:nvPr/>
        </p:nvSpPr>
        <p:spPr>
          <a:xfrm>
            <a:off x="6506813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16541" y="6437376"/>
            <a:ext cx="1194435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Who is worth a call?</a:t>
            </a:r>
          </a:p>
        </p:txBody>
      </p:sp>
      <p:sp>
        <p:nvSpPr>
          <p:cNvPr id="22" name="Oval 21"/>
          <p:cNvSpPr/>
          <p:nvPr/>
        </p:nvSpPr>
        <p:spPr>
          <a:xfrm>
            <a:off x="7902416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12144" y="6437376"/>
            <a:ext cx="1240440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Does it beat nothing?</a:t>
            </a:r>
          </a:p>
        </p:txBody>
      </p:sp>
      <p:sp>
        <p:nvSpPr>
          <p:cNvPr id="24" name="Oval 23"/>
          <p:cNvSpPr/>
          <p:nvPr/>
        </p:nvSpPr>
        <p:spPr>
          <a:xfrm>
            <a:off x="9344025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453753" y="6437376"/>
            <a:ext cx="1286446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What did the peek buy?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198303" y="6437376"/>
            <a:ext cx="1463040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50" b="0" i="0">
                <a:solidFill>
                  <a:srgbClr val="6B6690"/>
                </a:solidFill>
                <a:latin typeface="Calibri"/>
              </a:rPr>
              <a:t>S33  ·  39 / 62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ligh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92063" y="310896"/>
            <a:ext cx="566928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550" b="1" i="0" spc="300">
                <a:solidFill>
                  <a:srgbClr val="6B6690"/>
                </a:solidFill>
                <a:latin typeface="Calibri"/>
              </a:rPr>
              <a:t>WEEK 5  ·  MONDAY  ·  REGRESSION AND CLASSIFICATION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76656"/>
            <a:ext cx="11130991" cy="512064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1A0F5C"/>
                </a:solidFill>
                <a:latin typeface="Georgia"/>
              </a:rPr>
              <a:t>Where each model fails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1243584"/>
            <a:ext cx="11130991" cy="234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B6690"/>
                </a:solidFill>
                <a:latin typeface="Calibri"/>
              </a:rPr>
              <a:t>Read the residuals, and know the range.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30352" y="1956816"/>
          <a:ext cx="11130989" cy="1849120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2874958"/>
                <a:gridCol w="4727304"/>
                <a:gridCol w="3528727"/>
              </a:tblGrid>
              <a:tr h="369824">
                <a:tc>
                  <a:txBody>
                    <a:bodyPr/>
                    <a:lstStyle/>
                    <a:p>
                      <a:r>
                        <a:rPr sz="1450" b="1" i="0">
                          <a:solidFill>
                            <a:srgbClr val="FFFFFF"/>
                          </a:solidFill>
                          <a:latin typeface="Calibri"/>
                        </a:rPr>
                        <a:t>Model</a:t>
                      </a:r>
                    </a:p>
                  </a:txBody>
                  <a:tcPr marL="101600" marR="101600" marT="38100" marB="38100" anchor="ctr">
                    <a:solidFill>
                      <a:srgbClr val="1A0F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50" b="1" i="0">
                          <a:solidFill>
                            <a:srgbClr val="FFFFFF"/>
                          </a:solidFill>
                          <a:latin typeface="Calibri"/>
                        </a:rPr>
                        <a:t>Fails when</a:t>
                      </a:r>
                    </a:p>
                  </a:txBody>
                  <a:tcPr marL="101600" marR="101600" marT="38100" marB="38100" anchor="ctr">
                    <a:solidFill>
                      <a:srgbClr val="1A0F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50" b="1" i="0">
                          <a:solidFill>
                            <a:srgbClr val="FFFFFF"/>
                          </a:solidFill>
                          <a:latin typeface="Calibri"/>
                        </a:rPr>
                        <a:t>You see it as</a:t>
                      </a:r>
                    </a:p>
                  </a:txBody>
                  <a:tcPr marL="101600" marR="101600" marT="38100" marB="38100" anchor="ctr">
                    <a:solidFill>
                      <a:srgbClr val="1A0F5C"/>
                    </a:solidFill>
                  </a:tcPr>
                </a:tc>
              </a:tr>
              <a:tr h="369824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straight line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the truth bends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a bow in the residuals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</a:tr>
              <a:tr h="369824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line plus a squared term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you leave the data's range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predictions turn the wrong way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</a:tr>
              <a:tr h="369824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logistic regression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the chance rises at both ends of an input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one S cannot hold both ends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</a:tr>
              <a:tr h="369824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any model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inputs are missing or wrong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six cars with "?" horsepower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30352" y="6437376"/>
            <a:ext cx="256032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…</a:t>
            </a:r>
          </a:p>
        </p:txBody>
      </p:sp>
      <p:sp>
        <p:nvSpPr>
          <p:cNvPr id="11" name="Oval 10"/>
          <p:cNvSpPr/>
          <p:nvPr/>
        </p:nvSpPr>
        <p:spPr>
          <a:xfrm>
            <a:off x="786384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6437376"/>
            <a:ext cx="1286446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Which slice, and when?</a:t>
            </a:r>
          </a:p>
        </p:txBody>
      </p:sp>
      <p:sp>
        <p:nvSpPr>
          <p:cNvPr id="13" name="Oval 12"/>
          <p:cNvSpPr/>
          <p:nvPr/>
        </p:nvSpPr>
        <p:spPr>
          <a:xfrm>
            <a:off x="2273998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383726" y="6437376"/>
            <a:ext cx="1148429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Which line is best?</a:t>
            </a:r>
          </a:p>
        </p:txBody>
      </p:sp>
      <p:sp>
        <p:nvSpPr>
          <p:cNvPr id="15" name="Oval 14"/>
          <p:cNvSpPr/>
          <p:nvPr/>
        </p:nvSpPr>
        <p:spPr>
          <a:xfrm>
            <a:off x="3623595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733323" y="6437376"/>
            <a:ext cx="1194435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What does 0.73 mean?</a:t>
            </a:r>
          </a:p>
        </p:txBody>
      </p:sp>
      <p:sp>
        <p:nvSpPr>
          <p:cNvPr id="17" name="Oval 16"/>
          <p:cNvSpPr/>
          <p:nvPr/>
        </p:nvSpPr>
        <p:spPr>
          <a:xfrm>
            <a:off x="5019198" y="6492240"/>
            <a:ext cx="64008" cy="64008"/>
          </a:xfrm>
          <a:prstGeom prst="ellipse">
            <a:avLst/>
          </a:prstGeom>
          <a:solidFill>
            <a:srgbClr val="5B3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128926" y="6437376"/>
            <a:ext cx="1286446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 i="0">
                <a:solidFill>
                  <a:srgbClr val="5B3FD6"/>
                </a:solidFill>
                <a:latin typeface="Calibri"/>
              </a:rPr>
              <a:t>What did the fit miss?</a:t>
            </a:r>
          </a:p>
        </p:txBody>
      </p:sp>
      <p:sp>
        <p:nvSpPr>
          <p:cNvPr id="19" name="Oval 18"/>
          <p:cNvSpPr/>
          <p:nvPr/>
        </p:nvSpPr>
        <p:spPr>
          <a:xfrm>
            <a:off x="6506813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16541" y="6437376"/>
            <a:ext cx="1194435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Who is worth a call?</a:t>
            </a:r>
          </a:p>
        </p:txBody>
      </p:sp>
      <p:sp>
        <p:nvSpPr>
          <p:cNvPr id="21" name="Oval 20"/>
          <p:cNvSpPr/>
          <p:nvPr/>
        </p:nvSpPr>
        <p:spPr>
          <a:xfrm>
            <a:off x="7902416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12144" y="6437376"/>
            <a:ext cx="1240440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Does it beat nothing?</a:t>
            </a:r>
          </a:p>
        </p:txBody>
      </p:sp>
      <p:sp>
        <p:nvSpPr>
          <p:cNvPr id="23" name="Oval 22"/>
          <p:cNvSpPr/>
          <p:nvPr/>
        </p:nvSpPr>
        <p:spPr>
          <a:xfrm>
            <a:off x="9344025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453753" y="6437376"/>
            <a:ext cx="1286446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What did the peek buy?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198303" y="6437376"/>
            <a:ext cx="1463040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50" b="0" i="0">
                <a:solidFill>
                  <a:srgbClr val="6B6690"/>
                </a:solidFill>
                <a:latin typeface="Calibri"/>
              </a:rPr>
              <a:t>S34  ·  40 / 62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dar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92063" y="310896"/>
            <a:ext cx="566928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550" b="1" i="0" spc="300">
                <a:solidFill>
                  <a:srgbClr val="CFC9EE"/>
                </a:solidFill>
                <a:latin typeface="Calibri"/>
              </a:rPr>
              <a:t>PG DIPLOMA IN AI-ML AND AGENTIC AI ENGINEERING  ·  COHORT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19" y="1143000"/>
            <a:ext cx="36576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600" b="0" i="0">
                <a:solidFill>
                  <a:srgbClr val="D9A7FF"/>
                </a:solidFill>
                <a:latin typeface="Georgia"/>
              </a:rPr>
              <a:t>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19" y="2542032"/>
            <a:ext cx="10673791" cy="366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D9A7FF"/>
                </a:solidFill>
                <a:latin typeface="Calibri"/>
              </a:rPr>
              <a:t>Whom should the bank call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19" y="3017520"/>
            <a:ext cx="10673791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0" i="0">
                <a:solidFill>
                  <a:srgbClr val="FFFFFF"/>
                </a:solidFill>
                <a:latin typeface="Georgia"/>
              </a:rPr>
              <a:t>Who is worth a call?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19" y="3931920"/>
            <a:ext cx="9509760" cy="5318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E4E1F1"/>
                </a:solidFill>
                <a:latin typeface="Calibri"/>
              </a:rPr>
              <a:t>Case chapter. Applies: Prediction, rule or query; Input, target, prediction time; Train, validation, test; the seed; the baseline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19" y="5074920"/>
            <a:ext cx="1099768" cy="310896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CFC9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400" rIns="25400" tIns="0" bIns="0"/>
          <a:lstStyle/>
          <a:p>
            <a:pPr algn="ctr"/>
            <a:r>
              <a:rPr sz="850" b="0">
                <a:solidFill>
                  <a:srgbClr val="CFC9EE"/>
                </a:solidFill>
                <a:latin typeface="Calibri"/>
              </a:rPr>
              <a:t>Does it need a model?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941016" y="5074920"/>
            <a:ext cx="1221169" cy="310896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CFC9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400" rIns="25400" tIns="0" bIns="0"/>
          <a:lstStyle/>
          <a:p>
            <a:pPr algn="ctr"/>
            <a:r>
              <a:rPr sz="850" b="0">
                <a:solidFill>
                  <a:srgbClr val="CFC9EE"/>
                </a:solidFill>
                <a:latin typeface="Calibri"/>
              </a:rPr>
              <a:t>What may the model read?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71914" y="5074920"/>
            <a:ext cx="1140235" cy="310896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CFC9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400" rIns="25400" tIns="0" bIns="0"/>
          <a:lstStyle/>
          <a:p>
            <a:pPr algn="ctr"/>
            <a:r>
              <a:rPr sz="850" b="0">
                <a:solidFill>
                  <a:srgbClr val="CFC9EE"/>
                </a:solidFill>
                <a:latin typeface="Calibri"/>
              </a:rPr>
              <a:t>Which slice, and when?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21877" y="5074920"/>
            <a:ext cx="1018833" cy="310896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CFC9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400" rIns="25400" tIns="0" bIns="0"/>
          <a:lstStyle/>
          <a:p>
            <a:pPr algn="ctr"/>
            <a:r>
              <a:rPr sz="850" b="0">
                <a:solidFill>
                  <a:srgbClr val="CFC9EE"/>
                </a:solidFill>
                <a:latin typeface="Calibri"/>
              </a:rPr>
              <a:t>Which line is best?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50438" y="5074920"/>
            <a:ext cx="1059300" cy="310896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CFC9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400" rIns="25400" tIns="0" bIns="0"/>
          <a:lstStyle/>
          <a:p>
            <a:pPr algn="ctr"/>
            <a:r>
              <a:rPr sz="850" b="0">
                <a:solidFill>
                  <a:srgbClr val="CFC9EE"/>
                </a:solidFill>
                <a:latin typeface="Calibri"/>
              </a:rPr>
              <a:t>What does 0.73 mean?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19467" y="5074920"/>
            <a:ext cx="1140235" cy="310896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CFC9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400" rIns="25400" tIns="0" bIns="0"/>
          <a:lstStyle/>
          <a:p>
            <a:pPr algn="ctr"/>
            <a:r>
              <a:rPr sz="850" b="0">
                <a:solidFill>
                  <a:srgbClr val="CFC9EE"/>
                </a:solidFill>
                <a:latin typeface="Calibri"/>
              </a:rPr>
              <a:t>What did the fit miss?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69430" y="5074920"/>
            <a:ext cx="1059300" cy="310896"/>
          </a:xfrm>
          <a:prstGeom prst="roundRect">
            <a:avLst>
              <a:gd name="adj" fmla="val 50000"/>
            </a:avLst>
          </a:prstGeom>
          <a:solidFill>
            <a:srgbClr val="D9A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400" rIns="25400" tIns="0" bIns="0"/>
          <a:lstStyle/>
          <a:p>
            <a:pPr algn="ctr"/>
            <a:r>
              <a:rPr sz="850" b="1">
                <a:solidFill>
                  <a:srgbClr val="1A0F5C"/>
                </a:solidFill>
                <a:latin typeface="Calibri"/>
              </a:rPr>
              <a:t>Who is worth a call?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238459" y="5074920"/>
            <a:ext cx="1099768" cy="310896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CFC9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400" rIns="25400" tIns="0" bIns="0"/>
          <a:lstStyle/>
          <a:p>
            <a:pPr algn="ctr"/>
            <a:r>
              <a:rPr sz="850" b="0">
                <a:solidFill>
                  <a:srgbClr val="CFC9EE"/>
                </a:solidFill>
                <a:latin typeface="Calibri"/>
              </a:rPr>
              <a:t>Does it beat nothing?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47955" y="5074920"/>
            <a:ext cx="1140235" cy="310896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CFC9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400" rIns="25400" tIns="0" bIns="0"/>
          <a:lstStyle/>
          <a:p>
            <a:pPr algn="ctr"/>
            <a:r>
              <a:rPr sz="850" b="0">
                <a:solidFill>
                  <a:srgbClr val="CFC9EE"/>
                </a:solidFill>
                <a:latin typeface="Calibri"/>
              </a:rPr>
              <a:t>What did the peek buy?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0352" y="6437376"/>
            <a:ext cx="9667951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 i="0">
                <a:solidFill>
                  <a:srgbClr val="CFC9EE"/>
                </a:solidFill>
                <a:latin typeface="Calibri"/>
              </a:rPr>
              <a:t>Week 5 Monday: regression and classification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198303" y="6437376"/>
            <a:ext cx="1463040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50" b="0" i="0">
                <a:solidFill>
                  <a:srgbClr val="CFC9EE"/>
                </a:solidFill>
                <a:latin typeface="Calibri"/>
              </a:rPr>
              <a:t>41 / 62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ligh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92063" y="310896"/>
            <a:ext cx="566928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550" b="1" i="0" spc="300">
                <a:solidFill>
                  <a:srgbClr val="6B6690"/>
                </a:solidFill>
                <a:latin typeface="Calibri"/>
              </a:rPr>
              <a:t>WEEK 5  ·  MONDAY  ·  REGRESSION AND CLASSIFICATION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76656"/>
            <a:ext cx="11130991" cy="512064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1A0F5C"/>
                </a:solidFill>
                <a:latin typeface="Georgia"/>
              </a:rPr>
              <a:t>41,188 calls; one in nine said yes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1243584"/>
            <a:ext cx="11130991" cy="234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B6690"/>
                </a:solidFill>
                <a:latin typeface="Calibri"/>
              </a:rPr>
              <a:t>A Portuguese bank's term-deposit campaigns, 2008 to 2010.</a:t>
            </a:r>
          </a:p>
        </p:txBody>
      </p:sp>
      <p:pic>
        <p:nvPicPr>
          <p:cNvPr id="9" name="mermaid diagram" descr="C2_W05_D01_fig_case1_yes_no_STUDE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103" y="1682496"/>
            <a:ext cx="10953487" cy="4200144"/>
          </a:xfrm>
          <a:prstGeom prst="rect">
            <a:avLst/>
          </a:prstGeom>
        </p:spPr>
      </p:pic>
      <p:sp>
        <p:nvSpPr>
          <p:cNvPr id="10" name="picture caption"/>
          <p:cNvSpPr txBox="1"/>
          <p:nvPr/>
        </p:nvSpPr>
        <p:spPr>
          <a:xfrm>
            <a:off x="530352" y="5919216"/>
            <a:ext cx="11130991" cy="3169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6B6690"/>
                </a:solidFill>
                <a:latin typeface="Calibri"/>
              </a:rPr>
              <a:t>41,188 calls: 36,548 no and 4,640 yes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" y="6437376"/>
            <a:ext cx="256032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…</a:t>
            </a:r>
          </a:p>
        </p:txBody>
      </p:sp>
      <p:sp>
        <p:nvSpPr>
          <p:cNvPr id="12" name="Oval 11"/>
          <p:cNvSpPr/>
          <p:nvPr/>
        </p:nvSpPr>
        <p:spPr>
          <a:xfrm>
            <a:off x="786384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6437376"/>
            <a:ext cx="1286446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Which slice, and when?</a:t>
            </a:r>
          </a:p>
        </p:txBody>
      </p:sp>
      <p:sp>
        <p:nvSpPr>
          <p:cNvPr id="14" name="Oval 13"/>
          <p:cNvSpPr/>
          <p:nvPr/>
        </p:nvSpPr>
        <p:spPr>
          <a:xfrm>
            <a:off x="2273998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383726" y="6437376"/>
            <a:ext cx="1148429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Which line is best?</a:t>
            </a:r>
          </a:p>
        </p:txBody>
      </p:sp>
      <p:sp>
        <p:nvSpPr>
          <p:cNvPr id="16" name="Oval 15"/>
          <p:cNvSpPr/>
          <p:nvPr/>
        </p:nvSpPr>
        <p:spPr>
          <a:xfrm>
            <a:off x="3623595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33323" y="6437376"/>
            <a:ext cx="1194435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What does 0.73 mean?</a:t>
            </a:r>
          </a:p>
        </p:txBody>
      </p:sp>
      <p:sp>
        <p:nvSpPr>
          <p:cNvPr id="18" name="Oval 17"/>
          <p:cNvSpPr/>
          <p:nvPr/>
        </p:nvSpPr>
        <p:spPr>
          <a:xfrm>
            <a:off x="5019198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28926" y="6437376"/>
            <a:ext cx="1286446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What did the fit miss?</a:t>
            </a:r>
          </a:p>
        </p:txBody>
      </p:sp>
      <p:sp>
        <p:nvSpPr>
          <p:cNvPr id="20" name="Oval 19"/>
          <p:cNvSpPr/>
          <p:nvPr/>
        </p:nvSpPr>
        <p:spPr>
          <a:xfrm>
            <a:off x="6506813" y="6492240"/>
            <a:ext cx="64008" cy="64008"/>
          </a:xfrm>
          <a:prstGeom prst="ellipse">
            <a:avLst/>
          </a:prstGeom>
          <a:solidFill>
            <a:srgbClr val="5B3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16541" y="6437376"/>
            <a:ext cx="1194435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 i="0">
                <a:solidFill>
                  <a:srgbClr val="5B3FD6"/>
                </a:solidFill>
                <a:latin typeface="Calibri"/>
              </a:rPr>
              <a:t>Who is worth a call?</a:t>
            </a:r>
          </a:p>
        </p:txBody>
      </p:sp>
      <p:sp>
        <p:nvSpPr>
          <p:cNvPr id="22" name="Oval 21"/>
          <p:cNvSpPr/>
          <p:nvPr/>
        </p:nvSpPr>
        <p:spPr>
          <a:xfrm>
            <a:off x="7902416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12144" y="6437376"/>
            <a:ext cx="1240440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Does it beat nothing?</a:t>
            </a:r>
          </a:p>
        </p:txBody>
      </p:sp>
      <p:sp>
        <p:nvSpPr>
          <p:cNvPr id="24" name="Oval 23"/>
          <p:cNvSpPr/>
          <p:nvPr/>
        </p:nvSpPr>
        <p:spPr>
          <a:xfrm>
            <a:off x="9344025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453753" y="6437376"/>
            <a:ext cx="1286446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What did the peek buy?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198303" y="6437376"/>
            <a:ext cx="1463040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50" b="0" i="0">
                <a:solidFill>
                  <a:srgbClr val="6B6690"/>
                </a:solidFill>
                <a:latin typeface="Calibri"/>
              </a:rPr>
              <a:t>S35  ·  42 / 62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ligh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92063" y="310896"/>
            <a:ext cx="566928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550" b="1" i="0" spc="300">
                <a:solidFill>
                  <a:srgbClr val="6B6690"/>
                </a:solidFill>
                <a:latin typeface="Calibri"/>
              </a:rPr>
              <a:t>WEEK 5  ·  MONDAY  ·  REGRESSION AND CLASSIFICATION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76656"/>
            <a:ext cx="11130991" cy="512064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1A0F5C"/>
                </a:solidFill>
                <a:latin typeface="Georgia"/>
              </a:rPr>
              <a:t>The bank and Kalpa ask the same question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1243584"/>
            <a:ext cx="11130991" cy="234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B6690"/>
                </a:solidFill>
                <a:latin typeface="Calibri"/>
              </a:rPr>
              <a:t>Different action, same shape.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30352" y="1956816"/>
          <a:ext cx="11130989" cy="1849120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1442155"/>
                <a:gridCol w="4913851"/>
                <a:gridCol w="4774983"/>
              </a:tblGrid>
              <a:tr h="369824">
                <a:tc>
                  <a:txBody>
                    <a:bodyPr/>
                    <a:lstStyle/>
                    <a:p/>
                  </a:txBody>
                  <a:tcPr marL="101600" marR="101600" marT="38100" marB="38100" anchor="ctr">
                    <a:solidFill>
                      <a:srgbClr val="1A0F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50" b="1" i="0">
                          <a:solidFill>
                            <a:srgbClr val="FFFFFF"/>
                          </a:solidFill>
                          <a:latin typeface="Calibri"/>
                        </a:rPr>
                        <a:t>The bank</a:t>
                      </a:r>
                    </a:p>
                  </a:txBody>
                  <a:tcPr marL="101600" marR="101600" marT="38100" marB="38100" anchor="ctr">
                    <a:solidFill>
                      <a:srgbClr val="1A0F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50" b="1" i="0">
                          <a:solidFill>
                            <a:srgbClr val="FFFFFF"/>
                          </a:solidFill>
                          <a:latin typeface="Calibri"/>
                        </a:rPr>
                        <a:t>Kalpa Retail</a:t>
                      </a:r>
                    </a:p>
                  </a:txBody>
                  <a:tcPr marL="101600" marR="101600" marT="38100" marB="38100" anchor="ctr">
                    <a:solidFill>
                      <a:srgbClr val="1A0F5C"/>
                    </a:solidFill>
                  </a:tcPr>
                </a:tc>
              </a:tr>
              <a:tr h="369824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Action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an agent's call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a Rs 40 nudge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</a:tr>
              <a:tr h="369824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Target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y, known when the call ends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repeat within 90 days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</a:tr>
              <a:tr h="369824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Input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client table, morning of the call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customer table, day of the nudge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</a:tr>
              <a:tr h="369824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Decision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whom to call first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whom to nudge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30352" y="6437376"/>
            <a:ext cx="256032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…</a:t>
            </a:r>
          </a:p>
        </p:txBody>
      </p:sp>
      <p:sp>
        <p:nvSpPr>
          <p:cNvPr id="11" name="Oval 10"/>
          <p:cNvSpPr/>
          <p:nvPr/>
        </p:nvSpPr>
        <p:spPr>
          <a:xfrm>
            <a:off x="786384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6437376"/>
            <a:ext cx="1286446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Which slice, and when?</a:t>
            </a:r>
          </a:p>
        </p:txBody>
      </p:sp>
      <p:sp>
        <p:nvSpPr>
          <p:cNvPr id="13" name="Oval 12"/>
          <p:cNvSpPr/>
          <p:nvPr/>
        </p:nvSpPr>
        <p:spPr>
          <a:xfrm>
            <a:off x="2273998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383726" y="6437376"/>
            <a:ext cx="1148429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Which line is best?</a:t>
            </a:r>
          </a:p>
        </p:txBody>
      </p:sp>
      <p:sp>
        <p:nvSpPr>
          <p:cNvPr id="15" name="Oval 14"/>
          <p:cNvSpPr/>
          <p:nvPr/>
        </p:nvSpPr>
        <p:spPr>
          <a:xfrm>
            <a:off x="3623595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733323" y="6437376"/>
            <a:ext cx="1194435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What does 0.73 mean?</a:t>
            </a:r>
          </a:p>
        </p:txBody>
      </p:sp>
      <p:sp>
        <p:nvSpPr>
          <p:cNvPr id="17" name="Oval 16"/>
          <p:cNvSpPr/>
          <p:nvPr/>
        </p:nvSpPr>
        <p:spPr>
          <a:xfrm>
            <a:off x="5019198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128926" y="6437376"/>
            <a:ext cx="1286446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What did the fit miss?</a:t>
            </a:r>
          </a:p>
        </p:txBody>
      </p:sp>
      <p:sp>
        <p:nvSpPr>
          <p:cNvPr id="19" name="Oval 18"/>
          <p:cNvSpPr/>
          <p:nvPr/>
        </p:nvSpPr>
        <p:spPr>
          <a:xfrm>
            <a:off x="6506813" y="6492240"/>
            <a:ext cx="64008" cy="64008"/>
          </a:xfrm>
          <a:prstGeom prst="ellipse">
            <a:avLst/>
          </a:prstGeom>
          <a:solidFill>
            <a:srgbClr val="5B3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16541" y="6437376"/>
            <a:ext cx="1194435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 i="0">
                <a:solidFill>
                  <a:srgbClr val="5B3FD6"/>
                </a:solidFill>
                <a:latin typeface="Calibri"/>
              </a:rPr>
              <a:t>Who is worth a call?</a:t>
            </a:r>
          </a:p>
        </p:txBody>
      </p:sp>
      <p:sp>
        <p:nvSpPr>
          <p:cNvPr id="21" name="Oval 20"/>
          <p:cNvSpPr/>
          <p:nvPr/>
        </p:nvSpPr>
        <p:spPr>
          <a:xfrm>
            <a:off x="7902416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12144" y="6437376"/>
            <a:ext cx="1240440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Does it beat nothing?</a:t>
            </a:r>
          </a:p>
        </p:txBody>
      </p:sp>
      <p:sp>
        <p:nvSpPr>
          <p:cNvPr id="23" name="Oval 22"/>
          <p:cNvSpPr/>
          <p:nvPr/>
        </p:nvSpPr>
        <p:spPr>
          <a:xfrm>
            <a:off x="9344025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453753" y="6437376"/>
            <a:ext cx="1286446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What did the peek buy?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198303" y="6437376"/>
            <a:ext cx="1463040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50" b="0" i="0">
                <a:solidFill>
                  <a:srgbClr val="6B6690"/>
                </a:solidFill>
                <a:latin typeface="Calibri"/>
              </a:rPr>
              <a:t>S36  ·  43 / 62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ligh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92063" y="310896"/>
            <a:ext cx="566928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550" b="1" i="0" spc="300">
                <a:solidFill>
                  <a:srgbClr val="6B6690"/>
                </a:solidFill>
                <a:latin typeface="Calibri"/>
              </a:rPr>
              <a:t>WEEK 5  ·  MONDAY  ·  REGRESSION AND CLASSIFICATION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76656"/>
            <a:ext cx="11130991" cy="512064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1A0F5C"/>
                </a:solidFill>
                <a:latin typeface="Georgia"/>
              </a:rPr>
              <a:t>13 columns known on the morning of the call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1243584"/>
            <a:ext cx="11130991" cy="234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B6690"/>
                </a:solidFill>
                <a:latin typeface="Calibri"/>
              </a:rPr>
              <a:t>Seven about the client, six about campaigns so far.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30352" y="1956816"/>
          <a:ext cx="11130990" cy="1849120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1549466"/>
                <a:gridCol w="6874452"/>
                <a:gridCol w="2707072"/>
              </a:tblGrid>
              <a:tr h="369824">
                <a:tc>
                  <a:txBody>
                    <a:bodyPr/>
                    <a:lstStyle/>
                    <a:p>
                      <a:r>
                        <a:rPr sz="1450" b="1" i="0">
                          <a:solidFill>
                            <a:srgbClr val="FFFFFF"/>
                          </a:solidFill>
                          <a:latin typeface="Calibri"/>
                        </a:rPr>
                        <a:t>Group</a:t>
                      </a:r>
                    </a:p>
                  </a:txBody>
                  <a:tcPr marL="101600" marR="101600" marT="38100" marB="38100" anchor="ctr">
                    <a:solidFill>
                      <a:srgbClr val="1A0F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50" b="1" i="0">
                          <a:solidFill>
                            <a:srgbClr val="FFFFFF"/>
                          </a:solidFill>
                          <a:latin typeface="Calibri"/>
                        </a:rPr>
                        <a:t>Columns</a:t>
                      </a:r>
                    </a:p>
                  </a:txBody>
                  <a:tcPr marL="101600" marR="101600" marT="38100" marB="38100" anchor="ctr">
                    <a:solidFill>
                      <a:srgbClr val="1A0F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50" b="1" i="0">
                          <a:solidFill>
                            <a:srgbClr val="FFFFFF"/>
                          </a:solidFill>
                          <a:latin typeface="Calibri"/>
                        </a:rPr>
                        <a:t>Today</a:t>
                      </a:r>
                    </a:p>
                  </a:txBody>
                  <a:tcPr marL="101600" marR="101600" marT="38100" marB="38100" anchor="ctr">
                    <a:solidFill>
                      <a:srgbClr val="1A0F5C"/>
                    </a:solidFill>
                  </a:tcPr>
                </a:tc>
              </a:tr>
              <a:tr h="369824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profile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age, job, marital, education, default, housing, loan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used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</a:tr>
              <a:tr h="369824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history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contact, month, day_of_week, campaign, previous, poutcome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used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</a:tr>
              <a:tr h="369824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other feeds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seven more columns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Wednesday audits them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</a:tr>
              <a:tr h="369824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target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y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predicted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30352" y="6437376"/>
            <a:ext cx="256032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…</a:t>
            </a:r>
          </a:p>
        </p:txBody>
      </p:sp>
      <p:sp>
        <p:nvSpPr>
          <p:cNvPr id="11" name="Oval 10"/>
          <p:cNvSpPr/>
          <p:nvPr/>
        </p:nvSpPr>
        <p:spPr>
          <a:xfrm>
            <a:off x="786384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6437376"/>
            <a:ext cx="1286446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Which slice, and when?</a:t>
            </a:r>
          </a:p>
        </p:txBody>
      </p:sp>
      <p:sp>
        <p:nvSpPr>
          <p:cNvPr id="13" name="Oval 12"/>
          <p:cNvSpPr/>
          <p:nvPr/>
        </p:nvSpPr>
        <p:spPr>
          <a:xfrm>
            <a:off x="2273998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383726" y="6437376"/>
            <a:ext cx="1148429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Which line is best?</a:t>
            </a:r>
          </a:p>
        </p:txBody>
      </p:sp>
      <p:sp>
        <p:nvSpPr>
          <p:cNvPr id="15" name="Oval 14"/>
          <p:cNvSpPr/>
          <p:nvPr/>
        </p:nvSpPr>
        <p:spPr>
          <a:xfrm>
            <a:off x="3623595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733323" y="6437376"/>
            <a:ext cx="1194435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What does 0.73 mean?</a:t>
            </a:r>
          </a:p>
        </p:txBody>
      </p:sp>
      <p:sp>
        <p:nvSpPr>
          <p:cNvPr id="17" name="Oval 16"/>
          <p:cNvSpPr/>
          <p:nvPr/>
        </p:nvSpPr>
        <p:spPr>
          <a:xfrm>
            <a:off x="5019198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128926" y="6437376"/>
            <a:ext cx="1286446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What did the fit miss?</a:t>
            </a:r>
          </a:p>
        </p:txBody>
      </p:sp>
      <p:sp>
        <p:nvSpPr>
          <p:cNvPr id="19" name="Oval 18"/>
          <p:cNvSpPr/>
          <p:nvPr/>
        </p:nvSpPr>
        <p:spPr>
          <a:xfrm>
            <a:off x="6506813" y="6492240"/>
            <a:ext cx="64008" cy="64008"/>
          </a:xfrm>
          <a:prstGeom prst="ellipse">
            <a:avLst/>
          </a:prstGeom>
          <a:solidFill>
            <a:srgbClr val="5B3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16541" y="6437376"/>
            <a:ext cx="1194435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 i="0">
                <a:solidFill>
                  <a:srgbClr val="5B3FD6"/>
                </a:solidFill>
                <a:latin typeface="Calibri"/>
              </a:rPr>
              <a:t>Who is worth a call?</a:t>
            </a:r>
          </a:p>
        </p:txBody>
      </p:sp>
      <p:sp>
        <p:nvSpPr>
          <p:cNvPr id="21" name="Oval 20"/>
          <p:cNvSpPr/>
          <p:nvPr/>
        </p:nvSpPr>
        <p:spPr>
          <a:xfrm>
            <a:off x="7902416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12144" y="6437376"/>
            <a:ext cx="1240440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Does it beat nothing?</a:t>
            </a:r>
          </a:p>
        </p:txBody>
      </p:sp>
      <p:sp>
        <p:nvSpPr>
          <p:cNvPr id="23" name="Oval 22"/>
          <p:cNvSpPr/>
          <p:nvPr/>
        </p:nvSpPr>
        <p:spPr>
          <a:xfrm>
            <a:off x="9344025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453753" y="6437376"/>
            <a:ext cx="1286446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What did the peek buy?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198303" y="6437376"/>
            <a:ext cx="1463040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50" b="0" i="0">
                <a:solidFill>
                  <a:srgbClr val="6B6690"/>
                </a:solidFill>
                <a:latin typeface="Calibri"/>
              </a:rPr>
              <a:t>S37  ·  44 / 62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ligh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92063" y="310896"/>
            <a:ext cx="566928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550" b="1" i="0" spc="300">
                <a:solidFill>
                  <a:srgbClr val="6B6690"/>
                </a:solidFill>
                <a:latin typeface="Calibri"/>
              </a:rPr>
              <a:t>WEEK 5  ·  MONDAY  ·  REGRESSION AND CLASSIFICATION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76656"/>
            <a:ext cx="11130991" cy="512064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1A0F5C"/>
                </a:solidFill>
                <a:latin typeface="Georgia"/>
              </a:rPr>
              <a:t>The week's split, test sealed first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1243584"/>
            <a:ext cx="11130991" cy="234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B6690"/>
                </a:solidFill>
                <a:latin typeface="Calibri"/>
              </a:rPr>
              <a:t>Seed 42, stratified: 11.3 percent yes in every slice.</a:t>
            </a:r>
          </a:p>
        </p:txBody>
      </p:sp>
      <p:pic>
        <p:nvPicPr>
          <p:cNvPr id="9" name="mermaid diagram" descr="C2_W05_D01_fig_case1_split_STUDE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6427" y="1682496"/>
            <a:ext cx="10078840" cy="4200144"/>
          </a:xfrm>
          <a:prstGeom prst="rect">
            <a:avLst/>
          </a:prstGeom>
        </p:spPr>
      </p:pic>
      <p:sp>
        <p:nvSpPr>
          <p:cNvPr id="10" name="picture caption"/>
          <p:cNvSpPr txBox="1"/>
          <p:nvPr/>
        </p:nvSpPr>
        <p:spPr>
          <a:xfrm>
            <a:off x="530352" y="5919216"/>
            <a:ext cx="11130991" cy="3169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6B6690"/>
                </a:solidFill>
                <a:latin typeface="Calibri"/>
              </a:rPr>
              <a:t>Train 24,712, validation 8,238, test 8,238 sealed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" y="6437376"/>
            <a:ext cx="256032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…</a:t>
            </a:r>
          </a:p>
        </p:txBody>
      </p:sp>
      <p:sp>
        <p:nvSpPr>
          <p:cNvPr id="12" name="Oval 11"/>
          <p:cNvSpPr/>
          <p:nvPr/>
        </p:nvSpPr>
        <p:spPr>
          <a:xfrm>
            <a:off x="786384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6437376"/>
            <a:ext cx="1286446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Which slice, and when?</a:t>
            </a:r>
          </a:p>
        </p:txBody>
      </p:sp>
      <p:sp>
        <p:nvSpPr>
          <p:cNvPr id="14" name="Oval 13"/>
          <p:cNvSpPr/>
          <p:nvPr/>
        </p:nvSpPr>
        <p:spPr>
          <a:xfrm>
            <a:off x="2273998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383726" y="6437376"/>
            <a:ext cx="1148429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Which line is best?</a:t>
            </a:r>
          </a:p>
        </p:txBody>
      </p:sp>
      <p:sp>
        <p:nvSpPr>
          <p:cNvPr id="16" name="Oval 15"/>
          <p:cNvSpPr/>
          <p:nvPr/>
        </p:nvSpPr>
        <p:spPr>
          <a:xfrm>
            <a:off x="3623595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33323" y="6437376"/>
            <a:ext cx="1194435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What does 0.73 mean?</a:t>
            </a:r>
          </a:p>
        </p:txBody>
      </p:sp>
      <p:sp>
        <p:nvSpPr>
          <p:cNvPr id="18" name="Oval 17"/>
          <p:cNvSpPr/>
          <p:nvPr/>
        </p:nvSpPr>
        <p:spPr>
          <a:xfrm>
            <a:off x="5019198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28926" y="6437376"/>
            <a:ext cx="1286446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What did the fit miss?</a:t>
            </a:r>
          </a:p>
        </p:txBody>
      </p:sp>
      <p:sp>
        <p:nvSpPr>
          <p:cNvPr id="20" name="Oval 19"/>
          <p:cNvSpPr/>
          <p:nvPr/>
        </p:nvSpPr>
        <p:spPr>
          <a:xfrm>
            <a:off x="6506813" y="6492240"/>
            <a:ext cx="64008" cy="64008"/>
          </a:xfrm>
          <a:prstGeom prst="ellipse">
            <a:avLst/>
          </a:prstGeom>
          <a:solidFill>
            <a:srgbClr val="5B3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16541" y="6437376"/>
            <a:ext cx="1194435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 i="0">
                <a:solidFill>
                  <a:srgbClr val="5B3FD6"/>
                </a:solidFill>
                <a:latin typeface="Calibri"/>
              </a:rPr>
              <a:t>Who is worth a call?</a:t>
            </a:r>
          </a:p>
        </p:txBody>
      </p:sp>
      <p:sp>
        <p:nvSpPr>
          <p:cNvPr id="22" name="Oval 21"/>
          <p:cNvSpPr/>
          <p:nvPr/>
        </p:nvSpPr>
        <p:spPr>
          <a:xfrm>
            <a:off x="7902416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12144" y="6437376"/>
            <a:ext cx="1240440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Does it beat nothing?</a:t>
            </a:r>
          </a:p>
        </p:txBody>
      </p:sp>
      <p:sp>
        <p:nvSpPr>
          <p:cNvPr id="24" name="Oval 23"/>
          <p:cNvSpPr/>
          <p:nvPr/>
        </p:nvSpPr>
        <p:spPr>
          <a:xfrm>
            <a:off x="9344025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453753" y="6437376"/>
            <a:ext cx="1286446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What did the peek buy?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198303" y="6437376"/>
            <a:ext cx="1463040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50" b="0" i="0">
                <a:solidFill>
                  <a:srgbClr val="6B6690"/>
                </a:solidFill>
                <a:latin typeface="Calibri"/>
              </a:rPr>
              <a:t>S38  ·  45 / 62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ligh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92063" y="310896"/>
            <a:ext cx="566928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550" b="1" i="0" spc="300">
                <a:solidFill>
                  <a:srgbClr val="6B6690"/>
                </a:solidFill>
                <a:latin typeface="Calibri"/>
              </a:rPr>
              <a:t>WEEK 5  ·  MONDAY  ·  REGRESSION AND CLASSIFICATION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76656"/>
            <a:ext cx="11130991" cy="512064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1A0F5C"/>
                </a:solidFill>
                <a:latin typeface="Georgia"/>
              </a:rPr>
              <a:t>The envelope stays sealed until Friday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1243584"/>
            <a:ext cx="11130991" cy="234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B6690"/>
                </a:solidFill>
                <a:latin typeface="Calibri"/>
              </a:rPr>
              <a:t>TEST SET. DO NOT OPEN UNTIL FRIDAY.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30352" y="1956816"/>
            <a:ext cx="3588410" cy="1964436"/>
          </a:xfrm>
          <a:prstGeom prst="roundRect">
            <a:avLst>
              <a:gd name="adj" fmla="val 5000"/>
            </a:avLst>
          </a:prstGeom>
          <a:gradFill rotWithShape="1">
            <a:gsLst>
              <a:gs pos="0">
                <a:srgbClr val="2C1A86"/>
              </a:gs>
              <a:gs pos="100000">
                <a:srgbClr val="1A0F5C"/>
              </a:gs>
            </a:gsLst>
            <a:lin scaled="0" ang="16200000"/>
          </a:gradFill>
          <a:ln>
            <a:noFill/>
          </a:ln>
          <a:effectLst>
            <a:outerShdw blurRad="76200" dist="19050" dir="5400000" algn="bl" rotWithShape="0">
              <a:srgbClr val="1A0F5C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31519" y="2157984"/>
            <a:ext cx="457200" cy="457200"/>
          </a:xfrm>
          <a:prstGeom prst="ellipse">
            <a:avLst/>
          </a:prstGeom>
          <a:solidFill>
            <a:srgbClr val="5B3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11" name="Picture 10" descr="mail_8976924cfc5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247" y="2267712"/>
            <a:ext cx="237744" cy="23774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31519" y="2724912"/>
            <a:ext cx="3186074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1" i="0" spc="250">
                <a:solidFill>
                  <a:srgbClr val="D9A7FF"/>
                </a:solidFill>
                <a:latin typeface="Calibri"/>
              </a:rPr>
              <a:t>MONDAY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19" y="2962656"/>
            <a:ext cx="3186074" cy="2677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Sealed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19" y="3303524"/>
            <a:ext cx="3186074" cy="3997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CFC9EE"/>
                </a:solidFill>
                <a:latin typeface="Calibri"/>
              </a:rPr>
              <a:t>8,238 rows nobody scores a model on this week.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01642" y="1956816"/>
            <a:ext cx="3588410" cy="196443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4E1F1"/>
            </a:solidFill>
          </a:ln>
          <a:effectLst>
            <a:outerShdw blurRad="76200" dist="19050" dir="5400000" algn="bl" rotWithShape="0">
              <a:srgbClr val="1A0F5C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502810" y="2157984"/>
            <a:ext cx="457200" cy="457200"/>
          </a:xfrm>
          <a:prstGeom prst="ellipse">
            <a:avLst/>
          </a:prstGeom>
          <a:solidFill>
            <a:srgbClr val="EEE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17" name="Picture 16" descr="hand_5e0f10d709db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12538" y="2267712"/>
            <a:ext cx="237744" cy="237744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4502810" y="2724912"/>
            <a:ext cx="3186074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1" i="0" spc="250">
                <a:solidFill>
                  <a:srgbClr val="5B3FD6"/>
                </a:solidFill>
                <a:latin typeface="Calibri"/>
              </a:rPr>
              <a:t>TUESDAY TO THURSDAY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02810" y="2962656"/>
            <a:ext cx="3186074" cy="2677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A0F5C"/>
                </a:solidFill>
                <a:latin typeface="Calibri"/>
              </a:rPr>
              <a:t>Every peek points here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02810" y="3303524"/>
            <a:ext cx="3186074" cy="3997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6B6690"/>
                </a:solidFill>
                <a:latin typeface="Calibri"/>
              </a:rPr>
              <a:t>Choices are made on validation, as often as needed.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72932" y="1956816"/>
            <a:ext cx="3588410" cy="196443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4E1F1"/>
            </a:solidFill>
          </a:ln>
          <a:effectLst>
            <a:outerShdw blurRad="76200" dist="19050" dir="5400000" algn="bl" rotWithShape="0">
              <a:srgbClr val="1A0F5C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274100" y="2157984"/>
            <a:ext cx="457200" cy="457200"/>
          </a:xfrm>
          <a:prstGeom prst="ellipse">
            <a:avLst/>
          </a:prstGeom>
          <a:solidFill>
            <a:srgbClr val="EEE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23" name="Picture 22" descr="mail-open_0062a2bfced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83828" y="2267712"/>
            <a:ext cx="237744" cy="237744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8274100" y="2724912"/>
            <a:ext cx="3186074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1" i="0" spc="250">
                <a:solidFill>
                  <a:srgbClr val="5B3FD6"/>
                </a:solidFill>
                <a:latin typeface="Calibri"/>
              </a:rPr>
              <a:t>FRIDAY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74100" y="2962656"/>
            <a:ext cx="3186074" cy="2677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A0F5C"/>
                </a:solidFill>
                <a:latin typeface="Calibri"/>
              </a:rPr>
              <a:t>Opened once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74100" y="3303524"/>
            <a:ext cx="3186074" cy="3997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6B6690"/>
                </a:solidFill>
                <a:latin typeface="Calibri"/>
              </a:rPr>
              <a:t>The chosen model is scored once; that number goes in the memo.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0352" y="6437376"/>
            <a:ext cx="256032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…</a:t>
            </a:r>
          </a:p>
        </p:txBody>
      </p:sp>
      <p:sp>
        <p:nvSpPr>
          <p:cNvPr id="28" name="Oval 27"/>
          <p:cNvSpPr/>
          <p:nvPr/>
        </p:nvSpPr>
        <p:spPr>
          <a:xfrm>
            <a:off x="786384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96112" y="6437376"/>
            <a:ext cx="1286446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Which slice, and when?</a:t>
            </a:r>
          </a:p>
        </p:txBody>
      </p:sp>
      <p:sp>
        <p:nvSpPr>
          <p:cNvPr id="30" name="Oval 29"/>
          <p:cNvSpPr/>
          <p:nvPr/>
        </p:nvSpPr>
        <p:spPr>
          <a:xfrm>
            <a:off x="2273998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383726" y="6437376"/>
            <a:ext cx="1148429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Which line is best?</a:t>
            </a:r>
          </a:p>
        </p:txBody>
      </p:sp>
      <p:sp>
        <p:nvSpPr>
          <p:cNvPr id="32" name="Oval 31"/>
          <p:cNvSpPr/>
          <p:nvPr/>
        </p:nvSpPr>
        <p:spPr>
          <a:xfrm>
            <a:off x="3623595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733323" y="6437376"/>
            <a:ext cx="1194435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What does 0.73 mean?</a:t>
            </a:r>
          </a:p>
        </p:txBody>
      </p:sp>
      <p:sp>
        <p:nvSpPr>
          <p:cNvPr id="34" name="Oval 33"/>
          <p:cNvSpPr/>
          <p:nvPr/>
        </p:nvSpPr>
        <p:spPr>
          <a:xfrm>
            <a:off x="5019198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128926" y="6437376"/>
            <a:ext cx="1286446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What did the fit miss?</a:t>
            </a:r>
          </a:p>
        </p:txBody>
      </p:sp>
      <p:sp>
        <p:nvSpPr>
          <p:cNvPr id="36" name="Oval 35"/>
          <p:cNvSpPr/>
          <p:nvPr/>
        </p:nvSpPr>
        <p:spPr>
          <a:xfrm>
            <a:off x="6506813" y="6492240"/>
            <a:ext cx="64008" cy="64008"/>
          </a:xfrm>
          <a:prstGeom prst="ellipse">
            <a:avLst/>
          </a:prstGeom>
          <a:solidFill>
            <a:srgbClr val="5B3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616541" y="6437376"/>
            <a:ext cx="1194435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 i="0">
                <a:solidFill>
                  <a:srgbClr val="5B3FD6"/>
                </a:solidFill>
                <a:latin typeface="Calibri"/>
              </a:rPr>
              <a:t>Who is worth a call?</a:t>
            </a:r>
          </a:p>
        </p:txBody>
      </p:sp>
      <p:sp>
        <p:nvSpPr>
          <p:cNvPr id="38" name="Oval 37"/>
          <p:cNvSpPr/>
          <p:nvPr/>
        </p:nvSpPr>
        <p:spPr>
          <a:xfrm>
            <a:off x="7902416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012144" y="6437376"/>
            <a:ext cx="1240440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Does it beat nothing?</a:t>
            </a:r>
          </a:p>
        </p:txBody>
      </p:sp>
      <p:sp>
        <p:nvSpPr>
          <p:cNvPr id="40" name="Oval 39"/>
          <p:cNvSpPr/>
          <p:nvPr/>
        </p:nvSpPr>
        <p:spPr>
          <a:xfrm>
            <a:off x="9344025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453753" y="6437376"/>
            <a:ext cx="1286446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What did the peek buy?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198303" y="6437376"/>
            <a:ext cx="1463040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50" b="0" i="0">
                <a:solidFill>
                  <a:srgbClr val="6B6690"/>
                </a:solidFill>
                <a:latin typeface="Calibri"/>
              </a:rPr>
              <a:t>S39  ·  46 / 62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ligh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92063" y="310896"/>
            <a:ext cx="566928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550" b="1" i="0" spc="300">
                <a:solidFill>
                  <a:srgbClr val="6B6690"/>
                </a:solidFill>
                <a:latin typeface="Calibri"/>
              </a:rPr>
              <a:t>WEEK 5  ·  MONDAY  ·  REGRESSION AND CLASSIFICATION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76656"/>
            <a:ext cx="11130991" cy="512064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1A0F5C"/>
                </a:solidFill>
                <a:latin typeface="Georgia"/>
              </a:rPr>
              <a:t>Guided: frame it, split it, score the baseline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1243584"/>
            <a:ext cx="11130991" cy="234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B6690"/>
                </a:solidFill>
                <a:latin typeface="Calibri"/>
              </a:rPr>
              <a:t>Five TODO cells, built together; the answer sits last.</a:t>
            </a:r>
          </a:p>
        </p:txBody>
      </p:sp>
      <p:sp>
        <p:nvSpPr>
          <p:cNvPr id="9" name="Rectangle 8"/>
          <p:cNvSpPr/>
          <p:nvPr/>
        </p:nvSpPr>
        <p:spPr>
          <a:xfrm>
            <a:off x="1570299" y="2523744"/>
            <a:ext cx="9051096" cy="18288"/>
          </a:xfrm>
          <a:prstGeom prst="rect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0352" y="1956816"/>
            <a:ext cx="2079894" cy="168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1" i="0" spc="250">
                <a:solidFill>
                  <a:srgbClr val="5B3FD6"/>
                </a:solidFill>
                <a:latin typeface="Calibri"/>
              </a:rPr>
              <a:t>STEP 1</a:t>
            </a:r>
          </a:p>
        </p:txBody>
      </p:sp>
      <p:sp>
        <p:nvSpPr>
          <p:cNvPr id="11" name="Oval 10"/>
          <p:cNvSpPr/>
          <p:nvPr/>
        </p:nvSpPr>
        <p:spPr>
          <a:xfrm>
            <a:off x="1469715" y="2432304"/>
            <a:ext cx="201168" cy="201168"/>
          </a:xfrm>
          <a:prstGeom prst="ellipse">
            <a:avLst/>
          </a:prstGeom>
          <a:solidFill>
            <a:srgbClr val="5B3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30352" y="2843784"/>
            <a:ext cx="2079894" cy="1076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4E1F1"/>
            </a:solidFill>
          </a:ln>
          <a:effectLst>
            <a:outerShdw blurRad="76200" dist="19050" dir="5400000" algn="bl" rotWithShape="0">
              <a:srgbClr val="1A0F5C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4944" y="2990088"/>
            <a:ext cx="1750710" cy="25120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A0F5C"/>
                </a:solidFill>
                <a:latin typeface="Calibri"/>
              </a:rPr>
              <a:t>Frame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4944" y="3277870"/>
            <a:ext cx="1750710" cy="366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B6690"/>
                </a:solidFill>
                <a:latin typeface="Calibri"/>
              </a:rPr>
              <a:t>input, target, prediction time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93126" y="1956816"/>
            <a:ext cx="2079894" cy="168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1" i="0" spc="250">
                <a:solidFill>
                  <a:srgbClr val="5B3FD6"/>
                </a:solidFill>
                <a:latin typeface="Calibri"/>
              </a:rPr>
              <a:t>STEP 2</a:t>
            </a:r>
          </a:p>
        </p:txBody>
      </p:sp>
      <p:sp>
        <p:nvSpPr>
          <p:cNvPr id="16" name="Oval 15"/>
          <p:cNvSpPr/>
          <p:nvPr/>
        </p:nvSpPr>
        <p:spPr>
          <a:xfrm>
            <a:off x="3732489" y="2432304"/>
            <a:ext cx="201168" cy="201168"/>
          </a:xfrm>
          <a:prstGeom prst="ellipse">
            <a:avLst/>
          </a:prstGeom>
          <a:solidFill>
            <a:srgbClr val="5B3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2793126" y="2843784"/>
            <a:ext cx="2079894" cy="1076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4E1F1"/>
            </a:solidFill>
          </a:ln>
          <a:effectLst>
            <a:outerShdw blurRad="76200" dist="19050" dir="5400000" algn="bl" rotWithShape="0">
              <a:srgbClr val="1A0F5C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957718" y="2990088"/>
            <a:ext cx="1750710" cy="25120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A0F5C"/>
                </a:solidFill>
                <a:latin typeface="Calibri"/>
              </a:rPr>
              <a:t>Columns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57718" y="3277870"/>
            <a:ext cx="1750710" cy="2016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B6690"/>
                </a:solidFill>
                <a:latin typeface="Calibri"/>
              </a:rPr>
              <a:t>the 13 known that morning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55900" y="1956816"/>
            <a:ext cx="2079894" cy="168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1" i="0" spc="250">
                <a:solidFill>
                  <a:srgbClr val="5B3FD6"/>
                </a:solidFill>
                <a:latin typeface="Calibri"/>
              </a:rPr>
              <a:t>STEP 3</a:t>
            </a:r>
          </a:p>
        </p:txBody>
      </p:sp>
      <p:sp>
        <p:nvSpPr>
          <p:cNvPr id="21" name="Oval 20"/>
          <p:cNvSpPr/>
          <p:nvPr/>
        </p:nvSpPr>
        <p:spPr>
          <a:xfrm>
            <a:off x="5995263" y="2432304"/>
            <a:ext cx="201168" cy="201168"/>
          </a:xfrm>
          <a:prstGeom prst="ellipse">
            <a:avLst/>
          </a:prstGeom>
          <a:solidFill>
            <a:srgbClr val="5B3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5055900" y="2843784"/>
            <a:ext cx="2079894" cy="1076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4E1F1"/>
            </a:solidFill>
          </a:ln>
          <a:effectLst>
            <a:outerShdw blurRad="76200" dist="19050" dir="5400000" algn="bl" rotWithShape="0">
              <a:srgbClr val="1A0F5C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220492" y="2990088"/>
            <a:ext cx="1750710" cy="25120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A0F5C"/>
                </a:solidFill>
                <a:latin typeface="Calibri"/>
              </a:rPr>
              <a:t>Target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20492" y="3277870"/>
            <a:ext cx="1750710" cy="2016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B6690"/>
                </a:solidFill>
                <a:latin typeface="Calibri"/>
              </a:rPr>
              <a:t>y as 0 and 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8674" y="1956816"/>
            <a:ext cx="2079894" cy="168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1" i="0" spc="250">
                <a:solidFill>
                  <a:srgbClr val="5B3FD6"/>
                </a:solidFill>
                <a:latin typeface="Calibri"/>
              </a:rPr>
              <a:t>STEP 4</a:t>
            </a:r>
          </a:p>
        </p:txBody>
      </p:sp>
      <p:sp>
        <p:nvSpPr>
          <p:cNvPr id="26" name="Oval 25"/>
          <p:cNvSpPr/>
          <p:nvPr/>
        </p:nvSpPr>
        <p:spPr>
          <a:xfrm>
            <a:off x="8258037" y="2432304"/>
            <a:ext cx="201168" cy="201168"/>
          </a:xfrm>
          <a:prstGeom prst="ellipse">
            <a:avLst/>
          </a:prstGeom>
          <a:solidFill>
            <a:srgbClr val="5B3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7318674" y="2843784"/>
            <a:ext cx="2079894" cy="1076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4E1F1"/>
            </a:solidFill>
          </a:ln>
          <a:effectLst>
            <a:outerShdw blurRad="76200" dist="19050" dir="5400000" algn="bl" rotWithShape="0">
              <a:srgbClr val="1A0F5C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483266" y="2990088"/>
            <a:ext cx="1750710" cy="25120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A0F5C"/>
                </a:solidFill>
                <a:latin typeface="Calibri"/>
              </a:rPr>
              <a:t>Split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83266" y="3277870"/>
            <a:ext cx="1750710" cy="2016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B6690"/>
                </a:solidFill>
                <a:latin typeface="Calibri"/>
              </a:rPr>
              <a:t>seed 42, test sealed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581448" y="1956816"/>
            <a:ext cx="2079894" cy="168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1" i="0" spc="250">
                <a:solidFill>
                  <a:srgbClr val="5B3FD6"/>
                </a:solidFill>
                <a:latin typeface="Calibri"/>
              </a:rPr>
              <a:t>STEP 5</a:t>
            </a:r>
          </a:p>
        </p:txBody>
      </p:sp>
      <p:sp>
        <p:nvSpPr>
          <p:cNvPr id="31" name="Oval 30"/>
          <p:cNvSpPr/>
          <p:nvPr/>
        </p:nvSpPr>
        <p:spPr>
          <a:xfrm>
            <a:off x="10520812" y="2432304"/>
            <a:ext cx="201168" cy="201168"/>
          </a:xfrm>
          <a:prstGeom prst="ellipse">
            <a:avLst/>
          </a:prstGeom>
          <a:solidFill>
            <a:srgbClr val="5B3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9581448" y="2843784"/>
            <a:ext cx="2079894" cy="1076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4E1F1"/>
            </a:solidFill>
          </a:ln>
          <a:effectLst>
            <a:outerShdw blurRad="76200" dist="19050" dir="5400000" algn="bl" rotWithShape="0">
              <a:srgbClr val="1A0F5C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746040" y="2990088"/>
            <a:ext cx="1750710" cy="25120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A0F5C"/>
                </a:solidFill>
                <a:latin typeface="Calibri"/>
              </a:rPr>
              <a:t>Baseline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746040" y="3277870"/>
            <a:ext cx="1750710" cy="2016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B6690"/>
                </a:solidFill>
                <a:latin typeface="Calibri"/>
              </a:rPr>
              <a:t>accuracy on validation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30352" y="6437376"/>
            <a:ext cx="256032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…</a:t>
            </a:r>
          </a:p>
        </p:txBody>
      </p:sp>
      <p:sp>
        <p:nvSpPr>
          <p:cNvPr id="36" name="Oval 35"/>
          <p:cNvSpPr/>
          <p:nvPr/>
        </p:nvSpPr>
        <p:spPr>
          <a:xfrm>
            <a:off x="786384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96112" y="6437376"/>
            <a:ext cx="1286446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Which slice, and when?</a:t>
            </a:r>
          </a:p>
        </p:txBody>
      </p:sp>
      <p:sp>
        <p:nvSpPr>
          <p:cNvPr id="38" name="Oval 37"/>
          <p:cNvSpPr/>
          <p:nvPr/>
        </p:nvSpPr>
        <p:spPr>
          <a:xfrm>
            <a:off x="2273998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383726" y="6437376"/>
            <a:ext cx="1148429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Which line is best?</a:t>
            </a:r>
          </a:p>
        </p:txBody>
      </p:sp>
      <p:sp>
        <p:nvSpPr>
          <p:cNvPr id="40" name="Oval 39"/>
          <p:cNvSpPr/>
          <p:nvPr/>
        </p:nvSpPr>
        <p:spPr>
          <a:xfrm>
            <a:off x="3623595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733323" y="6437376"/>
            <a:ext cx="1194435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What does 0.73 mean?</a:t>
            </a:r>
          </a:p>
        </p:txBody>
      </p:sp>
      <p:sp>
        <p:nvSpPr>
          <p:cNvPr id="42" name="Oval 41"/>
          <p:cNvSpPr/>
          <p:nvPr/>
        </p:nvSpPr>
        <p:spPr>
          <a:xfrm>
            <a:off x="5019198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128926" y="6437376"/>
            <a:ext cx="1286446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What did the fit miss?</a:t>
            </a:r>
          </a:p>
        </p:txBody>
      </p:sp>
      <p:sp>
        <p:nvSpPr>
          <p:cNvPr id="44" name="Oval 43"/>
          <p:cNvSpPr/>
          <p:nvPr/>
        </p:nvSpPr>
        <p:spPr>
          <a:xfrm>
            <a:off x="6506813" y="6492240"/>
            <a:ext cx="64008" cy="64008"/>
          </a:xfrm>
          <a:prstGeom prst="ellipse">
            <a:avLst/>
          </a:prstGeom>
          <a:solidFill>
            <a:srgbClr val="5B3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616541" y="6437376"/>
            <a:ext cx="1194435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 i="0">
                <a:solidFill>
                  <a:srgbClr val="5B3FD6"/>
                </a:solidFill>
                <a:latin typeface="Calibri"/>
              </a:rPr>
              <a:t>Who is worth a call?</a:t>
            </a:r>
          </a:p>
        </p:txBody>
      </p:sp>
      <p:sp>
        <p:nvSpPr>
          <p:cNvPr id="46" name="Oval 45"/>
          <p:cNvSpPr/>
          <p:nvPr/>
        </p:nvSpPr>
        <p:spPr>
          <a:xfrm>
            <a:off x="7902416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012144" y="6437376"/>
            <a:ext cx="1240440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Does it beat nothing?</a:t>
            </a:r>
          </a:p>
        </p:txBody>
      </p:sp>
      <p:sp>
        <p:nvSpPr>
          <p:cNvPr id="48" name="Oval 47"/>
          <p:cNvSpPr/>
          <p:nvPr/>
        </p:nvSpPr>
        <p:spPr>
          <a:xfrm>
            <a:off x="9344025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453753" y="6437376"/>
            <a:ext cx="1286446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What did the peek buy?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198303" y="6437376"/>
            <a:ext cx="1463040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50" b="0" i="0">
                <a:solidFill>
                  <a:srgbClr val="6B6690"/>
                </a:solidFill>
                <a:latin typeface="Calibri"/>
              </a:rPr>
              <a:t>S40  ·  47 / 62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dar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92063" y="310896"/>
            <a:ext cx="566928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550" b="1" i="0" spc="300">
                <a:solidFill>
                  <a:srgbClr val="CFC9EE"/>
                </a:solidFill>
                <a:latin typeface="Calibri"/>
              </a:rPr>
              <a:t>PG DIPLOMA IN AI-ML AND AGENTIC AI ENGINEERING  ·  COHORT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19" y="1143000"/>
            <a:ext cx="36576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600" b="0" i="0">
                <a:solidFill>
                  <a:srgbClr val="D9A7FF"/>
                </a:solidFill>
                <a:latin typeface="Georgia"/>
              </a:rPr>
              <a:t>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19" y="2542032"/>
            <a:ext cx="10673791" cy="366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D9A7FF"/>
                </a:solidFill>
                <a:latin typeface="Calibri"/>
              </a:rPr>
              <a:t>Beat the dumbest model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19" y="3017520"/>
            <a:ext cx="10673791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0" i="0">
                <a:solidFill>
                  <a:srgbClr val="FFFFFF"/>
                </a:solidFill>
                <a:latin typeface="Georgia"/>
              </a:rPr>
              <a:t>Does it beat nothing?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19" y="3931920"/>
            <a:ext cx="9509760" cy="5318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E4E1F1"/>
                </a:solidFill>
                <a:latin typeface="Calibri"/>
              </a:rPr>
              <a:t>Case chapter. Applies: Train, validation, test; the seed; the baseline; Logistic regression: probability, direction, strength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19" y="5074920"/>
            <a:ext cx="1099768" cy="310896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CFC9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400" rIns="25400" tIns="0" bIns="0"/>
          <a:lstStyle/>
          <a:p>
            <a:pPr algn="ctr"/>
            <a:r>
              <a:rPr sz="850" b="0">
                <a:solidFill>
                  <a:srgbClr val="CFC9EE"/>
                </a:solidFill>
                <a:latin typeface="Calibri"/>
              </a:rPr>
              <a:t>Does it need a model?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941016" y="5074920"/>
            <a:ext cx="1221169" cy="310896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CFC9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400" rIns="25400" tIns="0" bIns="0"/>
          <a:lstStyle/>
          <a:p>
            <a:pPr algn="ctr"/>
            <a:r>
              <a:rPr sz="850" b="0">
                <a:solidFill>
                  <a:srgbClr val="CFC9EE"/>
                </a:solidFill>
                <a:latin typeface="Calibri"/>
              </a:rPr>
              <a:t>What may the model read?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71914" y="5074920"/>
            <a:ext cx="1140235" cy="310896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CFC9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400" rIns="25400" tIns="0" bIns="0"/>
          <a:lstStyle/>
          <a:p>
            <a:pPr algn="ctr"/>
            <a:r>
              <a:rPr sz="850" b="0">
                <a:solidFill>
                  <a:srgbClr val="CFC9EE"/>
                </a:solidFill>
                <a:latin typeface="Calibri"/>
              </a:rPr>
              <a:t>Which slice, and when?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21877" y="5074920"/>
            <a:ext cx="1018833" cy="310896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CFC9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400" rIns="25400" tIns="0" bIns="0"/>
          <a:lstStyle/>
          <a:p>
            <a:pPr algn="ctr"/>
            <a:r>
              <a:rPr sz="850" b="0">
                <a:solidFill>
                  <a:srgbClr val="CFC9EE"/>
                </a:solidFill>
                <a:latin typeface="Calibri"/>
              </a:rPr>
              <a:t>Which line is best?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50438" y="5074920"/>
            <a:ext cx="1059300" cy="310896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CFC9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400" rIns="25400" tIns="0" bIns="0"/>
          <a:lstStyle/>
          <a:p>
            <a:pPr algn="ctr"/>
            <a:r>
              <a:rPr sz="850" b="0">
                <a:solidFill>
                  <a:srgbClr val="CFC9EE"/>
                </a:solidFill>
                <a:latin typeface="Calibri"/>
              </a:rPr>
              <a:t>What does 0.73 mean?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19467" y="5074920"/>
            <a:ext cx="1140235" cy="310896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CFC9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400" rIns="25400" tIns="0" bIns="0"/>
          <a:lstStyle/>
          <a:p>
            <a:pPr algn="ctr"/>
            <a:r>
              <a:rPr sz="850" b="0">
                <a:solidFill>
                  <a:srgbClr val="CFC9EE"/>
                </a:solidFill>
                <a:latin typeface="Calibri"/>
              </a:rPr>
              <a:t>What did the fit miss?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69430" y="5074920"/>
            <a:ext cx="1059300" cy="310896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CFC9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400" rIns="25400" tIns="0" bIns="0"/>
          <a:lstStyle/>
          <a:p>
            <a:pPr algn="ctr"/>
            <a:r>
              <a:rPr sz="850" b="0">
                <a:solidFill>
                  <a:srgbClr val="CFC9EE"/>
                </a:solidFill>
                <a:latin typeface="Calibri"/>
              </a:rPr>
              <a:t>Who is worth a call?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238459" y="5074920"/>
            <a:ext cx="1099768" cy="310896"/>
          </a:xfrm>
          <a:prstGeom prst="roundRect">
            <a:avLst>
              <a:gd name="adj" fmla="val 50000"/>
            </a:avLst>
          </a:prstGeom>
          <a:solidFill>
            <a:srgbClr val="D9A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400" rIns="25400" tIns="0" bIns="0"/>
          <a:lstStyle/>
          <a:p>
            <a:pPr algn="ctr"/>
            <a:r>
              <a:rPr sz="850" b="1">
                <a:solidFill>
                  <a:srgbClr val="1A0F5C"/>
                </a:solidFill>
                <a:latin typeface="Calibri"/>
              </a:rPr>
              <a:t>Does it beat nothing?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47955" y="5074920"/>
            <a:ext cx="1140235" cy="310896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CFC9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400" rIns="25400" tIns="0" bIns="0"/>
          <a:lstStyle/>
          <a:p>
            <a:pPr algn="ctr"/>
            <a:r>
              <a:rPr sz="850" b="0">
                <a:solidFill>
                  <a:srgbClr val="CFC9EE"/>
                </a:solidFill>
                <a:latin typeface="Calibri"/>
              </a:rPr>
              <a:t>What did the peek buy?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0352" y="6437376"/>
            <a:ext cx="9667951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 i="0">
                <a:solidFill>
                  <a:srgbClr val="CFC9EE"/>
                </a:solidFill>
                <a:latin typeface="Calibri"/>
              </a:rPr>
              <a:t>Week 5 Monday: regression and classification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198303" y="6437376"/>
            <a:ext cx="1463040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50" b="0" i="0">
                <a:solidFill>
                  <a:srgbClr val="CFC9EE"/>
                </a:solidFill>
                <a:latin typeface="Calibri"/>
              </a:rPr>
              <a:t>48 / 62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ligh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92063" y="310896"/>
            <a:ext cx="566928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550" b="1" i="0" spc="300">
                <a:solidFill>
                  <a:srgbClr val="6B6690"/>
                </a:solidFill>
                <a:latin typeface="Calibri"/>
              </a:rPr>
              <a:t>WEEK 5  ·  MONDAY  ·  REGRESSION AND CLASSIFICATION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76656"/>
            <a:ext cx="11130991" cy="512064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1A0F5C"/>
                </a:solidFill>
                <a:latin typeface="Georgia"/>
              </a:rPr>
              <a:t>What does calling nobody score?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1243584"/>
            <a:ext cx="11130991" cy="234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B6690"/>
                </a:solidFill>
                <a:latin typeface="Calibri"/>
              </a:rPr>
              <a:t>Commit: 0.50, 0.75, 0.887 or 1.00?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" y="1956816"/>
            <a:ext cx="2577007" cy="698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0" i="0">
                <a:solidFill>
                  <a:srgbClr val="5B3FD6"/>
                </a:solidFill>
                <a:latin typeface="Georgia"/>
              </a:rPr>
              <a:t>0.50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352" y="2691892"/>
            <a:ext cx="2577007" cy="168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 i="0" spc="250">
                <a:solidFill>
                  <a:srgbClr val="1A0F5C"/>
                </a:solidFill>
                <a:latin typeface="Calibri"/>
              </a:rPr>
              <a:t>OPTION 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" y="2893060"/>
            <a:ext cx="2577007" cy="19342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6B6690"/>
                </a:solidFill>
                <a:latin typeface="Calibri"/>
              </a:rPr>
              <a:t>a coin flip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30352" y="3145536"/>
            <a:ext cx="2577007" cy="10972"/>
          </a:xfrm>
          <a:prstGeom prst="rect">
            <a:avLst/>
          </a:prstGeom>
          <a:solidFill>
            <a:srgbClr val="E4E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81679" y="1956816"/>
            <a:ext cx="2577007" cy="698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0" i="0">
                <a:solidFill>
                  <a:srgbClr val="5B3FD6"/>
                </a:solidFill>
                <a:latin typeface="Georgia"/>
              </a:rPr>
              <a:t>0.75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1679" y="2691892"/>
            <a:ext cx="2577007" cy="168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 i="0" spc="250">
                <a:solidFill>
                  <a:srgbClr val="1A0F5C"/>
                </a:solidFill>
                <a:latin typeface="Calibri"/>
              </a:rPr>
              <a:t>OPTION 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81679" y="2893060"/>
            <a:ext cx="2577007" cy="19342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6B6690"/>
                </a:solidFill>
                <a:latin typeface="Calibri"/>
              </a:rPr>
              <a:t>the toy table's number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381679" y="3145536"/>
            <a:ext cx="2577007" cy="10972"/>
          </a:xfrm>
          <a:prstGeom prst="rect">
            <a:avLst/>
          </a:prstGeom>
          <a:solidFill>
            <a:srgbClr val="E4E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33007" y="1956816"/>
            <a:ext cx="2577007" cy="698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0" i="0">
                <a:solidFill>
                  <a:srgbClr val="5B3FD6"/>
                </a:solidFill>
                <a:latin typeface="Georgia"/>
              </a:rPr>
              <a:t>0.887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33007" y="2691892"/>
            <a:ext cx="2577007" cy="168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 i="0" spc="250">
                <a:solidFill>
                  <a:srgbClr val="1A0F5C"/>
                </a:solidFill>
                <a:latin typeface="Calibri"/>
              </a:rPr>
              <a:t>OPTION 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33007" y="2893060"/>
            <a:ext cx="2577007" cy="19342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6B6690"/>
                </a:solidFill>
                <a:latin typeface="Calibri"/>
              </a:rPr>
              <a:t>one minus the share of yes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33007" y="3145536"/>
            <a:ext cx="2577007" cy="10972"/>
          </a:xfrm>
          <a:prstGeom prst="rect">
            <a:avLst/>
          </a:prstGeom>
          <a:solidFill>
            <a:srgbClr val="E4E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084335" y="1956816"/>
            <a:ext cx="2577007" cy="698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0" i="0">
                <a:solidFill>
                  <a:srgbClr val="5B3FD6"/>
                </a:solidFill>
                <a:latin typeface="Georgia"/>
              </a:rPr>
              <a:t>1.00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84335" y="2691892"/>
            <a:ext cx="2577007" cy="168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 i="0" spc="250">
                <a:solidFill>
                  <a:srgbClr val="1A0F5C"/>
                </a:solidFill>
                <a:latin typeface="Calibri"/>
              </a:rPr>
              <a:t>OPTION 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84335" y="2893060"/>
            <a:ext cx="2577007" cy="19342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6B6690"/>
                </a:solidFill>
                <a:latin typeface="Calibri"/>
              </a:rPr>
              <a:t>never wrong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084335" y="3145536"/>
            <a:ext cx="2577007" cy="10972"/>
          </a:xfrm>
          <a:prstGeom prst="rect">
            <a:avLst/>
          </a:prstGeom>
          <a:solidFill>
            <a:srgbClr val="E4E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30352" y="6437376"/>
            <a:ext cx="256032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…</a:t>
            </a:r>
          </a:p>
        </p:txBody>
      </p:sp>
      <p:sp>
        <p:nvSpPr>
          <p:cNvPr id="26" name="Oval 25"/>
          <p:cNvSpPr/>
          <p:nvPr/>
        </p:nvSpPr>
        <p:spPr>
          <a:xfrm>
            <a:off x="786384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96112" y="6437376"/>
            <a:ext cx="1286446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Which slice, and when?</a:t>
            </a:r>
          </a:p>
        </p:txBody>
      </p:sp>
      <p:sp>
        <p:nvSpPr>
          <p:cNvPr id="28" name="Oval 27"/>
          <p:cNvSpPr/>
          <p:nvPr/>
        </p:nvSpPr>
        <p:spPr>
          <a:xfrm>
            <a:off x="2273998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383726" y="6437376"/>
            <a:ext cx="1148429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Which line is best?</a:t>
            </a:r>
          </a:p>
        </p:txBody>
      </p:sp>
      <p:sp>
        <p:nvSpPr>
          <p:cNvPr id="30" name="Oval 29"/>
          <p:cNvSpPr/>
          <p:nvPr/>
        </p:nvSpPr>
        <p:spPr>
          <a:xfrm>
            <a:off x="3623595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733323" y="6437376"/>
            <a:ext cx="1194435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What does 0.73 mean?</a:t>
            </a:r>
          </a:p>
        </p:txBody>
      </p:sp>
      <p:sp>
        <p:nvSpPr>
          <p:cNvPr id="32" name="Oval 31"/>
          <p:cNvSpPr/>
          <p:nvPr/>
        </p:nvSpPr>
        <p:spPr>
          <a:xfrm>
            <a:off x="5019198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128926" y="6437376"/>
            <a:ext cx="1286446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What did the fit miss?</a:t>
            </a:r>
          </a:p>
        </p:txBody>
      </p:sp>
      <p:sp>
        <p:nvSpPr>
          <p:cNvPr id="34" name="Oval 33"/>
          <p:cNvSpPr/>
          <p:nvPr/>
        </p:nvSpPr>
        <p:spPr>
          <a:xfrm>
            <a:off x="6506813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616541" y="6437376"/>
            <a:ext cx="1194435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Who is worth a call?</a:t>
            </a:r>
          </a:p>
        </p:txBody>
      </p:sp>
      <p:sp>
        <p:nvSpPr>
          <p:cNvPr id="36" name="Oval 35"/>
          <p:cNvSpPr/>
          <p:nvPr/>
        </p:nvSpPr>
        <p:spPr>
          <a:xfrm>
            <a:off x="7902416" y="6492240"/>
            <a:ext cx="64008" cy="64008"/>
          </a:xfrm>
          <a:prstGeom prst="ellipse">
            <a:avLst/>
          </a:prstGeom>
          <a:solidFill>
            <a:srgbClr val="5B3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012144" y="6437376"/>
            <a:ext cx="1240440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 i="0">
                <a:solidFill>
                  <a:srgbClr val="5B3FD6"/>
                </a:solidFill>
                <a:latin typeface="Calibri"/>
              </a:rPr>
              <a:t>Does it beat nothing?</a:t>
            </a:r>
          </a:p>
        </p:txBody>
      </p:sp>
      <p:sp>
        <p:nvSpPr>
          <p:cNvPr id="38" name="Oval 37"/>
          <p:cNvSpPr/>
          <p:nvPr/>
        </p:nvSpPr>
        <p:spPr>
          <a:xfrm>
            <a:off x="9344025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453753" y="6437376"/>
            <a:ext cx="1286446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What did the peek buy?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198303" y="6437376"/>
            <a:ext cx="1463040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50" b="0" i="0">
                <a:solidFill>
                  <a:srgbClr val="6B6690"/>
                </a:solidFill>
                <a:latin typeface="Calibri"/>
              </a:rPr>
              <a:t>S41  ·  49 / 62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ligh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92063" y="310896"/>
            <a:ext cx="566928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550" b="1" i="0" spc="300">
                <a:solidFill>
                  <a:srgbClr val="6B6690"/>
                </a:solidFill>
                <a:latin typeface="Calibri"/>
              </a:rPr>
              <a:t>WEEK 5  ·  MONDAY  ·  REGRESSION AND CLASSIFICATION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76656"/>
            <a:ext cx="11130991" cy="512064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1A0F5C"/>
                </a:solidFill>
                <a:latin typeface="Georgia"/>
              </a:rPr>
              <a:t>Answer: 0.8874, right 7,310 times in 8,238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1243584"/>
            <a:ext cx="11130991" cy="234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B6690"/>
                </a:solidFill>
                <a:latin typeface="Calibri"/>
              </a:rPr>
              <a:t>The bar every model this week has to clear.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" y="1956816"/>
            <a:ext cx="3527450" cy="698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0" i="0">
                <a:solidFill>
                  <a:srgbClr val="5B3FD6"/>
                </a:solidFill>
                <a:latin typeface="Georgia"/>
              </a:rPr>
              <a:t>0.8874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352" y="2691892"/>
            <a:ext cx="3527450" cy="168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 i="0" spc="250">
                <a:solidFill>
                  <a:srgbClr val="1A0F5C"/>
                </a:solidFill>
                <a:latin typeface="Calibri"/>
              </a:rPr>
              <a:t>CALL NOBODY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" y="2893060"/>
            <a:ext cx="3527450" cy="19342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6B6690"/>
                </a:solidFill>
                <a:latin typeface="Calibri"/>
              </a:rPr>
              <a:t>7,310 right of 8,238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30352" y="3145536"/>
            <a:ext cx="3527450" cy="10972"/>
          </a:xfrm>
          <a:prstGeom prst="rect">
            <a:avLst/>
          </a:prstGeom>
          <a:solidFill>
            <a:srgbClr val="E4E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32122" y="1956816"/>
            <a:ext cx="3527450" cy="698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0" i="0">
                <a:solidFill>
                  <a:srgbClr val="5B3FD6"/>
                </a:solidFill>
                <a:latin typeface="Georgia"/>
              </a:rPr>
              <a:t>0.8971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32122" y="2691892"/>
            <a:ext cx="3527450" cy="168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 i="0" spc="250">
                <a:solidFill>
                  <a:srgbClr val="1A0F5C"/>
                </a:solidFill>
                <a:latin typeface="Calibri"/>
              </a:rPr>
              <a:t>LOGISTIC MODEL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32122" y="2893060"/>
            <a:ext cx="3527450" cy="19342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6B6690"/>
                </a:solidFill>
                <a:latin typeface="Calibri"/>
              </a:rPr>
              <a:t>7,390 right of 8,238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32122" y="3145536"/>
            <a:ext cx="3527450" cy="10972"/>
          </a:xfrm>
          <a:prstGeom prst="rect">
            <a:avLst/>
          </a:prstGeom>
          <a:solidFill>
            <a:srgbClr val="E4E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33892" y="1956816"/>
            <a:ext cx="3527450" cy="698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0" i="0">
                <a:solidFill>
                  <a:srgbClr val="5B3FD6"/>
                </a:solidFill>
                <a:latin typeface="Georgia"/>
              </a:rPr>
              <a:t>+80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33892" y="2691892"/>
            <a:ext cx="3527450" cy="168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 i="0" spc="250">
                <a:solidFill>
                  <a:srgbClr val="1A0F5C"/>
                </a:solidFill>
                <a:latin typeface="Calibri"/>
              </a:rPr>
              <a:t>THE EDGE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33892" y="2893060"/>
            <a:ext cx="3527450" cy="19342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6B6690"/>
                </a:solidFill>
                <a:latin typeface="Calibri"/>
              </a:rPr>
              <a:t>under one point of accuracy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133892" y="3145536"/>
            <a:ext cx="3527450" cy="10972"/>
          </a:xfrm>
          <a:prstGeom prst="rect">
            <a:avLst/>
          </a:prstGeom>
          <a:solidFill>
            <a:srgbClr val="E4E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30352" y="6437376"/>
            <a:ext cx="256032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…</a:t>
            </a:r>
          </a:p>
        </p:txBody>
      </p:sp>
      <p:sp>
        <p:nvSpPr>
          <p:cNvPr id="22" name="Oval 21"/>
          <p:cNvSpPr/>
          <p:nvPr/>
        </p:nvSpPr>
        <p:spPr>
          <a:xfrm>
            <a:off x="786384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96112" y="6437376"/>
            <a:ext cx="1286446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Which slice, and when?</a:t>
            </a:r>
          </a:p>
        </p:txBody>
      </p:sp>
      <p:sp>
        <p:nvSpPr>
          <p:cNvPr id="24" name="Oval 23"/>
          <p:cNvSpPr/>
          <p:nvPr/>
        </p:nvSpPr>
        <p:spPr>
          <a:xfrm>
            <a:off x="2273998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383726" y="6437376"/>
            <a:ext cx="1148429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Which line is best?</a:t>
            </a:r>
          </a:p>
        </p:txBody>
      </p:sp>
      <p:sp>
        <p:nvSpPr>
          <p:cNvPr id="26" name="Oval 25"/>
          <p:cNvSpPr/>
          <p:nvPr/>
        </p:nvSpPr>
        <p:spPr>
          <a:xfrm>
            <a:off x="3623595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733323" y="6437376"/>
            <a:ext cx="1194435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What does 0.73 mean?</a:t>
            </a:r>
          </a:p>
        </p:txBody>
      </p:sp>
      <p:sp>
        <p:nvSpPr>
          <p:cNvPr id="28" name="Oval 27"/>
          <p:cNvSpPr/>
          <p:nvPr/>
        </p:nvSpPr>
        <p:spPr>
          <a:xfrm>
            <a:off x="5019198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128926" y="6437376"/>
            <a:ext cx="1286446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What did the fit miss?</a:t>
            </a:r>
          </a:p>
        </p:txBody>
      </p:sp>
      <p:sp>
        <p:nvSpPr>
          <p:cNvPr id="30" name="Oval 29"/>
          <p:cNvSpPr/>
          <p:nvPr/>
        </p:nvSpPr>
        <p:spPr>
          <a:xfrm>
            <a:off x="6506813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616541" y="6437376"/>
            <a:ext cx="1194435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Who is worth a call?</a:t>
            </a:r>
          </a:p>
        </p:txBody>
      </p:sp>
      <p:sp>
        <p:nvSpPr>
          <p:cNvPr id="32" name="Oval 31"/>
          <p:cNvSpPr/>
          <p:nvPr/>
        </p:nvSpPr>
        <p:spPr>
          <a:xfrm>
            <a:off x="7902416" y="6492240"/>
            <a:ext cx="64008" cy="64008"/>
          </a:xfrm>
          <a:prstGeom prst="ellipse">
            <a:avLst/>
          </a:prstGeom>
          <a:solidFill>
            <a:srgbClr val="5B3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012144" y="6437376"/>
            <a:ext cx="1240440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 i="0">
                <a:solidFill>
                  <a:srgbClr val="5B3FD6"/>
                </a:solidFill>
                <a:latin typeface="Calibri"/>
              </a:rPr>
              <a:t>Does it beat nothing?</a:t>
            </a:r>
          </a:p>
        </p:txBody>
      </p:sp>
      <p:sp>
        <p:nvSpPr>
          <p:cNvPr id="34" name="Oval 33"/>
          <p:cNvSpPr/>
          <p:nvPr/>
        </p:nvSpPr>
        <p:spPr>
          <a:xfrm>
            <a:off x="9344025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453753" y="6437376"/>
            <a:ext cx="1286446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What did the peek buy?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198303" y="6437376"/>
            <a:ext cx="1463040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50" b="0" i="0">
                <a:solidFill>
                  <a:srgbClr val="6B6690"/>
                </a:solidFill>
                <a:latin typeface="Calibri"/>
              </a:rPr>
              <a:t>S42  ·  50 / 62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ligh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92063" y="310896"/>
            <a:ext cx="566928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550" b="1" i="0" spc="300">
                <a:solidFill>
                  <a:srgbClr val="6B6690"/>
                </a:solidFill>
                <a:latin typeface="Calibri"/>
              </a:rPr>
              <a:t>WEEK 5  ·  MONDAY  ·  REGRESSION AND CLASSIFICATION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76656"/>
            <a:ext cx="11130991" cy="512064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1A0F5C"/>
                </a:solidFill>
                <a:latin typeface="Georgia"/>
              </a:rPr>
              <a:t>80 more right answers, drawn honestly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1243584"/>
            <a:ext cx="11130991" cy="234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B6690"/>
                </a:solidFill>
                <a:latin typeface="Calibri"/>
              </a:rPr>
              <a:t>Side by side they look the same; the gap is what the model adds.</a:t>
            </a:r>
          </a:p>
        </p:txBody>
      </p:sp>
      <p:pic>
        <p:nvPicPr>
          <p:cNvPr id="9" name="mermaid diagram" descr="C2_W05_D01_fig_case2_edge_STUDE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352" y="1799616"/>
            <a:ext cx="11130991" cy="3929328"/>
          </a:xfrm>
          <a:prstGeom prst="rect">
            <a:avLst/>
          </a:prstGeom>
        </p:spPr>
      </p:pic>
      <p:sp>
        <p:nvSpPr>
          <p:cNvPr id="10" name="picture caption"/>
          <p:cNvSpPr txBox="1"/>
          <p:nvPr/>
        </p:nvSpPr>
        <p:spPr>
          <a:xfrm>
            <a:off x="530352" y="5765520"/>
            <a:ext cx="11130991" cy="3169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6B6690"/>
                </a:solidFill>
                <a:latin typeface="Calibri"/>
              </a:rPr>
              <a:t>Baseline and model right answers, and the 80-answer gap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" y="6437376"/>
            <a:ext cx="256032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…</a:t>
            </a:r>
          </a:p>
        </p:txBody>
      </p:sp>
      <p:sp>
        <p:nvSpPr>
          <p:cNvPr id="12" name="Oval 11"/>
          <p:cNvSpPr/>
          <p:nvPr/>
        </p:nvSpPr>
        <p:spPr>
          <a:xfrm>
            <a:off x="786384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6437376"/>
            <a:ext cx="1286446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Which slice, and when?</a:t>
            </a:r>
          </a:p>
        </p:txBody>
      </p:sp>
      <p:sp>
        <p:nvSpPr>
          <p:cNvPr id="14" name="Oval 13"/>
          <p:cNvSpPr/>
          <p:nvPr/>
        </p:nvSpPr>
        <p:spPr>
          <a:xfrm>
            <a:off x="2273998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383726" y="6437376"/>
            <a:ext cx="1148429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Which line is best?</a:t>
            </a:r>
          </a:p>
        </p:txBody>
      </p:sp>
      <p:sp>
        <p:nvSpPr>
          <p:cNvPr id="16" name="Oval 15"/>
          <p:cNvSpPr/>
          <p:nvPr/>
        </p:nvSpPr>
        <p:spPr>
          <a:xfrm>
            <a:off x="3623595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33323" y="6437376"/>
            <a:ext cx="1194435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What does 0.73 mean?</a:t>
            </a:r>
          </a:p>
        </p:txBody>
      </p:sp>
      <p:sp>
        <p:nvSpPr>
          <p:cNvPr id="18" name="Oval 17"/>
          <p:cNvSpPr/>
          <p:nvPr/>
        </p:nvSpPr>
        <p:spPr>
          <a:xfrm>
            <a:off x="5019198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28926" y="6437376"/>
            <a:ext cx="1286446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What did the fit miss?</a:t>
            </a:r>
          </a:p>
        </p:txBody>
      </p:sp>
      <p:sp>
        <p:nvSpPr>
          <p:cNvPr id="20" name="Oval 19"/>
          <p:cNvSpPr/>
          <p:nvPr/>
        </p:nvSpPr>
        <p:spPr>
          <a:xfrm>
            <a:off x="6506813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16541" y="6437376"/>
            <a:ext cx="1194435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Who is worth a call?</a:t>
            </a:r>
          </a:p>
        </p:txBody>
      </p:sp>
      <p:sp>
        <p:nvSpPr>
          <p:cNvPr id="22" name="Oval 21"/>
          <p:cNvSpPr/>
          <p:nvPr/>
        </p:nvSpPr>
        <p:spPr>
          <a:xfrm>
            <a:off x="7902416" y="6492240"/>
            <a:ext cx="64008" cy="64008"/>
          </a:xfrm>
          <a:prstGeom prst="ellipse">
            <a:avLst/>
          </a:prstGeom>
          <a:solidFill>
            <a:srgbClr val="5B3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12144" y="6437376"/>
            <a:ext cx="1240440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 i="0">
                <a:solidFill>
                  <a:srgbClr val="5B3FD6"/>
                </a:solidFill>
                <a:latin typeface="Calibri"/>
              </a:rPr>
              <a:t>Does it beat nothing?</a:t>
            </a:r>
          </a:p>
        </p:txBody>
      </p:sp>
      <p:sp>
        <p:nvSpPr>
          <p:cNvPr id="24" name="Oval 23"/>
          <p:cNvSpPr/>
          <p:nvPr/>
        </p:nvSpPr>
        <p:spPr>
          <a:xfrm>
            <a:off x="9344025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453753" y="6437376"/>
            <a:ext cx="1286446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What did the peek buy?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198303" y="6437376"/>
            <a:ext cx="1463040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50" b="0" i="0">
                <a:solidFill>
                  <a:srgbClr val="6B6690"/>
                </a:solidFill>
                <a:latin typeface="Calibri"/>
              </a:rPr>
              <a:t>S43  ·  51 / 62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ligh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92063" y="310896"/>
            <a:ext cx="566928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550" b="1" i="0" spc="300">
                <a:solidFill>
                  <a:srgbClr val="6B6690"/>
                </a:solidFill>
                <a:latin typeface="Calibri"/>
              </a:rPr>
              <a:t>WEEK 5  ·  MONDAY  ·  REGRESSION AND CLASSIFICATION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76656"/>
            <a:ext cx="11130991" cy="512064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1A0F5C"/>
                </a:solidFill>
                <a:latin typeface="Georgia"/>
              </a:rPr>
              <a:t>Probabilities centred on the base rate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1243584"/>
            <a:ext cx="11130991" cy="234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B6690"/>
                </a:solidFill>
                <a:latin typeface="Calibri"/>
              </a:rPr>
              <a:t>Mean 0.114 against a share of yes of 0.113.</a:t>
            </a:r>
          </a:p>
        </p:txBody>
      </p:sp>
      <p:pic>
        <p:nvPicPr>
          <p:cNvPr id="9" name="mermaid diagram" descr="C2_W05_D01_fig_case2_probs_STUDE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19469" y="1682496"/>
            <a:ext cx="9152756" cy="4200144"/>
          </a:xfrm>
          <a:prstGeom prst="rect">
            <a:avLst/>
          </a:prstGeom>
        </p:spPr>
      </p:pic>
      <p:sp>
        <p:nvSpPr>
          <p:cNvPr id="10" name="picture caption"/>
          <p:cNvSpPr txBox="1"/>
          <p:nvPr/>
        </p:nvSpPr>
        <p:spPr>
          <a:xfrm>
            <a:off x="530352" y="5919216"/>
            <a:ext cx="11130991" cy="3169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6B6690"/>
                </a:solidFill>
                <a:latin typeface="Calibri"/>
              </a:rPr>
              <a:t>Histogram of predicted probabilities of yes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" y="6437376"/>
            <a:ext cx="256032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…</a:t>
            </a:r>
          </a:p>
        </p:txBody>
      </p:sp>
      <p:sp>
        <p:nvSpPr>
          <p:cNvPr id="12" name="Oval 11"/>
          <p:cNvSpPr/>
          <p:nvPr/>
        </p:nvSpPr>
        <p:spPr>
          <a:xfrm>
            <a:off x="786384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6437376"/>
            <a:ext cx="1286446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Which slice, and when?</a:t>
            </a:r>
          </a:p>
        </p:txBody>
      </p:sp>
      <p:sp>
        <p:nvSpPr>
          <p:cNvPr id="14" name="Oval 13"/>
          <p:cNvSpPr/>
          <p:nvPr/>
        </p:nvSpPr>
        <p:spPr>
          <a:xfrm>
            <a:off x="2273998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383726" y="6437376"/>
            <a:ext cx="1148429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Which line is best?</a:t>
            </a:r>
          </a:p>
        </p:txBody>
      </p:sp>
      <p:sp>
        <p:nvSpPr>
          <p:cNvPr id="16" name="Oval 15"/>
          <p:cNvSpPr/>
          <p:nvPr/>
        </p:nvSpPr>
        <p:spPr>
          <a:xfrm>
            <a:off x="3623595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33323" y="6437376"/>
            <a:ext cx="1194435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What does 0.73 mean?</a:t>
            </a:r>
          </a:p>
        </p:txBody>
      </p:sp>
      <p:sp>
        <p:nvSpPr>
          <p:cNvPr id="18" name="Oval 17"/>
          <p:cNvSpPr/>
          <p:nvPr/>
        </p:nvSpPr>
        <p:spPr>
          <a:xfrm>
            <a:off x="5019198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28926" y="6437376"/>
            <a:ext cx="1286446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What did the fit miss?</a:t>
            </a:r>
          </a:p>
        </p:txBody>
      </p:sp>
      <p:sp>
        <p:nvSpPr>
          <p:cNvPr id="20" name="Oval 19"/>
          <p:cNvSpPr/>
          <p:nvPr/>
        </p:nvSpPr>
        <p:spPr>
          <a:xfrm>
            <a:off x="6506813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16541" y="6437376"/>
            <a:ext cx="1194435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Who is worth a call?</a:t>
            </a:r>
          </a:p>
        </p:txBody>
      </p:sp>
      <p:sp>
        <p:nvSpPr>
          <p:cNvPr id="22" name="Oval 21"/>
          <p:cNvSpPr/>
          <p:nvPr/>
        </p:nvSpPr>
        <p:spPr>
          <a:xfrm>
            <a:off x="7902416" y="6492240"/>
            <a:ext cx="64008" cy="64008"/>
          </a:xfrm>
          <a:prstGeom prst="ellipse">
            <a:avLst/>
          </a:prstGeom>
          <a:solidFill>
            <a:srgbClr val="5B3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12144" y="6437376"/>
            <a:ext cx="1240440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 i="0">
                <a:solidFill>
                  <a:srgbClr val="5B3FD6"/>
                </a:solidFill>
                <a:latin typeface="Calibri"/>
              </a:rPr>
              <a:t>Does it beat nothing?</a:t>
            </a:r>
          </a:p>
        </p:txBody>
      </p:sp>
      <p:sp>
        <p:nvSpPr>
          <p:cNvPr id="24" name="Oval 23"/>
          <p:cNvSpPr/>
          <p:nvPr/>
        </p:nvSpPr>
        <p:spPr>
          <a:xfrm>
            <a:off x="9344025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453753" y="6437376"/>
            <a:ext cx="1286446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What did the peek buy?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198303" y="6437376"/>
            <a:ext cx="1463040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50" b="0" i="0">
                <a:solidFill>
                  <a:srgbClr val="6B6690"/>
                </a:solidFill>
                <a:latin typeface="Calibri"/>
              </a:rPr>
              <a:t>S44  ·  52 / 62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ligh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92063" y="310896"/>
            <a:ext cx="566928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550" b="1" i="0" spc="300">
                <a:solidFill>
                  <a:srgbClr val="6B6690"/>
                </a:solidFill>
                <a:latin typeface="Calibri"/>
              </a:rPr>
              <a:t>WEEK 5  ·  MONDAY  ·  REGRESSION AND CLASSIFICATION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76656"/>
            <a:ext cx="11130991" cy="512064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1A0F5C"/>
                </a:solidFill>
                <a:latin typeface="Georgia"/>
              </a:rPr>
              <a:t>One coefficient for the campaign manager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1243584"/>
            <a:ext cx="11130991" cy="234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B6690"/>
                </a:solidFill>
                <a:latin typeface="Calibri"/>
              </a:rPr>
              <a:t>campaign: calls already made to this client this campaign.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" y="1956816"/>
            <a:ext cx="3527450" cy="698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0" i="0">
                <a:solidFill>
                  <a:srgbClr val="5B3FD6"/>
                </a:solidFill>
                <a:latin typeface="Georgia"/>
              </a:rPr>
              <a:t>x 0.93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352" y="2691892"/>
            <a:ext cx="3527450" cy="168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 i="0" spc="250">
                <a:solidFill>
                  <a:srgbClr val="1A0F5C"/>
                </a:solidFill>
                <a:latin typeface="Calibri"/>
              </a:rPr>
              <a:t>ODDS PER EXTRA CALL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" y="2893060"/>
            <a:ext cx="3527450" cy="19342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6B6690"/>
                </a:solidFill>
                <a:latin typeface="Calibri"/>
              </a:rPr>
              <a:t>about 7 percent lower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30352" y="3145536"/>
            <a:ext cx="3527450" cy="10972"/>
          </a:xfrm>
          <a:prstGeom prst="rect">
            <a:avLst/>
          </a:prstGeom>
          <a:solidFill>
            <a:srgbClr val="E4E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32122" y="1956816"/>
            <a:ext cx="3527450" cy="698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0" i="0">
                <a:solidFill>
                  <a:srgbClr val="5B3FD6"/>
                </a:solidFill>
                <a:latin typeface="Georgia"/>
              </a:rPr>
              <a:t>negative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32122" y="2691892"/>
            <a:ext cx="3527450" cy="168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 i="0" spc="250">
                <a:solidFill>
                  <a:srgbClr val="1A0F5C"/>
                </a:solidFill>
                <a:latin typeface="Calibri"/>
              </a:rPr>
              <a:t>DIRECTION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32122" y="2893060"/>
            <a:ext cx="3527450" cy="19342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6B6690"/>
                </a:solidFill>
                <a:latin typeface="Calibri"/>
              </a:rPr>
              <a:t>more calls, fewer yeses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32122" y="3145536"/>
            <a:ext cx="3527450" cy="10972"/>
          </a:xfrm>
          <a:prstGeom prst="rect">
            <a:avLst/>
          </a:prstGeom>
          <a:solidFill>
            <a:srgbClr val="E4E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33892" y="1956816"/>
            <a:ext cx="3527450" cy="698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0" i="0">
                <a:solidFill>
                  <a:srgbClr val="5B3FD6"/>
                </a:solidFill>
                <a:latin typeface="Georgia"/>
              </a:rPr>
              <a:t>0.9334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33892" y="2691892"/>
            <a:ext cx="3527450" cy="168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 i="0" spc="250">
                <a:solidFill>
                  <a:srgbClr val="1A0F5C"/>
                </a:solidFill>
                <a:latin typeface="Calibri"/>
              </a:rPr>
              <a:t>MEASURED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33892" y="2893060"/>
            <a:ext cx="3527450" cy="19342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6B6690"/>
                </a:solidFill>
                <a:latin typeface="Calibri"/>
              </a:rPr>
              <a:t>on all 8,238 clients, a second route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133892" y="3145536"/>
            <a:ext cx="3527450" cy="10972"/>
          </a:xfrm>
          <a:prstGeom prst="rect">
            <a:avLst/>
          </a:prstGeom>
          <a:solidFill>
            <a:srgbClr val="E4E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30352" y="3419856"/>
            <a:ext cx="11130991" cy="541020"/>
          </a:xfrm>
          <a:prstGeom prst="roundRect">
            <a:avLst>
              <a:gd name="adj" fmla="val 8000"/>
            </a:avLst>
          </a:prstGeom>
          <a:solidFill>
            <a:srgbClr val="F7F5FD"/>
          </a:solidFill>
          <a:ln w="9525">
            <a:solidFill>
              <a:srgbClr val="E4E1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76656" y="3547872"/>
            <a:ext cx="45720" cy="284988"/>
          </a:xfrm>
          <a:prstGeom prst="roundRect">
            <a:avLst>
              <a:gd name="adj" fmla="val 50000"/>
            </a:avLst>
          </a:prstGeom>
          <a:solidFill>
            <a:srgbClr val="5B3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77824" y="3538728"/>
            <a:ext cx="10564063" cy="3581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500" b="1">
                <a:solidFill>
                  <a:srgbClr val="5B3FD6"/>
                </a:solidFill>
                <a:latin typeface="Calibri"/>
              </a:rPr>
              <a:t>For Marketing. </a:t>
            </a:r>
            <a:r>
              <a:rPr sz="1500" b="0" i="0">
                <a:solidFill>
                  <a:srgbClr val="1A1440"/>
                </a:solidFill>
                <a:latin typeface="Calibri"/>
              </a:rPr>
              <a:t>Calling the same client again and again goes with a falling chance of a yes.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0352" y="6437376"/>
            <a:ext cx="256032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…</a:t>
            </a:r>
          </a:p>
        </p:txBody>
      </p:sp>
      <p:sp>
        <p:nvSpPr>
          <p:cNvPr id="25" name="Oval 24"/>
          <p:cNvSpPr/>
          <p:nvPr/>
        </p:nvSpPr>
        <p:spPr>
          <a:xfrm>
            <a:off x="786384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96112" y="6437376"/>
            <a:ext cx="1286446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Which slice, and when?</a:t>
            </a:r>
          </a:p>
        </p:txBody>
      </p:sp>
      <p:sp>
        <p:nvSpPr>
          <p:cNvPr id="27" name="Oval 26"/>
          <p:cNvSpPr/>
          <p:nvPr/>
        </p:nvSpPr>
        <p:spPr>
          <a:xfrm>
            <a:off x="2273998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383726" y="6437376"/>
            <a:ext cx="1148429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Which line is best?</a:t>
            </a:r>
          </a:p>
        </p:txBody>
      </p:sp>
      <p:sp>
        <p:nvSpPr>
          <p:cNvPr id="29" name="Oval 28"/>
          <p:cNvSpPr/>
          <p:nvPr/>
        </p:nvSpPr>
        <p:spPr>
          <a:xfrm>
            <a:off x="3623595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733323" y="6437376"/>
            <a:ext cx="1194435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What does 0.73 mean?</a:t>
            </a:r>
          </a:p>
        </p:txBody>
      </p:sp>
      <p:sp>
        <p:nvSpPr>
          <p:cNvPr id="31" name="Oval 30"/>
          <p:cNvSpPr/>
          <p:nvPr/>
        </p:nvSpPr>
        <p:spPr>
          <a:xfrm>
            <a:off x="5019198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128926" y="6437376"/>
            <a:ext cx="1286446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What did the fit miss?</a:t>
            </a:r>
          </a:p>
        </p:txBody>
      </p:sp>
      <p:sp>
        <p:nvSpPr>
          <p:cNvPr id="33" name="Oval 32"/>
          <p:cNvSpPr/>
          <p:nvPr/>
        </p:nvSpPr>
        <p:spPr>
          <a:xfrm>
            <a:off x="6506813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616541" y="6437376"/>
            <a:ext cx="1194435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Who is worth a call?</a:t>
            </a:r>
          </a:p>
        </p:txBody>
      </p:sp>
      <p:sp>
        <p:nvSpPr>
          <p:cNvPr id="35" name="Oval 34"/>
          <p:cNvSpPr/>
          <p:nvPr/>
        </p:nvSpPr>
        <p:spPr>
          <a:xfrm>
            <a:off x="7902416" y="6492240"/>
            <a:ext cx="64008" cy="64008"/>
          </a:xfrm>
          <a:prstGeom prst="ellipse">
            <a:avLst/>
          </a:prstGeom>
          <a:solidFill>
            <a:srgbClr val="5B3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012144" y="6437376"/>
            <a:ext cx="1240440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 i="0">
                <a:solidFill>
                  <a:srgbClr val="5B3FD6"/>
                </a:solidFill>
                <a:latin typeface="Calibri"/>
              </a:rPr>
              <a:t>Does it beat nothing?</a:t>
            </a:r>
          </a:p>
        </p:txBody>
      </p:sp>
      <p:sp>
        <p:nvSpPr>
          <p:cNvPr id="37" name="Oval 36"/>
          <p:cNvSpPr/>
          <p:nvPr/>
        </p:nvSpPr>
        <p:spPr>
          <a:xfrm>
            <a:off x="9344025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453753" y="6437376"/>
            <a:ext cx="1286446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What did the peek buy?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198303" y="6437376"/>
            <a:ext cx="1463040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50" b="0" i="0">
                <a:solidFill>
                  <a:srgbClr val="6B6690"/>
                </a:solidFill>
                <a:latin typeface="Calibri"/>
              </a:rPr>
              <a:t>S45  ·  53 / 62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ligh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92063" y="310896"/>
            <a:ext cx="566928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550" b="1" i="0" spc="300">
                <a:solidFill>
                  <a:srgbClr val="6B6690"/>
                </a:solidFill>
                <a:latin typeface="Calibri"/>
              </a:rPr>
              <a:t>WEEK 5  ·  MONDAY  ·  REGRESSION AND CLASSIFICATION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76656"/>
            <a:ext cx="11130991" cy="512064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1A0F5C"/>
                </a:solidFill>
                <a:latin typeface="Georgia"/>
              </a:rPr>
              <a:t>The caveat: three very different years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1243584"/>
            <a:ext cx="11130991" cy="234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B6690"/>
                </a:solidFill>
                <a:latin typeface="Calibri"/>
              </a:rPr>
              <a:t>A random split mixes them, so part of the score is the calendar.</a:t>
            </a:r>
          </a:p>
        </p:txBody>
      </p:sp>
      <p:pic>
        <p:nvPicPr>
          <p:cNvPr id="9" name="mermaid diagram" descr="C2_W05_D01_fig_case2_years_STUDE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69889" y="1682496"/>
            <a:ext cx="8851916" cy="4200144"/>
          </a:xfrm>
          <a:prstGeom prst="rect">
            <a:avLst/>
          </a:prstGeom>
        </p:spPr>
      </p:pic>
      <p:sp>
        <p:nvSpPr>
          <p:cNvPr id="10" name="picture caption"/>
          <p:cNvSpPr txBox="1"/>
          <p:nvPr/>
        </p:nvSpPr>
        <p:spPr>
          <a:xfrm>
            <a:off x="530352" y="5919216"/>
            <a:ext cx="11130991" cy="3169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6B6690"/>
                </a:solidFill>
                <a:latin typeface="Calibri"/>
              </a:rPr>
              <a:t>Share of yes by year: 5, 19 and 52 percent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" y="6437376"/>
            <a:ext cx="256032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…</a:t>
            </a:r>
          </a:p>
        </p:txBody>
      </p:sp>
      <p:sp>
        <p:nvSpPr>
          <p:cNvPr id="12" name="Oval 11"/>
          <p:cNvSpPr/>
          <p:nvPr/>
        </p:nvSpPr>
        <p:spPr>
          <a:xfrm>
            <a:off x="786384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6437376"/>
            <a:ext cx="1286446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Which slice, and when?</a:t>
            </a:r>
          </a:p>
        </p:txBody>
      </p:sp>
      <p:sp>
        <p:nvSpPr>
          <p:cNvPr id="14" name="Oval 13"/>
          <p:cNvSpPr/>
          <p:nvPr/>
        </p:nvSpPr>
        <p:spPr>
          <a:xfrm>
            <a:off x="2273998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383726" y="6437376"/>
            <a:ext cx="1148429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Which line is best?</a:t>
            </a:r>
          </a:p>
        </p:txBody>
      </p:sp>
      <p:sp>
        <p:nvSpPr>
          <p:cNvPr id="16" name="Oval 15"/>
          <p:cNvSpPr/>
          <p:nvPr/>
        </p:nvSpPr>
        <p:spPr>
          <a:xfrm>
            <a:off x="3623595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33323" y="6437376"/>
            <a:ext cx="1194435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What does 0.73 mean?</a:t>
            </a:r>
          </a:p>
        </p:txBody>
      </p:sp>
      <p:sp>
        <p:nvSpPr>
          <p:cNvPr id="18" name="Oval 17"/>
          <p:cNvSpPr/>
          <p:nvPr/>
        </p:nvSpPr>
        <p:spPr>
          <a:xfrm>
            <a:off x="5019198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28926" y="6437376"/>
            <a:ext cx="1286446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What did the fit miss?</a:t>
            </a:r>
          </a:p>
        </p:txBody>
      </p:sp>
      <p:sp>
        <p:nvSpPr>
          <p:cNvPr id="20" name="Oval 19"/>
          <p:cNvSpPr/>
          <p:nvPr/>
        </p:nvSpPr>
        <p:spPr>
          <a:xfrm>
            <a:off x="6506813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16541" y="6437376"/>
            <a:ext cx="1194435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Who is worth a call?</a:t>
            </a:r>
          </a:p>
        </p:txBody>
      </p:sp>
      <p:sp>
        <p:nvSpPr>
          <p:cNvPr id="22" name="Oval 21"/>
          <p:cNvSpPr/>
          <p:nvPr/>
        </p:nvSpPr>
        <p:spPr>
          <a:xfrm>
            <a:off x="7902416" y="6492240"/>
            <a:ext cx="64008" cy="64008"/>
          </a:xfrm>
          <a:prstGeom prst="ellipse">
            <a:avLst/>
          </a:prstGeom>
          <a:solidFill>
            <a:srgbClr val="5B3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12144" y="6437376"/>
            <a:ext cx="1240440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 i="0">
                <a:solidFill>
                  <a:srgbClr val="5B3FD6"/>
                </a:solidFill>
                <a:latin typeface="Calibri"/>
              </a:rPr>
              <a:t>Does it beat nothing?</a:t>
            </a:r>
          </a:p>
        </p:txBody>
      </p:sp>
      <p:sp>
        <p:nvSpPr>
          <p:cNvPr id="24" name="Oval 23"/>
          <p:cNvSpPr/>
          <p:nvPr/>
        </p:nvSpPr>
        <p:spPr>
          <a:xfrm>
            <a:off x="9344025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453753" y="6437376"/>
            <a:ext cx="1286446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What did the peek buy?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198303" y="6437376"/>
            <a:ext cx="1463040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50" b="0" i="0">
                <a:solidFill>
                  <a:srgbClr val="6B6690"/>
                </a:solidFill>
                <a:latin typeface="Calibri"/>
              </a:rPr>
              <a:t>S46  ·  54 / 62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dar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92063" y="310896"/>
            <a:ext cx="566928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550" b="1" i="0" spc="300">
                <a:solidFill>
                  <a:srgbClr val="CFC9EE"/>
                </a:solidFill>
                <a:latin typeface="Calibri"/>
              </a:rPr>
              <a:t>PG DIPLOMA IN AI-ML AND AGENTIC AI ENGINEERING  ·  COHORT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19" y="1143000"/>
            <a:ext cx="36576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600" b="0" i="0">
                <a:solidFill>
                  <a:srgbClr val="D9A7FF"/>
                </a:solidFill>
                <a:latin typeface="Georgia"/>
              </a:rPr>
              <a:t>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19" y="2542032"/>
            <a:ext cx="10673791" cy="366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D9A7FF"/>
                </a:solidFill>
                <a:latin typeface="Calibri"/>
              </a:rPr>
              <a:t>The peek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19" y="3017520"/>
            <a:ext cx="10673791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0" i="0">
                <a:solidFill>
                  <a:srgbClr val="FFFFFF"/>
                </a:solidFill>
                <a:latin typeface="Georgia"/>
              </a:rPr>
              <a:t>What did the peek buy?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19" y="3931920"/>
            <a:ext cx="9509760" cy="28422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E4E1F1"/>
                </a:solidFill>
                <a:latin typeface="Calibri"/>
              </a:rPr>
              <a:t>Case chapter. Applies: Train, validation, test; the seed; the baseline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19" y="5074920"/>
            <a:ext cx="1099768" cy="310896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CFC9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400" rIns="25400" tIns="0" bIns="0"/>
          <a:lstStyle/>
          <a:p>
            <a:pPr algn="ctr"/>
            <a:r>
              <a:rPr sz="850" b="0">
                <a:solidFill>
                  <a:srgbClr val="CFC9EE"/>
                </a:solidFill>
                <a:latin typeface="Calibri"/>
              </a:rPr>
              <a:t>Does it need a model?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941016" y="5074920"/>
            <a:ext cx="1221169" cy="310896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CFC9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400" rIns="25400" tIns="0" bIns="0"/>
          <a:lstStyle/>
          <a:p>
            <a:pPr algn="ctr"/>
            <a:r>
              <a:rPr sz="850" b="0">
                <a:solidFill>
                  <a:srgbClr val="CFC9EE"/>
                </a:solidFill>
                <a:latin typeface="Calibri"/>
              </a:rPr>
              <a:t>What may the model read?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71914" y="5074920"/>
            <a:ext cx="1140235" cy="310896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CFC9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400" rIns="25400" tIns="0" bIns="0"/>
          <a:lstStyle/>
          <a:p>
            <a:pPr algn="ctr"/>
            <a:r>
              <a:rPr sz="850" b="0">
                <a:solidFill>
                  <a:srgbClr val="CFC9EE"/>
                </a:solidFill>
                <a:latin typeface="Calibri"/>
              </a:rPr>
              <a:t>Which slice, and when?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21877" y="5074920"/>
            <a:ext cx="1018833" cy="310896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CFC9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400" rIns="25400" tIns="0" bIns="0"/>
          <a:lstStyle/>
          <a:p>
            <a:pPr algn="ctr"/>
            <a:r>
              <a:rPr sz="850" b="0">
                <a:solidFill>
                  <a:srgbClr val="CFC9EE"/>
                </a:solidFill>
                <a:latin typeface="Calibri"/>
              </a:rPr>
              <a:t>Which line is best?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50438" y="5074920"/>
            <a:ext cx="1059300" cy="310896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CFC9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400" rIns="25400" tIns="0" bIns="0"/>
          <a:lstStyle/>
          <a:p>
            <a:pPr algn="ctr"/>
            <a:r>
              <a:rPr sz="850" b="0">
                <a:solidFill>
                  <a:srgbClr val="CFC9EE"/>
                </a:solidFill>
                <a:latin typeface="Calibri"/>
              </a:rPr>
              <a:t>What does 0.73 mean?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19467" y="5074920"/>
            <a:ext cx="1140235" cy="310896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CFC9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400" rIns="25400" tIns="0" bIns="0"/>
          <a:lstStyle/>
          <a:p>
            <a:pPr algn="ctr"/>
            <a:r>
              <a:rPr sz="850" b="0">
                <a:solidFill>
                  <a:srgbClr val="CFC9EE"/>
                </a:solidFill>
                <a:latin typeface="Calibri"/>
              </a:rPr>
              <a:t>What did the fit miss?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69430" y="5074920"/>
            <a:ext cx="1059300" cy="310896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CFC9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400" rIns="25400" tIns="0" bIns="0"/>
          <a:lstStyle/>
          <a:p>
            <a:pPr algn="ctr"/>
            <a:r>
              <a:rPr sz="850" b="0">
                <a:solidFill>
                  <a:srgbClr val="CFC9EE"/>
                </a:solidFill>
                <a:latin typeface="Calibri"/>
              </a:rPr>
              <a:t>Who is worth a call?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238459" y="5074920"/>
            <a:ext cx="1099768" cy="310896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CFC9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400" rIns="25400" tIns="0" bIns="0"/>
          <a:lstStyle/>
          <a:p>
            <a:pPr algn="ctr"/>
            <a:r>
              <a:rPr sz="850" b="0">
                <a:solidFill>
                  <a:srgbClr val="CFC9EE"/>
                </a:solidFill>
                <a:latin typeface="Calibri"/>
              </a:rPr>
              <a:t>Does it beat nothing?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47955" y="5074920"/>
            <a:ext cx="1140235" cy="310896"/>
          </a:xfrm>
          <a:prstGeom prst="roundRect">
            <a:avLst>
              <a:gd name="adj" fmla="val 50000"/>
            </a:avLst>
          </a:prstGeom>
          <a:solidFill>
            <a:srgbClr val="D9A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400" rIns="25400" tIns="0" bIns="0"/>
          <a:lstStyle/>
          <a:p>
            <a:pPr algn="ctr"/>
            <a:r>
              <a:rPr sz="850" b="1">
                <a:solidFill>
                  <a:srgbClr val="1A0F5C"/>
                </a:solidFill>
                <a:latin typeface="Calibri"/>
              </a:rPr>
              <a:t>What did the peek buy?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0352" y="6437376"/>
            <a:ext cx="9667951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 i="0">
                <a:solidFill>
                  <a:srgbClr val="CFC9EE"/>
                </a:solidFill>
                <a:latin typeface="Calibri"/>
              </a:rPr>
              <a:t>Week 5 Monday: regression and classification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198303" y="6437376"/>
            <a:ext cx="1463040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50" b="0" i="0">
                <a:solidFill>
                  <a:srgbClr val="CFC9EE"/>
                </a:solidFill>
                <a:latin typeface="Calibri"/>
              </a:rPr>
              <a:t>55 / 62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ligh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92063" y="310896"/>
            <a:ext cx="566928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550" b="1" i="0" spc="300">
                <a:solidFill>
                  <a:srgbClr val="6B6690"/>
                </a:solidFill>
                <a:latin typeface="Calibri"/>
              </a:rPr>
              <a:t>WEEK 5  ·  MONDAY  ·  REGRESSION AND CLASSIFICATION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76656"/>
            <a:ext cx="11130991" cy="512064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1A0F5C"/>
                </a:solidFill>
                <a:latin typeface="Georgia"/>
              </a:rPr>
              <a:t>The junior's loop: 60 versions, one slice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1243584"/>
            <a:ext cx="11130991" cy="234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B6690"/>
                </a:solidFill>
                <a:latin typeface="Calibri"/>
              </a:rPr>
              <a:t>Keep whichever scores best on the held-out rows.</a:t>
            </a:r>
          </a:p>
        </p:txBody>
      </p:sp>
      <p:pic>
        <p:nvPicPr>
          <p:cNvPr id="9" name="mermaid diagram" descr="3a14664ccb8542f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0897" y="1956816"/>
            <a:ext cx="10629900" cy="185737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30352" y="6437376"/>
            <a:ext cx="256032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…</a:t>
            </a:r>
          </a:p>
        </p:txBody>
      </p:sp>
      <p:sp>
        <p:nvSpPr>
          <p:cNvPr id="11" name="Oval 10"/>
          <p:cNvSpPr/>
          <p:nvPr/>
        </p:nvSpPr>
        <p:spPr>
          <a:xfrm>
            <a:off x="786384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6437376"/>
            <a:ext cx="1286446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Which slice, and when?</a:t>
            </a:r>
          </a:p>
        </p:txBody>
      </p:sp>
      <p:sp>
        <p:nvSpPr>
          <p:cNvPr id="13" name="Oval 12"/>
          <p:cNvSpPr/>
          <p:nvPr/>
        </p:nvSpPr>
        <p:spPr>
          <a:xfrm>
            <a:off x="2273998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383726" y="6437376"/>
            <a:ext cx="1148429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Which line is best?</a:t>
            </a:r>
          </a:p>
        </p:txBody>
      </p:sp>
      <p:sp>
        <p:nvSpPr>
          <p:cNvPr id="15" name="Oval 14"/>
          <p:cNvSpPr/>
          <p:nvPr/>
        </p:nvSpPr>
        <p:spPr>
          <a:xfrm>
            <a:off x="3623595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733323" y="6437376"/>
            <a:ext cx="1194435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What does 0.73 mean?</a:t>
            </a:r>
          </a:p>
        </p:txBody>
      </p:sp>
      <p:sp>
        <p:nvSpPr>
          <p:cNvPr id="17" name="Oval 16"/>
          <p:cNvSpPr/>
          <p:nvPr/>
        </p:nvSpPr>
        <p:spPr>
          <a:xfrm>
            <a:off x="5019198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128926" y="6437376"/>
            <a:ext cx="1286446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What did the fit miss?</a:t>
            </a:r>
          </a:p>
        </p:txBody>
      </p:sp>
      <p:sp>
        <p:nvSpPr>
          <p:cNvPr id="19" name="Oval 18"/>
          <p:cNvSpPr/>
          <p:nvPr/>
        </p:nvSpPr>
        <p:spPr>
          <a:xfrm>
            <a:off x="6506813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16541" y="6437376"/>
            <a:ext cx="1194435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Who is worth a call?</a:t>
            </a:r>
          </a:p>
        </p:txBody>
      </p:sp>
      <p:sp>
        <p:nvSpPr>
          <p:cNvPr id="21" name="Oval 20"/>
          <p:cNvSpPr/>
          <p:nvPr/>
        </p:nvSpPr>
        <p:spPr>
          <a:xfrm>
            <a:off x="7902416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12144" y="6437376"/>
            <a:ext cx="1240440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Does it beat nothing?</a:t>
            </a:r>
          </a:p>
        </p:txBody>
      </p:sp>
      <p:sp>
        <p:nvSpPr>
          <p:cNvPr id="23" name="Oval 22"/>
          <p:cNvSpPr/>
          <p:nvPr/>
        </p:nvSpPr>
        <p:spPr>
          <a:xfrm>
            <a:off x="9344025" y="6492240"/>
            <a:ext cx="64008" cy="64008"/>
          </a:xfrm>
          <a:prstGeom prst="ellipse">
            <a:avLst/>
          </a:prstGeom>
          <a:solidFill>
            <a:srgbClr val="5B3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453753" y="6437376"/>
            <a:ext cx="1286446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 i="0">
                <a:solidFill>
                  <a:srgbClr val="5B3FD6"/>
                </a:solidFill>
                <a:latin typeface="Calibri"/>
              </a:rPr>
              <a:t>What did the peek buy?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198303" y="6437376"/>
            <a:ext cx="1463040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50" b="0" i="0">
                <a:solidFill>
                  <a:srgbClr val="6B6690"/>
                </a:solidFill>
                <a:latin typeface="Calibri"/>
              </a:rPr>
              <a:t>S47  ·  56 / 62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ligh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92063" y="310896"/>
            <a:ext cx="566928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550" b="1" i="0" spc="300">
                <a:solidFill>
                  <a:srgbClr val="6B6690"/>
                </a:solidFill>
                <a:latin typeface="Calibri"/>
              </a:rPr>
              <a:t>WEEK 5  ·  MONDAY  ·  REGRESSION AND CLASSIFICATION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76656"/>
            <a:ext cx="11130991" cy="512064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1A0F5C"/>
                </a:solidFill>
                <a:latin typeface="Georgia"/>
              </a:rPr>
              <a:t>Answer: 0.897 on fresh rows, the honest edge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1243584"/>
            <a:ext cx="11130991" cy="234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B6690"/>
                </a:solidFill>
                <a:latin typeface="Calibri"/>
              </a:rPr>
              <a:t>The extra 0.8 points were luck the loop picked.</a:t>
            </a:r>
          </a:p>
        </p:txBody>
      </p:sp>
      <p:pic>
        <p:nvPicPr>
          <p:cNvPr id="9" name="mermaid diagram" descr="C2_W05_D01_fig_case3_peek_STUDE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80468" y="1682496"/>
            <a:ext cx="9430758" cy="4200144"/>
          </a:xfrm>
          <a:prstGeom prst="rect">
            <a:avLst/>
          </a:prstGeom>
        </p:spPr>
      </p:pic>
      <p:sp>
        <p:nvSpPr>
          <p:cNvPr id="10" name="picture caption"/>
          <p:cNvSpPr txBox="1"/>
          <p:nvPr/>
        </p:nvSpPr>
        <p:spPr>
          <a:xfrm>
            <a:off x="530352" y="5919216"/>
            <a:ext cx="11130991" cy="3169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6B6690"/>
                </a:solidFill>
                <a:latin typeface="Calibri"/>
              </a:rPr>
              <a:t>60 versions: peeked scores against fresh-row scores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" y="6437376"/>
            <a:ext cx="256032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…</a:t>
            </a:r>
          </a:p>
        </p:txBody>
      </p:sp>
      <p:sp>
        <p:nvSpPr>
          <p:cNvPr id="12" name="Oval 11"/>
          <p:cNvSpPr/>
          <p:nvPr/>
        </p:nvSpPr>
        <p:spPr>
          <a:xfrm>
            <a:off x="786384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6437376"/>
            <a:ext cx="1286446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Which slice, and when?</a:t>
            </a:r>
          </a:p>
        </p:txBody>
      </p:sp>
      <p:sp>
        <p:nvSpPr>
          <p:cNvPr id="14" name="Oval 13"/>
          <p:cNvSpPr/>
          <p:nvPr/>
        </p:nvSpPr>
        <p:spPr>
          <a:xfrm>
            <a:off x="2273998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383726" y="6437376"/>
            <a:ext cx="1148429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Which line is best?</a:t>
            </a:r>
          </a:p>
        </p:txBody>
      </p:sp>
      <p:sp>
        <p:nvSpPr>
          <p:cNvPr id="16" name="Oval 15"/>
          <p:cNvSpPr/>
          <p:nvPr/>
        </p:nvSpPr>
        <p:spPr>
          <a:xfrm>
            <a:off x="3623595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33323" y="6437376"/>
            <a:ext cx="1194435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What does 0.73 mean?</a:t>
            </a:r>
          </a:p>
        </p:txBody>
      </p:sp>
      <p:sp>
        <p:nvSpPr>
          <p:cNvPr id="18" name="Oval 17"/>
          <p:cNvSpPr/>
          <p:nvPr/>
        </p:nvSpPr>
        <p:spPr>
          <a:xfrm>
            <a:off x="5019198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28926" y="6437376"/>
            <a:ext cx="1286446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What did the fit miss?</a:t>
            </a:r>
          </a:p>
        </p:txBody>
      </p:sp>
      <p:sp>
        <p:nvSpPr>
          <p:cNvPr id="20" name="Oval 19"/>
          <p:cNvSpPr/>
          <p:nvPr/>
        </p:nvSpPr>
        <p:spPr>
          <a:xfrm>
            <a:off x="6506813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16541" y="6437376"/>
            <a:ext cx="1194435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Who is worth a call?</a:t>
            </a:r>
          </a:p>
        </p:txBody>
      </p:sp>
      <p:sp>
        <p:nvSpPr>
          <p:cNvPr id="22" name="Oval 21"/>
          <p:cNvSpPr/>
          <p:nvPr/>
        </p:nvSpPr>
        <p:spPr>
          <a:xfrm>
            <a:off x="7902416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12144" y="6437376"/>
            <a:ext cx="1240440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Does it beat nothing?</a:t>
            </a:r>
          </a:p>
        </p:txBody>
      </p:sp>
      <p:sp>
        <p:nvSpPr>
          <p:cNvPr id="24" name="Oval 23"/>
          <p:cNvSpPr/>
          <p:nvPr/>
        </p:nvSpPr>
        <p:spPr>
          <a:xfrm>
            <a:off x="9344025" y="6492240"/>
            <a:ext cx="64008" cy="64008"/>
          </a:xfrm>
          <a:prstGeom prst="ellipse">
            <a:avLst/>
          </a:prstGeom>
          <a:solidFill>
            <a:srgbClr val="5B3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453753" y="6437376"/>
            <a:ext cx="1286446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 i="0">
                <a:solidFill>
                  <a:srgbClr val="5B3FD6"/>
                </a:solidFill>
                <a:latin typeface="Calibri"/>
              </a:rPr>
              <a:t>What did the peek buy?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198303" y="6437376"/>
            <a:ext cx="1463040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50" b="0" i="0">
                <a:solidFill>
                  <a:srgbClr val="6B6690"/>
                </a:solidFill>
                <a:latin typeface="Calibri"/>
              </a:rPr>
              <a:t>S48  ·  57 / 62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ligh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92063" y="310896"/>
            <a:ext cx="566928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550" b="1" i="0" spc="300">
                <a:solidFill>
                  <a:srgbClr val="6B6690"/>
                </a:solidFill>
                <a:latin typeface="Calibri"/>
              </a:rPr>
              <a:t>WEEK 5  ·  MONDAY  ·  REGRESSION AND CLASSIFICATION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76656"/>
            <a:ext cx="11130991" cy="512064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1A0F5C"/>
                </a:solidFill>
                <a:latin typeface="Georgia"/>
              </a:rPr>
              <a:t>The test slice is spent once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1243584"/>
            <a:ext cx="11130991" cy="234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B6690"/>
                </a:solidFill>
                <a:latin typeface="Calibri"/>
              </a:rPr>
              <a:t>Choose on validation as often as you like; score the test at the end.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30352" y="1956816"/>
            <a:ext cx="3588410" cy="196443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4E1F1"/>
            </a:solidFill>
          </a:ln>
          <a:effectLst>
            <a:outerShdw blurRad="76200" dist="19050" dir="5400000" algn="bl" rotWithShape="0">
              <a:srgbClr val="1A0F5C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31519" y="2157984"/>
            <a:ext cx="457200" cy="457200"/>
          </a:xfrm>
          <a:prstGeom prst="ellipse">
            <a:avLst/>
          </a:prstGeom>
          <a:solidFill>
            <a:srgbClr val="EEE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11" name="Picture 10" descr="repeat_e3d62ee72e9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247" y="2267712"/>
            <a:ext cx="237744" cy="23774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31519" y="2724912"/>
            <a:ext cx="3186074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1" i="0" spc="250">
                <a:solidFill>
                  <a:srgbClr val="5B3FD6"/>
                </a:solidFill>
                <a:latin typeface="Calibri"/>
              </a:rPr>
              <a:t>VALIDATION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19" y="2962656"/>
            <a:ext cx="3186074" cy="2677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A0F5C"/>
                </a:solidFill>
                <a:latin typeface="Calibri"/>
              </a:rPr>
              <a:t>Choose here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19" y="3303524"/>
            <a:ext cx="3186074" cy="3997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6B6690"/>
                </a:solidFill>
                <a:latin typeface="Calibri"/>
              </a:rPr>
              <a:t>Columns, settings, models: compare as often as needed.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01642" y="1956816"/>
            <a:ext cx="3588410" cy="1964436"/>
          </a:xfrm>
          <a:prstGeom prst="roundRect">
            <a:avLst>
              <a:gd name="adj" fmla="val 5000"/>
            </a:avLst>
          </a:prstGeom>
          <a:gradFill rotWithShape="1">
            <a:gsLst>
              <a:gs pos="0">
                <a:srgbClr val="2C1A86"/>
              </a:gs>
              <a:gs pos="100000">
                <a:srgbClr val="1A0F5C"/>
              </a:gs>
            </a:gsLst>
            <a:lin scaled="0" ang="16200000"/>
          </a:gradFill>
          <a:ln>
            <a:noFill/>
          </a:ln>
          <a:effectLst>
            <a:outerShdw blurRad="76200" dist="19050" dir="5400000" algn="bl" rotWithShape="0">
              <a:srgbClr val="1A0F5C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502810" y="2157984"/>
            <a:ext cx="457200" cy="457200"/>
          </a:xfrm>
          <a:prstGeom prst="ellipse">
            <a:avLst/>
          </a:prstGeom>
          <a:solidFill>
            <a:srgbClr val="5B3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17" name="Picture 16" descr="lock_560553748e6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12538" y="2267712"/>
            <a:ext cx="237744" cy="237744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4502810" y="2724912"/>
            <a:ext cx="3186074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1" i="0" spc="250">
                <a:solidFill>
                  <a:srgbClr val="D9A7FF"/>
                </a:solidFill>
                <a:latin typeface="Calibri"/>
              </a:rPr>
              <a:t>TEST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02810" y="2962656"/>
            <a:ext cx="3186074" cy="2677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Score once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02810" y="3303524"/>
            <a:ext cx="3186074" cy="3997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CFC9EE"/>
                </a:solidFill>
                <a:latin typeface="Calibri"/>
              </a:rPr>
              <a:t>The chosen model, once, with its seed, then report.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72932" y="1956816"/>
            <a:ext cx="3588410" cy="196443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4E1F1"/>
            </a:solidFill>
          </a:ln>
          <a:effectLst>
            <a:outerShdw blurRad="76200" dist="19050" dir="5400000" algn="bl" rotWithShape="0">
              <a:srgbClr val="1A0F5C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274100" y="2157984"/>
            <a:ext cx="457200" cy="457200"/>
          </a:xfrm>
          <a:prstGeom prst="ellipse">
            <a:avLst/>
          </a:prstGeom>
          <a:solidFill>
            <a:srgbClr val="EEE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23" name="Picture 22" descr="triangle-alert_5ac49fc6abbb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83828" y="2267712"/>
            <a:ext cx="237744" cy="237744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8274100" y="2724912"/>
            <a:ext cx="3186074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1" i="0" spc="250">
                <a:solidFill>
                  <a:srgbClr val="5B3FD6"/>
                </a:solidFill>
                <a:latin typeface="Calibri"/>
              </a:rPr>
              <a:t>PEEKED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74100" y="2962656"/>
            <a:ext cx="3186074" cy="2677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A0F5C"/>
                </a:solidFill>
                <a:latin typeface="Calibri"/>
              </a:rPr>
              <a:t>Cut a fresh slice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74100" y="3303524"/>
            <a:ext cx="3186074" cy="3997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6B6690"/>
                </a:solidFill>
                <a:latin typeface="Calibri"/>
              </a:rPr>
              <a:t>A peeked test is validation now; hold out new rows.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0352" y="6437376"/>
            <a:ext cx="256032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…</a:t>
            </a:r>
          </a:p>
        </p:txBody>
      </p:sp>
      <p:sp>
        <p:nvSpPr>
          <p:cNvPr id="28" name="Oval 27"/>
          <p:cNvSpPr/>
          <p:nvPr/>
        </p:nvSpPr>
        <p:spPr>
          <a:xfrm>
            <a:off x="786384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96112" y="6437376"/>
            <a:ext cx="1286446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Which slice, and when?</a:t>
            </a:r>
          </a:p>
        </p:txBody>
      </p:sp>
      <p:sp>
        <p:nvSpPr>
          <p:cNvPr id="30" name="Oval 29"/>
          <p:cNvSpPr/>
          <p:nvPr/>
        </p:nvSpPr>
        <p:spPr>
          <a:xfrm>
            <a:off x="2273998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383726" y="6437376"/>
            <a:ext cx="1148429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Which line is best?</a:t>
            </a:r>
          </a:p>
        </p:txBody>
      </p:sp>
      <p:sp>
        <p:nvSpPr>
          <p:cNvPr id="32" name="Oval 31"/>
          <p:cNvSpPr/>
          <p:nvPr/>
        </p:nvSpPr>
        <p:spPr>
          <a:xfrm>
            <a:off x="3623595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733323" y="6437376"/>
            <a:ext cx="1194435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What does 0.73 mean?</a:t>
            </a:r>
          </a:p>
        </p:txBody>
      </p:sp>
      <p:sp>
        <p:nvSpPr>
          <p:cNvPr id="34" name="Oval 33"/>
          <p:cNvSpPr/>
          <p:nvPr/>
        </p:nvSpPr>
        <p:spPr>
          <a:xfrm>
            <a:off x="5019198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128926" y="6437376"/>
            <a:ext cx="1286446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What did the fit miss?</a:t>
            </a:r>
          </a:p>
        </p:txBody>
      </p:sp>
      <p:sp>
        <p:nvSpPr>
          <p:cNvPr id="36" name="Oval 35"/>
          <p:cNvSpPr/>
          <p:nvPr/>
        </p:nvSpPr>
        <p:spPr>
          <a:xfrm>
            <a:off x="6506813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616541" y="6437376"/>
            <a:ext cx="1194435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Who is worth a call?</a:t>
            </a:r>
          </a:p>
        </p:txBody>
      </p:sp>
      <p:sp>
        <p:nvSpPr>
          <p:cNvPr id="38" name="Oval 37"/>
          <p:cNvSpPr/>
          <p:nvPr/>
        </p:nvSpPr>
        <p:spPr>
          <a:xfrm>
            <a:off x="7902416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012144" y="6437376"/>
            <a:ext cx="1240440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Does it beat nothing?</a:t>
            </a:r>
          </a:p>
        </p:txBody>
      </p:sp>
      <p:sp>
        <p:nvSpPr>
          <p:cNvPr id="40" name="Oval 39"/>
          <p:cNvSpPr/>
          <p:nvPr/>
        </p:nvSpPr>
        <p:spPr>
          <a:xfrm>
            <a:off x="9344025" y="6492240"/>
            <a:ext cx="64008" cy="64008"/>
          </a:xfrm>
          <a:prstGeom prst="ellipse">
            <a:avLst/>
          </a:prstGeom>
          <a:solidFill>
            <a:srgbClr val="5B3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453753" y="6437376"/>
            <a:ext cx="1286446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 i="0">
                <a:solidFill>
                  <a:srgbClr val="5B3FD6"/>
                </a:solidFill>
                <a:latin typeface="Calibri"/>
              </a:rPr>
              <a:t>What did the peek buy?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198303" y="6437376"/>
            <a:ext cx="1463040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50" b="0" i="0">
                <a:solidFill>
                  <a:srgbClr val="6B6690"/>
                </a:solidFill>
                <a:latin typeface="Calibri"/>
              </a:rPr>
              <a:t>S49  ·  58 / 62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ligh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92063" y="310896"/>
            <a:ext cx="566928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550" b="1" i="0" spc="300">
                <a:solidFill>
                  <a:srgbClr val="6B6690"/>
                </a:solidFill>
                <a:latin typeface="Calibri"/>
              </a:rPr>
              <a:t>WEEK 5  ·  MONDAY  ·  REGRESSION AND CLASSIFICATION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76656"/>
            <a:ext cx="11130991" cy="512064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1A0F5C"/>
                </a:solidFill>
                <a:latin typeface="Georgia"/>
              </a:rPr>
              <a:t>Five interview questions from today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1243584"/>
            <a:ext cx="11130991" cy="234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B6690"/>
                </a:solidFill>
                <a:latin typeface="Calibri"/>
              </a:rPr>
              <a:t>The shape of a good answer, never a script.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30352" y="1956816"/>
          <a:ext cx="11130990" cy="2218944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914400"/>
                <a:gridCol w="5453566"/>
                <a:gridCol w="4763024"/>
              </a:tblGrid>
              <a:tr h="369824">
                <a:tc>
                  <a:txBody>
                    <a:bodyPr/>
                    <a:lstStyle/>
                    <a:p>
                      <a:r>
                        <a:rPr sz="1450" b="1" i="0">
                          <a:solidFill>
                            <a:srgbClr val="FFFFFF"/>
                          </a:solidFill>
                          <a:latin typeface="Calibri"/>
                        </a:rPr>
                        <a:t>Tag</a:t>
                      </a:r>
                    </a:p>
                  </a:txBody>
                  <a:tcPr marL="101600" marR="101600" marT="38100" marB="38100" anchor="ctr">
                    <a:solidFill>
                      <a:srgbClr val="1A0F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50" b="1" i="0">
                          <a:solidFill>
                            <a:srgbClr val="FFFFFF"/>
                          </a:solidFill>
                          <a:latin typeface="Calibri"/>
                        </a:rPr>
                        <a:t>Question</a:t>
                      </a:r>
                    </a:p>
                  </a:txBody>
                  <a:tcPr marL="101600" marR="101600" marT="38100" marB="38100" anchor="ctr">
                    <a:solidFill>
                      <a:srgbClr val="1A0F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50" b="1" i="0">
                          <a:solidFill>
                            <a:srgbClr val="FFFFFF"/>
                          </a:solidFill>
                          <a:latin typeface="Calibri"/>
                        </a:rPr>
                        <a:t>A good answer opens on</a:t>
                      </a:r>
                    </a:p>
                  </a:txBody>
                  <a:tcPr marL="101600" marR="101600" marT="38100" marB="38100" anchor="ctr">
                    <a:solidFill>
                      <a:srgbClr val="1A0F5C"/>
                    </a:solidFill>
                  </a:tcPr>
                </a:tc>
              </a:tr>
              <a:tr h="369824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[S]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When is a business problem an ML problem?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input now, target later, decision moves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</a:tr>
              <a:tr h="369824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[S]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Train, validation, test: which is spent once?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each slice's job, then test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</a:tr>
              <a:tr h="369824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[F]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What does a logistic output of 0.71 mean?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71 in 100 similar customers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</a:tr>
              <a:tr h="369824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[F]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Why start with a baseline?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a score means nothing without its bar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</a:tr>
              <a:tr h="369824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[D]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Your model ties the baseline by Friday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the clarifying question, then the offer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30352" y="6437376"/>
            <a:ext cx="256032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…</a:t>
            </a:r>
          </a:p>
        </p:txBody>
      </p:sp>
      <p:sp>
        <p:nvSpPr>
          <p:cNvPr id="11" name="Oval 10"/>
          <p:cNvSpPr/>
          <p:nvPr/>
        </p:nvSpPr>
        <p:spPr>
          <a:xfrm>
            <a:off x="786384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6437376"/>
            <a:ext cx="1286446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Which slice, and when?</a:t>
            </a:r>
          </a:p>
        </p:txBody>
      </p:sp>
      <p:sp>
        <p:nvSpPr>
          <p:cNvPr id="13" name="Oval 12"/>
          <p:cNvSpPr/>
          <p:nvPr/>
        </p:nvSpPr>
        <p:spPr>
          <a:xfrm>
            <a:off x="2273998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383726" y="6437376"/>
            <a:ext cx="1148429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Which line is best?</a:t>
            </a:r>
          </a:p>
        </p:txBody>
      </p:sp>
      <p:sp>
        <p:nvSpPr>
          <p:cNvPr id="15" name="Oval 14"/>
          <p:cNvSpPr/>
          <p:nvPr/>
        </p:nvSpPr>
        <p:spPr>
          <a:xfrm>
            <a:off x="3623595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733323" y="6437376"/>
            <a:ext cx="1194435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What does 0.73 mean?</a:t>
            </a:r>
          </a:p>
        </p:txBody>
      </p:sp>
      <p:sp>
        <p:nvSpPr>
          <p:cNvPr id="17" name="Oval 16"/>
          <p:cNvSpPr/>
          <p:nvPr/>
        </p:nvSpPr>
        <p:spPr>
          <a:xfrm>
            <a:off x="5019198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128926" y="6437376"/>
            <a:ext cx="1286446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What did the fit miss?</a:t>
            </a:r>
          </a:p>
        </p:txBody>
      </p:sp>
      <p:sp>
        <p:nvSpPr>
          <p:cNvPr id="19" name="Oval 18"/>
          <p:cNvSpPr/>
          <p:nvPr/>
        </p:nvSpPr>
        <p:spPr>
          <a:xfrm>
            <a:off x="6506813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16541" y="6437376"/>
            <a:ext cx="1194435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Who is worth a call?</a:t>
            </a:r>
          </a:p>
        </p:txBody>
      </p:sp>
      <p:sp>
        <p:nvSpPr>
          <p:cNvPr id="21" name="Oval 20"/>
          <p:cNvSpPr/>
          <p:nvPr/>
        </p:nvSpPr>
        <p:spPr>
          <a:xfrm>
            <a:off x="7902416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12144" y="6437376"/>
            <a:ext cx="1240440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Does it beat nothing?</a:t>
            </a:r>
          </a:p>
        </p:txBody>
      </p:sp>
      <p:sp>
        <p:nvSpPr>
          <p:cNvPr id="23" name="Oval 22"/>
          <p:cNvSpPr/>
          <p:nvPr/>
        </p:nvSpPr>
        <p:spPr>
          <a:xfrm>
            <a:off x="9344025" y="6492240"/>
            <a:ext cx="64008" cy="64008"/>
          </a:xfrm>
          <a:prstGeom prst="ellipse">
            <a:avLst/>
          </a:prstGeom>
          <a:solidFill>
            <a:srgbClr val="5B3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453753" y="6437376"/>
            <a:ext cx="1286446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 i="0">
                <a:solidFill>
                  <a:srgbClr val="5B3FD6"/>
                </a:solidFill>
                <a:latin typeface="Calibri"/>
              </a:rPr>
              <a:t>What did the peek buy?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198303" y="6437376"/>
            <a:ext cx="1463040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50" b="0" i="0">
                <a:solidFill>
                  <a:srgbClr val="6B6690"/>
                </a:solidFill>
                <a:latin typeface="Calibri"/>
              </a:rPr>
              <a:t>S50  ·  59 / 62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ligh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92063" y="310896"/>
            <a:ext cx="566928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550" b="1" i="0" spc="300">
                <a:solidFill>
                  <a:srgbClr val="6B6690"/>
                </a:solidFill>
                <a:latin typeface="Calibri"/>
              </a:rPr>
              <a:t>WEEK 5  ·  MONDAY  ·  REGRESSION AND CLASSIFICATION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76656"/>
            <a:ext cx="11130991" cy="512064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1A0F5C"/>
                </a:solidFill>
                <a:latin typeface="Georgia"/>
              </a:rPr>
              <a:t>Six seats; today the senior ML engineer decides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1243584"/>
            <a:ext cx="11130991" cy="234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B6690"/>
                </a:solidFill>
                <a:latin typeface="Calibri"/>
              </a:rPr>
              <a:t>The target, the baseline, the split, the validation.</a:t>
            </a:r>
          </a:p>
        </p:txBody>
      </p:sp>
      <p:pic>
        <p:nvPicPr>
          <p:cNvPr id="9" name="mermaid diagram" descr="46ac46333dd8d5e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52497" y="1956816"/>
            <a:ext cx="7886700" cy="35433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30352" y="6437376"/>
            <a:ext cx="256032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…</a:t>
            </a:r>
          </a:p>
        </p:txBody>
      </p:sp>
      <p:sp>
        <p:nvSpPr>
          <p:cNvPr id="11" name="Oval 10"/>
          <p:cNvSpPr/>
          <p:nvPr/>
        </p:nvSpPr>
        <p:spPr>
          <a:xfrm>
            <a:off x="786384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6437376"/>
            <a:ext cx="1286446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Which slice, and when?</a:t>
            </a:r>
          </a:p>
        </p:txBody>
      </p:sp>
      <p:sp>
        <p:nvSpPr>
          <p:cNvPr id="13" name="Oval 12"/>
          <p:cNvSpPr/>
          <p:nvPr/>
        </p:nvSpPr>
        <p:spPr>
          <a:xfrm>
            <a:off x="2273998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383726" y="6437376"/>
            <a:ext cx="1148429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Which line is best?</a:t>
            </a:r>
          </a:p>
        </p:txBody>
      </p:sp>
      <p:sp>
        <p:nvSpPr>
          <p:cNvPr id="15" name="Oval 14"/>
          <p:cNvSpPr/>
          <p:nvPr/>
        </p:nvSpPr>
        <p:spPr>
          <a:xfrm>
            <a:off x="3623595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733323" y="6437376"/>
            <a:ext cx="1194435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What does 0.73 mean?</a:t>
            </a:r>
          </a:p>
        </p:txBody>
      </p:sp>
      <p:sp>
        <p:nvSpPr>
          <p:cNvPr id="17" name="Oval 16"/>
          <p:cNvSpPr/>
          <p:nvPr/>
        </p:nvSpPr>
        <p:spPr>
          <a:xfrm>
            <a:off x="5019198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128926" y="6437376"/>
            <a:ext cx="1286446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What did the fit miss?</a:t>
            </a:r>
          </a:p>
        </p:txBody>
      </p:sp>
      <p:sp>
        <p:nvSpPr>
          <p:cNvPr id="19" name="Oval 18"/>
          <p:cNvSpPr/>
          <p:nvPr/>
        </p:nvSpPr>
        <p:spPr>
          <a:xfrm>
            <a:off x="6506813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16541" y="6437376"/>
            <a:ext cx="1194435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Who is worth a call?</a:t>
            </a:r>
          </a:p>
        </p:txBody>
      </p:sp>
      <p:sp>
        <p:nvSpPr>
          <p:cNvPr id="21" name="Oval 20"/>
          <p:cNvSpPr/>
          <p:nvPr/>
        </p:nvSpPr>
        <p:spPr>
          <a:xfrm>
            <a:off x="7902416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12144" y="6437376"/>
            <a:ext cx="1240440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Does it beat nothing?</a:t>
            </a:r>
          </a:p>
        </p:txBody>
      </p:sp>
      <p:sp>
        <p:nvSpPr>
          <p:cNvPr id="23" name="Oval 22"/>
          <p:cNvSpPr/>
          <p:nvPr/>
        </p:nvSpPr>
        <p:spPr>
          <a:xfrm>
            <a:off x="9344025" y="6492240"/>
            <a:ext cx="64008" cy="64008"/>
          </a:xfrm>
          <a:prstGeom prst="ellipse">
            <a:avLst/>
          </a:prstGeom>
          <a:solidFill>
            <a:srgbClr val="5B3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453753" y="6437376"/>
            <a:ext cx="1286446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 i="0">
                <a:solidFill>
                  <a:srgbClr val="5B3FD6"/>
                </a:solidFill>
                <a:latin typeface="Calibri"/>
              </a:rPr>
              <a:t>What did the peek buy?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198303" y="6437376"/>
            <a:ext cx="1463040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50" b="0" i="0">
                <a:solidFill>
                  <a:srgbClr val="6B6690"/>
                </a:solidFill>
                <a:latin typeface="Calibri"/>
              </a:rPr>
              <a:t>S51  ·  60 / 62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ligh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92063" y="310896"/>
            <a:ext cx="566928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550" b="1" i="0" spc="300">
                <a:solidFill>
                  <a:srgbClr val="6B6690"/>
                </a:solidFill>
                <a:latin typeface="Calibri"/>
              </a:rPr>
              <a:t>WEEK 5  ·  MONDAY  ·  REGRESSION AND CLASSIFICATION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76656"/>
            <a:ext cx="11130991" cy="512064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1A0F5C"/>
                </a:solidFill>
                <a:latin typeface="Georgia"/>
              </a:rPr>
              <a:t>Quiz: five questions and one return question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1243584"/>
            <a:ext cx="11130991" cy="234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B6690"/>
                </a:solidFill>
                <a:latin typeface="Calibri"/>
              </a:rPr>
              <a:t>Kahoot, ungraded.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30352" y="1956816"/>
          <a:ext cx="11130991" cy="2588768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914400"/>
                <a:gridCol w="10216591"/>
              </a:tblGrid>
              <a:tr h="369824">
                <a:tc>
                  <a:txBody>
                    <a:bodyPr/>
                    <a:lstStyle/>
                    <a:p>
                      <a:r>
                        <a:rPr sz="1450" b="1" i="0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 marL="101600" marR="101600" marT="38100" marB="38100" anchor="ctr">
                    <a:solidFill>
                      <a:srgbClr val="1A0F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50" b="1" i="0">
                          <a:solidFill>
                            <a:srgbClr val="FFFFFF"/>
                          </a:solidFill>
                          <a:latin typeface="Calibri"/>
                        </a:rPr>
                        <a:t>What it asks</a:t>
                      </a:r>
                    </a:p>
                  </a:txBody>
                  <a:tcPr marL="101600" marR="101600" marT="38100" marB="38100" anchor="ctr">
                    <a:solidFill>
                      <a:srgbClr val="1A0F5C"/>
                    </a:solidFill>
                  </a:tcPr>
                </a:tc>
              </a:tr>
              <a:tr h="369824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Prediction, rule or query: five Kalpa questions, fast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</a:tr>
              <a:tr h="369824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Which split tunes, which is spent once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</a:tr>
              <a:tr h="369824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Validation rose after peeking at test: what is now broken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</a:tr>
              <a:tr h="369824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The baseline on a 96 to 4 flag scores what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</a:tr>
              <a:tr h="369824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Rs 240 per unit of recency: finish the sentence for Marketing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</a:tr>
              <a:tr h="369824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R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Week 4 Friday: the vendor curve fit two years perfectly; good forecast?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30352" y="6437376"/>
            <a:ext cx="256032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…</a:t>
            </a:r>
          </a:p>
        </p:txBody>
      </p:sp>
      <p:sp>
        <p:nvSpPr>
          <p:cNvPr id="11" name="Oval 10"/>
          <p:cNvSpPr/>
          <p:nvPr/>
        </p:nvSpPr>
        <p:spPr>
          <a:xfrm>
            <a:off x="786384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6437376"/>
            <a:ext cx="1286446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Which slice, and when?</a:t>
            </a:r>
          </a:p>
        </p:txBody>
      </p:sp>
      <p:sp>
        <p:nvSpPr>
          <p:cNvPr id="13" name="Oval 12"/>
          <p:cNvSpPr/>
          <p:nvPr/>
        </p:nvSpPr>
        <p:spPr>
          <a:xfrm>
            <a:off x="2273998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383726" y="6437376"/>
            <a:ext cx="1148429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Which line is best?</a:t>
            </a:r>
          </a:p>
        </p:txBody>
      </p:sp>
      <p:sp>
        <p:nvSpPr>
          <p:cNvPr id="15" name="Oval 14"/>
          <p:cNvSpPr/>
          <p:nvPr/>
        </p:nvSpPr>
        <p:spPr>
          <a:xfrm>
            <a:off x="3623595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733323" y="6437376"/>
            <a:ext cx="1194435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What does 0.73 mean?</a:t>
            </a:r>
          </a:p>
        </p:txBody>
      </p:sp>
      <p:sp>
        <p:nvSpPr>
          <p:cNvPr id="17" name="Oval 16"/>
          <p:cNvSpPr/>
          <p:nvPr/>
        </p:nvSpPr>
        <p:spPr>
          <a:xfrm>
            <a:off x="5019198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128926" y="6437376"/>
            <a:ext cx="1286446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What did the fit miss?</a:t>
            </a:r>
          </a:p>
        </p:txBody>
      </p:sp>
      <p:sp>
        <p:nvSpPr>
          <p:cNvPr id="19" name="Oval 18"/>
          <p:cNvSpPr/>
          <p:nvPr/>
        </p:nvSpPr>
        <p:spPr>
          <a:xfrm>
            <a:off x="6506813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16541" y="6437376"/>
            <a:ext cx="1194435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Who is worth a call?</a:t>
            </a:r>
          </a:p>
        </p:txBody>
      </p:sp>
      <p:sp>
        <p:nvSpPr>
          <p:cNvPr id="21" name="Oval 20"/>
          <p:cNvSpPr/>
          <p:nvPr/>
        </p:nvSpPr>
        <p:spPr>
          <a:xfrm>
            <a:off x="7902416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12144" y="6437376"/>
            <a:ext cx="1240440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Does it beat nothing?</a:t>
            </a:r>
          </a:p>
        </p:txBody>
      </p:sp>
      <p:sp>
        <p:nvSpPr>
          <p:cNvPr id="23" name="Oval 22"/>
          <p:cNvSpPr/>
          <p:nvPr/>
        </p:nvSpPr>
        <p:spPr>
          <a:xfrm>
            <a:off x="9344025" y="6492240"/>
            <a:ext cx="64008" cy="64008"/>
          </a:xfrm>
          <a:prstGeom prst="ellipse">
            <a:avLst/>
          </a:prstGeom>
          <a:solidFill>
            <a:srgbClr val="5B3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453753" y="6437376"/>
            <a:ext cx="1286446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 i="0">
                <a:solidFill>
                  <a:srgbClr val="5B3FD6"/>
                </a:solidFill>
                <a:latin typeface="Calibri"/>
              </a:rPr>
              <a:t>What did the peek buy?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198303" y="6437376"/>
            <a:ext cx="1463040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50" b="0" i="0">
                <a:solidFill>
                  <a:srgbClr val="6B6690"/>
                </a:solidFill>
                <a:latin typeface="Calibri"/>
              </a:rPr>
              <a:t>S52  ·  61 / 62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ligh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92063" y="310896"/>
            <a:ext cx="566928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550" b="1" i="0" spc="300">
                <a:solidFill>
                  <a:srgbClr val="6B6690"/>
                </a:solidFill>
                <a:latin typeface="Calibri"/>
              </a:rPr>
              <a:t>WEEK 5  ·  MONDAY  ·  REGRESSION AND CLASSIFICATION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76656"/>
            <a:ext cx="11130991" cy="512064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1A0F5C"/>
                </a:solidFill>
                <a:latin typeface="Georgia"/>
              </a:rPr>
              <a:t>What you can do now, and what comes next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1243584"/>
            <a:ext cx="11130991" cy="234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B6690"/>
                </a:solidFill>
                <a:latin typeface="Calibri"/>
              </a:rPr>
              <a:t>Tonight: the practice set. Tomorrow: what accuracy hides.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30352" y="1956816"/>
            <a:ext cx="3588410" cy="196443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4E1F1"/>
            </a:solidFill>
          </a:ln>
          <a:effectLst>
            <a:outerShdw blurRad="76200" dist="19050" dir="5400000" algn="bl" rotWithShape="0">
              <a:srgbClr val="1A0F5C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31519" y="2157984"/>
            <a:ext cx="457200" cy="457200"/>
          </a:xfrm>
          <a:prstGeom prst="ellipse">
            <a:avLst/>
          </a:prstGeom>
          <a:solidFill>
            <a:srgbClr val="EEE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11" name="Picture 10" descr="circle-check_5bfb0e0fcdf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247" y="2267712"/>
            <a:ext cx="237744" cy="23774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31519" y="2724912"/>
            <a:ext cx="3186074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1" i="0" spc="250">
                <a:solidFill>
                  <a:srgbClr val="5B3FD6"/>
                </a:solidFill>
                <a:latin typeface="Calibri"/>
              </a:rPr>
              <a:t>NOW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19" y="2962656"/>
            <a:ext cx="3186074" cy="2677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A0F5C"/>
                </a:solidFill>
                <a:latin typeface="Calibri"/>
              </a:rPr>
              <a:t>Frame, split, baseline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19" y="3303524"/>
            <a:ext cx="3186074" cy="3997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6B6690"/>
                </a:solidFill>
                <a:latin typeface="Calibri"/>
              </a:rPr>
              <a:t>Sort a question, fix a cutoff, seal a test, beat a bar.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01642" y="1956816"/>
            <a:ext cx="3588410" cy="1964436"/>
          </a:xfrm>
          <a:prstGeom prst="roundRect">
            <a:avLst>
              <a:gd name="adj" fmla="val 5000"/>
            </a:avLst>
          </a:prstGeom>
          <a:gradFill rotWithShape="1">
            <a:gsLst>
              <a:gs pos="0">
                <a:srgbClr val="2C1A86"/>
              </a:gs>
              <a:gs pos="100000">
                <a:srgbClr val="1A0F5C"/>
              </a:gs>
            </a:gsLst>
            <a:lin scaled="0" ang="16200000"/>
          </a:gradFill>
          <a:ln>
            <a:noFill/>
          </a:ln>
          <a:effectLst>
            <a:outerShdw blurRad="76200" dist="19050" dir="5400000" algn="bl" rotWithShape="0">
              <a:srgbClr val="1A0F5C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502810" y="2157984"/>
            <a:ext cx="457200" cy="457200"/>
          </a:xfrm>
          <a:prstGeom prst="ellipse">
            <a:avLst/>
          </a:prstGeom>
          <a:solidFill>
            <a:srgbClr val="5B3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17" name="Picture 16" descr="book-open_313360a54d1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12538" y="2267712"/>
            <a:ext cx="237744" cy="237744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4502810" y="2724912"/>
            <a:ext cx="3186074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1" i="0" spc="250">
                <a:solidFill>
                  <a:srgbClr val="D9A7FF"/>
                </a:solidFill>
                <a:latin typeface="Calibri"/>
              </a:rPr>
              <a:t>TONIGHT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02810" y="2962656"/>
            <a:ext cx="3186074" cy="2677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Practice set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02810" y="3303524"/>
            <a:ext cx="3186074" cy="3997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CFC9EE"/>
                </a:solidFill>
                <a:latin typeface="Calibri"/>
              </a:rPr>
              <a:t>Ten problems and eighteen checks, about two and a half hours.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72932" y="1956816"/>
            <a:ext cx="3588410" cy="196443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4E1F1"/>
            </a:solidFill>
          </a:ln>
          <a:effectLst>
            <a:outerShdw blurRad="76200" dist="19050" dir="5400000" algn="bl" rotWithShape="0">
              <a:srgbClr val="1A0F5C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274100" y="2157984"/>
            <a:ext cx="457200" cy="457200"/>
          </a:xfrm>
          <a:prstGeom prst="ellipse">
            <a:avLst/>
          </a:prstGeom>
          <a:solidFill>
            <a:srgbClr val="EEE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23" name="Picture 22" descr="calendar_52de2a00093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83828" y="2267712"/>
            <a:ext cx="237744" cy="237744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8274100" y="2724912"/>
            <a:ext cx="3186074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1" i="0" spc="250">
                <a:solidFill>
                  <a:srgbClr val="5B3FD6"/>
                </a:solidFill>
                <a:latin typeface="Calibri"/>
              </a:rPr>
              <a:t>TOMORROW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74100" y="2962656"/>
            <a:ext cx="3186074" cy="2677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A0F5C"/>
                </a:solidFill>
                <a:latin typeface="Calibri"/>
              </a:rPr>
              <a:t>The metric trap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74100" y="3303524"/>
            <a:ext cx="3186074" cy="3997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6B6690"/>
                </a:solidFill>
                <a:latin typeface="Calibri"/>
              </a:rPr>
              <a:t>How many of the 928 yeses did the model find?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0352" y="6437376"/>
            <a:ext cx="256032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…</a:t>
            </a:r>
          </a:p>
        </p:txBody>
      </p:sp>
      <p:sp>
        <p:nvSpPr>
          <p:cNvPr id="28" name="Oval 27"/>
          <p:cNvSpPr/>
          <p:nvPr/>
        </p:nvSpPr>
        <p:spPr>
          <a:xfrm>
            <a:off x="786384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96112" y="6437376"/>
            <a:ext cx="1286446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Which slice, and when?</a:t>
            </a:r>
          </a:p>
        </p:txBody>
      </p:sp>
      <p:sp>
        <p:nvSpPr>
          <p:cNvPr id="30" name="Oval 29"/>
          <p:cNvSpPr/>
          <p:nvPr/>
        </p:nvSpPr>
        <p:spPr>
          <a:xfrm>
            <a:off x="2273998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383726" y="6437376"/>
            <a:ext cx="1148429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Which line is best?</a:t>
            </a:r>
          </a:p>
        </p:txBody>
      </p:sp>
      <p:sp>
        <p:nvSpPr>
          <p:cNvPr id="32" name="Oval 31"/>
          <p:cNvSpPr/>
          <p:nvPr/>
        </p:nvSpPr>
        <p:spPr>
          <a:xfrm>
            <a:off x="3623595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733323" y="6437376"/>
            <a:ext cx="1194435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What does 0.73 mean?</a:t>
            </a:r>
          </a:p>
        </p:txBody>
      </p:sp>
      <p:sp>
        <p:nvSpPr>
          <p:cNvPr id="34" name="Oval 33"/>
          <p:cNvSpPr/>
          <p:nvPr/>
        </p:nvSpPr>
        <p:spPr>
          <a:xfrm>
            <a:off x="5019198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128926" y="6437376"/>
            <a:ext cx="1286446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What did the fit miss?</a:t>
            </a:r>
          </a:p>
        </p:txBody>
      </p:sp>
      <p:sp>
        <p:nvSpPr>
          <p:cNvPr id="36" name="Oval 35"/>
          <p:cNvSpPr/>
          <p:nvPr/>
        </p:nvSpPr>
        <p:spPr>
          <a:xfrm>
            <a:off x="6506813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616541" y="6437376"/>
            <a:ext cx="1194435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Who is worth a call?</a:t>
            </a:r>
          </a:p>
        </p:txBody>
      </p:sp>
      <p:sp>
        <p:nvSpPr>
          <p:cNvPr id="38" name="Oval 37"/>
          <p:cNvSpPr/>
          <p:nvPr/>
        </p:nvSpPr>
        <p:spPr>
          <a:xfrm>
            <a:off x="7902416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012144" y="6437376"/>
            <a:ext cx="1240440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Does it beat nothing?</a:t>
            </a:r>
          </a:p>
        </p:txBody>
      </p:sp>
      <p:sp>
        <p:nvSpPr>
          <p:cNvPr id="40" name="Oval 39"/>
          <p:cNvSpPr/>
          <p:nvPr/>
        </p:nvSpPr>
        <p:spPr>
          <a:xfrm>
            <a:off x="9344025" y="6492240"/>
            <a:ext cx="64008" cy="64008"/>
          </a:xfrm>
          <a:prstGeom prst="ellipse">
            <a:avLst/>
          </a:prstGeom>
          <a:solidFill>
            <a:srgbClr val="5B3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453753" y="6437376"/>
            <a:ext cx="1286446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 i="0">
                <a:solidFill>
                  <a:srgbClr val="5B3FD6"/>
                </a:solidFill>
                <a:latin typeface="Calibri"/>
              </a:rPr>
              <a:t>What did the peek buy?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198303" y="6437376"/>
            <a:ext cx="1463040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50" b="0" i="0">
                <a:solidFill>
                  <a:srgbClr val="6B6690"/>
                </a:solidFill>
                <a:latin typeface="Calibri"/>
              </a:rPr>
              <a:t>S53  ·  62 / 62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