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drawn by the panel on the day, so all three of you rehearse this slide. 0:00 to 1:30.</a:t>
            </a:r>
          </a:p>
          <a:p>
            <a:r>
              <a:t>0:00 to 0:20. Read the headline, then the "Say this first" line word for word, with your numbers in it.</a:t>
            </a:r>
          </a:p>
          <a:p>
            <a:r>
              <a:t>0:20 to 1:20. Situation, complication, question: one row each, inside the seconds in the table.</a:t>
            </a:r>
          </a:p>
          <a:p>
            <a:r>
              <a:t>1:20 to 1:30. Hand over: "[name] now shows what each mistake costs."</a:t>
            </a:r>
          </a:p>
          <a:p>
            <a:r>
              <a:t>Your first word is "Rohan". Never open with a greeting, your group's name, an agenda, the dataset or</a:t>
            </a:r>
          </a:p>
          <a:p>
            <a:r>
              <a:t>how you worked; the panel has read the ticket.</a:t>
            </a:r>
          </a:p>
          <a:p>
            <a:r>
              <a:t>Rehearse with a phone timer. Over 90 seconds: cut words from the situation, never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decision owner. 1:30 to 3:00, ninety seconds.</a:t>
            </a:r>
          </a:p>
          <a:p>
            <a:r>
              <a:t>Read the four cells as a story about one customer: "If we call and they default, we caught it..."</a:t>
            </a:r>
          </a:p>
          <a:p>
            <a:r>
              <a:t>Then say the formula with your card's ratio in it, and where your line sits and why.</a:t>
            </a:r>
          </a:p>
          <a:p>
            <a:r>
              <a:t>Then one sentence on accuracy: "Calling nobody is __ percent accurate and misses every defaulter."</a:t>
            </a:r>
          </a:p>
          <a:p>
            <a:r>
              <a:t>Do not explain the data again. Hand over: "[name] scores one customer live."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builder. 3:00 to 6:00, three minutes, the longest slide.</a:t>
            </a:r>
          </a:p>
          <a:p>
            <a:r>
              <a:t>0:00 to 0:20. Open the app. It is already running from a fresh start.</a:t>
            </a:r>
          </a:p>
          <a:p>
            <a:r>
              <a:t>0:20 to 1:20. Pick one customer, read the three numbers aloud, and say what Rohan's caller does next.</a:t>
            </a:r>
          </a:p>
          <a:p>
            <a:r>
              <a:t>1:20 to 2:20. Change your card's number live and read the new list size and bill aloud.</a:t>
            </a:r>
          </a:p>
          <a:p>
            <a:r>
              <a:t>2:20 to 3:00. What that means for Rohan in one sentence, then hand over:</a:t>
            </a:r>
          </a:p>
          <a:p>
            <a:r>
              <a:t>"[name] shows why we chose this way over the other."</a:t>
            </a:r>
          </a:p>
          <a:p>
            <a:r>
              <a:t>Show no code. If the app stops, say what stopped it, show the screenshot on this slide, and carry on;</a:t>
            </a:r>
          </a:p>
          <a:p>
            <a:r>
              <a:t>the clock does not stop. Rehearse the demo from a fresh Codespace at least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evaluator. 6:00 to 8:00, two minutes.</a:t>
            </a:r>
          </a:p>
          <a:p>
            <a:r>
              <a:t>Read the bill row first, then the explanation row, then the row that would flip your choice.</a:t>
            </a:r>
          </a:p>
          <a:p>
            <a:r>
              <a:t>Say one sentence on why a group with another card might choose the other way.</a:t>
            </a:r>
          </a:p>
          <a:p>
            <a:r>
              <a:t>Hand over: "So how honest is our number? [name] again."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evaluator. 8:00 to 9:30, ninety seconds.</a:t>
            </a:r>
          </a:p>
          <a:p>
            <a:r>
              <a:t>Point at calling nobody first, then your list, then the spread: "Across five splits it moved by __."</a:t>
            </a:r>
          </a:p>
          <a:p>
            <a:r>
              <a:t>Say the trap you caught in one sentence and what it would have done to the number.</a:t>
            </a:r>
          </a:p>
          <a:p>
            <a:r>
              <a:t>Read both honesty lines as they are written. Hand over: "[name]: what this proved, and what it did not."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decision owner. 9:30 to 11:00, ninety seconds.</a:t>
            </a:r>
          </a:p>
          <a:p>
            <a:r>
              <a:t>One row at a time, left column then right. Say where each constraint comes from: your card, Rohan's</a:t>
            </a:r>
          </a:p>
          <a:p>
            <a:r>
              <a:t>call, or a rule a lender in India works under.</a:t>
            </a:r>
          </a:p>
          <a:p>
            <a:r>
              <a:t>Name the two things the MVP will not do, so nobody asks for them.</a:t>
            </a:r>
          </a:p>
          <a:p>
            <a:r>
              <a:t>Hand over: "[name] closes on what would change our call."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the builder. 11:00 to 12:00, one minute.</a:t>
            </a:r>
          </a:p>
          <a:p>
            <a:r>
              <a:t>Say each card in one sentence, the ask last. Then stop: no thank you and no summary.</a:t>
            </a:r>
          </a:p>
          <a:p>
            <a:r>
              <a:t>This slide stays on screen while the panel asks its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Shown only when the panel asks for a number. Whoever the panel names opens the repository, finds the</a:t>
            </a:r>
          </a:p>
          <a:p>
            <a:r>
              <a:t>line in the right-hand column and reruns it. Each of you rehearses all five, since any of you can be</a:t>
            </a:r>
          </a:p>
          <a:p>
            <a:r>
              <a:t>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Call our top __: the error bill falls __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Rohan acts on the first sentence he hears, so it carries the list, the bill and the caveat.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Say this first.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Rohan, call the __ customers our list ranks highest before the due date: the list's error bill is __ cost units, __ fewer than calling nobody, and __ would change our call.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2929128"/>
          <a:ext cx="11130990" cy="1721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81618"/>
                <a:gridCol w="1337476"/>
                <a:gridCol w="791189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Seconds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Your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Kalpa launches cards in India with no card history, so we proved the method on __.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Complication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missed default costs __ wasted calls, the team can make __ calls, and our card says __.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So whom do we call first, and what does that list cost when it is wrong?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missed default costs __ wasted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So we judge every list by its error bill in cost units, which accuracy cannot see.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1109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41055"/>
                <a:gridCol w="4574981"/>
                <a:gridCol w="3714954"/>
              </a:tblGrid>
              <a:tr h="369824"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customer defaults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customer pays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Caught: 0 units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Wasted call: 1 unit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do not call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Missed default: __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Left alone: 0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0352" y="3322320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3450336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41192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metric that follows.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Error bill = 1 x wasted calls + __ x missed defaults, on the same __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027932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55948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46804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So the line sits at.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Call when the chance of default is above __, which is 1 in __.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Customer __ is __% likely to default, so we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customer, scored live: the chance, the main reason and what skipping them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82496"/>
            <a:ext cx="3527450" cy="5238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5B3FD6"/>
                </a:solidFill>
                <a:latin typeface="Georgia"/>
              </a:rPr>
              <a:t>__%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42947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CHANCE OF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444115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customer __, from score()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585923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2122" y="1682496"/>
            <a:ext cx="3527450" cy="5238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5B3FD6"/>
                </a:solidFill>
                <a:latin typeface="Georgia"/>
              </a:rPr>
              <a:t>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2122" y="2242947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MAIN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2122" y="2444115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column that moved the score most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2122" y="2585923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3892" y="1682496"/>
            <a:ext cx="3527450" cy="5238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 i="0">
                <a:solidFill>
                  <a:srgbClr val="5B3FD6"/>
                </a:solidFill>
                <a:latin typeface="Georgia"/>
              </a:rPr>
              <a:t>__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3892" y="2242947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COST IF WE SKIP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892" y="2444115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chance x the cost of a miss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3892" y="2585923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" y="2849270"/>
            <a:ext cx="11130991" cy="469899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" y="2977286"/>
            <a:ext cx="45720" cy="213867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968142"/>
            <a:ext cx="10564063" cy="2870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B3FD6"/>
                </a:solidFill>
                <a:latin typeface="Calibri"/>
              </a:rPr>
              <a:t>Change the card's number. </a:t>
            </a:r>
            <a:r>
              <a:rPr sz="1100" b="0" i="0">
                <a:solidFill>
                  <a:srgbClr val="1A1440"/>
                </a:solidFill>
                <a:latin typeface="Calibri"/>
              </a:rPr>
              <a:t>At __ instead of __, the list becomes __ customers and its bill __ units.</a:t>
            </a:r>
          </a:p>
        </p:txBody>
      </p:sp>
      <p:pic>
        <p:nvPicPr>
          <p:cNvPr id="21" name="mermaid diagram" descr="exhibit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184" y="3483762"/>
            <a:ext cx="7269326" cy="2398877"/>
          </a:xfrm>
          <a:prstGeom prst="rect">
            <a:avLst/>
          </a:prstGeom>
        </p:spPr>
      </p:pic>
      <p:sp>
        <p:nvSpPr>
          <p:cNvPr id="22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fallback: your screenshot of the same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__ beats __ by __ units, so we chose 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Two ways to make the same call, scored on the same customers and the same costs.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89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50569"/>
                <a:gridCol w="1890210"/>
                <a:gridCol w="1890210"/>
              </a:tblGrid>
              <a:tr h="369824"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A: __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B: __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it is, in one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Error bill on the same __ customers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__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__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Build time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__ hours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__ hours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Can Rohan say why a customer is called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it fails, and how we would notice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fact that would flip our choice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Our bill is __ units, give or take 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Measured against doing nothing, with its spread, and with the trap that would have flattered it.</a:t>
            </a:r>
          </a:p>
        </p:txBody>
      </p:sp>
      <p:pic>
        <p:nvPicPr>
          <p:cNvPr id="6" name="mermaid diagram" descr="exhibit_error_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11" y="1664208"/>
            <a:ext cx="6876472" cy="2269236"/>
          </a:xfrm>
          <a:prstGeom prst="rect">
            <a:avLst/>
          </a:prstGeom>
        </p:spPr>
      </p:pic>
      <p:sp>
        <p:nvSpPr>
          <p:cNvPr id="7" name="picture caption"/>
          <p:cNvSpPr txBox="1"/>
          <p:nvPr/>
        </p:nvSpPr>
        <p:spPr>
          <a:xfrm>
            <a:off x="530352" y="397002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Your chart: the error bill of four 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4296156"/>
            <a:ext cx="11130991" cy="469899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4424172"/>
            <a:ext cx="45720" cy="213867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415028"/>
            <a:ext cx="10564063" cy="2870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B3FD6"/>
                </a:solidFill>
                <a:latin typeface="Calibri"/>
              </a:rPr>
              <a:t>The trap we caught. </a:t>
            </a:r>
            <a:r>
              <a:rPr sz="1100" b="0" i="0">
                <a:solidFill>
                  <a:srgbClr val="1A1440"/>
                </a:solidFill>
                <a:latin typeface="Calibri"/>
              </a:rPr>
              <a:t>__, which would have made our bill look __ units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4930648"/>
            <a:ext cx="11130991" cy="469899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5058664"/>
            <a:ext cx="45720" cy="213867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049520"/>
            <a:ext cx="10564063" cy="2870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B3FD6"/>
                </a:solidFill>
                <a:latin typeface="Calibri"/>
              </a:rPr>
              <a:t>Honesty line one. </a:t>
            </a:r>
            <a:r>
              <a:rPr sz="1100" b="0" i="0">
                <a:solidFill>
                  <a:srgbClr val="1A1440"/>
                </a:solidFill>
                <a:latin typeface="Calibri"/>
              </a:rPr>
              <a:t>The Taiwan score proves the pipeline and is never Kalpa's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565140"/>
            <a:ext cx="11130991" cy="469899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5693156"/>
            <a:ext cx="45720" cy="213867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684012"/>
            <a:ext cx="10564063" cy="2870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B3FD6"/>
                </a:solidFill>
                <a:latin typeface="Calibri"/>
              </a:rPr>
              <a:t>Honesty line two. </a:t>
            </a:r>
            <a:r>
              <a:rPr sz="1100" b="0" i="0">
                <a:solidFill>
                  <a:srgbClr val="1A1440"/>
                </a:solidFill>
                <a:latin typeface="Calibri"/>
              </a:rPr>
              <a:t>This data allows no out-of-time split, so the MVP must add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POC proved __; an MVP still needs 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the public book proved, and what Kalpa needs before one real customer is called.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89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3060"/>
                <a:gridCol w="2525190"/>
                <a:gridCol w="3122739"/>
              </a:tblGrid>
              <a:tr h="369824"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the POC proved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the MVP still needs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Functional: what it must do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Non-functional: how well, how fast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Constraints: rules, security, privacy, governance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0352" y="3692144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3820160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811016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Not in the MVP.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__ and 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We would change our call if 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one fact that would flip the recommendation, the risk we watch and what we ask of Rohan.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refresh-cw_79e4dab2a5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WOULD FLIP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If __ moved to __, we would 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triangle-alert_5ac49fc6ab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OUR TOP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From our pre-mortem: __, and we watch it by 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hand_341f1c3801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OUR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410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Rohan, we need __ from your team by __.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KALPA FINANCIAL  ·  GROUP __  ·  CARD 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Backup: the five numbers behind every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Any member recomputes any of these live from the repository when the panel asks.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956816"/>
          <a:ext cx="1113099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761728"/>
                <a:gridCol w="914400"/>
                <a:gridCol w="2632418"/>
                <a:gridCol w="382244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it is computed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Base rate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src/__, function __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Do-nothing bill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__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List size or threshold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Our model's bill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__ units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Our card's number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__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0352" y="4224528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4352544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Both honesty lines hold.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Taiwan score is never Kalpa's score, and the MVP adds an out-of-time split.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B6690"/>
                </a:solidFill>
                <a:latin typeface="Calibri"/>
              </a:rPr>
              <a:t>Whom Kalpa calls before the due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