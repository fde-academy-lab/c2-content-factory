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On screen after lunch. The morning ended with the method: lift above a 1 percent floor, a slot</a:t>
            </a:r>
          </a:p>
          <a:p>
            <a:r>
              <a:t>priced at Rs 17,280 against Rs 3,240 a day, Rs 6.3 lakh a month recovered. The afternoon's first</a:t>
            </a:r>
          </a:p>
          <a:p>
            <a:r>
              <a:t>60 minutes run the unguided strip, the interview room and the Kahoot.</a:t>
            </a:r>
          </a:p>
          <a:p>
            <a:r>
              <a:t>The IITGN faculty session (tentative) takes the next 120. 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Chapter 3, part two, level L5, unguided in the nine groups on notebook 03.</a:t>
            </a:r>
          </a:p>
          <a:p>
            <a:r>
              <a:t>Transition: the brief.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 to brief, then 25 minutes of group work. The TA moves between tables. A group that</a:t>
            </a:r>
          </a:p>
          <a:p>
            <a:r>
              <a:t>picks a pair below the floor is asked "how many carts would the slot touch?". A group that prices</a:t>
            </a:r>
          </a:p>
          <a:p>
            <a:r>
              <a:t>sales instead of margin is asked "which number does the growth lead keep?". Transition: the</a:t>
            </a:r>
          </a:p>
          <a:p>
            <a:r>
              <a:t>template.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The template sits in exercises/unguided; the worked answer is released at the</a:t>
            </a:r>
          </a:p>
          <a:p>
            <a:r>
              <a:t>close. Transition: the objection each group must answer.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5 minutes. Tuesday's four moves, used on today's numbers: restate until the owner agrees,</a:t>
            </a:r>
          </a:p>
          <a:p>
            <a:r>
              <a:t>answer from the evidence, concede what is true, say what would change your mind. Two groups read</a:t>
            </a:r>
          </a:p>
          <a:p>
            <a:r>
              <a:t>their answers aloud; the room names the move each sentence makes. Transition: the interview room.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 for the section. Level L6. The full transcript with its scorecard is read in pairs</a:t>
            </a:r>
          </a:p>
          <a:p>
            <a:r>
              <a:t>from the extras folder. Transition: the question.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Pairs read the two answers side by side and score both on the scorecard's seven</a:t>
            </a:r>
          </a:p>
          <a:p>
            <a:r>
              <a:t>lines. The weak answer is not wrong about confidence's meaning; it is wrong about what to do with</a:t>
            </a:r>
          </a:p>
          <a:p>
            <a:r>
              <a:t>it. Transition: the follow-ups.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Each follow-up is one of the morning's traps asked as a question. Transition: the</a:t>
            </a:r>
          </a:p>
          <a:p>
            <a:r>
              <a:t>same idea at an AI company.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3 minutes. Programme-written variant; it names no company figure. The base-rate trap is the</a:t>
            </a:r>
          </a:p>
          <a:p>
            <a:r>
              <a:t>same one the strip fell into, now inside a model's evaluation. Transition: the handoff.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15 minutes for the section: the handoff, the Kahoot and the close. Transition: the handoff</a:t>
            </a:r>
          </a:p>
          <a:p>
            <a:r>
              <a:t>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 minute. Read the line as it stands. Park any question about how long a watch-list trial</a:t>
            </a:r>
          </a:p>
          <a:p>
            <a:r>
              <a:t>must run for the faculty session (tentative). Transition: the Kahoot.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10 minutes. Run the Kahoot pack from the kahoot folder; it is ungraded. Re-teach in one line</a:t>
            </a:r>
          </a:p>
          <a:p>
            <a:r>
              <a:t>any item most of the room misses. Transition: the close.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LIVE, 4 minutes. Ask two learners to say the sentence without notes. The lab after class runs the</a:t>
            </a:r>
          </a:p>
          <a:p>
            <a:r>
              <a:t>same method on Kalpa Retail's baskets. Tomorrow's pre-read ships tonight.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Relationship Id="rId6" Type="http://schemas.openxmlformats.org/officeDocument/2006/relationships/image" Target="../media/image6.png"/><Relationship Id="rId7" Type="http://schemas.openxmlformats.org/officeDocument/2006/relationships/image" Target="../media/image7.png"/><Relationship Id="rId8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4.xml"/><Relationship Id="rId5" Type="http://schemas.openxmlformats.org/officeDocument/2006/relationships/image" Target="../media/image9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8.png"/><Relationship Id="rId5" Type="http://schemas.openxmlformats.org/officeDocument/2006/relationships/image" Target="../media/image10.png"/><Relationship Id="rId6" Type="http://schemas.openxmlformats.org/officeDocument/2006/relationships/image" Target="../media/image11.png"/><Relationship Id="rId7" Type="http://schemas.openxmlformats.org/officeDocument/2006/relationships/image" Target="../media/image12.png"/><Relationship Id="rId8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image" Target="../media/image13.png"/><Relationship Id="rId5" Type="http://schemas.openxmlformats.org/officeDocument/2006/relationships/image" Target="../media/image14.png"/><Relationship Id="rId6" Type="http://schemas.openxmlformats.org/officeDocument/2006/relationships/image" Target="../media/image8.png"/><Relationship Id="rId7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9.xml"/><Relationship Id="rId5" Type="http://schemas.openxmlformats.org/officeDocument/2006/relationships/image" Target="../media/image1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13.xml"/><Relationship Id="rId5" Type="http://schemas.openxmlformats.org/officeDocument/2006/relationships/image" Target="../media/image17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566928"/>
            <a:ext cx="1051560" cy="1051560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901952" y="804672"/>
            <a:ext cx="6858000" cy="30073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901952" y="1133856"/>
            <a:ext cx="7772400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 spc="300">
                <a:solidFill>
                  <a:srgbClr val="D9A7FF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Rectangle 5"/>
          <p:cNvSpPr/>
          <p:nvPr/>
        </p:nvSpPr>
        <p:spPr>
          <a:xfrm>
            <a:off x="621792" y="1938528"/>
            <a:ext cx="10948111" cy="10972"/>
          </a:xfrm>
          <a:prstGeom prst="rect">
            <a:avLst/>
          </a:prstGeom>
          <a:solidFill>
            <a:srgbClr val="A9A3D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621792" y="2240280"/>
            <a:ext cx="3668475" cy="329184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900" b="1" spc="250">
                <a:solidFill>
                  <a:srgbClr val="FFFFFF"/>
                </a:solidFill>
                <a:latin typeface="Calibri"/>
              </a:rPr>
              <a:t>WEEK 4  ·  WEDNESDAY  ·  AFTERNOON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2807208"/>
            <a:ext cx="10582351" cy="129133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3800" b="0" i="0">
                <a:solidFill>
                  <a:srgbClr val="FFFFFF"/>
                </a:solidFill>
                <a:latin typeface="Georgia"/>
              </a:rPr>
              <a:t>Instamart Pune: the strip re-ranked, priced and defended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4263136"/>
            <a:ext cx="10033711" cy="6639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900" b="0" i="1">
                <a:solidFill>
                  <a:srgbClr val="D9A7FF"/>
                </a:solidFill>
                <a:latin typeface="Georgia"/>
              </a:rPr>
              <a:t>“Rank the pairs the strip should show, explain why its click-through fell, and put a rupee value on a slot, by Friday.”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21792" y="4981956"/>
            <a:ext cx="1003371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The ask on the ticket, to the category manager and the growth lead. Illustrative case: the company is real, the situation and the data are synthetic, built for this class.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21792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39" y="5738368"/>
            <a:ext cx="17799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68656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352704" y="5738368"/>
            <a:ext cx="1247584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83169" y="5701792"/>
            <a:ext cx="365760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67217" y="5738368"/>
            <a:ext cx="1661636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0" i="0">
                <a:solidFill>
                  <a:srgbClr val="FFFFFF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4, Day 3. Instamart Pune: the strip re-ranked, priced and defended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 / 13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Which strip would you ship?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Which three pairs, priced how, and how do you answer a category manager who wants milk in every slot?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 Day 3: what goes with what, beyond chance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2 / 13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Ship one strip in 35 minutes, priced and defended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each group hand in?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list-ordered_6bff7db210fa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Rank three pairs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7630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From the pairs table: support at least 1 percent, lift well above one, each with its two numbers.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indian-rupee_bfbdea5c56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Price the strip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A slot a day and the month recovered, each assumption with its range.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444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triangle-alert_5ac49fc6abbb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STEP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Name two doubts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Each with the check and the number it gave.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44420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message-square_028dbd132a0a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STEP 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Answer the category manager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Two sentences: the number first, then what you concede.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7" name="Oval 3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S38  ·  3 / 13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one-page strip: four fields, one line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must the handed-in page say?</a:t>
            </a:r>
          </a:p>
        </p:txBody>
      </p:sp>
      <p:pic>
        <p:nvPicPr>
          <p:cNvPr id="9" name="mermaid diagram" descr="5d4b1bd1f6a32e5c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10026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203382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 strip that names a pair without its support, or a rupee figure without its ranges, is sent back.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S39  ·  4 / 13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"Milk is our top seller; put it in every slot"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Which part of the category manager's objection is right, and what answers the rest?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ear_2c90737cfd22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RESTATE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anchors the cart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2243251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It is in 71 percent of carts and brings shoppers back daily.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58819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3559987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art-column_a266b7a04479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69715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3559987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59987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slot moves nothing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559987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Milk slots click at 1.2 percent against 6.4; lift with every common item sits near one.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87287" y="1956816"/>
            <a:ext cx="2645587" cy="238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6388455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handshake_e365765057e1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98183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6388455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CONCEDE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88455" y="2962656"/>
            <a:ext cx="2243251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Milk belongs in the cart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88455" y="330352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Which is why it needs no reminder; keep it on the home screen and in search.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15755" y="1956816"/>
            <a:ext cx="2645587" cy="2385568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Oval 27"/>
          <p:cNvSpPr/>
          <p:nvPr/>
        </p:nvSpPr>
        <p:spPr>
          <a:xfrm>
            <a:off x="9216923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9" name="Picture 28" descr="refresh-cw_c3ada071ae1b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326651" y="2267712"/>
            <a:ext cx="237744" cy="237744"/>
          </a:xfrm>
          <a:prstGeom prst="rect">
            <a:avLst/>
          </a:prstGeom>
        </p:spPr>
      </p:pic>
      <p:sp>
        <p:nvSpPr>
          <p:cNvPr id="30" name="TextBox 29"/>
          <p:cNvSpPr txBox="1"/>
          <p:nvPr/>
        </p:nvSpPr>
        <p:spPr>
          <a:xfrm>
            <a:off x="9216923" y="2724912"/>
            <a:ext cx="22432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WHAT WOULD CHANGE IT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216923" y="2962656"/>
            <a:ext cx="2243251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If milk clicked like the rest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216923" y="3534664"/>
            <a:ext cx="2243251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A two-zone test where milk slots matched 6.4 percent would put milk back.</a:t>
            </a:r>
          </a:p>
        </p:txBody>
      </p:sp>
      <p:sp>
        <p:nvSpPr>
          <p:cNvPr id="33" name="Oval 32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5" name="Oval 34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7" name="Oval 36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S40  ·  5 / 13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04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interview room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How does a strong candidate answer the day's question as Uber, Swiggy, Google or an AI startup would ask it?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 Day 3: what goes with what, beyond chance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6 / 13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Lift is the count popularity cannot fool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"Support, confidence, lift: which one cannot be fooled by popularity, and why?"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731519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1" name="Picture 10" descr="x_1ea7e70f5a0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41247" y="2267712"/>
            <a:ext cx="237744" cy="237744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31519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WEAK ANSWER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19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Confidence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19" y="3303524"/>
            <a:ext cx="3186074" cy="58140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"Confidence is the probability they go together, so the highest confidence pair goes in the strip." It ranks milk first.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01642" y="1956816"/>
            <a:ext cx="3588410" cy="2765552"/>
          </a:xfrm>
          <a:prstGeom prst="roundRect">
            <a:avLst>
              <a:gd name="adj" fmla="val 5000"/>
            </a:avLst>
          </a:prstGeom>
          <a:gradFill rotWithShape="1">
            <a:gsLst>
              <a:gs pos="0">
                <a:srgbClr val="2C1A86"/>
              </a:gs>
              <a:gs pos="100000">
                <a:srgbClr val="1A0F5C"/>
              </a:gs>
            </a:gsLst>
            <a:lin scaled="0" ang="16200000"/>
          </a:gradFill>
          <a:ln>
            <a:noFill/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4502810" y="2157984"/>
            <a:ext cx="457200" cy="457200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17" name="Picture 16" descr="check_adac4adaf554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2538" y="2267712"/>
            <a:ext cx="237744" cy="237744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450281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D9A7FF"/>
                </a:solidFill>
                <a:latin typeface="Calibri"/>
              </a:rPr>
              <a:t>HIRE-GRADE ANSWER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02810" y="2962656"/>
            <a:ext cx="3186074" cy="4988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Calibri"/>
              </a:rPr>
              <a:t>Lift, because it divides by the base rate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02810" y="3534664"/>
            <a:ext cx="3186074" cy="9446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CFC9EE"/>
                </a:solidFill>
                <a:latin typeface="Calibri"/>
              </a:rPr>
              <a:t>"Bread to milk reads confidence 0.74, but milk is in 71 percent of carts anyway, so lift is 1.04. Chips and cold drink read 0.42 and lift 3.39. I rank by lift above a support floor."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72932" y="1956816"/>
            <a:ext cx="3588410" cy="2765552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274100" y="2157984"/>
            <a:ext cx="457200" cy="457200"/>
          </a:xfrm>
          <a:prstGeom prst="ellipse">
            <a:avLst/>
          </a:prstGeom>
          <a:solidFill>
            <a:srgbClr val="EEEA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pic>
        <p:nvPicPr>
          <p:cNvPr id="23" name="Picture 22" descr="ear_2c90737cfd2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383828" y="2267712"/>
            <a:ext cx="237744" cy="237744"/>
          </a:xfrm>
          <a:prstGeom prst="rect">
            <a:avLst/>
          </a:prstGeom>
        </p:spPr>
      </p:pic>
      <p:sp>
        <p:nvSpPr>
          <p:cNvPr id="24" name="TextBox 23"/>
          <p:cNvSpPr txBox="1"/>
          <p:nvPr/>
        </p:nvSpPr>
        <p:spPr>
          <a:xfrm>
            <a:off x="8274100" y="2724912"/>
            <a:ext cx="3186074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1" i="0" spc="250">
                <a:solidFill>
                  <a:srgbClr val="5B3FD6"/>
                </a:solidFill>
                <a:latin typeface="Calibri"/>
              </a:rPr>
              <a:t>WHAT THE INTERVIEWER LISTENS FOR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74100" y="2962656"/>
            <a:ext cx="3186074" cy="26771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1" i="0">
                <a:solidFill>
                  <a:srgbClr val="1A0F5C"/>
                </a:solidFill>
                <a:latin typeface="Calibri"/>
              </a:rPr>
              <a:t>The base rate named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74100" y="3303524"/>
            <a:ext cx="3186074" cy="3997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100" b="0" i="0">
                <a:solidFill>
                  <a:srgbClr val="6B6690"/>
                </a:solidFill>
                <a:latin typeface="Calibri"/>
              </a:rPr>
              <a:t>Three questions kept apart, the denominator said aloud, a floor, a decision.</a:t>
            </a:r>
          </a:p>
        </p:txBody>
      </p:sp>
      <p:sp>
        <p:nvSpPr>
          <p:cNvPr id="27" name="Oval 26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29" name="Oval 28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31" name="Oval 30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S41  ·  7 / 13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Three follow-ups and the line that answers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interviewer ask next, and what does a hire-grade answer say?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530352" y="1956816"/>
          <a:ext cx="11130990" cy="26883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5565495"/>
                <a:gridCol w="5565495"/>
              </a:tblGrid>
              <a:tr h="369824"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Follow-up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50" b="1" i="0">
                          <a:solidFill>
                            <a:srgbClr val="FFFFFF"/>
                          </a:solidFill>
                          <a:latin typeface="Calibri"/>
                        </a:rPr>
                        <a:t>The hire-grade line</a:t>
                      </a:r>
                    </a:p>
                  </a:txBody>
                  <a:tcPr marL="101600" marR="101600" marT="38100" marB="38100" anchor="ctr">
                    <a:solidFill>
                      <a:srgbClr val="1A0F5C"/>
                    </a:solidFill>
                  </a:tcPr>
                </a:tc>
              </a:tr>
              <a:tr h="611632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A pair has lift 4.6 and support 0.25 percent: act?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Not yet: 100 carts cannot repay a slot shown to everyone; it goes on a watch list and a two-zone test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Heavy buyers buy everything: what does that do to lift?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It inflates the pair counts of whatever they buy together; count each customer once and the party pair falls from 3.39 to 2.56</a:t>
                      </a:r>
                    </a:p>
                  </a:txBody>
                  <a:tcPr marL="101600" marR="101600" marT="38100" marB="38100" anchor="ctr">
                    <a:solidFill>
                      <a:srgbClr val="F4F2FA"/>
                    </a:solidFill>
                  </a:tcPr>
                </a:tc>
              </a:tr>
              <a:tr h="853440"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Make it a rupee recommendation: what cost line do most forget?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0" i="0">
                          <a:solidFill>
                            <a:srgbClr val="1A1440"/>
                          </a:solidFill>
                          <a:latin typeface="Calibri"/>
                        </a:rPr>
                        <a:t>The margin handed back by any bundle discount, and the adds that would have happened anyway; sales are never the gain</a:t>
                      </a:r>
                    </a:p>
                  </a:txBody>
                  <a:tcPr marL="101600" marR="101600" marT="38100" marB="38100" anchor="ctr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Oval 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2" name="Oval 1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14" name="Oval 1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S42  ·  8 / 13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An LLM shopping assistant meets the same base rate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How would you score an assistant that suggests add-ons?</a:t>
            </a:r>
          </a:p>
        </p:txBody>
      </p:sp>
      <p:pic>
        <p:nvPicPr>
          <p:cNvPr id="9" name="mermaid diagram" descr="ebaf94bbf531a44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0897" y="1956816"/>
            <a:ext cx="10629900" cy="2614612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30352" y="4717732"/>
            <a:ext cx="11130991" cy="104851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An assistant that suggests milk is "accepted" often because milk is popular. Score it offline by the lift of its accepted suggestions over a baseline that always suggests the most popular items, on carts it never saw; then confirm online with a holdout, counting only the adds the assistant caused.</a:t>
            </a:r>
          </a:p>
        </p:txBody>
      </p:sp>
      <p:sp>
        <p:nvSpPr>
          <p:cNvPr id="11" name="Oval 10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3" name="Oval 12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interview room</a:t>
            </a:r>
          </a:p>
        </p:txBody>
      </p:sp>
      <p:sp>
        <p:nvSpPr>
          <p:cNvPr id="15" name="Oval 14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S43  ·  9 / 13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dark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CFC9EE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CFC9EE"/>
                </a:solidFill>
                <a:latin typeface="Calibri"/>
              </a:rPr>
              <a:t>PG DIPLOMA IN AI-ML AND AGENTIC AI ENGINEERING  ·  COHORT 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19" y="1143000"/>
            <a:ext cx="365760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600" b="0" i="0">
                <a:solidFill>
                  <a:srgbClr val="D9A7FF"/>
                </a:solidFill>
                <a:latin typeface="Georgia"/>
              </a:rPr>
              <a:t>05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19" y="2606040"/>
            <a:ext cx="10673791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4000" b="0" i="0">
                <a:solidFill>
                  <a:srgbClr val="FFFFFF"/>
                </a:solidFill>
                <a:latin typeface="Georgia"/>
              </a:rPr>
              <a:t>The handoff and the close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19" y="3520440"/>
            <a:ext cx="9509760" cy="28422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500" b="0" i="0">
                <a:solidFill>
                  <a:srgbClr val="E4E1F1"/>
                </a:solidFill>
                <a:latin typeface="Calibri"/>
              </a:rPr>
              <a:t>What does the next session take from here, and what does the room take home?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31519" y="5074920"/>
            <a:ext cx="1964591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805839" y="5074920"/>
            <a:ext cx="1431647" cy="310896"/>
          </a:xfrm>
          <a:prstGeom prst="roundRect">
            <a:avLst>
              <a:gd name="adj" fmla="val 50000"/>
            </a:avLst>
          </a:prstGeom>
          <a:noFill/>
          <a:ln w="9525">
            <a:solidFill>
              <a:srgbClr val="CFC9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0">
                <a:solidFill>
                  <a:srgbClr val="CFC9EE"/>
                </a:solidFill>
                <a:latin typeface="Calibri"/>
              </a:rPr>
              <a:t>The interview room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47214" y="5074920"/>
            <a:ext cx="1846159" cy="310896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 tIns="0" bIns="0"/>
          <a:lstStyle/>
          <a:p>
            <a:pPr algn="ctr"/>
            <a:r>
              <a:rPr sz="850" b="1">
                <a:solidFill>
                  <a:srgbClr val="1A0F5C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0352" y="6437376"/>
            <a:ext cx="9667951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50" b="0" i="0">
                <a:solidFill>
                  <a:srgbClr val="CFC9EE"/>
                </a:solidFill>
                <a:latin typeface="Calibri"/>
              </a:rPr>
              <a:t>Week 4 Day 3: what goes with what, beyond chance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CFC9EE"/>
                </a:solidFill>
                <a:latin typeface="Calibri"/>
              </a:rPr>
              <a:t>10 / 13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Handoff: lift read as probability, next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IITGN faculty session (tentative) pick up from the morning?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45720" cy="1036319"/>
          </a:xfrm>
          <a:prstGeom prst="roundRect">
            <a:avLst>
              <a:gd name="adj" fmla="val 50000"/>
            </a:avLst>
          </a:prstGeom>
          <a:solidFill>
            <a:srgbClr val="D9A7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86384" y="1956816"/>
            <a:ext cx="10820095" cy="1036319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0" i="1">
                <a:solidFill>
                  <a:srgbClr val="1A0F5C"/>
                </a:solidFill>
                <a:latin typeface="Georgia"/>
              </a:rPr>
              <a:t>You counted lift on twelve carts and on forty thousand. The next 120 minutes show the same three numbers as probabilities: a lift near one is independence made visible, which is what milk showed you, and the support floor you set is what lets an algorithm skip counting every combination.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3139440"/>
            <a:ext cx="11130991" cy="495807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1A1440"/>
                </a:solidFill>
                <a:latin typeface="Calibri"/>
              </a:rPr>
              <a:t>The IITGN faculty session is tentative until IIT Gandhinagar confirms it.</a:t>
            </a:r>
          </a:p>
        </p:txBody>
      </p:sp>
      <p:sp>
        <p:nvSpPr>
          <p:cNvPr id="12" name="Oval 11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4" name="Oval 13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16" name="Oval 15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S44  ·  11 / 13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Eight questions, twenty seconds each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Can the room make the day's calls at speed?</a:t>
            </a:r>
          </a:p>
        </p:txBody>
      </p:sp>
      <p:sp>
        <p:nvSpPr>
          <p:cNvPr id="9" name="Rectangle 8"/>
          <p:cNvSpPr/>
          <p:nvPr/>
        </p:nvSpPr>
        <p:spPr>
          <a:xfrm>
            <a:off x="1853145" y="2523744"/>
            <a:ext cx="8485403" cy="18288"/>
          </a:xfrm>
          <a:prstGeom prst="rect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1 TO 3</a:t>
            </a:r>
          </a:p>
        </p:txBody>
      </p:sp>
      <p:sp>
        <p:nvSpPr>
          <p:cNvPr id="11" name="Oval 10"/>
          <p:cNvSpPr/>
          <p:nvPr/>
        </p:nvSpPr>
        <p:spPr>
          <a:xfrm>
            <a:off x="1752561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530352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94944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three counts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4944" y="3277870"/>
            <a:ext cx="2316403" cy="5318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Match each count to its question; compute lift from three counts; a popular partner read right.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358819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4 AND 5</a:t>
            </a:r>
          </a:p>
        </p:txBody>
      </p:sp>
      <p:sp>
        <p:nvSpPr>
          <p:cNvPr id="16" name="Oval 15"/>
          <p:cNvSpPr/>
          <p:nvPr/>
        </p:nvSpPr>
        <p:spPr>
          <a:xfrm>
            <a:off x="4581029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358819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23411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floor and the rupee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3411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strong thin pair; what a promotion is worth.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87287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 6</a:t>
            </a:r>
          </a:p>
        </p:txBody>
      </p:sp>
      <p:sp>
        <p:nvSpPr>
          <p:cNvPr id="21" name="Oval 20"/>
          <p:cNvSpPr/>
          <p:nvPr/>
        </p:nvSpPr>
        <p:spPr>
          <a:xfrm>
            <a:off x="7409497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6187287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1879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Tuesday's return question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1879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The four moves of an answer to an objection that is partly right.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15755" y="1956816"/>
            <a:ext cx="2645587" cy="1686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800" b="1" i="0" spc="250">
                <a:solidFill>
                  <a:srgbClr val="5B3FD6"/>
                </a:solidFill>
                <a:latin typeface="Calibri"/>
              </a:rPr>
              <a:t>ITEMS 7 AND 8</a:t>
            </a:r>
          </a:p>
        </p:txBody>
      </p:sp>
      <p:sp>
        <p:nvSpPr>
          <p:cNvPr id="26" name="Oval 25"/>
          <p:cNvSpPr/>
          <p:nvPr/>
        </p:nvSpPr>
        <p:spPr>
          <a:xfrm>
            <a:off x="10237965" y="2432304"/>
            <a:ext cx="201168" cy="20116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9015755" y="2843784"/>
            <a:ext cx="2645587" cy="1249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E4E1F1"/>
            </a:solidFill>
          </a:ln>
          <a:effectLst>
            <a:outerShdw blurRad="76200" dist="19050" dir="5400000" algn="bl" rotWithShape="0">
              <a:srgbClr val="1A0F5C">
                <a:alpha val="1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80347" y="2990088"/>
            <a:ext cx="2316403" cy="251205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300" b="1" i="0">
                <a:solidFill>
                  <a:srgbClr val="1A0F5C"/>
                </a:solidFill>
                <a:latin typeface="Calibri"/>
              </a:rPr>
              <a:t>The fall and the doubts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347" y="3277870"/>
            <a:ext cx="2316403" cy="36677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000" b="0" i="0">
                <a:solidFill>
                  <a:srgbClr val="6B6690"/>
                </a:solidFill>
                <a:latin typeface="Calibri"/>
              </a:rPr>
              <a:t>A blended rate split; counting each customer once.</a:t>
            </a:r>
          </a:p>
        </p:txBody>
      </p:sp>
      <p:sp>
        <p:nvSpPr>
          <p:cNvPr id="30" name="Oval 29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32" name="Oval 31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34" name="Oval 33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S45  ·  12 / 13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bg_ligh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pic>
        <p:nvPicPr>
          <p:cNvPr id="3" name="Picture 2" descr="iitgn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201168"/>
            <a:ext cx="420624" cy="420624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1042416" y="228600"/>
            <a:ext cx="5120640" cy="18516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900" b="1" i="0">
                <a:solidFill>
                  <a:srgbClr val="1A0F5C"/>
                </a:solidFill>
                <a:latin typeface="Calibri"/>
              </a:rPr>
              <a:t>Indian Institute of Technology Gandhinagar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42416" y="420623"/>
            <a:ext cx="585216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550" b="1" i="0" spc="300">
                <a:solidFill>
                  <a:srgbClr val="6B6690"/>
                </a:solidFill>
                <a:latin typeface="Calibri"/>
              </a:rPr>
              <a:t>ADMINISTERED THROUGH THE COMPETENCY ADVANCEMENT ACADEMY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92063" y="310896"/>
            <a:ext cx="5669280" cy="12738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550" b="1" i="0" spc="300">
                <a:solidFill>
                  <a:srgbClr val="6B6690"/>
                </a:solidFill>
                <a:latin typeface="Calibri"/>
              </a:rPr>
              <a:t>WEEK 4  ·  DAY 3  ·  KALPA GLOBAL CAPABILITY CENTRE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676656"/>
            <a:ext cx="11130991" cy="512064"/>
          </a:xfrm>
          <a:prstGeom prst="rect">
            <a:avLst/>
          </a:prstGeom>
          <a:noFill/>
        </p:spPr>
        <p:txBody>
          <a:bodyPr wrap="square" anchor="b" lIns="0" rIns="0" tIns="0" bIns="0">
            <a:spAutoFit/>
          </a:bodyPr>
          <a:lstStyle/>
          <a:p>
            <a:pPr algn="l"/>
            <a:r>
              <a:rPr sz="2600" b="0" i="0">
                <a:solidFill>
                  <a:srgbClr val="1A0F5C"/>
                </a:solidFill>
                <a:latin typeface="Georgia"/>
              </a:rPr>
              <a:t>The sentence for Friday, and Thursday's question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30352" y="1243584"/>
            <a:ext cx="11130991" cy="2346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200" b="0" i="0">
                <a:solidFill>
                  <a:srgbClr val="6B6690"/>
                </a:solidFill>
                <a:latin typeface="Calibri"/>
              </a:rPr>
              <a:t>What does the room say on Friday, and what comes next?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30352" y="1956816"/>
            <a:ext cx="11130991" cy="10744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76656" y="2084832"/>
            <a:ext cx="45720" cy="8183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77824" y="2075688"/>
            <a:ext cx="10564063" cy="8915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The sentence.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"The click-through fell because the strip gave half its slots to milk, which shoppers buy anyway; ranked by lift above a 1 percent floor, the strip shows chips with cold drink, coriander with green chillies and bread with butter, and recovers about Rs 6.3 lakh a month."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30352" y="3195828"/>
            <a:ext cx="11130991" cy="807720"/>
          </a:xfrm>
          <a:prstGeom prst="roundRect">
            <a:avLst>
              <a:gd name="adj" fmla="val 8000"/>
            </a:avLst>
          </a:prstGeom>
          <a:solidFill>
            <a:srgbClr val="F7F5FD"/>
          </a:solidFill>
          <a:ln w="9525">
            <a:solidFill>
              <a:srgbClr val="E4E1F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76656" y="3323844"/>
            <a:ext cx="45720" cy="551688"/>
          </a:xfrm>
          <a:prstGeom prst="roundRect">
            <a:avLst>
              <a:gd name="adj" fmla="val 50000"/>
            </a:avLst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77824" y="3314700"/>
            <a:ext cx="10564063" cy="6248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>
                <a:solidFill>
                  <a:srgbClr val="5B3FD6"/>
                </a:solidFill>
                <a:latin typeface="Calibri"/>
              </a:rPr>
              <a:t>Tomorrow. </a:t>
            </a:r>
            <a:r>
              <a:rPr sz="1500" b="0" i="0">
                <a:solidFill>
                  <a:srgbClr val="1A1440"/>
                </a:solidFill>
                <a:latin typeface="Calibri"/>
              </a:rPr>
              <a:t>Zomato Gold in Chennai: a retention number that stays flat while every group of members shrinks. Who is leaving, and at which step?</a:t>
            </a:r>
          </a:p>
        </p:txBody>
      </p:sp>
      <p:pic>
        <p:nvPicPr>
          <p:cNvPr id="15" name="mermaid diagram" descr="7e07f604c1386171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4168139"/>
            <a:ext cx="11130991" cy="1129748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530352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6437376"/>
            <a:ext cx="1516475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Which strip would you ship?</a:t>
            </a:r>
          </a:p>
        </p:txBody>
      </p:sp>
      <p:sp>
        <p:nvSpPr>
          <p:cNvPr id="18" name="Oval 17"/>
          <p:cNvSpPr/>
          <p:nvPr/>
        </p:nvSpPr>
        <p:spPr>
          <a:xfrm>
            <a:off x="2247995" y="6492240"/>
            <a:ext cx="64008" cy="64008"/>
          </a:xfrm>
          <a:prstGeom prst="ellipse">
            <a:avLst/>
          </a:prstGeom>
          <a:solidFill>
            <a:srgbClr val="CFC9E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57723" y="6437376"/>
            <a:ext cx="110242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0" i="0">
                <a:solidFill>
                  <a:srgbClr val="6B6690"/>
                </a:solidFill>
                <a:latin typeface="Calibri"/>
              </a:rPr>
              <a:t>The interview room</a:t>
            </a:r>
          </a:p>
        </p:txBody>
      </p:sp>
      <p:sp>
        <p:nvSpPr>
          <p:cNvPr id="20" name="Oval 19"/>
          <p:cNvSpPr/>
          <p:nvPr/>
        </p:nvSpPr>
        <p:spPr>
          <a:xfrm>
            <a:off x="3551586" y="6492240"/>
            <a:ext cx="64008" cy="64008"/>
          </a:xfrm>
          <a:prstGeom prst="ellipse">
            <a:avLst/>
          </a:prstGeom>
          <a:solidFill>
            <a:srgbClr val="5B3FD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661314" y="6437376"/>
            <a:ext cx="1424463" cy="15214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700" b="1" i="0">
                <a:solidFill>
                  <a:srgbClr val="5B3FD6"/>
                </a:solidFill>
                <a:latin typeface="Calibri"/>
              </a:rPr>
              <a:t>The handoff and the close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98303" y="6437376"/>
            <a:ext cx="1463040" cy="160401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750" b="0" i="0">
                <a:solidFill>
                  <a:srgbClr val="6B6690"/>
                </a:solidFill>
                <a:latin typeface="Calibri"/>
              </a:rPr>
              <a:t>S46  ·  13 / 13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