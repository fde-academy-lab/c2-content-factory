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on screen after lunch. Chapter 9, the last chapter of the concept block, on the</a:t>
            </a:r>
          </a:p>
          <a:p>
            <a:r>
              <a:t>topic "Cross-sell and upsell reasoning; expected value in rupees", 18 minutes with the second</a:t>
            </a:r>
          </a:p>
          <a:p>
            <a:r>
              <a:t>concept drill inside them. It opens the afternoon so the morning carried four topics and this one</a:t>
            </a:r>
          </a:p>
          <a:p>
            <a:r>
              <a:t>gets fresh heads. Sharma Kirana's month sheet goes on every table. Transition: who needs the</a:t>
            </a:r>
          </a:p>
          <a:p>
            <a:r>
              <a:t>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Define the two words with the shop's own items: cross-sell suggests an additional</a:t>
            </a:r>
          </a:p>
          <a:p>
            <a:r>
              <a:t>product, upsell a more expensive item or an upgrade of the same one (Wikipedia's cross-selling and</a:t>
            </a:r>
          </a:p>
          <a:p>
            <a:r>
              <a:t>upselling pages, checked 13 October 2026). Callback to chapters 3 and 6: tea and rusk sit in 150</a:t>
            </a:r>
          </a:p>
          <a:p>
            <a:r>
              <a:t>of 1,000 bills where chance gives 120, lift 1.25 on plenty of bills, under the 1.5 bar, so chapter</a:t>
            </a:r>
          </a:p>
          <a:p>
            <a:r>
              <a:t>6's sort would give the pair no slot of its own. A card is the shop's cheapest bet on a weak pull,</a:t>
            </a:r>
          </a:p>
          <a:p>
            <a:r>
              <a:t>and this chapter prices what such a bet earns. Instamart's strip suggests a different item beside</a:t>
            </a:r>
          </a:p>
          <a:p>
            <a:r>
              <a:t>the one in the cart, which is cross-sell.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misconception first: a promotion is worth the sales it touches. Groups vote</a:t>
            </a:r>
          </a:p>
          <a:p>
            <a:r>
              <a:t>with a letter card, argue with a neighbour for a minute, then vote again; the split is usually a</a:t>
            </a:r>
          </a:p>
          <a:p>
            <a:r>
              <a:t>against c. Send the room to the sheet: "which bills does the card change, and which does it only</a:t>
            </a:r>
          </a:p>
          <a:p>
            <a:r>
              <a:t>pay?"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Build the bridge left to right on the board, one bar at a time (StatQuest). The</a:t>
            </a:r>
          </a:p>
          <a:p>
            <a:r>
              <a:t>150 bills that held both before the card are the line most people forget: the card changes nothing</a:t>
            </a:r>
          </a:p>
          <a:p>
            <a:r>
              <a:t>on them except the rupee it hands back. The trap, exactly: Rs 5,040, rusk sales on every combo</a:t>
            </a:r>
          </a:p>
          <a:p>
            <a:r>
              <a:t>bill; the decision it misleads is a card printed as if it earned Rs 5,040; the check is "which</a:t>
            </a:r>
          </a:p>
          <a:p>
            <a:r>
              <a:t>bills does the card change?"; the fix is margin on those bills only, less what the card gives away.</a:t>
            </a:r>
          </a:p>
          <a:p>
            <a:r>
              <a:t>Option b counts every combo as new, Rs 2,016; option c forgets the discount, Rs 196. The second</a:t>
            </a:r>
          </a:p>
          <a:p>
            <a:r>
              <a:t>route, said once: rusk margin with the card is Rs 2,428 against Rs 2,400 without it, the same Rs 28.</a:t>
            </a:r>
          </a:p>
          <a:p>
            <a:r>
              <a:t>Transition: what moves the 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top panel first: each rupee off costs Rs 168 a month, so at the same 4</a:t>
            </a:r>
          </a:p>
          <a:p>
            <a:r>
              <a:t>percent response the card earns nothing at about Rs 1.17 off and loses Rs 140 at Rs 2; a bigger</a:t>
            </a:r>
          </a:p>
          <a:p>
            <a:r>
              <a:t>discount may draw more buyers, which only a trial of the card would show. Then the bottom panel: at 2 percent the card</a:t>
            </a:r>
          </a:p>
          <a:p>
            <a:r>
              <a:t>loses Rs 71 and at 6 percent it earns Rs 127, so the 4 percent is an assumption said with its</a:t>
            </a:r>
          </a:p>
          <a:p>
            <a:r>
              <a:t>range, and the answer travels with it. The formula comes after the counting, as its shorthand</a:t>
            </a:r>
          </a:p>
          <a:p>
            <a:r>
              <a:t>(Wikipedia's expected value page, checked 13 October 2026: a weighted average, each outcome times</a:t>
            </a:r>
          </a:p>
          <a:p>
            <a:r>
              <a:t>its probability). Then the code-along, one line at a time (Krish Naik); notebook 09 runs the</a:t>
            </a:r>
          </a:p>
          <a:p>
            <a:r>
              <a:t>function and asserts the second route. Upsell is priced the same way: the extra margin of the</a:t>
            </a:r>
          </a:p>
          <a:p>
            <a:r>
              <a:t>bigger pack on the shoppers who switch, less what the switch gives away.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One minute for the rules: fill the concept map's last box, so all five topics are</a:t>
            </a:r>
          </a:p>
          <a:p>
            <a:r>
              <a:t>now on the board. Check question before moving on: "A card reaches 2,000 bills, 5 percent add one</a:t>
            </a:r>
          </a:p>
          <a:p>
            <a:r>
              <a:t>pack at Rs 10 of margin, and the cards cost Rs 600: what is it worth?" 100 packs, Rs 1,000 of</a:t>
            </a:r>
          </a:p>
          <a:p>
            <a:r>
              <a:t>margin, less Rs 600, so Rs 400. Then the second concept drill, items 5 to 7 of</a:t>
            </a:r>
          </a:p>
          <a:p>
            <a:r>
              <a:t>`exercises/unguided/C2_W04_D03_canteen_concepts_STUDENT.md`, on paper, 6 minutes: pairs from one</a:t>
            </a:r>
          </a:p>
          <a:p>
            <a:r>
              <a:t>order, the floor on the canteen's month, and the kirana's forgotten cost line. Checkpoint: the room</a:t>
            </a:r>
          </a:p>
          <a:p>
            <a:r>
              <a:t>says the expected-value line in the topic's words, margin on the purchases a card changes less</a:t>
            </a:r>
          </a:p>
          <a:p>
            <a:r>
              <a:t>every rupee it hands back. Transition: chapter 10, the strip ranked and priced.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third case chapter, levels L4 and L5. Notebook 10 opens now. Transition:</a:t>
            </a:r>
          </a:p>
          <a:p>
            <a:r>
              <a:t>what the chapter answers, and for whom.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Read the four questions. Each is a topic used on the case: the floor and the</a:t>
            </a:r>
          </a:p>
          <a:p>
            <a:r>
              <a:t>watch list from chapter 6, the rupees from chapter 9. Transition: the problem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prediction is sat as the unguided set</a:t>
            </a:r>
          </a:p>
          <a:p>
            <a:r>
              <a:t>`exercises/unguided/C2_W04_D03_ch10_four_pairs_STUDENT.md` on paper, four letters posted in four</a:t>
            </a:r>
          </a:p>
          <a:p>
            <a:r>
              <a:t>minutes; its first item asks which pairs clear the stated rule, and this slide asks which of them</a:t>
            </a:r>
          </a:p>
          <a:p>
            <a:r>
              <a:t>ranks first (Brilliant: the problem before the explanation). The split is usually b against c; a learner who drew chapter 6's canteen</a:t>
            </a:r>
          </a:p>
          <a:p>
            <a:r>
              <a:t>action map should call it at once. Transition: every pair on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fifth pair above the floor reads 1.09, near one. Run notebook 10's first</a:t>
            </a:r>
          </a:p>
          <a:p>
            <a:r>
              <a:t>cells, which rank the pairs above the floor and list the strong ones below it, then hand out the pair cards: each group places its nine cards on chapter 6's</a:t>
            </a:r>
          </a:p>
          <a:p>
            <a:r>
              <a:t>four regions and defends one placement in a sentence (the run sheet has the placements). Promote is</a:t>
            </a:r>
          </a:p>
          <a:p>
            <a:r>
              <a:t>above the floor and over the bar; watch, over the bar below the floor; trap, near one above the</a:t>
            </a:r>
          </a:p>
          <a:p>
            <a:r>
              <a:t>floor, where milk's pairs sit; ignore, near one below it. Each step right on the picture is ten</a:t>
            </a:r>
          </a:p>
          <a:p>
            <a:r>
              <a:t>times more carts. The floor is a decision: 0.5 percent admits more pairs on thinner ground, 2</a:t>
            </a:r>
          </a:p>
          <a:p>
            <a:r>
              <a:t>percent fewer. Explorer: scene W5, the floor slider counts the pairs that survive. Transition: the</a:t>
            </a:r>
          </a:p>
          <a:p>
            <a:r>
              <a:t>thin pair.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Chapter 6's gulab jamun and curd at city scale: a strong lift on thin support</a:t>
            </a:r>
          </a:p>
          <a:p>
            <a:r>
              <a:t>earns a trial, never a slot. Notebook 10 searches the band between 0.2 percent (80 carts) and the</a:t>
            </a:r>
          </a:p>
          <a:p>
            <a:r>
              <a:t>floor, since thousands of pairs on a handful of carts read wild lifts by luck, as chapter 6's month</a:t>
            </a:r>
          </a:p>
          <a:p>
            <a:r>
              <a:t>showed. How long a trial must run to trust its answer is a sample-size</a:t>
            </a:r>
          </a:p>
          <a:p>
            <a:r>
              <a:t>question, parked by name for the faculty session (tentative). Transition: what a slot is worth.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Guess first, then build it; the split is usually b against c. Transition: the</a:t>
            </a:r>
          </a:p>
          <a:p>
            <a:r>
              <a:t>cascade.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kirana's card at city scale: margin on the adds a slot makes, never its sales.</a:t>
            </a:r>
          </a:p>
          <a:p>
            <a:r>
              <a:t>Build it left to right on the board, each factor said with its source and its range, as the</a:t>
            </a:r>
          </a:p>
          <a:p>
            <a:r>
              <a:t>kirana's 4 percent was. Margin is what Instamart keeps from a sale after the item's cost: bread</a:t>
            </a:r>
          </a:p>
          <a:p>
            <a:r>
              <a:t>sells for Rs 45 and keeps Rs 6.70. Every add is priced at the basket's average Rs 9, milk's too.</a:t>
            </a:r>
          </a:p>
          <a:p>
            <a:r>
              <a:t>Two corrections pull opposite ways and both land inside the range: milk earns only Rs 2 a pouch,</a:t>
            </a:r>
          </a:p>
          <a:p>
            <a:r>
              <a:t>which raises the gain, and the strip's own adds earned about Rs 7, which lowers it; with both,</a:t>
            </a:r>
          </a:p>
          <a:p>
            <a:r>
              <a:t>about Rs 5.7 lakh. Whether a lift-ranked pair clicks better than any other suggestion is not in</a:t>
            </a:r>
          </a:p>
          <a:p>
            <a:r>
              <a:t>this log: a test with a count-ranked arm, milk left out, against a lift-ranked arm measures it.</a:t>
            </a:r>
          </a:p>
          <a:p>
            <a:r>
              <a:t>Back to S64's thin pair, priced at its own margins, Rs 37.40 for sauce against Rs 2 for milk: on</a:t>
            </a:r>
          </a:p>
          <a:p>
            <a:r>
              <a:t>about 2,400 views a day in place of milk, 2,400 x 30 x (0.064 x 0.5 x Rs 37.40 less 0.012 x 0.5 x</a:t>
            </a:r>
          </a:p>
          <a:p>
            <a:r>
              <a:t>Rs 2), it earns about Rs 85,000 a month, which is why it earns a test and never a blind slot.</a:t>
            </a:r>
          </a:p>
          <a:p>
            <a:r>
              <a:t>Explorer: scene W4, the strip simulator, rank by count against rank by lift. Transition: the</a:t>
            </a:r>
          </a:p>
          <a:p>
            <a:r>
              <a:t>number people get wrong.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Ask: "which line of the cascade would a bundle discount change?" The margin per</a:t>
            </a:r>
          </a:p>
          <a:p>
            <a:r>
              <a:t>add falls by the discount. The doubts on D68 are read inside S70's group work, and the heavy tenth</a:t>
            </a:r>
          </a:p>
          <a:p>
            <a:r>
              <a:t>on D69 is self-study. Transition: the doubts, then the brief.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0 minutes live: groups read it inside S70's work. Each doubt has its number in notebook 10; the slot row is D54's</a:t>
            </a:r>
          </a:p>
          <a:p>
            <a:r>
              <a:t>picture and notebook 10's slot split. A check that comes back clean is said in one line, as the</a:t>
            </a:r>
          </a:p>
          <a:p>
            <a:r>
              <a:t>time-of-day check does. One more doubt sits under S66: whether a lift-ranked pair clicks better</a:t>
            </a:r>
          </a:p>
          <a:p>
            <a:r>
              <a:t>than any other suggestion, which this log cannot say and a count-against-lift test measures. In Hadapsar and Viman Nagar from 15 to 21</a:t>
            </a:r>
          </a:p>
          <a:p>
            <a:r>
              <a:t>September, curd is in 12 of 2,583 carts; a stock-out cuts the count, never the pull.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0 minutes live. "Counted once" means each cart weighs one over its customer's number of</a:t>
            </a:r>
          </a:p>
          <a:p>
            <a:r>
              <a:t>carts, so a shopper with fourteen carts counts as much as a shopper with one. Amazon's history</a:t>
            </a:r>
          </a:p>
          <a:p>
            <a:r>
              <a:t>(chapter 8) met the same heavy-buyer problem.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to brief, then 10 minutes of group work, unguided, level L5, in groups of about</a:t>
            </a:r>
          </a:p>
          <a:p>
            <a:r>
              <a:t>four on notebook 10. The TA moves between tables. A group that picks a pair below the floor is</a:t>
            </a:r>
          </a:p>
          <a:p>
            <a:r>
              <a:t>asked "how many carts would the slot touch?". A group that prices sales instead of margin is asked</a:t>
            </a:r>
          </a:p>
          <a:p>
            <a:r>
              <a:t>"which number does the growth lead keep?". Groups read D68 for step 3 inside the ten minutes.</a:t>
            </a:r>
          </a:p>
          <a:p>
            <a:r>
              <a:t>Checkpoint: every group hands in one strip with a rupee range. The strip set's solutions file is</a:t>
            </a:r>
          </a:p>
          <a:p>
            <a:r>
              <a:t>released at the close. Transition: the objection each group must</a:t>
            </a:r>
          </a:p>
          <a:p>
            <a:r>
              <a:t>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Tuesday's four moves, used on today's numbers: restate until the owner agrees,</a:t>
            </a:r>
          </a:p>
          <a:p>
            <a:r>
              <a:t>answer from the evidence, concede what is true, say what would change your mind. Two groups read</a:t>
            </a:r>
          </a:p>
          <a:p>
            <a:r>
              <a:t>their answers aloud; the room names the move each sentence makes. Transition: the interview room.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level L6, the interview room's [S] answer. Pairs read the two answers side by</a:t>
            </a:r>
          </a:p>
          <a:p>
            <a:r>
              <a:t>side. The weak answer is not wrong about confidence's meaning; it is wrong about what to do with</a:t>
            </a:r>
          </a:p>
          <a:p>
            <a:r>
              <a:t>it. The full transcript, its three follow-ups and the AI-company variant, an LLM shopping assistant</a:t>
            </a:r>
          </a:p>
          <a:p>
            <a:r>
              <a:t>scored against a popularity baseline, are read in pairs in the lab from the extras folder.</a:t>
            </a:r>
          </a:p>
          <a:p>
            <a:r>
              <a:t>Transition: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1 for the line, read as it stands, and 7 for the Kahoot pack from the kahoot</a:t>
            </a:r>
          </a:p>
          <a:p>
            <a:r>
              <a:t>folder, ungraded, eight items: the three counts and a lift from three counts; a popular partner and</a:t>
            </a:r>
          </a:p>
          <a:p>
            <a:r>
              <a:t>the strip's blended click-through; a strong thin pair, what a promotion is worth and one cart's</a:t>
            </a:r>
          </a:p>
          <a:p>
            <a:r>
              <a:t>pairs; Tuesday's four moves. Re-teach in one line any item most of the room misses. Park any</a:t>
            </a:r>
          </a:p>
          <a:p>
            <a:r>
              <a:t>question about how long a watch-list trial must run for the faculty session (tentative).</a:t>
            </a:r>
          </a:p>
          <a:p>
            <a:r>
              <a:t>Transition: the close.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two learners to say the sentence without notes. The lab after class runs the</a:t>
            </a:r>
          </a:p>
          <a:p>
            <a:r>
              <a:t>same method on Kalpa Retail's baskets in notebook 11. Tomorrow's pre-read ships tonight.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Cross-sell and upsell reasoning; expected value in rupees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a combo worth?</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Cross-sell told apart from upsell, and a corner shop's combo card priced as an expected value in rupees: the margin it adds, less what it hands back on bills that held both anyway.</a:t>
            </a:r>
          </a:p>
        </p:txBody>
      </p:sp>
      <p:sp>
        <p:nvSpPr>
          <p:cNvPr id="11" name="Rounded Rectangle 10"/>
          <p:cNvSpPr/>
          <p:nvPr/>
        </p:nvSpPr>
        <p:spPr>
          <a:xfrm>
            <a:off x="73151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a combo worth?</a:t>
            </a:r>
          </a:p>
        </p:txBody>
      </p:sp>
      <p:sp>
        <p:nvSpPr>
          <p:cNvPr id="12" name="Rounded Rectangle 11"/>
          <p:cNvSpPr/>
          <p:nvPr/>
        </p:nvSpPr>
        <p:spPr>
          <a:xfrm>
            <a:off x="250975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slot worth?</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Market basket, lift and cross-sell</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Cross-sell adds a second item; upsell a bigger 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Cross-sell and upsell reasoning; expected value in rupees.</a:t>
            </a:r>
          </a:p>
        </p:txBody>
      </p:sp>
      <p:sp>
        <p:nvSpPr>
          <p:cNvPr id="12" name="Rounded Rectangle 11"/>
          <p:cNvSpPr/>
          <p:nvPr/>
        </p:nvSpPr>
        <p:spPr>
          <a:xfrm>
            <a:off x="530352" y="255905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68706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67792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owner of Sharma Kirana, a corner shop in Pune, invented, who is weighing a counter card that reads "Tea and rusk together, Rs 1 off". Rusk beside tea is cross-sell, a second item that goes with the first; the bigger tea pack in place of the small one would be upsell, a dearer version of the same item.</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Cross-sell or upsell?</a:t>
            </a:r>
          </a:p>
        </p:txBody>
      </p:sp>
      <p:sp>
        <p:nvSpPr>
          <p:cNvPr id="20" name="TextBox 19"/>
          <p:cNvSpPr txBox="1"/>
          <p:nvPr/>
        </p:nvSpPr>
        <p:spPr>
          <a:xfrm>
            <a:off x="694944"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A second item, or a bigger one of the same.</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bills can the card change?</a:t>
            </a:r>
          </a:p>
        </p:txBody>
      </p:sp>
      <p:sp>
        <p:nvSpPr>
          <p:cNvPr id="25" name="TextBox 24"/>
          <p:cNvSpPr txBox="1"/>
          <p:nvPr/>
        </p:nvSpPr>
        <p:spPr>
          <a:xfrm>
            <a:off x="3523411"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Only the tea bills without rusk.</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is it worth in a month?</a:t>
            </a:r>
          </a:p>
        </p:txBody>
      </p:sp>
      <p:sp>
        <p:nvSpPr>
          <p:cNvPr id="30" name="TextBox 29"/>
          <p:cNvSpPr txBox="1"/>
          <p:nvPr/>
        </p:nvSpPr>
        <p:spPr>
          <a:xfrm>
            <a:off x="6351879"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The margin added, less every rupee given back.</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decides the sign?</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The response assumed, and the discount.</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is a combo worth?</a:t>
            </a:r>
          </a:p>
        </p:txBody>
      </p:sp>
      <p:sp>
        <p:nvSpPr>
          <p:cNvPr id="38" name="Oval 3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slot worth?</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is the tea-and-rusk card worth in a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Sharma Kirana's month, invented. Which number should the owner weigh against the card?</a:t>
            </a:r>
          </a:p>
        </p:txBody>
      </p:sp>
      <p:graphicFrame>
        <p:nvGraphicFramePr>
          <p:cNvPr id="9" name="Table 8"/>
          <p:cNvGraphicFramePr>
            <a:graphicFrameLocks noGrp="1"/>
          </p:cNvGraphicFramePr>
          <p:nvPr/>
        </p:nvGraphicFramePr>
        <p:xfrm>
          <a:off x="530352" y="1956816"/>
          <a:ext cx="11130990" cy="2588768"/>
        </p:xfrm>
        <a:graphic>
          <a:graphicData uri="http://schemas.openxmlformats.org/drawingml/2006/table">
            <a:tbl>
              <a:tblPr firstRow="0" bandRow="0">
                <a:tableStyleId>{2D5ABB26-0587-4C30-8999-92F81FD0307C}</a:tableStyleId>
              </a:tblPr>
              <a:tblGrid>
                <a:gridCol w="7543831"/>
                <a:gridCol w="3587159"/>
              </a:tblGrid>
              <a:tr h="369824">
                <a:tc>
                  <a:txBody>
                    <a:bodyPr/>
                    <a:lstStyle/>
                    <a:p>
                      <a:r>
                        <a:rPr sz="1450" b="1" i="0">
                          <a:solidFill>
                            <a:srgbClr val="FFFFFF"/>
                          </a:solidFill>
                          <a:latin typeface="Calibri"/>
                        </a:rPr>
                        <a:t>Line of the month</a:t>
                      </a:r>
                    </a:p>
                  </a:txBody>
                  <a:tcPr marL="101600" marR="101600" marT="38100" marB="38100" anchor="ctr">
                    <a:solidFill>
                      <a:srgbClr val="1A0F5C"/>
                    </a:solidFill>
                  </a:tcPr>
                </a:tc>
                <a:tc>
                  <a:txBody>
                    <a:bodyPr/>
                    <a:lstStyle/>
                    <a:p>
                      <a:r>
                        <a:rPr sz="1450" b="1" i="0">
                          <a:solidFill>
                            <a:srgbClr val="FFFFFF"/>
                          </a:solidFill>
                          <a:latin typeface="Calibri"/>
                        </a:rPr>
                        <a:t>Value</a:t>
                      </a:r>
                    </a:p>
                  </a:txBody>
                  <a:tcPr marL="101600" marR="101600" marT="38100" marB="38100" anchor="ctr">
                    <a:solidFill>
                      <a:srgbClr val="1A0F5C"/>
                    </a:solidFill>
                  </a:tcPr>
                </a:tc>
              </a:tr>
              <a:tr h="369824">
                <a:tc>
                  <a:txBody>
                    <a:bodyPr/>
                    <a:lstStyle/>
                    <a:p>
                      <a:r>
                        <a:rPr sz="1400" b="0" i="0">
                          <a:solidFill>
                            <a:srgbClr val="1A1440"/>
                          </a:solidFill>
                          <a:latin typeface="Calibri"/>
                        </a:rPr>
                        <a:t>Bills; with tea; with rusk; with both</a:t>
                      </a:r>
                    </a:p>
                  </a:txBody>
                  <a:tcPr marL="101600" marR="101600" marT="38100" marB="38100" anchor="ctr">
                    <a:solidFill>
                      <a:srgbClr val="FFFFFF"/>
                    </a:solidFill>
                  </a:tcPr>
                </a:tc>
                <a:tc>
                  <a:txBody>
                    <a:bodyPr/>
                    <a:lstStyle/>
                    <a:p>
                      <a:r>
                        <a:rPr sz="1400" b="0" i="0">
                          <a:solidFill>
                            <a:srgbClr val="1A1440"/>
                          </a:solidFill>
                          <a:latin typeface="Calibri"/>
                        </a:rPr>
                        <a:t>1,000; 600; 200; 150</a:t>
                      </a:r>
                    </a:p>
                  </a:txBody>
                  <a:tcPr marL="101600" marR="101600" marT="38100" marB="38100" anchor="ctr">
                    <a:solidFill>
                      <a:srgbClr val="FFFFFF"/>
                    </a:solidFill>
                  </a:tcPr>
                </a:tc>
              </a:tr>
              <a:tr h="369824">
                <a:tc>
                  <a:txBody>
                    <a:bodyPr/>
                    <a:lstStyle/>
                    <a:p>
                      <a:r>
                        <a:rPr sz="1400" b="0" i="0">
                          <a:solidFill>
                            <a:srgbClr val="1A1440"/>
                          </a:solidFill>
                          <a:latin typeface="Calibri"/>
                        </a:rPr>
                        <a:t>Rusk's price, and its cost to the shop</a:t>
                      </a:r>
                    </a:p>
                  </a:txBody>
                  <a:tcPr marL="101600" marR="101600" marT="38100" marB="38100" anchor="ctr">
                    <a:solidFill>
                      <a:srgbClr val="F4F2FA"/>
                    </a:solidFill>
                  </a:tcPr>
                </a:tc>
                <a:tc>
                  <a:txBody>
                    <a:bodyPr/>
                    <a:lstStyle/>
                    <a:p>
                      <a:r>
                        <a:rPr sz="1400" b="0" i="0">
                          <a:solidFill>
                            <a:srgbClr val="1A1440"/>
                          </a:solidFill>
                          <a:latin typeface="Calibri"/>
                        </a:rPr>
                        <a:t>Rs 30, and Rs 18</a:t>
                      </a:r>
                    </a:p>
                  </a:txBody>
                  <a:tcPr marL="101600" marR="101600" marT="38100" marB="38100" anchor="ctr">
                    <a:solidFill>
                      <a:srgbClr val="F4F2FA"/>
                    </a:solidFill>
                  </a:tcPr>
                </a:tc>
              </a:tr>
              <a:tr h="369824">
                <a:tc>
                  <a:txBody>
                    <a:bodyPr/>
                    <a:lstStyle/>
                    <a:p>
                      <a:r>
                        <a:rPr sz="1400" b="0" i="0">
                          <a:solidFill>
                            <a:srgbClr val="1A1440"/>
                          </a:solidFill>
                          <a:latin typeface="Calibri"/>
                        </a:rPr>
                        <a:t>Rusk's margin, what the shop keeps: price less cost</a:t>
                      </a:r>
                    </a:p>
                  </a:txBody>
                  <a:tcPr marL="101600" marR="101600" marT="38100" marB="38100" anchor="ctr">
                    <a:solidFill>
                      <a:srgbClr val="FFFFFF"/>
                    </a:solidFill>
                  </a:tcPr>
                </a:tc>
                <a:tc>
                  <a:txBody>
                    <a:bodyPr/>
                    <a:lstStyle/>
                    <a:p>
                      <a:r>
                        <a:rPr sz="1400" b="0" i="0">
                          <a:solidFill>
                            <a:srgbClr val="1A1440"/>
                          </a:solidFill>
                          <a:latin typeface="Calibri"/>
                        </a:rPr>
                        <a:t>Rs 12</a:t>
                      </a:r>
                    </a:p>
                  </a:txBody>
                  <a:tcPr marL="101600" marR="101600" marT="38100" marB="38100" anchor="ctr">
                    <a:solidFill>
                      <a:srgbClr val="FFFFFF"/>
                    </a:solidFill>
                  </a:tcPr>
                </a:tc>
              </a:tr>
              <a:tr h="369824">
                <a:tc>
                  <a:txBody>
                    <a:bodyPr/>
                    <a:lstStyle/>
                    <a:p>
                      <a:r>
                        <a:rPr sz="1400" b="0" i="0">
                          <a:solidFill>
                            <a:srgbClr val="1A1440"/>
                          </a:solidFill>
                          <a:latin typeface="Calibri"/>
                        </a:rPr>
                        <a:t>The card's discount, on every bill holding both</a:t>
                      </a:r>
                    </a:p>
                  </a:txBody>
                  <a:tcPr marL="101600" marR="101600" marT="38100" marB="38100" anchor="ctr">
                    <a:solidFill>
                      <a:srgbClr val="F4F2FA"/>
                    </a:solidFill>
                  </a:tcPr>
                </a:tc>
                <a:tc>
                  <a:txBody>
                    <a:bodyPr/>
                    <a:lstStyle/>
                    <a:p>
                      <a:r>
                        <a:rPr sz="1400" b="0" i="0">
                          <a:solidFill>
                            <a:srgbClr val="1A1440"/>
                          </a:solidFill>
                          <a:latin typeface="Calibri"/>
                        </a:rPr>
                        <a:t>Rs 1</a:t>
                      </a:r>
                    </a:p>
                  </a:txBody>
                  <a:tcPr marL="101600" marR="101600" marT="38100" marB="38100" anchor="ctr">
                    <a:solidFill>
                      <a:srgbClr val="F4F2FA"/>
                    </a:solidFill>
                  </a:tcPr>
                </a:tc>
              </a:tr>
              <a:tr h="369824">
                <a:tc>
                  <a:txBody>
                    <a:bodyPr/>
                    <a:lstStyle/>
                    <a:p>
                      <a:r>
                        <a:rPr sz="1400" b="0" i="0">
                          <a:solidFill>
                            <a:srgbClr val="1A1440"/>
                          </a:solidFill>
                          <a:latin typeface="Calibri"/>
                        </a:rPr>
                        <a:t>Printing the cards</a:t>
                      </a:r>
                    </a:p>
                  </a:txBody>
                  <a:tcPr marL="101600" marR="101600" marT="38100" marB="38100" anchor="ctr">
                    <a:solidFill>
                      <a:srgbClr val="FFFFFF"/>
                    </a:solidFill>
                  </a:tcPr>
                </a:tc>
                <a:tc>
                  <a:txBody>
                    <a:bodyPr/>
                    <a:lstStyle/>
                    <a:p>
                      <a:r>
                        <a:rPr sz="1400" b="0" i="0">
                          <a:solidFill>
                            <a:srgbClr val="1A1440"/>
                          </a:solidFill>
                          <a:latin typeface="Calibri"/>
                        </a:rPr>
                        <a:t>Rs 20</a:t>
                      </a:r>
                    </a:p>
                  </a:txBody>
                  <a:tcPr marL="101600" marR="101600" marT="38100" marB="38100" anchor="ctr">
                    <a:solidFill>
                      <a:srgbClr val="FFFFFF"/>
                    </a:solidFill>
                  </a:tcPr>
                </a:tc>
              </a:tr>
              <a:tr h="369824">
                <a:tc>
                  <a:txBody>
                    <a:bodyPr/>
                    <a:lstStyle/>
                    <a:p>
                      <a:r>
                        <a:rPr sz="1400" b="0" i="0">
                          <a:solidFill>
                            <a:srgbClr val="1A1440"/>
                          </a:solidFill>
                          <a:latin typeface="Calibri"/>
                        </a:rPr>
                        <a:t>Tea bills without rusk that add a pack, assumed</a:t>
                      </a:r>
                    </a:p>
                  </a:txBody>
                  <a:tcPr marL="101600" marR="101600" marT="38100" marB="38100" anchor="ctr">
                    <a:solidFill>
                      <a:srgbClr val="F4F2FA"/>
                    </a:solidFill>
                  </a:tcPr>
                </a:tc>
                <a:tc>
                  <a:txBody>
                    <a:bodyPr/>
                    <a:lstStyle/>
                    <a:p>
                      <a:r>
                        <a:rPr sz="1400" b="0" i="0">
                          <a:solidFill>
                            <a:srgbClr val="1A1440"/>
                          </a:solidFill>
                          <a:latin typeface="Calibri"/>
                        </a:rPr>
                        <a:t>4 percent, range 2 to 6</a:t>
                      </a:r>
                    </a:p>
                  </a:txBody>
                  <a:tcPr marL="101600" marR="101600" marT="38100" marB="38100" anchor="ctr">
                    <a:solidFill>
                      <a:srgbClr val="F4F2FA"/>
                    </a:solidFill>
                  </a:tcPr>
                </a:tc>
              </a:tr>
            </a:tbl>
          </a:graphicData>
        </a:graphic>
      </p:graphicFrame>
      <p:sp>
        <p:nvSpPr>
          <p:cNvPr id="10" name="TextBox 9"/>
          <p:cNvSpPr txBox="1"/>
          <p:nvPr/>
        </p:nvSpPr>
        <p:spPr>
          <a:xfrm>
            <a:off x="530352" y="480161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Rs 5,040, the rusk sold on every bill that will hold both. b) Rs 2,016, the rusk margin on every bill that will hold both. c) Rs 196, the margin on the new packs less the printing. d) Rs 28, the margin on the new packs less every rupee the card costs.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is a combo worth?</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slot worth?</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 Rs 28 a month, once the rupee is paid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each rupee of the card go?</a:t>
            </a:r>
          </a:p>
        </p:txBody>
      </p:sp>
      <p:pic>
        <p:nvPicPr>
          <p:cNvPr id="9" name="mermaid diagram" descr="C2_W04_D03_kirana_bridge_STUDENT.png"/>
          <p:cNvPicPr>
            <a:picLocks noChangeAspect="1"/>
          </p:cNvPicPr>
          <p:nvPr/>
        </p:nvPicPr>
        <p:blipFill>
          <a:blip r:embed="rId4"/>
          <a:stretch>
            <a:fillRect/>
          </a:stretch>
        </p:blipFill>
        <p:spPr>
          <a:xfrm>
            <a:off x="1798080" y="1664208"/>
            <a:ext cx="8595533" cy="3077464"/>
          </a:xfrm>
          <a:prstGeom prst="rect">
            <a:avLst/>
          </a:prstGeom>
        </p:spPr>
      </p:pic>
      <p:sp>
        <p:nvSpPr>
          <p:cNvPr id="10" name="picture caption"/>
          <p:cNvSpPr txBox="1"/>
          <p:nvPr/>
        </p:nvSpPr>
        <p:spPr>
          <a:xfrm>
            <a:off x="530352" y="4778248"/>
            <a:ext cx="11130991" cy="316992"/>
          </a:xfrm>
          <a:prstGeom prst="rect">
            <a:avLst/>
          </a:prstGeom>
          <a:noFill/>
        </p:spPr>
        <p:txBody>
          <a:bodyPr wrap="square" anchor="t" lIns="0" rIns="0" tIns="0" bIns="0">
            <a:spAutoFit/>
          </a:bodyPr>
          <a:lstStyle/>
          <a:p>
            <a:pPr algn="ctr"/>
            <a:r>
              <a:rPr sz="1200" b="0" i="0">
                <a:solidFill>
                  <a:srgbClr val="6B6690"/>
                </a:solidFill>
                <a:latin typeface="Calibri"/>
              </a:rPr>
              <a:t>Sharma Kirana's card as a bridge: Rs 216 of new margin, less Rs 168 handed back and Rs 20 of printing, leaves Rs 28</a:t>
            </a:r>
          </a:p>
        </p:txBody>
      </p:sp>
      <p:sp>
        <p:nvSpPr>
          <p:cNvPr id="11" name="TextBox 10"/>
          <p:cNvSpPr txBox="1"/>
          <p:nvPr/>
        </p:nvSpPr>
        <p:spPr>
          <a:xfrm>
            <a:off x="530352" y="5104384"/>
            <a:ext cx="11130991" cy="1095247"/>
          </a:xfrm>
          <a:prstGeom prst="rect">
            <a:avLst/>
          </a:prstGeom>
          <a:noFill/>
        </p:spPr>
        <p:txBody>
          <a:bodyPr wrap="square" anchor="t" lIns="0" rIns="0" tIns="0" bIns="0">
            <a:spAutoFit/>
          </a:bodyPr>
          <a:lstStyle/>
          <a:p>
            <a:r>
              <a:rPr sz="1400" b="0" i="0">
                <a:solidFill>
                  <a:srgbClr val="1A1440"/>
                </a:solidFill>
                <a:latin typeface="Calibri"/>
              </a:rPr>
              <a:t>The card is assumed to change only the 450 tea bills without rusk: 4 percent of them, 18 bills, add a pack, and 18 x Rs 12 is Rs 216 of margin. The card hands Rs 1 back on all 168 bills that hold both, the 150 that held both anyway and the 18 new ones, and the cards cost Rs 20, so Rs 216 less Rs 168 less Rs 20 leaves Rs 28. Option a books rusk sales on all 168 bills, Rs 5,040, which is 180 times the gain.</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is a combo worth?</a:t>
            </a:r>
          </a:p>
        </p:txBody>
      </p:sp>
      <p:sp>
        <p:nvSpPr>
          <p:cNvPr id="14" name="Oval 1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slot worth?</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At the same 4 percent, Rs 2 off loses Rs 140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expected value weigh each bill, and what moves it?</a:t>
            </a:r>
          </a:p>
        </p:txBody>
      </p:sp>
      <p:pic>
        <p:nvPicPr>
          <p:cNvPr id="9" name="mermaid diagram" descr="C2_W04_D03_kirana_discount_STUDENT.png"/>
          <p:cNvPicPr>
            <a:picLocks noChangeAspect="1"/>
          </p:cNvPicPr>
          <p:nvPr/>
        </p:nvPicPr>
        <p:blipFill>
          <a:blip r:embed="rId4"/>
          <a:stretch>
            <a:fillRect/>
          </a:stretch>
        </p:blipFill>
        <p:spPr>
          <a:xfrm>
            <a:off x="586378" y="1682496"/>
            <a:ext cx="4674273" cy="3992880"/>
          </a:xfrm>
          <a:prstGeom prst="rect">
            <a:avLst/>
          </a:prstGeom>
        </p:spPr>
      </p:pic>
      <p:sp>
        <p:nvSpPr>
          <p:cNvPr id="10" name="picture caption"/>
          <p:cNvSpPr txBox="1"/>
          <p:nvPr/>
        </p:nvSpPr>
        <p:spPr>
          <a:xfrm>
            <a:off x="530352" y="5711952"/>
            <a:ext cx="4786326" cy="524256"/>
          </a:xfrm>
          <a:prstGeom prst="rect">
            <a:avLst/>
          </a:prstGeom>
          <a:noFill/>
        </p:spPr>
        <p:txBody>
          <a:bodyPr wrap="square" anchor="t" lIns="0" rIns="0" tIns="0" bIns="0">
            <a:spAutoFit/>
          </a:bodyPr>
          <a:lstStyle/>
          <a:p>
            <a:pPr algn="ctr"/>
            <a:r>
              <a:rPr sz="1200" b="0" i="0">
                <a:solidFill>
                  <a:srgbClr val="6B6690"/>
                </a:solidFill>
                <a:latin typeface="Calibri"/>
              </a:rPr>
              <a:t>Expected value against the rupees off a combo bill, and against the response assumed, for Sharma Kirana's invented month</a:t>
            </a:r>
          </a:p>
        </p:txBody>
      </p:sp>
      <p:sp>
        <p:nvSpPr>
          <p:cNvPr id="11" name="TextBox 10"/>
          <p:cNvSpPr txBox="1"/>
          <p:nvPr/>
        </p:nvSpPr>
        <p:spPr>
          <a:xfrm>
            <a:off x="5761917" y="1837944"/>
            <a:ext cx="5899425"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rule, named last: expected value is each outcome times its probability, added up. A tea-only bill earns Rs 11 with probability 0.04, so Rs 0.44, and Rs 198 across 450; less Rs 1 on each of the 150 bills that held both and Rs 20 of printing, Rs 28 again.</a:t>
            </a:r>
          </a:p>
        </p:txBody>
      </p:sp>
      <p:sp>
        <p:nvSpPr>
          <p:cNvPr id="12" name="Rounded Rectangle 11"/>
          <p:cNvSpPr/>
          <p:nvPr/>
        </p:nvSpPr>
        <p:spPr>
          <a:xfrm>
            <a:off x="5761917" y="3567176"/>
            <a:ext cx="5899425" cy="2477008"/>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5944797" y="369519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100245" y="369519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255693" y="369519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36237" y="3896360"/>
            <a:ext cx="5442225" cy="207467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card_value(response, off):</a:t>
            </a:r>
          </a:p>
          <a:p>
            <a:pPr>
              <a:spcAft>
                <a:spcPts val="200"/>
              </a:spcAft>
            </a:pPr>
            <a:r>
              <a:rPr sz="1400" b="0" i="0">
                <a:solidFill>
                  <a:srgbClr val="E4E1F1"/>
                </a:solidFill>
                <a:latin typeface="Consolas"/>
              </a:rPr>
              <a:t>    new = round(450 * response)</a:t>
            </a:r>
          </a:p>
          <a:p>
            <a:pPr>
              <a:spcAft>
                <a:spcPts val="200"/>
              </a:spcAft>
            </a:pPr>
            <a:r>
              <a:rPr sz="1400" b="0" i="0">
                <a:solidFill>
                  <a:srgbClr val="E4E1F1"/>
                </a:solidFill>
                <a:latin typeface="Consolas"/>
              </a:rPr>
              <a:t>    combos = 150 + new</a:t>
            </a:r>
          </a:p>
          <a:p>
            <a:pPr>
              <a:spcAft>
                <a:spcPts val="200"/>
              </a:spcAft>
            </a:pPr>
            <a:r>
              <a:rPr sz="1400" b="0" i="0">
                <a:solidFill>
                  <a:srgbClr val="E4E1F1"/>
                </a:solidFill>
                <a:latin typeface="Consolas"/>
              </a:rPr>
              <a:t>    return new * 12 - combos * off - 20</a:t>
            </a:r>
          </a:p>
          <a:p>
            <a:pPr>
              <a:spcAft>
                <a:spcPts val="200"/>
              </a:spcAft>
            </a:pPr>
          </a:p>
          <a:p>
            <a:pPr>
              <a:spcAft>
                <a:spcPts val="200"/>
              </a:spcAft>
            </a:pPr>
            <a:r>
              <a:rPr sz="1400" b="0" i="0">
                <a:solidFill>
                  <a:srgbClr val="E4E1F1"/>
                </a:solidFill>
                <a:latin typeface="Consolas"/>
              </a:rPr>
              <a:t>print(card_value(0.04, 1))   # 28</a:t>
            </a:r>
          </a:p>
          <a:p>
            <a:pPr>
              <a:spcAft>
                <a:spcPts val="200"/>
              </a:spcAft>
            </a:pPr>
            <a:r>
              <a:rPr sz="1400" b="0" i="0">
                <a:solidFill>
                  <a:srgbClr val="E4E1F1"/>
                </a:solidFill>
                <a:latin typeface="Consolas"/>
              </a:rPr>
              <a:t>print(card_value(0.04, 2))   # -140</a:t>
            </a:r>
          </a:p>
          <a:p>
            <a:pPr>
              <a:spcAft>
                <a:spcPts val="200"/>
              </a:spcAft>
            </a:pPr>
            <a:r>
              <a:rPr sz="1400" b="0" i="0">
                <a:solidFill>
                  <a:srgbClr val="E4E1F1"/>
                </a:solidFill>
                <a:latin typeface="Consolas"/>
              </a:rPr>
              <a:t>print(card_value(0.02, 1))   # -71</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is a combo worth?</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slot worth?</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card earns only on the bills it changes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9, and where is it used next?</a:t>
            </a:r>
          </a:p>
        </p:txBody>
      </p:sp>
      <p:sp>
        <p:nvSpPr>
          <p:cNvPr id="9" name="TextBox 8"/>
          <p:cNvSpPr txBox="1"/>
          <p:nvPr/>
        </p:nvSpPr>
        <p:spPr>
          <a:xfrm>
            <a:off x="530352" y="1645920"/>
            <a:ext cx="502920" cy="267716"/>
          </a:xfrm>
          <a:prstGeom prst="rect">
            <a:avLst/>
          </a:prstGeom>
          <a:noFill/>
        </p:spPr>
        <p:txBody>
          <a:bodyPr wrap="square" anchor="t" lIns="0" rIns="0" tIns="0" bIns="0">
            <a:spAutoFit/>
          </a:bodyPr>
          <a:lstStyle/>
          <a:p>
            <a:pPr algn="l"/>
            <a:r>
              <a:rPr sz="1400" b="0" i="0">
                <a:solidFill>
                  <a:srgbClr val="5B3FD6"/>
                </a:solidFill>
                <a:latin typeface="Georgia"/>
              </a:rPr>
              <a:t>01</a:t>
            </a:r>
          </a:p>
        </p:txBody>
      </p:sp>
      <p:sp>
        <p:nvSpPr>
          <p:cNvPr id="10" name="TextBox 9"/>
          <p:cNvSpPr txBox="1"/>
          <p:nvPr/>
        </p:nvSpPr>
        <p:spPr>
          <a:xfrm>
            <a:off x="1097280" y="1682496"/>
            <a:ext cx="10564063" cy="299720"/>
          </a:xfrm>
          <a:prstGeom prst="rect">
            <a:avLst/>
          </a:prstGeom>
          <a:noFill/>
        </p:spPr>
        <p:txBody>
          <a:bodyPr wrap="square" anchor="t" lIns="0" rIns="0" tIns="0" bIns="0">
            <a:spAutoFit/>
          </a:bodyPr>
          <a:lstStyle/>
          <a:p>
            <a:r>
              <a:rPr sz="1100" b="0" i="0">
                <a:solidFill>
                  <a:srgbClr val="1A1440"/>
                </a:solidFill>
                <a:latin typeface="Calibri"/>
              </a:rPr>
              <a:t>Cross-sell suggests a second item that goes with the first; upsell suggests a dearer version of the same item.</a:t>
            </a:r>
          </a:p>
        </p:txBody>
      </p:sp>
      <p:sp>
        <p:nvSpPr>
          <p:cNvPr id="11" name="TextBox 10"/>
          <p:cNvSpPr txBox="1"/>
          <p:nvPr/>
        </p:nvSpPr>
        <p:spPr>
          <a:xfrm>
            <a:off x="530352" y="2018792"/>
            <a:ext cx="502920" cy="267716"/>
          </a:xfrm>
          <a:prstGeom prst="rect">
            <a:avLst/>
          </a:prstGeom>
          <a:noFill/>
        </p:spPr>
        <p:txBody>
          <a:bodyPr wrap="square" anchor="t" lIns="0" rIns="0" tIns="0" bIns="0">
            <a:spAutoFit/>
          </a:bodyPr>
          <a:lstStyle/>
          <a:p>
            <a:pPr algn="l"/>
            <a:r>
              <a:rPr sz="1400" b="0" i="0">
                <a:solidFill>
                  <a:srgbClr val="5B3FD6"/>
                </a:solidFill>
                <a:latin typeface="Georgia"/>
              </a:rPr>
              <a:t>02</a:t>
            </a:r>
          </a:p>
        </p:txBody>
      </p:sp>
      <p:sp>
        <p:nvSpPr>
          <p:cNvPr id="12" name="TextBox 11"/>
          <p:cNvSpPr txBox="1"/>
          <p:nvPr/>
        </p:nvSpPr>
        <p:spPr>
          <a:xfrm>
            <a:off x="1097280" y="2055368"/>
            <a:ext cx="10564063" cy="299720"/>
          </a:xfrm>
          <a:prstGeom prst="rect">
            <a:avLst/>
          </a:prstGeom>
          <a:noFill/>
        </p:spPr>
        <p:txBody>
          <a:bodyPr wrap="square" anchor="t" lIns="0" rIns="0" tIns="0" bIns="0">
            <a:spAutoFit/>
          </a:bodyPr>
          <a:lstStyle/>
          <a:p>
            <a:r>
              <a:rPr sz="1100" b="0" i="0">
                <a:solidFill>
                  <a:srgbClr val="1A1440"/>
                </a:solidFill>
                <a:latin typeface="Calibri"/>
              </a:rPr>
              <a:t>A card earns only on the bills it changes, so its gain is margin on the new packs, never sales on every combo bill.</a:t>
            </a:r>
          </a:p>
        </p:txBody>
      </p:sp>
      <p:sp>
        <p:nvSpPr>
          <p:cNvPr id="13" name="TextBox 12"/>
          <p:cNvSpPr txBox="1"/>
          <p:nvPr/>
        </p:nvSpPr>
        <p:spPr>
          <a:xfrm>
            <a:off x="530352" y="2391664"/>
            <a:ext cx="502920" cy="267716"/>
          </a:xfrm>
          <a:prstGeom prst="rect">
            <a:avLst/>
          </a:prstGeom>
          <a:noFill/>
        </p:spPr>
        <p:txBody>
          <a:bodyPr wrap="square" anchor="t" lIns="0" rIns="0" tIns="0" bIns="0">
            <a:spAutoFit/>
          </a:bodyPr>
          <a:lstStyle/>
          <a:p>
            <a:pPr algn="l"/>
            <a:r>
              <a:rPr sz="1400" b="0" i="0">
                <a:solidFill>
                  <a:srgbClr val="5B3FD6"/>
                </a:solidFill>
                <a:latin typeface="Georgia"/>
              </a:rPr>
              <a:t>03</a:t>
            </a:r>
          </a:p>
        </p:txBody>
      </p:sp>
      <p:sp>
        <p:nvSpPr>
          <p:cNvPr id="14" name="TextBox 13"/>
          <p:cNvSpPr txBox="1"/>
          <p:nvPr/>
        </p:nvSpPr>
        <p:spPr>
          <a:xfrm>
            <a:off x="1097280" y="2428240"/>
            <a:ext cx="10564063" cy="299720"/>
          </a:xfrm>
          <a:prstGeom prst="rect">
            <a:avLst/>
          </a:prstGeom>
          <a:noFill/>
        </p:spPr>
        <p:txBody>
          <a:bodyPr wrap="square" anchor="t" lIns="0" rIns="0" tIns="0" bIns="0">
            <a:spAutoFit/>
          </a:bodyPr>
          <a:lstStyle/>
          <a:p>
            <a:r>
              <a:rPr sz="1100" b="0" i="0">
                <a:solidFill>
                  <a:srgbClr val="1A1440"/>
                </a:solidFill>
                <a:latin typeface="Calibri"/>
              </a:rPr>
              <a:t>A discount is paid on every bill that takes it, including the bills that would have held both anyway.</a:t>
            </a:r>
          </a:p>
        </p:txBody>
      </p:sp>
      <p:sp>
        <p:nvSpPr>
          <p:cNvPr id="15" name="TextBox 14"/>
          <p:cNvSpPr txBox="1"/>
          <p:nvPr/>
        </p:nvSpPr>
        <p:spPr>
          <a:xfrm>
            <a:off x="530352" y="2764536"/>
            <a:ext cx="502920" cy="267716"/>
          </a:xfrm>
          <a:prstGeom prst="rect">
            <a:avLst/>
          </a:prstGeom>
          <a:noFill/>
        </p:spPr>
        <p:txBody>
          <a:bodyPr wrap="square" anchor="t" lIns="0" rIns="0" tIns="0" bIns="0">
            <a:spAutoFit/>
          </a:bodyPr>
          <a:lstStyle/>
          <a:p>
            <a:pPr algn="l"/>
            <a:r>
              <a:rPr sz="1400" b="0" i="0">
                <a:solidFill>
                  <a:srgbClr val="5B3FD6"/>
                </a:solidFill>
                <a:latin typeface="Georgia"/>
              </a:rPr>
              <a:t>04</a:t>
            </a:r>
          </a:p>
        </p:txBody>
      </p:sp>
      <p:sp>
        <p:nvSpPr>
          <p:cNvPr id="16" name="TextBox 15"/>
          <p:cNvSpPr txBox="1"/>
          <p:nvPr/>
        </p:nvSpPr>
        <p:spPr>
          <a:xfrm>
            <a:off x="1097280" y="2801112"/>
            <a:ext cx="10564063" cy="299720"/>
          </a:xfrm>
          <a:prstGeom prst="rect">
            <a:avLst/>
          </a:prstGeom>
          <a:noFill/>
        </p:spPr>
        <p:txBody>
          <a:bodyPr wrap="square" anchor="t" lIns="0" rIns="0" tIns="0" bIns="0">
            <a:spAutoFit/>
          </a:bodyPr>
          <a:lstStyle/>
          <a:p>
            <a:r>
              <a:rPr sz="1100" b="0" i="0">
                <a:solidFill>
                  <a:srgbClr val="1A1440"/>
                </a:solidFill>
                <a:latin typeface="Calibri"/>
              </a:rPr>
              <a:t>Expected value weighs each outcome by its probability, so an assumed response comes with its range, and so does the answer.</a:t>
            </a:r>
          </a:p>
        </p:txBody>
      </p:sp>
      <p:sp>
        <p:nvSpPr>
          <p:cNvPr id="17" name="Rounded Rectangle 16"/>
          <p:cNvSpPr/>
          <p:nvPr/>
        </p:nvSpPr>
        <p:spPr>
          <a:xfrm>
            <a:off x="530352" y="3283712"/>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5468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5"/>
          <a:stretch>
            <a:fillRect/>
          </a:stretch>
        </p:blipFill>
        <p:spPr>
          <a:xfrm>
            <a:off x="868680" y="3656584"/>
            <a:ext cx="237744" cy="237744"/>
          </a:xfrm>
          <a:prstGeom prst="rect">
            <a:avLst/>
          </a:prstGeom>
        </p:spPr>
      </p:pic>
      <p:sp>
        <p:nvSpPr>
          <p:cNvPr id="20" name="TextBox 19"/>
          <p:cNvSpPr txBox="1"/>
          <p:nvPr/>
        </p:nvSpPr>
        <p:spPr>
          <a:xfrm>
            <a:off x="1399031" y="343001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3649472"/>
            <a:ext cx="9987991" cy="544576"/>
          </a:xfrm>
          <a:prstGeom prst="rect">
            <a:avLst/>
          </a:prstGeom>
          <a:noFill/>
        </p:spPr>
        <p:txBody>
          <a:bodyPr wrap="square" anchor="t" lIns="0" rIns="0" tIns="0" bIns="0">
            <a:spAutoFit/>
          </a:bodyPr>
          <a:lstStyle/>
          <a:p>
            <a:r>
              <a:rPr sz="1100" b="0" i="0">
                <a:solidFill>
                  <a:srgbClr val="1A1440"/>
                </a:solidFill>
                <a:latin typeface="Calibri"/>
              </a:rPr>
              <a:t>[F] "A combo offer lifts the pair's sales; is it worth running?" Margin on the purchases the offer creates, less the discount paid on every purchase that takes it, including those that would have happened anyway, less the fixed cost, said as a range.</a:t>
            </a:r>
          </a:p>
        </p:txBody>
      </p:sp>
      <p:pic>
        <p:nvPicPr>
          <p:cNvPr id="22" name="mermaid diagram" descr="4f662cc80396841e.png"/>
          <p:cNvPicPr>
            <a:picLocks noChangeAspect="1"/>
          </p:cNvPicPr>
          <p:nvPr/>
        </p:nvPicPr>
        <p:blipFill>
          <a:blip r:embed="rId6"/>
          <a:stretch>
            <a:fillRect/>
          </a:stretch>
        </p:blipFill>
        <p:spPr>
          <a:xfrm>
            <a:off x="2856259" y="4431792"/>
            <a:ext cx="6479177" cy="1767839"/>
          </a:xfrm>
          <a:prstGeom prst="rect">
            <a:avLst/>
          </a:prstGeom>
        </p:spPr>
      </p:pic>
      <p:sp>
        <p:nvSpPr>
          <p:cNvPr id="23" name="Oval 2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is a combo worth?</a:t>
            </a:r>
          </a:p>
        </p:txBody>
      </p:sp>
      <p:sp>
        <p:nvSpPr>
          <p:cNvPr id="25" name="Oval 2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12769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slot worth?</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strip ranked by the support floor and priced by expected value in rupees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a slot worth?</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Chapter 6's floor and watch list re-rank Instamart's strip, chapter 9's expected value prices a slot in rupees, and each group defends one strip to the category manager.</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combo worth?</a:t>
            </a:r>
          </a:p>
        </p:txBody>
      </p:sp>
      <p:sp>
        <p:nvSpPr>
          <p:cNvPr id="12" name="Rounded Rectangle 11"/>
          <p:cNvSpPr/>
          <p:nvPr/>
        </p:nvSpPr>
        <p:spPr>
          <a:xfrm>
            <a:off x="2509759"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a slot worth?</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Market basket, lift and cross-sell</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from a ranking to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The support floor and the watch list (chapter 6); Cross-sell and upsell reasoning; expected value in rupees (chapter 9).</a:t>
            </a:r>
          </a:p>
        </p:txBody>
      </p:sp>
      <p:sp>
        <p:nvSpPr>
          <p:cNvPr id="12" name="Rounded Rectangle 11"/>
          <p:cNvSpPr/>
          <p:nvPr/>
        </p:nvSpPr>
        <p:spPr>
          <a:xfrm>
            <a:off x="530352" y="29291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growth lead, who takes a ranked list and a rupee figure to Friday's review, where the category manager will argue that milk, the top seller, belongs in every slot.</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pairs beat chance on enough carts?</a:t>
            </a:r>
          </a:p>
        </p:txBody>
      </p:sp>
      <p:sp>
        <p:nvSpPr>
          <p:cNvPr id="20" name="TextBox 19"/>
          <p:cNvSpPr txBox="1"/>
          <p:nvPr/>
        </p:nvSpPr>
        <p:spPr>
          <a:xfrm>
            <a:off x="694944" y="5437124"/>
            <a:ext cx="2316403" cy="201676"/>
          </a:xfrm>
          <a:prstGeom prst="rect">
            <a:avLst/>
          </a:prstGeom>
          <a:noFill/>
        </p:spPr>
        <p:txBody>
          <a:bodyPr wrap="square" anchor="t" lIns="0" rIns="0" tIns="0" bIns="0">
            <a:spAutoFit/>
          </a:bodyPr>
          <a:lstStyle/>
          <a:p>
            <a:pPr algn="l"/>
            <a:r>
              <a:rPr sz="1000" b="0" i="0">
                <a:solidFill>
                  <a:srgbClr val="6B6690"/>
                </a:solidFill>
                <a:latin typeface="Calibri"/>
              </a:rPr>
              <a:t>Lift above a support floor.</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happens to a strong thin pair?</a:t>
            </a:r>
          </a:p>
        </p:txBody>
      </p:sp>
      <p:sp>
        <p:nvSpPr>
          <p:cNvPr id="25" name="TextBox 24"/>
          <p:cNvSpPr txBox="1"/>
          <p:nvPr/>
        </p:nvSpPr>
        <p:spPr>
          <a:xfrm>
            <a:off x="3523411" y="5437124"/>
            <a:ext cx="2316403" cy="366776"/>
          </a:xfrm>
          <a:prstGeom prst="rect">
            <a:avLst/>
          </a:prstGeom>
          <a:noFill/>
        </p:spPr>
        <p:txBody>
          <a:bodyPr wrap="square" anchor="t" lIns="0" rIns="0" tIns="0" bIns="0">
            <a:spAutoFit/>
          </a:bodyPr>
          <a:lstStyle/>
          <a:p>
            <a:pPr algn="l"/>
            <a:r>
              <a:rPr sz="1000" b="0" i="0">
                <a:solidFill>
                  <a:srgbClr val="6B6690"/>
                </a:solidFill>
                <a:latin typeface="Calibri"/>
              </a:rPr>
              <a:t>Ice cream and chocolate sauce, watched.</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is a slot worth in rupees?</a:t>
            </a:r>
          </a:p>
        </p:txBody>
      </p:sp>
      <p:sp>
        <p:nvSpPr>
          <p:cNvPr id="30" name="TextBox 29"/>
          <p:cNvSpPr txBox="1"/>
          <p:nvPr/>
        </p:nvSpPr>
        <p:spPr>
          <a:xfrm>
            <a:off x="6351879" y="5437124"/>
            <a:ext cx="2316403" cy="201676"/>
          </a:xfrm>
          <a:prstGeom prst="rect">
            <a:avLst/>
          </a:prstGeom>
          <a:noFill/>
        </p:spPr>
        <p:txBody>
          <a:bodyPr wrap="square" anchor="t" lIns="0" rIns="0" tIns="0" bIns="0">
            <a:spAutoFit/>
          </a:bodyPr>
          <a:lstStyle/>
          <a:p>
            <a:pPr algn="l"/>
            <a:r>
              <a:rPr sz="1000" b="0" i="0">
                <a:solidFill>
                  <a:srgbClr val="6B6690"/>
                </a:solidFill>
                <a:latin typeface="Calibri"/>
              </a:rPr>
              <a:t>Views, click-through, adds, margin.</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can the counts not tell us?</a:t>
            </a:r>
          </a:p>
        </p:txBody>
      </p:sp>
      <p:sp>
        <p:nvSpPr>
          <p:cNvPr id="35" name="TextBox 34"/>
          <p:cNvSpPr txBox="1"/>
          <p:nvPr/>
        </p:nvSpPr>
        <p:spPr>
          <a:xfrm>
            <a:off x="9180347" y="5437124"/>
            <a:ext cx="2316403" cy="201676"/>
          </a:xfrm>
          <a:prstGeom prst="rect">
            <a:avLst/>
          </a:prstGeom>
          <a:noFill/>
        </p:spPr>
        <p:txBody>
          <a:bodyPr wrap="square" anchor="t" lIns="0" rIns="0" tIns="0" bIns="0">
            <a:spAutoFit/>
          </a:bodyPr>
          <a:lstStyle/>
          <a:p>
            <a:pPr algn="l"/>
            <a:r>
              <a:rPr sz="1000" b="0" i="0">
                <a:solidFill>
                  <a:srgbClr val="6B6690"/>
                </a:solidFill>
                <a:latin typeface="Calibri"/>
              </a:rPr>
              <a:t>The doubts, each with its check.</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38" name="Oval 37"/>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pair ranks first under the floor rule?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pair shows its support and its lift. Under a 1 percent floor and a 1.5 bar, which ranks first?</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hopping-cart_3d6cc98c6b4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Bread and toned milk</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Support 25.2 percent, lift 1.04.</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opping-cart_3d6cc98c6b44.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Chips and cold drink</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Support 5.0 percent, lift 3.39.</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hopping-cart_3d6cc98c6b44.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Ice cream and chocolate sauce</a:t>
            </a:r>
          </a:p>
        </p:txBody>
      </p:sp>
      <p:sp>
        <p:nvSpPr>
          <p:cNvPr id="26" name="TextBox 25"/>
          <p:cNvSpPr txBox="1"/>
          <p:nvPr/>
        </p:nvSpPr>
        <p:spPr>
          <a:xfrm>
            <a:off x="6388455"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Support 0.25 percent, lift 4.60.</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shopping-cart_3d6cc98c6b44.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Onions and tomatoes</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Support 7.5 percent, lift 1.70.</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35" name="Oval 3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strongest lift above the floor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every pair sit, and which pairs fill the strip?</a:t>
            </a:r>
          </a:p>
        </p:txBody>
      </p:sp>
      <p:pic>
        <p:nvPicPr>
          <p:cNvPr id="9" name="mermaid diagram" descr="C2_W04_D03_action_map_STUDENT.png"/>
          <p:cNvPicPr>
            <a:picLocks noChangeAspect="1"/>
          </p:cNvPicPr>
          <p:nvPr/>
        </p:nvPicPr>
        <p:blipFill>
          <a:blip r:embed="rId4"/>
          <a:stretch>
            <a:fillRect/>
          </a:stretch>
        </p:blipFill>
        <p:spPr>
          <a:xfrm>
            <a:off x="1713524" y="1664208"/>
            <a:ext cx="8764645" cy="3422904"/>
          </a:xfrm>
          <a:prstGeom prst="rect">
            <a:avLst/>
          </a:prstGeom>
        </p:spPr>
      </p:pic>
      <p:sp>
        <p:nvSpPr>
          <p:cNvPr id="10" name="picture caption"/>
          <p:cNvSpPr txBox="1"/>
          <p:nvPr/>
        </p:nvSpPr>
        <p:spPr>
          <a:xfrm>
            <a:off x="530352" y="5123688"/>
            <a:ext cx="11130991" cy="316992"/>
          </a:xfrm>
          <a:prstGeom prst="rect">
            <a:avLst/>
          </a:prstGeom>
          <a:noFill/>
        </p:spPr>
        <p:txBody>
          <a:bodyPr wrap="square" anchor="t" lIns="0" rIns="0" tIns="0" bIns="0">
            <a:spAutoFit/>
          </a:bodyPr>
          <a:lstStyle/>
          <a:p>
            <a:pPr algn="ctr"/>
            <a:r>
              <a:rPr sz="1200" b="0" i="0">
                <a:solidFill>
                  <a:srgbClr val="6B6690"/>
                </a:solidFill>
                <a:latin typeface="Calibri"/>
              </a:rPr>
              <a:t>Every pair with support of at least 0.1 percent: lift against support, with the 1 percent floor</a:t>
            </a:r>
          </a:p>
        </p:txBody>
      </p:sp>
      <p:sp>
        <p:nvSpPr>
          <p:cNvPr id="11" name="TextBox 10"/>
          <p:cNvSpPr txBox="1"/>
          <p:nvPr/>
        </p:nvSpPr>
        <p:spPr>
          <a:xfrm>
            <a:off x="530352" y="5449824"/>
            <a:ext cx="11130991" cy="749808"/>
          </a:xfrm>
          <a:prstGeom prst="rect">
            <a:avLst/>
          </a:prstGeom>
          <a:noFill/>
        </p:spPr>
        <p:txBody>
          <a:bodyPr wrap="square" anchor="t" lIns="0" rIns="0" tIns="0" bIns="0">
            <a:spAutoFit/>
          </a:bodyPr>
          <a:lstStyle/>
          <a:p>
            <a:r>
              <a:rPr sz="1200" b="0" i="0">
                <a:solidFill>
                  <a:srgbClr val="1A1440"/>
                </a:solidFill>
                <a:latin typeface="Calibri"/>
              </a:rPr>
              <a:t>Above a floor of 1 percent of carts (400 carts), 246 pairs qualify; four reach lift 1.5: chips and cold drink 3.39, coriander and green chillies 3.00, bread and butter 2.21, onions and tomatoes 1.70. Each fills a slot beside its own item, and elsewhere the strip falls back to the curated list it ran before 7 September. No partner of milk can pass 1 / 0.71 = 1.41.</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4" name="Oval 1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watch list holds lift 4.60 on 100 carts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chapter 6's rule do with a strong pair that almost nobody buys?</a:t>
            </a:r>
          </a:p>
        </p:txBody>
      </p:sp>
      <p:sp>
        <p:nvSpPr>
          <p:cNvPr id="9" name="TextBox 8"/>
          <p:cNvSpPr txBox="1"/>
          <p:nvPr/>
        </p:nvSpPr>
        <p:spPr>
          <a:xfrm>
            <a:off x="530352" y="1956816"/>
            <a:ext cx="11130991" cy="215392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Ice cream and chocolate sauce read lift 4.60 on 100 carts, the strongest pair below the 1 percent floor with enough carts to trial. The pair is real, 100 carts where chance gives 22, but the strip suggests it only beside ice cream, which is in 4 percent of carts: about 2,400 of the strip's 60,000 views a day, if views follow carts, and 100 carts cannot say how shoppers will click it there. It goes on the watch list: in two zones, a random half of shoppers see it beside ice cream, and it takes the slot only if their ice-cream carts buy sauce more often than the other half's, by a gap set before the trial, with margin per shopper as the guardrail, a number that must not fall while the trial runs.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2" name="Oval 1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taking milk out recover in a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Milk holds half the slot impressions at 1.2 percent. Given to suggestions that click at 6.4, how much does a month recover?</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indian-rupee_bfbdea5c5650.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50,000</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rounding error on the city's month.</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indian-rupee_bfbdea5c5650.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2 lakh</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One slot's gap for half a month.</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indian-rupee_bfbdea5c5650.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6 lakh</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gap on milk's share of all three slots.</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indian-rupee_bfbdea5c5650.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50 lakh</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Sales from every add the strip makes.</a:t>
            </a:r>
          </a:p>
        </p:txBody>
      </p:sp>
      <p:sp>
        <p:nvSpPr>
          <p:cNvPr id="33" name="TextBox 32"/>
          <p:cNvSpPr txBox="1"/>
          <p:nvPr/>
        </p:nvSpPr>
        <p:spPr>
          <a:xfrm>
            <a:off x="530352" y="410413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inputs: 60,000 views a slot a day, 0.5 adds per click, Rs 9 of margin an add, 30 days.</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36" name="Oval 35"/>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about Rs 6.3 lakh a month, gross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chapter 9's rupees price a slot, and where does the month's money come from?</a:t>
            </a:r>
          </a:p>
        </p:txBody>
      </p:sp>
      <p:pic>
        <p:nvPicPr>
          <p:cNvPr id="9" name="mermaid diagram" descr="C2_W04_D03_slot_value_STUDENT.png"/>
          <p:cNvPicPr>
            <a:picLocks noChangeAspect="1"/>
          </p:cNvPicPr>
          <p:nvPr/>
        </p:nvPicPr>
        <p:blipFill>
          <a:blip r:embed="rId4"/>
          <a:stretch>
            <a:fillRect/>
          </a:stretch>
        </p:blipFill>
        <p:spPr>
          <a:xfrm>
            <a:off x="1679861" y="1664208"/>
            <a:ext cx="8831971" cy="2835656"/>
          </a:xfrm>
          <a:prstGeom prst="rect">
            <a:avLst/>
          </a:prstGeom>
        </p:spPr>
      </p:pic>
      <p:sp>
        <p:nvSpPr>
          <p:cNvPr id="10" name="picture caption"/>
          <p:cNvSpPr txBox="1"/>
          <p:nvPr/>
        </p:nvSpPr>
        <p:spPr>
          <a:xfrm>
            <a:off x="530352" y="4536440"/>
            <a:ext cx="11130991" cy="316992"/>
          </a:xfrm>
          <a:prstGeom prst="rect">
            <a:avLst/>
          </a:prstGeom>
          <a:noFill/>
        </p:spPr>
        <p:txBody>
          <a:bodyPr wrap="square" anchor="t" lIns="0" rIns="0" tIns="0" bIns="0">
            <a:spAutoFit/>
          </a:bodyPr>
          <a:lstStyle/>
          <a:p>
            <a:pPr algn="ctr"/>
            <a:r>
              <a:rPr sz="1200" b="0" i="0">
                <a:solidFill>
                  <a:srgbClr val="6B6690"/>
                </a:solidFill>
                <a:latin typeface="Calibri"/>
              </a:rPr>
              <a:t>One slot a day at 6.4 and at 1.2 percent, and the month recovered by moving milk's impressions</a:t>
            </a:r>
          </a:p>
        </p:txBody>
      </p:sp>
      <p:sp>
        <p:nvSpPr>
          <p:cNvPr id="11" name="TextBox 10"/>
          <p:cNvSpPr txBox="1"/>
          <p:nvPr/>
        </p:nvSpPr>
        <p:spPr>
          <a:xfrm>
            <a:off x="530352" y="4862576"/>
            <a:ext cx="11130991" cy="1337056"/>
          </a:xfrm>
          <a:prstGeom prst="rect">
            <a:avLst/>
          </a:prstGeom>
          <a:noFill/>
        </p:spPr>
        <p:txBody>
          <a:bodyPr wrap="square" anchor="t" lIns="0" rIns="0" tIns="0" bIns="0">
            <a:spAutoFit/>
          </a:bodyPr>
          <a:lstStyle/>
          <a:p>
            <a:r>
              <a:rPr sz="1400" b="0" i="0">
                <a:solidFill>
                  <a:srgbClr val="1A1440"/>
                </a:solidFill>
                <a:latin typeface="Calibri"/>
              </a:rPr>
              <a:t>A slot's day is 60,000 views (strip_log) x click-through x 0.5 adds per click (strip_log, range 0.4 to 0.6) x Rs 9 margin an add (the average cart_items line, range Rs 7 to Rs 11). Milk holds 1.5 slots' worth: Rs 4.2 lakh x 1.5 = Rs 6.3 lakh a month, Rs 3.9 lakh to Rs 9.3 lakh across the ranges, before the adds that would have come anyway. The 6.4 percent is what any suggestion but milk drew: in slot 1, cold drink beside chips (lift 3.39) drew 8.2 percent and bread beside eggs (0.99) 8.4, so the money comes from taking milk out.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4" name="Oval 1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about Rs 80,200 of sales is not the gain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would overstate the slot four and a half times over?</a:t>
            </a:r>
          </a:p>
        </p:txBody>
      </p:sp>
      <p:sp>
        <p:nvSpPr>
          <p:cNvPr id="9" name="TextBox 8"/>
          <p:cNvSpPr txBox="1"/>
          <p:nvPr/>
        </p:nvSpPr>
        <p:spPr>
          <a:xfrm>
            <a:off x="530352" y="1956816"/>
            <a:ext cx="11130991" cy="215392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plausible wrong answer books sales, the kirana's Rs 5,040 at city scale: a slot at 6.4 percent makes 1,920 adds a day, each selling for Rs 41.77 on average, so about Rs 80,200 a day of "strip revenue". The growth lead keeps the margin, Rs 17,280. If the strip ever adds a bundle discount, the discount is margin handed back, on adds that might have happened anyway, as on the kirana's 150 bills that held both before the card. Swiggy's shareholder letter for April to June 2025 describes Maxxsaver, a discount unlocked once a basket passes a set size, as margin returned to the user: the cost line a rupee case must carry (checked 12 October 2026).</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2" name="Oval 1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Six doubts the counts cannot settle alone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the growth lead say aloud, and what check settles each doubt?</a:t>
            </a:r>
          </a:p>
        </p:txBody>
      </p:sp>
      <p:graphicFrame>
        <p:nvGraphicFramePr>
          <p:cNvPr id="10" name="Table 9"/>
          <p:cNvGraphicFramePr>
            <a:graphicFrameLocks noGrp="1"/>
          </p:cNvGraphicFramePr>
          <p:nvPr/>
        </p:nvGraphicFramePr>
        <p:xfrm>
          <a:off x="530352" y="1808988"/>
          <a:ext cx="11130989" cy="4264152"/>
        </p:xfrm>
        <a:graphic>
          <a:graphicData uri="http://schemas.openxmlformats.org/drawingml/2006/table">
            <a:tbl>
              <a:tblPr firstRow="0" bandRow="0">
                <a:tableStyleId>{2D5ABB26-0587-4C30-8999-92F81FD0307C}</a:tableStyleId>
              </a:tblPr>
              <a:tblGrid>
                <a:gridCol w="2733835"/>
                <a:gridCol w="4198577"/>
                <a:gridCol w="4198577"/>
              </a:tblGrid>
              <a:tr h="352552">
                <a:tc>
                  <a:txBody>
                    <a:bodyPr/>
                    <a:lstStyle/>
                    <a:p>
                      <a:r>
                        <a:rPr sz="1350" b="1" i="0">
                          <a:solidFill>
                            <a:srgbClr val="FFFFFF"/>
                          </a:solidFill>
                          <a:latin typeface="Calibri"/>
                        </a:rPr>
                        <a:t>Doubt</a:t>
                      </a:r>
                    </a:p>
                  </a:txBody>
                  <a:tcPr marL="101600" marR="101600" marT="38100" marB="38100" anchor="ctr">
                    <a:solidFill>
                      <a:srgbClr val="1A0F5C"/>
                    </a:solidFill>
                  </a:tcPr>
                </a:tc>
                <a:tc>
                  <a:txBody>
                    <a:bodyPr/>
                    <a:lstStyle/>
                    <a:p>
                      <a:r>
                        <a:rPr sz="1350" b="1" i="0">
                          <a:solidFill>
                            <a:srgbClr val="FFFFFF"/>
                          </a:solidFill>
                          <a:latin typeface="Calibri"/>
                        </a:rPr>
                        <a:t>The check</a:t>
                      </a:r>
                    </a:p>
                  </a:txBody>
                  <a:tcPr marL="101600" marR="101600" marT="38100" marB="38100" anchor="ctr">
                    <a:solidFill>
                      <a:srgbClr val="1A0F5C"/>
                    </a:solidFill>
                  </a:tcPr>
                </a:tc>
                <a:tc>
                  <a:txBody>
                    <a:bodyPr/>
                    <a:lstStyle/>
                    <a:p>
                      <a:r>
                        <a:rPr sz="1350" b="1" i="0">
                          <a:solidFill>
                            <a:srgbClr val="FFFFFF"/>
                          </a:solidFill>
                          <a:latin typeface="Calibri"/>
                        </a:rPr>
                        <a:t>What it showed</a:t>
                      </a:r>
                    </a:p>
                  </a:txBody>
                  <a:tcPr marL="101600" marR="101600" marT="38100" marB="38100" anchor="ctr">
                    <a:solidFill>
                      <a:srgbClr val="1A0F5C"/>
                    </a:solidFill>
                  </a:tcPr>
                </a:tc>
              </a:tr>
              <a:tr h="577088">
                <a:tc>
                  <a:txBody>
                    <a:bodyPr/>
                    <a:lstStyle/>
                    <a:p>
                      <a:r>
                        <a:rPr sz="1300" b="0" i="0">
                          <a:solidFill>
                            <a:srgbClr val="1A1440"/>
                          </a:solidFill>
                          <a:latin typeface="Calibri"/>
                        </a:rPr>
                        <a:t>Together is no proof of cause</a:t>
                      </a:r>
                    </a:p>
                  </a:txBody>
                  <a:tcPr marL="101600" marR="101600" marT="38100" marB="38100" anchor="ctr">
                    <a:solidFill>
                      <a:srgbClr val="FFFFFF"/>
                    </a:solidFill>
                  </a:tcPr>
                </a:tc>
                <a:tc>
                  <a:txBody>
                    <a:bodyPr/>
                    <a:lstStyle/>
                    <a:p>
                      <a:r>
                        <a:rPr sz="1300" b="0" i="0">
                          <a:solidFill>
                            <a:srgbClr val="1A1440"/>
                          </a:solidFill>
                          <a:latin typeface="Calibri"/>
                        </a:rPr>
                        <a:t>A holdout: a random share of shoppers who see no strip, compared with the rest</a:t>
                      </a:r>
                    </a:p>
                  </a:txBody>
                  <a:tcPr marL="101600" marR="101600" marT="38100" marB="38100" anchor="ctr">
                    <a:solidFill>
                      <a:srgbClr val="FFFFFF"/>
                    </a:solidFill>
                  </a:tcPr>
                </a:tc>
                <a:tc>
                  <a:txBody>
                    <a:bodyPr/>
                    <a:lstStyle/>
                    <a:p>
                      <a:r>
                        <a:rPr sz="1300" b="0" i="0">
                          <a:solidFill>
                            <a:srgbClr val="1A1440"/>
                          </a:solidFill>
                          <a:latin typeface="Calibri"/>
                        </a:rPr>
                        <a:t>This week's Monday faculty session on A/B testing (tentative)</a:t>
                      </a:r>
                    </a:p>
                  </a:txBody>
                  <a:tcPr marL="101600" marR="101600" marT="38100" marB="38100" anchor="ctr">
                    <a:solidFill>
                      <a:srgbClr val="FFFFFF"/>
                    </a:solidFill>
                  </a:tcPr>
                </a:tc>
              </a:tr>
              <a:tr h="577088">
                <a:tc>
                  <a:txBody>
                    <a:bodyPr/>
                    <a:lstStyle/>
                    <a:p>
                      <a:r>
                        <a:rPr sz="1300" b="0" i="0">
                          <a:solidFill>
                            <a:srgbClr val="1A1440"/>
                          </a:solidFill>
                          <a:latin typeface="Calibri"/>
                        </a:rPr>
                        <a:t>Heavy buyers, each placing many carts</a:t>
                      </a:r>
                    </a:p>
                  </a:txBody>
                  <a:tcPr marL="101600" marR="101600" marT="38100" marB="38100" anchor="ctr">
                    <a:solidFill>
                      <a:srgbClr val="F4F2FA"/>
                    </a:solidFill>
                  </a:tcPr>
                </a:tc>
                <a:tc>
                  <a:txBody>
                    <a:bodyPr/>
                    <a:lstStyle/>
                    <a:p>
                      <a:r>
                        <a:rPr sz="1300" b="0" i="0">
                          <a:solidFill>
                            <a:srgbClr val="1A1440"/>
                          </a:solidFill>
                          <a:latin typeface="Calibri"/>
                        </a:rPr>
                        <a:t>Count each customer once</a:t>
                      </a:r>
                    </a:p>
                  </a:txBody>
                  <a:tcPr marL="101600" marR="101600" marT="38100" marB="38100" anchor="ctr">
                    <a:solidFill>
                      <a:srgbClr val="F4F2FA"/>
                    </a:solidFill>
                  </a:tcPr>
                </a:tc>
                <a:tc>
                  <a:txBody>
                    <a:bodyPr/>
                    <a:lstStyle/>
                    <a:p>
                      <a:r>
                        <a:rPr sz="1300" b="0" i="0">
                          <a:solidFill>
                            <a:srgbClr val="1A1440"/>
                          </a:solidFill>
                          <a:latin typeface="Calibri"/>
                        </a:rPr>
                        <a:t>Chips and cold drink 3.39 falls to 2.56; milk's pair stays 1.04</a:t>
                      </a:r>
                    </a:p>
                  </a:txBody>
                  <a:tcPr marL="101600" marR="101600" marT="38100" marB="38100" anchor="ctr">
                    <a:solidFill>
                      <a:srgbClr val="F4F2FA"/>
                    </a:solidFill>
                  </a:tcPr>
                </a:tc>
              </a:tr>
              <a:tr h="577088">
                <a:tc>
                  <a:txBody>
                    <a:bodyPr/>
                    <a:lstStyle/>
                    <a:p>
                      <a:r>
                        <a:rPr sz="1300" b="0" i="0">
                          <a:solidFill>
                            <a:srgbClr val="1A1440"/>
                          </a:solidFill>
                          <a:latin typeface="Calibri"/>
                        </a:rPr>
                        <a:t>Curd stock-out</a:t>
                      </a:r>
                    </a:p>
                  </a:txBody>
                  <a:tcPr marL="101600" marR="101600" marT="38100" marB="38100" anchor="ctr">
                    <a:solidFill>
                      <a:srgbClr val="FFFFFF"/>
                    </a:solidFill>
                  </a:tcPr>
                </a:tc>
                <a:tc>
                  <a:txBody>
                    <a:bodyPr/>
                    <a:lstStyle/>
                    <a:p>
                      <a:r>
                        <a:rPr sz="1300" b="0" i="0">
                          <a:solidFill>
                            <a:srgbClr val="1A1440"/>
                          </a:solidFill>
                          <a:latin typeface="Calibri"/>
                        </a:rPr>
                        <a:t>Set aside two zones in week three</a:t>
                      </a:r>
                    </a:p>
                  </a:txBody>
                  <a:tcPr marL="101600" marR="101600" marT="38100" marB="38100" anchor="ctr">
                    <a:solidFill>
                      <a:srgbClr val="FFFFFF"/>
                    </a:solidFill>
                  </a:tcPr>
                </a:tc>
                <a:tc>
                  <a:txBody>
                    <a:bodyPr/>
                    <a:lstStyle/>
                    <a:p>
                      <a:r>
                        <a:rPr sz="1300" b="0" i="0">
                          <a:solidFill>
                            <a:srgbClr val="1A1440"/>
                          </a:solidFill>
                          <a:latin typeface="Calibri"/>
                        </a:rPr>
                        <a:t>Curd's share 26.0 rises to 27.8 percent; its lift with milk stays 1.01</a:t>
                      </a:r>
                    </a:p>
                  </a:txBody>
                  <a:tcPr marL="101600" marR="101600" marT="38100" marB="38100" anchor="ctr">
                    <a:solidFill>
                      <a:srgbClr val="FFFFFF"/>
                    </a:solidFill>
                  </a:tcPr>
                </a:tc>
              </a:tr>
              <a:tr h="801624">
                <a:tc>
                  <a:txBody>
                    <a:bodyPr/>
                    <a:lstStyle/>
                    <a:p>
                      <a:r>
                        <a:rPr sz="1300" b="0" i="0">
                          <a:solidFill>
                            <a:srgbClr val="1A1440"/>
                          </a:solidFill>
                          <a:latin typeface="Calibri"/>
                        </a:rPr>
                        <a:t>Time of day</a:t>
                      </a:r>
                    </a:p>
                  </a:txBody>
                  <a:tcPr marL="101600" marR="101600" marT="38100" marB="38100" anchor="ctr">
                    <a:solidFill>
                      <a:srgbClr val="F4F2FA"/>
                    </a:solidFill>
                  </a:tcPr>
                </a:tc>
                <a:tc>
                  <a:txBody>
                    <a:bodyPr/>
                    <a:lstStyle/>
                    <a:p>
                      <a:r>
                        <a:rPr sz="1300" b="0" i="0">
                          <a:solidFill>
                            <a:srgbClr val="1A1440"/>
                          </a:solidFill>
                          <a:latin typeface="Calibri"/>
                        </a:rPr>
                        <a:t>Each time band alone</a:t>
                      </a:r>
                    </a:p>
                  </a:txBody>
                  <a:tcPr marL="101600" marR="101600" marT="38100" marB="38100" anchor="ctr">
                    <a:solidFill>
                      <a:srgbClr val="F4F2FA"/>
                    </a:solidFill>
                  </a:tcPr>
                </a:tc>
                <a:tc>
                  <a:txBody>
                    <a:bodyPr/>
                    <a:lstStyle/>
                    <a:p>
                      <a:r>
                        <a:rPr sz="1300" b="0" i="0">
                          <a:solidFill>
                            <a:srgbClr val="1A1440"/>
                          </a:solidFill>
                          <a:latin typeface="Calibri"/>
                        </a:rPr>
                        <a:t>Morning carts hold milk 80 percent of the time; bread with milk reads 1.03 to 1.05 in every band</a:t>
                      </a:r>
                    </a:p>
                  </a:txBody>
                  <a:tcPr marL="101600" marR="101600" marT="38100" marB="38100" anchor="ctr">
                    <a:solidFill>
                      <a:srgbClr val="F4F2FA"/>
                    </a:solidFill>
                  </a:tcPr>
                </a:tc>
              </a:tr>
              <a:tr h="801624">
                <a:tc>
                  <a:txBody>
                    <a:bodyPr/>
                    <a:lstStyle/>
                    <a:p>
                      <a:r>
                        <a:rPr sz="1300" b="0" i="0">
                          <a:solidFill>
                            <a:srgbClr val="1A1440"/>
                          </a:solidFill>
                          <a:latin typeface="Calibri"/>
                        </a:rPr>
                        <a:t>Position in the strip</a:t>
                      </a:r>
                    </a:p>
                  </a:txBody>
                  <a:tcPr marL="101600" marR="101600" marT="38100" marB="38100" anchor="ctr">
                    <a:solidFill>
                      <a:srgbClr val="FFFFFF"/>
                    </a:solidFill>
                  </a:tcPr>
                </a:tc>
                <a:tc>
                  <a:txBody>
                    <a:bodyPr/>
                    <a:lstStyle/>
                    <a:p>
                      <a:r>
                        <a:rPr sz="1300" b="0" i="0">
                          <a:solidFill>
                            <a:srgbClr val="1A1440"/>
                          </a:solidFill>
                          <a:latin typeface="Calibri"/>
                        </a:rPr>
                        <a:t>Click-through by slot</a:t>
                      </a:r>
                    </a:p>
                  </a:txBody>
                  <a:tcPr marL="101600" marR="101600" marT="38100" marB="38100" anchor="ctr">
                    <a:solidFill>
                      <a:srgbClr val="FFFFFF"/>
                    </a:solidFill>
                  </a:tcPr>
                </a:tc>
                <a:tc>
                  <a:txBody>
                    <a:bodyPr/>
                    <a:lstStyle/>
                    <a:p>
                      <a:r>
                        <a:rPr sz="1300" b="0" i="0">
                          <a:solidFill>
                            <a:srgbClr val="1A1440"/>
                          </a:solidFill>
                          <a:latin typeface="Calibri"/>
                        </a:rPr>
                        <a:t>Among suggestions other than milk, slot 1 draws 8.2 percent and slot 3 5.4; milk is low in all three</a:t>
                      </a:r>
                    </a:p>
                  </a:txBody>
                  <a:tcPr marL="101600" marR="101600" marT="38100" marB="38100" anchor="ctr">
                    <a:solidFill>
                      <a:srgbClr val="FFFFFF"/>
                    </a:solidFill>
                  </a:tcPr>
                </a:tc>
              </a:tr>
              <a:tr h="577088">
                <a:tc>
                  <a:txBody>
                    <a:bodyPr/>
                    <a:lstStyle/>
                    <a:p>
                      <a:r>
                        <a:rPr sz="1300" b="0" i="0">
                          <a:solidFill>
                            <a:srgbClr val="1A1440"/>
                          </a:solidFill>
                          <a:latin typeface="Calibri"/>
                        </a:rPr>
                        <a:t>The strip feeds its own counts</a:t>
                      </a:r>
                    </a:p>
                  </a:txBody>
                  <a:tcPr marL="101600" marR="101600" marT="38100" marB="38100" anchor="ctr">
                    <a:solidFill>
                      <a:srgbClr val="F4F2FA"/>
                    </a:solidFill>
                  </a:tcPr>
                </a:tc>
                <a:tc>
                  <a:txBody>
                    <a:bodyPr/>
                    <a:lstStyle/>
                    <a:p>
                      <a:r>
                        <a:rPr sz="1300" b="0" i="0">
                          <a:solidFill>
                            <a:srgbClr val="1A1440"/>
                          </a:solidFill>
                          <a:latin typeface="Calibri"/>
                        </a:rPr>
                        <a:t>The holdout's shoppers, who never see the strip</a:t>
                      </a:r>
                    </a:p>
                  </a:txBody>
                  <a:tcPr marL="101600" marR="101600" marT="38100" marB="38100" anchor="ctr">
                    <a:solidFill>
                      <a:srgbClr val="F4F2FA"/>
                    </a:solidFill>
                  </a:tcPr>
                </a:tc>
                <a:tc>
                  <a:txBody>
                    <a:bodyPr/>
                    <a:lstStyle/>
                    <a:p>
                      <a:r>
                        <a:rPr sz="1300" b="0" i="0">
                          <a:solidFill>
                            <a:srgbClr val="1A1440"/>
                          </a:solidFill>
                          <a:latin typeface="Calibri"/>
                        </a:rPr>
                        <a:t>Not in this data; the holdout in the first row settles it</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3" name="Oval 12"/>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D68  ·  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Counted once per customer, the party pair shrinks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much of chips and cold drink comes from a few heavy shoppers?</a:t>
            </a:r>
          </a:p>
        </p:txBody>
      </p:sp>
      <p:pic>
        <p:nvPicPr>
          <p:cNvPr id="10" name="mermaid diagram" descr="C2_W04_D03_heavy_tenth_STUDENT.png"/>
          <p:cNvPicPr>
            <a:picLocks noChangeAspect="1"/>
          </p:cNvPicPr>
          <p:nvPr/>
        </p:nvPicPr>
        <p:blipFill>
          <a:blip r:embed="rId4"/>
          <a:stretch>
            <a:fillRect/>
          </a:stretch>
        </p:blipFill>
        <p:spPr>
          <a:xfrm>
            <a:off x="1257191" y="1664208"/>
            <a:ext cx="9677312" cy="2835656"/>
          </a:xfrm>
          <a:prstGeom prst="rect">
            <a:avLst/>
          </a:prstGeom>
        </p:spPr>
      </p:pic>
      <p:sp>
        <p:nvSpPr>
          <p:cNvPr id="11" name="picture caption"/>
          <p:cNvSpPr txBox="1"/>
          <p:nvPr/>
        </p:nvSpPr>
        <p:spPr>
          <a:xfrm>
            <a:off x="530352" y="4536440"/>
            <a:ext cx="11130991" cy="316992"/>
          </a:xfrm>
          <a:prstGeom prst="rect">
            <a:avLst/>
          </a:prstGeom>
          <a:noFill/>
        </p:spPr>
        <p:txBody>
          <a:bodyPr wrap="square" anchor="t" lIns="0" rIns="0" tIns="0" bIns="0">
            <a:spAutoFit/>
          </a:bodyPr>
          <a:lstStyle/>
          <a:p>
            <a:pPr algn="ctr"/>
            <a:r>
              <a:rPr sz="1200" b="0" i="0">
                <a:solidFill>
                  <a:srgbClr val="6B6690"/>
                </a:solidFill>
                <a:latin typeface="Calibri"/>
              </a:rPr>
              <a:t>Lift per cart against lift with every customer counted once, for chips and cold drink and for bread and milk</a:t>
            </a:r>
          </a:p>
        </p:txBody>
      </p:sp>
      <p:sp>
        <p:nvSpPr>
          <p:cNvPr id="12" name="TextBox 11"/>
          <p:cNvSpPr txBox="1"/>
          <p:nvPr/>
        </p:nvSpPr>
        <p:spPr>
          <a:xfrm>
            <a:off x="530352" y="4862576"/>
            <a:ext cx="11130991" cy="1337056"/>
          </a:xfrm>
          <a:prstGeom prst="rect">
            <a:avLst/>
          </a:prstGeom>
          <a:noFill/>
        </p:spPr>
        <p:txBody>
          <a:bodyPr wrap="square" anchor="t" lIns="0" rIns="0" tIns="0" bIns="0">
            <a:spAutoFit/>
          </a:bodyPr>
          <a:lstStyle/>
          <a:p>
            <a:r>
              <a:rPr sz="1400" b="0" i="0">
                <a:solidFill>
                  <a:srgbClr val="1A1440"/>
                </a:solidFill>
                <a:latin typeface="Calibri"/>
              </a:rPr>
              <a:t>The top tenth of customers place 38 percent of the carts and 73 percent of the carts holding both chips and a cold drink. Counting every customer once gives each cart a weight of one over its customer's number of carts, so a shopper with 4 carts counts each as 0.25; lift is then the weighted share of carts holding both over the weighted shares holding each, multiplied. Counted that way, the pair's lift falls from 3.39 to 2.56 and still beats chance; bread and milk stays at 1.04. The pair keeps its slot, and the growth lead says the smaller number.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5" name="Oval 1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D69  ·  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Ship one strip, priced and defended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group hand in?</a:t>
            </a:r>
          </a:p>
        </p:txBody>
      </p:sp>
      <p:sp>
        <p:nvSpPr>
          <p:cNvPr id="9" name="Rounded Rectangle 8"/>
          <p:cNvSpPr/>
          <p:nvPr/>
        </p:nvSpPr>
        <p:spPr>
          <a:xfrm>
            <a:off x="530352" y="1956816"/>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ordered_6bff7db210f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STEP 1</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Rank three pairs</a:t>
            </a:r>
          </a:p>
        </p:txBody>
      </p:sp>
      <p:sp>
        <p:nvSpPr>
          <p:cNvPr id="14" name="TextBox 13"/>
          <p:cNvSpPr txBox="1"/>
          <p:nvPr/>
        </p:nvSpPr>
        <p:spPr>
          <a:xfrm>
            <a:off x="731519" y="3303524"/>
            <a:ext cx="2243251" cy="763016"/>
          </a:xfrm>
          <a:prstGeom prst="rect">
            <a:avLst/>
          </a:prstGeom>
          <a:noFill/>
        </p:spPr>
        <p:txBody>
          <a:bodyPr wrap="square" anchor="t" lIns="0" rIns="0" tIns="0" bIns="0">
            <a:spAutoFit/>
          </a:bodyPr>
          <a:lstStyle/>
          <a:p>
            <a:pPr algn="l"/>
            <a:r>
              <a:rPr sz="1100" b="0" i="0">
                <a:solidFill>
                  <a:srgbClr val="6B6690"/>
                </a:solidFill>
                <a:latin typeface="Calibri"/>
              </a:rPr>
              <a:t>From the pairs table: support at least 1 percent and lift 1.5 or more, each with its two numbers.</a:t>
            </a:r>
          </a:p>
        </p:txBody>
      </p:sp>
      <p:sp>
        <p:nvSpPr>
          <p:cNvPr id="15" name="Rounded Rectangle 14"/>
          <p:cNvSpPr/>
          <p:nvPr/>
        </p:nvSpPr>
        <p:spPr>
          <a:xfrm>
            <a:off x="3358819" y="1956816"/>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indian-rupee_bfbdea5c5650.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STEP 2</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Price the strip</a:t>
            </a:r>
          </a:p>
        </p:txBody>
      </p:sp>
      <p:sp>
        <p:nvSpPr>
          <p:cNvPr id="20" name="TextBox 19"/>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A slot a day and the month recovered, each assumption with its range.</a:t>
            </a:r>
          </a:p>
        </p:txBody>
      </p:sp>
      <p:sp>
        <p:nvSpPr>
          <p:cNvPr id="21" name="Rounded Rectangle 20"/>
          <p:cNvSpPr/>
          <p:nvPr/>
        </p:nvSpPr>
        <p:spPr>
          <a:xfrm>
            <a:off x="6187287" y="1956816"/>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5ac49fc6abbb.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STEP 3</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Name two doubts</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Each with the check and the number it gave.</a:t>
            </a:r>
          </a:p>
        </p:txBody>
      </p:sp>
      <p:sp>
        <p:nvSpPr>
          <p:cNvPr id="27" name="Rounded Rectangle 26"/>
          <p:cNvSpPr/>
          <p:nvPr/>
        </p:nvSpPr>
        <p:spPr>
          <a:xfrm>
            <a:off x="9015755" y="1956816"/>
            <a:ext cx="2645587"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STEP 4</a:t>
            </a:r>
          </a:p>
        </p:txBody>
      </p:sp>
      <p:sp>
        <p:nvSpPr>
          <p:cNvPr id="31" name="TextBox 30"/>
          <p:cNvSpPr txBox="1"/>
          <p:nvPr/>
        </p:nvSpPr>
        <p:spPr>
          <a:xfrm>
            <a:off x="9216923" y="2962656"/>
            <a:ext cx="2243251" cy="498856"/>
          </a:xfrm>
          <a:prstGeom prst="rect">
            <a:avLst/>
          </a:prstGeom>
          <a:noFill/>
        </p:spPr>
        <p:txBody>
          <a:bodyPr wrap="square" anchor="t" lIns="0" rIns="0" tIns="0" bIns="0">
            <a:spAutoFit/>
          </a:bodyPr>
          <a:lstStyle/>
          <a:p>
            <a:pPr algn="l"/>
            <a:r>
              <a:rPr sz="1400" b="1" i="0">
                <a:solidFill>
                  <a:srgbClr val="FFFFFF"/>
                </a:solidFill>
                <a:latin typeface="Calibri"/>
              </a:rPr>
              <a:t>Answer the category manager</a:t>
            </a:r>
          </a:p>
        </p:txBody>
      </p:sp>
      <p:sp>
        <p:nvSpPr>
          <p:cNvPr id="32" name="TextBox 31"/>
          <p:cNvSpPr txBox="1"/>
          <p:nvPr/>
        </p:nvSpPr>
        <p:spPr>
          <a:xfrm>
            <a:off x="9216923" y="3534664"/>
            <a:ext cx="2243251" cy="399796"/>
          </a:xfrm>
          <a:prstGeom prst="rect">
            <a:avLst/>
          </a:prstGeom>
          <a:noFill/>
        </p:spPr>
        <p:txBody>
          <a:bodyPr wrap="square" anchor="t" lIns="0" rIns="0" tIns="0" bIns="0">
            <a:spAutoFit/>
          </a:bodyPr>
          <a:lstStyle/>
          <a:p>
            <a:pPr algn="l"/>
            <a:r>
              <a:rPr sz="1100" b="0" i="0">
                <a:solidFill>
                  <a:srgbClr val="CFC9EE"/>
                </a:solidFill>
                <a:latin typeface="Calibri"/>
              </a:rPr>
              <a:t>Two sentences: the number first, then what you concede.</a:t>
            </a:r>
          </a:p>
        </p:txBody>
      </p:sp>
      <p:sp>
        <p:nvSpPr>
          <p:cNvPr id="33" name="TextBox 32"/>
          <p:cNvSpPr txBox="1"/>
          <p:nvPr/>
        </p:nvSpPr>
        <p:spPr>
          <a:xfrm>
            <a:off x="530352" y="448411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one-page strip carries four fields, one line each: the three pairs with support and lift, the price with its low and high ends, the two doubts with their checks, and the two sentences. A strip that names a pair without its support, or a rupee figure without its range, goes back. The strip set in exercises/unguided asks the same steps as items; a group posts its letters once its page is done.</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36" name="Oval 35"/>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"Milk is our top seller; put it in every slot"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 of the category manager's objection is right, and what answers the rest?</a:t>
            </a:r>
          </a:p>
        </p:txBody>
      </p:sp>
      <p:sp>
        <p:nvSpPr>
          <p:cNvPr id="9" name="Rounded Rectangle 8"/>
          <p:cNvSpPr/>
          <p:nvPr/>
        </p:nvSpPr>
        <p:spPr>
          <a:xfrm>
            <a:off x="530352"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ear_2c90737cfd2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RESTATE</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Milk is in most carts</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It is in 71 percent of carts and brings shoppers back daily.</a:t>
            </a:r>
          </a:p>
        </p:txBody>
      </p:sp>
      <p:sp>
        <p:nvSpPr>
          <p:cNvPr id="15" name="Rounded Rectangle 14"/>
          <p:cNvSpPr/>
          <p:nvPr/>
        </p:nvSpPr>
        <p:spPr>
          <a:xfrm>
            <a:off x="3358819"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hart-column_a266b7a04479.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ANSWER</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slot moves nothing</a:t>
            </a:r>
          </a:p>
        </p:txBody>
      </p:sp>
      <p:sp>
        <p:nvSpPr>
          <p:cNvPr id="20" name="TextBox 19"/>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Milk slots click at 1.2 percent against 6.4, and no item's lift with milk can pass 1.41.</a:t>
            </a:r>
          </a:p>
        </p:txBody>
      </p:sp>
      <p:sp>
        <p:nvSpPr>
          <p:cNvPr id="21" name="Rounded Rectangle 20"/>
          <p:cNvSpPr/>
          <p:nvPr/>
        </p:nvSpPr>
        <p:spPr>
          <a:xfrm>
            <a:off x="6187287"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handshake_e365765057e1.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CONCEDE</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Milk belongs in the cart</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Which is why it needs no reminder; keep it on the home screen and in search.</a:t>
            </a:r>
          </a:p>
        </p:txBody>
      </p:sp>
      <p:sp>
        <p:nvSpPr>
          <p:cNvPr id="27" name="Rounded Rectangle 26"/>
          <p:cNvSpPr/>
          <p:nvPr/>
        </p:nvSpPr>
        <p:spPr>
          <a:xfrm>
            <a:off x="9015755" y="1956816"/>
            <a:ext cx="2645587" cy="2534412"/>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refresh-cw_c3ada071ae1b.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WHAT WOULD CHANGE IT</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If milk earned its slot</a:t>
            </a:r>
          </a:p>
        </p:txBody>
      </p:sp>
      <p:sp>
        <p:nvSpPr>
          <p:cNvPr id="32" name="TextBox 31"/>
          <p:cNvSpPr txBox="1"/>
          <p:nvPr/>
        </p:nvSpPr>
        <p:spPr>
          <a:xfrm>
            <a:off x="9216923" y="3303524"/>
            <a:ext cx="2243251" cy="944626"/>
          </a:xfrm>
          <a:prstGeom prst="rect">
            <a:avLst/>
          </a:prstGeom>
          <a:noFill/>
        </p:spPr>
        <p:txBody>
          <a:bodyPr wrap="square" anchor="t" lIns="0" rIns="0" tIns="0" bIns="0">
            <a:spAutoFit/>
          </a:bodyPr>
          <a:lstStyle/>
          <a:p>
            <a:pPr algn="l"/>
            <a:r>
              <a:rPr sz="1100" b="0" i="0">
                <a:solidFill>
                  <a:srgbClr val="CFC9EE"/>
                </a:solidFill>
                <a:latin typeface="Calibri"/>
              </a:rPr>
              <a:t>A test with shoppers randomised, in which a milk slot earned as much margin per shopper as the suggestion it replaced, would put milk back.</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35" name="Oval 3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S71  ·  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Lift divides popularity out; confidence does not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"Support, confidence, lift: which one cannot be fooled by popularity, and why?"</a:t>
            </a:r>
          </a:p>
        </p:txBody>
      </p:sp>
      <p:sp>
        <p:nvSpPr>
          <p:cNvPr id="9" name="Rounded Rectangle 8"/>
          <p:cNvSpPr/>
          <p:nvPr/>
        </p:nvSpPr>
        <p:spPr>
          <a:xfrm>
            <a:off x="530352" y="1956816"/>
            <a:ext cx="3588410" cy="29555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x_1ea7e70f5a06.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WEAK ANSWER</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Confidence</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"Confidence, because it is the probability of B given A, so the highest-confidence pair goes in the strip." It ranks milk first.</a:t>
            </a:r>
          </a:p>
        </p:txBody>
      </p:sp>
      <p:sp>
        <p:nvSpPr>
          <p:cNvPr id="15" name="Rounded Rectangle 14"/>
          <p:cNvSpPr/>
          <p:nvPr/>
        </p:nvSpPr>
        <p:spPr>
          <a:xfrm>
            <a:off x="4301642" y="1956816"/>
            <a:ext cx="3588410" cy="29555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heck_adac4adaf554.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HIRE-GRADE ANSWER</a:t>
            </a:r>
          </a:p>
        </p:txBody>
      </p:sp>
      <p:sp>
        <p:nvSpPr>
          <p:cNvPr id="19" name="TextBox 18"/>
          <p:cNvSpPr txBox="1"/>
          <p:nvPr/>
        </p:nvSpPr>
        <p:spPr>
          <a:xfrm>
            <a:off x="4502810" y="2962656"/>
            <a:ext cx="3186074" cy="498856"/>
          </a:xfrm>
          <a:prstGeom prst="rect">
            <a:avLst/>
          </a:prstGeom>
          <a:noFill/>
        </p:spPr>
        <p:txBody>
          <a:bodyPr wrap="square" anchor="t" lIns="0" rIns="0" tIns="0" bIns="0">
            <a:spAutoFit/>
          </a:bodyPr>
          <a:lstStyle/>
          <a:p>
            <a:pPr algn="l"/>
            <a:r>
              <a:rPr sz="1400" b="1" i="0">
                <a:solidFill>
                  <a:srgbClr val="FFFFFF"/>
                </a:solidFill>
                <a:latin typeface="Calibri"/>
              </a:rPr>
              <a:t>Lift, because it divides by the base rate</a:t>
            </a:r>
          </a:p>
        </p:txBody>
      </p:sp>
      <p:sp>
        <p:nvSpPr>
          <p:cNvPr id="20" name="TextBox 19"/>
          <p:cNvSpPr txBox="1"/>
          <p:nvPr/>
        </p:nvSpPr>
        <p:spPr>
          <a:xfrm>
            <a:off x="4502810" y="3534664"/>
            <a:ext cx="3186074" cy="1126236"/>
          </a:xfrm>
          <a:prstGeom prst="rect">
            <a:avLst/>
          </a:prstGeom>
          <a:noFill/>
        </p:spPr>
        <p:txBody>
          <a:bodyPr wrap="square" anchor="t" lIns="0" rIns="0" tIns="0" bIns="0">
            <a:spAutoFit/>
          </a:bodyPr>
          <a:lstStyle/>
          <a:p>
            <a:pPr algn="l"/>
            <a:r>
              <a:rPr sz="1100" b="0" i="0">
                <a:solidFill>
                  <a:srgbClr val="CFC9EE"/>
                </a:solidFill>
                <a:latin typeface="Calibri"/>
              </a:rPr>
              <a:t>"Bread to milk reads confidence 0.74, but milk is in 71 percent of carts anyway, so lift is 1.04. Chips and cold drink read 0.42 and lift 3.39. I rank by lift above a floor of 1 percent of September's carts, 400 carts, and slot a pair only at 1.5 or more."</a:t>
            </a:r>
          </a:p>
        </p:txBody>
      </p:sp>
      <p:sp>
        <p:nvSpPr>
          <p:cNvPr id="21" name="Rounded Rectangle 20"/>
          <p:cNvSpPr/>
          <p:nvPr/>
        </p:nvSpPr>
        <p:spPr>
          <a:xfrm>
            <a:off x="8072932" y="1956816"/>
            <a:ext cx="3588410" cy="29555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ear_2c90737cfd2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THE INTERVIEWER LISTENS FOR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base rate and its window</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Three questions kept apart, the denominator and window said aloud, a floor, a decision.</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29" name="Oval 28"/>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S72  ·  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Handoff: lift read as probability, next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IITGN faculty session (tentative) pick up from today?</a:t>
            </a:r>
          </a:p>
        </p:txBody>
      </p:sp>
      <p:sp>
        <p:nvSpPr>
          <p:cNvPr id="9" name="Rounded Rectangle 8"/>
          <p:cNvSpPr/>
          <p:nvPr/>
        </p:nvSpPr>
        <p:spPr>
          <a:xfrm>
            <a:off x="530352" y="1956816"/>
            <a:ext cx="45720" cy="10363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36319"/>
          </a:xfrm>
          <a:prstGeom prst="rect">
            <a:avLst/>
          </a:prstGeom>
          <a:noFill/>
        </p:spPr>
        <p:txBody>
          <a:bodyPr wrap="square" anchor="t" lIns="0" rIns="0" tIns="0" bIns="0">
            <a:spAutoFit/>
          </a:bodyPr>
          <a:lstStyle/>
          <a:p>
            <a:r>
              <a:rPr sz="1600" b="0" i="1">
                <a:solidFill>
                  <a:srgbClr val="1A0F5C"/>
                </a:solidFill>
                <a:latin typeface="Georgia"/>
              </a:rPr>
              <a:t>You counted lift on twelve carts and on forty thousand. The next 120 minutes show the same three numbers as probabilities: a lift near one is independence made visible, which is what milk showed you, and the support floor you set is what lets an algorithm skip counting every combination.</a:t>
            </a:r>
          </a:p>
        </p:txBody>
      </p:sp>
      <p:sp>
        <p:nvSpPr>
          <p:cNvPr id="11" name="TextBox 10"/>
          <p:cNvSpPr txBox="1"/>
          <p:nvPr/>
        </p:nvSpPr>
        <p:spPr>
          <a:xfrm>
            <a:off x="530352" y="313944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Independent means that knowing one item is in the cart tells you nothing about the other, and a rule is a sentence such as "bread, so milk". The IITGN faculty session is tentative until IIT Gandhinagar confirms it.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4" name="Oval 1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S73  ·  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WEDNESDAY  ·  MARKET BASKET, LIFT AND CROSS-SELL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sentence for Friday, and Thursday's question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room say on Friday, and what comes next?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The sentence. </a:t>
            </a:r>
            <a:r>
              <a:rPr sz="1500" b="0" i="0">
                <a:solidFill>
                  <a:srgbClr val="1A1440"/>
                </a:solidFill>
                <a:latin typeface="Calibri"/>
              </a:rPr>
              <a:t>"The click-through fell because the strip gave half its slots to milk, which shoppers buy anyway. Taking milk out, which ranking by lift above a 1 percent floor and a 1.5 bar does by arithmetic, recovers about Rs 6.3 lakh a month before the adds that would have come anyway; a test against a count ranking without milk shows whether lift earns more."</a:t>
            </a:r>
          </a:p>
        </p:txBody>
      </p:sp>
      <p:sp>
        <p:nvSpPr>
          <p:cNvPr id="12" name="Rounded Rectangle 11"/>
          <p:cNvSpPr/>
          <p:nvPr/>
        </p:nvSpPr>
        <p:spPr>
          <a:xfrm>
            <a:off x="530352" y="34625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5905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581400"/>
            <a:ext cx="10564063" cy="624840"/>
          </a:xfrm>
          <a:prstGeom prst="rect">
            <a:avLst/>
          </a:prstGeom>
          <a:noFill/>
        </p:spPr>
        <p:txBody>
          <a:bodyPr wrap="square" anchor="ctr" lIns="0" rIns="0" tIns="0" bIns="0">
            <a:spAutoFit/>
          </a:bodyPr>
          <a:lstStyle/>
          <a:p>
            <a:r>
              <a:rPr sz="1500" b="1">
                <a:solidFill>
                  <a:srgbClr val="5B3FD6"/>
                </a:solidFill>
                <a:latin typeface="Calibri"/>
              </a:rPr>
              <a:t>Tomorrow. </a:t>
            </a:r>
            <a:r>
              <a:rPr sz="1500" b="0" i="0">
                <a:solidFill>
                  <a:srgbClr val="1A1440"/>
                </a:solidFill>
                <a:latin typeface="Calibri"/>
              </a:rPr>
              <a:t>Zomato Gold in Chennai: a retention number that stays flat while every group of members shrinks. Who is leaving, and at which step?</a:t>
            </a:r>
          </a:p>
        </p:txBody>
      </p:sp>
      <p:pic>
        <p:nvPicPr>
          <p:cNvPr id="15" name="mermaid diagram" descr="fa124bfc310babd0.png"/>
          <p:cNvPicPr>
            <a:picLocks noChangeAspect="1"/>
          </p:cNvPicPr>
          <p:nvPr/>
        </p:nvPicPr>
        <p:blipFill>
          <a:blip r:embed="rId5"/>
          <a:stretch>
            <a:fillRect/>
          </a:stretch>
        </p:blipFill>
        <p:spPr>
          <a:xfrm>
            <a:off x="530352" y="4434840"/>
            <a:ext cx="11130991" cy="1331913"/>
          </a:xfrm>
          <a:prstGeom prst="rect">
            <a:avLst/>
          </a:prstGeom>
        </p:spPr>
      </p:pic>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is a combo worth?</a:t>
            </a:r>
          </a:p>
        </p:txBody>
      </p:sp>
      <p:sp>
        <p:nvSpPr>
          <p:cNvPr id="18" name="Oval 17"/>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2769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slot worth?</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S74  ·  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