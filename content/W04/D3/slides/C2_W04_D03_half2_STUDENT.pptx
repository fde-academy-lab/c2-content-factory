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morning's close summary already in view: three slots, two caveats, Rs 12.6 lakh a</a:t>
            </a:r>
          </a:p>
          <a:p>
            <a:r>
              <a:t>month. The afternoon's first 60 minutes run the unguided chapter 3 part 2 and the interview</a:t>
            </a:r>
          </a:p>
          <a:p>
            <a:r>
              <a:t>transcript, then the handoff line into the W4-2 faculty block (tentative).</a:t>
            </a:r>
          </a:p>
          <a:p>
            <a:r>
              <a:t>Transition: the unguided block's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in nine groups. Each group picks three pairs from the pairs table, writes the</a:t>
            </a:r>
          </a:p>
          <a:p>
            <a:r>
              <a:t>one-paragraph proposal with the rupee value and the caveat, and answers the category manager's</a:t>
            </a:r>
          </a:p>
          <a:p>
            <a:r>
              <a:t>one line in two sentences.</a:t>
            </a:r>
          </a:p>
          <a:p>
            <a:r>
              <a:t>Transition: the prompt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Say the four steps and the time. Say the TA will circulate; a group's proposal</a:t>
            </a:r>
          </a:p>
          <a:p>
            <a:r>
              <a:t>is judged on the lift above the floor, the labelled rupee gap and the two-sentence answer to the</a:t>
            </a:r>
          </a:p>
          <a:p>
            <a:r>
              <a:t>manager.</a:t>
            </a:r>
          </a:p>
          <a:p>
            <a:r>
              <a:t>Transition: the proposal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 each group the one-page template. The template lives in exercises/guided</a:t>
            </a:r>
          </a:p>
          <a:p>
            <a:r>
              <a:t>and the solutions in exercises/solutions, released at the close.</a:t>
            </a:r>
          </a:p>
          <a:p>
            <a:r>
              <a:t>Transition: into 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the six boxes. Say the room has 30 minutes to run this on the notebook</a:t>
            </a:r>
          </a:p>
          <a:p>
            <a:r>
              <a:t>output they wrote in chapter 2 and the rupee model from chapter 3.</a:t>
            </a:r>
          </a:p>
          <a:p>
            <a:r>
              <a:t>Transition: into 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Read the transcript aloud with one learner playing the candidate. The weak</a:t>
            </a:r>
          </a:p>
          <a:p>
            <a:r>
              <a:t>answer and the hire-grade answer sit side by side. Score on the Aced criteria: structure, the</a:t>
            </a:r>
          </a:p>
          <a:p>
            <a:r>
              <a:t>denominator named, the trap seen, the number tied to a decision.</a:t>
            </a:r>
          </a:p>
          <a:p>
            <a:r>
              <a:t>Transition: the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Walk the two answers side by side. Say what the interviewer listens for: the</a:t>
            </a:r>
          </a:p>
          <a:p>
            <a:r>
              <a:t>base rate named, the mechanism named, a decision drawn. Say Aced's scorecard: structure first,</a:t>
            </a:r>
          </a:p>
          <a:p>
            <a:r>
              <a:t>assumptions stated, trap seen, decision named, each 0 to 2.</a:t>
            </a:r>
          </a:p>
          <a:p>
            <a:r>
              <a:t>Transition: the AI-company variant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two steps: offline on held-out carts by lift over the base rate, then</a:t>
            </a:r>
          </a:p>
          <a:p>
            <a:r>
              <a:t>online by a holdout. Say the lesson transfers: whenever a popular item looks like a winner,</a:t>
            </a:r>
          </a:p>
          <a:p>
            <a:r>
              <a:t>divide by the base rate before celebrating.</a:t>
            </a:r>
          </a:p>
          <a:p>
            <a:r>
              <a:t>Transition: the Kahoot and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Hand the room over with the sentence below. Say the faculty block is tentative</a:t>
            </a:r>
          </a:p>
          <a:p>
            <a:r>
              <a:t>until IITGN confirms (`data/programme/facts.yaml`, decision `faculty`).</a:t>
            </a:r>
          </a:p>
          <a:p>
            <a:r>
              <a:t>Transition: the handoff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it aloud as it stands. Say the W4-2 block is tentative until IIT Gandhinagar</a:t>
            </a:r>
          </a:p>
          <a:p>
            <a:r>
              <a:t>confirms. Tomorrow's pre-read ships tonight.</a:t>
            </a:r>
          </a:p>
          <a:p>
            <a:r>
              <a:t>Transition: the Kahoot and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Kahoot. Item 6 is the return question from Tuesday; the rest cover</a:t>
            </a:r>
          </a:p>
          <a:p>
            <a:r>
              <a:t>today's five levels. Close the day with the one-line summary: pairs beat chance by lift, three</a:t>
            </a:r>
          </a:p>
          <a:p>
            <a:r>
              <a:t>slots pay the growth lead's bill, and the Kalpa lab repeats the same method on the Rs 199</a:t>
            </a:r>
          </a:p>
          <a:p>
            <a:r>
              <a:t>charger.</a:t>
            </a:r>
          </a:p>
          <a:p>
            <a:r>
              <a:t>Transition: the day ends; tomorrow is Zomato Gold and the cohort triangle.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66847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WEDNESDAY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three slots and the Kalpa transfer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“Which three pairs fill the strip, and which measure cannot be fooled by popularity.”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afternoon's unguided chapter, the interview room and the handoff into the IITGN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99339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The three slots and the Kalpa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Pick three slots and defend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afternoon's unguided chapter 3 part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The three slots and the Kalpa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prompt: 30 minutes, nine groups, one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room produces by the end of the block.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_637b34e7c7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Pick three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From the notebook's pairs table, three with support at least 1 percent and lift well above 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culator_852ec1ae17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each slot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Views, click-through, add rate, margin per add; each labelled with its range.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ook_688daf7d17a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Write the 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heavy tenth and the stock-out; what each would change about the number.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Answer the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Two sentences. The number comes before the explanation.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35" name="Oval 3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37" name="Oval 36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proposal template, four fields in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a group's handed-in proposal has to say.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180794"/>
                <a:gridCol w="69501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three pairs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Named, with support and lift from the notebook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rupee value per slot per month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the model, with each assumption's range beside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caveats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Heavy-tenth share and the stock-out, with the recomputation the paper would run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 to the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sentences, the number first, then the mechanism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4" name="Oval 13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method ladder for the strip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goes from the pairs table to a one-sentence answer?</a:t>
            </a:r>
          </a:p>
        </p:txBody>
      </p:sp>
      <p:pic>
        <p:nvPicPr>
          <p:cNvPr id="9" name="mermaid diagram" descr="86f9cf1fb543b1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4492" y="1682496"/>
            <a:ext cx="938045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method is a line: table, floor, lift, rupees, caveats, two sentences. The caveats are a labelled line in the proposal, with the recomputation the paper would carry.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5" name="Oval 14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question the day equips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transcript the room reads in pairs, then the AI-company variant.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The three slots and the Kalpa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question, asked exactly as it reaches 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Support, confidence, lift: which cannot be fooled by popularity?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72440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_482bd27f0d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INTERVIEWER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"Support, confidence, lift. Which one cannot be fooled by popularity, and why? Follow up with a product example."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WEAK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Says confidence is "how likely they are to go together" and stops. The interviewer waits.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b9076ab140e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HIRE-GRADE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"Lift divides by the base rate, so a popular item cannot inflate it. On Instamart, milk's confidence to bread is 0.74 and its lift is 1.04; lift says they are nearly independent."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192cf68fa4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FOLLOW-UP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"An LLM shopping assistant suggests milk often. How would you score it?"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35" name="Oval 3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37" name="Oval 36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AI variant: lift over a popularity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measure for an LLM shopping assistant's add-on suggestions?</a:t>
            </a:r>
          </a:p>
        </p:txBody>
      </p:sp>
      <p:pic>
        <p:nvPicPr>
          <p:cNvPr id="9" name="mermaid diagram" descr="daed97f4549061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23574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60557"/>
            <a:ext cx="11130991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assistant that suggests milk is "accepted" often because milk is popular. The measure is lift of the assistant's suggestions over a popularity baseline, computed on held-out carts. The number is then validated by a holdout in production: run the assistant on half the carts, the baseline on the other half, measure incremental adds per cart. The base-rate trap is the same one Amazon fixed.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5" name="Oval 14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handoff into the W4-2 faculty block (tentative)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the trainer hands to the faculty, in one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The three slots and the Kalpa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lift read as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trainer says, word for word, before the faculty takes 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32079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32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You counted support, confidence and lift on twelve carts and on forty thousand. The next 120 minutes show the same three numbers as probabilities: a lift near one is independence made visible, which is what milk showed you. The support floor you set is what lets an algorithm skip counting every combination.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15" name="Oval 14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 and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eight items of today's ungraded quiz.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6028" y="2523744"/>
            <a:ext cx="9899637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1</a:t>
            </a:r>
          </a:p>
        </p:txBody>
      </p:sp>
      <p:sp>
        <p:nvSpPr>
          <p:cNvPr id="11" name="Oval 10"/>
          <p:cNvSpPr/>
          <p:nvPr/>
        </p:nvSpPr>
        <p:spPr>
          <a:xfrm>
            <a:off x="104544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902169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Milk and bread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902169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number is 0.74 on 40,000 Pune carts? Confidence from bread to milk.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4585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2</a:t>
            </a:r>
          </a:p>
        </p:txBody>
      </p:sp>
      <p:sp>
        <p:nvSpPr>
          <p:cNvPr id="16" name="Oval 15"/>
          <p:cNvSpPr/>
          <p:nvPr/>
        </p:nvSpPr>
        <p:spPr>
          <a:xfrm>
            <a:off x="2459678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44585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9177" y="2990088"/>
            <a:ext cx="902169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Lift read right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9177" y="3492500"/>
            <a:ext cx="902169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pair's lift of 1.04 means found together as often as independence predicts.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8819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3</a:t>
            </a:r>
          </a:p>
        </p:txBody>
      </p:sp>
      <p:sp>
        <p:nvSpPr>
          <p:cNvPr id="21" name="Oval 20"/>
          <p:cNvSpPr/>
          <p:nvPr/>
        </p:nvSpPr>
        <p:spPr>
          <a:xfrm>
            <a:off x="38739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58819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411" y="2990088"/>
            <a:ext cx="902169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blend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3411" y="3277870"/>
            <a:ext cx="902169" cy="1357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50 percent milk-slot impressions at 1.2 CTR plus 50 percent other at 6.4 blends to 3.8 percent.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053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4</a:t>
            </a:r>
          </a:p>
        </p:txBody>
      </p:sp>
      <p:sp>
        <p:nvSpPr>
          <p:cNvPr id="26" name="Oval 25"/>
          <p:cNvSpPr/>
          <p:nvPr/>
        </p:nvSpPr>
        <p:spPr>
          <a:xfrm>
            <a:off x="528814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053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645" y="2990088"/>
            <a:ext cx="902169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thin pair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645" y="3492500"/>
            <a:ext cx="902169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Ice cream and chocolate sauce at lift 4.47 on 100 carts: watch list, not promote.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7287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5</a:t>
            </a:r>
          </a:p>
        </p:txBody>
      </p:sp>
      <p:sp>
        <p:nvSpPr>
          <p:cNvPr id="31" name="Oval 30"/>
          <p:cNvSpPr/>
          <p:nvPr/>
        </p:nvSpPr>
        <p:spPr>
          <a:xfrm>
            <a:off x="670238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87287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1879" y="2990088"/>
            <a:ext cx="902169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rupee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1879" y="3277870"/>
            <a:ext cx="902169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Rs 14,040 a day per slot is the gap between a milk slot and a chance-beating slot.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1521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6</a:t>
            </a:r>
          </a:p>
        </p:txBody>
      </p:sp>
      <p:sp>
        <p:nvSpPr>
          <p:cNvPr id="36" name="Oval 35"/>
          <p:cNvSpPr/>
          <p:nvPr/>
        </p:nvSpPr>
        <p:spPr>
          <a:xfrm>
            <a:off x="811661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01521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66113" y="2990088"/>
            <a:ext cx="902169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Return 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6113" y="3492500"/>
            <a:ext cx="902169" cy="1357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four defence moves from Tuesday, by name: restate, answer, concede, what would change your mind.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15755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7</a:t>
            </a:r>
          </a:p>
        </p:txBody>
      </p:sp>
      <p:sp>
        <p:nvSpPr>
          <p:cNvPr id="41" name="Oval 40"/>
          <p:cNvSpPr/>
          <p:nvPr/>
        </p:nvSpPr>
        <p:spPr>
          <a:xfrm>
            <a:off x="9530848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015755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0347" y="2990088"/>
            <a:ext cx="902169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347" y="3277870"/>
            <a:ext cx="902169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Recomputing per customer drops chips and cold drink's lift because of heavy shoppers.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9989" y="1956816"/>
            <a:ext cx="1231353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8</a:t>
            </a:r>
          </a:p>
        </p:txBody>
      </p:sp>
      <p:sp>
        <p:nvSpPr>
          <p:cNvPr id="46" name="Oval 45"/>
          <p:cNvSpPr/>
          <p:nvPr/>
        </p:nvSpPr>
        <p:spPr>
          <a:xfrm>
            <a:off x="1094508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429989" y="2843784"/>
            <a:ext cx="1231353" cy="211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94581" y="2990088"/>
            <a:ext cx="902169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AI variant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94581" y="3277870"/>
            <a:ext cx="902169" cy="1357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 LLM assistant that suggests milk is scored on lift over a popularity baseline, then by a holdout.</a:t>
            </a:r>
          </a:p>
        </p:txBody>
      </p:sp>
      <p:sp>
        <p:nvSpPr>
          <p:cNvPr id="50" name="Oval 4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Pick three slots and defend them</a:t>
            </a:r>
          </a:p>
        </p:txBody>
      </p:sp>
      <p:sp>
        <p:nvSpPr>
          <p:cNvPr id="52" name="Oval 5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87752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question the day equips</a:t>
            </a:r>
          </a:p>
        </p:txBody>
      </p:sp>
      <p:sp>
        <p:nvSpPr>
          <p:cNvPr id="54" name="Oval 53"/>
          <p:cNvSpPr/>
          <p:nvPr/>
        </p:nvSpPr>
        <p:spPr>
          <a:xfrm>
            <a:off x="46557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5452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into the W4-2 faculty block (tentative)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