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after lunch. The morning ended with the method: lift above a 1 percent</a:t>
            </a:r>
          </a:p>
          <a:p>
            <a:r>
              <a:t>floor, a slot priced at Rs 17,280 against Rs 3,240 a day, Rs 6.3 lakh a month recovered. Chapter 3,</a:t>
            </a:r>
          </a:p>
          <a:p>
            <a:r>
              <a:t>part two, level L5, unguided in groups of about four on notebook 03; then the interview room and</a:t>
            </a:r>
          </a:p>
          <a:p>
            <a:r>
              <a:t>the Kahoot. The IITGN faculty session (tentative) takes the next 120. 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to brief, then 25 minutes of group work. The TA moves between tables. A group that</a:t>
            </a:r>
          </a:p>
          <a:p>
            <a:r>
              <a:t>picks a pair below the floor is asked "how many carts would the slot touch?". A group that prices</a:t>
            </a:r>
          </a:p>
          <a:p>
            <a:r>
              <a:t>sales instead of margin is asked "which number does the growth lead keep?". Transition: the</a:t>
            </a:r>
          </a:p>
          <a:p>
            <a:r>
              <a:t>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fields on this slide are the template; the strip set's solutions file is released at the</a:t>
            </a:r>
          </a:p>
          <a:p>
            <a:r>
              <a:t>close. Transition: the objection each group must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Tuesday's four moves, used on today's numbers: restate until the owner agrees,</a:t>
            </a:r>
          </a:p>
          <a:p>
            <a:r>
              <a:t>answer from the evidence, concede what is true, say what would change your mind. Two groups read</a:t>
            </a:r>
          </a:p>
          <a:p>
            <a:r>
              <a:t>their answers aloud; the room names the move each sentence makes. 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section. Level L6. The full transcript is read in pairs from the extras</a:t>
            </a:r>
          </a:p>
          <a:p>
            <a:r>
              <a:t>folder, and each pair scores the other on its seven criteria. Transition: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read the two answers side by side and score both on the scorecard's seven</a:t>
            </a:r>
          </a:p>
          <a:p>
            <a:r>
              <a:t>lines. The weak answer is not wrong about confidence's meaning; it is wrong about what to do with</a:t>
            </a:r>
          </a:p>
          <a:p>
            <a:r>
              <a:t>it.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follow-up is one of the morning's traps asked as a question. Transition: the</a:t>
            </a:r>
          </a:p>
          <a:p>
            <a:r>
              <a:t>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Programme-written variant. The base-rate trap is the same one the strip fell</a:t>
            </a:r>
          </a:p>
          <a:p>
            <a:r>
              <a:t>into, now inside a model's evaluation. Amazon's Prime Video team saw why the cutoff date matters</a:t>
            </a:r>
          </a:p>
          <a:p>
            <a:r>
              <a:t>(Amazon Science, checked 12 October 2026): its first autoencoder trailed a popularity ranking of</a:t>
            </a:r>
          </a:p>
          <a:p>
            <a:r>
              <a:t>recent rentals until it was trained on viewing sorted by time.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section: the handoff, the Kahoot and the close. Transition: the handoff</a:t>
            </a:r>
          </a:p>
          <a:p>
            <a:r>
              <a:t>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line as it stands. Park any question about how long a watch-list trial</a:t>
            </a:r>
          </a:p>
          <a:p>
            <a:r>
              <a:t>must run for the faculty session (tentative). 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Kahoot pack from the kahoot folder; it is ungraded. Re-teach in one line</a:t>
            </a:r>
          </a:p>
          <a:p>
            <a:r>
              <a:t>any item most of the room misses.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two learners to say the sentence without notes. The lab after class runs the</a:t>
            </a:r>
          </a:p>
          <a:p>
            <a:r>
              <a:t>same method on Kalpa Retail's baskets.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strip would you ship?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three pairs, priced how, and how do you answer a category manager who wants milk in every slot?</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Ship one strip in 35 minutes, priced and defended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Rank three pairs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From the pairs table: support at least 1 percent and lift 1.5 or more, each with its two numbers.</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Price the strip</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slot a day and the month recovered, each assumption with its range.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two doubts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with the check and the number it gave.</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STEP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Answer the category manager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Two sentences: the number first, then what you concede.</a:t>
            </a:r>
          </a:p>
        </p:txBody>
      </p:sp>
      <p:sp>
        <p:nvSpPr>
          <p:cNvPr id="33" name="TextBox 32"/>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one-page strip is what each group hands in. The strip set in exercises/unguided asks the same steps as four items; a group posts its four letters once its page is done.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6" name="Oval 35"/>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8" name="Oval 37"/>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one-page strip: four fields, one line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handed-in page say?</a:t>
            </a:r>
          </a:p>
        </p:txBody>
      </p:sp>
      <p:pic>
        <p:nvPicPr>
          <p:cNvPr id="9" name="mermaid diagram" descr="5d4b1bd1f6a32e5c.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strip that names a pair without its support, or a rupee figure without its ranges, is sent back.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"Milk is our top seller; put it in every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category manager's objection is right, and what answers the rest?</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is in most carts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is in 71 percent of carts and brings shoppers back daily.</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slot moves nothing</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Milk slots click at 1.2 percent against 6.4; lift with every common item sits near one.</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belongs in the cart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Which is why it needs no reminder; keep it on the home screen and in search.</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milk clicked like the rest</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two-zone test where milk slots matched 6.4 percent would put milk back.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Which strip would you ship?</a:t>
            </a:r>
          </a:p>
        </p:txBody>
      </p:sp>
      <p:sp>
        <p:nvSpPr>
          <p:cNvPr id="35" name="Oval 34"/>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7" name="Oval 36"/>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measure can popularity not fool?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a strong candidate answer the day's question in a product-analytics interview?</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popularity out; confidence does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"Support, confidence, lift: which one cannot be fooled by popularity, and why?"</a:t>
            </a:r>
          </a:p>
        </p:txBody>
      </p:sp>
      <p:sp>
        <p:nvSpPr>
          <p:cNvPr id="9" name="Rounded Rectangle 8"/>
          <p:cNvSpPr/>
          <p:nvPr/>
        </p:nvSpPr>
        <p:spPr>
          <a:xfrm>
            <a:off x="53035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x_1ea7e70f5a0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WEAK ANSWER</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Confidence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"Confidence, because it is the probability of B given A, so the highest-confidence pair goes in the strip." It ranks milk first.</a:t>
            </a:r>
          </a:p>
        </p:txBody>
      </p:sp>
      <p:sp>
        <p:nvSpPr>
          <p:cNvPr id="15" name="Rounded Rectangle 14"/>
          <p:cNvSpPr/>
          <p:nvPr/>
        </p:nvSpPr>
        <p:spPr>
          <a:xfrm>
            <a:off x="4301642" y="1956816"/>
            <a:ext cx="3588410"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eck_adac4adaf5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HIRE-GRADE ANSWER</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Lift, because it divides by the base rate</a:t>
            </a:r>
          </a:p>
        </p:txBody>
      </p:sp>
      <p:sp>
        <p:nvSpPr>
          <p:cNvPr id="20" name="TextBox 19"/>
          <p:cNvSpPr txBox="1"/>
          <p:nvPr/>
        </p:nvSpPr>
        <p:spPr>
          <a:xfrm>
            <a:off x="4502810" y="3534664"/>
            <a:ext cx="3186074" cy="944626"/>
          </a:xfrm>
          <a:prstGeom prst="rect">
            <a:avLst/>
          </a:prstGeom>
          <a:noFill/>
        </p:spPr>
        <p:txBody>
          <a:bodyPr wrap="square" anchor="t" lIns="0" rIns="0" tIns="0" bIns="0">
            <a:spAutoFit/>
          </a:bodyPr>
          <a:lstStyle/>
          <a:p>
            <a:pPr algn="l"/>
            <a:r>
              <a:rPr sz="1100" b="0" i="0">
                <a:solidFill>
                  <a:srgbClr val="CFC9EE"/>
                </a:solidFill>
                <a:latin typeface="Calibri"/>
              </a:rPr>
              <a:t>"Bread to milk reads confidence 0.74, but milk is in 71 percent of carts anyway, so lift is 1.04. Chips and cold drink read 0.42 and lift 3.39. I rank by lift above a support floor."</a:t>
            </a:r>
          </a:p>
        </p:txBody>
      </p:sp>
      <p:sp>
        <p:nvSpPr>
          <p:cNvPr id="21" name="Rounded Rectangle 20"/>
          <p:cNvSpPr/>
          <p:nvPr/>
        </p:nvSpPr>
        <p:spPr>
          <a:xfrm>
            <a:off x="807293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ear_2c90737cfd2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THE INTERVIEWER LISTENS FOR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base rate and its window</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Three questions kept apart, the denominator and window said aloud, a floor, a decision.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29" name="Oval 28"/>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31" name="Oval 30"/>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hire-grade answer say?</a:t>
            </a:r>
          </a:p>
        </p:txBody>
      </p:sp>
      <p:graphicFrame>
        <p:nvGraphicFramePr>
          <p:cNvPr id="9" name="Table 8"/>
          <p:cNvGraphicFramePr>
            <a:graphicFrameLocks noGrp="1"/>
          </p:cNvGraphicFramePr>
          <p:nvPr/>
        </p:nvGraphicFramePr>
        <p:xfrm>
          <a:off x="530352" y="1956816"/>
          <a:ext cx="11130990" cy="389737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1095248">
                <a:tc>
                  <a:txBody>
                    <a:bodyPr/>
                    <a:lstStyle/>
                    <a:p>
                      <a:r>
                        <a:rPr sz="1400" b="0" i="0">
                          <a:solidFill>
                            <a:srgbClr val="1A1440"/>
                          </a:solidFill>
                          <a:latin typeface="Calibri"/>
                        </a:rPr>
                        <a:t>A pair has lift 4.6 and support 0.25 percent: act?</a:t>
                      </a:r>
                    </a:p>
                  </a:txBody>
                  <a:tcPr marL="101600" marR="101600" marT="38100" marB="38100" anchor="ctr">
                    <a:solidFill>
                      <a:srgbClr val="FFFFFF"/>
                    </a:solidFill>
                  </a:tcPr>
                </a:tc>
                <a:tc>
                  <a:txBody>
                    <a:bodyPr/>
                    <a:lstStyle/>
                    <a:p>
                      <a:r>
                        <a:rPr sz="1400" b="0" i="0">
                          <a:solidFill>
                            <a:srgbClr val="1A1440"/>
                          </a:solidFill>
                          <a:latin typeface="Calibri"/>
                        </a:rPr>
                        <a:t>The pair is real, 100 carts against 22 by chance, but it shows only beside ice cream, about 2,400 views a day, so in place of milk it earns about Rs 17,000 a month; it goes on the watch list and a margin test on ice-cream carts</a:t>
                      </a:r>
                    </a:p>
                  </a:txBody>
                  <a:tcPr marL="101600" marR="101600" marT="38100" marB="38100" anchor="ctr">
                    <a:solidFill>
                      <a:srgbClr val="FFFFFF"/>
                    </a:solidFill>
                  </a:tcPr>
                </a:tc>
              </a:tr>
              <a:tr h="1337056">
                <a:tc>
                  <a:txBody>
                    <a:bodyPr/>
                    <a:lstStyle/>
                    <a:p>
                      <a:r>
                        <a:rPr sz="1400" b="0" i="0">
                          <a:solidFill>
                            <a:srgbClr val="1A1440"/>
                          </a:solidFill>
                          <a:latin typeface="Calibri"/>
                        </a:rPr>
                        <a:t>Heavy buyers buy everything: what does that do to lift?</a:t>
                      </a:r>
                    </a:p>
                  </a:txBody>
                  <a:tcPr marL="101600" marR="101600" marT="38100" marB="38100" anchor="ctr">
                    <a:solidFill>
                      <a:srgbClr val="F4F2FA"/>
                    </a:solidFill>
                  </a:tcPr>
                </a:tc>
                <a:tc>
                  <a:txBody>
                    <a:bodyPr/>
                    <a:lstStyle/>
                    <a:p>
                      <a:r>
                        <a:rPr sz="1400" b="0" i="0">
                          <a:solidFill>
                            <a:srgbClr val="1A1440"/>
                          </a:solidFill>
                          <a:latin typeface="Calibri"/>
                        </a:rPr>
                        <a:t>They repeat the party pair, so count each customer once and 3.39 falls to 2.56; bigger baskets hold any pair by chance, so size the expected count by cart. Corrected for both, chips and cold drink reads 1.95 and keeps its slot, and onions and tomatoes falls to 1.38, below the 1.5 bar</a:t>
                      </a:r>
                    </a:p>
                  </a:txBody>
                  <a:tcPr marL="101600" marR="101600" marT="38100" marB="38100" anchor="ctr">
                    <a:solidFill>
                      <a:srgbClr val="F4F2FA"/>
                    </a:solidFill>
                  </a:tcPr>
                </a:tc>
              </a:tr>
              <a:tr h="1095248">
                <a:tc>
                  <a:txBody>
                    <a:bodyPr/>
                    <a:lstStyle/>
                    <a:p>
                      <a:r>
                        <a:rPr sz="1400" b="0" i="0">
                          <a:solidFill>
                            <a:srgbClr val="1A1440"/>
                          </a:solidFill>
                          <a:latin typeface="Calibri"/>
                        </a:rPr>
                        <a:t>Make it a rupee recommendation: what cost line do most forget?</a:t>
                      </a:r>
                    </a:p>
                  </a:txBody>
                  <a:tcPr marL="101600" marR="101600" marT="38100" marB="38100" anchor="ctr">
                    <a:solidFill>
                      <a:srgbClr val="FFFFFF"/>
                    </a:solidFill>
                  </a:tcPr>
                </a:tc>
                <a:tc>
                  <a:txBody>
                    <a:bodyPr/>
                    <a:lstStyle/>
                    <a:p>
                      <a:r>
                        <a:rPr sz="1400" b="0" i="0">
                          <a:solidFill>
                            <a:srgbClr val="1A1440"/>
                          </a:solidFill>
                          <a:latin typeface="Calibri"/>
                        </a:rPr>
                        <a:t>Incrementality: some adds come through search or habit anyway, so the Rs 6.3 lakh a month (Rs 3.9 lakh to Rs 9.3 lakh) is a ceiling a holdout measures; sales are never the gain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4" name="Oval 13"/>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LLM shopping assistant meets the same base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score an assistant that suggests add-ons?</a:t>
            </a:r>
          </a:p>
        </p:txBody>
      </p:sp>
      <p:pic>
        <p:nvPicPr>
          <p:cNvPr id="9" name="mermaid diagram" descr="a9a2ab03b6319fe8.png"/>
          <p:cNvPicPr>
            <a:picLocks noChangeAspect="1"/>
          </p:cNvPicPr>
          <p:nvPr/>
        </p:nvPicPr>
        <p:blipFill>
          <a:blip r:embed="rId5"/>
          <a:stretch>
            <a:fillRect/>
          </a:stretch>
        </p:blipFill>
        <p:spPr>
          <a:xfrm>
            <a:off x="1067196" y="1664208"/>
            <a:ext cx="10057302"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Acceptance flatters an assistant as confidence flattered milk. Offline is a gate: on held-out carts placed after a cutoff date, which it never saw while it was built, hide one item in each and check that it recovers the item more often than a popularity list and the current strip, leaving out each shopper's weekly staples. Online decides: customers, never carts, randomised to three arms for a length fixed in advance, scored on incremental adds, the ones that would not have happened without it, as margin per customer less serving cost.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Which measure can popularity not fool?</a:t>
            </a:r>
          </a:p>
        </p:txBody>
      </p:sp>
      <p:sp>
        <p:nvSpPr>
          <p:cNvPr id="15" name="Oval 14"/>
          <p:cNvSpPr/>
          <p:nvPr/>
        </p:nvSpPr>
        <p:spPr>
          <a:xfrm>
            <a:off x="44717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81429"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 out?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 out?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next session take from here, and what does the room take home?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strip would you ship?</a:t>
            </a:r>
          </a:p>
        </p:txBody>
      </p:sp>
      <p:sp>
        <p:nvSpPr>
          <p:cNvPr id="11" name="Rounded Rectangle 10"/>
          <p:cNvSpPr/>
          <p:nvPr/>
        </p:nvSpPr>
        <p:spPr>
          <a:xfrm>
            <a:off x="2805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measure can popularity not fool?</a:t>
            </a:r>
          </a:p>
        </p:txBody>
      </p:sp>
      <p:sp>
        <p:nvSpPr>
          <p:cNvPr id="12" name="Rounded Rectangle 11"/>
          <p:cNvSpPr/>
          <p:nvPr/>
        </p:nvSpPr>
        <p:spPr>
          <a:xfrm>
            <a:off x="5064407"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 out?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the strip re-ranked, priced and defended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lift read as probability, next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(tentative) pick up from the morning?</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You counted lift on twelve carts and on forty thousand. The next 120 minutes show the same three numbers as probabilities: a lift near one is independence made visible, which is what milk showed you, and the support floor you set is what lets an algorithm skip counting every combination.</a:t>
            </a:r>
          </a:p>
        </p:txBody>
      </p:sp>
      <p:sp>
        <p:nvSpPr>
          <p:cNvPr id="11" name="TextBox 10"/>
          <p:cNvSpPr txBox="1"/>
          <p:nvPr/>
        </p:nvSpPr>
        <p:spPr>
          <a:xfrm>
            <a:off x="530352" y="31394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Independent means that knowing one item is in the cart tells you nothing about the other, and a rule is a sentence such as "bread, so milk". The IITGN faculty session is tentative until IIT Gandhinagar confirms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16" name="Oval 15"/>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quick questions, one with a minute to 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the day's calls at speed?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1 TO 3</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three counts</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Match each count to its question; compute lift from three counts; a popular partner read right.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4 AND 5</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floor and the rupee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strong thin pair; what a promotion is worth.</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 6</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Tuesday's return question</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of an answer to an objection that is partly right.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7 AND 8</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fall and the doubts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blended rate split; counting each customer once.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34" name="Oval 33"/>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for Friday, and Thursday's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say on Friday, and what comes next?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click-through fell because the strip gave half its slots to milk, which shoppers buy anyway; ranked by lift above a 1 percent floor, the strip shows chips with cold drink, coriander with green chillies and bread with butter, and recovers about Rs 6.3 lakh a month."</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Zomato Gold in Chennai: a retention number that stays flat while every group of members shrinks. Who is leaving, and at which step?</a:t>
            </a:r>
          </a:p>
        </p:txBody>
      </p:sp>
      <p:pic>
        <p:nvPicPr>
          <p:cNvPr id="15" name="mermaid diagram" descr="fa124bfc310babd0.png"/>
          <p:cNvPicPr>
            <a:picLocks noChangeAspect="1"/>
          </p:cNvPicPr>
          <p:nvPr/>
        </p:nvPicPr>
        <p:blipFill>
          <a:blip r:embed="rId5"/>
          <a:stretch>
            <a:fillRect/>
          </a:stretch>
        </p:blipFill>
        <p:spPr>
          <a:xfrm>
            <a:off x="530352" y="4168139"/>
            <a:ext cx="11130991" cy="1331913"/>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Which strip would you ship?</a:t>
            </a:r>
          </a:p>
        </p:txBody>
      </p:sp>
      <p:sp>
        <p:nvSpPr>
          <p:cNvPr id="18" name="Oval 1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Which measure can popularity not fool?</a:t>
            </a:r>
          </a:p>
        </p:txBody>
      </p:sp>
      <p:sp>
        <p:nvSpPr>
          <p:cNvPr id="20" name="Oval 19"/>
          <p:cNvSpPr/>
          <p:nvPr/>
        </p:nvSpPr>
        <p:spPr>
          <a:xfrm>
            <a:off x="44717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81429"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 out?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