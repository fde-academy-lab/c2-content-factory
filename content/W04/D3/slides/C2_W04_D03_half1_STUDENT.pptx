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 screen as the room sits down. Read the table top to bottom, then the label line:</a:t>
            </a:r>
          </a:p>
          <a:p>
            <a:r>
              <a:t>the company is real, the situation and the data are synthetic. Define two words as they appear: an impression is</a:t>
            </a:r>
          </a:p>
          <a:p>
            <a:r>
              <a:t>one time a slot was shown, and click-through is clicks divided by impressions. Point at the three</a:t>
            </a:r>
          </a:p>
          <a:p>
            <a:r>
              <a:t>tables and their columns; every number today comes from them. Ask the room for one reason "in</a:t>
            </a:r>
          </a:p>
          <a:p>
            <a:r>
              <a:t>most carts" might be the wrong reason to show an item, and write the answers on the board</a:t>
            </a:r>
          </a:p>
          <a:p>
            <a:r>
              <a:t>without judging them. Transition: 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Monday and Tuesday carry the numbers the room produced on them. Today's node is</a:t>
            </a:r>
          </a:p>
          <a:p>
            <a:r>
              <a:t>lit; Thursday, Friday and Saturday stay dashed. The Kalpa node is the lab after class, where the</a:t>
            </a:r>
          </a:p>
          <a:p>
            <a:r>
              <a:t>same method meets Kalpa Retail's baskets. Explorer: the home screen, Wednesday lit.</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Leave the cause of the fall open:</a:t>
            </a:r>
          </a:p>
          <a:p>
            <a:r>
              <a:t>chapter 2 finds it. Say that every number on the three cards is computed in the room before</a:t>
            </a:r>
          </a:p>
          <a:p>
            <a:r>
              <a:t>lunch.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Receipts on the table: the tea stall first, then the</a:t>
            </a:r>
          </a:p>
          <a:p>
            <a:r>
              <a:t>twelve cart cards per group.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 Write the</a:t>
            </a:r>
          </a:p>
          <a:p>
            <a:r>
              <a:t>three words support, confidence, lift on the board only after the room has counted each one.</a:t>
            </a:r>
          </a:p>
          <a:p>
            <a:r>
              <a:t>Transition: ten tea-stall orders.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vote by holding up a letter. Then two minutes for neighbours to argue, and</a:t>
            </a:r>
          </a:p>
          <a:p>
            <a:r>
              <a:t>vote again. The split is usually between c and d. Do not explain lift yet; the next slide does.</a:t>
            </a:r>
          </a:p>
          <a:p>
            <a:r>
              <a:t>Transition: the dots.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Count each cell of the 2 by 2 aloud from the dots (StatQuest). Support: the</a:t>
            </a:r>
          </a:p>
          <a:p>
            <a:r>
              <a:t>shaded cell over all ten. Confidence: shrink the world to the chai row, 3 of 6. Expected: the</a:t>
            </a:r>
          </a:p>
          <a:p>
            <a:r>
              <a:t>chai share times the biscuit share times ten, 0.6 x 0.4 x 10. Lift: seen over expected. Then the</a:t>
            </a:r>
          </a:p>
          <a:p>
            <a:r>
              <a:t>reverse direction. Ask: "what would make the 1.25 a cause?" Only a test that changes chai and</a:t>
            </a:r>
          </a:p>
          <a:p>
            <a:r>
              <a:t>watches biscuit, which Monday's faculty session on A/B testing (tentative) took up. Transition: a carry bag.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day's trap in miniature, on numbers small enough to hold in the head.</a:t>
            </a:r>
          </a:p>
          <a:p>
            <a:r>
              <a:t>Ask a learner to say in one sentence why the bag looks like everyone's best partner. The answer to</a:t>
            </a:r>
          </a:p>
          <a:p>
            <a:r>
              <a:t>listen for: because it is in nearly every order. Transition: twelve real carts.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holds these twelve as printed cards. Say: "sort the pack by whether it</a:t>
            </a:r>
          </a:p>
          <a:p>
            <a:r>
              <a:t>has bread, then count how many of those have milk; now count how many have milk at all." Counts</a:t>
            </a:r>
          </a:p>
          <a:p>
            <a:r>
              <a:t>are called out and written on the board before any formula is named. When a group stops at a</a:t>
            </a:r>
          </a:p>
          <a:p>
            <a:r>
              <a:t>confidence and calls it the answer, ask: "how many carts hold milk whether or not they hold</a:t>
            </a:r>
          </a:p>
          <a:p>
            <a:r>
              <a:t>bread?" Transition: predict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commit in writing. Option b is the reverse direction, milk to bread, which</a:t>
            </a:r>
          </a:p>
          <a:p>
            <a:r>
              <a:t>reads 4 of 8.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Walk the four boxes left to right, writing each number on the board. Read the</a:t>
            </a:r>
          </a:p>
          <a:p>
            <a:r>
              <a:t>reverse confidence too: milk to bread is 4 of 8, 0.50.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GIF beside this still dims the carts in two steps (whiteboards folder). Say</a:t>
            </a:r>
          </a:p>
          <a:p>
            <a:r>
              <a:t>the sentence that stays: confidence shrinks the world to the carts with A; lift compares that world</a:t>
            </a:r>
          </a:p>
          <a:p>
            <a:r>
              <a:t>with all the carts. Explorer: scene W2, two buttons that grey the carts without A, then without B.</a:t>
            </a:r>
          </a:p>
          <a:p>
            <a:r>
              <a:t>Transition: the 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Groups compute the chips row first, then the ice cream row. Ask: "would you give a</a:t>
            </a:r>
          </a:p>
          <a:p>
            <a:r>
              <a:t>slot to the lift of 12?" Hold the answer for chapter 3's floor. Transition: what the chapter</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board was built region by region on the whiteboard through the chapter: the</a:t>
            </a:r>
          </a:p>
          <a:p>
            <a:r>
              <a:t>anchor with the dots, the three questions as each was counted, the sketches, then the two pitfalls.</a:t>
            </a:r>
          </a:p>
          <a:p>
            <a:r>
              <a:t>Ask a learner to say all three counts in one breath: how often, how reliably, against chance. Then</a:t>
            </a:r>
          </a:p>
          <a:p>
            <a:r>
              <a:t>the limit. Add "lift: beyond chance" under Wednesday on the week map. Transition: chapter 2, every</a:t>
            </a:r>
          </a:p>
          <a:p>
            <a:r>
              <a:t>cart.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Notebook 02 opens now: one plain line above every</a:t>
            </a:r>
          </a:p>
          <a:p>
            <a:r>
              <a:t>cell, run top to bottom with the room.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ends on a number from notebook 02.</a:t>
            </a:r>
          </a:p>
          <a:p>
            <a:r>
              <a:t>Transition: the first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trap aloud: the team built the strip on this table. The check is to ask</a:t>
            </a:r>
          </a:p>
          <a:p>
            <a:r>
              <a:t>how often milk would sit beside bread if the two ignored each other, which is lift's question.</a:t>
            </a:r>
          </a:p>
          <a:p>
            <a:r>
              <a:t>Transition: the five lines that counted this.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Code along in notebook 02 (Krish Naik): say what each line is for before running</a:t>
            </a:r>
          </a:p>
          <a:p>
            <a:r>
              <a:t>it. Sorting the pair keeps bread with milk and milk with bread as one key. Interview note: "why</a:t>
            </a:r>
          </a:p>
          <a:p>
            <a:r>
              <a:t>sorted?" is a 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picture as two areas (3Blue1Brown): bread's band times milk's band is</a:t>
            </a:r>
          </a:p>
          <a:p>
            <a:r>
              <a:t>the overlap chance gives; the overlap seen is barely bigger, and lift is the ratio of the two</a:t>
            </a:r>
          </a:p>
          <a:p>
            <a:r>
              <a:t>areas. Say the lesson in one line: a few carts can make a pull look strong, and the full count</a:t>
            </a:r>
          </a:p>
          <a:p>
            <a:r>
              <a:t>shows it near one. Explorer: scene W1, sliders for the two shares and the overlap.</a:t>
            </a:r>
          </a:p>
          <a:p>
            <a:r>
              <a:t>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left panel is what the new strip ranked by; the right panel is what it should</a:t>
            </a:r>
          </a:p>
          <a:p>
            <a:r>
              <a:t>have read. Feynman line for the room to repeat: "the item in every bag is the worst bundle</a:t>
            </a:r>
          </a:p>
          <a:p>
            <a:r>
              <a:t>partner, because it was going in the bag anyway". Explorer: scene W3, the milk share slider.</a:t>
            </a:r>
          </a:p>
          <a:p>
            <a:r>
              <a:t>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decision and the cost: a slot shown to everyone that moves nothing. The</a:t>
            </a:r>
          </a:p>
          <a:p>
            <a:r>
              <a:t>heavy-buyer point returns in chapter 3 as the top tenth of customers. Transition: the four pairs</a:t>
            </a:r>
          </a:p>
          <a:p>
            <a:r>
              <a:t>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chips row: confidence 0.42 looks weak beside 0.74, yet its lift is</a:t>
            </a:r>
          </a:p>
          <a:p>
            <a:r>
              <a:t>3.39. Confidence and lift can rank pairs in opposite orders. Notebook 02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notebook 02's your-turn cell: each learner splits the after rows by</a:t>
            </a:r>
          </a:p>
          <a:p>
            <a:r>
              <a:t>whether the slot suggested milk before the answer is shown. Read the daily line first: it moves a</a:t>
            </a:r>
          </a:p>
          <a:p>
            <a:r>
              <a:t>few tenths of a point every day and steps down on 7 September. The strip shows packs, so one view</a:t>
            </a:r>
          </a:p>
          <a:p>
            <a:r>
              <a:t>can show milk in two slots. Transition: which slot milk took.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strip's own pull: whatever slot 1 shows draws clicks. It returns in</a:t>
            </a:r>
          </a:p>
          <a:p>
            <a:r>
              <a:t>chapter 3 as a caveat. Transition: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then break for 10 minutes. On the board before the break: the</a:t>
            </a:r>
          </a:p>
          <a:p>
            <a:r>
              <a:t>week map with "lift: beyond chance" added under Wednesday. Transition after the break: chapter 3,</a:t>
            </a:r>
          </a:p>
          <a:p>
            <a:r>
              <a:t>what fills the strip.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L4 and L5; part one now, part two unguided after lunch.</a:t>
            </a:r>
          </a:p>
          <a:p>
            <a:r>
              <a:t>Notebook 03.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vote again (Brilliant: the problem before the explanation). The split</a:t>
            </a:r>
          </a:p>
          <a:p>
            <a:r>
              <a:t>is usually b against c.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regions: promote above the floor and well above one; watch, high lift</a:t>
            </a:r>
          </a:p>
          <a:p>
            <a:r>
              <a:t>below the floor; ignore, near one, where milk's pairs sit. The floor is a decision: 0.5 percent</a:t>
            </a:r>
          </a:p>
          <a:p>
            <a:r>
              <a:t>admits more pairs on thinner ground, 2 percent fewer. Explorer: scene W5, the floor slider counts</a:t>
            </a:r>
          </a:p>
          <a:p>
            <a:r>
              <a:t>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How long a trial must run to trust its answer is a sample-size question, parked by</a:t>
            </a:r>
          </a:p>
          <a:p>
            <a:r>
              <a:t>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left to right on the board. Each factor is said with its source and its</a:t>
            </a:r>
          </a:p>
          <a:p>
            <a:r>
              <a:t>range. Ask what the Rs 3,240 hides: milk earns Rs 2 a pouch, so a milk slot earns even less than</a:t>
            </a:r>
          </a:p>
          <a:p>
            <a:r>
              <a:t>the Rs 9 assumption gives it. Explorer: scene W4, the strip simulator, rank by count against rank</a:t>
            </a:r>
          </a:p>
          <a:p>
            <a:r>
              <a:t>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"which line of the cascade would a bundle discount change?" The margin per</a:t>
            </a:r>
          </a:p>
          <a:p>
            <a:r>
              <a:t>add falls by the discount. Transition: what the counts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doubt at a time, each with its number from notebook 03. A check that comes</a:t>
            </a:r>
          </a:p>
          <a:p>
            <a:r>
              <a:t>back clean is said in one line, as the time-of-day check does. Transition: the heavy tenth.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"Counted once" means each cart weighs one over its customer's number of carts, so</a:t>
            </a:r>
          </a:p>
          <a:p>
            <a:r>
              <a:t>a shopper with fourteen carts counts as much as a shopper with one. Transition: the stock-out.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caveat is a labelled line and a recomputation, never a disclaimer. Transition:</a:t>
            </a:r>
          </a:p>
          <a:p>
            <a:r>
              <a:t>the morning's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chain left to right. The afternoon's first 35 minutes run unguided on</a:t>
            </a:r>
          </a:p>
          <a:p>
            <a:r>
              <a:t>notebook 03. 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873504"/>
          <a:ext cx="11130990" cy="3383280"/>
        </p:xfrm>
        <a:graphic>
          <a:graphicData uri="http://schemas.openxmlformats.org/drawingml/2006/table">
            <a:tbl>
              <a:tblPr firstRow="0" bandRow="0">
                <a:tableStyleId>{2D5ABB26-0587-4C30-8999-92F81FD0307C}</a:tableStyleId>
              </a:tblPr>
              <a:tblGrid>
                <a:gridCol w="3198111"/>
                <a:gridCol w="7932879"/>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335280">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Swiggy Instamart, Pune: the cart page's strip of three suggested items</a:t>
                      </a:r>
                    </a:p>
                  </a:txBody>
                  <a:tcPr marL="101600" marR="101600" marT="38100" marB="38100" anchor="ctr">
                    <a:solidFill>
                      <a:srgbClr val="FFFFFF"/>
                    </a:solidFill>
                  </a:tcPr>
                </a:tc>
              </a:tr>
              <a:tr h="542544">
                <a:tc>
                  <a:txBody>
                    <a:bodyPr/>
                    <a:lstStyle/>
                    <a:p>
                      <a:r>
                        <a:rPr sz="1200" b="0" i="0">
                          <a:solidFill>
                            <a:srgbClr val="1A1440"/>
                          </a:solidFill>
                          <a:latin typeface="Calibri"/>
                        </a:rPr>
                        <a:t>The change</a:t>
                      </a:r>
                    </a:p>
                  </a:txBody>
                  <a:tcPr marL="101600" marR="101600" marT="38100" marB="38100" anchor="ctr">
                    <a:solidFill>
                      <a:srgbClr val="F4F2FA"/>
                    </a:solidFill>
                  </a:tcPr>
                </a:tc>
                <a:tc>
                  <a:txBody>
                    <a:bodyPr/>
                    <a:lstStyle/>
                    <a:p>
                      <a:r>
                        <a:rPr sz="12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542544">
                <a:tc>
                  <a:txBody>
                    <a:bodyPr/>
                    <a:lstStyle/>
                    <a:p>
                      <a:r>
                        <a:rPr sz="1200" b="0" i="0">
                          <a:solidFill>
                            <a:srgbClr val="1A1440"/>
                          </a:solidFill>
                          <a:latin typeface="Calibri"/>
                        </a:rPr>
                        <a:t>The metric</a:t>
                      </a:r>
                    </a:p>
                  </a:txBody>
                  <a:tcPr marL="101600" marR="101600" marT="38100" marB="38100" anchor="ctr">
                    <a:solidFill>
                      <a:srgbClr val="FFFFFF"/>
                    </a:solidFill>
                  </a:tcPr>
                </a:tc>
                <a:tc>
                  <a:txBody>
                    <a:bodyPr/>
                    <a:lstStyle/>
                    <a:p>
                      <a:r>
                        <a:rPr sz="1200" b="0" i="0">
                          <a:solidFill>
                            <a:srgbClr val="1A1440"/>
                          </a:solidFill>
                          <a:latin typeface="Calibri"/>
                        </a:rPr>
                        <a:t>Strip click-through (clicks over impressions): 6.1 percent from 17 August to 6 September, 3.8 percent from 7 to 27 September</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carts (cart_id, customer_id, placed_date, zone, time_band, cart_value_rs): 40,000 carts, 1 to 28 September, eight zones; cart_items (cart_id, item, quantity, price_rs, margin_rs); strip_log (date, slot, anchor_item, suggested_item, impressions, clicks, adds)</a:t>
                      </a:r>
                    </a:p>
                  </a:txBody>
                  <a:tcPr marL="101600" marR="101600" marT="38100" marB="38100" anchor="ctr">
                    <a:solidFill>
                      <a:srgbClr val="F4F2FA"/>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542544">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Curd ran out in two zones in week three; the top tenth of customers place 38 percent of carts; the strip causes some of the co-occurrence it counts; a cart is one order, a customer places many</a:t>
                      </a:r>
                    </a:p>
                  </a:txBody>
                  <a:tcPr marL="101600" marR="101600" marT="38100" marB="38100" anchor="ctr">
                    <a:solidFill>
                      <a:srgbClr val="F4F2FA"/>
                    </a:solidFill>
                  </a:tcPr>
                </a:tc>
              </a:tr>
            </a:tbl>
          </a:graphicData>
        </a:graphic>
      </p:graphicFrame>
      <p:sp>
        <p:nvSpPr>
          <p:cNvPr id="10" name="TextBox 9"/>
          <p:cNvSpPr txBox="1"/>
          <p:nvPr/>
        </p:nvSpPr>
        <p:spPr>
          <a:xfrm>
            <a:off x="530352" y="55128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277b60f8a026987b.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Three pairs above a 1 percent floor</a:t>
            </a:r>
          </a:p>
        </p:txBody>
      </p:sp>
      <p:sp>
        <p:nvSpPr>
          <p:cNvPr id="14" name="TextBox 13"/>
          <p:cNvSpPr txBox="1"/>
          <p:nvPr/>
        </p:nvSpPr>
        <p:spPr>
          <a:xfrm>
            <a:off x="731519"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Chips and cold drink 3.39, coriander and green chillies 3.00, bread and butter 2.21. Milk takes no slot.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1" name="Oval 30"/>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together mean?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items go together on twelve real carts, counted three ways by hand before any code opens?</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and one limit,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tea-stall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invented orders: chai on 6, biscuit on 4, both on 3. Which reading fails?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0.30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holding both, over all ten: 3 of 10.</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Confidence is 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Of the 6 chai orders, the share with biscuit: 3 of 6.</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both ways</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Seen together 3; chance gives 2.4; the ratio reads the same from biscuit.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Chai lifts biscuit sales 25%</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Chai makes a customer buy a quarter more biscuits.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since lift counts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1.25 say, read off the dots?</a:t>
            </a:r>
          </a:p>
        </p:txBody>
      </p:sp>
      <p:pic>
        <p:nvPicPr>
          <p:cNvPr id="9" name="mermaid diagram" descr="C2_W04_D03_ten_dots_STUDENT.png"/>
          <p:cNvPicPr>
            <a:picLocks noChangeAspect="1"/>
          </p:cNvPicPr>
          <p:nvPr/>
        </p:nvPicPr>
        <p:blipFill>
          <a:blip r:embed="rId4"/>
          <a:stretch>
            <a:fillRect/>
          </a:stretch>
        </p:blipFill>
        <p:spPr>
          <a:xfrm>
            <a:off x="2111716" y="1664208"/>
            <a:ext cx="7968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invented tea-stall orders as dots in two circles,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chai and biscuit ignored each other, 60 percent of the 4 biscuit orders, 2.4 orders, would hold chai. Three do. Lift is 3 / 2.4 = 1.25, and from biscuit's side it is 0.75 / 0.60, the same 1.25. The pair turns up a quarter more often than chance would put it there; ten receipts cannot say why.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carry bag: confidence 0.75, lift 0.83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partner look reliable and still sit below chance?</a:t>
            </a:r>
          </a:p>
        </p:txBody>
      </p:sp>
      <p:pic>
        <p:nvPicPr>
          <p:cNvPr id="9" name="mermaid diagram" descr="C2_W04_D03_carry_bag_STUDENT.png"/>
          <p:cNvPicPr>
            <a:picLocks noChangeAspect="1"/>
          </p:cNvPicPr>
          <p:nvPr/>
        </p:nvPicPr>
        <p:blipFill>
          <a:blip r:embed="rId4"/>
          <a:stretch>
            <a:fillRect/>
          </a:stretch>
        </p:blipFill>
        <p:spPr>
          <a:xfrm>
            <a:off x="1742057" y="1664208"/>
            <a:ext cx="870758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from biscuit to carry bag beside the bag's share of all orders, invented counts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Add a carry bag, invented, in 9 of the 10 orders and in 3 of the 4 biscuit orders. Confidence from biscuit to bag is 0.75, which sounds like a bundle. The bag is in 0.90 of all orders, so lift is 0.75 / 0.90 = 0.83: biscuit orders hold a bag a little less often than orders in general. The item in every bag earns high confidence toward everything.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real carts: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Confidence looked only inside the four bread carts. The check: milk is in 8 of 12 carts anyway. The fix: read lift, 1.50, on too few carts to trust.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a number with nothing under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two pitfalls, and what twelve cannot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carts answer, and what goes on the concept board?</a:t>
            </a:r>
          </a:p>
        </p:txBody>
      </p:sp>
      <p:pic>
        <p:nvPicPr>
          <p:cNvPr id="9" name="mermaid diagram" descr="f1b7f5fb7ba6133e.png"/>
          <p:cNvPicPr>
            <a:picLocks noChangeAspect="1"/>
          </p:cNvPicPr>
          <p:nvPr/>
        </p:nvPicPr>
        <p:blipFill>
          <a:blip r:embed="rId5"/>
          <a:stretch>
            <a:fillRect/>
          </a:stretch>
        </p:blipFill>
        <p:spPr>
          <a:xfrm>
            <a:off x="1823827" y="1664208"/>
            <a:ext cx="8544040"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concept board "Which pairs beat chance?", finished. Lift joins the week's map as "beyond chance": Thursday asks the same of a cohort against the blend, Friday of a forecast against the baseline. Twelve carts cannot say whether 1.50 is a real pull or four lucky carts.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support, confidence and lift say across every cart, and why did the click-through fall?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sit together most often?</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And is that count the ranking the strip should use?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exactly what the strip has shown since 7 September. A count rewards the popular item, whatever it is paired with.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cart becomes a set of items; every pair inside it adds one to its tally; lift is carts with both, times all carts, over the two items' own counts. The same three counts as the cards, with n =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9" name="Oval 18"/>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04189" y="1664208"/>
            <a:ext cx="7983316"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and lift 1.04: milk sits beside bread about as often as it sits in any cart. Chance gives 0.34 x 0.71 = 0.241 of carts holding both; 0.252 do.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219180" y="1664208"/>
            <a:ext cx="975333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twelve most common items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Its recommender team wrote that counting how often buyers of A also bought B would have made a bestseller such as Harry Potter the top recommendation beside everything. The fix compared what was seen with what chance would predict, which is lift in spirit. Years later the team measured the base rate per purchase, because heavy buyers inflate every count (Amazon Science, checked 12 October 2026).</a:t>
            </a:r>
          </a:p>
        </p:txBody>
      </p:sp>
      <p:sp>
        <p:nvSpPr>
          <p:cNvPr id="12" name="TextBox 11"/>
          <p:cNvSpPr txBox="1"/>
          <p:nvPr/>
        </p:nvSpPr>
        <p:spPr>
          <a:xfrm>
            <a:off x="530352" y="34625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7" name="Oval 1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lift is also confidence over the partner's share. Bread to milk 0.74 / 0.71 = 1.04, and milk to bread 0.35 / 0.34 = 1.04. Both routes agree and lift reads the same from either side.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9"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40,000 carts answer?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 in 71 percent of carts</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Bread 34, eggs 29, curd 26 percent.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MOST OFTEN TOGETHER?</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Pairs with milk</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Bread and milk lead with 10,064 carts, so a count fills the strip with milk.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LIFT SAYS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Near one with milk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1.04, eggs 1.03; chips and cold drink 3.39.</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WHY THE FALL</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half of the slots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1.2 percent on milk, 6.4 on the rest, 3.8 blended.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2" name="Oval 3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4" name="Oval 3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fills the strip?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pairs should fill the strip, what is a slot worth in rupees, and what can the counts not tell us?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anchors the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by enough, on enough carts?</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the watch list do with a strong thin pair?</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27" name="TextBox 26"/>
          <p:cNvSpPr txBox="1"/>
          <p:nvPr/>
        </p:nvSpPr>
        <p:spPr>
          <a:xfrm>
            <a:off x="6351879"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Six doubts and the check for each.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ways of ranking compete?</a:t>
            </a:r>
          </a:p>
        </p:txBody>
      </p:sp>
      <p:pic>
        <p:nvPicPr>
          <p:cNvPr id="9" name="mermaid diagram" descr="C2_W04_D03_action_map_STUDENT.png"/>
          <p:cNvPicPr>
            <a:picLocks noChangeAspect="1"/>
          </p:cNvPicPr>
          <p:nvPr/>
        </p:nvPicPr>
        <p:blipFill>
          <a:blip r:embed="rId4"/>
          <a:stretch>
            <a:fillRect/>
          </a:stretch>
        </p:blipFill>
        <p:spPr>
          <a:xfrm>
            <a:off x="1536619" y="1664208"/>
            <a:ext cx="9118456" cy="3561080"/>
          </a:xfrm>
          <a:prstGeom prst="rect">
            <a:avLst/>
          </a:prstGeom>
        </p:spPr>
      </p:pic>
      <p:sp>
        <p:nvSpPr>
          <p:cNvPr id="10" name="picture caption"/>
          <p:cNvSpPr txBox="1"/>
          <p:nvPr/>
        </p:nvSpPr>
        <p:spPr>
          <a:xfrm>
            <a:off x="530352" y="52618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588000"/>
            <a:ext cx="11130991" cy="611631"/>
          </a:xfrm>
          <a:prstGeom prst="rect">
            <a:avLst/>
          </a:prstGeom>
          <a:noFill/>
        </p:spPr>
        <p:txBody>
          <a:bodyPr wrap="square" anchor="t" lIns="0" rIns="0" tIns="0" bIns="0">
            <a:spAutoFit/>
          </a:bodyPr>
          <a:lstStyle/>
          <a:p>
            <a:r>
              <a:rPr sz="1400" b="0" i="0">
                <a:solidFill>
                  <a:srgbClr val="1A1440"/>
                </a:solidFill>
                <a:latin typeface="Calibri"/>
              </a:rPr>
              <a:t>Above a floor of 1 percent of carts (400 carts), 246 pairs qualify and four beat chance clearly: chips and cold drink 3.39, coriander and green chillies 3.00, bread and butter 2.21, onions and tomatoes 1.70. The fifth reads 1.09.</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team do with a strong pair that almost nobody buys?</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and 1 percent support, on 100 carts in four weeks of this sample. A slot is shown on every cart page, so a pair that thin cannot repay it. It goes on a watch list: tried in two zones for two weeks and promoted only if its click-through beats the slot's own record. Acting on lift alone is the trap a floor exists to stop.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four numbers build a slot's value, and what does a month recover?</a:t>
            </a:r>
          </a:p>
        </p:txBody>
      </p:sp>
      <p:pic>
        <p:nvPicPr>
          <p:cNvPr id="9" name="mermaid diagram" descr="C2_W04_D03_slot_value_STUDENT.png"/>
          <p:cNvPicPr>
            <a:picLocks noChangeAspect="1"/>
          </p:cNvPicPr>
          <p:nvPr/>
        </p:nvPicPr>
        <p:blipFill>
          <a:blip r:embed="rId4"/>
          <a:stretch>
            <a:fillRect/>
          </a:stretch>
        </p:blipFill>
        <p:spPr>
          <a:xfrm>
            <a:off x="1088110" y="1664208"/>
            <a:ext cx="1001547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60,000 views a day (strip_log) x click-through x 0.5 adds per click (range 0.4 to 0.6) x Rs 9 margin an add (range Rs 7 to 11). Milk's half of three slots is 1.5 slots' worth: Rs 4.2 lakh x 1.5 = Rs 6.3 lakh a month, from Rs 3.9 lakh to Rs 9.3 lakh across the ranges.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a slot at 6.4 percent makes 1,920 adds a day, each selling for about Rs 42, so Rs 80,197 a day of "strip revenue". The growth lead keeps the margin, Rs 17,280. If the strip ever adds a bundle discount, the discount is margin handed back for adds that might have happened anyway. Swiggy's own letter describes its Maxxsaver discount as margin returned to the user, the cost line a rupee case must carry (W4,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9" name="Table 8"/>
          <p:cNvGraphicFramePr>
            <a:graphicFrameLocks noGrp="1"/>
          </p:cNvGraphicFramePr>
          <p:nvPr/>
        </p:nvGraphicFramePr>
        <p:xfrm>
          <a:off x="530352" y="1921256"/>
          <a:ext cx="11130989" cy="4039616"/>
        </p:xfrm>
        <a:graphic>
          <a:graphicData uri="http://schemas.openxmlformats.org/drawingml/2006/table">
            <a:tbl>
              <a:tblPr firstRow="0" bandRow="0">
                <a:tableStyleId>{2D5ABB26-0587-4C30-8999-92F81FD0307C}</a:tableStyleId>
              </a:tblPr>
              <a:tblGrid>
                <a:gridCol w="2745206"/>
                <a:gridCol w="3095080"/>
                <a:gridCol w="5290703"/>
              </a:tblGrid>
              <a:tr h="369824">
                <a:tc>
                  <a:txBody>
                    <a:bodyPr/>
                    <a:lstStyle/>
                    <a:p>
                      <a:r>
                        <a:rPr sz="1450" b="1" i="0">
                          <a:solidFill>
                            <a:srgbClr val="FFFFFF"/>
                          </a:solidFill>
                          <a:latin typeface="Calibri"/>
                        </a:rPr>
                        <a:t>Doubt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c>
                  <a:txBody>
                    <a:bodyPr/>
                    <a:lstStyle/>
                    <a:p>
                      <a:r>
                        <a:rPr sz="1450" b="1" i="0">
                          <a:solidFill>
                            <a:srgbClr val="FFFFFF"/>
                          </a:solidFill>
                          <a:latin typeface="Calibri"/>
                        </a:rPr>
                        <a:t>What it showed</a:t>
                      </a:r>
                    </a:p>
                  </a:txBody>
                  <a:tcPr marL="101600" marR="101600" marT="38100" marB="38100" anchor="ctr">
                    <a:solidFill>
                      <a:srgbClr val="1A0F5C"/>
                    </a:solidFill>
                  </a:tcPr>
                </a:tc>
              </a:tr>
              <a:tr h="611632">
                <a:tc>
                  <a:txBody>
                    <a:bodyPr/>
                    <a:lstStyle/>
                    <a:p>
                      <a:r>
                        <a:rPr sz="1400" b="0" i="0">
                          <a:solidFill>
                            <a:srgbClr val="1A1440"/>
                          </a:solidFill>
                          <a:latin typeface="Calibri"/>
                        </a:rPr>
                        <a:t>Together is no proof of cause</a:t>
                      </a:r>
                    </a:p>
                  </a:txBody>
                  <a:tcPr marL="101600" marR="101600" marT="38100" marB="38100" anchor="ctr">
                    <a:solidFill>
                      <a:srgbClr val="FFFFFF"/>
                    </a:solidFill>
                  </a:tcPr>
                </a:tc>
                <a:tc>
                  <a:txBody>
                    <a:bodyPr/>
                    <a:lstStyle/>
                    <a:p>
                      <a:r>
                        <a:rPr sz="1400" b="0" i="0">
                          <a:solidFill>
                            <a:srgbClr val="1A1440"/>
                          </a:solidFill>
                          <a:latin typeface="Calibri"/>
                        </a:rPr>
                        <a:t>A holdout that changes the strip</a:t>
                      </a:r>
                    </a:p>
                  </a:txBody>
                  <a:tcPr marL="101600" marR="101600" marT="38100" marB="38100" anchor="ctr">
                    <a:solidFill>
                      <a:srgbClr val="FFFFFF"/>
                    </a:solidFill>
                  </a:tcPr>
                </a:tc>
                <a:tc>
                  <a:txBody>
                    <a:bodyPr/>
                    <a:lstStyle/>
                    <a:p>
                      <a:r>
                        <a:rPr sz="1400" b="0" i="0">
                          <a:solidFill>
                            <a:srgbClr val="1A1440"/>
                          </a:solidFill>
                          <a:latin typeface="Calibri"/>
                        </a:rPr>
                        <a:t>Monday's faculty session on A/B testing (tentative)</a:t>
                      </a:r>
                    </a:p>
                  </a:txBody>
                  <a:tcPr marL="101600" marR="101600" marT="38100" marB="38100" anchor="ctr">
                    <a:solidFill>
                      <a:srgbClr val="FFFFFF"/>
                    </a:solidFill>
                  </a:tcPr>
                </a:tc>
              </a:tr>
              <a:tr h="611632">
                <a:tc>
                  <a:txBody>
                    <a:bodyPr/>
                    <a:lstStyle/>
                    <a:p>
                      <a:r>
                        <a:rPr sz="1400" b="0" i="0">
                          <a:solidFill>
                            <a:srgbClr val="1A1440"/>
                          </a:solidFill>
                          <a:latin typeface="Calibri"/>
                        </a:rPr>
                        <a:t>Heavy buyers</a:t>
                      </a:r>
                    </a:p>
                  </a:txBody>
                  <a:tcPr marL="101600" marR="101600" marT="38100" marB="38100" anchor="ctr">
                    <a:solidFill>
                      <a:srgbClr val="F4F2FA"/>
                    </a:solidFill>
                  </a:tcPr>
                </a:tc>
                <a:tc>
                  <a:txBody>
                    <a:bodyPr/>
                    <a:lstStyle/>
                    <a:p>
                      <a:r>
                        <a:rPr sz="1400" b="0" i="0">
                          <a:solidFill>
                            <a:srgbClr val="1A1440"/>
                          </a:solidFill>
                          <a:latin typeface="Calibri"/>
                        </a:rPr>
                        <a:t>Count each customer once</a:t>
                      </a:r>
                    </a:p>
                  </a:txBody>
                  <a:tcPr marL="101600" marR="101600" marT="38100" marB="38100" anchor="ctr">
                    <a:solidFill>
                      <a:srgbClr val="F4F2FA"/>
                    </a:solidFill>
                  </a:tcPr>
                </a:tc>
                <a:tc>
                  <a:txBody>
                    <a:bodyPr/>
                    <a:lstStyle/>
                    <a:p>
                      <a:r>
                        <a:rPr sz="1400" b="0" i="0">
                          <a:solidFill>
                            <a:srgbClr val="1A1440"/>
                          </a:solidFill>
                          <a:latin typeface="Calibri"/>
                        </a:rPr>
                        <a:t>Chips and cold drink 3.39 falls to 2.56; milk's pair stays 1.04</a:t>
                      </a:r>
                    </a:p>
                  </a:txBody>
                  <a:tcPr marL="101600" marR="101600" marT="38100" marB="38100" anchor="ctr">
                    <a:solidFill>
                      <a:srgbClr val="F4F2FA"/>
                    </a:solidFill>
                  </a:tcPr>
                </a:tc>
              </a:tr>
              <a:tr h="611632">
                <a:tc>
                  <a:txBody>
                    <a:bodyPr/>
                    <a:lstStyle/>
                    <a:p>
                      <a:r>
                        <a:rPr sz="1400" b="0" i="0">
                          <a:solidFill>
                            <a:srgbClr val="1A1440"/>
                          </a:solidFill>
                          <a:latin typeface="Calibri"/>
                        </a:rPr>
                        <a:t>Curd stock-out</a:t>
                      </a:r>
                    </a:p>
                  </a:txBody>
                  <a:tcPr marL="101600" marR="101600" marT="38100" marB="38100" anchor="ctr">
                    <a:solidFill>
                      <a:srgbClr val="FFFFFF"/>
                    </a:solidFill>
                  </a:tcPr>
                </a:tc>
                <a:tc>
                  <a:txBody>
                    <a:bodyPr/>
                    <a:lstStyle/>
                    <a:p>
                      <a:r>
                        <a:rPr sz="14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4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611632">
                <a:tc>
                  <a:txBody>
                    <a:bodyPr/>
                    <a:lstStyle/>
                    <a:p>
                      <a:r>
                        <a:rPr sz="1400" b="0" i="0">
                          <a:solidFill>
                            <a:srgbClr val="1A1440"/>
                          </a:solidFill>
                          <a:latin typeface="Calibri"/>
                        </a:rPr>
                        <a:t>Time of day</a:t>
                      </a:r>
                    </a:p>
                  </a:txBody>
                  <a:tcPr marL="101600" marR="101600" marT="38100" marB="38100" anchor="ctr">
                    <a:solidFill>
                      <a:srgbClr val="F4F2FA"/>
                    </a:solidFill>
                  </a:tcPr>
                </a:tc>
                <a:tc>
                  <a:txBody>
                    <a:bodyPr/>
                    <a:lstStyle/>
                    <a:p>
                      <a:r>
                        <a:rPr sz="1400" b="0" i="0">
                          <a:solidFill>
                            <a:srgbClr val="1A1440"/>
                          </a:solidFill>
                          <a:latin typeface="Calibri"/>
                        </a:rPr>
                        <a:t>Morning carts only</a:t>
                      </a:r>
                    </a:p>
                  </a:txBody>
                  <a:tcPr marL="101600" marR="101600" marT="38100" marB="38100" anchor="ctr">
                    <a:solidFill>
                      <a:srgbClr val="F4F2FA"/>
                    </a:solidFill>
                  </a:tcPr>
                </a:tc>
                <a:tc>
                  <a:txBody>
                    <a:bodyPr/>
                    <a:lstStyle/>
                    <a:p>
                      <a:r>
                        <a:rPr sz="1400" b="0" i="0">
                          <a:solidFill>
                            <a:srgbClr val="1A1440"/>
                          </a:solidFill>
                          <a:latin typeface="Calibri"/>
                        </a:rPr>
                        <a:t>Morning carts hold milk 80 percent of the time; bread with milk still about 1.04</a:t>
                      </a:r>
                    </a:p>
                  </a:txBody>
                  <a:tcPr marL="101600" marR="101600" marT="38100" marB="38100" anchor="ctr">
                    <a:solidFill>
                      <a:srgbClr val="F4F2FA"/>
                    </a:solidFill>
                  </a:tcPr>
                </a:tc>
              </a:tr>
              <a:tr h="611632">
                <a:tc>
                  <a:txBody>
                    <a:bodyPr/>
                    <a:lstStyle/>
                    <a:p>
                      <a:r>
                        <a:rPr sz="1400" b="0" i="0">
                          <a:solidFill>
                            <a:srgbClr val="1A1440"/>
                          </a:solidFill>
                          <a:latin typeface="Calibri"/>
                        </a:rPr>
                        <a:t>The strip's own pull</a:t>
                      </a:r>
                    </a:p>
                  </a:txBody>
                  <a:tcPr marL="101600" marR="101600" marT="38100" marB="38100" anchor="ctr">
                    <a:solidFill>
                      <a:srgbClr val="FFFFFF"/>
                    </a:solidFill>
                  </a:tcPr>
                </a:tc>
                <a:tc>
                  <a:txBody>
                    <a:bodyPr/>
                    <a:lstStyle/>
                    <a:p>
                      <a:r>
                        <a:rPr sz="1400" b="0" i="0">
                          <a:solidFill>
                            <a:srgbClr val="1A1440"/>
                          </a:solidFill>
                          <a:latin typeface="Calibri"/>
                        </a:rPr>
                        <a:t>Click-through by slot</a:t>
                      </a:r>
                    </a:p>
                  </a:txBody>
                  <a:tcPr marL="101600" marR="101600" marT="38100" marB="38100" anchor="ctr">
                    <a:solidFill>
                      <a:srgbClr val="FFFFFF"/>
                    </a:solidFill>
                  </a:tcPr>
                </a:tc>
                <a:tc>
                  <a:txBody>
                    <a:bodyPr/>
                    <a:lstStyle/>
                    <a:p>
                      <a:r>
                        <a:rPr sz="1400" b="0" i="0">
                          <a:solidFill>
                            <a:srgbClr val="1A1440"/>
                          </a:solidFill>
                          <a:latin typeface="Calibri"/>
                        </a:rPr>
                        <a:t>Slot 1 draws 8.2 percent, slot 3 5.4; milk is low in all three</a:t>
                      </a:r>
                    </a:p>
                  </a:txBody>
                  <a:tcPr marL="101600" marR="101600" marT="38100" marB="38100" anchor="ctr">
                    <a:solidFill>
                      <a:srgbClr val="FFFFFF"/>
                    </a:solidFill>
                  </a:tcPr>
                </a:tc>
              </a:tr>
              <a:tr h="611632">
                <a:tc>
                  <a:txBody>
                    <a:bodyPr/>
                    <a:lstStyle/>
                    <a:p>
                      <a:r>
                        <a:rPr sz="1400" b="0" i="0">
                          <a:solidFill>
                            <a:srgbClr val="1A1440"/>
                          </a:solidFill>
                          <a:latin typeface="Calibri"/>
                        </a:rPr>
                        <a:t>Per cart against per customer</a:t>
                      </a:r>
                    </a:p>
                  </a:txBody>
                  <a:tcPr marL="101600" marR="101600" marT="38100" marB="38100" anchor="ctr">
                    <a:solidFill>
                      <a:srgbClr val="F4F2FA"/>
                    </a:solidFill>
                  </a:tcPr>
                </a:tc>
                <a:tc>
                  <a:txBody>
                    <a:bodyPr/>
                    <a:lstStyle/>
                    <a:p>
                      <a:r>
                        <a:rPr sz="1400" b="0" i="0">
                          <a:solidFill>
                            <a:srgbClr val="1A1440"/>
                          </a:solidFill>
                          <a:latin typeface="Calibri"/>
                        </a:rPr>
                        <a:t>The heavy-buyer check</a:t>
                      </a:r>
                    </a:p>
                  </a:txBody>
                  <a:tcPr marL="101600" marR="101600" marT="38100" marB="38100" anchor="ctr">
                    <a:solidFill>
                      <a:srgbClr val="F4F2FA"/>
                    </a:solidFill>
                  </a:tcPr>
                </a:tc>
                <a:tc>
                  <a:txBody>
                    <a:bodyPr/>
                    <a:lstStyle/>
                    <a:p>
                      <a:r>
                        <a:rPr sz="1400" b="0" i="0">
                          <a:solidFill>
                            <a:srgbClr val="1A1440"/>
                          </a:solidFill>
                          <a:latin typeface="Calibri"/>
                        </a:rPr>
                        <a:t>Answered above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9" name="mermaid diagram" descr="C2_W04_D03_heavy_tenth_STUDENT.png"/>
          <p:cNvPicPr>
            <a:picLocks noChangeAspect="1"/>
          </p:cNvPicPr>
          <p:nvPr/>
        </p:nvPicPr>
        <p:blipFill>
          <a:blip r:embed="rId4"/>
          <a:stretch>
            <a:fillRect/>
          </a:stretch>
        </p:blipFill>
        <p:spPr>
          <a:xfrm>
            <a:off x="1080357" y="1664208"/>
            <a:ext cx="10030979"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Counted with every customer once, the pair's lift falls from 3.39 to 2.56 and still beats chance; bread and milk stays at 1.04. The pair keeps its slot, and the growth lead says the smaller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Curd ran out in two zones in week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stock-out do to support, and what does it leave alone?</a:t>
            </a:r>
          </a:p>
        </p:txBody>
      </p:sp>
      <p:pic>
        <p:nvPicPr>
          <p:cNvPr id="9" name="mermaid diagram" descr="C2_W04_D03_stockout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Share of carts holding curd, by zone and week: Hadapsar and Viman Nagar near zero from 15 to 21 September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Hadapsar and Viman Nagar from 15 to 21 September, curd is in 12 of 2,583 carts. Set those aside and curd's share rises from 26.0 to 27.8 percent; its lift with milk stays 1.01. A stock-out cuts the count, never the pull.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 ready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lead now hold?</a:t>
            </a:r>
          </a:p>
        </p:txBody>
      </p:sp>
      <p:pic>
        <p:nvPicPr>
          <p:cNvPr id="9" name="mermaid diagram" descr="d7fa4f0e9f118f57.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lunch each group re-ranks the strip, prices its three slots and answers the category manager, who will say that milk anchors the cart.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