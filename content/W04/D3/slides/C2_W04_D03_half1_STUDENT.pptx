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topic and its question. The topics come first, each counted on an</a:t>
            </a:r>
          </a:p>
          <a:p>
            <a:r>
              <a:t>invented example small enough to check by hand; the case then asks the same questions of 40,000</a:t>
            </a:r>
          </a:p>
          <a:p>
            <a:r>
              <a:t>carts; the lab asks them of Kalpa's baskets. Transition: where Wednesday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and Tuesday carry the numbers the room produced on them. Today's node is</a:t>
            </a:r>
          </a:p>
          <a:p>
            <a:r>
              <a:t>lit; Thursday, Friday and Saturday stay dashed. Each day asks what one number is compared with, and</a:t>
            </a:r>
          </a:p>
          <a:p>
            <a:r>
              <a:t>today compares two items sharing a basket with what chance alone would give. The Kalpa node is the</a:t>
            </a:r>
          </a:p>
          <a:p>
            <a:r>
              <a:t>lab after class. Explorer: the home screen, Wednesday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topics down the second column once: these are the words the</a:t>
            </a:r>
          </a:p>
          <a:p>
            <a:r>
              <a:t>curriculum uses, so a learner can find each one again by name. Each concept chapter ends on a</a:t>
            </a:r>
          </a:p>
          <a:p>
            <a:r>
              <a:t>number counted from the canteen or the corner shop; the case then asks the same question of</a:t>
            </a:r>
          </a:p>
          <a:p>
            <a:r>
              <a:t>40,000 carts. A 10-minute break follows chapter 4. Chapter 9 opens the afternoon so the morning</a:t>
            </a:r>
          </a:p>
          <a:p>
            <a:r>
              <a:t>carries four new ideas a block. The IITGN faculty session (tentative) takes the afternoon's last</a:t>
            </a:r>
          </a:p>
          <a:p>
            <a:r>
              <a:t>120 minutes.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map top to bottom. The top band is what the room already has: Week 1's</a:t>
            </a:r>
          </a:p>
          <a:p>
            <a:r>
              <a:t>denominators and like-with-like, Week 1 Thursday's chance reference and its rule of thirty, Week</a:t>
            </a:r>
          </a:p>
          <a:p>
            <a:r>
              <a:t>2's groupby. The five dark boxes are today's topics in the curriculum's order. Every topic is</a:t>
            </a:r>
          </a:p>
          <a:p>
            <a:r>
              <a:t>applied to the case, and the case runs once more on Kalpa in the lab. Lift returns on Thursday</a:t>
            </a:r>
          </a:p>
          <a:p>
            <a:r>
              <a:t>as "beyond the blend" and on Friday as "beyond the baseline". The map comes back at the close of</a:t>
            </a:r>
          </a:p>
          <a:p>
            <a:r>
              <a:t>each 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table top to bottom, then the label line: the company is real, the</a:t>
            </a:r>
          </a:p>
          <a:p>
            <a:r>
              <a:t>situation and the data are synthetic. Define two words as they appear: an impression is one time a</a:t>
            </a:r>
          </a:p>
          <a:p>
            <a:r>
              <a:t>slot was shown, and click-through is clicks divided by impressions. Point at the three tables and</a:t>
            </a:r>
          </a:p>
          <a:p>
            <a:r>
              <a:t>their columns. Ask the room for one reason "in most carts" might be the wrong reason to show an</a:t>
            </a:r>
          </a:p>
          <a:p>
            <a:r>
              <a:t>item, and write the answers on the board without judging them; chapter 4 settles it. This is the</a:t>
            </a:r>
          </a:p>
          <a:p>
            <a:r>
              <a:t>destination: the seven chapters build every tool the ticket needs before chapter 7 opens it again.</a:t>
            </a:r>
          </a:p>
          <a:p>
            <a:r>
              <a:t>Transition: the first topic, on a hostel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1 of the concept block, the first of three chapters on the topic</a:t>
            </a:r>
          </a:p>
          <a:p>
            <a:r>
              <a:t>"Support, confidence and lift, derived by counting". The canteen cards go on every table now,</a:t>
            </a:r>
          </a:p>
          <a:p>
            <a:r>
              <a:t>twelve per group. No laptop opens until slide S9. Transition: who needs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basket is one bill at a kirana, one order at the canteen, one cart on an app.</a:t>
            </a:r>
          </a:p>
          <a:p>
            <a:r>
              <a:t>One customer fills many baskets, so the basket, never the customer, is what today counts.</a:t>
            </a:r>
          </a:p>
          <a:p>
            <a:r>
              <a:t>Together means in the same basket. Read the four questions; each gets a number before the next.</a:t>
            </a:r>
          </a:p>
          <a:p>
            <a:r>
              <a:t>Transition: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the hurried count adds the two items' counts. Groups</a:t>
            </a:r>
          </a:p>
          <a:p>
            <a:r>
              <a:t>vote with a letter card, argue with a neighbour for a minute, then vote again; the split is</a:t>
            </a:r>
          </a:p>
          <a:p>
            <a:r>
              <a:t>usually a against c. Each option is a claim the cards can settle, so send the room to the cards:</a:t>
            </a:r>
          </a:p>
          <a:p>
            <a:r>
              <a:t>"find the orders that hold both". Explorer: none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each cell of the 2 by 2 aloud from the cards (StatQuest): both, roti</a:t>
            </a:r>
          </a:p>
          <a:p>
            <a:r>
              <a:t>only, sabzi only, neither, and the total. The trap, exactly: 8 for roti and sabzi, from adding</a:t>
            </a:r>
          </a:p>
          <a:p>
            <a:r>
              <a:t>the two counts; the decision it misleads is a combo printed for a pair that shares three orders.</a:t>
            </a:r>
          </a:p>
          <a:p>
            <a:r>
              <a:t>The check is the 2 by 2 adding to twelve. Callback to Week 1 Monday: support is a rate, and its</a:t>
            </a:r>
          </a:p>
          <a:p>
            <a:r>
              <a:t>denominator is every basket. Transition: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bars: dal rice and chaas share 6 of the 12 orders, the most common pair,</a:t>
            </a:r>
          </a:p>
          <a:p>
            <a:r>
              <a:t>and four of the six most common pairs hold chaas. Park the question the room will ask: is the</a:t>
            </a:r>
          </a:p>
          <a:p>
            <a:r>
              <a:t>most common pair the best one to put on the combo board? Chapter 4 answers it. Then the formula,</a:t>
            </a:r>
          </a:p>
          <a:p>
            <a:r>
              <a:t>once, as the shorthand for the count just done, and the three lines, each said in plain words</a:t>
            </a:r>
          </a:p>
          <a:p>
            <a:r>
              <a:t>(Krish Naik); notebook 01 runs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Check question before moving on:</a:t>
            </a:r>
          </a:p>
          <a:p>
            <a:r>
              <a:t>"Roti and sabzi and roti and chaas both read support 0.25. Does support tell the two pairs apart?"</a:t>
            </a:r>
          </a:p>
          <a:p>
            <a:r>
              <a:t>It does not, which is what chapters 2 and 3 are for. Fill the map's first box with 0.25.</a:t>
            </a:r>
          </a:p>
          <a:p>
            <a:r>
              <a:t>Transition: chapter 2,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2 of the concept block, the second of three chapters on "Support,</a:t>
            </a:r>
          </a:p>
          <a:p>
            <a:r>
              <a:t>confidence and lift, derived by counting". Same cards.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Tuesday: a rate inside a segment, whose denominator is the</a:t>
            </a:r>
          </a:p>
          <a:p>
            <a:r>
              <a:t>segment's size. Confidence from A to B shrinks the world to A's baskets, then counts how many of</a:t>
            </a:r>
          </a:p>
          <a:p>
            <a:r>
              <a:t>those hold B.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common wrong answer to the room in its own words first: "confidence is</a:t>
            </a:r>
          </a:p>
          <a:p>
            <a:r>
              <a:t>the chance the two go together, so it reads the same both ways". Vote, argue, vote again; the</a:t>
            </a:r>
          </a:p>
          <a:p>
            <a:r>
              <a:t>split is usually a against b. Option c is support, which the room met in chapter 1. Explorer:</a:t>
            </a:r>
          </a:p>
          <a:p>
            <a:r>
              <a:t>scene W2, two buttons that grey the baskets without A, then without B; its letters and key are this</a:t>
            </a:r>
          </a:p>
          <a:p>
            <a:r>
              <a:t>slide's, so read the second vote into it. Transition: both directions, 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both directions on the cards. The GIF of the shrinking world (whiteboards,</a:t>
            </a:r>
          </a:p>
          <a:p>
            <a:r>
              <a:t>canteen_shrink) dims the orders in two steps: all twelve, then dal rice's six, then the three with</a:t>
            </a:r>
          </a:p>
          <a:p>
            <a:r>
              <a:t>papad.</a:t>
            </a:r>
          </a:p>
          <a:p>
            <a:r>
              <a:t>Transition: how far direction can swing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Points on the diagonal read the same both ways; every point off it is a pair</a:t>
            </a:r>
          </a:p>
          <a:p>
            <a:r>
              <a:t>whose two items have different counts. Check question: "Chaas is in 9 orders and sabzi in 4,</a:t>
            </a:r>
          </a:p>
          <a:p>
            <a:r>
              <a:t>together in 4. Sabzi to chaas? Chaas to sabzi?" 1.00 and 0.44: the same four orders, two</a:t>
            </a:r>
          </a:p>
          <a:p>
            <a:r>
              <a:t>sentences. Notebook 02 runs both directions for every pair.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Rule 4 is the question chapter 3 answers: is a confidence of 1.00 special when</a:t>
            </a:r>
          </a:p>
          <a:p>
            <a:r>
              <a:t>chaas is in 9 of 12 orders anyway? Fill the map's second box with 0.60. Transition: chapter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3 of the concept block, the third of three chapters on "Support,</a:t>
            </a:r>
          </a:p>
          <a:p>
            <a:r>
              <a:t>confidence and lift, derived by counting".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the chance reference, the number a count would show</a:t>
            </a:r>
          </a:p>
          <a:p>
            <a:r>
              <a:t>if nothing were going on, which the shuffle made and which this chapter makes with one</a:t>
            </a:r>
          </a:p>
          <a:p>
            <a:r>
              <a:t>multiplication. The chapter stays with counts and shares.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misconceptions said aloud: "expected means what I expect to see", when it</a:t>
            </a:r>
          </a:p>
          <a:p>
            <a:r>
              <a:t>means what chance alone would give; and "ignoring each other means never meeting", when two</a:t>
            </a:r>
          </a:p>
          <a:p>
            <a:r>
              <a:t>items that ignore each other still share baskets at their own rates. Vote, argue, vote again;</a:t>
            </a:r>
          </a:p>
          <a:p>
            <a:r>
              <a:t>the split is usually b against c. Explorer: scene W1, sliders for the two shares and the overlap,</a:t>
            </a:r>
          </a:p>
          <a:p>
            <a:r>
              <a:t>once the second vote is in, since its question prints roti and sabzi's lift of 2.25. Transition:</a:t>
            </a:r>
          </a:p>
          <a:p>
            <a:r>
              <a:t>the proportion, counted.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chance count aloud on the board: total times A's share times B's share.</a:t>
            </a:r>
          </a:p>
          <a:p>
            <a:r>
              <a:t>Then the four pairs on the picture, left to right: 2.25, 1.20, 1.00, 0.80. Below one, together</a:t>
            </a:r>
          </a:p>
          <a:p>
            <a:r>
              <a:t>less often than chance; near one, chance; above one, a pull. Transition: the same idea as areas.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4 on the picture and the formula and 4 in notebook 03, which runs the second</a:t>
            </a:r>
          </a:p>
          <a:p>
            <a:r>
              <a:t>route and the thirteen pairs' lifts. Read the picture as two areas (3Blue1Brown): roti's band times sabzi's band is</a:t>
            </a:r>
          </a:p>
          <a:p>
            <a:r>
              <a:t>the box chance gives; the seen box is taller. Show the cancelling step on the board:</a:t>
            </a:r>
          </a:p>
          <a:p>
            <a:r>
              <a:t>3 / (12 x 4/12 x 4/12) = 3 x 12 / (4 x 4). Check question: "Papad is in 5 orders, chaas in 9,</a:t>
            </a:r>
          </a:p>
          <a:p>
            <a:r>
              <a:t>both in 3. Chance? Lift?" 3.75 and 0.80. Transition: the rules, and what lift never says.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Rule 4 is this chapter's trap: the number is right and the sentence is wrong.</a:t>
            </a:r>
          </a:p>
          <a:p>
            <a:r>
              <a:t>The decision it misleads is a roti promotion run to sell sabzi, whose sabzi sales need not move as</a:t>
            </a:r>
          </a:p>
          <a:p>
            <a:r>
              <a:t>the number seems to promise; the fix is a change at the counter, tested fairly. The test that would</a:t>
            </a:r>
          </a:p>
          <a:p>
            <a:r>
              <a:t>show cause is this week's Monday faculty session on A/B testing (tentative).</a:t>
            </a:r>
          </a:p>
          <a:p>
            <a:r>
              <a:t>Checkpoint: three learners say roti and sabzi's three numbers from the board, 0.25, 0.75 and 2.25.</a:t>
            </a:r>
          </a:p>
          <a:p>
            <a:r>
              <a:t>Fill the map's third box. Transition: chapter 4, the item in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4 of the concept block, on the topic "The confidence trap; lift near</a:t>
            </a:r>
          </a:p>
          <a:p>
            <a:r>
              <a:t>one".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base rate is chaas's own share of all orders, 0.75: how common it is anyway.</a:t>
            </a:r>
          </a:p>
          <a:p>
            <a:r>
              <a:t>An item in most baskets is in most of A's baskets too, whatever A is.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in the manager's words: "every dal rice order has chaas, so</a:t>
            </a:r>
          </a:p>
          <a:p>
            <a:r>
              <a:t>chaas is dal rice's perfect partner; print the combo." Peer instruction here: the room usually</a:t>
            </a:r>
          </a:p>
          <a:p>
            <a:r>
              <a:t>splits between a and c. Vote, two minutes with a neighbour, vote again. Explorer: scene W3, the</a:t>
            </a:r>
          </a:p>
          <a:p>
            <a:r>
              <a:t>slider that raises the popular item's share, once the second vote is in, since its reveal names the</a:t>
            </a:r>
          </a:p>
          <a:p>
            <a:r>
              <a:t>1.33 this vote asks for.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trap, exactly: 1.00 read as a bundle; the decision it misleads is a combo</a:t>
            </a:r>
          </a:p>
          <a:p>
            <a:r>
              <a:t>board filled with chaas beside everything, which changes nothing, since chaas was already in nine</a:t>
            </a:r>
          </a:p>
          <a:p>
            <a:r>
              <a:t>of twelve orders. The check: chaas's own share. The fix: read lift. Today, near one means under</a:t>
            </a:r>
          </a:p>
          <a:p>
            <a:r>
              <a:t>the 1.5 bar chapter 6 sets, too weak a pull to act on; on twelve orders a lift of 1.33 is also</a:t>
            </a:r>
          </a:p>
          <a:p>
            <a:r>
              <a:t>within luck's reach, as chapter 6's month shows.</a:t>
            </a:r>
          </a:p>
          <a:p>
            <a:r>
              <a:t>Transition: what popularity does to confidence, in general.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Notebook 04's cells 6 to 10 run the chaas pairs and the sweep for any learner</a:t>
            </a:r>
          </a:p>
          <a:p>
            <a:r>
              <a:t>who wants the code. Check question: "An item is in 60 percent of a shop's bills. A partner reads confidence</a:t>
            </a:r>
          </a:p>
          <a:p>
            <a:r>
              <a:t>0.66 toward it. Bundle them?" Lift 1.10, near one: no, since the partner's buyers take it about</a:t>
            </a:r>
          </a:p>
          <a:p>
            <a:r>
              <a:t>as often as everyone does.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2 for the rules and 6 for the drill. The Feynman line for the room to repeat: "the item in every basket makes a</a:t>
            </a:r>
          </a:p>
          <a:p>
            <a:r>
              <a:t>weak bundle partner, because it was going into the basket anyway". Where the room has met this: the</a:t>
            </a:r>
          </a:p>
          <a:p>
            <a:r>
              <a:t>"frequently bought together" strip on any shopping app. Then the first concept drill, items 1 to</a:t>
            </a:r>
          </a:p>
          <a:p>
            <a:r>
              <a:t>4 of `exercises/unguided/C2_W04_D03_canteen_concepts_STUDENT.md`, on paper, 6 minutes inside this</a:t>
            </a:r>
          </a:p>
          <a:p>
            <a:r>
              <a:t>chapter's 18. Checkpoint: every group posts its four letters. Fill the map's fourth box, then a</a:t>
            </a:r>
          </a:p>
          <a:p>
            <a:r>
              <a:t>break of 10 minutes. Transition after the break:</a:t>
            </a:r>
          </a:p>
          <a:p>
            <a:r>
              <a:t>chapter 5,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5 of the concept block, on the topic "Basket analysis on the order</a:t>
            </a:r>
          </a:p>
          <a:p>
            <a:r>
              <a:t>items". Notebook 05 opens now and the chapter runs as a code-along.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2 Thursday: groupby and agg on order lines. The questions on the</a:t>
            </a:r>
          </a:p>
          <a:p>
            <a:r>
              <a:t>way: what is an order line; how does a basket become pairs; how many pairs do twelve orders hold;</a:t>
            </a:r>
          </a:p>
          <a:p>
            <a:r>
              <a:t>why sort the two names; which pair tops the table.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"33 lines, so 33 pairs". Vote, then count one order by hand</a:t>
            </a:r>
          </a:p>
          <a:p>
            <a:r>
              <a:t>before the reveal; the split is usually a against b. Transition: one order, by hand.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T01 into its three pairs on the board. The trap, exactly: 60 pair counts</a:t>
            </a:r>
          </a:p>
          <a:p>
            <a:r>
              <a:t>against 30, from counting each pair with its names both ways round, or a pair's count split across</a:t>
            </a:r>
          </a:p>
          <a:p>
            <a:r>
              <a:t>two keys when the names are left unsorted. The decision it misleads is a ranking built on doubled</a:t>
            </a:r>
          </a:p>
          <a:p>
            <a:r>
              <a:t>or split counts; the check is each basket's k x (k - 1) / 2 added up; the fix is sorted names and</a:t>
            </a:r>
          </a:p>
          <a:p>
            <a:r>
              <a:t>`combinations`. A one-item basket adds no pair.</a:t>
            </a:r>
          </a:p>
          <a:p>
            <a:r>
              <a:t>Transition: the five lines that do it for every basket.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Code-along in notebook 05 (Krish Naik): say what each line is for before running</a:t>
            </a:r>
          </a:p>
          <a:p>
            <a:r>
              <a:t>it. `combinations` of a sorted basket gives each pair once with its names in order (Python's</a:t>
            </a:r>
          </a:p>
          <a:p>
            <a:r>
              <a:t>itertools documentation, checked 13 October 2026). The roti and sabzi row reads back chapters 1 to</a:t>
            </a:r>
          </a:p>
          <a:p>
            <a:r>
              <a:t>3's hand counts: 3 orders, lift 2.25. Hold the question "which top do you trust?" for chapter 6.</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Check question: "A basket with four items adds how many pairs, and which line</a:t>
            </a:r>
          </a:p>
          <a:p>
            <a:r>
              <a:t>builds the baskets?" Six; the groupby line. Fill the map's fifth box. Transition: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6 of the concept block, on the topic "The support floor and the watch</a:t>
            </a:r>
          </a:p>
          <a:p>
            <a:r>
              <a:t>list".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distrust any rate under thirty observations. A floor</a:t>
            </a:r>
          </a:p>
          <a:p>
            <a:r>
              <a:t>is the fewest baskets a pair must sit in before anyone acts on its lift. Transition: luck, tested.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one, on the canteen's own pair first: gulab jamun and curd read 6.0;</a:t>
            </a:r>
          </a:p>
          <a:p>
            <a:r>
              <a:t>promote it, drop it, watch it with a trial, or lower the floor until it qualifies? Then this</a:t>
            </a:r>
          </a:p>
          <a:p>
            <a:r>
              <a:t>prediction, on 600 orders where nothing is going on by construction; the split is usually a</a:t>
            </a:r>
          </a:p>
          <a:p>
            <a:r>
              <a:t>against b. Transition: the month.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picture left to right: wild on the left, flat on the right. Explorer:</a:t>
            </a:r>
          </a:p>
          <a:p>
            <a:r>
              <a:t>scene W5, the floor slider that counts the pairs that qualify, draws the canteen's thirteen pairs;</a:t>
            </a:r>
          </a:p>
          <a:p>
            <a:r>
              <a:t>open it last on this slide, since S34's map prints the count it asks the room to guess. Transition:</a:t>
            </a:r>
          </a:p>
          <a:p>
            <a:r>
              <a:t>the floor, set 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floor is a decision, stated as a count: 3 of 12 orders here, 1 percent of</a:t>
            </a:r>
          </a:p>
          <a:p>
            <a:r>
              <a:t>40,000 carts in the case, 5 percent of the lab's baskets. With no month of pure chance to hand,</a:t>
            </a:r>
          </a:p>
          <a:p>
            <a:r>
              <a:t>Week 1's thirty is the safe default. A watch-list entry is the pair, its lift and support, the</a:t>
            </a:r>
          </a:p>
          <a:p>
            <a:r>
              <a:t>trial (where, for how long, against which other half of customers) and the pass rule: the pair is</a:t>
            </a:r>
          </a:p>
          <a:p>
            <a:r>
              <a:t>promoted only if the half that sees it buys the pair more often than the other half, by a gap</a:t>
            </a:r>
          </a:p>
          <a:p>
            <a:r>
              <a:t>written down before the trial starts. Notebook 06's cells 7 and 8 sort the thirteen pairs and draw</a:t>
            </a:r>
          </a:p>
          <a:p>
            <a:r>
              <a:t>this map. How long a trial must run is a sample-size question, parked</a:t>
            </a:r>
          </a:p>
          <a:p>
            <a:r>
              <a:t>for the IITGN faculty session (tentative).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the map's sixth box. The concept block now pauses with five of six morning</a:t>
            </a:r>
          </a:p>
          <a:p>
            <a:r>
              <a:t>boxes filled; chapter 9 fills the last after lunch. Transition: the case, opened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Receipts on the table: twelve cart cards per</a:t>
            </a:r>
          </a:p>
          <a:p>
            <a:r>
              <a:t>group. Laptops stay shut while the cards are counted; notebook 07 repeats the count in code and runs</a:t>
            </a:r>
          </a:p>
          <a:p>
            <a:r>
              <a:t>in the lab or the evening, or at S42 if the drill finishes early. Transition: what the chapter</a:t>
            </a:r>
          </a:p>
          <a:p>
            <a:r>
              <a:t>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all three counts from the canteen; here they are a drill on the</a:t>
            </a:r>
          </a:p>
          <a:p>
            <a:r>
              <a:t>case's own carts. Transition: where the case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answer's shape once, then earn it (fast.ai). Every word on the</a:t>
            </a:r>
          </a:p>
          <a:p>
            <a:r>
              <a:t>three cards is now one the room can read: lift and the floor from chapters 3 and 6, and the rupees</a:t>
            </a:r>
          </a:p>
          <a:p>
            <a:r>
              <a:t>from chapter 9 after lunch. The numbers arrive in chapter 10, so its predictions stay open. Leave</a:t>
            </a:r>
          </a:p>
          <a:p>
            <a:r>
              <a:t>the cause of the fall open too: chapter 8 finds it. Transition: twelve carts.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the twelve-cart drill with the guided set</a:t>
            </a:r>
          </a:p>
          <a:p>
            <a:r>
              <a:t>`exercises/guided/C2_W04_D03_three_counts_STUDENT.md`. Each group holds these twelve as printed</a:t>
            </a:r>
          </a:p>
          <a:p>
            <a:r>
              <a:t>cards. Say: "sort the pack by whether it has bread, then count how many of those have milk; now</a:t>
            </a:r>
          </a:p>
          <a:p>
            <a:r>
              <a:t>count how many have milk at all." Counts are called out and written on the board: milk 8, bread 4,</a:t>
            </a:r>
          </a:p>
          <a:p>
            <a:r>
              <a:t>both 4; the room says 0.33, 1.00, 2.67 expected, 1.50. When a group stops at a confidence and calls</a:t>
            </a:r>
          </a:p>
          <a:p>
            <a:r>
              <a:t>it the answer, ask: "how many carts hold milk whether or not they hold bread?" Transition: predict</a:t>
            </a:r>
          </a:p>
          <a:p>
            <a:r>
              <a:t>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drill gave bread to milk; this asks the other direction, which no item of the</a:t>
            </a:r>
          </a:p>
          <a:p>
            <a:r>
              <a:t>guided set computed. Groups commit in writing; the split is usually a against b. Option a is</a:t>
            </a:r>
          </a:p>
          <a:p>
            <a:r>
              <a:t>chapter 2's misconception on the case's carts. Explorer: scene W2 on the case set, once every group</a:t>
            </a:r>
          </a:p>
          <a:p>
            <a:r>
              <a:t>has committed its letter.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boxes left to right, writing each number on the board; these are</a:t>
            </a:r>
          </a:p>
          <a:p>
            <a:r>
              <a:t>chapters 1 to 3's counts on new numbers. Then the reverse confidence, milk to bread, 4 of 8, 0.50:</a:t>
            </a:r>
          </a:p>
          <a:p>
            <a:r>
              <a:t>the same four carts, two sentences, as chapter 2 showed.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now predicts this trap, since chapter 4 met it on chaas. The GIF beside</a:t>
            </a:r>
          </a:p>
          <a:p>
            <a:r>
              <a:t>this still dims the carts in two steps (whiteboards folder). Transition: the other pairs on the</a:t>
            </a:r>
          </a:p>
          <a:p>
            <a:r>
              <a:t>cards.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compute the chips row first, then the ice cream row. Ask: "would you give</a:t>
            </a:r>
          </a:p>
          <a:p>
            <a:r>
              <a:t>a slot to the lift of 12?" The room answers with chapter 6's floor. Transition: which pair the</a:t>
            </a:r>
          </a:p>
          <a:p>
            <a:r>
              <a:t>full data puts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argue in pairs, vote again; the split is usually a against b. Write it on</a:t>
            </a:r>
          </a:p>
          <a:p>
            <a:r>
              <a:t>the board.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trap aloud: the team built the strip on this table. The check is</a:t>
            </a:r>
          </a:p>
          <a:p>
            <a:r>
              <a:t>chapter 3's question, how often would milk sit beside bread if the two ignored each other.</a:t>
            </a:r>
          </a:p>
          <a:p>
            <a:r>
              <a:t>Transition: chapter 8,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levels L2 and L3. Notebook 08 opens now: one plain line</a:t>
            </a:r>
          </a:p>
          <a:p>
            <a:r>
              <a:t>above every cell, run top to bottom with the room. Transition: what it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opening on the five-minute paper check</a:t>
            </a:r>
          </a:p>
          <a:p>
            <a:r>
              <a:t>`exercises/unguided/C2_W04_D03_ch8_one_pair_STUDENT.md`: four counts from the case, three numbers</a:t>
            </a:r>
          </a:p>
          <a:p>
            <a:r>
              <a:t>and a second route, letters posted before the notebook runs. Then read the four questions; each</a:t>
            </a:r>
          </a:p>
          <a:p>
            <a:r>
              <a:t>ends on a number from notebook 08. Explorer: scene W1 on the case set, after question 2 and before</a:t>
            </a:r>
          </a:p>
          <a:p>
            <a:r>
              <a:t>notebook 08 runs, since the notebook prints bread and milk's lift. Transition: the five lines.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Code-along in notebook 08 (Krish Naik), shortened, since the room built these</a:t>
            </a:r>
          </a:p>
          <a:p>
            <a:r>
              <a:t>lines in chapter 5: say what each line is for and run it. Interview note: "why sorted?" is a</a:t>
            </a:r>
          </a:p>
          <a:p>
            <a:r>
              <a:t>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the same picture chapter 3 drew for roti and</a:t>
            </a:r>
          </a:p>
          <a:p>
            <a:r>
              <a:t>sabzi: bread's band times milk's band is the overlap chance gives; the overlap seen is barely</a:t>
            </a:r>
          </a:p>
          <a:p>
            <a:r>
              <a:t>bigger. The 4 percent above chance is no pull: bigger carts hold any two staples more often, and</a:t>
            </a:r>
          </a:p>
          <a:p>
            <a:r>
              <a:t>the interview extra counts chance within each cart size. Transition: is bread special, or is every</a:t>
            </a:r>
          </a:p>
          <a:p>
            <a:r>
              <a:t>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the room that sat chapter 4 should predict b from chaas. Explorer:</a:t>
            </a:r>
          </a:p>
          <a:p>
            <a:r>
              <a:t>scene W3 on the case set, once the vote is in, since its reveal gives the 50 items' range.</a:t>
            </a:r>
          </a:p>
          <a:p>
            <a:r>
              <a:t>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left panel is what the new strip ranked by; the right panel is what it</a:t>
            </a:r>
          </a:p>
          <a:p>
            <a:r>
              <a:t>should have read. The Feynman line again: "the item in every bag makes a weak bundle partner,</a:t>
            </a:r>
          </a:p>
          <a:p>
            <a:r>
              <a:t>because it was going in the bag anyway". 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decision and the cost: a slot shown to everyone that moves nothing. The</a:t>
            </a:r>
          </a:p>
          <a:p>
            <a:r>
              <a:t>heavy-buyer point returns after lunch as the top tenth of customers. The row asks for one legend</a:t>
            </a:r>
          </a:p>
          <a:p>
            <a:r>
              <a:t>told accurately: in 1992 about 1.2 million baskets from Osco Drug stores showed beer and diapers</a:t>
            </a:r>
          </a:p>
          <a:p>
            <a:r>
              <a:t>together in the early evening, and the chain does not appear to have moved any shelf (The</a:t>
            </a:r>
          </a:p>
          <a:p>
            <a:r>
              <a:t>Register, checked 12 October 2026). Transition: four pairs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chips row: confidence 0.42 looks weak beside 0.74, yet its lift is</a:t>
            </a:r>
          </a:p>
          <a:p>
            <a:r>
              <a:t>3.39. Confidence and lift can rank pairs in opposite orders. Notebook 08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notebook 08's your-turn cell: each learner splits the after rows by</a:t>
            </a:r>
          </a:p>
          <a:p>
            <a:r>
              <a:t>whether the slot suggested milk before the answer is shown. A blended rate is a mix of two rates,</a:t>
            </a:r>
          </a:p>
          <a:p>
            <a:r>
              <a:t>Thursday's topic in preview. The decision the habits answer misleads is a redesign of the strip,</a:t>
            </a:r>
          </a:p>
          <a:p>
            <a:r>
              <a:t>when only what it ranks needs to change. Checkpoint: every learner's your-turn cell prints 1.2 and</a:t>
            </a:r>
          </a:p>
          <a:p>
            <a:r>
              <a:t>6.4 percent. Transition: the slot milk took, for self-study, then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This is the strip's own pull: whatever slot 1 shows draws clicks. It</a:t>
            </a:r>
          </a:p>
          <a:p>
            <a:r>
              <a:t>returns after lunch as a doubt the counts cannot settle. Transition: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concept map comes back with the case's numbers on its boxes: each topic,</a:t>
            </a:r>
          </a:p>
          <a:p>
            <a:r>
              <a:t>counted first on the canteen, now speaks about Instamart. Ask a learner to say the fall in one</a:t>
            </a:r>
          </a:p>
          <a:p>
            <a:r>
              <a:t>sentence. Then lunch. After lunch, chapter 9 teaches the last topic, cross-sell and expected value</a:t>
            </a:r>
          </a:p>
          <a:p>
            <a:r>
              <a:t>in rupees, before chapter 10 prices the strip.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2.png"/><Relationship Id="rId6"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2.png"/><Relationship Id="rId6"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2.png"/><Relationship Id="rId6"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3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2.png"/><Relationship Id="rId6"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1.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5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 basket, lift and cross-sell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lift frequency, and what is each one worth?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tensils_9954c33a840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Counted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hostel canteen's twelve lunch orders and a Pune corner shop's month carry the five topics, chapter by chapter, by hand first.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Swiggy Instamart, Pune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cart page's strip of three suggestions, whose click-through fell once it showed the items most often bought together.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tore_71a4685294d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Retail's baskets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Merchandising wants every product bundled with the Rs 199 phone charger; the lab counts Kalpa's own order lines.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TextBox 3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6b1066f71c9d558.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TextBox 21"/>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seven chapters, then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Wednesday teach, in what order, and where?</a:t>
            </a:r>
          </a:p>
        </p:txBody>
      </p:sp>
      <p:graphicFrame>
        <p:nvGraphicFramePr>
          <p:cNvPr id="9" name="Table 8"/>
          <p:cNvGraphicFramePr>
            <a:graphicFrameLocks noGrp="1"/>
          </p:cNvGraphicFramePr>
          <p:nvPr/>
        </p:nvGraphicFramePr>
        <p:xfrm>
          <a:off x="530352" y="1937512"/>
          <a:ext cx="11130989" cy="2426208"/>
        </p:xfrm>
        <a:graphic>
          <a:graphicData uri="http://schemas.openxmlformats.org/drawingml/2006/table">
            <a:tbl>
              <a:tblPr firstRow="0" bandRow="0">
                <a:tableStyleId>{2D5ABB26-0587-4C30-8999-92F81FD0307C}</a:tableStyleId>
              </a:tblPr>
              <a:tblGrid>
                <a:gridCol w="914400"/>
                <a:gridCol w="4693555"/>
                <a:gridCol w="3515900"/>
                <a:gridCol w="1003567"/>
                <a:gridCol w="1003567"/>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Support, confidence and lift, derived by counting</a:t>
                      </a:r>
                    </a:p>
                  </a:txBody>
                  <a:tcPr marL="101600" marR="101600" marT="38100" marB="38100" anchor="ctr">
                    <a:solidFill>
                      <a:srgbClr val="FFFFFF"/>
                    </a:solidFill>
                  </a:tcPr>
                </a:tc>
                <a:tc>
                  <a:txBody>
                    <a:bodyPr/>
                    <a:lstStyle/>
                    <a:p>
                      <a:r>
                        <a:rPr sz="1200" b="0" i="0">
                          <a:solidFill>
                            <a:srgbClr val="1A1440"/>
                          </a:solidFill>
                          <a:latin typeface="Calibri"/>
                        </a:rPr>
                        <a:t>1 Support; 2 Confidence; 3 Chance and lift</a:t>
                      </a:r>
                    </a:p>
                  </a:txBody>
                  <a:tcPr marL="101600" marR="101600" marT="38100" marB="38100" anchor="ctr">
                    <a:solidFill>
                      <a:srgbClr val="FFFFFF"/>
                    </a:solidFill>
                  </a:tcPr>
                </a:tc>
                <a:tc>
                  <a:txBody>
                    <a:bodyPr/>
                    <a:lstStyle/>
                    <a:p>
                      <a:r>
                        <a:rPr sz="1200" b="0" i="0">
                          <a:solidFill>
                            <a:srgbClr val="1A1440"/>
                          </a:solidFill>
                          <a:latin typeface="Calibri"/>
                        </a:rPr>
                        <a:t>12, 12, 18</a:t>
                      </a:r>
                    </a:p>
                  </a:txBody>
                  <a:tcPr marL="101600" marR="101600" marT="38100" marB="38100" anchor="ctr">
                    <a:solidFill>
                      <a:srgbClr val="FFFFFF"/>
                    </a:solidFill>
                  </a:tcPr>
                </a:tc>
                <a:tc>
                  <a:txBody>
                    <a:bodyPr/>
                    <a:lstStyle/>
                    <a:p>
                      <a:r>
                        <a:rPr sz="1200" b="0" i="0">
                          <a:solidFill>
                            <a:srgbClr val="1A1440"/>
                          </a:solidFill>
                          <a:latin typeface="Calibri"/>
                        </a:rPr>
                        <a:t>01, 02, 03</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confidence trap; lift near one</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Basket analysis on the order items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support floor and the watch list</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Cross-sell and upsell reasoning; expected value in rupees</a:t>
                      </a:r>
                    </a:p>
                  </a:txBody>
                  <a:tcPr marL="101600" marR="101600" marT="38100" marB="38100" anchor="ctr">
                    <a:solidFill>
                      <a:srgbClr val="FFFFFF"/>
                    </a:solidFill>
                  </a:tcPr>
                </a:tc>
                <a:tc>
                  <a:txBody>
                    <a:bodyPr/>
                    <a:lstStyle/>
                    <a:p>
                      <a:r>
                        <a:rPr sz="1200" b="0" i="0">
                          <a:solidFill>
                            <a:srgbClr val="1A1440"/>
                          </a:solidFill>
                          <a:latin typeface="Calibri"/>
                        </a:rPr>
                        <a:t>9, after lunch</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09</a:t>
                      </a:r>
                    </a:p>
                  </a:txBody>
                  <a:tcPr marL="101600" marR="101600" marT="38100" marB="38100" anchor="ctr">
                    <a:solidFill>
                      <a:srgbClr val="FFFFFF"/>
                    </a:solidFill>
                  </a:tcPr>
                </a:tc>
              </a:tr>
            </a:tbl>
          </a:graphicData>
        </a:graphic>
      </p:graphicFrame>
      <p:sp>
        <p:nvSpPr>
          <p:cNvPr id="10" name="TextBox 9"/>
          <p:cNvSpPr txBox="1"/>
          <p:nvPr/>
        </p:nvSpPr>
        <p:spPr>
          <a:xfrm>
            <a:off x="530352" y="461975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7 and 8 apply the topics to Swiggy Instamart's Pune carts before lunch, chapter 10 after it, and the lab runs them on Kalpa Retail's order lines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bb16dbdba642e1a1.png"/>
          <p:cNvPicPr>
            <a:picLocks noChangeAspect="1"/>
          </p:cNvPicPr>
          <p:nvPr/>
        </p:nvPicPr>
        <p:blipFill>
          <a:blip r:embed="rId5"/>
          <a:stretch>
            <a:fillRect/>
          </a:stretch>
        </p:blipFill>
        <p:spPr>
          <a:xfrm>
            <a:off x="2792377" y="1682496"/>
            <a:ext cx="660693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TextBox 21"/>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342320"/>
                <a:gridCol w="778867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749808">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cart 12,000 customers placed from 1 to 28 September,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438912">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Support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often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Support, the first of the three counts, counted on a hostel canteen's twelve lunch orders, invented, before any code: how often do two items share a basket?</a:t>
            </a:r>
          </a:p>
        </p:txBody>
      </p:sp>
      <p:sp>
        <p:nvSpPr>
          <p:cNvPr id="11" name="Rounded Rectangle 10"/>
          <p:cNvSpPr/>
          <p:nvPr/>
        </p:nvSpPr>
        <p:spPr>
          <a:xfrm>
            <a:off x="731519" y="5074920"/>
            <a:ext cx="10789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counts how often two items share a basket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one of three, support.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prints two items side by side on the combo board; without a count, the board goes to whichever pair the manager remembers selling.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basket?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Everything one customer pays for in one go.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orders hold both?</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Roti and sabzi, counted inside the orders.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pair is most common?</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pair's count over the twelve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support leave out?</a:t>
            </a:r>
          </a:p>
        </p:txBody>
      </p:sp>
      <p:sp>
        <p:nvSpPr>
          <p:cNvPr id="35" name="TextBox 34"/>
          <p:cNvSpPr txBox="1"/>
          <p:nvPr/>
        </p:nvSpPr>
        <p:spPr>
          <a:xfrm>
            <a:off x="9180347"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question chapters 2 and 3 answer.</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twelve orders hold roti and sabzi?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hostel canteen's twelve lunch orders, invented: roti is in 4 and sabzi in 4. How many hold both?</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914400"/>
                <a:gridCol w="2997517"/>
                <a:gridCol w="914400"/>
                <a:gridCol w="2876565"/>
                <a:gridCol w="914400"/>
                <a:gridCol w="2513707"/>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r>
              <a:tr h="335280">
                <a:tc>
                  <a:txBody>
                    <a:bodyPr/>
                    <a:lstStyle/>
                    <a:p>
                      <a:r>
                        <a:rPr sz="1200" b="0" i="0">
                          <a:solidFill>
                            <a:srgbClr val="1A1440"/>
                          </a:solidFill>
                          <a:latin typeface="Calibri"/>
                        </a:rPr>
                        <a:t>T01</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T05</a:t>
                      </a:r>
                    </a:p>
                  </a:txBody>
                  <a:tcPr marL="101600" marR="101600" marT="38100" marB="38100" anchor="ctr">
                    <a:solidFill>
                      <a:srgbClr val="FFFFFF"/>
                    </a:solidFill>
                  </a:tcPr>
                </a:tc>
                <a:tc>
                  <a:txBody>
                    <a:bodyPr/>
                    <a:lstStyle/>
                    <a:p>
                      <a:r>
                        <a:rPr sz="1200" b="0" i="0">
                          <a:solidFill>
                            <a:srgbClr val="1A1440"/>
                          </a:solidFill>
                          <a:latin typeface="Calibri"/>
                        </a:rPr>
                        <a:t>dal rice, chaas</a:t>
                      </a:r>
                    </a:p>
                  </a:txBody>
                  <a:tcPr marL="101600" marR="101600" marT="38100" marB="38100" anchor="ctr">
                    <a:solidFill>
                      <a:srgbClr val="FFFFFF"/>
                    </a:solidFill>
                  </a:tcPr>
                </a:tc>
                <a:tc>
                  <a:txBody>
                    <a:bodyPr/>
                    <a:lstStyle/>
                    <a:p>
                      <a:r>
                        <a:rPr sz="1200" b="0" i="0">
                          <a:solidFill>
                            <a:srgbClr val="1A1440"/>
                          </a:solidFill>
                          <a:latin typeface="Calibri"/>
                        </a:rPr>
                        <a:t>T09</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T02</a:t>
                      </a:r>
                    </a:p>
                  </a:txBody>
                  <a:tcPr marL="101600" marR="101600" marT="38100" marB="38100" anchor="ctr">
                    <a:solidFill>
                      <a:srgbClr val="F4F2FA"/>
                    </a:solidFill>
                  </a:tcPr>
                </a:tc>
                <a:tc>
                  <a:txBody>
                    <a:bodyPr/>
                    <a:lstStyle/>
                    <a:p>
                      <a:r>
                        <a:rPr sz="1200" b="0" i="0">
                          <a:solidFill>
                            <a:srgbClr val="1A1440"/>
                          </a:solidFill>
                          <a:latin typeface="Calibri"/>
                        </a:rPr>
                        <a:t>dal rice, papad, chaas</a:t>
                      </a:r>
                    </a:p>
                  </a:txBody>
                  <a:tcPr marL="101600" marR="101600" marT="38100" marB="38100" anchor="ctr">
                    <a:solidFill>
                      <a:srgbClr val="F4F2FA"/>
                    </a:solidFill>
                  </a:tcPr>
                </a:tc>
                <a:tc>
                  <a:txBody>
                    <a:bodyPr/>
                    <a:lstStyle/>
                    <a:p>
                      <a:r>
                        <a:rPr sz="1200" b="0" i="0">
                          <a:solidFill>
                            <a:srgbClr val="1A1440"/>
                          </a:solidFill>
                          <a:latin typeface="Calibri"/>
                        </a:rPr>
                        <a:t>T06</a:t>
                      </a:r>
                    </a:p>
                  </a:txBody>
                  <a:tcPr marL="101600" marR="101600" marT="38100" marB="38100" anchor="ctr">
                    <a:solidFill>
                      <a:srgbClr val="F4F2FA"/>
                    </a:solidFill>
                  </a:tcPr>
                </a:tc>
                <a:tc>
                  <a:txBody>
                    <a:bodyPr/>
                    <a:lstStyle/>
                    <a:p>
                      <a:r>
                        <a:rPr sz="1200" b="0" i="0">
                          <a:solidFill>
                            <a:srgbClr val="1A1440"/>
                          </a:solidFill>
                          <a:latin typeface="Calibri"/>
                        </a:rPr>
                        <a:t>dal rice, curd, chaas</a:t>
                      </a:r>
                    </a:p>
                  </a:txBody>
                  <a:tcPr marL="101600" marR="101600" marT="38100" marB="38100" anchor="ctr">
                    <a:solidFill>
                      <a:srgbClr val="F4F2FA"/>
                    </a:solidFill>
                  </a:tcPr>
                </a:tc>
                <a:tc>
                  <a:txBody>
                    <a:bodyPr/>
                    <a:lstStyle/>
                    <a:p>
                      <a:r>
                        <a:rPr sz="1200" b="0" i="0">
                          <a:solidFill>
                            <a:srgbClr val="1A1440"/>
                          </a:solidFill>
                          <a:latin typeface="Calibri"/>
                        </a:rPr>
                        <a:t>T10</a:t>
                      </a:r>
                    </a:p>
                  </a:txBody>
                  <a:tcPr marL="101600" marR="101600" marT="38100" marB="38100" anchor="ctr">
                    <a:solidFill>
                      <a:srgbClr val="F4F2FA"/>
                    </a:solidFill>
                  </a:tcPr>
                </a:tc>
                <a:tc>
                  <a:txBody>
                    <a:bodyPr/>
                    <a:lstStyle/>
                    <a:p>
                      <a:r>
                        <a:rPr sz="1200" b="0" i="0">
                          <a:solidFill>
                            <a:srgbClr val="1A1440"/>
                          </a:solidFill>
                          <a:latin typeface="Calibri"/>
                        </a:rPr>
                        <a:t>roti, sabzi, chaas</a:t>
                      </a:r>
                    </a:p>
                  </a:txBody>
                  <a:tcPr marL="101600" marR="101600" marT="38100" marB="38100" anchor="ctr">
                    <a:solidFill>
                      <a:srgbClr val="F4F2FA"/>
                    </a:solidFill>
                  </a:tcPr>
                </a:tc>
              </a:tr>
              <a:tr h="335280">
                <a:tc>
                  <a:txBody>
                    <a:bodyPr/>
                    <a:lstStyle/>
                    <a:p>
                      <a:r>
                        <a:rPr sz="1200" b="0" i="0">
                          <a:solidFill>
                            <a:srgbClr val="1A1440"/>
                          </a:solidFill>
                          <a:latin typeface="Calibri"/>
                        </a:rPr>
                        <a:t>T03</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T07</a:t>
                      </a:r>
                    </a:p>
                  </a:txBody>
                  <a:tcPr marL="101600" marR="101600" marT="38100" marB="38100" anchor="ctr">
                    <a:solidFill>
                      <a:srgbClr val="FFFFFF"/>
                    </a:solidFill>
                  </a:tcPr>
                </a:tc>
                <a:tc>
                  <a:txBody>
                    <a:bodyPr/>
                    <a:lstStyle/>
                    <a:p>
                      <a:r>
                        <a:rPr sz="1200" b="0" i="0">
                          <a:solidFill>
                            <a:srgbClr val="1A1440"/>
                          </a:solidFill>
                          <a:latin typeface="Calibri"/>
                        </a:rPr>
                        <a:t>roti, papad, pickle</a:t>
                      </a:r>
                    </a:p>
                  </a:txBody>
                  <a:tcPr marL="101600" marR="101600" marT="38100" marB="38100" anchor="ctr">
                    <a:solidFill>
                      <a:srgbClr val="FFFFFF"/>
                    </a:solidFill>
                  </a:tcPr>
                </a:tc>
                <a:tc>
                  <a:txBody>
                    <a:bodyPr/>
                    <a:lstStyle/>
                    <a:p>
                      <a:r>
                        <a:rPr sz="1200" b="0" i="0">
                          <a:solidFill>
                            <a:srgbClr val="1A1440"/>
                          </a:solidFill>
                          <a:latin typeface="Calibri"/>
                        </a:rPr>
                        <a:t>T11</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T04</a:t>
                      </a:r>
                    </a:p>
                  </a:txBody>
                  <a:tcPr marL="101600" marR="101600" marT="38100" marB="38100" anchor="ctr">
                    <a:solidFill>
                      <a:srgbClr val="F4F2FA"/>
                    </a:solidFill>
                  </a:tcPr>
                </a:tc>
                <a:tc>
                  <a:txBody>
                    <a:bodyPr/>
                    <a:lstStyle/>
                    <a:p>
                      <a:r>
                        <a:rPr sz="1200" b="0" i="0">
                          <a:solidFill>
                            <a:srgbClr val="1A1440"/>
                          </a:solidFill>
                          <a:latin typeface="Calibri"/>
                        </a:rPr>
                        <a:t>dal rice, sabzi, chaas</a:t>
                      </a:r>
                    </a:p>
                  </a:txBody>
                  <a:tcPr marL="101600" marR="101600" marT="38100" marB="38100" anchor="ctr">
                    <a:solidFill>
                      <a:srgbClr val="F4F2FA"/>
                    </a:solidFill>
                  </a:tcPr>
                </a:tc>
                <a:tc>
                  <a:txBody>
                    <a:bodyPr/>
                    <a:lstStyle/>
                    <a:p>
                      <a:r>
                        <a:rPr sz="1200" b="0" i="0">
                          <a:solidFill>
                            <a:srgbClr val="1A1440"/>
                          </a:solidFill>
                          <a:latin typeface="Calibri"/>
                        </a:rPr>
                        <a:t>T08</a:t>
                      </a:r>
                    </a:p>
                  </a:txBody>
                  <a:tcPr marL="101600" marR="101600" marT="38100" marB="38100" anchor="ctr">
                    <a:solidFill>
                      <a:srgbClr val="F4F2FA"/>
                    </a:solidFill>
                  </a:tcPr>
                </a:tc>
                <a:tc>
                  <a:txBody>
                    <a:bodyPr/>
                    <a:lstStyle/>
                    <a:p>
                      <a:r>
                        <a:rPr sz="1200" b="0" i="0">
                          <a:solidFill>
                            <a:srgbClr val="1A1440"/>
                          </a:solidFill>
                          <a:latin typeface="Calibri"/>
                        </a:rPr>
                        <a:t>papad, pickle</a:t>
                      </a:r>
                    </a:p>
                  </a:txBody>
                  <a:tcPr marL="101600" marR="101600" marT="38100" marB="38100" anchor="ctr">
                    <a:solidFill>
                      <a:srgbClr val="F4F2FA"/>
                    </a:solidFill>
                  </a:tcPr>
                </a:tc>
                <a:tc>
                  <a:txBody>
                    <a:bodyPr/>
                    <a:lstStyle/>
                    <a:p>
                      <a:r>
                        <a:rPr sz="1200" b="0" i="0">
                          <a:solidFill>
                            <a:srgbClr val="1A1440"/>
                          </a:solidFill>
                          <a:latin typeface="Calibri"/>
                        </a:rPr>
                        <a:t>T12</a:t>
                      </a:r>
                    </a:p>
                  </a:txBody>
                  <a:tcPr marL="101600" marR="101600" marT="38100" marB="38100" anchor="ctr">
                    <a:solidFill>
                      <a:srgbClr val="F4F2FA"/>
                    </a:solidFill>
                  </a:tcPr>
                </a:tc>
                <a:tc>
                  <a:txBody>
                    <a:bodyPr/>
                    <a:lstStyle/>
                    <a:p>
                      <a:r>
                        <a:rPr sz="1200" b="0" i="0">
                          <a:solidFill>
                            <a:srgbClr val="1A1440"/>
                          </a:solidFill>
                          <a:latin typeface="Calibri"/>
                        </a:rPr>
                        <a:t>gulab jamun, curd</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8, since four roti orders and four sabzi orders make eight. b) 5, since five orders hold roti or sabzi. c) 3, since three orders hold roti with sabzi. d) 4, since every roti order also holds sabzi.</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3 of 12 orders hold both: support 0.25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2 by 2 count the twelve orders?</a:t>
            </a:r>
          </a:p>
        </p:txBody>
      </p:sp>
      <p:pic>
        <p:nvPicPr>
          <p:cNvPr id="9" name="mermaid diagram" descr="C2_W04_D03_canteen_dots_STUDENT.png"/>
          <p:cNvPicPr>
            <a:picLocks noChangeAspect="1"/>
          </p:cNvPicPr>
          <p:nvPr/>
        </p:nvPicPr>
        <p:blipFill>
          <a:blip r:embed="rId4"/>
          <a:stretch>
            <a:fillRect/>
          </a:stretch>
        </p:blipFill>
        <p:spPr>
          <a:xfrm>
            <a:off x="1800113" y="1664208"/>
            <a:ext cx="859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invented lunch orders as dots in two circles, roti and sabzi,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T09, T10 and T11 hold both, T07 holds roti alone, T04 holds sabzi alone, and seven orders hold neither: the four cells add to twelve. Support is the orders holding both over all orders, 3 / 12 = 0.25. Adding 4 and 4 gives 8, which counts T09 to T11 twice and never looks inside an order.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and chaas share the most orders: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 is most common, and what does support compute for every pair?</a:t>
            </a:r>
          </a:p>
        </p:txBody>
      </p:sp>
      <p:pic>
        <p:nvPicPr>
          <p:cNvPr id="9" name="mermaid diagram" descr="C2_W04_D03_canteen_pair_counts_STUDENT.png"/>
          <p:cNvPicPr>
            <a:picLocks noChangeAspect="1"/>
          </p:cNvPicPr>
          <p:nvPr/>
        </p:nvPicPr>
        <p:blipFill>
          <a:blip r:embed="rId4"/>
          <a:stretch>
            <a:fillRect/>
          </a:stretch>
        </p:blipFill>
        <p:spPr>
          <a:xfrm>
            <a:off x="530352" y="1943503"/>
            <a:ext cx="4786326" cy="3470864"/>
          </a:xfrm>
          <a:prstGeom prst="rect">
            <a:avLst/>
          </a:prstGeom>
        </p:spPr>
      </p:pic>
      <p:sp>
        <p:nvSpPr>
          <p:cNvPr id="10" name="picture caption"/>
          <p:cNvSpPr txBox="1"/>
          <p:nvPr/>
        </p:nvSpPr>
        <p:spPr>
          <a:xfrm>
            <a:off x="530352" y="545094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six most common pairs of the twelve invented orders by the orders each shares</a:t>
            </a:r>
          </a:p>
        </p:txBody>
      </p:sp>
      <p:sp>
        <p:nvSpPr>
          <p:cNvPr id="11" name="TextBox 10"/>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support of a pair is the baskets holding both over all baskets. Chaas's own support is its share, 9 / 12 = 0.75. Three lines count it:</a:t>
            </a:r>
          </a:p>
        </p:txBody>
      </p:sp>
      <p:sp>
        <p:nvSpPr>
          <p:cNvPr id="12" name="Rounded Rectangle 11"/>
          <p:cNvSpPr/>
          <p:nvPr/>
        </p:nvSpPr>
        <p:spPr>
          <a:xfrm>
            <a:off x="5761917" y="3133344"/>
            <a:ext cx="589942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462528"/>
            <a:ext cx="544222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set of items per order</a:t>
            </a:r>
          </a:p>
          <a:p>
            <a:pPr>
              <a:spcAft>
                <a:spcPts val="200"/>
              </a:spcAft>
            </a:pPr>
            <a:r>
              <a:rPr sz="1400" b="0" i="0">
                <a:solidFill>
                  <a:srgbClr val="E4E1F1"/>
                </a:solidFill>
                <a:latin typeface="Consolas"/>
              </a:rPr>
              <a:t>orders = lines.groupby("order_id")</a:t>
            </a:r>
          </a:p>
          <a:p>
            <a:pPr>
              <a:spcAft>
                <a:spcPts val="200"/>
              </a:spcAft>
            </a:pPr>
            <a:r>
              <a:rPr sz="1400" b="0" i="0">
                <a:solidFill>
                  <a:srgbClr val="E4E1F1"/>
                </a:solidFill>
                <a:latin typeface="Consolas"/>
              </a:rPr>
              <a:t>baskets = orders.item.apply(set)</a:t>
            </a:r>
          </a:p>
          <a:p>
            <a:pPr>
              <a:spcAft>
                <a:spcPts val="200"/>
              </a:spcAft>
            </a:pPr>
            <a:r>
              <a:rPr sz="1400" b="0" i="0">
                <a:solidFill>
                  <a:srgbClr val="A9A3D2"/>
                </a:solidFill>
                <a:latin typeface="Consolas"/>
              </a:rPr>
              <a:t># orders holding roti and sabzi: 3</a:t>
            </a:r>
          </a:p>
          <a:p>
            <a:pPr>
              <a:spcAft>
                <a:spcPts val="200"/>
              </a:spcAft>
            </a:pPr>
            <a:r>
              <a:rPr sz="1400" b="0" i="0">
                <a:solidFill>
                  <a:srgbClr val="E4E1F1"/>
                </a:solidFill>
                <a:latin typeface="Consolas"/>
              </a:rPr>
              <a:t>both = sum("roti" in b and "sabzi" in b</a:t>
            </a:r>
          </a:p>
          <a:p>
            <a:pPr>
              <a:spcAft>
                <a:spcPts val="200"/>
              </a:spcAft>
            </a:pPr>
            <a:r>
              <a:rPr sz="1400" b="0" i="0">
                <a:solidFill>
                  <a:srgbClr val="E4E1F1"/>
                </a:solidFill>
                <a:latin typeface="Consolas"/>
              </a:rPr>
              <a:t>           for b in baskets)</a:t>
            </a:r>
          </a:p>
          <a:p>
            <a:pPr>
              <a:spcAft>
                <a:spcPts val="200"/>
              </a:spcAft>
            </a:pPr>
            <a:r>
              <a:rPr sz="1400" b="0" i="0">
                <a:solidFill>
                  <a:srgbClr val="E4E1F1"/>
                </a:solidFill>
                <a:latin typeface="Consolas"/>
              </a:rPr>
              <a:t>print(both / len(baskets))     # 0.25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answers how often, and nothing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support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 basket is everything one customer pays for in one go, and together means in the same basket.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Support of a pair is the baskets holding both over all baskets, so its denominator is every basket.</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item's own support is its share of baskets: chaas sits in 0.75 of the twelve orders.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most common pair is a count and nothing more yet: dal rice and chaas lead with 6 of 12.</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"What is support?" The share of all baskets that hold both items, said with its denominator.</a:t>
            </a:r>
          </a:p>
        </p:txBody>
      </p:sp>
      <p:pic>
        <p:nvPicPr>
          <p:cNvPr id="22" name="mermaid diagram" descr="592d8a6b66c02116.png"/>
          <p:cNvPicPr>
            <a:picLocks noChangeAspect="1"/>
          </p:cNvPicPr>
          <p:nvPr/>
        </p:nvPicPr>
        <p:blipFill>
          <a:blip r:embed="rId6"/>
          <a:stretch>
            <a:fillRect/>
          </a:stretch>
        </p:blipFill>
        <p:spPr>
          <a:xfrm>
            <a:off x="3266555" y="4587240"/>
            <a:ext cx="5658583" cy="161239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Confidence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reliably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Confidence, the second count, on the same twelve orders: how reliably one item brings the other, and why the direction changes the number.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counts inside the baskets that hold 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two of three, confidence.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again, who must decide which item the combo card is printed beside: a card aimed at the wrong buyer reads well and sells nothing.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"of those" count?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baskets with A, then those with B too.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direction matter?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Dal rice to papad against papad to dal rice.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far can it swing?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Papad and pickle, two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can it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Whether a pair is special at 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papad reads 0.50; papad to dal 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Dal rice is in 6 orders, papad in 5, both in 3. What is the confidence from papad to dal rice?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Confidence reads 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papad's five orders hold dal rice.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0.25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all twelve orders hold both.</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b9076ab140eb.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papad order holds dal rice.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TextBox 4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0.60: three of papad's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same three orders give two different confidences?</a:t>
            </a:r>
          </a:p>
        </p:txBody>
      </p:sp>
      <p:pic>
        <p:nvPicPr>
          <p:cNvPr id="9" name="mermaid diagram" descr="C2_W04_D03_canteen_two_ways_STUDENT.png"/>
          <p:cNvPicPr>
            <a:picLocks noChangeAspect="1"/>
          </p:cNvPicPr>
          <p:nvPr/>
        </p:nvPicPr>
        <p:blipFill>
          <a:blip r:embed="rId4"/>
          <a:stretch>
            <a:fillRect/>
          </a:stretch>
        </p:blipFill>
        <p:spPr>
          <a:xfrm>
            <a:off x="1579563" y="1664208"/>
            <a:ext cx="903256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invented orders shrunk two ways: dal rice's six orders, then papad's five, the three holding both filled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From dal rice, the world shrinks to its 6 orders and 3 hold papad: 3 / 6 = 0.50. From papad, it shrinks to 5 orders and the same 3 hold dal rice: 3 / 5 = 0.60. The trap is reporting one direction's number for the other, which aims the combo card at the wrong buyer.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Direction can swing a pair from 1.00 to 0.40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can the two directions sit, and when do they agree?</a:t>
            </a:r>
          </a:p>
        </p:txBody>
      </p:sp>
      <p:pic>
        <p:nvPicPr>
          <p:cNvPr id="9" name="mermaid diagram" descr="C2_W04_D03_canteen_direction_STUDENT.png"/>
          <p:cNvPicPr>
            <a:picLocks noChangeAspect="1"/>
          </p:cNvPicPr>
          <p:nvPr/>
        </p:nvPicPr>
        <p:blipFill>
          <a:blip r:embed="rId4"/>
          <a:stretch>
            <a:fillRect/>
          </a:stretch>
        </p:blipFill>
        <p:spPr>
          <a:xfrm>
            <a:off x="530352" y="1764321"/>
            <a:ext cx="4786326" cy="3621964"/>
          </a:xfrm>
          <a:prstGeom prst="rect">
            <a:avLst/>
          </a:prstGeom>
        </p:spPr>
      </p:pic>
      <p:sp>
        <p:nvSpPr>
          <p:cNvPr id="10" name="picture caption"/>
          <p:cNvSpPr txBox="1"/>
          <p:nvPr/>
        </p:nvSpPr>
        <p:spPr>
          <a:xfrm>
            <a:off x="530352" y="5422862"/>
            <a:ext cx="4786326" cy="731520"/>
          </a:xfrm>
          <a:prstGeom prst="rect">
            <a:avLst/>
          </a:prstGeom>
          <a:noFill/>
        </p:spPr>
        <p:txBody>
          <a:bodyPr wrap="square" anchor="t" lIns="0" rIns="0" tIns="0" bIns="0">
            <a:spAutoFit/>
          </a:bodyPr>
          <a:lstStyle/>
          <a:p>
            <a:pPr algn="ctr"/>
            <a:r>
              <a:rPr sz="1200" b="0" i="0">
                <a:solidFill>
                  <a:srgbClr val="6B6690"/>
                </a:solidFill>
                <a:latin typeface="Calibri"/>
              </a:rPr>
              <a:t>Confidence one way against the other for all 13 pairs of the twelve invented orders, with the diagonal where both ways are equal</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confidence from A to B is the baskets holding both over the baskets holding A. Pickle's two orders both hold papad, 1.00, while papad's five orders hold pickle twice, 0.40. Roti and sabzi read 0.75 both ways only because each sits in 4 orders.</a:t>
            </a:r>
          </a:p>
        </p:txBody>
      </p:sp>
      <p:sp>
        <p:nvSpPr>
          <p:cNvPr id="12" name="Rounded Rectangle 11"/>
          <p:cNvSpPr/>
          <p:nvPr/>
        </p:nvSpPr>
        <p:spPr>
          <a:xfrm>
            <a:off x="5761917" y="3686048"/>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orders holding dal rice: 6</a:t>
            </a:r>
          </a:p>
          <a:p>
            <a:pPr>
              <a:spcAft>
                <a:spcPts val="200"/>
              </a:spcAft>
            </a:pPr>
            <a:r>
              <a:rPr sz="1400" b="0" i="0">
                <a:solidFill>
                  <a:srgbClr val="E4E1F1"/>
                </a:solidFill>
                <a:latin typeface="Consolas"/>
              </a:rPr>
              <a:t>dal = sum("dal rice" in b for b in baskets)</a:t>
            </a:r>
          </a:p>
          <a:p>
            <a:pPr>
              <a:spcAft>
                <a:spcPts val="200"/>
              </a:spcAft>
            </a:pPr>
            <a:r>
              <a:rPr sz="1400" b="0" i="0">
                <a:solidFill>
                  <a:srgbClr val="A9A3D2"/>
                </a:solidFill>
                <a:latin typeface="Consolas"/>
              </a:rPr>
              <a:t># of those, orders holding papad too: 3</a:t>
            </a:r>
          </a:p>
          <a:p>
            <a:pPr>
              <a:spcAft>
                <a:spcPts val="200"/>
              </a:spcAft>
            </a:pPr>
            <a:r>
              <a:rPr sz="1400" b="0" i="0">
                <a:solidFill>
                  <a:srgbClr val="E4E1F1"/>
                </a:solidFill>
                <a:latin typeface="Consolas"/>
              </a:rPr>
              <a:t>both = sum("papad" in b for b in baskets</a:t>
            </a:r>
          </a:p>
          <a:p>
            <a:pPr>
              <a:spcAft>
                <a:spcPts val="200"/>
              </a:spcAft>
            </a:pPr>
            <a:r>
              <a:rPr sz="1400" b="0" i="0">
                <a:solidFill>
                  <a:srgbClr val="E4E1F1"/>
                </a:solidFill>
                <a:latin typeface="Consolas"/>
              </a:rPr>
              <a:t>           if "dal rice" in b)</a:t>
            </a:r>
          </a:p>
          <a:p>
            <a:pPr>
              <a:spcAft>
                <a:spcPts val="200"/>
              </a:spcAft>
            </a:pPr>
            <a:r>
              <a:rPr sz="1400" b="0" i="0">
                <a:solidFill>
                  <a:srgbClr val="E4E1F1"/>
                </a:solidFill>
                <a:latin typeface="Consolas"/>
              </a:rPr>
              <a:t>print(both / dal)        # 0.50 from dal rice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is a rate with a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confidence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Confidence from A to B is the baskets holding both over the baskets holding A.</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is written with its direction, since the denominator is the basket count of A.</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two directions agree only when the two items sit in the same number of baskets.</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Confidence alone never says whether a pair is special, since it ignores how common B is anyway.</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"What is confidence, and why does the direction matter?" Both over A, so A to B and B to A divide by different baskets.</a:t>
            </a:r>
          </a:p>
        </p:txBody>
      </p:sp>
      <p:pic>
        <p:nvPicPr>
          <p:cNvPr id="22" name="mermaid diagram" descr="a26710964252ffe3.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Chance and lift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More often than chance?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Lift, the third count, built from what chance alone would put in a basket: do two items meet more often than chance would put them together?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compares what is seen with what chance gives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three of three, chance and lift.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wants pairs that sell together more than they would anyway; a pair that merely meets as often as chance puts nothing extra on the counter.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chance give?</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If two items ignored each other.</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lift?</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seen count over the chance count.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lift have a direction?</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Read it from both sides.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lift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Why the two meet.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roti and sabzi ignored each other, how many?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Roti is in 4 of 12 orders and sabzi in 4. How many orders would hold both by chance alone?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off_a67030a88d5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never meet.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third of roti's 4 orders, if sabzi ignored roti.</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basket_3377944e7502.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orders hold both on the cards.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hash_29aa8cda0b5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4</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Roti's own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TextBox 4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by chance; 3 seen; lift 2.25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chance give a count, and how does lift compare with it?</a:t>
            </a:r>
          </a:p>
        </p:txBody>
      </p:sp>
      <p:pic>
        <p:nvPicPr>
          <p:cNvPr id="9" name="mermaid diagram" descr="C2_W04_D03_canteen_seen_expected_STUDENT.png"/>
          <p:cNvPicPr>
            <a:picLocks noChangeAspect="1"/>
          </p:cNvPicPr>
          <p:nvPr/>
        </p:nvPicPr>
        <p:blipFill>
          <a:blip r:embed="rId4"/>
          <a:stretch>
            <a:fillRect/>
          </a:stretch>
        </p:blipFill>
        <p:spPr>
          <a:xfrm>
            <a:off x="1710502" y="1664208"/>
            <a:ext cx="8770689"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Seen against chance for four pairs of the twelve invented orders: roti and sabzi, dal rice and papad, roti and chaas, papad and chaas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roti and sabzi ignored each other, roti's orders would hold sabzi at the rate all orders do, 4 of 12, so a third of the 4 roti orders: 12 x 4/12 x 4/12 = 1.33. Three are seen, so lift is 3 / 1.33 = 2.25. Roti and chaas show chance itself: 12 x 4/12 x 9/12 = 3 by chance, 3 seen, lift 1.00.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a ratio of two areas, the same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say lift is, and why does it have no direction?</a:t>
            </a:r>
          </a:p>
        </p:txBody>
      </p:sp>
      <p:pic>
        <p:nvPicPr>
          <p:cNvPr id="9" name="mermaid diagram" descr="C2_W04_D03_canteen_areas_STUDENT.png"/>
          <p:cNvPicPr>
            <a:picLocks noChangeAspect="1"/>
          </p:cNvPicPr>
          <p:nvPr/>
        </p:nvPicPr>
        <p:blipFill>
          <a:blip r:embed="rId4"/>
          <a:stretch>
            <a:fillRect/>
          </a:stretch>
        </p:blipFill>
        <p:spPr>
          <a:xfrm>
            <a:off x="530352" y="2207929"/>
            <a:ext cx="4786326" cy="2942012"/>
          </a:xfrm>
          <a:prstGeom prst="rect">
            <a:avLst/>
          </a:prstGeom>
        </p:spPr>
      </p:pic>
      <p:sp>
        <p:nvSpPr>
          <p:cNvPr id="10" name="picture caption"/>
          <p:cNvSpPr txBox="1"/>
          <p:nvPr/>
        </p:nvSpPr>
        <p:spPr>
          <a:xfrm>
            <a:off x="530352" y="5186518"/>
            <a:ext cx="4786326" cy="524256"/>
          </a:xfrm>
          <a:prstGeom prst="rect">
            <a:avLst/>
          </a:prstGeom>
          <a:noFill/>
        </p:spPr>
        <p:txBody>
          <a:bodyPr wrap="square" anchor="t" lIns="0" rIns="0" tIns="0" bIns="0">
            <a:spAutoFit/>
          </a:bodyPr>
          <a:lstStyle/>
          <a:p>
            <a:pPr algn="ctr"/>
            <a:r>
              <a:rPr sz="1200" b="0" i="0">
                <a:solidFill>
                  <a:srgbClr val="6B6690"/>
                </a:solidFill>
                <a:latin typeface="Calibri"/>
              </a:rPr>
              <a:t>Lift as a ratio of two areas on the unit square for roti and sabzi: chance 0.11 against seen 0.25</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lift = seen / chance = both x all / (A x B) = 3 x 12 / (4 x 4) = 2.25. The second route is confidence over the partner's share: 0.75 / (4/12) = 2.25 from either side, which is why lift has no direction.</a:t>
            </a:r>
          </a:p>
        </p:txBody>
      </p:sp>
      <p:sp>
        <p:nvSpPr>
          <p:cNvPr id="12" name="Rounded Rectangle 11"/>
          <p:cNvSpPr/>
          <p:nvPr/>
        </p:nvSpPr>
        <p:spPr>
          <a:xfrm>
            <a:off x="5761917" y="3686048"/>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317244"/>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chance: all orders x both shares</a:t>
            </a:r>
          </a:p>
          <a:p>
            <a:pPr>
              <a:spcAft>
                <a:spcPts val="200"/>
              </a:spcAft>
            </a:pPr>
            <a:r>
              <a:rPr sz="1400" b="0" i="0">
                <a:solidFill>
                  <a:srgbClr val="E4E1F1"/>
                </a:solidFill>
                <a:latin typeface="Consolas"/>
              </a:rPr>
              <a:t>chance = 12 * (4 / 12) * (4 / 12)  # 1.33</a:t>
            </a:r>
          </a:p>
          <a:p>
            <a:pPr>
              <a:spcAft>
                <a:spcPts val="200"/>
              </a:spcAft>
            </a:pPr>
            <a:r>
              <a:rPr sz="1400" b="0" i="0">
                <a:solidFill>
                  <a:srgbClr val="E4E1F1"/>
                </a:solidFill>
                <a:latin typeface="Consolas"/>
              </a:rPr>
              <a:t>print(3 / chance)          # lift: 2.25</a:t>
            </a:r>
          </a:p>
          <a:p>
            <a:pPr>
              <a:spcAft>
                <a:spcPts val="200"/>
              </a:spcAft>
            </a:pPr>
            <a:r>
              <a:rPr sz="1400" b="0" i="0">
                <a:solidFill>
                  <a:srgbClr val="A9A3D2"/>
                </a:solidFill>
                <a:latin typeface="Consolas"/>
              </a:rPr>
              <a:t># second route: confidence over share</a:t>
            </a:r>
          </a:p>
          <a:p>
            <a:pPr>
              <a:spcAft>
                <a:spcPts val="200"/>
              </a:spcAft>
            </a:pPr>
            <a:r>
              <a:rPr sz="1400" b="0" i="0">
                <a:solidFill>
                  <a:srgbClr val="E4E1F1"/>
                </a:solidFill>
                <a:latin typeface="Consolas"/>
              </a:rPr>
              <a:t>print((3 / 4) / (4 / 12))  # also 2.25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counts a pull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lift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Chance alone gives a pair all baskets times A's share times B's share.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Lift is the seen count over the chance count, and it reads the same from both sides.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Lift below one means together less often than chance, exactly one means chance, and above one more often.</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Lift 2.25 never means roti makes anyone buy 2.25 times the sabzi; only a change at the counter tested fairly shows cause.</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"Which of the three counts cannot be fooled by popularity?" Lift, because it divides by the partner's share; chapter 4 shows the trap it avoids.</a:t>
            </a:r>
          </a:p>
        </p:txBody>
      </p:sp>
      <p:pic>
        <p:nvPicPr>
          <p:cNvPr id="22" name="mermaid diagram" descr="1742fea109b752cb.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confidence trap; lift near one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1.00 mean a bundle?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the item in most baskets reads like a bundle with everything, why its lift can never climb far above one, and what near one means today.</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Chaas is in 9 of 12 orders: a base rate of 0.75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confidence trap; lift near one.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is told that every dal rice order has chaas and is tempted to print chaas beside everything; a board full of chaas sells nothing that was not selling already.</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base rate?</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How common an item is in all baskets anyway.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dal rice to chaas worth?</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Confidence 1.00, read against 0.75.</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every item look bundled?</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common items toward chaas.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count resists it?</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that divides the base rate out.</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9" name="Oval 38"/>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1" name="Oval 40"/>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3" name="Oval 42"/>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5" name="Oval 44"/>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7" name="Oval 46"/>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9" name="TextBox 48"/>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chaas reads 1.00: what is the lift?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dal rice order holds chaas, and chaas is in 9 of 12 orders. What is their lift?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eck-check_1617a5259dc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same as the confidence.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confidence over chaas's share.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2.00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Twice as strong as an ordinary pair.</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Chaas's own share of the orders.</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6" name="Oval 35"/>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8" name="Oval 37"/>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0" name="Oval 39"/>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2" name="Oval 41"/>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4" name="Oval 43"/>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6" name="TextBox 45"/>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chance already gave dal rice 4.5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confidence of 1.00 add so little?</a:t>
            </a:r>
          </a:p>
        </p:txBody>
      </p:sp>
      <p:pic>
        <p:nvPicPr>
          <p:cNvPr id="9" name="mermaid diagram" descr="C2_W04_D03_chaas_partner_STUDENT.png"/>
          <p:cNvPicPr>
            <a:picLocks noChangeAspect="1"/>
          </p:cNvPicPr>
          <p:nvPr/>
        </p:nvPicPr>
        <p:blipFill>
          <a:blip r:embed="rId4"/>
          <a:stretch>
            <a:fillRect/>
          </a:stretch>
        </p:blipFill>
        <p:spPr>
          <a:xfrm>
            <a:off x="1704268" y="1664208"/>
            <a:ext cx="878315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chaas and lift with chaas for the four items in four or more of the twelve invented orders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Chance alone puts chaas in 12 x 6/12 x 9/12 = 4.5 of dal rice's 6 orders; 6 are seen, so lift is 6 / 4.5 = 1.33, and 1.00 / 0.75 gives the same. That is as high as any lift with chaas can go: a partner cannot hold chaas more than every time, so lift stops at one over chaas's 0.75, 1.33. Every item in four or more orders reads confidence 0.60 to 1.00 toward chaas, and lift 0.80 to 1.33.</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19" name="Oval 18"/>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TextBox 24"/>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follows popularity; lift divides it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two counts as an item gets more popular?</a:t>
            </a:r>
          </a:p>
        </p:txBody>
      </p:sp>
      <p:pic>
        <p:nvPicPr>
          <p:cNvPr id="9" name="mermaid diagram" descr="C2_W04_D03_popular_sweep_STUDENT.png"/>
          <p:cNvPicPr>
            <a:picLocks noChangeAspect="1"/>
          </p:cNvPicPr>
          <p:nvPr/>
        </p:nvPicPr>
        <p:blipFill>
          <a:blip r:embed="rId4"/>
          <a:stretch>
            <a:fillRect/>
          </a:stretch>
        </p:blipFill>
        <p:spPr>
          <a:xfrm>
            <a:off x="530352" y="1913200"/>
            <a:ext cx="4786326" cy="3324207"/>
          </a:xfrm>
          <a:prstGeom prst="rect">
            <a:avLst/>
          </a:prstGeom>
        </p:spPr>
      </p:pic>
      <p:sp>
        <p:nvSpPr>
          <p:cNvPr id="10" name="picture caption"/>
          <p:cNvSpPr txBox="1"/>
          <p:nvPr/>
        </p:nvSpPr>
        <p:spPr>
          <a:xfrm>
            <a:off x="530352" y="5273983"/>
            <a:ext cx="4786326" cy="731520"/>
          </a:xfrm>
          <a:prstGeom prst="rect">
            <a:avLst/>
          </a:prstGeom>
          <a:noFill/>
        </p:spPr>
        <p:txBody>
          <a:bodyPr wrap="square" anchor="t" lIns="0" rIns="0" tIns="0" bIns="0">
            <a:spAutoFit/>
          </a:bodyPr>
          <a:lstStyle/>
          <a:p>
            <a:pPr algn="ctr"/>
            <a:r>
              <a:rPr sz="1200" b="0" i="0">
                <a:solidFill>
                  <a:srgbClr val="6B6690"/>
                </a:solidFill>
                <a:latin typeface="Calibri"/>
              </a:rPr>
              <a:t>An invented sweep: as the popular item's share rises from 20 to 90 percent, an ignoring partner's confidence rises with it and lift stays at one</a:t>
            </a:r>
          </a:p>
        </p:txBody>
      </p:sp>
      <p:sp>
        <p:nvSpPr>
          <p:cNvPr id="11" name="TextBox 10"/>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for a partner that ignores it, confidence toward an item equals that item's share, so the most popular item tops the confidence ranking beside almost every item, while lift stays at one.</a:t>
            </a:r>
          </a:p>
        </p:txBody>
      </p:sp>
      <p:sp>
        <p:nvSpPr>
          <p:cNvPr id="12" name="Rounded Rectangle 11"/>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the popular item's share, invented</a:t>
            </a:r>
          </a:p>
          <a:p>
            <a:pPr>
              <a:spcAft>
                <a:spcPts val="200"/>
              </a:spcAft>
            </a:pPr>
            <a:r>
              <a:rPr sz="1400" b="0" i="0">
                <a:solidFill>
                  <a:srgbClr val="E4E1F1"/>
                </a:solidFill>
                <a:latin typeface="Consolas"/>
              </a:rPr>
              <a:t>for share in [0.2, 0.5, 0.9]:</a:t>
            </a:r>
          </a:p>
          <a:p>
            <a:pPr>
              <a:spcAft>
                <a:spcPts val="200"/>
              </a:spcAft>
            </a:pPr>
            <a:r>
              <a:rPr sz="1400" b="0" i="0">
                <a:solidFill>
                  <a:srgbClr val="A9A3D2"/>
                </a:solidFill>
                <a:latin typeface="Consolas"/>
              </a:rPr>
              <a:t>    # a partner ignoring it holds it</a:t>
            </a:r>
          </a:p>
          <a:p>
            <a:pPr>
              <a:spcAft>
                <a:spcPts val="200"/>
              </a:spcAft>
            </a:pPr>
            <a:r>
              <a:rPr sz="1400" b="0" i="0">
                <a:solidFill>
                  <a:srgbClr val="A9A3D2"/>
                </a:solidFill>
                <a:latin typeface="Consolas"/>
              </a:rPr>
              <a:t>    # at its own share</a:t>
            </a:r>
          </a:p>
          <a:p>
            <a:pPr>
              <a:spcAft>
                <a:spcPts val="200"/>
              </a:spcAft>
            </a:pPr>
            <a:r>
              <a:rPr sz="1400" b="0" i="0">
                <a:solidFill>
                  <a:srgbClr val="E4E1F1"/>
                </a:solidFill>
                <a:latin typeface="Consolas"/>
              </a:rPr>
              <a:t>    confidence = share</a:t>
            </a:r>
          </a:p>
          <a:p>
            <a:pPr>
              <a:spcAft>
                <a:spcPts val="200"/>
              </a:spcAft>
            </a:pPr>
            <a:r>
              <a:rPr sz="1400" b="0" i="0">
                <a:solidFill>
                  <a:srgbClr val="E4E1F1"/>
                </a:solidFill>
                <a:latin typeface="Consolas"/>
              </a:rPr>
              <a:t>    print(share, confidence / share)  # 1.0</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0" name="Oval 19"/>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2" name="Oval 21"/>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24" name="Oval 23"/>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6" name="Oval 25"/>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8" name="Oval 27"/>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0" name="TextBox 29"/>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the popular item's share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4, and where is the trap met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base rate is how common an item is in all baskets anyway.</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Confidence toward an item in most baskets is high from every partner, so its size says nothing.</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Beside one item, confidence ranks candidates by share times pull; lift divides the share out.</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Lift with an item cannot pass one over its share, 1.33 for chaas, so the popular item stays under the 1.5 bar.</a:t>
            </a:r>
          </a:p>
        </p:txBody>
      </p:sp>
      <p:sp>
        <p:nvSpPr>
          <p:cNvPr id="17" name="Rounded Rectangle 16"/>
          <p:cNvSpPr/>
          <p:nvPr/>
        </p:nvSpPr>
        <p:spPr>
          <a:xfrm>
            <a:off x="530352" y="3283712"/>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46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56584"/>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544576"/>
          </a:xfrm>
          <a:prstGeom prst="rect">
            <a:avLst/>
          </a:prstGeom>
          <a:noFill/>
        </p:spPr>
        <p:txBody>
          <a:bodyPr wrap="square" anchor="t" lIns="0" rIns="0" tIns="0" bIns="0">
            <a:spAutoFit/>
          </a:bodyPr>
          <a:lstStyle/>
          <a:p>
            <a:r>
              <a:rPr sz="1100" b="0" i="0">
                <a:solidFill>
                  <a:srgbClr val="1A1440"/>
                </a:solidFill>
                <a:latin typeface="Calibri"/>
              </a:rPr>
              <a:t>[S] Weak answer: "confidence, since dal rice to chaas is 1.00". Hire-grade: "lift, since chaas is in 0.75 of orders anyway, so 1.00 is only 1.33 times chance."</a:t>
            </a:r>
          </a:p>
        </p:txBody>
      </p:sp>
      <p:pic>
        <p:nvPicPr>
          <p:cNvPr id="22" name="mermaid diagram" descr="2b9685c50072948a.png"/>
          <p:cNvPicPr>
            <a:picLocks noChangeAspect="1"/>
          </p:cNvPicPr>
          <p:nvPr/>
        </p:nvPicPr>
        <p:blipFill>
          <a:blip r:embed="rId6"/>
          <a:stretch>
            <a:fillRect/>
          </a:stretch>
        </p:blipFill>
        <p:spPr>
          <a:xfrm>
            <a:off x="3433351" y="4431792"/>
            <a:ext cx="5324991" cy="1767839"/>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6" name="Oval 25"/>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8" name="Oval 27"/>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30" name="Oval 29"/>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2" name="Oval 31"/>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4" name="Oval 33"/>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6" name="TextBox 35"/>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the order items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lines make pairs?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a table of order lines becomes every pair's three numbers, built from scratch on the canteen's 33 lines.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 lines become baskets, and baskets become pairs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Basket analysis on the order items.</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Anyone who must count every pair of a real shop: a warehouse stores a bill as order lines, one row per order and item, which is how Kalpa's order_items and Instamart's cart_items are kept.</a:t>
            </a:r>
          </a:p>
        </p:txBody>
      </p:sp>
      <p:pic>
        <p:nvPicPr>
          <p:cNvPr id="15" name="mermaid diagram" descr="3c62a73861f7cdf6.png"/>
          <p:cNvPicPr>
            <a:picLocks noChangeAspect="1"/>
          </p:cNvPicPr>
          <p:nvPr/>
        </p:nvPicPr>
        <p:blipFill>
          <a:blip r:embed="rId5"/>
          <a:stretch>
            <a:fillRect/>
          </a:stretch>
        </p:blipFill>
        <p:spPr>
          <a:xfrm>
            <a:off x="530352" y="3634740"/>
            <a:ext cx="11130991" cy="1545971"/>
          </a:xfrm>
          <a:prstGeom prst="rect">
            <a:avLst/>
          </a:prstGeom>
        </p:spPr>
      </p:pic>
      <p:sp>
        <p:nvSpPr>
          <p:cNvPr id="16" name="TextBox 1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7" name="Oval 1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1" name="Oval 20"/>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3" name="Oval 2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pairs do the twelve orders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canteen's twelve orders hold 33 lines. Counted once per basket, how many pairs?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33</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pair for every order line.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basket_3377944e750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order's own pairs, added up.</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py_327f3a0004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60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its names read both ways round.</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out-grid_bb7508f12a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28</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the eight menu items could form.</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30 pairs from 33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order turn into pairs, and how do twelve add up?</a:t>
            </a:r>
          </a:p>
        </p:txBody>
      </p:sp>
      <p:pic>
        <p:nvPicPr>
          <p:cNvPr id="9" name="mermaid diagram" descr="1f4d0c27a190e8b5.png"/>
          <p:cNvPicPr>
            <a:picLocks noChangeAspect="1"/>
          </p:cNvPicPr>
          <p:nvPr/>
        </p:nvPicPr>
        <p:blipFill>
          <a:blip r:embed="rId5"/>
          <a:stretch>
            <a:fillRect/>
          </a:stretch>
        </p:blipFill>
        <p:spPr>
          <a:xfrm>
            <a:off x="1197221" y="1682496"/>
            <a:ext cx="3452588" cy="4517136"/>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basket of three items holds three pairs, four items hold six, and k items hold k x (k - 1) / 2. Nine three-line orders give 27 and three two-line orders give 3, so 30. The names are sorted first, so chaas with dal rice and dal rice with chaas are one key. Left unsorted, a pair can land under two keys and its count splits; counted with its names both ways round, as permutations does, every pair counts twice and the total reads 60.</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Ranked by count and by lift, two different 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pairs table say, and what code builds it?</a:t>
            </a:r>
          </a:p>
        </p:txBody>
      </p:sp>
      <p:pic>
        <p:nvPicPr>
          <p:cNvPr id="9" name="mermaid diagram" descr="C2_W04_D03_canteen_rankings_STUDENT.png"/>
          <p:cNvPicPr>
            <a:picLocks noChangeAspect="1"/>
          </p:cNvPicPr>
          <p:nvPr/>
        </p:nvPicPr>
        <p:blipFill>
          <a:blip r:embed="rId4"/>
          <a:stretch>
            <a:fillRect/>
          </a:stretch>
        </p:blipFill>
        <p:spPr>
          <a:xfrm>
            <a:off x="660182" y="1682496"/>
            <a:ext cx="4526665"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pairs ranked by orders shared and by lift: two different tops</a:t>
            </a:r>
          </a:p>
        </p:txBody>
      </p:sp>
      <p:sp>
        <p:nvSpPr>
          <p:cNvPr id="11" name="Rounded Rectangle 10"/>
          <p:cNvSpPr/>
          <p:nvPr/>
        </p:nvSpPr>
        <p:spPr>
          <a:xfrm>
            <a:off x="5761917" y="1954784"/>
            <a:ext cx="5899425" cy="2621279"/>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20828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20828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20828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2283968"/>
            <a:ext cx="5442225" cy="2218943"/>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one set of items per order</a:t>
            </a:r>
          </a:p>
          <a:p>
            <a:pPr>
              <a:spcAft>
                <a:spcPts val="200"/>
              </a:spcAft>
            </a:pPr>
            <a:r>
              <a:rPr sz="1200" b="0" i="0">
                <a:solidFill>
                  <a:srgbClr val="E4E1F1"/>
                </a:solidFill>
                <a:latin typeface="Consolas"/>
              </a:rPr>
              <a:t>orders = lines.groupby("order_id")</a:t>
            </a:r>
          </a:p>
          <a:p>
            <a:pPr>
              <a:spcAft>
                <a:spcPts val="200"/>
              </a:spcAft>
            </a:pPr>
            <a:r>
              <a:rPr sz="1200" b="0" i="0">
                <a:solidFill>
                  <a:srgbClr val="E4E1F1"/>
                </a:solidFill>
                <a:latin typeface="Consolas"/>
              </a:rPr>
              <a:t>baskets = orders.item.apply(set)</a:t>
            </a:r>
          </a:p>
          <a:p>
            <a:pPr>
              <a:spcAft>
                <a:spcPts val="200"/>
              </a:spcAft>
            </a:pPr>
            <a:r>
              <a:rPr sz="1200" b="0" i="0">
                <a:solidFill>
                  <a:srgbClr val="A9A3D2"/>
                </a:solidFill>
                <a:latin typeface="Consolas"/>
              </a:rPr>
              <a:t># every two items, names sorted, once</a:t>
            </a:r>
          </a:p>
          <a:p>
            <a:pPr>
              <a:spcAft>
                <a:spcPts val="200"/>
              </a:spcAft>
            </a:pPr>
            <a:r>
              <a:rPr sz="1200" b="0" i="0">
                <a:solidFill>
                  <a:srgbClr val="E4E1F1"/>
                </a:solidFill>
                <a:latin typeface="Consolas"/>
              </a:rPr>
              <a:t>pairs = Counter(</a:t>
            </a:r>
          </a:p>
          <a:p>
            <a:pPr>
              <a:spcAft>
                <a:spcPts val="200"/>
              </a:spcAft>
            </a:pPr>
            <a:r>
              <a:rPr sz="1200" b="0" i="0">
                <a:solidFill>
                  <a:srgbClr val="E4E1F1"/>
                </a:solidFill>
                <a:latin typeface="Consolas"/>
              </a:rPr>
              <a:t>    p for b in baskets</a:t>
            </a:r>
          </a:p>
          <a:p>
            <a:pPr>
              <a:spcAft>
                <a:spcPts val="200"/>
              </a:spcAft>
            </a:pPr>
            <a:r>
              <a:rPr sz="1200" b="0" i="0">
                <a:solidFill>
                  <a:srgbClr val="E4E1F1"/>
                </a:solidFill>
                <a:latin typeface="Consolas"/>
              </a:rPr>
              <a:t>    for p in combinations(sorted(b), 2))</a:t>
            </a:r>
          </a:p>
          <a:p>
            <a:pPr>
              <a:spcAft>
                <a:spcPts val="200"/>
              </a:spcAft>
            </a:pPr>
            <a:r>
              <a:rPr sz="1200" b="0" i="0">
                <a:solidFill>
                  <a:srgbClr val="E4E1F1"/>
                </a:solidFill>
                <a:latin typeface="Consolas"/>
              </a:rPr>
              <a:t>single = Counter(x for b in baskets</a:t>
            </a:r>
          </a:p>
          <a:p>
            <a:pPr>
              <a:spcAft>
                <a:spcPts val="200"/>
              </a:spcAft>
            </a:pPr>
            <a:r>
              <a:rPr sz="1200" b="0" i="0">
                <a:solidFill>
                  <a:srgbClr val="E4E1F1"/>
                </a:solidFill>
                <a:latin typeface="Consolas"/>
              </a:rPr>
              <a:t>                 for x in b)</a:t>
            </a:r>
          </a:p>
          <a:p>
            <a:pPr>
              <a:spcAft>
                <a:spcPts val="200"/>
              </a:spcAft>
            </a:pPr>
            <a:r>
              <a:rPr sz="1200" b="0" i="0">
                <a:solidFill>
                  <a:srgbClr val="E4E1F1"/>
                </a:solidFill>
                <a:latin typeface="Consolas"/>
              </a:rPr>
              <a:t>print(sum(pairs.values()))     # 30</a:t>
            </a:r>
          </a:p>
        </p:txBody>
      </p:sp>
      <p:sp>
        <p:nvSpPr>
          <p:cNvPr id="16" name="TextBox 15"/>
          <p:cNvSpPr txBox="1"/>
          <p:nvPr/>
        </p:nvSpPr>
        <p:spPr>
          <a:xfrm>
            <a:off x="5761917" y="4740655"/>
            <a:ext cx="5899425"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count, dal rice and chaas lead with 6 orders at lift 1.33; by lift, gulab jamun and curd lead at 6.0 on one order, then papad and pickle at 2.40 on two, then roti and sabzi at 2.25 on three.</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0" name="Oval 1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2" name="Oval 21"/>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4" name="Oval 23"/>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6" name="Oval 25"/>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8" name="Oval 2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is a count, never a ranking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5, and where is the table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Group the order lines by order into a set of items, so each basket counts an item once.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Count every two items in a basket, with the two names sorted, so each pair has one key.</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one-item basket adds no pair, and k items add k x (k - 1) / 2.</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table holds counts; which pair to promote is the next chapter's decision.</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[F] "Why sort the pair's names before counting?" So that each pair has one key and no count is split or doubled.</a:t>
            </a:r>
          </a:p>
        </p:txBody>
      </p:sp>
      <p:pic>
        <p:nvPicPr>
          <p:cNvPr id="22" name="mermaid diagram" descr="5cb45ffccaab038e.png"/>
          <p:cNvPicPr>
            <a:picLocks noChangeAspect="1"/>
          </p:cNvPicPr>
          <p:nvPr/>
        </p:nvPicPr>
        <p:blipFill>
          <a:blip r:embed="rId6"/>
          <a:stretch>
            <a:fillRect/>
          </a:stretch>
        </p:blipFill>
        <p:spPr>
          <a:xfrm>
            <a:off x="3091043" y="4414520"/>
            <a:ext cx="6009607" cy="1785112"/>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6" name="Oval 2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8" name="Oval 27"/>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30" name="Oval 2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2" name="Oval 3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4" name="Oval 3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support floor and the watch list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a pair too thin?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a lift on one or two baskets swings by luck, where a floor goes, and what a watch list does with a strong pair below it.</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is the fewest baskets a lift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support floor and the watch list.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sees gulab jamun and curd read lift 6.0, the canteen's strongest pair, and must decide whether one order is enough to print a combo card.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much can luck move a lift?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 one or two orders, and on thirty.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floor?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fewest baskets before a lift is read.</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watch list do?</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trial with a pass rule set first.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each pair go?</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Promote, watch, ignore or trap.</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5" name="Oval 4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600 orders of pure chance, how high can lift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month of the canteen's orders, invented so that no item depends on another. On one or two orders, how high can a lift 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1.2</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stay near one.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2</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Luck can double a lift, no more.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3</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Luck can triple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zap_2f973f740390.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More than six times chance.</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8.57 on 2 orders; near one past thirty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month of pure chance show about thin and thick pairs?</a:t>
            </a:r>
          </a:p>
        </p:txBody>
      </p:sp>
      <p:pic>
        <p:nvPicPr>
          <p:cNvPr id="9" name="mermaid diagram" descr="C2_W04_D03_month_luck_STUDENT.png"/>
          <p:cNvPicPr>
            <a:picLocks noChangeAspect="1"/>
          </p:cNvPicPr>
          <p:nvPr/>
        </p:nvPicPr>
        <p:blipFill>
          <a:blip r:embed="rId4"/>
          <a:stretch>
            <a:fillRect/>
          </a:stretch>
        </p:blipFill>
        <p:spPr>
          <a:xfrm>
            <a:off x="1569133" y="1664208"/>
            <a:ext cx="9053428"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the orders behind each pair in 600 invented orders where no item depends on another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Nothing in this month pulls any item toward another, yet gulab jamun and jalebi read lift 8.57 on 2 orders. The 10 pairs on 30 or more orders read 0.90 to 1.00, a shade under one because every order must hold at least one item. In between, three pairs on 4 to 7 orders still pass 1.5, up to 1.83, and none on 8 or more orders does. A lift on a handful of baskets says more about luck than about the pair.</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Set a floor, then sort: promote, watch, ignore,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canteen pair go once a floor is set?</a:t>
            </a:r>
          </a:p>
        </p:txBody>
      </p:sp>
      <p:pic>
        <p:nvPicPr>
          <p:cNvPr id="9" name="mermaid diagram" descr="C2_W04_D03_canteen_action_map_STUDENT.png"/>
          <p:cNvPicPr>
            <a:picLocks noChangeAspect="1"/>
          </p:cNvPicPr>
          <p:nvPr/>
        </p:nvPicPr>
        <p:blipFill>
          <a:blip r:embed="rId4"/>
          <a:stretch>
            <a:fillRect/>
          </a:stretch>
        </p:blipFill>
        <p:spPr>
          <a:xfrm>
            <a:off x="530352" y="1867953"/>
            <a:ext cx="4786326" cy="3621964"/>
          </a:xfrm>
          <a:prstGeom prst="rect">
            <a:avLst/>
          </a:prstGeom>
        </p:spPr>
      </p:pic>
      <p:sp>
        <p:nvSpPr>
          <p:cNvPr id="10" name="picture caption"/>
          <p:cNvSpPr txBox="1"/>
          <p:nvPr/>
        </p:nvSpPr>
        <p:spPr>
          <a:xfrm>
            <a:off x="530352" y="552649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13 pairs on an action map: a floor of three orders, a lift bar of 1.5, four regions</a:t>
            </a:r>
          </a:p>
        </p:txBody>
      </p:sp>
      <p:sp>
        <p:nvSpPr>
          <p:cNvPr id="11" name="TextBox 10"/>
          <p:cNvSpPr txBox="1"/>
          <p:nvPr/>
        </p:nvSpPr>
        <p:spPr>
          <a:xfrm>
            <a:off x="5761917" y="1956816"/>
            <a:ext cx="5899425" cy="187756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The rule, named last: set the floor where luck stops carrying a lift past the bar, read a lift only at or above it, and promote only at 1.5 or more. In the month that floor is 8 orders; twelve orders are too few for any floor, so 3 here only shows the sort. Roti and sabzi, 2.25 on three orders, lands in promote and would still be trialled first; papad and pickle (2.40 on two), roti and pickle (1.50 on one) and gulab jamun and curd (6.0 on one) are watched; dal rice and chaas, 1.33 on six, is the trap, near one on plenty of orders.</a:t>
            </a:r>
          </a:p>
        </p:txBody>
      </p:sp>
      <p:sp>
        <p:nvSpPr>
          <p:cNvPr id="12" name="Rounded Rectangle 11"/>
          <p:cNvSpPr/>
          <p:nvPr/>
        </p:nvSpPr>
        <p:spPr>
          <a:xfrm>
            <a:off x="5761917" y="3962400"/>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4090415"/>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4090415"/>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4090415"/>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291584"/>
            <a:ext cx="5442225" cy="1317244"/>
          </a:xfrm>
          <a:prstGeom prst="rect">
            <a:avLst/>
          </a:prstGeom>
          <a:noFill/>
        </p:spPr>
        <p:txBody>
          <a:bodyPr wrap="square" anchor="t" lIns="0" rIns="0" tIns="0" bIns="0">
            <a:spAutoFit/>
          </a:bodyPr>
          <a:lstStyle/>
          <a:p>
            <a:pPr>
              <a:spcAft>
                <a:spcPts val="200"/>
              </a:spcAft>
            </a:pPr>
            <a:r>
              <a:rPr sz="1000" b="0" i="0">
                <a:solidFill>
                  <a:srgbClr val="E4E1F1"/>
                </a:solidFill>
                <a:latin typeface="Consolas"/>
              </a:rPr>
              <a:t>FLOOR, BAR = 3, 1.5     # orders, lift</a:t>
            </a:r>
          </a:p>
          <a:p>
            <a:pPr>
              <a:spcAft>
                <a:spcPts val="200"/>
              </a:spcAft>
            </a:pPr>
            <a:r>
              <a:rPr sz="1000" b="0" i="0">
                <a:solidFill>
                  <a:srgbClr val="E4E1F1"/>
                </a:solidFill>
                <a:latin typeface="Consolas"/>
              </a:rPr>
              <a:t>def region(k, lift):</a:t>
            </a:r>
          </a:p>
          <a:p>
            <a:pPr>
              <a:spcAft>
                <a:spcPts val="200"/>
              </a:spcAft>
            </a:pPr>
            <a:r>
              <a:rPr sz="1000" b="0" i="0">
                <a:solidFill>
                  <a:srgbClr val="E4E1F1"/>
                </a:solidFill>
                <a:latin typeface="Consolas"/>
              </a:rPr>
              <a:t>    strong = lift &gt;= BAR</a:t>
            </a:r>
          </a:p>
          <a:p>
            <a:pPr>
              <a:spcAft>
                <a:spcPts val="200"/>
              </a:spcAft>
            </a:pPr>
            <a:r>
              <a:rPr sz="1000" b="0" i="0">
                <a:solidFill>
                  <a:srgbClr val="E4E1F1"/>
                </a:solidFill>
                <a:latin typeface="Consolas"/>
              </a:rPr>
              <a:t>    if k &gt;= FLOOR:</a:t>
            </a:r>
          </a:p>
          <a:p>
            <a:pPr>
              <a:spcAft>
                <a:spcPts val="200"/>
              </a:spcAft>
            </a:pPr>
            <a:r>
              <a:rPr sz="1000" b="0" i="0">
                <a:solidFill>
                  <a:srgbClr val="E4E1F1"/>
                </a:solidFill>
                <a:latin typeface="Consolas"/>
              </a:rPr>
              <a:t>        return "promote" if strong else "trap"</a:t>
            </a:r>
          </a:p>
          <a:p>
            <a:pPr>
              <a:spcAft>
                <a:spcPts val="200"/>
              </a:spcAft>
            </a:pPr>
            <a:r>
              <a:rPr sz="1000" b="0" i="0">
                <a:solidFill>
                  <a:srgbClr val="E4E1F1"/>
                </a:solidFill>
                <a:latin typeface="Consolas"/>
              </a:rPr>
              <a:t>    return "watch" if strong else "ignore"</a:t>
            </a:r>
          </a:p>
          <a:p>
            <a:pPr>
              <a:spcAft>
                <a:spcPts val="200"/>
              </a:spcAft>
            </a:pPr>
            <a:r>
              <a:rPr sz="1000" b="0" i="0">
                <a:solidFill>
                  <a:srgbClr val="E4E1F1"/>
                </a:solidFill>
                <a:latin typeface="Consolas"/>
              </a:rPr>
              <a:t>print(region(3, 2.25), region(2, 2.40))</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0" name="Oval 1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2" name="Oval 21"/>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4" name="Oval 23"/>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6" name="Oval 25"/>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8" name="Oval 2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strong pair on thin support earns a trial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the floor used next?</a:t>
            </a:r>
          </a:p>
        </p:txBody>
      </p:sp>
      <p:sp>
        <p:nvSpPr>
          <p:cNvPr id="9" name="TextBox 8"/>
          <p:cNvSpPr txBox="1"/>
          <p:nvPr/>
        </p:nvSpPr>
        <p:spPr>
          <a:xfrm>
            <a:off x="530352" y="1645920"/>
            <a:ext cx="502920" cy="251205"/>
          </a:xfrm>
          <a:prstGeom prst="rect">
            <a:avLst/>
          </a:prstGeom>
          <a:noFill/>
        </p:spPr>
        <p:txBody>
          <a:bodyPr wrap="square" anchor="t" lIns="0" rIns="0" tIns="0" bIns="0">
            <a:spAutoFit/>
          </a:bodyPr>
          <a:lstStyle/>
          <a:p>
            <a:pPr algn="l"/>
            <a:r>
              <a:rPr sz="1300" b="0" i="0">
                <a:solidFill>
                  <a:srgbClr val="5B3FD6"/>
                </a:solidFill>
                <a:latin typeface="Georgia"/>
              </a:rPr>
              <a:t>01</a:t>
            </a:r>
          </a:p>
        </p:txBody>
      </p:sp>
      <p:sp>
        <p:nvSpPr>
          <p:cNvPr id="10" name="TextBox 9"/>
          <p:cNvSpPr txBox="1"/>
          <p:nvPr/>
        </p:nvSpPr>
        <p:spPr>
          <a:xfrm>
            <a:off x="1097280" y="1682496"/>
            <a:ext cx="10564063" cy="282448"/>
          </a:xfrm>
          <a:prstGeom prst="rect">
            <a:avLst/>
          </a:prstGeom>
          <a:noFill/>
        </p:spPr>
        <p:txBody>
          <a:bodyPr wrap="square" anchor="t" lIns="0" rIns="0" tIns="0" bIns="0">
            <a:spAutoFit/>
          </a:bodyPr>
          <a:lstStyle/>
          <a:p>
            <a:r>
              <a:rPr sz="1000" b="0" i="0">
                <a:solidFill>
                  <a:srgbClr val="1A1440"/>
                </a:solidFill>
                <a:latin typeface="Calibri"/>
              </a:rPr>
              <a:t>A lift on one or two baskets swings by luck, so it is read only above a floor.</a:t>
            </a:r>
          </a:p>
        </p:txBody>
      </p:sp>
      <p:sp>
        <p:nvSpPr>
          <p:cNvPr id="11" name="TextBox 10"/>
          <p:cNvSpPr txBox="1"/>
          <p:nvPr/>
        </p:nvSpPr>
        <p:spPr>
          <a:xfrm>
            <a:off x="530352" y="2001520"/>
            <a:ext cx="502920" cy="251205"/>
          </a:xfrm>
          <a:prstGeom prst="rect">
            <a:avLst/>
          </a:prstGeom>
          <a:noFill/>
        </p:spPr>
        <p:txBody>
          <a:bodyPr wrap="square" anchor="t" lIns="0" rIns="0" tIns="0" bIns="0">
            <a:spAutoFit/>
          </a:bodyPr>
          <a:lstStyle/>
          <a:p>
            <a:pPr algn="l"/>
            <a:r>
              <a:rPr sz="1300" b="0" i="0">
                <a:solidFill>
                  <a:srgbClr val="5B3FD6"/>
                </a:solidFill>
                <a:latin typeface="Georgia"/>
              </a:rPr>
              <a:t>02</a:t>
            </a:r>
          </a:p>
        </p:txBody>
      </p:sp>
      <p:sp>
        <p:nvSpPr>
          <p:cNvPr id="12" name="TextBox 11"/>
          <p:cNvSpPr txBox="1"/>
          <p:nvPr/>
        </p:nvSpPr>
        <p:spPr>
          <a:xfrm>
            <a:off x="1097280" y="2038096"/>
            <a:ext cx="10564063" cy="282448"/>
          </a:xfrm>
          <a:prstGeom prst="rect">
            <a:avLst/>
          </a:prstGeom>
          <a:noFill/>
        </p:spPr>
        <p:txBody>
          <a:bodyPr wrap="square" anchor="t" lIns="0" rIns="0" tIns="0" bIns="0">
            <a:spAutoFit/>
          </a:bodyPr>
          <a:lstStyle/>
          <a:p>
            <a:r>
              <a:rPr sz="1000" b="0" i="0">
                <a:solidFill>
                  <a:srgbClr val="1A1440"/>
                </a:solidFill>
                <a:latin typeface="Calibri"/>
              </a:rPr>
              <a:t>The floor is a count of baskets set where luck stops carrying a lift past the bar, before the ranking is read.</a:t>
            </a:r>
          </a:p>
        </p:txBody>
      </p:sp>
      <p:sp>
        <p:nvSpPr>
          <p:cNvPr id="13" name="TextBox 12"/>
          <p:cNvSpPr txBox="1"/>
          <p:nvPr/>
        </p:nvSpPr>
        <p:spPr>
          <a:xfrm>
            <a:off x="530352" y="2357120"/>
            <a:ext cx="502920" cy="251205"/>
          </a:xfrm>
          <a:prstGeom prst="rect">
            <a:avLst/>
          </a:prstGeom>
          <a:noFill/>
        </p:spPr>
        <p:txBody>
          <a:bodyPr wrap="square" anchor="t" lIns="0" rIns="0" tIns="0" bIns="0">
            <a:spAutoFit/>
          </a:bodyPr>
          <a:lstStyle/>
          <a:p>
            <a:pPr algn="l"/>
            <a:r>
              <a:rPr sz="1300" b="0" i="0">
                <a:solidFill>
                  <a:srgbClr val="5B3FD6"/>
                </a:solidFill>
                <a:latin typeface="Georgia"/>
              </a:rPr>
              <a:t>03</a:t>
            </a:r>
          </a:p>
        </p:txBody>
      </p:sp>
      <p:sp>
        <p:nvSpPr>
          <p:cNvPr id="14" name="TextBox 13"/>
          <p:cNvSpPr txBox="1"/>
          <p:nvPr/>
        </p:nvSpPr>
        <p:spPr>
          <a:xfrm>
            <a:off x="1097280" y="2393696"/>
            <a:ext cx="10564063" cy="455168"/>
          </a:xfrm>
          <a:prstGeom prst="rect">
            <a:avLst/>
          </a:prstGeom>
          <a:noFill/>
        </p:spPr>
        <p:txBody>
          <a:bodyPr wrap="square" anchor="t" lIns="0" rIns="0" tIns="0" bIns="0">
            <a:spAutoFit/>
          </a:bodyPr>
          <a:lstStyle/>
          <a:p>
            <a:r>
              <a:rPr sz="1000" b="0" i="0">
                <a:solidFill>
                  <a:srgbClr val="1A1440"/>
                </a:solidFill>
                <a:latin typeface="Calibri"/>
              </a:rPr>
              <a:t>A strong pair below the floor goes on a watch list: a trial on a random half of customers, its pass rule written first, shows whether the pull is real and whether it sells.</a:t>
            </a:r>
          </a:p>
        </p:txBody>
      </p:sp>
      <p:sp>
        <p:nvSpPr>
          <p:cNvPr id="15" name="TextBox 14"/>
          <p:cNvSpPr txBox="1"/>
          <p:nvPr/>
        </p:nvSpPr>
        <p:spPr>
          <a:xfrm>
            <a:off x="530352" y="2885440"/>
            <a:ext cx="502920" cy="251205"/>
          </a:xfrm>
          <a:prstGeom prst="rect">
            <a:avLst/>
          </a:prstGeom>
          <a:noFill/>
        </p:spPr>
        <p:txBody>
          <a:bodyPr wrap="square" anchor="t" lIns="0" rIns="0" tIns="0" bIns="0">
            <a:spAutoFit/>
          </a:bodyPr>
          <a:lstStyle/>
          <a:p>
            <a:pPr algn="l"/>
            <a:r>
              <a:rPr sz="1300" b="0" i="0">
                <a:solidFill>
                  <a:srgbClr val="5B3FD6"/>
                </a:solidFill>
                <a:latin typeface="Georgia"/>
              </a:rPr>
              <a:t>04</a:t>
            </a:r>
          </a:p>
        </p:txBody>
      </p:sp>
      <p:sp>
        <p:nvSpPr>
          <p:cNvPr id="16" name="TextBox 15"/>
          <p:cNvSpPr txBox="1"/>
          <p:nvPr/>
        </p:nvSpPr>
        <p:spPr>
          <a:xfrm>
            <a:off x="1097280" y="2922016"/>
            <a:ext cx="10564063" cy="282448"/>
          </a:xfrm>
          <a:prstGeom prst="rect">
            <a:avLst/>
          </a:prstGeom>
          <a:noFill/>
        </p:spPr>
        <p:txBody>
          <a:bodyPr wrap="square" anchor="t" lIns="0" rIns="0" tIns="0" bIns="0">
            <a:spAutoFit/>
          </a:bodyPr>
          <a:lstStyle/>
          <a:p>
            <a:r>
              <a:rPr sz="1000" b="0" i="0">
                <a:solidFill>
                  <a:srgbClr val="1A1440"/>
                </a:solidFill>
                <a:latin typeface="Calibri"/>
              </a:rPr>
              <a:t>A pair near one is never promoted: below the floor it is ignored, and above it, where a count ranks it first, it is the trap.</a:t>
            </a:r>
          </a:p>
        </p:txBody>
      </p:sp>
      <p:sp>
        <p:nvSpPr>
          <p:cNvPr id="17" name="Rounded Rectangle 16"/>
          <p:cNvSpPr/>
          <p:nvPr/>
        </p:nvSpPr>
        <p:spPr>
          <a:xfrm>
            <a:off x="530352" y="338734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70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79952"/>
            <a:ext cx="237744" cy="237744"/>
          </a:xfrm>
          <a:prstGeom prst="rect">
            <a:avLst/>
          </a:prstGeom>
        </p:spPr>
      </p:pic>
      <p:sp>
        <p:nvSpPr>
          <p:cNvPr id="20" name="TextBox 19"/>
          <p:cNvSpPr txBox="1"/>
          <p:nvPr/>
        </p:nvSpPr>
        <p:spPr>
          <a:xfrm>
            <a:off x="1399031" y="3533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53104"/>
            <a:ext cx="9987991" cy="384048"/>
          </a:xfrm>
          <a:prstGeom prst="rect">
            <a:avLst/>
          </a:prstGeom>
          <a:noFill/>
        </p:spPr>
        <p:txBody>
          <a:bodyPr wrap="square" anchor="t" lIns="0" rIns="0" tIns="0" bIns="0">
            <a:spAutoFit/>
          </a:bodyPr>
          <a:lstStyle/>
          <a:p>
            <a:r>
              <a:rPr sz="1000" b="0" i="0">
                <a:solidFill>
                  <a:srgbClr val="1A1440"/>
                </a:solidFill>
                <a:latin typeface="Calibri"/>
              </a:rPr>
              <a:t>[F] "A pair has a high lift on very few baskets; act or not?" Watch it: test it on a random half of customers with a pass rule set first.</a:t>
            </a:r>
          </a:p>
        </p:txBody>
      </p:sp>
      <p:pic>
        <p:nvPicPr>
          <p:cNvPr id="22" name="mermaid diagram" descr="1d07b0345a55c06b.png"/>
          <p:cNvPicPr>
            <a:picLocks noChangeAspect="1"/>
          </p:cNvPicPr>
          <p:nvPr/>
        </p:nvPicPr>
        <p:blipFill>
          <a:blip r:embed="rId6"/>
          <a:stretch>
            <a:fillRect/>
          </a:stretch>
        </p:blipFill>
        <p:spPr>
          <a:xfrm>
            <a:off x="3347662" y="4374896"/>
            <a:ext cx="5496370" cy="1824736"/>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6" name="Oval 2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8" name="Oval 2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0" name="Oval 29"/>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32" name="Oval 3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4" name="Oval 3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carts by hand, with support, confidence and lift and the confidence trap</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twelve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Twelve of Instamart's carts counted by hand with the three counts of chapters 1 to 3, the confidence trap of chapter 4 met again, and a lift on one cart that chapter 6's floor would refuse.</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the three counts and one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support, confidence and lift, derived by counting); The confidence trap; lift near one (chapter 4);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pairs, a floor, a rupee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Pairs above a floor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pairs that beat chance on enough carts, each with its support and its lift, ranked by lift.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pair with a high lift on too few carts, tested before it is promoted.</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a slot earns a day and what a month recovers, each assumption said with its range.</a:t>
            </a:r>
          </a:p>
        </p:txBody>
      </p:sp>
      <p:sp>
        <p:nvSpPr>
          <p:cNvPr id="27" name="TextBox 2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Oval 2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0" name="Oval 2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2" name="Oval 31"/>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4" name="Oval 33"/>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6" name="Oval 35"/>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38" name="Oval 3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3" name="Oval 12"/>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5" name="Oval 14"/>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7" name="Oval 16"/>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19" name="Oval 18"/>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1" name="Oval 20"/>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Bread to milk is 1.00; milk to bread?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four bread carts hold milk, and milk is in 8 of the 12. What is the confidence from milk to bread?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carts are the denominator now.</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share of all twelve carts.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0.67</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share of all twelve carts.</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0.50 the other way; lift 1.50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00eaf65d8d13166a.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bread to milk is 1.00; milk's 8 carts hold bread 4 times, so milk to bread is 0.50. Milk is in 8 of 12 carts anyway, so chance alone puts it in 2.67 of the four bread carts, and lift is 4 / 2.67 = 1.50 from either side: on these twelve carts, bread and milk meet half again as often as chance would.</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This is chapter 4's confidence trap on the case's carts: confidence looked only inside the four bread carts, and milk is in 8 of 12 carts anyway. The fix: read lift instead, 1.50, though twelve carts are too few to trust it.</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3" name="Oval 22"/>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the number chapter 6's floor exists to refuse.</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what the strip has shown since 7 September. Chapter 5 said it: the pairs table is a count, never a ranking.</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40,000 carts, with lift near one and the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5's five lines run on every cart, lift reads milk at chance as chapter 4 predicts, and the click-through's fall is split into its two parts.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The confidence trap; lift near one (chapter 4); Basket analysis on the order items (chapter 5);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 40,000 carts agree with twelve?</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and milk's lift on every cart.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These are chapter 5's lines on the canteen, unchanged: a cart becomes a set of items, and every pair inside it adds one to its tally. The last line is seen over chance rearranged: on the twelve carts, 4 / (12 x 4/12 x 8/12) is the same as 4 x 12 / (4 x 8), which is 1.50. Here n is 40,000.</a:t>
            </a:r>
          </a:p>
        </p:txBody>
      </p:sp>
      <p:sp>
        <p:nvSpPr>
          <p:cNvPr id="15" name="TextBox 14"/>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6" name="Oval 15"/>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Chapter 6's lesson on the case: a few carts can make a pull look strong.</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460388" y="1664208"/>
            <a:ext cx="927091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For all 50 items in at least 2 percent of carts, confidence toward milk runs 0.70 to 0.74, near milk's own 0.71, and lift runs 0.99 to 1.04. This is chapter 4's chaas at the scale of a city: lift divides milk's popularity out, and no item's lift with milk can pass one over its share, 1 / 0.71 = 1.41, under the 1.5 bar.</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scored how much more likely buyers of one item were to buy another than the average customer, a difference in probabilities; lift makes the same comparison with chance as a ratio, which rare items inflate. Later the team found that buyers of one item are heavier buyers of everything, so it measured the increased likelihood of a purchase with any given purchase, discounting heavy buyers (Amazon Science, checked 13 October 2026).</a:t>
            </a:r>
          </a:p>
        </p:txBody>
      </p:sp>
      <p:sp>
        <p:nvSpPr>
          <p:cNvPr id="12" name="TextBox 11"/>
          <p:cNvSpPr txBox="1"/>
          <p:nvPr/>
        </p:nvSpPr>
        <p:spPr>
          <a:xfrm>
            <a:off x="530352" y="42626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Chapter 3's second route: lift is also confidence over the partner's share. Bread to milk 0.74 / 0.71 = 1.04, and milk to bread 0.354 / 0.34 = 1.04.</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2" name="Oval 21"/>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10"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1"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2" name="TextBox 11"/>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answered the topics,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topic say about Instamart's carts?</a:t>
            </a:r>
          </a:p>
        </p:txBody>
      </p:sp>
      <p:pic>
        <p:nvPicPr>
          <p:cNvPr id="9" name="mermaid diagram" descr="93169e6bff143ba0.png"/>
          <p:cNvPicPr>
            <a:picLocks noChangeAspect="1"/>
          </p:cNvPicPr>
          <p:nvPr/>
        </p:nvPicPr>
        <p:blipFill>
          <a:blip r:embed="rId5"/>
          <a:stretch>
            <a:fillRect/>
          </a:stretch>
        </p:blipFill>
        <p:spPr>
          <a:xfrm>
            <a:off x="1349026" y="1682496"/>
            <a:ext cx="9493641" cy="4517136"/>
          </a:xfrm>
          <a:prstGeom prst="rect">
            <a:avLst/>
          </a:prstGeom>
        </p:spPr>
      </p:pic>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3" name="Oval 12"/>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5" name="Oval 14"/>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7" name="Oval 16"/>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19" name="Oval 18"/>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1" name="Oval 20"/>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