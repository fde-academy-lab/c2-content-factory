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screen before the clock starts. Hold Pune and the strip in view while the room reads the</a:t>
            </a:r>
          </a:p>
          <a:p>
            <a:r>
              <a:t>ticket. Read it aloud as it stands, including the "Illustrative case" line: the company is real</a:t>
            </a:r>
          </a:p>
          <a:p>
            <a:r>
              <a:t>and the data for class is synthetic. Say the day runs in three chapters, L1 to L5 on the ladder.</a:t>
            </a:r>
          </a:p>
          <a:p>
            <a:r>
              <a:t>Transition: the ticket, line by line.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Walk the table top to bottom. Say the change: on Monday 7 September the strip</a:t>
            </a:r>
          </a:p>
          <a:p>
            <a:r>
              <a:t>switched from a curated list to the items most often found in the same cart. Hold the "illustrative</a:t>
            </a:r>
          </a:p>
          <a:p>
            <a:r>
              <a:t>case" line in view. Say Pune has eight zones in the data, which is why the city is split that way.</a:t>
            </a:r>
          </a:p>
          <a:p>
            <a:r>
              <a:t>Transition: where today sits in the week, and what today ends with.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Point out that Monday and Tuesday's nodes carry the numbers the room produced on</a:t>
            </a:r>
          </a:p>
          <a:p>
            <a:r>
              <a:t>them. Say the method stays the same, the company and the question change. The AI-company variant</a:t>
            </a:r>
          </a:p>
          <a:p>
            <a:r>
              <a:t>of today's L6 is scoring an LLM shopping assistant.</a:t>
            </a:r>
          </a:p>
          <a:p>
            <a:r>
              <a:t>Transition: by the end of the morning, three slots on the strip and a rupee per month per slot.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today ends with a number the growth lead will carry to the Friday review.</a:t>
            </a:r>
          </a:p>
          <a:p>
            <a:r>
              <a:t>Three slots, two caveats, one gap in rupees. Everything between here and the gap is why the</a:t>
            </a:r>
          </a:p>
          <a:p>
            <a:r>
              <a:t>number is sound.</a:t>
            </a:r>
          </a:p>
          <a:p>
            <a:r>
              <a:t>Transition: chapter 1, counting on twelve carts.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60 minutes. Chapter 1 of three, L1 on the ladder. Receipts on the table: twelve printed</a:t>
            </a:r>
          </a:p>
          <a:p>
            <a:r>
              <a:t>carts per group, the ten tea-stall dots as the warm-up. Count the three ratios on the tea-stall</a:t>
            </a:r>
          </a:p>
          <a:p>
            <a:r>
              <a:t>dots in 20 minutes, then on the twelve carts in groups in 40 minutes. No notebook open.</a:t>
            </a:r>
          </a:p>
          <a:p>
            <a:r>
              <a:t>Transition: the tea stall as the warm-up.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Put the four sentences up. Ask the room to vote in groups. Do not reveal yet;</a:t>
            </a:r>
          </a:p>
          <a:p>
            <a:r>
              <a:t>the next slide answers.</a:t>
            </a:r>
          </a:p>
          <a:p>
            <a:r>
              <a:t>Transition: the answer, with the mechanism.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Walk the counts on the picture, left dots to right table. Name what each</a:t>
            </a:r>
          </a:p>
          <a:p>
            <a:r>
              <a:t>quantity means: support counts, confidence shrinks the world to the chai orders, lift compares</a:t>
            </a:r>
          </a:p>
          <a:p>
            <a:r>
              <a:t>with the independence rectangle. Say explicitly that lift is a counting ratio and never a causal</a:t>
            </a:r>
          </a:p>
          <a:p>
            <a:r>
              <a:t>claim; cause needs an experiment, which Monday and Thursday both touched.</a:t>
            </a:r>
          </a:p>
          <a:p>
            <a:r>
              <a:t>Transition: the twelve printed carts on each table.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Hand out the carts to the nine groups and read the first row aloud. Point out</a:t>
            </a:r>
          </a:p>
          <a:p>
            <a:r>
              <a:t>that TR11 is the one cart holding ice cream and chocolate sauce, and that chips and cold drink</a:t>
            </a:r>
          </a:p>
          <a:p>
            <a:r>
              <a:t>sit in three carts each. Do not announce "both in two" yet.</a:t>
            </a:r>
          </a:p>
          <a:p>
            <a:r>
              <a:t>Transition: predict before you count.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a vote by hand across the four options. Do not reveal yet; the next slide</a:t>
            </a:r>
          </a:p>
          <a:p>
            <a:r>
              <a:t>walks the count.</a:t>
            </a:r>
          </a:p>
          <a:p>
            <a:r>
              <a:t>Transition: the answer, written out.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Walk the three computations line by line on the board. Press on the mechanism:</a:t>
            </a:r>
          </a:p>
          <a:p>
            <a:r>
              <a:t>confidence shrinks the world to the 4 bread carts; lift compares with what independence would</a:t>
            </a:r>
          </a:p>
          <a:p>
            <a:r>
              <a:t>predict. Say that 1.50 is far above 1 on 12 carts, but the next notebook will show the ratio</a:t>
            </a:r>
          </a:p>
          <a:p>
            <a:r>
              <a:t>falling to near 1 on 40,000 carts, which is this chapter's bridge to L2.</a:t>
            </a:r>
          </a:p>
          <a:p>
            <a:r>
              <a:t>Transition: chips and cold drink, the second count.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Walk the counts. Point out that lift 2.67 is higher than the bread/milk 1.50</a:t>
            </a:r>
          </a:p>
          <a:p>
            <a:r>
              <a:t>even though support is smaller. Rare items being found together carries more information than</a:t>
            </a:r>
          </a:p>
          <a:p>
            <a:r>
              <a:t>common items being found together, which is what lift divides out.</a:t>
            </a:r>
          </a:p>
          <a:p>
            <a:r>
              <a:t>Transition: the thinnest pair of all.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Make the point directly: a lift computed on one cart cannot be trusted, however</a:t>
            </a:r>
          </a:p>
          <a:p>
            <a:r>
              <a:t>loud the number. The twelve carts are too few to decide. Chapter 2 will find the same pair at</a:t>
            </a:r>
          </a:p>
          <a:p>
            <a:r>
              <a:t>lift 4.6 on 40,000 carts, which is still a watch-list candidate, not a promote candidate.</a:t>
            </a:r>
          </a:p>
          <a:p>
            <a:r>
              <a:t>Transition: the twelve rows showed the three ratios; the next chapter runs them on every cart.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50 minutes. Chapter 2 of three, L2 and L3 on the ladder. Open the notebook `02_pairs_table`</a:t>
            </a:r>
          </a:p>
          <a:p>
            <a:r>
              <a:t>and walk the first eight cells: marginals, the pairs table, the lift ratio shown two ways, and</a:t>
            </a:r>
          </a:p>
          <a:p>
            <a:r>
              <a:t>the milk trap caught in the your-turn cell.</a:t>
            </a:r>
          </a:p>
          <a:p>
            <a:r>
              <a:t>Transition: lift as a ratio of two areas.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Walk the two rectangles. Say the width is bread's share, the height is the</a:t>
            </a:r>
          </a:p>
          <a:p>
            <a:r>
              <a:t>observed density of milk inside bread. If the observed density equals milk's overall share, the</a:t>
            </a:r>
          </a:p>
          <a:p>
            <a:r>
              <a:t>rectangles have the same area and lift is 1. Everything above or below one is the ratio of two</a:t>
            </a:r>
          </a:p>
          <a:p>
            <a:r>
              <a:t>areas; everything else is bookkeeping.</a:t>
            </a:r>
          </a:p>
          <a:p>
            <a:r>
              <a:t>Transition: compute the three numbers for every pair, in code.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Walk the four rows. Bread and eggs look bundled by confidence 0.73 and 0.74;</a:t>
            </a:r>
          </a:p>
          <a:p>
            <a:r>
              <a:t>lift says they are almost independent, 1.03 and 1.04. Chips and cold drink lift 3.32 is the</a:t>
            </a:r>
          </a:p>
          <a:p>
            <a:r>
              <a:t>strongest actionable pair. Ice cream and chocolate sauce lift 4.47 looks dramatic on 100 carts.</a:t>
            </a:r>
          </a:p>
          <a:p>
            <a:r>
              <a:t>Transition: predict what every popular item's lift to milk looks like.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a quick vote. Do not reveal; the chart below answers.</a:t>
            </a:r>
          </a:p>
          <a:p>
            <a:r>
              <a:t>Transition: the chart that answers.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Walk the picture. The vertical dashed line on the left panel marks milk's own</a:t>
            </a:r>
          </a:p>
          <a:p>
            <a:r>
              <a:t>share. The vertical dashed line on the right panel marks lift of one. Say the chart in plain</a:t>
            </a:r>
          </a:p>
          <a:p>
            <a:r>
              <a:t>words: milk looks bundled with everything but is not. This is the popularity trap, which the</a:t>
            </a:r>
          </a:p>
          <a:p>
            <a:r>
              <a:t>chapter closes with Amazon's own account of it.</a:t>
            </a:r>
          </a:p>
          <a:p>
            <a:r>
              <a:t>Transition: the popularity trap at Amazon.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Amazon's own line: counting how often buyers of A also bought B would make</a:t>
            </a:r>
          </a:p>
          <a:p>
            <a:r>
              <a:t>Harry Potter the top recommendation for everyone. Say the source is dated 12 October 2026 in the</a:t>
            </a:r>
          </a:p>
          <a:p>
            <a:r>
              <a:t>day's internal/sources file. The fix is lift in spirit, with the base rate measured per purchase.</a:t>
            </a:r>
          </a:p>
          <a:p>
            <a:r>
              <a:t>Transition: why did the click-through fall from 6.1 to 3.8.</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a vote. Do not reveal yet.</a:t>
            </a:r>
          </a:p>
          <a:p>
            <a:r>
              <a:t>Transition: the answer, from the strip log split.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Walk the four bars. Say the mechanism: a blended rate is a mix of two rates;</a:t>
            </a:r>
          </a:p>
          <a:p>
            <a:r>
              <a:t>when one of them drops, the blend drops. Say explicitly that the room should always split before</a:t>
            </a:r>
          </a:p>
          <a:p>
            <a:r>
              <a:t>naming a cause.</a:t>
            </a:r>
          </a:p>
          <a:p>
            <a:r>
              <a:t>Transition: the shrinking universe, which is what confidence reads.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Walk the picture. The GIF beside the still shows the carts dimming. Say the</a:t>
            </a:r>
          </a:p>
          <a:p>
            <a:r>
              <a:t>sentence that stays: confidence shrinks the universe; lift divides by the universe's rate. Use</a:t>
            </a:r>
          </a:p>
          <a:p>
            <a:r>
              <a:t>the picture to answer any question about why the pair reads a 1.00 confidence and a 1.04 lift.</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blocks aloud. Say that the next chapter picks three slots for the</a:t>
            </a:r>
          </a:p>
          <a:p>
            <a:r>
              <a:t>strip and puts a rupee value on each.</a:t>
            </a:r>
          </a:p>
          <a:p>
            <a:r>
              <a:t>Transition: chapter 3, the action map and the slot's value.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50 minutes in the morning plus 30 minutes unguided in the afternoon's first 60. Chapter 3,</a:t>
            </a:r>
          </a:p>
          <a:p>
            <a:r>
              <a:t>L4 and L5 on the ladder.</a:t>
            </a:r>
          </a:p>
          <a:p>
            <a:r>
              <a:t>Transition: every pair on one picture.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Walk the four regions. The vertical dashed line marks the 1 percent floor, the</a:t>
            </a:r>
          </a:p>
          <a:p>
            <a:r>
              <a:t>horizontal dashed line marks lift of one. The chips/cold dot sits top-right. The ice/choc dot</a:t>
            </a:r>
          </a:p>
          <a:p>
            <a:r>
              <a:t>sits top-left. The three milk pairs sit at lift near one.</a:t>
            </a:r>
          </a:p>
          <a:p>
            <a:r>
              <a:t>Transition: where should the floor sit, and why 1 percent.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Press the mechanism: the floor is a decision, not a formula. Pune's strip could</a:t>
            </a:r>
          </a:p>
          <a:p>
            <a:r>
              <a:t>set it at 0.5 or 2 percent; the trade-off is more pairs, less reliability, each. Say the choice</a:t>
            </a:r>
          </a:p>
          <a:p>
            <a:r>
              <a:t>of 1 percent reads cleanly against the slot's rupee value, which the next slide computes.</a:t>
            </a:r>
          </a:p>
          <a:p>
            <a:r>
              <a:t>Transition: compute the slot's rupee value, line by line.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Walk the four factors. Press that each is an assumption, with a range: the</a:t>
            </a:r>
          </a:p>
          <a:p>
            <a:r>
              <a:t>60,000 is from the ticket (50 to 70 thousand), the 50 percent add rate is from strip_log (0.4 to</a:t>
            </a:r>
          </a:p>
          <a:p>
            <a:r>
              <a:t>0.6), the Rs 9 margin is from the cart_items margin field (Rs 7 to Rs 11). Say explicitly: a</a:t>
            </a:r>
          </a:p>
          <a:p>
            <a:r>
              <a:t>rupee number stands only with the numbers it was built from, and the paper carries both.</a:t>
            </a:r>
          </a:p>
          <a:p>
            <a:r>
              <a:t>Transition: the two caveats the fallback picks up.</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Walk the per-cart against per-customer numbers from the notebook. Say that the</a:t>
            </a:r>
          </a:p>
          <a:p>
            <a:r>
              <a:t>per-customer denominator is what Amazon moved to when the first recommender's top pair was Harry</a:t>
            </a:r>
          </a:p>
          <a:p>
            <a:r>
              <a:t>Potter and trash bags: heavy buyers inflate everything, so the base rate is measured per buyer.</a:t>
            </a:r>
          </a:p>
          <a:p>
            <a:r>
              <a:t>Transition: the stock-out, the second caveat.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Press the method: a caveat is a labelled line and a recomputation, not a</a:t>
            </a:r>
          </a:p>
          <a:p>
            <a:r>
              <a:t>disclaimer. The paper names the fact that would change the call and shows the number with that</a:t>
            </a:r>
          </a:p>
          <a:p>
            <a:r>
              <a:t>fact set aside.</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blocks. Say the afternoon unguided chapter 3 part 2 picks the</a:t>
            </a:r>
          </a:p>
          <a:p>
            <a:r>
              <a:t>three slots per group and writes the one-paragraph proposal. The Kalpa lab runs the same method</a:t>
            </a:r>
          </a:p>
          <a:p>
            <a:r>
              <a:t>on Kalpa Retail's own baskets.</a:t>
            </a:r>
          </a:p>
          <a:p>
            <a:r>
              <a:t>Transition: the afternoon unguided block picks the three slots.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 Id="rId5"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12.png"/><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2.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3.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4.pn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2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479576"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4  ·  WEDNESDAY  ·  MORNING</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The strip that stopped working</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“Rank the pairs the strip should show, say why the click-through fell, and put a rupee value on a slot by Friday.”</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The category manager and the growth lead, Swiggy Instamart, Pune, Monday 28 September 2026</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993392" cy="333756"/>
          </a:xfrm>
          <a:prstGeom prst="rect">
            <a:avLst/>
          </a:prstGeom>
          <a:noFill/>
        </p:spPr>
        <p:txBody>
          <a:bodyPr wrap="square" anchor="t" lIns="0" rIns="0" tIns="0" bIns="0">
            <a:spAutoFit/>
          </a:bodyPr>
          <a:lstStyle/>
          <a:p>
            <a:pPr algn="l"/>
            <a:r>
              <a:rPr sz="900" b="0" i="0">
                <a:solidFill>
                  <a:srgbClr val="FFFFFF"/>
                </a:solidFill>
                <a:latin typeface="Calibri"/>
              </a:rPr>
              <a:t>What goes together, beyond chance?</a:t>
            </a:r>
          </a:p>
        </p:txBody>
      </p:sp>
      <p:sp>
        <p:nvSpPr>
          <p:cNvPr id="13" name="TextBox 12"/>
          <p:cNvSpPr txBox="1"/>
          <p:nvPr/>
        </p:nvSpPr>
        <p:spPr>
          <a:xfrm>
            <a:off x="318211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566160" y="5248656"/>
            <a:ext cx="1993392" cy="333756"/>
          </a:xfrm>
          <a:prstGeom prst="rect">
            <a:avLst/>
          </a:prstGeom>
          <a:noFill/>
        </p:spPr>
        <p:txBody>
          <a:bodyPr wrap="square" anchor="t" lIns="0" rIns="0" tIns="0" bIns="0">
            <a:spAutoFit/>
          </a:bodyPr>
          <a:lstStyle/>
          <a:p>
            <a:pPr algn="l"/>
            <a:r>
              <a:rPr sz="900" b="0" i="0">
                <a:solidFill>
                  <a:srgbClr val="FFFFFF"/>
                </a:solidFill>
                <a:latin typeface="Calibri"/>
              </a:rPr>
              <a:t>What do the three numbers say on all 40,000 carts?</a:t>
            </a:r>
          </a:p>
        </p:txBody>
      </p:sp>
      <p:sp>
        <p:nvSpPr>
          <p:cNvPr id="15" name="TextBox 14"/>
          <p:cNvSpPr txBox="1"/>
          <p:nvPr/>
        </p:nvSpPr>
        <p:spPr>
          <a:xfrm>
            <a:off x="574243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6126480" y="5248656"/>
            <a:ext cx="1993392" cy="333756"/>
          </a:xfrm>
          <a:prstGeom prst="rect">
            <a:avLst/>
          </a:prstGeom>
          <a:noFill/>
        </p:spPr>
        <p:txBody>
          <a:bodyPr wrap="square" anchor="t" lIns="0" rIns="0" tIns="0" bIns="0">
            <a:spAutoFit/>
          </a:bodyPr>
          <a:lstStyle/>
          <a:p>
            <a:pPr algn="l"/>
            <a:r>
              <a:rPr sz="900" b="0" i="0">
                <a:solidFill>
                  <a:srgbClr val="FFFFFF"/>
                </a:solidFill>
                <a:latin typeface="Calibri"/>
              </a:rPr>
              <a:t>Which three pairs fill the strip, and what is a slot worth?</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The strip that stopped working</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29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Instamart Pune: click-through fell 6.1 to 3.8</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analyst been handed, and what is the ask due Friday?</a:t>
            </a:r>
          </a:p>
        </p:txBody>
      </p:sp>
      <p:graphicFrame>
        <p:nvGraphicFramePr>
          <p:cNvPr id="9" name="Table 8"/>
          <p:cNvGraphicFramePr>
            <a:graphicFrameLocks noGrp="1"/>
          </p:cNvGraphicFramePr>
          <p:nvPr/>
        </p:nvGraphicFramePr>
        <p:xfrm>
          <a:off x="530352" y="1956816"/>
          <a:ext cx="11130990" cy="3200400"/>
        </p:xfrm>
        <a:graphic>
          <a:graphicData uri="http://schemas.openxmlformats.org/drawingml/2006/table">
            <a:tbl>
              <a:tblPr firstRow="0" bandRow="0">
                <a:tableStyleId>{2D5ABB26-0587-4C30-8999-92F81FD0307C}</a:tableStyleId>
              </a:tblPr>
              <a:tblGrid>
                <a:gridCol w="4321384"/>
                <a:gridCol w="6809606"/>
              </a:tblGrid>
              <a:tr h="369824">
                <a:tc>
                  <a:txBody>
                    <a:bodyPr/>
                    <a:lstStyle/>
                    <a:p>
                      <a:r>
                        <a:rPr sz="1450" b="1" i="0">
                          <a:solidFill>
                            <a:srgbClr val="FFFFFF"/>
                          </a:solidFill>
                          <a:latin typeface="Calibri"/>
                        </a:rPr>
                        <a:t>What the ticket carries</a:t>
                      </a:r>
                    </a:p>
                  </a:txBody>
                  <a:tcPr marL="101600" marR="101600" marT="38100" marB="38100" anchor="ctr">
                    <a:solidFill>
                      <a:srgbClr val="1A0F5C"/>
                    </a:solidFill>
                  </a:tcPr>
                </a:tc>
                <a:tc>
                  <a:txBody>
                    <a:bodyPr/>
                    <a:lstStyle/>
                    <a:p>
                      <a:r>
                        <a:rPr sz="1450" b="1" i="0">
                          <a:solidFill>
                            <a:srgbClr val="FFFFFF"/>
                          </a:solidFill>
                          <a:latin typeface="Calibri"/>
                        </a:rPr>
                        <a:t>Value</a:t>
                      </a:r>
                    </a:p>
                  </a:txBody>
                  <a:tcPr marL="101600" marR="101600" marT="38100" marB="38100" anchor="ctr">
                    <a:solidFill>
                      <a:srgbClr val="1A0F5C"/>
                    </a:solidFill>
                  </a:tcPr>
                </a:tc>
              </a:tr>
              <a:tr h="369824">
                <a:tc>
                  <a:txBody>
                    <a:bodyPr/>
                    <a:lstStyle/>
                    <a:p>
                      <a:r>
                        <a:rPr sz="1400" b="0" i="0">
                          <a:solidFill>
                            <a:srgbClr val="1A1440"/>
                          </a:solidFill>
                          <a:latin typeface="Calibri"/>
                        </a:rPr>
                        <a:t>Company and city</a:t>
                      </a:r>
                    </a:p>
                  </a:txBody>
                  <a:tcPr marL="101600" marR="101600" marT="38100" marB="38100" anchor="ctr">
                    <a:solidFill>
                      <a:srgbClr val="FFFFFF"/>
                    </a:solidFill>
                  </a:tcPr>
                </a:tc>
                <a:tc>
                  <a:txBody>
                    <a:bodyPr/>
                    <a:lstStyle/>
                    <a:p>
                      <a:r>
                        <a:rPr sz="1400" b="0" i="0">
                          <a:solidFill>
                            <a:srgbClr val="1A1440"/>
                          </a:solidFill>
                          <a:latin typeface="Calibri"/>
                        </a:rPr>
                        <a:t>Swiggy Instamart, Pune</a:t>
                      </a:r>
                    </a:p>
                  </a:txBody>
                  <a:tcPr marL="101600" marR="101600" marT="38100" marB="38100" anchor="ctr">
                    <a:solidFill>
                      <a:srgbClr val="FFFFFF"/>
                    </a:solidFill>
                  </a:tcPr>
                </a:tc>
              </a:tr>
              <a:tr h="369824">
                <a:tc>
                  <a:txBody>
                    <a:bodyPr/>
                    <a:lstStyle/>
                    <a:p>
                      <a:r>
                        <a:rPr sz="1400" b="0" i="0">
                          <a:solidFill>
                            <a:srgbClr val="1A1440"/>
                          </a:solidFill>
                          <a:latin typeface="Calibri"/>
                        </a:rPr>
                        <a:t>Surface</a:t>
                      </a:r>
                    </a:p>
                  </a:txBody>
                  <a:tcPr marL="101600" marR="101600" marT="38100" marB="38100" anchor="ctr">
                    <a:solidFill>
                      <a:srgbClr val="F4F2FA"/>
                    </a:solidFill>
                  </a:tcPr>
                </a:tc>
                <a:tc>
                  <a:txBody>
                    <a:bodyPr/>
                    <a:lstStyle/>
                    <a:p>
                      <a:r>
                        <a:rPr sz="1400" b="0" i="0">
                          <a:solidFill>
                            <a:srgbClr val="1A1440"/>
                          </a:solidFill>
                          <a:latin typeface="Calibri"/>
                        </a:rPr>
                        <a:t>The cart page's frequently bought together strip, three slots</a:t>
                      </a:r>
                    </a:p>
                  </a:txBody>
                  <a:tcPr marL="101600" marR="101600" marT="38100" marB="38100" anchor="ctr">
                    <a:solidFill>
                      <a:srgbClr val="F4F2FA"/>
                    </a:solidFill>
                  </a:tcPr>
                </a:tc>
              </a:tr>
              <a:tr h="369824">
                <a:tc>
                  <a:txBody>
                    <a:bodyPr/>
                    <a:lstStyle/>
                    <a:p>
                      <a:r>
                        <a:rPr sz="1400" b="0" i="0">
                          <a:solidFill>
                            <a:srgbClr val="1A1440"/>
                          </a:solidFill>
                          <a:latin typeface="Calibri"/>
                        </a:rPr>
                        <a:t>Metric before (17 Aug to 6 Sep 2026)</a:t>
                      </a:r>
                    </a:p>
                  </a:txBody>
                  <a:tcPr marL="101600" marR="101600" marT="38100" marB="38100" anchor="ctr">
                    <a:solidFill>
                      <a:srgbClr val="FFFFFF"/>
                    </a:solidFill>
                  </a:tcPr>
                </a:tc>
                <a:tc>
                  <a:txBody>
                    <a:bodyPr/>
                    <a:lstStyle/>
                    <a:p>
                      <a:r>
                        <a:rPr sz="1400" b="0" i="0">
                          <a:solidFill>
                            <a:srgbClr val="1A1440"/>
                          </a:solidFill>
                          <a:latin typeface="Calibri"/>
                        </a:rPr>
                        <a:t>Strip click-through 6.1 percent</a:t>
                      </a:r>
                    </a:p>
                  </a:txBody>
                  <a:tcPr marL="101600" marR="101600" marT="38100" marB="38100" anchor="ctr">
                    <a:solidFill>
                      <a:srgbClr val="FFFFFF"/>
                    </a:solidFill>
                  </a:tcPr>
                </a:tc>
              </a:tr>
              <a:tr h="369824">
                <a:tc>
                  <a:txBody>
                    <a:bodyPr/>
                    <a:lstStyle/>
                    <a:p>
                      <a:r>
                        <a:rPr sz="1400" b="0" i="0">
                          <a:solidFill>
                            <a:srgbClr val="1A1440"/>
                          </a:solidFill>
                          <a:latin typeface="Calibri"/>
                        </a:rPr>
                        <a:t>Metric after (7 to 27 Sep 2026)</a:t>
                      </a:r>
                    </a:p>
                  </a:txBody>
                  <a:tcPr marL="101600" marR="101600" marT="38100" marB="38100" anchor="ctr">
                    <a:solidFill>
                      <a:srgbClr val="F4F2FA"/>
                    </a:solidFill>
                  </a:tcPr>
                </a:tc>
                <a:tc>
                  <a:txBody>
                    <a:bodyPr/>
                    <a:lstStyle/>
                    <a:p>
                      <a:r>
                        <a:rPr sz="1400" b="0" i="0">
                          <a:solidFill>
                            <a:srgbClr val="1A1440"/>
                          </a:solidFill>
                          <a:latin typeface="Calibri"/>
                        </a:rPr>
                        <a:t>Strip click-through 3.8 percent</a:t>
                      </a:r>
                    </a:p>
                  </a:txBody>
                  <a:tcPr marL="101600" marR="101600" marT="38100" marB="38100" anchor="ctr">
                    <a:solidFill>
                      <a:srgbClr val="F4F2FA"/>
                    </a:solidFill>
                  </a:tcPr>
                </a:tc>
              </a:tr>
              <a:tr h="369824">
                <a:tc>
                  <a:txBody>
                    <a:bodyPr/>
                    <a:lstStyle/>
                    <a:p>
                      <a:r>
                        <a:rPr sz="1400" b="0" i="0">
                          <a:solidFill>
                            <a:srgbClr val="1A1440"/>
                          </a:solidFill>
                          <a:latin typeface="Calibri"/>
                        </a:rPr>
                        <a:t>Data</a:t>
                      </a:r>
                    </a:p>
                  </a:txBody>
                  <a:tcPr marL="101600" marR="101600" marT="38100" marB="38100" anchor="ctr">
                    <a:solidFill>
                      <a:srgbClr val="FFFFFF"/>
                    </a:solidFill>
                  </a:tcPr>
                </a:tc>
                <a:tc>
                  <a:txBody>
                    <a:bodyPr/>
                    <a:lstStyle/>
                    <a:p>
                      <a:r>
                        <a:rPr sz="1400" b="0" i="0">
                          <a:solidFill>
                            <a:srgbClr val="1A1440"/>
                          </a:solidFill>
                          <a:latin typeface="Calibri"/>
                        </a:rPr>
                        <a:t>carts (40,000 for Sep), cart_items, strip_log</a:t>
                      </a:r>
                    </a:p>
                  </a:txBody>
                  <a:tcPr marL="101600" marR="101600" marT="38100" marB="38100" anchor="ctr">
                    <a:solidFill>
                      <a:srgbClr val="FFFFFF"/>
                    </a:solidFill>
                  </a:tcPr>
                </a:tc>
              </a:tr>
              <a:tr h="369824">
                <a:tc>
                  <a:txBody>
                    <a:bodyPr/>
                    <a:lstStyle/>
                    <a:p>
                      <a:r>
                        <a:rPr sz="1400" b="0" i="0">
                          <a:solidFill>
                            <a:srgbClr val="1A1440"/>
                          </a:solidFill>
                          <a:latin typeface="Calibri"/>
                        </a:rPr>
                        <a:t>Ask, due Friday</a:t>
                      </a:r>
                    </a:p>
                  </a:txBody>
                  <a:tcPr marL="101600" marR="101600" marT="38100" marB="38100" anchor="ctr">
                    <a:solidFill>
                      <a:srgbClr val="F4F2FA"/>
                    </a:solidFill>
                  </a:tcPr>
                </a:tc>
                <a:tc>
                  <a:txBody>
                    <a:bodyPr/>
                    <a:lstStyle/>
                    <a:p>
                      <a:r>
                        <a:rPr sz="1400" b="0" i="0">
                          <a:solidFill>
                            <a:srgbClr val="1A1440"/>
                          </a:solidFill>
                          <a:latin typeface="Calibri"/>
                        </a:rPr>
                        <a:t>Rank the pairs, explain the fall, value a slot</a:t>
                      </a:r>
                    </a:p>
                  </a:txBody>
                  <a:tcPr marL="101600" marR="101600" marT="38100" marB="38100" anchor="ctr">
                    <a:solidFill>
                      <a:srgbClr val="F4F2FA"/>
                    </a:solidFill>
                  </a:tcPr>
                </a:tc>
              </a:tr>
              <a:tr h="611632">
                <a:tc>
                  <a:txBody>
                    <a:bodyPr/>
                    <a:lstStyle/>
                    <a:p>
                      <a:r>
                        <a:rPr sz="1400" b="0" i="0">
                          <a:solidFill>
                            <a:srgbClr val="1A1440"/>
                          </a:solidFill>
                          <a:latin typeface="Calibri"/>
                        </a:rPr>
                        <a:t>Caveats</a:t>
                      </a:r>
                    </a:p>
                  </a:txBody>
                  <a:tcPr marL="101600" marR="101600" marT="38100" marB="38100" anchor="ctr">
                    <a:solidFill>
                      <a:srgbClr val="FFFFFF"/>
                    </a:solidFill>
                  </a:tcPr>
                </a:tc>
                <a:tc>
                  <a:txBody>
                    <a:bodyPr/>
                    <a:lstStyle/>
                    <a:p>
                      <a:r>
                        <a:rPr sz="1400" b="0" i="0">
                          <a:solidFill>
                            <a:srgbClr val="1A1440"/>
                          </a:solidFill>
                          <a:latin typeface="Calibri"/>
                        </a:rPr>
                        <a:t>Curd stock-out two zones week three; the top tenth place 38 percent of carts; the strip causes some of its own co-occurrence</a:t>
                      </a:r>
                    </a:p>
                  </a:txBody>
                  <a:tcPr marL="101600" marR="101600" marT="38100" marB="38100" anchor="ctr">
                    <a:solidFill>
                      <a:srgbClr val="FFFFFF"/>
                    </a:solidFill>
                  </a:tcPr>
                </a:tc>
              </a:tr>
            </a:tbl>
          </a:graphicData>
        </a:graphic>
      </p:graphicFrame>
      <p:sp>
        <p:nvSpPr>
          <p:cNvPr id="10" name="TextBox 9"/>
          <p:cNvSpPr txBox="1"/>
          <p:nvPr/>
        </p:nvSpPr>
        <p:spPr>
          <a:xfrm>
            <a:off x="530352" y="5413248"/>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Illustrative case: the company is real, the situation and the data are synthetic, built for this class.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goes together, beyond chance?</a:t>
            </a:r>
          </a:p>
        </p:txBody>
      </p:sp>
      <p:sp>
        <p:nvSpPr>
          <p:cNvPr id="13" name="Oval 12"/>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679763"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do the three numbers say on all 40,000 carts?</a:t>
            </a:r>
          </a:p>
        </p:txBody>
      </p:sp>
      <p:sp>
        <p:nvSpPr>
          <p:cNvPr id="15" name="Oval 14"/>
          <p:cNvSpPr/>
          <p:nvPr/>
        </p:nvSpPr>
        <p:spPr>
          <a:xfrm>
            <a:off x="49657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075491"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three pairs fill the strip, and what is a slot worth?</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29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Wednesday sits in the week's five tickets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 sit in the week's five tickets?</a:t>
            </a:r>
          </a:p>
        </p:txBody>
      </p:sp>
      <p:pic>
        <p:nvPicPr>
          <p:cNvPr id="9" name="mermaid diagram" descr="294622f95c6dd592.png"/>
          <p:cNvPicPr>
            <a:picLocks noChangeAspect="1"/>
          </p:cNvPicPr>
          <p:nvPr/>
        </p:nvPicPr>
        <p:blipFill>
          <a:blip r:embed="rId5"/>
          <a:stretch>
            <a:fillRect/>
          </a:stretch>
        </p:blipFill>
        <p:spPr>
          <a:xfrm>
            <a:off x="530352" y="1956816"/>
            <a:ext cx="11130991" cy="1545971"/>
          </a:xfrm>
          <a:prstGeom prst="rect">
            <a:avLst/>
          </a:prstGeom>
        </p:spPr>
      </p:pic>
      <p:sp>
        <p:nvSpPr>
          <p:cNvPr id="10" name="TextBox 9"/>
          <p:cNvSpPr txBox="1"/>
          <p:nvPr/>
        </p:nvSpPr>
        <p:spPr>
          <a:xfrm>
            <a:off x="530352" y="3649091"/>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Monday and Tuesday earned the number the scheme pays for; today earns the three slots and the rupee value; Thursday asks who is leaving and Friday asks how much is coming.</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goes together, beyond chance?</a:t>
            </a:r>
          </a:p>
        </p:txBody>
      </p:sp>
      <p:sp>
        <p:nvSpPr>
          <p:cNvPr id="13" name="Oval 12"/>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679763"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do the three numbers say on all 40,000 carts?</a:t>
            </a:r>
          </a:p>
        </p:txBody>
      </p:sp>
      <p:sp>
        <p:nvSpPr>
          <p:cNvPr id="15" name="Oval 14"/>
          <p:cNvSpPr/>
          <p:nvPr/>
        </p:nvSpPr>
        <p:spPr>
          <a:xfrm>
            <a:off x="49657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075491"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three pairs fill the strip, and what is a slot worth?</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29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slots, two caveats, Rs 12.6 lakh a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end of today look like, numerically?</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hopping-cart_3d6cc98c6b4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PROMOTE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Three slots</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Chips and cold drink leads above the 1 percent floor; two more pairs by lift. Milk never fills a slot.</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riangle-alert_5ac49fc6abbb.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TWO CAVEATS</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Heavy tenth and stock-out</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top 10 percent of customers place 38 percent of carts; curd pairs vanish from two zones in week three.</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ending-up_6cca5b1ad768.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RUPEES A MONTH</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Rs 12.6 lakh per month</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Three slots at Rs 17,280/day each, less Rs 3,240/day under the milk ranking, times 30 days.</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goes together, beyond chance?</a:t>
            </a:r>
          </a:p>
        </p:txBody>
      </p:sp>
      <p:sp>
        <p:nvSpPr>
          <p:cNvPr id="29" name="Oval 28"/>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679763"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do the three numbers say on all 40,000 carts?</a:t>
            </a:r>
          </a:p>
        </p:txBody>
      </p:sp>
      <p:sp>
        <p:nvSpPr>
          <p:cNvPr id="31" name="Oval 30"/>
          <p:cNvSpPr/>
          <p:nvPr/>
        </p:nvSpPr>
        <p:spPr>
          <a:xfrm>
            <a:off x="49657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5075491"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three pairs fill the strip, and what is a slot worth?</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29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goes together, beyond chance?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A hand count on twelve rows, before any code opens.</a:t>
            </a:r>
          </a:p>
        </p:txBody>
      </p:sp>
      <p:sp>
        <p:nvSpPr>
          <p:cNvPr id="10" name="Rounded Rectangle 9"/>
          <p:cNvSpPr/>
          <p:nvPr/>
        </p:nvSpPr>
        <p:spPr>
          <a:xfrm>
            <a:off x="731519"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goes together, beyond chance?</a:t>
            </a:r>
          </a:p>
        </p:txBody>
      </p:sp>
      <p:sp>
        <p:nvSpPr>
          <p:cNvPr id="11" name="Rounded Rectangle 10"/>
          <p:cNvSpPr/>
          <p:nvPr/>
        </p:nvSpPr>
        <p:spPr>
          <a:xfrm>
            <a:off x="2990088"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the three numbers say on all 40,000 carts?</a:t>
            </a:r>
          </a:p>
        </p:txBody>
      </p:sp>
      <p:sp>
        <p:nvSpPr>
          <p:cNvPr id="12" name="Rounded Rectangle 11"/>
          <p:cNvSpPr/>
          <p:nvPr/>
        </p:nvSpPr>
        <p:spPr>
          <a:xfrm>
            <a:off x="5248656"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three pairs fill the strip, and what is a slot worth?</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The strip that stopped working</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 / 29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chai-and-biscuit sentence is wrong?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tea stall's ten orders: chai in 6, biscuit in 4, both in 3.</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STATEMENT 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Support is 3 of 10</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share of orders that hold both items.</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STATEMENT B</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Confidence chai to biscuit is 3 of 6</a:t>
            </a:r>
          </a:p>
        </p:txBody>
      </p:sp>
      <p:sp>
        <p:nvSpPr>
          <p:cNvPr id="20" name="TextBox 19"/>
          <p:cNvSpPr txBox="1"/>
          <p:nvPr/>
        </p:nvSpPr>
        <p:spPr>
          <a:xfrm>
            <a:off x="3559987"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Among the chai orders, how many also had biscuit.</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STATEMENT 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Lift is 1.25 either way</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ratio of together over expected is symmetric.</a:t>
            </a:r>
          </a:p>
        </p:txBody>
      </p:sp>
      <p:sp>
        <p:nvSpPr>
          <p:cNvPr id="27" name="Rounded Rectangle 26"/>
          <p:cNvSpPr/>
          <p:nvPr/>
        </p:nvSpPr>
        <p:spPr>
          <a:xfrm>
            <a:off x="9015755" y="1956816"/>
            <a:ext cx="2645587" cy="219557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triangle-alert_e79485772e4f.png"/>
          <p:cNvPicPr>
            <a:picLocks noChangeAspect="1"/>
          </p:cNvPicPr>
          <p:nvPr/>
        </p:nvPicPr>
        <p:blipFill>
          <a:blip r:embed="rId5"/>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STATEMENT D</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FFFFFF"/>
                </a:solidFill>
                <a:latin typeface="Calibri"/>
              </a:rPr>
              <a:t>Lift 1.25 means chai causes 25% more biscuit</a:t>
            </a:r>
          </a:p>
        </p:txBody>
      </p:sp>
      <p:sp>
        <p:nvSpPr>
          <p:cNvPr id="32" name="TextBox 31"/>
          <p:cNvSpPr txBox="1"/>
          <p:nvPr/>
        </p:nvSpPr>
        <p:spPr>
          <a:xfrm>
            <a:off x="9216923" y="3534664"/>
            <a:ext cx="2243251" cy="399796"/>
          </a:xfrm>
          <a:prstGeom prst="rect">
            <a:avLst/>
          </a:prstGeom>
          <a:noFill/>
        </p:spPr>
        <p:txBody>
          <a:bodyPr wrap="square" anchor="t" lIns="0" rIns="0" tIns="0" bIns="0">
            <a:spAutoFit/>
          </a:bodyPr>
          <a:lstStyle/>
          <a:p>
            <a:pPr algn="l"/>
            <a:r>
              <a:rPr sz="1100" b="0" i="0">
                <a:solidFill>
                  <a:srgbClr val="CFC9EE"/>
                </a:solidFill>
                <a:latin typeface="Calibri"/>
              </a:rPr>
              <a:t>A causal claim from a counting ratio.</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838515" cy="152146"/>
          </a:xfrm>
          <a:prstGeom prst="rect">
            <a:avLst/>
          </a:prstGeom>
          <a:noFill/>
        </p:spPr>
        <p:txBody>
          <a:bodyPr wrap="square" anchor="t" lIns="0" rIns="0" tIns="0" bIns="0">
            <a:spAutoFit/>
          </a:bodyPr>
          <a:lstStyle/>
          <a:p>
            <a:pPr algn="l"/>
            <a:r>
              <a:rPr sz="700" b="1" i="0">
                <a:solidFill>
                  <a:srgbClr val="5B3FD6"/>
                </a:solidFill>
                <a:latin typeface="Calibri"/>
              </a:rPr>
              <a:t>What goes together, beyond chance?</a:t>
            </a:r>
          </a:p>
        </p:txBody>
      </p:sp>
      <p:sp>
        <p:nvSpPr>
          <p:cNvPr id="35" name="Oval 34"/>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679763"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do the three numbers say on all 40,000 carts?</a:t>
            </a:r>
          </a:p>
        </p:txBody>
      </p:sp>
      <p:sp>
        <p:nvSpPr>
          <p:cNvPr id="37" name="Oval 36"/>
          <p:cNvSpPr/>
          <p:nvPr/>
        </p:nvSpPr>
        <p:spPr>
          <a:xfrm>
            <a:off x="49657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75491"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three pairs fill the strip, and what is a slot worth?</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29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lift is a counting ratio, never a causal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lift of 1.25 actually say?</a:t>
            </a:r>
          </a:p>
        </p:txBody>
      </p:sp>
      <p:pic>
        <p:nvPicPr>
          <p:cNvPr id="9" name="mermaid diagram" descr="C2_W04_D03_ten_dots_STUDENT.png"/>
          <p:cNvPicPr>
            <a:picLocks noChangeAspect="1"/>
          </p:cNvPicPr>
          <p:nvPr/>
        </p:nvPicPr>
        <p:blipFill>
          <a:blip r:embed="rId4"/>
          <a:stretch>
            <a:fillRect/>
          </a:stretch>
        </p:blipFill>
        <p:spPr>
          <a:xfrm>
            <a:off x="2666002" y="1664208"/>
            <a:ext cx="6859690" cy="3077464"/>
          </a:xfrm>
          <a:prstGeom prst="rect">
            <a:avLst/>
          </a:prstGeom>
        </p:spPr>
      </p:pic>
      <p:sp>
        <p:nvSpPr>
          <p:cNvPr id="10" name="picture caption"/>
          <p:cNvSpPr txBox="1"/>
          <p:nvPr/>
        </p:nvSpPr>
        <p:spPr>
          <a:xfrm>
            <a:off x="530352" y="4778248"/>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ten tea-stall orders as dots, beside the 2 by 2 table of counts</a:t>
            </a:r>
          </a:p>
        </p:txBody>
      </p:sp>
      <p:sp>
        <p:nvSpPr>
          <p:cNvPr id="11" name="TextBox 10"/>
          <p:cNvSpPr txBox="1"/>
          <p:nvPr/>
        </p:nvSpPr>
        <p:spPr>
          <a:xfrm>
            <a:off x="530352" y="5104384"/>
            <a:ext cx="11130991" cy="1095247"/>
          </a:xfrm>
          <a:prstGeom prst="rect">
            <a:avLst/>
          </a:prstGeom>
          <a:noFill/>
        </p:spPr>
        <p:txBody>
          <a:bodyPr wrap="square" anchor="t" lIns="0" rIns="0" tIns="0" bIns="0">
            <a:spAutoFit/>
          </a:bodyPr>
          <a:lstStyle/>
          <a:p>
            <a:r>
              <a:rPr sz="1400" b="0" i="0">
                <a:solidFill>
                  <a:srgbClr val="1A1440"/>
                </a:solidFill>
                <a:latin typeface="Calibri"/>
              </a:rPr>
              <a:t>Support 3 of 10 is 0.30. Confidence from chai to biscuit is 3 of 6, which is 0.50. Expected if independent is 10 times 0.6 times 0.4, which is 2.4; against 3 seen the lift is 3 divided by 2.4, or 1.25. Lift reads from biscuit to chai as 3 divided by (4 times 6 divided by 10), the same 1.25. The two items are found together 25 percent more often than chance; nothing more.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838515" cy="152146"/>
          </a:xfrm>
          <a:prstGeom prst="rect">
            <a:avLst/>
          </a:prstGeom>
          <a:noFill/>
        </p:spPr>
        <p:txBody>
          <a:bodyPr wrap="square" anchor="t" lIns="0" rIns="0" tIns="0" bIns="0">
            <a:spAutoFit/>
          </a:bodyPr>
          <a:lstStyle/>
          <a:p>
            <a:pPr algn="l"/>
            <a:r>
              <a:rPr sz="700" b="1" i="0">
                <a:solidFill>
                  <a:srgbClr val="5B3FD6"/>
                </a:solidFill>
                <a:latin typeface="Calibri"/>
              </a:rPr>
              <a:t>What goes together, beyond chance?</a:t>
            </a:r>
          </a:p>
        </p:txBody>
      </p:sp>
      <p:sp>
        <p:nvSpPr>
          <p:cNvPr id="14" name="Oval 13"/>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679763"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do the three numbers say on all 40,000 carts?</a:t>
            </a:r>
          </a:p>
        </p:txBody>
      </p:sp>
      <p:sp>
        <p:nvSpPr>
          <p:cNvPr id="16" name="Oval 15"/>
          <p:cNvSpPr/>
          <p:nvPr/>
        </p:nvSpPr>
        <p:spPr>
          <a:xfrm>
            <a:off x="49657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075491"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three pairs fill the strip, and what is a slot worth?</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29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Twelve printed carts: milk in 8, bread in 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twelve carts hold?</a:t>
            </a:r>
          </a:p>
        </p:txBody>
      </p:sp>
      <p:graphicFrame>
        <p:nvGraphicFramePr>
          <p:cNvPr id="9" name="Table 8"/>
          <p:cNvGraphicFramePr>
            <a:graphicFrameLocks noGrp="1"/>
          </p:cNvGraphicFramePr>
          <p:nvPr/>
        </p:nvGraphicFramePr>
        <p:xfrm>
          <a:off x="530352" y="1874012"/>
          <a:ext cx="11130991" cy="4134104"/>
        </p:xfrm>
        <a:graphic>
          <a:graphicData uri="http://schemas.openxmlformats.org/drawingml/2006/table">
            <a:tbl>
              <a:tblPr firstRow="0" bandRow="0">
                <a:tableStyleId>{2D5ABB26-0587-4C30-8999-92F81FD0307C}</a:tableStyleId>
              </a:tblPr>
              <a:tblGrid>
                <a:gridCol w="914400"/>
                <a:gridCol w="10216591"/>
              </a:tblGrid>
              <a:tr h="318008">
                <a:tc>
                  <a:txBody>
                    <a:bodyPr/>
                    <a:lstStyle/>
                    <a:p>
                      <a:r>
                        <a:rPr sz="1150" b="1" i="0">
                          <a:solidFill>
                            <a:srgbClr val="FFFFFF"/>
                          </a:solidFill>
                          <a:latin typeface="Calibri"/>
                        </a:rPr>
                        <a:t>Cart</a:t>
                      </a:r>
                    </a:p>
                  </a:txBody>
                  <a:tcPr marL="101600" marR="101600" marT="38100" marB="38100" anchor="ctr">
                    <a:solidFill>
                      <a:srgbClr val="1A0F5C"/>
                    </a:solidFill>
                  </a:tcPr>
                </a:tc>
                <a:tc>
                  <a:txBody>
                    <a:bodyPr/>
                    <a:lstStyle/>
                    <a:p>
                      <a:r>
                        <a:rPr sz="1150" b="1" i="0">
                          <a:solidFill>
                            <a:srgbClr val="FFFFFF"/>
                          </a:solidFill>
                          <a:latin typeface="Calibri"/>
                        </a:rPr>
                        <a:t>Items held</a:t>
                      </a:r>
                    </a:p>
                  </a:txBody>
                  <a:tcPr marL="101600" marR="101600" marT="38100" marB="38100" anchor="ctr">
                    <a:solidFill>
                      <a:srgbClr val="1A0F5C"/>
                    </a:solidFill>
                  </a:tcPr>
                </a:tc>
              </a:tr>
              <a:tr h="318008">
                <a:tc>
                  <a:txBody>
                    <a:bodyPr/>
                    <a:lstStyle/>
                    <a:p>
                      <a:r>
                        <a:rPr sz="1100" b="0" i="0">
                          <a:solidFill>
                            <a:srgbClr val="1A1440"/>
                          </a:solidFill>
                          <a:latin typeface="Calibri"/>
                        </a:rPr>
                        <a:t>TR01</a:t>
                      </a:r>
                    </a:p>
                  </a:txBody>
                  <a:tcPr marL="101600" marR="101600" marT="38100" marB="38100" anchor="ctr">
                    <a:solidFill>
                      <a:srgbClr val="FFFFFF"/>
                    </a:solidFill>
                  </a:tcPr>
                </a:tc>
                <a:tc>
                  <a:txBody>
                    <a:bodyPr/>
                    <a:lstStyle/>
                    <a:p>
                      <a:r>
                        <a:rPr sz="1100" b="0" i="0">
                          <a:solidFill>
                            <a:srgbClr val="1A1440"/>
                          </a:solidFill>
                          <a:latin typeface="Calibri"/>
                        </a:rPr>
                        <a:t>milk, bread, eggs, bananas, coriander, onions, potatoes</a:t>
                      </a:r>
                    </a:p>
                  </a:txBody>
                  <a:tcPr marL="101600" marR="101600" marT="38100" marB="38100" anchor="ctr">
                    <a:solidFill>
                      <a:srgbClr val="FFFFFF"/>
                    </a:solidFill>
                  </a:tcPr>
                </a:tc>
              </a:tr>
              <a:tr h="318008">
                <a:tc>
                  <a:txBody>
                    <a:bodyPr/>
                    <a:lstStyle/>
                    <a:p>
                      <a:r>
                        <a:rPr sz="1100" b="0" i="0">
                          <a:solidFill>
                            <a:srgbClr val="1A1440"/>
                          </a:solidFill>
                          <a:latin typeface="Calibri"/>
                        </a:rPr>
                        <a:t>TR02</a:t>
                      </a:r>
                    </a:p>
                  </a:txBody>
                  <a:tcPr marL="101600" marR="101600" marT="38100" marB="38100" anchor="ctr">
                    <a:solidFill>
                      <a:srgbClr val="F4F2FA"/>
                    </a:solidFill>
                  </a:tcPr>
                </a:tc>
                <a:tc>
                  <a:txBody>
                    <a:bodyPr/>
                    <a:lstStyle/>
                    <a:p>
                      <a:r>
                        <a:rPr sz="1100" b="0" i="0">
                          <a:solidFill>
                            <a:srgbClr val="1A1440"/>
                          </a:solidFill>
                          <a:latin typeface="Calibri"/>
                        </a:rPr>
                        <a:t>milk, bread, eggs, curd, bananas</a:t>
                      </a:r>
                    </a:p>
                  </a:txBody>
                  <a:tcPr marL="101600" marR="101600" marT="38100" marB="38100" anchor="ctr">
                    <a:solidFill>
                      <a:srgbClr val="F4F2FA"/>
                    </a:solidFill>
                  </a:tcPr>
                </a:tc>
              </a:tr>
              <a:tr h="318008">
                <a:tc>
                  <a:txBody>
                    <a:bodyPr/>
                    <a:lstStyle/>
                    <a:p>
                      <a:r>
                        <a:rPr sz="1100" b="0" i="0">
                          <a:solidFill>
                            <a:srgbClr val="1A1440"/>
                          </a:solidFill>
                          <a:latin typeface="Calibri"/>
                        </a:rPr>
                        <a:t>TR03</a:t>
                      </a:r>
                    </a:p>
                  </a:txBody>
                  <a:tcPr marL="101600" marR="101600" marT="38100" marB="38100" anchor="ctr">
                    <a:solidFill>
                      <a:srgbClr val="FFFFFF"/>
                    </a:solidFill>
                  </a:tcPr>
                </a:tc>
                <a:tc>
                  <a:txBody>
                    <a:bodyPr/>
                    <a:lstStyle/>
                    <a:p>
                      <a:r>
                        <a:rPr sz="1100" b="0" i="0">
                          <a:solidFill>
                            <a:srgbClr val="1A1440"/>
                          </a:solidFill>
                          <a:latin typeface="Calibri"/>
                        </a:rPr>
                        <a:t>milk, bread, curd, paneer, onions</a:t>
                      </a:r>
                    </a:p>
                  </a:txBody>
                  <a:tcPr marL="101600" marR="101600" marT="38100" marB="38100" anchor="ctr">
                    <a:solidFill>
                      <a:srgbClr val="FFFFFF"/>
                    </a:solidFill>
                  </a:tcPr>
                </a:tc>
              </a:tr>
              <a:tr h="318008">
                <a:tc>
                  <a:txBody>
                    <a:bodyPr/>
                    <a:lstStyle/>
                    <a:p>
                      <a:r>
                        <a:rPr sz="1100" b="0" i="0">
                          <a:solidFill>
                            <a:srgbClr val="1A1440"/>
                          </a:solidFill>
                          <a:latin typeface="Calibri"/>
                        </a:rPr>
                        <a:t>TR04</a:t>
                      </a:r>
                    </a:p>
                  </a:txBody>
                  <a:tcPr marL="101600" marR="101600" marT="38100" marB="38100" anchor="ctr">
                    <a:solidFill>
                      <a:srgbClr val="F4F2FA"/>
                    </a:solidFill>
                  </a:tcPr>
                </a:tc>
                <a:tc>
                  <a:txBody>
                    <a:bodyPr/>
                    <a:lstStyle/>
                    <a:p>
                      <a:r>
                        <a:rPr sz="1100" b="0" i="0">
                          <a:solidFill>
                            <a:srgbClr val="1A1440"/>
                          </a:solidFill>
                          <a:latin typeface="Calibri"/>
                        </a:rPr>
                        <a:t>milk, bread, eggs, tomatoes</a:t>
                      </a:r>
                    </a:p>
                  </a:txBody>
                  <a:tcPr marL="101600" marR="101600" marT="38100" marB="38100" anchor="ctr">
                    <a:solidFill>
                      <a:srgbClr val="F4F2FA"/>
                    </a:solidFill>
                  </a:tcPr>
                </a:tc>
              </a:tr>
              <a:tr h="318008">
                <a:tc>
                  <a:txBody>
                    <a:bodyPr/>
                    <a:lstStyle/>
                    <a:p>
                      <a:r>
                        <a:rPr sz="1100" b="0" i="0">
                          <a:solidFill>
                            <a:srgbClr val="1A1440"/>
                          </a:solidFill>
                          <a:latin typeface="Calibri"/>
                        </a:rPr>
                        <a:t>TR05</a:t>
                      </a:r>
                    </a:p>
                  </a:txBody>
                  <a:tcPr marL="101600" marR="101600" marT="38100" marB="38100" anchor="ctr">
                    <a:solidFill>
                      <a:srgbClr val="FFFFFF"/>
                    </a:solidFill>
                  </a:tcPr>
                </a:tc>
                <a:tc>
                  <a:txBody>
                    <a:bodyPr/>
                    <a:lstStyle/>
                    <a:p>
                      <a:r>
                        <a:rPr sz="1100" b="0" i="0">
                          <a:solidFill>
                            <a:srgbClr val="1A1440"/>
                          </a:solidFill>
                          <a:latin typeface="Calibri"/>
                        </a:rPr>
                        <a:t>milk, eggs, chips, cold drink, onions</a:t>
                      </a:r>
                    </a:p>
                  </a:txBody>
                  <a:tcPr marL="101600" marR="101600" marT="38100" marB="38100" anchor="ctr">
                    <a:solidFill>
                      <a:srgbClr val="FFFFFF"/>
                    </a:solidFill>
                  </a:tcPr>
                </a:tc>
              </a:tr>
              <a:tr h="318008">
                <a:tc>
                  <a:txBody>
                    <a:bodyPr/>
                    <a:lstStyle/>
                    <a:p>
                      <a:r>
                        <a:rPr sz="1100" b="0" i="0">
                          <a:solidFill>
                            <a:srgbClr val="1A1440"/>
                          </a:solidFill>
                          <a:latin typeface="Calibri"/>
                        </a:rPr>
                        <a:t>TR06</a:t>
                      </a:r>
                    </a:p>
                  </a:txBody>
                  <a:tcPr marL="101600" marR="101600" marT="38100" marB="38100" anchor="ctr">
                    <a:solidFill>
                      <a:srgbClr val="F4F2FA"/>
                    </a:solidFill>
                  </a:tcPr>
                </a:tc>
                <a:tc>
                  <a:txBody>
                    <a:bodyPr/>
                    <a:lstStyle/>
                    <a:p>
                      <a:r>
                        <a:rPr sz="1100" b="0" i="0">
                          <a:solidFill>
                            <a:srgbClr val="1A1440"/>
                          </a:solidFill>
                          <a:latin typeface="Calibri"/>
                        </a:rPr>
                        <a:t>milk, chips, cold drink, coriander</a:t>
                      </a:r>
                    </a:p>
                  </a:txBody>
                  <a:tcPr marL="101600" marR="101600" marT="38100" marB="38100" anchor="ctr">
                    <a:solidFill>
                      <a:srgbClr val="F4F2FA"/>
                    </a:solidFill>
                  </a:tcPr>
                </a:tc>
              </a:tr>
              <a:tr h="318008">
                <a:tc>
                  <a:txBody>
                    <a:bodyPr/>
                    <a:lstStyle/>
                    <a:p>
                      <a:r>
                        <a:rPr sz="1100" b="0" i="0">
                          <a:solidFill>
                            <a:srgbClr val="1A1440"/>
                          </a:solidFill>
                          <a:latin typeface="Calibri"/>
                        </a:rPr>
                        <a:t>TR07</a:t>
                      </a:r>
                    </a:p>
                  </a:txBody>
                  <a:tcPr marL="101600" marR="101600" marT="38100" marB="38100" anchor="ctr">
                    <a:solidFill>
                      <a:srgbClr val="FFFFFF"/>
                    </a:solidFill>
                  </a:tcPr>
                </a:tc>
                <a:tc>
                  <a:txBody>
                    <a:bodyPr/>
                    <a:lstStyle/>
                    <a:p>
                      <a:r>
                        <a:rPr sz="1100" b="0" i="0">
                          <a:solidFill>
                            <a:srgbClr val="1A1440"/>
                          </a:solidFill>
                          <a:latin typeface="Calibri"/>
                        </a:rPr>
                        <a:t>milk, bananas, onions, potatoes</a:t>
                      </a:r>
                    </a:p>
                  </a:txBody>
                  <a:tcPr marL="101600" marR="101600" marT="38100" marB="38100" anchor="ctr">
                    <a:solidFill>
                      <a:srgbClr val="FFFFFF"/>
                    </a:solidFill>
                  </a:tcPr>
                </a:tc>
              </a:tr>
              <a:tr h="318008">
                <a:tc>
                  <a:txBody>
                    <a:bodyPr/>
                    <a:lstStyle/>
                    <a:p>
                      <a:r>
                        <a:rPr sz="1100" b="0" i="0">
                          <a:solidFill>
                            <a:srgbClr val="1A1440"/>
                          </a:solidFill>
                          <a:latin typeface="Calibri"/>
                        </a:rPr>
                        <a:t>TR08</a:t>
                      </a:r>
                    </a:p>
                  </a:txBody>
                  <a:tcPr marL="101600" marR="101600" marT="38100" marB="38100" anchor="ctr">
                    <a:solidFill>
                      <a:srgbClr val="F4F2FA"/>
                    </a:solidFill>
                  </a:tcPr>
                </a:tc>
                <a:tc>
                  <a:txBody>
                    <a:bodyPr/>
                    <a:lstStyle/>
                    <a:p>
                      <a:r>
                        <a:rPr sz="1100" b="0" i="0">
                          <a:solidFill>
                            <a:srgbClr val="1A1440"/>
                          </a:solidFill>
                          <a:latin typeface="Calibri"/>
                        </a:rPr>
                        <a:t>milk, paneer, coriander, tomatoes</a:t>
                      </a:r>
                    </a:p>
                  </a:txBody>
                  <a:tcPr marL="101600" marR="101600" marT="38100" marB="38100" anchor="ctr">
                    <a:solidFill>
                      <a:srgbClr val="F4F2FA"/>
                    </a:solidFill>
                  </a:tcPr>
                </a:tc>
              </a:tr>
              <a:tr h="318008">
                <a:tc>
                  <a:txBody>
                    <a:bodyPr/>
                    <a:lstStyle/>
                    <a:p>
                      <a:r>
                        <a:rPr sz="1100" b="0" i="0">
                          <a:solidFill>
                            <a:srgbClr val="1A1440"/>
                          </a:solidFill>
                          <a:latin typeface="Calibri"/>
                        </a:rPr>
                        <a:t>TR09</a:t>
                      </a:r>
                    </a:p>
                  </a:txBody>
                  <a:tcPr marL="101600" marR="101600" marT="38100" marB="38100" anchor="ctr">
                    <a:solidFill>
                      <a:srgbClr val="FFFFFF"/>
                    </a:solidFill>
                  </a:tcPr>
                </a:tc>
                <a:tc>
                  <a:txBody>
                    <a:bodyPr/>
                    <a:lstStyle/>
                    <a:p>
                      <a:r>
                        <a:rPr sz="1100" b="0" i="0">
                          <a:solidFill>
                            <a:srgbClr val="1A1440"/>
                          </a:solidFill>
                          <a:latin typeface="Calibri"/>
                        </a:rPr>
                        <a:t>chips, coriander, onions, potatoes</a:t>
                      </a:r>
                    </a:p>
                  </a:txBody>
                  <a:tcPr marL="101600" marR="101600" marT="38100" marB="38100" anchor="ctr">
                    <a:solidFill>
                      <a:srgbClr val="FFFFFF"/>
                    </a:solidFill>
                  </a:tcPr>
                </a:tc>
              </a:tr>
              <a:tr h="318008">
                <a:tc>
                  <a:txBody>
                    <a:bodyPr/>
                    <a:lstStyle/>
                    <a:p>
                      <a:r>
                        <a:rPr sz="1100" b="0" i="0">
                          <a:solidFill>
                            <a:srgbClr val="1A1440"/>
                          </a:solidFill>
                          <a:latin typeface="Calibri"/>
                        </a:rPr>
                        <a:t>TR10</a:t>
                      </a:r>
                    </a:p>
                  </a:txBody>
                  <a:tcPr marL="101600" marR="101600" marT="38100" marB="38100" anchor="ctr">
                    <a:solidFill>
                      <a:srgbClr val="F4F2FA"/>
                    </a:solidFill>
                  </a:tcPr>
                </a:tc>
                <a:tc>
                  <a:txBody>
                    <a:bodyPr/>
                    <a:lstStyle/>
                    <a:p>
                      <a:r>
                        <a:rPr sz="1100" b="0" i="0">
                          <a:solidFill>
                            <a:srgbClr val="1A1440"/>
                          </a:solidFill>
                          <a:latin typeface="Calibri"/>
                        </a:rPr>
                        <a:t>cold drink, curd, bananas, tomatoes</a:t>
                      </a:r>
                    </a:p>
                  </a:txBody>
                  <a:tcPr marL="101600" marR="101600" marT="38100" marB="38100" anchor="ctr">
                    <a:solidFill>
                      <a:srgbClr val="F4F2FA"/>
                    </a:solidFill>
                  </a:tcPr>
                </a:tc>
              </a:tr>
              <a:tr h="318008">
                <a:tc>
                  <a:txBody>
                    <a:bodyPr/>
                    <a:lstStyle/>
                    <a:p>
                      <a:r>
                        <a:rPr sz="1100" b="0" i="0">
                          <a:solidFill>
                            <a:srgbClr val="1A1440"/>
                          </a:solidFill>
                          <a:latin typeface="Calibri"/>
                        </a:rPr>
                        <a:t>TR11</a:t>
                      </a:r>
                    </a:p>
                  </a:txBody>
                  <a:tcPr marL="101600" marR="101600" marT="38100" marB="38100" anchor="ctr">
                    <a:solidFill>
                      <a:srgbClr val="FFFFFF"/>
                    </a:solidFill>
                  </a:tcPr>
                </a:tc>
                <a:tc>
                  <a:txBody>
                    <a:bodyPr/>
                    <a:lstStyle/>
                    <a:p>
                      <a:r>
                        <a:rPr sz="1100" b="0" i="0">
                          <a:solidFill>
                            <a:srgbClr val="1A1440"/>
                          </a:solidFill>
                          <a:latin typeface="Calibri"/>
                        </a:rPr>
                        <a:t>eggs, ice cream, chocolate sauce</a:t>
                      </a:r>
                    </a:p>
                  </a:txBody>
                  <a:tcPr marL="101600" marR="101600" marT="38100" marB="38100" anchor="ctr">
                    <a:solidFill>
                      <a:srgbClr val="FFFFFF"/>
                    </a:solidFill>
                  </a:tcPr>
                </a:tc>
              </a:tr>
              <a:tr h="318008">
                <a:tc>
                  <a:txBody>
                    <a:bodyPr/>
                    <a:lstStyle/>
                    <a:p>
                      <a:r>
                        <a:rPr sz="1100" b="0" i="0">
                          <a:solidFill>
                            <a:srgbClr val="1A1440"/>
                          </a:solidFill>
                          <a:latin typeface="Calibri"/>
                        </a:rPr>
                        <a:t>TR12</a:t>
                      </a:r>
                    </a:p>
                  </a:txBody>
                  <a:tcPr marL="101600" marR="101600" marT="38100" marB="38100" anchor="ctr">
                    <a:solidFill>
                      <a:srgbClr val="F4F2FA"/>
                    </a:solidFill>
                  </a:tcPr>
                </a:tc>
                <a:tc>
                  <a:txBody>
                    <a:bodyPr/>
                    <a:lstStyle/>
                    <a:p>
                      <a:r>
                        <a:rPr sz="1100" b="0" i="0">
                          <a:solidFill>
                            <a:srgbClr val="1A1440"/>
                          </a:solidFill>
                          <a:latin typeface="Calibri"/>
                        </a:rPr>
                        <a:t>curd, onions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838515" cy="152146"/>
          </a:xfrm>
          <a:prstGeom prst="rect">
            <a:avLst/>
          </a:prstGeom>
          <a:noFill/>
        </p:spPr>
        <p:txBody>
          <a:bodyPr wrap="square" anchor="t" lIns="0" rIns="0" tIns="0" bIns="0">
            <a:spAutoFit/>
          </a:bodyPr>
          <a:lstStyle/>
          <a:p>
            <a:pPr algn="l"/>
            <a:r>
              <a:rPr sz="700" b="1" i="0">
                <a:solidFill>
                  <a:srgbClr val="5B3FD6"/>
                </a:solidFill>
                <a:latin typeface="Calibri"/>
              </a:rPr>
              <a:t>What goes together, beyond chance?</a:t>
            </a:r>
          </a:p>
        </p:txBody>
      </p:sp>
      <p:sp>
        <p:nvSpPr>
          <p:cNvPr id="12" name="Oval 11"/>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679763"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do the three numbers say on all 40,000 carts?</a:t>
            </a:r>
          </a:p>
        </p:txBody>
      </p:sp>
      <p:sp>
        <p:nvSpPr>
          <p:cNvPr id="14" name="Oval 13"/>
          <p:cNvSpPr/>
          <p:nvPr/>
        </p:nvSpPr>
        <p:spPr>
          <a:xfrm>
            <a:off x="49657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075491"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three pairs fill the strip, and what is a slot worth?</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29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how high is bread to milk's confidence?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these four values is the confidence from bread to milk on the twelve carts?</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percent_3c2cac06876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OPTION 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0.33</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share of carts that hold bread.</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percent_3c2cac06876b.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OPTION 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0.50</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One of two bread carts, roughly.</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percent_3c2cac06876b.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OPTION 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0.75</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Three of the four bread carts, perhaps.</a:t>
            </a:r>
          </a:p>
        </p:txBody>
      </p:sp>
      <p:sp>
        <p:nvSpPr>
          <p:cNvPr id="27" name="Rounded Rectangle 26"/>
          <p:cNvSpPr/>
          <p:nvPr/>
        </p:nvSpPr>
        <p:spPr>
          <a:xfrm>
            <a:off x="9015755" y="1956816"/>
            <a:ext cx="2645587"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heck_adac4adaf554.png"/>
          <p:cNvPicPr>
            <a:picLocks noChangeAspect="1"/>
          </p:cNvPicPr>
          <p:nvPr/>
        </p:nvPicPr>
        <p:blipFill>
          <a:blip r:embed="rId5"/>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OPTION 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FFFFFF"/>
                </a:solidFill>
                <a:latin typeface="Calibri"/>
              </a:rPr>
              <a:t>1.00</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CFC9EE"/>
                </a:solidFill>
                <a:latin typeface="Calibri"/>
              </a:rPr>
              <a:t>Every bread cart also holds milk.</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838515" cy="152146"/>
          </a:xfrm>
          <a:prstGeom prst="rect">
            <a:avLst/>
          </a:prstGeom>
          <a:noFill/>
        </p:spPr>
        <p:txBody>
          <a:bodyPr wrap="square" anchor="t" lIns="0" rIns="0" tIns="0" bIns="0">
            <a:spAutoFit/>
          </a:bodyPr>
          <a:lstStyle/>
          <a:p>
            <a:pPr algn="l"/>
            <a:r>
              <a:rPr sz="700" b="1" i="0">
                <a:solidFill>
                  <a:srgbClr val="5B3FD6"/>
                </a:solidFill>
                <a:latin typeface="Calibri"/>
              </a:rPr>
              <a:t>What goes together, beyond chance?</a:t>
            </a:r>
          </a:p>
        </p:txBody>
      </p:sp>
      <p:sp>
        <p:nvSpPr>
          <p:cNvPr id="35" name="Oval 34"/>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679763"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do the three numbers say on all 40,000 carts?</a:t>
            </a:r>
          </a:p>
        </p:txBody>
      </p:sp>
      <p:sp>
        <p:nvSpPr>
          <p:cNvPr id="37" name="Oval 36"/>
          <p:cNvSpPr/>
          <p:nvPr/>
        </p:nvSpPr>
        <p:spPr>
          <a:xfrm>
            <a:off x="49657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75491"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three pairs fill the strip, and what is a slot worth?</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29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confidence 1.00, lift 1.50 on the twelve carts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the three numbers read on the twelve carts?</a:t>
            </a:r>
          </a:p>
        </p:txBody>
      </p:sp>
      <p:pic>
        <p:nvPicPr>
          <p:cNvPr id="9" name="mermaid diagram" descr="a4af6b12acda2fc7.png"/>
          <p:cNvPicPr>
            <a:picLocks noChangeAspect="1"/>
          </p:cNvPicPr>
          <p:nvPr/>
        </p:nvPicPr>
        <p:blipFill>
          <a:blip r:embed="rId5"/>
          <a:stretch>
            <a:fillRect/>
          </a:stretch>
        </p:blipFill>
        <p:spPr>
          <a:xfrm>
            <a:off x="780897" y="1956816"/>
            <a:ext cx="10629900" cy="1600200"/>
          </a:xfrm>
          <a:prstGeom prst="rect">
            <a:avLst/>
          </a:prstGeom>
        </p:spPr>
      </p:pic>
      <p:sp>
        <p:nvSpPr>
          <p:cNvPr id="10" name="TextBox 9"/>
          <p:cNvSpPr txBox="1"/>
          <p:nvPr/>
        </p:nvSpPr>
        <p:spPr>
          <a:xfrm>
            <a:off x="530352" y="370332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Bread sits in 4 of the twelve carts, and milk sits in all 4 of them. Support is 4 of 12 which is 0.33. Confidence from bread to milk is 4 of 4 which is 1.00. Expected if independent is (4/12) times (8/12) times 12, which is 2.67; against 4 seen the lift is 4 divided by 2.67, or 1.50.</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838515" cy="152146"/>
          </a:xfrm>
          <a:prstGeom prst="rect">
            <a:avLst/>
          </a:prstGeom>
          <a:noFill/>
        </p:spPr>
        <p:txBody>
          <a:bodyPr wrap="square" anchor="t" lIns="0" rIns="0" tIns="0" bIns="0">
            <a:spAutoFit/>
          </a:bodyPr>
          <a:lstStyle/>
          <a:p>
            <a:pPr algn="l"/>
            <a:r>
              <a:rPr sz="700" b="1" i="0">
                <a:solidFill>
                  <a:srgbClr val="5B3FD6"/>
                </a:solidFill>
                <a:latin typeface="Calibri"/>
              </a:rPr>
              <a:t>What goes together, beyond chance?</a:t>
            </a:r>
          </a:p>
        </p:txBody>
      </p:sp>
      <p:sp>
        <p:nvSpPr>
          <p:cNvPr id="13" name="Oval 12"/>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679763"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do the three numbers say on all 40,000 carts?</a:t>
            </a:r>
          </a:p>
        </p:txBody>
      </p:sp>
      <p:sp>
        <p:nvSpPr>
          <p:cNvPr id="15" name="Oval 14"/>
          <p:cNvSpPr/>
          <p:nvPr/>
        </p:nvSpPr>
        <p:spPr>
          <a:xfrm>
            <a:off x="49657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075491"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three pairs fill the strip, and what is a slot worth?</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29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Chips and cold drink: lift 2.67 on 12 carts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three numbers read for the chips and cold drink pair?</a:t>
            </a:r>
          </a:p>
        </p:txBody>
      </p:sp>
      <p:pic>
        <p:nvPicPr>
          <p:cNvPr id="9" name="mermaid diagram" descr="62aae66406008920.png"/>
          <p:cNvPicPr>
            <a:picLocks noChangeAspect="1"/>
          </p:cNvPicPr>
          <p:nvPr/>
        </p:nvPicPr>
        <p:blipFill>
          <a:blip r:embed="rId5"/>
          <a:stretch>
            <a:fillRect/>
          </a:stretch>
        </p:blipFill>
        <p:spPr>
          <a:xfrm>
            <a:off x="780897" y="1956816"/>
            <a:ext cx="10629900" cy="2543175"/>
          </a:xfrm>
          <a:prstGeom prst="rect">
            <a:avLst/>
          </a:prstGeom>
        </p:spPr>
      </p:pic>
      <p:sp>
        <p:nvSpPr>
          <p:cNvPr id="10" name="TextBox 9"/>
          <p:cNvSpPr txBox="1"/>
          <p:nvPr/>
        </p:nvSpPr>
        <p:spPr>
          <a:xfrm>
            <a:off x="530352" y="4646295"/>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Chips is in three of the twelve carts, cold drink is in three of them, and both appear together in two carts. Support is 2 of 12 which is 0.167; confidence from chips to cold is 2 of 3 which is 0.67; expected if independent is (3/12) times (3/12) times 12 which is 0.75, so lift is 2 divided by 0.75, or 2.67.</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838515" cy="152146"/>
          </a:xfrm>
          <a:prstGeom prst="rect">
            <a:avLst/>
          </a:prstGeom>
          <a:noFill/>
        </p:spPr>
        <p:txBody>
          <a:bodyPr wrap="square" anchor="t" lIns="0" rIns="0" tIns="0" bIns="0">
            <a:spAutoFit/>
          </a:bodyPr>
          <a:lstStyle/>
          <a:p>
            <a:pPr algn="l"/>
            <a:r>
              <a:rPr sz="700" b="1" i="0">
                <a:solidFill>
                  <a:srgbClr val="5B3FD6"/>
                </a:solidFill>
                <a:latin typeface="Calibri"/>
              </a:rPr>
              <a:t>What goes together, beyond chance?</a:t>
            </a:r>
          </a:p>
        </p:txBody>
      </p:sp>
      <p:sp>
        <p:nvSpPr>
          <p:cNvPr id="13" name="Oval 12"/>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679763"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do the three numbers say on all 40,000 carts?</a:t>
            </a:r>
          </a:p>
        </p:txBody>
      </p:sp>
      <p:sp>
        <p:nvSpPr>
          <p:cNvPr id="15" name="Oval 14"/>
          <p:cNvSpPr/>
          <p:nvPr/>
        </p:nvSpPr>
        <p:spPr>
          <a:xfrm>
            <a:off x="49657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075491"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three pairs fill the strip, and what is a slot worth?</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29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Ice cream and chocolate sauce: lift 12 on one cart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lift of 12 on one cart in twelve tell us about acting on it?</a:t>
            </a:r>
          </a:p>
        </p:txBody>
      </p:sp>
      <p:sp>
        <p:nvSpPr>
          <p:cNvPr id="9" name="TextBox 8"/>
          <p:cNvSpPr txBox="1"/>
          <p:nvPr/>
        </p:nvSpPr>
        <p:spPr>
          <a:xfrm>
            <a:off x="530352" y="195681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Ice cream sits in one cart (TR11), chocolate sauce sits in the same cart, and the pair's expected if independent is (1/12) times (1/12) times 12 which is 1/12, so the lift reads 12. The number is dramatic; the base to compute it is one cart.</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838515" cy="152146"/>
          </a:xfrm>
          <a:prstGeom prst="rect">
            <a:avLst/>
          </a:prstGeom>
          <a:noFill/>
        </p:spPr>
        <p:txBody>
          <a:bodyPr wrap="square" anchor="t" lIns="0" rIns="0" tIns="0" bIns="0">
            <a:spAutoFit/>
          </a:bodyPr>
          <a:lstStyle/>
          <a:p>
            <a:pPr algn="l"/>
            <a:r>
              <a:rPr sz="700" b="1" i="0">
                <a:solidFill>
                  <a:srgbClr val="5B3FD6"/>
                </a:solidFill>
                <a:latin typeface="Calibri"/>
              </a:rPr>
              <a:t>What goes together, beyond chance?</a:t>
            </a:r>
          </a:p>
        </p:txBody>
      </p:sp>
      <p:sp>
        <p:nvSpPr>
          <p:cNvPr id="12" name="Oval 11"/>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679763"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do the three numbers say on all 40,000 carts?</a:t>
            </a:r>
          </a:p>
        </p:txBody>
      </p:sp>
      <p:sp>
        <p:nvSpPr>
          <p:cNvPr id="14" name="Oval 13"/>
          <p:cNvSpPr/>
          <p:nvPr/>
        </p:nvSpPr>
        <p:spPr>
          <a:xfrm>
            <a:off x="49657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075491"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three pairs fill the strip, and what is a slot worth?</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29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 the three numbers say on all 40,000 carts?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pairs table runs on every cart in the four weeks of September.</a:t>
            </a:r>
          </a:p>
        </p:txBody>
      </p:sp>
      <p:sp>
        <p:nvSpPr>
          <p:cNvPr id="10" name="Rounded Rectangle 9"/>
          <p:cNvSpPr/>
          <p:nvPr/>
        </p:nvSpPr>
        <p:spPr>
          <a:xfrm>
            <a:off x="731519"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together, beyond chance?</a:t>
            </a:r>
          </a:p>
        </p:txBody>
      </p:sp>
      <p:sp>
        <p:nvSpPr>
          <p:cNvPr id="11" name="Rounded Rectangle 10"/>
          <p:cNvSpPr/>
          <p:nvPr/>
        </p:nvSpPr>
        <p:spPr>
          <a:xfrm>
            <a:off x="2990088"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 the three numbers say on all 40,000 carts?</a:t>
            </a:r>
          </a:p>
        </p:txBody>
      </p:sp>
      <p:sp>
        <p:nvSpPr>
          <p:cNvPr id="12" name="Rounded Rectangle 11"/>
          <p:cNvSpPr/>
          <p:nvPr/>
        </p:nvSpPr>
        <p:spPr>
          <a:xfrm>
            <a:off x="5248656"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three pairs fill the strip, and what is a slot worth?</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The strip that stopped working</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13 / 29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Lift reads from two rectangles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 ratio of two counts turn into a comparison with chance?</a:t>
            </a:r>
          </a:p>
        </p:txBody>
      </p:sp>
      <p:pic>
        <p:nvPicPr>
          <p:cNvPr id="9" name="mermaid diagram" descr="C2_W04_D03_areas_STUDENT.png"/>
          <p:cNvPicPr>
            <a:picLocks noChangeAspect="1"/>
          </p:cNvPicPr>
          <p:nvPr/>
        </p:nvPicPr>
        <p:blipFill>
          <a:blip r:embed="rId4"/>
          <a:stretch>
            <a:fillRect/>
          </a:stretch>
        </p:blipFill>
        <p:spPr>
          <a:xfrm>
            <a:off x="2654424" y="1664208"/>
            <a:ext cx="6882847" cy="3112008"/>
          </a:xfrm>
          <a:prstGeom prst="rect">
            <a:avLst/>
          </a:prstGeom>
        </p:spPr>
      </p:pic>
      <p:sp>
        <p:nvSpPr>
          <p:cNvPr id="10" name="picture caption"/>
          <p:cNvSpPr txBox="1"/>
          <p:nvPr/>
        </p:nvSpPr>
        <p:spPr>
          <a:xfrm>
            <a:off x="530352" y="4812792"/>
            <a:ext cx="11130991" cy="524256"/>
          </a:xfrm>
          <a:prstGeom prst="rect">
            <a:avLst/>
          </a:prstGeom>
          <a:noFill/>
        </p:spPr>
        <p:txBody>
          <a:bodyPr wrap="square" anchor="t" lIns="0" rIns="0" tIns="0" bIns="0">
            <a:spAutoFit/>
          </a:bodyPr>
          <a:lstStyle/>
          <a:p>
            <a:pPr algn="ctr"/>
            <a:r>
              <a:rPr sz="1200" b="0" i="0">
                <a:solidFill>
                  <a:srgbClr val="6B6690"/>
                </a:solidFill>
                <a:latin typeface="Calibri"/>
              </a:rPr>
              <a:t>The unit square with P(bread) as a vertical band, P(milk) as a horizontal band, the expected rectangle shaded, and the observed rectangle beside it</a:t>
            </a:r>
          </a:p>
        </p:txBody>
      </p:sp>
      <p:sp>
        <p:nvSpPr>
          <p:cNvPr id="11" name="TextBox 10"/>
          <p:cNvSpPr txBox="1"/>
          <p:nvPr/>
        </p:nvSpPr>
        <p:spPr>
          <a:xfrm>
            <a:off x="530352" y="5346192"/>
            <a:ext cx="11130991" cy="853440"/>
          </a:xfrm>
          <a:prstGeom prst="rect">
            <a:avLst/>
          </a:prstGeom>
          <a:noFill/>
        </p:spPr>
        <p:txBody>
          <a:bodyPr wrap="square" anchor="t" lIns="0" rIns="0" tIns="0" bIns="0">
            <a:spAutoFit/>
          </a:bodyPr>
          <a:lstStyle/>
          <a:p>
            <a:r>
              <a:rPr sz="1400" b="0" i="0">
                <a:solidFill>
                  <a:srgbClr val="1A1440"/>
                </a:solidFill>
                <a:latin typeface="Calibri"/>
              </a:rPr>
              <a:t>The expected rectangle has side P(bread) by side P(milk); its area is what the pair would occupy if the two items appeared independently. The observed rectangle has the same width P(bread) and a height such that its area equals the share of carts that actually hold both. Lift is the second area divided by the first; symmetric and dimensionless.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goes together, beyond chance?</a:t>
            </a:r>
          </a:p>
        </p:txBody>
      </p:sp>
      <p:sp>
        <p:nvSpPr>
          <p:cNvPr id="14" name="Oval 13"/>
          <p:cNvSpPr/>
          <p:nvPr/>
        </p:nvSpPr>
        <p:spPr>
          <a:xfrm>
            <a:off x="25700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679763"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What do the three numbers say on all 40,000 carts?</a:t>
            </a:r>
          </a:p>
        </p:txBody>
      </p:sp>
      <p:sp>
        <p:nvSpPr>
          <p:cNvPr id="16" name="Oval 15"/>
          <p:cNvSpPr/>
          <p:nvPr/>
        </p:nvSpPr>
        <p:spPr>
          <a:xfrm>
            <a:off x="49657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075491"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three pairs fill the strip, and what is a slot worth?</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14 / 29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pairs table on 40,000 carts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four featured pairs read in the full data?</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940395"/>
                <a:gridCol w="914400"/>
                <a:gridCol w="2680897"/>
                <a:gridCol w="2680897"/>
                <a:gridCol w="914400"/>
              </a:tblGrid>
              <a:tr h="335280">
                <a:tc>
                  <a:txBody>
                    <a:bodyPr/>
                    <a:lstStyle/>
                    <a:p>
                      <a:r>
                        <a:rPr sz="1250" b="1" i="0">
                          <a:solidFill>
                            <a:srgbClr val="FFFFFF"/>
                          </a:solidFill>
                          <a:latin typeface="Calibri"/>
                        </a:rPr>
                        <a:t>Pair</a:t>
                      </a:r>
                    </a:p>
                  </a:txBody>
                  <a:tcPr marL="101600" marR="101600" marT="38100" marB="38100" anchor="ctr">
                    <a:solidFill>
                      <a:srgbClr val="1A0F5C"/>
                    </a:solidFill>
                  </a:tcPr>
                </a:tc>
                <a:tc>
                  <a:txBody>
                    <a:bodyPr/>
                    <a:lstStyle/>
                    <a:p>
                      <a:r>
                        <a:rPr sz="1250" b="1" i="0">
                          <a:solidFill>
                            <a:srgbClr val="FFFFFF"/>
                          </a:solidFill>
                          <a:latin typeface="Calibri"/>
                        </a:rPr>
                        <a:t>Support</a:t>
                      </a:r>
                    </a:p>
                  </a:txBody>
                  <a:tcPr marL="101600" marR="101600" marT="38100" marB="38100" anchor="ctr">
                    <a:solidFill>
                      <a:srgbClr val="1A0F5C"/>
                    </a:solidFill>
                  </a:tcPr>
                </a:tc>
                <a:tc>
                  <a:txBody>
                    <a:bodyPr/>
                    <a:lstStyle/>
                    <a:p>
                      <a:r>
                        <a:rPr sz="1250" b="1" i="0">
                          <a:solidFill>
                            <a:srgbClr val="FFFFFF"/>
                          </a:solidFill>
                          <a:latin typeface="Calibri"/>
                        </a:rPr>
                        <a:t>Confidence a-&gt;b</a:t>
                      </a:r>
                    </a:p>
                  </a:txBody>
                  <a:tcPr marL="101600" marR="101600" marT="38100" marB="38100" anchor="ctr">
                    <a:solidFill>
                      <a:srgbClr val="1A0F5C"/>
                    </a:solidFill>
                  </a:tcPr>
                </a:tc>
                <a:tc>
                  <a:txBody>
                    <a:bodyPr/>
                    <a:lstStyle/>
                    <a:p>
                      <a:r>
                        <a:rPr sz="1250" b="1" i="0">
                          <a:solidFill>
                            <a:srgbClr val="FFFFFF"/>
                          </a:solidFill>
                          <a:latin typeface="Calibri"/>
                        </a:rPr>
                        <a:t>Confidence b-&gt;a</a:t>
                      </a:r>
                    </a:p>
                  </a:txBody>
                  <a:tcPr marL="101600" marR="101600" marT="38100" marB="38100" anchor="ctr">
                    <a:solidFill>
                      <a:srgbClr val="1A0F5C"/>
                    </a:solidFill>
                  </a:tcPr>
                </a:tc>
                <a:tc>
                  <a:txBody>
                    <a:bodyPr/>
                    <a:lstStyle/>
                    <a:p>
                      <a:r>
                        <a:rPr sz="1250" b="1" i="0">
                          <a:solidFill>
                            <a:srgbClr val="FFFFFF"/>
                          </a:solidFill>
                          <a:latin typeface="Calibri"/>
                        </a:rPr>
                        <a:t>Lift</a:t>
                      </a:r>
                    </a:p>
                  </a:txBody>
                  <a:tcPr marL="101600" marR="101600" marT="38100" marB="38100" anchor="ctr">
                    <a:solidFill>
                      <a:srgbClr val="1A0F5C"/>
                    </a:solidFill>
                  </a:tcPr>
                </a:tc>
              </a:tr>
              <a:tr h="335280">
                <a:tc>
                  <a:txBody>
                    <a:bodyPr/>
                    <a:lstStyle/>
                    <a:p>
                      <a:r>
                        <a:rPr sz="1200" b="0" i="0">
                          <a:solidFill>
                            <a:srgbClr val="1A1440"/>
                          </a:solidFill>
                          <a:latin typeface="Calibri"/>
                        </a:rPr>
                        <a:t>bread, toned milk</a:t>
                      </a:r>
                    </a:p>
                  </a:txBody>
                  <a:tcPr marL="101600" marR="101600" marT="38100" marB="38100" anchor="ctr">
                    <a:solidFill>
                      <a:srgbClr val="FFFFFF"/>
                    </a:solidFill>
                  </a:tcPr>
                </a:tc>
                <a:tc>
                  <a:txBody>
                    <a:bodyPr/>
                    <a:lstStyle/>
                    <a:p>
                      <a:r>
                        <a:rPr sz="1200" b="0" i="0">
                          <a:solidFill>
                            <a:srgbClr val="1A1440"/>
                          </a:solidFill>
                          <a:latin typeface="Calibri"/>
                        </a:rPr>
                        <a:t>0.254</a:t>
                      </a:r>
                    </a:p>
                  </a:txBody>
                  <a:tcPr marL="101600" marR="101600" marT="38100" marB="38100" anchor="ctr">
                    <a:solidFill>
                      <a:srgbClr val="FFFFFF"/>
                    </a:solidFill>
                  </a:tcPr>
                </a:tc>
                <a:tc>
                  <a:txBody>
                    <a:bodyPr/>
                    <a:lstStyle/>
                    <a:p>
                      <a:r>
                        <a:rPr sz="1200" b="0" i="0">
                          <a:solidFill>
                            <a:srgbClr val="1A1440"/>
                          </a:solidFill>
                          <a:latin typeface="Calibri"/>
                        </a:rPr>
                        <a:t>0.74</a:t>
                      </a:r>
                    </a:p>
                  </a:txBody>
                  <a:tcPr marL="101600" marR="101600" marT="38100" marB="38100" anchor="ctr">
                    <a:solidFill>
                      <a:srgbClr val="FFFFFF"/>
                    </a:solidFill>
                  </a:tcPr>
                </a:tc>
                <a:tc>
                  <a:txBody>
                    <a:bodyPr/>
                    <a:lstStyle/>
                    <a:p>
                      <a:r>
                        <a:rPr sz="1200" b="0" i="0">
                          <a:solidFill>
                            <a:srgbClr val="1A1440"/>
                          </a:solidFill>
                          <a:latin typeface="Calibri"/>
                        </a:rPr>
                        <a:t>0.36</a:t>
                      </a:r>
                    </a:p>
                  </a:txBody>
                  <a:tcPr marL="101600" marR="101600" marT="38100" marB="38100" anchor="ctr">
                    <a:solidFill>
                      <a:srgbClr val="FFFFFF"/>
                    </a:solidFill>
                  </a:tcPr>
                </a:tc>
                <a:tc>
                  <a:txBody>
                    <a:bodyPr/>
                    <a:lstStyle/>
                    <a:p>
                      <a:r>
                        <a:rPr sz="1200" b="0" i="0">
                          <a:solidFill>
                            <a:srgbClr val="1A1440"/>
                          </a:solidFill>
                          <a:latin typeface="Calibri"/>
                        </a:rPr>
                        <a:t>1.04</a:t>
                      </a:r>
                    </a:p>
                  </a:txBody>
                  <a:tcPr marL="101600" marR="101600" marT="38100" marB="38100" anchor="ctr">
                    <a:solidFill>
                      <a:srgbClr val="FFFFFF"/>
                    </a:solidFill>
                  </a:tcPr>
                </a:tc>
              </a:tr>
              <a:tr h="335280">
                <a:tc>
                  <a:txBody>
                    <a:bodyPr/>
                    <a:lstStyle/>
                    <a:p>
                      <a:r>
                        <a:rPr sz="1200" b="0" i="0">
                          <a:solidFill>
                            <a:srgbClr val="1A1440"/>
                          </a:solidFill>
                          <a:latin typeface="Calibri"/>
                        </a:rPr>
                        <a:t>eggs, toned milk</a:t>
                      </a:r>
                    </a:p>
                  </a:txBody>
                  <a:tcPr marL="101600" marR="101600" marT="38100" marB="38100" anchor="ctr">
                    <a:solidFill>
                      <a:srgbClr val="F4F2FA"/>
                    </a:solidFill>
                  </a:tcPr>
                </a:tc>
                <a:tc>
                  <a:txBody>
                    <a:bodyPr/>
                    <a:lstStyle/>
                    <a:p>
                      <a:r>
                        <a:rPr sz="1200" b="0" i="0">
                          <a:solidFill>
                            <a:srgbClr val="1A1440"/>
                          </a:solidFill>
                          <a:latin typeface="Calibri"/>
                        </a:rPr>
                        <a:t>0.211</a:t>
                      </a:r>
                    </a:p>
                  </a:txBody>
                  <a:tcPr marL="101600" marR="101600" marT="38100" marB="38100" anchor="ctr">
                    <a:solidFill>
                      <a:srgbClr val="F4F2FA"/>
                    </a:solidFill>
                  </a:tcPr>
                </a:tc>
                <a:tc>
                  <a:txBody>
                    <a:bodyPr/>
                    <a:lstStyle/>
                    <a:p>
                      <a:r>
                        <a:rPr sz="1200" b="0" i="0">
                          <a:solidFill>
                            <a:srgbClr val="1A1440"/>
                          </a:solidFill>
                          <a:latin typeface="Calibri"/>
                        </a:rPr>
                        <a:t>0.73</a:t>
                      </a:r>
                    </a:p>
                  </a:txBody>
                  <a:tcPr marL="101600" marR="101600" marT="38100" marB="38100" anchor="ctr">
                    <a:solidFill>
                      <a:srgbClr val="F4F2FA"/>
                    </a:solidFill>
                  </a:tcPr>
                </a:tc>
                <a:tc>
                  <a:txBody>
                    <a:bodyPr/>
                    <a:lstStyle/>
                    <a:p>
                      <a:r>
                        <a:rPr sz="1200" b="0" i="0">
                          <a:solidFill>
                            <a:srgbClr val="1A1440"/>
                          </a:solidFill>
                          <a:latin typeface="Calibri"/>
                        </a:rPr>
                        <a:t>0.30</a:t>
                      </a:r>
                    </a:p>
                  </a:txBody>
                  <a:tcPr marL="101600" marR="101600" marT="38100" marB="38100" anchor="ctr">
                    <a:solidFill>
                      <a:srgbClr val="F4F2FA"/>
                    </a:solidFill>
                  </a:tcPr>
                </a:tc>
                <a:tc>
                  <a:txBody>
                    <a:bodyPr/>
                    <a:lstStyle/>
                    <a:p>
                      <a:r>
                        <a:rPr sz="1200" b="0" i="0">
                          <a:solidFill>
                            <a:srgbClr val="1A1440"/>
                          </a:solidFill>
                          <a:latin typeface="Calibri"/>
                        </a:rPr>
                        <a:t>1.03</a:t>
                      </a:r>
                    </a:p>
                  </a:txBody>
                  <a:tcPr marL="101600" marR="101600" marT="38100" marB="38100" anchor="ctr">
                    <a:solidFill>
                      <a:srgbClr val="F4F2FA"/>
                    </a:solidFill>
                  </a:tcPr>
                </a:tc>
              </a:tr>
              <a:tr h="335280">
                <a:tc>
                  <a:txBody>
                    <a:bodyPr/>
                    <a:lstStyle/>
                    <a:p>
                      <a:r>
                        <a:rPr sz="1200" b="0" i="0">
                          <a:solidFill>
                            <a:srgbClr val="1A1440"/>
                          </a:solidFill>
                          <a:latin typeface="Calibri"/>
                        </a:rPr>
                        <a:t>chips, cold drink</a:t>
                      </a:r>
                    </a:p>
                  </a:txBody>
                  <a:tcPr marL="101600" marR="101600" marT="38100" marB="38100" anchor="ctr">
                    <a:solidFill>
                      <a:srgbClr val="FFFFFF"/>
                    </a:solidFill>
                  </a:tcPr>
                </a:tc>
                <a:tc>
                  <a:txBody>
                    <a:bodyPr/>
                    <a:lstStyle/>
                    <a:p>
                      <a:r>
                        <a:rPr sz="1200" b="0" i="0">
                          <a:solidFill>
                            <a:srgbClr val="1A1440"/>
                          </a:solidFill>
                          <a:latin typeface="Calibri"/>
                        </a:rPr>
                        <a:t>0.050</a:t>
                      </a:r>
                    </a:p>
                  </a:txBody>
                  <a:tcPr marL="101600" marR="101600" marT="38100" marB="38100" anchor="ctr">
                    <a:solidFill>
                      <a:srgbClr val="FFFFFF"/>
                    </a:solidFill>
                  </a:tcPr>
                </a:tc>
                <a:tc>
                  <a:txBody>
                    <a:bodyPr/>
                    <a:lstStyle/>
                    <a:p>
                      <a:r>
                        <a:rPr sz="1200" b="0" i="0">
                          <a:solidFill>
                            <a:srgbClr val="1A1440"/>
                          </a:solidFill>
                          <a:latin typeface="Calibri"/>
                        </a:rPr>
                        <a:t>0.42</a:t>
                      </a:r>
                    </a:p>
                  </a:txBody>
                  <a:tcPr marL="101600" marR="101600" marT="38100" marB="38100" anchor="ctr">
                    <a:solidFill>
                      <a:srgbClr val="FFFFFF"/>
                    </a:solidFill>
                  </a:tcPr>
                </a:tc>
                <a:tc>
                  <a:txBody>
                    <a:bodyPr/>
                    <a:lstStyle/>
                    <a:p>
                      <a:r>
                        <a:rPr sz="1200" b="0" i="0">
                          <a:solidFill>
                            <a:srgbClr val="1A1440"/>
                          </a:solidFill>
                          <a:latin typeface="Calibri"/>
                        </a:rPr>
                        <a:t>0.41</a:t>
                      </a:r>
                    </a:p>
                  </a:txBody>
                  <a:tcPr marL="101600" marR="101600" marT="38100" marB="38100" anchor="ctr">
                    <a:solidFill>
                      <a:srgbClr val="FFFFFF"/>
                    </a:solidFill>
                  </a:tcPr>
                </a:tc>
                <a:tc>
                  <a:txBody>
                    <a:bodyPr/>
                    <a:lstStyle/>
                    <a:p>
                      <a:r>
                        <a:rPr sz="1200" b="0" i="0">
                          <a:solidFill>
                            <a:srgbClr val="1A1440"/>
                          </a:solidFill>
                          <a:latin typeface="Calibri"/>
                        </a:rPr>
                        <a:t>3.32</a:t>
                      </a:r>
                    </a:p>
                  </a:txBody>
                  <a:tcPr marL="101600" marR="101600" marT="38100" marB="38100" anchor="ctr">
                    <a:solidFill>
                      <a:srgbClr val="FFFFFF"/>
                    </a:solidFill>
                  </a:tcPr>
                </a:tc>
              </a:tr>
              <a:tr h="335280">
                <a:tc>
                  <a:txBody>
                    <a:bodyPr/>
                    <a:lstStyle/>
                    <a:p>
                      <a:r>
                        <a:rPr sz="1200" b="0" i="0">
                          <a:solidFill>
                            <a:srgbClr val="1A1440"/>
                          </a:solidFill>
                          <a:latin typeface="Calibri"/>
                        </a:rPr>
                        <a:t>ice cream, chocolate sauce</a:t>
                      </a:r>
                    </a:p>
                  </a:txBody>
                  <a:tcPr marL="101600" marR="101600" marT="38100" marB="38100" anchor="ctr">
                    <a:solidFill>
                      <a:srgbClr val="F4F2FA"/>
                    </a:solidFill>
                  </a:tcPr>
                </a:tc>
                <a:tc>
                  <a:txBody>
                    <a:bodyPr/>
                    <a:lstStyle/>
                    <a:p>
                      <a:r>
                        <a:rPr sz="1200" b="0" i="0">
                          <a:solidFill>
                            <a:srgbClr val="1A1440"/>
                          </a:solidFill>
                          <a:latin typeface="Calibri"/>
                        </a:rPr>
                        <a:t>0.0026</a:t>
                      </a:r>
                    </a:p>
                  </a:txBody>
                  <a:tcPr marL="101600" marR="101600" marT="38100" marB="38100" anchor="ctr">
                    <a:solidFill>
                      <a:srgbClr val="F4F2FA"/>
                    </a:solidFill>
                  </a:tcPr>
                </a:tc>
                <a:tc>
                  <a:txBody>
                    <a:bodyPr/>
                    <a:lstStyle/>
                    <a:p>
                      <a:r>
                        <a:rPr sz="1200" b="0" i="0">
                          <a:solidFill>
                            <a:srgbClr val="1A1440"/>
                          </a:solidFill>
                          <a:latin typeface="Calibri"/>
                        </a:rPr>
                        <a:t>0.07</a:t>
                      </a:r>
                    </a:p>
                  </a:txBody>
                  <a:tcPr marL="101600" marR="101600" marT="38100" marB="38100" anchor="ctr">
                    <a:solidFill>
                      <a:srgbClr val="F4F2FA"/>
                    </a:solidFill>
                  </a:tcPr>
                </a:tc>
                <a:tc>
                  <a:txBody>
                    <a:bodyPr/>
                    <a:lstStyle/>
                    <a:p>
                      <a:r>
                        <a:rPr sz="1200" b="0" i="0">
                          <a:solidFill>
                            <a:srgbClr val="1A1440"/>
                          </a:solidFill>
                          <a:latin typeface="Calibri"/>
                        </a:rPr>
                        <a:t>0.18</a:t>
                      </a:r>
                    </a:p>
                  </a:txBody>
                  <a:tcPr marL="101600" marR="101600" marT="38100" marB="38100" anchor="ctr">
                    <a:solidFill>
                      <a:srgbClr val="F4F2FA"/>
                    </a:solidFill>
                  </a:tcPr>
                </a:tc>
                <a:tc>
                  <a:txBody>
                    <a:bodyPr/>
                    <a:lstStyle/>
                    <a:p>
                      <a:r>
                        <a:rPr sz="1200" b="0" i="0">
                          <a:solidFill>
                            <a:srgbClr val="1A1440"/>
                          </a:solidFill>
                          <a:latin typeface="Calibri"/>
                        </a:rPr>
                        <a:t>4.47</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goes together, beyond chance?</a:t>
            </a:r>
          </a:p>
        </p:txBody>
      </p:sp>
      <p:sp>
        <p:nvSpPr>
          <p:cNvPr id="12" name="Oval 11"/>
          <p:cNvSpPr/>
          <p:nvPr/>
        </p:nvSpPr>
        <p:spPr>
          <a:xfrm>
            <a:off x="25700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679763"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What do the three numbers say on all 40,000 carts?</a:t>
            </a:r>
          </a:p>
        </p:txBody>
      </p:sp>
      <p:sp>
        <p:nvSpPr>
          <p:cNvPr id="14" name="Oval 13"/>
          <p:cNvSpPr/>
          <p:nvPr/>
        </p:nvSpPr>
        <p:spPr>
          <a:xfrm>
            <a:off x="49657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075491"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three pairs fill the strip, and what is a slot worth?</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29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what is a popular item's lift to milk?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For items in at least 2 percent of carts, what does their lift to milk look like?</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trending-up_0f9f0788148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OPTION 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Rising with popularity</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more popular an item, the higher its lift to milk.</a:t>
            </a:r>
          </a:p>
        </p:txBody>
      </p:sp>
      <p:sp>
        <p:nvSpPr>
          <p:cNvPr id="15" name="Rounded Rectangle 14"/>
          <p:cNvSpPr/>
          <p:nvPr/>
        </p:nvSpPr>
        <p:spPr>
          <a:xfrm>
            <a:off x="3358819" y="1956816"/>
            <a:ext cx="2645587"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equal_ee1bed44c225.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OPTION 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FFFFFF"/>
                </a:solidFill>
                <a:latin typeface="Calibri"/>
              </a:rPr>
              <a:t>All near 1</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CFC9EE"/>
                </a:solidFill>
                <a:latin typeface="Calibri"/>
              </a:rPr>
              <a:t>Lift sits near one for all of them.</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ending-down_69bb86911a18.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OPTION 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Falling with popularity</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Common items pair less with milk than rare items.</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shuffle_1f5f2f56d507.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OPTION 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Scattered</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Each pair goes its own way.</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goes together, beyond chance?</a:t>
            </a:r>
          </a:p>
        </p:txBody>
      </p:sp>
      <p:sp>
        <p:nvSpPr>
          <p:cNvPr id="35" name="Oval 34"/>
          <p:cNvSpPr/>
          <p:nvPr/>
        </p:nvSpPr>
        <p:spPr>
          <a:xfrm>
            <a:off x="25700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679763"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What do the three numbers say on all 40,000 carts?</a:t>
            </a:r>
          </a:p>
        </p:txBody>
      </p:sp>
      <p:sp>
        <p:nvSpPr>
          <p:cNvPr id="37" name="Oval 36"/>
          <p:cNvSpPr/>
          <p:nvPr/>
        </p:nvSpPr>
        <p:spPr>
          <a:xfrm>
            <a:off x="49657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75491"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three pairs fill the strip, and what is a slot worth?</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16 / 29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lift says independence for every popular pair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chart say when read against the dashed lines?</a:t>
            </a:r>
          </a:p>
        </p:txBody>
      </p:sp>
      <p:pic>
        <p:nvPicPr>
          <p:cNvPr id="9" name="mermaid diagram" descr="C2_W04_D03_milk_everywhere_STUDENT.png"/>
          <p:cNvPicPr>
            <a:picLocks noChangeAspect="1"/>
          </p:cNvPicPr>
          <p:nvPr/>
        </p:nvPicPr>
        <p:blipFill>
          <a:blip r:embed="rId4"/>
          <a:stretch>
            <a:fillRect/>
          </a:stretch>
        </p:blipFill>
        <p:spPr>
          <a:xfrm>
            <a:off x="2415951" y="1664208"/>
            <a:ext cx="7359792" cy="3630168"/>
          </a:xfrm>
          <a:prstGeom prst="rect">
            <a:avLst/>
          </a:prstGeom>
        </p:spPr>
      </p:pic>
      <p:sp>
        <p:nvSpPr>
          <p:cNvPr id="10" name="picture caption"/>
          <p:cNvSpPr txBox="1"/>
          <p:nvPr/>
        </p:nvSpPr>
        <p:spPr>
          <a:xfrm>
            <a:off x="530352" y="5330952"/>
            <a:ext cx="11130991" cy="316992"/>
          </a:xfrm>
          <a:prstGeom prst="rect">
            <a:avLst/>
          </a:prstGeom>
          <a:noFill/>
        </p:spPr>
        <p:txBody>
          <a:bodyPr wrap="square" anchor="t" lIns="0" rIns="0" tIns="0" bIns="0">
            <a:spAutoFit/>
          </a:bodyPr>
          <a:lstStyle/>
          <a:p>
            <a:pPr algn="ctr"/>
            <a:r>
              <a:rPr sz="1200" b="0" i="0">
                <a:solidFill>
                  <a:srgbClr val="6B6690"/>
                </a:solidFill>
                <a:latin typeface="Calibri"/>
              </a:rPr>
              <a:t>Confidence to milk against lift, with the base rate of milk at 0.71 and the line of independence at 1.0</a:t>
            </a:r>
          </a:p>
        </p:txBody>
      </p:sp>
      <p:sp>
        <p:nvSpPr>
          <p:cNvPr id="11" name="TextBox 10"/>
          <p:cNvSpPr txBox="1"/>
          <p:nvPr/>
        </p:nvSpPr>
        <p:spPr>
          <a:xfrm>
            <a:off x="530352" y="5657088"/>
            <a:ext cx="11130991" cy="542544"/>
          </a:xfrm>
          <a:prstGeom prst="rect">
            <a:avLst/>
          </a:prstGeom>
          <a:noFill/>
        </p:spPr>
        <p:txBody>
          <a:bodyPr wrap="square" anchor="t" lIns="0" rIns="0" tIns="0" bIns="0">
            <a:spAutoFit/>
          </a:bodyPr>
          <a:lstStyle/>
          <a:p>
            <a:r>
              <a:rPr sz="1200" b="0" i="0">
                <a:solidFill>
                  <a:srgbClr val="1A1440"/>
                </a:solidFill>
                <a:latin typeface="Calibri"/>
              </a:rPr>
              <a:t>Every popular item sits at a confidence to milk of around 0.72. That is because milk sits in 0.71 of carts; most carts have milk, so most carts of X have milk too. Lift divides the 0.72 by milk's 0.71 and lands near one for every pair, which is independence.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goes together, beyond chance?</a:t>
            </a:r>
          </a:p>
        </p:txBody>
      </p:sp>
      <p:sp>
        <p:nvSpPr>
          <p:cNvPr id="14" name="Oval 13"/>
          <p:cNvSpPr/>
          <p:nvPr/>
        </p:nvSpPr>
        <p:spPr>
          <a:xfrm>
            <a:off x="25700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679763"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What do the three numbers say on all 40,000 carts?</a:t>
            </a:r>
          </a:p>
        </p:txBody>
      </p:sp>
      <p:sp>
        <p:nvSpPr>
          <p:cNvPr id="16" name="Oval 15"/>
          <p:cNvSpPr/>
          <p:nvPr/>
        </p:nvSpPr>
        <p:spPr>
          <a:xfrm>
            <a:off x="49657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075491"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three pairs fill the strip, and what is a slot worth?</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29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Amazon's first recommender met the same trap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has this trap bitten a real recommender?</a:t>
            </a:r>
          </a:p>
        </p:txBody>
      </p:sp>
      <p:sp>
        <p:nvSpPr>
          <p:cNvPr id="9" name="TextBox 8"/>
          <p:cNvSpPr txBox="1"/>
          <p:nvPr/>
        </p:nvSpPr>
        <p:spPr>
          <a:xfrm>
            <a:off x="530352" y="1956816"/>
            <a:ext cx="11130991"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Amazon's early recommender counted how often buyers of A also bought B. Harry Potter was in every basket, so Harry Potter was the top recommendation beside everything. The fix was to compare with what independence would predict, which is lift in spirit; years later Amazon had to measure the base rate per purchase rather than per customer, since heavy buyers inflate everything, which the chapter's L4 picks up as the heavy-tenth caveat.</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goes together, beyond chance?</a:t>
            </a:r>
          </a:p>
        </p:txBody>
      </p:sp>
      <p:sp>
        <p:nvSpPr>
          <p:cNvPr id="12" name="Oval 11"/>
          <p:cNvSpPr/>
          <p:nvPr/>
        </p:nvSpPr>
        <p:spPr>
          <a:xfrm>
            <a:off x="25700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679763"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What do the three numbers say on all 40,000 carts?</a:t>
            </a:r>
          </a:p>
        </p:txBody>
      </p:sp>
      <p:sp>
        <p:nvSpPr>
          <p:cNvPr id="14" name="Oval 13"/>
          <p:cNvSpPr/>
          <p:nvPr/>
        </p:nvSpPr>
        <p:spPr>
          <a:xfrm>
            <a:off x="49657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075491"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three pairs fill the strip, and what is a slot worth?</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18 / 29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why did the click-through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explanation is the one the data supports?</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triangle-alert_5ac49fc6ab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OPTION 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Shoppers changed habits</a:t>
            </a:r>
          </a:p>
        </p:txBody>
      </p:sp>
      <p:sp>
        <p:nvSpPr>
          <p:cNvPr id="14" name="TextBox 13"/>
          <p:cNvSpPr txBox="1"/>
          <p:nvPr/>
        </p:nvSpPr>
        <p:spPr>
          <a:xfrm>
            <a:off x="731519"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After the monsoon, carts shifted and the strip's old pairs no longer fit.</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riangle-alert_5ac49fc6abbb.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OPTION B</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The strip needs a redesign</a:t>
            </a:r>
          </a:p>
        </p:txBody>
      </p:sp>
      <p:sp>
        <p:nvSpPr>
          <p:cNvPr id="20" name="TextBox 19"/>
          <p:cNvSpPr txBox="1"/>
          <p:nvPr/>
        </p:nvSpPr>
        <p:spPr>
          <a:xfrm>
            <a:off x="3559987"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slots are not visible enough on mobile.</a:t>
            </a:r>
          </a:p>
        </p:txBody>
      </p:sp>
      <p:sp>
        <p:nvSpPr>
          <p:cNvPr id="21" name="Rounded Rectangle 20"/>
          <p:cNvSpPr/>
          <p:nvPr/>
        </p:nvSpPr>
        <p:spPr>
          <a:xfrm>
            <a:off x="6187287" y="1956816"/>
            <a:ext cx="2645587" cy="219557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heck_adac4adaf554.png"/>
          <p:cNvPicPr>
            <a:picLocks noChangeAspect="1"/>
          </p:cNvPicPr>
          <p:nvPr/>
        </p:nvPicPr>
        <p:blipFill>
          <a:blip r:embed="rId5"/>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OPTION 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FFFFFF"/>
                </a:solidFill>
                <a:latin typeface="Calibri"/>
              </a:rPr>
              <a:t>Milk slots click poorly</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CFC9EE"/>
                </a:solidFill>
                <a:latin typeface="Calibri"/>
              </a:rPr>
              <a:t>Milk now fills half the slots and clicks at 1.2 percent.</a:t>
            </a:r>
          </a:p>
        </p:txBody>
      </p:sp>
      <p:sp>
        <p:nvSpPr>
          <p:cNvPr id="27" name="Rounded Rectangle 26"/>
          <p:cNvSpPr/>
          <p:nvPr/>
        </p:nvSpPr>
        <p:spPr>
          <a:xfrm>
            <a:off x="9015755"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triangle-alert_5ac49fc6abbb.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OPTION D</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Fewer impressions in September</a:t>
            </a:r>
          </a:p>
        </p:txBody>
      </p:sp>
      <p:sp>
        <p:nvSpPr>
          <p:cNvPr id="32" name="TextBox 31"/>
          <p:cNvSpPr txBox="1"/>
          <p:nvPr/>
        </p:nvSpPr>
        <p:spPr>
          <a:xfrm>
            <a:off x="9216923"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denominator fell, so the ratio fell.</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goes together, beyond chance?</a:t>
            </a:r>
          </a:p>
        </p:txBody>
      </p:sp>
      <p:sp>
        <p:nvSpPr>
          <p:cNvPr id="35" name="Oval 34"/>
          <p:cNvSpPr/>
          <p:nvPr/>
        </p:nvSpPr>
        <p:spPr>
          <a:xfrm>
            <a:off x="25700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679763"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What do the three numbers say on all 40,000 carts?</a:t>
            </a:r>
          </a:p>
        </p:txBody>
      </p:sp>
      <p:sp>
        <p:nvSpPr>
          <p:cNvPr id="37" name="Oval 36"/>
          <p:cNvSpPr/>
          <p:nvPr/>
        </p:nvSpPr>
        <p:spPr>
          <a:xfrm>
            <a:off x="49657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75491"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three pairs fill the strip, and what is a slot worth?</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29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milk slots click at 1.2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split by suggested item say about the blended CTR?</a:t>
            </a:r>
          </a:p>
        </p:txBody>
      </p:sp>
      <p:pic>
        <p:nvPicPr>
          <p:cNvPr id="9" name="mermaid diagram" descr="C2_W04_D03_ctr_by_slot_STUDENT.png"/>
          <p:cNvPicPr>
            <a:picLocks noChangeAspect="1"/>
          </p:cNvPicPr>
          <p:nvPr/>
        </p:nvPicPr>
        <p:blipFill>
          <a:blip r:embed="rId4"/>
          <a:stretch>
            <a:fillRect/>
          </a:stretch>
        </p:blipFill>
        <p:spPr>
          <a:xfrm>
            <a:off x="3119329" y="1664208"/>
            <a:ext cx="5953036" cy="3267456"/>
          </a:xfrm>
          <a:prstGeom prst="rect">
            <a:avLst/>
          </a:prstGeom>
        </p:spPr>
      </p:pic>
      <p:sp>
        <p:nvSpPr>
          <p:cNvPr id="10" name="picture caption"/>
          <p:cNvSpPr txBox="1"/>
          <p:nvPr/>
        </p:nvSpPr>
        <p:spPr>
          <a:xfrm>
            <a:off x="530352" y="4968240"/>
            <a:ext cx="11130991" cy="524256"/>
          </a:xfrm>
          <a:prstGeom prst="rect">
            <a:avLst/>
          </a:prstGeom>
          <a:noFill/>
        </p:spPr>
        <p:txBody>
          <a:bodyPr wrap="square" anchor="t" lIns="0" rIns="0" tIns="0" bIns="0">
            <a:spAutoFit/>
          </a:bodyPr>
          <a:lstStyle/>
          <a:p>
            <a:pPr algn="ctr"/>
            <a:r>
              <a:rPr sz="1200" b="0" i="0">
                <a:solidFill>
                  <a:srgbClr val="6B6690"/>
                </a:solidFill>
                <a:latin typeface="Calibri"/>
              </a:rPr>
              <a:t>Click-through by slot: before change 6.1 percent across the strip; after change 1.2 percent for milk slots, 6.4 percent for every other suggestion, 3.8 percent blended</a:t>
            </a:r>
          </a:p>
        </p:txBody>
      </p:sp>
      <p:sp>
        <p:nvSpPr>
          <p:cNvPr id="11" name="TextBox 10"/>
          <p:cNvSpPr txBox="1"/>
          <p:nvPr/>
        </p:nvSpPr>
        <p:spPr>
          <a:xfrm>
            <a:off x="530352" y="5501640"/>
            <a:ext cx="11130991" cy="697992"/>
          </a:xfrm>
          <a:prstGeom prst="rect">
            <a:avLst/>
          </a:prstGeom>
          <a:noFill/>
        </p:spPr>
        <p:txBody>
          <a:bodyPr wrap="square" anchor="t" lIns="0" rIns="0" tIns="0" bIns="0">
            <a:spAutoFit/>
          </a:bodyPr>
          <a:lstStyle/>
          <a:p>
            <a:r>
              <a:rPr sz="1100" b="0" i="0">
                <a:solidFill>
                  <a:srgbClr val="1A1440"/>
                </a:solidFill>
                <a:latin typeface="Calibri"/>
              </a:rPr>
              <a:t>After the change, milk fills half the slots and clicks at 1.2 percent; every other suggestion clicks at 6.4 percent. Half times 1.2 plus half times 6.4 is 3.8 percent, which is the blended CTR. The number did not fall because shoppers changed; it fell because milk fills slots that no one needs reminding to add.</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goes together, beyond chance?</a:t>
            </a:r>
          </a:p>
        </p:txBody>
      </p:sp>
      <p:sp>
        <p:nvSpPr>
          <p:cNvPr id="14" name="Oval 13"/>
          <p:cNvSpPr/>
          <p:nvPr/>
        </p:nvSpPr>
        <p:spPr>
          <a:xfrm>
            <a:off x="25700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679763"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What do the three numbers say on all 40,000 carts?</a:t>
            </a:r>
          </a:p>
        </p:txBody>
      </p:sp>
      <p:sp>
        <p:nvSpPr>
          <p:cNvPr id="16" name="Oval 15"/>
          <p:cNvSpPr/>
          <p:nvPr/>
        </p:nvSpPr>
        <p:spPr>
          <a:xfrm>
            <a:off x="49657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075491"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three pairs fill the strip, and what is a slot worth?</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29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Confidence shrinks the universe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confidence throw away compared to lift?</a:t>
            </a:r>
          </a:p>
        </p:txBody>
      </p:sp>
      <p:pic>
        <p:nvPicPr>
          <p:cNvPr id="9" name="mermaid diagram" descr="C2_W04_D03_shrink_still_last_STUDENT.png"/>
          <p:cNvPicPr>
            <a:picLocks noChangeAspect="1"/>
          </p:cNvPicPr>
          <p:nvPr/>
        </p:nvPicPr>
        <p:blipFill>
          <a:blip r:embed="rId4"/>
          <a:stretch>
            <a:fillRect/>
          </a:stretch>
        </p:blipFill>
        <p:spPr>
          <a:xfrm>
            <a:off x="563650" y="1682496"/>
            <a:ext cx="4719729" cy="3785616"/>
          </a:xfrm>
          <a:prstGeom prst="rect">
            <a:avLst/>
          </a:prstGeom>
        </p:spPr>
      </p:pic>
      <p:sp>
        <p:nvSpPr>
          <p:cNvPr id="10" name="picture caption"/>
          <p:cNvSpPr txBox="1"/>
          <p:nvPr/>
        </p:nvSpPr>
        <p:spPr>
          <a:xfrm>
            <a:off x="530352" y="5504688"/>
            <a:ext cx="4786326" cy="731520"/>
          </a:xfrm>
          <a:prstGeom prst="rect">
            <a:avLst/>
          </a:prstGeom>
          <a:noFill/>
        </p:spPr>
        <p:txBody>
          <a:bodyPr wrap="square" anchor="t" lIns="0" rIns="0" tIns="0" bIns="0">
            <a:spAutoFit/>
          </a:bodyPr>
          <a:lstStyle/>
          <a:p>
            <a:pPr algn="ctr"/>
            <a:r>
              <a:rPr sz="1200" b="0" i="0">
                <a:solidFill>
                  <a:srgbClr val="6B6690"/>
                </a:solidFill>
                <a:latin typeface="Calibri"/>
              </a:rPr>
              <a:t>The twelve carts; first panel shows all 12, second shows only the 4 that hold bread, third shows the 4 that hold bread and milk</a:t>
            </a:r>
          </a:p>
        </p:txBody>
      </p:sp>
      <p:sp>
        <p:nvSpPr>
          <p:cNvPr id="11" name="TextBox 10"/>
          <p:cNvSpPr txBox="1"/>
          <p:nvPr/>
        </p:nvSpPr>
        <p:spPr>
          <a:xfrm>
            <a:off x="5761917" y="1956816"/>
            <a:ext cx="5899425" cy="187756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Confidence shrinks the world to the carts that hold A, then counts B inside them. The twelve carts drop to the four bread carts, and inside those four, all four hold milk. Confidence reads 1.00 because the shrinking is one-sided; it does not compare the inside with the outside. Lift does.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goes together, beyond chance?</a:t>
            </a:r>
          </a:p>
        </p:txBody>
      </p:sp>
      <p:sp>
        <p:nvSpPr>
          <p:cNvPr id="14" name="Oval 13"/>
          <p:cNvSpPr/>
          <p:nvPr/>
        </p:nvSpPr>
        <p:spPr>
          <a:xfrm>
            <a:off x="25700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679763"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What do the three numbers say on all 40,000 carts?</a:t>
            </a:r>
          </a:p>
        </p:txBody>
      </p:sp>
      <p:sp>
        <p:nvSpPr>
          <p:cNvPr id="16" name="Oval 15"/>
          <p:cNvSpPr/>
          <p:nvPr/>
        </p:nvSpPr>
        <p:spPr>
          <a:xfrm>
            <a:off x="49657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075491"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three pairs fill the strip, and what is a slot worth?</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29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2 close: lift is the popularity-safe measure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L2 and L3 leave the room with?</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SUPPORT</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How often</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The share of carts that hold both items; the pair's weight.</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CONFIDENCE</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How reliably</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Inside the carts of A, how many also hold B; shrinks the world to A.</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LIFT</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Against chance</a:t>
            </a:r>
          </a:p>
        </p:txBody>
      </p:sp>
      <p:sp>
        <p:nvSpPr>
          <p:cNvPr id="24" name="TextBox 23"/>
          <p:cNvSpPr txBox="1"/>
          <p:nvPr/>
        </p:nvSpPr>
        <p:spPr>
          <a:xfrm>
            <a:off x="6351879"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Observed share divided by expected share; cannot be fooled by a popular partner.</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BLEND TRAP</a:t>
            </a:r>
          </a:p>
        </p:txBody>
      </p:sp>
      <p:sp>
        <p:nvSpPr>
          <p:cNvPr id="26" name="Oval 25"/>
          <p:cNvSpPr/>
          <p:nvPr/>
        </p:nvSpPr>
        <p:spPr>
          <a:xfrm>
            <a:off x="1023796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Why the fall</a:t>
            </a:r>
          </a:p>
        </p:txBody>
      </p:sp>
      <p:sp>
        <p:nvSpPr>
          <p:cNvPr id="29" name="TextBox 28"/>
          <p:cNvSpPr txBox="1"/>
          <p:nvPr/>
        </p:nvSpPr>
        <p:spPr>
          <a:xfrm>
            <a:off x="9180347"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1.2 and 6.4 percent in half-and-half slot shares reproduce the 3.8 blend.</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goes together, beyond chance?</a:t>
            </a:r>
          </a:p>
        </p:txBody>
      </p:sp>
      <p:sp>
        <p:nvSpPr>
          <p:cNvPr id="32" name="Oval 31"/>
          <p:cNvSpPr/>
          <p:nvPr/>
        </p:nvSpPr>
        <p:spPr>
          <a:xfrm>
            <a:off x="25700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679763"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What do the three numbers say on all 40,000 carts?</a:t>
            </a:r>
          </a:p>
        </p:txBody>
      </p:sp>
      <p:sp>
        <p:nvSpPr>
          <p:cNvPr id="34" name="Oval 33"/>
          <p:cNvSpPr/>
          <p:nvPr/>
        </p:nvSpPr>
        <p:spPr>
          <a:xfrm>
            <a:off x="49657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075491"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three pairs fill the strip, and what is a slot worth?</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22 / 29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three pairs fill the strip, and what is a slot worth?</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action map, the support floor, and the rupee value.</a:t>
            </a:r>
          </a:p>
        </p:txBody>
      </p:sp>
      <p:sp>
        <p:nvSpPr>
          <p:cNvPr id="10" name="Rounded Rectangle 9"/>
          <p:cNvSpPr/>
          <p:nvPr/>
        </p:nvSpPr>
        <p:spPr>
          <a:xfrm>
            <a:off x="731519"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together, beyond chance?</a:t>
            </a:r>
          </a:p>
        </p:txBody>
      </p:sp>
      <p:sp>
        <p:nvSpPr>
          <p:cNvPr id="11" name="Rounded Rectangle 10"/>
          <p:cNvSpPr/>
          <p:nvPr/>
        </p:nvSpPr>
        <p:spPr>
          <a:xfrm>
            <a:off x="2990088"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the three numbers say on all 40,000 carts?</a:t>
            </a:r>
          </a:p>
        </p:txBody>
      </p:sp>
      <p:sp>
        <p:nvSpPr>
          <p:cNvPr id="12" name="Rounded Rectangle 11"/>
          <p:cNvSpPr/>
          <p:nvPr/>
        </p:nvSpPr>
        <p:spPr>
          <a:xfrm>
            <a:off x="5248656"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three pairs fill the strip, and what is a slot worth?</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The strip that stopped working</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23 / 29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pair on one picture: lift against support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every pair sit, and which four regions matter?</a:t>
            </a:r>
          </a:p>
        </p:txBody>
      </p:sp>
      <p:pic>
        <p:nvPicPr>
          <p:cNvPr id="9" name="mermaid diagram" descr="C2_W04_D03_action_map_STUDENT.png"/>
          <p:cNvPicPr>
            <a:picLocks noChangeAspect="1"/>
          </p:cNvPicPr>
          <p:nvPr/>
        </p:nvPicPr>
        <p:blipFill>
          <a:blip r:embed="rId4"/>
          <a:stretch>
            <a:fillRect/>
          </a:stretch>
        </p:blipFill>
        <p:spPr>
          <a:xfrm>
            <a:off x="3255779" y="1664208"/>
            <a:ext cx="5680135" cy="3664712"/>
          </a:xfrm>
          <a:prstGeom prst="rect">
            <a:avLst/>
          </a:prstGeom>
        </p:spPr>
      </p:pic>
      <p:sp>
        <p:nvSpPr>
          <p:cNvPr id="10" name="picture caption"/>
          <p:cNvSpPr txBox="1"/>
          <p:nvPr/>
        </p:nvSpPr>
        <p:spPr>
          <a:xfrm>
            <a:off x="530352" y="5365496"/>
            <a:ext cx="11130991" cy="316992"/>
          </a:xfrm>
          <a:prstGeom prst="rect">
            <a:avLst/>
          </a:prstGeom>
          <a:noFill/>
        </p:spPr>
        <p:txBody>
          <a:bodyPr wrap="square" anchor="t" lIns="0" rIns="0" tIns="0" bIns="0">
            <a:spAutoFit/>
          </a:bodyPr>
          <a:lstStyle/>
          <a:p>
            <a:pPr algn="ctr"/>
            <a:r>
              <a:rPr sz="1200" b="0" i="0">
                <a:solidFill>
                  <a:srgbClr val="6B6690"/>
                </a:solidFill>
                <a:latin typeface="Calibri"/>
              </a:rPr>
              <a:t>Lift against support, log-scaled, with every pair as a dot and the four regions named: promote, watch, ignore, trap</a:t>
            </a:r>
          </a:p>
        </p:txBody>
      </p:sp>
      <p:sp>
        <p:nvSpPr>
          <p:cNvPr id="11" name="TextBox 10"/>
          <p:cNvSpPr txBox="1"/>
          <p:nvPr/>
        </p:nvSpPr>
        <p:spPr>
          <a:xfrm>
            <a:off x="530352" y="5691632"/>
            <a:ext cx="11130991" cy="507999"/>
          </a:xfrm>
          <a:prstGeom prst="rect">
            <a:avLst/>
          </a:prstGeom>
          <a:noFill/>
        </p:spPr>
        <p:txBody>
          <a:bodyPr wrap="square" anchor="t" lIns="0" rIns="0" tIns="0" bIns="0">
            <a:spAutoFit/>
          </a:bodyPr>
          <a:lstStyle/>
          <a:p>
            <a:r>
              <a:rPr sz="1100" b="0" i="0">
                <a:solidFill>
                  <a:srgbClr val="1A1440"/>
                </a:solidFill>
                <a:latin typeface="Calibri"/>
              </a:rPr>
              <a:t>A pair above the support floor and well above a lift of one goes to the strip; above one but below the floor goes to a watch list; near one is independence; and a cluster at high confidence to a popular partner and lift near one is the trap. The picture lets the room place every pair in one glance.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goes together, beyond chance?</a:t>
            </a:r>
          </a:p>
        </p:txBody>
      </p:sp>
      <p:sp>
        <p:nvSpPr>
          <p:cNvPr id="14" name="Oval 13"/>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679763"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do the three numbers say on all 40,000 carts?</a:t>
            </a:r>
          </a:p>
        </p:txBody>
      </p:sp>
      <p:sp>
        <p:nvSpPr>
          <p:cNvPr id="16" name="Oval 15"/>
          <p:cNvSpPr/>
          <p:nvPr/>
        </p:nvSpPr>
        <p:spPr>
          <a:xfrm>
            <a:off x="49657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075491"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Which three pairs fill the strip, and what is a slot worth?</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24 / 29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1 percent floor keeps a pair above 400 carts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floor sit at 1 percent of carts?</a:t>
            </a:r>
          </a:p>
        </p:txBody>
      </p:sp>
      <p:sp>
        <p:nvSpPr>
          <p:cNvPr id="9" name="TextBox 8"/>
          <p:cNvSpPr txBox="1"/>
          <p:nvPr/>
        </p:nvSpPr>
        <p:spPr>
          <a:xfrm>
            <a:off x="530352" y="1956816"/>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pair below 1 percent of carts sits in fewer than 400 of the 40,000, so its lift is computed on thin ground. Ice cream and chocolate sauce lift 4.47 on 100 carts cannot repay a slot's rent in rupees; it belongs on a watch list that waits for the number to stabilise. The floor is a decision; a different company will set a different one.</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goes together, beyond chance?</a:t>
            </a:r>
          </a:p>
        </p:txBody>
      </p:sp>
      <p:sp>
        <p:nvSpPr>
          <p:cNvPr id="12" name="Oval 11"/>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679763"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do the three numbers say on all 40,000 carts?</a:t>
            </a:r>
          </a:p>
        </p:txBody>
      </p:sp>
      <p:sp>
        <p:nvSpPr>
          <p:cNvPr id="14" name="Oval 13"/>
          <p:cNvSpPr/>
          <p:nvPr/>
        </p:nvSpPr>
        <p:spPr>
          <a:xfrm>
            <a:off x="49657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075491"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Which three pairs fill the strip, and what is a slot worth?</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25 / 29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slot's rupees from four labelled assumptions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four numbers set the slot's value?</a:t>
            </a:r>
          </a:p>
        </p:txBody>
      </p:sp>
      <p:pic>
        <p:nvPicPr>
          <p:cNvPr id="9" name="mermaid diagram" descr="C2_W04_D03_slot_value_cascade_STUDENT.png"/>
          <p:cNvPicPr>
            <a:picLocks noChangeAspect="1"/>
          </p:cNvPicPr>
          <p:nvPr/>
        </p:nvPicPr>
        <p:blipFill>
          <a:blip r:embed="rId4"/>
          <a:stretch>
            <a:fillRect/>
          </a:stretch>
        </p:blipFill>
        <p:spPr>
          <a:xfrm>
            <a:off x="2462910" y="1664208"/>
            <a:ext cx="7265873" cy="3215640"/>
          </a:xfrm>
          <a:prstGeom prst="rect">
            <a:avLst/>
          </a:prstGeom>
        </p:spPr>
      </p:pic>
      <p:sp>
        <p:nvSpPr>
          <p:cNvPr id="10" name="picture caption"/>
          <p:cNvSpPr txBox="1"/>
          <p:nvPr/>
        </p:nvSpPr>
        <p:spPr>
          <a:xfrm>
            <a:off x="530352" y="4916424"/>
            <a:ext cx="11130991" cy="524256"/>
          </a:xfrm>
          <a:prstGeom prst="rect">
            <a:avLst/>
          </a:prstGeom>
          <a:noFill/>
        </p:spPr>
        <p:txBody>
          <a:bodyPr wrap="square" anchor="t" lIns="0" rIns="0" tIns="0" bIns="0">
            <a:spAutoFit/>
          </a:bodyPr>
          <a:lstStyle/>
          <a:p>
            <a:pPr algn="ctr"/>
            <a:r>
              <a:rPr sz="1200" b="0" i="0">
                <a:solidFill>
                  <a:srgbClr val="6B6690"/>
                </a:solidFill>
                <a:latin typeface="Calibri"/>
              </a:rPr>
              <a:t>A cascade of four blocks: 60,000 views a day times click-through times 0.5 add rate times Rs 9 margin per add, giving the day's rupees; a Rs 14,040 gap per slot per day, Rs 12.6 lakh across three slots a month</a:t>
            </a:r>
          </a:p>
        </p:txBody>
      </p:sp>
      <p:sp>
        <p:nvSpPr>
          <p:cNvPr id="11" name="TextBox 10"/>
          <p:cNvSpPr txBox="1"/>
          <p:nvPr/>
        </p:nvSpPr>
        <p:spPr>
          <a:xfrm>
            <a:off x="530352" y="5449824"/>
            <a:ext cx="11130991" cy="749808"/>
          </a:xfrm>
          <a:prstGeom prst="rect">
            <a:avLst/>
          </a:prstGeom>
          <a:noFill/>
        </p:spPr>
        <p:txBody>
          <a:bodyPr wrap="square" anchor="t" lIns="0" rIns="0" tIns="0" bIns="0">
            <a:spAutoFit/>
          </a:bodyPr>
          <a:lstStyle/>
          <a:p>
            <a:r>
              <a:rPr sz="1200" b="0" i="0">
                <a:solidFill>
                  <a:srgbClr val="1A1440"/>
                </a:solidFill>
                <a:latin typeface="Calibri"/>
              </a:rPr>
              <a:t>60,000 cart-page views a day in Pune, half of each click becomes an add, Rs 9 margin per add. A slot with milk suggestions clicks at 1.2 percent and earns Rs 3,240 a day; a slot with a chance-beating pair clicks at 6.4 percent and earns Rs 17,280. The gap is Rs 14,040 a day per slot, or Rs 12.6 lakh over three slots over 30 days. Every assumption is labelled with its range on the notebook.</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goes together, beyond chance?</a:t>
            </a:r>
          </a:p>
        </p:txBody>
      </p:sp>
      <p:sp>
        <p:nvSpPr>
          <p:cNvPr id="14" name="Oval 13"/>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679763"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do the three numbers say on all 40,000 carts?</a:t>
            </a:r>
          </a:p>
        </p:txBody>
      </p:sp>
      <p:sp>
        <p:nvSpPr>
          <p:cNvPr id="16" name="Oval 15"/>
          <p:cNvSpPr/>
          <p:nvPr/>
        </p:nvSpPr>
        <p:spPr>
          <a:xfrm>
            <a:off x="49657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075491"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Which three pairs fill the strip, and what is a slot worth?</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26 / 29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heavy tenth: 10% place 38% of carts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recomputing per customer rather than per cart change the picture?</a:t>
            </a:r>
          </a:p>
        </p:txBody>
      </p:sp>
      <p:pic>
        <p:nvPicPr>
          <p:cNvPr id="9" name="mermaid diagram" descr="490046847c2796eb.png"/>
          <p:cNvPicPr>
            <a:picLocks noChangeAspect="1"/>
          </p:cNvPicPr>
          <p:nvPr/>
        </p:nvPicPr>
        <p:blipFill>
          <a:blip r:embed="rId5"/>
          <a:stretch>
            <a:fillRect/>
          </a:stretch>
        </p:blipFill>
        <p:spPr>
          <a:xfrm>
            <a:off x="2152497" y="1956816"/>
            <a:ext cx="7886700" cy="1857375"/>
          </a:xfrm>
          <a:prstGeom prst="rect">
            <a:avLst/>
          </a:prstGeom>
        </p:spPr>
      </p:pic>
      <p:sp>
        <p:nvSpPr>
          <p:cNvPr id="10" name="TextBox 9"/>
          <p:cNvSpPr txBox="1"/>
          <p:nvPr/>
        </p:nvSpPr>
        <p:spPr>
          <a:xfrm>
            <a:off x="530352" y="3960495"/>
            <a:ext cx="11130991"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top ten percent of customers place 38 percent of the 40,000 carts. Chips and cold drink's lift reads 3.32 per cart; recomputed per customer it drops to about 2.5, because a party shopper's carts count once per person rather than once per visit. Milk and bread's per-customer lift stays near 1. The pair is still above the floor; the number the growth lead carries drops in size, and the caveat drops in a labelled sentence.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goes together, beyond chance?</a:t>
            </a:r>
          </a:p>
        </p:txBody>
      </p:sp>
      <p:sp>
        <p:nvSpPr>
          <p:cNvPr id="13" name="Oval 12"/>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679763"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do the three numbers say on all 40,000 carts?</a:t>
            </a:r>
          </a:p>
        </p:txBody>
      </p:sp>
      <p:sp>
        <p:nvSpPr>
          <p:cNvPr id="15" name="Oval 14"/>
          <p:cNvSpPr/>
          <p:nvPr/>
        </p:nvSpPr>
        <p:spPr>
          <a:xfrm>
            <a:off x="49657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075491"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Which three pairs fill the strip, and what is a slot worth?</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27 / 29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curd stock-out, named and excluded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the paper say about the curd pairs?</a:t>
            </a:r>
          </a:p>
        </p:txBody>
      </p:sp>
      <p:sp>
        <p:nvSpPr>
          <p:cNvPr id="9" name="TextBox 8"/>
          <p:cNvSpPr txBox="1"/>
          <p:nvPr/>
        </p:nvSpPr>
        <p:spPr>
          <a:xfrm>
            <a:off x="530352" y="195681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curd stock-out in two zones in the third week of September removed curd's pairs for those zone-weeks; the pair's lift elsewhere is unchanged. The fix is a labelled line that excludes the two zone-weeks from the curd pair's computation and recomputes. The paper carries both numbers.</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goes together, beyond chance?</a:t>
            </a:r>
          </a:p>
        </p:txBody>
      </p:sp>
      <p:sp>
        <p:nvSpPr>
          <p:cNvPr id="12" name="Oval 11"/>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679763"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do the three numbers say on all 40,000 carts?</a:t>
            </a:r>
          </a:p>
        </p:txBody>
      </p:sp>
      <p:sp>
        <p:nvSpPr>
          <p:cNvPr id="14" name="Oval 13"/>
          <p:cNvSpPr/>
          <p:nvPr/>
        </p:nvSpPr>
        <p:spPr>
          <a:xfrm>
            <a:off x="49657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075491"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Which three pairs fill the strip, and what is a slot worth?</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28 / 29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3 close: Rs 12.6 lakh a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morning leave with?</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PROMOTE</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Chips and cold drink</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Lift 3.32 on 2,000 of 40,000 carts, above the 1 percent floor.</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PROMOTE</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Two more pairs</a:t>
            </a:r>
          </a:p>
        </p:txBody>
      </p:sp>
      <p:sp>
        <p:nvSpPr>
          <p:cNvPr id="19" name="TextBox 18"/>
          <p:cNvSpPr txBox="1"/>
          <p:nvPr/>
        </p:nvSpPr>
        <p:spPr>
          <a:xfrm>
            <a:off x="3523411"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Picked from the notebook's list, each above the floor and well above lift 1.</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WATCH</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465836"/>
          </a:xfrm>
          <a:prstGeom prst="rect">
            <a:avLst/>
          </a:prstGeom>
          <a:noFill/>
        </p:spPr>
        <p:txBody>
          <a:bodyPr wrap="square" anchor="t" lIns="0" rIns="0" tIns="0" bIns="0">
            <a:spAutoFit/>
          </a:bodyPr>
          <a:lstStyle/>
          <a:p>
            <a:pPr algn="l"/>
            <a:r>
              <a:rPr sz="1300" b="1" i="0">
                <a:solidFill>
                  <a:srgbClr val="1A0F5C"/>
                </a:solidFill>
                <a:latin typeface="Calibri"/>
              </a:rPr>
              <a:t>Ice cream and chocolate sauce</a:t>
            </a:r>
          </a:p>
        </p:txBody>
      </p:sp>
      <p:sp>
        <p:nvSpPr>
          <p:cNvPr id="24" name="TextBox 23"/>
          <p:cNvSpPr txBox="1"/>
          <p:nvPr/>
        </p:nvSpPr>
        <p:spPr>
          <a:xfrm>
            <a:off x="6351879" y="3492500"/>
            <a:ext cx="2316403" cy="531876"/>
          </a:xfrm>
          <a:prstGeom prst="rect">
            <a:avLst/>
          </a:prstGeom>
          <a:noFill/>
        </p:spPr>
        <p:txBody>
          <a:bodyPr wrap="square" anchor="t" lIns="0" rIns="0" tIns="0" bIns="0">
            <a:spAutoFit/>
          </a:bodyPr>
          <a:lstStyle/>
          <a:p>
            <a:pPr algn="l"/>
            <a:r>
              <a:rPr sz="1000" b="0" i="0">
                <a:solidFill>
                  <a:srgbClr val="6B6690"/>
                </a:solidFill>
                <a:latin typeface="Calibri"/>
              </a:rPr>
              <a:t>Lift 4.47 but on 100 carts, below the floor; wait for the number to settle.</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RUPEE</a:t>
            </a:r>
          </a:p>
        </p:txBody>
      </p:sp>
      <p:sp>
        <p:nvSpPr>
          <p:cNvPr id="26" name="Oval 25"/>
          <p:cNvSpPr/>
          <p:nvPr/>
        </p:nvSpPr>
        <p:spPr>
          <a:xfrm>
            <a:off x="1023796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Rs 12.6 lakh a month</a:t>
            </a:r>
          </a:p>
        </p:txBody>
      </p:sp>
      <p:sp>
        <p:nvSpPr>
          <p:cNvPr id="29" name="TextBox 28"/>
          <p:cNvSpPr txBox="1"/>
          <p:nvPr/>
        </p:nvSpPr>
        <p:spPr>
          <a:xfrm>
            <a:off x="9180347"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Three slots times the gap per slot per month, each assumption labelled.</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goes together, beyond chance?</a:t>
            </a:r>
          </a:p>
        </p:txBody>
      </p:sp>
      <p:sp>
        <p:nvSpPr>
          <p:cNvPr id="32" name="Oval 31"/>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679763"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do the three numbers say on all 40,000 carts?</a:t>
            </a:r>
          </a:p>
        </p:txBody>
      </p:sp>
      <p:sp>
        <p:nvSpPr>
          <p:cNvPr id="34" name="Oval 33"/>
          <p:cNvSpPr/>
          <p:nvPr/>
        </p:nvSpPr>
        <p:spPr>
          <a:xfrm>
            <a:off x="49657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075491"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Which three pairs fill the strip, and what is a slot worth?</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29 / 29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