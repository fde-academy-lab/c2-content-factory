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as the room sits down. Read the title and the ask aloud, then the label line: the company</a:t>
            </a:r>
          </a:p>
          <a:p>
            <a:r>
              <a:t>is real, the situation and the data are synthetic. Today has three chapters: count by hand, count</a:t>
            </a:r>
          </a:p>
          <a:p>
            <a:r>
              <a:t>everything, then decide and price. Transition: the ticket,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Read the table top to bottom. Define two words as they appear: an impression is</a:t>
            </a:r>
          </a:p>
          <a:p>
            <a:r>
              <a:t>one time a slot was shown, and click-through is clicks divided by impressions. Point at the three</a:t>
            </a:r>
          </a:p>
          <a:p>
            <a:r>
              <a:t>tables and their columns; every number today comes from them. Ask the room for one reason "in</a:t>
            </a:r>
          </a:p>
          <a:p>
            <a:r>
              <a:t>most carts" might be the wrong reason to show an item, and write the answers on the board</a:t>
            </a:r>
          </a:p>
          <a:p>
            <a:r>
              <a:t>without judging them. Transition: where today sits in the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Monday and Tuesday carry the numbers the room produced on them. Today's node is</a:t>
            </a:r>
          </a:p>
          <a:p>
            <a:r>
              <a:t>lit; Thursday, Friday and Saturday stay dashed. The Kalpa node is the lab after class, where the</a:t>
            </a:r>
          </a:p>
          <a:p>
            <a:r>
              <a:t>same method meets Kalpa Retail's baskets. Explorer: the home screen, Wednesday lit.</a:t>
            </a:r>
          </a:p>
          <a:p>
            <a:r>
              <a:t>Transition: where today ends.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Show the finished answer once, then earn it. Leave the cause of the fall open:</a:t>
            </a:r>
          </a:p>
          <a:p>
            <a:r>
              <a:t>chapter 2 finds it. Say that every number on the three cards is computed in the room before</a:t>
            </a:r>
          </a:p>
          <a:p>
            <a:r>
              <a:t>lunch. Transition: chapter 1, counting by hand.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1 of 3, level L1. Receipts on the table: the tea stall first, then the</a:t>
            </a:r>
          </a:p>
          <a:p>
            <a:r>
              <a:t>twelve cart cards per group. No laptop opens in this chapter. Transition: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questions. Each gets a number before the next is asked. Write the</a:t>
            </a:r>
          </a:p>
          <a:p>
            <a:r>
              <a:t>three words support, confidence, lift on the board only after the room has counted each one.</a:t>
            </a:r>
          </a:p>
          <a:p>
            <a:r>
              <a:t>Transition: ten tea-stall orders.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Groups vote by holding up a letter. Then two minutes for neighbours to argue, and</a:t>
            </a:r>
          </a:p>
          <a:p>
            <a:r>
              <a:t>vote again. The split is usually between c and d. Do not explain lift yet; the next slide does.</a:t>
            </a:r>
          </a:p>
          <a:p>
            <a:r>
              <a:t>Transition: the dots.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Count each cell of the 2 by 2 aloud from the dots (StatQuest). Support: the</a:t>
            </a:r>
          </a:p>
          <a:p>
            <a:r>
              <a:t>shaded cell over all ten. Confidence: shrink the world to the chai row, 3 of 6. Expected: the</a:t>
            </a:r>
          </a:p>
          <a:p>
            <a:r>
              <a:t>chai share times the biscuit share times ten, 0.6 x 0.4 x 10. Lift: seen over expected. Then the</a:t>
            </a:r>
          </a:p>
          <a:p>
            <a:r>
              <a:t>reverse direction. Ask: "what would make the 1.25 a cause?" Only a test that changes chai and</a:t>
            </a:r>
          </a:p>
          <a:p>
            <a:r>
              <a:t>watches biscuit, which Monday's faculty session on A/B testing (tentative) took up. Transition: a carry bag.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This is the day's trap in miniature, on numbers small enough to hold in the head.</a:t>
            </a:r>
          </a:p>
          <a:p>
            <a:r>
              <a:t>Ask a learner to say in one sentence why the bag looks like everyone's best partner. The answer to</a:t>
            </a:r>
          </a:p>
          <a:p>
            <a:r>
              <a:t>listen for: because it is in nearly every order. Transition: twelve real carts.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Each group holds these twelve as printed cards. Say: "sort the pack by whether it</a:t>
            </a:r>
          </a:p>
          <a:p>
            <a:r>
              <a:t>has bread, then count how many of those have milk; now count how many have milk at all." Counts</a:t>
            </a:r>
          </a:p>
          <a:p>
            <a:r>
              <a:t>are called out and written on the board before any formula is named. When a group stops at a</a:t>
            </a:r>
          </a:p>
          <a:p>
            <a:r>
              <a:t>confidence and calls it the answer, ask: "how many carts hold milk whether or not they hold</a:t>
            </a:r>
          </a:p>
          <a:p>
            <a:r>
              <a:t>bread?" Transition: predict before the reveal.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Groups commit in writing. Option b is the reverse direction, milk to bread, which</a:t>
            </a:r>
          </a:p>
          <a:p>
            <a:r>
              <a:t>reads 4 of 8. Transition: the count.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Walk the four boxes left to right, writing each number on the board. Read the</a:t>
            </a:r>
          </a:p>
          <a:p>
            <a:r>
              <a:t>reverse confidence too: milk to bread is 4 of 8, 0.50. Lift is the same from both sides.</a:t>
            </a:r>
          </a:p>
          <a:p>
            <a:r>
              <a:t>Transition: what confidence threw away.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The GIF beside this still dims the carts in two steps (whiteboards folder). Say</a:t>
            </a:r>
          </a:p>
          <a:p>
            <a:r>
              <a:t>the sentence that stays: confidence shrinks the world to the carts with A; lift compares that world</a:t>
            </a:r>
          </a:p>
          <a:p>
            <a:r>
              <a:t>with all the carts. Explorer: scene W2, two buttons that grey the carts without A, then without B.</a:t>
            </a:r>
          </a:p>
          <a:p>
            <a:r>
              <a:t>Transition: the other pairs on the cards.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9 minutes. Groups compute the chips row first, then the ice cream row. Ask: "would you give a</a:t>
            </a:r>
          </a:p>
          <a:p>
            <a:r>
              <a:t>slot to the lift of 12?" Hold the answer for chapter 3's floor. Transition: what the chapter</a:t>
            </a:r>
          </a:p>
          <a:p>
            <a:r>
              <a:t>counted.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Ask a learner to say all three counts in one breath: how often, how reliably,</a:t>
            </a:r>
          </a:p>
          <a:p>
            <a:r>
              <a:t>against chance. Then the limit. Transition: chapter 2, every cart.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2 of 3, levels L2 and L3. Notebook 02 opens now: one plain line above every</a:t>
            </a:r>
          </a:p>
          <a:p>
            <a:r>
              <a:t>cell, run top to bottom with the room. Transition: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questions; each ends on a number from notebook 02.</a:t>
            </a:r>
          </a:p>
          <a:p>
            <a:r>
              <a:t>Transition: the first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Vote, argue in pairs, vote again. Write the split on the board. Transition: the</a:t>
            </a:r>
          </a:p>
          <a:p>
            <a:r>
              <a:t>count.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Say the trap aloud: the team built the strip on this table. The check is to ask</a:t>
            </a:r>
          </a:p>
          <a:p>
            <a:r>
              <a:t>how often milk would sit beside bread if the two ignored each other, which is lift's question.</a:t>
            </a:r>
          </a:p>
          <a:p>
            <a:r>
              <a:t>Transition: the five lines that counted this.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Code along in notebook 02 (Krish Naik): say what each line is for before running</a:t>
            </a:r>
          </a:p>
          <a:p>
            <a:r>
              <a:t>it. Sorting the pair keeps bread with milk and milk with bread as one key. Interview note: "why</a:t>
            </a:r>
          </a:p>
          <a:p>
            <a:r>
              <a:t>sorted?" is a common follow-up. Transition: bread and milk on every cart.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Read the picture as two areas (3Blue1Brown): bread's band times milk's band is</a:t>
            </a:r>
          </a:p>
          <a:p>
            <a:r>
              <a:t>the overlap chance gives; the overlap seen is barely bigger, and lift is the ratio of the two</a:t>
            </a:r>
          </a:p>
          <a:p>
            <a:r>
              <a:t>areas. Say the lesson in one line: a few carts can make a pull look strong, and the full count</a:t>
            </a:r>
          </a:p>
          <a:p>
            <a:r>
              <a:t>shows it near one. Explorer: scene W1, sliders for the two shares and the overlap.</a:t>
            </a:r>
          </a:p>
          <a:p>
            <a:r>
              <a:t>Transition: is bread special, or is every item like this?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 quick vote. Transition: the chart.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left panel is what the new strip ranked by; the right panel is what it should</a:t>
            </a:r>
          </a:p>
          <a:p>
            <a:r>
              <a:t>have read. Feynman line for the room to repeat: "the item in every bag is the worst bundle</a:t>
            </a:r>
          </a:p>
          <a:p>
            <a:r>
              <a:t>partner, because it was going in the bag anyway". Explorer: scene W3, the milk share slider.</a:t>
            </a:r>
          </a:p>
          <a:p>
            <a:r>
              <a:t>Transition: a company that met this trap.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Name the decision and the cost: a slot shown to everyone that moves nothing. The</a:t>
            </a:r>
          </a:p>
          <a:p>
            <a:r>
              <a:t>heavy-buyer point returns in chapter 3 as the top tenth of customers. Transition: the four pairs</a:t>
            </a:r>
          </a:p>
          <a:p>
            <a:r>
              <a:t>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Point at the chips row: confidence 0.42 looks weak beside 0.74, yet its lift is</a:t>
            </a:r>
          </a:p>
          <a:p>
            <a:r>
              <a:t>3.39. Confidence and lift can rank pairs in opposite orders. Notebook 02 asserts the second route</a:t>
            </a:r>
          </a:p>
          <a:p>
            <a:r>
              <a:t>for three pairs. Transition: why did the click-through fall?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Vote. A view count says nothing about a rate, which rules out b for anyone who</a:t>
            </a:r>
          </a:p>
          <a:p>
            <a:r>
              <a:t>thinks it through; let the room find that. Transition: the split.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This is notebook 02's your-turn cell: each learner splits the after rows by</a:t>
            </a:r>
          </a:p>
          <a:p>
            <a:r>
              <a:t>whether the slot suggested milk before the answer is shown. Read the daily line first: it moves a</a:t>
            </a:r>
          </a:p>
          <a:p>
            <a:r>
              <a:t>few tenths of a point every day and steps down on 7 September. The strip shows packs, so one view</a:t>
            </a:r>
          </a:p>
          <a:p>
            <a:r>
              <a:t>can show milk in two slots. Transition: which slot milk took.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This is the strip's own pull: whatever slot 1 shows draws clicks. It returns in</a:t>
            </a:r>
          </a:p>
          <a:p>
            <a:r>
              <a:t>chapter 3 as a caveat. Transition: the chapter's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four lines, then break for 10 minutes. On the board before the break: the</a:t>
            </a:r>
          </a:p>
          <a:p>
            <a:r>
              <a:t>week map with "lift: beyond chance" added under Wednesday. Transition after the break: chapter 3,</a:t>
            </a:r>
          </a:p>
          <a:p>
            <a:r>
              <a:t>what fills the strip.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Chapter 3 of 3, levels L4 and L5; part one now, part two unguided after lunch.</a:t>
            </a:r>
          </a:p>
          <a:p>
            <a:r>
              <a:t>Notebook 03. Transition: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four questions. Transition: the problem first.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Vote, argue, vote again (Brilliant: the problem before the explanation). The split</a:t>
            </a:r>
          </a:p>
          <a:p>
            <a:r>
              <a:t>is usually b against c. Transition: every pair on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Walk the regions: promote above the floor and well above one; watch, high lift</a:t>
            </a:r>
          </a:p>
          <a:p>
            <a:r>
              <a:t>below the floor; ignore, near one, where milk's pairs sit. The floor is a decision: 0.5 percent</a:t>
            </a:r>
          </a:p>
          <a:p>
            <a:r>
              <a:t>admits more pairs on thinner ground, 2 percent fewer. Explorer: scene W5, the floor slider counts</a:t>
            </a:r>
          </a:p>
          <a:p>
            <a:r>
              <a:t>the pairs that survive. Transition: the thin pair.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How long a trial must run to trust its answer is a sample-size question, parked by</a:t>
            </a:r>
          </a:p>
          <a:p>
            <a:r>
              <a:t>name for the faculty session (tentative). Transition: what a slot is worth.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Guess first, then build it. Transition: the cascade.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Build it left to right on the board. Each factor is said with its source and its</a:t>
            </a:r>
          </a:p>
          <a:p>
            <a:r>
              <a:t>range. Ask what the Rs 3,240 hides: milk earns Rs 2 a pouch, so a milk slot earns even less than</a:t>
            </a:r>
          </a:p>
          <a:p>
            <a:r>
              <a:t>the Rs 9 assumption gives it. Explorer: scene W4, the strip simulator, rank by count against rank</a:t>
            </a:r>
          </a:p>
          <a:p>
            <a:r>
              <a:t>by lift. Transition: the number people get wrong.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Ask: "which line of the cascade would a bundle discount change?" The margin per</a:t>
            </a:r>
          </a:p>
          <a:p>
            <a:r>
              <a:t>add falls by the discount. Transition: what the counts cannot tell us.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One doubt at a time, each with its number from notebook 03. A check that comes</a:t>
            </a:r>
          </a:p>
          <a:p>
            <a:r>
              <a:t>back clean is said in one line, as the time-of-day check does. Transition: the heavy tenth.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"Counted once" means each cart weighs one over its customer's number of carts, so</a:t>
            </a:r>
          </a:p>
          <a:p>
            <a:r>
              <a:t>a shopper with fourteen carts counts as much as a shopper with one. Transition: the stock-out.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 caveat is a labelled line and a recomputation, never a disclaimer. Transition:</a:t>
            </a:r>
          </a:p>
          <a:p>
            <a:r>
              <a:t>the morning's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chain left to right. The afternoon's first 35 minutes run unguided on</a:t>
            </a:r>
          </a:p>
          <a:p>
            <a:r>
              <a:t>notebook 03. Transition: lunch.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6.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8.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9.png"/><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0.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2.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1.xml"/><Relationship Id="rId5" Type="http://schemas.openxmlformats.org/officeDocument/2006/relationships/image" Target="../media/image3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4424069"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4  ·  WEDNESDAY  ·  ILLUSTRATIVE CASE</a:t>
            </a:r>
          </a:p>
        </p:txBody>
      </p:sp>
      <p:sp>
        <p:nvSpPr>
          <p:cNvPr id="8" name="TextBox 7"/>
          <p:cNvSpPr txBox="1"/>
          <p:nvPr/>
        </p:nvSpPr>
        <p:spPr>
          <a:xfrm>
            <a:off x="621792" y="2807208"/>
            <a:ext cx="10582351" cy="1291336"/>
          </a:xfrm>
          <a:prstGeom prst="rect">
            <a:avLst/>
          </a:prstGeom>
          <a:noFill/>
        </p:spPr>
        <p:txBody>
          <a:bodyPr wrap="square" anchor="t" lIns="0" rIns="0" tIns="0" bIns="0">
            <a:spAutoFit/>
          </a:bodyPr>
          <a:lstStyle/>
          <a:p>
            <a:pPr algn="l"/>
            <a:r>
              <a:rPr sz="3800" b="0" i="0">
                <a:solidFill>
                  <a:srgbClr val="FFFFFF"/>
                </a:solidFill>
                <a:latin typeface="Georgia"/>
              </a:rPr>
              <a:t>Instamart Pune: strip click-through fell from 6.1 to 3.8 percent</a:t>
            </a:r>
          </a:p>
        </p:txBody>
      </p:sp>
      <p:sp>
        <p:nvSpPr>
          <p:cNvPr id="9" name="TextBox 8"/>
          <p:cNvSpPr txBox="1"/>
          <p:nvPr/>
        </p:nvSpPr>
        <p:spPr>
          <a:xfrm>
            <a:off x="621792" y="4263136"/>
            <a:ext cx="10033711" cy="663956"/>
          </a:xfrm>
          <a:prstGeom prst="rect">
            <a:avLst/>
          </a:prstGeom>
          <a:noFill/>
        </p:spPr>
        <p:txBody>
          <a:bodyPr wrap="square" anchor="t" lIns="0" rIns="0" tIns="0" bIns="0">
            <a:spAutoFit/>
          </a:bodyPr>
          <a:lstStyle/>
          <a:p>
            <a:pPr algn="l"/>
            <a:r>
              <a:rPr sz="1900" b="0" i="1">
                <a:solidFill>
                  <a:srgbClr val="D9A7FF"/>
                </a:solidFill>
                <a:latin typeface="Georgia"/>
              </a:rPr>
              <a:t>“Rank the pairs the strip should show, explain why its click-through fell, and put a rupee value on a slot, by Friday.”</a:t>
            </a:r>
          </a:p>
        </p:txBody>
      </p:sp>
      <p:sp>
        <p:nvSpPr>
          <p:cNvPr id="10" name="TextBox 9"/>
          <p:cNvSpPr txBox="1"/>
          <p:nvPr/>
        </p:nvSpPr>
        <p:spPr>
          <a:xfrm>
            <a:off x="621792" y="4981956"/>
            <a:ext cx="10033711" cy="399796"/>
          </a:xfrm>
          <a:prstGeom prst="rect">
            <a:avLst/>
          </a:prstGeom>
          <a:noFill/>
        </p:spPr>
        <p:txBody>
          <a:bodyPr wrap="square" anchor="t" lIns="0" rIns="0" tIns="0" bIns="0">
            <a:spAutoFit/>
          </a:bodyPr>
          <a:lstStyle/>
          <a:p>
            <a:pPr algn="l"/>
            <a:r>
              <a:rPr sz="1100" b="0" i="0">
                <a:solidFill>
                  <a:srgbClr val="CFC9EE"/>
                </a:solidFill>
                <a:latin typeface="Calibri"/>
              </a:rPr>
              <a:t>The ask on the ticket, to the category manager and the growth lead. Illustrative case: the company is real, the situation and the data are synthetic, built for this class.</a:t>
            </a:r>
          </a:p>
        </p:txBody>
      </p:sp>
      <p:sp>
        <p:nvSpPr>
          <p:cNvPr id="11" name="TextBox 10"/>
          <p:cNvSpPr txBox="1"/>
          <p:nvPr/>
        </p:nvSpPr>
        <p:spPr>
          <a:xfrm>
            <a:off x="621792" y="5701792"/>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738368"/>
            <a:ext cx="1602486" cy="185166"/>
          </a:xfrm>
          <a:prstGeom prst="rect">
            <a:avLst/>
          </a:prstGeom>
          <a:noFill/>
        </p:spPr>
        <p:txBody>
          <a:bodyPr wrap="square" anchor="t" lIns="0" rIns="0" tIns="0" bIns="0">
            <a:spAutoFit/>
          </a:bodyPr>
          <a:lstStyle/>
          <a:p>
            <a:pPr algn="l"/>
            <a:r>
              <a:rPr sz="900" b="0" i="0">
                <a:solidFill>
                  <a:srgbClr val="FFFFFF"/>
                </a:solidFill>
                <a:latin typeface="Calibri"/>
              </a:rPr>
              <a:t>What does together mean?</a:t>
            </a:r>
          </a:p>
        </p:txBody>
      </p:sp>
      <p:sp>
        <p:nvSpPr>
          <p:cNvPr id="13" name="TextBox 12"/>
          <p:cNvSpPr txBox="1"/>
          <p:nvPr/>
        </p:nvSpPr>
        <p:spPr>
          <a:xfrm>
            <a:off x="2791206" y="5701792"/>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175254" y="5738368"/>
            <a:ext cx="1661636" cy="185166"/>
          </a:xfrm>
          <a:prstGeom prst="rect">
            <a:avLst/>
          </a:prstGeom>
          <a:noFill/>
        </p:spPr>
        <p:txBody>
          <a:bodyPr wrap="square" anchor="t" lIns="0" rIns="0" tIns="0" bIns="0">
            <a:spAutoFit/>
          </a:bodyPr>
          <a:lstStyle/>
          <a:p>
            <a:pPr algn="l"/>
            <a:r>
              <a:rPr sz="900" b="0" i="0">
                <a:solidFill>
                  <a:srgbClr val="FFFFFF"/>
                </a:solidFill>
                <a:latin typeface="Calibri"/>
              </a:rPr>
              <a:t>What do 40,000 carts say?</a:t>
            </a:r>
          </a:p>
        </p:txBody>
      </p:sp>
      <p:sp>
        <p:nvSpPr>
          <p:cNvPr id="15" name="TextBox 14"/>
          <p:cNvSpPr txBox="1"/>
          <p:nvPr/>
        </p:nvSpPr>
        <p:spPr>
          <a:xfrm>
            <a:off x="5019770" y="5701792"/>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403818" y="5738368"/>
            <a:ext cx="1425035" cy="185166"/>
          </a:xfrm>
          <a:prstGeom prst="rect">
            <a:avLst/>
          </a:prstGeom>
          <a:noFill/>
        </p:spPr>
        <p:txBody>
          <a:bodyPr wrap="square" anchor="t" lIns="0" rIns="0" tIns="0" bIns="0">
            <a:spAutoFit/>
          </a:bodyPr>
          <a:lstStyle/>
          <a:p>
            <a:pPr algn="l"/>
            <a:r>
              <a:rPr sz="900" b="0" i="0">
                <a:solidFill>
                  <a:srgbClr val="FFFFFF"/>
                </a:solidFill>
                <a:latin typeface="Calibri"/>
              </a:rPr>
              <a:t>What fills the strip?</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3. Instamart Pune: strip click-through fell from 6.1 to 3.8 percent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Strip click-through fell from 6.1 to 3.8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the analyst been handed, and what is due Friday?</a:t>
            </a:r>
          </a:p>
        </p:txBody>
      </p:sp>
      <p:graphicFrame>
        <p:nvGraphicFramePr>
          <p:cNvPr id="9" name="Table 8"/>
          <p:cNvGraphicFramePr>
            <a:graphicFrameLocks noGrp="1"/>
          </p:cNvGraphicFramePr>
          <p:nvPr/>
        </p:nvGraphicFramePr>
        <p:xfrm>
          <a:off x="530352" y="1873504"/>
          <a:ext cx="11130990" cy="3383280"/>
        </p:xfrm>
        <a:graphic>
          <a:graphicData uri="http://schemas.openxmlformats.org/drawingml/2006/table">
            <a:tbl>
              <a:tblPr firstRow="0" bandRow="0">
                <a:tableStyleId>{2D5ABB26-0587-4C30-8999-92F81FD0307C}</a:tableStyleId>
              </a:tblPr>
              <a:tblGrid>
                <a:gridCol w="3198111"/>
                <a:gridCol w="7932879"/>
              </a:tblGrid>
              <a:tr h="335280">
                <a:tc>
                  <a:txBody>
                    <a:bodyPr/>
                    <a:lstStyle/>
                    <a:p>
                      <a:r>
                        <a:rPr sz="1250" b="1" i="0">
                          <a:solidFill>
                            <a:srgbClr val="FFFFFF"/>
                          </a:solidFill>
                          <a:latin typeface="Calibri"/>
                        </a:rPr>
                        <a:t>On the ticket</a:t>
                      </a:r>
                    </a:p>
                  </a:txBody>
                  <a:tcPr marL="101600" marR="101600" marT="38100" marB="38100" anchor="ctr">
                    <a:solidFill>
                      <a:srgbClr val="1A0F5C"/>
                    </a:solidFill>
                  </a:tcPr>
                </a:tc>
                <a:tc>
                  <a:txBody>
                    <a:bodyPr/>
                    <a:lstStyle/>
                    <a:p>
                      <a:r>
                        <a:rPr sz="1250" b="1" i="0">
                          <a:solidFill>
                            <a:srgbClr val="FFFFFF"/>
                          </a:solidFill>
                          <a:latin typeface="Calibri"/>
                        </a:rPr>
                        <a:t>What it says</a:t>
                      </a:r>
                    </a:p>
                  </a:txBody>
                  <a:tcPr marL="101600" marR="101600" marT="38100" marB="38100" anchor="ctr">
                    <a:solidFill>
                      <a:srgbClr val="1A0F5C"/>
                    </a:solidFill>
                  </a:tcPr>
                </a:tc>
              </a:tr>
              <a:tr h="335280">
                <a:tc>
                  <a:txBody>
                    <a:bodyPr/>
                    <a:lstStyle/>
                    <a:p>
                      <a:r>
                        <a:rPr sz="1200" b="0" i="0">
                          <a:solidFill>
                            <a:srgbClr val="1A1440"/>
                          </a:solidFill>
                          <a:latin typeface="Calibri"/>
                        </a:rPr>
                        <a:t>Company, city, surface</a:t>
                      </a:r>
                    </a:p>
                  </a:txBody>
                  <a:tcPr marL="101600" marR="101600" marT="38100" marB="38100" anchor="ctr">
                    <a:solidFill>
                      <a:srgbClr val="FFFFFF"/>
                    </a:solidFill>
                  </a:tcPr>
                </a:tc>
                <a:tc>
                  <a:txBody>
                    <a:bodyPr/>
                    <a:lstStyle/>
                    <a:p>
                      <a:r>
                        <a:rPr sz="1200" b="0" i="0">
                          <a:solidFill>
                            <a:srgbClr val="1A1440"/>
                          </a:solidFill>
                          <a:latin typeface="Calibri"/>
                        </a:rPr>
                        <a:t>Swiggy Instamart, Pune: the cart page's strip of three suggested items</a:t>
                      </a:r>
                    </a:p>
                  </a:txBody>
                  <a:tcPr marL="101600" marR="101600" marT="38100" marB="38100" anchor="ctr">
                    <a:solidFill>
                      <a:srgbClr val="FFFFFF"/>
                    </a:solidFill>
                  </a:tcPr>
                </a:tc>
              </a:tr>
              <a:tr h="542544">
                <a:tc>
                  <a:txBody>
                    <a:bodyPr/>
                    <a:lstStyle/>
                    <a:p>
                      <a:r>
                        <a:rPr sz="1200" b="0" i="0">
                          <a:solidFill>
                            <a:srgbClr val="1A1440"/>
                          </a:solidFill>
                          <a:latin typeface="Calibri"/>
                        </a:rPr>
                        <a:t>The change</a:t>
                      </a:r>
                    </a:p>
                  </a:txBody>
                  <a:tcPr marL="101600" marR="101600" marT="38100" marB="38100" anchor="ctr">
                    <a:solidFill>
                      <a:srgbClr val="F4F2FA"/>
                    </a:solidFill>
                  </a:tcPr>
                </a:tc>
                <a:tc>
                  <a:txBody>
                    <a:bodyPr/>
                    <a:lstStyle/>
                    <a:p>
                      <a:r>
                        <a:rPr sz="1200" b="0" i="0">
                          <a:solidFill>
                            <a:srgbClr val="1A1440"/>
                          </a:solidFill>
                          <a:latin typeface="Calibri"/>
                        </a:rPr>
                        <a:t>Monday 7 September 2026: a curated list became the items most often found in the same cart; toned milk is in 71 percent of carts, so it now sits beside nearly everything</a:t>
                      </a:r>
                    </a:p>
                  </a:txBody>
                  <a:tcPr marL="101600" marR="101600" marT="38100" marB="38100" anchor="ctr">
                    <a:solidFill>
                      <a:srgbClr val="F4F2FA"/>
                    </a:solidFill>
                  </a:tcPr>
                </a:tc>
              </a:tr>
              <a:tr h="542544">
                <a:tc>
                  <a:txBody>
                    <a:bodyPr/>
                    <a:lstStyle/>
                    <a:p>
                      <a:r>
                        <a:rPr sz="1200" b="0" i="0">
                          <a:solidFill>
                            <a:srgbClr val="1A1440"/>
                          </a:solidFill>
                          <a:latin typeface="Calibri"/>
                        </a:rPr>
                        <a:t>The metric</a:t>
                      </a:r>
                    </a:p>
                  </a:txBody>
                  <a:tcPr marL="101600" marR="101600" marT="38100" marB="38100" anchor="ctr">
                    <a:solidFill>
                      <a:srgbClr val="FFFFFF"/>
                    </a:solidFill>
                  </a:tcPr>
                </a:tc>
                <a:tc>
                  <a:txBody>
                    <a:bodyPr/>
                    <a:lstStyle/>
                    <a:p>
                      <a:r>
                        <a:rPr sz="1200" b="0" i="0">
                          <a:solidFill>
                            <a:srgbClr val="1A1440"/>
                          </a:solidFill>
                          <a:latin typeface="Calibri"/>
                        </a:rPr>
                        <a:t>Strip click-through (clicks over impressions): 6.1 percent from 17 August to 6 September, 3.8 percent from 7 to 27 September</a:t>
                      </a:r>
                    </a:p>
                  </a:txBody>
                  <a:tcPr marL="101600" marR="101600" marT="38100" marB="38100" anchor="ctr">
                    <a:solidFill>
                      <a:srgbClr val="FFFFFF"/>
                    </a:solidFill>
                  </a:tcPr>
                </a:tc>
              </a:tr>
              <a:tr h="749808">
                <a:tc>
                  <a:txBody>
                    <a:bodyPr/>
                    <a:lstStyle/>
                    <a:p>
                      <a:r>
                        <a:rPr sz="1200" b="0" i="0">
                          <a:solidFill>
                            <a:srgbClr val="1A1440"/>
                          </a:solidFill>
                          <a:latin typeface="Calibri"/>
                        </a:rPr>
                        <a:t>The data</a:t>
                      </a:r>
                    </a:p>
                  </a:txBody>
                  <a:tcPr marL="101600" marR="101600" marT="38100" marB="38100" anchor="ctr">
                    <a:solidFill>
                      <a:srgbClr val="F4F2FA"/>
                    </a:solidFill>
                  </a:tcPr>
                </a:tc>
                <a:tc>
                  <a:txBody>
                    <a:bodyPr/>
                    <a:lstStyle/>
                    <a:p>
                      <a:r>
                        <a:rPr sz="1200" b="0" i="0">
                          <a:solidFill>
                            <a:srgbClr val="1A1440"/>
                          </a:solidFill>
                          <a:latin typeface="Calibri"/>
                        </a:rPr>
                        <a:t>carts (cart_id, customer_id, placed_date, zone, time_band, cart_value_rs): 40,000 carts, 1 to 28 September, eight zones; cart_items (cart_id, item, quantity, price_rs, margin_rs); strip_log (date, slot, anchor_item, suggested_item, impressions, clicks, adds)</a:t>
                      </a:r>
                    </a:p>
                  </a:txBody>
                  <a:tcPr marL="101600" marR="101600" marT="38100" marB="38100" anchor="ctr">
                    <a:solidFill>
                      <a:srgbClr val="F4F2FA"/>
                    </a:solidFill>
                  </a:tcPr>
                </a:tc>
              </a:tr>
              <a:tr h="335280">
                <a:tc>
                  <a:txBody>
                    <a:bodyPr/>
                    <a:lstStyle/>
                    <a:p>
                      <a:r>
                        <a:rPr sz="1200" b="0" i="0">
                          <a:solidFill>
                            <a:srgbClr val="1A1440"/>
                          </a:solidFill>
                          <a:latin typeface="Calibri"/>
                        </a:rPr>
                        <a:t>The ask, due Friday</a:t>
                      </a:r>
                    </a:p>
                  </a:txBody>
                  <a:tcPr marL="101600" marR="101600" marT="38100" marB="38100" anchor="ctr">
                    <a:solidFill>
                      <a:srgbClr val="FFFFFF"/>
                    </a:solidFill>
                  </a:tcPr>
                </a:tc>
                <a:tc>
                  <a:txBody>
                    <a:bodyPr/>
                    <a:lstStyle/>
                    <a:p>
                      <a:r>
                        <a:rPr sz="1200" b="0" i="0">
                          <a:solidFill>
                            <a:srgbClr val="1A1440"/>
                          </a:solidFill>
                          <a:latin typeface="Calibri"/>
                        </a:rPr>
                        <a:t>Rank the pairs the strip should show, explain the fall, put a rupee value on a slot</a:t>
                      </a:r>
                    </a:p>
                  </a:txBody>
                  <a:tcPr marL="101600" marR="101600" marT="38100" marB="38100" anchor="ctr">
                    <a:solidFill>
                      <a:srgbClr val="FFFFFF"/>
                    </a:solidFill>
                  </a:tcPr>
                </a:tc>
              </a:tr>
              <a:tr h="542544">
                <a:tc>
                  <a:txBody>
                    <a:bodyPr/>
                    <a:lstStyle/>
                    <a:p>
                      <a:r>
                        <a:rPr sz="1200" b="0" i="0">
                          <a:solidFill>
                            <a:srgbClr val="1A1440"/>
                          </a:solidFill>
                          <a:latin typeface="Calibri"/>
                        </a:rPr>
                        <a:t>Caveats</a:t>
                      </a:r>
                    </a:p>
                  </a:txBody>
                  <a:tcPr marL="101600" marR="101600" marT="38100" marB="38100" anchor="ctr">
                    <a:solidFill>
                      <a:srgbClr val="F4F2FA"/>
                    </a:solidFill>
                  </a:tcPr>
                </a:tc>
                <a:tc>
                  <a:txBody>
                    <a:bodyPr/>
                    <a:lstStyle/>
                    <a:p>
                      <a:r>
                        <a:rPr sz="1200" b="0" i="0">
                          <a:solidFill>
                            <a:srgbClr val="1A1440"/>
                          </a:solidFill>
                          <a:latin typeface="Calibri"/>
                        </a:rPr>
                        <a:t>Curd ran out in two zones in week three; the top tenth of customers place 38 percent of carts; the strip causes some of the co-occurrence it counts; a cart is one order, a customer places many</a:t>
                      </a:r>
                    </a:p>
                  </a:txBody>
                  <a:tcPr marL="101600" marR="101600" marT="38100" marB="38100" anchor="ctr">
                    <a:solidFill>
                      <a:srgbClr val="F4F2FA"/>
                    </a:solidFill>
                  </a:tcPr>
                </a:tc>
              </a:tr>
            </a:tbl>
          </a:graphicData>
        </a:graphic>
      </p:graphicFrame>
      <p:sp>
        <p:nvSpPr>
          <p:cNvPr id="10" name="TextBox 9"/>
          <p:cNvSpPr txBox="1"/>
          <p:nvPr/>
        </p:nvSpPr>
        <p:spPr>
          <a:xfrm>
            <a:off x="530352" y="551281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Illustrative case: the company is real, the situation and the data are synthetic, built for this class.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Wednesday asks what goes with what, beyond chance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today sit among the week's five tickets?</a:t>
            </a:r>
          </a:p>
        </p:txBody>
      </p:sp>
      <p:pic>
        <p:nvPicPr>
          <p:cNvPr id="9" name="mermaid diagram" descr="277b60f8a026987b.png"/>
          <p:cNvPicPr>
            <a:picLocks noChangeAspect="1"/>
          </p:cNvPicPr>
          <p:nvPr/>
        </p:nvPicPr>
        <p:blipFill>
          <a:blip r:embed="rId5"/>
          <a:stretch>
            <a:fillRect/>
          </a:stretch>
        </p:blipFill>
        <p:spPr>
          <a:xfrm>
            <a:off x="2986755" y="1682496"/>
            <a:ext cx="6218183"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4" name="Oval 1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3 /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today ends: three pairs, one floor, Rs 6.3 lakh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the growth lead carry out of the room?</a:t>
            </a:r>
          </a:p>
        </p:txBody>
      </p:sp>
      <p:sp>
        <p:nvSpPr>
          <p:cNvPr id="9" name="Rounded Rectangle 8"/>
          <p:cNvSpPr/>
          <p:nvPr/>
        </p:nvSpPr>
        <p:spPr>
          <a:xfrm>
            <a:off x="530352" y="1956816"/>
            <a:ext cx="3588410"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checks_8726d21bc746.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PROMOTE</a:t>
            </a:r>
          </a:p>
        </p:txBody>
      </p:sp>
      <p:sp>
        <p:nvSpPr>
          <p:cNvPr id="13" name="TextBox 12"/>
          <p:cNvSpPr txBox="1"/>
          <p:nvPr/>
        </p:nvSpPr>
        <p:spPr>
          <a:xfrm>
            <a:off x="731519" y="2962656"/>
            <a:ext cx="3186074" cy="498856"/>
          </a:xfrm>
          <a:prstGeom prst="rect">
            <a:avLst/>
          </a:prstGeom>
          <a:noFill/>
        </p:spPr>
        <p:txBody>
          <a:bodyPr wrap="square" anchor="t" lIns="0" rIns="0" tIns="0" bIns="0">
            <a:spAutoFit/>
          </a:bodyPr>
          <a:lstStyle/>
          <a:p>
            <a:pPr algn="l"/>
            <a:r>
              <a:rPr sz="1400" b="1" i="0">
                <a:solidFill>
                  <a:srgbClr val="1A0F5C"/>
                </a:solidFill>
                <a:latin typeface="Calibri"/>
              </a:rPr>
              <a:t>Three pairs above a 1 percent floor</a:t>
            </a:r>
          </a:p>
        </p:txBody>
      </p:sp>
      <p:sp>
        <p:nvSpPr>
          <p:cNvPr id="14" name="TextBox 13"/>
          <p:cNvSpPr txBox="1"/>
          <p:nvPr/>
        </p:nvSpPr>
        <p:spPr>
          <a:xfrm>
            <a:off x="731519" y="3534664"/>
            <a:ext cx="3186074" cy="581406"/>
          </a:xfrm>
          <a:prstGeom prst="rect">
            <a:avLst/>
          </a:prstGeom>
          <a:noFill/>
        </p:spPr>
        <p:txBody>
          <a:bodyPr wrap="square" anchor="t" lIns="0" rIns="0" tIns="0" bIns="0">
            <a:spAutoFit/>
          </a:bodyPr>
          <a:lstStyle/>
          <a:p>
            <a:pPr algn="l"/>
            <a:r>
              <a:rPr sz="1100" b="0" i="0">
                <a:solidFill>
                  <a:srgbClr val="6B6690"/>
                </a:solidFill>
                <a:latin typeface="Calibri"/>
              </a:rPr>
              <a:t>Chips and cold drink 3.39, coriander and green chillies 3.00, bread and butter 2.21. Milk takes no slot.</a:t>
            </a:r>
          </a:p>
        </p:txBody>
      </p:sp>
      <p:sp>
        <p:nvSpPr>
          <p:cNvPr id="15" name="Rounded Rectangle 14"/>
          <p:cNvSpPr/>
          <p:nvPr/>
        </p:nvSpPr>
        <p:spPr>
          <a:xfrm>
            <a:off x="4301642" y="1956816"/>
            <a:ext cx="3588410"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eye_6af225eae812.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WATCH</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One strong, thin pair</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Ice cream and chocolate sauce: lift 4.60 on 100 carts, tested before it is promoted.</a:t>
            </a:r>
          </a:p>
        </p:txBody>
      </p:sp>
      <p:sp>
        <p:nvSpPr>
          <p:cNvPr id="21" name="Rounded Rectangle 20"/>
          <p:cNvSpPr/>
          <p:nvPr/>
        </p:nvSpPr>
        <p:spPr>
          <a:xfrm>
            <a:off x="8072932" y="1956816"/>
            <a:ext cx="3588410" cy="238556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indian-rupee_76b0281c013b.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PRICE</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A slot, in rupees</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Rs 17,280 a day with a pair that beats chance, Rs 3,240 with milk; re-ranking recovers Rs 6.3 lakh a month.</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29" name="Oval 28"/>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31" name="Oval 30"/>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4 / 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together mean?</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Which items go together on twelve real carts, counted three ways by hand before any code opens?</a:t>
            </a:r>
          </a:p>
        </p:txBody>
      </p:sp>
      <p:sp>
        <p:nvSpPr>
          <p:cNvPr id="10" name="Rounded Rectangle 9"/>
          <p:cNvSpPr/>
          <p:nvPr/>
        </p:nvSpPr>
        <p:spPr>
          <a:xfrm>
            <a:off x="731519"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together mean?</a:t>
            </a:r>
          </a:p>
        </p:txBody>
      </p:sp>
      <p:sp>
        <p:nvSpPr>
          <p:cNvPr id="11" name="Rounded Rectangle 10"/>
          <p:cNvSpPr/>
          <p:nvPr/>
        </p:nvSpPr>
        <p:spPr>
          <a:xfrm>
            <a:off x="2628191"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40,000 carts say?</a:t>
            </a:r>
          </a:p>
        </p:txBody>
      </p:sp>
      <p:sp>
        <p:nvSpPr>
          <p:cNvPr id="12" name="Rounded Rectangle 11"/>
          <p:cNvSpPr/>
          <p:nvPr/>
        </p:nvSpPr>
        <p:spPr>
          <a:xfrm>
            <a:off x="4584078"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fills the strip?</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3. Instamart Pune: strip click-through fell from 6.1 to 3.8 percent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 / 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counts and one limit, climbed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category manager, who picks what the strip may suggest: a strip filled on the wrong count wastes the three spaces under every cart.</a:t>
            </a:r>
          </a:p>
        </p:txBody>
      </p:sp>
      <p:sp>
        <p:nvSpPr>
          <p:cNvPr id="12" name="Rectangle 11"/>
          <p:cNvSpPr/>
          <p:nvPr/>
        </p:nvSpPr>
        <p:spPr>
          <a:xfrm>
            <a:off x="1853145" y="34960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HOW OFTEN?</a:t>
            </a:r>
          </a:p>
        </p:txBody>
      </p:sp>
      <p:sp>
        <p:nvSpPr>
          <p:cNvPr id="14" name="Oval 13"/>
          <p:cNvSpPr/>
          <p:nvPr/>
        </p:nvSpPr>
        <p:spPr>
          <a:xfrm>
            <a:off x="175256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Support</a:t>
            </a:r>
          </a:p>
        </p:txBody>
      </p:sp>
      <p:sp>
        <p:nvSpPr>
          <p:cNvPr id="17" name="TextBox 16"/>
          <p:cNvSpPr txBox="1"/>
          <p:nvPr/>
        </p:nvSpPr>
        <p:spPr>
          <a:xfrm>
            <a:off x="694944"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Carts holding both items, over all carts.</a:t>
            </a:r>
          </a:p>
        </p:txBody>
      </p:sp>
      <p:sp>
        <p:nvSpPr>
          <p:cNvPr id="18" name="TextBox 17"/>
          <p:cNvSpPr txBox="1"/>
          <p:nvPr/>
        </p:nvSpPr>
        <p:spPr>
          <a:xfrm>
            <a:off x="3358819"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HOW RELIABLY?</a:t>
            </a:r>
          </a:p>
        </p:txBody>
      </p:sp>
      <p:sp>
        <p:nvSpPr>
          <p:cNvPr id="19" name="Oval 18"/>
          <p:cNvSpPr/>
          <p:nvPr/>
        </p:nvSpPr>
        <p:spPr>
          <a:xfrm>
            <a:off x="458102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358819"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3411"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Confidence</a:t>
            </a:r>
          </a:p>
        </p:txBody>
      </p:sp>
      <p:sp>
        <p:nvSpPr>
          <p:cNvPr id="22" name="TextBox 21"/>
          <p:cNvSpPr txBox="1"/>
          <p:nvPr/>
        </p:nvSpPr>
        <p:spPr>
          <a:xfrm>
            <a:off x="3523411"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Of the carts holding A, the share that also hold B.</a:t>
            </a:r>
          </a:p>
        </p:txBody>
      </p:sp>
      <p:sp>
        <p:nvSpPr>
          <p:cNvPr id="23" name="TextBox 22"/>
          <p:cNvSpPr txBox="1"/>
          <p:nvPr/>
        </p:nvSpPr>
        <p:spPr>
          <a:xfrm>
            <a:off x="6187287"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AGAINST CHANCE?</a:t>
            </a:r>
          </a:p>
        </p:txBody>
      </p:sp>
      <p:sp>
        <p:nvSpPr>
          <p:cNvPr id="24" name="Oval 23"/>
          <p:cNvSpPr/>
          <p:nvPr/>
        </p:nvSpPr>
        <p:spPr>
          <a:xfrm>
            <a:off x="740949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87287"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51879"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Lift</a:t>
            </a:r>
          </a:p>
        </p:txBody>
      </p:sp>
      <p:sp>
        <p:nvSpPr>
          <p:cNvPr id="27" name="TextBox 26"/>
          <p:cNvSpPr txBox="1"/>
          <p:nvPr/>
        </p:nvSpPr>
        <p:spPr>
          <a:xfrm>
            <a:off x="6351879"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Carts seen holding both, over the carts chance alone would give.</a:t>
            </a:r>
          </a:p>
        </p:txBody>
      </p:sp>
      <p:sp>
        <p:nvSpPr>
          <p:cNvPr id="28" name="TextBox 27"/>
          <p:cNvSpPr txBox="1"/>
          <p:nvPr/>
        </p:nvSpPr>
        <p:spPr>
          <a:xfrm>
            <a:off x="9015755"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HOW FAR?</a:t>
            </a:r>
          </a:p>
        </p:txBody>
      </p:sp>
      <p:sp>
        <p:nvSpPr>
          <p:cNvPr id="29" name="Oval 28"/>
          <p:cNvSpPr/>
          <p:nvPr/>
        </p:nvSpPr>
        <p:spPr>
          <a:xfrm>
            <a:off x="1023796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5755"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347" y="3962400"/>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twelve cannot say</a:t>
            </a:r>
          </a:p>
        </p:txBody>
      </p:sp>
      <p:sp>
        <p:nvSpPr>
          <p:cNvPr id="32" name="TextBox 31"/>
          <p:cNvSpPr txBox="1"/>
          <p:nvPr/>
        </p:nvSpPr>
        <p:spPr>
          <a:xfrm>
            <a:off x="9180347" y="4250182"/>
            <a:ext cx="2316403" cy="366776"/>
          </a:xfrm>
          <a:prstGeom prst="rect">
            <a:avLst/>
          </a:prstGeom>
          <a:noFill/>
        </p:spPr>
        <p:txBody>
          <a:bodyPr wrap="square" anchor="t" lIns="0" rIns="0" tIns="0" bIns="0">
            <a:spAutoFit/>
          </a:bodyPr>
          <a:lstStyle/>
          <a:p>
            <a:pPr algn="l"/>
            <a:r>
              <a:rPr sz="1000" b="0" i="0">
                <a:solidFill>
                  <a:srgbClr val="6B6690"/>
                </a:solidFill>
                <a:latin typeface="Calibri"/>
              </a:rPr>
              <a:t>Whether a pull on four carts is real or luck.</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37" name="Oval 3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tea-stall sentence is wrong?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Ten invented orders: chai on 6, biscuit on 4, both on 3. Which reading fails?</a:t>
            </a:r>
          </a:p>
        </p:txBody>
      </p:sp>
      <p:sp>
        <p:nvSpPr>
          <p:cNvPr id="9" name="Rounded Rectangle 8"/>
          <p:cNvSpPr/>
          <p:nvPr/>
        </p:nvSpPr>
        <p:spPr>
          <a:xfrm>
            <a:off x="530352"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list_637b34e7c72a.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Support is 0.30</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Orders holding both, over all ten: 3 of 10.</a:t>
            </a:r>
          </a:p>
        </p:txBody>
      </p:sp>
      <p:sp>
        <p:nvSpPr>
          <p:cNvPr id="15" name="Rounded Rectangle 14"/>
          <p:cNvSpPr/>
          <p:nvPr/>
        </p:nvSpPr>
        <p:spPr>
          <a:xfrm>
            <a:off x="3358819"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list_637b34e7c72a.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Confidence is 0.50</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Of the 6 chai orders, the share with biscuit: 3 of 6.</a:t>
            </a:r>
          </a:p>
        </p:txBody>
      </p:sp>
      <p:sp>
        <p:nvSpPr>
          <p:cNvPr id="21" name="Rounded Rectangle 20"/>
          <p:cNvSpPr/>
          <p:nvPr/>
        </p:nvSpPr>
        <p:spPr>
          <a:xfrm>
            <a:off x="6187287"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list_637b34e7c72a.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Lift is 1.25 both ways</a:t>
            </a:r>
          </a:p>
        </p:txBody>
      </p:sp>
      <p:sp>
        <p:nvSpPr>
          <p:cNvPr id="26" name="TextBox 25"/>
          <p:cNvSpPr txBox="1"/>
          <p:nvPr/>
        </p:nvSpPr>
        <p:spPr>
          <a:xfrm>
            <a:off x="6388455"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Seen together 3; chance gives 2.4; the ratio reads the same from biscuit.</a:t>
            </a:r>
          </a:p>
        </p:txBody>
      </p:sp>
      <p:sp>
        <p:nvSpPr>
          <p:cNvPr id="27" name="Rounded Rectangle 26"/>
          <p:cNvSpPr/>
          <p:nvPr/>
        </p:nvSpPr>
        <p:spPr>
          <a:xfrm>
            <a:off x="9015755"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_637b34e7c72a.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Chai lifts biscuit sales 25%</a:t>
            </a:r>
          </a:p>
        </p:txBody>
      </p:sp>
      <p:sp>
        <p:nvSpPr>
          <p:cNvPr id="32" name="TextBox 31"/>
          <p:cNvSpPr txBox="1"/>
          <p:nvPr/>
        </p:nvSpPr>
        <p:spPr>
          <a:xfrm>
            <a:off x="9216923"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Chai makes a customer buy a quarter more biscuits.</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37" name="Oval 3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41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d, since lift counts and never names a cause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lift of 1.25 say, read off the dots?</a:t>
            </a:r>
          </a:p>
        </p:txBody>
      </p:sp>
      <p:pic>
        <p:nvPicPr>
          <p:cNvPr id="9" name="mermaid diagram" descr="C2_W04_D03_ten_dots_STUDENT.png"/>
          <p:cNvPicPr>
            <a:picLocks noChangeAspect="1"/>
          </p:cNvPicPr>
          <p:nvPr/>
        </p:nvPicPr>
        <p:blipFill>
          <a:blip r:embed="rId4"/>
          <a:stretch>
            <a:fillRect/>
          </a:stretch>
        </p:blipFill>
        <p:spPr>
          <a:xfrm>
            <a:off x="2111716" y="1664208"/>
            <a:ext cx="7968261"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ten invented tea-stall orders as dots in two circles, beside the 2 by 2 table of counts</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If chai and biscuit ignored each other, 60 percent of the 4 biscuit orders, 2.4 orders, would hold chai. Three do. Lift is 3 / 2.4 = 1.25, and from biscuit's side it is 0.75 / 0.60, the same 1.25. The pair turns up a quarter more often than chance would put it there; ten receipts cannot say why.</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6" name="Oval 15"/>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carry bag: confidence 0.75, lift 0.83</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can a partner look reliable and still sit below chance?</a:t>
            </a:r>
          </a:p>
        </p:txBody>
      </p:sp>
      <p:pic>
        <p:nvPicPr>
          <p:cNvPr id="9" name="mermaid diagram" descr="C2_W04_D03_carry_bag_STUDENT.png"/>
          <p:cNvPicPr>
            <a:picLocks noChangeAspect="1"/>
          </p:cNvPicPr>
          <p:nvPr/>
        </p:nvPicPr>
        <p:blipFill>
          <a:blip r:embed="rId4"/>
          <a:stretch>
            <a:fillRect/>
          </a:stretch>
        </p:blipFill>
        <p:spPr>
          <a:xfrm>
            <a:off x="1742057" y="1664208"/>
            <a:ext cx="8707580"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Confidence from biscuit to carry bag beside the bag's share of all orders, invented counts</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Add a carry bag, invented, in 9 of the 10 orders and in 3 of the 4 biscuit orders. Confidence from biscuit to bag is 0.75, which sounds like a bundle. The bag is in 0.90 of all orders, so lift is 0.75 / 0.90 = 0.83: biscuit orders hold a bag a little less often than orders in general. The item in every bag earns high confidence toward everything.</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6" name="Oval 15"/>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Twelve real carts: milk in 8, bread in 4</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twelve of the 40,000 carts hold, card by card?</a:t>
            </a:r>
          </a:p>
        </p:txBody>
      </p:sp>
      <p:graphicFrame>
        <p:nvGraphicFramePr>
          <p:cNvPr id="9" name="Table 8"/>
          <p:cNvGraphicFramePr>
            <a:graphicFrameLocks noGrp="1"/>
          </p:cNvGraphicFramePr>
          <p:nvPr/>
        </p:nvGraphicFramePr>
        <p:xfrm>
          <a:off x="530352" y="1874012"/>
          <a:ext cx="11130991" cy="4134104"/>
        </p:xfrm>
        <a:graphic>
          <a:graphicData uri="http://schemas.openxmlformats.org/drawingml/2006/table">
            <a:tbl>
              <a:tblPr firstRow="0" bandRow="0">
                <a:tableStyleId>{2D5ABB26-0587-4C30-8999-92F81FD0307C}</a:tableStyleId>
              </a:tblPr>
              <a:tblGrid>
                <a:gridCol w="914400"/>
                <a:gridCol w="10216591"/>
              </a:tblGrid>
              <a:tr h="318008">
                <a:tc>
                  <a:txBody>
                    <a:bodyPr/>
                    <a:lstStyle/>
                    <a:p>
                      <a:r>
                        <a:rPr sz="1150" b="1" i="0">
                          <a:solidFill>
                            <a:srgbClr val="FFFFFF"/>
                          </a:solidFill>
                          <a:latin typeface="Calibri"/>
                        </a:rPr>
                        <a:t>Cart</a:t>
                      </a:r>
                    </a:p>
                  </a:txBody>
                  <a:tcPr marL="101600" marR="101600" marT="38100" marB="38100" anchor="ctr">
                    <a:solidFill>
                      <a:srgbClr val="1A0F5C"/>
                    </a:solidFill>
                  </a:tcPr>
                </a:tc>
                <a:tc>
                  <a:txBody>
                    <a:bodyPr/>
                    <a:lstStyle/>
                    <a:p>
                      <a:r>
                        <a:rPr sz="1150" b="1" i="0">
                          <a:solidFill>
                            <a:srgbClr val="FFFFFF"/>
                          </a:solidFill>
                          <a:latin typeface="Calibri"/>
                        </a:rPr>
                        <a:t>Items held</a:t>
                      </a:r>
                    </a:p>
                  </a:txBody>
                  <a:tcPr marL="101600" marR="101600" marT="38100" marB="38100" anchor="ctr">
                    <a:solidFill>
                      <a:srgbClr val="1A0F5C"/>
                    </a:solidFill>
                  </a:tcPr>
                </a:tc>
              </a:tr>
              <a:tr h="318008">
                <a:tc>
                  <a:txBody>
                    <a:bodyPr/>
                    <a:lstStyle/>
                    <a:p>
                      <a:r>
                        <a:rPr sz="1100" b="0" i="0">
                          <a:solidFill>
                            <a:srgbClr val="1A1440"/>
                          </a:solidFill>
                          <a:latin typeface="Calibri"/>
                        </a:rPr>
                        <a:t>C000098</a:t>
                      </a:r>
                    </a:p>
                  </a:txBody>
                  <a:tcPr marL="101600" marR="101600" marT="38100" marB="38100" anchor="ctr">
                    <a:solidFill>
                      <a:srgbClr val="FFFFFF"/>
                    </a:solidFill>
                  </a:tcPr>
                </a:tc>
                <a:tc>
                  <a:txBody>
                    <a:bodyPr/>
                    <a:lstStyle/>
                    <a:p>
                      <a:r>
                        <a:rPr sz="1100" b="0" i="0">
                          <a:solidFill>
                            <a:srgbClr val="1A1440"/>
                          </a:solidFill>
                          <a:latin typeface="Calibri"/>
                        </a:rPr>
                        <a:t>toned milk, bread, eggs, bananas, coriander, onions, potatoes</a:t>
                      </a:r>
                    </a:p>
                  </a:txBody>
                  <a:tcPr marL="101600" marR="101600" marT="38100" marB="38100" anchor="ctr">
                    <a:solidFill>
                      <a:srgbClr val="FFFFFF"/>
                    </a:solidFill>
                  </a:tcPr>
                </a:tc>
              </a:tr>
              <a:tr h="318008">
                <a:tc>
                  <a:txBody>
                    <a:bodyPr/>
                    <a:lstStyle/>
                    <a:p>
                      <a:r>
                        <a:rPr sz="1100" b="0" i="0">
                          <a:solidFill>
                            <a:srgbClr val="1A1440"/>
                          </a:solidFill>
                          <a:latin typeface="Calibri"/>
                        </a:rPr>
                        <a:t>C003216</a:t>
                      </a:r>
                    </a:p>
                  </a:txBody>
                  <a:tcPr marL="101600" marR="101600" marT="38100" marB="38100" anchor="ctr">
                    <a:solidFill>
                      <a:srgbClr val="F4F2FA"/>
                    </a:solidFill>
                  </a:tcPr>
                </a:tc>
                <a:tc>
                  <a:txBody>
                    <a:bodyPr/>
                    <a:lstStyle/>
                    <a:p>
                      <a:r>
                        <a:rPr sz="1100" b="0" i="0">
                          <a:solidFill>
                            <a:srgbClr val="1A1440"/>
                          </a:solidFill>
                          <a:latin typeface="Calibri"/>
                        </a:rPr>
                        <a:t>toned milk, bread, eggs, curd, bananas</a:t>
                      </a:r>
                    </a:p>
                  </a:txBody>
                  <a:tcPr marL="101600" marR="101600" marT="38100" marB="38100" anchor="ctr">
                    <a:solidFill>
                      <a:srgbClr val="F4F2FA"/>
                    </a:solidFill>
                  </a:tcPr>
                </a:tc>
              </a:tr>
              <a:tr h="318008">
                <a:tc>
                  <a:txBody>
                    <a:bodyPr/>
                    <a:lstStyle/>
                    <a:p>
                      <a:r>
                        <a:rPr sz="1100" b="0" i="0">
                          <a:solidFill>
                            <a:srgbClr val="1A1440"/>
                          </a:solidFill>
                          <a:latin typeface="Calibri"/>
                        </a:rPr>
                        <a:t>C006334</a:t>
                      </a:r>
                    </a:p>
                  </a:txBody>
                  <a:tcPr marL="101600" marR="101600" marT="38100" marB="38100" anchor="ctr">
                    <a:solidFill>
                      <a:srgbClr val="FFFFFF"/>
                    </a:solidFill>
                  </a:tcPr>
                </a:tc>
                <a:tc>
                  <a:txBody>
                    <a:bodyPr/>
                    <a:lstStyle/>
                    <a:p>
                      <a:r>
                        <a:rPr sz="1100" b="0" i="0">
                          <a:solidFill>
                            <a:srgbClr val="1A1440"/>
                          </a:solidFill>
                          <a:latin typeface="Calibri"/>
                        </a:rPr>
                        <a:t>toned milk, bread, curd, paneer, onions</a:t>
                      </a:r>
                    </a:p>
                  </a:txBody>
                  <a:tcPr marL="101600" marR="101600" marT="38100" marB="38100" anchor="ctr">
                    <a:solidFill>
                      <a:srgbClr val="FFFFFF"/>
                    </a:solidFill>
                  </a:tcPr>
                </a:tc>
              </a:tr>
              <a:tr h="318008">
                <a:tc>
                  <a:txBody>
                    <a:bodyPr/>
                    <a:lstStyle/>
                    <a:p>
                      <a:r>
                        <a:rPr sz="1100" b="0" i="0">
                          <a:solidFill>
                            <a:srgbClr val="1A1440"/>
                          </a:solidFill>
                          <a:latin typeface="Calibri"/>
                        </a:rPr>
                        <a:t>C009452</a:t>
                      </a:r>
                    </a:p>
                  </a:txBody>
                  <a:tcPr marL="101600" marR="101600" marT="38100" marB="38100" anchor="ctr">
                    <a:solidFill>
                      <a:srgbClr val="F4F2FA"/>
                    </a:solidFill>
                  </a:tcPr>
                </a:tc>
                <a:tc>
                  <a:txBody>
                    <a:bodyPr/>
                    <a:lstStyle/>
                    <a:p>
                      <a:r>
                        <a:rPr sz="1100" b="0" i="0">
                          <a:solidFill>
                            <a:srgbClr val="1A1440"/>
                          </a:solidFill>
                          <a:latin typeface="Calibri"/>
                        </a:rPr>
                        <a:t>toned milk, bread, eggs, tomatoes</a:t>
                      </a:r>
                    </a:p>
                  </a:txBody>
                  <a:tcPr marL="101600" marR="101600" marT="38100" marB="38100" anchor="ctr">
                    <a:solidFill>
                      <a:srgbClr val="F4F2FA"/>
                    </a:solidFill>
                  </a:tcPr>
                </a:tc>
              </a:tr>
              <a:tr h="318008">
                <a:tc>
                  <a:txBody>
                    <a:bodyPr/>
                    <a:lstStyle/>
                    <a:p>
                      <a:r>
                        <a:rPr sz="1100" b="0" i="0">
                          <a:solidFill>
                            <a:srgbClr val="1A1440"/>
                          </a:solidFill>
                          <a:latin typeface="Calibri"/>
                        </a:rPr>
                        <a:t>C012570</a:t>
                      </a:r>
                    </a:p>
                  </a:txBody>
                  <a:tcPr marL="101600" marR="101600" marT="38100" marB="38100" anchor="ctr">
                    <a:solidFill>
                      <a:srgbClr val="FFFFFF"/>
                    </a:solidFill>
                  </a:tcPr>
                </a:tc>
                <a:tc>
                  <a:txBody>
                    <a:bodyPr/>
                    <a:lstStyle/>
                    <a:p>
                      <a:r>
                        <a:rPr sz="1100" b="0" i="0">
                          <a:solidFill>
                            <a:srgbClr val="1A1440"/>
                          </a:solidFill>
                          <a:latin typeface="Calibri"/>
                        </a:rPr>
                        <a:t>toned milk, eggs, chips, cold drink, onions</a:t>
                      </a:r>
                    </a:p>
                  </a:txBody>
                  <a:tcPr marL="101600" marR="101600" marT="38100" marB="38100" anchor="ctr">
                    <a:solidFill>
                      <a:srgbClr val="FFFFFF"/>
                    </a:solidFill>
                  </a:tcPr>
                </a:tc>
              </a:tr>
              <a:tr h="318008">
                <a:tc>
                  <a:txBody>
                    <a:bodyPr/>
                    <a:lstStyle/>
                    <a:p>
                      <a:r>
                        <a:rPr sz="1100" b="0" i="0">
                          <a:solidFill>
                            <a:srgbClr val="1A1440"/>
                          </a:solidFill>
                          <a:latin typeface="Calibri"/>
                        </a:rPr>
                        <a:t>C015688</a:t>
                      </a:r>
                    </a:p>
                  </a:txBody>
                  <a:tcPr marL="101600" marR="101600" marT="38100" marB="38100" anchor="ctr">
                    <a:solidFill>
                      <a:srgbClr val="F4F2FA"/>
                    </a:solidFill>
                  </a:tcPr>
                </a:tc>
                <a:tc>
                  <a:txBody>
                    <a:bodyPr/>
                    <a:lstStyle/>
                    <a:p>
                      <a:r>
                        <a:rPr sz="1100" b="0" i="0">
                          <a:solidFill>
                            <a:srgbClr val="1A1440"/>
                          </a:solidFill>
                          <a:latin typeface="Calibri"/>
                        </a:rPr>
                        <a:t>toned milk, chips, cold drink, coriander</a:t>
                      </a:r>
                    </a:p>
                  </a:txBody>
                  <a:tcPr marL="101600" marR="101600" marT="38100" marB="38100" anchor="ctr">
                    <a:solidFill>
                      <a:srgbClr val="F4F2FA"/>
                    </a:solidFill>
                  </a:tcPr>
                </a:tc>
              </a:tr>
              <a:tr h="318008">
                <a:tc>
                  <a:txBody>
                    <a:bodyPr/>
                    <a:lstStyle/>
                    <a:p>
                      <a:r>
                        <a:rPr sz="1100" b="0" i="0">
                          <a:solidFill>
                            <a:srgbClr val="1A1440"/>
                          </a:solidFill>
                          <a:latin typeface="Calibri"/>
                        </a:rPr>
                        <a:t>C018806</a:t>
                      </a:r>
                    </a:p>
                  </a:txBody>
                  <a:tcPr marL="101600" marR="101600" marT="38100" marB="38100" anchor="ctr">
                    <a:solidFill>
                      <a:srgbClr val="FFFFFF"/>
                    </a:solidFill>
                  </a:tcPr>
                </a:tc>
                <a:tc>
                  <a:txBody>
                    <a:bodyPr/>
                    <a:lstStyle/>
                    <a:p>
                      <a:r>
                        <a:rPr sz="1100" b="0" i="0">
                          <a:solidFill>
                            <a:srgbClr val="1A1440"/>
                          </a:solidFill>
                          <a:latin typeface="Calibri"/>
                        </a:rPr>
                        <a:t>toned milk, bananas, onions, potatoes</a:t>
                      </a:r>
                    </a:p>
                  </a:txBody>
                  <a:tcPr marL="101600" marR="101600" marT="38100" marB="38100" anchor="ctr">
                    <a:solidFill>
                      <a:srgbClr val="FFFFFF"/>
                    </a:solidFill>
                  </a:tcPr>
                </a:tc>
              </a:tr>
              <a:tr h="318008">
                <a:tc>
                  <a:txBody>
                    <a:bodyPr/>
                    <a:lstStyle/>
                    <a:p>
                      <a:r>
                        <a:rPr sz="1100" b="0" i="0">
                          <a:solidFill>
                            <a:srgbClr val="1A1440"/>
                          </a:solidFill>
                          <a:latin typeface="Calibri"/>
                        </a:rPr>
                        <a:t>C022633</a:t>
                      </a:r>
                    </a:p>
                  </a:txBody>
                  <a:tcPr marL="101600" marR="101600" marT="38100" marB="38100" anchor="ctr">
                    <a:solidFill>
                      <a:srgbClr val="F4F2FA"/>
                    </a:solidFill>
                  </a:tcPr>
                </a:tc>
                <a:tc>
                  <a:txBody>
                    <a:bodyPr/>
                    <a:lstStyle/>
                    <a:p>
                      <a:r>
                        <a:rPr sz="1100" b="0" i="0">
                          <a:solidFill>
                            <a:srgbClr val="1A1440"/>
                          </a:solidFill>
                          <a:latin typeface="Calibri"/>
                        </a:rPr>
                        <a:t>toned milk, paneer, coriander, tomatoes</a:t>
                      </a:r>
                    </a:p>
                  </a:txBody>
                  <a:tcPr marL="101600" marR="101600" marT="38100" marB="38100" anchor="ctr">
                    <a:solidFill>
                      <a:srgbClr val="F4F2FA"/>
                    </a:solidFill>
                  </a:tcPr>
                </a:tc>
              </a:tr>
              <a:tr h="318008">
                <a:tc>
                  <a:txBody>
                    <a:bodyPr/>
                    <a:lstStyle/>
                    <a:p>
                      <a:r>
                        <a:rPr sz="1100" b="0" i="0">
                          <a:solidFill>
                            <a:srgbClr val="1A1440"/>
                          </a:solidFill>
                          <a:latin typeface="Calibri"/>
                        </a:rPr>
                        <a:t>C026803</a:t>
                      </a:r>
                    </a:p>
                  </a:txBody>
                  <a:tcPr marL="101600" marR="101600" marT="38100" marB="38100" anchor="ctr">
                    <a:solidFill>
                      <a:srgbClr val="FFFFFF"/>
                    </a:solidFill>
                  </a:tcPr>
                </a:tc>
                <a:tc>
                  <a:txBody>
                    <a:bodyPr/>
                    <a:lstStyle/>
                    <a:p>
                      <a:r>
                        <a:rPr sz="1100" b="0" i="0">
                          <a:solidFill>
                            <a:srgbClr val="1A1440"/>
                          </a:solidFill>
                          <a:latin typeface="Calibri"/>
                        </a:rPr>
                        <a:t>chips, coriander, onions, potatoes</a:t>
                      </a:r>
                    </a:p>
                  </a:txBody>
                  <a:tcPr marL="101600" marR="101600" marT="38100" marB="38100" anchor="ctr">
                    <a:solidFill>
                      <a:srgbClr val="FFFFFF"/>
                    </a:solidFill>
                  </a:tcPr>
                </a:tc>
              </a:tr>
              <a:tr h="318008">
                <a:tc>
                  <a:txBody>
                    <a:bodyPr/>
                    <a:lstStyle/>
                    <a:p>
                      <a:r>
                        <a:rPr sz="1100" b="0" i="0">
                          <a:solidFill>
                            <a:srgbClr val="1A1440"/>
                          </a:solidFill>
                          <a:latin typeface="Calibri"/>
                        </a:rPr>
                        <a:t>C030743</a:t>
                      </a:r>
                    </a:p>
                  </a:txBody>
                  <a:tcPr marL="101600" marR="101600" marT="38100" marB="38100" anchor="ctr">
                    <a:solidFill>
                      <a:srgbClr val="F4F2FA"/>
                    </a:solidFill>
                  </a:tcPr>
                </a:tc>
                <a:tc>
                  <a:txBody>
                    <a:bodyPr/>
                    <a:lstStyle/>
                    <a:p>
                      <a:r>
                        <a:rPr sz="1100" b="0" i="0">
                          <a:solidFill>
                            <a:srgbClr val="1A1440"/>
                          </a:solidFill>
                          <a:latin typeface="Calibri"/>
                        </a:rPr>
                        <a:t>cold drink, curd, bananas, tomatoes</a:t>
                      </a:r>
                    </a:p>
                  </a:txBody>
                  <a:tcPr marL="101600" marR="101600" marT="38100" marB="38100" anchor="ctr">
                    <a:solidFill>
                      <a:srgbClr val="F4F2FA"/>
                    </a:solidFill>
                  </a:tcPr>
                </a:tc>
              </a:tr>
              <a:tr h="318008">
                <a:tc>
                  <a:txBody>
                    <a:bodyPr/>
                    <a:lstStyle/>
                    <a:p>
                      <a:r>
                        <a:rPr sz="1100" b="0" i="0">
                          <a:solidFill>
                            <a:srgbClr val="1A1440"/>
                          </a:solidFill>
                          <a:latin typeface="Calibri"/>
                        </a:rPr>
                        <a:t>C033861</a:t>
                      </a:r>
                    </a:p>
                  </a:txBody>
                  <a:tcPr marL="101600" marR="101600" marT="38100" marB="38100" anchor="ctr">
                    <a:solidFill>
                      <a:srgbClr val="FFFFFF"/>
                    </a:solidFill>
                  </a:tcPr>
                </a:tc>
                <a:tc>
                  <a:txBody>
                    <a:bodyPr/>
                    <a:lstStyle/>
                    <a:p>
                      <a:r>
                        <a:rPr sz="1100" b="0" i="0">
                          <a:solidFill>
                            <a:srgbClr val="1A1440"/>
                          </a:solidFill>
                          <a:latin typeface="Calibri"/>
                        </a:rPr>
                        <a:t>eggs, ice cream, chocolate sauce</a:t>
                      </a:r>
                    </a:p>
                  </a:txBody>
                  <a:tcPr marL="101600" marR="101600" marT="38100" marB="38100" anchor="ctr">
                    <a:solidFill>
                      <a:srgbClr val="FFFFFF"/>
                    </a:solidFill>
                  </a:tcPr>
                </a:tc>
              </a:tr>
              <a:tr h="318008">
                <a:tc>
                  <a:txBody>
                    <a:bodyPr/>
                    <a:lstStyle/>
                    <a:p>
                      <a:r>
                        <a:rPr sz="1100" b="0" i="0">
                          <a:solidFill>
                            <a:srgbClr val="1A1440"/>
                          </a:solidFill>
                          <a:latin typeface="Calibri"/>
                        </a:rPr>
                        <a:t>C036979</a:t>
                      </a:r>
                    </a:p>
                  </a:txBody>
                  <a:tcPr marL="101600" marR="101600" marT="38100" marB="38100" anchor="ctr">
                    <a:solidFill>
                      <a:srgbClr val="F4F2FA"/>
                    </a:solidFill>
                  </a:tcPr>
                </a:tc>
                <a:tc>
                  <a:txBody>
                    <a:bodyPr/>
                    <a:lstStyle/>
                    <a:p>
                      <a:r>
                        <a:rPr sz="1100" b="0" i="0">
                          <a:solidFill>
                            <a:srgbClr val="1A1440"/>
                          </a:solidFill>
                          <a:latin typeface="Calibri"/>
                        </a:rPr>
                        <a:t>curd, onions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4" name="Oval 1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41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reliably does bread bring milk on twelve carts?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Bread is in 4 carts and milk in 8. What is the confidence from bread to milk?</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ercent_3c2cac06876b.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0.33</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Bread's own share of the twelve carts.</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percent_3c2cac06876b.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0.50</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share of milk carts that hold bread.</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percent_3c2cac06876b.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0.75</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Three of the four bread carts hold milk.</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percent_3c2cac06876b.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1.00</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Every bread cart holds milk.</a:t>
            </a:r>
          </a:p>
        </p:txBody>
      </p:sp>
      <p:sp>
        <p:nvSpPr>
          <p:cNvPr id="33" name="Oval 3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37" name="Oval 3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d, confidence 1.00 and lift 1.50</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the three counts read for bread and milk?</a:t>
            </a:r>
          </a:p>
        </p:txBody>
      </p:sp>
      <p:pic>
        <p:nvPicPr>
          <p:cNvPr id="9" name="mermaid diagram" descr="e38f1e2b73f1c673.png"/>
          <p:cNvPicPr>
            <a:picLocks noChangeAspect="1"/>
          </p:cNvPicPr>
          <p:nvPr/>
        </p:nvPicPr>
        <p:blipFill>
          <a:blip r:embed="rId5"/>
          <a:stretch>
            <a:fillRect/>
          </a:stretch>
        </p:blipFill>
        <p:spPr>
          <a:xfrm>
            <a:off x="780897" y="1956816"/>
            <a:ext cx="10629900" cy="1600200"/>
          </a:xfrm>
          <a:prstGeom prst="rect">
            <a:avLst/>
          </a:prstGeom>
        </p:spPr>
      </p:pic>
      <p:sp>
        <p:nvSpPr>
          <p:cNvPr id="10" name="TextBox 9"/>
          <p:cNvSpPr txBox="1"/>
          <p:nvPr/>
        </p:nvSpPr>
        <p:spPr>
          <a:xfrm>
            <a:off x="530352" y="370332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All four bread carts hold milk, so confidence is 1.00. Milk is in 8 of 12 carts anyway, so chance alone puts it in 2.67 of the four bread carts. Lift is 4 / 2.67 = 1.50: on these twelve carts, bread brings milk half again as often as chance would.</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trap: 1.00 reads like a bundle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confidence throw away that lift keeps?</a:t>
            </a:r>
          </a:p>
        </p:txBody>
      </p:sp>
      <p:pic>
        <p:nvPicPr>
          <p:cNvPr id="9" name="mermaid diagram" descr="C2_W04_D03_shrink_still_last_STUDENT.png"/>
          <p:cNvPicPr>
            <a:picLocks noChangeAspect="1"/>
          </p:cNvPicPr>
          <p:nvPr/>
        </p:nvPicPr>
        <p:blipFill>
          <a:blip r:embed="rId4"/>
          <a:stretch>
            <a:fillRect/>
          </a:stretch>
        </p:blipFill>
        <p:spPr>
          <a:xfrm>
            <a:off x="2400720" y="1664208"/>
            <a:ext cx="7390253"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The twelve carts, then only the four bread carts, then the four that also hold milk</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The plausible wrong answer: "confidence 1.00, so show milk beside bread." Confidence looked only inside the four bread carts. The check: milk is in 8 of 12 carts anyway. The fix: read lift, 1.50, on too few carts to trust.</a:t>
            </a:r>
          </a:p>
        </p:txBody>
      </p:sp>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6" name="Oval 15"/>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13 / 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Chips and cold drink beat chance; one cart cannot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the other two pairs on the cards read?</a:t>
            </a:r>
          </a:p>
        </p:txBody>
      </p:sp>
      <p:graphicFrame>
        <p:nvGraphicFramePr>
          <p:cNvPr id="9" name="Table 8"/>
          <p:cNvGraphicFramePr>
            <a:graphicFrameLocks noGrp="1"/>
          </p:cNvGraphicFramePr>
          <p:nvPr/>
        </p:nvGraphicFramePr>
        <p:xfrm>
          <a:off x="530352" y="1956816"/>
          <a:ext cx="11130989" cy="1005840"/>
        </p:xfrm>
        <a:graphic>
          <a:graphicData uri="http://schemas.openxmlformats.org/drawingml/2006/table">
            <a:tbl>
              <a:tblPr firstRow="0" bandRow="0">
                <a:tableStyleId>{2D5ABB26-0587-4C30-8999-92F81FD0307C}</a:tableStyleId>
              </a:tblPr>
              <a:tblGrid>
                <a:gridCol w="3077117"/>
                <a:gridCol w="1734341"/>
                <a:gridCol w="1734341"/>
                <a:gridCol w="914400"/>
                <a:gridCol w="2756390"/>
                <a:gridCol w="914400"/>
              </a:tblGrid>
              <a:tr h="335280">
                <a:tc>
                  <a:txBody>
                    <a:bodyPr/>
                    <a:lstStyle/>
                    <a:p>
                      <a:r>
                        <a:rPr sz="1250" b="1" i="0">
                          <a:solidFill>
                            <a:srgbClr val="FFFFFF"/>
                          </a:solidFill>
                          <a:latin typeface="Calibri"/>
                        </a:rPr>
                        <a:t>Pair</a:t>
                      </a:r>
                    </a:p>
                  </a:txBody>
                  <a:tcPr marL="101600" marR="101600" marT="38100" marB="38100" anchor="ctr">
                    <a:solidFill>
                      <a:srgbClr val="1A0F5C"/>
                    </a:solidFill>
                  </a:tcPr>
                </a:tc>
                <a:tc>
                  <a:txBody>
                    <a:bodyPr/>
                    <a:lstStyle/>
                    <a:p>
                      <a:r>
                        <a:rPr sz="1250" b="1" i="0">
                          <a:solidFill>
                            <a:srgbClr val="FFFFFF"/>
                          </a:solidFill>
                          <a:latin typeface="Calibri"/>
                        </a:rPr>
                        <a:t>Carts with A</a:t>
                      </a:r>
                    </a:p>
                  </a:txBody>
                  <a:tcPr marL="101600" marR="101600" marT="38100" marB="38100" anchor="ctr">
                    <a:solidFill>
                      <a:srgbClr val="1A0F5C"/>
                    </a:solidFill>
                  </a:tcPr>
                </a:tc>
                <a:tc>
                  <a:txBody>
                    <a:bodyPr/>
                    <a:lstStyle/>
                    <a:p>
                      <a:r>
                        <a:rPr sz="1250" b="1" i="0">
                          <a:solidFill>
                            <a:srgbClr val="FFFFFF"/>
                          </a:solidFill>
                          <a:latin typeface="Calibri"/>
                        </a:rPr>
                        <a:t>Carts with B</a:t>
                      </a:r>
                    </a:p>
                  </a:txBody>
                  <a:tcPr marL="101600" marR="101600" marT="38100" marB="38100" anchor="ctr">
                    <a:solidFill>
                      <a:srgbClr val="1A0F5C"/>
                    </a:solidFill>
                  </a:tcPr>
                </a:tc>
                <a:tc>
                  <a:txBody>
                    <a:bodyPr/>
                    <a:lstStyle/>
                    <a:p>
                      <a:r>
                        <a:rPr sz="1250" b="1" i="0">
                          <a:solidFill>
                            <a:srgbClr val="FFFFFF"/>
                          </a:solidFill>
                          <a:latin typeface="Calibri"/>
                        </a:rPr>
                        <a:t>Both</a:t>
                      </a:r>
                    </a:p>
                  </a:txBody>
                  <a:tcPr marL="101600" marR="101600" marT="38100" marB="38100" anchor="ctr">
                    <a:solidFill>
                      <a:srgbClr val="1A0F5C"/>
                    </a:solidFill>
                  </a:tcPr>
                </a:tc>
                <a:tc>
                  <a:txBody>
                    <a:bodyPr/>
                    <a:lstStyle/>
                    <a:p>
                      <a:r>
                        <a:rPr sz="1250" b="1" i="0">
                          <a:solidFill>
                            <a:srgbClr val="FFFFFF"/>
                          </a:solidFill>
                          <a:latin typeface="Calibri"/>
                        </a:rPr>
                        <a:t>Expected by chance</a:t>
                      </a:r>
                    </a:p>
                  </a:txBody>
                  <a:tcPr marL="101600" marR="101600" marT="38100" marB="38100" anchor="ctr">
                    <a:solidFill>
                      <a:srgbClr val="1A0F5C"/>
                    </a:solidFill>
                  </a:tcPr>
                </a:tc>
                <a:tc>
                  <a:txBody>
                    <a:bodyPr/>
                    <a:lstStyle/>
                    <a:p>
                      <a:r>
                        <a:rPr sz="1250" b="1" i="0">
                          <a:solidFill>
                            <a:srgbClr val="FFFFFF"/>
                          </a:solidFill>
                          <a:latin typeface="Calibri"/>
                        </a:rPr>
                        <a:t>Lift</a:t>
                      </a:r>
                    </a:p>
                  </a:txBody>
                  <a:tcPr marL="101600" marR="101600" marT="38100" marB="38100" anchor="ctr">
                    <a:solidFill>
                      <a:srgbClr val="1A0F5C"/>
                    </a:solidFill>
                  </a:tcPr>
                </a:tc>
              </a:tr>
              <a:tr h="335280">
                <a:tc>
                  <a:txBody>
                    <a:bodyPr/>
                    <a:lstStyle/>
                    <a:p>
                      <a:r>
                        <a:rPr sz="1200" b="0" i="0">
                          <a:solidFill>
                            <a:srgbClr val="1A1440"/>
                          </a:solidFill>
                          <a:latin typeface="Calibri"/>
                        </a:rPr>
                        <a:t>chips, cold drink</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3</a:t>
                      </a:r>
                    </a:p>
                  </a:txBody>
                  <a:tcPr marL="101600" marR="101600" marT="38100" marB="38100" anchor="ctr">
                    <a:solidFill>
                      <a:srgbClr val="FFFFFF"/>
                    </a:solidFill>
                  </a:tcPr>
                </a:tc>
                <a:tc>
                  <a:txBody>
                    <a:bodyPr/>
                    <a:lstStyle/>
                    <a:p>
                      <a:r>
                        <a:rPr sz="1200" b="0" i="0">
                          <a:solidFill>
                            <a:srgbClr val="1A1440"/>
                          </a:solidFill>
                          <a:latin typeface="Calibri"/>
                        </a:rPr>
                        <a:t>2</a:t>
                      </a:r>
                    </a:p>
                  </a:txBody>
                  <a:tcPr marL="101600" marR="101600" marT="38100" marB="38100" anchor="ctr">
                    <a:solidFill>
                      <a:srgbClr val="FFFFFF"/>
                    </a:solidFill>
                  </a:tcPr>
                </a:tc>
                <a:tc>
                  <a:txBody>
                    <a:bodyPr/>
                    <a:lstStyle/>
                    <a:p>
                      <a:r>
                        <a:rPr sz="1200" b="0" i="0">
                          <a:solidFill>
                            <a:srgbClr val="1A1440"/>
                          </a:solidFill>
                          <a:latin typeface="Calibri"/>
                        </a:rPr>
                        <a:t>12 x 3/12 x 3/12 = 0.75</a:t>
                      </a:r>
                    </a:p>
                  </a:txBody>
                  <a:tcPr marL="101600" marR="101600" marT="38100" marB="38100" anchor="ctr">
                    <a:solidFill>
                      <a:srgbClr val="FFFFFF"/>
                    </a:solidFill>
                  </a:tcPr>
                </a:tc>
                <a:tc>
                  <a:txBody>
                    <a:bodyPr/>
                    <a:lstStyle/>
                    <a:p>
                      <a:r>
                        <a:rPr sz="1200" b="0" i="0">
                          <a:solidFill>
                            <a:srgbClr val="1A1440"/>
                          </a:solidFill>
                          <a:latin typeface="Calibri"/>
                        </a:rPr>
                        <a:t>2.67</a:t>
                      </a:r>
                    </a:p>
                  </a:txBody>
                  <a:tcPr marL="101600" marR="101600" marT="38100" marB="38100" anchor="ctr">
                    <a:solidFill>
                      <a:srgbClr val="FFFFFF"/>
                    </a:solidFill>
                  </a:tcPr>
                </a:tc>
              </a:tr>
              <a:tr h="335280">
                <a:tc>
                  <a:txBody>
                    <a:bodyPr/>
                    <a:lstStyle/>
                    <a:p>
                      <a:r>
                        <a:rPr sz="1200" b="0" i="0">
                          <a:solidFill>
                            <a:srgbClr val="1A1440"/>
                          </a:solidFill>
                          <a:latin typeface="Calibri"/>
                        </a:rPr>
                        <a:t>ice cream, chocolate sauce</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12 x 1/12 x 1/12 = 0.08</a:t>
                      </a:r>
                    </a:p>
                  </a:txBody>
                  <a:tcPr marL="101600" marR="101600" marT="38100" marB="38100" anchor="ctr">
                    <a:solidFill>
                      <a:srgbClr val="F4F2FA"/>
                    </a:solidFill>
                  </a:tcPr>
                </a:tc>
                <a:tc>
                  <a:txBody>
                    <a:bodyPr/>
                    <a:lstStyle/>
                    <a:p>
                      <a:r>
                        <a:rPr sz="1200" b="0" i="0">
                          <a:solidFill>
                            <a:srgbClr val="1A1440"/>
                          </a:solidFill>
                          <a:latin typeface="Calibri"/>
                        </a:rPr>
                        <a:t>12</a:t>
                      </a:r>
                    </a:p>
                  </a:txBody>
                  <a:tcPr marL="101600" marR="101600" marT="38100" marB="38100" anchor="ctr">
                    <a:solidFill>
                      <a:srgbClr val="F4F2FA"/>
                    </a:solidFill>
                  </a:tcPr>
                </a:tc>
              </a:tr>
            </a:tbl>
          </a:graphicData>
        </a:graphic>
      </p:graphicFrame>
      <p:sp>
        <p:nvSpPr>
          <p:cNvPr id="10" name="TextBox 9"/>
          <p:cNvSpPr txBox="1"/>
          <p:nvPr/>
        </p:nvSpPr>
        <p:spPr>
          <a:xfrm>
            <a:off x="530352" y="321868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Chips and cold drink share 2 carts where chance gives 0.75: lift 2.67, a pull between two items that are each in only 3 carts. Ice cream and chocolate sauce share a single cart, and one cart makes a lift of 12, a number with nothing under it.</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14 /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counts, one trap, and what twelve cannot say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twelve carts answer, and where does lift lead this week?</a:t>
            </a:r>
          </a:p>
        </p:txBody>
      </p:sp>
      <p:pic>
        <p:nvPicPr>
          <p:cNvPr id="9" name="mermaid diagram" descr="4f73ffbb2de24498.png"/>
          <p:cNvPicPr>
            <a:picLocks noChangeAspect="1"/>
          </p:cNvPicPr>
          <p:nvPr/>
        </p:nvPicPr>
        <p:blipFill>
          <a:blip r:embed="rId5"/>
          <a:stretch>
            <a:fillRect/>
          </a:stretch>
        </p:blipFill>
        <p:spPr>
          <a:xfrm>
            <a:off x="780897" y="1822037"/>
            <a:ext cx="10629900" cy="3043237"/>
          </a:xfrm>
          <a:prstGeom prst="rect">
            <a:avLst/>
          </a:prstGeom>
        </p:spPr>
      </p:pic>
      <p:sp>
        <p:nvSpPr>
          <p:cNvPr id="10" name="TextBox 9"/>
          <p:cNvSpPr txBox="1"/>
          <p:nvPr/>
        </p:nvSpPr>
        <p:spPr>
          <a:xfrm>
            <a:off x="530352" y="5011578"/>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Lift joins the week's map as "beyond chance": Thursday asks the same of a cohort against the blend, Friday of a forecast against the baseline. Twelve carts cannot say whether 1.50 is a real pull or four lucky carts.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together mean?</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15 / 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 40,000 carts say?</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do support, confidence and lift say across every cart, and why did the click-through fall?</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together mean?</a:t>
            </a:r>
          </a:p>
        </p:txBody>
      </p:sp>
      <p:sp>
        <p:nvSpPr>
          <p:cNvPr id="11" name="Rounded Rectangle 10"/>
          <p:cNvSpPr/>
          <p:nvPr/>
        </p:nvSpPr>
        <p:spPr>
          <a:xfrm>
            <a:off x="2628191"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 40,000 carts say?</a:t>
            </a:r>
          </a:p>
        </p:txBody>
      </p:sp>
      <p:sp>
        <p:nvSpPr>
          <p:cNvPr id="12" name="Rounded Rectangle 11"/>
          <p:cNvSpPr/>
          <p:nvPr/>
        </p:nvSpPr>
        <p:spPr>
          <a:xfrm>
            <a:off x="4584078"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fills the strip?</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3. Instamart Pune: strip click-through fell from 6.1 to 3.8 percent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16 / 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questions from counts to the fall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growth lead, who explains the fall on Friday, against a category manager who defends milk because it is the top seller.</a:t>
            </a:r>
          </a:p>
        </p:txBody>
      </p:sp>
      <p:sp>
        <p:nvSpPr>
          <p:cNvPr id="12" name="Rectangle 11"/>
          <p:cNvSpPr/>
          <p:nvPr/>
        </p:nvSpPr>
        <p:spPr>
          <a:xfrm>
            <a:off x="1853145" y="34960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75256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How often is each item in a cart?</a:t>
            </a:r>
          </a:p>
        </p:txBody>
      </p:sp>
      <p:sp>
        <p:nvSpPr>
          <p:cNvPr id="17" name="TextBox 16"/>
          <p:cNvSpPr txBox="1"/>
          <p:nvPr/>
        </p:nvSpPr>
        <p:spPr>
          <a:xfrm>
            <a:off x="694944" y="4464812"/>
            <a:ext cx="2316403" cy="366776"/>
          </a:xfrm>
          <a:prstGeom prst="rect">
            <a:avLst/>
          </a:prstGeom>
          <a:noFill/>
        </p:spPr>
        <p:txBody>
          <a:bodyPr wrap="square" anchor="t" lIns="0" rIns="0" tIns="0" bIns="0">
            <a:spAutoFit/>
          </a:bodyPr>
          <a:lstStyle/>
          <a:p>
            <a:pPr algn="l"/>
            <a:r>
              <a:rPr sz="1000" b="0" i="0">
                <a:solidFill>
                  <a:srgbClr val="6B6690"/>
                </a:solidFill>
                <a:latin typeface="Calibri"/>
              </a:rPr>
              <a:t>Each item's share of the 40,000 carts.</a:t>
            </a:r>
          </a:p>
        </p:txBody>
      </p:sp>
      <p:sp>
        <p:nvSpPr>
          <p:cNvPr id="18" name="TextBox 17"/>
          <p:cNvSpPr txBox="1"/>
          <p:nvPr/>
        </p:nvSpPr>
        <p:spPr>
          <a:xfrm>
            <a:off x="3358819"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458102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358819"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3411"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pairs sit together most often?</a:t>
            </a:r>
          </a:p>
        </p:txBody>
      </p:sp>
      <p:sp>
        <p:nvSpPr>
          <p:cNvPr id="22" name="TextBox 21"/>
          <p:cNvSpPr txBox="1"/>
          <p:nvPr/>
        </p:nvSpPr>
        <p:spPr>
          <a:xfrm>
            <a:off x="3523411" y="4464812"/>
            <a:ext cx="2316403" cy="366776"/>
          </a:xfrm>
          <a:prstGeom prst="rect">
            <a:avLst/>
          </a:prstGeom>
          <a:noFill/>
        </p:spPr>
        <p:txBody>
          <a:bodyPr wrap="square" anchor="t" lIns="0" rIns="0" tIns="0" bIns="0">
            <a:spAutoFit/>
          </a:bodyPr>
          <a:lstStyle/>
          <a:p>
            <a:pPr algn="l"/>
            <a:r>
              <a:rPr sz="1000" b="0" i="0">
                <a:solidFill>
                  <a:srgbClr val="6B6690"/>
                </a:solidFill>
                <a:latin typeface="Calibri"/>
              </a:rPr>
              <a:t>And is that count the ranking the strip should use?</a:t>
            </a:r>
          </a:p>
        </p:txBody>
      </p:sp>
      <p:sp>
        <p:nvSpPr>
          <p:cNvPr id="23" name="TextBox 22"/>
          <p:cNvSpPr txBox="1"/>
          <p:nvPr/>
        </p:nvSpPr>
        <p:spPr>
          <a:xfrm>
            <a:off x="6187287"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740949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87287"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51879"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does lift say about milk?</a:t>
            </a:r>
          </a:p>
        </p:txBody>
      </p:sp>
      <p:sp>
        <p:nvSpPr>
          <p:cNvPr id="27" name="TextBox 26"/>
          <p:cNvSpPr txBox="1"/>
          <p:nvPr/>
        </p:nvSpPr>
        <p:spPr>
          <a:xfrm>
            <a:off x="6351879" y="4464812"/>
            <a:ext cx="2316403" cy="366776"/>
          </a:xfrm>
          <a:prstGeom prst="rect">
            <a:avLst/>
          </a:prstGeom>
          <a:noFill/>
        </p:spPr>
        <p:txBody>
          <a:bodyPr wrap="square" anchor="t" lIns="0" rIns="0" tIns="0" bIns="0">
            <a:spAutoFit/>
          </a:bodyPr>
          <a:lstStyle/>
          <a:p>
            <a:pPr algn="l"/>
            <a:r>
              <a:rPr sz="1000" b="0" i="0">
                <a:solidFill>
                  <a:srgbClr val="6B6690"/>
                </a:solidFill>
                <a:latin typeface="Calibri"/>
              </a:rPr>
              <a:t>For every item in at least 2 percent of carts.</a:t>
            </a:r>
          </a:p>
        </p:txBody>
      </p:sp>
      <p:sp>
        <p:nvSpPr>
          <p:cNvPr id="28" name="TextBox 27"/>
          <p:cNvSpPr txBox="1"/>
          <p:nvPr/>
        </p:nvSpPr>
        <p:spPr>
          <a:xfrm>
            <a:off x="9015755"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1023796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5755" y="3816096"/>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347"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Why did the click-through fall?</a:t>
            </a:r>
          </a:p>
        </p:txBody>
      </p:sp>
      <p:sp>
        <p:nvSpPr>
          <p:cNvPr id="32" name="TextBox 31"/>
          <p:cNvSpPr txBox="1"/>
          <p:nvPr/>
        </p:nvSpPr>
        <p:spPr>
          <a:xfrm>
            <a:off x="9180347" y="4464812"/>
            <a:ext cx="2316403" cy="201676"/>
          </a:xfrm>
          <a:prstGeom prst="rect">
            <a:avLst/>
          </a:prstGeom>
          <a:noFill/>
        </p:spPr>
        <p:txBody>
          <a:bodyPr wrap="square" anchor="t" lIns="0" rIns="0" tIns="0" bIns="0">
            <a:spAutoFit/>
          </a:bodyPr>
          <a:lstStyle/>
          <a:p>
            <a:pPr algn="l"/>
            <a:r>
              <a:rPr sz="1000" b="0" i="0">
                <a:solidFill>
                  <a:srgbClr val="6B6690"/>
                </a:solidFill>
                <a:latin typeface="Calibri"/>
              </a:rPr>
              <a:t>Split by what each slot suggested.</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5" name="Oval 3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37" name="Oval 3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41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pair sits together most often?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Rank all 40,000 carts' pairs by count. Which pair comes first?</a:t>
            </a:r>
          </a:p>
        </p:txBody>
      </p:sp>
      <p:sp>
        <p:nvSpPr>
          <p:cNvPr id="9" name="Rounded Rectangle 8"/>
          <p:cNvSpPr/>
          <p:nvPr/>
        </p:nvSpPr>
        <p:spPr>
          <a:xfrm>
            <a:off x="530352" y="1956816"/>
            <a:ext cx="2645587" cy="200558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hopping-cart_3d6cc98c6b44.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Chips and cold drink</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pair that beat chance on the cards.</a:t>
            </a:r>
          </a:p>
        </p:txBody>
      </p:sp>
      <p:sp>
        <p:nvSpPr>
          <p:cNvPr id="15" name="Rounded Rectangle 14"/>
          <p:cNvSpPr/>
          <p:nvPr/>
        </p:nvSpPr>
        <p:spPr>
          <a:xfrm>
            <a:off x="3358819" y="1956816"/>
            <a:ext cx="2645587" cy="200558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hopping-cart_3d6cc98c6b44.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Bread and toned milk</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Two daily staples.</a:t>
            </a:r>
          </a:p>
        </p:txBody>
      </p:sp>
      <p:sp>
        <p:nvSpPr>
          <p:cNvPr id="21" name="Rounded Rectangle 20"/>
          <p:cNvSpPr/>
          <p:nvPr/>
        </p:nvSpPr>
        <p:spPr>
          <a:xfrm>
            <a:off x="6187287" y="1956816"/>
            <a:ext cx="2645587" cy="200558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hopping-cart_3d6cc98c6b44.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Ice cream and chocolate sauce</a:t>
            </a:r>
          </a:p>
        </p:txBody>
      </p:sp>
      <p:sp>
        <p:nvSpPr>
          <p:cNvPr id="26" name="TextBox 25"/>
          <p:cNvSpPr txBox="1"/>
          <p:nvPr/>
        </p:nvSpPr>
        <p:spPr>
          <a:xfrm>
            <a:off x="6388455" y="3534664"/>
            <a:ext cx="2243251" cy="218186"/>
          </a:xfrm>
          <a:prstGeom prst="rect">
            <a:avLst/>
          </a:prstGeom>
          <a:noFill/>
        </p:spPr>
        <p:txBody>
          <a:bodyPr wrap="square" anchor="t" lIns="0" rIns="0" tIns="0" bIns="0">
            <a:spAutoFit/>
          </a:bodyPr>
          <a:lstStyle/>
          <a:p>
            <a:pPr algn="l"/>
            <a:r>
              <a:rPr sz="1100" b="0" i="0">
                <a:solidFill>
                  <a:srgbClr val="6B6690"/>
                </a:solidFill>
                <a:latin typeface="Calibri"/>
              </a:rPr>
              <a:t>The lift of 12 on one card.</a:t>
            </a:r>
          </a:p>
        </p:txBody>
      </p:sp>
      <p:sp>
        <p:nvSpPr>
          <p:cNvPr id="27" name="Rounded Rectangle 26"/>
          <p:cNvSpPr/>
          <p:nvPr/>
        </p:nvSpPr>
        <p:spPr>
          <a:xfrm>
            <a:off x="9015755" y="1956816"/>
            <a:ext cx="2645587" cy="200558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shopping-cart_3d6cc98c6b44.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Onions and tomatoes</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The cooking pair.</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5" name="Oval 3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37" name="Oval 3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bread and milk, in 10,064 carts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ranking by count put on top?</a:t>
            </a:r>
          </a:p>
        </p:txBody>
      </p:sp>
      <p:graphicFrame>
        <p:nvGraphicFramePr>
          <p:cNvPr id="9" name="Table 8"/>
          <p:cNvGraphicFramePr>
            <a:graphicFrameLocks noGrp="1"/>
          </p:cNvGraphicFramePr>
          <p:nvPr/>
        </p:nvGraphicFramePr>
        <p:xfrm>
          <a:off x="530352" y="1956816"/>
          <a:ext cx="11130990" cy="2588768"/>
        </p:xfrm>
        <a:graphic>
          <a:graphicData uri="http://schemas.openxmlformats.org/drawingml/2006/table">
            <a:tbl>
              <a:tblPr firstRow="0" bandRow="0">
                <a:tableStyleId>{2D5ABB26-0587-4C30-8999-92F81FD0307C}</a:tableStyleId>
              </a:tblPr>
              <a:tblGrid>
                <a:gridCol w="5545676"/>
                <a:gridCol w="5585314"/>
              </a:tblGrid>
              <a:tr h="369824">
                <a:tc>
                  <a:txBody>
                    <a:bodyPr/>
                    <a:lstStyle/>
                    <a:p>
                      <a:r>
                        <a:rPr sz="1450" b="1" i="0">
                          <a:solidFill>
                            <a:srgbClr val="FFFFFF"/>
                          </a:solidFill>
                          <a:latin typeface="Calibri"/>
                        </a:rPr>
                        <a:t>Pair</a:t>
                      </a:r>
                    </a:p>
                  </a:txBody>
                  <a:tcPr marL="101600" marR="101600" marT="38100" marB="38100" anchor="ctr">
                    <a:solidFill>
                      <a:srgbClr val="1A0F5C"/>
                    </a:solidFill>
                  </a:tcPr>
                </a:tc>
                <a:tc>
                  <a:txBody>
                    <a:bodyPr/>
                    <a:lstStyle/>
                    <a:p>
                      <a:r>
                        <a:rPr sz="1450" b="1" i="0">
                          <a:solidFill>
                            <a:srgbClr val="FFFFFF"/>
                          </a:solidFill>
                          <a:latin typeface="Calibri"/>
                        </a:rPr>
                        <a:t>Carts holding both</a:t>
                      </a:r>
                    </a:p>
                  </a:txBody>
                  <a:tcPr marL="101600" marR="101600" marT="38100" marB="38100" anchor="ctr">
                    <a:solidFill>
                      <a:srgbClr val="1A0F5C"/>
                    </a:solidFill>
                  </a:tcPr>
                </a:tc>
              </a:tr>
              <a:tr h="369824">
                <a:tc>
                  <a:txBody>
                    <a:bodyPr/>
                    <a:lstStyle/>
                    <a:p>
                      <a:r>
                        <a:rPr sz="1400" b="0" i="0">
                          <a:solidFill>
                            <a:srgbClr val="1A1440"/>
                          </a:solidFill>
                          <a:latin typeface="Calibri"/>
                        </a:rPr>
                        <a:t>bread, toned milk</a:t>
                      </a:r>
                    </a:p>
                  </a:txBody>
                  <a:tcPr marL="101600" marR="101600" marT="38100" marB="38100" anchor="ctr">
                    <a:solidFill>
                      <a:srgbClr val="FFFFFF"/>
                    </a:solidFill>
                  </a:tcPr>
                </a:tc>
                <a:tc>
                  <a:txBody>
                    <a:bodyPr/>
                    <a:lstStyle/>
                    <a:p>
                      <a:r>
                        <a:rPr sz="1400" b="0" i="0">
                          <a:solidFill>
                            <a:srgbClr val="1A1440"/>
                          </a:solidFill>
                          <a:latin typeface="Calibri"/>
                        </a:rPr>
                        <a:t>10,064</a:t>
                      </a:r>
                    </a:p>
                  </a:txBody>
                  <a:tcPr marL="101600" marR="101600" marT="38100" marB="38100" anchor="ctr">
                    <a:solidFill>
                      <a:srgbClr val="FFFFFF"/>
                    </a:solidFill>
                  </a:tcPr>
                </a:tc>
              </a:tr>
              <a:tr h="369824">
                <a:tc>
                  <a:txBody>
                    <a:bodyPr/>
                    <a:lstStyle/>
                    <a:p>
                      <a:r>
                        <a:rPr sz="1400" b="0" i="0">
                          <a:solidFill>
                            <a:srgbClr val="1A1440"/>
                          </a:solidFill>
                          <a:latin typeface="Calibri"/>
                        </a:rPr>
                        <a:t>eggs, toned milk</a:t>
                      </a:r>
                    </a:p>
                  </a:txBody>
                  <a:tcPr marL="101600" marR="101600" marT="38100" marB="38100" anchor="ctr">
                    <a:solidFill>
                      <a:srgbClr val="F4F2FA"/>
                    </a:solidFill>
                  </a:tcPr>
                </a:tc>
                <a:tc>
                  <a:txBody>
                    <a:bodyPr/>
                    <a:lstStyle/>
                    <a:p>
                      <a:r>
                        <a:rPr sz="1400" b="0" i="0">
                          <a:solidFill>
                            <a:srgbClr val="1A1440"/>
                          </a:solidFill>
                          <a:latin typeface="Calibri"/>
                        </a:rPr>
                        <a:t>8,468</a:t>
                      </a:r>
                    </a:p>
                  </a:txBody>
                  <a:tcPr marL="101600" marR="101600" marT="38100" marB="38100" anchor="ctr">
                    <a:solidFill>
                      <a:srgbClr val="F4F2FA"/>
                    </a:solidFill>
                  </a:tcPr>
                </a:tc>
              </a:tr>
              <a:tr h="369824">
                <a:tc>
                  <a:txBody>
                    <a:bodyPr/>
                    <a:lstStyle/>
                    <a:p>
                      <a:r>
                        <a:rPr sz="1400" b="0" i="0">
                          <a:solidFill>
                            <a:srgbClr val="1A1440"/>
                          </a:solidFill>
                          <a:latin typeface="Calibri"/>
                        </a:rPr>
                        <a:t>curd, toned milk</a:t>
                      </a:r>
                    </a:p>
                  </a:txBody>
                  <a:tcPr marL="101600" marR="101600" marT="38100" marB="38100" anchor="ctr">
                    <a:solidFill>
                      <a:srgbClr val="FFFFFF"/>
                    </a:solidFill>
                  </a:tcPr>
                </a:tc>
                <a:tc>
                  <a:txBody>
                    <a:bodyPr/>
                    <a:lstStyle/>
                    <a:p>
                      <a:r>
                        <a:rPr sz="1400" b="0" i="0">
                          <a:solidFill>
                            <a:srgbClr val="1A1440"/>
                          </a:solidFill>
                          <a:latin typeface="Calibri"/>
                        </a:rPr>
                        <a:t>7,436</a:t>
                      </a:r>
                    </a:p>
                  </a:txBody>
                  <a:tcPr marL="101600" marR="101600" marT="38100" marB="38100" anchor="ctr">
                    <a:solidFill>
                      <a:srgbClr val="FFFFFF"/>
                    </a:solidFill>
                  </a:tcPr>
                </a:tc>
              </a:tr>
              <a:tr h="369824">
                <a:tc>
                  <a:txBody>
                    <a:bodyPr/>
                    <a:lstStyle/>
                    <a:p>
                      <a:r>
                        <a:rPr sz="1400" b="0" i="0">
                          <a:solidFill>
                            <a:srgbClr val="1A1440"/>
                          </a:solidFill>
                          <a:latin typeface="Calibri"/>
                        </a:rPr>
                        <a:t>bananas, toned milk</a:t>
                      </a:r>
                    </a:p>
                  </a:txBody>
                  <a:tcPr marL="101600" marR="101600" marT="38100" marB="38100" anchor="ctr">
                    <a:solidFill>
                      <a:srgbClr val="F4F2FA"/>
                    </a:solidFill>
                  </a:tcPr>
                </a:tc>
                <a:tc>
                  <a:txBody>
                    <a:bodyPr/>
                    <a:lstStyle/>
                    <a:p>
                      <a:r>
                        <a:rPr sz="1400" b="0" i="0">
                          <a:solidFill>
                            <a:srgbClr val="1A1440"/>
                          </a:solidFill>
                          <a:latin typeface="Calibri"/>
                        </a:rPr>
                        <a:t>6,624</a:t>
                      </a:r>
                    </a:p>
                  </a:txBody>
                  <a:tcPr marL="101600" marR="101600" marT="38100" marB="38100" anchor="ctr">
                    <a:solidFill>
                      <a:srgbClr val="F4F2FA"/>
                    </a:solidFill>
                  </a:tcPr>
                </a:tc>
              </a:tr>
              <a:tr h="369824">
                <a:tc>
                  <a:txBody>
                    <a:bodyPr/>
                    <a:lstStyle/>
                    <a:p>
                      <a:r>
                        <a:rPr sz="1400" b="0" i="0">
                          <a:solidFill>
                            <a:srgbClr val="1A1440"/>
                          </a:solidFill>
                          <a:latin typeface="Calibri"/>
                        </a:rPr>
                        <a:t>onions, toned milk</a:t>
                      </a:r>
                    </a:p>
                  </a:txBody>
                  <a:tcPr marL="101600" marR="101600" marT="38100" marB="38100" anchor="ctr">
                    <a:solidFill>
                      <a:srgbClr val="FFFFFF"/>
                    </a:solidFill>
                  </a:tcPr>
                </a:tc>
                <a:tc>
                  <a:txBody>
                    <a:bodyPr/>
                    <a:lstStyle/>
                    <a:p>
                      <a:r>
                        <a:rPr sz="1400" b="0" i="0">
                          <a:solidFill>
                            <a:srgbClr val="1A1440"/>
                          </a:solidFill>
                          <a:latin typeface="Calibri"/>
                        </a:rPr>
                        <a:t>6,248</a:t>
                      </a:r>
                    </a:p>
                  </a:txBody>
                  <a:tcPr marL="101600" marR="101600" marT="38100" marB="38100" anchor="ctr">
                    <a:solidFill>
                      <a:srgbClr val="FFFFFF"/>
                    </a:solidFill>
                  </a:tcPr>
                </a:tc>
              </a:tr>
              <a:tr h="369824">
                <a:tc>
                  <a:txBody>
                    <a:bodyPr/>
                    <a:lstStyle/>
                    <a:p>
                      <a:r>
                        <a:rPr sz="1400" b="0" i="0">
                          <a:solidFill>
                            <a:srgbClr val="1A1440"/>
                          </a:solidFill>
                          <a:latin typeface="Calibri"/>
                        </a:rPr>
                        <a:t>tomatoes, toned milk</a:t>
                      </a:r>
                    </a:p>
                  </a:txBody>
                  <a:tcPr marL="101600" marR="101600" marT="38100" marB="38100" anchor="ctr">
                    <a:solidFill>
                      <a:srgbClr val="F4F2FA"/>
                    </a:solidFill>
                  </a:tcPr>
                </a:tc>
                <a:tc>
                  <a:txBody>
                    <a:bodyPr/>
                    <a:lstStyle/>
                    <a:p>
                      <a:r>
                        <a:rPr sz="1400" b="0" i="0">
                          <a:solidFill>
                            <a:srgbClr val="1A1440"/>
                          </a:solidFill>
                          <a:latin typeface="Calibri"/>
                        </a:rPr>
                        <a:t>5,680</a:t>
                      </a:r>
                    </a:p>
                  </a:txBody>
                  <a:tcPr marL="101600" marR="101600" marT="38100" marB="38100" anchor="ctr">
                    <a:solidFill>
                      <a:srgbClr val="F4F2FA"/>
                    </a:solidFill>
                  </a:tcPr>
                </a:tc>
              </a:tr>
            </a:tbl>
          </a:graphicData>
        </a:graphic>
      </p:graphicFrame>
      <p:sp>
        <p:nvSpPr>
          <p:cNvPr id="10" name="TextBox 9"/>
          <p:cNvSpPr txBox="1"/>
          <p:nvPr/>
        </p:nvSpPr>
        <p:spPr>
          <a:xfrm>
            <a:off x="530352" y="480161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Every one of the six most frequent pairs holds milk. The plausible wrong answer is "the pairs table is the ranking": ranked by count, milk is the top partner of almost every item, which is exactly what the strip has shown since 7 September. A count rewards the popular item, whatever it is paired with.</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pair counted in five lines of pandas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the code count 40,000 carts of pairs?</a:t>
            </a:r>
          </a:p>
        </p:txBody>
      </p:sp>
      <p:sp>
        <p:nvSpPr>
          <p:cNvPr id="9" name="Rounded Rectangle 8"/>
          <p:cNvSpPr/>
          <p:nvPr/>
        </p:nvSpPr>
        <p:spPr>
          <a:xfrm>
            <a:off x="530352" y="1956816"/>
            <a:ext cx="11130991" cy="1719580"/>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317244"/>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baskets = items.groupby("cart_id").item.apply(set)          # one set of items per cart</a:t>
            </a:r>
          </a:p>
          <a:p>
            <a:pPr>
              <a:spcAft>
                <a:spcPts val="200"/>
              </a:spcAft>
            </a:pPr>
            <a:r>
              <a:rPr sz="1400" b="0" i="0">
                <a:solidFill>
                  <a:srgbClr val="E4E1F1"/>
                </a:solidFill>
                <a:latin typeface="Consolas"/>
              </a:rPr>
              <a:t>pair_count = Counter(p for b in baskets                      # every two items in a cart</a:t>
            </a:r>
          </a:p>
          <a:p>
            <a:pPr>
              <a:spcAft>
                <a:spcPts val="200"/>
              </a:spcAft>
            </a:pPr>
            <a:r>
              <a:rPr sz="1400" b="0" i="0">
                <a:solidFill>
                  <a:srgbClr val="E4E1F1"/>
                </a:solidFill>
                <a:latin typeface="Consolas"/>
              </a:rPr>
              <a:t>                     for p in combinations(sorted(b), 2))    # sorted, so (a, b) is one key</a:t>
            </a:r>
          </a:p>
          <a:p>
            <a:pPr>
              <a:spcAft>
                <a:spcPts val="200"/>
              </a:spcAft>
            </a:pPr>
            <a:r>
              <a:rPr sz="1400" b="0" i="0">
                <a:solidFill>
                  <a:srgbClr val="E4E1F1"/>
                </a:solidFill>
                <a:latin typeface="Consolas"/>
              </a:rPr>
              <a:t>single = Counter(x for b in baskets for x in b)              # carts holding each item</a:t>
            </a:r>
          </a:p>
          <a:p>
            <a:pPr>
              <a:spcAft>
                <a:spcPts val="200"/>
              </a:spcAft>
            </a:pPr>
            <a:r>
              <a:rPr sz="1400" b="0" i="0">
                <a:solidFill>
                  <a:srgbClr val="E4E1F1"/>
                </a:solidFill>
                <a:latin typeface="Consolas"/>
              </a:rPr>
              <a:t>lift = pair_count[("bread", "toned milk")] * n / (single["bread"] * single["toned milk"])</a:t>
            </a:r>
          </a:p>
        </p:txBody>
      </p:sp>
      <p:sp>
        <p:nvSpPr>
          <p:cNvPr id="14" name="TextBox 13"/>
          <p:cNvSpPr txBox="1"/>
          <p:nvPr/>
        </p:nvSpPr>
        <p:spPr>
          <a:xfrm>
            <a:off x="530352" y="384098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cart becomes a set of items; every pair inside it adds one to its tally; lift is carts with both, times all carts, over the two items' own counts. The same three counts as the cards, with n = 40,000.</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9" name="Oval 18"/>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41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Twelve carts said lift 1.50; 40,000 carts say 1.04</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lift say about bread and milk on all the carts?</a:t>
            </a:r>
          </a:p>
        </p:txBody>
      </p:sp>
      <p:pic>
        <p:nvPicPr>
          <p:cNvPr id="9" name="mermaid diagram" descr="C2_W04_D03_areas_STUDENT.png"/>
          <p:cNvPicPr>
            <a:picLocks noChangeAspect="1"/>
          </p:cNvPicPr>
          <p:nvPr/>
        </p:nvPicPr>
        <p:blipFill>
          <a:blip r:embed="rId4"/>
          <a:stretch>
            <a:fillRect/>
          </a:stretch>
        </p:blipFill>
        <p:spPr>
          <a:xfrm>
            <a:off x="2104189" y="1664208"/>
            <a:ext cx="7983316" cy="3319272"/>
          </a:xfrm>
          <a:prstGeom prst="rect">
            <a:avLst/>
          </a:prstGeom>
        </p:spPr>
      </p:pic>
      <p:sp>
        <p:nvSpPr>
          <p:cNvPr id="10" name="picture caption"/>
          <p:cNvSpPr txBox="1"/>
          <p:nvPr/>
        </p:nvSpPr>
        <p:spPr>
          <a:xfrm>
            <a:off x="530352" y="5020056"/>
            <a:ext cx="11130991" cy="316992"/>
          </a:xfrm>
          <a:prstGeom prst="rect">
            <a:avLst/>
          </a:prstGeom>
          <a:noFill/>
        </p:spPr>
        <p:txBody>
          <a:bodyPr wrap="square" anchor="t" lIns="0" rIns="0" tIns="0" bIns="0">
            <a:spAutoFit/>
          </a:bodyPr>
          <a:lstStyle/>
          <a:p>
            <a:pPr algn="ctr"/>
            <a:r>
              <a:rPr sz="1200" b="0" i="0">
                <a:solidFill>
                  <a:srgbClr val="6B6690"/>
                </a:solidFill>
                <a:latin typeface="Calibri"/>
              </a:rPr>
              <a:t>Bread's share times milk's share as the overlap chance would give, beside the overlap seen in 40,000 carts</a:t>
            </a:r>
          </a:p>
        </p:txBody>
      </p:sp>
      <p:sp>
        <p:nvSpPr>
          <p:cNvPr id="11" name="TextBox 10"/>
          <p:cNvSpPr txBox="1"/>
          <p:nvPr/>
        </p:nvSpPr>
        <p:spPr>
          <a:xfrm>
            <a:off x="530352" y="5346192"/>
            <a:ext cx="11130991" cy="853440"/>
          </a:xfrm>
          <a:prstGeom prst="rect">
            <a:avLst/>
          </a:prstGeom>
          <a:noFill/>
        </p:spPr>
        <p:txBody>
          <a:bodyPr wrap="square" anchor="t" lIns="0" rIns="0" tIns="0" bIns="0">
            <a:spAutoFit/>
          </a:bodyPr>
          <a:lstStyle/>
          <a:p>
            <a:r>
              <a:rPr sz="1400" b="0" i="0">
                <a:solidFill>
                  <a:srgbClr val="1A1440"/>
                </a:solidFill>
                <a:latin typeface="Calibri"/>
              </a:rPr>
              <a:t>On twelve carts lift read 1.50 because all four bread carts happened to hold milk. On 40,000 carts bread to milk reads confidence 0.74 and lift 1.04: milk sits beside bread about as often as it sits in any cart. Chance gives 0.34 x 0.71 = 0.241 of carts holding both; 0.252 do.</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6" name="Oval 15"/>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21 / 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is a popular item's lift with milk?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For the 50 items in at least 2 percent of carts, what does lift with milk look like?</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trending-up_0f9f07881489.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It rises with popularity</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more common the item, the higher its lift.</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equal_08ba08324b53.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Near one for all of them</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Every item sits close to chance with milk.</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ending-down_69bb86911a18.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It falls with popularity</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Common items pair less with milk than rare ones.</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shuffle_1f5f2f56d507.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It scatters</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Each item goes its own way.</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5" name="Oval 3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37" name="Oval 3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22 / 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near one for every common item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every item look bundled with milk, and what does lift say?</a:t>
            </a:r>
          </a:p>
        </p:txBody>
      </p:sp>
      <p:pic>
        <p:nvPicPr>
          <p:cNvPr id="9" name="mermaid diagram" descr="C2_W04_D03_milk_everywhere_STUDENT.png"/>
          <p:cNvPicPr>
            <a:picLocks noChangeAspect="1"/>
          </p:cNvPicPr>
          <p:nvPr/>
        </p:nvPicPr>
        <p:blipFill>
          <a:blip r:embed="rId4"/>
          <a:stretch>
            <a:fillRect/>
          </a:stretch>
        </p:blipFill>
        <p:spPr>
          <a:xfrm>
            <a:off x="1219180" y="1664208"/>
            <a:ext cx="9753334" cy="3491992"/>
          </a:xfrm>
          <a:prstGeom prst="rect">
            <a:avLst/>
          </a:prstGeom>
        </p:spPr>
      </p:pic>
      <p:sp>
        <p:nvSpPr>
          <p:cNvPr id="10" name="picture caption"/>
          <p:cNvSpPr txBox="1"/>
          <p:nvPr/>
        </p:nvSpPr>
        <p:spPr>
          <a:xfrm>
            <a:off x="530352" y="5192776"/>
            <a:ext cx="11130991" cy="316992"/>
          </a:xfrm>
          <a:prstGeom prst="rect">
            <a:avLst/>
          </a:prstGeom>
          <a:noFill/>
        </p:spPr>
        <p:txBody>
          <a:bodyPr wrap="square" anchor="t" lIns="0" rIns="0" tIns="0" bIns="0">
            <a:spAutoFit/>
          </a:bodyPr>
          <a:lstStyle/>
          <a:p>
            <a:pPr algn="ctr"/>
            <a:r>
              <a:rPr sz="1200" b="0" i="0">
                <a:solidFill>
                  <a:srgbClr val="6B6690"/>
                </a:solidFill>
                <a:latin typeface="Calibri"/>
              </a:rPr>
              <a:t>Confidence toward milk and lift with milk for the twelve most common items</a:t>
            </a:r>
          </a:p>
        </p:txBody>
      </p:sp>
      <p:sp>
        <p:nvSpPr>
          <p:cNvPr id="11" name="TextBox 10"/>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For all 50 items in at least 2 percent of carts, confidence toward milk runs 0.70 to 0.74, near milk's own 0.71, and lift runs 0.99 to 1.04. Lift divides milk's popularity out.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6" name="Oval 15"/>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23 / 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Amazon met the same popular-partner trap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has a real recommender met the item that sits beside everything?</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Amazon. </a:t>
            </a:r>
            <a:r>
              <a:rPr sz="1500" b="0" i="0">
                <a:solidFill>
                  <a:srgbClr val="1A1440"/>
                </a:solidFill>
                <a:latin typeface="Calibri"/>
              </a:rPr>
              <a:t>Its recommender team wrote that counting how often buyers of A also bought B would have made a bestseller such as Harry Potter the top recommendation beside everything. The fix compared what was seen with what chance would predict, which is lift in spirit. Years later the team measured the base rate per purchase, because heavy buyers inflate every count (Amazon Science, checked 12 October 2026).</a:t>
            </a:r>
          </a:p>
        </p:txBody>
      </p:sp>
      <p:sp>
        <p:nvSpPr>
          <p:cNvPr id="12" name="TextBox 11"/>
          <p:cNvSpPr txBox="1"/>
          <p:nvPr/>
        </p:nvSpPr>
        <p:spPr>
          <a:xfrm>
            <a:off x="530352" y="346252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cost of the trap is a recommendation slot spent on an item the shopper was buying anyway.</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5" name="Oval 1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7" name="Oval 1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24 / 41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pairs, three numbers each, one second route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support, confidence both ways and lift read for four pairs?</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3696663"/>
                <a:gridCol w="914400"/>
                <a:gridCol w="2802763"/>
                <a:gridCol w="2802763"/>
                <a:gridCol w="914400"/>
              </a:tblGrid>
              <a:tr h="335280">
                <a:tc>
                  <a:txBody>
                    <a:bodyPr/>
                    <a:lstStyle/>
                    <a:p>
                      <a:r>
                        <a:rPr sz="1250" b="1" i="0">
                          <a:solidFill>
                            <a:srgbClr val="FFFFFF"/>
                          </a:solidFill>
                          <a:latin typeface="Calibri"/>
                        </a:rPr>
                        <a:t>Pair</a:t>
                      </a:r>
                    </a:p>
                  </a:txBody>
                  <a:tcPr marL="101600" marR="101600" marT="38100" marB="38100" anchor="ctr">
                    <a:solidFill>
                      <a:srgbClr val="1A0F5C"/>
                    </a:solidFill>
                  </a:tcPr>
                </a:tc>
                <a:tc>
                  <a:txBody>
                    <a:bodyPr/>
                    <a:lstStyle/>
                    <a:p>
                      <a:r>
                        <a:rPr sz="1250" b="1" i="0">
                          <a:solidFill>
                            <a:srgbClr val="FFFFFF"/>
                          </a:solidFill>
                          <a:latin typeface="Calibri"/>
                        </a:rPr>
                        <a:t>Support</a:t>
                      </a:r>
                    </a:p>
                  </a:txBody>
                  <a:tcPr marL="101600" marR="101600" marT="38100" marB="38100" anchor="ctr">
                    <a:solidFill>
                      <a:srgbClr val="1A0F5C"/>
                    </a:solidFill>
                  </a:tcPr>
                </a:tc>
                <a:tc>
                  <a:txBody>
                    <a:bodyPr/>
                    <a:lstStyle/>
                    <a:p>
                      <a:r>
                        <a:rPr sz="1250" b="1" i="0">
                          <a:solidFill>
                            <a:srgbClr val="FFFFFF"/>
                          </a:solidFill>
                          <a:latin typeface="Calibri"/>
                        </a:rPr>
                        <a:t>Confidence A to B</a:t>
                      </a:r>
                    </a:p>
                  </a:txBody>
                  <a:tcPr marL="101600" marR="101600" marT="38100" marB="38100" anchor="ctr">
                    <a:solidFill>
                      <a:srgbClr val="1A0F5C"/>
                    </a:solidFill>
                  </a:tcPr>
                </a:tc>
                <a:tc>
                  <a:txBody>
                    <a:bodyPr/>
                    <a:lstStyle/>
                    <a:p>
                      <a:r>
                        <a:rPr sz="1250" b="1" i="0">
                          <a:solidFill>
                            <a:srgbClr val="FFFFFF"/>
                          </a:solidFill>
                          <a:latin typeface="Calibri"/>
                        </a:rPr>
                        <a:t>Confidence B to A</a:t>
                      </a:r>
                    </a:p>
                  </a:txBody>
                  <a:tcPr marL="101600" marR="101600" marT="38100" marB="38100" anchor="ctr">
                    <a:solidFill>
                      <a:srgbClr val="1A0F5C"/>
                    </a:solidFill>
                  </a:tcPr>
                </a:tc>
                <a:tc>
                  <a:txBody>
                    <a:bodyPr/>
                    <a:lstStyle/>
                    <a:p>
                      <a:r>
                        <a:rPr sz="1250" b="1" i="0">
                          <a:solidFill>
                            <a:srgbClr val="FFFFFF"/>
                          </a:solidFill>
                          <a:latin typeface="Calibri"/>
                        </a:rPr>
                        <a:t>Lift</a:t>
                      </a:r>
                    </a:p>
                  </a:txBody>
                  <a:tcPr marL="101600" marR="101600" marT="38100" marB="38100" anchor="ctr">
                    <a:solidFill>
                      <a:srgbClr val="1A0F5C"/>
                    </a:solidFill>
                  </a:tcPr>
                </a:tc>
              </a:tr>
              <a:tr h="335280">
                <a:tc>
                  <a:txBody>
                    <a:bodyPr/>
                    <a:lstStyle/>
                    <a:p>
                      <a:r>
                        <a:rPr sz="1200" b="0" i="0">
                          <a:solidFill>
                            <a:srgbClr val="1A1440"/>
                          </a:solidFill>
                          <a:latin typeface="Calibri"/>
                        </a:rPr>
                        <a:t>bread, toned milk</a:t>
                      </a:r>
                    </a:p>
                  </a:txBody>
                  <a:tcPr marL="101600" marR="101600" marT="38100" marB="38100" anchor="ctr">
                    <a:solidFill>
                      <a:srgbClr val="FFFFFF"/>
                    </a:solidFill>
                  </a:tcPr>
                </a:tc>
                <a:tc>
                  <a:txBody>
                    <a:bodyPr/>
                    <a:lstStyle/>
                    <a:p>
                      <a:r>
                        <a:rPr sz="1200" b="0" i="0">
                          <a:solidFill>
                            <a:srgbClr val="1A1440"/>
                          </a:solidFill>
                          <a:latin typeface="Calibri"/>
                        </a:rPr>
                        <a:t>25.2%</a:t>
                      </a:r>
                    </a:p>
                  </a:txBody>
                  <a:tcPr marL="101600" marR="101600" marT="38100" marB="38100" anchor="ctr">
                    <a:solidFill>
                      <a:srgbClr val="FFFFFF"/>
                    </a:solidFill>
                  </a:tcPr>
                </a:tc>
                <a:tc>
                  <a:txBody>
                    <a:bodyPr/>
                    <a:lstStyle/>
                    <a:p>
                      <a:r>
                        <a:rPr sz="1200" b="0" i="0">
                          <a:solidFill>
                            <a:srgbClr val="1A1440"/>
                          </a:solidFill>
                          <a:latin typeface="Calibri"/>
                        </a:rPr>
                        <a:t>0.74</a:t>
                      </a:r>
                    </a:p>
                  </a:txBody>
                  <a:tcPr marL="101600" marR="101600" marT="38100" marB="38100" anchor="ctr">
                    <a:solidFill>
                      <a:srgbClr val="FFFFFF"/>
                    </a:solidFill>
                  </a:tcPr>
                </a:tc>
                <a:tc>
                  <a:txBody>
                    <a:bodyPr/>
                    <a:lstStyle/>
                    <a:p>
                      <a:r>
                        <a:rPr sz="1200" b="0" i="0">
                          <a:solidFill>
                            <a:srgbClr val="1A1440"/>
                          </a:solidFill>
                          <a:latin typeface="Calibri"/>
                        </a:rPr>
                        <a:t>0.35</a:t>
                      </a:r>
                    </a:p>
                  </a:txBody>
                  <a:tcPr marL="101600" marR="101600" marT="38100" marB="38100" anchor="ctr">
                    <a:solidFill>
                      <a:srgbClr val="FFFFFF"/>
                    </a:solidFill>
                  </a:tcPr>
                </a:tc>
                <a:tc>
                  <a:txBody>
                    <a:bodyPr/>
                    <a:lstStyle/>
                    <a:p>
                      <a:r>
                        <a:rPr sz="1200" b="0" i="0">
                          <a:solidFill>
                            <a:srgbClr val="1A1440"/>
                          </a:solidFill>
                          <a:latin typeface="Calibri"/>
                        </a:rPr>
                        <a:t>1.04</a:t>
                      </a:r>
                    </a:p>
                  </a:txBody>
                  <a:tcPr marL="101600" marR="101600" marT="38100" marB="38100" anchor="ctr">
                    <a:solidFill>
                      <a:srgbClr val="FFFFFF"/>
                    </a:solidFill>
                  </a:tcPr>
                </a:tc>
              </a:tr>
              <a:tr h="335280">
                <a:tc>
                  <a:txBody>
                    <a:bodyPr/>
                    <a:lstStyle/>
                    <a:p>
                      <a:r>
                        <a:rPr sz="1200" b="0" i="0">
                          <a:solidFill>
                            <a:srgbClr val="1A1440"/>
                          </a:solidFill>
                          <a:latin typeface="Calibri"/>
                        </a:rPr>
                        <a:t>eggs, toned milk</a:t>
                      </a:r>
                    </a:p>
                  </a:txBody>
                  <a:tcPr marL="101600" marR="101600" marT="38100" marB="38100" anchor="ctr">
                    <a:solidFill>
                      <a:srgbClr val="F4F2FA"/>
                    </a:solidFill>
                  </a:tcPr>
                </a:tc>
                <a:tc>
                  <a:txBody>
                    <a:bodyPr/>
                    <a:lstStyle/>
                    <a:p>
                      <a:r>
                        <a:rPr sz="1200" b="0" i="0">
                          <a:solidFill>
                            <a:srgbClr val="1A1440"/>
                          </a:solidFill>
                          <a:latin typeface="Calibri"/>
                        </a:rPr>
                        <a:t>21.2%</a:t>
                      </a:r>
                    </a:p>
                  </a:txBody>
                  <a:tcPr marL="101600" marR="101600" marT="38100" marB="38100" anchor="ctr">
                    <a:solidFill>
                      <a:srgbClr val="F4F2FA"/>
                    </a:solidFill>
                  </a:tcPr>
                </a:tc>
                <a:tc>
                  <a:txBody>
                    <a:bodyPr/>
                    <a:lstStyle/>
                    <a:p>
                      <a:r>
                        <a:rPr sz="1200" b="0" i="0">
                          <a:solidFill>
                            <a:srgbClr val="1A1440"/>
                          </a:solidFill>
                          <a:latin typeface="Calibri"/>
                        </a:rPr>
                        <a:t>0.73</a:t>
                      </a:r>
                    </a:p>
                  </a:txBody>
                  <a:tcPr marL="101600" marR="101600" marT="38100" marB="38100" anchor="ctr">
                    <a:solidFill>
                      <a:srgbClr val="F4F2FA"/>
                    </a:solidFill>
                  </a:tcPr>
                </a:tc>
                <a:tc>
                  <a:txBody>
                    <a:bodyPr/>
                    <a:lstStyle/>
                    <a:p>
                      <a:r>
                        <a:rPr sz="1200" b="0" i="0">
                          <a:solidFill>
                            <a:srgbClr val="1A1440"/>
                          </a:solidFill>
                          <a:latin typeface="Calibri"/>
                        </a:rPr>
                        <a:t>0.30</a:t>
                      </a:r>
                    </a:p>
                  </a:txBody>
                  <a:tcPr marL="101600" marR="101600" marT="38100" marB="38100" anchor="ctr">
                    <a:solidFill>
                      <a:srgbClr val="F4F2FA"/>
                    </a:solidFill>
                  </a:tcPr>
                </a:tc>
                <a:tc>
                  <a:txBody>
                    <a:bodyPr/>
                    <a:lstStyle/>
                    <a:p>
                      <a:r>
                        <a:rPr sz="1200" b="0" i="0">
                          <a:solidFill>
                            <a:srgbClr val="1A1440"/>
                          </a:solidFill>
                          <a:latin typeface="Calibri"/>
                        </a:rPr>
                        <a:t>1.03</a:t>
                      </a:r>
                    </a:p>
                  </a:txBody>
                  <a:tcPr marL="101600" marR="101600" marT="38100" marB="38100" anchor="ctr">
                    <a:solidFill>
                      <a:srgbClr val="F4F2FA"/>
                    </a:solidFill>
                  </a:tcPr>
                </a:tc>
              </a:tr>
              <a:tr h="335280">
                <a:tc>
                  <a:txBody>
                    <a:bodyPr/>
                    <a:lstStyle/>
                    <a:p>
                      <a:r>
                        <a:rPr sz="1200" b="0" i="0">
                          <a:solidFill>
                            <a:srgbClr val="1A1440"/>
                          </a:solidFill>
                          <a:latin typeface="Calibri"/>
                        </a:rPr>
                        <a:t>chips, cold drink</a:t>
                      </a:r>
                    </a:p>
                  </a:txBody>
                  <a:tcPr marL="101600" marR="101600" marT="38100" marB="38100" anchor="ctr">
                    <a:solidFill>
                      <a:srgbClr val="FFFFFF"/>
                    </a:solidFill>
                  </a:tcPr>
                </a:tc>
                <a:tc>
                  <a:txBody>
                    <a:bodyPr/>
                    <a:lstStyle/>
                    <a:p>
                      <a:r>
                        <a:rPr sz="1200" b="0" i="0">
                          <a:solidFill>
                            <a:srgbClr val="1A1440"/>
                          </a:solidFill>
                          <a:latin typeface="Calibri"/>
                        </a:rPr>
                        <a:t>5.0%</a:t>
                      </a:r>
                    </a:p>
                  </a:txBody>
                  <a:tcPr marL="101600" marR="101600" marT="38100" marB="38100" anchor="ctr">
                    <a:solidFill>
                      <a:srgbClr val="FFFFFF"/>
                    </a:solidFill>
                  </a:tcPr>
                </a:tc>
                <a:tc>
                  <a:txBody>
                    <a:bodyPr/>
                    <a:lstStyle/>
                    <a:p>
                      <a:r>
                        <a:rPr sz="1200" b="0" i="0">
                          <a:solidFill>
                            <a:srgbClr val="1A1440"/>
                          </a:solidFill>
                          <a:latin typeface="Calibri"/>
                        </a:rPr>
                        <a:t>0.42</a:t>
                      </a:r>
                    </a:p>
                  </a:txBody>
                  <a:tcPr marL="101600" marR="101600" marT="38100" marB="38100" anchor="ctr">
                    <a:solidFill>
                      <a:srgbClr val="FFFFFF"/>
                    </a:solidFill>
                  </a:tcPr>
                </a:tc>
                <a:tc>
                  <a:txBody>
                    <a:bodyPr/>
                    <a:lstStyle/>
                    <a:p>
                      <a:r>
                        <a:rPr sz="1200" b="0" i="0">
                          <a:solidFill>
                            <a:srgbClr val="1A1440"/>
                          </a:solidFill>
                          <a:latin typeface="Calibri"/>
                        </a:rPr>
                        <a:t>0.41</a:t>
                      </a:r>
                    </a:p>
                  </a:txBody>
                  <a:tcPr marL="101600" marR="101600" marT="38100" marB="38100" anchor="ctr">
                    <a:solidFill>
                      <a:srgbClr val="FFFFFF"/>
                    </a:solidFill>
                  </a:tcPr>
                </a:tc>
                <a:tc>
                  <a:txBody>
                    <a:bodyPr/>
                    <a:lstStyle/>
                    <a:p>
                      <a:r>
                        <a:rPr sz="1200" b="0" i="0">
                          <a:solidFill>
                            <a:srgbClr val="1A1440"/>
                          </a:solidFill>
                          <a:latin typeface="Calibri"/>
                        </a:rPr>
                        <a:t>3.39</a:t>
                      </a:r>
                    </a:p>
                  </a:txBody>
                  <a:tcPr marL="101600" marR="101600" marT="38100" marB="38100" anchor="ctr">
                    <a:solidFill>
                      <a:srgbClr val="FFFFFF"/>
                    </a:solidFill>
                  </a:tcPr>
                </a:tc>
              </a:tr>
              <a:tr h="335280">
                <a:tc>
                  <a:txBody>
                    <a:bodyPr/>
                    <a:lstStyle/>
                    <a:p>
                      <a:r>
                        <a:rPr sz="1200" b="0" i="0">
                          <a:solidFill>
                            <a:srgbClr val="1A1440"/>
                          </a:solidFill>
                          <a:latin typeface="Calibri"/>
                        </a:rPr>
                        <a:t>ice cream, chocolate sauce</a:t>
                      </a:r>
                    </a:p>
                  </a:txBody>
                  <a:tcPr marL="101600" marR="101600" marT="38100" marB="38100" anchor="ctr">
                    <a:solidFill>
                      <a:srgbClr val="F4F2FA"/>
                    </a:solidFill>
                  </a:tcPr>
                </a:tc>
                <a:tc>
                  <a:txBody>
                    <a:bodyPr/>
                    <a:lstStyle/>
                    <a:p>
                      <a:r>
                        <a:rPr sz="1200" b="0" i="0">
                          <a:solidFill>
                            <a:srgbClr val="1A1440"/>
                          </a:solidFill>
                          <a:latin typeface="Calibri"/>
                        </a:rPr>
                        <a:t>0.25%</a:t>
                      </a:r>
                    </a:p>
                  </a:txBody>
                  <a:tcPr marL="101600" marR="101600" marT="38100" marB="38100" anchor="ctr">
                    <a:solidFill>
                      <a:srgbClr val="F4F2FA"/>
                    </a:solidFill>
                  </a:tcPr>
                </a:tc>
                <a:tc>
                  <a:txBody>
                    <a:bodyPr/>
                    <a:lstStyle/>
                    <a:p>
                      <a:r>
                        <a:rPr sz="1200" b="0" i="0">
                          <a:solidFill>
                            <a:srgbClr val="1A1440"/>
                          </a:solidFill>
                          <a:latin typeface="Calibri"/>
                        </a:rPr>
                        <a:t>0.06</a:t>
                      </a:r>
                    </a:p>
                  </a:txBody>
                  <a:tcPr marL="101600" marR="101600" marT="38100" marB="38100" anchor="ctr">
                    <a:solidFill>
                      <a:srgbClr val="F4F2FA"/>
                    </a:solidFill>
                  </a:tcPr>
                </a:tc>
                <a:tc>
                  <a:txBody>
                    <a:bodyPr/>
                    <a:lstStyle/>
                    <a:p>
                      <a:r>
                        <a:rPr sz="1200" b="0" i="0">
                          <a:solidFill>
                            <a:srgbClr val="1A1440"/>
                          </a:solidFill>
                          <a:latin typeface="Calibri"/>
                        </a:rPr>
                        <a:t>0.18</a:t>
                      </a:r>
                    </a:p>
                  </a:txBody>
                  <a:tcPr marL="101600" marR="101600" marT="38100" marB="38100" anchor="ctr">
                    <a:solidFill>
                      <a:srgbClr val="F4F2FA"/>
                    </a:solidFill>
                  </a:tcPr>
                </a:tc>
                <a:tc>
                  <a:txBody>
                    <a:bodyPr/>
                    <a:lstStyle/>
                    <a:p>
                      <a:r>
                        <a:rPr sz="1200" b="0" i="0">
                          <a:solidFill>
                            <a:srgbClr val="1A1440"/>
                          </a:solidFill>
                          <a:latin typeface="Calibri"/>
                        </a:rPr>
                        <a:t>4.60</a:t>
                      </a:r>
                    </a:p>
                  </a:txBody>
                  <a:tcPr marL="101600" marR="101600" marT="38100" marB="38100" anchor="ctr">
                    <a:solidFill>
                      <a:srgbClr val="F4F2FA"/>
                    </a:solidFill>
                  </a:tcPr>
                </a:tc>
              </a:tr>
            </a:tbl>
          </a:graphicData>
        </a:graphic>
      </p:graphicFrame>
      <p:sp>
        <p:nvSpPr>
          <p:cNvPr id="10" name="TextBox 9"/>
          <p:cNvSpPr txBox="1"/>
          <p:nvPr/>
        </p:nvSpPr>
        <p:spPr>
          <a:xfrm>
            <a:off x="530352" y="388924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second route: lift is also confidence over the partner's share. Bread to milk 0.74 / 0.71 = 1.04, and milk to bread 0.35 / 0.34 = 1.04. Both routes agree and lift reads the same from either side.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5" name="Oval 14"/>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25 / 41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did the strip's click-through fall?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It fell from 6.1 to 3.8 percent after 7 September. Which explanation will the log support?</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users_11340fce0adc.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Shoppers changed habits</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After the monsoon, carts shifted away from the old pairs.</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eye-off_659cbed618bb.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Fewer cart-page views</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Fewer people opened the cart page in September.</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ilk_1de4a85ac355.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Milk fills the slots</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Milk now takes the slots and few shoppers click it.</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panel-top_a0e90cde8e68.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strip moved down</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strip sits lower on the page than before.</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5" name="Oval 34"/>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37" name="Oval 36"/>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26 / 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milk took half the slots at 1.2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in the log does the fall sit?</a:t>
            </a:r>
          </a:p>
        </p:txBody>
      </p:sp>
      <p:pic>
        <p:nvPicPr>
          <p:cNvPr id="9" name="mermaid diagram" descr="C2_W04_D03_strip_daily_STUDENT.png"/>
          <p:cNvPicPr>
            <a:picLocks noChangeAspect="1"/>
          </p:cNvPicPr>
          <p:nvPr/>
        </p:nvPicPr>
        <p:blipFill>
          <a:blip r:embed="rId4"/>
          <a:stretch>
            <a:fillRect/>
          </a:stretch>
        </p:blipFill>
        <p:spPr>
          <a:xfrm>
            <a:off x="1605114" y="1664208"/>
            <a:ext cx="8981467"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Daily strip click-through from 17 August to 27 September, and milk's share of slot impressions</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Milk took half the slot impressions at 1.2 percent; everything else clicked at 6.4, up from 6.2. Half of 1.2 plus half of 6.4 is 3.8. The plausible wrong answer, "shoppers changed after the monsoon", fails the split by suggested item.</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6" name="Oval 15"/>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27 / 41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Slot 1 draws the most clicks, and milk took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the position of a slot change its click-through?</a:t>
            </a:r>
          </a:p>
        </p:txBody>
      </p:sp>
      <p:pic>
        <p:nvPicPr>
          <p:cNvPr id="9" name="mermaid diagram" descr="C2_W04_D03_ctr_by_slot_STUDENT.png"/>
          <p:cNvPicPr>
            <a:picLocks noChangeAspect="1"/>
          </p:cNvPicPr>
          <p:nvPr/>
        </p:nvPicPr>
        <p:blipFill>
          <a:blip r:embed="rId4"/>
          <a:stretch>
            <a:fillRect/>
          </a:stretch>
        </p:blipFill>
        <p:spPr>
          <a:xfrm>
            <a:off x="1391568" y="1664208"/>
            <a:ext cx="9408557"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Click-through by slot position: before the change, milk after, everything else after</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After the change, slot 1 draws 8.2 percent for a suggestion other than milk and slot 3 draws 5.4. Milk clicks at 1.4, 1.1 and 0.9 percent and holds 70 percent of slot 1. The best slot went to the item nobody needed reminding of.</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16" name="Oval 15"/>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28 / 41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Lift is the count popularity cannot fool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40,000 carts answer?</a:t>
            </a:r>
          </a:p>
        </p:txBody>
      </p:sp>
      <p:sp>
        <p:nvSpPr>
          <p:cNvPr id="9" name="Rectangle 8"/>
          <p:cNvSpPr/>
          <p:nvPr/>
        </p:nvSpPr>
        <p:spPr>
          <a:xfrm>
            <a:off x="1853145" y="2523744"/>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HOW OFTEN?</a:t>
            </a:r>
          </a:p>
        </p:txBody>
      </p:sp>
      <p:sp>
        <p:nvSpPr>
          <p:cNvPr id="11" name="Oval 10"/>
          <p:cNvSpPr/>
          <p:nvPr/>
        </p:nvSpPr>
        <p:spPr>
          <a:xfrm>
            <a:off x="175256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Milk in 71 percent of carts</a:t>
            </a:r>
          </a:p>
        </p:txBody>
      </p:sp>
      <p:sp>
        <p:nvSpPr>
          <p:cNvPr id="14" name="TextBox 13"/>
          <p:cNvSpPr txBox="1"/>
          <p:nvPr/>
        </p:nvSpPr>
        <p:spPr>
          <a:xfrm>
            <a:off x="694944" y="3277870"/>
            <a:ext cx="2316403" cy="201676"/>
          </a:xfrm>
          <a:prstGeom prst="rect">
            <a:avLst/>
          </a:prstGeom>
          <a:noFill/>
        </p:spPr>
        <p:txBody>
          <a:bodyPr wrap="square" anchor="t" lIns="0" rIns="0" tIns="0" bIns="0">
            <a:spAutoFit/>
          </a:bodyPr>
          <a:lstStyle/>
          <a:p>
            <a:pPr algn="l"/>
            <a:r>
              <a:rPr sz="1000" b="0" i="0">
                <a:solidFill>
                  <a:srgbClr val="6B6690"/>
                </a:solidFill>
                <a:latin typeface="Calibri"/>
              </a:rPr>
              <a:t>Bread 34, eggs 29, curd 26 percent.</a:t>
            </a:r>
          </a:p>
        </p:txBody>
      </p:sp>
      <p:sp>
        <p:nvSpPr>
          <p:cNvPr id="15" name="TextBox 14"/>
          <p:cNvSpPr txBox="1"/>
          <p:nvPr/>
        </p:nvSpPr>
        <p:spPr>
          <a:xfrm>
            <a:off x="3358819"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MOST OFTEN TOGETHER?</a:t>
            </a:r>
          </a:p>
        </p:txBody>
      </p:sp>
      <p:sp>
        <p:nvSpPr>
          <p:cNvPr id="16" name="Oval 15"/>
          <p:cNvSpPr/>
          <p:nvPr/>
        </p:nvSpPr>
        <p:spPr>
          <a:xfrm>
            <a:off x="458102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3358819"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411"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Pairs with milk</a:t>
            </a:r>
          </a:p>
        </p:txBody>
      </p:sp>
      <p:sp>
        <p:nvSpPr>
          <p:cNvPr id="19" name="TextBox 18"/>
          <p:cNvSpPr txBox="1"/>
          <p:nvPr/>
        </p:nvSpPr>
        <p:spPr>
          <a:xfrm>
            <a:off x="3523411" y="3277870"/>
            <a:ext cx="2316403" cy="531876"/>
          </a:xfrm>
          <a:prstGeom prst="rect">
            <a:avLst/>
          </a:prstGeom>
          <a:noFill/>
        </p:spPr>
        <p:txBody>
          <a:bodyPr wrap="square" anchor="t" lIns="0" rIns="0" tIns="0" bIns="0">
            <a:spAutoFit/>
          </a:bodyPr>
          <a:lstStyle/>
          <a:p>
            <a:pPr algn="l"/>
            <a:r>
              <a:rPr sz="1000" b="0" i="0">
                <a:solidFill>
                  <a:srgbClr val="6B6690"/>
                </a:solidFill>
                <a:latin typeface="Calibri"/>
              </a:rPr>
              <a:t>Bread and milk lead with 10,064 carts, so a count fills the strip with milk.</a:t>
            </a:r>
          </a:p>
        </p:txBody>
      </p:sp>
      <p:sp>
        <p:nvSpPr>
          <p:cNvPr id="20" name="TextBox 19"/>
          <p:cNvSpPr txBox="1"/>
          <p:nvPr/>
        </p:nvSpPr>
        <p:spPr>
          <a:xfrm>
            <a:off x="6187287"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WHAT LIFT SAYS</a:t>
            </a:r>
          </a:p>
        </p:txBody>
      </p:sp>
      <p:sp>
        <p:nvSpPr>
          <p:cNvPr id="21" name="Oval 20"/>
          <p:cNvSpPr/>
          <p:nvPr/>
        </p:nvSpPr>
        <p:spPr>
          <a:xfrm>
            <a:off x="740949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187287"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1879"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Near one with milk</a:t>
            </a:r>
          </a:p>
        </p:txBody>
      </p:sp>
      <p:sp>
        <p:nvSpPr>
          <p:cNvPr id="24" name="TextBox 23"/>
          <p:cNvSpPr txBox="1"/>
          <p:nvPr/>
        </p:nvSpPr>
        <p:spPr>
          <a:xfrm>
            <a:off x="6351879"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Bread 1.04, eggs 1.03; chips and cold drink 3.39.</a:t>
            </a:r>
          </a:p>
        </p:txBody>
      </p:sp>
      <p:sp>
        <p:nvSpPr>
          <p:cNvPr id="25" name="TextBox 24"/>
          <p:cNvSpPr txBox="1"/>
          <p:nvPr/>
        </p:nvSpPr>
        <p:spPr>
          <a:xfrm>
            <a:off x="9015755" y="1956816"/>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WHY THE FALL</a:t>
            </a:r>
          </a:p>
        </p:txBody>
      </p:sp>
      <p:sp>
        <p:nvSpPr>
          <p:cNvPr id="26" name="Oval 25"/>
          <p:cNvSpPr/>
          <p:nvPr/>
        </p:nvSpPr>
        <p:spPr>
          <a:xfrm>
            <a:off x="1023796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9015755" y="2843784"/>
            <a:ext cx="2645587"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180347" y="2990088"/>
            <a:ext cx="2316403" cy="251205"/>
          </a:xfrm>
          <a:prstGeom prst="rect">
            <a:avLst/>
          </a:prstGeom>
          <a:noFill/>
        </p:spPr>
        <p:txBody>
          <a:bodyPr wrap="square" anchor="t" lIns="0" rIns="0" tIns="0" bIns="0">
            <a:spAutoFit/>
          </a:bodyPr>
          <a:lstStyle/>
          <a:p>
            <a:pPr algn="l"/>
            <a:r>
              <a:rPr sz="1300" b="1" i="0">
                <a:solidFill>
                  <a:srgbClr val="1A0F5C"/>
                </a:solidFill>
                <a:latin typeface="Calibri"/>
              </a:rPr>
              <a:t>Milk's half of the slots</a:t>
            </a:r>
          </a:p>
        </p:txBody>
      </p:sp>
      <p:sp>
        <p:nvSpPr>
          <p:cNvPr id="29" name="TextBox 28"/>
          <p:cNvSpPr txBox="1"/>
          <p:nvPr/>
        </p:nvSpPr>
        <p:spPr>
          <a:xfrm>
            <a:off x="9180347" y="3277870"/>
            <a:ext cx="2316403" cy="366776"/>
          </a:xfrm>
          <a:prstGeom prst="rect">
            <a:avLst/>
          </a:prstGeom>
          <a:noFill/>
        </p:spPr>
        <p:txBody>
          <a:bodyPr wrap="square" anchor="t" lIns="0" rIns="0" tIns="0" bIns="0">
            <a:spAutoFit/>
          </a:bodyPr>
          <a:lstStyle/>
          <a:p>
            <a:pPr algn="l"/>
            <a:r>
              <a:rPr sz="1000" b="0" i="0">
                <a:solidFill>
                  <a:srgbClr val="6B6690"/>
                </a:solidFill>
                <a:latin typeface="Calibri"/>
              </a:rPr>
              <a:t>1.2 percent on milk, 6.4 on the rest, 3.8 blended.</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2" name="Oval 31"/>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19706"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What do 40,000 carts say?</a:t>
            </a:r>
          </a:p>
        </p:txBody>
      </p:sp>
      <p:sp>
        <p:nvSpPr>
          <p:cNvPr id="34" name="Oval 33"/>
          <p:cNvSpPr/>
          <p:nvPr/>
        </p:nvSpPr>
        <p:spPr>
          <a:xfrm>
            <a:off x="373560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845337"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fills the strip?</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29 / 41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fills the strip?</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pairs should fill the strip, what is a slot worth in rupees, and what can the counts not tell us?</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together mean?</a:t>
            </a:r>
          </a:p>
        </p:txBody>
      </p:sp>
      <p:sp>
        <p:nvSpPr>
          <p:cNvPr id="11" name="Rounded Rectangle 10"/>
          <p:cNvSpPr/>
          <p:nvPr/>
        </p:nvSpPr>
        <p:spPr>
          <a:xfrm>
            <a:off x="2628191"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40,000 carts say?</a:t>
            </a:r>
          </a:p>
        </p:txBody>
      </p:sp>
      <p:sp>
        <p:nvSpPr>
          <p:cNvPr id="12" name="Rounded Rectangle 11"/>
          <p:cNvSpPr/>
          <p:nvPr/>
        </p:nvSpPr>
        <p:spPr>
          <a:xfrm>
            <a:off x="4584078" y="5074920"/>
            <a:ext cx="160929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fills the strip?</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3. Instamart Pune: strip click-through fell from 6.1 to 3.8 percent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30 / 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questions from a ranking to rupees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95681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growth lead, who takes a ranked list and a rupee figure to Friday's review, where the category manager will argue that milk anchors the cart.</a:t>
            </a:r>
          </a:p>
        </p:txBody>
      </p:sp>
      <p:sp>
        <p:nvSpPr>
          <p:cNvPr id="12" name="Rectangle 11"/>
          <p:cNvSpPr/>
          <p:nvPr/>
        </p:nvSpPr>
        <p:spPr>
          <a:xfrm>
            <a:off x="1853145" y="3496056"/>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1</a:t>
            </a:r>
          </a:p>
        </p:txBody>
      </p:sp>
      <p:sp>
        <p:nvSpPr>
          <p:cNvPr id="14" name="Oval 13"/>
          <p:cNvSpPr/>
          <p:nvPr/>
        </p:nvSpPr>
        <p:spPr>
          <a:xfrm>
            <a:off x="1752561"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3816096"/>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Which pairs beat chance by enough, on enough carts?</a:t>
            </a:r>
          </a:p>
        </p:txBody>
      </p:sp>
      <p:sp>
        <p:nvSpPr>
          <p:cNvPr id="17" name="TextBox 16"/>
          <p:cNvSpPr txBox="1"/>
          <p:nvPr/>
        </p:nvSpPr>
        <p:spPr>
          <a:xfrm>
            <a:off x="694944" y="4464812"/>
            <a:ext cx="2316403" cy="201676"/>
          </a:xfrm>
          <a:prstGeom prst="rect">
            <a:avLst/>
          </a:prstGeom>
          <a:noFill/>
        </p:spPr>
        <p:txBody>
          <a:bodyPr wrap="square" anchor="t" lIns="0" rIns="0" tIns="0" bIns="0">
            <a:spAutoFit/>
          </a:bodyPr>
          <a:lstStyle/>
          <a:p>
            <a:pPr algn="l"/>
            <a:r>
              <a:rPr sz="1000" b="0" i="0">
                <a:solidFill>
                  <a:srgbClr val="6B6690"/>
                </a:solidFill>
                <a:latin typeface="Calibri"/>
              </a:rPr>
              <a:t>Lift above a support floor.</a:t>
            </a:r>
          </a:p>
        </p:txBody>
      </p:sp>
      <p:sp>
        <p:nvSpPr>
          <p:cNvPr id="18" name="TextBox 17"/>
          <p:cNvSpPr txBox="1"/>
          <p:nvPr/>
        </p:nvSpPr>
        <p:spPr>
          <a:xfrm>
            <a:off x="3358819"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2</a:t>
            </a:r>
          </a:p>
        </p:txBody>
      </p:sp>
      <p:sp>
        <p:nvSpPr>
          <p:cNvPr id="19" name="Oval 18"/>
          <p:cNvSpPr/>
          <p:nvPr/>
        </p:nvSpPr>
        <p:spPr>
          <a:xfrm>
            <a:off x="4581029"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358819" y="3816096"/>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523411"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should the watch list do with a strong thin pair?</a:t>
            </a:r>
          </a:p>
        </p:txBody>
      </p:sp>
      <p:sp>
        <p:nvSpPr>
          <p:cNvPr id="22" name="TextBox 21"/>
          <p:cNvSpPr txBox="1"/>
          <p:nvPr/>
        </p:nvSpPr>
        <p:spPr>
          <a:xfrm>
            <a:off x="3523411" y="4464812"/>
            <a:ext cx="2316403" cy="201676"/>
          </a:xfrm>
          <a:prstGeom prst="rect">
            <a:avLst/>
          </a:prstGeom>
          <a:noFill/>
        </p:spPr>
        <p:txBody>
          <a:bodyPr wrap="square" anchor="t" lIns="0" rIns="0" tIns="0" bIns="0">
            <a:spAutoFit/>
          </a:bodyPr>
          <a:lstStyle/>
          <a:p>
            <a:pPr algn="l"/>
            <a:r>
              <a:rPr sz="1000" b="0" i="0">
                <a:solidFill>
                  <a:srgbClr val="6B6690"/>
                </a:solidFill>
                <a:latin typeface="Calibri"/>
              </a:rPr>
              <a:t>Ice cream and chocolate sauce.</a:t>
            </a:r>
          </a:p>
        </p:txBody>
      </p:sp>
      <p:sp>
        <p:nvSpPr>
          <p:cNvPr id="23" name="TextBox 22"/>
          <p:cNvSpPr txBox="1"/>
          <p:nvPr/>
        </p:nvSpPr>
        <p:spPr>
          <a:xfrm>
            <a:off x="6187287"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3</a:t>
            </a:r>
          </a:p>
        </p:txBody>
      </p:sp>
      <p:sp>
        <p:nvSpPr>
          <p:cNvPr id="24" name="Oval 23"/>
          <p:cNvSpPr/>
          <p:nvPr/>
        </p:nvSpPr>
        <p:spPr>
          <a:xfrm>
            <a:off x="7409497"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187287" y="3816096"/>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51879"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is a slot worth in rupees?</a:t>
            </a:r>
          </a:p>
        </p:txBody>
      </p:sp>
      <p:sp>
        <p:nvSpPr>
          <p:cNvPr id="27" name="TextBox 26"/>
          <p:cNvSpPr txBox="1"/>
          <p:nvPr/>
        </p:nvSpPr>
        <p:spPr>
          <a:xfrm>
            <a:off x="6351879" y="4464812"/>
            <a:ext cx="2316403" cy="201676"/>
          </a:xfrm>
          <a:prstGeom prst="rect">
            <a:avLst/>
          </a:prstGeom>
          <a:noFill/>
        </p:spPr>
        <p:txBody>
          <a:bodyPr wrap="square" anchor="t" lIns="0" rIns="0" tIns="0" bIns="0">
            <a:spAutoFit/>
          </a:bodyPr>
          <a:lstStyle/>
          <a:p>
            <a:pPr algn="l"/>
            <a:r>
              <a:rPr sz="1000" b="0" i="0">
                <a:solidFill>
                  <a:srgbClr val="6B6690"/>
                </a:solidFill>
                <a:latin typeface="Calibri"/>
              </a:rPr>
              <a:t>Views, click-through, adds, margin.</a:t>
            </a:r>
          </a:p>
        </p:txBody>
      </p:sp>
      <p:sp>
        <p:nvSpPr>
          <p:cNvPr id="28" name="TextBox 27"/>
          <p:cNvSpPr txBox="1"/>
          <p:nvPr/>
        </p:nvSpPr>
        <p:spPr>
          <a:xfrm>
            <a:off x="9015755" y="2929128"/>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QUESTION 4</a:t>
            </a:r>
          </a:p>
        </p:txBody>
      </p:sp>
      <p:sp>
        <p:nvSpPr>
          <p:cNvPr id="29" name="Oval 28"/>
          <p:cNvSpPr/>
          <p:nvPr/>
        </p:nvSpPr>
        <p:spPr>
          <a:xfrm>
            <a:off x="10237965" y="34046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015755" y="3816096"/>
            <a:ext cx="2645587" cy="90424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347" y="3962400"/>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can the counts not tell us?</a:t>
            </a:r>
          </a:p>
        </p:txBody>
      </p:sp>
      <p:sp>
        <p:nvSpPr>
          <p:cNvPr id="32" name="TextBox 31"/>
          <p:cNvSpPr txBox="1"/>
          <p:nvPr/>
        </p:nvSpPr>
        <p:spPr>
          <a:xfrm>
            <a:off x="9180347" y="4464812"/>
            <a:ext cx="2316403" cy="201676"/>
          </a:xfrm>
          <a:prstGeom prst="rect">
            <a:avLst/>
          </a:prstGeom>
          <a:noFill/>
        </p:spPr>
        <p:txBody>
          <a:bodyPr wrap="square" anchor="t" lIns="0" rIns="0" tIns="0" bIns="0">
            <a:spAutoFit/>
          </a:bodyPr>
          <a:lstStyle/>
          <a:p>
            <a:pPr algn="l"/>
            <a:r>
              <a:rPr sz="1000" b="0" i="0">
                <a:solidFill>
                  <a:srgbClr val="6B6690"/>
                </a:solidFill>
                <a:latin typeface="Calibri"/>
              </a:rPr>
              <a:t>Six doubts and the check for each.</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37" name="Oval 36"/>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31 / 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of these four pairs would you promote?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pair shows its support and its lift. Which takes the strip's first slot?</a:t>
            </a:r>
          </a:p>
        </p:txBody>
      </p:sp>
      <p:sp>
        <p:nvSpPr>
          <p:cNvPr id="9" name="Rounded Rectangle 8"/>
          <p:cNvSpPr/>
          <p:nvPr/>
        </p:nvSpPr>
        <p:spPr>
          <a:xfrm>
            <a:off x="530352"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hopping-cart_3d6cc98c6b44.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Bread and toned milk</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Support 25.2 percent, lift 1.04.</a:t>
            </a:r>
          </a:p>
        </p:txBody>
      </p:sp>
      <p:sp>
        <p:nvSpPr>
          <p:cNvPr id="15" name="Rounded Rectangle 14"/>
          <p:cNvSpPr/>
          <p:nvPr/>
        </p:nvSpPr>
        <p:spPr>
          <a:xfrm>
            <a:off x="3358819"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shopping-cart_3d6cc98c6b44.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Chips and cold drink</a:t>
            </a:r>
          </a:p>
        </p:txBody>
      </p:sp>
      <p:sp>
        <p:nvSpPr>
          <p:cNvPr id="20" name="TextBox 19"/>
          <p:cNvSpPr txBox="1"/>
          <p:nvPr/>
        </p:nvSpPr>
        <p:spPr>
          <a:xfrm>
            <a:off x="3559987"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Support 5.0 percent, lift 3.39.</a:t>
            </a:r>
          </a:p>
        </p:txBody>
      </p:sp>
      <p:sp>
        <p:nvSpPr>
          <p:cNvPr id="21" name="Rounded Rectangle 20"/>
          <p:cNvSpPr/>
          <p:nvPr/>
        </p:nvSpPr>
        <p:spPr>
          <a:xfrm>
            <a:off x="6187287"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hopping-cart_3d6cc98c6b44.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Ice cream and chocolate sauce</a:t>
            </a:r>
          </a:p>
        </p:txBody>
      </p:sp>
      <p:sp>
        <p:nvSpPr>
          <p:cNvPr id="26" name="TextBox 25"/>
          <p:cNvSpPr txBox="1"/>
          <p:nvPr/>
        </p:nvSpPr>
        <p:spPr>
          <a:xfrm>
            <a:off x="6388455"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Support 0.25 percent, lift 4.60.</a:t>
            </a:r>
          </a:p>
        </p:txBody>
      </p:sp>
      <p:sp>
        <p:nvSpPr>
          <p:cNvPr id="27" name="Rounded Rectangle 26"/>
          <p:cNvSpPr/>
          <p:nvPr/>
        </p:nvSpPr>
        <p:spPr>
          <a:xfrm>
            <a:off x="9015755" y="1956816"/>
            <a:ext cx="2645587" cy="219557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shopping-cart_3d6cc98c6b44.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Onions and tomatoes</a:t>
            </a:r>
          </a:p>
        </p:txBody>
      </p:sp>
      <p:sp>
        <p:nvSpPr>
          <p:cNvPr id="32" name="TextBox 31"/>
          <p:cNvSpPr txBox="1"/>
          <p:nvPr/>
        </p:nvSpPr>
        <p:spPr>
          <a:xfrm>
            <a:off x="9216923"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Support 7.5 percent, lift 1.70.</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37" name="Oval 36"/>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32 /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b, the strongest lift above the floor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every pair sit, and which four ways of ranking compete?</a:t>
            </a:r>
          </a:p>
        </p:txBody>
      </p:sp>
      <p:pic>
        <p:nvPicPr>
          <p:cNvPr id="9" name="mermaid diagram" descr="C2_W04_D03_action_map_STUDENT.png"/>
          <p:cNvPicPr>
            <a:picLocks noChangeAspect="1"/>
          </p:cNvPicPr>
          <p:nvPr/>
        </p:nvPicPr>
        <p:blipFill>
          <a:blip r:embed="rId4"/>
          <a:stretch>
            <a:fillRect/>
          </a:stretch>
        </p:blipFill>
        <p:spPr>
          <a:xfrm>
            <a:off x="1536619" y="1664208"/>
            <a:ext cx="9118456" cy="3561080"/>
          </a:xfrm>
          <a:prstGeom prst="rect">
            <a:avLst/>
          </a:prstGeom>
        </p:spPr>
      </p:pic>
      <p:sp>
        <p:nvSpPr>
          <p:cNvPr id="10" name="picture caption"/>
          <p:cNvSpPr txBox="1"/>
          <p:nvPr/>
        </p:nvSpPr>
        <p:spPr>
          <a:xfrm>
            <a:off x="530352" y="5261864"/>
            <a:ext cx="11130991" cy="316992"/>
          </a:xfrm>
          <a:prstGeom prst="rect">
            <a:avLst/>
          </a:prstGeom>
          <a:noFill/>
        </p:spPr>
        <p:txBody>
          <a:bodyPr wrap="square" anchor="t" lIns="0" rIns="0" tIns="0" bIns="0">
            <a:spAutoFit/>
          </a:bodyPr>
          <a:lstStyle/>
          <a:p>
            <a:pPr algn="ctr"/>
            <a:r>
              <a:rPr sz="1200" b="0" i="0">
                <a:solidFill>
                  <a:srgbClr val="6B6690"/>
                </a:solidFill>
                <a:latin typeface="Calibri"/>
              </a:rPr>
              <a:t>Every pair with support of at least 0.1 percent: lift against support, with the 1 percent floor</a:t>
            </a:r>
          </a:p>
        </p:txBody>
      </p:sp>
      <p:sp>
        <p:nvSpPr>
          <p:cNvPr id="11" name="TextBox 10"/>
          <p:cNvSpPr txBox="1"/>
          <p:nvPr/>
        </p:nvSpPr>
        <p:spPr>
          <a:xfrm>
            <a:off x="530352" y="5588000"/>
            <a:ext cx="11130991" cy="611631"/>
          </a:xfrm>
          <a:prstGeom prst="rect">
            <a:avLst/>
          </a:prstGeom>
          <a:noFill/>
        </p:spPr>
        <p:txBody>
          <a:bodyPr wrap="square" anchor="t" lIns="0" rIns="0" tIns="0" bIns="0">
            <a:spAutoFit/>
          </a:bodyPr>
          <a:lstStyle/>
          <a:p>
            <a:r>
              <a:rPr sz="1400" b="0" i="0">
                <a:solidFill>
                  <a:srgbClr val="1A1440"/>
                </a:solidFill>
                <a:latin typeface="Calibri"/>
              </a:rPr>
              <a:t>Above a floor of 1 percent of carts (400 carts), 246 pairs qualify and four beat chance clearly: chips and cold drink 3.39, coriander and green chillies 3.00, bread and butter 2.21, onions and tomatoes 1.70. The fifth reads 1.09.</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6" name="Oval 15"/>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33 / 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watch list holds lift 4.60 on 100 carts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should a team do with a strong pair that almost nobody buys?</a:t>
            </a:r>
          </a:p>
        </p:txBody>
      </p:sp>
      <p:sp>
        <p:nvSpPr>
          <p:cNvPr id="9" name="TextBox 8"/>
          <p:cNvSpPr txBox="1"/>
          <p:nvPr/>
        </p:nvSpPr>
        <p:spPr>
          <a:xfrm>
            <a:off x="530352" y="195681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Ice cream and chocolate sauce read lift 4.60, the strongest pair between 0.2 and 1 percent support, on 100 carts in four weeks of this sample. A slot is shown on every cart page, so a pair that thin cannot repay it. It goes on a watch list: tried in two zones for two weeks and promoted only if its click-through beats the slot's own record. Acting on lift alone is the trap a floor exists to stop.</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4" name="Oval 13"/>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34 / 41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re-ranking recover in a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Milk holds half the slot impressions at 1.2 percent. Moving them to pairs that click at 6.4 recovers how much?</a:t>
            </a:r>
          </a:p>
        </p:txBody>
      </p:sp>
      <p:sp>
        <p:nvSpPr>
          <p:cNvPr id="9" name="Rounded Rectangle 8"/>
          <p:cNvSpPr/>
          <p:nvPr/>
        </p:nvSpPr>
        <p:spPr>
          <a:xfrm>
            <a:off x="530352"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indian-rupee_bfbdea5c5650.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A</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50,000</a:t>
            </a:r>
          </a:p>
        </p:txBody>
      </p:sp>
      <p:sp>
        <p:nvSpPr>
          <p:cNvPr id="14" name="TextBox 13"/>
          <p:cNvSpPr txBox="1"/>
          <p:nvPr/>
        </p:nvSpPr>
        <p:spPr>
          <a:xfrm>
            <a:off x="731519"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A rounding error on the city's month.</a:t>
            </a:r>
          </a:p>
        </p:txBody>
      </p:sp>
      <p:sp>
        <p:nvSpPr>
          <p:cNvPr id="15" name="Rounded Rectangle 14"/>
          <p:cNvSpPr/>
          <p:nvPr/>
        </p:nvSpPr>
        <p:spPr>
          <a:xfrm>
            <a:off x="3358819"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indian-rupee_bfbdea5c5650.png"/>
          <p:cNvPicPr>
            <a:picLocks noChangeAspect="1"/>
          </p:cNvPicPr>
          <p:nvPr/>
        </p:nvPicPr>
        <p:blipFill>
          <a:blip r:embed="rId4"/>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B</a:t>
            </a:r>
          </a:p>
        </p:txBody>
      </p:sp>
      <p:sp>
        <p:nvSpPr>
          <p:cNvPr id="19" name="TextBox 18"/>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2 lakh</a:t>
            </a:r>
          </a:p>
        </p:txBody>
      </p:sp>
      <p:sp>
        <p:nvSpPr>
          <p:cNvPr id="20" name="TextBox 19"/>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One slot's gap for half a month.</a:t>
            </a:r>
          </a:p>
        </p:txBody>
      </p:sp>
      <p:sp>
        <p:nvSpPr>
          <p:cNvPr id="21" name="Rounded Rectangle 20"/>
          <p:cNvSpPr/>
          <p:nvPr/>
        </p:nvSpPr>
        <p:spPr>
          <a:xfrm>
            <a:off x="6187287"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indian-rupee_bfbdea5c5650.png"/>
          <p:cNvPicPr>
            <a:picLocks noChangeAspect="1"/>
          </p:cNvPicPr>
          <p:nvPr/>
        </p:nvPicPr>
        <p:blipFill>
          <a:blip r:embed="rId4"/>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6 lakh</a:t>
            </a:r>
          </a:p>
        </p:txBody>
      </p:sp>
      <p:sp>
        <p:nvSpPr>
          <p:cNvPr id="26" name="TextBox 25"/>
          <p:cNvSpPr txBox="1"/>
          <p:nvPr/>
        </p:nvSpPr>
        <p:spPr>
          <a:xfrm>
            <a:off x="6388455"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gap on milk's share of all three slots.</a:t>
            </a:r>
          </a:p>
        </p:txBody>
      </p:sp>
      <p:sp>
        <p:nvSpPr>
          <p:cNvPr id="27" name="Rounded Rectangle 26"/>
          <p:cNvSpPr/>
          <p:nvPr/>
        </p:nvSpPr>
        <p:spPr>
          <a:xfrm>
            <a:off x="9015755" y="1956816"/>
            <a:ext cx="2645587"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indian-rupee_bfbdea5c5650.png"/>
          <p:cNvPicPr>
            <a:picLocks noChangeAspect="1"/>
          </p:cNvPicPr>
          <p:nvPr/>
        </p:nvPicPr>
        <p:blipFill>
          <a:blip r:embed="rId4"/>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D</a:t>
            </a:r>
          </a:p>
        </p:txBody>
      </p:sp>
      <p:sp>
        <p:nvSpPr>
          <p:cNvPr id="31" name="TextBox 30"/>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About Rs 50 lakh</a:t>
            </a:r>
          </a:p>
        </p:txBody>
      </p:sp>
      <p:sp>
        <p:nvSpPr>
          <p:cNvPr id="32" name="TextBox 31"/>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Sales from every add the strip makes.</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35" name="Oval 3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37" name="Oval 36"/>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35 / 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 about Rs 6.3 lakh a month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 four numbers build a slot's value, and what does a month recover?</a:t>
            </a:r>
          </a:p>
        </p:txBody>
      </p:sp>
      <p:pic>
        <p:nvPicPr>
          <p:cNvPr id="9" name="mermaid diagram" descr="C2_W04_D03_slot_value_STUDENT.png"/>
          <p:cNvPicPr>
            <a:picLocks noChangeAspect="1"/>
          </p:cNvPicPr>
          <p:nvPr/>
        </p:nvPicPr>
        <p:blipFill>
          <a:blip r:embed="rId4"/>
          <a:stretch>
            <a:fillRect/>
          </a:stretch>
        </p:blipFill>
        <p:spPr>
          <a:xfrm>
            <a:off x="1088110" y="1664208"/>
            <a:ext cx="10015474"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One slot a day at 6.4 and at 1.2 percent, and the month recovered by moving milk's impressions</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60,000 views a day (strip_log) x click-through x 0.5 adds per click (range 0.4 to 0.6) x Rs 9 margin an add (range Rs 7 to 11). Milk's half of three slots is 1.5 slots' worth: Rs 4.2 lakh x 1.5 = Rs 6.3 lakh a month, from Rs 3.9 lakh to Rs 9.3 lakh across the ranges.</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6" name="Oval 15"/>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36 /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trap: Rs 80,197 of sales is not the gain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 would overstate the slot four times over?</a:t>
            </a:r>
          </a:p>
        </p:txBody>
      </p:sp>
      <p:sp>
        <p:nvSpPr>
          <p:cNvPr id="9" name="TextBox 8"/>
          <p:cNvSpPr txBox="1"/>
          <p:nvPr/>
        </p:nvSpPr>
        <p:spPr>
          <a:xfrm>
            <a:off x="530352" y="1956816"/>
            <a:ext cx="11130991" cy="160121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plausible wrong answer books sales: a slot at 6.4 percent makes 1,920 adds a day, each selling for about Rs 42, so Rs 80,197 a day of "strip revenue". The growth lead keeps the margin, Rs 17,280. If the strip ever adds a bundle discount, the discount is margin handed back for adds that might have happened anyway. Swiggy's own letter describes its Maxxsaver discount as margin returned to the user, the cost line a rupee case must carry (W4, checked 12 October 2026).</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4" name="Oval 13"/>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37 /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doubts the counts cannot settle alone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must the growth lead say aloud, and what check settles each doubt?</a:t>
            </a:r>
          </a:p>
        </p:txBody>
      </p:sp>
      <p:graphicFrame>
        <p:nvGraphicFramePr>
          <p:cNvPr id="9" name="Table 8"/>
          <p:cNvGraphicFramePr>
            <a:graphicFrameLocks noGrp="1"/>
          </p:cNvGraphicFramePr>
          <p:nvPr/>
        </p:nvGraphicFramePr>
        <p:xfrm>
          <a:off x="530352" y="1921256"/>
          <a:ext cx="11130989" cy="4039616"/>
        </p:xfrm>
        <a:graphic>
          <a:graphicData uri="http://schemas.openxmlformats.org/drawingml/2006/table">
            <a:tbl>
              <a:tblPr firstRow="0" bandRow="0">
                <a:tableStyleId>{2D5ABB26-0587-4C30-8999-92F81FD0307C}</a:tableStyleId>
              </a:tblPr>
              <a:tblGrid>
                <a:gridCol w="2745206"/>
                <a:gridCol w="3095080"/>
                <a:gridCol w="5290703"/>
              </a:tblGrid>
              <a:tr h="369824">
                <a:tc>
                  <a:txBody>
                    <a:bodyPr/>
                    <a:lstStyle/>
                    <a:p>
                      <a:r>
                        <a:rPr sz="1450" b="1" i="0">
                          <a:solidFill>
                            <a:srgbClr val="FFFFFF"/>
                          </a:solidFill>
                          <a:latin typeface="Calibri"/>
                        </a:rPr>
                        <a:t>Doubt</a:t>
                      </a:r>
                    </a:p>
                  </a:txBody>
                  <a:tcPr marL="101600" marR="101600" marT="38100" marB="38100" anchor="ctr">
                    <a:solidFill>
                      <a:srgbClr val="1A0F5C"/>
                    </a:solidFill>
                  </a:tcPr>
                </a:tc>
                <a:tc>
                  <a:txBody>
                    <a:bodyPr/>
                    <a:lstStyle/>
                    <a:p>
                      <a:r>
                        <a:rPr sz="1450" b="1" i="0">
                          <a:solidFill>
                            <a:srgbClr val="FFFFFF"/>
                          </a:solidFill>
                          <a:latin typeface="Calibri"/>
                        </a:rPr>
                        <a:t>The check</a:t>
                      </a:r>
                    </a:p>
                  </a:txBody>
                  <a:tcPr marL="101600" marR="101600" marT="38100" marB="38100" anchor="ctr">
                    <a:solidFill>
                      <a:srgbClr val="1A0F5C"/>
                    </a:solidFill>
                  </a:tcPr>
                </a:tc>
                <a:tc>
                  <a:txBody>
                    <a:bodyPr/>
                    <a:lstStyle/>
                    <a:p>
                      <a:r>
                        <a:rPr sz="1450" b="1" i="0">
                          <a:solidFill>
                            <a:srgbClr val="FFFFFF"/>
                          </a:solidFill>
                          <a:latin typeface="Calibri"/>
                        </a:rPr>
                        <a:t>What it showed</a:t>
                      </a:r>
                    </a:p>
                  </a:txBody>
                  <a:tcPr marL="101600" marR="101600" marT="38100" marB="38100" anchor="ctr">
                    <a:solidFill>
                      <a:srgbClr val="1A0F5C"/>
                    </a:solidFill>
                  </a:tcPr>
                </a:tc>
              </a:tr>
              <a:tr h="611632">
                <a:tc>
                  <a:txBody>
                    <a:bodyPr/>
                    <a:lstStyle/>
                    <a:p>
                      <a:r>
                        <a:rPr sz="1400" b="0" i="0">
                          <a:solidFill>
                            <a:srgbClr val="1A1440"/>
                          </a:solidFill>
                          <a:latin typeface="Calibri"/>
                        </a:rPr>
                        <a:t>Together is no proof of cause</a:t>
                      </a:r>
                    </a:p>
                  </a:txBody>
                  <a:tcPr marL="101600" marR="101600" marT="38100" marB="38100" anchor="ctr">
                    <a:solidFill>
                      <a:srgbClr val="FFFFFF"/>
                    </a:solidFill>
                  </a:tcPr>
                </a:tc>
                <a:tc>
                  <a:txBody>
                    <a:bodyPr/>
                    <a:lstStyle/>
                    <a:p>
                      <a:r>
                        <a:rPr sz="1400" b="0" i="0">
                          <a:solidFill>
                            <a:srgbClr val="1A1440"/>
                          </a:solidFill>
                          <a:latin typeface="Calibri"/>
                        </a:rPr>
                        <a:t>A holdout that changes the strip</a:t>
                      </a:r>
                    </a:p>
                  </a:txBody>
                  <a:tcPr marL="101600" marR="101600" marT="38100" marB="38100" anchor="ctr">
                    <a:solidFill>
                      <a:srgbClr val="FFFFFF"/>
                    </a:solidFill>
                  </a:tcPr>
                </a:tc>
                <a:tc>
                  <a:txBody>
                    <a:bodyPr/>
                    <a:lstStyle/>
                    <a:p>
                      <a:r>
                        <a:rPr sz="1400" b="0" i="0">
                          <a:solidFill>
                            <a:srgbClr val="1A1440"/>
                          </a:solidFill>
                          <a:latin typeface="Calibri"/>
                        </a:rPr>
                        <a:t>Monday's faculty session on A/B testing (tentative)</a:t>
                      </a:r>
                    </a:p>
                  </a:txBody>
                  <a:tcPr marL="101600" marR="101600" marT="38100" marB="38100" anchor="ctr">
                    <a:solidFill>
                      <a:srgbClr val="FFFFFF"/>
                    </a:solidFill>
                  </a:tcPr>
                </a:tc>
              </a:tr>
              <a:tr h="611632">
                <a:tc>
                  <a:txBody>
                    <a:bodyPr/>
                    <a:lstStyle/>
                    <a:p>
                      <a:r>
                        <a:rPr sz="1400" b="0" i="0">
                          <a:solidFill>
                            <a:srgbClr val="1A1440"/>
                          </a:solidFill>
                          <a:latin typeface="Calibri"/>
                        </a:rPr>
                        <a:t>Heavy buyers</a:t>
                      </a:r>
                    </a:p>
                  </a:txBody>
                  <a:tcPr marL="101600" marR="101600" marT="38100" marB="38100" anchor="ctr">
                    <a:solidFill>
                      <a:srgbClr val="F4F2FA"/>
                    </a:solidFill>
                  </a:tcPr>
                </a:tc>
                <a:tc>
                  <a:txBody>
                    <a:bodyPr/>
                    <a:lstStyle/>
                    <a:p>
                      <a:r>
                        <a:rPr sz="1400" b="0" i="0">
                          <a:solidFill>
                            <a:srgbClr val="1A1440"/>
                          </a:solidFill>
                          <a:latin typeface="Calibri"/>
                        </a:rPr>
                        <a:t>Count each customer once</a:t>
                      </a:r>
                    </a:p>
                  </a:txBody>
                  <a:tcPr marL="101600" marR="101600" marT="38100" marB="38100" anchor="ctr">
                    <a:solidFill>
                      <a:srgbClr val="F4F2FA"/>
                    </a:solidFill>
                  </a:tcPr>
                </a:tc>
                <a:tc>
                  <a:txBody>
                    <a:bodyPr/>
                    <a:lstStyle/>
                    <a:p>
                      <a:r>
                        <a:rPr sz="1400" b="0" i="0">
                          <a:solidFill>
                            <a:srgbClr val="1A1440"/>
                          </a:solidFill>
                          <a:latin typeface="Calibri"/>
                        </a:rPr>
                        <a:t>Chips and cold drink 3.39 falls to 2.56; milk's pair stays 1.04</a:t>
                      </a:r>
                    </a:p>
                  </a:txBody>
                  <a:tcPr marL="101600" marR="101600" marT="38100" marB="38100" anchor="ctr">
                    <a:solidFill>
                      <a:srgbClr val="F4F2FA"/>
                    </a:solidFill>
                  </a:tcPr>
                </a:tc>
              </a:tr>
              <a:tr h="611632">
                <a:tc>
                  <a:txBody>
                    <a:bodyPr/>
                    <a:lstStyle/>
                    <a:p>
                      <a:r>
                        <a:rPr sz="1400" b="0" i="0">
                          <a:solidFill>
                            <a:srgbClr val="1A1440"/>
                          </a:solidFill>
                          <a:latin typeface="Calibri"/>
                        </a:rPr>
                        <a:t>Curd stock-out</a:t>
                      </a:r>
                    </a:p>
                  </a:txBody>
                  <a:tcPr marL="101600" marR="101600" marT="38100" marB="38100" anchor="ctr">
                    <a:solidFill>
                      <a:srgbClr val="FFFFFF"/>
                    </a:solidFill>
                  </a:tcPr>
                </a:tc>
                <a:tc>
                  <a:txBody>
                    <a:bodyPr/>
                    <a:lstStyle/>
                    <a:p>
                      <a:r>
                        <a:rPr sz="1400" b="0" i="0">
                          <a:solidFill>
                            <a:srgbClr val="1A1440"/>
                          </a:solidFill>
                          <a:latin typeface="Calibri"/>
                        </a:rPr>
                        <a:t>Set aside two zones in week three</a:t>
                      </a:r>
                    </a:p>
                  </a:txBody>
                  <a:tcPr marL="101600" marR="101600" marT="38100" marB="38100" anchor="ctr">
                    <a:solidFill>
                      <a:srgbClr val="FFFFFF"/>
                    </a:solidFill>
                  </a:tcPr>
                </a:tc>
                <a:tc>
                  <a:txBody>
                    <a:bodyPr/>
                    <a:lstStyle/>
                    <a:p>
                      <a:r>
                        <a:rPr sz="1400" b="0" i="0">
                          <a:solidFill>
                            <a:srgbClr val="1A1440"/>
                          </a:solidFill>
                          <a:latin typeface="Calibri"/>
                        </a:rPr>
                        <a:t>Curd's share 26.0 rises to 27.8 percent; its lift with milk stays 1.01</a:t>
                      </a:r>
                    </a:p>
                  </a:txBody>
                  <a:tcPr marL="101600" marR="101600" marT="38100" marB="38100" anchor="ctr">
                    <a:solidFill>
                      <a:srgbClr val="FFFFFF"/>
                    </a:solidFill>
                  </a:tcPr>
                </a:tc>
              </a:tr>
              <a:tr h="611632">
                <a:tc>
                  <a:txBody>
                    <a:bodyPr/>
                    <a:lstStyle/>
                    <a:p>
                      <a:r>
                        <a:rPr sz="1400" b="0" i="0">
                          <a:solidFill>
                            <a:srgbClr val="1A1440"/>
                          </a:solidFill>
                          <a:latin typeface="Calibri"/>
                        </a:rPr>
                        <a:t>Time of day</a:t>
                      </a:r>
                    </a:p>
                  </a:txBody>
                  <a:tcPr marL="101600" marR="101600" marT="38100" marB="38100" anchor="ctr">
                    <a:solidFill>
                      <a:srgbClr val="F4F2FA"/>
                    </a:solidFill>
                  </a:tcPr>
                </a:tc>
                <a:tc>
                  <a:txBody>
                    <a:bodyPr/>
                    <a:lstStyle/>
                    <a:p>
                      <a:r>
                        <a:rPr sz="1400" b="0" i="0">
                          <a:solidFill>
                            <a:srgbClr val="1A1440"/>
                          </a:solidFill>
                          <a:latin typeface="Calibri"/>
                        </a:rPr>
                        <a:t>Morning carts only</a:t>
                      </a:r>
                    </a:p>
                  </a:txBody>
                  <a:tcPr marL="101600" marR="101600" marT="38100" marB="38100" anchor="ctr">
                    <a:solidFill>
                      <a:srgbClr val="F4F2FA"/>
                    </a:solidFill>
                  </a:tcPr>
                </a:tc>
                <a:tc>
                  <a:txBody>
                    <a:bodyPr/>
                    <a:lstStyle/>
                    <a:p>
                      <a:r>
                        <a:rPr sz="1400" b="0" i="0">
                          <a:solidFill>
                            <a:srgbClr val="1A1440"/>
                          </a:solidFill>
                          <a:latin typeface="Calibri"/>
                        </a:rPr>
                        <a:t>Morning carts hold milk 80 percent of the time; bread with milk still about 1.04</a:t>
                      </a:r>
                    </a:p>
                  </a:txBody>
                  <a:tcPr marL="101600" marR="101600" marT="38100" marB="38100" anchor="ctr">
                    <a:solidFill>
                      <a:srgbClr val="F4F2FA"/>
                    </a:solidFill>
                  </a:tcPr>
                </a:tc>
              </a:tr>
              <a:tr h="611632">
                <a:tc>
                  <a:txBody>
                    <a:bodyPr/>
                    <a:lstStyle/>
                    <a:p>
                      <a:r>
                        <a:rPr sz="1400" b="0" i="0">
                          <a:solidFill>
                            <a:srgbClr val="1A1440"/>
                          </a:solidFill>
                          <a:latin typeface="Calibri"/>
                        </a:rPr>
                        <a:t>The strip's own pull</a:t>
                      </a:r>
                    </a:p>
                  </a:txBody>
                  <a:tcPr marL="101600" marR="101600" marT="38100" marB="38100" anchor="ctr">
                    <a:solidFill>
                      <a:srgbClr val="FFFFFF"/>
                    </a:solidFill>
                  </a:tcPr>
                </a:tc>
                <a:tc>
                  <a:txBody>
                    <a:bodyPr/>
                    <a:lstStyle/>
                    <a:p>
                      <a:r>
                        <a:rPr sz="1400" b="0" i="0">
                          <a:solidFill>
                            <a:srgbClr val="1A1440"/>
                          </a:solidFill>
                          <a:latin typeface="Calibri"/>
                        </a:rPr>
                        <a:t>Click-through by slot</a:t>
                      </a:r>
                    </a:p>
                  </a:txBody>
                  <a:tcPr marL="101600" marR="101600" marT="38100" marB="38100" anchor="ctr">
                    <a:solidFill>
                      <a:srgbClr val="FFFFFF"/>
                    </a:solidFill>
                  </a:tcPr>
                </a:tc>
                <a:tc>
                  <a:txBody>
                    <a:bodyPr/>
                    <a:lstStyle/>
                    <a:p>
                      <a:r>
                        <a:rPr sz="1400" b="0" i="0">
                          <a:solidFill>
                            <a:srgbClr val="1A1440"/>
                          </a:solidFill>
                          <a:latin typeface="Calibri"/>
                        </a:rPr>
                        <a:t>Slot 1 draws 8.2 percent, slot 3 5.4; milk is low in all three</a:t>
                      </a:r>
                    </a:p>
                  </a:txBody>
                  <a:tcPr marL="101600" marR="101600" marT="38100" marB="38100" anchor="ctr">
                    <a:solidFill>
                      <a:srgbClr val="FFFFFF"/>
                    </a:solidFill>
                  </a:tcPr>
                </a:tc>
              </a:tr>
              <a:tr h="611632">
                <a:tc>
                  <a:txBody>
                    <a:bodyPr/>
                    <a:lstStyle/>
                    <a:p>
                      <a:r>
                        <a:rPr sz="1400" b="0" i="0">
                          <a:solidFill>
                            <a:srgbClr val="1A1440"/>
                          </a:solidFill>
                          <a:latin typeface="Calibri"/>
                        </a:rPr>
                        <a:t>Per cart against per customer</a:t>
                      </a:r>
                    </a:p>
                  </a:txBody>
                  <a:tcPr marL="101600" marR="101600" marT="38100" marB="38100" anchor="ctr">
                    <a:solidFill>
                      <a:srgbClr val="F4F2FA"/>
                    </a:solidFill>
                  </a:tcPr>
                </a:tc>
                <a:tc>
                  <a:txBody>
                    <a:bodyPr/>
                    <a:lstStyle/>
                    <a:p>
                      <a:r>
                        <a:rPr sz="1400" b="0" i="0">
                          <a:solidFill>
                            <a:srgbClr val="1A1440"/>
                          </a:solidFill>
                          <a:latin typeface="Calibri"/>
                        </a:rPr>
                        <a:t>The heavy-buyer check</a:t>
                      </a:r>
                    </a:p>
                  </a:txBody>
                  <a:tcPr marL="101600" marR="101600" marT="38100" marB="38100" anchor="ctr">
                    <a:solidFill>
                      <a:srgbClr val="F4F2FA"/>
                    </a:solidFill>
                  </a:tcPr>
                </a:tc>
                <a:tc>
                  <a:txBody>
                    <a:bodyPr/>
                    <a:lstStyle/>
                    <a:p>
                      <a:r>
                        <a:rPr sz="1400" b="0" i="0">
                          <a:solidFill>
                            <a:srgbClr val="1A1440"/>
                          </a:solidFill>
                          <a:latin typeface="Calibri"/>
                        </a:rPr>
                        <a:t>Answered above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4" name="Oval 13"/>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38 / 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Counted once per customer, the party pair shrinks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much of chips and cold drink comes from a few heavy shoppers?</a:t>
            </a:r>
          </a:p>
        </p:txBody>
      </p:sp>
      <p:pic>
        <p:nvPicPr>
          <p:cNvPr id="9" name="mermaid diagram" descr="C2_W04_D03_heavy_tenth_STUDENT.png"/>
          <p:cNvPicPr>
            <a:picLocks noChangeAspect="1"/>
          </p:cNvPicPr>
          <p:nvPr/>
        </p:nvPicPr>
        <p:blipFill>
          <a:blip r:embed="rId4"/>
          <a:stretch>
            <a:fillRect/>
          </a:stretch>
        </p:blipFill>
        <p:spPr>
          <a:xfrm>
            <a:off x="1080357" y="1664208"/>
            <a:ext cx="10030979"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Lift per cart against lift with every customer counted once, for chips and cold drink and for bread and milk</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The top tenth of customers place 38 percent of the carts and 73 percent of the carts holding both chips and a cold drink. Counted with every customer once, the pair's lift falls from 3.39 to 2.56 and still beats chance; bread and milk stays at 1.04. The pair keeps its slot, and the growth lead says the smaller number.</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6" name="Oval 15"/>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39 / 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Curd ran out in two zones in week three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stock-out do to support, and what does it leave alone?</a:t>
            </a:r>
          </a:p>
        </p:txBody>
      </p:sp>
      <p:pic>
        <p:nvPicPr>
          <p:cNvPr id="9" name="mermaid diagram" descr="C2_W04_D03_stockout_STUDENT.png"/>
          <p:cNvPicPr>
            <a:picLocks noChangeAspect="1"/>
          </p:cNvPicPr>
          <p:nvPr/>
        </p:nvPicPr>
        <p:blipFill>
          <a:blip r:embed="rId4"/>
          <a:stretch>
            <a:fillRect/>
          </a:stretch>
        </p:blipFill>
        <p:spPr>
          <a:xfrm>
            <a:off x="1605114" y="1664208"/>
            <a:ext cx="8981467" cy="3215640"/>
          </a:xfrm>
          <a:prstGeom prst="rect">
            <a:avLst/>
          </a:prstGeom>
        </p:spPr>
      </p:pic>
      <p:sp>
        <p:nvSpPr>
          <p:cNvPr id="10" name="picture caption"/>
          <p:cNvSpPr txBox="1"/>
          <p:nvPr/>
        </p:nvSpPr>
        <p:spPr>
          <a:xfrm>
            <a:off x="530352" y="49164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Share of carts holding curd, by zone and week: Hadapsar and Viman Nagar near zero from 15 to 21 September</a:t>
            </a:r>
          </a:p>
        </p:txBody>
      </p:sp>
      <p:sp>
        <p:nvSpPr>
          <p:cNvPr id="11" name="TextBox 10"/>
          <p:cNvSpPr txBox="1"/>
          <p:nvPr/>
        </p:nvSpPr>
        <p:spPr>
          <a:xfrm>
            <a:off x="530352" y="5242560"/>
            <a:ext cx="11130991" cy="957072"/>
          </a:xfrm>
          <a:prstGeom prst="rect">
            <a:avLst/>
          </a:prstGeom>
          <a:noFill/>
        </p:spPr>
        <p:txBody>
          <a:bodyPr wrap="square" anchor="t" lIns="0" rIns="0" tIns="0" bIns="0">
            <a:spAutoFit/>
          </a:bodyPr>
          <a:lstStyle/>
          <a:p>
            <a:r>
              <a:rPr sz="1600" b="0" i="0">
                <a:solidFill>
                  <a:srgbClr val="1A1440"/>
                </a:solidFill>
                <a:latin typeface="Calibri"/>
              </a:rPr>
              <a:t>In Hadapsar and Viman Nagar from 15 to 21 September, curd is in 12 of 2,583 carts. Set those aside and curd's share rises from 26.0 to 27.8 percent; its lift with milk stays 1.01. A stock-out cuts the count, never the pull.</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6" name="Oval 15"/>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40 / 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morning's answer, ready for the afternoon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growth lead now hold?</a:t>
            </a:r>
          </a:p>
        </p:txBody>
      </p:sp>
      <p:pic>
        <p:nvPicPr>
          <p:cNvPr id="9" name="mermaid diagram" descr="d7fa4f0e9f118f57.png"/>
          <p:cNvPicPr>
            <a:picLocks noChangeAspect="1"/>
          </p:cNvPicPr>
          <p:nvPr/>
        </p:nvPicPr>
        <p:blipFill>
          <a:blip r:embed="rId5"/>
          <a:stretch>
            <a:fillRect/>
          </a:stretch>
        </p:blipFill>
        <p:spPr>
          <a:xfrm>
            <a:off x="530352" y="1956816"/>
            <a:ext cx="11130991" cy="1545971"/>
          </a:xfrm>
          <a:prstGeom prst="rect">
            <a:avLst/>
          </a:prstGeom>
        </p:spPr>
      </p:pic>
      <p:sp>
        <p:nvSpPr>
          <p:cNvPr id="10" name="TextBox 9"/>
          <p:cNvSpPr txBox="1"/>
          <p:nvPr/>
        </p:nvSpPr>
        <p:spPr>
          <a:xfrm>
            <a:off x="530352" y="3649091"/>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After lunch each group re-ranks the strip, prices its three slots and answers the category manager, who will say that milk anchors the cart.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together mean?</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What do 40,000 carts say?</a:t>
            </a:r>
          </a:p>
        </p:txBody>
      </p:sp>
      <p:sp>
        <p:nvSpPr>
          <p:cNvPr id="15" name="Oval 14"/>
          <p:cNvSpPr/>
          <p:nvPr/>
        </p:nvSpPr>
        <p:spPr>
          <a:xfrm>
            <a:off x="373560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845337"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fills the strip?</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41 /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