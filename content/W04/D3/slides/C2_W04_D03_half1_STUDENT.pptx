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 screen as the room sits down. Read the table top to bottom, then the label line:</a:t>
            </a:r>
          </a:p>
          <a:p>
            <a:r>
              <a:t>the company is real, the situation and the data are synthetic. Define two words as they appear: an impression is</a:t>
            </a:r>
          </a:p>
          <a:p>
            <a:r>
              <a:t>one time a slot was shown, and click-through is clicks divided by impressions. Point at the three</a:t>
            </a:r>
          </a:p>
          <a:p>
            <a:r>
              <a:t>tables and their columns; every number today comes from them. Ask the room for one reason "in</a:t>
            </a:r>
          </a:p>
          <a:p>
            <a:r>
              <a:t>most carts" might be the wrong reason to show an item, and write the answers on the board</a:t>
            </a:r>
          </a:p>
          <a:p>
            <a:r>
              <a:t>without judging them. Transition: 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Monday and Tuesday carry the numbers the room produced on them. Today's node is</a:t>
            </a:r>
          </a:p>
          <a:p>
            <a:r>
              <a:t>lit; Thursday, Friday and Saturday stay dashed. The Kalpa node is the lab after class, where the</a:t>
            </a:r>
          </a:p>
          <a:p>
            <a:r>
              <a:t>same method meets Kalpa Retail's baskets. Explorer: the home screen, Wednesday lit.</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the finished answer once, then earn it. Leave the cause of the fall open:</a:t>
            </a:r>
          </a:p>
          <a:p>
            <a:r>
              <a:t>chapter 2 finds it. Say that every number on the three cards is computed in the room before</a:t>
            </a:r>
          </a:p>
          <a:p>
            <a:r>
              <a:t>lunch.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Receipts on the table: the tea stall first, then the</a:t>
            </a:r>
          </a:p>
          <a:p>
            <a:r>
              <a:t>twelve cart cards per group.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 Write the</a:t>
            </a:r>
          </a:p>
          <a:p>
            <a:r>
              <a:t>three words support, confidence, lift on the board only after the room has counted each one.</a:t>
            </a:r>
          </a:p>
          <a:p>
            <a:r>
              <a:t>Transition: ten tea-stall orders.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Groups vote by holding up a letter. Then two minutes for neighbours to argue, and</a:t>
            </a:r>
          </a:p>
          <a:p>
            <a:r>
              <a:t>vote again. The split is usually between c and d. Do not explain lift yet; the next slide does.</a:t>
            </a:r>
          </a:p>
          <a:p>
            <a:r>
              <a:t>Transition: the dots.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Count each cell of the 2 by 2 aloud from the dots (StatQuest). Support: the</a:t>
            </a:r>
          </a:p>
          <a:p>
            <a:r>
              <a:t>shaded cell over all ten. Confidence: shrink the world to the chai row, 3 of 6. Expected: the</a:t>
            </a:r>
          </a:p>
          <a:p>
            <a:r>
              <a:t>chai share times the biscuit share times ten, 0.6 x 0.4 x 10. Lift: seen over expected. Then the</a:t>
            </a:r>
          </a:p>
          <a:p>
            <a:r>
              <a:t>reverse direction. Ask: "what would make the 1.25 a cause?" Only a test that changes chai and</a:t>
            </a:r>
          </a:p>
          <a:p>
            <a:r>
              <a:t>watches biscuit, the subject of this week's Monday faculty session (tentative) on A/B testing.</a:t>
            </a:r>
          </a:p>
          <a:p>
            <a:r>
              <a:t>Transition: a carry bag.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the day's trap in miniature, on numbers small enough to hold in the head.</a:t>
            </a:r>
          </a:p>
          <a:p>
            <a:r>
              <a:t>Ask a learner to say in one sentence why the bag looks like everyone's best partner. The answer to</a:t>
            </a:r>
          </a:p>
          <a:p>
            <a:r>
              <a:t>listen for: because it is in nearly every order. Transition: twelve real carts.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Each group holds these twelve as printed cards. Say: "sort the pack by whether it</a:t>
            </a:r>
          </a:p>
          <a:p>
            <a:r>
              <a:t>has bread, then count how many of those have milk; now count how many have milk at all." Counts</a:t>
            </a:r>
          </a:p>
          <a:p>
            <a:r>
              <a:t>are called out and written on the board before any formula is named. When a group stops at a</a:t>
            </a:r>
          </a:p>
          <a:p>
            <a:r>
              <a:t>confidence and calls it the answer, ask: "how many carts hold milk whether or not they hold</a:t>
            </a:r>
          </a:p>
          <a:p>
            <a:r>
              <a:t>bread?" Transition: predict before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commit in writing. Option b is the reverse direction, milk to bread, which</a:t>
            </a:r>
          </a:p>
          <a:p>
            <a:r>
              <a:t>reads 4 of 8. 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Walk the four boxes left to right, writing each number on the board. Read the</a:t>
            </a:r>
          </a:p>
          <a:p>
            <a:r>
              <a:t>reverse confidence too: milk to bread is 4 of 8, 0.50. Lift is the same from both sides.</a:t>
            </a:r>
          </a:p>
          <a:p>
            <a:r>
              <a:t>Transition: what confidence threw away.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GIF beside this still dims the carts in two steps (whiteboards folder). Say</a:t>
            </a:r>
          </a:p>
          <a:p>
            <a:r>
              <a:t>the sentence that stays: confidence shrinks the world to the carts with A; lift compares that world</a:t>
            </a:r>
          </a:p>
          <a:p>
            <a:r>
              <a:t>with all the carts. Explorer: scene W2, two buttons that grey the carts without A, then without B.</a:t>
            </a:r>
          </a:p>
          <a:p>
            <a:r>
              <a:t>Transition: the other pairs on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Groups compute the chips row first, then the ice cream row. Ask: "would you give a</a:t>
            </a:r>
          </a:p>
          <a:p>
            <a:r>
              <a:t>slot to the lift of 12?" Hold the answer for chapter 3's floor. Transition: what the chapter</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board was built region by region on the whiteboard through the chapter: the</a:t>
            </a:r>
          </a:p>
          <a:p>
            <a:r>
              <a:t>anchor with the dots, the three questions as each was counted, the sketches, then the two pitfalls.</a:t>
            </a:r>
          </a:p>
          <a:p>
            <a:r>
              <a:t>Ask a learner to say all three counts in one breath: how often, how reliably, against chance. Then</a:t>
            </a:r>
          </a:p>
          <a:p>
            <a:r>
              <a:t>the limit. Add "lift: beyond chance" under Wednesday on the week map. Transition: chapter 2, every</a:t>
            </a:r>
          </a:p>
          <a:p>
            <a:r>
              <a:t>cart.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Notebook 02 opens now: one plain line above every</a:t>
            </a:r>
          </a:p>
          <a:p>
            <a:r>
              <a:t>cell, run top to bottom with the room.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ends on a number from notebook 02.</a:t>
            </a:r>
          </a:p>
          <a:p>
            <a:r>
              <a:t>Transition: the first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argue in pairs, vote again. Write the split on the board. Transition: the</a:t>
            </a:r>
          </a:p>
          <a:p>
            <a:r>
              <a:t>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Say the trap aloud: the team built the strip on this table. The check is to ask</a:t>
            </a:r>
          </a:p>
          <a:p>
            <a:r>
              <a:t>how often milk would sit beside bread if the two ignored each other, which is lift's question.</a:t>
            </a:r>
          </a:p>
          <a:p>
            <a:r>
              <a:t>Transition: the five lines that counted this.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Code along in notebook 02 (Krish Naik): say what each line is for before running</a:t>
            </a:r>
          </a:p>
          <a:p>
            <a:r>
              <a:t>it. Sorting the pair keeps bread with milk and milk with bread as one key. Interview note: "why</a:t>
            </a:r>
          </a:p>
          <a:p>
            <a:r>
              <a:t>sorted?" is a common follow-up. Transition: bread and milk on every cart.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picture as two areas (3Blue1Brown): bread's band times milk's band is</a:t>
            </a:r>
          </a:p>
          <a:p>
            <a:r>
              <a:t>the overlap chance gives; the overlap seen is barely bigger, and lift is the ratio of the two</a:t>
            </a:r>
          </a:p>
          <a:p>
            <a:r>
              <a:t>areas. Say the lesson in one line: a few carts can make a pull look strong, and the full count</a:t>
            </a:r>
          </a:p>
          <a:p>
            <a:r>
              <a:t>shows it near one. Explorer: scene W1, sliders for the two shares and the overlap.</a:t>
            </a:r>
          </a:p>
          <a:p>
            <a:r>
              <a:t>Transition: is bread special, or is every item like this?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quick vote. Transition: the chart.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left panel is what the new strip ranked by; the right panel is what it should</a:t>
            </a:r>
          </a:p>
          <a:p>
            <a:r>
              <a:t>have read. Feynman line for the room to repeat: "the item in every bag is the worst bundle</a:t>
            </a:r>
          </a:p>
          <a:p>
            <a:r>
              <a:t>partner, because it was going in the bag anyway". Explorer: scene W3, the milk share slider.</a:t>
            </a:r>
          </a:p>
          <a:p>
            <a:r>
              <a:t>Transition: a company that met this trap.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the decision and the cost: a slot shown to everyone that moves nothing. The</a:t>
            </a:r>
          </a:p>
          <a:p>
            <a:r>
              <a:t>heavy-buyer point returns in chapter 3 as the top tenth of customers. Transition: the four pairs</a:t>
            </a:r>
          </a:p>
          <a:p>
            <a:r>
              <a:t>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the chips row: confidence 0.42 looks weak beside 0.74, yet its lift is</a:t>
            </a:r>
          </a:p>
          <a:p>
            <a:r>
              <a:t>3.39. Confidence and lift can rank pairs in opposite orders. Notebook 02 asserts the second route</a:t>
            </a:r>
          </a:p>
          <a:p>
            <a:r>
              <a:t>for three pairs. Transition: why did the click-through fall?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A view count says nothing about a rate, which rules out b for anyone who</a:t>
            </a:r>
          </a:p>
          <a:p>
            <a:r>
              <a:t>thinks it through; let the room find that. 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notebook 02's your-turn cell: each learner splits the after rows by</a:t>
            </a:r>
          </a:p>
          <a:p>
            <a:r>
              <a:t>whether the slot suggested milk before the answer is shown. Read the daily line first: it moves a</a:t>
            </a:r>
          </a:p>
          <a:p>
            <a:r>
              <a:t>few tenths of a point every day and steps down on 7 September. The strip shows packs, so one view</a:t>
            </a:r>
          </a:p>
          <a:p>
            <a:r>
              <a:t>can show milk in two slots. Transition: which slot milk took.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strip's own pull: whatever slot 1 shows draws clicks. It returns in</a:t>
            </a:r>
          </a:p>
          <a:p>
            <a:r>
              <a:t>chapter 3 as a caveat. Transition: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then break for 10 minutes. On the board before the break: the</a:t>
            </a:r>
          </a:p>
          <a:p>
            <a:r>
              <a:t>week map with "lift: beyond chance" added under Wednesday. Transition after the break: chapter 3,</a:t>
            </a:r>
          </a:p>
          <a:p>
            <a:r>
              <a:t>what fills the strip.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L4 and L5; part one now, part two unguided after lunch.</a:t>
            </a:r>
          </a:p>
          <a:p>
            <a:r>
              <a:t>Notebook 03.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Transition: the problem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Vote, argue, vote again (Brilliant: the problem before the explanation). The split</a:t>
            </a:r>
          </a:p>
          <a:p>
            <a:r>
              <a:t>is usually b against c. Transition: every pair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regions: promote above the floor and well above one; watch, high lift</a:t>
            </a:r>
          </a:p>
          <a:p>
            <a:r>
              <a:t>below the floor; ignore, near one, where milk's pairs sit. The floor is a decision: 0.5 percent</a:t>
            </a:r>
          </a:p>
          <a:p>
            <a:r>
              <a:t>admits more pairs on thinner ground, 2 percent fewer. Explorer: scene W5, the floor slider counts</a:t>
            </a:r>
          </a:p>
          <a:p>
            <a:r>
              <a:t>the pairs that survive. Transition: the thin pair.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How long a trial must run to trust its answer is a sample-size question, parked by</a:t>
            </a:r>
          </a:p>
          <a:p>
            <a:r>
              <a:t>name for the faculty session (tentative). Transition: what a slot is worth.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Guess first, then build it. Transition: the cascade.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Build it left to right on the board. Each factor is said with its source and its</a:t>
            </a:r>
          </a:p>
          <a:p>
            <a:r>
              <a:t>range. Ask what the Rs 3,240 hides: milk earns Rs 2 a pouch, so a milk slot earns even less than</a:t>
            </a:r>
          </a:p>
          <a:p>
            <a:r>
              <a:t>the Rs 9 assumption gives it. Back to S30's thin pair, priced at its own margins, Rs 37.40 for</a:t>
            </a:r>
          </a:p>
          <a:p>
            <a:r>
              <a:t>sauce against Rs 2 for milk: on about 2,400 views a day in place of milk it earns about Rs 85,000 a</a:t>
            </a:r>
          </a:p>
          <a:p>
            <a:r>
              <a:t>month, which is why it earns a test and never a blind slot. Explorer: scene W4, the strip simulator, rank by count against rank</a:t>
            </a:r>
          </a:p>
          <a:p>
            <a:r>
              <a:t>by lift. Transition: the number people get wrong.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"which line of the cascade would a bundle discount change?" The margin per</a:t>
            </a:r>
          </a:p>
          <a:p>
            <a:r>
              <a:t>add falls by the discount. Then, before S34, the prediction for its heavy-buyer row: the top tenth of</a:t>
            </a:r>
          </a:p>
          <a:p>
            <a:r>
              <a:t>customers place 38 percent of carts; with every customer counted once, does chips and cold drink's</a:t>
            </a:r>
          </a:p>
          <a:p>
            <a:r>
              <a:t>3.39 stay above 3, fall to about 2.5, or fall to about one? Hands up, then S34. Transition: what the</a:t>
            </a:r>
          </a:p>
          <a:p>
            <a:r>
              <a:t>counts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doubt at a time, each with its number from notebook 03. A check that comes</a:t>
            </a:r>
          </a:p>
          <a:p>
            <a:r>
              <a:t>back clean is said in one line, as the time-of-day check does. Transition: the heavy tenth.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"Counted once" means each cart weighs one over its customer's number of carts, so</a:t>
            </a:r>
          </a:p>
          <a:p>
            <a:r>
              <a:t>a shopper with fourteen carts counts as much as a shopper with one. Transition: the stock-out.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caveat is a labelled line and a recomputation, never a disclaimer. Transition:</a:t>
            </a:r>
          </a:p>
          <a:p>
            <a:r>
              <a:t>the morning's answer.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chain left to right. The afternoon's first 35 minutes run unguided on</a:t>
            </a:r>
          </a:p>
          <a:p>
            <a:r>
              <a:t>notebook 03. 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6.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 click-through fell from 6.1 to 3.8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analyst been handed, and what is due Friday?</a:t>
            </a:r>
          </a:p>
        </p:txBody>
      </p:sp>
      <p:graphicFrame>
        <p:nvGraphicFramePr>
          <p:cNvPr id="9" name="Table 8"/>
          <p:cNvGraphicFramePr>
            <a:graphicFrameLocks noGrp="1"/>
          </p:cNvGraphicFramePr>
          <p:nvPr/>
        </p:nvGraphicFramePr>
        <p:xfrm>
          <a:off x="530352" y="1682496"/>
          <a:ext cx="11130990" cy="3438144"/>
        </p:xfrm>
        <a:graphic>
          <a:graphicData uri="http://schemas.openxmlformats.org/drawingml/2006/table">
            <a:tbl>
              <a:tblPr firstRow="0" bandRow="0">
                <a:tableStyleId>{2D5ABB26-0587-4C30-8999-92F81FD0307C}</a:tableStyleId>
              </a:tblPr>
              <a:tblGrid>
                <a:gridCol w="3530724"/>
                <a:gridCol w="7600266"/>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part of the app</a:t>
                      </a:r>
                    </a:p>
                  </a:txBody>
                  <a:tcPr marL="101600" marR="101600" marT="38100" marB="38100" anchor="ctr">
                    <a:solidFill>
                      <a:srgbClr val="FFFFFF"/>
                    </a:solidFill>
                  </a:tcPr>
                </a:tc>
                <a:tc>
                  <a:txBody>
                    <a:bodyPr/>
                    <a:lstStyle/>
                    <a:p>
                      <a:r>
                        <a:rPr sz="900" b="0" i="0">
                          <a:solidFill>
                            <a:srgbClr val="1A1440"/>
                          </a:solidFill>
                          <a:latin typeface="Calibri"/>
                        </a:rPr>
                        <a:t>Swiggy Instamart, Pune: the cart page's strip of three suggested items, each in a slot</a:t>
                      </a:r>
                    </a:p>
                  </a:txBody>
                  <a:tcPr marL="101600" marR="101600" marT="38100" marB="38100" anchor="ctr">
                    <a:solidFill>
                      <a:srgbClr val="FFFFFF"/>
                    </a:solidFill>
                  </a:tcPr>
                </a:tc>
              </a:tr>
              <a:tr h="438912">
                <a:tc>
                  <a:txBody>
                    <a:bodyPr/>
                    <a:lstStyle/>
                    <a:p>
                      <a:r>
                        <a:rPr sz="900" b="0" i="0">
                          <a:solidFill>
                            <a:srgbClr val="1A1440"/>
                          </a:solidFill>
                          <a:latin typeface="Calibri"/>
                        </a:rPr>
                        <a:t>The change</a:t>
                      </a:r>
                    </a:p>
                  </a:txBody>
                  <a:tcPr marL="101600" marR="101600" marT="38100" marB="38100" anchor="ctr">
                    <a:solidFill>
                      <a:srgbClr val="F4F2FA"/>
                    </a:solidFill>
                  </a:tcPr>
                </a:tc>
                <a:tc>
                  <a:txBody>
                    <a:bodyPr/>
                    <a:lstStyle/>
                    <a:p>
                      <a:r>
                        <a:rPr sz="900" b="0" i="0">
                          <a:solidFill>
                            <a:srgbClr val="1A1440"/>
                          </a:solidFill>
                          <a:latin typeface="Calibri"/>
                        </a:rPr>
                        <a:t>Monday 7 September 2026: a curated list became the items most often found in the same cart; toned milk is in 71 percent of carts, so it now sits beside nearly everything</a:t>
                      </a:r>
                    </a:p>
                  </a:txBody>
                  <a:tcPr marL="101600" marR="101600" marT="38100" marB="38100" anchor="ctr">
                    <a:solidFill>
                      <a:srgbClr val="F4F2FA"/>
                    </a:solidFill>
                  </a:tcPr>
                </a:tc>
              </a:tr>
              <a:tr h="438912">
                <a:tc>
                  <a:txBody>
                    <a:bodyPr/>
                    <a:lstStyle/>
                    <a:p>
                      <a:r>
                        <a:rPr sz="900" b="0" i="0">
                          <a:solidFill>
                            <a:srgbClr val="1A1440"/>
                          </a:solidFill>
                          <a:latin typeface="Calibri"/>
                        </a:rPr>
                        <a:t>The metric</a:t>
                      </a:r>
                    </a:p>
                  </a:txBody>
                  <a:tcPr marL="101600" marR="101600" marT="38100" marB="38100" anchor="ctr">
                    <a:solidFill>
                      <a:srgbClr val="FFFFFF"/>
                    </a:solidFill>
                  </a:tcPr>
                </a:tc>
                <a:tc>
                  <a:txBody>
                    <a:bodyPr/>
                    <a:lstStyle/>
                    <a:p>
                      <a:r>
                        <a:rPr sz="900" b="0" i="0">
                          <a:solidFill>
                            <a:srgbClr val="1A1440"/>
                          </a:solidFill>
                          <a:latin typeface="Calibri"/>
                        </a:rPr>
                        <a:t>Strip click-through, clicks over impressions (an impression is one showing of one slot): 6.1 percent from 17 August to 6 September, 3.8 percent from 7 to 27 September</a:t>
                      </a:r>
                    </a:p>
                  </a:txBody>
                  <a:tcPr marL="101600" marR="101600" marT="38100" marB="38100" anchor="ctr">
                    <a:solidFill>
                      <a:srgbClr val="FFFFFF"/>
                    </a:solidFill>
                  </a:tcPr>
                </a:tc>
              </a:tr>
              <a:tr h="594360">
                <a:tc>
                  <a:txBody>
                    <a:bodyPr/>
                    <a:lstStyle/>
                    <a:p>
                      <a:r>
                        <a:rPr sz="900" b="0" i="0">
                          <a:solidFill>
                            <a:srgbClr val="1A1440"/>
                          </a:solidFill>
                          <a:latin typeface="Calibri"/>
                        </a:rPr>
                        <a:t>The data</a:t>
                      </a:r>
                    </a:p>
                  </a:txBody>
                  <a:tcPr marL="101600" marR="101600" marT="38100" marB="38100" anchor="ctr">
                    <a:solidFill>
                      <a:srgbClr val="F4F2FA"/>
                    </a:solidFill>
                  </a:tcPr>
                </a:tc>
                <a:tc>
                  <a:txBody>
                    <a:bodyPr/>
                    <a:lstStyle/>
                    <a:p>
                      <a:r>
                        <a:rPr sz="900" b="0" i="0">
                          <a:solidFill>
                            <a:srgbClr val="1A1440"/>
                          </a:solidFill>
                          <a:latin typeface="Calibri"/>
                        </a:rPr>
                        <a:t>carts (cart_id, customer_id, placed_date, zone, time_band, cart_value_rs): a sample of 40,000 carts, every September cart of 12,000 customers in eight zones; cart_items (cart_id, item, quantity, price_rs, margin_rs); strip_log (date, slot, anchor_item, the cart item a suggestion sits beside, suggested_item, impressions, clicks, adds, the suggestions put in the cart)</a:t>
                      </a:r>
                    </a:p>
                  </a:txBody>
                  <a:tcPr marL="101600" marR="101600" marT="38100" marB="38100" anchor="ctr">
                    <a:solidFill>
                      <a:srgbClr val="F4F2FA"/>
                    </a:solidFill>
                  </a:tcPr>
                </a:tc>
              </a:tr>
              <a:tr h="310896">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Rank the pairs the strip should show, explain the fall, put a rupee value on a slot</a:t>
                      </a:r>
                    </a:p>
                  </a:txBody>
                  <a:tcPr marL="101600" marR="101600" marT="38100" marB="38100" anchor="ctr">
                    <a:solidFill>
                      <a:srgbClr val="FFFFFF"/>
                    </a:solidFill>
                  </a:tcPr>
                </a:tc>
              </a:tr>
              <a:tr h="438912">
                <a:tc>
                  <a:txBody>
                    <a:bodyPr/>
                    <a:lstStyle/>
                    <a:p>
                      <a:r>
                        <a:rPr sz="900" b="0" i="0">
                          <a:solidFill>
                            <a:srgbClr val="1A1440"/>
                          </a:solidFill>
                          <a:latin typeface="Calibri"/>
                        </a:rPr>
                        <a:t>Who asks</a:t>
                      </a:r>
                    </a:p>
                  </a:txBody>
                  <a:tcPr marL="101600" marR="101600" marT="38100" marB="38100" anchor="ctr">
                    <a:solidFill>
                      <a:srgbClr val="F4F2FA"/>
                    </a:solidFill>
                  </a:tcPr>
                </a:tc>
                <a:tc>
                  <a:txBody>
                    <a:bodyPr/>
                    <a:lstStyle/>
                    <a:p>
                      <a:r>
                        <a:rPr sz="900" b="0" i="0">
                          <a:solidFill>
                            <a:srgbClr val="1A1440"/>
                          </a:solidFill>
                          <a:latin typeface="Calibri"/>
                        </a:rPr>
                        <a:t>The growth lead, who owns the strip's clicks and orders, and the category manager, who decides which products are promoted; Friday's review is the weekly meeting where both defend their numbers</a:t>
                      </a:r>
                    </a:p>
                  </a:txBody>
                  <a:tcPr marL="101600" marR="101600" marT="38100" marB="38100" anchor="ctr">
                    <a:solidFill>
                      <a:srgbClr val="F4F2FA"/>
                    </a:solidFill>
                  </a:tcPr>
                </a:tc>
              </a:tr>
              <a:tr h="594360">
                <a:tc>
                  <a:txBody>
                    <a:bodyPr/>
                    <a:lstStyle/>
                    <a:p>
                      <a:r>
                        <a:rPr sz="900" b="0" i="0">
                          <a:solidFill>
                            <a:srgbClr val="1A1440"/>
                          </a:solidFill>
                          <a:latin typeface="Calibri"/>
                        </a:rPr>
                        <a:t>Caveats</a:t>
                      </a:r>
                    </a:p>
                  </a:txBody>
                  <a:tcPr marL="101600" marR="101600" marT="38100" marB="38100" anchor="ctr">
                    <a:solidFill>
                      <a:srgbClr val="FFFFFF"/>
                    </a:solidFill>
                  </a:tcPr>
                </a:tc>
                <a:tc>
                  <a:txBody>
                    <a:bodyPr/>
                    <a:lstStyle/>
                    <a:p>
                      <a:r>
                        <a:rPr sz="900" b="0" i="0">
                          <a:solidFill>
                            <a:srgbClr val="1A1440"/>
                          </a:solidFill>
                          <a:latin typeface="Calibri"/>
                        </a:rPr>
                        <a:t>Curd ran out in two zones in week three; the top tenth of customers place 38 percent of carts; the strip causes some of the pairs it counts, since a milk add from the strip puts bread and milk in one cart; a cart is one order, a customer places many</a:t>
                      </a:r>
                    </a:p>
                  </a:txBody>
                  <a:tcPr marL="101600" marR="101600" marT="38100" marB="38100" anchor="ctr">
                    <a:solidFill>
                      <a:srgbClr val="FFFFFF"/>
                    </a:solidFill>
                  </a:tcPr>
                </a:tc>
              </a:tr>
            </a:tbl>
          </a:graphicData>
        </a:graphic>
      </p:graphicFrame>
      <p:sp>
        <p:nvSpPr>
          <p:cNvPr id="10" name="TextBox 9"/>
          <p:cNvSpPr txBox="1"/>
          <p:nvPr/>
        </p:nvSpPr>
        <p:spPr>
          <a:xfrm>
            <a:off x="530352" y="5376672"/>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This page is the ticket, the work request the analyst is handed. 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asks what goes with what, beyond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among the week's five tickets?</a:t>
            </a:r>
          </a:p>
        </p:txBody>
      </p:sp>
      <p:pic>
        <p:nvPicPr>
          <p:cNvPr id="9" name="mermaid diagram" descr="31a894d7143eca7e.png"/>
          <p:cNvPicPr>
            <a:picLocks noChangeAspect="1"/>
          </p:cNvPicPr>
          <p:nvPr/>
        </p:nvPicPr>
        <p:blipFill>
          <a:blip r:embed="rId5"/>
          <a:stretch>
            <a:fillRect/>
          </a:stretch>
        </p:blipFill>
        <p:spPr>
          <a:xfrm>
            <a:off x="2986755" y="1682496"/>
            <a:ext cx="6218183"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three pairs, one floor, Rs 6.3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growth lead carry out of the room?</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checks_8726d21bc74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PROMOTE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Three pairs above a floor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Lift 3.39 for chips and cold drink, 3.00 for coriander and green chillies, 2.21 for bread and butter, each in at least 1 percent of carts, the floor. Milk takes no slot.</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_6af225eae81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WATCH</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strong, thin pair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Ice cream and chocolate sauce: lift 4.60 on 100 carts, tested before it is promoted.</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76b0281c013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PRICE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slot, in rupees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Rs 17,280 a day with a pair that beats chance, Rs 3,240 with milk; re-ranking recovers Rs 6.3 lakh a month.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1" name="Oval 30"/>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together mean?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items go together on twelve carts from the case, counted three ways by hand before any code opens?</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and one limit,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category manager, who picks what the strip may suggest: a strip filled on the wrong count wastes the three spaces under every cart.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Support</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holding both items, over all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RELIABLY?</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Confidence</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carts holding A, the share that also hold B.</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AGAINST CHANCE?</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Lift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Carts seen holding both, over the carts chance alone would give.</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FAR?</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twelve cannot say</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Whether a pull on four carts is real or luck.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tea-stall sentence is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invented orders: chai on 6, biscuit on 4, both on 3. Which reading fails?</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Support is 0.30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holding both, over all ten: 3 of 10.</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Confidence is 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Of the 6 chai orders, the share with biscuit: 3 of 6.</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Lift is 1.25 both ways</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Seen together 3; chance gives 2.4; the ratio reads the same from biscuit.</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Chai lifts biscuit sales 25%</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Chai makes a customer buy a quarter more biscuits.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since lift counts and never names a cause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lift of 1.25 say, read off the dots?</a:t>
            </a:r>
          </a:p>
        </p:txBody>
      </p:sp>
      <p:pic>
        <p:nvPicPr>
          <p:cNvPr id="9" name="mermaid diagram" descr="C2_W04_D03_ten_dots_STUDENT.png"/>
          <p:cNvPicPr>
            <a:picLocks noChangeAspect="1"/>
          </p:cNvPicPr>
          <p:nvPr/>
        </p:nvPicPr>
        <p:blipFill>
          <a:blip r:embed="rId4"/>
          <a:stretch>
            <a:fillRect/>
          </a:stretch>
        </p:blipFill>
        <p:spPr>
          <a:xfrm>
            <a:off x="2282914" y="1664208"/>
            <a:ext cx="7625865"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ten invented tea-stall orders as dots in two circles, beside the 2 by 2 table of counts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If chai and biscuit ignored each other, 60 percent of the 4 biscuit orders, 2.4 orders, would hold chai. Three do, so lift is 3 / 2.4 = 1.25. Lift is also a confidence over the partner's own share, so it reads the same from both sides: chai to biscuit 0.50 / 0.40 = 1.25, and biscuit to chai 0.75 / 0.60 = 1.25. The pair turns up a quarter more often than chance would put it there; ten receipts cannot say why.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carry bag: confidence 0.75, lift 0.83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partner look reliable and still sit below chance?</a:t>
            </a:r>
          </a:p>
        </p:txBody>
      </p:sp>
      <p:pic>
        <p:nvPicPr>
          <p:cNvPr id="9" name="mermaid diagram" descr="C2_W04_D03_carry_bag_STUDENT.png"/>
          <p:cNvPicPr>
            <a:picLocks noChangeAspect="1"/>
          </p:cNvPicPr>
          <p:nvPr/>
        </p:nvPicPr>
        <p:blipFill>
          <a:blip r:embed="rId4"/>
          <a:stretch>
            <a:fillRect/>
          </a:stretch>
        </p:blipFill>
        <p:spPr>
          <a:xfrm>
            <a:off x="1742057" y="1664208"/>
            <a:ext cx="870758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from biscuit to carry bag beside the bag's share of all orders, invented counts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Add a carry bag, invented, in 9 of the 10 orders and in 3 of the 4 biscuit orders. Confidence from biscuit to bag is 0.75, which sounds like a bundle. The bag is in 0.90 of all orders, so lift, the confidence over the bag's own share, is 0.75 / 0.90 = 0.83: biscuit orders hold a bag a little less often than orders in general. The item in every bag earns high confidence toward everything.</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from the 40,000: milk in 8, bread in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twelve of the 40,000 carts hold, card by card?</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Cart</a:t>
                      </a:r>
                    </a:p>
                  </a:txBody>
                  <a:tcPr marL="101600" marR="101600" marT="38100" marB="38100" anchor="ctr">
                    <a:solidFill>
                      <a:srgbClr val="1A0F5C"/>
                    </a:solidFill>
                  </a:tcPr>
                </a:tc>
                <a:tc>
                  <a:txBody>
                    <a:bodyPr/>
                    <a:lstStyle/>
                    <a:p>
                      <a:r>
                        <a:rPr sz="1150" b="1" i="0">
                          <a:solidFill>
                            <a:srgbClr val="FFFFFF"/>
                          </a:solidFill>
                          <a:latin typeface="Calibri"/>
                        </a:rPr>
                        <a:t>Items held</a:t>
                      </a:r>
                    </a:p>
                  </a:txBody>
                  <a:tcPr marL="101600" marR="101600" marT="38100" marB="38100" anchor="ctr">
                    <a:solidFill>
                      <a:srgbClr val="1A0F5C"/>
                    </a:solidFill>
                  </a:tcPr>
                </a:tc>
              </a:tr>
              <a:tr h="318008">
                <a:tc>
                  <a:txBody>
                    <a:bodyPr/>
                    <a:lstStyle/>
                    <a:p>
                      <a:r>
                        <a:rPr sz="1100" b="0" i="0">
                          <a:solidFill>
                            <a:srgbClr val="1A1440"/>
                          </a:solidFill>
                          <a:latin typeface="Calibri"/>
                        </a:rPr>
                        <a:t>C000098</a:t>
                      </a:r>
                    </a:p>
                  </a:txBody>
                  <a:tcPr marL="101600" marR="101600" marT="38100" marB="38100" anchor="ctr">
                    <a:solidFill>
                      <a:srgbClr val="FFFFFF"/>
                    </a:solidFill>
                  </a:tcPr>
                </a:tc>
                <a:tc>
                  <a:txBody>
                    <a:bodyPr/>
                    <a:lstStyle/>
                    <a:p>
                      <a:r>
                        <a:rPr sz="1100" b="0" i="0">
                          <a:solidFill>
                            <a:srgbClr val="1A1440"/>
                          </a:solidFill>
                          <a:latin typeface="Calibri"/>
                        </a:rPr>
                        <a:t>toned milk, bread, eggs, bananas,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C003216</a:t>
                      </a:r>
                    </a:p>
                  </a:txBody>
                  <a:tcPr marL="101600" marR="101600" marT="38100" marB="38100" anchor="ctr">
                    <a:solidFill>
                      <a:srgbClr val="F4F2FA"/>
                    </a:solidFill>
                  </a:tcPr>
                </a:tc>
                <a:tc>
                  <a:txBody>
                    <a:bodyPr/>
                    <a:lstStyle/>
                    <a:p>
                      <a:r>
                        <a:rPr sz="1100" b="0" i="0">
                          <a:solidFill>
                            <a:srgbClr val="1A1440"/>
                          </a:solidFill>
                          <a:latin typeface="Calibri"/>
                        </a:rPr>
                        <a:t>toned milk, bread, eggs, curd, bananas</a:t>
                      </a:r>
                    </a:p>
                  </a:txBody>
                  <a:tcPr marL="101600" marR="101600" marT="38100" marB="38100" anchor="ctr">
                    <a:solidFill>
                      <a:srgbClr val="F4F2FA"/>
                    </a:solidFill>
                  </a:tcPr>
                </a:tc>
              </a:tr>
              <a:tr h="318008">
                <a:tc>
                  <a:txBody>
                    <a:bodyPr/>
                    <a:lstStyle/>
                    <a:p>
                      <a:r>
                        <a:rPr sz="1100" b="0" i="0">
                          <a:solidFill>
                            <a:srgbClr val="1A1440"/>
                          </a:solidFill>
                          <a:latin typeface="Calibri"/>
                        </a:rPr>
                        <a:t>C006334</a:t>
                      </a:r>
                    </a:p>
                  </a:txBody>
                  <a:tcPr marL="101600" marR="101600" marT="38100" marB="38100" anchor="ctr">
                    <a:solidFill>
                      <a:srgbClr val="FFFFFF"/>
                    </a:solidFill>
                  </a:tcPr>
                </a:tc>
                <a:tc>
                  <a:txBody>
                    <a:bodyPr/>
                    <a:lstStyle/>
                    <a:p>
                      <a:r>
                        <a:rPr sz="1100" b="0" i="0">
                          <a:solidFill>
                            <a:srgbClr val="1A1440"/>
                          </a:solidFill>
                          <a:latin typeface="Calibri"/>
                        </a:rPr>
                        <a:t>toned milk, bread, curd, paneer, onions</a:t>
                      </a:r>
                    </a:p>
                  </a:txBody>
                  <a:tcPr marL="101600" marR="101600" marT="38100" marB="38100" anchor="ctr">
                    <a:solidFill>
                      <a:srgbClr val="FFFFFF"/>
                    </a:solidFill>
                  </a:tcPr>
                </a:tc>
              </a:tr>
              <a:tr h="318008">
                <a:tc>
                  <a:txBody>
                    <a:bodyPr/>
                    <a:lstStyle/>
                    <a:p>
                      <a:r>
                        <a:rPr sz="1100" b="0" i="0">
                          <a:solidFill>
                            <a:srgbClr val="1A1440"/>
                          </a:solidFill>
                          <a:latin typeface="Calibri"/>
                        </a:rPr>
                        <a:t>C009452</a:t>
                      </a:r>
                    </a:p>
                  </a:txBody>
                  <a:tcPr marL="101600" marR="101600" marT="38100" marB="38100" anchor="ctr">
                    <a:solidFill>
                      <a:srgbClr val="F4F2FA"/>
                    </a:solidFill>
                  </a:tcPr>
                </a:tc>
                <a:tc>
                  <a:txBody>
                    <a:bodyPr/>
                    <a:lstStyle/>
                    <a:p>
                      <a:r>
                        <a:rPr sz="1100" b="0" i="0">
                          <a:solidFill>
                            <a:srgbClr val="1A1440"/>
                          </a:solidFill>
                          <a:latin typeface="Calibri"/>
                        </a:rPr>
                        <a:t>toned milk, bread, eggs, tomatoes</a:t>
                      </a:r>
                    </a:p>
                  </a:txBody>
                  <a:tcPr marL="101600" marR="101600" marT="38100" marB="38100" anchor="ctr">
                    <a:solidFill>
                      <a:srgbClr val="F4F2FA"/>
                    </a:solidFill>
                  </a:tcPr>
                </a:tc>
              </a:tr>
              <a:tr h="318008">
                <a:tc>
                  <a:txBody>
                    <a:bodyPr/>
                    <a:lstStyle/>
                    <a:p>
                      <a:r>
                        <a:rPr sz="1100" b="0" i="0">
                          <a:solidFill>
                            <a:srgbClr val="1A1440"/>
                          </a:solidFill>
                          <a:latin typeface="Calibri"/>
                        </a:rPr>
                        <a:t>C012570</a:t>
                      </a:r>
                    </a:p>
                  </a:txBody>
                  <a:tcPr marL="101600" marR="101600" marT="38100" marB="38100" anchor="ctr">
                    <a:solidFill>
                      <a:srgbClr val="FFFFFF"/>
                    </a:solidFill>
                  </a:tcPr>
                </a:tc>
                <a:tc>
                  <a:txBody>
                    <a:bodyPr/>
                    <a:lstStyle/>
                    <a:p>
                      <a:r>
                        <a:rPr sz="1100" b="0" i="0">
                          <a:solidFill>
                            <a:srgbClr val="1A1440"/>
                          </a:solidFill>
                          <a:latin typeface="Calibri"/>
                        </a:rPr>
                        <a:t>toned milk, eggs, chips, cold drink, onions</a:t>
                      </a:r>
                    </a:p>
                  </a:txBody>
                  <a:tcPr marL="101600" marR="101600" marT="38100" marB="38100" anchor="ctr">
                    <a:solidFill>
                      <a:srgbClr val="FFFFFF"/>
                    </a:solidFill>
                  </a:tcPr>
                </a:tc>
              </a:tr>
              <a:tr h="318008">
                <a:tc>
                  <a:txBody>
                    <a:bodyPr/>
                    <a:lstStyle/>
                    <a:p>
                      <a:r>
                        <a:rPr sz="1100" b="0" i="0">
                          <a:solidFill>
                            <a:srgbClr val="1A1440"/>
                          </a:solidFill>
                          <a:latin typeface="Calibri"/>
                        </a:rPr>
                        <a:t>C015688</a:t>
                      </a:r>
                    </a:p>
                  </a:txBody>
                  <a:tcPr marL="101600" marR="101600" marT="38100" marB="38100" anchor="ctr">
                    <a:solidFill>
                      <a:srgbClr val="F4F2FA"/>
                    </a:solidFill>
                  </a:tcPr>
                </a:tc>
                <a:tc>
                  <a:txBody>
                    <a:bodyPr/>
                    <a:lstStyle/>
                    <a:p>
                      <a:r>
                        <a:rPr sz="1100" b="0" i="0">
                          <a:solidFill>
                            <a:srgbClr val="1A1440"/>
                          </a:solidFill>
                          <a:latin typeface="Calibri"/>
                        </a:rPr>
                        <a:t>toned milk, chips, cold drink, coriander</a:t>
                      </a:r>
                    </a:p>
                  </a:txBody>
                  <a:tcPr marL="101600" marR="101600" marT="38100" marB="38100" anchor="ctr">
                    <a:solidFill>
                      <a:srgbClr val="F4F2FA"/>
                    </a:solidFill>
                  </a:tcPr>
                </a:tc>
              </a:tr>
              <a:tr h="318008">
                <a:tc>
                  <a:txBody>
                    <a:bodyPr/>
                    <a:lstStyle/>
                    <a:p>
                      <a:r>
                        <a:rPr sz="1100" b="0" i="0">
                          <a:solidFill>
                            <a:srgbClr val="1A1440"/>
                          </a:solidFill>
                          <a:latin typeface="Calibri"/>
                        </a:rPr>
                        <a:t>C018806</a:t>
                      </a:r>
                    </a:p>
                  </a:txBody>
                  <a:tcPr marL="101600" marR="101600" marT="38100" marB="38100" anchor="ctr">
                    <a:solidFill>
                      <a:srgbClr val="FFFFFF"/>
                    </a:solidFill>
                  </a:tcPr>
                </a:tc>
                <a:tc>
                  <a:txBody>
                    <a:bodyPr/>
                    <a:lstStyle/>
                    <a:p>
                      <a:r>
                        <a:rPr sz="1100" b="0" i="0">
                          <a:solidFill>
                            <a:srgbClr val="1A1440"/>
                          </a:solidFill>
                          <a:latin typeface="Calibri"/>
                        </a:rPr>
                        <a:t>toned milk, bananas,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C022633</a:t>
                      </a:r>
                    </a:p>
                  </a:txBody>
                  <a:tcPr marL="101600" marR="101600" marT="38100" marB="38100" anchor="ctr">
                    <a:solidFill>
                      <a:srgbClr val="F4F2FA"/>
                    </a:solidFill>
                  </a:tcPr>
                </a:tc>
                <a:tc>
                  <a:txBody>
                    <a:bodyPr/>
                    <a:lstStyle/>
                    <a:p>
                      <a:r>
                        <a:rPr sz="1100" b="0" i="0">
                          <a:solidFill>
                            <a:srgbClr val="1A1440"/>
                          </a:solidFill>
                          <a:latin typeface="Calibri"/>
                        </a:rPr>
                        <a:t>toned milk, paneer, coriander, tomatoes</a:t>
                      </a:r>
                    </a:p>
                  </a:txBody>
                  <a:tcPr marL="101600" marR="101600" marT="38100" marB="38100" anchor="ctr">
                    <a:solidFill>
                      <a:srgbClr val="F4F2FA"/>
                    </a:solidFill>
                  </a:tcPr>
                </a:tc>
              </a:tr>
              <a:tr h="318008">
                <a:tc>
                  <a:txBody>
                    <a:bodyPr/>
                    <a:lstStyle/>
                    <a:p>
                      <a:r>
                        <a:rPr sz="1100" b="0" i="0">
                          <a:solidFill>
                            <a:srgbClr val="1A1440"/>
                          </a:solidFill>
                          <a:latin typeface="Calibri"/>
                        </a:rPr>
                        <a:t>C026803</a:t>
                      </a:r>
                    </a:p>
                  </a:txBody>
                  <a:tcPr marL="101600" marR="101600" marT="38100" marB="38100" anchor="ctr">
                    <a:solidFill>
                      <a:srgbClr val="FFFFFF"/>
                    </a:solidFill>
                  </a:tcPr>
                </a:tc>
                <a:tc>
                  <a:txBody>
                    <a:bodyPr/>
                    <a:lstStyle/>
                    <a:p>
                      <a:r>
                        <a:rPr sz="1100" b="0" i="0">
                          <a:solidFill>
                            <a:srgbClr val="1A1440"/>
                          </a:solidFill>
                          <a:latin typeface="Calibri"/>
                        </a:rPr>
                        <a:t>chips, coriander, onions, potatoes</a:t>
                      </a:r>
                    </a:p>
                  </a:txBody>
                  <a:tcPr marL="101600" marR="101600" marT="38100" marB="38100" anchor="ctr">
                    <a:solidFill>
                      <a:srgbClr val="FFFFFF"/>
                    </a:solidFill>
                  </a:tcPr>
                </a:tc>
              </a:tr>
              <a:tr h="318008">
                <a:tc>
                  <a:txBody>
                    <a:bodyPr/>
                    <a:lstStyle/>
                    <a:p>
                      <a:r>
                        <a:rPr sz="1100" b="0" i="0">
                          <a:solidFill>
                            <a:srgbClr val="1A1440"/>
                          </a:solidFill>
                          <a:latin typeface="Calibri"/>
                        </a:rPr>
                        <a:t>C030743</a:t>
                      </a:r>
                    </a:p>
                  </a:txBody>
                  <a:tcPr marL="101600" marR="101600" marT="38100" marB="38100" anchor="ctr">
                    <a:solidFill>
                      <a:srgbClr val="F4F2FA"/>
                    </a:solidFill>
                  </a:tcPr>
                </a:tc>
                <a:tc>
                  <a:txBody>
                    <a:bodyPr/>
                    <a:lstStyle/>
                    <a:p>
                      <a:r>
                        <a:rPr sz="1100" b="0" i="0">
                          <a:solidFill>
                            <a:srgbClr val="1A1440"/>
                          </a:solidFill>
                          <a:latin typeface="Calibri"/>
                        </a:rPr>
                        <a:t>cold drink, curd, bananas, tomatoes</a:t>
                      </a:r>
                    </a:p>
                  </a:txBody>
                  <a:tcPr marL="101600" marR="101600" marT="38100" marB="38100" anchor="ctr">
                    <a:solidFill>
                      <a:srgbClr val="F4F2FA"/>
                    </a:solidFill>
                  </a:tcPr>
                </a:tc>
              </a:tr>
              <a:tr h="318008">
                <a:tc>
                  <a:txBody>
                    <a:bodyPr/>
                    <a:lstStyle/>
                    <a:p>
                      <a:r>
                        <a:rPr sz="1100" b="0" i="0">
                          <a:solidFill>
                            <a:srgbClr val="1A1440"/>
                          </a:solidFill>
                          <a:latin typeface="Calibri"/>
                        </a:rPr>
                        <a:t>C033861</a:t>
                      </a:r>
                    </a:p>
                  </a:txBody>
                  <a:tcPr marL="101600" marR="101600" marT="38100" marB="38100" anchor="ctr">
                    <a:solidFill>
                      <a:srgbClr val="FFFFFF"/>
                    </a:solidFill>
                  </a:tcPr>
                </a:tc>
                <a:tc>
                  <a:txBody>
                    <a:bodyPr/>
                    <a:lstStyle/>
                    <a:p>
                      <a:r>
                        <a:rPr sz="1100" b="0" i="0">
                          <a:solidFill>
                            <a:srgbClr val="1A1440"/>
                          </a:solidFill>
                          <a:latin typeface="Calibri"/>
                        </a:rPr>
                        <a:t>eggs, ice cream, chocolate sauce</a:t>
                      </a:r>
                    </a:p>
                  </a:txBody>
                  <a:tcPr marL="101600" marR="101600" marT="38100" marB="38100" anchor="ctr">
                    <a:solidFill>
                      <a:srgbClr val="FFFFFF"/>
                    </a:solidFill>
                  </a:tcPr>
                </a:tc>
              </a:tr>
              <a:tr h="318008">
                <a:tc>
                  <a:txBody>
                    <a:bodyPr/>
                    <a:lstStyle/>
                    <a:p>
                      <a:r>
                        <a:rPr sz="1100" b="0" i="0">
                          <a:solidFill>
                            <a:srgbClr val="1A1440"/>
                          </a:solidFill>
                          <a:latin typeface="Calibri"/>
                        </a:rPr>
                        <a:t>C036979</a:t>
                      </a:r>
                    </a:p>
                  </a:txBody>
                  <a:tcPr marL="101600" marR="101600" marT="38100" marB="38100" anchor="ctr">
                    <a:solidFill>
                      <a:srgbClr val="F4F2FA"/>
                    </a:solidFill>
                  </a:tcPr>
                </a:tc>
                <a:tc>
                  <a:txBody>
                    <a:bodyPr/>
                    <a:lstStyle/>
                    <a:p>
                      <a:r>
                        <a:rPr sz="1100" b="0" i="0">
                          <a:solidFill>
                            <a:srgbClr val="1A1440"/>
                          </a:solidFill>
                          <a:latin typeface="Calibri"/>
                        </a:rPr>
                        <a:t>curd, onions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reliably does bread bring milk on twelve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Bread is in 4 carts and milk in 8. What is the confidence from bread to milk?</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0.33</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Bread's own share of the twelve carts.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ercent_3c2cac06876b.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share of milk carts that hold bread.</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rcent_3c2cac06876b.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0.75</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of the four bread carts hold milk.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ercent_3c2cac06876b.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1.00</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Every bread cart holds milk.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confidence 1.00 and lift 1.50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counts read for bread and milk?</a:t>
            </a:r>
          </a:p>
        </p:txBody>
      </p:sp>
      <p:pic>
        <p:nvPicPr>
          <p:cNvPr id="9" name="mermaid diagram" descr="e38f1e2b73f1c673.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four bread carts hold milk, so confidence is 1.00. Milk is in 8 of 12 carts anyway, so chance alone puts it in 2.67 of the four bread carts. Lift is 4 / 2.67 = 1.50: on these twelve carts, bread brings milk half again as often as chance would.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1.00 reads like a bundle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confidence throw away that lift keeps?</a:t>
            </a:r>
          </a:p>
        </p:txBody>
      </p:sp>
      <p:pic>
        <p:nvPicPr>
          <p:cNvPr id="9" name="mermaid diagram" descr="C2_W04_D03_shrink_still_last_STUDENT.png"/>
          <p:cNvPicPr>
            <a:picLocks noChangeAspect="1"/>
          </p:cNvPicPr>
          <p:nvPr/>
        </p:nvPicPr>
        <p:blipFill>
          <a:blip r:embed="rId4"/>
          <a:stretch>
            <a:fillRect/>
          </a:stretch>
        </p:blipFill>
        <p:spPr>
          <a:xfrm>
            <a:off x="2400720" y="1664208"/>
            <a:ext cx="739025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twelve carts, then only the four bread carts, then the four that also hold milk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plausible wrong answer: "confidence 1.00, so show milk beside bread." Confidence looked only inside the four bread carts. The check: milk is in 8 of 12 carts anyway. The fix: read lift instead, 1.50, though twelve carts are too few to trust it.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Chips and cold drink beat chance; one cart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other two pairs on the cards read?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077117"/>
                <a:gridCol w="1734341"/>
                <a:gridCol w="1734341"/>
                <a:gridCol w="914400"/>
                <a:gridCol w="2756390"/>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Carts with A</a:t>
                      </a:r>
                    </a:p>
                  </a:txBody>
                  <a:tcPr marL="101600" marR="101600" marT="38100" marB="38100" anchor="ctr">
                    <a:solidFill>
                      <a:srgbClr val="1A0F5C"/>
                    </a:solidFill>
                  </a:tcPr>
                </a:tc>
                <a:tc>
                  <a:txBody>
                    <a:bodyPr/>
                    <a:lstStyle/>
                    <a:p>
                      <a:r>
                        <a:rPr sz="1250" b="1" i="0">
                          <a:solidFill>
                            <a:srgbClr val="FFFFFF"/>
                          </a:solidFill>
                          <a:latin typeface="Calibri"/>
                        </a:rPr>
                        <a:t>Carts with B</a:t>
                      </a:r>
                    </a:p>
                  </a:txBody>
                  <a:tcPr marL="101600" marR="101600" marT="38100" marB="38100" anchor="ctr">
                    <a:solidFill>
                      <a:srgbClr val="1A0F5C"/>
                    </a:solidFill>
                  </a:tcPr>
                </a:tc>
                <a:tc>
                  <a:txBody>
                    <a:bodyPr/>
                    <a:lstStyle/>
                    <a:p>
                      <a:r>
                        <a:rPr sz="1250" b="1" i="0">
                          <a:solidFill>
                            <a:srgbClr val="FFFFFF"/>
                          </a:solidFill>
                          <a:latin typeface="Calibri"/>
                        </a:rPr>
                        <a:t>Both</a:t>
                      </a:r>
                    </a:p>
                  </a:txBody>
                  <a:tcPr marL="101600" marR="101600" marT="38100" marB="38100" anchor="ctr">
                    <a:solidFill>
                      <a:srgbClr val="1A0F5C"/>
                    </a:solidFill>
                  </a:tcPr>
                </a:tc>
                <a:tc>
                  <a:txBody>
                    <a:bodyPr/>
                    <a:lstStyle/>
                    <a:p>
                      <a:r>
                        <a:rPr sz="1250" b="1" i="0">
                          <a:solidFill>
                            <a:srgbClr val="FFFFFF"/>
                          </a:solidFill>
                          <a:latin typeface="Calibri"/>
                        </a:rPr>
                        <a:t>Expected by chance</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12 x 3/12 x 3/12 = 0.75</a:t>
                      </a:r>
                    </a:p>
                  </a:txBody>
                  <a:tcPr marL="101600" marR="101600" marT="38100" marB="38100" anchor="ctr">
                    <a:solidFill>
                      <a:srgbClr val="FFFFFF"/>
                    </a:solidFill>
                  </a:tcPr>
                </a:tc>
                <a:tc>
                  <a:txBody>
                    <a:bodyPr/>
                    <a:lstStyle/>
                    <a:p>
                      <a:r>
                        <a:rPr sz="1200" b="0" i="0">
                          <a:solidFill>
                            <a:srgbClr val="1A1440"/>
                          </a:solidFill>
                          <a:latin typeface="Calibri"/>
                        </a:rPr>
                        <a:t>2.67</a:t>
                      </a:r>
                    </a:p>
                  </a:txBody>
                  <a:tcPr marL="101600" marR="101600" marT="38100" marB="38100" anchor="ctr">
                    <a:solidFill>
                      <a:srgbClr val="FFFFFF"/>
                    </a:solidFill>
                  </a:tcPr>
                </a:tc>
              </a:tr>
              <a:tr h="335280">
                <a:tc>
                  <a:txBody>
                    <a:bodyPr/>
                    <a:lstStyle/>
                    <a:p>
                      <a:r>
                        <a:rPr sz="1200" b="0" i="0">
                          <a:solidFill>
                            <a:srgbClr val="1A1440"/>
                          </a:solidFill>
                          <a:latin typeface="Calibri"/>
                        </a:rPr>
                        <a:t>ice cream, chocolate sauce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12 x 1/12 x 1/12 = 0.08</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Chips and cold drink share 2 carts where chance gives 0.75: lift 2.67, a pull between two items that are each in only 3 carts. Ice cream and chocolate sauce share a single cart, and one cart makes a lift of 12, a number with nothing under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counts, two pitfalls, and what twelve cannot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carts answer, and what goes on the concept board?</a:t>
            </a:r>
          </a:p>
        </p:txBody>
      </p:sp>
      <p:pic>
        <p:nvPicPr>
          <p:cNvPr id="9" name="mermaid diagram" descr="02f701274b331025.png"/>
          <p:cNvPicPr>
            <a:picLocks noChangeAspect="1"/>
          </p:cNvPicPr>
          <p:nvPr/>
        </p:nvPicPr>
        <p:blipFill>
          <a:blip r:embed="rId5"/>
          <a:stretch>
            <a:fillRect/>
          </a:stretch>
        </p:blipFill>
        <p:spPr>
          <a:xfrm>
            <a:off x="1823827" y="1664208"/>
            <a:ext cx="8544040"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concept board "Which pairs beat chance?", finished. Lift joins the week's map as "beyond chance": Thursday asks the same of one group of members against the city's single number, and Friday of a forecast against a simple rule. Twelve carts cannot say whether 1.50 is a real pull or four lucky carts.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40,000 carts say?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support, confidence and lift say across every cart, and why did the click-through fall?</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counts to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explains the fall on Friday, against a category manager who defends milk because it is the top seller.</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How often is each item in a cart?</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item's share of the 40,000 carts.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sit together most often?</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And is that count the ranking the strip should use?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lift say about milk?</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For every item in at least 2 percent of carts.</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did the click-through fall?</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Split by what each slot suggested.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pair sits together most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all 40,000 carts' pairs by count. Which pair comes first?</a:t>
            </a:r>
          </a:p>
        </p:txBody>
      </p:sp>
      <p:sp>
        <p:nvSpPr>
          <p:cNvPr id="9" name="Rounded Rectangle 8"/>
          <p:cNvSpPr/>
          <p:nvPr/>
        </p:nvSpPr>
        <p:spPr>
          <a:xfrm>
            <a:off x="530352"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pair that beat chance on the cards.</a:t>
            </a:r>
          </a:p>
        </p:txBody>
      </p:sp>
      <p:sp>
        <p:nvSpPr>
          <p:cNvPr id="15" name="Rounded Rectangle 14"/>
          <p:cNvSpPr/>
          <p:nvPr/>
        </p:nvSpPr>
        <p:spPr>
          <a:xfrm>
            <a:off x="3358819"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daily staples.</a:t>
            </a:r>
          </a:p>
        </p:txBody>
      </p:sp>
      <p:sp>
        <p:nvSpPr>
          <p:cNvPr id="21" name="Rounded Rectangle 20"/>
          <p:cNvSpPr/>
          <p:nvPr/>
        </p:nvSpPr>
        <p:spPr>
          <a:xfrm>
            <a:off x="6187287"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lift of 12 on one card.</a:t>
            </a:r>
          </a:p>
        </p:txBody>
      </p:sp>
      <p:sp>
        <p:nvSpPr>
          <p:cNvPr id="27" name="Rounded Rectangle 26"/>
          <p:cNvSpPr/>
          <p:nvPr/>
        </p:nvSpPr>
        <p:spPr>
          <a:xfrm>
            <a:off x="9015755" y="1956816"/>
            <a:ext cx="2645587" cy="200558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cooking pair.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bread and milk, in 10,064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ranking by count put on top?</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5545676"/>
                <a:gridCol w="5585314"/>
              </a:tblGrid>
              <a:tr h="369824">
                <a:tc>
                  <a:txBody>
                    <a:bodyPr/>
                    <a:lstStyle/>
                    <a:p>
                      <a:r>
                        <a:rPr sz="1450" b="1" i="0">
                          <a:solidFill>
                            <a:srgbClr val="FFFFFF"/>
                          </a:solidFill>
                          <a:latin typeface="Calibri"/>
                        </a:rPr>
                        <a:t>Pair</a:t>
                      </a:r>
                    </a:p>
                  </a:txBody>
                  <a:tcPr marL="101600" marR="101600" marT="38100" marB="38100" anchor="ctr">
                    <a:solidFill>
                      <a:srgbClr val="1A0F5C"/>
                    </a:solidFill>
                  </a:tcPr>
                </a:tc>
                <a:tc>
                  <a:txBody>
                    <a:bodyPr/>
                    <a:lstStyle/>
                    <a:p>
                      <a:r>
                        <a:rPr sz="1450" b="1" i="0">
                          <a:solidFill>
                            <a:srgbClr val="FFFFFF"/>
                          </a:solidFill>
                          <a:latin typeface="Calibri"/>
                        </a:rPr>
                        <a:t>Carts holding both</a:t>
                      </a:r>
                    </a:p>
                  </a:txBody>
                  <a:tcPr marL="101600" marR="101600" marT="38100" marB="38100" anchor="ctr">
                    <a:solidFill>
                      <a:srgbClr val="1A0F5C"/>
                    </a:solidFill>
                  </a:tcPr>
                </a:tc>
              </a:tr>
              <a:tr h="369824">
                <a:tc>
                  <a:txBody>
                    <a:bodyPr/>
                    <a:lstStyle/>
                    <a:p>
                      <a:r>
                        <a:rPr sz="1400" b="0" i="0">
                          <a:solidFill>
                            <a:srgbClr val="1A1440"/>
                          </a:solidFill>
                          <a:latin typeface="Calibri"/>
                        </a:rPr>
                        <a:t>bread, toned milk</a:t>
                      </a:r>
                    </a:p>
                  </a:txBody>
                  <a:tcPr marL="101600" marR="101600" marT="38100" marB="38100" anchor="ctr">
                    <a:solidFill>
                      <a:srgbClr val="FFFFFF"/>
                    </a:solidFill>
                  </a:tcPr>
                </a:tc>
                <a:tc>
                  <a:txBody>
                    <a:bodyPr/>
                    <a:lstStyle/>
                    <a:p>
                      <a:r>
                        <a:rPr sz="1400" b="0" i="0">
                          <a:solidFill>
                            <a:srgbClr val="1A1440"/>
                          </a:solidFill>
                          <a:latin typeface="Calibri"/>
                        </a:rPr>
                        <a:t>10,064</a:t>
                      </a:r>
                    </a:p>
                  </a:txBody>
                  <a:tcPr marL="101600" marR="101600" marT="38100" marB="38100" anchor="ctr">
                    <a:solidFill>
                      <a:srgbClr val="FFFFFF"/>
                    </a:solidFill>
                  </a:tcPr>
                </a:tc>
              </a:tr>
              <a:tr h="369824">
                <a:tc>
                  <a:txBody>
                    <a:bodyPr/>
                    <a:lstStyle/>
                    <a:p>
                      <a:r>
                        <a:rPr sz="1400" b="0" i="0">
                          <a:solidFill>
                            <a:srgbClr val="1A1440"/>
                          </a:solidFill>
                          <a:latin typeface="Calibri"/>
                        </a:rPr>
                        <a:t>eggs, toned milk</a:t>
                      </a:r>
                    </a:p>
                  </a:txBody>
                  <a:tcPr marL="101600" marR="101600" marT="38100" marB="38100" anchor="ctr">
                    <a:solidFill>
                      <a:srgbClr val="F4F2FA"/>
                    </a:solidFill>
                  </a:tcPr>
                </a:tc>
                <a:tc>
                  <a:txBody>
                    <a:bodyPr/>
                    <a:lstStyle/>
                    <a:p>
                      <a:r>
                        <a:rPr sz="1400" b="0" i="0">
                          <a:solidFill>
                            <a:srgbClr val="1A1440"/>
                          </a:solidFill>
                          <a:latin typeface="Calibri"/>
                        </a:rPr>
                        <a:t>8,468</a:t>
                      </a:r>
                    </a:p>
                  </a:txBody>
                  <a:tcPr marL="101600" marR="101600" marT="38100" marB="38100" anchor="ctr">
                    <a:solidFill>
                      <a:srgbClr val="F4F2FA"/>
                    </a:solidFill>
                  </a:tcPr>
                </a:tc>
              </a:tr>
              <a:tr h="369824">
                <a:tc>
                  <a:txBody>
                    <a:bodyPr/>
                    <a:lstStyle/>
                    <a:p>
                      <a:r>
                        <a:rPr sz="1400" b="0" i="0">
                          <a:solidFill>
                            <a:srgbClr val="1A1440"/>
                          </a:solidFill>
                          <a:latin typeface="Calibri"/>
                        </a:rPr>
                        <a:t>curd, toned milk</a:t>
                      </a:r>
                    </a:p>
                  </a:txBody>
                  <a:tcPr marL="101600" marR="101600" marT="38100" marB="38100" anchor="ctr">
                    <a:solidFill>
                      <a:srgbClr val="FFFFFF"/>
                    </a:solidFill>
                  </a:tcPr>
                </a:tc>
                <a:tc>
                  <a:txBody>
                    <a:bodyPr/>
                    <a:lstStyle/>
                    <a:p>
                      <a:r>
                        <a:rPr sz="1400" b="0" i="0">
                          <a:solidFill>
                            <a:srgbClr val="1A1440"/>
                          </a:solidFill>
                          <a:latin typeface="Calibri"/>
                        </a:rPr>
                        <a:t>7,436</a:t>
                      </a:r>
                    </a:p>
                  </a:txBody>
                  <a:tcPr marL="101600" marR="101600" marT="38100" marB="38100" anchor="ctr">
                    <a:solidFill>
                      <a:srgbClr val="FFFFFF"/>
                    </a:solidFill>
                  </a:tcPr>
                </a:tc>
              </a:tr>
              <a:tr h="369824">
                <a:tc>
                  <a:txBody>
                    <a:bodyPr/>
                    <a:lstStyle/>
                    <a:p>
                      <a:r>
                        <a:rPr sz="1400" b="0" i="0">
                          <a:solidFill>
                            <a:srgbClr val="1A1440"/>
                          </a:solidFill>
                          <a:latin typeface="Calibri"/>
                        </a:rPr>
                        <a:t>bananas, toned milk</a:t>
                      </a:r>
                    </a:p>
                  </a:txBody>
                  <a:tcPr marL="101600" marR="101600" marT="38100" marB="38100" anchor="ctr">
                    <a:solidFill>
                      <a:srgbClr val="F4F2FA"/>
                    </a:solidFill>
                  </a:tcPr>
                </a:tc>
                <a:tc>
                  <a:txBody>
                    <a:bodyPr/>
                    <a:lstStyle/>
                    <a:p>
                      <a:r>
                        <a:rPr sz="1400" b="0" i="0">
                          <a:solidFill>
                            <a:srgbClr val="1A1440"/>
                          </a:solidFill>
                          <a:latin typeface="Calibri"/>
                        </a:rPr>
                        <a:t>6,624</a:t>
                      </a:r>
                    </a:p>
                  </a:txBody>
                  <a:tcPr marL="101600" marR="101600" marT="38100" marB="38100" anchor="ctr">
                    <a:solidFill>
                      <a:srgbClr val="F4F2FA"/>
                    </a:solidFill>
                  </a:tcPr>
                </a:tc>
              </a:tr>
              <a:tr h="369824">
                <a:tc>
                  <a:txBody>
                    <a:bodyPr/>
                    <a:lstStyle/>
                    <a:p>
                      <a:r>
                        <a:rPr sz="1400" b="0" i="0">
                          <a:solidFill>
                            <a:srgbClr val="1A1440"/>
                          </a:solidFill>
                          <a:latin typeface="Calibri"/>
                        </a:rPr>
                        <a:t>onions, toned milk</a:t>
                      </a:r>
                    </a:p>
                  </a:txBody>
                  <a:tcPr marL="101600" marR="101600" marT="38100" marB="38100" anchor="ctr">
                    <a:solidFill>
                      <a:srgbClr val="FFFFFF"/>
                    </a:solidFill>
                  </a:tcPr>
                </a:tc>
                <a:tc>
                  <a:txBody>
                    <a:bodyPr/>
                    <a:lstStyle/>
                    <a:p>
                      <a:r>
                        <a:rPr sz="1400" b="0" i="0">
                          <a:solidFill>
                            <a:srgbClr val="1A1440"/>
                          </a:solidFill>
                          <a:latin typeface="Calibri"/>
                        </a:rPr>
                        <a:t>6,248</a:t>
                      </a:r>
                    </a:p>
                  </a:txBody>
                  <a:tcPr marL="101600" marR="101600" marT="38100" marB="38100" anchor="ctr">
                    <a:solidFill>
                      <a:srgbClr val="FFFFFF"/>
                    </a:solidFill>
                  </a:tcPr>
                </a:tc>
              </a:tr>
              <a:tr h="369824">
                <a:tc>
                  <a:txBody>
                    <a:bodyPr/>
                    <a:lstStyle/>
                    <a:p>
                      <a:r>
                        <a:rPr sz="1400" b="0" i="0">
                          <a:solidFill>
                            <a:srgbClr val="1A1440"/>
                          </a:solidFill>
                          <a:latin typeface="Calibri"/>
                        </a:rPr>
                        <a:t>tomatoes, toned milk</a:t>
                      </a:r>
                    </a:p>
                  </a:txBody>
                  <a:tcPr marL="101600" marR="101600" marT="38100" marB="38100" anchor="ctr">
                    <a:solidFill>
                      <a:srgbClr val="F4F2FA"/>
                    </a:solidFill>
                  </a:tcPr>
                </a:tc>
                <a:tc>
                  <a:txBody>
                    <a:bodyPr/>
                    <a:lstStyle/>
                    <a:p>
                      <a:r>
                        <a:rPr sz="1400" b="0" i="0">
                          <a:solidFill>
                            <a:srgbClr val="1A1440"/>
                          </a:solidFill>
                          <a:latin typeface="Calibri"/>
                        </a:rPr>
                        <a:t>5,680</a:t>
                      </a:r>
                    </a:p>
                  </a:txBody>
                  <a:tcPr marL="101600" marR="101600" marT="38100" marB="38100" anchor="ctr">
                    <a:solidFill>
                      <a:srgbClr val="F4F2FA"/>
                    </a:solidFill>
                  </a:tcPr>
                </a:tc>
              </a:tr>
            </a:tbl>
          </a:graphicData>
        </a:graphic>
      </p:graphicFrame>
      <p:sp>
        <p:nvSpPr>
          <p:cNvPr id="10" name="TextBox 9"/>
          <p:cNvSpPr txBox="1"/>
          <p:nvPr/>
        </p:nvSpPr>
        <p:spPr>
          <a:xfrm>
            <a:off x="530352" y="48016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one of the six most frequent pairs holds milk. The plausible wrong answer is "the pairs table is the ranking": ranked by count, milk is the top partner of almost every item, which is exactly what the strip has shown since 7 September. A count rewards the popular item, whatever it is paired with.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pair counted in five lines of pandas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code count 40,000 carts of pairs?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baskets = items.groupby("cart_id").item.apply(set)          # one set of items per cart</a:t>
            </a:r>
          </a:p>
          <a:p>
            <a:pPr>
              <a:spcAft>
                <a:spcPts val="200"/>
              </a:spcAft>
            </a:pPr>
            <a:r>
              <a:rPr sz="1400" b="0" i="0">
                <a:solidFill>
                  <a:srgbClr val="E4E1F1"/>
                </a:solidFill>
                <a:latin typeface="Consolas"/>
              </a:rPr>
              <a:t>pair_count = Counter(p for b in baskets                      # every two items in a cart</a:t>
            </a:r>
          </a:p>
          <a:p>
            <a:pPr>
              <a:spcAft>
                <a:spcPts val="200"/>
              </a:spcAft>
            </a:pPr>
            <a:r>
              <a:rPr sz="1400" b="0" i="0">
                <a:solidFill>
                  <a:srgbClr val="E4E1F1"/>
                </a:solidFill>
                <a:latin typeface="Consolas"/>
              </a:rPr>
              <a:t>                     for p in combinations(sorted(b), 2))    # sorted, so (a, b) is one key</a:t>
            </a:r>
          </a:p>
          <a:p>
            <a:pPr>
              <a:spcAft>
                <a:spcPts val="200"/>
              </a:spcAft>
            </a:pPr>
            <a:r>
              <a:rPr sz="1400" b="0" i="0">
                <a:solidFill>
                  <a:srgbClr val="E4E1F1"/>
                </a:solidFill>
                <a:latin typeface="Consolas"/>
              </a:rPr>
              <a:t>single = Counter(x for b in baskets for x in b)              # carts holding each item</a:t>
            </a:r>
          </a:p>
          <a:p>
            <a:pPr>
              <a:spcAft>
                <a:spcPts val="200"/>
              </a:spcAft>
            </a:pPr>
            <a:r>
              <a:rPr sz="1400" b="0" i="0">
                <a:solidFill>
                  <a:srgbClr val="E4E1F1"/>
                </a:solidFill>
                <a:latin typeface="Consolas"/>
              </a:rPr>
              <a:t>lift = pair_count[("bread", "toned milk")] * n / (single["bread"] * single["toned milk"])</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cart becomes a set of items, and every pair inside it adds one to its tally. The last line is the cards' seen over expected, rearranged: on the twelve carts, 4 / (12 x 4/12 x 8/12) is the same as 4 x 12 / (4 x 8), which is 1.50. Here n is 40,000.</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9" name="Oval 18"/>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carts said lift 1.50; 40,000 carts say 1.04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lift say about bread and milk on all the carts?</a:t>
            </a:r>
          </a:p>
        </p:txBody>
      </p:sp>
      <p:pic>
        <p:nvPicPr>
          <p:cNvPr id="9" name="mermaid diagram" descr="C2_W04_D03_areas_STUDENT.png"/>
          <p:cNvPicPr>
            <a:picLocks noChangeAspect="1"/>
          </p:cNvPicPr>
          <p:nvPr/>
        </p:nvPicPr>
        <p:blipFill>
          <a:blip r:embed="rId4"/>
          <a:stretch>
            <a:fillRect/>
          </a:stretch>
        </p:blipFill>
        <p:spPr>
          <a:xfrm>
            <a:off x="2173256" y="1664208"/>
            <a:ext cx="7845182"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Bread's share times milk's share as the overlap chance would give, beside the overlap seen in 40,000 carts</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On twelve carts lift read 1.50 because all four bread carts happened to hold milk. On 40,000 carts bread to milk reads confidence 0.74: chance gives 0.34 x 0.71 x 40,000 = 9,656 carts holding both, 10,064 do, and 10,064 / 9,656 = 1.04. A few carts can make a pull look strong; the full count shows milk beside bread about as often as in any cart.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a popular item's lift with milk?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 the 50 items in at least 2 percent of carts, what does lift with milk look like?</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rending-up_0f9f0788148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rises with popularity</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more common the item, the higher its lift.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qual_08ba08324b53.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Near one for all of them</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Every item sits close to chance with milk.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down_69bb86911a1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falls with popularity</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Common items pair less with milk than rare ones.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uffle_1f5f2f56d507.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scatters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Each item goes its own way.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near one for every common item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every item look bundled with milk, and what does lift say?</a:t>
            </a:r>
          </a:p>
        </p:txBody>
      </p:sp>
      <p:pic>
        <p:nvPicPr>
          <p:cNvPr id="9" name="mermaid diagram" descr="C2_W04_D03_milk_everywhere_STUDENT.png"/>
          <p:cNvPicPr>
            <a:picLocks noChangeAspect="1"/>
          </p:cNvPicPr>
          <p:nvPr/>
        </p:nvPicPr>
        <p:blipFill>
          <a:blip r:embed="rId4"/>
          <a:stretch>
            <a:fillRect/>
          </a:stretch>
        </p:blipFill>
        <p:spPr>
          <a:xfrm>
            <a:off x="1219180" y="1664208"/>
            <a:ext cx="975333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Confidence toward milk and lift with milk for the nine most common items</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For all 50 items in at least 2 percent of carts, confidence toward milk runs 0.70 to 0.74, near milk's own 0.71, and lift runs 0.99 to 1.04. Lift divides milk's popularity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met the same popular-partner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has a real recommender met the item that sits beside everything?</a:t>
            </a:r>
          </a:p>
        </p:txBody>
      </p:sp>
      <p:sp>
        <p:nvSpPr>
          <p:cNvPr id="9" name="Rounded Rectangle 8"/>
          <p:cNvSpPr/>
          <p:nvPr/>
        </p:nvSpPr>
        <p:spPr>
          <a:xfrm>
            <a:off x="530352" y="195681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691639"/>
          </a:xfrm>
          <a:prstGeom prst="rect">
            <a:avLst/>
          </a:prstGeom>
          <a:noFill/>
        </p:spPr>
        <p:txBody>
          <a:bodyPr wrap="square" anchor="ctr" lIns="0" rIns="0" tIns="0" bIns="0">
            <a:spAutoFit/>
          </a:bodyPr>
          <a:lstStyle/>
          <a:p>
            <a:r>
              <a:rPr sz="1500" b="1">
                <a:solidFill>
                  <a:srgbClr val="5B3FD6"/>
                </a:solidFill>
                <a:latin typeface="Calibri"/>
              </a:rPr>
              <a:t>Amazon. </a:t>
            </a:r>
            <a:r>
              <a:rPr sz="1500" b="0" i="0">
                <a:solidFill>
                  <a:srgbClr val="1A1440"/>
                </a:solidFill>
                <a:latin typeface="Calibri"/>
              </a:rPr>
              <a:t>Amazon Science's history of the company's recommendation algorithm says that counting how often buyers of one item bought another would make a few bestsellers, such as Harry Potter books and trash bags, the top recommendations for every customer. The fix compared what was seen with what chance would predict, which is lift in spirit. Later the team measured the base rate, how likely an item is anyway, with any given purchase, scaling heavy buyers down, because they inflate every count (Amazon Science, checked 12 October 2026).</a:t>
            </a:r>
          </a:p>
        </p:txBody>
      </p:sp>
      <p:sp>
        <p:nvSpPr>
          <p:cNvPr id="12" name="TextBox 11"/>
          <p:cNvSpPr txBox="1"/>
          <p:nvPr/>
        </p:nvSpPr>
        <p:spPr>
          <a:xfrm>
            <a:off x="530352" y="399592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cost of the trap is a recommendation slot spent on an item the shopper was buying anyway.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7" name="Oval 1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pairs, three numbers each, one second route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support, confidence both ways and lift read for four pairs?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96663"/>
                <a:gridCol w="914400"/>
                <a:gridCol w="2802763"/>
                <a:gridCol w="2802763"/>
                <a:gridCol w="914400"/>
              </a:tblGrid>
              <a:tr h="335280">
                <a:tc>
                  <a:txBody>
                    <a:bodyPr/>
                    <a:lstStyle/>
                    <a:p>
                      <a:r>
                        <a:rPr sz="1250" b="1" i="0">
                          <a:solidFill>
                            <a:srgbClr val="FFFFFF"/>
                          </a:solidFill>
                          <a:latin typeface="Calibri"/>
                        </a:rPr>
                        <a:t>Pair</a:t>
                      </a:r>
                    </a:p>
                  </a:txBody>
                  <a:tcPr marL="101600" marR="101600" marT="38100" marB="38100" anchor="ctr">
                    <a:solidFill>
                      <a:srgbClr val="1A0F5C"/>
                    </a:solidFill>
                  </a:tcPr>
                </a:tc>
                <a:tc>
                  <a:txBody>
                    <a:bodyPr/>
                    <a:lstStyle/>
                    <a:p>
                      <a:r>
                        <a:rPr sz="1250" b="1" i="0">
                          <a:solidFill>
                            <a:srgbClr val="FFFFFF"/>
                          </a:solidFill>
                          <a:latin typeface="Calibri"/>
                        </a:rPr>
                        <a:t>Support</a:t>
                      </a:r>
                    </a:p>
                  </a:txBody>
                  <a:tcPr marL="101600" marR="101600" marT="38100" marB="38100" anchor="ctr">
                    <a:solidFill>
                      <a:srgbClr val="1A0F5C"/>
                    </a:solidFill>
                  </a:tcPr>
                </a:tc>
                <a:tc>
                  <a:txBody>
                    <a:bodyPr/>
                    <a:lstStyle/>
                    <a:p>
                      <a:r>
                        <a:rPr sz="1250" b="1" i="0">
                          <a:solidFill>
                            <a:srgbClr val="FFFFFF"/>
                          </a:solidFill>
                          <a:latin typeface="Calibri"/>
                        </a:rPr>
                        <a:t>Confidence A to B</a:t>
                      </a:r>
                    </a:p>
                  </a:txBody>
                  <a:tcPr marL="101600" marR="101600" marT="38100" marB="38100" anchor="ctr">
                    <a:solidFill>
                      <a:srgbClr val="1A0F5C"/>
                    </a:solidFill>
                  </a:tcPr>
                </a:tc>
                <a:tc>
                  <a:txBody>
                    <a:bodyPr/>
                    <a:lstStyle/>
                    <a:p>
                      <a:r>
                        <a:rPr sz="1250" b="1" i="0">
                          <a:solidFill>
                            <a:srgbClr val="FFFFFF"/>
                          </a:solidFill>
                          <a:latin typeface="Calibri"/>
                        </a:rPr>
                        <a:t>Confidence B to A</a:t>
                      </a:r>
                    </a:p>
                  </a:txBody>
                  <a:tcPr marL="101600" marR="101600" marT="38100" marB="38100" anchor="ctr">
                    <a:solidFill>
                      <a:srgbClr val="1A0F5C"/>
                    </a:solidFill>
                  </a:tcPr>
                </a:tc>
                <a:tc>
                  <a:txBody>
                    <a:bodyPr/>
                    <a:lstStyle/>
                    <a:p>
                      <a:r>
                        <a:rPr sz="1250" b="1" i="0">
                          <a:solidFill>
                            <a:srgbClr val="FFFFFF"/>
                          </a:solidFill>
                          <a:latin typeface="Calibri"/>
                        </a:rPr>
                        <a:t>Lift</a:t>
                      </a:r>
                    </a:p>
                  </a:txBody>
                  <a:tcPr marL="101600" marR="101600" marT="38100" marB="38100" anchor="ctr">
                    <a:solidFill>
                      <a:srgbClr val="1A0F5C"/>
                    </a:solidFill>
                  </a:tcPr>
                </a:tc>
              </a:tr>
              <a:tr h="335280">
                <a:tc>
                  <a:txBody>
                    <a:bodyPr/>
                    <a:lstStyle/>
                    <a:p>
                      <a:r>
                        <a:rPr sz="1200" b="0" i="0">
                          <a:solidFill>
                            <a:srgbClr val="1A1440"/>
                          </a:solidFill>
                          <a:latin typeface="Calibri"/>
                        </a:rPr>
                        <a:t>bread, toned milk</a:t>
                      </a:r>
                    </a:p>
                  </a:txBody>
                  <a:tcPr marL="101600" marR="101600" marT="38100" marB="38100" anchor="ctr">
                    <a:solidFill>
                      <a:srgbClr val="FFFFFF"/>
                    </a:solidFill>
                  </a:tcPr>
                </a:tc>
                <a:tc>
                  <a:txBody>
                    <a:bodyPr/>
                    <a:lstStyle/>
                    <a:p>
                      <a:r>
                        <a:rPr sz="1200" b="0" i="0">
                          <a:solidFill>
                            <a:srgbClr val="1A1440"/>
                          </a:solidFill>
                          <a:latin typeface="Calibri"/>
                        </a:rPr>
                        <a:t>25.2%</a:t>
                      </a:r>
                    </a:p>
                  </a:txBody>
                  <a:tcPr marL="101600" marR="101600" marT="38100" marB="38100" anchor="ctr">
                    <a:solidFill>
                      <a:srgbClr val="FFFFFF"/>
                    </a:solidFill>
                  </a:tcPr>
                </a:tc>
                <a:tc>
                  <a:txBody>
                    <a:bodyPr/>
                    <a:lstStyle/>
                    <a:p>
                      <a:r>
                        <a:rPr sz="1200" b="0" i="0">
                          <a:solidFill>
                            <a:srgbClr val="1A1440"/>
                          </a:solidFill>
                          <a:latin typeface="Calibri"/>
                        </a:rPr>
                        <a:t>0.74</a:t>
                      </a:r>
                    </a:p>
                  </a:txBody>
                  <a:tcPr marL="101600" marR="101600" marT="38100" marB="38100" anchor="ctr">
                    <a:solidFill>
                      <a:srgbClr val="FFFFFF"/>
                    </a:solidFill>
                  </a:tcPr>
                </a:tc>
                <a:tc>
                  <a:txBody>
                    <a:bodyPr/>
                    <a:lstStyle/>
                    <a:p>
                      <a:r>
                        <a:rPr sz="1200" b="0" i="0">
                          <a:solidFill>
                            <a:srgbClr val="1A1440"/>
                          </a:solidFill>
                          <a:latin typeface="Calibri"/>
                        </a:rPr>
                        <a:t>0.35</a:t>
                      </a:r>
                    </a:p>
                  </a:txBody>
                  <a:tcPr marL="101600" marR="101600" marT="38100" marB="38100" anchor="ctr">
                    <a:solidFill>
                      <a:srgbClr val="FFFFFF"/>
                    </a:solidFill>
                  </a:tcPr>
                </a:tc>
                <a:tc>
                  <a:txBody>
                    <a:bodyPr/>
                    <a:lstStyle/>
                    <a:p>
                      <a:r>
                        <a:rPr sz="1200" b="0" i="0">
                          <a:solidFill>
                            <a:srgbClr val="1A1440"/>
                          </a:solidFill>
                          <a:latin typeface="Calibri"/>
                        </a:rPr>
                        <a:t>1.04</a:t>
                      </a:r>
                    </a:p>
                  </a:txBody>
                  <a:tcPr marL="101600" marR="101600" marT="38100" marB="38100" anchor="ctr">
                    <a:solidFill>
                      <a:srgbClr val="FFFFFF"/>
                    </a:solidFill>
                  </a:tcPr>
                </a:tc>
              </a:tr>
              <a:tr h="335280">
                <a:tc>
                  <a:txBody>
                    <a:bodyPr/>
                    <a:lstStyle/>
                    <a:p>
                      <a:r>
                        <a:rPr sz="1200" b="0" i="0">
                          <a:solidFill>
                            <a:srgbClr val="1A1440"/>
                          </a:solidFill>
                          <a:latin typeface="Calibri"/>
                        </a:rPr>
                        <a:t>eggs, toned milk</a:t>
                      </a:r>
                    </a:p>
                  </a:txBody>
                  <a:tcPr marL="101600" marR="101600" marT="38100" marB="38100" anchor="ctr">
                    <a:solidFill>
                      <a:srgbClr val="F4F2FA"/>
                    </a:solidFill>
                  </a:tcPr>
                </a:tc>
                <a:tc>
                  <a:txBody>
                    <a:bodyPr/>
                    <a:lstStyle/>
                    <a:p>
                      <a:r>
                        <a:rPr sz="1200" b="0" i="0">
                          <a:solidFill>
                            <a:srgbClr val="1A1440"/>
                          </a:solidFill>
                          <a:latin typeface="Calibri"/>
                        </a:rPr>
                        <a:t>21.2%</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c>
                  <a:txBody>
                    <a:bodyPr/>
                    <a:lstStyle/>
                    <a:p>
                      <a:r>
                        <a:rPr sz="1200" b="0" i="0">
                          <a:solidFill>
                            <a:srgbClr val="1A1440"/>
                          </a:solidFill>
                          <a:latin typeface="Calibri"/>
                        </a:rPr>
                        <a:t>0.30</a:t>
                      </a:r>
                    </a:p>
                  </a:txBody>
                  <a:tcPr marL="101600" marR="101600" marT="38100" marB="38100" anchor="ctr">
                    <a:solidFill>
                      <a:srgbClr val="F4F2FA"/>
                    </a:solidFill>
                  </a:tcPr>
                </a:tc>
                <a:tc>
                  <a:txBody>
                    <a:bodyPr/>
                    <a:lstStyle/>
                    <a:p>
                      <a:r>
                        <a:rPr sz="1200" b="0" i="0">
                          <a:solidFill>
                            <a:srgbClr val="1A1440"/>
                          </a:solidFill>
                          <a:latin typeface="Calibri"/>
                        </a:rPr>
                        <a:t>1.03</a:t>
                      </a:r>
                    </a:p>
                  </a:txBody>
                  <a:tcPr marL="101600" marR="101600" marT="38100" marB="38100" anchor="ctr">
                    <a:solidFill>
                      <a:srgbClr val="F4F2FA"/>
                    </a:solidFill>
                  </a:tcPr>
                </a:tc>
              </a:tr>
              <a:tr h="335280">
                <a:tc>
                  <a:txBody>
                    <a:bodyPr/>
                    <a:lstStyle/>
                    <a:p>
                      <a:r>
                        <a:rPr sz="1200" b="0" i="0">
                          <a:solidFill>
                            <a:srgbClr val="1A1440"/>
                          </a:solidFill>
                          <a:latin typeface="Calibri"/>
                        </a:rPr>
                        <a:t>chips, cold drink</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0.42</a:t>
                      </a:r>
                    </a:p>
                  </a:txBody>
                  <a:tcPr marL="101600" marR="101600" marT="38100" marB="38100" anchor="ctr">
                    <a:solidFill>
                      <a:srgbClr val="FFFFFF"/>
                    </a:solidFill>
                  </a:tcPr>
                </a:tc>
                <a:tc>
                  <a:txBody>
                    <a:bodyPr/>
                    <a:lstStyle/>
                    <a:p>
                      <a:r>
                        <a:rPr sz="1200" b="0" i="0">
                          <a:solidFill>
                            <a:srgbClr val="1A1440"/>
                          </a:solidFill>
                          <a:latin typeface="Calibri"/>
                        </a:rPr>
                        <a:t>0.41</a:t>
                      </a:r>
                    </a:p>
                  </a:txBody>
                  <a:tcPr marL="101600" marR="101600" marT="38100" marB="38100" anchor="ctr">
                    <a:solidFill>
                      <a:srgbClr val="FFFFFF"/>
                    </a:solidFill>
                  </a:tcPr>
                </a:tc>
                <a:tc>
                  <a:txBody>
                    <a:bodyPr/>
                    <a:lstStyle/>
                    <a:p>
                      <a:r>
                        <a:rPr sz="1200" b="0" i="0">
                          <a:solidFill>
                            <a:srgbClr val="1A1440"/>
                          </a:solidFill>
                          <a:latin typeface="Calibri"/>
                        </a:rPr>
                        <a:t>3.39</a:t>
                      </a:r>
                    </a:p>
                  </a:txBody>
                  <a:tcPr marL="101600" marR="101600" marT="38100" marB="38100" anchor="ctr">
                    <a:solidFill>
                      <a:srgbClr val="FFFFFF"/>
                    </a:solidFill>
                  </a:tcPr>
                </a:tc>
              </a:tr>
              <a:tr h="335280">
                <a:tc>
                  <a:txBody>
                    <a:bodyPr/>
                    <a:lstStyle/>
                    <a:p>
                      <a:r>
                        <a:rPr sz="1200" b="0" i="0">
                          <a:solidFill>
                            <a:srgbClr val="1A1440"/>
                          </a:solidFill>
                          <a:latin typeface="Calibri"/>
                        </a:rPr>
                        <a:t>chocolate sauce, ice cream</a:t>
                      </a:r>
                    </a:p>
                  </a:txBody>
                  <a:tcPr marL="101600" marR="101600" marT="38100" marB="38100" anchor="ctr">
                    <a:solidFill>
                      <a:srgbClr val="F4F2FA"/>
                    </a:solidFill>
                  </a:tcPr>
                </a:tc>
                <a:tc>
                  <a:txBody>
                    <a:bodyPr/>
                    <a:lstStyle/>
                    <a:p>
                      <a:r>
                        <a:rPr sz="1200" b="0" i="0">
                          <a:solidFill>
                            <a:srgbClr val="1A1440"/>
                          </a:solidFill>
                          <a:latin typeface="Calibri"/>
                        </a:rPr>
                        <a:t>0.25%</a:t>
                      </a:r>
                    </a:p>
                  </a:txBody>
                  <a:tcPr marL="101600" marR="101600" marT="38100" marB="38100" anchor="ctr">
                    <a:solidFill>
                      <a:srgbClr val="F4F2FA"/>
                    </a:solidFill>
                  </a:tcPr>
                </a:tc>
                <a:tc>
                  <a:txBody>
                    <a:bodyPr/>
                    <a:lstStyle/>
                    <a:p>
                      <a:r>
                        <a:rPr sz="1200" b="0" i="0">
                          <a:solidFill>
                            <a:srgbClr val="1A1440"/>
                          </a:solidFill>
                          <a:latin typeface="Calibri"/>
                        </a:rPr>
                        <a:t>0.18</a:t>
                      </a:r>
                    </a:p>
                  </a:txBody>
                  <a:tcPr marL="101600" marR="101600" marT="38100" marB="38100" anchor="ctr">
                    <a:solidFill>
                      <a:srgbClr val="F4F2FA"/>
                    </a:solidFill>
                  </a:tcPr>
                </a:tc>
                <a:tc>
                  <a:txBody>
                    <a:bodyPr/>
                    <a:lstStyle/>
                    <a:p>
                      <a:r>
                        <a:rPr sz="1200" b="0" i="0">
                          <a:solidFill>
                            <a:srgbClr val="1A1440"/>
                          </a:solidFill>
                          <a:latin typeface="Calibri"/>
                        </a:rPr>
                        <a:t>0.06</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Support is a share of all carts, written as a percent; confidence is a share of A's carts, written as a decimal. The second route: lift is also confidence over the partner's share. Bread to milk 0.74 / 0.71 = 1.04, and milk to bread 0.354 / 0.34 = 1.04.</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5" name="Oval 14"/>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did the strip's click-through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fell from 6.1 to 3.8 percent after 7 September. Which explanation will the log support?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Shoppers changed habits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After the monsoon, carts shifted away from the old pairs.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cart-page views</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Fewer people opened the cart page in September.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lk_1de4a85ac355.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fills the slots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Milk now takes the slots and few shoppers click it.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panel-top_a0e90cde8e6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strip moved down</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strip sits lower on the page than before.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7" name="Oval 36"/>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milk took half the slots at 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log does the fall sit?</a:t>
            </a:r>
          </a:p>
        </p:txBody>
      </p:sp>
      <p:pic>
        <p:nvPicPr>
          <p:cNvPr id="9" name="mermaid diagram" descr="C2_W04_D03_strip_daily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Daily strip click-through from 17 August to 27 September, and milk's share of slot impressions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Milk took half the slot impressions at 1.2 percent; everything else clicked at 6.4, up from 6.2 before the change, when milk held 2 percent of them. Half of 1.2 plus half of 6.4 is 3.8. The plausible wrong answer, "shoppers changed after the monsoon", fails the split by suggested item.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Slot 1 draws the most clicks, and milk took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position of a slot change its click-through?</a:t>
            </a:r>
          </a:p>
        </p:txBody>
      </p:sp>
      <p:pic>
        <p:nvPicPr>
          <p:cNvPr id="9" name="mermaid diagram" descr="C2_W04_D03_ctr_by_slot_STUDENT.png"/>
          <p:cNvPicPr>
            <a:picLocks noChangeAspect="1"/>
          </p:cNvPicPr>
          <p:nvPr/>
        </p:nvPicPr>
        <p:blipFill>
          <a:blip r:embed="rId4"/>
          <a:stretch>
            <a:fillRect/>
          </a:stretch>
        </p:blipFill>
        <p:spPr>
          <a:xfrm>
            <a:off x="1391568" y="1664208"/>
            <a:ext cx="940855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Click-through by slot position: before the change, milk after, everything else after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After the change, slot 1 draws 8.2 percent for a suggestion other than milk and slot 3 draws 5.4. Milk clicks at 1.4, 1.1 and 0.9 percent and holds 70 percent of slot 1. The best slot went to the item nobody needed reminding of.</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16" name="Oval 15"/>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is the count popularity cannot fool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40,000 carts answer?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HOW OFTEN?</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 in 71 percent of carts</a:t>
            </a:r>
          </a:p>
        </p:txBody>
      </p:sp>
      <p:sp>
        <p:nvSpPr>
          <p:cNvPr id="14" name="TextBox 13"/>
          <p:cNvSpPr txBox="1"/>
          <p:nvPr/>
        </p:nvSpPr>
        <p:spPr>
          <a:xfrm>
            <a:off x="694944"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Bread 34, eggs 29, curd 26 percent.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MOST OFTEN TOGETHER?</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Pairs with milk</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Bread and milk lead with 10,064 carts, so a count fills the strip with milk.</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WHAT LIFT SAYS</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Near one with milk</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Bread 1.04, eggs 1.03; chips and cold drink 3.39.</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WHY THE FALL</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Milk's half of the slots</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1.2 percent on milk, 6.4 on the rest, 3.8 blended.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2" name="Oval 3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 40,000 carts say?</a:t>
            </a:r>
          </a:p>
        </p:txBody>
      </p:sp>
      <p:sp>
        <p:nvSpPr>
          <p:cNvPr id="34" name="Oval 33"/>
          <p:cNvSpPr/>
          <p:nvPr/>
        </p:nvSpPr>
        <p:spPr>
          <a:xfrm>
            <a:off x="37356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845337"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fills the strip?</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fills the strip?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pairs should fill the strip, what is a slot worth in rupees, and what can the counts not tell us?</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together mean?</a:t>
            </a:r>
          </a:p>
        </p:txBody>
      </p:sp>
      <p:sp>
        <p:nvSpPr>
          <p:cNvPr id="11" name="Rounded Rectangle 10"/>
          <p:cNvSpPr/>
          <p:nvPr/>
        </p:nvSpPr>
        <p:spPr>
          <a:xfrm>
            <a:off x="2628191"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40,000 carts say?</a:t>
            </a:r>
          </a:p>
        </p:txBody>
      </p:sp>
      <p:sp>
        <p:nvSpPr>
          <p:cNvPr id="12" name="Rounded Rectangle 11"/>
          <p:cNvSpPr/>
          <p:nvPr/>
        </p:nvSpPr>
        <p:spPr>
          <a:xfrm>
            <a:off x="4584078"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fills the strip?</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Instamart Pune: strip click-through fell from 6.1 to 3.8 percent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a ranking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takes a ranked list and a rupee figure to Friday's review, where the category manager will argue that milk, the top seller, belongs in every slot.</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beat chance by enough, on enough carts?</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Lift above a support floor.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should the watch list do with a strong thin pair?</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Ice cream and chocolate sauce.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a slot worth in rupees?</a:t>
            </a:r>
          </a:p>
        </p:txBody>
      </p:sp>
      <p:sp>
        <p:nvSpPr>
          <p:cNvPr id="27" name="TextBox 26"/>
          <p:cNvSpPr txBox="1"/>
          <p:nvPr/>
        </p:nvSpPr>
        <p:spPr>
          <a:xfrm>
            <a:off x="6351879"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Views, click-through, adds, margin.</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can the counts not tell us?</a:t>
            </a:r>
          </a:p>
        </p:txBody>
      </p:sp>
      <p:sp>
        <p:nvSpPr>
          <p:cNvPr id="32" name="TextBox 31"/>
          <p:cNvSpPr txBox="1"/>
          <p:nvPr/>
        </p:nvSpPr>
        <p:spPr>
          <a:xfrm>
            <a:off x="9180347"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Six doubts and the check for each.</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four pairs would you promote?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pair shows its support and its lift. Which takes the strip's first slot?</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25.2 percent, lift 1.04.</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5.0 percent, lift 3.39.</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0.25 percent, lift 4.60.</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7.5 percent, lift 1.70.</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strongest lift above the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every pair sit, and which four ways of ranking compete?</a:t>
            </a:r>
          </a:p>
        </p:txBody>
      </p:sp>
      <p:pic>
        <p:nvPicPr>
          <p:cNvPr id="9" name="mermaid diagram" descr="C2_W04_D03_action_map_STUDENT.png"/>
          <p:cNvPicPr>
            <a:picLocks noChangeAspect="1"/>
          </p:cNvPicPr>
          <p:nvPr/>
        </p:nvPicPr>
        <p:blipFill>
          <a:blip r:embed="rId4"/>
          <a:stretch>
            <a:fillRect/>
          </a:stretch>
        </p:blipFill>
        <p:spPr>
          <a:xfrm>
            <a:off x="1713524" y="1664208"/>
            <a:ext cx="8764645"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pair with support of at least 0.1 percent: lift against support, with the 1 percent floor</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Above a floor of 1 percent of carts (400 carts), 246 pairs qualify and four reach lift 1.5 or more: chips and cold drink 3.39, coriander and green chillies 3.00, bread and butter 2.21, onions and tomatoes 1.70. The fifth reads 1.09. The strip has three slots, so onions and tomatoes waits as the first replacement. Each step right on the picture is ten times more carts.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watch list holds lift 4.60 on 100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team do with a strong pair that almost nobody buys?</a:t>
            </a:r>
          </a:p>
        </p:txBody>
      </p:sp>
      <p:sp>
        <p:nvSpPr>
          <p:cNvPr id="9" name="TextBox 8"/>
          <p:cNvSpPr txBox="1"/>
          <p:nvPr/>
        </p:nvSpPr>
        <p:spPr>
          <a:xfrm>
            <a:off x="530352" y="1956816"/>
            <a:ext cx="11130991" cy="215392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Ice cream and chocolate sauce read lift 4.60, the strongest pair between 0.2 percent (80 carts, too few even to trial below it) and the 1 percent floor. The pair is real, 100 carts where chance gives 22, but the strip suggests it only beside ice cream, which is in 4 percent of carts: about 2,400 of the strip's 60,000 views a day, if views follow carts, and 100 carts cannot say how shoppers will click it there. It goes on a watch list: in two zones, a random half of shoppers see it beside ice cream, and it takes the slot only if their ice-cream carts buy sauce more often than the other half's, by a gap set before the trial, with margin per shopper as the guardrail. Acting on lift alone is the trap a floor exists to stop.</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re-ranking recover in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Milk holds half the slot impressions at 1.2 percent. Moving them to pairs that click at 6.4 recovers how much?</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indian-rupee_bfbdea5c565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50,000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rounding error on the city's month.</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2 lakh</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slot's gap for half a month.</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bfbdea5c565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6 lakh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gap on milk's share of all three slots.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indian-rupee_bfbdea5c565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 lakh</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Sales from every add the strip makes.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37" name="Oval 36"/>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about Rs 6.3 lakh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four numbers build a slot's value, and what does a month recover?</a:t>
            </a:r>
          </a:p>
        </p:txBody>
      </p:sp>
      <p:pic>
        <p:nvPicPr>
          <p:cNvPr id="9" name="mermaid diagram" descr="C2_W04_D03_slot_value_STUDENT.png"/>
          <p:cNvPicPr>
            <a:picLocks noChangeAspect="1"/>
          </p:cNvPicPr>
          <p:nvPr/>
        </p:nvPicPr>
        <p:blipFill>
          <a:blip r:embed="rId4"/>
          <a:stretch>
            <a:fillRect/>
          </a:stretch>
        </p:blipFill>
        <p:spPr>
          <a:xfrm>
            <a:off x="1679861" y="1664208"/>
            <a:ext cx="8831971"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slot a day at 6.4 and at 1.2 percent, and the month recovered by moving milk's impressions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Margin is what Instamart keeps from a sale after the item's cost: bread sells for Rs 45 and keeps Rs 6.70. A slot's day is 60,000 views (strip_log) x click-through x 0.5 adds per click (strip_log, range 0.4 to 0.6) x Rs 9 margin an add (the average cart_items line, range Rs 7 to Rs 11), with the promoted pairs assumed to click at the 6.4 percent the rest drew. Milk holds 1.5 slots' worth: Rs 4.2 lakh x 1.5 = Rs 6.3 lakh a month, Rs 3.9 lakh at 0.4 x Rs 7 and Rs 9.3 lakh at 0.6 x Rs 11.</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80,197 of sales is not the 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overstate the slot four times over?</a:t>
            </a:r>
          </a:p>
        </p:txBody>
      </p:sp>
      <p:sp>
        <p:nvSpPr>
          <p:cNvPr id="9" name="TextBox 8"/>
          <p:cNvSpPr txBox="1"/>
          <p:nvPr/>
        </p:nvSpPr>
        <p:spPr>
          <a:xfrm>
            <a:off x="530352" y="195681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plausible wrong answer books sales: a slot at 6.4 percent makes 1,920 adds a day, each selling for about Rs 41.77, so Rs 80,197 a day of "strip revenue". The growth lead keeps the margin, Rs 17,280. If the strip ever adds a bundle discount, the discount is margin handed back for adds that might have happened anyway. Swiggy's shareholder letter for April to June 2025 describes Maxxsaver, a discount unlocked once a basket passes a set size, as margin returned to the user: the cost line a rupee case must carry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doubts the counts cannot settle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growth lead say aloud, and what check settles each doubt?</a:t>
            </a:r>
          </a:p>
        </p:txBody>
      </p:sp>
      <p:graphicFrame>
        <p:nvGraphicFramePr>
          <p:cNvPr id="9" name="Table 8"/>
          <p:cNvGraphicFramePr>
            <a:graphicFrameLocks noGrp="1"/>
          </p:cNvGraphicFramePr>
          <p:nvPr/>
        </p:nvGraphicFramePr>
        <p:xfrm>
          <a:off x="530352" y="1808988"/>
          <a:ext cx="11130989" cy="4264152"/>
        </p:xfrm>
        <a:graphic>
          <a:graphicData uri="http://schemas.openxmlformats.org/drawingml/2006/table">
            <a:tbl>
              <a:tblPr firstRow="0" bandRow="0">
                <a:tableStyleId>{2D5ABB26-0587-4C30-8999-92F81FD0307C}</a:tableStyleId>
              </a:tblPr>
              <a:tblGrid>
                <a:gridCol w="2733835"/>
                <a:gridCol w="4198577"/>
                <a:gridCol w="4198577"/>
              </a:tblGrid>
              <a:tr h="352552">
                <a:tc>
                  <a:txBody>
                    <a:bodyPr/>
                    <a:lstStyle/>
                    <a:p>
                      <a:r>
                        <a:rPr sz="1350" b="1" i="0">
                          <a:solidFill>
                            <a:srgbClr val="FFFFFF"/>
                          </a:solidFill>
                          <a:latin typeface="Calibri"/>
                        </a:rPr>
                        <a:t>Doubt</a:t>
                      </a:r>
                    </a:p>
                  </a:txBody>
                  <a:tcPr marL="101600" marR="101600" marT="38100" marB="38100" anchor="ctr">
                    <a:solidFill>
                      <a:srgbClr val="1A0F5C"/>
                    </a:solidFill>
                  </a:tcPr>
                </a:tc>
                <a:tc>
                  <a:txBody>
                    <a:bodyPr/>
                    <a:lstStyle/>
                    <a:p>
                      <a:r>
                        <a:rPr sz="1350" b="1" i="0">
                          <a:solidFill>
                            <a:srgbClr val="FFFFFF"/>
                          </a:solidFill>
                          <a:latin typeface="Calibri"/>
                        </a:rPr>
                        <a:t>The check</a:t>
                      </a:r>
                    </a:p>
                  </a:txBody>
                  <a:tcPr marL="101600" marR="101600" marT="38100" marB="38100" anchor="ctr">
                    <a:solidFill>
                      <a:srgbClr val="1A0F5C"/>
                    </a:solidFill>
                  </a:tcPr>
                </a:tc>
                <a:tc>
                  <a:txBody>
                    <a:bodyPr/>
                    <a:lstStyle/>
                    <a:p>
                      <a:r>
                        <a:rPr sz="1350" b="1" i="0">
                          <a:solidFill>
                            <a:srgbClr val="FFFFFF"/>
                          </a:solidFill>
                          <a:latin typeface="Calibri"/>
                        </a:rPr>
                        <a:t>What it showed</a:t>
                      </a:r>
                    </a:p>
                  </a:txBody>
                  <a:tcPr marL="101600" marR="101600" marT="38100" marB="38100" anchor="ctr">
                    <a:solidFill>
                      <a:srgbClr val="1A0F5C"/>
                    </a:solidFill>
                  </a:tcPr>
                </a:tc>
              </a:tr>
              <a:tr h="577088">
                <a:tc>
                  <a:txBody>
                    <a:bodyPr/>
                    <a:lstStyle/>
                    <a:p>
                      <a:r>
                        <a:rPr sz="1300" b="0" i="0">
                          <a:solidFill>
                            <a:srgbClr val="1A1440"/>
                          </a:solidFill>
                          <a:latin typeface="Calibri"/>
                        </a:rPr>
                        <a:t>Together is no proof of cause</a:t>
                      </a:r>
                    </a:p>
                  </a:txBody>
                  <a:tcPr marL="101600" marR="101600" marT="38100" marB="38100" anchor="ctr">
                    <a:solidFill>
                      <a:srgbClr val="FFFFFF"/>
                    </a:solidFill>
                  </a:tcPr>
                </a:tc>
                <a:tc>
                  <a:txBody>
                    <a:bodyPr/>
                    <a:lstStyle/>
                    <a:p>
                      <a:r>
                        <a:rPr sz="1300" b="0" i="0">
                          <a:solidFill>
                            <a:srgbClr val="1A1440"/>
                          </a:solidFill>
                          <a:latin typeface="Calibri"/>
                        </a:rPr>
                        <a:t>A holdout: a share of shoppers kept on the old strip, compared with the rest</a:t>
                      </a:r>
                    </a:p>
                  </a:txBody>
                  <a:tcPr marL="101600" marR="101600" marT="38100" marB="38100" anchor="ctr">
                    <a:solidFill>
                      <a:srgbClr val="FFFFFF"/>
                    </a:solidFill>
                  </a:tcPr>
                </a:tc>
                <a:tc>
                  <a:txBody>
                    <a:bodyPr/>
                    <a:lstStyle/>
                    <a:p>
                      <a:r>
                        <a:rPr sz="1300" b="0" i="0">
                          <a:solidFill>
                            <a:srgbClr val="1A1440"/>
                          </a:solidFill>
                          <a:latin typeface="Calibri"/>
                        </a:rPr>
                        <a:t>This week's Monday faculty session on A/B testing (tentative)</a:t>
                      </a:r>
                    </a:p>
                  </a:txBody>
                  <a:tcPr marL="101600" marR="101600" marT="38100" marB="38100" anchor="ctr">
                    <a:solidFill>
                      <a:srgbClr val="FFFFFF"/>
                    </a:solidFill>
                  </a:tcPr>
                </a:tc>
              </a:tr>
              <a:tr h="577088">
                <a:tc>
                  <a:txBody>
                    <a:bodyPr/>
                    <a:lstStyle/>
                    <a:p>
                      <a:r>
                        <a:rPr sz="1300" b="0" i="0">
                          <a:solidFill>
                            <a:srgbClr val="1A1440"/>
                          </a:solidFill>
                          <a:latin typeface="Calibri"/>
                        </a:rPr>
                        <a:t>Heavy buyers, each placing many carts</a:t>
                      </a:r>
                    </a:p>
                  </a:txBody>
                  <a:tcPr marL="101600" marR="101600" marT="38100" marB="38100" anchor="ctr">
                    <a:solidFill>
                      <a:srgbClr val="F4F2FA"/>
                    </a:solidFill>
                  </a:tcPr>
                </a:tc>
                <a:tc>
                  <a:txBody>
                    <a:bodyPr/>
                    <a:lstStyle/>
                    <a:p>
                      <a:r>
                        <a:rPr sz="1300" b="0" i="0">
                          <a:solidFill>
                            <a:srgbClr val="1A1440"/>
                          </a:solidFill>
                          <a:latin typeface="Calibri"/>
                        </a:rPr>
                        <a:t>Count each customer once</a:t>
                      </a:r>
                    </a:p>
                  </a:txBody>
                  <a:tcPr marL="101600" marR="101600" marT="38100" marB="38100" anchor="ctr">
                    <a:solidFill>
                      <a:srgbClr val="F4F2FA"/>
                    </a:solidFill>
                  </a:tcPr>
                </a:tc>
                <a:tc>
                  <a:txBody>
                    <a:bodyPr/>
                    <a:lstStyle/>
                    <a:p>
                      <a:r>
                        <a:rPr sz="1300" b="0" i="0">
                          <a:solidFill>
                            <a:srgbClr val="1A1440"/>
                          </a:solidFill>
                          <a:latin typeface="Calibri"/>
                        </a:rPr>
                        <a:t>Chips and cold drink 3.39 falls to 2.56; milk's pair stays 1.04</a:t>
                      </a:r>
                    </a:p>
                  </a:txBody>
                  <a:tcPr marL="101600" marR="101600" marT="38100" marB="38100" anchor="ctr">
                    <a:solidFill>
                      <a:srgbClr val="F4F2FA"/>
                    </a:solidFill>
                  </a:tcPr>
                </a:tc>
              </a:tr>
              <a:tr h="577088">
                <a:tc>
                  <a:txBody>
                    <a:bodyPr/>
                    <a:lstStyle/>
                    <a:p>
                      <a:r>
                        <a:rPr sz="1300" b="0" i="0">
                          <a:solidFill>
                            <a:srgbClr val="1A1440"/>
                          </a:solidFill>
                          <a:latin typeface="Calibri"/>
                        </a:rPr>
                        <a:t>Curd stock-out</a:t>
                      </a:r>
                    </a:p>
                  </a:txBody>
                  <a:tcPr marL="101600" marR="101600" marT="38100" marB="38100" anchor="ctr">
                    <a:solidFill>
                      <a:srgbClr val="FFFFFF"/>
                    </a:solidFill>
                  </a:tcPr>
                </a:tc>
                <a:tc>
                  <a:txBody>
                    <a:bodyPr/>
                    <a:lstStyle/>
                    <a:p>
                      <a:r>
                        <a:rPr sz="1300" b="0" i="0">
                          <a:solidFill>
                            <a:srgbClr val="1A1440"/>
                          </a:solidFill>
                          <a:latin typeface="Calibri"/>
                        </a:rPr>
                        <a:t>Set aside two zones in week three</a:t>
                      </a:r>
                    </a:p>
                  </a:txBody>
                  <a:tcPr marL="101600" marR="101600" marT="38100" marB="38100" anchor="ctr">
                    <a:solidFill>
                      <a:srgbClr val="FFFFFF"/>
                    </a:solidFill>
                  </a:tcPr>
                </a:tc>
                <a:tc>
                  <a:txBody>
                    <a:bodyPr/>
                    <a:lstStyle/>
                    <a:p>
                      <a:r>
                        <a:rPr sz="1300" b="0" i="0">
                          <a:solidFill>
                            <a:srgbClr val="1A1440"/>
                          </a:solidFill>
                          <a:latin typeface="Calibri"/>
                        </a:rPr>
                        <a:t>Curd's share 26.0 rises to 27.8 percent; its lift with milk stays 1.01</a:t>
                      </a:r>
                    </a:p>
                  </a:txBody>
                  <a:tcPr marL="101600" marR="101600" marT="38100" marB="38100" anchor="ctr">
                    <a:solidFill>
                      <a:srgbClr val="FFFFFF"/>
                    </a:solidFill>
                  </a:tcPr>
                </a:tc>
              </a:tr>
              <a:tr h="801624">
                <a:tc>
                  <a:txBody>
                    <a:bodyPr/>
                    <a:lstStyle/>
                    <a:p>
                      <a:r>
                        <a:rPr sz="1300" b="0" i="0">
                          <a:solidFill>
                            <a:srgbClr val="1A1440"/>
                          </a:solidFill>
                          <a:latin typeface="Calibri"/>
                        </a:rPr>
                        <a:t>Time of day</a:t>
                      </a:r>
                    </a:p>
                  </a:txBody>
                  <a:tcPr marL="101600" marR="101600" marT="38100" marB="38100" anchor="ctr">
                    <a:solidFill>
                      <a:srgbClr val="F4F2FA"/>
                    </a:solidFill>
                  </a:tcPr>
                </a:tc>
                <a:tc>
                  <a:txBody>
                    <a:bodyPr/>
                    <a:lstStyle/>
                    <a:p>
                      <a:r>
                        <a:rPr sz="1300" b="0" i="0">
                          <a:solidFill>
                            <a:srgbClr val="1A1440"/>
                          </a:solidFill>
                          <a:latin typeface="Calibri"/>
                        </a:rPr>
                        <a:t>Each time band alone</a:t>
                      </a:r>
                    </a:p>
                  </a:txBody>
                  <a:tcPr marL="101600" marR="101600" marT="38100" marB="38100" anchor="ctr">
                    <a:solidFill>
                      <a:srgbClr val="F4F2FA"/>
                    </a:solidFill>
                  </a:tcPr>
                </a:tc>
                <a:tc>
                  <a:txBody>
                    <a:bodyPr/>
                    <a:lstStyle/>
                    <a:p>
                      <a:r>
                        <a:rPr sz="1300" b="0" i="0">
                          <a:solidFill>
                            <a:srgbClr val="1A1440"/>
                          </a:solidFill>
                          <a:latin typeface="Calibri"/>
                        </a:rPr>
                        <a:t>Morning carts hold milk 80 percent of the time; bread with milk reads 1.03 to 1.05 in every band</a:t>
                      </a:r>
                    </a:p>
                  </a:txBody>
                  <a:tcPr marL="101600" marR="101600" marT="38100" marB="38100" anchor="ctr">
                    <a:solidFill>
                      <a:srgbClr val="F4F2FA"/>
                    </a:solidFill>
                  </a:tcPr>
                </a:tc>
              </a:tr>
              <a:tr h="801624">
                <a:tc>
                  <a:txBody>
                    <a:bodyPr/>
                    <a:lstStyle/>
                    <a:p>
                      <a:r>
                        <a:rPr sz="1300" b="0" i="0">
                          <a:solidFill>
                            <a:srgbClr val="1A1440"/>
                          </a:solidFill>
                          <a:latin typeface="Calibri"/>
                        </a:rPr>
                        <a:t>Position in the strip</a:t>
                      </a:r>
                    </a:p>
                  </a:txBody>
                  <a:tcPr marL="101600" marR="101600" marT="38100" marB="38100" anchor="ctr">
                    <a:solidFill>
                      <a:srgbClr val="FFFFFF"/>
                    </a:solidFill>
                  </a:tcPr>
                </a:tc>
                <a:tc>
                  <a:txBody>
                    <a:bodyPr/>
                    <a:lstStyle/>
                    <a:p>
                      <a:r>
                        <a:rPr sz="1300" b="0" i="0">
                          <a:solidFill>
                            <a:srgbClr val="1A1440"/>
                          </a:solidFill>
                          <a:latin typeface="Calibri"/>
                        </a:rPr>
                        <a:t>Click-through by slot</a:t>
                      </a:r>
                    </a:p>
                  </a:txBody>
                  <a:tcPr marL="101600" marR="101600" marT="38100" marB="38100" anchor="ctr">
                    <a:solidFill>
                      <a:srgbClr val="FFFFFF"/>
                    </a:solidFill>
                  </a:tcPr>
                </a:tc>
                <a:tc>
                  <a:txBody>
                    <a:bodyPr/>
                    <a:lstStyle/>
                    <a:p>
                      <a:r>
                        <a:rPr sz="1300" b="0" i="0">
                          <a:solidFill>
                            <a:srgbClr val="1A1440"/>
                          </a:solidFill>
                          <a:latin typeface="Calibri"/>
                        </a:rPr>
                        <a:t>Among suggestions other than milk, slot 1 draws 8.2 percent and slot 3 5.4; milk is low in all three</a:t>
                      </a:r>
                    </a:p>
                  </a:txBody>
                  <a:tcPr marL="101600" marR="101600" marT="38100" marB="38100" anchor="ctr">
                    <a:solidFill>
                      <a:srgbClr val="FFFFFF"/>
                    </a:solidFill>
                  </a:tcPr>
                </a:tc>
              </a:tr>
              <a:tr h="577088">
                <a:tc>
                  <a:txBody>
                    <a:bodyPr/>
                    <a:lstStyle/>
                    <a:p>
                      <a:r>
                        <a:rPr sz="1300" b="0" i="0">
                          <a:solidFill>
                            <a:srgbClr val="1A1440"/>
                          </a:solidFill>
                          <a:latin typeface="Calibri"/>
                        </a:rPr>
                        <a:t>The strip feeds its own counts</a:t>
                      </a:r>
                    </a:p>
                  </a:txBody>
                  <a:tcPr marL="101600" marR="101600" marT="38100" marB="38100" anchor="ctr">
                    <a:solidFill>
                      <a:srgbClr val="F4F2FA"/>
                    </a:solidFill>
                  </a:tcPr>
                </a:tc>
                <a:tc>
                  <a:txBody>
                    <a:bodyPr/>
                    <a:lstStyle/>
                    <a:p>
                      <a:r>
                        <a:rPr sz="1300" b="0" i="0">
                          <a:solidFill>
                            <a:srgbClr val="1A1440"/>
                          </a:solidFill>
                          <a:latin typeface="Calibri"/>
                        </a:rPr>
                        <a:t>The holdout's shoppers, who never see the strip</a:t>
                      </a:r>
                    </a:p>
                  </a:txBody>
                  <a:tcPr marL="101600" marR="101600" marT="38100" marB="38100" anchor="ctr">
                    <a:solidFill>
                      <a:srgbClr val="F4F2FA"/>
                    </a:solidFill>
                  </a:tcPr>
                </a:tc>
                <a:tc>
                  <a:txBody>
                    <a:bodyPr/>
                    <a:lstStyle/>
                    <a:p>
                      <a:r>
                        <a:rPr sz="1300" b="0" i="0">
                          <a:solidFill>
                            <a:srgbClr val="1A1440"/>
                          </a:solidFill>
                          <a:latin typeface="Calibri"/>
                        </a:rPr>
                        <a:t>Not in this data; the holdout in the first row settles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4" name="Oval 13"/>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Counted once per customer, the party pair shrinks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chips and cold drink comes from a few heavy shoppers?</a:t>
            </a:r>
          </a:p>
        </p:txBody>
      </p:sp>
      <p:pic>
        <p:nvPicPr>
          <p:cNvPr id="9" name="mermaid diagram" descr="C2_W04_D03_heavy_tenth_STUDENT.png"/>
          <p:cNvPicPr>
            <a:picLocks noChangeAspect="1"/>
          </p:cNvPicPr>
          <p:nvPr/>
        </p:nvPicPr>
        <p:blipFill>
          <a:blip r:embed="rId4"/>
          <a:stretch>
            <a:fillRect/>
          </a:stretch>
        </p:blipFill>
        <p:spPr>
          <a:xfrm>
            <a:off x="1551914" y="1664208"/>
            <a:ext cx="9087866"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per cart against lift with every customer counted once, for chips and cold drink and for bread and milk</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top tenth of customers place 38 percent of the carts and 73 percent of the carts holding both chips and a cold drink. Counting every customer once gives each cart a weight of one over its customer's number of carts, so a shopper with 4 carts counts each as 0.25. Counted that way, the pair's lift falls from 3.39 to 2.56 and still beats chance; bread and milk stays at 1.04. The pair keeps its slot, and the growth lead says the smaller number.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Curd ran out in two zones in week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stock-out do to support, and what does it leave alone?</a:t>
            </a:r>
          </a:p>
        </p:txBody>
      </p:sp>
      <p:pic>
        <p:nvPicPr>
          <p:cNvPr id="9" name="mermaid diagram" descr="C2_W04_D03_stockout_STUDENT.png"/>
          <p:cNvPicPr>
            <a:picLocks noChangeAspect="1"/>
          </p:cNvPicPr>
          <p:nvPr/>
        </p:nvPicPr>
        <p:blipFill>
          <a:blip r:embed="rId4"/>
          <a:stretch>
            <a:fillRect/>
          </a:stretch>
        </p:blipFill>
        <p:spPr>
          <a:xfrm>
            <a:off x="1605114" y="1664208"/>
            <a:ext cx="898146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Share of carts holding curd, by zone and week: Hadapsar and Viman Nagar near zero from 15 to 21 September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In Hadapsar and Viman Nagar from 15 to 21 September, curd is in 12 of 2,583 carts. Set those 2,583 carts aside and curd's share rises from 26.0 to 27.8 percent; its lift with milk stays 1.01. A stock-out cuts the count, never the pull.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6" name="Oval 15"/>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SWIGGY INSTAMART, PUNE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answer, ready for the afternoon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lead now hold?</a:t>
            </a:r>
          </a:p>
        </p:txBody>
      </p:sp>
      <p:pic>
        <p:nvPicPr>
          <p:cNvPr id="9" name="mermaid diagram" descr="d7fa4f0e9f118f57.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After lunch each group re-ranks the strip, prices its three slots and answers the category manager, who will say that milk belongs in every slot. The strip suggests a different item, which is cross-sell; suggesting a bigger pack of the same item is upsell, a question for another 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together mean?</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 40,000 carts say?</a:t>
            </a:r>
          </a:p>
        </p:txBody>
      </p:sp>
      <p:sp>
        <p:nvSpPr>
          <p:cNvPr id="15" name="Oval 14"/>
          <p:cNvSpPr/>
          <p:nvPr/>
        </p:nvSpPr>
        <p:spPr>
          <a:xfrm>
            <a:off x="37356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845337"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fills the strip?</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